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our redesigned Blog 1 executive briefing on Multi-Tenant Agentic AI on Google Cloud. Across fourteen visual slides, we move from the real multi-tenant problem and our eighty-twenty conceptual model, through our process and L1-to-L4 technical diagrams, to live dual-plane proofs and your 30-60-90 day adoption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frames the real business and technical problem: naive shared pools expose private tool schemas and suffer quota starvation, while spinning up dedicated cloud projects for every small customer destroys SaaS gross margins. Our reference architecture serves both FinVault Bank at 600 RPM and RetailStream Corp at 120 RPM from one unified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presents our conceptual architecture: one eighty-percent reusable Python ADK core in the middle plane mediates between federated tenant identities at the top and three pluggable infrastructure perimeters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walks through the six-stage end-to-end process lifecycle: five synchronous governance hops totaling roughly forty-two milliseconds at p95, asynchronous BigQuery OpenTelemetry FinOps export, and four fail-closed HTTP 4xx circuit breakers.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establishes our Level 1 logical security architecture across three trust zones: Layer 1 edge identity and DPoP verification, Layer 2 shared five-hop ADK control plane, and Layer 3 isolated data planes.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compares Pattern A, Pattern B, and Pattern C across unit economics, compute isolation, database Row-Level Security, CMEK kill-switch SLAs, and infrastructure fleet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presents Figure 1: our official Google Cloud Architecture Center Template #78 multi-tenant taxonomy blueprint spanning the Blue Routing Hub, Green Governance Hub, Yellow Pattern A Shared Pool Spoke, and Red Pattern B/C Sovereign Spoke.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presents Figure 2: the official Cloud Architecture Center 5-Hop Cryptographic Context Chain baseline detailing how every request is verified across routing, governance, and isolated execution spokes.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traces the five-actor runtime sequence and details how targeted Valkey SCAN and UNLINK evicts tenant cache prefixes in under five seconds on CMEK revocation, followed by SET NX PX 5000 single-flight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inspects the wire packet before and after Hop 1 token exchange, showing how spoofed X-Tenant-Id headers are stripped and replaced with a Cloud KMS ES256 signed TenantContext JWT verified locally in under 0.15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details our five compensating controls—GAP-01 through GAP-05—paired with their exact feature-flagged GA sunset hooks in core-cymbal-agent.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summarizes our live dual-plane verification receipts across Google Cloud and AWS: 20 out of 20 intra-cloud GCP runtime suites, 30 out of 30 inter-cloud 10-SaaS AgentCore MCP flows, 13 out of 13 forensic audit gates, and 43 genuine 2880x1800 Retina UI captures.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shows live 2880x1800 Retina before-and-after captures from Metabase BI v0.50.26 and Trino Distributed SQL v440, proving zero cross-tenant leakage once 5-Hop AlloyDB RLS is enforced.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closes our briefing with our four quantified Well-Architected benefits—84.7 percent token savings, 74 percent portfolio TCO reduction, ~42ms 5-Hop overhead, and &lt;5s Valkey L1 cache eviction—paired with a 30-60-90 day adoption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1723644"/>
          </a:xfrm>
          <a:prstGeom prst="rect">
            <a:avLst/>
          </a:prstGeom>
          <a:solidFill>
            <a:srgbClr val="1A73E8"/>
          </a:solidFill>
          <a:ln/>
        </p:spPr>
      </p:sp>
      <p:sp>
        <p:nvSpPr>
          <p:cNvPr id="3" name="Shape 1"/>
          <p:cNvSpPr/>
          <p:nvPr/>
        </p:nvSpPr>
        <p:spPr>
          <a:xfrm>
            <a:off x="0" y="1714500"/>
            <a:ext cx="73152" cy="1723644"/>
          </a:xfrm>
          <a:prstGeom prst="rect">
            <a:avLst/>
          </a:prstGeom>
          <a:solidFill>
            <a:srgbClr val="D93025"/>
          </a:solidFill>
          <a:ln/>
        </p:spPr>
      </p:sp>
      <p:sp>
        <p:nvSpPr>
          <p:cNvPr id="4" name="Shape 2"/>
          <p:cNvSpPr/>
          <p:nvPr/>
        </p:nvSpPr>
        <p:spPr>
          <a:xfrm>
            <a:off x="0" y="3429000"/>
            <a:ext cx="73152" cy="1723644"/>
          </a:xfrm>
          <a:prstGeom prst="rect">
            <a:avLst/>
          </a:prstGeom>
          <a:solidFill>
            <a:srgbClr val="F9AB00"/>
          </a:solidFill>
          <a:ln/>
        </p:spPr>
      </p:sp>
      <p:sp>
        <p:nvSpPr>
          <p:cNvPr id="5" name="Shape 3"/>
          <p:cNvSpPr/>
          <p:nvPr/>
        </p:nvSpPr>
        <p:spPr>
          <a:xfrm>
            <a:off x="0" y="5143500"/>
            <a:ext cx="73152" cy="1723644"/>
          </a:xfrm>
          <a:prstGeom prst="rect">
            <a:avLst/>
          </a:prstGeom>
          <a:solidFill>
            <a:srgbClr val="1E8E3E"/>
          </a:solidFill>
          <a:ln/>
        </p:spPr>
      </p:sp>
      <p:sp>
        <p:nvSpPr>
          <p:cNvPr id="6" name="Text 4"/>
          <p:cNvSpPr/>
          <p:nvPr/>
        </p:nvSpPr>
        <p:spPr>
          <a:xfrm>
            <a:off x="347472" y="201168"/>
            <a:ext cx="9875520" cy="237744"/>
          </a:xfrm>
          <a:prstGeom prst="rect">
            <a:avLst/>
          </a:prstGeom>
          <a:noFill/>
          <a:ln/>
        </p:spPr>
        <p:txBody>
          <a:bodyPr wrap="square" rtlCol="0" anchor="ctr"/>
          <a:lstStyle/>
          <a:p>
            <a:pPr indent="0" marL="0">
              <a:buNone/>
            </a:pPr>
            <a:r>
              <a:rPr lang="en-US" sz="850" b="1" dirty="0">
                <a:solidFill>
                  <a:srgbClr val="1A73E8"/>
                </a:solidFill>
                <a:latin typeface="Google Sans" pitchFamily="34" charset="0"/>
                <a:ea typeface="Google Sans" pitchFamily="34" charset="-122"/>
                <a:cs typeface="Google Sans" pitchFamily="34" charset="-120"/>
              </a:rPr>
              <a:t>GOOGLE CLOUD ARCHITECTURE CENTER  </a:t>
            </a:r>
            <a:pPr indent="0" marL="0">
              <a:buNone/>
            </a:pPr>
            <a:r>
              <a:rPr lang="en-US" sz="850" dirty="0">
                <a:solidFill>
                  <a:srgbClr val="64748B"/>
                </a:solidFill>
                <a:latin typeface="Google Sans" pitchFamily="34" charset="0"/>
                <a:ea typeface="Google Sans" pitchFamily="34" charset="-122"/>
                <a:cs typeface="Google Sans" pitchFamily="34" charset="-120"/>
              </a:rPr>
              <a:t>/  EXECUTIVE BRIEFING  /  Reference Architecture &amp; 5-Hop Governance</a:t>
            </a:r>
            <a:endParaRPr lang="en-US" sz="850" dirty="0"/>
          </a:p>
        </p:txBody>
      </p:sp>
      <p:sp>
        <p:nvSpPr>
          <p:cNvPr id="7" name="Shape 5"/>
          <p:cNvSpPr/>
          <p:nvPr/>
        </p:nvSpPr>
        <p:spPr>
          <a:xfrm>
            <a:off x="10835640" y="182880"/>
            <a:ext cx="1005840" cy="256032"/>
          </a:xfrm>
          <a:prstGeom prst="roundRect">
            <a:avLst>
              <a:gd name="adj" fmla="val 50000"/>
            </a:avLst>
          </a:prstGeom>
          <a:solidFill>
            <a:srgbClr val="FFFFFF"/>
          </a:solidFill>
          <a:ln w="9525">
            <a:solidFill>
              <a:srgbClr val="E2E8F0"/>
            </a:solidFill>
            <a:prstDash val="solid"/>
          </a:ln>
        </p:spPr>
      </p:sp>
      <p:sp>
        <p:nvSpPr>
          <p:cNvPr id="8" name="Text 6"/>
          <p:cNvSpPr/>
          <p:nvPr/>
        </p:nvSpPr>
        <p:spPr>
          <a:xfrm>
            <a:off x="10835640" y="182880"/>
            <a:ext cx="1005840" cy="256032"/>
          </a:xfrm>
          <a:prstGeom prst="rect">
            <a:avLst/>
          </a:prstGeom>
          <a:noFill/>
          <a:ln/>
        </p:spPr>
        <p:txBody>
          <a:bodyPr wrap="square" rtlCol="0" anchor="ctr"/>
          <a:lstStyle/>
          <a:p>
            <a:pPr algn="ctr" indent="0" marL="0">
              <a:buNone/>
            </a:pPr>
            <a:r>
              <a:rPr lang="en-US" sz="850" b="1" dirty="0">
                <a:solidFill>
                  <a:srgbClr val="334155"/>
                </a:solidFill>
                <a:latin typeface="Google Sans" pitchFamily="34" charset="0"/>
                <a:ea typeface="Google Sans" pitchFamily="34" charset="-122"/>
                <a:cs typeface="Google Sans" pitchFamily="34" charset="-120"/>
              </a:rPr>
              <a:t>01 / 14</a:t>
            </a:r>
            <a:endParaRPr lang="en-US" sz="850" dirty="0"/>
          </a:p>
        </p:txBody>
      </p:sp>
      <p:sp>
        <p:nvSpPr>
          <p:cNvPr id="9" name="Shape 7"/>
          <p:cNvSpPr/>
          <p:nvPr/>
        </p:nvSpPr>
        <p:spPr>
          <a:xfrm>
            <a:off x="347472" y="6510528"/>
            <a:ext cx="11494008" cy="0"/>
          </a:xfrm>
          <a:prstGeom prst="line">
            <a:avLst/>
          </a:prstGeom>
          <a:noFill/>
          <a:ln w="9525">
            <a:solidFill>
              <a:srgbClr val="E2E8F0"/>
            </a:solidFill>
            <a:prstDash val="solid"/>
          </a:ln>
        </p:spPr>
      </p:sp>
      <p:sp>
        <p:nvSpPr>
          <p:cNvPr id="10" name="Text 8"/>
          <p:cNvSpPr/>
          <p:nvPr/>
        </p:nvSpPr>
        <p:spPr>
          <a:xfrm>
            <a:off x="347472" y="6556248"/>
            <a:ext cx="11494008" cy="219456"/>
          </a:xfrm>
          <a:prstGeom prst="rect">
            <a:avLst/>
          </a:prstGeom>
          <a:noFill/>
          <a:ln/>
        </p:spPr>
        <p:txBody>
          <a:bodyPr wrap="square" rtlCol="0" anchor="ctr"/>
          <a:lstStyle/>
          <a:p>
            <a:pPr indent="0" marL="0">
              <a:buNone/>
            </a:pPr>
            <a:r>
              <a:rPr lang="en-US" sz="780" dirty="0">
                <a:solidFill>
                  <a:srgbClr val="64748B"/>
                </a:solidFill>
                <a:latin typeface="Roboto" pitchFamily="34" charset="0"/>
                <a:ea typeface="Roboto" pitchFamily="34" charset="-122"/>
                <a:cs typeface="Roboto" pitchFamily="34" charset="-120"/>
              </a:rPr>
              <a:t>Multi-Tenant Agentic AI on Google Cloud  •  Blog 1 Executive Edition  •  Verified on GCP (#248990048888, #48439189383) &amp; AWS (#393036065405)</a:t>
            </a:r>
            <a:endParaRPr lang="en-US" sz="780" dirty="0"/>
          </a:p>
        </p:txBody>
      </p:sp>
      <p:sp>
        <p:nvSpPr>
          <p:cNvPr id="11" name="Shape 9"/>
          <p:cNvSpPr/>
          <p:nvPr/>
        </p:nvSpPr>
        <p:spPr>
          <a:xfrm>
            <a:off x="347472" y="594360"/>
            <a:ext cx="6812280" cy="5742432"/>
          </a:xfrm>
          <a:prstGeom prst="roundRect">
            <a:avLst>
              <a:gd name="adj" fmla="val 1911"/>
            </a:avLst>
          </a:prstGeom>
          <a:solidFill>
            <a:srgbClr val="FFFFFF"/>
          </a:solidFill>
          <a:ln w="12700">
            <a:solidFill>
              <a:srgbClr val="E2E8F0"/>
            </a:solidFill>
            <a:prstDash val="solid"/>
          </a:ln>
        </p:spPr>
      </p:sp>
      <p:sp>
        <p:nvSpPr>
          <p:cNvPr id="12" name="Shape 10"/>
          <p:cNvSpPr/>
          <p:nvPr/>
        </p:nvSpPr>
        <p:spPr>
          <a:xfrm>
            <a:off x="658368" y="896112"/>
            <a:ext cx="3063240" cy="292608"/>
          </a:xfrm>
          <a:prstGeom prst="roundRect">
            <a:avLst>
              <a:gd name="adj" fmla="val 25000"/>
            </a:avLst>
          </a:prstGeom>
          <a:solidFill>
            <a:srgbClr val="E8F0FE"/>
          </a:solidFill>
          <a:ln/>
        </p:spPr>
      </p:sp>
      <p:sp>
        <p:nvSpPr>
          <p:cNvPr id="13" name="Text 11"/>
          <p:cNvSpPr/>
          <p:nvPr/>
        </p:nvSpPr>
        <p:spPr>
          <a:xfrm>
            <a:off x="658368" y="896112"/>
            <a:ext cx="3063240" cy="292608"/>
          </a:xfrm>
          <a:prstGeom prst="rect">
            <a:avLst/>
          </a:prstGeom>
          <a:noFill/>
          <a:ln/>
        </p:spPr>
        <p:txBody>
          <a:bodyPr wrap="square" rtlCol="0" anchor="ctr"/>
          <a:lstStyle/>
          <a:p>
            <a:pPr algn="ctr" indent="0" marL="0">
              <a:buNone/>
            </a:pPr>
            <a:r>
              <a:rPr lang="en-US" sz="850" b="1" dirty="0">
                <a:solidFill>
                  <a:srgbClr val="1A73E8"/>
                </a:solidFill>
                <a:latin typeface="Google Sans" pitchFamily="34" charset="0"/>
                <a:ea typeface="Google Sans" pitchFamily="34" charset="-122"/>
                <a:cs typeface="Google Sans" pitchFamily="34" charset="-120"/>
              </a:rPr>
              <a:t>BLOG 1 • FLAGSHIP ARCHITECTURAL BRIEFING</a:t>
            </a:r>
            <a:endParaRPr lang="en-US" sz="850" dirty="0"/>
          </a:p>
        </p:txBody>
      </p:sp>
      <p:sp>
        <p:nvSpPr>
          <p:cNvPr id="14" name="Text 12"/>
          <p:cNvSpPr/>
          <p:nvPr/>
        </p:nvSpPr>
        <p:spPr>
          <a:xfrm>
            <a:off x="658368" y="1353312"/>
            <a:ext cx="6172200" cy="1417320"/>
          </a:xfrm>
          <a:prstGeom prst="rect">
            <a:avLst/>
          </a:prstGeom>
          <a:noFill/>
          <a:ln/>
        </p:spPr>
        <p:txBody>
          <a:bodyPr wrap="square" rtlCol="0" anchor="ctr"/>
          <a:lstStyle/>
          <a:p>
            <a:pPr indent="0" marL="0">
              <a:buNone/>
            </a:pPr>
            <a:r>
              <a:rPr lang="en-US" sz="3600" b="1" dirty="0">
                <a:solidFill>
                  <a:srgbClr val="0F172A"/>
                </a:solidFill>
                <a:latin typeface="Google Sans Display" pitchFamily="34" charset="0"/>
                <a:ea typeface="Google Sans Display" pitchFamily="34" charset="-122"/>
                <a:cs typeface="Google Sans Display" pitchFamily="34" charset="-120"/>
              </a:rPr>
              <a:t>Multi-Tenant Agentic AI</a:t>
            </a:r>
            <a:endParaRPr lang="en-US" sz="3600" dirty="0"/>
          </a:p>
          <a:p>
            <a:pPr indent="0" marL="0">
              <a:buNone/>
            </a:pPr>
            <a:r>
              <a:rPr lang="en-US" sz="3600" b="1" dirty="0">
                <a:solidFill>
                  <a:srgbClr val="0F172A"/>
                </a:solidFill>
                <a:latin typeface="Google Sans Display" pitchFamily="34" charset="0"/>
                <a:ea typeface="Google Sans Display" pitchFamily="34" charset="-122"/>
                <a:cs typeface="Google Sans Display" pitchFamily="34" charset="-120"/>
              </a:rPr>
              <a:t>on Google Cloud</a:t>
            </a:r>
            <a:endParaRPr lang="en-US" sz="3600" dirty="0"/>
          </a:p>
        </p:txBody>
      </p:sp>
      <p:sp>
        <p:nvSpPr>
          <p:cNvPr id="15" name="Text 13"/>
          <p:cNvSpPr/>
          <p:nvPr/>
        </p:nvSpPr>
        <p:spPr>
          <a:xfrm>
            <a:off x="658368" y="2852928"/>
            <a:ext cx="6172200" cy="960120"/>
          </a:xfrm>
          <a:prstGeom prst="rect">
            <a:avLst/>
          </a:prstGeom>
          <a:noFill/>
          <a:ln/>
        </p:spPr>
        <p:txBody>
          <a:bodyPr wrap="square" rtlCol="0" anchor="ctr"/>
          <a:lstStyle/>
          <a:p>
            <a:pPr indent="0" marL="0">
              <a:buNone/>
            </a:pPr>
            <a:r>
              <a:rPr lang="en-US" sz="1200" dirty="0">
                <a:solidFill>
                  <a:srgbClr val="334155"/>
                </a:solidFill>
                <a:latin typeface="Roboto" pitchFamily="34" charset="0"/>
                <a:ea typeface="Roboto" pitchFamily="34" charset="-122"/>
                <a:cs typeface="Roboto" pitchFamily="34" charset="-120"/>
              </a:rPr>
              <a:t>How to serve commercial SaaS tenants and regulated sovereign banks from one 80% reusable ADK codebase—enforcing cryptographic 5-Hop isolation, sub-5s cache revocation, and exact BigQuery FinOps chargeback.</a:t>
            </a:r>
            <a:endParaRPr lang="en-US" sz="1200" dirty="0"/>
          </a:p>
        </p:txBody>
      </p:sp>
      <p:sp>
        <p:nvSpPr>
          <p:cNvPr id="16" name="Shape 14"/>
          <p:cNvSpPr/>
          <p:nvPr/>
        </p:nvSpPr>
        <p:spPr>
          <a:xfrm>
            <a:off x="658368" y="4069080"/>
            <a:ext cx="1938528" cy="1508760"/>
          </a:xfrm>
          <a:prstGeom prst="roundRect">
            <a:avLst>
              <a:gd name="adj" fmla="val 5455"/>
            </a:avLst>
          </a:prstGeom>
          <a:solidFill>
            <a:srgbClr val="E8F0FE"/>
          </a:solidFill>
          <a:ln w="12700">
            <a:solidFill>
              <a:srgbClr val="1A73E8"/>
            </a:solidFill>
            <a:prstDash val="solid"/>
          </a:ln>
        </p:spPr>
      </p:sp>
      <p:sp>
        <p:nvSpPr>
          <p:cNvPr id="17" name="Text 15"/>
          <p:cNvSpPr/>
          <p:nvPr/>
        </p:nvSpPr>
        <p:spPr>
          <a:xfrm>
            <a:off x="786384" y="4206240"/>
            <a:ext cx="1682496" cy="594360"/>
          </a:xfrm>
          <a:prstGeom prst="rect">
            <a:avLst/>
          </a:prstGeom>
          <a:noFill/>
          <a:ln/>
        </p:spPr>
        <p:txBody>
          <a:bodyPr wrap="square" rtlCol="0" anchor="ctr"/>
          <a:lstStyle/>
          <a:p>
            <a:pPr indent="0" marL="0">
              <a:buNone/>
            </a:pPr>
            <a:r>
              <a:rPr lang="en-US" sz="2800" b="1" dirty="0">
                <a:solidFill>
                  <a:srgbClr val="1A73E8"/>
                </a:solidFill>
                <a:latin typeface="Google Sans Display" pitchFamily="34" charset="0"/>
                <a:ea typeface="Google Sans Display" pitchFamily="34" charset="-122"/>
                <a:cs typeface="Google Sans Display" pitchFamily="34" charset="-120"/>
              </a:rPr>
              <a:t>80%</a:t>
            </a:r>
            <a:endParaRPr lang="en-US" sz="2800" dirty="0"/>
          </a:p>
        </p:txBody>
      </p:sp>
      <p:sp>
        <p:nvSpPr>
          <p:cNvPr id="18" name="Text 16"/>
          <p:cNvSpPr/>
          <p:nvPr/>
        </p:nvSpPr>
        <p:spPr>
          <a:xfrm>
            <a:off x="786384" y="4846320"/>
            <a:ext cx="1682496" cy="594360"/>
          </a:xfrm>
          <a:prstGeom prst="rect">
            <a:avLst/>
          </a:prstGeom>
          <a:noFill/>
          <a:ln/>
        </p:spPr>
        <p:txBody>
          <a:bodyPr wrap="square" rtlCol="0" anchor="ctr"/>
          <a:lstStyle/>
          <a:p>
            <a:pPr indent="0" marL="0">
              <a:buNone/>
            </a:pPr>
            <a:r>
              <a:rPr lang="en-US" sz="900" b="1" dirty="0">
                <a:solidFill>
                  <a:srgbClr val="0F172A"/>
                </a:solidFill>
                <a:latin typeface="Roboto" pitchFamily="34" charset="0"/>
                <a:ea typeface="Roboto" pitchFamily="34" charset="-122"/>
                <a:cs typeface="Roboto" pitchFamily="34" charset="-120"/>
              </a:rPr>
              <a:t>Reusable 5-Hop Core</a:t>
            </a:r>
            <a:endParaRPr lang="en-US" sz="900" dirty="0"/>
          </a:p>
          <a:p>
            <a:pPr indent="0" marL="0">
              <a:buNone/>
            </a:pPr>
            <a:r>
              <a:rPr lang="en-US" sz="900" b="1" dirty="0">
                <a:solidFill>
                  <a:srgbClr val="0F172A"/>
                </a:solidFill>
                <a:latin typeface="Roboto" pitchFamily="34" charset="0"/>
                <a:ea typeface="Roboto" pitchFamily="34" charset="-122"/>
                <a:cs typeface="Roboto" pitchFamily="34" charset="-120"/>
              </a:rPr>
              <a:t>(core-cymbal-agent/)</a:t>
            </a:r>
            <a:endParaRPr lang="en-US" sz="900" dirty="0"/>
          </a:p>
        </p:txBody>
      </p:sp>
      <p:sp>
        <p:nvSpPr>
          <p:cNvPr id="19" name="Shape 17"/>
          <p:cNvSpPr/>
          <p:nvPr/>
        </p:nvSpPr>
        <p:spPr>
          <a:xfrm>
            <a:off x="2743200" y="4069080"/>
            <a:ext cx="1938528" cy="1508760"/>
          </a:xfrm>
          <a:prstGeom prst="roundRect">
            <a:avLst>
              <a:gd name="adj" fmla="val 5455"/>
            </a:avLst>
          </a:prstGeom>
          <a:solidFill>
            <a:srgbClr val="E6F4EA"/>
          </a:solidFill>
          <a:ln w="12700">
            <a:solidFill>
              <a:srgbClr val="1E8E3E"/>
            </a:solidFill>
            <a:prstDash val="solid"/>
          </a:ln>
        </p:spPr>
      </p:sp>
      <p:sp>
        <p:nvSpPr>
          <p:cNvPr id="20" name="Text 18"/>
          <p:cNvSpPr/>
          <p:nvPr/>
        </p:nvSpPr>
        <p:spPr>
          <a:xfrm>
            <a:off x="2871216" y="4206240"/>
            <a:ext cx="1682496" cy="594360"/>
          </a:xfrm>
          <a:prstGeom prst="rect">
            <a:avLst/>
          </a:prstGeom>
          <a:noFill/>
          <a:ln/>
        </p:spPr>
        <p:txBody>
          <a:bodyPr wrap="square" rtlCol="0" anchor="ctr"/>
          <a:lstStyle/>
          <a:p>
            <a:pPr indent="0" marL="0">
              <a:buNone/>
            </a:pPr>
            <a:r>
              <a:rPr lang="en-US" sz="2800" b="1" dirty="0">
                <a:solidFill>
                  <a:srgbClr val="1E8E3E"/>
                </a:solidFill>
                <a:latin typeface="Google Sans Display" pitchFamily="34" charset="0"/>
                <a:ea typeface="Google Sans Display" pitchFamily="34" charset="-122"/>
                <a:cs typeface="Google Sans Display" pitchFamily="34" charset="-120"/>
              </a:rPr>
              <a:t>~42ms</a:t>
            </a:r>
            <a:endParaRPr lang="en-US" sz="2800" dirty="0"/>
          </a:p>
        </p:txBody>
      </p:sp>
      <p:sp>
        <p:nvSpPr>
          <p:cNvPr id="21" name="Text 19"/>
          <p:cNvSpPr/>
          <p:nvPr/>
        </p:nvSpPr>
        <p:spPr>
          <a:xfrm>
            <a:off x="2871216" y="4846320"/>
            <a:ext cx="1682496" cy="594360"/>
          </a:xfrm>
          <a:prstGeom prst="rect">
            <a:avLst/>
          </a:prstGeom>
          <a:noFill/>
          <a:ln/>
        </p:spPr>
        <p:txBody>
          <a:bodyPr wrap="square" rtlCol="0" anchor="ctr"/>
          <a:lstStyle/>
          <a:p>
            <a:pPr indent="0" marL="0">
              <a:buNone/>
            </a:pPr>
            <a:r>
              <a:rPr lang="en-US" sz="900" b="1" dirty="0">
                <a:solidFill>
                  <a:srgbClr val="0F172A"/>
                </a:solidFill>
                <a:latin typeface="Roboto" pitchFamily="34" charset="0"/>
                <a:ea typeface="Roboto" pitchFamily="34" charset="-122"/>
                <a:cs typeface="Roboto" pitchFamily="34" charset="-120"/>
              </a:rPr>
              <a:t>p95 Control-Plane</a:t>
            </a:r>
            <a:endParaRPr lang="en-US" sz="900" dirty="0"/>
          </a:p>
          <a:p>
            <a:pPr indent="0" marL="0">
              <a:buNone/>
            </a:pPr>
            <a:r>
              <a:rPr lang="en-US" sz="900" b="1" dirty="0">
                <a:solidFill>
                  <a:srgbClr val="0F172A"/>
                </a:solidFill>
                <a:latin typeface="Roboto" pitchFamily="34" charset="0"/>
                <a:ea typeface="Roboto" pitchFamily="34" charset="-122"/>
                <a:cs typeface="Roboto" pitchFamily="34" charset="-120"/>
              </a:rPr>
              <a:t>Governance Overhead</a:t>
            </a:r>
            <a:endParaRPr lang="en-US" sz="900" dirty="0"/>
          </a:p>
        </p:txBody>
      </p:sp>
      <p:sp>
        <p:nvSpPr>
          <p:cNvPr id="22" name="Shape 20"/>
          <p:cNvSpPr/>
          <p:nvPr/>
        </p:nvSpPr>
        <p:spPr>
          <a:xfrm>
            <a:off x="4828032" y="4069080"/>
            <a:ext cx="1938528" cy="1508760"/>
          </a:xfrm>
          <a:prstGeom prst="roundRect">
            <a:avLst>
              <a:gd name="adj" fmla="val 5455"/>
            </a:avLst>
          </a:prstGeom>
          <a:solidFill>
            <a:srgbClr val="FEF7E0"/>
          </a:solidFill>
          <a:ln w="12700">
            <a:solidFill>
              <a:srgbClr val="B06000"/>
            </a:solidFill>
            <a:prstDash val="solid"/>
          </a:ln>
        </p:spPr>
      </p:sp>
      <p:sp>
        <p:nvSpPr>
          <p:cNvPr id="23" name="Text 21"/>
          <p:cNvSpPr/>
          <p:nvPr/>
        </p:nvSpPr>
        <p:spPr>
          <a:xfrm>
            <a:off x="4956048" y="4206240"/>
            <a:ext cx="1682496" cy="594360"/>
          </a:xfrm>
          <a:prstGeom prst="rect">
            <a:avLst/>
          </a:prstGeom>
          <a:noFill/>
          <a:ln/>
        </p:spPr>
        <p:txBody>
          <a:bodyPr wrap="square" rtlCol="0" anchor="ctr"/>
          <a:lstStyle/>
          <a:p>
            <a:pPr indent="0" marL="0">
              <a:buNone/>
            </a:pPr>
            <a:r>
              <a:rPr lang="en-US" sz="2800" b="1" dirty="0">
                <a:solidFill>
                  <a:srgbClr val="B06000"/>
                </a:solidFill>
                <a:latin typeface="Google Sans Display" pitchFamily="34" charset="0"/>
                <a:ea typeface="Google Sans Display" pitchFamily="34" charset="-122"/>
                <a:cs typeface="Google Sans Display" pitchFamily="34" charset="-120"/>
              </a:rPr>
              <a:t>74%</a:t>
            </a:r>
            <a:endParaRPr lang="en-US" sz="2800" dirty="0"/>
          </a:p>
        </p:txBody>
      </p:sp>
      <p:sp>
        <p:nvSpPr>
          <p:cNvPr id="24" name="Text 22"/>
          <p:cNvSpPr/>
          <p:nvPr/>
        </p:nvSpPr>
        <p:spPr>
          <a:xfrm>
            <a:off x="4956048" y="4846320"/>
            <a:ext cx="1682496" cy="594360"/>
          </a:xfrm>
          <a:prstGeom prst="rect">
            <a:avLst/>
          </a:prstGeom>
          <a:noFill/>
          <a:ln/>
        </p:spPr>
        <p:txBody>
          <a:bodyPr wrap="square" rtlCol="0" anchor="ctr"/>
          <a:lstStyle/>
          <a:p>
            <a:pPr indent="0" marL="0">
              <a:buNone/>
            </a:pPr>
            <a:r>
              <a:rPr lang="en-US" sz="900" b="1" dirty="0">
                <a:solidFill>
                  <a:srgbClr val="0F172A"/>
                </a:solidFill>
                <a:latin typeface="Roboto" pitchFamily="34" charset="0"/>
                <a:ea typeface="Roboto" pitchFamily="34" charset="-122"/>
                <a:cs typeface="Roboto" pitchFamily="34" charset="-120"/>
              </a:rPr>
              <a:t>Portfolio TCO Savings</a:t>
            </a:r>
            <a:endParaRPr lang="en-US" sz="900" dirty="0"/>
          </a:p>
          <a:p>
            <a:pPr indent="0" marL="0">
              <a:buNone/>
            </a:pPr>
            <a:r>
              <a:rPr lang="en-US" sz="900" b="1" dirty="0">
                <a:solidFill>
                  <a:srgbClr val="0F172A"/>
                </a:solidFill>
                <a:latin typeface="Roboto" pitchFamily="34" charset="0"/>
                <a:ea typeface="Roboto" pitchFamily="34" charset="-122"/>
                <a:cs typeface="Roboto" pitchFamily="34" charset="-120"/>
              </a:rPr>
              <a:t>(950 Pool + 50 PSC)</a:t>
            </a:r>
            <a:endParaRPr lang="en-US" sz="900" dirty="0"/>
          </a:p>
        </p:txBody>
      </p:sp>
      <p:sp>
        <p:nvSpPr>
          <p:cNvPr id="25" name="Text 23"/>
          <p:cNvSpPr/>
          <p:nvPr/>
        </p:nvSpPr>
        <p:spPr>
          <a:xfrm>
            <a:off x="658368" y="5806440"/>
            <a:ext cx="6172200" cy="292608"/>
          </a:xfrm>
          <a:prstGeom prst="rect">
            <a:avLst/>
          </a:prstGeom>
          <a:noFill/>
          <a:ln/>
        </p:spPr>
        <p:txBody>
          <a:bodyPr wrap="square" rtlCol="0" anchor="ctr"/>
          <a:lstStyle/>
          <a:p>
            <a:pPr indent="0" marL="0">
              <a:buNone/>
            </a:pPr>
            <a:r>
              <a:rPr lang="en-US" sz="920" dirty="0">
                <a:solidFill>
                  <a:srgbClr val="64748B"/>
                </a:solidFill>
                <a:latin typeface="Roboto" pitchFamily="34" charset="0"/>
                <a:ea typeface="Roboto" pitchFamily="34" charset="-122"/>
                <a:cs typeface="Roboto" pitchFamily="34" charset="-120"/>
              </a:rPr>
              <a:t>Google Cloud FDE &amp; AI Platform Architecture Team  •  Vertex AI Agent Engine, Gemini Enterprise &amp; ADK</a:t>
            </a:r>
            <a:endParaRPr lang="en-US" sz="920" dirty="0"/>
          </a:p>
        </p:txBody>
      </p:sp>
      <p:sp>
        <p:nvSpPr>
          <p:cNvPr id="26" name="Shape 24"/>
          <p:cNvSpPr/>
          <p:nvPr/>
        </p:nvSpPr>
        <p:spPr>
          <a:xfrm>
            <a:off x="7360920" y="594360"/>
            <a:ext cx="4480560" cy="5742432"/>
          </a:xfrm>
          <a:prstGeom prst="roundRect">
            <a:avLst>
              <a:gd name="adj" fmla="val 2449"/>
            </a:avLst>
          </a:prstGeom>
          <a:solidFill>
            <a:srgbClr val="FFFFFF"/>
          </a:solidFill>
          <a:ln w="12700">
            <a:solidFill>
              <a:srgbClr val="E2E8F0"/>
            </a:solidFill>
            <a:prstDash val="solid"/>
          </a:ln>
        </p:spPr>
      </p:sp>
      <p:sp>
        <p:nvSpPr>
          <p:cNvPr id="27" name="Text 25"/>
          <p:cNvSpPr/>
          <p:nvPr/>
        </p:nvSpPr>
        <p:spPr>
          <a:xfrm>
            <a:off x="7635240" y="841248"/>
            <a:ext cx="3931920" cy="292608"/>
          </a:xfrm>
          <a:prstGeom prst="rect">
            <a:avLst/>
          </a:prstGeom>
          <a:noFill/>
          <a:ln/>
        </p:spPr>
        <p:txBody>
          <a:bodyPr wrap="square" rtlCol="0" anchor="ctr"/>
          <a:lstStyle/>
          <a:p>
            <a:pPr indent="0" marL="0">
              <a:buNone/>
            </a:pPr>
            <a:r>
              <a:rPr lang="en-US" sz="1050" b="1" dirty="0">
                <a:solidFill>
                  <a:srgbClr val="0F172A"/>
                </a:solidFill>
                <a:latin typeface="Google Sans" pitchFamily="34" charset="0"/>
                <a:ea typeface="Google Sans" pitchFamily="34" charset="-122"/>
                <a:cs typeface="Google Sans" pitchFamily="34" charset="-120"/>
              </a:rPr>
              <a:t>4-ACT EXECUTIVE STORY ARC</a:t>
            </a:r>
            <a:endParaRPr lang="en-US" sz="1050" dirty="0"/>
          </a:p>
        </p:txBody>
      </p:sp>
      <p:sp>
        <p:nvSpPr>
          <p:cNvPr id="28" name="Shape 26"/>
          <p:cNvSpPr/>
          <p:nvPr/>
        </p:nvSpPr>
        <p:spPr>
          <a:xfrm>
            <a:off x="7635240" y="1298448"/>
            <a:ext cx="3931920" cy="1060704"/>
          </a:xfrm>
          <a:prstGeom prst="roundRect">
            <a:avLst>
              <a:gd name="adj" fmla="val 6897"/>
            </a:avLst>
          </a:prstGeom>
          <a:solidFill>
            <a:srgbClr val="F8FAFC"/>
          </a:solidFill>
          <a:ln w="10795">
            <a:solidFill>
              <a:srgbClr val="E2E8F0"/>
            </a:solidFill>
            <a:prstDash val="solid"/>
          </a:ln>
        </p:spPr>
      </p:sp>
      <p:sp>
        <p:nvSpPr>
          <p:cNvPr id="29" name="Shape 27"/>
          <p:cNvSpPr/>
          <p:nvPr/>
        </p:nvSpPr>
        <p:spPr>
          <a:xfrm>
            <a:off x="7635240" y="1298448"/>
            <a:ext cx="73152" cy="1060704"/>
          </a:xfrm>
          <a:prstGeom prst="rect">
            <a:avLst/>
          </a:prstGeom>
          <a:solidFill>
            <a:srgbClr val="1A73E8"/>
          </a:solidFill>
          <a:ln/>
        </p:spPr>
      </p:sp>
      <p:sp>
        <p:nvSpPr>
          <p:cNvPr id="30" name="Text 28"/>
          <p:cNvSpPr/>
          <p:nvPr/>
        </p:nvSpPr>
        <p:spPr>
          <a:xfrm>
            <a:off x="7827264" y="1371600"/>
            <a:ext cx="3611880" cy="201168"/>
          </a:xfrm>
          <a:prstGeom prst="rect">
            <a:avLst/>
          </a:prstGeom>
          <a:noFill/>
          <a:ln/>
        </p:spPr>
        <p:txBody>
          <a:bodyPr wrap="square" rtlCol="0" anchor="ctr"/>
          <a:lstStyle/>
          <a:p>
            <a:pPr indent="0" marL="0">
              <a:buNone/>
            </a:pPr>
            <a:r>
              <a:rPr lang="en-US" sz="800" b="1" dirty="0">
                <a:solidFill>
                  <a:srgbClr val="1A73E8"/>
                </a:solidFill>
                <a:latin typeface="Google Sans" pitchFamily="34" charset="0"/>
                <a:ea typeface="Google Sans" pitchFamily="34" charset="-122"/>
                <a:cs typeface="Google Sans" pitchFamily="34" charset="-120"/>
              </a:rPr>
              <a:t>ACT I • SLIDES 2–4</a:t>
            </a:r>
            <a:endParaRPr lang="en-US" sz="800" dirty="0"/>
          </a:p>
        </p:txBody>
      </p:sp>
      <p:sp>
        <p:nvSpPr>
          <p:cNvPr id="31" name="Text 29"/>
          <p:cNvSpPr/>
          <p:nvPr/>
        </p:nvSpPr>
        <p:spPr>
          <a:xfrm>
            <a:off x="7827264" y="1591056"/>
            <a:ext cx="3611880" cy="256032"/>
          </a:xfrm>
          <a:prstGeom prst="rect">
            <a:avLst/>
          </a:prstGeom>
          <a:noFill/>
          <a:ln/>
        </p:spPr>
        <p:txBody>
          <a:bodyPr wrap="square" rtlCol="0" anchor="ctr"/>
          <a:lstStyle/>
          <a:p>
            <a:pPr indent="0" marL="0">
              <a:buNone/>
            </a:pPr>
            <a:r>
              <a:rPr lang="en-US" sz="1050" b="1" dirty="0">
                <a:solidFill>
                  <a:srgbClr val="0F172A"/>
                </a:solidFill>
                <a:latin typeface="Google Sans" pitchFamily="34" charset="0"/>
                <a:ea typeface="Google Sans" pitchFamily="34" charset="-122"/>
                <a:cs typeface="Google Sans" pitchFamily="34" charset="-120"/>
              </a:rPr>
              <a:t>The Real Problem, Conceptual &amp; Process Models</a:t>
            </a:r>
            <a:endParaRPr lang="en-US" sz="1050" dirty="0"/>
          </a:p>
        </p:txBody>
      </p:sp>
      <p:sp>
        <p:nvSpPr>
          <p:cNvPr id="32" name="Text 30"/>
          <p:cNvSpPr/>
          <p:nvPr/>
        </p:nvSpPr>
        <p:spPr>
          <a:xfrm>
            <a:off x="7827264" y="1865376"/>
            <a:ext cx="3611880" cy="420624"/>
          </a:xfrm>
          <a:prstGeom prst="rect">
            <a:avLst/>
          </a:prstGeom>
          <a:noFill/>
          <a:ln/>
        </p:spPr>
        <p:txBody>
          <a:bodyPr wrap="square" rtlCol="0" anchor="ctr"/>
          <a:lstStyle/>
          <a:p>
            <a:pPr indent="0" marL="0">
              <a:buNone/>
            </a:pPr>
            <a:r>
              <a:rPr lang="en-US" sz="860" dirty="0">
                <a:solidFill>
                  <a:srgbClr val="334155"/>
                </a:solidFill>
                <a:latin typeface="Roboto" pitchFamily="34" charset="0"/>
                <a:ea typeface="Roboto" pitchFamily="34" charset="-122"/>
                <a:cs typeface="Roboto" pitchFamily="34" charset="-120"/>
              </a:rPr>
              <a:t>SaaS AI Dilemma, 80/20 Core vs. Perimeter decoupling, and ~42ms 6-stage lifecycle.</a:t>
            </a:r>
            <a:endParaRPr lang="en-US" sz="860" dirty="0"/>
          </a:p>
        </p:txBody>
      </p:sp>
      <p:sp>
        <p:nvSpPr>
          <p:cNvPr id="33" name="Shape 31"/>
          <p:cNvSpPr/>
          <p:nvPr/>
        </p:nvSpPr>
        <p:spPr>
          <a:xfrm>
            <a:off x="7635240" y="2505456"/>
            <a:ext cx="3931920" cy="1060704"/>
          </a:xfrm>
          <a:prstGeom prst="roundRect">
            <a:avLst>
              <a:gd name="adj" fmla="val 6897"/>
            </a:avLst>
          </a:prstGeom>
          <a:solidFill>
            <a:srgbClr val="F8FAFC"/>
          </a:solidFill>
          <a:ln w="10795">
            <a:solidFill>
              <a:srgbClr val="E2E8F0"/>
            </a:solidFill>
            <a:prstDash val="solid"/>
          </a:ln>
        </p:spPr>
      </p:sp>
      <p:sp>
        <p:nvSpPr>
          <p:cNvPr id="34" name="Shape 32"/>
          <p:cNvSpPr/>
          <p:nvPr/>
        </p:nvSpPr>
        <p:spPr>
          <a:xfrm>
            <a:off x="7635240" y="2505456"/>
            <a:ext cx="73152" cy="1060704"/>
          </a:xfrm>
          <a:prstGeom prst="rect">
            <a:avLst/>
          </a:prstGeom>
          <a:solidFill>
            <a:srgbClr val="D93025"/>
          </a:solidFill>
          <a:ln/>
        </p:spPr>
      </p:sp>
      <p:sp>
        <p:nvSpPr>
          <p:cNvPr id="35" name="Text 33"/>
          <p:cNvSpPr/>
          <p:nvPr/>
        </p:nvSpPr>
        <p:spPr>
          <a:xfrm>
            <a:off x="7827264" y="2578608"/>
            <a:ext cx="3611880" cy="201168"/>
          </a:xfrm>
          <a:prstGeom prst="rect">
            <a:avLst/>
          </a:prstGeom>
          <a:noFill/>
          <a:ln/>
        </p:spPr>
        <p:txBody>
          <a:bodyPr wrap="square" rtlCol="0" anchor="ctr"/>
          <a:lstStyle/>
          <a:p>
            <a:pPr indent="0" marL="0">
              <a:buNone/>
            </a:pPr>
            <a:r>
              <a:rPr lang="en-US" sz="800" b="1" dirty="0">
                <a:solidFill>
                  <a:srgbClr val="D93025"/>
                </a:solidFill>
                <a:latin typeface="Google Sans" pitchFamily="34" charset="0"/>
                <a:ea typeface="Google Sans" pitchFamily="34" charset="-122"/>
                <a:cs typeface="Google Sans" pitchFamily="34" charset="-120"/>
              </a:rPr>
              <a:t>ACT II • SLIDES 5–10</a:t>
            </a:r>
            <a:endParaRPr lang="en-US" sz="800" dirty="0"/>
          </a:p>
        </p:txBody>
      </p:sp>
      <p:sp>
        <p:nvSpPr>
          <p:cNvPr id="36" name="Text 34"/>
          <p:cNvSpPr/>
          <p:nvPr/>
        </p:nvSpPr>
        <p:spPr>
          <a:xfrm>
            <a:off x="7827264" y="2798064"/>
            <a:ext cx="3611880" cy="256032"/>
          </a:xfrm>
          <a:prstGeom prst="rect">
            <a:avLst/>
          </a:prstGeom>
          <a:noFill/>
          <a:ln/>
        </p:spPr>
        <p:txBody>
          <a:bodyPr wrap="square" rtlCol="0" anchor="ctr"/>
          <a:lstStyle/>
          <a:p>
            <a:pPr indent="0" marL="0">
              <a:buNone/>
            </a:pPr>
            <a:r>
              <a:rPr lang="en-US" sz="1050" b="1" dirty="0">
                <a:solidFill>
                  <a:srgbClr val="0F172A"/>
                </a:solidFill>
                <a:latin typeface="Google Sans" pitchFamily="34" charset="0"/>
                <a:ea typeface="Google Sans" pitchFamily="34" charset="-122"/>
                <a:cs typeface="Google Sans" pitchFamily="34" charset="-120"/>
              </a:rPr>
              <a:t>Logical (L1) &amp; Technical (L2–L4) Blueprints</a:t>
            </a:r>
            <a:endParaRPr lang="en-US" sz="1050" dirty="0"/>
          </a:p>
        </p:txBody>
      </p:sp>
      <p:sp>
        <p:nvSpPr>
          <p:cNvPr id="37" name="Text 35"/>
          <p:cNvSpPr/>
          <p:nvPr/>
        </p:nvSpPr>
        <p:spPr>
          <a:xfrm>
            <a:off x="7827264" y="3072384"/>
            <a:ext cx="3611880" cy="420624"/>
          </a:xfrm>
          <a:prstGeom prst="rect">
            <a:avLst/>
          </a:prstGeom>
          <a:noFill/>
          <a:ln/>
        </p:spPr>
        <p:txBody>
          <a:bodyPr wrap="square" rtlCol="0" anchor="ctr"/>
          <a:lstStyle/>
          <a:p>
            <a:pPr indent="0" marL="0">
              <a:buNone/>
            </a:pPr>
            <a:r>
              <a:rPr lang="en-US" sz="860" dirty="0">
                <a:solidFill>
                  <a:srgbClr val="334155"/>
                </a:solidFill>
                <a:latin typeface="Roboto" pitchFamily="34" charset="0"/>
                <a:ea typeface="Roboto" pitchFamily="34" charset="-122"/>
                <a:cs typeface="Roboto" pitchFamily="34" charset="-120"/>
              </a:rPr>
              <a:t>3-Zone Trust Boundary, 3-Tier Selector, #78 Figures 1 &amp; 2, L3 UML &amp; L4 Wire JWT.</a:t>
            </a:r>
            <a:endParaRPr lang="en-US" sz="860" dirty="0"/>
          </a:p>
        </p:txBody>
      </p:sp>
      <p:sp>
        <p:nvSpPr>
          <p:cNvPr id="38" name="Shape 36"/>
          <p:cNvSpPr/>
          <p:nvPr/>
        </p:nvSpPr>
        <p:spPr>
          <a:xfrm>
            <a:off x="7635240" y="3712464"/>
            <a:ext cx="3931920" cy="1060704"/>
          </a:xfrm>
          <a:prstGeom prst="roundRect">
            <a:avLst>
              <a:gd name="adj" fmla="val 6897"/>
            </a:avLst>
          </a:prstGeom>
          <a:solidFill>
            <a:srgbClr val="F8FAFC"/>
          </a:solidFill>
          <a:ln w="10795">
            <a:solidFill>
              <a:srgbClr val="E2E8F0"/>
            </a:solidFill>
            <a:prstDash val="solid"/>
          </a:ln>
        </p:spPr>
      </p:sp>
      <p:sp>
        <p:nvSpPr>
          <p:cNvPr id="39" name="Shape 37"/>
          <p:cNvSpPr/>
          <p:nvPr/>
        </p:nvSpPr>
        <p:spPr>
          <a:xfrm>
            <a:off x="7635240" y="3712464"/>
            <a:ext cx="73152" cy="1060704"/>
          </a:xfrm>
          <a:prstGeom prst="rect">
            <a:avLst/>
          </a:prstGeom>
          <a:solidFill>
            <a:srgbClr val="B06000"/>
          </a:solidFill>
          <a:ln/>
        </p:spPr>
      </p:sp>
      <p:sp>
        <p:nvSpPr>
          <p:cNvPr id="40" name="Text 38"/>
          <p:cNvSpPr/>
          <p:nvPr/>
        </p:nvSpPr>
        <p:spPr>
          <a:xfrm>
            <a:off x="7827264" y="3785616"/>
            <a:ext cx="3611880" cy="201168"/>
          </a:xfrm>
          <a:prstGeom prst="rect">
            <a:avLst/>
          </a:prstGeom>
          <a:noFill/>
          <a:ln/>
        </p:spPr>
        <p:txBody>
          <a:bodyPr wrap="square" rtlCol="0" anchor="ctr"/>
          <a:lstStyle/>
          <a:p>
            <a:pPr indent="0" marL="0">
              <a:buNone/>
            </a:pPr>
            <a:r>
              <a:rPr lang="en-US" sz="800" b="1" dirty="0">
                <a:solidFill>
                  <a:srgbClr val="B06000"/>
                </a:solidFill>
                <a:latin typeface="Google Sans" pitchFamily="34" charset="0"/>
                <a:ea typeface="Google Sans" pitchFamily="34" charset="-122"/>
                <a:cs typeface="Google Sans" pitchFamily="34" charset="-120"/>
              </a:rPr>
              <a:t>ACT III • SLIDES 11–13</a:t>
            </a:r>
            <a:endParaRPr lang="en-US" sz="800" dirty="0"/>
          </a:p>
        </p:txBody>
      </p:sp>
      <p:sp>
        <p:nvSpPr>
          <p:cNvPr id="41" name="Text 39"/>
          <p:cNvSpPr/>
          <p:nvPr/>
        </p:nvSpPr>
        <p:spPr>
          <a:xfrm>
            <a:off x="7827264" y="4005072"/>
            <a:ext cx="3611880" cy="256032"/>
          </a:xfrm>
          <a:prstGeom prst="rect">
            <a:avLst/>
          </a:prstGeom>
          <a:noFill/>
          <a:ln/>
        </p:spPr>
        <p:txBody>
          <a:bodyPr wrap="square" rtlCol="0" anchor="ctr"/>
          <a:lstStyle/>
          <a:p>
            <a:pPr indent="0" marL="0">
              <a:buNone/>
            </a:pPr>
            <a:r>
              <a:rPr lang="en-US" sz="1050" b="1" dirty="0">
                <a:solidFill>
                  <a:srgbClr val="0F172A"/>
                </a:solidFill>
                <a:latin typeface="Google Sans" pitchFamily="34" charset="0"/>
                <a:ea typeface="Google Sans" pitchFamily="34" charset="-122"/>
                <a:cs typeface="Google Sans" pitchFamily="34" charset="-120"/>
              </a:rPr>
              <a:t>Solution Approach &amp; Dual-Plane Proofs</a:t>
            </a:r>
            <a:endParaRPr lang="en-US" sz="1050" dirty="0"/>
          </a:p>
        </p:txBody>
      </p:sp>
      <p:sp>
        <p:nvSpPr>
          <p:cNvPr id="42" name="Text 40"/>
          <p:cNvSpPr/>
          <p:nvPr/>
        </p:nvSpPr>
        <p:spPr>
          <a:xfrm>
            <a:off x="7827264" y="4279392"/>
            <a:ext cx="3611880" cy="420624"/>
          </a:xfrm>
          <a:prstGeom prst="rect">
            <a:avLst/>
          </a:prstGeom>
          <a:noFill/>
          <a:ln/>
        </p:spPr>
        <p:txBody>
          <a:bodyPr wrap="square" rtlCol="0" anchor="ctr"/>
          <a:lstStyle/>
          <a:p>
            <a:pPr indent="0" marL="0">
              <a:buNone/>
            </a:pPr>
            <a:r>
              <a:rPr lang="en-US" sz="860" dirty="0">
                <a:solidFill>
                  <a:srgbClr val="334155"/>
                </a:solidFill>
                <a:latin typeface="Roboto" pitchFamily="34" charset="0"/>
                <a:ea typeface="Roboto" pitchFamily="34" charset="-122"/>
                <a:cs typeface="Roboto" pitchFamily="34" charset="-120"/>
              </a:rPr>
              <a:t>GAP-01..05 adapter bridge, 20/20 GCP + 30/30 AWS MCP, &amp; 2880x1800 Retina UIs.</a:t>
            </a:r>
            <a:endParaRPr lang="en-US" sz="860" dirty="0"/>
          </a:p>
        </p:txBody>
      </p:sp>
      <p:sp>
        <p:nvSpPr>
          <p:cNvPr id="43" name="Shape 41"/>
          <p:cNvSpPr/>
          <p:nvPr/>
        </p:nvSpPr>
        <p:spPr>
          <a:xfrm>
            <a:off x="7635240" y="4919472"/>
            <a:ext cx="3931920" cy="1060704"/>
          </a:xfrm>
          <a:prstGeom prst="roundRect">
            <a:avLst>
              <a:gd name="adj" fmla="val 6897"/>
            </a:avLst>
          </a:prstGeom>
          <a:solidFill>
            <a:srgbClr val="F8FAFC"/>
          </a:solidFill>
          <a:ln w="10795">
            <a:solidFill>
              <a:srgbClr val="E2E8F0"/>
            </a:solidFill>
            <a:prstDash val="solid"/>
          </a:ln>
        </p:spPr>
      </p:sp>
      <p:sp>
        <p:nvSpPr>
          <p:cNvPr id="44" name="Shape 42"/>
          <p:cNvSpPr/>
          <p:nvPr/>
        </p:nvSpPr>
        <p:spPr>
          <a:xfrm>
            <a:off x="7635240" y="4919472"/>
            <a:ext cx="73152" cy="1060704"/>
          </a:xfrm>
          <a:prstGeom prst="rect">
            <a:avLst/>
          </a:prstGeom>
          <a:solidFill>
            <a:srgbClr val="1E8E3E"/>
          </a:solidFill>
          <a:ln/>
        </p:spPr>
      </p:sp>
      <p:sp>
        <p:nvSpPr>
          <p:cNvPr id="45" name="Text 43"/>
          <p:cNvSpPr/>
          <p:nvPr/>
        </p:nvSpPr>
        <p:spPr>
          <a:xfrm>
            <a:off x="7827264" y="4992624"/>
            <a:ext cx="3611880" cy="201168"/>
          </a:xfrm>
          <a:prstGeom prst="rect">
            <a:avLst/>
          </a:prstGeom>
          <a:noFill/>
          <a:ln/>
        </p:spPr>
        <p:txBody>
          <a:bodyPr wrap="square" rtlCol="0" anchor="ctr"/>
          <a:lstStyle/>
          <a:p>
            <a:pPr indent="0" marL="0">
              <a:buNone/>
            </a:pPr>
            <a:r>
              <a:rPr lang="en-US" sz="800" b="1" dirty="0">
                <a:solidFill>
                  <a:srgbClr val="1E8E3E"/>
                </a:solidFill>
                <a:latin typeface="Google Sans" pitchFamily="34" charset="0"/>
                <a:ea typeface="Google Sans" pitchFamily="34" charset="-122"/>
                <a:cs typeface="Google Sans" pitchFamily="34" charset="-120"/>
              </a:rPr>
              <a:t>ACT IV • SLIDE 14</a:t>
            </a:r>
            <a:endParaRPr lang="en-US" sz="800" dirty="0"/>
          </a:p>
        </p:txBody>
      </p:sp>
      <p:sp>
        <p:nvSpPr>
          <p:cNvPr id="46" name="Text 44"/>
          <p:cNvSpPr/>
          <p:nvPr/>
        </p:nvSpPr>
        <p:spPr>
          <a:xfrm>
            <a:off x="7827264" y="5212080"/>
            <a:ext cx="3611880" cy="256032"/>
          </a:xfrm>
          <a:prstGeom prst="rect">
            <a:avLst/>
          </a:prstGeom>
          <a:noFill/>
          <a:ln/>
        </p:spPr>
        <p:txBody>
          <a:bodyPr wrap="square" rtlCol="0" anchor="ctr"/>
          <a:lstStyle/>
          <a:p>
            <a:pPr indent="0" marL="0">
              <a:buNone/>
            </a:pPr>
            <a:r>
              <a:rPr lang="en-US" sz="1050" b="1" dirty="0">
                <a:solidFill>
                  <a:srgbClr val="0F172A"/>
                </a:solidFill>
                <a:latin typeface="Google Sans" pitchFamily="34" charset="0"/>
                <a:ea typeface="Google Sans" pitchFamily="34" charset="-122"/>
                <a:cs typeface="Google Sans" pitchFamily="34" charset="-120"/>
              </a:rPr>
              <a:t>Quantified Benefits &amp; 30-60-90 Day CTA</a:t>
            </a:r>
            <a:endParaRPr lang="en-US" sz="1050" dirty="0"/>
          </a:p>
        </p:txBody>
      </p:sp>
      <p:sp>
        <p:nvSpPr>
          <p:cNvPr id="47" name="Text 45"/>
          <p:cNvSpPr/>
          <p:nvPr/>
        </p:nvSpPr>
        <p:spPr>
          <a:xfrm>
            <a:off x="7827264" y="5486400"/>
            <a:ext cx="3611880" cy="420624"/>
          </a:xfrm>
          <a:prstGeom prst="rect">
            <a:avLst/>
          </a:prstGeom>
          <a:noFill/>
          <a:ln/>
        </p:spPr>
        <p:txBody>
          <a:bodyPr wrap="square" rtlCol="0" anchor="ctr"/>
          <a:lstStyle/>
          <a:p>
            <a:pPr indent="0" marL="0">
              <a:buNone/>
            </a:pPr>
            <a:r>
              <a:rPr lang="en-US" sz="860" dirty="0">
                <a:solidFill>
                  <a:srgbClr val="334155"/>
                </a:solidFill>
                <a:latin typeface="Roboto" pitchFamily="34" charset="0"/>
                <a:ea typeface="Roboto" pitchFamily="34" charset="-122"/>
                <a:cs typeface="Roboto" pitchFamily="34" charset="-120"/>
              </a:rPr>
              <a:t>84.7% token savings, &lt;5s L1 cache eviction, &lt;30s RTO &amp; runnable GitHub milestones.</a:t>
            </a:r>
            <a:endParaRPr lang="en-US" sz="8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1723644"/>
          </a:xfrm>
          <a:prstGeom prst="rect">
            <a:avLst/>
          </a:prstGeom>
          <a:solidFill>
            <a:srgbClr val="1A73E8"/>
          </a:solidFill>
          <a:ln/>
        </p:spPr>
      </p:sp>
      <p:sp>
        <p:nvSpPr>
          <p:cNvPr id="3" name="Shape 1"/>
          <p:cNvSpPr/>
          <p:nvPr/>
        </p:nvSpPr>
        <p:spPr>
          <a:xfrm>
            <a:off x="0" y="1714500"/>
            <a:ext cx="73152" cy="1723644"/>
          </a:xfrm>
          <a:prstGeom prst="rect">
            <a:avLst/>
          </a:prstGeom>
          <a:solidFill>
            <a:srgbClr val="D93025"/>
          </a:solidFill>
          <a:ln/>
        </p:spPr>
      </p:sp>
      <p:sp>
        <p:nvSpPr>
          <p:cNvPr id="4" name="Shape 2"/>
          <p:cNvSpPr/>
          <p:nvPr/>
        </p:nvSpPr>
        <p:spPr>
          <a:xfrm>
            <a:off x="0" y="3429000"/>
            <a:ext cx="73152" cy="1723644"/>
          </a:xfrm>
          <a:prstGeom prst="rect">
            <a:avLst/>
          </a:prstGeom>
          <a:solidFill>
            <a:srgbClr val="F9AB00"/>
          </a:solidFill>
          <a:ln/>
        </p:spPr>
      </p:sp>
      <p:sp>
        <p:nvSpPr>
          <p:cNvPr id="5" name="Shape 3"/>
          <p:cNvSpPr/>
          <p:nvPr/>
        </p:nvSpPr>
        <p:spPr>
          <a:xfrm>
            <a:off x="0" y="5143500"/>
            <a:ext cx="73152" cy="1723644"/>
          </a:xfrm>
          <a:prstGeom prst="rect">
            <a:avLst/>
          </a:prstGeom>
          <a:solidFill>
            <a:srgbClr val="1E8E3E"/>
          </a:solidFill>
          <a:ln/>
        </p:spPr>
      </p:sp>
      <p:sp>
        <p:nvSpPr>
          <p:cNvPr id="6" name="Text 4"/>
          <p:cNvSpPr/>
          <p:nvPr/>
        </p:nvSpPr>
        <p:spPr>
          <a:xfrm>
            <a:off x="347472" y="201168"/>
            <a:ext cx="9875520" cy="237744"/>
          </a:xfrm>
          <a:prstGeom prst="rect">
            <a:avLst/>
          </a:prstGeom>
          <a:noFill/>
          <a:ln/>
        </p:spPr>
        <p:txBody>
          <a:bodyPr wrap="square" rtlCol="0" anchor="ctr"/>
          <a:lstStyle/>
          <a:p>
            <a:pPr indent="0" marL="0">
              <a:buNone/>
            </a:pPr>
            <a:r>
              <a:rPr lang="en-US" sz="850" b="1" dirty="0">
                <a:solidFill>
                  <a:srgbClr val="1A73E8"/>
                </a:solidFill>
                <a:latin typeface="Google Sans" pitchFamily="34" charset="0"/>
                <a:ea typeface="Google Sans" pitchFamily="34" charset="-122"/>
                <a:cs typeface="Google Sans" pitchFamily="34" charset="-120"/>
              </a:rPr>
              <a:t>GOOGLE CLOUD ARCHITECTURE CENTER  </a:t>
            </a:r>
            <a:pPr indent="0" marL="0">
              <a:buNone/>
            </a:pPr>
            <a:r>
              <a:rPr lang="en-US" sz="850" dirty="0">
                <a:solidFill>
                  <a:srgbClr val="64748B"/>
                </a:solidFill>
                <a:latin typeface="Google Sans" pitchFamily="34" charset="0"/>
                <a:ea typeface="Google Sans" pitchFamily="34" charset="-122"/>
                <a:cs typeface="Google Sans" pitchFamily="34" charset="-120"/>
              </a:rPr>
              <a:t>/  ACT I • THE REAL PROBLEM  /  Why Naive Multi-Tenancy Fails for Stateful AI Agents</a:t>
            </a:r>
            <a:endParaRPr lang="en-US" sz="850" dirty="0"/>
          </a:p>
        </p:txBody>
      </p:sp>
      <p:sp>
        <p:nvSpPr>
          <p:cNvPr id="7" name="Shape 5"/>
          <p:cNvSpPr/>
          <p:nvPr/>
        </p:nvSpPr>
        <p:spPr>
          <a:xfrm>
            <a:off x="10835640" y="182880"/>
            <a:ext cx="1005840" cy="256032"/>
          </a:xfrm>
          <a:prstGeom prst="roundRect">
            <a:avLst>
              <a:gd name="adj" fmla="val 50000"/>
            </a:avLst>
          </a:prstGeom>
          <a:solidFill>
            <a:srgbClr val="FFFFFF"/>
          </a:solidFill>
          <a:ln w="9525">
            <a:solidFill>
              <a:srgbClr val="E2E8F0"/>
            </a:solidFill>
            <a:prstDash val="solid"/>
          </a:ln>
        </p:spPr>
      </p:sp>
      <p:sp>
        <p:nvSpPr>
          <p:cNvPr id="8" name="Text 6"/>
          <p:cNvSpPr/>
          <p:nvPr/>
        </p:nvSpPr>
        <p:spPr>
          <a:xfrm>
            <a:off x="10835640" y="182880"/>
            <a:ext cx="1005840" cy="256032"/>
          </a:xfrm>
          <a:prstGeom prst="rect">
            <a:avLst/>
          </a:prstGeom>
          <a:noFill/>
          <a:ln/>
        </p:spPr>
        <p:txBody>
          <a:bodyPr wrap="square" rtlCol="0" anchor="ctr"/>
          <a:lstStyle/>
          <a:p>
            <a:pPr algn="ctr" indent="0" marL="0">
              <a:buNone/>
            </a:pPr>
            <a:r>
              <a:rPr lang="en-US" sz="850" b="1" dirty="0">
                <a:solidFill>
                  <a:srgbClr val="334155"/>
                </a:solidFill>
                <a:latin typeface="Google Sans" pitchFamily="34" charset="0"/>
                <a:ea typeface="Google Sans" pitchFamily="34" charset="-122"/>
                <a:cs typeface="Google Sans" pitchFamily="34" charset="-120"/>
              </a:rPr>
              <a:t>02 / 14</a:t>
            </a:r>
            <a:endParaRPr lang="en-US" sz="850" dirty="0"/>
          </a:p>
        </p:txBody>
      </p:sp>
      <p:sp>
        <p:nvSpPr>
          <p:cNvPr id="9" name="Shape 7"/>
          <p:cNvSpPr/>
          <p:nvPr/>
        </p:nvSpPr>
        <p:spPr>
          <a:xfrm>
            <a:off x="347472" y="6510528"/>
            <a:ext cx="11494008" cy="0"/>
          </a:xfrm>
          <a:prstGeom prst="line">
            <a:avLst/>
          </a:prstGeom>
          <a:noFill/>
          <a:ln w="9525">
            <a:solidFill>
              <a:srgbClr val="E2E8F0"/>
            </a:solidFill>
            <a:prstDash val="solid"/>
          </a:ln>
        </p:spPr>
      </p:sp>
      <p:sp>
        <p:nvSpPr>
          <p:cNvPr id="10" name="Text 8"/>
          <p:cNvSpPr/>
          <p:nvPr/>
        </p:nvSpPr>
        <p:spPr>
          <a:xfrm>
            <a:off x="347472" y="6556248"/>
            <a:ext cx="11494008" cy="219456"/>
          </a:xfrm>
          <a:prstGeom prst="rect">
            <a:avLst/>
          </a:prstGeom>
          <a:noFill/>
          <a:ln/>
        </p:spPr>
        <p:txBody>
          <a:bodyPr wrap="square" rtlCol="0" anchor="ctr"/>
          <a:lstStyle/>
          <a:p>
            <a:pPr indent="0" marL="0">
              <a:buNone/>
            </a:pPr>
            <a:r>
              <a:rPr lang="en-US" sz="780" dirty="0">
                <a:solidFill>
                  <a:srgbClr val="64748B"/>
                </a:solidFill>
                <a:latin typeface="Roboto" pitchFamily="34" charset="0"/>
                <a:ea typeface="Roboto" pitchFamily="34" charset="-122"/>
                <a:cs typeface="Roboto" pitchFamily="34" charset="-120"/>
              </a:rPr>
              <a:t>Multi-Tenant Agentic AI on Google Cloud  •  Blog 1 Executive Edition  •  Verified on GCP (#248990048888, #48439189383) &amp; AWS (#393036065405)</a:t>
            </a:r>
            <a:endParaRPr lang="en-US" sz="780" dirty="0"/>
          </a:p>
        </p:txBody>
      </p:sp>
      <p:sp>
        <p:nvSpPr>
          <p:cNvPr id="11" name="Shape 9"/>
          <p:cNvSpPr/>
          <p:nvPr/>
        </p:nvSpPr>
        <p:spPr>
          <a:xfrm>
            <a:off x="347472" y="566928"/>
            <a:ext cx="3154680" cy="5779008"/>
          </a:xfrm>
          <a:prstGeom prst="roundRect">
            <a:avLst>
              <a:gd name="adj" fmla="val 2899"/>
            </a:avLst>
          </a:prstGeom>
          <a:solidFill>
            <a:srgbClr val="FFFFFF"/>
          </a:solidFill>
          <a:ln w="12700">
            <a:solidFill>
              <a:srgbClr val="E2E8F0"/>
            </a:solidFill>
            <a:prstDash val="solid"/>
          </a:ln>
        </p:spPr>
      </p:sp>
      <p:sp>
        <p:nvSpPr>
          <p:cNvPr id="12" name="Shape 10"/>
          <p:cNvSpPr/>
          <p:nvPr/>
        </p:nvSpPr>
        <p:spPr>
          <a:xfrm>
            <a:off x="530352" y="768096"/>
            <a:ext cx="1691640" cy="256032"/>
          </a:xfrm>
          <a:prstGeom prst="roundRect">
            <a:avLst>
              <a:gd name="adj" fmla="val 28571"/>
            </a:avLst>
          </a:prstGeom>
          <a:solidFill>
            <a:srgbClr val="FCE8E6"/>
          </a:solidFill>
          <a:ln/>
        </p:spPr>
      </p:sp>
      <p:sp>
        <p:nvSpPr>
          <p:cNvPr id="13" name="Text 11"/>
          <p:cNvSpPr/>
          <p:nvPr/>
        </p:nvSpPr>
        <p:spPr>
          <a:xfrm>
            <a:off x="530352" y="768096"/>
            <a:ext cx="1691640" cy="256032"/>
          </a:xfrm>
          <a:prstGeom prst="rect">
            <a:avLst/>
          </a:prstGeom>
          <a:noFill/>
          <a:ln/>
        </p:spPr>
        <p:txBody>
          <a:bodyPr wrap="square" rtlCol="0" anchor="ctr"/>
          <a:lstStyle/>
          <a:p>
            <a:pPr algn="ctr" indent="0" marL="0">
              <a:buNone/>
            </a:pPr>
            <a:r>
              <a:rPr lang="en-US" sz="800" b="1" dirty="0">
                <a:solidFill>
                  <a:srgbClr val="D93025"/>
                </a:solidFill>
                <a:latin typeface="Google Sans" pitchFamily="34" charset="0"/>
                <a:ea typeface="Google Sans" pitchFamily="34" charset="-122"/>
                <a:cs typeface="Google Sans" pitchFamily="34" charset="-120"/>
              </a:rPr>
              <a:t>THE REAL PROBLEM</a:t>
            </a:r>
            <a:endParaRPr lang="en-US" sz="800" dirty="0"/>
          </a:p>
        </p:txBody>
      </p:sp>
      <p:sp>
        <p:nvSpPr>
          <p:cNvPr id="14" name="Text 12"/>
          <p:cNvSpPr/>
          <p:nvPr/>
        </p:nvSpPr>
        <p:spPr>
          <a:xfrm>
            <a:off x="530352" y="1133856"/>
            <a:ext cx="2788920" cy="1325880"/>
          </a:xfrm>
          <a:prstGeom prst="rect">
            <a:avLst/>
          </a:prstGeom>
          <a:noFill/>
          <a:ln/>
        </p:spPr>
        <p:txBody>
          <a:bodyPr wrap="square" rtlCol="0" anchor="t"/>
          <a:lstStyle/>
          <a:p>
            <a:pPr indent="0" marL="0">
              <a:buNone/>
            </a:pPr>
            <a:r>
              <a:rPr lang="en-US" sz="1750" b="1" dirty="0">
                <a:solidFill>
                  <a:srgbClr val="0F172A"/>
                </a:solidFill>
                <a:latin typeface="Google Sans Display" pitchFamily="34" charset="0"/>
                <a:ea typeface="Google Sans Display" pitchFamily="34" charset="-122"/>
                <a:cs typeface="Google Sans Display" pitchFamily="34" charset="-120"/>
              </a:rPr>
              <a:t>The SaaS AI Architect’s Dilemma</a:t>
            </a:r>
            <a:endParaRPr lang="en-US" sz="1750" dirty="0"/>
          </a:p>
        </p:txBody>
      </p:sp>
      <p:sp>
        <p:nvSpPr>
          <p:cNvPr id="15" name="Text 13"/>
          <p:cNvSpPr/>
          <p:nvPr/>
        </p:nvSpPr>
        <p:spPr>
          <a:xfrm>
            <a:off x="530352" y="2542032"/>
            <a:ext cx="2788920" cy="2148840"/>
          </a:xfrm>
          <a:prstGeom prst="rect">
            <a:avLst/>
          </a:prstGeom>
          <a:noFill/>
          <a:ln/>
        </p:spPr>
        <p:txBody>
          <a:bodyPr wrap="square" rtlCol="0" anchor="t"/>
          <a:lstStyle/>
          <a:p>
            <a:pPr indent="0" marL="0">
              <a:buNone/>
            </a:pPr>
            <a:r>
              <a:rPr lang="en-US" sz="1000" dirty="0">
                <a:solidFill>
                  <a:srgbClr val="334155"/>
                </a:solidFill>
                <a:latin typeface="Roboto" pitchFamily="34" charset="0"/>
                <a:ea typeface="Roboto" pitchFamily="34" charset="-122"/>
                <a:cs typeface="Roboto" pitchFamily="34" charset="-120"/>
              </a:rPr>
              <a:t>Stateless CRUD multi-tenancy breaks down when AI agents hold tool schemas, episodic memory, and 3-Legged OAuth tokens.</a:t>
            </a:r>
            <a:endParaRPr lang="en-US" sz="1000" dirty="0"/>
          </a:p>
          <a:p>
            <a:pPr indent="0" marL="0">
              <a:buNone/>
            </a:pP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 Naive shared pools leak private tool schemas and suffer noisy-neighbor quota starvation.</a:t>
            </a: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 Dedicated projects for every tenant destroy SaaS gross margins and create 500-silo IaC sprawl.</a:t>
            </a:r>
            <a:endParaRPr lang="en-US" sz="1000" dirty="0"/>
          </a:p>
        </p:txBody>
      </p:sp>
      <p:sp>
        <p:nvSpPr>
          <p:cNvPr id="16" name="Shape 14"/>
          <p:cNvSpPr/>
          <p:nvPr/>
        </p:nvSpPr>
        <p:spPr>
          <a:xfrm>
            <a:off x="530352" y="4846320"/>
            <a:ext cx="2788920" cy="1298448"/>
          </a:xfrm>
          <a:prstGeom prst="roundRect">
            <a:avLst>
              <a:gd name="adj" fmla="val 5634"/>
            </a:avLst>
          </a:prstGeom>
          <a:solidFill>
            <a:srgbClr val="FCE8E6"/>
          </a:solidFill>
          <a:ln w="12700">
            <a:solidFill>
              <a:srgbClr val="D93025"/>
            </a:solidFill>
            <a:prstDash val="solid"/>
          </a:ln>
        </p:spPr>
      </p:sp>
      <p:sp>
        <p:nvSpPr>
          <p:cNvPr id="17" name="Text 15"/>
          <p:cNvSpPr/>
          <p:nvPr/>
        </p:nvSpPr>
        <p:spPr>
          <a:xfrm>
            <a:off x="658368" y="4956048"/>
            <a:ext cx="2532888" cy="566928"/>
          </a:xfrm>
          <a:prstGeom prst="rect">
            <a:avLst/>
          </a:prstGeom>
          <a:noFill/>
          <a:ln/>
        </p:spPr>
        <p:txBody>
          <a:bodyPr wrap="square" rtlCol="0" anchor="ctr"/>
          <a:lstStyle/>
          <a:p>
            <a:pPr indent="0" marL="0">
              <a:buNone/>
            </a:pPr>
            <a:r>
              <a:rPr lang="en-US" sz="2800" b="1" dirty="0">
                <a:solidFill>
                  <a:srgbClr val="D93025"/>
                </a:solidFill>
                <a:latin typeface="Google Sans Display" pitchFamily="34" charset="0"/>
                <a:ea typeface="Google Sans Display" pitchFamily="34" charset="-122"/>
                <a:cs typeface="Google Sans Display" pitchFamily="34" charset="-120"/>
              </a:rPr>
              <a:t>4x</a:t>
            </a:r>
            <a:endParaRPr lang="en-US" sz="2800" dirty="0"/>
          </a:p>
        </p:txBody>
      </p:sp>
      <p:sp>
        <p:nvSpPr>
          <p:cNvPr id="18" name="Text 16"/>
          <p:cNvSpPr/>
          <p:nvPr/>
        </p:nvSpPr>
        <p:spPr>
          <a:xfrm>
            <a:off x="658368" y="5559552"/>
            <a:ext cx="2532888" cy="475488"/>
          </a:xfrm>
          <a:prstGeom prst="rect">
            <a:avLst/>
          </a:prstGeom>
          <a:noFill/>
          <a:ln/>
        </p:spPr>
        <p:txBody>
          <a:bodyPr wrap="square" rtlCol="0" anchor="ctr"/>
          <a:lstStyle/>
          <a:p>
            <a:pPr indent="0" marL="0">
              <a:buNone/>
            </a:pPr>
            <a:r>
              <a:rPr lang="en-US" sz="880" b="1" dirty="0">
                <a:solidFill>
                  <a:srgbClr val="0F172A"/>
                </a:solidFill>
                <a:latin typeface="Roboto" pitchFamily="34" charset="0"/>
                <a:ea typeface="Roboto" pitchFamily="34" charset="-122"/>
                <a:cs typeface="Roboto" pitchFamily="34" charset="-120"/>
              </a:rPr>
              <a:t>Stateful Failure Vectors vs. Stateless CRUD Apps</a:t>
            </a:r>
            <a:endParaRPr lang="en-US" sz="880" dirty="0"/>
          </a:p>
        </p:txBody>
      </p:sp>
      <p:sp>
        <p:nvSpPr>
          <p:cNvPr id="19" name="Shape 17"/>
          <p:cNvSpPr/>
          <p:nvPr/>
        </p:nvSpPr>
        <p:spPr>
          <a:xfrm>
            <a:off x="3703320" y="566928"/>
            <a:ext cx="3977640" cy="2697480"/>
          </a:xfrm>
          <a:prstGeom prst="roundRect">
            <a:avLst>
              <a:gd name="adj" fmla="val 3390"/>
            </a:avLst>
          </a:prstGeom>
          <a:solidFill>
            <a:srgbClr val="FFFFFF"/>
          </a:solidFill>
          <a:ln w="15875">
            <a:solidFill>
              <a:srgbClr val="D93025"/>
            </a:solidFill>
            <a:prstDash val="solid"/>
          </a:ln>
        </p:spPr>
      </p:sp>
      <p:sp>
        <p:nvSpPr>
          <p:cNvPr id="20" name="Shape 18"/>
          <p:cNvSpPr/>
          <p:nvPr/>
        </p:nvSpPr>
        <p:spPr>
          <a:xfrm>
            <a:off x="3703320" y="566928"/>
            <a:ext cx="3977640" cy="329184"/>
          </a:xfrm>
          <a:prstGeom prst="rect">
            <a:avLst/>
          </a:prstGeom>
          <a:solidFill>
            <a:srgbClr val="FCE8E6"/>
          </a:solidFill>
          <a:ln/>
        </p:spPr>
      </p:sp>
      <p:sp>
        <p:nvSpPr>
          <p:cNvPr id="21" name="Text 19"/>
          <p:cNvSpPr/>
          <p:nvPr/>
        </p:nvSpPr>
        <p:spPr>
          <a:xfrm>
            <a:off x="3849624" y="603504"/>
            <a:ext cx="3685032" cy="256032"/>
          </a:xfrm>
          <a:prstGeom prst="rect">
            <a:avLst/>
          </a:prstGeom>
          <a:noFill/>
          <a:ln/>
        </p:spPr>
        <p:txBody>
          <a:bodyPr wrap="square" rtlCol="0" anchor="ctr"/>
          <a:lstStyle/>
          <a:p>
            <a:pPr indent="0" marL="0">
              <a:buNone/>
            </a:pPr>
            <a:r>
              <a:rPr lang="en-US" sz="820" b="1" dirty="0">
                <a:solidFill>
                  <a:srgbClr val="D93025"/>
                </a:solidFill>
                <a:latin typeface="Google Sans" pitchFamily="34" charset="0"/>
                <a:ea typeface="Google Sans" pitchFamily="34" charset="-122"/>
                <a:cs typeface="Google Sans" pitchFamily="34" charset="-120"/>
              </a:rPr>
              <a:t>SECURITY &amp; QUOTA RISK</a:t>
            </a:r>
            <a:endParaRPr lang="en-US" sz="820" dirty="0"/>
          </a:p>
        </p:txBody>
      </p:sp>
      <p:sp>
        <p:nvSpPr>
          <p:cNvPr id="22" name="Text 20"/>
          <p:cNvSpPr/>
          <p:nvPr/>
        </p:nvSpPr>
        <p:spPr>
          <a:xfrm>
            <a:off x="3849624" y="969264"/>
            <a:ext cx="3685032" cy="310896"/>
          </a:xfrm>
          <a:prstGeom prst="rect">
            <a:avLst/>
          </a:prstGeom>
          <a:noFill/>
          <a:ln/>
        </p:spPr>
        <p:txBody>
          <a:bodyPr wrap="square" rtlCol="0" anchor="ctr"/>
          <a:lstStyle/>
          <a:p>
            <a:pPr indent="0" marL="0">
              <a:buNone/>
            </a:pPr>
            <a:r>
              <a:rPr lang="en-US" sz="1200" b="1" dirty="0">
                <a:solidFill>
                  <a:srgbClr val="0F172A"/>
                </a:solidFill>
                <a:latin typeface="Google Sans" pitchFamily="34" charset="0"/>
                <a:ea typeface="Google Sans" pitchFamily="34" charset="-122"/>
                <a:cs typeface="Google Sans" pitchFamily="34" charset="-120"/>
              </a:rPr>
              <a:t>Failure Mode 1: Naive Shared Pool</a:t>
            </a:r>
            <a:endParaRPr lang="en-US" sz="1200" dirty="0"/>
          </a:p>
        </p:txBody>
      </p:sp>
      <p:sp>
        <p:nvSpPr>
          <p:cNvPr id="23" name="Text 21"/>
          <p:cNvSpPr/>
          <p:nvPr/>
        </p:nvSpPr>
        <p:spPr>
          <a:xfrm>
            <a:off x="3849624" y="1353312"/>
            <a:ext cx="3685032" cy="1810512"/>
          </a:xfrm>
          <a:prstGeom prst="rect">
            <a:avLst/>
          </a:prstGeom>
          <a:noFill/>
          <a:ln/>
        </p:spPr>
        <p:txBody>
          <a:bodyPr wrap="square" rtlCol="0" anchor="t"/>
          <a:lstStyle/>
          <a:p>
            <a:pPr indent="0" marL="0">
              <a:buNone/>
            </a:pPr>
            <a:r>
              <a:rPr lang="en-US" sz="900" dirty="0">
                <a:solidFill>
                  <a:srgbClr val="334155"/>
                </a:solidFill>
                <a:latin typeface="Roboto" pitchFamily="34" charset="0"/>
                <a:ea typeface="Roboto" pitchFamily="34" charset="-122"/>
                <a:cs typeface="Roboto" pitchFamily="34" charset="-120"/>
              </a:rPr>
              <a:t>• Confused Deputy: Pooled agent invokes Tenant A’s Jira/ServiceNow token for Tenant B</a:t>
            </a:r>
            <a:endParaRPr lang="en-US" sz="900" dirty="0"/>
          </a:p>
          <a:p>
            <a:pPr indent="0" marL="0">
              <a:buNone/>
            </a:pPr>
            <a:endParaRPr lang="en-US" sz="900" dirty="0"/>
          </a:p>
          <a:p>
            <a:pPr indent="0" marL="0">
              <a:buNone/>
            </a:pPr>
            <a:r>
              <a:rPr lang="en-US" sz="900" dirty="0">
                <a:solidFill>
                  <a:srgbClr val="334155"/>
                </a:solidFill>
                <a:latin typeface="Roboto" pitchFamily="34" charset="0"/>
                <a:ea typeface="Roboto" pitchFamily="34" charset="-122"/>
                <a:cs typeface="Roboto" pitchFamily="34" charset="-120"/>
              </a:rPr>
              <a:t>• Schema Bleed: ListAgents exposes private regulatory tools across tenants</a:t>
            </a:r>
            <a:endParaRPr lang="en-US" sz="900" dirty="0"/>
          </a:p>
          <a:p>
            <a:pPr indent="0" marL="0">
              <a:buNone/>
            </a:pPr>
            <a:endParaRPr lang="en-US" sz="900" dirty="0"/>
          </a:p>
          <a:p>
            <a:pPr indent="0" marL="0">
              <a:buNone/>
            </a:pPr>
            <a:r>
              <a:rPr lang="en-US" sz="900" dirty="0">
                <a:solidFill>
                  <a:srgbClr val="334155"/>
                </a:solidFill>
                <a:latin typeface="Roboto" pitchFamily="34" charset="0"/>
                <a:ea typeface="Roboto" pitchFamily="34" charset="-122"/>
                <a:cs typeface="Roboto" pitchFamily="34" charset="-120"/>
              </a:rPr>
              <a:t>• Quota Starvation: One 600-RPM burst exhausts regional Vertex AI TPM for all tenants</a:t>
            </a:r>
            <a:endParaRPr lang="en-US" sz="900" dirty="0"/>
          </a:p>
        </p:txBody>
      </p:sp>
      <p:sp>
        <p:nvSpPr>
          <p:cNvPr id="24" name="Shape 22"/>
          <p:cNvSpPr/>
          <p:nvPr/>
        </p:nvSpPr>
        <p:spPr>
          <a:xfrm>
            <a:off x="7863840" y="566928"/>
            <a:ext cx="3977640" cy="2697480"/>
          </a:xfrm>
          <a:prstGeom prst="roundRect">
            <a:avLst>
              <a:gd name="adj" fmla="val 3390"/>
            </a:avLst>
          </a:prstGeom>
          <a:solidFill>
            <a:srgbClr val="FFFFFF"/>
          </a:solidFill>
          <a:ln w="15875">
            <a:solidFill>
              <a:srgbClr val="B06000"/>
            </a:solidFill>
            <a:prstDash val="solid"/>
          </a:ln>
        </p:spPr>
      </p:sp>
      <p:sp>
        <p:nvSpPr>
          <p:cNvPr id="25" name="Shape 23"/>
          <p:cNvSpPr/>
          <p:nvPr/>
        </p:nvSpPr>
        <p:spPr>
          <a:xfrm>
            <a:off x="7863840" y="566928"/>
            <a:ext cx="3977640" cy="329184"/>
          </a:xfrm>
          <a:prstGeom prst="rect">
            <a:avLst/>
          </a:prstGeom>
          <a:solidFill>
            <a:srgbClr val="FEF7E0"/>
          </a:solidFill>
          <a:ln/>
        </p:spPr>
      </p:sp>
      <p:sp>
        <p:nvSpPr>
          <p:cNvPr id="26" name="Text 24"/>
          <p:cNvSpPr/>
          <p:nvPr/>
        </p:nvSpPr>
        <p:spPr>
          <a:xfrm>
            <a:off x="8010144" y="603504"/>
            <a:ext cx="3685032" cy="256032"/>
          </a:xfrm>
          <a:prstGeom prst="rect">
            <a:avLst/>
          </a:prstGeom>
          <a:noFill/>
          <a:ln/>
        </p:spPr>
        <p:txBody>
          <a:bodyPr wrap="square" rtlCol="0" anchor="ctr"/>
          <a:lstStyle/>
          <a:p>
            <a:pPr indent="0" marL="0">
              <a:buNone/>
            </a:pPr>
            <a:r>
              <a:rPr lang="en-US" sz="820" b="1" dirty="0">
                <a:solidFill>
                  <a:srgbClr val="B06000"/>
                </a:solidFill>
                <a:latin typeface="Google Sans" pitchFamily="34" charset="0"/>
                <a:ea typeface="Google Sans" pitchFamily="34" charset="-122"/>
                <a:cs typeface="Google Sans" pitchFamily="34" charset="-120"/>
              </a:rPr>
              <a:t>MARGIN &amp; FLEET SPRAWL</a:t>
            </a:r>
            <a:endParaRPr lang="en-US" sz="820" dirty="0"/>
          </a:p>
        </p:txBody>
      </p:sp>
      <p:sp>
        <p:nvSpPr>
          <p:cNvPr id="27" name="Text 25"/>
          <p:cNvSpPr/>
          <p:nvPr/>
        </p:nvSpPr>
        <p:spPr>
          <a:xfrm>
            <a:off x="8010144" y="969264"/>
            <a:ext cx="3685032" cy="310896"/>
          </a:xfrm>
          <a:prstGeom prst="rect">
            <a:avLst/>
          </a:prstGeom>
          <a:noFill/>
          <a:ln/>
        </p:spPr>
        <p:txBody>
          <a:bodyPr wrap="square" rtlCol="0" anchor="ctr"/>
          <a:lstStyle/>
          <a:p>
            <a:pPr indent="0" marL="0">
              <a:buNone/>
            </a:pPr>
            <a:r>
              <a:rPr lang="en-US" sz="1200" b="1" dirty="0">
                <a:solidFill>
                  <a:srgbClr val="0F172A"/>
                </a:solidFill>
                <a:latin typeface="Google Sans" pitchFamily="34" charset="0"/>
                <a:ea typeface="Google Sans" pitchFamily="34" charset="-122"/>
                <a:cs typeface="Google Sans" pitchFamily="34" charset="-120"/>
              </a:rPr>
              <a:t>Failure Mode 2: Silos for Every Tenant</a:t>
            </a:r>
            <a:endParaRPr lang="en-US" sz="1200" dirty="0"/>
          </a:p>
        </p:txBody>
      </p:sp>
      <p:sp>
        <p:nvSpPr>
          <p:cNvPr id="28" name="Text 26"/>
          <p:cNvSpPr/>
          <p:nvPr/>
        </p:nvSpPr>
        <p:spPr>
          <a:xfrm>
            <a:off x="8010144" y="1353312"/>
            <a:ext cx="3685032" cy="1810512"/>
          </a:xfrm>
          <a:prstGeom prst="rect">
            <a:avLst/>
          </a:prstGeom>
          <a:noFill/>
          <a:ln/>
        </p:spPr>
        <p:txBody>
          <a:bodyPr wrap="square" rtlCol="0" anchor="t"/>
          <a:lstStyle/>
          <a:p>
            <a:pPr indent="0" marL="0">
              <a:buNone/>
            </a:pPr>
            <a:r>
              <a:rPr lang="en-US" sz="900" dirty="0">
                <a:solidFill>
                  <a:srgbClr val="334155"/>
                </a:solidFill>
                <a:latin typeface="Roboto" pitchFamily="34" charset="0"/>
                <a:ea typeface="Roboto" pitchFamily="34" charset="-122"/>
                <a:cs typeface="Roboto" pitchFamily="34" charset="-120"/>
              </a:rPr>
              <a:t>• 500 Tenants = 500 VPC-SC perimeters, 500 KMS keys &amp; 500 AlloyDB clusters</a:t>
            </a:r>
            <a:endParaRPr lang="en-US" sz="900" dirty="0"/>
          </a:p>
          <a:p>
            <a:pPr indent="0" marL="0">
              <a:buNone/>
            </a:pPr>
            <a:endParaRPr lang="en-US" sz="900" dirty="0"/>
          </a:p>
          <a:p>
            <a:pPr indent="0" marL="0">
              <a:buNone/>
            </a:pPr>
            <a:r>
              <a:rPr lang="en-US" sz="900" dirty="0">
                <a:solidFill>
                  <a:srgbClr val="334155"/>
                </a:solidFill>
                <a:latin typeface="Roboto" pitchFamily="34" charset="0"/>
                <a:ea typeface="Roboto" pitchFamily="34" charset="-122"/>
                <a:cs typeface="Roboto" pitchFamily="34" charset="-120"/>
              </a:rPr>
              <a:t>• Zero Prefix Cache Sharing: Every tenant pays full cold-prompt token cost</a:t>
            </a:r>
            <a:endParaRPr lang="en-US" sz="900" dirty="0"/>
          </a:p>
          <a:p>
            <a:pPr indent="0" marL="0">
              <a:buNone/>
            </a:pPr>
            <a:endParaRPr lang="en-US" sz="900" dirty="0"/>
          </a:p>
          <a:p>
            <a:pPr indent="0" marL="0">
              <a:buNone/>
            </a:pPr>
            <a:r>
              <a:rPr lang="en-US" sz="900" dirty="0">
                <a:solidFill>
                  <a:srgbClr val="334155"/>
                </a:solidFill>
                <a:latin typeface="Roboto" pitchFamily="34" charset="0"/>
                <a:ea typeface="Roboto" pitchFamily="34" charset="-122"/>
                <a:cs typeface="Roboto" pitchFamily="34" charset="-120"/>
              </a:rPr>
              <a:t>• 6-Week Onboarding: Manual project provisioning blocks commercial SaaS velocity</a:t>
            </a:r>
            <a:endParaRPr lang="en-US" sz="900" dirty="0"/>
          </a:p>
        </p:txBody>
      </p:sp>
      <p:sp>
        <p:nvSpPr>
          <p:cNvPr id="29" name="Shape 27"/>
          <p:cNvSpPr/>
          <p:nvPr/>
        </p:nvSpPr>
        <p:spPr>
          <a:xfrm>
            <a:off x="3703320" y="3456432"/>
            <a:ext cx="3977640" cy="2889504"/>
          </a:xfrm>
          <a:prstGeom prst="roundRect">
            <a:avLst>
              <a:gd name="adj" fmla="val 3165"/>
            </a:avLst>
          </a:prstGeom>
          <a:solidFill>
            <a:srgbClr val="FFFFFF"/>
          </a:solidFill>
          <a:ln w="15875">
            <a:solidFill>
              <a:srgbClr val="1A73E8"/>
            </a:solidFill>
            <a:prstDash val="solid"/>
          </a:ln>
        </p:spPr>
      </p:sp>
      <p:sp>
        <p:nvSpPr>
          <p:cNvPr id="30" name="Shape 28"/>
          <p:cNvSpPr/>
          <p:nvPr/>
        </p:nvSpPr>
        <p:spPr>
          <a:xfrm>
            <a:off x="3703320" y="3456432"/>
            <a:ext cx="3977640" cy="329184"/>
          </a:xfrm>
          <a:prstGeom prst="rect">
            <a:avLst/>
          </a:prstGeom>
          <a:solidFill>
            <a:srgbClr val="E8F0FE"/>
          </a:solidFill>
          <a:ln/>
        </p:spPr>
      </p:sp>
      <p:sp>
        <p:nvSpPr>
          <p:cNvPr id="31" name="Text 29"/>
          <p:cNvSpPr/>
          <p:nvPr/>
        </p:nvSpPr>
        <p:spPr>
          <a:xfrm>
            <a:off x="3849624" y="3493008"/>
            <a:ext cx="3685032" cy="256032"/>
          </a:xfrm>
          <a:prstGeom prst="rect">
            <a:avLst/>
          </a:prstGeom>
          <a:noFill/>
          <a:ln/>
        </p:spPr>
        <p:txBody>
          <a:bodyPr wrap="square" rtlCol="0" anchor="ctr"/>
          <a:lstStyle/>
          <a:p>
            <a:pPr indent="0" marL="0">
              <a:buNone/>
            </a:pPr>
            <a:r>
              <a:rPr lang="en-US" sz="780" b="1" dirty="0">
                <a:solidFill>
                  <a:srgbClr val="1A73E8"/>
                </a:solidFill>
                <a:latin typeface="Google Sans" pitchFamily="34" charset="0"/>
                <a:ea typeface="Google Sans" pitchFamily="34" charset="-122"/>
                <a:cs typeface="Google Sans" pitchFamily="34" charset="-120"/>
              </a:rPr>
              <a:t>600 RPM • CMEK KMS • DEDICATED PT OR AIR-GAPPED GKE</a:t>
            </a:r>
            <a:endParaRPr lang="en-US" sz="780" dirty="0"/>
          </a:p>
        </p:txBody>
      </p:sp>
      <p:sp>
        <p:nvSpPr>
          <p:cNvPr id="32" name="Text 30"/>
          <p:cNvSpPr/>
          <p:nvPr/>
        </p:nvSpPr>
        <p:spPr>
          <a:xfrm>
            <a:off x="3849624" y="3858768"/>
            <a:ext cx="3685032" cy="310896"/>
          </a:xfrm>
          <a:prstGeom prst="rect">
            <a:avLst/>
          </a:prstGeom>
          <a:noFill/>
          <a:ln/>
        </p:spPr>
        <p:txBody>
          <a:bodyPr wrap="square" rtlCol="0" anchor="ctr"/>
          <a:lstStyle/>
          <a:p>
            <a:pPr indent="0" marL="0">
              <a:buNone/>
            </a:pPr>
            <a:r>
              <a:rPr lang="en-US" sz="1150" b="1" dirty="0">
                <a:solidFill>
                  <a:srgbClr val="0F172A"/>
                </a:solidFill>
                <a:latin typeface="Google Sans" pitchFamily="34" charset="0"/>
                <a:ea typeface="Google Sans" pitchFamily="34" charset="-122"/>
                <a:cs typeface="Google Sans" pitchFamily="34" charset="-120"/>
              </a:rPr>
              <a:t>FinVault Bank — Regulated Enterprise Tier</a:t>
            </a:r>
            <a:endParaRPr lang="en-US" sz="1150" dirty="0"/>
          </a:p>
        </p:txBody>
      </p:sp>
      <p:sp>
        <p:nvSpPr>
          <p:cNvPr id="33" name="Text 31"/>
          <p:cNvSpPr/>
          <p:nvPr/>
        </p:nvSpPr>
        <p:spPr>
          <a:xfrm>
            <a:off x="3849624" y="4242816"/>
            <a:ext cx="3685032" cy="1965960"/>
          </a:xfrm>
          <a:prstGeom prst="rect">
            <a:avLst/>
          </a:prstGeom>
          <a:noFill/>
          <a:ln/>
        </p:spPr>
        <p:txBody>
          <a:bodyPr wrap="square" rtlCol="0" anchor="t"/>
          <a:lstStyle/>
          <a:p>
            <a:pPr indent="0" marL="0">
              <a:buNone/>
            </a:pPr>
            <a:r>
              <a:rPr lang="en-US" sz="920" dirty="0">
                <a:solidFill>
                  <a:srgbClr val="334155"/>
                </a:solidFill>
                <a:latin typeface="Roboto" pitchFamily="34" charset="0"/>
                <a:ea typeface="Roboto" pitchFamily="34" charset="-122"/>
                <a:cs typeface="Roboto" pitchFamily="34" charset="-120"/>
              </a:rPr>
              <a:t>Requires OCC/FINRA Model Armor NLCs, &lt;60s CMEK revocation kill-switch, and choice of Managed Vertex AI Provisioned Throughput or air-gapped Gemma 3 27B on Private GKE.</a:t>
            </a:r>
            <a:endParaRPr lang="en-US" sz="920" dirty="0"/>
          </a:p>
        </p:txBody>
      </p:sp>
      <p:sp>
        <p:nvSpPr>
          <p:cNvPr id="34" name="Shape 32"/>
          <p:cNvSpPr/>
          <p:nvPr/>
        </p:nvSpPr>
        <p:spPr>
          <a:xfrm>
            <a:off x="7863840" y="3456432"/>
            <a:ext cx="3977640" cy="2889504"/>
          </a:xfrm>
          <a:prstGeom prst="roundRect">
            <a:avLst>
              <a:gd name="adj" fmla="val 3165"/>
            </a:avLst>
          </a:prstGeom>
          <a:solidFill>
            <a:srgbClr val="FFFFFF"/>
          </a:solidFill>
          <a:ln w="15875">
            <a:solidFill>
              <a:srgbClr val="1E8E3E"/>
            </a:solidFill>
            <a:prstDash val="solid"/>
          </a:ln>
        </p:spPr>
      </p:sp>
      <p:sp>
        <p:nvSpPr>
          <p:cNvPr id="35" name="Shape 33"/>
          <p:cNvSpPr/>
          <p:nvPr/>
        </p:nvSpPr>
        <p:spPr>
          <a:xfrm>
            <a:off x="7863840" y="3456432"/>
            <a:ext cx="3977640" cy="329184"/>
          </a:xfrm>
          <a:prstGeom prst="rect">
            <a:avLst/>
          </a:prstGeom>
          <a:solidFill>
            <a:srgbClr val="E6F4EA"/>
          </a:solidFill>
          <a:ln/>
        </p:spPr>
      </p:sp>
      <p:sp>
        <p:nvSpPr>
          <p:cNvPr id="36" name="Text 34"/>
          <p:cNvSpPr/>
          <p:nvPr/>
        </p:nvSpPr>
        <p:spPr>
          <a:xfrm>
            <a:off x="8010144" y="3493008"/>
            <a:ext cx="3685032" cy="256032"/>
          </a:xfrm>
          <a:prstGeom prst="rect">
            <a:avLst/>
          </a:prstGeom>
          <a:noFill/>
          <a:ln/>
        </p:spPr>
        <p:txBody>
          <a:bodyPr wrap="square" rtlCol="0" anchor="ctr"/>
          <a:lstStyle/>
          <a:p>
            <a:pPr indent="0" marL="0">
              <a:buNone/>
            </a:pPr>
            <a:r>
              <a:rPr lang="en-US" sz="780" b="1" dirty="0">
                <a:solidFill>
                  <a:srgbClr val="1E8E3E"/>
                </a:solidFill>
                <a:latin typeface="Google Sans" pitchFamily="34" charset="0"/>
                <a:ea typeface="Google Sans" pitchFamily="34" charset="-122"/>
                <a:cs typeface="Google Sans" pitchFamily="34" charset="-120"/>
              </a:rPr>
              <a:t>120 RPM • ENTRA ID + SERVICENOW 3LO • SHARED POOL</a:t>
            </a:r>
            <a:endParaRPr lang="en-US" sz="780" dirty="0"/>
          </a:p>
        </p:txBody>
      </p:sp>
      <p:sp>
        <p:nvSpPr>
          <p:cNvPr id="37" name="Text 35"/>
          <p:cNvSpPr/>
          <p:nvPr/>
        </p:nvSpPr>
        <p:spPr>
          <a:xfrm>
            <a:off x="8010144" y="3858768"/>
            <a:ext cx="3685032" cy="310896"/>
          </a:xfrm>
          <a:prstGeom prst="rect">
            <a:avLst/>
          </a:prstGeom>
          <a:noFill/>
          <a:ln/>
        </p:spPr>
        <p:txBody>
          <a:bodyPr wrap="square" rtlCol="0" anchor="ctr"/>
          <a:lstStyle/>
          <a:p>
            <a:pPr indent="0" marL="0">
              <a:buNone/>
            </a:pPr>
            <a:r>
              <a:rPr lang="en-US" sz="1150" b="1" dirty="0">
                <a:solidFill>
                  <a:srgbClr val="0F172A"/>
                </a:solidFill>
                <a:latin typeface="Google Sans" pitchFamily="34" charset="0"/>
                <a:ea typeface="Google Sans" pitchFamily="34" charset="-122"/>
                <a:cs typeface="Google Sans" pitchFamily="34" charset="-120"/>
              </a:rPr>
              <a:t>RetailStream Corp — Commercial SaaS Tier</a:t>
            </a:r>
            <a:endParaRPr lang="en-US" sz="1150" dirty="0"/>
          </a:p>
        </p:txBody>
      </p:sp>
      <p:sp>
        <p:nvSpPr>
          <p:cNvPr id="38" name="Text 36"/>
          <p:cNvSpPr/>
          <p:nvPr/>
        </p:nvSpPr>
        <p:spPr>
          <a:xfrm>
            <a:off x="8010144" y="4242816"/>
            <a:ext cx="3685032" cy="1965960"/>
          </a:xfrm>
          <a:prstGeom prst="rect">
            <a:avLst/>
          </a:prstGeom>
          <a:noFill/>
          <a:ln/>
        </p:spPr>
        <p:txBody>
          <a:bodyPr wrap="square" rtlCol="0" anchor="t"/>
          <a:lstStyle/>
          <a:p>
            <a:pPr indent="0" marL="0">
              <a:buNone/>
            </a:pPr>
            <a:r>
              <a:rPr lang="en-US" sz="920" dirty="0">
                <a:solidFill>
                  <a:srgbClr val="334155"/>
                </a:solidFill>
                <a:latin typeface="Roboto" pitchFamily="34" charset="0"/>
                <a:ea typeface="Roboto" pitchFamily="34" charset="-122"/>
                <a:cs typeface="Roboto" pitchFamily="34" charset="-120"/>
              </a:rPr>
              <a:t>Requires instant onboarding, 84.7% token cost savings via shared 32k prefix cache, and DPoP-bound {tenant}:{user} 3LO token vaults to prevent Confused Deputy replay.</a:t>
            </a:r>
            <a:endParaRPr lang="en-US" sz="9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1723644"/>
          </a:xfrm>
          <a:prstGeom prst="rect">
            <a:avLst/>
          </a:prstGeom>
          <a:solidFill>
            <a:srgbClr val="1A73E8"/>
          </a:solidFill>
          <a:ln/>
        </p:spPr>
      </p:sp>
      <p:sp>
        <p:nvSpPr>
          <p:cNvPr id="3" name="Shape 1"/>
          <p:cNvSpPr/>
          <p:nvPr/>
        </p:nvSpPr>
        <p:spPr>
          <a:xfrm>
            <a:off x="0" y="1714500"/>
            <a:ext cx="73152" cy="1723644"/>
          </a:xfrm>
          <a:prstGeom prst="rect">
            <a:avLst/>
          </a:prstGeom>
          <a:solidFill>
            <a:srgbClr val="D93025"/>
          </a:solidFill>
          <a:ln/>
        </p:spPr>
      </p:sp>
      <p:sp>
        <p:nvSpPr>
          <p:cNvPr id="4" name="Shape 2"/>
          <p:cNvSpPr/>
          <p:nvPr/>
        </p:nvSpPr>
        <p:spPr>
          <a:xfrm>
            <a:off x="0" y="3429000"/>
            <a:ext cx="73152" cy="1723644"/>
          </a:xfrm>
          <a:prstGeom prst="rect">
            <a:avLst/>
          </a:prstGeom>
          <a:solidFill>
            <a:srgbClr val="F9AB00"/>
          </a:solidFill>
          <a:ln/>
        </p:spPr>
      </p:sp>
      <p:sp>
        <p:nvSpPr>
          <p:cNvPr id="5" name="Shape 3"/>
          <p:cNvSpPr/>
          <p:nvPr/>
        </p:nvSpPr>
        <p:spPr>
          <a:xfrm>
            <a:off x="0" y="5143500"/>
            <a:ext cx="73152" cy="1723644"/>
          </a:xfrm>
          <a:prstGeom prst="rect">
            <a:avLst/>
          </a:prstGeom>
          <a:solidFill>
            <a:srgbClr val="1E8E3E"/>
          </a:solidFill>
          <a:ln/>
        </p:spPr>
      </p:sp>
      <p:sp>
        <p:nvSpPr>
          <p:cNvPr id="6" name="Text 4"/>
          <p:cNvSpPr/>
          <p:nvPr/>
        </p:nvSpPr>
        <p:spPr>
          <a:xfrm>
            <a:off x="347472" y="201168"/>
            <a:ext cx="9875520" cy="237744"/>
          </a:xfrm>
          <a:prstGeom prst="rect">
            <a:avLst/>
          </a:prstGeom>
          <a:noFill/>
          <a:ln/>
        </p:spPr>
        <p:txBody>
          <a:bodyPr wrap="square" rtlCol="0" anchor="ctr"/>
          <a:lstStyle/>
          <a:p>
            <a:pPr indent="0" marL="0">
              <a:buNone/>
            </a:pPr>
            <a:r>
              <a:rPr lang="en-US" sz="850" b="1" dirty="0">
                <a:solidFill>
                  <a:srgbClr val="1A73E8"/>
                </a:solidFill>
                <a:latin typeface="Google Sans" pitchFamily="34" charset="0"/>
                <a:ea typeface="Google Sans" pitchFamily="34" charset="-122"/>
                <a:cs typeface="Google Sans" pitchFamily="34" charset="-120"/>
              </a:rPr>
              <a:t>GOOGLE CLOUD ARCHITECTURE CENTER  </a:t>
            </a:r>
            <a:pPr indent="0" marL="0">
              <a:buNone/>
            </a:pPr>
            <a:r>
              <a:rPr lang="en-US" sz="850" dirty="0">
                <a:solidFill>
                  <a:srgbClr val="64748B"/>
                </a:solidFill>
                <a:latin typeface="Google Sans" pitchFamily="34" charset="0"/>
                <a:ea typeface="Google Sans" pitchFamily="34" charset="-122"/>
                <a:cs typeface="Google Sans" pitchFamily="34" charset="-120"/>
              </a:rPr>
              <a:t>/  ACT I • CONCEPTUAL ARCHITECTURE  /  Decoupling the 80% Reusable 5-Hop Core from 20% Perimeter Delta</a:t>
            </a:r>
            <a:endParaRPr lang="en-US" sz="850" dirty="0"/>
          </a:p>
        </p:txBody>
      </p:sp>
      <p:sp>
        <p:nvSpPr>
          <p:cNvPr id="7" name="Shape 5"/>
          <p:cNvSpPr/>
          <p:nvPr/>
        </p:nvSpPr>
        <p:spPr>
          <a:xfrm>
            <a:off x="10835640" y="182880"/>
            <a:ext cx="1005840" cy="256032"/>
          </a:xfrm>
          <a:prstGeom prst="roundRect">
            <a:avLst>
              <a:gd name="adj" fmla="val 50000"/>
            </a:avLst>
          </a:prstGeom>
          <a:solidFill>
            <a:srgbClr val="FFFFFF"/>
          </a:solidFill>
          <a:ln w="9525">
            <a:solidFill>
              <a:srgbClr val="E2E8F0"/>
            </a:solidFill>
            <a:prstDash val="solid"/>
          </a:ln>
        </p:spPr>
      </p:sp>
      <p:sp>
        <p:nvSpPr>
          <p:cNvPr id="8" name="Text 6"/>
          <p:cNvSpPr/>
          <p:nvPr/>
        </p:nvSpPr>
        <p:spPr>
          <a:xfrm>
            <a:off x="10835640" y="182880"/>
            <a:ext cx="1005840" cy="256032"/>
          </a:xfrm>
          <a:prstGeom prst="rect">
            <a:avLst/>
          </a:prstGeom>
          <a:noFill/>
          <a:ln/>
        </p:spPr>
        <p:txBody>
          <a:bodyPr wrap="square" rtlCol="0" anchor="ctr"/>
          <a:lstStyle/>
          <a:p>
            <a:pPr algn="ctr" indent="0" marL="0">
              <a:buNone/>
            </a:pPr>
            <a:r>
              <a:rPr lang="en-US" sz="850" b="1" dirty="0">
                <a:solidFill>
                  <a:srgbClr val="334155"/>
                </a:solidFill>
                <a:latin typeface="Google Sans" pitchFamily="34" charset="0"/>
                <a:ea typeface="Google Sans" pitchFamily="34" charset="-122"/>
                <a:cs typeface="Google Sans" pitchFamily="34" charset="-120"/>
              </a:rPr>
              <a:t>03 / 14</a:t>
            </a:r>
            <a:endParaRPr lang="en-US" sz="850" dirty="0"/>
          </a:p>
        </p:txBody>
      </p:sp>
      <p:sp>
        <p:nvSpPr>
          <p:cNvPr id="9" name="Shape 7"/>
          <p:cNvSpPr/>
          <p:nvPr/>
        </p:nvSpPr>
        <p:spPr>
          <a:xfrm>
            <a:off x="347472" y="6510528"/>
            <a:ext cx="11494008" cy="0"/>
          </a:xfrm>
          <a:prstGeom prst="line">
            <a:avLst/>
          </a:prstGeom>
          <a:noFill/>
          <a:ln w="9525">
            <a:solidFill>
              <a:srgbClr val="E2E8F0"/>
            </a:solidFill>
            <a:prstDash val="solid"/>
          </a:ln>
        </p:spPr>
      </p:sp>
      <p:sp>
        <p:nvSpPr>
          <p:cNvPr id="10" name="Text 8"/>
          <p:cNvSpPr/>
          <p:nvPr/>
        </p:nvSpPr>
        <p:spPr>
          <a:xfrm>
            <a:off x="347472" y="6556248"/>
            <a:ext cx="11494008" cy="219456"/>
          </a:xfrm>
          <a:prstGeom prst="rect">
            <a:avLst/>
          </a:prstGeom>
          <a:noFill/>
          <a:ln/>
        </p:spPr>
        <p:txBody>
          <a:bodyPr wrap="square" rtlCol="0" anchor="ctr"/>
          <a:lstStyle/>
          <a:p>
            <a:pPr indent="0" marL="0">
              <a:buNone/>
            </a:pPr>
            <a:r>
              <a:rPr lang="en-US" sz="780" dirty="0">
                <a:solidFill>
                  <a:srgbClr val="64748B"/>
                </a:solidFill>
                <a:latin typeface="Roboto" pitchFamily="34" charset="0"/>
                <a:ea typeface="Roboto" pitchFamily="34" charset="-122"/>
                <a:cs typeface="Roboto" pitchFamily="34" charset="-120"/>
              </a:rPr>
              <a:t>Multi-Tenant Agentic AI on Google Cloud  •  Blog 1 Executive Edition  •  Verified on GCP (#248990048888, #48439189383) &amp; AWS (#393036065405)</a:t>
            </a:r>
            <a:endParaRPr lang="en-US" sz="780" dirty="0"/>
          </a:p>
        </p:txBody>
      </p:sp>
      <p:sp>
        <p:nvSpPr>
          <p:cNvPr id="11" name="Shape 9"/>
          <p:cNvSpPr/>
          <p:nvPr/>
        </p:nvSpPr>
        <p:spPr>
          <a:xfrm>
            <a:off x="347472" y="566928"/>
            <a:ext cx="3154680" cy="5779008"/>
          </a:xfrm>
          <a:prstGeom prst="roundRect">
            <a:avLst>
              <a:gd name="adj" fmla="val 2899"/>
            </a:avLst>
          </a:prstGeom>
          <a:solidFill>
            <a:srgbClr val="FFFFFF"/>
          </a:solidFill>
          <a:ln w="12700">
            <a:solidFill>
              <a:srgbClr val="E2E8F0"/>
            </a:solidFill>
            <a:prstDash val="solid"/>
          </a:ln>
        </p:spPr>
      </p:sp>
      <p:sp>
        <p:nvSpPr>
          <p:cNvPr id="12" name="Shape 10"/>
          <p:cNvSpPr/>
          <p:nvPr/>
        </p:nvSpPr>
        <p:spPr>
          <a:xfrm>
            <a:off x="530352" y="768096"/>
            <a:ext cx="1691640" cy="256032"/>
          </a:xfrm>
          <a:prstGeom prst="roundRect">
            <a:avLst>
              <a:gd name="adj" fmla="val 28571"/>
            </a:avLst>
          </a:prstGeom>
          <a:solidFill>
            <a:srgbClr val="E8F0FE"/>
          </a:solidFill>
          <a:ln/>
        </p:spPr>
      </p:sp>
      <p:sp>
        <p:nvSpPr>
          <p:cNvPr id="13" name="Text 11"/>
          <p:cNvSpPr/>
          <p:nvPr/>
        </p:nvSpPr>
        <p:spPr>
          <a:xfrm>
            <a:off x="530352" y="768096"/>
            <a:ext cx="1691640" cy="256032"/>
          </a:xfrm>
          <a:prstGeom prst="rect">
            <a:avLst/>
          </a:prstGeom>
          <a:noFill/>
          <a:ln/>
        </p:spPr>
        <p:txBody>
          <a:bodyPr wrap="square" rtlCol="0" anchor="ctr"/>
          <a:lstStyle/>
          <a:p>
            <a:pPr algn="ctr" indent="0" marL="0">
              <a:buNone/>
            </a:pPr>
            <a:r>
              <a:rPr lang="en-US" sz="800" b="1" dirty="0">
                <a:solidFill>
                  <a:srgbClr val="1A73E8"/>
                </a:solidFill>
                <a:latin typeface="Google Sans" pitchFamily="34" charset="0"/>
                <a:ea typeface="Google Sans" pitchFamily="34" charset="-122"/>
                <a:cs typeface="Google Sans" pitchFamily="34" charset="-120"/>
              </a:rPr>
              <a:t>CONCEPTUAL MODEL</a:t>
            </a:r>
            <a:endParaRPr lang="en-US" sz="800" dirty="0"/>
          </a:p>
        </p:txBody>
      </p:sp>
      <p:sp>
        <p:nvSpPr>
          <p:cNvPr id="14" name="Text 12"/>
          <p:cNvSpPr/>
          <p:nvPr/>
        </p:nvSpPr>
        <p:spPr>
          <a:xfrm>
            <a:off x="530352" y="1133856"/>
            <a:ext cx="2788920" cy="1325880"/>
          </a:xfrm>
          <a:prstGeom prst="rect">
            <a:avLst/>
          </a:prstGeom>
          <a:noFill/>
          <a:ln/>
        </p:spPr>
        <p:txBody>
          <a:bodyPr wrap="square" rtlCol="0" anchor="t"/>
          <a:lstStyle/>
          <a:p>
            <a:pPr indent="0" marL="0">
              <a:buNone/>
            </a:pPr>
            <a:r>
              <a:rPr lang="en-US" sz="1750" b="1" dirty="0">
                <a:solidFill>
                  <a:srgbClr val="0F172A"/>
                </a:solidFill>
                <a:latin typeface="Google Sans Display" pitchFamily="34" charset="0"/>
                <a:ea typeface="Google Sans Display" pitchFamily="34" charset="-122"/>
                <a:cs typeface="Google Sans Display" pitchFamily="34" charset="-120"/>
              </a:rPr>
              <a:t>One Agent Codebase, Three Isolation Tiers</a:t>
            </a:r>
            <a:endParaRPr lang="en-US" sz="1750" dirty="0"/>
          </a:p>
        </p:txBody>
      </p:sp>
      <p:sp>
        <p:nvSpPr>
          <p:cNvPr id="15" name="Text 13"/>
          <p:cNvSpPr/>
          <p:nvPr/>
        </p:nvSpPr>
        <p:spPr>
          <a:xfrm>
            <a:off x="530352" y="2542032"/>
            <a:ext cx="2788920" cy="2148840"/>
          </a:xfrm>
          <a:prstGeom prst="rect">
            <a:avLst/>
          </a:prstGeom>
          <a:noFill/>
          <a:ln/>
        </p:spPr>
        <p:txBody>
          <a:bodyPr wrap="square" rtlCol="0" anchor="t"/>
          <a:lstStyle/>
          <a:p>
            <a:pPr indent="0" marL="0">
              <a:buNone/>
            </a:pPr>
            <a:r>
              <a:rPr lang="en-US" sz="1000" dirty="0">
                <a:solidFill>
                  <a:srgbClr val="334155"/>
                </a:solidFill>
                <a:latin typeface="Roboto" pitchFamily="34" charset="0"/>
                <a:ea typeface="Roboto" pitchFamily="34" charset="-122"/>
                <a:cs typeface="Roboto" pitchFamily="34" charset="-120"/>
              </a:rPr>
              <a:t>Instead of forking agent code per customer tier, we decouple the platform into three horizontal planes:</a:t>
            </a:r>
            <a:endParaRPr lang="en-US" sz="1000" dirty="0"/>
          </a:p>
          <a:p>
            <a:pPr indent="0" marL="0">
              <a:buNone/>
            </a:pP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1. Top Plane: Federated tenant identity &amp; DPoP proof.</a:t>
            </a: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2. Middle Plane (80%): Shared 5-Hop ADK governance core.</a:t>
            </a: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3. Bottom Plane (20%): Per-tenant network, KMS &amp; storage perimeter.</a:t>
            </a:r>
            <a:endParaRPr lang="en-US" sz="1000" dirty="0"/>
          </a:p>
        </p:txBody>
      </p:sp>
      <p:sp>
        <p:nvSpPr>
          <p:cNvPr id="16" name="Shape 14"/>
          <p:cNvSpPr/>
          <p:nvPr/>
        </p:nvSpPr>
        <p:spPr>
          <a:xfrm>
            <a:off x="530352" y="4846320"/>
            <a:ext cx="2788920" cy="1298448"/>
          </a:xfrm>
          <a:prstGeom prst="roundRect">
            <a:avLst>
              <a:gd name="adj" fmla="val 5634"/>
            </a:avLst>
          </a:prstGeom>
          <a:solidFill>
            <a:srgbClr val="E8F0FE"/>
          </a:solidFill>
          <a:ln w="12700">
            <a:solidFill>
              <a:srgbClr val="1A73E8"/>
            </a:solidFill>
            <a:prstDash val="solid"/>
          </a:ln>
        </p:spPr>
      </p:sp>
      <p:sp>
        <p:nvSpPr>
          <p:cNvPr id="17" name="Text 15"/>
          <p:cNvSpPr/>
          <p:nvPr/>
        </p:nvSpPr>
        <p:spPr>
          <a:xfrm>
            <a:off x="658368" y="4956048"/>
            <a:ext cx="2532888" cy="566928"/>
          </a:xfrm>
          <a:prstGeom prst="rect">
            <a:avLst/>
          </a:prstGeom>
          <a:noFill/>
          <a:ln/>
        </p:spPr>
        <p:txBody>
          <a:bodyPr wrap="square" rtlCol="0" anchor="ctr"/>
          <a:lstStyle/>
          <a:p>
            <a:pPr indent="0" marL="0">
              <a:buNone/>
            </a:pPr>
            <a:r>
              <a:rPr lang="en-US" sz="2800" b="1" dirty="0">
                <a:solidFill>
                  <a:srgbClr val="1A73E8"/>
                </a:solidFill>
                <a:latin typeface="Google Sans Display" pitchFamily="34" charset="0"/>
                <a:ea typeface="Google Sans Display" pitchFamily="34" charset="-122"/>
                <a:cs typeface="Google Sans Display" pitchFamily="34" charset="-120"/>
              </a:rPr>
              <a:t>80 / 20</a:t>
            </a:r>
            <a:endParaRPr lang="en-US" sz="2800" dirty="0"/>
          </a:p>
        </p:txBody>
      </p:sp>
      <p:sp>
        <p:nvSpPr>
          <p:cNvPr id="18" name="Text 16"/>
          <p:cNvSpPr/>
          <p:nvPr/>
        </p:nvSpPr>
        <p:spPr>
          <a:xfrm>
            <a:off x="658368" y="5559552"/>
            <a:ext cx="2532888" cy="475488"/>
          </a:xfrm>
          <a:prstGeom prst="rect">
            <a:avLst/>
          </a:prstGeom>
          <a:noFill/>
          <a:ln/>
        </p:spPr>
        <p:txBody>
          <a:bodyPr wrap="square" rtlCol="0" anchor="ctr"/>
          <a:lstStyle/>
          <a:p>
            <a:pPr indent="0" marL="0">
              <a:buNone/>
            </a:pPr>
            <a:r>
              <a:rPr lang="en-US" sz="880" b="1" dirty="0">
                <a:solidFill>
                  <a:srgbClr val="0F172A"/>
                </a:solidFill>
                <a:latin typeface="Roboto" pitchFamily="34" charset="0"/>
                <a:ea typeface="Roboto" pitchFamily="34" charset="-122"/>
                <a:cs typeface="Roboto" pitchFamily="34" charset="-120"/>
              </a:rPr>
              <a:t>Identical Python ADK Core vs. Per-Tenant IaC Perimeter</a:t>
            </a:r>
            <a:endParaRPr lang="en-US" sz="880" dirty="0"/>
          </a:p>
        </p:txBody>
      </p:sp>
      <p:sp>
        <p:nvSpPr>
          <p:cNvPr id="19" name="Shape 17"/>
          <p:cNvSpPr/>
          <p:nvPr/>
        </p:nvSpPr>
        <p:spPr>
          <a:xfrm>
            <a:off x="3703320" y="566928"/>
            <a:ext cx="8138160" cy="1143000"/>
          </a:xfrm>
          <a:prstGeom prst="roundRect">
            <a:avLst>
              <a:gd name="adj" fmla="val 8000"/>
            </a:avLst>
          </a:prstGeom>
          <a:solidFill>
            <a:srgbClr val="FFFFFF"/>
          </a:solidFill>
          <a:ln w="12700">
            <a:solidFill>
              <a:srgbClr val="E2E8F0"/>
            </a:solidFill>
            <a:prstDash val="solid"/>
          </a:ln>
        </p:spPr>
      </p:sp>
      <p:sp>
        <p:nvSpPr>
          <p:cNvPr id="20" name="Text 18"/>
          <p:cNvSpPr/>
          <p:nvPr/>
        </p:nvSpPr>
        <p:spPr>
          <a:xfrm>
            <a:off x="3886200" y="658368"/>
            <a:ext cx="7772400" cy="237744"/>
          </a:xfrm>
          <a:prstGeom prst="rect">
            <a:avLst/>
          </a:prstGeom>
          <a:noFill/>
          <a:ln/>
        </p:spPr>
        <p:txBody>
          <a:bodyPr wrap="square" rtlCol="0" anchor="ctr"/>
          <a:lstStyle/>
          <a:p>
            <a:pPr indent="0" marL="0">
              <a:buNone/>
            </a:pPr>
            <a:r>
              <a:rPr lang="en-US" sz="850" b="1" dirty="0">
                <a:solidFill>
                  <a:srgbClr val="64748B"/>
                </a:solidFill>
                <a:latin typeface="Google Sans" pitchFamily="34" charset="0"/>
                <a:ea typeface="Google Sans" pitchFamily="34" charset="-122"/>
                <a:cs typeface="Google Sans" pitchFamily="34" charset="-120"/>
              </a:rPr>
              <a:t>TOP PLANE • FEDERATED ENTERPRISE CALLERS (OIDC + ENTRA ID + RFC 9449 DPoP)</a:t>
            </a:r>
            <a:endParaRPr lang="en-US" sz="850" dirty="0"/>
          </a:p>
        </p:txBody>
      </p:sp>
      <p:sp>
        <p:nvSpPr>
          <p:cNvPr id="21" name="Shape 19"/>
          <p:cNvSpPr/>
          <p:nvPr/>
        </p:nvSpPr>
        <p:spPr>
          <a:xfrm>
            <a:off x="3886200" y="969264"/>
            <a:ext cx="3749040" cy="566928"/>
          </a:xfrm>
          <a:prstGeom prst="roundRect">
            <a:avLst>
              <a:gd name="adj" fmla="val 11290"/>
            </a:avLst>
          </a:prstGeom>
          <a:solidFill>
            <a:srgbClr val="FCE8E6"/>
          </a:solidFill>
          <a:ln w="12700">
            <a:solidFill>
              <a:srgbClr val="D93025"/>
            </a:solidFill>
            <a:prstDash val="solid"/>
          </a:ln>
        </p:spPr>
      </p:sp>
      <p:sp>
        <p:nvSpPr>
          <p:cNvPr id="22" name="Text 20"/>
          <p:cNvSpPr/>
          <p:nvPr/>
        </p:nvSpPr>
        <p:spPr>
          <a:xfrm>
            <a:off x="3886200" y="969264"/>
            <a:ext cx="3749040" cy="566928"/>
          </a:xfrm>
          <a:prstGeom prst="rect">
            <a:avLst/>
          </a:prstGeom>
          <a:noFill/>
          <a:ln/>
        </p:spPr>
        <p:txBody>
          <a:bodyPr wrap="square" rtlCol="0" anchor="ctr"/>
          <a:lstStyle/>
          <a:p>
            <a:pPr algn="ctr" indent="0" marL="0">
              <a:buNone/>
            </a:pPr>
            <a:r>
              <a:rPr lang="en-US" sz="1000" b="1" dirty="0">
                <a:solidFill>
                  <a:srgbClr val="0F172A"/>
                </a:solidFill>
                <a:latin typeface="Google Sans" pitchFamily="34" charset="0"/>
                <a:ea typeface="Google Sans" pitchFamily="34" charset="-122"/>
                <a:cs typeface="Google Sans" pitchFamily="34" charset="-120"/>
              </a:rPr>
              <a:t>FinVault Bank (Google OIDC • 600 RPM)</a:t>
            </a:r>
            <a:endParaRPr lang="en-US" sz="1000" dirty="0"/>
          </a:p>
        </p:txBody>
      </p:sp>
      <p:sp>
        <p:nvSpPr>
          <p:cNvPr id="23" name="Shape 21"/>
          <p:cNvSpPr/>
          <p:nvPr/>
        </p:nvSpPr>
        <p:spPr>
          <a:xfrm>
            <a:off x="7909560" y="969264"/>
            <a:ext cx="3749040" cy="566928"/>
          </a:xfrm>
          <a:prstGeom prst="roundRect">
            <a:avLst>
              <a:gd name="adj" fmla="val 11290"/>
            </a:avLst>
          </a:prstGeom>
          <a:solidFill>
            <a:srgbClr val="FEF7E0"/>
          </a:solidFill>
          <a:ln w="12700">
            <a:solidFill>
              <a:srgbClr val="B06000"/>
            </a:solidFill>
            <a:prstDash val="solid"/>
          </a:ln>
        </p:spPr>
      </p:sp>
      <p:sp>
        <p:nvSpPr>
          <p:cNvPr id="24" name="Text 22"/>
          <p:cNvSpPr/>
          <p:nvPr/>
        </p:nvSpPr>
        <p:spPr>
          <a:xfrm>
            <a:off x="7909560" y="969264"/>
            <a:ext cx="3749040" cy="566928"/>
          </a:xfrm>
          <a:prstGeom prst="rect">
            <a:avLst/>
          </a:prstGeom>
          <a:noFill/>
          <a:ln/>
        </p:spPr>
        <p:txBody>
          <a:bodyPr wrap="square" rtlCol="0" anchor="ctr"/>
          <a:lstStyle/>
          <a:p>
            <a:pPr algn="ctr" indent="0" marL="0">
              <a:buNone/>
            </a:pPr>
            <a:r>
              <a:rPr lang="en-US" sz="1000" b="1" dirty="0">
                <a:solidFill>
                  <a:srgbClr val="0F172A"/>
                </a:solidFill>
                <a:latin typeface="Google Sans" pitchFamily="34" charset="0"/>
                <a:ea typeface="Google Sans" pitchFamily="34" charset="-122"/>
                <a:cs typeface="Google Sans" pitchFamily="34" charset="-120"/>
              </a:rPr>
              <a:t>RetailStream Corp (Entra ID • 120 RPM)</a:t>
            </a:r>
            <a:endParaRPr lang="en-US" sz="1000" dirty="0"/>
          </a:p>
        </p:txBody>
      </p:sp>
      <p:sp>
        <p:nvSpPr>
          <p:cNvPr id="25" name="Shape 23"/>
          <p:cNvSpPr/>
          <p:nvPr/>
        </p:nvSpPr>
        <p:spPr>
          <a:xfrm>
            <a:off x="5760720" y="1709928"/>
            <a:ext cx="0" cy="329184"/>
          </a:xfrm>
          <a:prstGeom prst="line">
            <a:avLst/>
          </a:prstGeom>
          <a:noFill/>
          <a:ln w="22225">
            <a:solidFill>
              <a:srgbClr val="1A73E8"/>
            </a:solidFill>
            <a:prstDash val="solid"/>
            <a:tailEnd type="arrow" w="sm" len="sm"/>
          </a:ln>
        </p:spPr>
      </p:sp>
      <p:sp>
        <p:nvSpPr>
          <p:cNvPr id="26" name="Shape 24"/>
          <p:cNvSpPr/>
          <p:nvPr/>
        </p:nvSpPr>
        <p:spPr>
          <a:xfrm>
            <a:off x="9784080" y="1709928"/>
            <a:ext cx="0" cy="329184"/>
          </a:xfrm>
          <a:prstGeom prst="line">
            <a:avLst/>
          </a:prstGeom>
          <a:noFill/>
          <a:ln w="22225">
            <a:solidFill>
              <a:srgbClr val="1A73E8"/>
            </a:solidFill>
            <a:prstDash val="solid"/>
            <a:tailEnd type="arrow" w="sm" len="sm"/>
          </a:ln>
        </p:spPr>
      </p:sp>
      <p:sp>
        <p:nvSpPr>
          <p:cNvPr id="27" name="Shape 25"/>
          <p:cNvSpPr/>
          <p:nvPr/>
        </p:nvSpPr>
        <p:spPr>
          <a:xfrm>
            <a:off x="3703320" y="2057400"/>
            <a:ext cx="8138160" cy="2057400"/>
          </a:xfrm>
          <a:prstGeom prst="roundRect">
            <a:avLst>
              <a:gd name="adj" fmla="val 4444"/>
            </a:avLst>
          </a:prstGeom>
          <a:solidFill>
            <a:srgbClr val="E8F0FE"/>
          </a:solidFill>
          <a:ln w="19050">
            <a:solidFill>
              <a:srgbClr val="1A73E8"/>
            </a:solidFill>
            <a:prstDash val="solid"/>
          </a:ln>
        </p:spPr>
      </p:sp>
      <p:sp>
        <p:nvSpPr>
          <p:cNvPr id="28" name="Text 26"/>
          <p:cNvSpPr/>
          <p:nvPr/>
        </p:nvSpPr>
        <p:spPr>
          <a:xfrm>
            <a:off x="3886200" y="2157984"/>
            <a:ext cx="7772400" cy="256032"/>
          </a:xfrm>
          <a:prstGeom prst="rect">
            <a:avLst/>
          </a:prstGeom>
          <a:noFill/>
          <a:ln/>
        </p:spPr>
        <p:txBody>
          <a:bodyPr wrap="square" rtlCol="0" anchor="ctr"/>
          <a:lstStyle/>
          <a:p>
            <a:pPr indent="0" marL="0">
              <a:buNone/>
            </a:pPr>
            <a:r>
              <a:rPr lang="en-US" sz="950" b="1" dirty="0">
                <a:solidFill>
                  <a:srgbClr val="1A73E8"/>
                </a:solidFill>
                <a:latin typeface="Google Sans" pitchFamily="34" charset="0"/>
                <a:ea typeface="Google Sans" pitchFamily="34" charset="-122"/>
                <a:cs typeface="Google Sans" pitchFamily="34" charset="-120"/>
              </a:rPr>
              <a:t>MIDDLE PLANE • 80% REUSABLE 5-HOP AGENTIC CORE (core-cymbal-agent/)</a:t>
            </a:r>
            <a:endParaRPr lang="en-US" sz="950" dirty="0"/>
          </a:p>
        </p:txBody>
      </p:sp>
      <p:sp>
        <p:nvSpPr>
          <p:cNvPr id="29" name="Shape 27"/>
          <p:cNvSpPr/>
          <p:nvPr/>
        </p:nvSpPr>
        <p:spPr>
          <a:xfrm>
            <a:off x="3886200" y="2505456"/>
            <a:ext cx="1444752" cy="987552"/>
          </a:xfrm>
          <a:prstGeom prst="roundRect">
            <a:avLst>
              <a:gd name="adj" fmla="val 6481"/>
            </a:avLst>
          </a:prstGeom>
          <a:solidFill>
            <a:srgbClr val="FFFFFF"/>
          </a:solidFill>
          <a:ln w="12700">
            <a:solidFill>
              <a:srgbClr val="1A73E8"/>
            </a:solidFill>
            <a:prstDash val="solid"/>
          </a:ln>
        </p:spPr>
      </p:sp>
      <p:sp>
        <p:nvSpPr>
          <p:cNvPr id="30" name="Text 28"/>
          <p:cNvSpPr/>
          <p:nvPr/>
        </p:nvSpPr>
        <p:spPr>
          <a:xfrm>
            <a:off x="3941064" y="2578608"/>
            <a:ext cx="1335024" cy="512064"/>
          </a:xfrm>
          <a:prstGeom prst="rect">
            <a:avLst/>
          </a:prstGeom>
          <a:noFill/>
          <a:ln/>
        </p:spPr>
        <p:txBody>
          <a:bodyPr wrap="square" rtlCol="0" anchor="ctr"/>
          <a:lstStyle/>
          <a:p>
            <a:pPr algn="ctr" indent="0" marL="0">
              <a:buNone/>
            </a:pPr>
            <a:r>
              <a:rPr lang="en-US" sz="950" b="1" dirty="0">
                <a:solidFill>
                  <a:srgbClr val="0F172A"/>
                </a:solidFill>
                <a:latin typeface="Google Sans" pitchFamily="34" charset="0"/>
                <a:ea typeface="Google Sans" pitchFamily="34" charset="-122"/>
                <a:cs typeface="Google Sans" pitchFamily="34" charset="-120"/>
              </a:rPr>
              <a:t>Hop 1</a:t>
            </a:r>
            <a:endParaRPr lang="en-US" sz="950" dirty="0"/>
          </a:p>
          <a:p>
            <a:pPr algn="ctr" indent="0" marL="0">
              <a:buNone/>
            </a:pPr>
            <a:r>
              <a:rPr lang="en-US" sz="950" b="1" dirty="0">
                <a:solidFill>
                  <a:srgbClr val="0F172A"/>
                </a:solidFill>
                <a:latin typeface="Google Sans" pitchFamily="34" charset="0"/>
                <a:ea typeface="Google Sans" pitchFamily="34" charset="-122"/>
                <a:cs typeface="Google Sans" pitchFamily="34" charset="-120"/>
              </a:rPr>
              <a:t>Edge STS</a:t>
            </a:r>
            <a:endParaRPr lang="en-US" sz="950" dirty="0"/>
          </a:p>
        </p:txBody>
      </p:sp>
      <p:sp>
        <p:nvSpPr>
          <p:cNvPr id="31" name="Text 29"/>
          <p:cNvSpPr/>
          <p:nvPr/>
        </p:nvSpPr>
        <p:spPr>
          <a:xfrm>
            <a:off x="3941064" y="3145536"/>
            <a:ext cx="1335024" cy="256032"/>
          </a:xfrm>
          <a:prstGeom prst="rect">
            <a:avLst/>
          </a:prstGeom>
          <a:noFill/>
          <a:ln/>
        </p:spPr>
        <p:txBody>
          <a:bodyPr wrap="square" rtlCol="0" anchor="ctr"/>
          <a:lstStyle/>
          <a:p>
            <a:pPr algn="ctr" indent="0" marL="0">
              <a:buNone/>
            </a:pPr>
            <a:r>
              <a:rPr lang="en-US" sz="820" b="1" dirty="0">
                <a:solidFill>
                  <a:srgbClr val="1A73E8"/>
                </a:solidFill>
                <a:latin typeface="Roboto" pitchFamily="34" charset="0"/>
                <a:ea typeface="Roboto" pitchFamily="34" charset="-122"/>
                <a:cs typeface="Roboto" pitchFamily="34" charset="-120"/>
              </a:rPr>
              <a:t>&lt;0.15ms JWKS</a:t>
            </a:r>
            <a:endParaRPr lang="en-US" sz="820" dirty="0"/>
          </a:p>
        </p:txBody>
      </p:sp>
      <p:sp>
        <p:nvSpPr>
          <p:cNvPr id="32" name="Shape 30"/>
          <p:cNvSpPr/>
          <p:nvPr/>
        </p:nvSpPr>
        <p:spPr>
          <a:xfrm>
            <a:off x="5330952" y="2999232"/>
            <a:ext cx="128016" cy="0"/>
          </a:xfrm>
          <a:prstGeom prst="line">
            <a:avLst/>
          </a:prstGeom>
          <a:noFill/>
          <a:ln w="19050">
            <a:solidFill>
              <a:srgbClr val="1A73E8"/>
            </a:solidFill>
            <a:prstDash val="solid"/>
            <a:tailEnd type="arrow" w="sm" len="sm"/>
          </a:ln>
        </p:spPr>
      </p:sp>
      <p:sp>
        <p:nvSpPr>
          <p:cNvPr id="33" name="Shape 31"/>
          <p:cNvSpPr/>
          <p:nvPr/>
        </p:nvSpPr>
        <p:spPr>
          <a:xfrm>
            <a:off x="5458968" y="2505456"/>
            <a:ext cx="1444752" cy="987552"/>
          </a:xfrm>
          <a:prstGeom prst="roundRect">
            <a:avLst>
              <a:gd name="adj" fmla="val 6481"/>
            </a:avLst>
          </a:prstGeom>
          <a:solidFill>
            <a:srgbClr val="FFFFFF"/>
          </a:solidFill>
          <a:ln w="12700">
            <a:solidFill>
              <a:srgbClr val="1A73E8"/>
            </a:solidFill>
            <a:prstDash val="solid"/>
          </a:ln>
        </p:spPr>
      </p:sp>
      <p:sp>
        <p:nvSpPr>
          <p:cNvPr id="34" name="Text 32"/>
          <p:cNvSpPr/>
          <p:nvPr/>
        </p:nvSpPr>
        <p:spPr>
          <a:xfrm>
            <a:off x="5513832" y="2578608"/>
            <a:ext cx="1335024" cy="512064"/>
          </a:xfrm>
          <a:prstGeom prst="rect">
            <a:avLst/>
          </a:prstGeom>
          <a:noFill/>
          <a:ln/>
        </p:spPr>
        <p:txBody>
          <a:bodyPr wrap="square" rtlCol="0" anchor="ctr"/>
          <a:lstStyle/>
          <a:p>
            <a:pPr algn="ctr" indent="0" marL="0">
              <a:buNone/>
            </a:pPr>
            <a:r>
              <a:rPr lang="en-US" sz="950" b="1" dirty="0">
                <a:solidFill>
                  <a:srgbClr val="0F172A"/>
                </a:solidFill>
                <a:latin typeface="Google Sans" pitchFamily="34" charset="0"/>
                <a:ea typeface="Google Sans" pitchFamily="34" charset="-122"/>
                <a:cs typeface="Google Sans" pitchFamily="34" charset="-120"/>
              </a:rPr>
              <a:t>Hop 2</a:t>
            </a:r>
            <a:endParaRPr lang="en-US" sz="950" dirty="0"/>
          </a:p>
          <a:p>
            <a:pPr algn="ctr" indent="0" marL="0">
              <a:buNone/>
            </a:pPr>
            <a:r>
              <a:rPr lang="en-US" sz="950" b="1" dirty="0">
                <a:solidFill>
                  <a:srgbClr val="0F172A"/>
                </a:solidFill>
                <a:latin typeface="Google Sans" pitchFamily="34" charset="0"/>
                <a:ea typeface="Google Sans" pitchFamily="34" charset="-122"/>
                <a:cs typeface="Google Sans" pitchFamily="34" charset="-120"/>
              </a:rPr>
              <a:t>ARD Scope</a:t>
            </a:r>
            <a:endParaRPr lang="en-US" sz="950" dirty="0"/>
          </a:p>
        </p:txBody>
      </p:sp>
      <p:sp>
        <p:nvSpPr>
          <p:cNvPr id="35" name="Text 33"/>
          <p:cNvSpPr/>
          <p:nvPr/>
        </p:nvSpPr>
        <p:spPr>
          <a:xfrm>
            <a:off x="5513832" y="3145536"/>
            <a:ext cx="1335024" cy="256032"/>
          </a:xfrm>
          <a:prstGeom prst="rect">
            <a:avLst/>
          </a:prstGeom>
          <a:noFill/>
          <a:ln/>
        </p:spPr>
        <p:txBody>
          <a:bodyPr wrap="square" rtlCol="0" anchor="ctr"/>
          <a:lstStyle/>
          <a:p>
            <a:pPr algn="ctr" indent="0" marL="0">
              <a:buNone/>
            </a:pPr>
            <a:r>
              <a:rPr lang="en-US" sz="820" b="1" dirty="0">
                <a:solidFill>
                  <a:srgbClr val="1A73E8"/>
                </a:solidFill>
                <a:latin typeface="Roboto" pitchFamily="34" charset="0"/>
                <a:ea typeface="Roboto" pitchFamily="34" charset="-122"/>
                <a:cs typeface="Roboto" pitchFamily="34" charset="-120"/>
              </a:rPr>
              <a:t>Chrooted VFS</a:t>
            </a:r>
            <a:endParaRPr lang="en-US" sz="820" dirty="0"/>
          </a:p>
        </p:txBody>
      </p:sp>
      <p:sp>
        <p:nvSpPr>
          <p:cNvPr id="36" name="Shape 34"/>
          <p:cNvSpPr/>
          <p:nvPr/>
        </p:nvSpPr>
        <p:spPr>
          <a:xfrm>
            <a:off x="6903720" y="2999232"/>
            <a:ext cx="128016" cy="0"/>
          </a:xfrm>
          <a:prstGeom prst="line">
            <a:avLst/>
          </a:prstGeom>
          <a:noFill/>
          <a:ln w="19050">
            <a:solidFill>
              <a:srgbClr val="1A73E8"/>
            </a:solidFill>
            <a:prstDash val="solid"/>
            <a:tailEnd type="arrow" w="sm" len="sm"/>
          </a:ln>
        </p:spPr>
      </p:sp>
      <p:sp>
        <p:nvSpPr>
          <p:cNvPr id="37" name="Shape 35"/>
          <p:cNvSpPr/>
          <p:nvPr/>
        </p:nvSpPr>
        <p:spPr>
          <a:xfrm>
            <a:off x="7031736" y="2505456"/>
            <a:ext cx="1444752" cy="987552"/>
          </a:xfrm>
          <a:prstGeom prst="roundRect">
            <a:avLst>
              <a:gd name="adj" fmla="val 6481"/>
            </a:avLst>
          </a:prstGeom>
          <a:solidFill>
            <a:srgbClr val="FFFFFF"/>
          </a:solidFill>
          <a:ln w="12700">
            <a:solidFill>
              <a:srgbClr val="1A73E8"/>
            </a:solidFill>
            <a:prstDash val="solid"/>
          </a:ln>
        </p:spPr>
      </p:sp>
      <p:sp>
        <p:nvSpPr>
          <p:cNvPr id="38" name="Text 36"/>
          <p:cNvSpPr/>
          <p:nvPr/>
        </p:nvSpPr>
        <p:spPr>
          <a:xfrm>
            <a:off x="7086600" y="2578608"/>
            <a:ext cx="1335024" cy="512064"/>
          </a:xfrm>
          <a:prstGeom prst="rect">
            <a:avLst/>
          </a:prstGeom>
          <a:noFill/>
          <a:ln/>
        </p:spPr>
        <p:txBody>
          <a:bodyPr wrap="square" rtlCol="0" anchor="ctr"/>
          <a:lstStyle/>
          <a:p>
            <a:pPr algn="ctr" indent="0" marL="0">
              <a:buNone/>
            </a:pPr>
            <a:r>
              <a:rPr lang="en-US" sz="950" b="1" dirty="0">
                <a:solidFill>
                  <a:srgbClr val="0F172A"/>
                </a:solidFill>
                <a:latin typeface="Google Sans" pitchFamily="34" charset="0"/>
                <a:ea typeface="Google Sans" pitchFamily="34" charset="-122"/>
                <a:cs typeface="Google Sans" pitchFamily="34" charset="-120"/>
              </a:rPr>
              <a:t>Hop 3</a:t>
            </a:r>
            <a:endParaRPr lang="en-US" sz="950" dirty="0"/>
          </a:p>
          <a:p>
            <a:pPr algn="ctr" indent="0" marL="0">
              <a:buNone/>
            </a:pPr>
            <a:r>
              <a:rPr lang="en-US" sz="950" b="1" dirty="0">
                <a:solidFill>
                  <a:srgbClr val="0F172A"/>
                </a:solidFill>
                <a:latin typeface="Google Sans" pitchFamily="34" charset="0"/>
                <a:ea typeface="Google Sans" pitchFamily="34" charset="-122"/>
                <a:cs typeface="Google Sans" pitchFamily="34" charset="-120"/>
              </a:rPr>
              <a:t>Valkey Guard</a:t>
            </a:r>
            <a:endParaRPr lang="en-US" sz="950" dirty="0"/>
          </a:p>
        </p:txBody>
      </p:sp>
      <p:sp>
        <p:nvSpPr>
          <p:cNvPr id="39" name="Text 37"/>
          <p:cNvSpPr/>
          <p:nvPr/>
        </p:nvSpPr>
        <p:spPr>
          <a:xfrm>
            <a:off x="7086600" y="3145536"/>
            <a:ext cx="1335024" cy="256032"/>
          </a:xfrm>
          <a:prstGeom prst="rect">
            <a:avLst/>
          </a:prstGeom>
          <a:noFill/>
          <a:ln/>
        </p:spPr>
        <p:txBody>
          <a:bodyPr wrap="square" rtlCol="0" anchor="ctr"/>
          <a:lstStyle/>
          <a:p>
            <a:pPr algn="ctr" indent="0" marL="0">
              <a:buNone/>
            </a:pPr>
            <a:r>
              <a:rPr lang="en-US" sz="820" b="1" dirty="0">
                <a:solidFill>
                  <a:srgbClr val="1A73E8"/>
                </a:solidFill>
                <a:latin typeface="Roboto" pitchFamily="34" charset="0"/>
                <a:ea typeface="Roboto" pitchFamily="34" charset="-122"/>
                <a:cs typeface="Roboto" pitchFamily="34" charset="-120"/>
              </a:rPr>
              <a:t>&lt;5s Evict</a:t>
            </a:r>
            <a:endParaRPr lang="en-US" sz="820" dirty="0"/>
          </a:p>
        </p:txBody>
      </p:sp>
      <p:sp>
        <p:nvSpPr>
          <p:cNvPr id="40" name="Shape 38"/>
          <p:cNvSpPr/>
          <p:nvPr/>
        </p:nvSpPr>
        <p:spPr>
          <a:xfrm>
            <a:off x="8476488" y="2999232"/>
            <a:ext cx="128016" cy="0"/>
          </a:xfrm>
          <a:prstGeom prst="line">
            <a:avLst/>
          </a:prstGeom>
          <a:noFill/>
          <a:ln w="19050">
            <a:solidFill>
              <a:srgbClr val="1A73E8"/>
            </a:solidFill>
            <a:prstDash val="solid"/>
            <a:tailEnd type="arrow" w="sm" len="sm"/>
          </a:ln>
        </p:spPr>
      </p:sp>
      <p:sp>
        <p:nvSpPr>
          <p:cNvPr id="41" name="Shape 39"/>
          <p:cNvSpPr/>
          <p:nvPr/>
        </p:nvSpPr>
        <p:spPr>
          <a:xfrm>
            <a:off x="8604504" y="2505456"/>
            <a:ext cx="1444752" cy="987552"/>
          </a:xfrm>
          <a:prstGeom prst="roundRect">
            <a:avLst>
              <a:gd name="adj" fmla="val 6481"/>
            </a:avLst>
          </a:prstGeom>
          <a:solidFill>
            <a:srgbClr val="FFFFFF"/>
          </a:solidFill>
          <a:ln w="12700">
            <a:solidFill>
              <a:srgbClr val="1A73E8"/>
            </a:solidFill>
            <a:prstDash val="solid"/>
          </a:ln>
        </p:spPr>
      </p:sp>
      <p:sp>
        <p:nvSpPr>
          <p:cNvPr id="42" name="Text 40"/>
          <p:cNvSpPr/>
          <p:nvPr/>
        </p:nvSpPr>
        <p:spPr>
          <a:xfrm>
            <a:off x="8659368" y="2578608"/>
            <a:ext cx="1335024" cy="512064"/>
          </a:xfrm>
          <a:prstGeom prst="rect">
            <a:avLst/>
          </a:prstGeom>
          <a:noFill/>
          <a:ln/>
        </p:spPr>
        <p:txBody>
          <a:bodyPr wrap="square" rtlCol="0" anchor="ctr"/>
          <a:lstStyle/>
          <a:p>
            <a:pPr algn="ctr" indent="0" marL="0">
              <a:buNone/>
            </a:pPr>
            <a:r>
              <a:rPr lang="en-US" sz="950" b="1" dirty="0">
                <a:solidFill>
                  <a:srgbClr val="0F172A"/>
                </a:solidFill>
                <a:latin typeface="Google Sans" pitchFamily="34" charset="0"/>
                <a:ea typeface="Google Sans" pitchFamily="34" charset="-122"/>
                <a:cs typeface="Google Sans" pitchFamily="34" charset="-120"/>
              </a:rPr>
              <a:t>Hop 4</a:t>
            </a:r>
            <a:endParaRPr lang="en-US" sz="950" dirty="0"/>
          </a:p>
          <a:p>
            <a:pPr algn="ctr" indent="0" marL="0">
              <a:buNone/>
            </a:pPr>
            <a:r>
              <a:rPr lang="en-US" sz="950" b="1" dirty="0">
                <a:solidFill>
                  <a:srgbClr val="0F172A"/>
                </a:solidFill>
                <a:latin typeface="Google Sans" pitchFamily="34" charset="0"/>
                <a:ea typeface="Google Sans" pitchFamily="34" charset="-122"/>
                <a:cs typeface="Google Sans" pitchFamily="34" charset="-120"/>
              </a:rPr>
              <a:t>Model Armor</a:t>
            </a:r>
            <a:endParaRPr lang="en-US" sz="950" dirty="0"/>
          </a:p>
        </p:txBody>
      </p:sp>
      <p:sp>
        <p:nvSpPr>
          <p:cNvPr id="43" name="Text 41"/>
          <p:cNvSpPr/>
          <p:nvPr/>
        </p:nvSpPr>
        <p:spPr>
          <a:xfrm>
            <a:off x="8659368" y="3145536"/>
            <a:ext cx="1335024" cy="256032"/>
          </a:xfrm>
          <a:prstGeom prst="rect">
            <a:avLst/>
          </a:prstGeom>
          <a:noFill/>
          <a:ln/>
        </p:spPr>
        <p:txBody>
          <a:bodyPr wrap="square" rtlCol="0" anchor="ctr"/>
          <a:lstStyle/>
          <a:p>
            <a:pPr algn="ctr" indent="0" marL="0">
              <a:buNone/>
            </a:pPr>
            <a:r>
              <a:rPr lang="en-US" sz="820" b="1" dirty="0">
                <a:solidFill>
                  <a:srgbClr val="1A73E8"/>
                </a:solidFill>
                <a:latin typeface="Roboto" pitchFamily="34" charset="0"/>
                <a:ea typeface="Roboto" pitchFamily="34" charset="-122"/>
                <a:cs typeface="Roboto" pitchFamily="34" charset="-120"/>
              </a:rPr>
              <a:t>~22ms DLP</a:t>
            </a:r>
            <a:endParaRPr lang="en-US" sz="820" dirty="0"/>
          </a:p>
        </p:txBody>
      </p:sp>
      <p:sp>
        <p:nvSpPr>
          <p:cNvPr id="44" name="Shape 42"/>
          <p:cNvSpPr/>
          <p:nvPr/>
        </p:nvSpPr>
        <p:spPr>
          <a:xfrm>
            <a:off x="10049256" y="2999232"/>
            <a:ext cx="128016" cy="0"/>
          </a:xfrm>
          <a:prstGeom prst="line">
            <a:avLst/>
          </a:prstGeom>
          <a:noFill/>
          <a:ln w="19050">
            <a:solidFill>
              <a:srgbClr val="1A73E8"/>
            </a:solidFill>
            <a:prstDash val="solid"/>
            <a:tailEnd type="arrow" w="sm" len="sm"/>
          </a:ln>
        </p:spPr>
      </p:sp>
      <p:sp>
        <p:nvSpPr>
          <p:cNvPr id="45" name="Shape 43"/>
          <p:cNvSpPr/>
          <p:nvPr/>
        </p:nvSpPr>
        <p:spPr>
          <a:xfrm>
            <a:off x="10177272" y="2505456"/>
            <a:ext cx="1444752" cy="987552"/>
          </a:xfrm>
          <a:prstGeom prst="roundRect">
            <a:avLst>
              <a:gd name="adj" fmla="val 6481"/>
            </a:avLst>
          </a:prstGeom>
          <a:solidFill>
            <a:srgbClr val="FFFFFF"/>
          </a:solidFill>
          <a:ln w="12700">
            <a:solidFill>
              <a:srgbClr val="1A73E8"/>
            </a:solidFill>
            <a:prstDash val="solid"/>
          </a:ln>
        </p:spPr>
      </p:sp>
      <p:sp>
        <p:nvSpPr>
          <p:cNvPr id="46" name="Text 44"/>
          <p:cNvSpPr/>
          <p:nvPr/>
        </p:nvSpPr>
        <p:spPr>
          <a:xfrm>
            <a:off x="10232136" y="2578608"/>
            <a:ext cx="1335024" cy="512064"/>
          </a:xfrm>
          <a:prstGeom prst="rect">
            <a:avLst/>
          </a:prstGeom>
          <a:noFill/>
          <a:ln/>
        </p:spPr>
        <p:txBody>
          <a:bodyPr wrap="square" rtlCol="0" anchor="ctr"/>
          <a:lstStyle/>
          <a:p>
            <a:pPr algn="ctr" indent="0" marL="0">
              <a:buNone/>
            </a:pPr>
            <a:r>
              <a:rPr lang="en-US" sz="950" b="1" dirty="0">
                <a:solidFill>
                  <a:srgbClr val="0F172A"/>
                </a:solidFill>
                <a:latin typeface="Google Sans" pitchFamily="34" charset="0"/>
                <a:ea typeface="Google Sans" pitchFamily="34" charset="-122"/>
                <a:cs typeface="Google Sans" pitchFamily="34" charset="-120"/>
              </a:rPr>
              <a:t>Hop 5</a:t>
            </a:r>
            <a:endParaRPr lang="en-US" sz="950" dirty="0"/>
          </a:p>
          <a:p>
            <a:pPr algn="ctr" indent="0" marL="0">
              <a:buNone/>
            </a:pPr>
            <a:r>
              <a:rPr lang="en-US" sz="950" b="1" dirty="0">
                <a:solidFill>
                  <a:srgbClr val="0F172A"/>
                </a:solidFill>
                <a:latin typeface="Google Sans" pitchFamily="34" charset="0"/>
                <a:ea typeface="Google Sans" pitchFamily="34" charset="-122"/>
                <a:cs typeface="Google Sans" pitchFamily="34" charset="-120"/>
              </a:rPr>
              <a:t>AlloyDB RLS</a:t>
            </a:r>
            <a:endParaRPr lang="en-US" sz="950" dirty="0"/>
          </a:p>
        </p:txBody>
      </p:sp>
      <p:sp>
        <p:nvSpPr>
          <p:cNvPr id="47" name="Text 45"/>
          <p:cNvSpPr/>
          <p:nvPr/>
        </p:nvSpPr>
        <p:spPr>
          <a:xfrm>
            <a:off x="10232136" y="3145536"/>
            <a:ext cx="1335024" cy="256032"/>
          </a:xfrm>
          <a:prstGeom prst="rect">
            <a:avLst/>
          </a:prstGeom>
          <a:noFill/>
          <a:ln/>
        </p:spPr>
        <p:txBody>
          <a:bodyPr wrap="square" rtlCol="0" anchor="ctr"/>
          <a:lstStyle/>
          <a:p>
            <a:pPr algn="ctr" indent="0" marL="0">
              <a:buNone/>
            </a:pPr>
            <a:r>
              <a:rPr lang="en-US" sz="820" b="1" dirty="0">
                <a:solidFill>
                  <a:srgbClr val="1A73E8"/>
                </a:solidFill>
                <a:latin typeface="Roboto" pitchFamily="34" charset="0"/>
                <a:ea typeface="Roboto" pitchFamily="34" charset="-122"/>
                <a:cs typeface="Roboto" pitchFamily="34" charset="-120"/>
              </a:rPr>
              <a:t>OTel FinOps</a:t>
            </a:r>
            <a:endParaRPr lang="en-US" sz="820" dirty="0"/>
          </a:p>
        </p:txBody>
      </p:sp>
      <p:sp>
        <p:nvSpPr>
          <p:cNvPr id="48" name="Shape 46"/>
          <p:cNvSpPr/>
          <p:nvPr/>
        </p:nvSpPr>
        <p:spPr>
          <a:xfrm>
            <a:off x="3886200" y="3621024"/>
            <a:ext cx="7772400" cy="365760"/>
          </a:xfrm>
          <a:prstGeom prst="roundRect">
            <a:avLst>
              <a:gd name="adj" fmla="val 15000"/>
            </a:avLst>
          </a:prstGeom>
          <a:solidFill>
            <a:srgbClr val="FFFFFF"/>
          </a:solidFill>
          <a:ln w="12700">
            <a:solidFill>
              <a:srgbClr val="1E8E3E"/>
            </a:solidFill>
            <a:prstDash val="solid"/>
          </a:ln>
        </p:spPr>
      </p:sp>
      <p:sp>
        <p:nvSpPr>
          <p:cNvPr id="49" name="Text 47"/>
          <p:cNvSpPr/>
          <p:nvPr/>
        </p:nvSpPr>
        <p:spPr>
          <a:xfrm>
            <a:off x="3886200" y="3621024"/>
            <a:ext cx="7772400" cy="365760"/>
          </a:xfrm>
          <a:prstGeom prst="rect">
            <a:avLst/>
          </a:prstGeom>
          <a:noFill/>
          <a:ln/>
        </p:spPr>
        <p:txBody>
          <a:bodyPr wrap="square" rtlCol="0" anchor="ctr"/>
          <a:lstStyle/>
          <a:p>
            <a:pPr algn="ctr" indent="0" marL="0">
              <a:buNone/>
            </a:pPr>
            <a:r>
              <a:rPr lang="en-US" sz="880" b="1" dirty="0">
                <a:solidFill>
                  <a:srgbClr val="1E8E3E"/>
                </a:solidFill>
                <a:latin typeface="Roboto" pitchFamily="34" charset="0"/>
                <a:ea typeface="Roboto" pitchFamily="34" charset="-122"/>
                <a:cs typeface="Roboto" pitchFamily="34" charset="-120"/>
              </a:rPr>
              <a:t>Feature-Flagged Native GCP Adapters (GAP-01..05)  •  Zero application rewrite when EAP primitives reach GA</a:t>
            </a:r>
            <a:endParaRPr lang="en-US" sz="880" dirty="0"/>
          </a:p>
        </p:txBody>
      </p:sp>
      <p:sp>
        <p:nvSpPr>
          <p:cNvPr id="50" name="Shape 48"/>
          <p:cNvSpPr/>
          <p:nvPr/>
        </p:nvSpPr>
        <p:spPr>
          <a:xfrm>
            <a:off x="4983480" y="4114800"/>
            <a:ext cx="0" cy="329184"/>
          </a:xfrm>
          <a:prstGeom prst="line">
            <a:avLst/>
          </a:prstGeom>
          <a:noFill/>
          <a:ln w="22225">
            <a:solidFill>
              <a:srgbClr val="1E8E3E"/>
            </a:solidFill>
            <a:prstDash val="solid"/>
            <a:tailEnd type="arrow" w="sm" len="sm"/>
          </a:ln>
        </p:spPr>
      </p:sp>
      <p:sp>
        <p:nvSpPr>
          <p:cNvPr id="51" name="Shape 49"/>
          <p:cNvSpPr/>
          <p:nvPr/>
        </p:nvSpPr>
        <p:spPr>
          <a:xfrm>
            <a:off x="7772400" y="4114800"/>
            <a:ext cx="0" cy="329184"/>
          </a:xfrm>
          <a:prstGeom prst="line">
            <a:avLst/>
          </a:prstGeom>
          <a:noFill/>
          <a:ln w="22225">
            <a:solidFill>
              <a:srgbClr val="1E8E3E"/>
            </a:solidFill>
            <a:prstDash val="solid"/>
            <a:tailEnd type="arrow" w="sm" len="sm"/>
          </a:ln>
        </p:spPr>
      </p:sp>
      <p:sp>
        <p:nvSpPr>
          <p:cNvPr id="52" name="Shape 50"/>
          <p:cNvSpPr/>
          <p:nvPr/>
        </p:nvSpPr>
        <p:spPr>
          <a:xfrm>
            <a:off x="10561320" y="4114800"/>
            <a:ext cx="0" cy="329184"/>
          </a:xfrm>
          <a:prstGeom prst="line">
            <a:avLst/>
          </a:prstGeom>
          <a:noFill/>
          <a:ln w="22225">
            <a:solidFill>
              <a:srgbClr val="1E8E3E"/>
            </a:solidFill>
            <a:prstDash val="solid"/>
            <a:tailEnd type="arrow" w="sm" len="sm"/>
          </a:ln>
        </p:spPr>
      </p:sp>
      <p:sp>
        <p:nvSpPr>
          <p:cNvPr id="53" name="Shape 51"/>
          <p:cNvSpPr/>
          <p:nvPr/>
        </p:nvSpPr>
        <p:spPr>
          <a:xfrm>
            <a:off x="3703320" y="4462272"/>
            <a:ext cx="2560320" cy="1883664"/>
          </a:xfrm>
          <a:prstGeom prst="roundRect">
            <a:avLst>
              <a:gd name="adj" fmla="val 4369"/>
            </a:avLst>
          </a:prstGeom>
          <a:solidFill>
            <a:srgbClr val="FFFFFF"/>
          </a:solidFill>
          <a:ln w="15875">
            <a:solidFill>
              <a:srgbClr val="B06000"/>
            </a:solidFill>
            <a:prstDash val="solid"/>
          </a:ln>
        </p:spPr>
      </p:sp>
      <p:sp>
        <p:nvSpPr>
          <p:cNvPr id="54" name="Shape 52"/>
          <p:cNvSpPr/>
          <p:nvPr/>
        </p:nvSpPr>
        <p:spPr>
          <a:xfrm>
            <a:off x="3703320" y="4462272"/>
            <a:ext cx="2560320" cy="310896"/>
          </a:xfrm>
          <a:prstGeom prst="rect">
            <a:avLst/>
          </a:prstGeom>
          <a:solidFill>
            <a:srgbClr val="FEF7E0"/>
          </a:solidFill>
          <a:ln/>
        </p:spPr>
      </p:sp>
      <p:sp>
        <p:nvSpPr>
          <p:cNvPr id="55" name="Text 53"/>
          <p:cNvSpPr/>
          <p:nvPr/>
        </p:nvSpPr>
        <p:spPr>
          <a:xfrm>
            <a:off x="3813048" y="4498848"/>
            <a:ext cx="2340864" cy="237744"/>
          </a:xfrm>
          <a:prstGeom prst="rect">
            <a:avLst/>
          </a:prstGeom>
          <a:noFill/>
          <a:ln/>
        </p:spPr>
        <p:txBody>
          <a:bodyPr wrap="square" rtlCol="0" anchor="ctr"/>
          <a:lstStyle/>
          <a:p>
            <a:pPr indent="0" marL="0">
              <a:buNone/>
            </a:pPr>
            <a:r>
              <a:rPr lang="en-US" sz="950" b="1" dirty="0">
                <a:solidFill>
                  <a:srgbClr val="0F172A"/>
                </a:solidFill>
                <a:latin typeface="Google Sans" pitchFamily="34" charset="0"/>
                <a:ea typeface="Google Sans" pitchFamily="34" charset="-122"/>
                <a:cs typeface="Google Sans" pitchFamily="34" charset="-120"/>
              </a:rPr>
              <a:t>Pattern A • Shared Pool</a:t>
            </a:r>
            <a:endParaRPr lang="en-US" sz="950" dirty="0"/>
          </a:p>
        </p:txBody>
      </p:sp>
      <p:sp>
        <p:nvSpPr>
          <p:cNvPr id="56" name="Text 54"/>
          <p:cNvSpPr/>
          <p:nvPr/>
        </p:nvSpPr>
        <p:spPr>
          <a:xfrm>
            <a:off x="3813048" y="4864608"/>
            <a:ext cx="2340864" cy="310896"/>
          </a:xfrm>
          <a:prstGeom prst="rect">
            <a:avLst/>
          </a:prstGeom>
          <a:noFill/>
          <a:ln/>
        </p:spPr>
        <p:txBody>
          <a:bodyPr wrap="square" rtlCol="0" anchor="ctr"/>
          <a:lstStyle/>
          <a:p>
            <a:pPr indent="0" marL="0">
              <a:buNone/>
            </a:pPr>
            <a:r>
              <a:rPr lang="en-US" sz="880" b="1" dirty="0">
                <a:solidFill>
                  <a:srgbClr val="B06000"/>
                </a:solidFill>
                <a:latin typeface="Google Sans" pitchFamily="34" charset="0"/>
                <a:ea typeface="Google Sans" pitchFamily="34" charset="-122"/>
                <a:cs typeface="Google Sans" pitchFamily="34" charset="-120"/>
              </a:rPr>
              <a:t>950 Tenants • 84.7% Token Savings</a:t>
            </a:r>
            <a:endParaRPr lang="en-US" sz="880" dirty="0"/>
          </a:p>
        </p:txBody>
      </p:sp>
      <p:sp>
        <p:nvSpPr>
          <p:cNvPr id="57" name="Text 55"/>
          <p:cNvSpPr/>
          <p:nvPr/>
        </p:nvSpPr>
        <p:spPr>
          <a:xfrm>
            <a:off x="3813048" y="5230368"/>
            <a:ext cx="2340864" cy="1005840"/>
          </a:xfrm>
          <a:prstGeom prst="rect">
            <a:avLst/>
          </a:prstGeom>
          <a:noFill/>
          <a:ln/>
        </p:spPr>
        <p:txBody>
          <a:bodyPr wrap="square" rtlCol="0" anchor="t"/>
          <a:lstStyle/>
          <a:p>
            <a:pPr indent="0" marL="0">
              <a:buNone/>
            </a:pPr>
            <a:r>
              <a:rPr lang="en-US" sz="860" dirty="0">
                <a:solidFill>
                  <a:srgbClr val="334155"/>
                </a:solidFill>
                <a:latin typeface="Roboto" pitchFamily="34" charset="0"/>
                <a:ea typeface="Roboto" pitchFamily="34" charset="-122"/>
                <a:cs typeface="Roboto" pitchFamily="34" charset="-120"/>
              </a:rPr>
              <a:t>Shared Cloud Run + AlloyDB FORCE RLS + 32k shared prefix cache.</a:t>
            </a:r>
            <a:endParaRPr lang="en-US" sz="860" dirty="0"/>
          </a:p>
        </p:txBody>
      </p:sp>
      <p:sp>
        <p:nvSpPr>
          <p:cNvPr id="58" name="Shape 56"/>
          <p:cNvSpPr/>
          <p:nvPr/>
        </p:nvSpPr>
        <p:spPr>
          <a:xfrm>
            <a:off x="6492240" y="4462272"/>
            <a:ext cx="2560320" cy="1883664"/>
          </a:xfrm>
          <a:prstGeom prst="roundRect">
            <a:avLst>
              <a:gd name="adj" fmla="val 4369"/>
            </a:avLst>
          </a:prstGeom>
          <a:solidFill>
            <a:srgbClr val="FFFFFF"/>
          </a:solidFill>
          <a:ln w="15875">
            <a:solidFill>
              <a:srgbClr val="D93025"/>
            </a:solidFill>
            <a:prstDash val="solid"/>
          </a:ln>
        </p:spPr>
      </p:sp>
      <p:sp>
        <p:nvSpPr>
          <p:cNvPr id="59" name="Shape 57"/>
          <p:cNvSpPr/>
          <p:nvPr/>
        </p:nvSpPr>
        <p:spPr>
          <a:xfrm>
            <a:off x="6492240" y="4462272"/>
            <a:ext cx="2560320" cy="310896"/>
          </a:xfrm>
          <a:prstGeom prst="rect">
            <a:avLst/>
          </a:prstGeom>
          <a:solidFill>
            <a:srgbClr val="FCE8E6"/>
          </a:solidFill>
          <a:ln/>
        </p:spPr>
      </p:sp>
      <p:sp>
        <p:nvSpPr>
          <p:cNvPr id="60" name="Text 58"/>
          <p:cNvSpPr/>
          <p:nvPr/>
        </p:nvSpPr>
        <p:spPr>
          <a:xfrm>
            <a:off x="6601968" y="4498848"/>
            <a:ext cx="2340864" cy="237744"/>
          </a:xfrm>
          <a:prstGeom prst="rect">
            <a:avLst/>
          </a:prstGeom>
          <a:noFill/>
          <a:ln/>
        </p:spPr>
        <p:txBody>
          <a:bodyPr wrap="square" rtlCol="0" anchor="ctr"/>
          <a:lstStyle/>
          <a:p>
            <a:pPr indent="0" marL="0">
              <a:buNone/>
            </a:pPr>
            <a:r>
              <a:rPr lang="en-US" sz="950" b="1" dirty="0">
                <a:solidFill>
                  <a:srgbClr val="0F172A"/>
                </a:solidFill>
                <a:latin typeface="Google Sans" pitchFamily="34" charset="0"/>
                <a:ea typeface="Google Sans" pitchFamily="34" charset="-122"/>
                <a:cs typeface="Google Sans" pitchFamily="34" charset="-120"/>
              </a:rPr>
              <a:t>Pattern B • Sovereign Silos</a:t>
            </a:r>
            <a:endParaRPr lang="en-US" sz="950" dirty="0"/>
          </a:p>
        </p:txBody>
      </p:sp>
      <p:sp>
        <p:nvSpPr>
          <p:cNvPr id="61" name="Text 59"/>
          <p:cNvSpPr/>
          <p:nvPr/>
        </p:nvSpPr>
        <p:spPr>
          <a:xfrm>
            <a:off x="6601968" y="4864608"/>
            <a:ext cx="2340864" cy="310896"/>
          </a:xfrm>
          <a:prstGeom prst="rect">
            <a:avLst/>
          </a:prstGeom>
          <a:noFill/>
          <a:ln/>
        </p:spPr>
        <p:txBody>
          <a:bodyPr wrap="square" rtlCol="0" anchor="ctr"/>
          <a:lstStyle/>
          <a:p>
            <a:pPr indent="0" marL="0">
              <a:buNone/>
            </a:pPr>
            <a:r>
              <a:rPr lang="en-US" sz="880" b="1" dirty="0">
                <a:solidFill>
                  <a:srgbClr val="D93025"/>
                </a:solidFill>
                <a:latin typeface="Google Sans" pitchFamily="34" charset="0"/>
                <a:ea typeface="Google Sans" pitchFamily="34" charset="-122"/>
                <a:cs typeface="Google Sans" pitchFamily="34" charset="-120"/>
              </a:rPr>
              <a:t>50 Tenants • &lt;5s L1 Evict</a:t>
            </a:r>
            <a:endParaRPr lang="en-US" sz="880" dirty="0"/>
          </a:p>
        </p:txBody>
      </p:sp>
      <p:sp>
        <p:nvSpPr>
          <p:cNvPr id="62" name="Text 60"/>
          <p:cNvSpPr/>
          <p:nvPr/>
        </p:nvSpPr>
        <p:spPr>
          <a:xfrm>
            <a:off x="6601968" y="5230368"/>
            <a:ext cx="2340864" cy="1005840"/>
          </a:xfrm>
          <a:prstGeom prst="rect">
            <a:avLst/>
          </a:prstGeom>
          <a:noFill/>
          <a:ln/>
        </p:spPr>
        <p:txBody>
          <a:bodyPr wrap="square" rtlCol="0" anchor="t"/>
          <a:lstStyle/>
          <a:p>
            <a:pPr indent="0" marL="0">
              <a:buNone/>
            </a:pPr>
            <a:r>
              <a:rPr lang="en-US" sz="860" dirty="0">
                <a:solidFill>
                  <a:srgbClr val="334155"/>
                </a:solidFill>
                <a:latin typeface="Roboto" pitchFamily="34" charset="0"/>
                <a:ea typeface="Roboto" pitchFamily="34" charset="-122"/>
                <a:cs typeface="Roboto" pitchFamily="34" charset="-120"/>
              </a:rPr>
              <a:t>Dedicated VPC-SC, CMEK KMS, AlloyDB &amp; Vertex PT / GKE Gemma 3.</a:t>
            </a:r>
            <a:endParaRPr lang="en-US" sz="860" dirty="0"/>
          </a:p>
        </p:txBody>
      </p:sp>
      <p:sp>
        <p:nvSpPr>
          <p:cNvPr id="63" name="Shape 61"/>
          <p:cNvSpPr/>
          <p:nvPr/>
        </p:nvSpPr>
        <p:spPr>
          <a:xfrm>
            <a:off x="9281160" y="4462272"/>
            <a:ext cx="2560320" cy="1883664"/>
          </a:xfrm>
          <a:prstGeom prst="roundRect">
            <a:avLst>
              <a:gd name="adj" fmla="val 4369"/>
            </a:avLst>
          </a:prstGeom>
          <a:solidFill>
            <a:srgbClr val="FFFFFF"/>
          </a:solidFill>
          <a:ln w="15875">
            <a:solidFill>
              <a:srgbClr val="1E8E3E"/>
            </a:solidFill>
            <a:prstDash val="solid"/>
          </a:ln>
        </p:spPr>
      </p:sp>
      <p:sp>
        <p:nvSpPr>
          <p:cNvPr id="64" name="Shape 62"/>
          <p:cNvSpPr/>
          <p:nvPr/>
        </p:nvSpPr>
        <p:spPr>
          <a:xfrm>
            <a:off x="9281160" y="4462272"/>
            <a:ext cx="2560320" cy="310896"/>
          </a:xfrm>
          <a:prstGeom prst="rect">
            <a:avLst/>
          </a:prstGeom>
          <a:solidFill>
            <a:srgbClr val="E6F4EA"/>
          </a:solidFill>
          <a:ln/>
        </p:spPr>
      </p:sp>
      <p:sp>
        <p:nvSpPr>
          <p:cNvPr id="65" name="Text 63"/>
          <p:cNvSpPr/>
          <p:nvPr/>
        </p:nvSpPr>
        <p:spPr>
          <a:xfrm>
            <a:off x="9390888" y="4498848"/>
            <a:ext cx="2340864" cy="237744"/>
          </a:xfrm>
          <a:prstGeom prst="rect">
            <a:avLst/>
          </a:prstGeom>
          <a:noFill/>
          <a:ln/>
        </p:spPr>
        <p:txBody>
          <a:bodyPr wrap="square" rtlCol="0" anchor="ctr"/>
          <a:lstStyle/>
          <a:p>
            <a:pPr indent="0" marL="0">
              <a:buNone/>
            </a:pPr>
            <a:r>
              <a:rPr lang="en-US" sz="950" b="1" dirty="0">
                <a:solidFill>
                  <a:srgbClr val="0F172A"/>
                </a:solidFill>
                <a:latin typeface="Google Sans" pitchFamily="34" charset="0"/>
                <a:ea typeface="Google Sans" pitchFamily="34" charset="-122"/>
                <a:cs typeface="Google Sans" pitchFamily="34" charset="-120"/>
              </a:rPr>
              <a:t>Pattern C • Hybrid PSC</a:t>
            </a:r>
            <a:endParaRPr lang="en-US" sz="950" dirty="0"/>
          </a:p>
        </p:txBody>
      </p:sp>
      <p:sp>
        <p:nvSpPr>
          <p:cNvPr id="66" name="Text 64"/>
          <p:cNvSpPr/>
          <p:nvPr/>
        </p:nvSpPr>
        <p:spPr>
          <a:xfrm>
            <a:off x="9390888" y="4864608"/>
            <a:ext cx="2340864" cy="310896"/>
          </a:xfrm>
          <a:prstGeom prst="rect">
            <a:avLst/>
          </a:prstGeom>
          <a:noFill/>
          <a:ln/>
        </p:spPr>
        <p:txBody>
          <a:bodyPr wrap="square" rtlCol="0" anchor="ctr"/>
          <a:lstStyle/>
          <a:p>
            <a:pPr indent="0" marL="0">
              <a:buNone/>
            </a:pPr>
            <a:r>
              <a:rPr lang="en-US" sz="880" b="1" dirty="0">
                <a:solidFill>
                  <a:srgbClr val="1E8E3E"/>
                </a:solidFill>
                <a:latin typeface="Google Sans" pitchFamily="34" charset="0"/>
                <a:ea typeface="Google Sans" pitchFamily="34" charset="-122"/>
                <a:cs typeface="Google Sans" pitchFamily="34" charset="-120"/>
              </a:rPr>
              <a:t>0ms Cutover • 74% TCO Savings</a:t>
            </a:r>
            <a:endParaRPr lang="en-US" sz="880" dirty="0"/>
          </a:p>
        </p:txBody>
      </p:sp>
      <p:sp>
        <p:nvSpPr>
          <p:cNvPr id="67" name="Text 65"/>
          <p:cNvSpPr/>
          <p:nvPr/>
        </p:nvSpPr>
        <p:spPr>
          <a:xfrm>
            <a:off x="9390888" y="5230368"/>
            <a:ext cx="2340864" cy="1005840"/>
          </a:xfrm>
          <a:prstGeom prst="rect">
            <a:avLst/>
          </a:prstGeom>
          <a:noFill/>
          <a:ln/>
        </p:spPr>
        <p:txBody>
          <a:bodyPr wrap="square" rtlCol="0" anchor="t"/>
          <a:lstStyle/>
          <a:p>
            <a:pPr indent="0" marL="0">
              <a:buNone/>
            </a:pPr>
            <a:r>
              <a:rPr lang="en-US" sz="860" dirty="0">
                <a:solidFill>
                  <a:srgbClr val="334155"/>
                </a:solidFill>
                <a:latin typeface="Roboto" pitchFamily="34" charset="0"/>
                <a:ea typeface="Roboto" pitchFamily="34" charset="-122"/>
                <a:cs typeface="Roboto" pitchFamily="34" charset="-120"/>
              </a:rPr>
              <a:t>Unidirectional Private Service Connect spoke with live tier promotion.</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1723644"/>
          </a:xfrm>
          <a:prstGeom prst="rect">
            <a:avLst/>
          </a:prstGeom>
          <a:solidFill>
            <a:srgbClr val="1A73E8"/>
          </a:solidFill>
          <a:ln/>
        </p:spPr>
      </p:sp>
      <p:sp>
        <p:nvSpPr>
          <p:cNvPr id="3" name="Shape 1"/>
          <p:cNvSpPr/>
          <p:nvPr/>
        </p:nvSpPr>
        <p:spPr>
          <a:xfrm>
            <a:off x="0" y="1714500"/>
            <a:ext cx="73152" cy="1723644"/>
          </a:xfrm>
          <a:prstGeom prst="rect">
            <a:avLst/>
          </a:prstGeom>
          <a:solidFill>
            <a:srgbClr val="D93025"/>
          </a:solidFill>
          <a:ln/>
        </p:spPr>
      </p:sp>
      <p:sp>
        <p:nvSpPr>
          <p:cNvPr id="4" name="Shape 2"/>
          <p:cNvSpPr/>
          <p:nvPr/>
        </p:nvSpPr>
        <p:spPr>
          <a:xfrm>
            <a:off x="0" y="3429000"/>
            <a:ext cx="73152" cy="1723644"/>
          </a:xfrm>
          <a:prstGeom prst="rect">
            <a:avLst/>
          </a:prstGeom>
          <a:solidFill>
            <a:srgbClr val="F9AB00"/>
          </a:solidFill>
          <a:ln/>
        </p:spPr>
      </p:sp>
      <p:sp>
        <p:nvSpPr>
          <p:cNvPr id="5" name="Shape 3"/>
          <p:cNvSpPr/>
          <p:nvPr/>
        </p:nvSpPr>
        <p:spPr>
          <a:xfrm>
            <a:off x="0" y="5143500"/>
            <a:ext cx="73152" cy="1723644"/>
          </a:xfrm>
          <a:prstGeom prst="rect">
            <a:avLst/>
          </a:prstGeom>
          <a:solidFill>
            <a:srgbClr val="1E8E3E"/>
          </a:solidFill>
          <a:ln/>
        </p:spPr>
      </p:sp>
      <p:sp>
        <p:nvSpPr>
          <p:cNvPr id="6" name="Text 4"/>
          <p:cNvSpPr/>
          <p:nvPr/>
        </p:nvSpPr>
        <p:spPr>
          <a:xfrm>
            <a:off x="347472" y="201168"/>
            <a:ext cx="9875520" cy="237744"/>
          </a:xfrm>
          <a:prstGeom prst="rect">
            <a:avLst/>
          </a:prstGeom>
          <a:noFill/>
          <a:ln/>
        </p:spPr>
        <p:txBody>
          <a:bodyPr wrap="square" rtlCol="0" anchor="ctr"/>
          <a:lstStyle/>
          <a:p>
            <a:pPr indent="0" marL="0">
              <a:buNone/>
            </a:pPr>
            <a:r>
              <a:rPr lang="en-US" sz="850" b="1" dirty="0">
                <a:solidFill>
                  <a:srgbClr val="1A73E8"/>
                </a:solidFill>
                <a:latin typeface="Google Sans" pitchFamily="34" charset="0"/>
                <a:ea typeface="Google Sans" pitchFamily="34" charset="-122"/>
                <a:cs typeface="Google Sans" pitchFamily="34" charset="-120"/>
              </a:rPr>
              <a:t>GOOGLE CLOUD ARCHITECTURE CENTER  </a:t>
            </a:r>
            <a:pPr indent="0" marL="0">
              <a:buNone/>
            </a:pPr>
            <a:r>
              <a:rPr lang="en-US" sz="850" dirty="0">
                <a:solidFill>
                  <a:srgbClr val="64748B"/>
                </a:solidFill>
                <a:latin typeface="Google Sans" pitchFamily="34" charset="0"/>
                <a:ea typeface="Google Sans" pitchFamily="34" charset="-122"/>
                <a:cs typeface="Google Sans" pitchFamily="34" charset="-120"/>
              </a:rPr>
              <a:t>/  ACT I • PROCESS ARCHITECTURE  /  End-to-End 5-Hop Request, Governance &amp; FinOps Process Lifecycle</a:t>
            </a:r>
            <a:endParaRPr lang="en-US" sz="850" dirty="0"/>
          </a:p>
        </p:txBody>
      </p:sp>
      <p:sp>
        <p:nvSpPr>
          <p:cNvPr id="7" name="Shape 5"/>
          <p:cNvSpPr/>
          <p:nvPr/>
        </p:nvSpPr>
        <p:spPr>
          <a:xfrm>
            <a:off x="10835640" y="182880"/>
            <a:ext cx="1005840" cy="256032"/>
          </a:xfrm>
          <a:prstGeom prst="roundRect">
            <a:avLst>
              <a:gd name="adj" fmla="val 50000"/>
            </a:avLst>
          </a:prstGeom>
          <a:solidFill>
            <a:srgbClr val="FFFFFF"/>
          </a:solidFill>
          <a:ln w="9525">
            <a:solidFill>
              <a:srgbClr val="E2E8F0"/>
            </a:solidFill>
            <a:prstDash val="solid"/>
          </a:ln>
        </p:spPr>
      </p:sp>
      <p:sp>
        <p:nvSpPr>
          <p:cNvPr id="8" name="Text 6"/>
          <p:cNvSpPr/>
          <p:nvPr/>
        </p:nvSpPr>
        <p:spPr>
          <a:xfrm>
            <a:off x="10835640" y="182880"/>
            <a:ext cx="1005840" cy="256032"/>
          </a:xfrm>
          <a:prstGeom prst="rect">
            <a:avLst/>
          </a:prstGeom>
          <a:noFill/>
          <a:ln/>
        </p:spPr>
        <p:txBody>
          <a:bodyPr wrap="square" rtlCol="0" anchor="ctr"/>
          <a:lstStyle/>
          <a:p>
            <a:pPr algn="ctr" indent="0" marL="0">
              <a:buNone/>
            </a:pPr>
            <a:r>
              <a:rPr lang="en-US" sz="850" b="1" dirty="0">
                <a:solidFill>
                  <a:srgbClr val="334155"/>
                </a:solidFill>
                <a:latin typeface="Google Sans" pitchFamily="34" charset="0"/>
                <a:ea typeface="Google Sans" pitchFamily="34" charset="-122"/>
                <a:cs typeface="Google Sans" pitchFamily="34" charset="-120"/>
              </a:rPr>
              <a:t>04 / 14</a:t>
            </a:r>
            <a:endParaRPr lang="en-US" sz="850" dirty="0"/>
          </a:p>
        </p:txBody>
      </p:sp>
      <p:sp>
        <p:nvSpPr>
          <p:cNvPr id="9" name="Shape 7"/>
          <p:cNvSpPr/>
          <p:nvPr/>
        </p:nvSpPr>
        <p:spPr>
          <a:xfrm>
            <a:off x="347472" y="6510528"/>
            <a:ext cx="11494008" cy="0"/>
          </a:xfrm>
          <a:prstGeom prst="line">
            <a:avLst/>
          </a:prstGeom>
          <a:noFill/>
          <a:ln w="9525">
            <a:solidFill>
              <a:srgbClr val="E2E8F0"/>
            </a:solidFill>
            <a:prstDash val="solid"/>
          </a:ln>
        </p:spPr>
      </p:sp>
      <p:sp>
        <p:nvSpPr>
          <p:cNvPr id="10" name="Text 8"/>
          <p:cNvSpPr/>
          <p:nvPr/>
        </p:nvSpPr>
        <p:spPr>
          <a:xfrm>
            <a:off x="347472" y="6556248"/>
            <a:ext cx="11494008" cy="219456"/>
          </a:xfrm>
          <a:prstGeom prst="rect">
            <a:avLst/>
          </a:prstGeom>
          <a:noFill/>
          <a:ln/>
        </p:spPr>
        <p:txBody>
          <a:bodyPr wrap="square" rtlCol="0" anchor="ctr"/>
          <a:lstStyle/>
          <a:p>
            <a:pPr indent="0" marL="0">
              <a:buNone/>
            </a:pPr>
            <a:r>
              <a:rPr lang="en-US" sz="780" dirty="0">
                <a:solidFill>
                  <a:srgbClr val="64748B"/>
                </a:solidFill>
                <a:latin typeface="Roboto" pitchFamily="34" charset="0"/>
                <a:ea typeface="Roboto" pitchFamily="34" charset="-122"/>
                <a:cs typeface="Roboto" pitchFamily="34" charset="-120"/>
              </a:rPr>
              <a:t>Multi-Tenant Agentic AI on Google Cloud  •  Blog 1 Executive Edition  •  Verified on GCP (#248990048888, #48439189383) &amp; AWS (#393036065405)</a:t>
            </a:r>
            <a:endParaRPr lang="en-US" sz="780" dirty="0"/>
          </a:p>
        </p:txBody>
      </p:sp>
      <p:sp>
        <p:nvSpPr>
          <p:cNvPr id="11" name="Shape 9"/>
          <p:cNvSpPr/>
          <p:nvPr/>
        </p:nvSpPr>
        <p:spPr>
          <a:xfrm>
            <a:off x="347472" y="566928"/>
            <a:ext cx="3154680" cy="5779008"/>
          </a:xfrm>
          <a:prstGeom prst="roundRect">
            <a:avLst>
              <a:gd name="adj" fmla="val 2899"/>
            </a:avLst>
          </a:prstGeom>
          <a:solidFill>
            <a:srgbClr val="FFFFFF"/>
          </a:solidFill>
          <a:ln w="12700">
            <a:solidFill>
              <a:srgbClr val="E2E8F0"/>
            </a:solidFill>
            <a:prstDash val="solid"/>
          </a:ln>
        </p:spPr>
      </p:sp>
      <p:sp>
        <p:nvSpPr>
          <p:cNvPr id="12" name="Shape 10"/>
          <p:cNvSpPr/>
          <p:nvPr/>
        </p:nvSpPr>
        <p:spPr>
          <a:xfrm>
            <a:off x="530352" y="768096"/>
            <a:ext cx="1691640" cy="256032"/>
          </a:xfrm>
          <a:prstGeom prst="roundRect">
            <a:avLst>
              <a:gd name="adj" fmla="val 28571"/>
            </a:avLst>
          </a:prstGeom>
          <a:solidFill>
            <a:srgbClr val="E6F4EA"/>
          </a:solidFill>
          <a:ln/>
        </p:spPr>
      </p:sp>
      <p:sp>
        <p:nvSpPr>
          <p:cNvPr id="13" name="Text 11"/>
          <p:cNvSpPr/>
          <p:nvPr/>
        </p:nvSpPr>
        <p:spPr>
          <a:xfrm>
            <a:off x="530352" y="768096"/>
            <a:ext cx="1691640" cy="256032"/>
          </a:xfrm>
          <a:prstGeom prst="rect">
            <a:avLst/>
          </a:prstGeom>
          <a:noFill/>
          <a:ln/>
        </p:spPr>
        <p:txBody>
          <a:bodyPr wrap="square" rtlCol="0" anchor="ctr"/>
          <a:lstStyle/>
          <a:p>
            <a:pPr algn="ctr" indent="0" marL="0">
              <a:buNone/>
            </a:pPr>
            <a:r>
              <a:rPr lang="en-US" sz="800" b="1" dirty="0">
                <a:solidFill>
                  <a:srgbClr val="1E8E3E"/>
                </a:solidFill>
                <a:latin typeface="Google Sans" pitchFamily="34" charset="0"/>
                <a:ea typeface="Google Sans" pitchFamily="34" charset="-122"/>
                <a:cs typeface="Google Sans" pitchFamily="34" charset="-120"/>
              </a:rPr>
              <a:t>PROCESS FLOW</a:t>
            </a:r>
            <a:endParaRPr lang="en-US" sz="800" dirty="0"/>
          </a:p>
        </p:txBody>
      </p:sp>
      <p:sp>
        <p:nvSpPr>
          <p:cNvPr id="14" name="Text 12"/>
          <p:cNvSpPr/>
          <p:nvPr/>
        </p:nvSpPr>
        <p:spPr>
          <a:xfrm>
            <a:off x="530352" y="1133856"/>
            <a:ext cx="2788920" cy="1325880"/>
          </a:xfrm>
          <a:prstGeom prst="rect">
            <a:avLst/>
          </a:prstGeom>
          <a:noFill/>
          <a:ln/>
        </p:spPr>
        <p:txBody>
          <a:bodyPr wrap="square" rtlCol="0" anchor="t"/>
          <a:lstStyle/>
          <a:p>
            <a:pPr indent="0" marL="0">
              <a:buNone/>
            </a:pPr>
            <a:r>
              <a:rPr lang="en-US" sz="1750" b="1" dirty="0">
                <a:solidFill>
                  <a:srgbClr val="0F172A"/>
                </a:solidFill>
                <a:latin typeface="Google Sans Display" pitchFamily="34" charset="0"/>
                <a:ea typeface="Google Sans Display" pitchFamily="34" charset="-122"/>
                <a:cs typeface="Google Sans Display" pitchFamily="34" charset="-120"/>
              </a:rPr>
              <a:t>~42ms p95 Zero-Trust Agent Pipeline</a:t>
            </a:r>
            <a:endParaRPr lang="en-US" sz="1750" dirty="0"/>
          </a:p>
        </p:txBody>
      </p:sp>
      <p:sp>
        <p:nvSpPr>
          <p:cNvPr id="15" name="Text 13"/>
          <p:cNvSpPr/>
          <p:nvPr/>
        </p:nvSpPr>
        <p:spPr>
          <a:xfrm>
            <a:off x="530352" y="2542032"/>
            <a:ext cx="2788920" cy="2148840"/>
          </a:xfrm>
          <a:prstGeom prst="rect">
            <a:avLst/>
          </a:prstGeom>
          <a:noFill/>
          <a:ln/>
        </p:spPr>
        <p:txBody>
          <a:bodyPr wrap="square" rtlCol="0" anchor="t"/>
          <a:lstStyle/>
          <a:p>
            <a:pPr indent="0" marL="0">
              <a:buNone/>
            </a:pPr>
            <a:r>
              <a:rPr lang="en-US" sz="1000" dirty="0">
                <a:solidFill>
                  <a:srgbClr val="334155"/>
                </a:solidFill>
                <a:latin typeface="Roboto" pitchFamily="34" charset="0"/>
                <a:ea typeface="Roboto" pitchFamily="34" charset="-122"/>
                <a:cs typeface="Roboto" pitchFamily="34" charset="-120"/>
              </a:rPr>
              <a:t>Every customer turn traverses five synchronous governance gates in ~42ms p95 before asynchronous OpenTelemetry FinOps export.</a:t>
            </a:r>
            <a:endParaRPr lang="en-US" sz="1000" dirty="0"/>
          </a:p>
          <a:p>
            <a:pPr indent="0" marL="0">
              <a:buNone/>
            </a:pP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If any identity, quota, DLP, or CMEK check fails, the pipeline halts immediately with a deterministic HTTP 4xx verdict.</a:t>
            </a:r>
            <a:endParaRPr lang="en-US" sz="1000" dirty="0"/>
          </a:p>
        </p:txBody>
      </p:sp>
      <p:sp>
        <p:nvSpPr>
          <p:cNvPr id="16" name="Shape 14"/>
          <p:cNvSpPr/>
          <p:nvPr/>
        </p:nvSpPr>
        <p:spPr>
          <a:xfrm>
            <a:off x="530352" y="4846320"/>
            <a:ext cx="2788920" cy="1298448"/>
          </a:xfrm>
          <a:prstGeom prst="roundRect">
            <a:avLst>
              <a:gd name="adj" fmla="val 5634"/>
            </a:avLst>
          </a:prstGeom>
          <a:solidFill>
            <a:srgbClr val="E6F4EA"/>
          </a:solidFill>
          <a:ln w="12700">
            <a:solidFill>
              <a:srgbClr val="1E8E3E"/>
            </a:solidFill>
            <a:prstDash val="solid"/>
          </a:ln>
        </p:spPr>
      </p:sp>
      <p:sp>
        <p:nvSpPr>
          <p:cNvPr id="17" name="Text 15"/>
          <p:cNvSpPr/>
          <p:nvPr/>
        </p:nvSpPr>
        <p:spPr>
          <a:xfrm>
            <a:off x="658368" y="4956048"/>
            <a:ext cx="2532888" cy="566928"/>
          </a:xfrm>
          <a:prstGeom prst="rect">
            <a:avLst/>
          </a:prstGeom>
          <a:noFill/>
          <a:ln/>
        </p:spPr>
        <p:txBody>
          <a:bodyPr wrap="square" rtlCol="0" anchor="ctr"/>
          <a:lstStyle/>
          <a:p>
            <a:pPr indent="0" marL="0">
              <a:buNone/>
            </a:pPr>
            <a:r>
              <a:rPr lang="en-US" sz="2800" b="1" dirty="0">
                <a:solidFill>
                  <a:srgbClr val="1E8E3E"/>
                </a:solidFill>
                <a:latin typeface="Google Sans Display" pitchFamily="34" charset="0"/>
                <a:ea typeface="Google Sans Display" pitchFamily="34" charset="-122"/>
                <a:cs typeface="Google Sans Display" pitchFamily="34" charset="-120"/>
              </a:rPr>
              <a:t>~42ms</a:t>
            </a:r>
            <a:endParaRPr lang="en-US" sz="2800" dirty="0"/>
          </a:p>
        </p:txBody>
      </p:sp>
      <p:sp>
        <p:nvSpPr>
          <p:cNvPr id="18" name="Text 16"/>
          <p:cNvSpPr/>
          <p:nvPr/>
        </p:nvSpPr>
        <p:spPr>
          <a:xfrm>
            <a:off x="658368" y="5559552"/>
            <a:ext cx="2532888" cy="475488"/>
          </a:xfrm>
          <a:prstGeom prst="rect">
            <a:avLst/>
          </a:prstGeom>
          <a:noFill/>
          <a:ln/>
        </p:spPr>
        <p:txBody>
          <a:bodyPr wrap="square" rtlCol="0" anchor="ctr"/>
          <a:lstStyle/>
          <a:p>
            <a:pPr indent="0" marL="0">
              <a:buNone/>
            </a:pPr>
            <a:r>
              <a:rPr lang="en-US" sz="880" b="1" dirty="0">
                <a:solidFill>
                  <a:srgbClr val="0F172A"/>
                </a:solidFill>
                <a:latin typeface="Roboto" pitchFamily="34" charset="0"/>
                <a:ea typeface="Roboto" pitchFamily="34" charset="-122"/>
                <a:cs typeface="Roboto" pitchFamily="34" charset="-120"/>
              </a:rPr>
              <a:t>Total p95 5-Hop Control-Plane Overhead</a:t>
            </a:r>
            <a:endParaRPr lang="en-US" sz="880" dirty="0"/>
          </a:p>
        </p:txBody>
      </p:sp>
      <p:sp>
        <p:nvSpPr>
          <p:cNvPr id="19" name="Shape 17"/>
          <p:cNvSpPr/>
          <p:nvPr/>
        </p:nvSpPr>
        <p:spPr>
          <a:xfrm>
            <a:off x="3703320" y="566928"/>
            <a:ext cx="2615184" cy="1755648"/>
          </a:xfrm>
          <a:prstGeom prst="roundRect">
            <a:avLst>
              <a:gd name="adj" fmla="val 4688"/>
            </a:avLst>
          </a:prstGeom>
          <a:solidFill>
            <a:srgbClr val="FFFFFF"/>
          </a:solidFill>
          <a:ln w="15875">
            <a:solidFill>
              <a:srgbClr val="1A73E8"/>
            </a:solidFill>
            <a:prstDash val="solid"/>
          </a:ln>
        </p:spPr>
      </p:sp>
      <p:sp>
        <p:nvSpPr>
          <p:cNvPr id="20" name="Shape 18"/>
          <p:cNvSpPr/>
          <p:nvPr/>
        </p:nvSpPr>
        <p:spPr>
          <a:xfrm>
            <a:off x="3831336" y="694944"/>
            <a:ext cx="402336" cy="310896"/>
          </a:xfrm>
          <a:prstGeom prst="roundRect">
            <a:avLst>
              <a:gd name="adj" fmla="val 17647"/>
            </a:avLst>
          </a:prstGeom>
          <a:solidFill>
            <a:srgbClr val="E8F0FE"/>
          </a:solidFill>
          <a:ln/>
        </p:spPr>
      </p:sp>
      <p:sp>
        <p:nvSpPr>
          <p:cNvPr id="21" name="Text 19"/>
          <p:cNvSpPr/>
          <p:nvPr/>
        </p:nvSpPr>
        <p:spPr>
          <a:xfrm>
            <a:off x="3831336" y="694944"/>
            <a:ext cx="402336" cy="310896"/>
          </a:xfrm>
          <a:prstGeom prst="rect">
            <a:avLst/>
          </a:prstGeom>
          <a:noFill/>
          <a:ln/>
        </p:spPr>
        <p:txBody>
          <a:bodyPr wrap="square" rtlCol="0" anchor="ctr"/>
          <a:lstStyle/>
          <a:p>
            <a:pPr algn="ctr" indent="0" marL="0">
              <a:buNone/>
            </a:pPr>
            <a:r>
              <a:rPr lang="en-US" sz="1050" b="1" dirty="0">
                <a:solidFill>
                  <a:srgbClr val="1A73E8"/>
                </a:solidFill>
                <a:latin typeface="Google Sans Display" pitchFamily="34" charset="0"/>
                <a:ea typeface="Google Sans Display" pitchFamily="34" charset="-122"/>
                <a:cs typeface="Google Sans Display" pitchFamily="34" charset="-120"/>
              </a:rPr>
              <a:t>01</a:t>
            </a:r>
            <a:endParaRPr lang="en-US" sz="1050" dirty="0"/>
          </a:p>
        </p:txBody>
      </p:sp>
      <p:sp>
        <p:nvSpPr>
          <p:cNvPr id="22" name="Text 20"/>
          <p:cNvSpPr/>
          <p:nvPr/>
        </p:nvSpPr>
        <p:spPr>
          <a:xfrm>
            <a:off x="4306824" y="713232"/>
            <a:ext cx="1883664" cy="274320"/>
          </a:xfrm>
          <a:prstGeom prst="rect">
            <a:avLst/>
          </a:prstGeom>
          <a:noFill/>
          <a:ln/>
        </p:spPr>
        <p:txBody>
          <a:bodyPr wrap="square" rtlCol="0" anchor="ctr"/>
          <a:lstStyle/>
          <a:p>
            <a:pPr indent="0" marL="0">
              <a:buNone/>
            </a:pPr>
            <a:r>
              <a:rPr lang="en-US" sz="900" b="1" dirty="0">
                <a:solidFill>
                  <a:srgbClr val="1A73E8"/>
                </a:solidFill>
                <a:latin typeface="Google Sans" pitchFamily="34" charset="0"/>
                <a:ea typeface="Google Sans" pitchFamily="34" charset="-122"/>
                <a:cs typeface="Google Sans" pitchFamily="34" charset="-120"/>
              </a:rPr>
              <a:t>Hop 1 • ~8ms</a:t>
            </a:r>
            <a:endParaRPr lang="en-US" sz="900" dirty="0"/>
          </a:p>
        </p:txBody>
      </p:sp>
      <p:sp>
        <p:nvSpPr>
          <p:cNvPr id="23" name="Text 21"/>
          <p:cNvSpPr/>
          <p:nvPr/>
        </p:nvSpPr>
        <p:spPr>
          <a:xfrm>
            <a:off x="3831336" y="1078992"/>
            <a:ext cx="2359152" cy="310896"/>
          </a:xfrm>
          <a:prstGeom prst="rect">
            <a:avLst/>
          </a:prstGeom>
          <a:noFill/>
          <a:ln/>
        </p:spPr>
        <p:txBody>
          <a:bodyPr wrap="square" rtlCol="0" anchor="ctr"/>
          <a:lstStyle/>
          <a:p>
            <a:pPr indent="0" marL="0">
              <a:buNone/>
            </a:pPr>
            <a:r>
              <a:rPr lang="en-US" sz="1150" b="1" dirty="0">
                <a:solidFill>
                  <a:srgbClr val="0F172A"/>
                </a:solidFill>
                <a:latin typeface="Google Sans" pitchFamily="34" charset="0"/>
                <a:ea typeface="Google Sans" pitchFamily="34" charset="-122"/>
                <a:cs typeface="Google Sans" pitchFamily="34" charset="-120"/>
              </a:rPr>
              <a:t>Edge Auth &amp; STS</a:t>
            </a:r>
            <a:endParaRPr lang="en-US" sz="1150" dirty="0"/>
          </a:p>
        </p:txBody>
      </p:sp>
      <p:sp>
        <p:nvSpPr>
          <p:cNvPr id="24" name="Text 22"/>
          <p:cNvSpPr/>
          <p:nvPr/>
        </p:nvSpPr>
        <p:spPr>
          <a:xfrm>
            <a:off x="3831336" y="1426464"/>
            <a:ext cx="2359152" cy="804672"/>
          </a:xfrm>
          <a:prstGeom prst="rect">
            <a:avLst/>
          </a:prstGeom>
          <a:noFill/>
          <a:ln/>
        </p:spPr>
        <p:txBody>
          <a:bodyPr wrap="square" rtlCol="0" anchor="t"/>
          <a:lstStyle/>
          <a:p>
            <a:pPr indent="0" marL="0">
              <a:buNone/>
            </a:pPr>
            <a:r>
              <a:rPr lang="en-US" sz="900" dirty="0">
                <a:solidFill>
                  <a:srgbClr val="334155"/>
                </a:solidFill>
                <a:latin typeface="Roboto" pitchFamily="34" charset="0"/>
                <a:ea typeface="Roboto" pitchFamily="34" charset="-122"/>
                <a:cs typeface="Roboto" pitchFamily="34" charset="-120"/>
              </a:rPr>
              <a:t>Strip X-Tenant-Id; verify OIDC + DPoP; mint ECDSA P-256 JWT.</a:t>
            </a:r>
            <a:endParaRPr lang="en-US" sz="900" dirty="0"/>
          </a:p>
        </p:txBody>
      </p:sp>
      <p:sp>
        <p:nvSpPr>
          <p:cNvPr id="25" name="Shape 23"/>
          <p:cNvSpPr/>
          <p:nvPr/>
        </p:nvSpPr>
        <p:spPr>
          <a:xfrm>
            <a:off x="6318504" y="1444752"/>
            <a:ext cx="146304" cy="0"/>
          </a:xfrm>
          <a:prstGeom prst="line">
            <a:avLst/>
          </a:prstGeom>
          <a:noFill/>
          <a:ln w="20320">
            <a:solidFill>
              <a:srgbClr val="1A73E8"/>
            </a:solidFill>
            <a:prstDash val="solid"/>
            <a:tailEnd type="arrow" w="sm" len="sm"/>
          </a:ln>
        </p:spPr>
      </p:sp>
      <p:sp>
        <p:nvSpPr>
          <p:cNvPr id="26" name="Shape 24"/>
          <p:cNvSpPr/>
          <p:nvPr/>
        </p:nvSpPr>
        <p:spPr>
          <a:xfrm>
            <a:off x="6464808" y="566928"/>
            <a:ext cx="2615184" cy="1755648"/>
          </a:xfrm>
          <a:prstGeom prst="roundRect">
            <a:avLst>
              <a:gd name="adj" fmla="val 4688"/>
            </a:avLst>
          </a:prstGeom>
          <a:solidFill>
            <a:srgbClr val="FFFFFF"/>
          </a:solidFill>
          <a:ln w="15875">
            <a:solidFill>
              <a:srgbClr val="1A73E8"/>
            </a:solidFill>
            <a:prstDash val="solid"/>
          </a:ln>
        </p:spPr>
      </p:sp>
      <p:sp>
        <p:nvSpPr>
          <p:cNvPr id="27" name="Shape 25"/>
          <p:cNvSpPr/>
          <p:nvPr/>
        </p:nvSpPr>
        <p:spPr>
          <a:xfrm>
            <a:off x="6592824" y="694944"/>
            <a:ext cx="402336" cy="310896"/>
          </a:xfrm>
          <a:prstGeom prst="roundRect">
            <a:avLst>
              <a:gd name="adj" fmla="val 17647"/>
            </a:avLst>
          </a:prstGeom>
          <a:solidFill>
            <a:srgbClr val="E8F0FE"/>
          </a:solidFill>
          <a:ln/>
        </p:spPr>
      </p:sp>
      <p:sp>
        <p:nvSpPr>
          <p:cNvPr id="28" name="Text 26"/>
          <p:cNvSpPr/>
          <p:nvPr/>
        </p:nvSpPr>
        <p:spPr>
          <a:xfrm>
            <a:off x="6592824" y="694944"/>
            <a:ext cx="402336" cy="310896"/>
          </a:xfrm>
          <a:prstGeom prst="rect">
            <a:avLst/>
          </a:prstGeom>
          <a:noFill/>
          <a:ln/>
        </p:spPr>
        <p:txBody>
          <a:bodyPr wrap="square" rtlCol="0" anchor="ctr"/>
          <a:lstStyle/>
          <a:p>
            <a:pPr algn="ctr" indent="0" marL="0">
              <a:buNone/>
            </a:pPr>
            <a:r>
              <a:rPr lang="en-US" sz="1050" b="1" dirty="0">
                <a:solidFill>
                  <a:srgbClr val="1A73E8"/>
                </a:solidFill>
                <a:latin typeface="Google Sans Display" pitchFamily="34" charset="0"/>
                <a:ea typeface="Google Sans Display" pitchFamily="34" charset="-122"/>
                <a:cs typeface="Google Sans Display" pitchFamily="34" charset="-120"/>
              </a:rPr>
              <a:t>02</a:t>
            </a:r>
            <a:endParaRPr lang="en-US" sz="1050" dirty="0"/>
          </a:p>
        </p:txBody>
      </p:sp>
      <p:sp>
        <p:nvSpPr>
          <p:cNvPr id="29" name="Text 27"/>
          <p:cNvSpPr/>
          <p:nvPr/>
        </p:nvSpPr>
        <p:spPr>
          <a:xfrm>
            <a:off x="7068312" y="713232"/>
            <a:ext cx="1883664" cy="274320"/>
          </a:xfrm>
          <a:prstGeom prst="rect">
            <a:avLst/>
          </a:prstGeom>
          <a:noFill/>
          <a:ln/>
        </p:spPr>
        <p:txBody>
          <a:bodyPr wrap="square" rtlCol="0" anchor="ctr"/>
          <a:lstStyle/>
          <a:p>
            <a:pPr indent="0" marL="0">
              <a:buNone/>
            </a:pPr>
            <a:r>
              <a:rPr lang="en-US" sz="900" b="1" dirty="0">
                <a:solidFill>
                  <a:srgbClr val="1A73E8"/>
                </a:solidFill>
                <a:latin typeface="Google Sans" pitchFamily="34" charset="0"/>
                <a:ea typeface="Google Sans" pitchFamily="34" charset="-122"/>
                <a:cs typeface="Google Sans" pitchFamily="34" charset="-120"/>
              </a:rPr>
              <a:t>Hop 2 • ~4ms</a:t>
            </a:r>
            <a:endParaRPr lang="en-US" sz="900" dirty="0"/>
          </a:p>
        </p:txBody>
      </p:sp>
      <p:sp>
        <p:nvSpPr>
          <p:cNvPr id="30" name="Text 28"/>
          <p:cNvSpPr/>
          <p:nvPr/>
        </p:nvSpPr>
        <p:spPr>
          <a:xfrm>
            <a:off x="6592824" y="1078992"/>
            <a:ext cx="2359152" cy="310896"/>
          </a:xfrm>
          <a:prstGeom prst="rect">
            <a:avLst/>
          </a:prstGeom>
          <a:noFill/>
          <a:ln/>
        </p:spPr>
        <p:txBody>
          <a:bodyPr wrap="square" rtlCol="0" anchor="ctr"/>
          <a:lstStyle/>
          <a:p>
            <a:pPr indent="0" marL="0">
              <a:buNone/>
            </a:pPr>
            <a:r>
              <a:rPr lang="en-US" sz="1150" b="1" dirty="0">
                <a:solidFill>
                  <a:srgbClr val="0F172A"/>
                </a:solidFill>
                <a:latin typeface="Google Sans" pitchFamily="34" charset="0"/>
                <a:ea typeface="Google Sans" pitchFamily="34" charset="-122"/>
                <a:cs typeface="Google Sans" pitchFamily="34" charset="-120"/>
              </a:rPr>
              <a:t>ARD &amp; 3LO Scope</a:t>
            </a:r>
            <a:endParaRPr lang="en-US" sz="1150" dirty="0"/>
          </a:p>
        </p:txBody>
      </p:sp>
      <p:sp>
        <p:nvSpPr>
          <p:cNvPr id="31" name="Text 29"/>
          <p:cNvSpPr/>
          <p:nvPr/>
        </p:nvSpPr>
        <p:spPr>
          <a:xfrm>
            <a:off x="6592824" y="1426464"/>
            <a:ext cx="2359152" cy="804672"/>
          </a:xfrm>
          <a:prstGeom prst="rect">
            <a:avLst/>
          </a:prstGeom>
          <a:noFill/>
          <a:ln/>
        </p:spPr>
        <p:txBody>
          <a:bodyPr wrap="square" rtlCol="0" anchor="t"/>
          <a:lstStyle/>
          <a:p>
            <a:pPr indent="0" marL="0">
              <a:buNone/>
            </a:pPr>
            <a:r>
              <a:rPr lang="en-US" sz="900" dirty="0">
                <a:solidFill>
                  <a:srgbClr val="334155"/>
                </a:solidFill>
                <a:latin typeface="Roboto" pitchFamily="34" charset="0"/>
                <a:ea typeface="Roboto" pitchFamily="34" charset="-122"/>
                <a:cs typeface="Roboto" pitchFamily="34" charset="-120"/>
              </a:rPr>
              <a:t>Filter agent/{tenant}/* VFS; bind {tenant}:{user} 3LO vault.</a:t>
            </a:r>
            <a:endParaRPr lang="en-US" sz="900" dirty="0"/>
          </a:p>
        </p:txBody>
      </p:sp>
      <p:sp>
        <p:nvSpPr>
          <p:cNvPr id="32" name="Shape 30"/>
          <p:cNvSpPr/>
          <p:nvPr/>
        </p:nvSpPr>
        <p:spPr>
          <a:xfrm>
            <a:off x="9079992" y="1444752"/>
            <a:ext cx="146304" cy="0"/>
          </a:xfrm>
          <a:prstGeom prst="line">
            <a:avLst/>
          </a:prstGeom>
          <a:noFill/>
          <a:ln w="20320">
            <a:solidFill>
              <a:srgbClr val="1A73E8"/>
            </a:solidFill>
            <a:prstDash val="solid"/>
            <a:tailEnd type="arrow" w="sm" len="sm"/>
          </a:ln>
        </p:spPr>
      </p:sp>
      <p:sp>
        <p:nvSpPr>
          <p:cNvPr id="33" name="Shape 31"/>
          <p:cNvSpPr/>
          <p:nvPr/>
        </p:nvSpPr>
        <p:spPr>
          <a:xfrm>
            <a:off x="9226296" y="566928"/>
            <a:ext cx="2615184" cy="1755648"/>
          </a:xfrm>
          <a:prstGeom prst="roundRect">
            <a:avLst>
              <a:gd name="adj" fmla="val 4688"/>
            </a:avLst>
          </a:prstGeom>
          <a:solidFill>
            <a:srgbClr val="FFFFFF"/>
          </a:solidFill>
          <a:ln w="15875">
            <a:solidFill>
              <a:srgbClr val="1E8E3E"/>
            </a:solidFill>
            <a:prstDash val="solid"/>
          </a:ln>
        </p:spPr>
      </p:sp>
      <p:sp>
        <p:nvSpPr>
          <p:cNvPr id="34" name="Shape 32"/>
          <p:cNvSpPr/>
          <p:nvPr/>
        </p:nvSpPr>
        <p:spPr>
          <a:xfrm>
            <a:off x="9354312" y="694944"/>
            <a:ext cx="402336" cy="310896"/>
          </a:xfrm>
          <a:prstGeom prst="roundRect">
            <a:avLst>
              <a:gd name="adj" fmla="val 17647"/>
            </a:avLst>
          </a:prstGeom>
          <a:solidFill>
            <a:srgbClr val="E6F4EA"/>
          </a:solidFill>
          <a:ln/>
        </p:spPr>
      </p:sp>
      <p:sp>
        <p:nvSpPr>
          <p:cNvPr id="35" name="Text 33"/>
          <p:cNvSpPr/>
          <p:nvPr/>
        </p:nvSpPr>
        <p:spPr>
          <a:xfrm>
            <a:off x="9354312" y="694944"/>
            <a:ext cx="402336" cy="310896"/>
          </a:xfrm>
          <a:prstGeom prst="rect">
            <a:avLst/>
          </a:prstGeom>
          <a:noFill/>
          <a:ln/>
        </p:spPr>
        <p:txBody>
          <a:bodyPr wrap="square" rtlCol="0" anchor="ctr"/>
          <a:lstStyle/>
          <a:p>
            <a:pPr algn="ctr" indent="0" marL="0">
              <a:buNone/>
            </a:pPr>
            <a:r>
              <a:rPr lang="en-US" sz="1050" b="1" dirty="0">
                <a:solidFill>
                  <a:srgbClr val="1E8E3E"/>
                </a:solidFill>
                <a:latin typeface="Google Sans Display" pitchFamily="34" charset="0"/>
                <a:ea typeface="Google Sans Display" pitchFamily="34" charset="-122"/>
                <a:cs typeface="Google Sans Display" pitchFamily="34" charset="-120"/>
              </a:rPr>
              <a:t>03</a:t>
            </a:r>
            <a:endParaRPr lang="en-US" sz="1050" dirty="0"/>
          </a:p>
        </p:txBody>
      </p:sp>
      <p:sp>
        <p:nvSpPr>
          <p:cNvPr id="36" name="Text 34"/>
          <p:cNvSpPr/>
          <p:nvPr/>
        </p:nvSpPr>
        <p:spPr>
          <a:xfrm>
            <a:off x="9829800" y="713232"/>
            <a:ext cx="1883664" cy="274320"/>
          </a:xfrm>
          <a:prstGeom prst="rect">
            <a:avLst/>
          </a:prstGeom>
          <a:noFill/>
          <a:ln/>
        </p:spPr>
        <p:txBody>
          <a:bodyPr wrap="square" rtlCol="0" anchor="ctr"/>
          <a:lstStyle/>
          <a:p>
            <a:pPr indent="0" marL="0">
              <a:buNone/>
            </a:pPr>
            <a:r>
              <a:rPr lang="en-US" sz="900" b="1" dirty="0">
                <a:solidFill>
                  <a:srgbClr val="1E8E3E"/>
                </a:solidFill>
                <a:latin typeface="Google Sans" pitchFamily="34" charset="0"/>
                <a:ea typeface="Google Sans" pitchFamily="34" charset="-122"/>
                <a:cs typeface="Google Sans" pitchFamily="34" charset="-120"/>
              </a:rPr>
              <a:t>Hop 3 • ~3ms</a:t>
            </a:r>
            <a:endParaRPr lang="en-US" sz="900" dirty="0"/>
          </a:p>
        </p:txBody>
      </p:sp>
      <p:sp>
        <p:nvSpPr>
          <p:cNvPr id="37" name="Text 35"/>
          <p:cNvSpPr/>
          <p:nvPr/>
        </p:nvSpPr>
        <p:spPr>
          <a:xfrm>
            <a:off x="9354312" y="1078992"/>
            <a:ext cx="2359152" cy="310896"/>
          </a:xfrm>
          <a:prstGeom prst="rect">
            <a:avLst/>
          </a:prstGeom>
          <a:noFill/>
          <a:ln/>
        </p:spPr>
        <p:txBody>
          <a:bodyPr wrap="square" rtlCol="0" anchor="ctr"/>
          <a:lstStyle/>
          <a:p>
            <a:pPr indent="0" marL="0">
              <a:buNone/>
            </a:pPr>
            <a:r>
              <a:rPr lang="en-US" sz="1150" b="1" dirty="0">
                <a:solidFill>
                  <a:srgbClr val="0F172A"/>
                </a:solidFill>
                <a:latin typeface="Google Sans" pitchFamily="34" charset="0"/>
                <a:ea typeface="Google Sans" pitchFamily="34" charset="-122"/>
                <a:cs typeface="Google Sans" pitchFamily="34" charset="-120"/>
              </a:rPr>
              <a:t>Valkey Bulkhead</a:t>
            </a:r>
            <a:endParaRPr lang="en-US" sz="1150" dirty="0"/>
          </a:p>
        </p:txBody>
      </p:sp>
      <p:sp>
        <p:nvSpPr>
          <p:cNvPr id="38" name="Text 36"/>
          <p:cNvSpPr/>
          <p:nvPr/>
        </p:nvSpPr>
        <p:spPr>
          <a:xfrm>
            <a:off x="9354312" y="1426464"/>
            <a:ext cx="2359152" cy="804672"/>
          </a:xfrm>
          <a:prstGeom prst="rect">
            <a:avLst/>
          </a:prstGeom>
          <a:noFill/>
          <a:ln/>
        </p:spPr>
        <p:txBody>
          <a:bodyPr wrap="square" rtlCol="0" anchor="t"/>
          <a:lstStyle/>
          <a:p>
            <a:pPr indent="0" marL="0">
              <a:buNone/>
            </a:pPr>
            <a:r>
              <a:rPr lang="en-US" sz="900" dirty="0">
                <a:solidFill>
                  <a:srgbClr val="334155"/>
                </a:solidFill>
                <a:latin typeface="Roboto" pitchFamily="34" charset="0"/>
                <a:ea typeface="Roboto" pitchFamily="34" charset="-122"/>
                <a:cs typeface="Roboto" pitchFamily="34" charset="-120"/>
              </a:rPr>
              <a:t>Check JTI/CMEK deny-list &amp; RPM bucket; &lt;5s SCAN+UNLINK.</a:t>
            </a:r>
            <a:endParaRPr lang="en-US" sz="900" dirty="0"/>
          </a:p>
        </p:txBody>
      </p:sp>
      <p:sp>
        <p:nvSpPr>
          <p:cNvPr id="39" name="Shape 37"/>
          <p:cNvSpPr/>
          <p:nvPr/>
        </p:nvSpPr>
        <p:spPr>
          <a:xfrm>
            <a:off x="3703320" y="2532888"/>
            <a:ext cx="2615184" cy="1755648"/>
          </a:xfrm>
          <a:prstGeom prst="roundRect">
            <a:avLst>
              <a:gd name="adj" fmla="val 4688"/>
            </a:avLst>
          </a:prstGeom>
          <a:solidFill>
            <a:srgbClr val="FFFFFF"/>
          </a:solidFill>
          <a:ln w="15875">
            <a:solidFill>
              <a:srgbClr val="B06000"/>
            </a:solidFill>
            <a:prstDash val="solid"/>
          </a:ln>
        </p:spPr>
      </p:sp>
      <p:sp>
        <p:nvSpPr>
          <p:cNvPr id="40" name="Shape 38"/>
          <p:cNvSpPr/>
          <p:nvPr/>
        </p:nvSpPr>
        <p:spPr>
          <a:xfrm>
            <a:off x="3831336" y="2660904"/>
            <a:ext cx="402336" cy="310896"/>
          </a:xfrm>
          <a:prstGeom prst="roundRect">
            <a:avLst>
              <a:gd name="adj" fmla="val 17647"/>
            </a:avLst>
          </a:prstGeom>
          <a:solidFill>
            <a:srgbClr val="FEF7E0"/>
          </a:solidFill>
          <a:ln/>
        </p:spPr>
      </p:sp>
      <p:sp>
        <p:nvSpPr>
          <p:cNvPr id="41" name="Text 39"/>
          <p:cNvSpPr/>
          <p:nvPr/>
        </p:nvSpPr>
        <p:spPr>
          <a:xfrm>
            <a:off x="3831336" y="2660904"/>
            <a:ext cx="402336" cy="310896"/>
          </a:xfrm>
          <a:prstGeom prst="rect">
            <a:avLst/>
          </a:prstGeom>
          <a:noFill/>
          <a:ln/>
        </p:spPr>
        <p:txBody>
          <a:bodyPr wrap="square" rtlCol="0" anchor="ctr"/>
          <a:lstStyle/>
          <a:p>
            <a:pPr algn="ctr" indent="0" marL="0">
              <a:buNone/>
            </a:pPr>
            <a:r>
              <a:rPr lang="en-US" sz="1050" b="1" dirty="0">
                <a:solidFill>
                  <a:srgbClr val="B06000"/>
                </a:solidFill>
                <a:latin typeface="Google Sans Display" pitchFamily="34" charset="0"/>
                <a:ea typeface="Google Sans Display" pitchFamily="34" charset="-122"/>
                <a:cs typeface="Google Sans Display" pitchFamily="34" charset="-120"/>
              </a:rPr>
              <a:t>04</a:t>
            </a:r>
            <a:endParaRPr lang="en-US" sz="1050" dirty="0"/>
          </a:p>
        </p:txBody>
      </p:sp>
      <p:sp>
        <p:nvSpPr>
          <p:cNvPr id="42" name="Text 40"/>
          <p:cNvSpPr/>
          <p:nvPr/>
        </p:nvSpPr>
        <p:spPr>
          <a:xfrm>
            <a:off x="4306824" y="2679192"/>
            <a:ext cx="1883664" cy="274320"/>
          </a:xfrm>
          <a:prstGeom prst="rect">
            <a:avLst/>
          </a:prstGeom>
          <a:noFill/>
          <a:ln/>
        </p:spPr>
        <p:txBody>
          <a:bodyPr wrap="square" rtlCol="0" anchor="ctr"/>
          <a:lstStyle/>
          <a:p>
            <a:pPr indent="0" marL="0">
              <a:buNone/>
            </a:pPr>
            <a:r>
              <a:rPr lang="en-US" sz="900" b="1" dirty="0">
                <a:solidFill>
                  <a:srgbClr val="B06000"/>
                </a:solidFill>
                <a:latin typeface="Google Sans" pitchFamily="34" charset="0"/>
                <a:ea typeface="Google Sans" pitchFamily="34" charset="-122"/>
                <a:cs typeface="Google Sans" pitchFamily="34" charset="-120"/>
              </a:rPr>
              <a:t>Hop 4 • ~22ms</a:t>
            </a:r>
            <a:endParaRPr lang="en-US" sz="900" dirty="0"/>
          </a:p>
        </p:txBody>
      </p:sp>
      <p:sp>
        <p:nvSpPr>
          <p:cNvPr id="43" name="Text 41"/>
          <p:cNvSpPr/>
          <p:nvPr/>
        </p:nvSpPr>
        <p:spPr>
          <a:xfrm>
            <a:off x="3831336" y="3044952"/>
            <a:ext cx="2359152" cy="310896"/>
          </a:xfrm>
          <a:prstGeom prst="rect">
            <a:avLst/>
          </a:prstGeom>
          <a:noFill/>
          <a:ln/>
        </p:spPr>
        <p:txBody>
          <a:bodyPr wrap="square" rtlCol="0" anchor="ctr"/>
          <a:lstStyle/>
          <a:p>
            <a:pPr indent="0" marL="0">
              <a:buNone/>
            </a:pPr>
            <a:r>
              <a:rPr lang="en-US" sz="1150" b="1" dirty="0">
                <a:solidFill>
                  <a:srgbClr val="0F172A"/>
                </a:solidFill>
                <a:latin typeface="Google Sans" pitchFamily="34" charset="0"/>
                <a:ea typeface="Google Sans" pitchFamily="34" charset="-122"/>
                <a:cs typeface="Google Sans" pitchFamily="34" charset="-120"/>
              </a:rPr>
              <a:t>Model Armor DLP</a:t>
            </a:r>
            <a:endParaRPr lang="en-US" sz="1150" dirty="0"/>
          </a:p>
        </p:txBody>
      </p:sp>
      <p:sp>
        <p:nvSpPr>
          <p:cNvPr id="44" name="Text 42"/>
          <p:cNvSpPr/>
          <p:nvPr/>
        </p:nvSpPr>
        <p:spPr>
          <a:xfrm>
            <a:off x="3831336" y="3392424"/>
            <a:ext cx="2359152" cy="804672"/>
          </a:xfrm>
          <a:prstGeom prst="rect">
            <a:avLst/>
          </a:prstGeom>
          <a:noFill/>
          <a:ln/>
        </p:spPr>
        <p:txBody>
          <a:bodyPr wrap="square" rtlCol="0" anchor="t"/>
          <a:lstStyle/>
          <a:p>
            <a:pPr indent="0" marL="0">
              <a:buNone/>
            </a:pPr>
            <a:r>
              <a:rPr lang="en-US" sz="900" dirty="0">
                <a:solidFill>
                  <a:srgbClr val="334155"/>
                </a:solidFill>
                <a:latin typeface="Roboto" pitchFamily="34" charset="0"/>
                <a:ea typeface="Roboto" pitchFamily="34" charset="-122"/>
                <a:cs typeface="Roboto" pitchFamily="34" charset="-120"/>
              </a:rPr>
              <a:t>Regional gRPC screen for prompt injection &amp; PII/PHI redaction.</a:t>
            </a:r>
            <a:endParaRPr lang="en-US" sz="900" dirty="0"/>
          </a:p>
        </p:txBody>
      </p:sp>
      <p:sp>
        <p:nvSpPr>
          <p:cNvPr id="45" name="Shape 43"/>
          <p:cNvSpPr/>
          <p:nvPr/>
        </p:nvSpPr>
        <p:spPr>
          <a:xfrm>
            <a:off x="6318504" y="3410712"/>
            <a:ext cx="146304" cy="0"/>
          </a:xfrm>
          <a:prstGeom prst="line">
            <a:avLst/>
          </a:prstGeom>
          <a:noFill/>
          <a:ln w="20320">
            <a:solidFill>
              <a:srgbClr val="1A73E8"/>
            </a:solidFill>
            <a:prstDash val="solid"/>
            <a:tailEnd type="arrow" w="sm" len="sm"/>
          </a:ln>
        </p:spPr>
      </p:sp>
      <p:sp>
        <p:nvSpPr>
          <p:cNvPr id="46" name="Shape 44"/>
          <p:cNvSpPr/>
          <p:nvPr/>
        </p:nvSpPr>
        <p:spPr>
          <a:xfrm>
            <a:off x="6464808" y="2532888"/>
            <a:ext cx="2615184" cy="1755648"/>
          </a:xfrm>
          <a:prstGeom prst="roundRect">
            <a:avLst>
              <a:gd name="adj" fmla="val 4688"/>
            </a:avLst>
          </a:prstGeom>
          <a:solidFill>
            <a:srgbClr val="FFFFFF"/>
          </a:solidFill>
          <a:ln w="15875">
            <a:solidFill>
              <a:srgbClr val="D93025"/>
            </a:solidFill>
            <a:prstDash val="solid"/>
          </a:ln>
        </p:spPr>
      </p:sp>
      <p:sp>
        <p:nvSpPr>
          <p:cNvPr id="47" name="Shape 45"/>
          <p:cNvSpPr/>
          <p:nvPr/>
        </p:nvSpPr>
        <p:spPr>
          <a:xfrm>
            <a:off x="6592824" y="2660904"/>
            <a:ext cx="402336" cy="310896"/>
          </a:xfrm>
          <a:prstGeom prst="roundRect">
            <a:avLst>
              <a:gd name="adj" fmla="val 17647"/>
            </a:avLst>
          </a:prstGeom>
          <a:solidFill>
            <a:srgbClr val="FCE8E6"/>
          </a:solidFill>
          <a:ln/>
        </p:spPr>
      </p:sp>
      <p:sp>
        <p:nvSpPr>
          <p:cNvPr id="48" name="Text 46"/>
          <p:cNvSpPr/>
          <p:nvPr/>
        </p:nvSpPr>
        <p:spPr>
          <a:xfrm>
            <a:off x="6592824" y="2660904"/>
            <a:ext cx="402336" cy="310896"/>
          </a:xfrm>
          <a:prstGeom prst="rect">
            <a:avLst/>
          </a:prstGeom>
          <a:noFill/>
          <a:ln/>
        </p:spPr>
        <p:txBody>
          <a:bodyPr wrap="square" rtlCol="0" anchor="ctr"/>
          <a:lstStyle/>
          <a:p>
            <a:pPr algn="ctr" indent="0" marL="0">
              <a:buNone/>
            </a:pPr>
            <a:r>
              <a:rPr lang="en-US" sz="1050" b="1" dirty="0">
                <a:solidFill>
                  <a:srgbClr val="D93025"/>
                </a:solidFill>
                <a:latin typeface="Google Sans Display" pitchFamily="34" charset="0"/>
                <a:ea typeface="Google Sans Display" pitchFamily="34" charset="-122"/>
                <a:cs typeface="Google Sans Display" pitchFamily="34" charset="-120"/>
              </a:rPr>
              <a:t>05</a:t>
            </a:r>
            <a:endParaRPr lang="en-US" sz="1050" dirty="0"/>
          </a:p>
        </p:txBody>
      </p:sp>
      <p:sp>
        <p:nvSpPr>
          <p:cNvPr id="49" name="Text 47"/>
          <p:cNvSpPr/>
          <p:nvPr/>
        </p:nvSpPr>
        <p:spPr>
          <a:xfrm>
            <a:off x="7068312" y="2679192"/>
            <a:ext cx="1883664" cy="274320"/>
          </a:xfrm>
          <a:prstGeom prst="rect">
            <a:avLst/>
          </a:prstGeom>
          <a:noFill/>
          <a:ln/>
        </p:spPr>
        <p:txBody>
          <a:bodyPr wrap="square" rtlCol="0" anchor="ctr"/>
          <a:lstStyle/>
          <a:p>
            <a:pPr indent="0" marL="0">
              <a:buNone/>
            </a:pPr>
            <a:r>
              <a:rPr lang="en-US" sz="900" b="1" dirty="0">
                <a:solidFill>
                  <a:srgbClr val="D93025"/>
                </a:solidFill>
                <a:latin typeface="Google Sans" pitchFamily="34" charset="0"/>
                <a:ea typeface="Google Sans" pitchFamily="34" charset="-122"/>
                <a:cs typeface="Google Sans" pitchFamily="34" charset="-120"/>
              </a:rPr>
              <a:t>Hop 5 • ~5ms</a:t>
            </a:r>
            <a:endParaRPr lang="en-US" sz="900" dirty="0"/>
          </a:p>
        </p:txBody>
      </p:sp>
      <p:sp>
        <p:nvSpPr>
          <p:cNvPr id="50" name="Text 48"/>
          <p:cNvSpPr/>
          <p:nvPr/>
        </p:nvSpPr>
        <p:spPr>
          <a:xfrm>
            <a:off x="6592824" y="3044952"/>
            <a:ext cx="2359152" cy="310896"/>
          </a:xfrm>
          <a:prstGeom prst="rect">
            <a:avLst/>
          </a:prstGeom>
          <a:noFill/>
          <a:ln/>
        </p:spPr>
        <p:txBody>
          <a:bodyPr wrap="square" rtlCol="0" anchor="ctr"/>
          <a:lstStyle/>
          <a:p>
            <a:pPr indent="0" marL="0">
              <a:buNone/>
            </a:pPr>
            <a:r>
              <a:rPr lang="en-US" sz="1150" b="1" dirty="0">
                <a:solidFill>
                  <a:srgbClr val="0F172A"/>
                </a:solidFill>
                <a:latin typeface="Google Sans" pitchFamily="34" charset="0"/>
                <a:ea typeface="Google Sans" pitchFamily="34" charset="-122"/>
                <a:cs typeface="Google Sans" pitchFamily="34" charset="-120"/>
              </a:rPr>
              <a:t>AlloyDB RLS &amp; LLM</a:t>
            </a:r>
            <a:endParaRPr lang="en-US" sz="1150" dirty="0"/>
          </a:p>
        </p:txBody>
      </p:sp>
      <p:sp>
        <p:nvSpPr>
          <p:cNvPr id="51" name="Text 49"/>
          <p:cNvSpPr/>
          <p:nvPr/>
        </p:nvSpPr>
        <p:spPr>
          <a:xfrm>
            <a:off x="6592824" y="3392424"/>
            <a:ext cx="2359152" cy="804672"/>
          </a:xfrm>
          <a:prstGeom prst="rect">
            <a:avLst/>
          </a:prstGeom>
          <a:noFill/>
          <a:ln/>
        </p:spPr>
        <p:txBody>
          <a:bodyPr wrap="square" rtlCol="0" anchor="t"/>
          <a:lstStyle/>
          <a:p>
            <a:pPr indent="0" marL="0">
              <a:buNone/>
            </a:pPr>
            <a:r>
              <a:rPr lang="en-US" sz="900" dirty="0">
                <a:solidFill>
                  <a:srgbClr val="334155"/>
                </a:solidFill>
                <a:latin typeface="Roboto" pitchFamily="34" charset="0"/>
                <a:ea typeface="Roboto" pitchFamily="34" charset="-122"/>
                <a:cs typeface="Roboto" pitchFamily="34" charset="-120"/>
              </a:rPr>
              <a:t>SET LOCAL tenant_id; invoke Gemini 2.5 Pro or Gemma 3 27B.</a:t>
            </a:r>
            <a:endParaRPr lang="en-US" sz="900" dirty="0"/>
          </a:p>
        </p:txBody>
      </p:sp>
      <p:sp>
        <p:nvSpPr>
          <p:cNvPr id="52" name="Shape 50"/>
          <p:cNvSpPr/>
          <p:nvPr/>
        </p:nvSpPr>
        <p:spPr>
          <a:xfrm>
            <a:off x="9079992" y="3410712"/>
            <a:ext cx="146304" cy="0"/>
          </a:xfrm>
          <a:prstGeom prst="line">
            <a:avLst/>
          </a:prstGeom>
          <a:noFill/>
          <a:ln w="20320">
            <a:solidFill>
              <a:srgbClr val="1A73E8"/>
            </a:solidFill>
            <a:prstDash val="solid"/>
            <a:tailEnd type="arrow" w="sm" len="sm"/>
          </a:ln>
        </p:spPr>
      </p:sp>
      <p:sp>
        <p:nvSpPr>
          <p:cNvPr id="53" name="Shape 51"/>
          <p:cNvSpPr/>
          <p:nvPr/>
        </p:nvSpPr>
        <p:spPr>
          <a:xfrm>
            <a:off x="9226296" y="2532888"/>
            <a:ext cx="2615184" cy="1755648"/>
          </a:xfrm>
          <a:prstGeom prst="roundRect">
            <a:avLst>
              <a:gd name="adj" fmla="val 4688"/>
            </a:avLst>
          </a:prstGeom>
          <a:solidFill>
            <a:srgbClr val="FFFFFF"/>
          </a:solidFill>
          <a:ln w="15875">
            <a:solidFill>
              <a:srgbClr val="1E8E3E"/>
            </a:solidFill>
            <a:prstDash val="solid"/>
          </a:ln>
        </p:spPr>
      </p:sp>
      <p:sp>
        <p:nvSpPr>
          <p:cNvPr id="54" name="Shape 52"/>
          <p:cNvSpPr/>
          <p:nvPr/>
        </p:nvSpPr>
        <p:spPr>
          <a:xfrm>
            <a:off x="9354312" y="2660904"/>
            <a:ext cx="402336" cy="310896"/>
          </a:xfrm>
          <a:prstGeom prst="roundRect">
            <a:avLst>
              <a:gd name="adj" fmla="val 17647"/>
            </a:avLst>
          </a:prstGeom>
          <a:solidFill>
            <a:srgbClr val="E6F4EA"/>
          </a:solidFill>
          <a:ln/>
        </p:spPr>
      </p:sp>
      <p:sp>
        <p:nvSpPr>
          <p:cNvPr id="55" name="Text 53"/>
          <p:cNvSpPr/>
          <p:nvPr/>
        </p:nvSpPr>
        <p:spPr>
          <a:xfrm>
            <a:off x="9354312" y="2660904"/>
            <a:ext cx="402336" cy="310896"/>
          </a:xfrm>
          <a:prstGeom prst="rect">
            <a:avLst/>
          </a:prstGeom>
          <a:noFill/>
          <a:ln/>
        </p:spPr>
        <p:txBody>
          <a:bodyPr wrap="square" rtlCol="0" anchor="ctr"/>
          <a:lstStyle/>
          <a:p>
            <a:pPr algn="ctr" indent="0" marL="0">
              <a:buNone/>
            </a:pPr>
            <a:r>
              <a:rPr lang="en-US" sz="1050" b="1" dirty="0">
                <a:solidFill>
                  <a:srgbClr val="1E8E3E"/>
                </a:solidFill>
                <a:latin typeface="Google Sans Display" pitchFamily="34" charset="0"/>
                <a:ea typeface="Google Sans Display" pitchFamily="34" charset="-122"/>
                <a:cs typeface="Google Sans Display" pitchFamily="34" charset="-120"/>
              </a:rPr>
              <a:t>06</a:t>
            </a:r>
            <a:endParaRPr lang="en-US" sz="1050" dirty="0"/>
          </a:p>
        </p:txBody>
      </p:sp>
      <p:sp>
        <p:nvSpPr>
          <p:cNvPr id="56" name="Text 54"/>
          <p:cNvSpPr/>
          <p:nvPr/>
        </p:nvSpPr>
        <p:spPr>
          <a:xfrm>
            <a:off x="9829800" y="2679192"/>
            <a:ext cx="1883664" cy="274320"/>
          </a:xfrm>
          <a:prstGeom prst="rect">
            <a:avLst/>
          </a:prstGeom>
          <a:noFill/>
          <a:ln/>
        </p:spPr>
        <p:txBody>
          <a:bodyPr wrap="square" rtlCol="0" anchor="ctr"/>
          <a:lstStyle/>
          <a:p>
            <a:pPr indent="0" marL="0">
              <a:buNone/>
            </a:pPr>
            <a:r>
              <a:rPr lang="en-US" sz="900" b="1" dirty="0">
                <a:solidFill>
                  <a:srgbClr val="1E8E3E"/>
                </a:solidFill>
                <a:latin typeface="Google Sans" pitchFamily="34" charset="0"/>
                <a:ea typeface="Google Sans" pitchFamily="34" charset="-122"/>
                <a:cs typeface="Google Sans" pitchFamily="34" charset="-120"/>
              </a:rPr>
              <a:t>Async • 0ms</a:t>
            </a:r>
            <a:endParaRPr lang="en-US" sz="900" dirty="0"/>
          </a:p>
        </p:txBody>
      </p:sp>
      <p:sp>
        <p:nvSpPr>
          <p:cNvPr id="57" name="Text 55"/>
          <p:cNvSpPr/>
          <p:nvPr/>
        </p:nvSpPr>
        <p:spPr>
          <a:xfrm>
            <a:off x="9354312" y="3044952"/>
            <a:ext cx="2359152" cy="310896"/>
          </a:xfrm>
          <a:prstGeom prst="rect">
            <a:avLst/>
          </a:prstGeom>
          <a:noFill/>
          <a:ln/>
        </p:spPr>
        <p:txBody>
          <a:bodyPr wrap="square" rtlCol="0" anchor="ctr"/>
          <a:lstStyle/>
          <a:p>
            <a:pPr indent="0" marL="0">
              <a:buNone/>
            </a:pPr>
            <a:r>
              <a:rPr lang="en-US" sz="1150" b="1" dirty="0">
                <a:solidFill>
                  <a:srgbClr val="0F172A"/>
                </a:solidFill>
                <a:latin typeface="Google Sans" pitchFamily="34" charset="0"/>
                <a:ea typeface="Google Sans" pitchFamily="34" charset="-122"/>
                <a:cs typeface="Google Sans" pitchFamily="34" charset="-120"/>
              </a:rPr>
              <a:t>OTel FinOps Sink</a:t>
            </a:r>
            <a:endParaRPr lang="en-US" sz="1150" dirty="0"/>
          </a:p>
        </p:txBody>
      </p:sp>
      <p:sp>
        <p:nvSpPr>
          <p:cNvPr id="58" name="Text 56"/>
          <p:cNvSpPr/>
          <p:nvPr/>
        </p:nvSpPr>
        <p:spPr>
          <a:xfrm>
            <a:off x="9354312" y="3392424"/>
            <a:ext cx="2359152" cy="804672"/>
          </a:xfrm>
          <a:prstGeom prst="rect">
            <a:avLst/>
          </a:prstGeom>
          <a:noFill/>
          <a:ln/>
        </p:spPr>
        <p:txBody>
          <a:bodyPr wrap="square" rtlCol="0" anchor="t"/>
          <a:lstStyle/>
          <a:p>
            <a:pPr indent="0" marL="0">
              <a:buNone/>
            </a:pPr>
            <a:r>
              <a:rPr lang="en-US" sz="900" dirty="0">
                <a:solidFill>
                  <a:srgbClr val="334155"/>
                </a:solidFill>
                <a:latin typeface="Roboto" pitchFamily="34" charset="0"/>
                <a:ea typeface="Roboto" pitchFamily="34" charset="-122"/>
                <a:cs typeface="Roboto" pitchFamily="34" charset="-120"/>
              </a:rPr>
              <a:t>Stream SHA-256 prompt hash &amp; token counters to BigQuery.</a:t>
            </a:r>
            <a:endParaRPr lang="en-US" sz="900" dirty="0"/>
          </a:p>
        </p:txBody>
      </p:sp>
      <p:sp>
        <p:nvSpPr>
          <p:cNvPr id="59" name="Shape 57"/>
          <p:cNvSpPr/>
          <p:nvPr/>
        </p:nvSpPr>
        <p:spPr>
          <a:xfrm>
            <a:off x="3703320" y="4526280"/>
            <a:ext cx="8138160" cy="1819656"/>
          </a:xfrm>
          <a:prstGeom prst="roundRect">
            <a:avLst>
              <a:gd name="adj" fmla="val 5025"/>
            </a:avLst>
          </a:prstGeom>
          <a:solidFill>
            <a:srgbClr val="FCE8E6"/>
          </a:solidFill>
          <a:ln w="15875">
            <a:solidFill>
              <a:srgbClr val="D93025"/>
            </a:solidFill>
            <a:prstDash val="solid"/>
          </a:ln>
        </p:spPr>
      </p:sp>
      <p:sp>
        <p:nvSpPr>
          <p:cNvPr id="60" name="Text 58"/>
          <p:cNvSpPr/>
          <p:nvPr/>
        </p:nvSpPr>
        <p:spPr>
          <a:xfrm>
            <a:off x="3886200" y="4626864"/>
            <a:ext cx="7772400" cy="256032"/>
          </a:xfrm>
          <a:prstGeom prst="rect">
            <a:avLst/>
          </a:prstGeom>
          <a:noFill/>
          <a:ln/>
        </p:spPr>
        <p:txBody>
          <a:bodyPr wrap="square" rtlCol="0" anchor="ctr"/>
          <a:lstStyle/>
          <a:p>
            <a:pPr indent="0" marL="0">
              <a:buNone/>
            </a:pPr>
            <a:r>
              <a:rPr lang="en-US" sz="920" b="1" dirty="0">
                <a:solidFill>
                  <a:srgbClr val="D93025"/>
                </a:solidFill>
                <a:latin typeface="Google Sans" pitchFamily="34" charset="0"/>
                <a:ea typeface="Google Sans" pitchFamily="34" charset="-122"/>
                <a:cs typeface="Google Sans" pitchFamily="34" charset="-120"/>
              </a:rPr>
              <a:t>DETERMINISTIC FAIL-CLOSED CIRCUIT BREAKERS (ZERO CROSS-TENANT FALLBACK)</a:t>
            </a:r>
            <a:endParaRPr lang="en-US" sz="920" dirty="0"/>
          </a:p>
        </p:txBody>
      </p:sp>
      <p:sp>
        <p:nvSpPr>
          <p:cNvPr id="61" name="Shape 59"/>
          <p:cNvSpPr/>
          <p:nvPr/>
        </p:nvSpPr>
        <p:spPr>
          <a:xfrm>
            <a:off x="3886200" y="4956048"/>
            <a:ext cx="1847088" cy="1261872"/>
          </a:xfrm>
          <a:prstGeom prst="roundRect">
            <a:avLst>
              <a:gd name="adj" fmla="val 5072"/>
            </a:avLst>
          </a:prstGeom>
          <a:solidFill>
            <a:srgbClr val="FFFFFF"/>
          </a:solidFill>
          <a:ln w="11430">
            <a:solidFill>
              <a:srgbClr val="D93025"/>
            </a:solidFill>
            <a:prstDash val="solid"/>
          </a:ln>
        </p:spPr>
      </p:sp>
      <p:sp>
        <p:nvSpPr>
          <p:cNvPr id="62" name="Text 60"/>
          <p:cNvSpPr/>
          <p:nvPr/>
        </p:nvSpPr>
        <p:spPr>
          <a:xfrm>
            <a:off x="3977640" y="5029200"/>
            <a:ext cx="1664208" cy="274320"/>
          </a:xfrm>
          <a:prstGeom prst="rect">
            <a:avLst/>
          </a:prstGeom>
          <a:noFill/>
          <a:ln/>
        </p:spPr>
        <p:txBody>
          <a:bodyPr wrap="square" rtlCol="0" anchor="ctr"/>
          <a:lstStyle/>
          <a:p>
            <a:pPr indent="0" marL="0">
              <a:buNone/>
            </a:pPr>
            <a:r>
              <a:rPr lang="en-US" sz="1050" b="1" dirty="0">
                <a:solidFill>
                  <a:srgbClr val="D93025"/>
                </a:solidFill>
                <a:latin typeface="Google Sans Display" pitchFamily="34" charset="0"/>
                <a:ea typeface="Google Sans Display" pitchFamily="34" charset="-122"/>
                <a:cs typeface="Google Sans Display" pitchFamily="34" charset="-120"/>
              </a:rPr>
              <a:t>HTTP 401/403</a:t>
            </a:r>
            <a:endParaRPr lang="en-US" sz="1050" dirty="0"/>
          </a:p>
        </p:txBody>
      </p:sp>
      <p:sp>
        <p:nvSpPr>
          <p:cNvPr id="63" name="Text 61"/>
          <p:cNvSpPr/>
          <p:nvPr/>
        </p:nvSpPr>
        <p:spPr>
          <a:xfrm>
            <a:off x="3977640" y="5340096"/>
            <a:ext cx="1664208" cy="804672"/>
          </a:xfrm>
          <a:prstGeom prst="rect">
            <a:avLst/>
          </a:prstGeom>
          <a:noFill/>
          <a:ln/>
        </p:spPr>
        <p:txBody>
          <a:bodyPr wrap="square" rtlCol="0" anchor="t"/>
          <a:lstStyle/>
          <a:p>
            <a:pPr indent="0" marL="0">
              <a:buNone/>
            </a:pPr>
            <a:r>
              <a:rPr lang="en-US" sz="830" dirty="0">
                <a:solidFill>
                  <a:srgbClr val="334155"/>
                </a:solidFill>
                <a:latin typeface="Roboto" pitchFamily="34" charset="0"/>
                <a:ea typeface="Roboto" pitchFamily="34" charset="-122"/>
                <a:cs typeface="Roboto" pitchFamily="34" charset="-120"/>
              </a:rPr>
              <a:t>Spoofed header, DPoP mismatch, or ~3ms JTI revoke</a:t>
            </a:r>
            <a:endParaRPr lang="en-US" sz="830" dirty="0"/>
          </a:p>
        </p:txBody>
      </p:sp>
      <p:sp>
        <p:nvSpPr>
          <p:cNvPr id="64" name="Shape 62"/>
          <p:cNvSpPr/>
          <p:nvPr/>
        </p:nvSpPr>
        <p:spPr>
          <a:xfrm>
            <a:off x="5852160" y="4956048"/>
            <a:ext cx="1847088" cy="1261872"/>
          </a:xfrm>
          <a:prstGeom prst="roundRect">
            <a:avLst>
              <a:gd name="adj" fmla="val 5072"/>
            </a:avLst>
          </a:prstGeom>
          <a:solidFill>
            <a:srgbClr val="FFFFFF"/>
          </a:solidFill>
          <a:ln w="11430">
            <a:solidFill>
              <a:srgbClr val="D93025"/>
            </a:solidFill>
            <a:prstDash val="solid"/>
          </a:ln>
        </p:spPr>
      </p:sp>
      <p:sp>
        <p:nvSpPr>
          <p:cNvPr id="65" name="Text 63"/>
          <p:cNvSpPr/>
          <p:nvPr/>
        </p:nvSpPr>
        <p:spPr>
          <a:xfrm>
            <a:off x="5943600" y="5029200"/>
            <a:ext cx="1664208" cy="274320"/>
          </a:xfrm>
          <a:prstGeom prst="rect">
            <a:avLst/>
          </a:prstGeom>
          <a:noFill/>
          <a:ln/>
        </p:spPr>
        <p:txBody>
          <a:bodyPr wrap="square" rtlCol="0" anchor="ctr"/>
          <a:lstStyle/>
          <a:p>
            <a:pPr indent="0" marL="0">
              <a:buNone/>
            </a:pPr>
            <a:r>
              <a:rPr lang="en-US" sz="1050" b="1" dirty="0">
                <a:solidFill>
                  <a:srgbClr val="D93025"/>
                </a:solidFill>
                <a:latin typeface="Google Sans Display" pitchFamily="34" charset="0"/>
                <a:ea typeface="Google Sans Display" pitchFamily="34" charset="-122"/>
                <a:cs typeface="Google Sans Display" pitchFamily="34" charset="-120"/>
              </a:rPr>
              <a:t>HTTP 429</a:t>
            </a:r>
            <a:endParaRPr lang="en-US" sz="1050" dirty="0"/>
          </a:p>
        </p:txBody>
      </p:sp>
      <p:sp>
        <p:nvSpPr>
          <p:cNvPr id="66" name="Text 64"/>
          <p:cNvSpPr/>
          <p:nvPr/>
        </p:nvSpPr>
        <p:spPr>
          <a:xfrm>
            <a:off x="5943600" y="5340096"/>
            <a:ext cx="1664208" cy="804672"/>
          </a:xfrm>
          <a:prstGeom prst="rect">
            <a:avLst/>
          </a:prstGeom>
          <a:noFill/>
          <a:ln/>
        </p:spPr>
        <p:txBody>
          <a:bodyPr wrap="square" rtlCol="0" anchor="t"/>
          <a:lstStyle/>
          <a:p>
            <a:pPr indent="0" marL="0">
              <a:buNone/>
            </a:pPr>
            <a:r>
              <a:rPr lang="en-US" sz="830" dirty="0">
                <a:solidFill>
                  <a:srgbClr val="334155"/>
                </a:solidFill>
                <a:latin typeface="Roboto" pitchFamily="34" charset="0"/>
                <a:ea typeface="Roboto" pitchFamily="34" charset="-122"/>
                <a:cs typeface="Roboto" pitchFamily="34" charset="-120"/>
              </a:rPr>
              <a:t>120/600 RPM quota exceeded + Retry-After jitter</a:t>
            </a:r>
            <a:endParaRPr lang="en-US" sz="830" dirty="0"/>
          </a:p>
        </p:txBody>
      </p:sp>
      <p:sp>
        <p:nvSpPr>
          <p:cNvPr id="67" name="Shape 65"/>
          <p:cNvSpPr/>
          <p:nvPr/>
        </p:nvSpPr>
        <p:spPr>
          <a:xfrm>
            <a:off x="7818120" y="4956048"/>
            <a:ext cx="1847088" cy="1261872"/>
          </a:xfrm>
          <a:prstGeom prst="roundRect">
            <a:avLst>
              <a:gd name="adj" fmla="val 5072"/>
            </a:avLst>
          </a:prstGeom>
          <a:solidFill>
            <a:srgbClr val="FFFFFF"/>
          </a:solidFill>
          <a:ln w="11430">
            <a:solidFill>
              <a:srgbClr val="D93025"/>
            </a:solidFill>
            <a:prstDash val="solid"/>
          </a:ln>
        </p:spPr>
      </p:sp>
      <p:sp>
        <p:nvSpPr>
          <p:cNvPr id="68" name="Text 66"/>
          <p:cNvSpPr/>
          <p:nvPr/>
        </p:nvSpPr>
        <p:spPr>
          <a:xfrm>
            <a:off x="7909560" y="5029200"/>
            <a:ext cx="1664208" cy="274320"/>
          </a:xfrm>
          <a:prstGeom prst="rect">
            <a:avLst/>
          </a:prstGeom>
          <a:noFill/>
          <a:ln/>
        </p:spPr>
        <p:txBody>
          <a:bodyPr wrap="square" rtlCol="0" anchor="ctr"/>
          <a:lstStyle/>
          <a:p>
            <a:pPr indent="0" marL="0">
              <a:buNone/>
            </a:pPr>
            <a:r>
              <a:rPr lang="en-US" sz="1050" b="1" dirty="0">
                <a:solidFill>
                  <a:srgbClr val="D93025"/>
                </a:solidFill>
                <a:latin typeface="Google Sans Display" pitchFamily="34" charset="0"/>
                <a:ea typeface="Google Sans Display" pitchFamily="34" charset="-122"/>
                <a:cs typeface="Google Sans Display" pitchFamily="34" charset="-120"/>
              </a:rPr>
              <a:t>HTTP 422</a:t>
            </a:r>
            <a:endParaRPr lang="en-US" sz="1050" dirty="0"/>
          </a:p>
        </p:txBody>
      </p:sp>
      <p:sp>
        <p:nvSpPr>
          <p:cNvPr id="69" name="Text 67"/>
          <p:cNvSpPr/>
          <p:nvPr/>
        </p:nvSpPr>
        <p:spPr>
          <a:xfrm>
            <a:off x="7909560" y="5340096"/>
            <a:ext cx="1664208" cy="804672"/>
          </a:xfrm>
          <a:prstGeom prst="rect">
            <a:avLst/>
          </a:prstGeom>
          <a:noFill/>
          <a:ln/>
        </p:spPr>
        <p:txBody>
          <a:bodyPr wrap="square" rtlCol="0" anchor="t"/>
          <a:lstStyle/>
          <a:p>
            <a:pPr indent="0" marL="0">
              <a:buNone/>
            </a:pPr>
            <a:r>
              <a:rPr lang="en-US" sz="830" dirty="0">
                <a:solidFill>
                  <a:srgbClr val="334155"/>
                </a:solidFill>
                <a:latin typeface="Roboto" pitchFamily="34" charset="0"/>
                <a:ea typeface="Roboto" pitchFamily="34" charset="-122"/>
                <a:cs typeface="Roboto" pitchFamily="34" charset="-120"/>
              </a:rPr>
              <a:t>Model Armor prompt injection or DLP PII/PHI block</a:t>
            </a:r>
            <a:endParaRPr lang="en-US" sz="830" dirty="0"/>
          </a:p>
        </p:txBody>
      </p:sp>
      <p:sp>
        <p:nvSpPr>
          <p:cNvPr id="70" name="Shape 68"/>
          <p:cNvSpPr/>
          <p:nvPr/>
        </p:nvSpPr>
        <p:spPr>
          <a:xfrm>
            <a:off x="9784080" y="4956048"/>
            <a:ext cx="1847088" cy="1261872"/>
          </a:xfrm>
          <a:prstGeom prst="roundRect">
            <a:avLst>
              <a:gd name="adj" fmla="val 5072"/>
            </a:avLst>
          </a:prstGeom>
          <a:solidFill>
            <a:srgbClr val="FFFFFF"/>
          </a:solidFill>
          <a:ln w="11430">
            <a:solidFill>
              <a:srgbClr val="D93025"/>
            </a:solidFill>
            <a:prstDash val="solid"/>
          </a:ln>
        </p:spPr>
      </p:sp>
      <p:sp>
        <p:nvSpPr>
          <p:cNvPr id="71" name="Text 69"/>
          <p:cNvSpPr/>
          <p:nvPr/>
        </p:nvSpPr>
        <p:spPr>
          <a:xfrm>
            <a:off x="9875520" y="5029200"/>
            <a:ext cx="1664208" cy="274320"/>
          </a:xfrm>
          <a:prstGeom prst="rect">
            <a:avLst/>
          </a:prstGeom>
          <a:noFill/>
          <a:ln/>
        </p:spPr>
        <p:txBody>
          <a:bodyPr wrap="square" rtlCol="0" anchor="ctr"/>
          <a:lstStyle/>
          <a:p>
            <a:pPr indent="0" marL="0">
              <a:buNone/>
            </a:pPr>
            <a:r>
              <a:rPr lang="en-US" sz="1050" b="1" dirty="0">
                <a:solidFill>
                  <a:srgbClr val="D93025"/>
                </a:solidFill>
                <a:latin typeface="Google Sans Display" pitchFamily="34" charset="0"/>
                <a:ea typeface="Google Sans Display" pitchFamily="34" charset="-122"/>
                <a:cs typeface="Google Sans Display" pitchFamily="34" charset="-120"/>
              </a:rPr>
              <a:t>HTTP 423</a:t>
            </a:r>
            <a:endParaRPr lang="en-US" sz="1050" dirty="0"/>
          </a:p>
        </p:txBody>
      </p:sp>
      <p:sp>
        <p:nvSpPr>
          <p:cNvPr id="72" name="Text 70"/>
          <p:cNvSpPr/>
          <p:nvPr/>
        </p:nvSpPr>
        <p:spPr>
          <a:xfrm>
            <a:off x="9875520" y="5340096"/>
            <a:ext cx="1664208" cy="804672"/>
          </a:xfrm>
          <a:prstGeom prst="rect">
            <a:avLst/>
          </a:prstGeom>
          <a:noFill/>
          <a:ln/>
        </p:spPr>
        <p:txBody>
          <a:bodyPr wrap="square" rtlCol="0" anchor="t"/>
          <a:lstStyle/>
          <a:p>
            <a:pPr indent="0" marL="0">
              <a:buNone/>
            </a:pPr>
            <a:r>
              <a:rPr lang="en-US" sz="830" dirty="0">
                <a:solidFill>
                  <a:srgbClr val="334155"/>
                </a:solidFill>
                <a:latin typeface="Roboto" pitchFamily="34" charset="0"/>
                <a:ea typeface="Roboto" pitchFamily="34" charset="-122"/>
                <a:cs typeface="Roboto" pitchFamily="34" charset="-120"/>
              </a:rPr>
              <a:t>CMEK key revoked + &lt;5s Valkey SCAN+UNLINK purge</a:t>
            </a:r>
            <a:endParaRPr lang="en-US" sz="8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1723644"/>
          </a:xfrm>
          <a:prstGeom prst="rect">
            <a:avLst/>
          </a:prstGeom>
          <a:solidFill>
            <a:srgbClr val="1A73E8"/>
          </a:solidFill>
          <a:ln/>
        </p:spPr>
      </p:sp>
      <p:sp>
        <p:nvSpPr>
          <p:cNvPr id="3" name="Shape 1"/>
          <p:cNvSpPr/>
          <p:nvPr/>
        </p:nvSpPr>
        <p:spPr>
          <a:xfrm>
            <a:off x="0" y="1714500"/>
            <a:ext cx="73152" cy="1723644"/>
          </a:xfrm>
          <a:prstGeom prst="rect">
            <a:avLst/>
          </a:prstGeom>
          <a:solidFill>
            <a:srgbClr val="D93025"/>
          </a:solidFill>
          <a:ln/>
        </p:spPr>
      </p:sp>
      <p:sp>
        <p:nvSpPr>
          <p:cNvPr id="4" name="Shape 2"/>
          <p:cNvSpPr/>
          <p:nvPr/>
        </p:nvSpPr>
        <p:spPr>
          <a:xfrm>
            <a:off x="0" y="3429000"/>
            <a:ext cx="73152" cy="1723644"/>
          </a:xfrm>
          <a:prstGeom prst="rect">
            <a:avLst/>
          </a:prstGeom>
          <a:solidFill>
            <a:srgbClr val="F9AB00"/>
          </a:solidFill>
          <a:ln/>
        </p:spPr>
      </p:sp>
      <p:sp>
        <p:nvSpPr>
          <p:cNvPr id="5" name="Shape 3"/>
          <p:cNvSpPr/>
          <p:nvPr/>
        </p:nvSpPr>
        <p:spPr>
          <a:xfrm>
            <a:off x="0" y="5143500"/>
            <a:ext cx="73152" cy="1723644"/>
          </a:xfrm>
          <a:prstGeom prst="rect">
            <a:avLst/>
          </a:prstGeom>
          <a:solidFill>
            <a:srgbClr val="1E8E3E"/>
          </a:solidFill>
          <a:ln/>
        </p:spPr>
      </p:sp>
      <p:sp>
        <p:nvSpPr>
          <p:cNvPr id="6" name="Text 4"/>
          <p:cNvSpPr/>
          <p:nvPr/>
        </p:nvSpPr>
        <p:spPr>
          <a:xfrm>
            <a:off x="347472" y="201168"/>
            <a:ext cx="9875520" cy="237744"/>
          </a:xfrm>
          <a:prstGeom prst="rect">
            <a:avLst/>
          </a:prstGeom>
          <a:noFill/>
          <a:ln/>
        </p:spPr>
        <p:txBody>
          <a:bodyPr wrap="square" rtlCol="0" anchor="ctr"/>
          <a:lstStyle/>
          <a:p>
            <a:pPr indent="0" marL="0">
              <a:buNone/>
            </a:pPr>
            <a:r>
              <a:rPr lang="en-US" sz="850" b="1" dirty="0">
                <a:solidFill>
                  <a:srgbClr val="1A73E8"/>
                </a:solidFill>
                <a:latin typeface="Google Sans" pitchFamily="34" charset="0"/>
                <a:ea typeface="Google Sans" pitchFamily="34" charset="-122"/>
                <a:cs typeface="Google Sans" pitchFamily="34" charset="-120"/>
              </a:rPr>
              <a:t>GOOGLE CLOUD ARCHITECTURE CENTER  </a:t>
            </a:r>
            <a:pPr indent="0" marL="0">
              <a:buNone/>
            </a:pPr>
            <a:r>
              <a:rPr lang="en-US" sz="850" dirty="0">
                <a:solidFill>
                  <a:srgbClr val="64748B"/>
                </a:solidFill>
                <a:latin typeface="Google Sans" pitchFamily="34" charset="0"/>
                <a:ea typeface="Google Sans" pitchFamily="34" charset="-122"/>
                <a:cs typeface="Google Sans" pitchFamily="34" charset="-120"/>
              </a:rPr>
              <a:t>/  ACT II • LOGICAL ARCHITECTURE (L1)  /  3-Layer Logical Security &amp; Trust Boundary Taxonomy</a:t>
            </a:r>
            <a:endParaRPr lang="en-US" sz="850" dirty="0"/>
          </a:p>
        </p:txBody>
      </p:sp>
      <p:sp>
        <p:nvSpPr>
          <p:cNvPr id="7" name="Shape 5"/>
          <p:cNvSpPr/>
          <p:nvPr/>
        </p:nvSpPr>
        <p:spPr>
          <a:xfrm>
            <a:off x="10835640" y="182880"/>
            <a:ext cx="1005840" cy="256032"/>
          </a:xfrm>
          <a:prstGeom prst="roundRect">
            <a:avLst>
              <a:gd name="adj" fmla="val 50000"/>
            </a:avLst>
          </a:prstGeom>
          <a:solidFill>
            <a:srgbClr val="FFFFFF"/>
          </a:solidFill>
          <a:ln w="9525">
            <a:solidFill>
              <a:srgbClr val="E2E8F0"/>
            </a:solidFill>
            <a:prstDash val="solid"/>
          </a:ln>
        </p:spPr>
      </p:sp>
      <p:sp>
        <p:nvSpPr>
          <p:cNvPr id="8" name="Text 6"/>
          <p:cNvSpPr/>
          <p:nvPr/>
        </p:nvSpPr>
        <p:spPr>
          <a:xfrm>
            <a:off x="10835640" y="182880"/>
            <a:ext cx="1005840" cy="256032"/>
          </a:xfrm>
          <a:prstGeom prst="rect">
            <a:avLst/>
          </a:prstGeom>
          <a:noFill/>
          <a:ln/>
        </p:spPr>
        <p:txBody>
          <a:bodyPr wrap="square" rtlCol="0" anchor="ctr"/>
          <a:lstStyle/>
          <a:p>
            <a:pPr algn="ctr" indent="0" marL="0">
              <a:buNone/>
            </a:pPr>
            <a:r>
              <a:rPr lang="en-US" sz="850" b="1" dirty="0">
                <a:solidFill>
                  <a:srgbClr val="334155"/>
                </a:solidFill>
                <a:latin typeface="Google Sans" pitchFamily="34" charset="0"/>
                <a:ea typeface="Google Sans" pitchFamily="34" charset="-122"/>
                <a:cs typeface="Google Sans" pitchFamily="34" charset="-120"/>
              </a:rPr>
              <a:t>05 / 14</a:t>
            </a:r>
            <a:endParaRPr lang="en-US" sz="850" dirty="0"/>
          </a:p>
        </p:txBody>
      </p:sp>
      <p:sp>
        <p:nvSpPr>
          <p:cNvPr id="9" name="Shape 7"/>
          <p:cNvSpPr/>
          <p:nvPr/>
        </p:nvSpPr>
        <p:spPr>
          <a:xfrm>
            <a:off x="347472" y="6510528"/>
            <a:ext cx="11494008" cy="0"/>
          </a:xfrm>
          <a:prstGeom prst="line">
            <a:avLst/>
          </a:prstGeom>
          <a:noFill/>
          <a:ln w="9525">
            <a:solidFill>
              <a:srgbClr val="E2E8F0"/>
            </a:solidFill>
            <a:prstDash val="solid"/>
          </a:ln>
        </p:spPr>
      </p:sp>
      <p:sp>
        <p:nvSpPr>
          <p:cNvPr id="10" name="Text 8"/>
          <p:cNvSpPr/>
          <p:nvPr/>
        </p:nvSpPr>
        <p:spPr>
          <a:xfrm>
            <a:off x="347472" y="6556248"/>
            <a:ext cx="11494008" cy="219456"/>
          </a:xfrm>
          <a:prstGeom prst="rect">
            <a:avLst/>
          </a:prstGeom>
          <a:noFill/>
          <a:ln/>
        </p:spPr>
        <p:txBody>
          <a:bodyPr wrap="square" rtlCol="0" anchor="ctr"/>
          <a:lstStyle/>
          <a:p>
            <a:pPr indent="0" marL="0">
              <a:buNone/>
            </a:pPr>
            <a:r>
              <a:rPr lang="en-US" sz="780" dirty="0">
                <a:solidFill>
                  <a:srgbClr val="64748B"/>
                </a:solidFill>
                <a:latin typeface="Roboto" pitchFamily="34" charset="0"/>
                <a:ea typeface="Roboto" pitchFamily="34" charset="-122"/>
                <a:cs typeface="Roboto" pitchFamily="34" charset="-120"/>
              </a:rPr>
              <a:t>Multi-Tenant Agentic AI on Google Cloud  •  Blog 1 Executive Edition  •  Verified on GCP (#248990048888, #48439189383) &amp; AWS (#393036065405)</a:t>
            </a:r>
            <a:endParaRPr lang="en-US" sz="780" dirty="0"/>
          </a:p>
        </p:txBody>
      </p:sp>
      <p:sp>
        <p:nvSpPr>
          <p:cNvPr id="11" name="Shape 9"/>
          <p:cNvSpPr/>
          <p:nvPr/>
        </p:nvSpPr>
        <p:spPr>
          <a:xfrm>
            <a:off x="347472" y="566928"/>
            <a:ext cx="3154680" cy="5779008"/>
          </a:xfrm>
          <a:prstGeom prst="roundRect">
            <a:avLst>
              <a:gd name="adj" fmla="val 2899"/>
            </a:avLst>
          </a:prstGeom>
          <a:solidFill>
            <a:srgbClr val="FFFFFF"/>
          </a:solidFill>
          <a:ln w="12700">
            <a:solidFill>
              <a:srgbClr val="E2E8F0"/>
            </a:solidFill>
            <a:prstDash val="solid"/>
          </a:ln>
        </p:spPr>
      </p:sp>
      <p:sp>
        <p:nvSpPr>
          <p:cNvPr id="12" name="Shape 10"/>
          <p:cNvSpPr/>
          <p:nvPr/>
        </p:nvSpPr>
        <p:spPr>
          <a:xfrm>
            <a:off x="530352" y="768096"/>
            <a:ext cx="1691640" cy="256032"/>
          </a:xfrm>
          <a:prstGeom prst="roundRect">
            <a:avLst>
              <a:gd name="adj" fmla="val 28571"/>
            </a:avLst>
          </a:prstGeom>
          <a:solidFill>
            <a:srgbClr val="E8F0FE"/>
          </a:solidFill>
          <a:ln/>
        </p:spPr>
      </p:sp>
      <p:sp>
        <p:nvSpPr>
          <p:cNvPr id="13" name="Text 11"/>
          <p:cNvSpPr/>
          <p:nvPr/>
        </p:nvSpPr>
        <p:spPr>
          <a:xfrm>
            <a:off x="530352" y="768096"/>
            <a:ext cx="1691640" cy="256032"/>
          </a:xfrm>
          <a:prstGeom prst="rect">
            <a:avLst/>
          </a:prstGeom>
          <a:noFill/>
          <a:ln/>
        </p:spPr>
        <p:txBody>
          <a:bodyPr wrap="square" rtlCol="0" anchor="ctr"/>
          <a:lstStyle/>
          <a:p>
            <a:pPr algn="ctr" indent="0" marL="0">
              <a:buNone/>
            </a:pPr>
            <a:r>
              <a:rPr lang="en-US" sz="800" b="1" dirty="0">
                <a:solidFill>
                  <a:srgbClr val="1A73E8"/>
                </a:solidFill>
                <a:latin typeface="Google Sans" pitchFamily="34" charset="0"/>
                <a:ea typeface="Google Sans" pitchFamily="34" charset="-122"/>
                <a:cs typeface="Google Sans" pitchFamily="34" charset="-120"/>
              </a:rPr>
              <a:t>L1 LOGICAL VIEW</a:t>
            </a:r>
            <a:endParaRPr lang="en-US" sz="800" dirty="0"/>
          </a:p>
        </p:txBody>
      </p:sp>
      <p:sp>
        <p:nvSpPr>
          <p:cNvPr id="14" name="Text 12"/>
          <p:cNvSpPr/>
          <p:nvPr/>
        </p:nvSpPr>
        <p:spPr>
          <a:xfrm>
            <a:off x="530352" y="1133856"/>
            <a:ext cx="2788920" cy="1325880"/>
          </a:xfrm>
          <a:prstGeom prst="rect">
            <a:avLst/>
          </a:prstGeom>
          <a:noFill/>
          <a:ln/>
        </p:spPr>
        <p:txBody>
          <a:bodyPr wrap="square" rtlCol="0" anchor="t"/>
          <a:lstStyle/>
          <a:p>
            <a:pPr indent="0" marL="0">
              <a:buNone/>
            </a:pPr>
            <a:r>
              <a:rPr lang="en-US" sz="1750" b="1" dirty="0">
                <a:solidFill>
                  <a:srgbClr val="0F172A"/>
                </a:solidFill>
                <a:latin typeface="Google Sans Display" pitchFamily="34" charset="0"/>
                <a:ea typeface="Google Sans Display" pitchFamily="34" charset="-122"/>
                <a:cs typeface="Google Sans Display" pitchFamily="34" charset="-120"/>
              </a:rPr>
              <a:t>Separating Logical Layers from Physical Perimeters</a:t>
            </a:r>
            <a:endParaRPr lang="en-US" sz="1750" dirty="0"/>
          </a:p>
        </p:txBody>
      </p:sp>
      <p:sp>
        <p:nvSpPr>
          <p:cNvPr id="15" name="Text 13"/>
          <p:cNvSpPr/>
          <p:nvPr/>
        </p:nvSpPr>
        <p:spPr>
          <a:xfrm>
            <a:off x="530352" y="2542032"/>
            <a:ext cx="2788920" cy="2148840"/>
          </a:xfrm>
          <a:prstGeom prst="rect">
            <a:avLst/>
          </a:prstGeom>
          <a:noFill/>
          <a:ln/>
        </p:spPr>
        <p:txBody>
          <a:bodyPr wrap="square" rtlCol="0" anchor="t"/>
          <a:lstStyle/>
          <a:p>
            <a:pPr indent="0" marL="0">
              <a:buNone/>
            </a:pPr>
            <a:r>
              <a:rPr lang="en-US" sz="1000" dirty="0">
                <a:solidFill>
                  <a:srgbClr val="334155"/>
                </a:solidFill>
                <a:latin typeface="Roboto" pitchFamily="34" charset="0"/>
                <a:ea typeface="Roboto" pitchFamily="34" charset="-122"/>
                <a:cs typeface="Roboto" pitchFamily="34" charset="-120"/>
              </a:rPr>
              <a:t>Before mapping cloud services, Layer 1 verifies caller identity, Layer 2 executes the 5-Hop ADK control plane, and Layer 3 enforces tenant isolation across Pooled, Silo, and Hybrid data planes.</a:t>
            </a:r>
            <a:endParaRPr lang="en-US" sz="1000" dirty="0"/>
          </a:p>
        </p:txBody>
      </p:sp>
      <p:sp>
        <p:nvSpPr>
          <p:cNvPr id="16" name="Shape 14"/>
          <p:cNvSpPr/>
          <p:nvPr/>
        </p:nvSpPr>
        <p:spPr>
          <a:xfrm>
            <a:off x="530352" y="4846320"/>
            <a:ext cx="2788920" cy="1298448"/>
          </a:xfrm>
          <a:prstGeom prst="roundRect">
            <a:avLst>
              <a:gd name="adj" fmla="val 5634"/>
            </a:avLst>
          </a:prstGeom>
          <a:solidFill>
            <a:srgbClr val="E8F0FE"/>
          </a:solidFill>
          <a:ln w="12700">
            <a:solidFill>
              <a:srgbClr val="1A73E8"/>
            </a:solidFill>
            <a:prstDash val="solid"/>
          </a:ln>
        </p:spPr>
      </p:sp>
      <p:sp>
        <p:nvSpPr>
          <p:cNvPr id="17" name="Text 15"/>
          <p:cNvSpPr/>
          <p:nvPr/>
        </p:nvSpPr>
        <p:spPr>
          <a:xfrm>
            <a:off x="658368" y="4956048"/>
            <a:ext cx="2532888" cy="566928"/>
          </a:xfrm>
          <a:prstGeom prst="rect">
            <a:avLst/>
          </a:prstGeom>
          <a:noFill/>
          <a:ln/>
        </p:spPr>
        <p:txBody>
          <a:bodyPr wrap="square" rtlCol="0" anchor="ctr"/>
          <a:lstStyle/>
          <a:p>
            <a:pPr indent="0" marL="0">
              <a:buNone/>
            </a:pPr>
            <a:r>
              <a:rPr lang="en-US" sz="2800" b="1" dirty="0">
                <a:solidFill>
                  <a:srgbClr val="1A73E8"/>
                </a:solidFill>
                <a:latin typeface="Google Sans Display" pitchFamily="34" charset="0"/>
                <a:ea typeface="Google Sans Display" pitchFamily="34" charset="-122"/>
                <a:cs typeface="Google Sans Display" pitchFamily="34" charset="-120"/>
              </a:rPr>
              <a:t>&lt;0.15ms</a:t>
            </a:r>
            <a:endParaRPr lang="en-US" sz="2800" dirty="0"/>
          </a:p>
        </p:txBody>
      </p:sp>
      <p:sp>
        <p:nvSpPr>
          <p:cNvPr id="18" name="Text 16"/>
          <p:cNvSpPr/>
          <p:nvPr/>
        </p:nvSpPr>
        <p:spPr>
          <a:xfrm>
            <a:off x="658368" y="5559552"/>
            <a:ext cx="2532888" cy="475488"/>
          </a:xfrm>
          <a:prstGeom prst="rect">
            <a:avLst/>
          </a:prstGeom>
          <a:noFill/>
          <a:ln/>
        </p:spPr>
        <p:txBody>
          <a:bodyPr wrap="square" rtlCol="0" anchor="ctr"/>
          <a:lstStyle/>
          <a:p>
            <a:pPr indent="0" marL="0">
              <a:buNone/>
            </a:pPr>
            <a:r>
              <a:rPr lang="en-US" sz="880" b="1" dirty="0">
                <a:solidFill>
                  <a:srgbClr val="0F172A"/>
                </a:solidFill>
                <a:latin typeface="Roboto" pitchFamily="34" charset="0"/>
                <a:ea typeface="Roboto" pitchFamily="34" charset="-122"/>
                <a:cs typeface="Roboto" pitchFamily="34" charset="-120"/>
              </a:rPr>
              <a:t>Cached-JWKS STS JWT Verification per Hop</a:t>
            </a:r>
            <a:endParaRPr lang="en-US" sz="880" dirty="0"/>
          </a:p>
        </p:txBody>
      </p:sp>
      <p:sp>
        <p:nvSpPr>
          <p:cNvPr id="19" name="Shape 17"/>
          <p:cNvSpPr/>
          <p:nvPr/>
        </p:nvSpPr>
        <p:spPr>
          <a:xfrm>
            <a:off x="3703320" y="566928"/>
            <a:ext cx="2560320" cy="5779008"/>
          </a:xfrm>
          <a:prstGeom prst="roundRect">
            <a:avLst>
              <a:gd name="adj" fmla="val 3571"/>
            </a:avLst>
          </a:prstGeom>
          <a:solidFill>
            <a:srgbClr val="FFFFFF"/>
          </a:solidFill>
          <a:ln w="17145">
            <a:solidFill>
              <a:srgbClr val="1A73E8"/>
            </a:solidFill>
            <a:prstDash val="solid"/>
          </a:ln>
        </p:spPr>
      </p:sp>
      <p:sp>
        <p:nvSpPr>
          <p:cNvPr id="20" name="Shape 18"/>
          <p:cNvSpPr/>
          <p:nvPr/>
        </p:nvSpPr>
        <p:spPr>
          <a:xfrm>
            <a:off x="3703320" y="566928"/>
            <a:ext cx="2560320" cy="621792"/>
          </a:xfrm>
          <a:prstGeom prst="rect">
            <a:avLst/>
          </a:prstGeom>
          <a:solidFill>
            <a:srgbClr val="E8F0FE"/>
          </a:solidFill>
          <a:ln/>
        </p:spPr>
      </p:sp>
      <p:sp>
        <p:nvSpPr>
          <p:cNvPr id="21" name="Text 19"/>
          <p:cNvSpPr/>
          <p:nvPr/>
        </p:nvSpPr>
        <p:spPr>
          <a:xfrm>
            <a:off x="3831336" y="621792"/>
            <a:ext cx="2304288" cy="274320"/>
          </a:xfrm>
          <a:prstGeom prst="rect">
            <a:avLst/>
          </a:prstGeom>
          <a:noFill/>
          <a:ln/>
        </p:spPr>
        <p:txBody>
          <a:bodyPr wrap="square" rtlCol="0" anchor="ctr"/>
          <a:lstStyle/>
          <a:p>
            <a:pPr indent="0" marL="0">
              <a:buNone/>
            </a:pPr>
            <a:r>
              <a:rPr lang="en-US" sz="1050" b="1" dirty="0">
                <a:solidFill>
                  <a:srgbClr val="0F172A"/>
                </a:solidFill>
                <a:latin typeface="Google Sans" pitchFamily="34" charset="0"/>
                <a:ea typeface="Google Sans" pitchFamily="34" charset="-122"/>
                <a:cs typeface="Google Sans" pitchFamily="34" charset="-120"/>
              </a:rPr>
              <a:t>Layer 1 • Edge &amp; Identity</a:t>
            </a:r>
            <a:endParaRPr lang="en-US" sz="1050" dirty="0"/>
          </a:p>
        </p:txBody>
      </p:sp>
      <p:sp>
        <p:nvSpPr>
          <p:cNvPr id="22" name="Text 20"/>
          <p:cNvSpPr/>
          <p:nvPr/>
        </p:nvSpPr>
        <p:spPr>
          <a:xfrm>
            <a:off x="3831336" y="896112"/>
            <a:ext cx="2304288" cy="219456"/>
          </a:xfrm>
          <a:prstGeom prst="rect">
            <a:avLst/>
          </a:prstGeom>
          <a:noFill/>
          <a:ln/>
        </p:spPr>
        <p:txBody>
          <a:bodyPr wrap="square" rtlCol="0" anchor="ctr"/>
          <a:lstStyle/>
          <a:p>
            <a:pPr indent="0" marL="0">
              <a:buNone/>
            </a:pPr>
            <a:r>
              <a:rPr lang="en-US" sz="850" b="1" dirty="0">
                <a:solidFill>
                  <a:srgbClr val="1A73E8"/>
                </a:solidFill>
                <a:latin typeface="Roboto" pitchFamily="34" charset="0"/>
                <a:ea typeface="Roboto" pitchFamily="34" charset="-122"/>
                <a:cs typeface="Roboto" pitchFamily="34" charset="-120"/>
              </a:rPr>
              <a:t>Untrusted -&gt; Verified Caller</a:t>
            </a:r>
            <a:endParaRPr lang="en-US" sz="850" dirty="0"/>
          </a:p>
        </p:txBody>
      </p:sp>
      <p:sp>
        <p:nvSpPr>
          <p:cNvPr id="23" name="Shape 21"/>
          <p:cNvSpPr/>
          <p:nvPr/>
        </p:nvSpPr>
        <p:spPr>
          <a:xfrm>
            <a:off x="3831336" y="1353312"/>
            <a:ext cx="2304288" cy="1042416"/>
          </a:xfrm>
          <a:prstGeom prst="roundRect">
            <a:avLst>
              <a:gd name="adj" fmla="val 6140"/>
            </a:avLst>
          </a:prstGeom>
          <a:solidFill>
            <a:srgbClr val="F8FAFC"/>
          </a:solidFill>
          <a:ln w="10795">
            <a:solidFill>
              <a:srgbClr val="E2E8F0"/>
            </a:solidFill>
            <a:prstDash val="solid"/>
          </a:ln>
        </p:spPr>
      </p:sp>
      <p:sp>
        <p:nvSpPr>
          <p:cNvPr id="24" name="Text 22"/>
          <p:cNvSpPr/>
          <p:nvPr/>
        </p:nvSpPr>
        <p:spPr>
          <a:xfrm>
            <a:off x="3922776" y="1444752"/>
            <a:ext cx="2121408" cy="859536"/>
          </a:xfrm>
          <a:prstGeom prst="rect">
            <a:avLst/>
          </a:prstGeom>
          <a:noFill/>
          <a:ln/>
        </p:spPr>
        <p:txBody>
          <a:bodyPr wrap="square" rtlCol="0" anchor="ctr"/>
          <a:lstStyle/>
          <a:p>
            <a:pPr indent="0" marL="0">
              <a:buNone/>
            </a:pPr>
            <a:r>
              <a:rPr lang="en-US" sz="880" dirty="0">
                <a:solidFill>
                  <a:srgbClr val="334155"/>
                </a:solidFill>
                <a:latin typeface="Roboto" pitchFamily="34" charset="0"/>
                <a:ea typeface="Roboto" pitchFamily="34" charset="-122"/>
                <a:cs typeface="Roboto" pitchFamily="34" charset="-120"/>
              </a:rPr>
              <a:t>Cloud Armor L7 WAF strips spoofed X-Tenant-Id headers</a:t>
            </a:r>
            <a:endParaRPr lang="en-US" sz="880" dirty="0"/>
          </a:p>
        </p:txBody>
      </p:sp>
      <p:sp>
        <p:nvSpPr>
          <p:cNvPr id="25" name="Shape 23"/>
          <p:cNvSpPr/>
          <p:nvPr/>
        </p:nvSpPr>
        <p:spPr>
          <a:xfrm>
            <a:off x="3831336" y="2560320"/>
            <a:ext cx="2304288" cy="1042416"/>
          </a:xfrm>
          <a:prstGeom prst="roundRect">
            <a:avLst>
              <a:gd name="adj" fmla="val 6140"/>
            </a:avLst>
          </a:prstGeom>
          <a:solidFill>
            <a:srgbClr val="F8FAFC"/>
          </a:solidFill>
          <a:ln w="10795">
            <a:solidFill>
              <a:srgbClr val="E2E8F0"/>
            </a:solidFill>
            <a:prstDash val="solid"/>
          </a:ln>
        </p:spPr>
      </p:sp>
      <p:sp>
        <p:nvSpPr>
          <p:cNvPr id="26" name="Text 24"/>
          <p:cNvSpPr/>
          <p:nvPr/>
        </p:nvSpPr>
        <p:spPr>
          <a:xfrm>
            <a:off x="3922776" y="2651760"/>
            <a:ext cx="2121408" cy="859536"/>
          </a:xfrm>
          <a:prstGeom prst="rect">
            <a:avLst/>
          </a:prstGeom>
          <a:noFill/>
          <a:ln/>
        </p:spPr>
        <p:txBody>
          <a:bodyPr wrap="square" rtlCol="0" anchor="ctr"/>
          <a:lstStyle/>
          <a:p>
            <a:pPr indent="0" marL="0">
              <a:buNone/>
            </a:pPr>
            <a:r>
              <a:rPr lang="en-US" sz="880" dirty="0">
                <a:solidFill>
                  <a:srgbClr val="334155"/>
                </a:solidFill>
                <a:latin typeface="Roboto" pitchFamily="34" charset="0"/>
                <a:ea typeface="Roboto" pitchFamily="34" charset="-122"/>
                <a:cs typeface="Roboto" pitchFamily="34" charset="-120"/>
              </a:rPr>
              <a:t>IAP OIDC + Microsoft Entra ID federation</a:t>
            </a:r>
            <a:endParaRPr lang="en-US" sz="880" dirty="0"/>
          </a:p>
        </p:txBody>
      </p:sp>
      <p:sp>
        <p:nvSpPr>
          <p:cNvPr id="27" name="Shape 25"/>
          <p:cNvSpPr/>
          <p:nvPr/>
        </p:nvSpPr>
        <p:spPr>
          <a:xfrm>
            <a:off x="3831336" y="3767328"/>
            <a:ext cx="2304288" cy="1042416"/>
          </a:xfrm>
          <a:prstGeom prst="roundRect">
            <a:avLst>
              <a:gd name="adj" fmla="val 6140"/>
            </a:avLst>
          </a:prstGeom>
          <a:solidFill>
            <a:srgbClr val="F8FAFC"/>
          </a:solidFill>
          <a:ln w="10795">
            <a:solidFill>
              <a:srgbClr val="E2E8F0"/>
            </a:solidFill>
            <a:prstDash val="solid"/>
          </a:ln>
        </p:spPr>
      </p:sp>
      <p:sp>
        <p:nvSpPr>
          <p:cNvPr id="28" name="Text 26"/>
          <p:cNvSpPr/>
          <p:nvPr/>
        </p:nvSpPr>
        <p:spPr>
          <a:xfrm>
            <a:off x="3922776" y="3858768"/>
            <a:ext cx="2121408" cy="859536"/>
          </a:xfrm>
          <a:prstGeom prst="rect">
            <a:avLst/>
          </a:prstGeom>
          <a:noFill/>
          <a:ln/>
        </p:spPr>
        <p:txBody>
          <a:bodyPr wrap="square" rtlCol="0" anchor="ctr"/>
          <a:lstStyle/>
          <a:p>
            <a:pPr indent="0" marL="0">
              <a:buNone/>
            </a:pPr>
            <a:r>
              <a:rPr lang="en-US" sz="880" dirty="0">
                <a:solidFill>
                  <a:srgbClr val="334155"/>
                </a:solidFill>
                <a:latin typeface="Roboto" pitchFamily="34" charset="0"/>
                <a:ea typeface="Roboto" pitchFamily="34" charset="-122"/>
                <a:cs typeface="Roboto" pitchFamily="34" charset="-120"/>
              </a:rPr>
              <a:t>RFC 8693 Token Exchange + RFC 9449 DPoP proof binding</a:t>
            </a:r>
            <a:endParaRPr lang="en-US" sz="880" dirty="0"/>
          </a:p>
        </p:txBody>
      </p:sp>
      <p:sp>
        <p:nvSpPr>
          <p:cNvPr id="29" name="Shape 27"/>
          <p:cNvSpPr/>
          <p:nvPr/>
        </p:nvSpPr>
        <p:spPr>
          <a:xfrm>
            <a:off x="3831336" y="4974336"/>
            <a:ext cx="2304288" cy="1042416"/>
          </a:xfrm>
          <a:prstGeom prst="roundRect">
            <a:avLst>
              <a:gd name="adj" fmla="val 6140"/>
            </a:avLst>
          </a:prstGeom>
          <a:solidFill>
            <a:srgbClr val="F8FAFC"/>
          </a:solidFill>
          <a:ln w="10795">
            <a:solidFill>
              <a:srgbClr val="E2E8F0"/>
            </a:solidFill>
            <a:prstDash val="solid"/>
          </a:ln>
        </p:spPr>
      </p:sp>
      <p:sp>
        <p:nvSpPr>
          <p:cNvPr id="30" name="Text 28"/>
          <p:cNvSpPr/>
          <p:nvPr/>
        </p:nvSpPr>
        <p:spPr>
          <a:xfrm>
            <a:off x="3922776" y="5065776"/>
            <a:ext cx="2121408" cy="859536"/>
          </a:xfrm>
          <a:prstGeom prst="rect">
            <a:avLst/>
          </a:prstGeom>
          <a:noFill/>
          <a:ln/>
        </p:spPr>
        <p:txBody>
          <a:bodyPr wrap="square" rtlCol="0" anchor="ctr"/>
          <a:lstStyle/>
          <a:p>
            <a:pPr indent="0" marL="0">
              <a:buNone/>
            </a:pPr>
            <a:r>
              <a:rPr lang="en-US" sz="880" dirty="0">
                <a:solidFill>
                  <a:srgbClr val="334155"/>
                </a:solidFill>
                <a:latin typeface="Roboto" pitchFamily="34" charset="0"/>
                <a:ea typeface="Roboto" pitchFamily="34" charset="-122"/>
                <a:cs typeface="Roboto" pitchFamily="34" charset="-120"/>
              </a:rPr>
              <a:t>Mints 5-min KMS ECDSA P-256 TenantContext JWT</a:t>
            </a:r>
            <a:endParaRPr lang="en-US" sz="880" dirty="0"/>
          </a:p>
        </p:txBody>
      </p:sp>
      <p:sp>
        <p:nvSpPr>
          <p:cNvPr id="31" name="Shape 29"/>
          <p:cNvSpPr/>
          <p:nvPr/>
        </p:nvSpPr>
        <p:spPr>
          <a:xfrm>
            <a:off x="6263640" y="3456432"/>
            <a:ext cx="228600" cy="0"/>
          </a:xfrm>
          <a:prstGeom prst="line">
            <a:avLst/>
          </a:prstGeom>
          <a:noFill/>
          <a:ln w="22225">
            <a:solidFill>
              <a:srgbClr val="1A73E8"/>
            </a:solidFill>
            <a:prstDash val="solid"/>
            <a:tailEnd type="arrow" w="sm" len="sm"/>
          </a:ln>
        </p:spPr>
      </p:sp>
      <p:sp>
        <p:nvSpPr>
          <p:cNvPr id="32" name="Shape 30"/>
          <p:cNvSpPr/>
          <p:nvPr/>
        </p:nvSpPr>
        <p:spPr>
          <a:xfrm>
            <a:off x="6492240" y="566928"/>
            <a:ext cx="2560320" cy="5779008"/>
          </a:xfrm>
          <a:prstGeom prst="roundRect">
            <a:avLst>
              <a:gd name="adj" fmla="val 3571"/>
            </a:avLst>
          </a:prstGeom>
          <a:solidFill>
            <a:srgbClr val="FFFFFF"/>
          </a:solidFill>
          <a:ln w="17145">
            <a:solidFill>
              <a:srgbClr val="1E8E3E"/>
            </a:solidFill>
            <a:prstDash val="solid"/>
          </a:ln>
        </p:spPr>
      </p:sp>
      <p:sp>
        <p:nvSpPr>
          <p:cNvPr id="33" name="Shape 31"/>
          <p:cNvSpPr/>
          <p:nvPr/>
        </p:nvSpPr>
        <p:spPr>
          <a:xfrm>
            <a:off x="6492240" y="566928"/>
            <a:ext cx="2560320" cy="621792"/>
          </a:xfrm>
          <a:prstGeom prst="rect">
            <a:avLst/>
          </a:prstGeom>
          <a:solidFill>
            <a:srgbClr val="E6F4EA"/>
          </a:solidFill>
          <a:ln/>
        </p:spPr>
      </p:sp>
      <p:sp>
        <p:nvSpPr>
          <p:cNvPr id="34" name="Text 32"/>
          <p:cNvSpPr/>
          <p:nvPr/>
        </p:nvSpPr>
        <p:spPr>
          <a:xfrm>
            <a:off x="6620256" y="621792"/>
            <a:ext cx="2304288" cy="274320"/>
          </a:xfrm>
          <a:prstGeom prst="rect">
            <a:avLst/>
          </a:prstGeom>
          <a:noFill/>
          <a:ln/>
        </p:spPr>
        <p:txBody>
          <a:bodyPr wrap="square" rtlCol="0" anchor="ctr"/>
          <a:lstStyle/>
          <a:p>
            <a:pPr indent="0" marL="0">
              <a:buNone/>
            </a:pPr>
            <a:r>
              <a:rPr lang="en-US" sz="1050" b="1" dirty="0">
                <a:solidFill>
                  <a:srgbClr val="0F172A"/>
                </a:solidFill>
                <a:latin typeface="Google Sans" pitchFamily="34" charset="0"/>
                <a:ea typeface="Google Sans" pitchFamily="34" charset="-122"/>
                <a:cs typeface="Google Sans" pitchFamily="34" charset="-120"/>
              </a:rPr>
              <a:t>Layer 2 • 5-Hop Control Plane</a:t>
            </a:r>
            <a:endParaRPr lang="en-US" sz="1050" dirty="0"/>
          </a:p>
        </p:txBody>
      </p:sp>
      <p:sp>
        <p:nvSpPr>
          <p:cNvPr id="35" name="Text 33"/>
          <p:cNvSpPr/>
          <p:nvPr/>
        </p:nvSpPr>
        <p:spPr>
          <a:xfrm>
            <a:off x="6620256" y="896112"/>
            <a:ext cx="2304288" cy="219456"/>
          </a:xfrm>
          <a:prstGeom prst="rect">
            <a:avLst/>
          </a:prstGeom>
          <a:noFill/>
          <a:ln/>
        </p:spPr>
        <p:txBody>
          <a:bodyPr wrap="square" rtlCol="0" anchor="ctr"/>
          <a:lstStyle/>
          <a:p>
            <a:pPr indent="0" marL="0">
              <a:buNone/>
            </a:pPr>
            <a:r>
              <a:rPr lang="en-US" sz="850" b="1" dirty="0">
                <a:solidFill>
                  <a:srgbClr val="1E8E3E"/>
                </a:solidFill>
                <a:latin typeface="Roboto" pitchFamily="34" charset="0"/>
                <a:ea typeface="Roboto" pitchFamily="34" charset="-122"/>
                <a:cs typeface="Roboto" pitchFamily="34" charset="-120"/>
              </a:rPr>
              <a:t>Shared 80% ADK Core</a:t>
            </a:r>
            <a:endParaRPr lang="en-US" sz="850" dirty="0"/>
          </a:p>
        </p:txBody>
      </p:sp>
      <p:sp>
        <p:nvSpPr>
          <p:cNvPr id="36" name="Shape 34"/>
          <p:cNvSpPr/>
          <p:nvPr/>
        </p:nvSpPr>
        <p:spPr>
          <a:xfrm>
            <a:off x="6620256" y="1353312"/>
            <a:ext cx="2304288" cy="1042416"/>
          </a:xfrm>
          <a:prstGeom prst="roundRect">
            <a:avLst>
              <a:gd name="adj" fmla="val 6140"/>
            </a:avLst>
          </a:prstGeom>
          <a:solidFill>
            <a:srgbClr val="F8FAFC"/>
          </a:solidFill>
          <a:ln w="10795">
            <a:solidFill>
              <a:srgbClr val="E2E8F0"/>
            </a:solidFill>
            <a:prstDash val="solid"/>
          </a:ln>
        </p:spPr>
      </p:sp>
      <p:sp>
        <p:nvSpPr>
          <p:cNvPr id="37" name="Text 35"/>
          <p:cNvSpPr/>
          <p:nvPr/>
        </p:nvSpPr>
        <p:spPr>
          <a:xfrm>
            <a:off x="6711696" y="1444752"/>
            <a:ext cx="2121408" cy="859536"/>
          </a:xfrm>
          <a:prstGeom prst="rect">
            <a:avLst/>
          </a:prstGeom>
          <a:noFill/>
          <a:ln/>
        </p:spPr>
        <p:txBody>
          <a:bodyPr wrap="square" rtlCol="0" anchor="ctr"/>
          <a:lstStyle/>
          <a:p>
            <a:pPr indent="0" marL="0">
              <a:buNone/>
            </a:pPr>
            <a:r>
              <a:rPr lang="en-US" sz="880" dirty="0">
                <a:solidFill>
                  <a:srgbClr val="334155"/>
                </a:solidFill>
                <a:latin typeface="Roboto" pitchFamily="34" charset="0"/>
                <a:ea typeface="Roboto" pitchFamily="34" charset="-122"/>
                <a:cs typeface="Roboto" pitchFamily="34" charset="-120"/>
              </a:rPr>
              <a:t>Hop 2 ARD: Chrooted agent/{tenant}/* catalog filter</a:t>
            </a:r>
            <a:endParaRPr lang="en-US" sz="880" dirty="0"/>
          </a:p>
        </p:txBody>
      </p:sp>
      <p:sp>
        <p:nvSpPr>
          <p:cNvPr id="38" name="Shape 36"/>
          <p:cNvSpPr/>
          <p:nvPr/>
        </p:nvSpPr>
        <p:spPr>
          <a:xfrm>
            <a:off x="6620256" y="2560320"/>
            <a:ext cx="2304288" cy="1042416"/>
          </a:xfrm>
          <a:prstGeom prst="roundRect">
            <a:avLst>
              <a:gd name="adj" fmla="val 6140"/>
            </a:avLst>
          </a:prstGeom>
          <a:solidFill>
            <a:srgbClr val="F8FAFC"/>
          </a:solidFill>
          <a:ln w="10795">
            <a:solidFill>
              <a:srgbClr val="E2E8F0"/>
            </a:solidFill>
            <a:prstDash val="solid"/>
          </a:ln>
        </p:spPr>
      </p:sp>
      <p:sp>
        <p:nvSpPr>
          <p:cNvPr id="39" name="Text 37"/>
          <p:cNvSpPr/>
          <p:nvPr/>
        </p:nvSpPr>
        <p:spPr>
          <a:xfrm>
            <a:off x="6711696" y="2651760"/>
            <a:ext cx="2121408" cy="859536"/>
          </a:xfrm>
          <a:prstGeom prst="rect">
            <a:avLst/>
          </a:prstGeom>
          <a:noFill/>
          <a:ln/>
        </p:spPr>
        <p:txBody>
          <a:bodyPr wrap="square" rtlCol="0" anchor="ctr"/>
          <a:lstStyle/>
          <a:p>
            <a:pPr indent="0" marL="0">
              <a:buNone/>
            </a:pPr>
            <a:r>
              <a:rPr lang="en-US" sz="880" dirty="0">
                <a:solidFill>
                  <a:srgbClr val="334155"/>
                </a:solidFill>
                <a:latin typeface="Roboto" pitchFamily="34" charset="0"/>
                <a:ea typeface="Roboto" pitchFamily="34" charset="-122"/>
                <a:cs typeface="Roboto" pitchFamily="34" charset="-120"/>
              </a:rPr>
              <a:t>Hop 3 Valkey: ~3ms JTI/CMEK deny-list &amp; RPM buckets</a:t>
            </a:r>
            <a:endParaRPr lang="en-US" sz="880" dirty="0"/>
          </a:p>
        </p:txBody>
      </p:sp>
      <p:sp>
        <p:nvSpPr>
          <p:cNvPr id="40" name="Shape 38"/>
          <p:cNvSpPr/>
          <p:nvPr/>
        </p:nvSpPr>
        <p:spPr>
          <a:xfrm>
            <a:off x="6620256" y="3767328"/>
            <a:ext cx="2304288" cy="1042416"/>
          </a:xfrm>
          <a:prstGeom prst="roundRect">
            <a:avLst>
              <a:gd name="adj" fmla="val 6140"/>
            </a:avLst>
          </a:prstGeom>
          <a:solidFill>
            <a:srgbClr val="F8FAFC"/>
          </a:solidFill>
          <a:ln w="10795">
            <a:solidFill>
              <a:srgbClr val="E2E8F0"/>
            </a:solidFill>
            <a:prstDash val="solid"/>
          </a:ln>
        </p:spPr>
      </p:sp>
      <p:sp>
        <p:nvSpPr>
          <p:cNvPr id="41" name="Text 39"/>
          <p:cNvSpPr/>
          <p:nvPr/>
        </p:nvSpPr>
        <p:spPr>
          <a:xfrm>
            <a:off x="6711696" y="3858768"/>
            <a:ext cx="2121408" cy="859536"/>
          </a:xfrm>
          <a:prstGeom prst="rect">
            <a:avLst/>
          </a:prstGeom>
          <a:noFill/>
          <a:ln/>
        </p:spPr>
        <p:txBody>
          <a:bodyPr wrap="square" rtlCol="0" anchor="ctr"/>
          <a:lstStyle/>
          <a:p>
            <a:pPr indent="0" marL="0">
              <a:buNone/>
            </a:pPr>
            <a:r>
              <a:rPr lang="en-US" sz="880" dirty="0">
                <a:solidFill>
                  <a:srgbClr val="334155"/>
                </a:solidFill>
                <a:latin typeface="Roboto" pitchFamily="34" charset="0"/>
                <a:ea typeface="Roboto" pitchFamily="34" charset="-122"/>
                <a:cs typeface="Roboto" pitchFamily="34" charset="-120"/>
              </a:rPr>
              <a:t>Hop 4 Model Armor: ~22ms regional gRPC DLP &amp; NLCs</a:t>
            </a:r>
            <a:endParaRPr lang="en-US" sz="880" dirty="0"/>
          </a:p>
        </p:txBody>
      </p:sp>
      <p:sp>
        <p:nvSpPr>
          <p:cNvPr id="42" name="Shape 40"/>
          <p:cNvSpPr/>
          <p:nvPr/>
        </p:nvSpPr>
        <p:spPr>
          <a:xfrm>
            <a:off x="6620256" y="4974336"/>
            <a:ext cx="2304288" cy="1042416"/>
          </a:xfrm>
          <a:prstGeom prst="roundRect">
            <a:avLst>
              <a:gd name="adj" fmla="val 6140"/>
            </a:avLst>
          </a:prstGeom>
          <a:solidFill>
            <a:srgbClr val="F8FAFC"/>
          </a:solidFill>
          <a:ln w="10795">
            <a:solidFill>
              <a:srgbClr val="E2E8F0"/>
            </a:solidFill>
            <a:prstDash val="solid"/>
          </a:ln>
        </p:spPr>
      </p:sp>
      <p:sp>
        <p:nvSpPr>
          <p:cNvPr id="43" name="Text 41"/>
          <p:cNvSpPr/>
          <p:nvPr/>
        </p:nvSpPr>
        <p:spPr>
          <a:xfrm>
            <a:off x="6711696" y="5065776"/>
            <a:ext cx="2121408" cy="859536"/>
          </a:xfrm>
          <a:prstGeom prst="rect">
            <a:avLst/>
          </a:prstGeom>
          <a:noFill/>
          <a:ln/>
        </p:spPr>
        <p:txBody>
          <a:bodyPr wrap="square" rtlCol="0" anchor="ctr"/>
          <a:lstStyle/>
          <a:p>
            <a:pPr indent="0" marL="0">
              <a:buNone/>
            </a:pPr>
            <a:r>
              <a:rPr lang="en-US" sz="880" dirty="0">
                <a:solidFill>
                  <a:srgbClr val="334155"/>
                </a:solidFill>
                <a:latin typeface="Roboto" pitchFamily="34" charset="0"/>
                <a:ea typeface="Roboto" pitchFamily="34" charset="-122"/>
                <a:cs typeface="Roboto" pitchFamily="34" charset="-120"/>
              </a:rPr>
              <a:t>32k shared system prompt cache (84.7% token savings)</a:t>
            </a:r>
            <a:endParaRPr lang="en-US" sz="880" dirty="0"/>
          </a:p>
        </p:txBody>
      </p:sp>
      <p:sp>
        <p:nvSpPr>
          <p:cNvPr id="44" name="Shape 42"/>
          <p:cNvSpPr/>
          <p:nvPr/>
        </p:nvSpPr>
        <p:spPr>
          <a:xfrm>
            <a:off x="9052560" y="3456432"/>
            <a:ext cx="228600" cy="0"/>
          </a:xfrm>
          <a:prstGeom prst="line">
            <a:avLst/>
          </a:prstGeom>
          <a:noFill/>
          <a:ln w="22225">
            <a:solidFill>
              <a:srgbClr val="1A73E8"/>
            </a:solidFill>
            <a:prstDash val="solid"/>
            <a:tailEnd type="arrow" w="sm" len="sm"/>
          </a:ln>
        </p:spPr>
      </p:sp>
      <p:sp>
        <p:nvSpPr>
          <p:cNvPr id="45" name="Shape 43"/>
          <p:cNvSpPr/>
          <p:nvPr/>
        </p:nvSpPr>
        <p:spPr>
          <a:xfrm>
            <a:off x="9281160" y="566928"/>
            <a:ext cx="2560320" cy="5779008"/>
          </a:xfrm>
          <a:prstGeom prst="roundRect">
            <a:avLst>
              <a:gd name="adj" fmla="val 3571"/>
            </a:avLst>
          </a:prstGeom>
          <a:solidFill>
            <a:srgbClr val="FFFFFF"/>
          </a:solidFill>
          <a:ln w="17145">
            <a:solidFill>
              <a:srgbClr val="D93025"/>
            </a:solidFill>
            <a:prstDash val="solid"/>
          </a:ln>
        </p:spPr>
      </p:sp>
      <p:sp>
        <p:nvSpPr>
          <p:cNvPr id="46" name="Shape 44"/>
          <p:cNvSpPr/>
          <p:nvPr/>
        </p:nvSpPr>
        <p:spPr>
          <a:xfrm>
            <a:off x="9281160" y="566928"/>
            <a:ext cx="2560320" cy="621792"/>
          </a:xfrm>
          <a:prstGeom prst="rect">
            <a:avLst/>
          </a:prstGeom>
          <a:solidFill>
            <a:srgbClr val="FCE8E6"/>
          </a:solidFill>
          <a:ln/>
        </p:spPr>
      </p:sp>
      <p:sp>
        <p:nvSpPr>
          <p:cNvPr id="47" name="Text 45"/>
          <p:cNvSpPr/>
          <p:nvPr/>
        </p:nvSpPr>
        <p:spPr>
          <a:xfrm>
            <a:off x="9409176" y="621792"/>
            <a:ext cx="2304288" cy="274320"/>
          </a:xfrm>
          <a:prstGeom prst="rect">
            <a:avLst/>
          </a:prstGeom>
          <a:noFill/>
          <a:ln/>
        </p:spPr>
        <p:txBody>
          <a:bodyPr wrap="square" rtlCol="0" anchor="ctr"/>
          <a:lstStyle/>
          <a:p>
            <a:pPr indent="0" marL="0">
              <a:buNone/>
            </a:pPr>
            <a:r>
              <a:rPr lang="en-US" sz="1050" b="1" dirty="0">
                <a:solidFill>
                  <a:srgbClr val="0F172A"/>
                </a:solidFill>
                <a:latin typeface="Google Sans" pitchFamily="34" charset="0"/>
                <a:ea typeface="Google Sans" pitchFamily="34" charset="-122"/>
                <a:cs typeface="Google Sans" pitchFamily="34" charset="-120"/>
              </a:rPr>
              <a:t>Layer 3 • Isolation Data Planes</a:t>
            </a:r>
            <a:endParaRPr lang="en-US" sz="1050" dirty="0"/>
          </a:p>
        </p:txBody>
      </p:sp>
      <p:sp>
        <p:nvSpPr>
          <p:cNvPr id="48" name="Text 46"/>
          <p:cNvSpPr/>
          <p:nvPr/>
        </p:nvSpPr>
        <p:spPr>
          <a:xfrm>
            <a:off x="9409176" y="896112"/>
            <a:ext cx="2304288" cy="219456"/>
          </a:xfrm>
          <a:prstGeom prst="rect">
            <a:avLst/>
          </a:prstGeom>
          <a:noFill/>
          <a:ln/>
        </p:spPr>
        <p:txBody>
          <a:bodyPr wrap="square" rtlCol="0" anchor="ctr"/>
          <a:lstStyle/>
          <a:p>
            <a:pPr indent="0" marL="0">
              <a:buNone/>
            </a:pPr>
            <a:r>
              <a:rPr lang="en-US" sz="850" b="1" dirty="0">
                <a:solidFill>
                  <a:srgbClr val="D93025"/>
                </a:solidFill>
                <a:latin typeface="Roboto" pitchFamily="34" charset="0"/>
                <a:ea typeface="Roboto" pitchFamily="34" charset="-122"/>
                <a:cs typeface="Roboto" pitchFamily="34" charset="-120"/>
              </a:rPr>
              <a:t>Maps to 4 Physical VPC-SC Zones</a:t>
            </a:r>
            <a:endParaRPr lang="en-US" sz="850" dirty="0"/>
          </a:p>
        </p:txBody>
      </p:sp>
      <p:sp>
        <p:nvSpPr>
          <p:cNvPr id="49" name="Shape 47"/>
          <p:cNvSpPr/>
          <p:nvPr/>
        </p:nvSpPr>
        <p:spPr>
          <a:xfrm>
            <a:off x="9409176" y="1353312"/>
            <a:ext cx="2304288" cy="1042416"/>
          </a:xfrm>
          <a:prstGeom prst="roundRect">
            <a:avLst>
              <a:gd name="adj" fmla="val 6140"/>
            </a:avLst>
          </a:prstGeom>
          <a:solidFill>
            <a:srgbClr val="F8FAFC"/>
          </a:solidFill>
          <a:ln w="10795">
            <a:solidFill>
              <a:srgbClr val="E2E8F0"/>
            </a:solidFill>
            <a:prstDash val="solid"/>
          </a:ln>
        </p:spPr>
      </p:sp>
      <p:sp>
        <p:nvSpPr>
          <p:cNvPr id="50" name="Text 48"/>
          <p:cNvSpPr/>
          <p:nvPr/>
        </p:nvSpPr>
        <p:spPr>
          <a:xfrm>
            <a:off x="9500616" y="1444752"/>
            <a:ext cx="2121408" cy="859536"/>
          </a:xfrm>
          <a:prstGeom prst="rect">
            <a:avLst/>
          </a:prstGeom>
          <a:noFill/>
          <a:ln/>
        </p:spPr>
        <p:txBody>
          <a:bodyPr wrap="square" rtlCol="0" anchor="ctr"/>
          <a:lstStyle/>
          <a:p>
            <a:pPr indent="0" marL="0">
              <a:buNone/>
            </a:pPr>
            <a:r>
              <a:rPr lang="en-US" sz="880" dirty="0">
                <a:solidFill>
                  <a:srgbClr val="334155"/>
                </a:solidFill>
                <a:latin typeface="Roboto" pitchFamily="34" charset="0"/>
                <a:ea typeface="Roboto" pitchFamily="34" charset="-122"/>
                <a:cs typeface="Roboto" pitchFamily="34" charset="-120"/>
              </a:rPr>
              <a:t>Pattern A: AlloyDB FORCE ROW LEVEL SECURITY</a:t>
            </a:r>
            <a:endParaRPr lang="en-US" sz="880" dirty="0"/>
          </a:p>
        </p:txBody>
      </p:sp>
      <p:sp>
        <p:nvSpPr>
          <p:cNvPr id="51" name="Shape 49"/>
          <p:cNvSpPr/>
          <p:nvPr/>
        </p:nvSpPr>
        <p:spPr>
          <a:xfrm>
            <a:off x="9409176" y="2560320"/>
            <a:ext cx="2304288" cy="1042416"/>
          </a:xfrm>
          <a:prstGeom prst="roundRect">
            <a:avLst>
              <a:gd name="adj" fmla="val 6140"/>
            </a:avLst>
          </a:prstGeom>
          <a:solidFill>
            <a:srgbClr val="F8FAFC"/>
          </a:solidFill>
          <a:ln w="10795">
            <a:solidFill>
              <a:srgbClr val="E2E8F0"/>
            </a:solidFill>
            <a:prstDash val="solid"/>
          </a:ln>
        </p:spPr>
      </p:sp>
      <p:sp>
        <p:nvSpPr>
          <p:cNvPr id="52" name="Text 50"/>
          <p:cNvSpPr/>
          <p:nvPr/>
        </p:nvSpPr>
        <p:spPr>
          <a:xfrm>
            <a:off x="9500616" y="2651760"/>
            <a:ext cx="2121408" cy="859536"/>
          </a:xfrm>
          <a:prstGeom prst="rect">
            <a:avLst/>
          </a:prstGeom>
          <a:noFill/>
          <a:ln/>
        </p:spPr>
        <p:txBody>
          <a:bodyPr wrap="square" rtlCol="0" anchor="ctr"/>
          <a:lstStyle/>
          <a:p>
            <a:pPr indent="0" marL="0">
              <a:buNone/>
            </a:pPr>
            <a:r>
              <a:rPr lang="en-US" sz="880" dirty="0">
                <a:solidFill>
                  <a:srgbClr val="334155"/>
                </a:solidFill>
                <a:latin typeface="Roboto" pitchFamily="34" charset="0"/>
                <a:ea typeface="Roboto" pitchFamily="34" charset="-122"/>
                <a:cs typeface="Roboto" pitchFamily="34" charset="-120"/>
              </a:rPr>
              <a:t>Pattern B: Dedicated VPC-SC, CMEK &amp; Vertex PT / GKE</a:t>
            </a:r>
            <a:endParaRPr lang="en-US" sz="880" dirty="0"/>
          </a:p>
        </p:txBody>
      </p:sp>
      <p:sp>
        <p:nvSpPr>
          <p:cNvPr id="53" name="Shape 51"/>
          <p:cNvSpPr/>
          <p:nvPr/>
        </p:nvSpPr>
        <p:spPr>
          <a:xfrm>
            <a:off x="9409176" y="3767328"/>
            <a:ext cx="2304288" cy="1042416"/>
          </a:xfrm>
          <a:prstGeom prst="roundRect">
            <a:avLst>
              <a:gd name="adj" fmla="val 6140"/>
            </a:avLst>
          </a:prstGeom>
          <a:solidFill>
            <a:srgbClr val="F8FAFC"/>
          </a:solidFill>
          <a:ln w="10795">
            <a:solidFill>
              <a:srgbClr val="E2E8F0"/>
            </a:solidFill>
            <a:prstDash val="solid"/>
          </a:ln>
        </p:spPr>
      </p:sp>
      <p:sp>
        <p:nvSpPr>
          <p:cNvPr id="54" name="Text 52"/>
          <p:cNvSpPr/>
          <p:nvPr/>
        </p:nvSpPr>
        <p:spPr>
          <a:xfrm>
            <a:off x="9500616" y="3858768"/>
            <a:ext cx="2121408" cy="859536"/>
          </a:xfrm>
          <a:prstGeom prst="rect">
            <a:avLst/>
          </a:prstGeom>
          <a:noFill/>
          <a:ln/>
        </p:spPr>
        <p:txBody>
          <a:bodyPr wrap="square" rtlCol="0" anchor="ctr"/>
          <a:lstStyle/>
          <a:p>
            <a:pPr indent="0" marL="0">
              <a:buNone/>
            </a:pPr>
            <a:r>
              <a:rPr lang="en-US" sz="880" dirty="0">
                <a:solidFill>
                  <a:srgbClr val="334155"/>
                </a:solidFill>
                <a:latin typeface="Roboto" pitchFamily="34" charset="0"/>
                <a:ea typeface="Roboto" pitchFamily="34" charset="-122"/>
                <a:cs typeface="Roboto" pitchFamily="34" charset="-120"/>
              </a:rPr>
              <a:t>Pattern C: Unidirectional PSC spoke (/28 NAT)</a:t>
            </a:r>
            <a:endParaRPr lang="en-US" sz="880" dirty="0"/>
          </a:p>
        </p:txBody>
      </p:sp>
      <p:sp>
        <p:nvSpPr>
          <p:cNvPr id="55" name="Shape 53"/>
          <p:cNvSpPr/>
          <p:nvPr/>
        </p:nvSpPr>
        <p:spPr>
          <a:xfrm>
            <a:off x="9409176" y="4974336"/>
            <a:ext cx="2304288" cy="1042416"/>
          </a:xfrm>
          <a:prstGeom prst="roundRect">
            <a:avLst>
              <a:gd name="adj" fmla="val 6140"/>
            </a:avLst>
          </a:prstGeom>
          <a:solidFill>
            <a:srgbClr val="F8FAFC"/>
          </a:solidFill>
          <a:ln w="10795">
            <a:solidFill>
              <a:srgbClr val="E2E8F0"/>
            </a:solidFill>
            <a:prstDash val="solid"/>
          </a:ln>
        </p:spPr>
      </p:sp>
      <p:sp>
        <p:nvSpPr>
          <p:cNvPr id="56" name="Text 54"/>
          <p:cNvSpPr/>
          <p:nvPr/>
        </p:nvSpPr>
        <p:spPr>
          <a:xfrm>
            <a:off x="9500616" y="5065776"/>
            <a:ext cx="2121408" cy="859536"/>
          </a:xfrm>
          <a:prstGeom prst="rect">
            <a:avLst/>
          </a:prstGeom>
          <a:noFill/>
          <a:ln/>
        </p:spPr>
        <p:txBody>
          <a:bodyPr wrap="square" rtlCol="0" anchor="ctr"/>
          <a:lstStyle/>
          <a:p>
            <a:pPr indent="0" marL="0">
              <a:buNone/>
            </a:pPr>
            <a:r>
              <a:rPr lang="en-US" sz="880" dirty="0">
                <a:solidFill>
                  <a:srgbClr val="334155"/>
                </a:solidFill>
                <a:latin typeface="Roboto" pitchFamily="34" charset="0"/>
                <a:ea typeface="Roboto" pitchFamily="34" charset="-122"/>
                <a:cs typeface="Roboto" pitchFamily="34" charset="-120"/>
              </a:rPr>
              <a:t>Hop 5 OTel: Zero-PII SHA-256 BigQuery FinOps ledger</a:t>
            </a:r>
            <a:endParaRPr lang="en-US" sz="8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1723644"/>
          </a:xfrm>
          <a:prstGeom prst="rect">
            <a:avLst/>
          </a:prstGeom>
          <a:solidFill>
            <a:srgbClr val="1A73E8"/>
          </a:solidFill>
          <a:ln/>
        </p:spPr>
      </p:sp>
      <p:sp>
        <p:nvSpPr>
          <p:cNvPr id="3" name="Shape 1"/>
          <p:cNvSpPr/>
          <p:nvPr/>
        </p:nvSpPr>
        <p:spPr>
          <a:xfrm>
            <a:off x="0" y="1714500"/>
            <a:ext cx="73152" cy="1723644"/>
          </a:xfrm>
          <a:prstGeom prst="rect">
            <a:avLst/>
          </a:prstGeom>
          <a:solidFill>
            <a:srgbClr val="D93025"/>
          </a:solidFill>
          <a:ln/>
        </p:spPr>
      </p:sp>
      <p:sp>
        <p:nvSpPr>
          <p:cNvPr id="4" name="Shape 2"/>
          <p:cNvSpPr/>
          <p:nvPr/>
        </p:nvSpPr>
        <p:spPr>
          <a:xfrm>
            <a:off x="0" y="3429000"/>
            <a:ext cx="73152" cy="1723644"/>
          </a:xfrm>
          <a:prstGeom prst="rect">
            <a:avLst/>
          </a:prstGeom>
          <a:solidFill>
            <a:srgbClr val="F9AB00"/>
          </a:solidFill>
          <a:ln/>
        </p:spPr>
      </p:sp>
      <p:sp>
        <p:nvSpPr>
          <p:cNvPr id="5" name="Shape 3"/>
          <p:cNvSpPr/>
          <p:nvPr/>
        </p:nvSpPr>
        <p:spPr>
          <a:xfrm>
            <a:off x="0" y="5143500"/>
            <a:ext cx="73152" cy="1723644"/>
          </a:xfrm>
          <a:prstGeom prst="rect">
            <a:avLst/>
          </a:prstGeom>
          <a:solidFill>
            <a:srgbClr val="1E8E3E"/>
          </a:solidFill>
          <a:ln/>
        </p:spPr>
      </p:sp>
      <p:sp>
        <p:nvSpPr>
          <p:cNvPr id="6" name="Text 4"/>
          <p:cNvSpPr/>
          <p:nvPr/>
        </p:nvSpPr>
        <p:spPr>
          <a:xfrm>
            <a:off x="347472" y="201168"/>
            <a:ext cx="9875520" cy="237744"/>
          </a:xfrm>
          <a:prstGeom prst="rect">
            <a:avLst/>
          </a:prstGeom>
          <a:noFill/>
          <a:ln/>
        </p:spPr>
        <p:txBody>
          <a:bodyPr wrap="square" rtlCol="0" anchor="ctr"/>
          <a:lstStyle/>
          <a:p>
            <a:pPr indent="0" marL="0">
              <a:buNone/>
            </a:pPr>
            <a:r>
              <a:rPr lang="en-US" sz="850" b="1" dirty="0">
                <a:solidFill>
                  <a:srgbClr val="1A73E8"/>
                </a:solidFill>
                <a:latin typeface="Google Sans" pitchFamily="34" charset="0"/>
                <a:ea typeface="Google Sans" pitchFamily="34" charset="-122"/>
                <a:cs typeface="Google Sans" pitchFamily="34" charset="-120"/>
              </a:rPr>
              <a:t>GOOGLE CLOUD ARCHITECTURE CENTER  </a:t>
            </a:r>
            <a:pPr indent="0" marL="0">
              <a:buNone/>
            </a:pPr>
            <a:r>
              <a:rPr lang="en-US" sz="850" dirty="0">
                <a:solidFill>
                  <a:srgbClr val="64748B"/>
                </a:solidFill>
                <a:latin typeface="Google Sans" pitchFamily="34" charset="0"/>
                <a:ea typeface="Google Sans" pitchFamily="34" charset="-122"/>
                <a:cs typeface="Google Sans" pitchFamily="34" charset="-120"/>
              </a:rPr>
              <a:t>/  ACT II • DECISION FRAMEWORK  /  Choosing Pattern A, Pattern B, or Pattern C by Tenant Tier</a:t>
            </a:r>
            <a:endParaRPr lang="en-US" sz="850" dirty="0"/>
          </a:p>
        </p:txBody>
      </p:sp>
      <p:sp>
        <p:nvSpPr>
          <p:cNvPr id="7" name="Shape 5"/>
          <p:cNvSpPr/>
          <p:nvPr/>
        </p:nvSpPr>
        <p:spPr>
          <a:xfrm>
            <a:off x="10835640" y="182880"/>
            <a:ext cx="1005840" cy="256032"/>
          </a:xfrm>
          <a:prstGeom prst="roundRect">
            <a:avLst>
              <a:gd name="adj" fmla="val 50000"/>
            </a:avLst>
          </a:prstGeom>
          <a:solidFill>
            <a:srgbClr val="FFFFFF"/>
          </a:solidFill>
          <a:ln w="9525">
            <a:solidFill>
              <a:srgbClr val="E2E8F0"/>
            </a:solidFill>
            <a:prstDash val="solid"/>
          </a:ln>
        </p:spPr>
      </p:sp>
      <p:sp>
        <p:nvSpPr>
          <p:cNvPr id="8" name="Text 6"/>
          <p:cNvSpPr/>
          <p:nvPr/>
        </p:nvSpPr>
        <p:spPr>
          <a:xfrm>
            <a:off x="10835640" y="182880"/>
            <a:ext cx="1005840" cy="256032"/>
          </a:xfrm>
          <a:prstGeom prst="rect">
            <a:avLst/>
          </a:prstGeom>
          <a:noFill/>
          <a:ln/>
        </p:spPr>
        <p:txBody>
          <a:bodyPr wrap="square" rtlCol="0" anchor="ctr"/>
          <a:lstStyle/>
          <a:p>
            <a:pPr algn="ctr" indent="0" marL="0">
              <a:buNone/>
            </a:pPr>
            <a:r>
              <a:rPr lang="en-US" sz="850" b="1" dirty="0">
                <a:solidFill>
                  <a:srgbClr val="334155"/>
                </a:solidFill>
                <a:latin typeface="Google Sans" pitchFamily="34" charset="0"/>
                <a:ea typeface="Google Sans" pitchFamily="34" charset="-122"/>
                <a:cs typeface="Google Sans" pitchFamily="34" charset="-120"/>
              </a:rPr>
              <a:t>06 / 14</a:t>
            </a:r>
            <a:endParaRPr lang="en-US" sz="850" dirty="0"/>
          </a:p>
        </p:txBody>
      </p:sp>
      <p:sp>
        <p:nvSpPr>
          <p:cNvPr id="9" name="Shape 7"/>
          <p:cNvSpPr/>
          <p:nvPr/>
        </p:nvSpPr>
        <p:spPr>
          <a:xfrm>
            <a:off x="347472" y="6510528"/>
            <a:ext cx="11494008" cy="0"/>
          </a:xfrm>
          <a:prstGeom prst="line">
            <a:avLst/>
          </a:prstGeom>
          <a:noFill/>
          <a:ln w="9525">
            <a:solidFill>
              <a:srgbClr val="E2E8F0"/>
            </a:solidFill>
            <a:prstDash val="solid"/>
          </a:ln>
        </p:spPr>
      </p:sp>
      <p:sp>
        <p:nvSpPr>
          <p:cNvPr id="10" name="Text 8"/>
          <p:cNvSpPr/>
          <p:nvPr/>
        </p:nvSpPr>
        <p:spPr>
          <a:xfrm>
            <a:off x="347472" y="6556248"/>
            <a:ext cx="11494008" cy="219456"/>
          </a:xfrm>
          <a:prstGeom prst="rect">
            <a:avLst/>
          </a:prstGeom>
          <a:noFill/>
          <a:ln/>
        </p:spPr>
        <p:txBody>
          <a:bodyPr wrap="square" rtlCol="0" anchor="ctr"/>
          <a:lstStyle/>
          <a:p>
            <a:pPr indent="0" marL="0">
              <a:buNone/>
            </a:pPr>
            <a:r>
              <a:rPr lang="en-US" sz="780" dirty="0">
                <a:solidFill>
                  <a:srgbClr val="64748B"/>
                </a:solidFill>
                <a:latin typeface="Roboto" pitchFamily="34" charset="0"/>
                <a:ea typeface="Roboto" pitchFamily="34" charset="-122"/>
                <a:cs typeface="Roboto" pitchFamily="34" charset="-120"/>
              </a:rPr>
              <a:t>Multi-Tenant Agentic AI on Google Cloud  •  Blog 1 Executive Edition  •  Verified on GCP (#248990048888, #48439189383) &amp; AWS (#393036065405)</a:t>
            </a:r>
            <a:endParaRPr lang="en-US" sz="780" dirty="0"/>
          </a:p>
        </p:txBody>
      </p:sp>
      <p:sp>
        <p:nvSpPr>
          <p:cNvPr id="11" name="Shape 9"/>
          <p:cNvSpPr/>
          <p:nvPr/>
        </p:nvSpPr>
        <p:spPr>
          <a:xfrm>
            <a:off x="347472" y="566928"/>
            <a:ext cx="3154680" cy="5779008"/>
          </a:xfrm>
          <a:prstGeom prst="roundRect">
            <a:avLst>
              <a:gd name="adj" fmla="val 2899"/>
            </a:avLst>
          </a:prstGeom>
          <a:solidFill>
            <a:srgbClr val="FFFFFF"/>
          </a:solidFill>
          <a:ln w="12700">
            <a:solidFill>
              <a:srgbClr val="E2E8F0"/>
            </a:solidFill>
            <a:prstDash val="solid"/>
          </a:ln>
        </p:spPr>
      </p:sp>
      <p:sp>
        <p:nvSpPr>
          <p:cNvPr id="12" name="Shape 10"/>
          <p:cNvSpPr/>
          <p:nvPr/>
        </p:nvSpPr>
        <p:spPr>
          <a:xfrm>
            <a:off x="530352" y="768096"/>
            <a:ext cx="1691640" cy="256032"/>
          </a:xfrm>
          <a:prstGeom prst="roundRect">
            <a:avLst>
              <a:gd name="adj" fmla="val 28571"/>
            </a:avLst>
          </a:prstGeom>
          <a:solidFill>
            <a:srgbClr val="FEF7E0"/>
          </a:solidFill>
          <a:ln/>
        </p:spPr>
      </p:sp>
      <p:sp>
        <p:nvSpPr>
          <p:cNvPr id="13" name="Text 11"/>
          <p:cNvSpPr/>
          <p:nvPr/>
        </p:nvSpPr>
        <p:spPr>
          <a:xfrm>
            <a:off x="530352" y="768096"/>
            <a:ext cx="1691640" cy="256032"/>
          </a:xfrm>
          <a:prstGeom prst="rect">
            <a:avLst/>
          </a:prstGeom>
          <a:noFill/>
          <a:ln/>
        </p:spPr>
        <p:txBody>
          <a:bodyPr wrap="square" rtlCol="0" anchor="ctr"/>
          <a:lstStyle/>
          <a:p>
            <a:pPr algn="ctr" indent="0" marL="0">
              <a:buNone/>
            </a:pPr>
            <a:r>
              <a:rPr lang="en-US" sz="800" b="1" dirty="0">
                <a:solidFill>
                  <a:srgbClr val="B06000"/>
                </a:solidFill>
                <a:latin typeface="Google Sans" pitchFamily="34" charset="0"/>
                <a:ea typeface="Google Sans" pitchFamily="34" charset="-122"/>
                <a:cs typeface="Google Sans" pitchFamily="34" charset="-120"/>
              </a:rPr>
              <a:t>DECISION MATRIX</a:t>
            </a:r>
            <a:endParaRPr lang="en-US" sz="800" dirty="0"/>
          </a:p>
        </p:txBody>
      </p:sp>
      <p:sp>
        <p:nvSpPr>
          <p:cNvPr id="14" name="Text 12"/>
          <p:cNvSpPr/>
          <p:nvPr/>
        </p:nvSpPr>
        <p:spPr>
          <a:xfrm>
            <a:off x="530352" y="1133856"/>
            <a:ext cx="2788920" cy="1325880"/>
          </a:xfrm>
          <a:prstGeom prst="rect">
            <a:avLst/>
          </a:prstGeom>
          <a:noFill/>
          <a:ln/>
        </p:spPr>
        <p:txBody>
          <a:bodyPr wrap="square" rtlCol="0" anchor="t"/>
          <a:lstStyle/>
          <a:p>
            <a:pPr indent="0" marL="0">
              <a:buNone/>
            </a:pPr>
            <a:r>
              <a:rPr lang="en-US" sz="1750" b="1" dirty="0">
                <a:solidFill>
                  <a:srgbClr val="0F172A"/>
                </a:solidFill>
                <a:latin typeface="Google Sans Display" pitchFamily="34" charset="0"/>
                <a:ea typeface="Google Sans Display" pitchFamily="34" charset="-122"/>
                <a:cs typeface="Google Sans Display" pitchFamily="34" charset="-120"/>
              </a:rPr>
              <a:t>Per-Tenant Isolation Without Code Forks</a:t>
            </a:r>
            <a:endParaRPr lang="en-US" sz="1750" dirty="0"/>
          </a:p>
        </p:txBody>
      </p:sp>
      <p:sp>
        <p:nvSpPr>
          <p:cNvPr id="15" name="Text 13"/>
          <p:cNvSpPr/>
          <p:nvPr/>
        </p:nvSpPr>
        <p:spPr>
          <a:xfrm>
            <a:off x="530352" y="2542032"/>
            <a:ext cx="2788920" cy="2148840"/>
          </a:xfrm>
          <a:prstGeom prst="rect">
            <a:avLst/>
          </a:prstGeom>
          <a:noFill/>
          <a:ln/>
        </p:spPr>
        <p:txBody>
          <a:bodyPr wrap="square" rtlCol="0" anchor="t"/>
          <a:lstStyle/>
          <a:p>
            <a:pPr indent="0" marL="0">
              <a:buNone/>
            </a:pPr>
            <a:r>
              <a:rPr lang="en-US" sz="1000" dirty="0">
                <a:solidFill>
                  <a:srgbClr val="334155"/>
                </a:solidFill>
                <a:latin typeface="Roboto" pitchFamily="34" charset="0"/>
                <a:ea typeface="Roboto" pitchFamily="34" charset="-122"/>
                <a:cs typeface="Roboto" pitchFamily="34" charset="-120"/>
              </a:rPr>
              <a:t>Pattern selection is a per-tenant configuration decision—not a platform-wide compromise.</a:t>
            </a:r>
            <a:endParaRPr lang="en-US" sz="1000" dirty="0"/>
          </a:p>
          <a:p>
            <a:pPr indent="0" marL="0">
              <a:buNone/>
            </a:pP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Most SaaS portfolios run Pattern C: hosting 95% commercial tenants in Pattern A Pool while isolating 5% regulated contracts in Pattern B PSC spokes.</a:t>
            </a:r>
            <a:endParaRPr lang="en-US" sz="1000" dirty="0"/>
          </a:p>
        </p:txBody>
      </p:sp>
      <p:sp>
        <p:nvSpPr>
          <p:cNvPr id="16" name="Shape 14"/>
          <p:cNvSpPr/>
          <p:nvPr/>
        </p:nvSpPr>
        <p:spPr>
          <a:xfrm>
            <a:off x="530352" y="4846320"/>
            <a:ext cx="2788920" cy="1298448"/>
          </a:xfrm>
          <a:prstGeom prst="roundRect">
            <a:avLst>
              <a:gd name="adj" fmla="val 5634"/>
            </a:avLst>
          </a:prstGeom>
          <a:solidFill>
            <a:srgbClr val="FEF7E0"/>
          </a:solidFill>
          <a:ln w="12700">
            <a:solidFill>
              <a:srgbClr val="B06000"/>
            </a:solidFill>
            <a:prstDash val="solid"/>
          </a:ln>
        </p:spPr>
      </p:sp>
      <p:sp>
        <p:nvSpPr>
          <p:cNvPr id="17" name="Text 15"/>
          <p:cNvSpPr/>
          <p:nvPr/>
        </p:nvSpPr>
        <p:spPr>
          <a:xfrm>
            <a:off x="658368" y="4956048"/>
            <a:ext cx="2532888" cy="566928"/>
          </a:xfrm>
          <a:prstGeom prst="rect">
            <a:avLst/>
          </a:prstGeom>
          <a:noFill/>
          <a:ln/>
        </p:spPr>
        <p:txBody>
          <a:bodyPr wrap="square" rtlCol="0" anchor="ctr"/>
          <a:lstStyle/>
          <a:p>
            <a:pPr indent="0" marL="0">
              <a:buNone/>
            </a:pPr>
            <a:r>
              <a:rPr lang="en-US" sz="2800" b="1" dirty="0">
                <a:solidFill>
                  <a:srgbClr val="B06000"/>
                </a:solidFill>
                <a:latin typeface="Google Sans Display" pitchFamily="34" charset="0"/>
                <a:ea typeface="Google Sans Display" pitchFamily="34" charset="-122"/>
                <a:cs typeface="Google Sans Display" pitchFamily="34" charset="-120"/>
              </a:rPr>
              <a:t>950 / 50</a:t>
            </a:r>
            <a:endParaRPr lang="en-US" sz="2800" dirty="0"/>
          </a:p>
        </p:txBody>
      </p:sp>
      <p:sp>
        <p:nvSpPr>
          <p:cNvPr id="18" name="Text 16"/>
          <p:cNvSpPr/>
          <p:nvPr/>
        </p:nvSpPr>
        <p:spPr>
          <a:xfrm>
            <a:off x="658368" y="5559552"/>
            <a:ext cx="2532888" cy="475488"/>
          </a:xfrm>
          <a:prstGeom prst="rect">
            <a:avLst/>
          </a:prstGeom>
          <a:noFill/>
          <a:ln/>
        </p:spPr>
        <p:txBody>
          <a:bodyPr wrap="square" rtlCol="0" anchor="ctr"/>
          <a:lstStyle/>
          <a:p>
            <a:pPr indent="0" marL="0">
              <a:buNone/>
            </a:pPr>
            <a:r>
              <a:rPr lang="en-US" sz="880" b="1" dirty="0">
                <a:solidFill>
                  <a:srgbClr val="0F172A"/>
                </a:solidFill>
                <a:latin typeface="Roboto" pitchFamily="34" charset="0"/>
                <a:ea typeface="Roboto" pitchFamily="34" charset="-122"/>
                <a:cs typeface="Roboto" pitchFamily="34" charset="-120"/>
              </a:rPr>
              <a:t>Commercial Pooled vs. Regulated PSC Spoke Split</a:t>
            </a:r>
            <a:endParaRPr lang="en-US" sz="880" dirty="0"/>
          </a:p>
        </p:txBody>
      </p:sp>
      <p:sp>
        <p:nvSpPr>
          <p:cNvPr id="19" name="Shape 17"/>
          <p:cNvSpPr/>
          <p:nvPr/>
        </p:nvSpPr>
        <p:spPr>
          <a:xfrm>
            <a:off x="3703320" y="566928"/>
            <a:ext cx="2560320" cy="5779008"/>
          </a:xfrm>
          <a:prstGeom prst="roundRect">
            <a:avLst>
              <a:gd name="adj" fmla="val 3571"/>
            </a:avLst>
          </a:prstGeom>
          <a:solidFill>
            <a:srgbClr val="FFFFFF"/>
          </a:solidFill>
          <a:ln w="17145">
            <a:solidFill>
              <a:srgbClr val="B06000"/>
            </a:solidFill>
            <a:prstDash val="solid"/>
          </a:ln>
        </p:spPr>
      </p:sp>
      <p:sp>
        <p:nvSpPr>
          <p:cNvPr id="20" name="Shape 18"/>
          <p:cNvSpPr/>
          <p:nvPr/>
        </p:nvSpPr>
        <p:spPr>
          <a:xfrm>
            <a:off x="3703320" y="566928"/>
            <a:ext cx="2560320" cy="310896"/>
          </a:xfrm>
          <a:prstGeom prst="rect">
            <a:avLst/>
          </a:prstGeom>
          <a:solidFill>
            <a:srgbClr val="FEF7E0"/>
          </a:solidFill>
          <a:ln/>
        </p:spPr>
      </p:sp>
      <p:sp>
        <p:nvSpPr>
          <p:cNvPr id="21" name="Text 19"/>
          <p:cNvSpPr/>
          <p:nvPr/>
        </p:nvSpPr>
        <p:spPr>
          <a:xfrm>
            <a:off x="3776472" y="594360"/>
            <a:ext cx="2414016" cy="256032"/>
          </a:xfrm>
          <a:prstGeom prst="rect">
            <a:avLst/>
          </a:prstGeom>
          <a:noFill/>
          <a:ln/>
        </p:spPr>
        <p:txBody>
          <a:bodyPr wrap="square" rtlCol="0" anchor="ctr"/>
          <a:lstStyle/>
          <a:p>
            <a:pPr algn="ctr" indent="0" marL="0">
              <a:buNone/>
            </a:pPr>
            <a:r>
              <a:rPr lang="en-US" sz="780" b="1" dirty="0">
                <a:solidFill>
                  <a:srgbClr val="B06000"/>
                </a:solidFill>
                <a:latin typeface="Google Sans" pitchFamily="34" charset="0"/>
                <a:ea typeface="Google Sans" pitchFamily="34" charset="-122"/>
                <a:cs typeface="Google Sans" pitchFamily="34" charset="-120"/>
              </a:rPr>
              <a:t>PATTERN A • HIGH-DENSITY POOL</a:t>
            </a:r>
            <a:endParaRPr lang="en-US" sz="780" dirty="0"/>
          </a:p>
        </p:txBody>
      </p:sp>
      <p:sp>
        <p:nvSpPr>
          <p:cNvPr id="22" name="Text 20"/>
          <p:cNvSpPr/>
          <p:nvPr/>
        </p:nvSpPr>
        <p:spPr>
          <a:xfrm>
            <a:off x="3831336" y="950976"/>
            <a:ext cx="2304288" cy="512064"/>
          </a:xfrm>
          <a:prstGeom prst="rect">
            <a:avLst/>
          </a:prstGeom>
          <a:noFill/>
          <a:ln/>
        </p:spPr>
        <p:txBody>
          <a:bodyPr wrap="square" rtlCol="0" anchor="ctr"/>
          <a:lstStyle/>
          <a:p>
            <a:pPr indent="0" marL="0">
              <a:buNone/>
            </a:pPr>
            <a:r>
              <a:rPr lang="en-US" sz="2800" b="1" dirty="0">
                <a:solidFill>
                  <a:srgbClr val="B06000"/>
                </a:solidFill>
                <a:latin typeface="Google Sans Display" pitchFamily="34" charset="0"/>
                <a:ea typeface="Google Sans Display" pitchFamily="34" charset="-122"/>
                <a:cs typeface="Google Sans Display" pitchFamily="34" charset="-120"/>
              </a:rPr>
              <a:t>84.7%</a:t>
            </a:r>
            <a:endParaRPr lang="en-US" sz="2800" dirty="0"/>
          </a:p>
        </p:txBody>
      </p:sp>
      <p:sp>
        <p:nvSpPr>
          <p:cNvPr id="23" name="Text 21"/>
          <p:cNvSpPr/>
          <p:nvPr/>
        </p:nvSpPr>
        <p:spPr>
          <a:xfrm>
            <a:off x="3831336" y="1481328"/>
            <a:ext cx="2304288" cy="237744"/>
          </a:xfrm>
          <a:prstGeom prst="rect">
            <a:avLst/>
          </a:prstGeom>
          <a:noFill/>
          <a:ln/>
        </p:spPr>
        <p:txBody>
          <a:bodyPr wrap="square" rtlCol="0" anchor="ctr"/>
          <a:lstStyle/>
          <a:p>
            <a:pPr indent="0" marL="0">
              <a:buNone/>
            </a:pPr>
            <a:r>
              <a:rPr lang="en-US" sz="880" b="1" dirty="0">
                <a:solidFill>
                  <a:srgbClr val="0F172A"/>
                </a:solidFill>
                <a:latin typeface="Google Sans" pitchFamily="34" charset="0"/>
                <a:ea typeface="Google Sans" pitchFamily="34" charset="-122"/>
                <a:cs typeface="Google Sans" pitchFamily="34" charset="-120"/>
              </a:rPr>
              <a:t>Net Token Cost Reduction</a:t>
            </a:r>
            <a:endParaRPr lang="en-US" sz="880" dirty="0"/>
          </a:p>
        </p:txBody>
      </p:sp>
      <p:sp>
        <p:nvSpPr>
          <p:cNvPr id="24" name="Shape 22"/>
          <p:cNvSpPr/>
          <p:nvPr/>
        </p:nvSpPr>
        <p:spPr>
          <a:xfrm>
            <a:off x="3831336" y="1847088"/>
            <a:ext cx="2304288" cy="749808"/>
          </a:xfrm>
          <a:prstGeom prst="roundRect">
            <a:avLst>
              <a:gd name="adj" fmla="val 7317"/>
            </a:avLst>
          </a:prstGeom>
          <a:solidFill>
            <a:srgbClr val="F8FAFC"/>
          </a:solidFill>
          <a:ln w="9525">
            <a:solidFill>
              <a:srgbClr val="E2E8F0"/>
            </a:solidFill>
            <a:prstDash val="solid"/>
          </a:ln>
        </p:spPr>
      </p:sp>
      <p:sp>
        <p:nvSpPr>
          <p:cNvPr id="25" name="Text 23"/>
          <p:cNvSpPr/>
          <p:nvPr/>
        </p:nvSpPr>
        <p:spPr>
          <a:xfrm>
            <a:off x="3904488" y="1901952"/>
            <a:ext cx="2157984" cy="201168"/>
          </a:xfrm>
          <a:prstGeom prst="rect">
            <a:avLst/>
          </a:prstGeom>
          <a:noFill/>
          <a:ln/>
        </p:spPr>
        <p:txBody>
          <a:bodyPr wrap="square" rtlCol="0" anchor="ctr"/>
          <a:lstStyle/>
          <a:p>
            <a:pPr indent="0" marL="0">
              <a:buNone/>
            </a:pPr>
            <a:r>
              <a:rPr lang="en-US" sz="750" b="1" dirty="0">
                <a:solidFill>
                  <a:srgbClr val="64748B"/>
                </a:solidFill>
                <a:latin typeface="Google Sans" pitchFamily="34" charset="0"/>
                <a:ea typeface="Google Sans" pitchFamily="34" charset="-122"/>
                <a:cs typeface="Google Sans" pitchFamily="34" charset="-120"/>
              </a:rPr>
              <a:t>TARGET TIER</a:t>
            </a:r>
            <a:endParaRPr lang="en-US" sz="750" dirty="0"/>
          </a:p>
        </p:txBody>
      </p:sp>
      <p:sp>
        <p:nvSpPr>
          <p:cNvPr id="26" name="Text 24"/>
          <p:cNvSpPr/>
          <p:nvPr/>
        </p:nvSpPr>
        <p:spPr>
          <a:xfrm>
            <a:off x="3904488" y="2103120"/>
            <a:ext cx="2157984" cy="438912"/>
          </a:xfrm>
          <a:prstGeom prst="rect">
            <a:avLst/>
          </a:prstGeom>
          <a:noFill/>
          <a:ln/>
        </p:spPr>
        <p:txBody>
          <a:bodyPr wrap="square" rtlCol="0" anchor="t"/>
          <a:lstStyle/>
          <a:p>
            <a:pPr indent="0" marL="0">
              <a:buNone/>
            </a:pPr>
            <a:r>
              <a:rPr lang="en-US" sz="850" b="1" dirty="0">
                <a:solidFill>
                  <a:srgbClr val="0F172A"/>
                </a:solidFill>
                <a:latin typeface="Roboto" pitchFamily="34" charset="0"/>
                <a:ea typeface="Roboto" pitchFamily="34" charset="-122"/>
                <a:cs typeface="Roboto" pitchFamily="34" charset="-120"/>
              </a:rPr>
              <a:t>Commercial SaaS (120 RPM)</a:t>
            </a:r>
            <a:endParaRPr lang="en-US" sz="850" dirty="0"/>
          </a:p>
        </p:txBody>
      </p:sp>
      <p:sp>
        <p:nvSpPr>
          <p:cNvPr id="27" name="Shape 25"/>
          <p:cNvSpPr/>
          <p:nvPr/>
        </p:nvSpPr>
        <p:spPr>
          <a:xfrm>
            <a:off x="3831336" y="2706624"/>
            <a:ext cx="2304288" cy="749808"/>
          </a:xfrm>
          <a:prstGeom prst="roundRect">
            <a:avLst>
              <a:gd name="adj" fmla="val 7317"/>
            </a:avLst>
          </a:prstGeom>
          <a:solidFill>
            <a:srgbClr val="F8FAFC"/>
          </a:solidFill>
          <a:ln w="9525">
            <a:solidFill>
              <a:srgbClr val="E2E8F0"/>
            </a:solidFill>
            <a:prstDash val="solid"/>
          </a:ln>
        </p:spPr>
      </p:sp>
      <p:sp>
        <p:nvSpPr>
          <p:cNvPr id="28" name="Text 26"/>
          <p:cNvSpPr/>
          <p:nvPr/>
        </p:nvSpPr>
        <p:spPr>
          <a:xfrm>
            <a:off x="3904488" y="2761488"/>
            <a:ext cx="2157984" cy="201168"/>
          </a:xfrm>
          <a:prstGeom prst="rect">
            <a:avLst/>
          </a:prstGeom>
          <a:noFill/>
          <a:ln/>
        </p:spPr>
        <p:txBody>
          <a:bodyPr wrap="square" rtlCol="0" anchor="ctr"/>
          <a:lstStyle/>
          <a:p>
            <a:pPr indent="0" marL="0">
              <a:buNone/>
            </a:pPr>
            <a:r>
              <a:rPr lang="en-US" sz="750" b="1" dirty="0">
                <a:solidFill>
                  <a:srgbClr val="64748B"/>
                </a:solidFill>
                <a:latin typeface="Google Sans" pitchFamily="34" charset="0"/>
                <a:ea typeface="Google Sans" pitchFamily="34" charset="-122"/>
                <a:cs typeface="Google Sans" pitchFamily="34" charset="-120"/>
              </a:rPr>
              <a:t>COMPUTE</a:t>
            </a:r>
            <a:endParaRPr lang="en-US" sz="750" dirty="0"/>
          </a:p>
        </p:txBody>
      </p:sp>
      <p:sp>
        <p:nvSpPr>
          <p:cNvPr id="29" name="Text 27"/>
          <p:cNvSpPr/>
          <p:nvPr/>
        </p:nvSpPr>
        <p:spPr>
          <a:xfrm>
            <a:off x="3904488" y="2962656"/>
            <a:ext cx="2157984" cy="438912"/>
          </a:xfrm>
          <a:prstGeom prst="rect">
            <a:avLst/>
          </a:prstGeom>
          <a:noFill/>
          <a:ln/>
        </p:spPr>
        <p:txBody>
          <a:bodyPr wrap="square" rtlCol="0" anchor="t"/>
          <a:lstStyle/>
          <a:p>
            <a:pPr indent="0" marL="0">
              <a:buNone/>
            </a:pPr>
            <a:r>
              <a:rPr lang="en-US" sz="850" b="1" dirty="0">
                <a:solidFill>
                  <a:srgbClr val="0F172A"/>
                </a:solidFill>
                <a:latin typeface="Roboto" pitchFamily="34" charset="0"/>
                <a:ea typeface="Roboto" pitchFamily="34" charset="-122"/>
                <a:cs typeface="Roboto" pitchFamily="34" charset="-120"/>
              </a:rPr>
              <a:t>Shared Cloud Run + gVisor (runsc)</a:t>
            </a:r>
            <a:endParaRPr lang="en-US" sz="850" dirty="0"/>
          </a:p>
        </p:txBody>
      </p:sp>
      <p:sp>
        <p:nvSpPr>
          <p:cNvPr id="30" name="Shape 28"/>
          <p:cNvSpPr/>
          <p:nvPr/>
        </p:nvSpPr>
        <p:spPr>
          <a:xfrm>
            <a:off x="3831336" y="3566160"/>
            <a:ext cx="2304288" cy="749808"/>
          </a:xfrm>
          <a:prstGeom prst="roundRect">
            <a:avLst>
              <a:gd name="adj" fmla="val 7317"/>
            </a:avLst>
          </a:prstGeom>
          <a:solidFill>
            <a:srgbClr val="F8FAFC"/>
          </a:solidFill>
          <a:ln w="9525">
            <a:solidFill>
              <a:srgbClr val="E2E8F0"/>
            </a:solidFill>
            <a:prstDash val="solid"/>
          </a:ln>
        </p:spPr>
      </p:sp>
      <p:sp>
        <p:nvSpPr>
          <p:cNvPr id="31" name="Text 29"/>
          <p:cNvSpPr/>
          <p:nvPr/>
        </p:nvSpPr>
        <p:spPr>
          <a:xfrm>
            <a:off x="3904488" y="3621024"/>
            <a:ext cx="2157984" cy="201168"/>
          </a:xfrm>
          <a:prstGeom prst="rect">
            <a:avLst/>
          </a:prstGeom>
          <a:noFill/>
          <a:ln/>
        </p:spPr>
        <p:txBody>
          <a:bodyPr wrap="square" rtlCol="0" anchor="ctr"/>
          <a:lstStyle/>
          <a:p>
            <a:pPr indent="0" marL="0">
              <a:buNone/>
            </a:pPr>
            <a:r>
              <a:rPr lang="en-US" sz="750" b="1" dirty="0">
                <a:solidFill>
                  <a:srgbClr val="64748B"/>
                </a:solidFill>
                <a:latin typeface="Google Sans" pitchFamily="34" charset="0"/>
                <a:ea typeface="Google Sans" pitchFamily="34" charset="-122"/>
                <a:cs typeface="Google Sans" pitchFamily="34" charset="-120"/>
              </a:rPr>
              <a:t>DATA GUARD</a:t>
            </a:r>
            <a:endParaRPr lang="en-US" sz="750" dirty="0"/>
          </a:p>
        </p:txBody>
      </p:sp>
      <p:sp>
        <p:nvSpPr>
          <p:cNvPr id="32" name="Text 30"/>
          <p:cNvSpPr/>
          <p:nvPr/>
        </p:nvSpPr>
        <p:spPr>
          <a:xfrm>
            <a:off x="3904488" y="3822192"/>
            <a:ext cx="2157984" cy="438912"/>
          </a:xfrm>
          <a:prstGeom prst="rect">
            <a:avLst/>
          </a:prstGeom>
          <a:noFill/>
          <a:ln/>
        </p:spPr>
        <p:txBody>
          <a:bodyPr wrap="square" rtlCol="0" anchor="t"/>
          <a:lstStyle/>
          <a:p>
            <a:pPr indent="0" marL="0">
              <a:buNone/>
            </a:pPr>
            <a:r>
              <a:rPr lang="en-US" sz="850" b="1" dirty="0">
                <a:solidFill>
                  <a:srgbClr val="0F172A"/>
                </a:solidFill>
                <a:latin typeface="Roboto" pitchFamily="34" charset="0"/>
                <a:ea typeface="Roboto" pitchFamily="34" charset="-122"/>
                <a:cs typeface="Roboto" pitchFamily="34" charset="-120"/>
              </a:rPr>
              <a:t>AlloyDB FORCE ROW LEVEL SECURITY</a:t>
            </a:r>
            <a:endParaRPr lang="en-US" sz="850" dirty="0"/>
          </a:p>
        </p:txBody>
      </p:sp>
      <p:sp>
        <p:nvSpPr>
          <p:cNvPr id="33" name="Shape 31"/>
          <p:cNvSpPr/>
          <p:nvPr/>
        </p:nvSpPr>
        <p:spPr>
          <a:xfrm>
            <a:off x="3831336" y="4425696"/>
            <a:ext cx="2304288" cy="749808"/>
          </a:xfrm>
          <a:prstGeom prst="roundRect">
            <a:avLst>
              <a:gd name="adj" fmla="val 7317"/>
            </a:avLst>
          </a:prstGeom>
          <a:solidFill>
            <a:srgbClr val="F8FAFC"/>
          </a:solidFill>
          <a:ln w="9525">
            <a:solidFill>
              <a:srgbClr val="E2E8F0"/>
            </a:solidFill>
            <a:prstDash val="solid"/>
          </a:ln>
        </p:spPr>
      </p:sp>
      <p:sp>
        <p:nvSpPr>
          <p:cNvPr id="34" name="Text 32"/>
          <p:cNvSpPr/>
          <p:nvPr/>
        </p:nvSpPr>
        <p:spPr>
          <a:xfrm>
            <a:off x="3904488" y="4480560"/>
            <a:ext cx="2157984" cy="201168"/>
          </a:xfrm>
          <a:prstGeom prst="rect">
            <a:avLst/>
          </a:prstGeom>
          <a:noFill/>
          <a:ln/>
        </p:spPr>
        <p:txBody>
          <a:bodyPr wrap="square" rtlCol="0" anchor="ctr"/>
          <a:lstStyle/>
          <a:p>
            <a:pPr indent="0" marL="0">
              <a:buNone/>
            </a:pPr>
            <a:r>
              <a:rPr lang="en-US" sz="750" b="1" dirty="0">
                <a:solidFill>
                  <a:srgbClr val="64748B"/>
                </a:solidFill>
                <a:latin typeface="Google Sans" pitchFamily="34" charset="0"/>
                <a:ea typeface="Google Sans" pitchFamily="34" charset="-122"/>
                <a:cs typeface="Google Sans" pitchFamily="34" charset="-120"/>
              </a:rPr>
              <a:t>CMEK / L1</a:t>
            </a:r>
            <a:endParaRPr lang="en-US" sz="750" dirty="0"/>
          </a:p>
        </p:txBody>
      </p:sp>
      <p:sp>
        <p:nvSpPr>
          <p:cNvPr id="35" name="Text 33"/>
          <p:cNvSpPr/>
          <p:nvPr/>
        </p:nvSpPr>
        <p:spPr>
          <a:xfrm>
            <a:off x="3904488" y="4681728"/>
            <a:ext cx="2157984" cy="438912"/>
          </a:xfrm>
          <a:prstGeom prst="rect">
            <a:avLst/>
          </a:prstGeom>
          <a:noFill/>
          <a:ln/>
        </p:spPr>
        <p:txBody>
          <a:bodyPr wrap="square" rtlCol="0" anchor="t"/>
          <a:lstStyle/>
          <a:p>
            <a:pPr indent="0" marL="0">
              <a:buNone/>
            </a:pPr>
            <a:r>
              <a:rPr lang="en-US" sz="850" b="1" dirty="0">
                <a:solidFill>
                  <a:srgbClr val="0F172A"/>
                </a:solidFill>
                <a:latin typeface="Roboto" pitchFamily="34" charset="0"/>
                <a:ea typeface="Roboto" pitchFamily="34" charset="-122"/>
                <a:cs typeface="Roboto" pitchFamily="34" charset="-120"/>
              </a:rPr>
              <a:t>Shared KMS + &lt;5s Valkey flush</a:t>
            </a:r>
            <a:endParaRPr lang="en-US" sz="850" dirty="0"/>
          </a:p>
        </p:txBody>
      </p:sp>
      <p:sp>
        <p:nvSpPr>
          <p:cNvPr id="36" name="Shape 34"/>
          <p:cNvSpPr/>
          <p:nvPr/>
        </p:nvSpPr>
        <p:spPr>
          <a:xfrm>
            <a:off x="3831336" y="5285232"/>
            <a:ext cx="2304288" cy="749808"/>
          </a:xfrm>
          <a:prstGeom prst="roundRect">
            <a:avLst>
              <a:gd name="adj" fmla="val 7317"/>
            </a:avLst>
          </a:prstGeom>
          <a:solidFill>
            <a:srgbClr val="F8FAFC"/>
          </a:solidFill>
          <a:ln w="9525">
            <a:solidFill>
              <a:srgbClr val="E2E8F0"/>
            </a:solidFill>
            <a:prstDash val="solid"/>
          </a:ln>
        </p:spPr>
      </p:sp>
      <p:sp>
        <p:nvSpPr>
          <p:cNvPr id="37" name="Text 35"/>
          <p:cNvSpPr/>
          <p:nvPr/>
        </p:nvSpPr>
        <p:spPr>
          <a:xfrm>
            <a:off x="3904488" y="5340096"/>
            <a:ext cx="2157984" cy="201168"/>
          </a:xfrm>
          <a:prstGeom prst="rect">
            <a:avLst/>
          </a:prstGeom>
          <a:noFill/>
          <a:ln/>
        </p:spPr>
        <p:txBody>
          <a:bodyPr wrap="square" rtlCol="0" anchor="ctr"/>
          <a:lstStyle/>
          <a:p>
            <a:pPr indent="0" marL="0">
              <a:buNone/>
            </a:pPr>
            <a:r>
              <a:rPr lang="en-US" sz="750" b="1" dirty="0">
                <a:solidFill>
                  <a:srgbClr val="64748B"/>
                </a:solidFill>
                <a:latin typeface="Google Sans" pitchFamily="34" charset="0"/>
                <a:ea typeface="Google Sans" pitchFamily="34" charset="-122"/>
                <a:cs typeface="Google Sans" pitchFamily="34" charset="-120"/>
              </a:rPr>
              <a:t>IAC FOOTPRINT</a:t>
            </a:r>
            <a:endParaRPr lang="en-US" sz="750" dirty="0"/>
          </a:p>
        </p:txBody>
      </p:sp>
      <p:sp>
        <p:nvSpPr>
          <p:cNvPr id="38" name="Text 36"/>
          <p:cNvSpPr/>
          <p:nvPr/>
        </p:nvSpPr>
        <p:spPr>
          <a:xfrm>
            <a:off x="3904488" y="5541264"/>
            <a:ext cx="2157984" cy="438912"/>
          </a:xfrm>
          <a:prstGeom prst="rect">
            <a:avLst/>
          </a:prstGeom>
          <a:noFill/>
          <a:ln/>
        </p:spPr>
        <p:txBody>
          <a:bodyPr wrap="square" rtlCol="0" anchor="t"/>
          <a:lstStyle/>
          <a:p>
            <a:pPr indent="0" marL="0">
              <a:buNone/>
            </a:pPr>
            <a:r>
              <a:rPr lang="en-US" sz="850" b="1" dirty="0">
                <a:solidFill>
                  <a:srgbClr val="0F172A"/>
                </a:solidFill>
                <a:latin typeface="Roboto" pitchFamily="34" charset="0"/>
                <a:ea typeface="Roboto" pitchFamily="34" charset="-122"/>
                <a:cs typeface="Roboto" pitchFamily="34" charset="-120"/>
              </a:rPr>
              <a:t>1 shared GCP project (zero sprawl)</a:t>
            </a:r>
            <a:endParaRPr lang="en-US" sz="850" dirty="0"/>
          </a:p>
        </p:txBody>
      </p:sp>
      <p:sp>
        <p:nvSpPr>
          <p:cNvPr id="39" name="Shape 37"/>
          <p:cNvSpPr/>
          <p:nvPr/>
        </p:nvSpPr>
        <p:spPr>
          <a:xfrm>
            <a:off x="6492240" y="566928"/>
            <a:ext cx="2560320" cy="5779008"/>
          </a:xfrm>
          <a:prstGeom prst="roundRect">
            <a:avLst>
              <a:gd name="adj" fmla="val 3571"/>
            </a:avLst>
          </a:prstGeom>
          <a:solidFill>
            <a:srgbClr val="FFFFFF"/>
          </a:solidFill>
          <a:ln w="17145">
            <a:solidFill>
              <a:srgbClr val="D93025"/>
            </a:solidFill>
            <a:prstDash val="solid"/>
          </a:ln>
        </p:spPr>
      </p:sp>
      <p:sp>
        <p:nvSpPr>
          <p:cNvPr id="40" name="Shape 38"/>
          <p:cNvSpPr/>
          <p:nvPr/>
        </p:nvSpPr>
        <p:spPr>
          <a:xfrm>
            <a:off x="6492240" y="566928"/>
            <a:ext cx="2560320" cy="310896"/>
          </a:xfrm>
          <a:prstGeom prst="rect">
            <a:avLst/>
          </a:prstGeom>
          <a:solidFill>
            <a:srgbClr val="FCE8E6"/>
          </a:solidFill>
          <a:ln/>
        </p:spPr>
      </p:sp>
      <p:sp>
        <p:nvSpPr>
          <p:cNvPr id="41" name="Text 39"/>
          <p:cNvSpPr/>
          <p:nvPr/>
        </p:nvSpPr>
        <p:spPr>
          <a:xfrm>
            <a:off x="6565392" y="594360"/>
            <a:ext cx="2414016" cy="256032"/>
          </a:xfrm>
          <a:prstGeom prst="rect">
            <a:avLst/>
          </a:prstGeom>
          <a:noFill/>
          <a:ln/>
        </p:spPr>
        <p:txBody>
          <a:bodyPr wrap="square" rtlCol="0" anchor="ctr"/>
          <a:lstStyle/>
          <a:p>
            <a:pPr algn="ctr" indent="0" marL="0">
              <a:buNone/>
            </a:pPr>
            <a:r>
              <a:rPr lang="en-US" sz="780" b="1" dirty="0">
                <a:solidFill>
                  <a:srgbClr val="D93025"/>
                </a:solidFill>
                <a:latin typeface="Google Sans" pitchFamily="34" charset="0"/>
                <a:ea typeface="Google Sans" pitchFamily="34" charset="-122"/>
                <a:cs typeface="Google Sans" pitchFamily="34" charset="-120"/>
              </a:rPr>
              <a:t>PATTERN B • SOVEREIGN SILOS</a:t>
            </a:r>
            <a:endParaRPr lang="en-US" sz="780" dirty="0"/>
          </a:p>
        </p:txBody>
      </p:sp>
      <p:sp>
        <p:nvSpPr>
          <p:cNvPr id="42" name="Text 40"/>
          <p:cNvSpPr/>
          <p:nvPr/>
        </p:nvSpPr>
        <p:spPr>
          <a:xfrm>
            <a:off x="6620256" y="950976"/>
            <a:ext cx="2304288" cy="512064"/>
          </a:xfrm>
          <a:prstGeom prst="rect">
            <a:avLst/>
          </a:prstGeom>
          <a:noFill/>
          <a:ln/>
        </p:spPr>
        <p:txBody>
          <a:bodyPr wrap="square" rtlCol="0" anchor="ctr"/>
          <a:lstStyle/>
          <a:p>
            <a:pPr indent="0" marL="0">
              <a:buNone/>
            </a:pPr>
            <a:r>
              <a:rPr lang="en-US" sz="2800" b="1" dirty="0">
                <a:solidFill>
                  <a:srgbClr val="D93025"/>
                </a:solidFill>
                <a:latin typeface="Google Sans Display" pitchFamily="34" charset="0"/>
                <a:ea typeface="Google Sans Display" pitchFamily="34" charset="-122"/>
                <a:cs typeface="Google Sans Display" pitchFamily="34" charset="-120"/>
              </a:rPr>
              <a:t>&lt;60s</a:t>
            </a:r>
            <a:endParaRPr lang="en-US" sz="2800" dirty="0"/>
          </a:p>
        </p:txBody>
      </p:sp>
      <p:sp>
        <p:nvSpPr>
          <p:cNvPr id="43" name="Text 41"/>
          <p:cNvSpPr/>
          <p:nvPr/>
        </p:nvSpPr>
        <p:spPr>
          <a:xfrm>
            <a:off x="6620256" y="1481328"/>
            <a:ext cx="2304288" cy="237744"/>
          </a:xfrm>
          <a:prstGeom prst="rect">
            <a:avLst/>
          </a:prstGeom>
          <a:noFill/>
          <a:ln/>
        </p:spPr>
        <p:txBody>
          <a:bodyPr wrap="square" rtlCol="0" anchor="ctr"/>
          <a:lstStyle/>
          <a:p>
            <a:pPr indent="0" marL="0">
              <a:buNone/>
            </a:pPr>
            <a:r>
              <a:rPr lang="en-US" sz="880" b="1" dirty="0">
                <a:solidFill>
                  <a:srgbClr val="0F172A"/>
                </a:solidFill>
                <a:latin typeface="Google Sans" pitchFamily="34" charset="0"/>
                <a:ea typeface="Google Sans" pitchFamily="34" charset="-122"/>
                <a:cs typeface="Google Sans" pitchFamily="34" charset="-120"/>
              </a:rPr>
              <a:t>CMEK HTTP 423 Kill-Switch</a:t>
            </a:r>
            <a:endParaRPr lang="en-US" sz="880" dirty="0"/>
          </a:p>
        </p:txBody>
      </p:sp>
      <p:sp>
        <p:nvSpPr>
          <p:cNvPr id="44" name="Shape 42"/>
          <p:cNvSpPr/>
          <p:nvPr/>
        </p:nvSpPr>
        <p:spPr>
          <a:xfrm>
            <a:off x="6620256" y="1847088"/>
            <a:ext cx="2304288" cy="749808"/>
          </a:xfrm>
          <a:prstGeom prst="roundRect">
            <a:avLst>
              <a:gd name="adj" fmla="val 7317"/>
            </a:avLst>
          </a:prstGeom>
          <a:solidFill>
            <a:srgbClr val="F8FAFC"/>
          </a:solidFill>
          <a:ln w="9525">
            <a:solidFill>
              <a:srgbClr val="E2E8F0"/>
            </a:solidFill>
            <a:prstDash val="solid"/>
          </a:ln>
        </p:spPr>
      </p:sp>
      <p:sp>
        <p:nvSpPr>
          <p:cNvPr id="45" name="Text 43"/>
          <p:cNvSpPr/>
          <p:nvPr/>
        </p:nvSpPr>
        <p:spPr>
          <a:xfrm>
            <a:off x="6693408" y="1901952"/>
            <a:ext cx="2157984" cy="201168"/>
          </a:xfrm>
          <a:prstGeom prst="rect">
            <a:avLst/>
          </a:prstGeom>
          <a:noFill/>
          <a:ln/>
        </p:spPr>
        <p:txBody>
          <a:bodyPr wrap="square" rtlCol="0" anchor="ctr"/>
          <a:lstStyle/>
          <a:p>
            <a:pPr indent="0" marL="0">
              <a:buNone/>
            </a:pPr>
            <a:r>
              <a:rPr lang="en-US" sz="750" b="1" dirty="0">
                <a:solidFill>
                  <a:srgbClr val="64748B"/>
                </a:solidFill>
                <a:latin typeface="Google Sans" pitchFamily="34" charset="0"/>
                <a:ea typeface="Google Sans" pitchFamily="34" charset="-122"/>
                <a:cs typeface="Google Sans" pitchFamily="34" charset="-120"/>
              </a:rPr>
              <a:t>TARGET TIER</a:t>
            </a:r>
            <a:endParaRPr lang="en-US" sz="750" dirty="0"/>
          </a:p>
        </p:txBody>
      </p:sp>
      <p:sp>
        <p:nvSpPr>
          <p:cNvPr id="46" name="Text 44"/>
          <p:cNvSpPr/>
          <p:nvPr/>
        </p:nvSpPr>
        <p:spPr>
          <a:xfrm>
            <a:off x="6693408" y="2103120"/>
            <a:ext cx="2157984" cy="438912"/>
          </a:xfrm>
          <a:prstGeom prst="rect">
            <a:avLst/>
          </a:prstGeom>
          <a:noFill/>
          <a:ln/>
        </p:spPr>
        <p:txBody>
          <a:bodyPr wrap="square" rtlCol="0" anchor="t"/>
          <a:lstStyle/>
          <a:p>
            <a:pPr indent="0" marL="0">
              <a:buNone/>
            </a:pPr>
            <a:r>
              <a:rPr lang="en-US" sz="850" b="1" dirty="0">
                <a:solidFill>
                  <a:srgbClr val="0F172A"/>
                </a:solidFill>
                <a:latin typeface="Roboto" pitchFamily="34" charset="0"/>
                <a:ea typeface="Roboto" pitchFamily="34" charset="-122"/>
                <a:cs typeface="Roboto" pitchFamily="34" charset="-120"/>
              </a:rPr>
              <a:t>Regulated Banking / Fed (600 RPM)</a:t>
            </a:r>
            <a:endParaRPr lang="en-US" sz="850" dirty="0"/>
          </a:p>
        </p:txBody>
      </p:sp>
      <p:sp>
        <p:nvSpPr>
          <p:cNvPr id="47" name="Shape 45"/>
          <p:cNvSpPr/>
          <p:nvPr/>
        </p:nvSpPr>
        <p:spPr>
          <a:xfrm>
            <a:off x="6620256" y="2706624"/>
            <a:ext cx="2304288" cy="749808"/>
          </a:xfrm>
          <a:prstGeom prst="roundRect">
            <a:avLst>
              <a:gd name="adj" fmla="val 7317"/>
            </a:avLst>
          </a:prstGeom>
          <a:solidFill>
            <a:srgbClr val="F8FAFC"/>
          </a:solidFill>
          <a:ln w="9525">
            <a:solidFill>
              <a:srgbClr val="E2E8F0"/>
            </a:solidFill>
            <a:prstDash val="solid"/>
          </a:ln>
        </p:spPr>
      </p:sp>
      <p:sp>
        <p:nvSpPr>
          <p:cNvPr id="48" name="Text 46"/>
          <p:cNvSpPr/>
          <p:nvPr/>
        </p:nvSpPr>
        <p:spPr>
          <a:xfrm>
            <a:off x="6693408" y="2761488"/>
            <a:ext cx="2157984" cy="201168"/>
          </a:xfrm>
          <a:prstGeom prst="rect">
            <a:avLst/>
          </a:prstGeom>
          <a:noFill/>
          <a:ln/>
        </p:spPr>
        <p:txBody>
          <a:bodyPr wrap="square" rtlCol="0" anchor="ctr"/>
          <a:lstStyle/>
          <a:p>
            <a:pPr indent="0" marL="0">
              <a:buNone/>
            </a:pPr>
            <a:r>
              <a:rPr lang="en-US" sz="750" b="1" dirty="0">
                <a:solidFill>
                  <a:srgbClr val="64748B"/>
                </a:solidFill>
                <a:latin typeface="Google Sans" pitchFamily="34" charset="0"/>
                <a:ea typeface="Google Sans" pitchFamily="34" charset="-122"/>
                <a:cs typeface="Google Sans" pitchFamily="34" charset="-120"/>
              </a:rPr>
              <a:t>COMPUTE</a:t>
            </a:r>
            <a:endParaRPr lang="en-US" sz="750" dirty="0"/>
          </a:p>
        </p:txBody>
      </p:sp>
      <p:sp>
        <p:nvSpPr>
          <p:cNvPr id="49" name="Text 47"/>
          <p:cNvSpPr/>
          <p:nvPr/>
        </p:nvSpPr>
        <p:spPr>
          <a:xfrm>
            <a:off x="6693408" y="2962656"/>
            <a:ext cx="2157984" cy="438912"/>
          </a:xfrm>
          <a:prstGeom prst="rect">
            <a:avLst/>
          </a:prstGeom>
          <a:noFill/>
          <a:ln/>
        </p:spPr>
        <p:txBody>
          <a:bodyPr wrap="square" rtlCol="0" anchor="t"/>
          <a:lstStyle/>
          <a:p>
            <a:pPr indent="0" marL="0">
              <a:buNone/>
            </a:pPr>
            <a:r>
              <a:rPr lang="en-US" sz="850" b="1" dirty="0">
                <a:solidFill>
                  <a:srgbClr val="0F172A"/>
                </a:solidFill>
                <a:latin typeface="Roboto" pitchFamily="34" charset="0"/>
                <a:ea typeface="Roboto" pitchFamily="34" charset="-122"/>
                <a:cs typeface="Roboto" pitchFamily="34" charset="-120"/>
              </a:rPr>
              <a:t>Dedicated Vertex PT or GKE Gemma 3</a:t>
            </a:r>
            <a:endParaRPr lang="en-US" sz="850" dirty="0"/>
          </a:p>
        </p:txBody>
      </p:sp>
      <p:sp>
        <p:nvSpPr>
          <p:cNvPr id="50" name="Shape 48"/>
          <p:cNvSpPr/>
          <p:nvPr/>
        </p:nvSpPr>
        <p:spPr>
          <a:xfrm>
            <a:off x="6620256" y="3566160"/>
            <a:ext cx="2304288" cy="749808"/>
          </a:xfrm>
          <a:prstGeom prst="roundRect">
            <a:avLst>
              <a:gd name="adj" fmla="val 7317"/>
            </a:avLst>
          </a:prstGeom>
          <a:solidFill>
            <a:srgbClr val="F8FAFC"/>
          </a:solidFill>
          <a:ln w="9525">
            <a:solidFill>
              <a:srgbClr val="E2E8F0"/>
            </a:solidFill>
            <a:prstDash val="solid"/>
          </a:ln>
        </p:spPr>
      </p:sp>
      <p:sp>
        <p:nvSpPr>
          <p:cNvPr id="51" name="Text 49"/>
          <p:cNvSpPr/>
          <p:nvPr/>
        </p:nvSpPr>
        <p:spPr>
          <a:xfrm>
            <a:off x="6693408" y="3621024"/>
            <a:ext cx="2157984" cy="201168"/>
          </a:xfrm>
          <a:prstGeom prst="rect">
            <a:avLst/>
          </a:prstGeom>
          <a:noFill/>
          <a:ln/>
        </p:spPr>
        <p:txBody>
          <a:bodyPr wrap="square" rtlCol="0" anchor="ctr"/>
          <a:lstStyle/>
          <a:p>
            <a:pPr indent="0" marL="0">
              <a:buNone/>
            </a:pPr>
            <a:r>
              <a:rPr lang="en-US" sz="750" b="1" dirty="0">
                <a:solidFill>
                  <a:srgbClr val="64748B"/>
                </a:solidFill>
                <a:latin typeface="Google Sans" pitchFamily="34" charset="0"/>
                <a:ea typeface="Google Sans" pitchFamily="34" charset="-122"/>
                <a:cs typeface="Google Sans" pitchFamily="34" charset="-120"/>
              </a:rPr>
              <a:t>DATA GUARD</a:t>
            </a:r>
            <a:endParaRPr lang="en-US" sz="750" dirty="0"/>
          </a:p>
        </p:txBody>
      </p:sp>
      <p:sp>
        <p:nvSpPr>
          <p:cNvPr id="52" name="Text 50"/>
          <p:cNvSpPr/>
          <p:nvPr/>
        </p:nvSpPr>
        <p:spPr>
          <a:xfrm>
            <a:off x="6693408" y="3822192"/>
            <a:ext cx="2157984" cy="438912"/>
          </a:xfrm>
          <a:prstGeom prst="rect">
            <a:avLst/>
          </a:prstGeom>
          <a:noFill/>
          <a:ln/>
        </p:spPr>
        <p:txBody>
          <a:bodyPr wrap="square" rtlCol="0" anchor="t"/>
          <a:lstStyle/>
          <a:p>
            <a:pPr indent="0" marL="0">
              <a:buNone/>
            </a:pPr>
            <a:r>
              <a:rPr lang="en-US" sz="850" b="1" dirty="0">
                <a:solidFill>
                  <a:srgbClr val="0F172A"/>
                </a:solidFill>
                <a:latin typeface="Roboto" pitchFamily="34" charset="0"/>
                <a:ea typeface="Roboto" pitchFamily="34" charset="-122"/>
                <a:cs typeface="Roboto" pitchFamily="34" charset="-120"/>
              </a:rPr>
              <a:t>Dedicated AlloyDB + VPC-SC perimeter</a:t>
            </a:r>
            <a:endParaRPr lang="en-US" sz="850" dirty="0"/>
          </a:p>
        </p:txBody>
      </p:sp>
      <p:sp>
        <p:nvSpPr>
          <p:cNvPr id="53" name="Shape 51"/>
          <p:cNvSpPr/>
          <p:nvPr/>
        </p:nvSpPr>
        <p:spPr>
          <a:xfrm>
            <a:off x="6620256" y="4425696"/>
            <a:ext cx="2304288" cy="749808"/>
          </a:xfrm>
          <a:prstGeom prst="roundRect">
            <a:avLst>
              <a:gd name="adj" fmla="val 7317"/>
            </a:avLst>
          </a:prstGeom>
          <a:solidFill>
            <a:srgbClr val="F8FAFC"/>
          </a:solidFill>
          <a:ln w="9525">
            <a:solidFill>
              <a:srgbClr val="E2E8F0"/>
            </a:solidFill>
            <a:prstDash val="solid"/>
          </a:ln>
        </p:spPr>
      </p:sp>
      <p:sp>
        <p:nvSpPr>
          <p:cNvPr id="54" name="Text 52"/>
          <p:cNvSpPr/>
          <p:nvPr/>
        </p:nvSpPr>
        <p:spPr>
          <a:xfrm>
            <a:off x="6693408" y="4480560"/>
            <a:ext cx="2157984" cy="201168"/>
          </a:xfrm>
          <a:prstGeom prst="rect">
            <a:avLst/>
          </a:prstGeom>
          <a:noFill/>
          <a:ln/>
        </p:spPr>
        <p:txBody>
          <a:bodyPr wrap="square" rtlCol="0" anchor="ctr"/>
          <a:lstStyle/>
          <a:p>
            <a:pPr indent="0" marL="0">
              <a:buNone/>
            </a:pPr>
            <a:r>
              <a:rPr lang="en-US" sz="750" b="1" dirty="0">
                <a:solidFill>
                  <a:srgbClr val="64748B"/>
                </a:solidFill>
                <a:latin typeface="Google Sans" pitchFamily="34" charset="0"/>
                <a:ea typeface="Google Sans" pitchFamily="34" charset="-122"/>
                <a:cs typeface="Google Sans" pitchFamily="34" charset="-120"/>
              </a:rPr>
              <a:t>CMEK / L1</a:t>
            </a:r>
            <a:endParaRPr lang="en-US" sz="750" dirty="0"/>
          </a:p>
        </p:txBody>
      </p:sp>
      <p:sp>
        <p:nvSpPr>
          <p:cNvPr id="55" name="Text 53"/>
          <p:cNvSpPr/>
          <p:nvPr/>
        </p:nvSpPr>
        <p:spPr>
          <a:xfrm>
            <a:off x="6693408" y="4681728"/>
            <a:ext cx="2157984" cy="438912"/>
          </a:xfrm>
          <a:prstGeom prst="rect">
            <a:avLst/>
          </a:prstGeom>
          <a:noFill/>
          <a:ln/>
        </p:spPr>
        <p:txBody>
          <a:bodyPr wrap="square" rtlCol="0" anchor="t"/>
          <a:lstStyle/>
          <a:p>
            <a:pPr indent="0" marL="0">
              <a:buNone/>
            </a:pPr>
            <a:r>
              <a:rPr lang="en-US" sz="850" b="1" dirty="0">
                <a:solidFill>
                  <a:srgbClr val="0F172A"/>
                </a:solidFill>
                <a:latin typeface="Roboto" pitchFamily="34" charset="0"/>
                <a:ea typeface="Roboto" pitchFamily="34" charset="-122"/>
                <a:cs typeface="Roboto" pitchFamily="34" charset="-120"/>
              </a:rPr>
              <a:t>Customer-held KMS + &lt;5s L1 purge</a:t>
            </a:r>
            <a:endParaRPr lang="en-US" sz="850" dirty="0"/>
          </a:p>
        </p:txBody>
      </p:sp>
      <p:sp>
        <p:nvSpPr>
          <p:cNvPr id="56" name="Shape 54"/>
          <p:cNvSpPr/>
          <p:nvPr/>
        </p:nvSpPr>
        <p:spPr>
          <a:xfrm>
            <a:off x="6620256" y="5285232"/>
            <a:ext cx="2304288" cy="749808"/>
          </a:xfrm>
          <a:prstGeom prst="roundRect">
            <a:avLst>
              <a:gd name="adj" fmla="val 7317"/>
            </a:avLst>
          </a:prstGeom>
          <a:solidFill>
            <a:srgbClr val="F8FAFC"/>
          </a:solidFill>
          <a:ln w="9525">
            <a:solidFill>
              <a:srgbClr val="E2E8F0"/>
            </a:solidFill>
            <a:prstDash val="solid"/>
          </a:ln>
        </p:spPr>
      </p:sp>
      <p:sp>
        <p:nvSpPr>
          <p:cNvPr id="57" name="Text 55"/>
          <p:cNvSpPr/>
          <p:nvPr/>
        </p:nvSpPr>
        <p:spPr>
          <a:xfrm>
            <a:off x="6693408" y="5340096"/>
            <a:ext cx="2157984" cy="201168"/>
          </a:xfrm>
          <a:prstGeom prst="rect">
            <a:avLst/>
          </a:prstGeom>
          <a:noFill/>
          <a:ln/>
        </p:spPr>
        <p:txBody>
          <a:bodyPr wrap="square" rtlCol="0" anchor="ctr"/>
          <a:lstStyle/>
          <a:p>
            <a:pPr indent="0" marL="0">
              <a:buNone/>
            </a:pPr>
            <a:r>
              <a:rPr lang="en-US" sz="750" b="1" dirty="0">
                <a:solidFill>
                  <a:srgbClr val="64748B"/>
                </a:solidFill>
                <a:latin typeface="Google Sans" pitchFamily="34" charset="0"/>
                <a:ea typeface="Google Sans" pitchFamily="34" charset="-122"/>
                <a:cs typeface="Google Sans" pitchFamily="34" charset="-120"/>
              </a:rPr>
              <a:t>IAC FOOTPRINT</a:t>
            </a:r>
            <a:endParaRPr lang="en-US" sz="750" dirty="0"/>
          </a:p>
        </p:txBody>
      </p:sp>
      <p:sp>
        <p:nvSpPr>
          <p:cNvPr id="58" name="Text 56"/>
          <p:cNvSpPr/>
          <p:nvPr/>
        </p:nvSpPr>
        <p:spPr>
          <a:xfrm>
            <a:off x="6693408" y="5541264"/>
            <a:ext cx="2157984" cy="438912"/>
          </a:xfrm>
          <a:prstGeom prst="rect">
            <a:avLst/>
          </a:prstGeom>
          <a:noFill/>
          <a:ln/>
        </p:spPr>
        <p:txBody>
          <a:bodyPr wrap="square" rtlCol="0" anchor="t"/>
          <a:lstStyle/>
          <a:p>
            <a:pPr indent="0" marL="0">
              <a:buNone/>
            </a:pPr>
            <a:r>
              <a:rPr lang="en-US" sz="850" b="1" dirty="0">
                <a:solidFill>
                  <a:srgbClr val="0F172A"/>
                </a:solidFill>
                <a:latin typeface="Roboto" pitchFamily="34" charset="0"/>
                <a:ea typeface="Roboto" pitchFamily="34" charset="-122"/>
                <a:cs typeface="Roboto" pitchFamily="34" charset="-120"/>
              </a:rPr>
              <a:t>1 dedicated project per regulated tenant</a:t>
            </a:r>
            <a:endParaRPr lang="en-US" sz="850" dirty="0"/>
          </a:p>
        </p:txBody>
      </p:sp>
      <p:sp>
        <p:nvSpPr>
          <p:cNvPr id="59" name="Shape 57"/>
          <p:cNvSpPr/>
          <p:nvPr/>
        </p:nvSpPr>
        <p:spPr>
          <a:xfrm>
            <a:off x="9281160" y="566928"/>
            <a:ext cx="2560320" cy="5779008"/>
          </a:xfrm>
          <a:prstGeom prst="roundRect">
            <a:avLst>
              <a:gd name="adj" fmla="val 3571"/>
            </a:avLst>
          </a:prstGeom>
          <a:solidFill>
            <a:srgbClr val="FFFFFF"/>
          </a:solidFill>
          <a:ln w="17145">
            <a:solidFill>
              <a:srgbClr val="1E8E3E"/>
            </a:solidFill>
            <a:prstDash val="solid"/>
          </a:ln>
        </p:spPr>
      </p:sp>
      <p:sp>
        <p:nvSpPr>
          <p:cNvPr id="60" name="Shape 58"/>
          <p:cNvSpPr/>
          <p:nvPr/>
        </p:nvSpPr>
        <p:spPr>
          <a:xfrm>
            <a:off x="9281160" y="566928"/>
            <a:ext cx="2560320" cy="310896"/>
          </a:xfrm>
          <a:prstGeom prst="rect">
            <a:avLst/>
          </a:prstGeom>
          <a:solidFill>
            <a:srgbClr val="E6F4EA"/>
          </a:solidFill>
          <a:ln/>
        </p:spPr>
      </p:sp>
      <p:sp>
        <p:nvSpPr>
          <p:cNvPr id="61" name="Text 59"/>
          <p:cNvSpPr/>
          <p:nvPr/>
        </p:nvSpPr>
        <p:spPr>
          <a:xfrm>
            <a:off x="9354312" y="594360"/>
            <a:ext cx="2414016" cy="256032"/>
          </a:xfrm>
          <a:prstGeom prst="rect">
            <a:avLst/>
          </a:prstGeom>
          <a:noFill/>
          <a:ln/>
        </p:spPr>
        <p:txBody>
          <a:bodyPr wrap="square" rtlCol="0" anchor="ctr"/>
          <a:lstStyle/>
          <a:p>
            <a:pPr algn="ctr" indent="0" marL="0">
              <a:buNone/>
            </a:pPr>
            <a:r>
              <a:rPr lang="en-US" sz="780" b="1" dirty="0">
                <a:solidFill>
                  <a:srgbClr val="1E8E3E"/>
                </a:solidFill>
                <a:latin typeface="Google Sans" pitchFamily="34" charset="0"/>
                <a:ea typeface="Google Sans" pitchFamily="34" charset="-122"/>
                <a:cs typeface="Google Sans" pitchFamily="34" charset="-120"/>
              </a:rPr>
              <a:t>PATTERN C • HYBRID PSC BRIDGE</a:t>
            </a:r>
            <a:endParaRPr lang="en-US" sz="780" dirty="0"/>
          </a:p>
        </p:txBody>
      </p:sp>
      <p:sp>
        <p:nvSpPr>
          <p:cNvPr id="62" name="Text 60"/>
          <p:cNvSpPr/>
          <p:nvPr/>
        </p:nvSpPr>
        <p:spPr>
          <a:xfrm>
            <a:off x="9409176" y="950976"/>
            <a:ext cx="2304288" cy="512064"/>
          </a:xfrm>
          <a:prstGeom prst="rect">
            <a:avLst/>
          </a:prstGeom>
          <a:noFill/>
          <a:ln/>
        </p:spPr>
        <p:txBody>
          <a:bodyPr wrap="square" rtlCol="0" anchor="ctr"/>
          <a:lstStyle/>
          <a:p>
            <a:pPr indent="0" marL="0">
              <a:buNone/>
            </a:pPr>
            <a:r>
              <a:rPr lang="en-US" sz="2800" b="1" dirty="0">
                <a:solidFill>
                  <a:srgbClr val="1E8E3E"/>
                </a:solidFill>
                <a:latin typeface="Google Sans Display" pitchFamily="34" charset="0"/>
                <a:ea typeface="Google Sans Display" pitchFamily="34" charset="-122"/>
                <a:cs typeface="Google Sans Display" pitchFamily="34" charset="-120"/>
              </a:rPr>
              <a:t>0ms</a:t>
            </a:r>
            <a:endParaRPr lang="en-US" sz="2800" dirty="0"/>
          </a:p>
        </p:txBody>
      </p:sp>
      <p:sp>
        <p:nvSpPr>
          <p:cNvPr id="63" name="Text 61"/>
          <p:cNvSpPr/>
          <p:nvPr/>
        </p:nvSpPr>
        <p:spPr>
          <a:xfrm>
            <a:off x="9409176" y="1481328"/>
            <a:ext cx="2304288" cy="237744"/>
          </a:xfrm>
          <a:prstGeom prst="rect">
            <a:avLst/>
          </a:prstGeom>
          <a:noFill/>
          <a:ln/>
        </p:spPr>
        <p:txBody>
          <a:bodyPr wrap="square" rtlCol="0" anchor="ctr"/>
          <a:lstStyle/>
          <a:p>
            <a:pPr indent="0" marL="0">
              <a:buNone/>
            </a:pPr>
            <a:r>
              <a:rPr lang="en-US" sz="880" b="1" dirty="0">
                <a:solidFill>
                  <a:srgbClr val="0F172A"/>
                </a:solidFill>
                <a:latin typeface="Google Sans" pitchFamily="34" charset="0"/>
                <a:ea typeface="Google Sans" pitchFamily="34" charset="-122"/>
                <a:cs typeface="Google Sans" pitchFamily="34" charset="-120"/>
              </a:rPr>
              <a:t>Live Tier Promotion Cutover</a:t>
            </a:r>
            <a:endParaRPr lang="en-US" sz="880" dirty="0"/>
          </a:p>
        </p:txBody>
      </p:sp>
      <p:sp>
        <p:nvSpPr>
          <p:cNvPr id="64" name="Shape 62"/>
          <p:cNvSpPr/>
          <p:nvPr/>
        </p:nvSpPr>
        <p:spPr>
          <a:xfrm>
            <a:off x="9409176" y="1847088"/>
            <a:ext cx="2304288" cy="749808"/>
          </a:xfrm>
          <a:prstGeom prst="roundRect">
            <a:avLst>
              <a:gd name="adj" fmla="val 7317"/>
            </a:avLst>
          </a:prstGeom>
          <a:solidFill>
            <a:srgbClr val="F8FAFC"/>
          </a:solidFill>
          <a:ln w="9525">
            <a:solidFill>
              <a:srgbClr val="E2E8F0"/>
            </a:solidFill>
            <a:prstDash val="solid"/>
          </a:ln>
        </p:spPr>
      </p:sp>
      <p:sp>
        <p:nvSpPr>
          <p:cNvPr id="65" name="Text 63"/>
          <p:cNvSpPr/>
          <p:nvPr/>
        </p:nvSpPr>
        <p:spPr>
          <a:xfrm>
            <a:off x="9482328" y="1901952"/>
            <a:ext cx="2157984" cy="201168"/>
          </a:xfrm>
          <a:prstGeom prst="rect">
            <a:avLst/>
          </a:prstGeom>
          <a:noFill/>
          <a:ln/>
        </p:spPr>
        <p:txBody>
          <a:bodyPr wrap="square" rtlCol="0" anchor="ctr"/>
          <a:lstStyle/>
          <a:p>
            <a:pPr indent="0" marL="0">
              <a:buNone/>
            </a:pPr>
            <a:r>
              <a:rPr lang="en-US" sz="750" b="1" dirty="0">
                <a:solidFill>
                  <a:srgbClr val="64748B"/>
                </a:solidFill>
                <a:latin typeface="Google Sans" pitchFamily="34" charset="0"/>
                <a:ea typeface="Google Sans" pitchFamily="34" charset="-122"/>
                <a:cs typeface="Google Sans" pitchFamily="34" charset="-120"/>
              </a:rPr>
              <a:t>TARGET TIER</a:t>
            </a:r>
            <a:endParaRPr lang="en-US" sz="750" dirty="0"/>
          </a:p>
        </p:txBody>
      </p:sp>
      <p:sp>
        <p:nvSpPr>
          <p:cNvPr id="66" name="Text 64"/>
          <p:cNvSpPr/>
          <p:nvPr/>
        </p:nvSpPr>
        <p:spPr>
          <a:xfrm>
            <a:off x="9482328" y="2103120"/>
            <a:ext cx="2157984" cy="438912"/>
          </a:xfrm>
          <a:prstGeom prst="rect">
            <a:avLst/>
          </a:prstGeom>
          <a:noFill/>
          <a:ln/>
        </p:spPr>
        <p:txBody>
          <a:bodyPr wrap="square" rtlCol="0" anchor="t"/>
          <a:lstStyle/>
          <a:p>
            <a:pPr indent="0" marL="0">
              <a:buNone/>
            </a:pPr>
            <a:r>
              <a:rPr lang="en-US" sz="850" b="1" dirty="0">
                <a:solidFill>
                  <a:srgbClr val="0F172A"/>
                </a:solidFill>
                <a:latin typeface="Roboto" pitchFamily="34" charset="0"/>
                <a:ea typeface="Roboto" pitchFamily="34" charset="-122"/>
                <a:cs typeface="Roboto" pitchFamily="34" charset="-120"/>
              </a:rPr>
              <a:t>Mixed Portfolio (Pool -&gt; Enterprise)</a:t>
            </a:r>
            <a:endParaRPr lang="en-US" sz="850" dirty="0"/>
          </a:p>
        </p:txBody>
      </p:sp>
      <p:sp>
        <p:nvSpPr>
          <p:cNvPr id="67" name="Shape 65"/>
          <p:cNvSpPr/>
          <p:nvPr/>
        </p:nvSpPr>
        <p:spPr>
          <a:xfrm>
            <a:off x="9409176" y="2706624"/>
            <a:ext cx="2304288" cy="749808"/>
          </a:xfrm>
          <a:prstGeom prst="roundRect">
            <a:avLst>
              <a:gd name="adj" fmla="val 7317"/>
            </a:avLst>
          </a:prstGeom>
          <a:solidFill>
            <a:srgbClr val="F8FAFC"/>
          </a:solidFill>
          <a:ln w="9525">
            <a:solidFill>
              <a:srgbClr val="E2E8F0"/>
            </a:solidFill>
            <a:prstDash val="solid"/>
          </a:ln>
        </p:spPr>
      </p:sp>
      <p:sp>
        <p:nvSpPr>
          <p:cNvPr id="68" name="Text 66"/>
          <p:cNvSpPr/>
          <p:nvPr/>
        </p:nvSpPr>
        <p:spPr>
          <a:xfrm>
            <a:off x="9482328" y="2761488"/>
            <a:ext cx="2157984" cy="201168"/>
          </a:xfrm>
          <a:prstGeom prst="rect">
            <a:avLst/>
          </a:prstGeom>
          <a:noFill/>
          <a:ln/>
        </p:spPr>
        <p:txBody>
          <a:bodyPr wrap="square" rtlCol="0" anchor="ctr"/>
          <a:lstStyle/>
          <a:p>
            <a:pPr indent="0" marL="0">
              <a:buNone/>
            </a:pPr>
            <a:r>
              <a:rPr lang="en-US" sz="750" b="1" dirty="0">
                <a:solidFill>
                  <a:srgbClr val="64748B"/>
                </a:solidFill>
                <a:latin typeface="Google Sans" pitchFamily="34" charset="0"/>
                <a:ea typeface="Google Sans" pitchFamily="34" charset="-122"/>
                <a:cs typeface="Google Sans" pitchFamily="34" charset="-120"/>
              </a:rPr>
              <a:t>COMPUTE</a:t>
            </a:r>
            <a:endParaRPr lang="en-US" sz="750" dirty="0"/>
          </a:p>
        </p:txBody>
      </p:sp>
      <p:sp>
        <p:nvSpPr>
          <p:cNvPr id="69" name="Text 67"/>
          <p:cNvSpPr/>
          <p:nvPr/>
        </p:nvSpPr>
        <p:spPr>
          <a:xfrm>
            <a:off x="9482328" y="2962656"/>
            <a:ext cx="2157984" cy="438912"/>
          </a:xfrm>
          <a:prstGeom prst="rect">
            <a:avLst/>
          </a:prstGeom>
          <a:noFill/>
          <a:ln/>
        </p:spPr>
        <p:txBody>
          <a:bodyPr wrap="square" rtlCol="0" anchor="t"/>
          <a:lstStyle/>
          <a:p>
            <a:pPr indent="0" marL="0">
              <a:buNone/>
            </a:pPr>
            <a:r>
              <a:rPr lang="en-US" sz="850" b="1" dirty="0">
                <a:solidFill>
                  <a:srgbClr val="0F172A"/>
                </a:solidFill>
                <a:latin typeface="Roboto" pitchFamily="34" charset="0"/>
                <a:ea typeface="Roboto" pitchFamily="34" charset="-122"/>
                <a:cs typeface="Roboto" pitchFamily="34" charset="-120"/>
              </a:rPr>
              <a:t>Central Hub + Unidirectional PSC Spoke</a:t>
            </a:r>
            <a:endParaRPr lang="en-US" sz="850" dirty="0"/>
          </a:p>
        </p:txBody>
      </p:sp>
      <p:sp>
        <p:nvSpPr>
          <p:cNvPr id="70" name="Shape 68"/>
          <p:cNvSpPr/>
          <p:nvPr/>
        </p:nvSpPr>
        <p:spPr>
          <a:xfrm>
            <a:off x="9409176" y="3566160"/>
            <a:ext cx="2304288" cy="749808"/>
          </a:xfrm>
          <a:prstGeom prst="roundRect">
            <a:avLst>
              <a:gd name="adj" fmla="val 7317"/>
            </a:avLst>
          </a:prstGeom>
          <a:solidFill>
            <a:srgbClr val="F8FAFC"/>
          </a:solidFill>
          <a:ln w="9525">
            <a:solidFill>
              <a:srgbClr val="E2E8F0"/>
            </a:solidFill>
            <a:prstDash val="solid"/>
          </a:ln>
        </p:spPr>
      </p:sp>
      <p:sp>
        <p:nvSpPr>
          <p:cNvPr id="71" name="Text 69"/>
          <p:cNvSpPr/>
          <p:nvPr/>
        </p:nvSpPr>
        <p:spPr>
          <a:xfrm>
            <a:off x="9482328" y="3621024"/>
            <a:ext cx="2157984" cy="201168"/>
          </a:xfrm>
          <a:prstGeom prst="rect">
            <a:avLst/>
          </a:prstGeom>
          <a:noFill/>
          <a:ln/>
        </p:spPr>
        <p:txBody>
          <a:bodyPr wrap="square" rtlCol="0" anchor="ctr"/>
          <a:lstStyle/>
          <a:p>
            <a:pPr indent="0" marL="0">
              <a:buNone/>
            </a:pPr>
            <a:r>
              <a:rPr lang="en-US" sz="750" b="1" dirty="0">
                <a:solidFill>
                  <a:srgbClr val="64748B"/>
                </a:solidFill>
                <a:latin typeface="Google Sans" pitchFamily="34" charset="0"/>
                <a:ea typeface="Google Sans" pitchFamily="34" charset="-122"/>
                <a:cs typeface="Google Sans" pitchFamily="34" charset="-120"/>
              </a:rPr>
              <a:t>DATA GUARD</a:t>
            </a:r>
            <a:endParaRPr lang="en-US" sz="750" dirty="0"/>
          </a:p>
        </p:txBody>
      </p:sp>
      <p:sp>
        <p:nvSpPr>
          <p:cNvPr id="72" name="Text 70"/>
          <p:cNvSpPr/>
          <p:nvPr/>
        </p:nvSpPr>
        <p:spPr>
          <a:xfrm>
            <a:off x="9482328" y="3822192"/>
            <a:ext cx="2157984" cy="438912"/>
          </a:xfrm>
          <a:prstGeom prst="rect">
            <a:avLst/>
          </a:prstGeom>
          <a:noFill/>
          <a:ln/>
        </p:spPr>
        <p:txBody>
          <a:bodyPr wrap="square" rtlCol="0" anchor="t"/>
          <a:lstStyle/>
          <a:p>
            <a:pPr indent="0" marL="0">
              <a:buNone/>
            </a:pPr>
            <a:r>
              <a:rPr lang="en-US" sz="850" b="1" dirty="0">
                <a:solidFill>
                  <a:srgbClr val="0F172A"/>
                </a:solidFill>
                <a:latin typeface="Roboto" pitchFamily="34" charset="0"/>
                <a:ea typeface="Roboto" pitchFamily="34" charset="-122"/>
                <a:cs typeface="Roboto" pitchFamily="34" charset="-120"/>
              </a:rPr>
              <a:t>Pooled RLS + Dedicated Spoke DB</a:t>
            </a:r>
            <a:endParaRPr lang="en-US" sz="850" dirty="0"/>
          </a:p>
        </p:txBody>
      </p:sp>
      <p:sp>
        <p:nvSpPr>
          <p:cNvPr id="73" name="Shape 71"/>
          <p:cNvSpPr/>
          <p:nvPr/>
        </p:nvSpPr>
        <p:spPr>
          <a:xfrm>
            <a:off x="9409176" y="4425696"/>
            <a:ext cx="2304288" cy="749808"/>
          </a:xfrm>
          <a:prstGeom prst="roundRect">
            <a:avLst>
              <a:gd name="adj" fmla="val 7317"/>
            </a:avLst>
          </a:prstGeom>
          <a:solidFill>
            <a:srgbClr val="F8FAFC"/>
          </a:solidFill>
          <a:ln w="9525">
            <a:solidFill>
              <a:srgbClr val="E2E8F0"/>
            </a:solidFill>
            <a:prstDash val="solid"/>
          </a:ln>
        </p:spPr>
      </p:sp>
      <p:sp>
        <p:nvSpPr>
          <p:cNvPr id="74" name="Text 72"/>
          <p:cNvSpPr/>
          <p:nvPr/>
        </p:nvSpPr>
        <p:spPr>
          <a:xfrm>
            <a:off x="9482328" y="4480560"/>
            <a:ext cx="2157984" cy="201168"/>
          </a:xfrm>
          <a:prstGeom prst="rect">
            <a:avLst/>
          </a:prstGeom>
          <a:noFill/>
          <a:ln/>
        </p:spPr>
        <p:txBody>
          <a:bodyPr wrap="square" rtlCol="0" anchor="ctr"/>
          <a:lstStyle/>
          <a:p>
            <a:pPr indent="0" marL="0">
              <a:buNone/>
            </a:pPr>
            <a:r>
              <a:rPr lang="en-US" sz="750" b="1" dirty="0">
                <a:solidFill>
                  <a:srgbClr val="64748B"/>
                </a:solidFill>
                <a:latin typeface="Google Sans" pitchFamily="34" charset="0"/>
                <a:ea typeface="Google Sans" pitchFamily="34" charset="-122"/>
                <a:cs typeface="Google Sans" pitchFamily="34" charset="-120"/>
              </a:rPr>
              <a:t>CMEK / L1</a:t>
            </a:r>
            <a:endParaRPr lang="en-US" sz="750" dirty="0"/>
          </a:p>
        </p:txBody>
      </p:sp>
      <p:sp>
        <p:nvSpPr>
          <p:cNvPr id="75" name="Text 73"/>
          <p:cNvSpPr/>
          <p:nvPr/>
        </p:nvSpPr>
        <p:spPr>
          <a:xfrm>
            <a:off x="9482328" y="4681728"/>
            <a:ext cx="2157984" cy="438912"/>
          </a:xfrm>
          <a:prstGeom prst="rect">
            <a:avLst/>
          </a:prstGeom>
          <a:noFill/>
          <a:ln/>
        </p:spPr>
        <p:txBody>
          <a:bodyPr wrap="square" rtlCol="0" anchor="t"/>
          <a:lstStyle/>
          <a:p>
            <a:pPr indent="0" marL="0">
              <a:buNone/>
            </a:pPr>
            <a:r>
              <a:rPr lang="en-US" sz="850" b="1" dirty="0">
                <a:solidFill>
                  <a:srgbClr val="0F172A"/>
                </a:solidFill>
                <a:latin typeface="Roboto" pitchFamily="34" charset="0"/>
                <a:ea typeface="Roboto" pitchFamily="34" charset="-122"/>
                <a:cs typeface="Roboto" pitchFamily="34" charset="-120"/>
              </a:rPr>
              <a:t>Dual-key vault + 3-phase migration</a:t>
            </a:r>
            <a:endParaRPr lang="en-US" sz="850" dirty="0"/>
          </a:p>
        </p:txBody>
      </p:sp>
      <p:sp>
        <p:nvSpPr>
          <p:cNvPr id="76" name="Shape 74"/>
          <p:cNvSpPr/>
          <p:nvPr/>
        </p:nvSpPr>
        <p:spPr>
          <a:xfrm>
            <a:off x="9409176" y="5285232"/>
            <a:ext cx="2304288" cy="749808"/>
          </a:xfrm>
          <a:prstGeom prst="roundRect">
            <a:avLst>
              <a:gd name="adj" fmla="val 7317"/>
            </a:avLst>
          </a:prstGeom>
          <a:solidFill>
            <a:srgbClr val="F8FAFC"/>
          </a:solidFill>
          <a:ln w="9525">
            <a:solidFill>
              <a:srgbClr val="E2E8F0"/>
            </a:solidFill>
            <a:prstDash val="solid"/>
          </a:ln>
        </p:spPr>
      </p:sp>
      <p:sp>
        <p:nvSpPr>
          <p:cNvPr id="77" name="Text 75"/>
          <p:cNvSpPr/>
          <p:nvPr/>
        </p:nvSpPr>
        <p:spPr>
          <a:xfrm>
            <a:off x="9482328" y="5340096"/>
            <a:ext cx="2157984" cy="201168"/>
          </a:xfrm>
          <a:prstGeom prst="rect">
            <a:avLst/>
          </a:prstGeom>
          <a:noFill/>
          <a:ln/>
        </p:spPr>
        <p:txBody>
          <a:bodyPr wrap="square" rtlCol="0" anchor="ctr"/>
          <a:lstStyle/>
          <a:p>
            <a:pPr indent="0" marL="0">
              <a:buNone/>
            </a:pPr>
            <a:r>
              <a:rPr lang="en-US" sz="750" b="1" dirty="0">
                <a:solidFill>
                  <a:srgbClr val="64748B"/>
                </a:solidFill>
                <a:latin typeface="Google Sans" pitchFamily="34" charset="0"/>
                <a:ea typeface="Google Sans" pitchFamily="34" charset="-122"/>
                <a:cs typeface="Google Sans" pitchFamily="34" charset="-120"/>
              </a:rPr>
              <a:t>IAC FOOTPRINT</a:t>
            </a:r>
            <a:endParaRPr lang="en-US" sz="750" dirty="0"/>
          </a:p>
        </p:txBody>
      </p:sp>
      <p:sp>
        <p:nvSpPr>
          <p:cNvPr id="78" name="Text 76"/>
          <p:cNvSpPr/>
          <p:nvPr/>
        </p:nvSpPr>
        <p:spPr>
          <a:xfrm>
            <a:off x="9482328" y="5541264"/>
            <a:ext cx="2157984" cy="438912"/>
          </a:xfrm>
          <a:prstGeom prst="rect">
            <a:avLst/>
          </a:prstGeom>
          <a:noFill/>
          <a:ln/>
        </p:spPr>
        <p:txBody>
          <a:bodyPr wrap="square" rtlCol="0" anchor="t"/>
          <a:lstStyle/>
          <a:p>
            <a:pPr indent="0" marL="0">
              <a:buNone/>
            </a:pPr>
            <a:r>
              <a:rPr lang="en-US" sz="850" b="1" dirty="0">
                <a:solidFill>
                  <a:srgbClr val="0F172A"/>
                </a:solidFill>
                <a:latin typeface="Roboto" pitchFamily="34" charset="0"/>
                <a:ea typeface="Roboto" pitchFamily="34" charset="-122"/>
                <a:cs typeface="Roboto" pitchFamily="34" charset="-120"/>
              </a:rPr>
              <a:t>Hub + 50 PSC spokes (74% TCO savings)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1723644"/>
          </a:xfrm>
          <a:prstGeom prst="rect">
            <a:avLst/>
          </a:prstGeom>
          <a:solidFill>
            <a:srgbClr val="1A73E8"/>
          </a:solidFill>
          <a:ln/>
        </p:spPr>
      </p:sp>
      <p:sp>
        <p:nvSpPr>
          <p:cNvPr id="3" name="Shape 1"/>
          <p:cNvSpPr/>
          <p:nvPr/>
        </p:nvSpPr>
        <p:spPr>
          <a:xfrm>
            <a:off x="0" y="1714500"/>
            <a:ext cx="73152" cy="1723644"/>
          </a:xfrm>
          <a:prstGeom prst="rect">
            <a:avLst/>
          </a:prstGeom>
          <a:solidFill>
            <a:srgbClr val="D93025"/>
          </a:solidFill>
          <a:ln/>
        </p:spPr>
      </p:sp>
      <p:sp>
        <p:nvSpPr>
          <p:cNvPr id="4" name="Shape 2"/>
          <p:cNvSpPr/>
          <p:nvPr/>
        </p:nvSpPr>
        <p:spPr>
          <a:xfrm>
            <a:off x="0" y="3429000"/>
            <a:ext cx="73152" cy="1723644"/>
          </a:xfrm>
          <a:prstGeom prst="rect">
            <a:avLst/>
          </a:prstGeom>
          <a:solidFill>
            <a:srgbClr val="F9AB00"/>
          </a:solidFill>
          <a:ln/>
        </p:spPr>
      </p:sp>
      <p:sp>
        <p:nvSpPr>
          <p:cNvPr id="5" name="Shape 3"/>
          <p:cNvSpPr/>
          <p:nvPr/>
        </p:nvSpPr>
        <p:spPr>
          <a:xfrm>
            <a:off x="0" y="5143500"/>
            <a:ext cx="73152" cy="1723644"/>
          </a:xfrm>
          <a:prstGeom prst="rect">
            <a:avLst/>
          </a:prstGeom>
          <a:solidFill>
            <a:srgbClr val="1E8E3E"/>
          </a:solidFill>
          <a:ln/>
        </p:spPr>
      </p:sp>
      <p:sp>
        <p:nvSpPr>
          <p:cNvPr id="6" name="Text 4"/>
          <p:cNvSpPr/>
          <p:nvPr/>
        </p:nvSpPr>
        <p:spPr>
          <a:xfrm>
            <a:off x="347472" y="201168"/>
            <a:ext cx="9875520" cy="237744"/>
          </a:xfrm>
          <a:prstGeom prst="rect">
            <a:avLst/>
          </a:prstGeom>
          <a:noFill/>
          <a:ln/>
        </p:spPr>
        <p:txBody>
          <a:bodyPr wrap="square" rtlCol="0" anchor="ctr"/>
          <a:lstStyle/>
          <a:p>
            <a:pPr indent="0" marL="0">
              <a:buNone/>
            </a:pPr>
            <a:r>
              <a:rPr lang="en-US" sz="850" b="1" dirty="0">
                <a:solidFill>
                  <a:srgbClr val="1A73E8"/>
                </a:solidFill>
                <a:latin typeface="Google Sans" pitchFamily="34" charset="0"/>
                <a:ea typeface="Google Sans" pitchFamily="34" charset="-122"/>
                <a:cs typeface="Google Sans" pitchFamily="34" charset="-120"/>
              </a:rPr>
              <a:t>GOOGLE CLOUD ARCHITECTURE CENTER  </a:t>
            </a:r>
            <a:pPr indent="0" marL="0">
              <a:buNone/>
            </a:pPr>
            <a:r>
              <a:rPr lang="en-US" sz="850" dirty="0">
                <a:solidFill>
                  <a:srgbClr val="64748B"/>
                </a:solidFill>
                <a:latin typeface="Google Sans" pitchFamily="34" charset="0"/>
                <a:ea typeface="Google Sans" pitchFamily="34" charset="-122"/>
                <a:cs typeface="Google Sans" pitchFamily="34" charset="-120"/>
              </a:rPr>
              <a:t>/  ACT II • TECHNICAL BLUEPRINT 1 (L2)  /  Figure 1: 4-Zone Hub-and-Spoke Multi-Tenant Taxonomy (#78)</a:t>
            </a:r>
            <a:endParaRPr lang="en-US" sz="850" dirty="0"/>
          </a:p>
        </p:txBody>
      </p:sp>
      <p:sp>
        <p:nvSpPr>
          <p:cNvPr id="7" name="Shape 5"/>
          <p:cNvSpPr/>
          <p:nvPr/>
        </p:nvSpPr>
        <p:spPr>
          <a:xfrm>
            <a:off x="10835640" y="182880"/>
            <a:ext cx="1005840" cy="256032"/>
          </a:xfrm>
          <a:prstGeom prst="roundRect">
            <a:avLst>
              <a:gd name="adj" fmla="val 50000"/>
            </a:avLst>
          </a:prstGeom>
          <a:solidFill>
            <a:srgbClr val="FFFFFF"/>
          </a:solidFill>
          <a:ln w="9525">
            <a:solidFill>
              <a:srgbClr val="E2E8F0"/>
            </a:solidFill>
            <a:prstDash val="solid"/>
          </a:ln>
        </p:spPr>
      </p:sp>
      <p:sp>
        <p:nvSpPr>
          <p:cNvPr id="8" name="Text 6"/>
          <p:cNvSpPr/>
          <p:nvPr/>
        </p:nvSpPr>
        <p:spPr>
          <a:xfrm>
            <a:off x="10835640" y="182880"/>
            <a:ext cx="1005840" cy="256032"/>
          </a:xfrm>
          <a:prstGeom prst="rect">
            <a:avLst/>
          </a:prstGeom>
          <a:noFill/>
          <a:ln/>
        </p:spPr>
        <p:txBody>
          <a:bodyPr wrap="square" rtlCol="0" anchor="ctr"/>
          <a:lstStyle/>
          <a:p>
            <a:pPr algn="ctr" indent="0" marL="0">
              <a:buNone/>
            </a:pPr>
            <a:r>
              <a:rPr lang="en-US" sz="850" b="1" dirty="0">
                <a:solidFill>
                  <a:srgbClr val="334155"/>
                </a:solidFill>
                <a:latin typeface="Google Sans" pitchFamily="34" charset="0"/>
                <a:ea typeface="Google Sans" pitchFamily="34" charset="-122"/>
                <a:cs typeface="Google Sans" pitchFamily="34" charset="-120"/>
              </a:rPr>
              <a:t>07 / 14</a:t>
            </a:r>
            <a:endParaRPr lang="en-US" sz="850" dirty="0"/>
          </a:p>
        </p:txBody>
      </p:sp>
      <p:sp>
        <p:nvSpPr>
          <p:cNvPr id="9" name="Shape 7"/>
          <p:cNvSpPr/>
          <p:nvPr/>
        </p:nvSpPr>
        <p:spPr>
          <a:xfrm>
            <a:off x="347472" y="6510528"/>
            <a:ext cx="11494008" cy="0"/>
          </a:xfrm>
          <a:prstGeom prst="line">
            <a:avLst/>
          </a:prstGeom>
          <a:noFill/>
          <a:ln w="9525">
            <a:solidFill>
              <a:srgbClr val="E2E8F0"/>
            </a:solidFill>
            <a:prstDash val="solid"/>
          </a:ln>
        </p:spPr>
      </p:sp>
      <p:sp>
        <p:nvSpPr>
          <p:cNvPr id="10" name="Text 8"/>
          <p:cNvSpPr/>
          <p:nvPr/>
        </p:nvSpPr>
        <p:spPr>
          <a:xfrm>
            <a:off x="347472" y="6556248"/>
            <a:ext cx="11494008" cy="219456"/>
          </a:xfrm>
          <a:prstGeom prst="rect">
            <a:avLst/>
          </a:prstGeom>
          <a:noFill/>
          <a:ln/>
        </p:spPr>
        <p:txBody>
          <a:bodyPr wrap="square" rtlCol="0" anchor="ctr"/>
          <a:lstStyle/>
          <a:p>
            <a:pPr indent="0" marL="0">
              <a:buNone/>
            </a:pPr>
            <a:r>
              <a:rPr lang="en-US" sz="780" dirty="0">
                <a:solidFill>
                  <a:srgbClr val="64748B"/>
                </a:solidFill>
                <a:latin typeface="Roboto" pitchFamily="34" charset="0"/>
                <a:ea typeface="Roboto" pitchFamily="34" charset="-122"/>
                <a:cs typeface="Roboto" pitchFamily="34" charset="-120"/>
              </a:rPr>
              <a:t>Multi-Tenant Agentic AI on Google Cloud  •  Blog 1 Executive Edition  •  Verified on GCP (#248990048888, #48439189383) &amp; AWS (#393036065405)</a:t>
            </a:r>
            <a:endParaRPr lang="en-US" sz="780" dirty="0"/>
          </a:p>
        </p:txBody>
      </p:sp>
      <p:sp>
        <p:nvSpPr>
          <p:cNvPr id="11" name="Shape 9"/>
          <p:cNvSpPr/>
          <p:nvPr/>
        </p:nvSpPr>
        <p:spPr>
          <a:xfrm>
            <a:off x="347472" y="566928"/>
            <a:ext cx="3154680" cy="5779008"/>
          </a:xfrm>
          <a:prstGeom prst="roundRect">
            <a:avLst>
              <a:gd name="adj" fmla="val 2899"/>
            </a:avLst>
          </a:prstGeom>
          <a:solidFill>
            <a:srgbClr val="FFFFFF"/>
          </a:solidFill>
          <a:ln w="12700">
            <a:solidFill>
              <a:srgbClr val="E2E8F0"/>
            </a:solidFill>
            <a:prstDash val="solid"/>
          </a:ln>
        </p:spPr>
      </p:sp>
      <p:sp>
        <p:nvSpPr>
          <p:cNvPr id="12" name="Shape 10"/>
          <p:cNvSpPr/>
          <p:nvPr/>
        </p:nvSpPr>
        <p:spPr>
          <a:xfrm>
            <a:off x="530352" y="768096"/>
            <a:ext cx="1691640" cy="256032"/>
          </a:xfrm>
          <a:prstGeom prst="roundRect">
            <a:avLst>
              <a:gd name="adj" fmla="val 28571"/>
            </a:avLst>
          </a:prstGeom>
          <a:solidFill>
            <a:srgbClr val="E8F0FE"/>
          </a:solidFill>
          <a:ln/>
        </p:spPr>
      </p:sp>
      <p:sp>
        <p:nvSpPr>
          <p:cNvPr id="13" name="Text 11"/>
          <p:cNvSpPr/>
          <p:nvPr/>
        </p:nvSpPr>
        <p:spPr>
          <a:xfrm>
            <a:off x="530352" y="768096"/>
            <a:ext cx="1691640" cy="256032"/>
          </a:xfrm>
          <a:prstGeom prst="rect">
            <a:avLst/>
          </a:prstGeom>
          <a:noFill/>
          <a:ln/>
        </p:spPr>
        <p:txBody>
          <a:bodyPr wrap="square" rtlCol="0" anchor="ctr"/>
          <a:lstStyle/>
          <a:p>
            <a:pPr algn="ctr" indent="0" marL="0">
              <a:buNone/>
            </a:pPr>
            <a:r>
              <a:rPr lang="en-US" sz="800" b="1" dirty="0">
                <a:solidFill>
                  <a:srgbClr val="1A73E8"/>
                </a:solidFill>
                <a:latin typeface="Google Sans" pitchFamily="34" charset="0"/>
                <a:ea typeface="Google Sans" pitchFamily="34" charset="-122"/>
                <a:cs typeface="Google Sans" pitchFamily="34" charset="-120"/>
              </a:rPr>
              <a:t>L2 PHYSICAL • FIG 1</a:t>
            </a:r>
            <a:endParaRPr lang="en-US" sz="800" dirty="0"/>
          </a:p>
        </p:txBody>
      </p:sp>
      <p:sp>
        <p:nvSpPr>
          <p:cNvPr id="14" name="Text 12"/>
          <p:cNvSpPr/>
          <p:nvPr/>
        </p:nvSpPr>
        <p:spPr>
          <a:xfrm>
            <a:off x="530352" y="1133856"/>
            <a:ext cx="2788920" cy="1325880"/>
          </a:xfrm>
          <a:prstGeom prst="rect">
            <a:avLst/>
          </a:prstGeom>
          <a:noFill/>
          <a:ln/>
        </p:spPr>
        <p:txBody>
          <a:bodyPr wrap="square" rtlCol="0" anchor="t"/>
          <a:lstStyle/>
          <a:p>
            <a:pPr indent="0" marL="0">
              <a:buNone/>
            </a:pPr>
            <a:r>
              <a:rPr lang="en-US" sz="1750" b="1" dirty="0">
                <a:solidFill>
                  <a:srgbClr val="0F172A"/>
                </a:solidFill>
                <a:latin typeface="Google Sans Display" pitchFamily="34" charset="0"/>
                <a:ea typeface="Google Sans Display" pitchFamily="34" charset="-122"/>
                <a:cs typeface="Google Sans Display" pitchFamily="34" charset="-120"/>
              </a:rPr>
              <a:t>4 Physical VPC-SC Network Perimeters</a:t>
            </a:r>
            <a:endParaRPr lang="en-US" sz="1750" dirty="0"/>
          </a:p>
        </p:txBody>
      </p:sp>
      <p:sp>
        <p:nvSpPr>
          <p:cNvPr id="15" name="Text 13"/>
          <p:cNvSpPr/>
          <p:nvPr/>
        </p:nvSpPr>
        <p:spPr>
          <a:xfrm>
            <a:off x="530352" y="2542032"/>
            <a:ext cx="2788920" cy="2148840"/>
          </a:xfrm>
          <a:prstGeom prst="rect">
            <a:avLst/>
          </a:prstGeom>
          <a:noFill/>
          <a:ln/>
        </p:spPr>
        <p:txBody>
          <a:bodyPr wrap="square" rtlCol="0" anchor="t"/>
          <a:lstStyle/>
          <a:p>
            <a:pPr indent="0" marL="0">
              <a:buNone/>
            </a:pPr>
            <a:r>
              <a:rPr lang="en-US" sz="1000" dirty="0">
                <a:solidFill>
                  <a:srgbClr val="334155"/>
                </a:solidFill>
                <a:latin typeface="Roboto" pitchFamily="34" charset="0"/>
                <a:ea typeface="Roboto" pitchFamily="34" charset="-122"/>
                <a:cs typeface="Roboto" pitchFamily="34" charset="-120"/>
              </a:rPr>
              <a:t>Maps our 56-component Google Cloud blueprint across four VPC Service Controls boundaries:</a:t>
            </a:r>
            <a:endParaRPr lang="en-US" sz="1000" dirty="0"/>
          </a:p>
          <a:p>
            <a:pPr indent="0" marL="0">
              <a:buNone/>
            </a:pP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 Blue Hub: Cloud Armor, ALB &amp; IAP STS (Steps 1–3)</a:t>
            </a: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 Green Hub: KMS, IAM PAB &amp; BigQuery OTel</a:t>
            </a: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 Yellow Spoke: Pattern A Shared Pool</a:t>
            </a: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 Red Spoke: Pattern B Silo &amp; Pattern C PSC</a:t>
            </a:r>
            <a:endParaRPr lang="en-US" sz="1000" dirty="0"/>
          </a:p>
        </p:txBody>
      </p:sp>
      <p:sp>
        <p:nvSpPr>
          <p:cNvPr id="16" name="Shape 14"/>
          <p:cNvSpPr/>
          <p:nvPr/>
        </p:nvSpPr>
        <p:spPr>
          <a:xfrm>
            <a:off x="530352" y="4846320"/>
            <a:ext cx="2788920" cy="1298448"/>
          </a:xfrm>
          <a:prstGeom prst="roundRect">
            <a:avLst>
              <a:gd name="adj" fmla="val 5634"/>
            </a:avLst>
          </a:prstGeom>
          <a:solidFill>
            <a:srgbClr val="E8F0FE"/>
          </a:solidFill>
          <a:ln w="12700">
            <a:solidFill>
              <a:srgbClr val="1A73E8"/>
            </a:solidFill>
            <a:prstDash val="solid"/>
          </a:ln>
        </p:spPr>
      </p:sp>
      <p:sp>
        <p:nvSpPr>
          <p:cNvPr id="17" name="Text 15"/>
          <p:cNvSpPr/>
          <p:nvPr/>
        </p:nvSpPr>
        <p:spPr>
          <a:xfrm>
            <a:off x="658368" y="4956048"/>
            <a:ext cx="2532888" cy="566928"/>
          </a:xfrm>
          <a:prstGeom prst="rect">
            <a:avLst/>
          </a:prstGeom>
          <a:noFill/>
          <a:ln/>
        </p:spPr>
        <p:txBody>
          <a:bodyPr wrap="square" rtlCol="0" anchor="ctr"/>
          <a:lstStyle/>
          <a:p>
            <a:pPr indent="0" marL="0">
              <a:buNone/>
            </a:pPr>
            <a:r>
              <a:rPr lang="en-US" sz="2800" b="1" dirty="0">
                <a:solidFill>
                  <a:srgbClr val="1A73E8"/>
                </a:solidFill>
                <a:latin typeface="Google Sans Display" pitchFamily="34" charset="0"/>
                <a:ea typeface="Google Sans Display" pitchFamily="34" charset="-122"/>
                <a:cs typeface="Google Sans Display" pitchFamily="34" charset="-120"/>
              </a:rPr>
              <a:t>56 / 23</a:t>
            </a:r>
            <a:endParaRPr lang="en-US" sz="2800" dirty="0"/>
          </a:p>
        </p:txBody>
      </p:sp>
      <p:sp>
        <p:nvSpPr>
          <p:cNvPr id="18" name="Text 16"/>
          <p:cNvSpPr/>
          <p:nvPr/>
        </p:nvSpPr>
        <p:spPr>
          <a:xfrm>
            <a:off x="658368" y="5559552"/>
            <a:ext cx="2532888" cy="475488"/>
          </a:xfrm>
          <a:prstGeom prst="rect">
            <a:avLst/>
          </a:prstGeom>
          <a:noFill/>
          <a:ln/>
        </p:spPr>
        <p:txBody>
          <a:bodyPr wrap="square" rtlCol="0" anchor="ctr"/>
          <a:lstStyle/>
          <a:p>
            <a:pPr indent="0" marL="0">
              <a:buNone/>
            </a:pPr>
            <a:r>
              <a:rPr lang="en-US" sz="880" b="1" dirty="0">
                <a:solidFill>
                  <a:srgbClr val="0F172A"/>
                </a:solidFill>
                <a:latin typeface="Roboto" pitchFamily="34" charset="0"/>
                <a:ea typeface="Roboto" pitchFamily="34" charset="-122"/>
                <a:cs typeface="Roboto" pitchFamily="34" charset="-120"/>
              </a:rPr>
              <a:t>Verified Architecture Shapes &amp; Connectors (#78)</a:t>
            </a:r>
            <a:endParaRPr lang="en-US" sz="880" dirty="0"/>
          </a:p>
        </p:txBody>
      </p:sp>
      <p:sp>
        <p:nvSpPr>
          <p:cNvPr id="19" name="Shape 17"/>
          <p:cNvSpPr/>
          <p:nvPr/>
        </p:nvSpPr>
        <p:spPr>
          <a:xfrm>
            <a:off x="3703320" y="566928"/>
            <a:ext cx="8138160" cy="5779008"/>
          </a:xfrm>
          <a:prstGeom prst="roundRect">
            <a:avLst>
              <a:gd name="adj" fmla="val 1582"/>
            </a:avLst>
          </a:prstGeom>
          <a:solidFill>
            <a:srgbClr val="FFFFFF"/>
          </a:solidFill>
          <a:ln w="12700">
            <a:solidFill>
              <a:srgbClr val="E2E8F0"/>
            </a:solidFill>
            <a:prstDash val="solid"/>
          </a:ln>
        </p:spPr>
      </p:sp>
      <p:pic>
        <p:nvPicPr>
          <p:cNvPr id="20" name="Image 0" descr="/usr/local/google/home/nitinagga/Documents/blogs/diagrams/ws1-multi-tenant-taxonomy-overview.drawio.png">    </p:cNvPr>
          <p:cNvPicPr>
            <a:picLocks noChangeAspect="1"/>
          </p:cNvPicPr>
          <p:nvPr/>
        </p:nvPicPr>
        <p:blipFill>
          <a:blip r:embed="rId1"/>
          <a:srcRect l="0" r="0" t="0" b="0"/>
          <a:stretch/>
        </p:blipFill>
        <p:spPr>
          <a:xfrm>
            <a:off x="3840480" y="676656"/>
            <a:ext cx="7863840" cy="55595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1723644"/>
          </a:xfrm>
          <a:prstGeom prst="rect">
            <a:avLst/>
          </a:prstGeom>
          <a:solidFill>
            <a:srgbClr val="1A73E8"/>
          </a:solidFill>
          <a:ln/>
        </p:spPr>
      </p:sp>
      <p:sp>
        <p:nvSpPr>
          <p:cNvPr id="3" name="Shape 1"/>
          <p:cNvSpPr/>
          <p:nvPr/>
        </p:nvSpPr>
        <p:spPr>
          <a:xfrm>
            <a:off x="0" y="1714500"/>
            <a:ext cx="73152" cy="1723644"/>
          </a:xfrm>
          <a:prstGeom prst="rect">
            <a:avLst/>
          </a:prstGeom>
          <a:solidFill>
            <a:srgbClr val="D93025"/>
          </a:solidFill>
          <a:ln/>
        </p:spPr>
      </p:sp>
      <p:sp>
        <p:nvSpPr>
          <p:cNvPr id="4" name="Shape 2"/>
          <p:cNvSpPr/>
          <p:nvPr/>
        </p:nvSpPr>
        <p:spPr>
          <a:xfrm>
            <a:off x="0" y="3429000"/>
            <a:ext cx="73152" cy="1723644"/>
          </a:xfrm>
          <a:prstGeom prst="rect">
            <a:avLst/>
          </a:prstGeom>
          <a:solidFill>
            <a:srgbClr val="F9AB00"/>
          </a:solidFill>
          <a:ln/>
        </p:spPr>
      </p:sp>
      <p:sp>
        <p:nvSpPr>
          <p:cNvPr id="5" name="Shape 3"/>
          <p:cNvSpPr/>
          <p:nvPr/>
        </p:nvSpPr>
        <p:spPr>
          <a:xfrm>
            <a:off x="0" y="5143500"/>
            <a:ext cx="73152" cy="1723644"/>
          </a:xfrm>
          <a:prstGeom prst="rect">
            <a:avLst/>
          </a:prstGeom>
          <a:solidFill>
            <a:srgbClr val="1E8E3E"/>
          </a:solidFill>
          <a:ln/>
        </p:spPr>
      </p:sp>
      <p:sp>
        <p:nvSpPr>
          <p:cNvPr id="6" name="Text 4"/>
          <p:cNvSpPr/>
          <p:nvPr/>
        </p:nvSpPr>
        <p:spPr>
          <a:xfrm>
            <a:off x="347472" y="201168"/>
            <a:ext cx="9875520" cy="237744"/>
          </a:xfrm>
          <a:prstGeom prst="rect">
            <a:avLst/>
          </a:prstGeom>
          <a:noFill/>
          <a:ln/>
        </p:spPr>
        <p:txBody>
          <a:bodyPr wrap="square" rtlCol="0" anchor="ctr"/>
          <a:lstStyle/>
          <a:p>
            <a:pPr indent="0" marL="0">
              <a:buNone/>
            </a:pPr>
            <a:r>
              <a:rPr lang="en-US" sz="850" b="1" dirty="0">
                <a:solidFill>
                  <a:srgbClr val="1A73E8"/>
                </a:solidFill>
                <a:latin typeface="Google Sans" pitchFamily="34" charset="0"/>
                <a:ea typeface="Google Sans" pitchFamily="34" charset="-122"/>
                <a:cs typeface="Google Sans" pitchFamily="34" charset="-120"/>
              </a:rPr>
              <a:t>GOOGLE CLOUD ARCHITECTURE CENTER  </a:t>
            </a:r>
            <a:pPr indent="0" marL="0">
              <a:buNone/>
            </a:pPr>
            <a:r>
              <a:rPr lang="en-US" sz="850" dirty="0">
                <a:solidFill>
                  <a:srgbClr val="64748B"/>
                </a:solidFill>
                <a:latin typeface="Google Sans" pitchFamily="34" charset="0"/>
                <a:ea typeface="Google Sans" pitchFamily="34" charset="-122"/>
                <a:cs typeface="Google Sans" pitchFamily="34" charset="-120"/>
              </a:rPr>
              <a:t>/  ACT II • TECHNICAL BLUEPRINT 2 (L2)  /  Figure 2: Official 5-Hop Cryptographic Context Chain Baseline (#78)</a:t>
            </a:r>
            <a:endParaRPr lang="en-US" sz="850" dirty="0"/>
          </a:p>
        </p:txBody>
      </p:sp>
      <p:sp>
        <p:nvSpPr>
          <p:cNvPr id="7" name="Shape 5"/>
          <p:cNvSpPr/>
          <p:nvPr/>
        </p:nvSpPr>
        <p:spPr>
          <a:xfrm>
            <a:off x="10835640" y="182880"/>
            <a:ext cx="1005840" cy="256032"/>
          </a:xfrm>
          <a:prstGeom prst="roundRect">
            <a:avLst>
              <a:gd name="adj" fmla="val 50000"/>
            </a:avLst>
          </a:prstGeom>
          <a:solidFill>
            <a:srgbClr val="FFFFFF"/>
          </a:solidFill>
          <a:ln w="9525">
            <a:solidFill>
              <a:srgbClr val="E2E8F0"/>
            </a:solidFill>
            <a:prstDash val="solid"/>
          </a:ln>
        </p:spPr>
      </p:sp>
      <p:sp>
        <p:nvSpPr>
          <p:cNvPr id="8" name="Text 6"/>
          <p:cNvSpPr/>
          <p:nvPr/>
        </p:nvSpPr>
        <p:spPr>
          <a:xfrm>
            <a:off x="10835640" y="182880"/>
            <a:ext cx="1005840" cy="256032"/>
          </a:xfrm>
          <a:prstGeom prst="rect">
            <a:avLst/>
          </a:prstGeom>
          <a:noFill/>
          <a:ln/>
        </p:spPr>
        <p:txBody>
          <a:bodyPr wrap="square" rtlCol="0" anchor="ctr"/>
          <a:lstStyle/>
          <a:p>
            <a:pPr algn="ctr" indent="0" marL="0">
              <a:buNone/>
            </a:pPr>
            <a:r>
              <a:rPr lang="en-US" sz="850" b="1" dirty="0">
                <a:solidFill>
                  <a:srgbClr val="334155"/>
                </a:solidFill>
                <a:latin typeface="Google Sans" pitchFamily="34" charset="0"/>
                <a:ea typeface="Google Sans" pitchFamily="34" charset="-122"/>
                <a:cs typeface="Google Sans" pitchFamily="34" charset="-120"/>
              </a:rPr>
              <a:t>08 / 14</a:t>
            </a:r>
            <a:endParaRPr lang="en-US" sz="850" dirty="0"/>
          </a:p>
        </p:txBody>
      </p:sp>
      <p:sp>
        <p:nvSpPr>
          <p:cNvPr id="9" name="Shape 7"/>
          <p:cNvSpPr/>
          <p:nvPr/>
        </p:nvSpPr>
        <p:spPr>
          <a:xfrm>
            <a:off x="347472" y="6510528"/>
            <a:ext cx="11494008" cy="0"/>
          </a:xfrm>
          <a:prstGeom prst="line">
            <a:avLst/>
          </a:prstGeom>
          <a:noFill/>
          <a:ln w="9525">
            <a:solidFill>
              <a:srgbClr val="E2E8F0"/>
            </a:solidFill>
            <a:prstDash val="solid"/>
          </a:ln>
        </p:spPr>
      </p:sp>
      <p:sp>
        <p:nvSpPr>
          <p:cNvPr id="10" name="Text 8"/>
          <p:cNvSpPr/>
          <p:nvPr/>
        </p:nvSpPr>
        <p:spPr>
          <a:xfrm>
            <a:off x="347472" y="6556248"/>
            <a:ext cx="11494008" cy="219456"/>
          </a:xfrm>
          <a:prstGeom prst="rect">
            <a:avLst/>
          </a:prstGeom>
          <a:noFill/>
          <a:ln/>
        </p:spPr>
        <p:txBody>
          <a:bodyPr wrap="square" rtlCol="0" anchor="ctr"/>
          <a:lstStyle/>
          <a:p>
            <a:pPr indent="0" marL="0">
              <a:buNone/>
            </a:pPr>
            <a:r>
              <a:rPr lang="en-US" sz="780" dirty="0">
                <a:solidFill>
                  <a:srgbClr val="64748B"/>
                </a:solidFill>
                <a:latin typeface="Roboto" pitchFamily="34" charset="0"/>
                <a:ea typeface="Roboto" pitchFamily="34" charset="-122"/>
                <a:cs typeface="Roboto" pitchFamily="34" charset="-120"/>
              </a:rPr>
              <a:t>Multi-Tenant Agentic AI on Google Cloud  •  Blog 1 Executive Edition  •  Verified on GCP (#248990048888, #48439189383) &amp; AWS (#393036065405)</a:t>
            </a:r>
            <a:endParaRPr lang="en-US" sz="780" dirty="0"/>
          </a:p>
        </p:txBody>
      </p:sp>
      <p:sp>
        <p:nvSpPr>
          <p:cNvPr id="11" name="Shape 9"/>
          <p:cNvSpPr/>
          <p:nvPr/>
        </p:nvSpPr>
        <p:spPr>
          <a:xfrm>
            <a:off x="347472" y="566928"/>
            <a:ext cx="3154680" cy="5779008"/>
          </a:xfrm>
          <a:prstGeom prst="roundRect">
            <a:avLst>
              <a:gd name="adj" fmla="val 2899"/>
            </a:avLst>
          </a:prstGeom>
          <a:solidFill>
            <a:srgbClr val="FFFFFF"/>
          </a:solidFill>
          <a:ln w="12700">
            <a:solidFill>
              <a:srgbClr val="E2E8F0"/>
            </a:solidFill>
            <a:prstDash val="solid"/>
          </a:ln>
        </p:spPr>
      </p:sp>
      <p:sp>
        <p:nvSpPr>
          <p:cNvPr id="12" name="Shape 10"/>
          <p:cNvSpPr/>
          <p:nvPr/>
        </p:nvSpPr>
        <p:spPr>
          <a:xfrm>
            <a:off x="530352" y="768096"/>
            <a:ext cx="1691640" cy="256032"/>
          </a:xfrm>
          <a:prstGeom prst="roundRect">
            <a:avLst>
              <a:gd name="adj" fmla="val 28571"/>
            </a:avLst>
          </a:prstGeom>
          <a:solidFill>
            <a:srgbClr val="E6F4EA"/>
          </a:solidFill>
          <a:ln/>
        </p:spPr>
      </p:sp>
      <p:sp>
        <p:nvSpPr>
          <p:cNvPr id="13" name="Text 11"/>
          <p:cNvSpPr/>
          <p:nvPr/>
        </p:nvSpPr>
        <p:spPr>
          <a:xfrm>
            <a:off x="530352" y="768096"/>
            <a:ext cx="1691640" cy="256032"/>
          </a:xfrm>
          <a:prstGeom prst="rect">
            <a:avLst/>
          </a:prstGeom>
          <a:noFill/>
          <a:ln/>
        </p:spPr>
        <p:txBody>
          <a:bodyPr wrap="square" rtlCol="0" anchor="ctr"/>
          <a:lstStyle/>
          <a:p>
            <a:pPr algn="ctr" indent="0" marL="0">
              <a:buNone/>
            </a:pPr>
            <a:r>
              <a:rPr lang="en-US" sz="800" b="1" dirty="0">
                <a:solidFill>
                  <a:srgbClr val="1E8E3E"/>
                </a:solidFill>
                <a:latin typeface="Google Sans" pitchFamily="34" charset="0"/>
                <a:ea typeface="Google Sans" pitchFamily="34" charset="-122"/>
                <a:cs typeface="Google Sans" pitchFamily="34" charset="-120"/>
              </a:rPr>
              <a:t>L2 PHYSICAL • FIG 2</a:t>
            </a:r>
            <a:endParaRPr lang="en-US" sz="800" dirty="0"/>
          </a:p>
        </p:txBody>
      </p:sp>
      <p:sp>
        <p:nvSpPr>
          <p:cNvPr id="14" name="Text 12"/>
          <p:cNvSpPr/>
          <p:nvPr/>
        </p:nvSpPr>
        <p:spPr>
          <a:xfrm>
            <a:off x="530352" y="1133856"/>
            <a:ext cx="2788920" cy="1325880"/>
          </a:xfrm>
          <a:prstGeom prst="rect">
            <a:avLst/>
          </a:prstGeom>
          <a:noFill/>
          <a:ln/>
        </p:spPr>
        <p:txBody>
          <a:bodyPr wrap="square" rtlCol="0" anchor="t"/>
          <a:lstStyle/>
          <a:p>
            <a:pPr indent="0" marL="0">
              <a:buNone/>
            </a:pPr>
            <a:r>
              <a:rPr lang="en-US" sz="1750" b="1" dirty="0">
                <a:solidFill>
                  <a:srgbClr val="0F172A"/>
                </a:solidFill>
                <a:latin typeface="Google Sans Display" pitchFamily="34" charset="0"/>
                <a:ea typeface="Google Sans Display" pitchFamily="34" charset="-122"/>
                <a:cs typeface="Google Sans Display" pitchFamily="34" charset="-120"/>
              </a:rPr>
              <a:t>Zero-Trust Cryptographic Chain Across Spokes</a:t>
            </a:r>
            <a:endParaRPr lang="en-US" sz="1750" dirty="0"/>
          </a:p>
        </p:txBody>
      </p:sp>
      <p:sp>
        <p:nvSpPr>
          <p:cNvPr id="15" name="Text 13"/>
          <p:cNvSpPr/>
          <p:nvPr/>
        </p:nvSpPr>
        <p:spPr>
          <a:xfrm>
            <a:off x="530352" y="2542032"/>
            <a:ext cx="2788920" cy="2148840"/>
          </a:xfrm>
          <a:prstGeom prst="rect">
            <a:avLst/>
          </a:prstGeom>
          <a:noFill/>
          <a:ln/>
        </p:spPr>
        <p:txBody>
          <a:bodyPr wrap="square" rtlCol="0" anchor="t"/>
          <a:lstStyle/>
          <a:p>
            <a:pPr indent="0" marL="0">
              <a:buNone/>
            </a:pPr>
            <a:r>
              <a:rPr lang="en-US" sz="1000" dirty="0">
                <a:solidFill>
                  <a:srgbClr val="334155"/>
                </a:solidFill>
                <a:latin typeface="Roboto" pitchFamily="34" charset="0"/>
                <a:ea typeface="Roboto" pitchFamily="34" charset="-122"/>
                <a:cs typeface="Roboto" pitchFamily="34" charset="-120"/>
              </a:rPr>
              <a:t>Extends the canonical Architecture Center hub-and-spoke topology with 5 mandatory verification hops:</a:t>
            </a:r>
            <a:endParaRPr lang="en-US" sz="1000" dirty="0"/>
          </a:p>
          <a:p>
            <a:pPr indent="0" marL="0">
              <a:buNone/>
            </a:pP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 Asymmetric KMS ECDSA P-256 token signing</a:t>
            </a: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 gVisor (runsc) kernel sandboxing per worker</a:t>
            </a: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 Composite {tenant}:{user}:{session} key isolation</a:t>
            </a: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 Scoped 2LO/3LO MCP connectors</a:t>
            </a:r>
            <a:endParaRPr lang="en-US" sz="1000" dirty="0"/>
          </a:p>
        </p:txBody>
      </p:sp>
      <p:sp>
        <p:nvSpPr>
          <p:cNvPr id="16" name="Shape 14"/>
          <p:cNvSpPr/>
          <p:nvPr/>
        </p:nvSpPr>
        <p:spPr>
          <a:xfrm>
            <a:off x="530352" y="4846320"/>
            <a:ext cx="2788920" cy="1298448"/>
          </a:xfrm>
          <a:prstGeom prst="roundRect">
            <a:avLst>
              <a:gd name="adj" fmla="val 5634"/>
            </a:avLst>
          </a:prstGeom>
          <a:solidFill>
            <a:srgbClr val="E6F4EA"/>
          </a:solidFill>
          <a:ln w="12700">
            <a:solidFill>
              <a:srgbClr val="1E8E3E"/>
            </a:solidFill>
            <a:prstDash val="solid"/>
          </a:ln>
        </p:spPr>
      </p:sp>
      <p:sp>
        <p:nvSpPr>
          <p:cNvPr id="17" name="Text 15"/>
          <p:cNvSpPr/>
          <p:nvPr/>
        </p:nvSpPr>
        <p:spPr>
          <a:xfrm>
            <a:off x="658368" y="4956048"/>
            <a:ext cx="2532888" cy="566928"/>
          </a:xfrm>
          <a:prstGeom prst="rect">
            <a:avLst/>
          </a:prstGeom>
          <a:noFill/>
          <a:ln/>
        </p:spPr>
        <p:txBody>
          <a:bodyPr wrap="square" rtlCol="0" anchor="ctr"/>
          <a:lstStyle/>
          <a:p>
            <a:pPr indent="0" marL="0">
              <a:buNone/>
            </a:pPr>
            <a:r>
              <a:rPr lang="en-US" sz="2800" b="1" dirty="0">
                <a:solidFill>
                  <a:srgbClr val="1E8E3E"/>
                </a:solidFill>
                <a:latin typeface="Google Sans Display" pitchFamily="34" charset="0"/>
                <a:ea typeface="Google Sans Display" pitchFamily="34" charset="-122"/>
                <a:cs typeface="Google Sans Display" pitchFamily="34" charset="-120"/>
              </a:rPr>
              <a:t>5 Hops</a:t>
            </a:r>
            <a:endParaRPr lang="en-US" sz="2800" dirty="0"/>
          </a:p>
        </p:txBody>
      </p:sp>
      <p:sp>
        <p:nvSpPr>
          <p:cNvPr id="18" name="Text 16"/>
          <p:cNvSpPr/>
          <p:nvPr/>
        </p:nvSpPr>
        <p:spPr>
          <a:xfrm>
            <a:off x="658368" y="5559552"/>
            <a:ext cx="2532888" cy="475488"/>
          </a:xfrm>
          <a:prstGeom prst="rect">
            <a:avLst/>
          </a:prstGeom>
          <a:noFill/>
          <a:ln/>
        </p:spPr>
        <p:txBody>
          <a:bodyPr wrap="square" rtlCol="0" anchor="ctr"/>
          <a:lstStyle/>
          <a:p>
            <a:pPr indent="0" marL="0">
              <a:buNone/>
            </a:pPr>
            <a:r>
              <a:rPr lang="en-US" sz="880" b="1" dirty="0">
                <a:solidFill>
                  <a:srgbClr val="0F172A"/>
                </a:solidFill>
                <a:latin typeface="Roboto" pitchFamily="34" charset="0"/>
                <a:ea typeface="Roboto" pitchFamily="34" charset="-122"/>
                <a:cs typeface="Roboto" pitchFamily="34" charset="-120"/>
              </a:rPr>
              <a:t>End-to-End Cryptographic Context Verification</a:t>
            </a:r>
            <a:endParaRPr lang="en-US" sz="880" dirty="0"/>
          </a:p>
        </p:txBody>
      </p:sp>
      <p:sp>
        <p:nvSpPr>
          <p:cNvPr id="19" name="Shape 17"/>
          <p:cNvSpPr/>
          <p:nvPr/>
        </p:nvSpPr>
        <p:spPr>
          <a:xfrm>
            <a:off x="3703320" y="566928"/>
            <a:ext cx="8138160" cy="5779008"/>
          </a:xfrm>
          <a:prstGeom prst="roundRect">
            <a:avLst>
              <a:gd name="adj" fmla="val 1582"/>
            </a:avLst>
          </a:prstGeom>
          <a:solidFill>
            <a:srgbClr val="FFFFFF"/>
          </a:solidFill>
          <a:ln w="12700">
            <a:solidFill>
              <a:srgbClr val="E2E8F0"/>
            </a:solidFill>
            <a:prstDash val="solid"/>
          </a:ln>
        </p:spPr>
      </p:sp>
      <p:pic>
        <p:nvPicPr>
          <p:cNvPr id="20" name="Image 0" descr="/usr/local/google/home/nitinagga/Documents/blogs/diagrams/ws1-cloud-arch-center-5hop-baseline.drawio.png">    </p:cNvPr>
          <p:cNvPicPr>
            <a:picLocks noChangeAspect="1"/>
          </p:cNvPicPr>
          <p:nvPr/>
        </p:nvPicPr>
        <p:blipFill>
          <a:blip r:embed="rId1"/>
          <a:srcRect l="0" r="0" t="0" b="0"/>
          <a:stretch/>
        </p:blipFill>
        <p:spPr>
          <a:xfrm>
            <a:off x="3840480" y="676656"/>
            <a:ext cx="7863840" cy="55595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1723644"/>
          </a:xfrm>
          <a:prstGeom prst="rect">
            <a:avLst/>
          </a:prstGeom>
          <a:solidFill>
            <a:srgbClr val="1A73E8"/>
          </a:solidFill>
          <a:ln/>
        </p:spPr>
      </p:sp>
      <p:sp>
        <p:nvSpPr>
          <p:cNvPr id="3" name="Shape 1"/>
          <p:cNvSpPr/>
          <p:nvPr/>
        </p:nvSpPr>
        <p:spPr>
          <a:xfrm>
            <a:off x="0" y="1714500"/>
            <a:ext cx="73152" cy="1723644"/>
          </a:xfrm>
          <a:prstGeom prst="rect">
            <a:avLst/>
          </a:prstGeom>
          <a:solidFill>
            <a:srgbClr val="D93025"/>
          </a:solidFill>
          <a:ln/>
        </p:spPr>
      </p:sp>
      <p:sp>
        <p:nvSpPr>
          <p:cNvPr id="4" name="Shape 2"/>
          <p:cNvSpPr/>
          <p:nvPr/>
        </p:nvSpPr>
        <p:spPr>
          <a:xfrm>
            <a:off x="0" y="3429000"/>
            <a:ext cx="73152" cy="1723644"/>
          </a:xfrm>
          <a:prstGeom prst="rect">
            <a:avLst/>
          </a:prstGeom>
          <a:solidFill>
            <a:srgbClr val="F9AB00"/>
          </a:solidFill>
          <a:ln/>
        </p:spPr>
      </p:sp>
      <p:sp>
        <p:nvSpPr>
          <p:cNvPr id="5" name="Shape 3"/>
          <p:cNvSpPr/>
          <p:nvPr/>
        </p:nvSpPr>
        <p:spPr>
          <a:xfrm>
            <a:off x="0" y="5143500"/>
            <a:ext cx="73152" cy="1723644"/>
          </a:xfrm>
          <a:prstGeom prst="rect">
            <a:avLst/>
          </a:prstGeom>
          <a:solidFill>
            <a:srgbClr val="1E8E3E"/>
          </a:solidFill>
          <a:ln/>
        </p:spPr>
      </p:sp>
      <p:sp>
        <p:nvSpPr>
          <p:cNvPr id="6" name="Text 4"/>
          <p:cNvSpPr/>
          <p:nvPr/>
        </p:nvSpPr>
        <p:spPr>
          <a:xfrm>
            <a:off x="347472" y="201168"/>
            <a:ext cx="9875520" cy="237744"/>
          </a:xfrm>
          <a:prstGeom prst="rect">
            <a:avLst/>
          </a:prstGeom>
          <a:noFill/>
          <a:ln/>
        </p:spPr>
        <p:txBody>
          <a:bodyPr wrap="square" rtlCol="0" anchor="ctr"/>
          <a:lstStyle/>
          <a:p>
            <a:pPr indent="0" marL="0">
              <a:buNone/>
            </a:pPr>
            <a:r>
              <a:rPr lang="en-US" sz="850" b="1" dirty="0">
                <a:solidFill>
                  <a:srgbClr val="1A73E8"/>
                </a:solidFill>
                <a:latin typeface="Google Sans" pitchFamily="34" charset="0"/>
                <a:ea typeface="Google Sans" pitchFamily="34" charset="-122"/>
                <a:cs typeface="Google Sans" pitchFamily="34" charset="-120"/>
              </a:rPr>
              <a:t>GOOGLE CLOUD ARCHITECTURE CENTER  </a:t>
            </a:r>
            <a:pPr indent="0" marL="0">
              <a:buNone/>
            </a:pPr>
            <a:r>
              <a:rPr lang="en-US" sz="850" dirty="0">
                <a:solidFill>
                  <a:srgbClr val="64748B"/>
                </a:solidFill>
                <a:latin typeface="Google Sans" pitchFamily="34" charset="0"/>
                <a:ea typeface="Google Sans" pitchFamily="34" charset="-122"/>
                <a:cs typeface="Google Sans" pitchFamily="34" charset="-120"/>
              </a:rPr>
              <a:t>/  ACT II • TECHNICAL SEQUENCE (L3)  /  5-Actor Runtime Sequence, &lt;5s L1 Eviction &amp; Single-Flight Recovery</a:t>
            </a:r>
            <a:endParaRPr lang="en-US" sz="850" dirty="0"/>
          </a:p>
        </p:txBody>
      </p:sp>
      <p:sp>
        <p:nvSpPr>
          <p:cNvPr id="7" name="Shape 5"/>
          <p:cNvSpPr/>
          <p:nvPr/>
        </p:nvSpPr>
        <p:spPr>
          <a:xfrm>
            <a:off x="10835640" y="182880"/>
            <a:ext cx="1005840" cy="256032"/>
          </a:xfrm>
          <a:prstGeom prst="roundRect">
            <a:avLst>
              <a:gd name="adj" fmla="val 50000"/>
            </a:avLst>
          </a:prstGeom>
          <a:solidFill>
            <a:srgbClr val="FFFFFF"/>
          </a:solidFill>
          <a:ln w="9525">
            <a:solidFill>
              <a:srgbClr val="E2E8F0"/>
            </a:solidFill>
            <a:prstDash val="solid"/>
          </a:ln>
        </p:spPr>
      </p:sp>
      <p:sp>
        <p:nvSpPr>
          <p:cNvPr id="8" name="Text 6"/>
          <p:cNvSpPr/>
          <p:nvPr/>
        </p:nvSpPr>
        <p:spPr>
          <a:xfrm>
            <a:off x="10835640" y="182880"/>
            <a:ext cx="1005840" cy="256032"/>
          </a:xfrm>
          <a:prstGeom prst="rect">
            <a:avLst/>
          </a:prstGeom>
          <a:noFill/>
          <a:ln/>
        </p:spPr>
        <p:txBody>
          <a:bodyPr wrap="square" rtlCol="0" anchor="ctr"/>
          <a:lstStyle/>
          <a:p>
            <a:pPr algn="ctr" indent="0" marL="0">
              <a:buNone/>
            </a:pPr>
            <a:r>
              <a:rPr lang="en-US" sz="850" b="1" dirty="0">
                <a:solidFill>
                  <a:srgbClr val="334155"/>
                </a:solidFill>
                <a:latin typeface="Google Sans" pitchFamily="34" charset="0"/>
                <a:ea typeface="Google Sans" pitchFamily="34" charset="-122"/>
                <a:cs typeface="Google Sans" pitchFamily="34" charset="-120"/>
              </a:rPr>
              <a:t>09 / 14</a:t>
            </a:r>
            <a:endParaRPr lang="en-US" sz="850" dirty="0"/>
          </a:p>
        </p:txBody>
      </p:sp>
      <p:sp>
        <p:nvSpPr>
          <p:cNvPr id="9" name="Shape 7"/>
          <p:cNvSpPr/>
          <p:nvPr/>
        </p:nvSpPr>
        <p:spPr>
          <a:xfrm>
            <a:off x="347472" y="6510528"/>
            <a:ext cx="11494008" cy="0"/>
          </a:xfrm>
          <a:prstGeom prst="line">
            <a:avLst/>
          </a:prstGeom>
          <a:noFill/>
          <a:ln w="9525">
            <a:solidFill>
              <a:srgbClr val="E2E8F0"/>
            </a:solidFill>
            <a:prstDash val="solid"/>
          </a:ln>
        </p:spPr>
      </p:sp>
      <p:sp>
        <p:nvSpPr>
          <p:cNvPr id="10" name="Text 8"/>
          <p:cNvSpPr/>
          <p:nvPr/>
        </p:nvSpPr>
        <p:spPr>
          <a:xfrm>
            <a:off x="347472" y="6556248"/>
            <a:ext cx="11494008" cy="219456"/>
          </a:xfrm>
          <a:prstGeom prst="rect">
            <a:avLst/>
          </a:prstGeom>
          <a:noFill/>
          <a:ln/>
        </p:spPr>
        <p:txBody>
          <a:bodyPr wrap="square" rtlCol="0" anchor="ctr"/>
          <a:lstStyle/>
          <a:p>
            <a:pPr indent="0" marL="0">
              <a:buNone/>
            </a:pPr>
            <a:r>
              <a:rPr lang="en-US" sz="780" dirty="0">
                <a:solidFill>
                  <a:srgbClr val="64748B"/>
                </a:solidFill>
                <a:latin typeface="Roboto" pitchFamily="34" charset="0"/>
                <a:ea typeface="Roboto" pitchFamily="34" charset="-122"/>
                <a:cs typeface="Roboto" pitchFamily="34" charset="-120"/>
              </a:rPr>
              <a:t>Multi-Tenant Agentic AI on Google Cloud  •  Blog 1 Executive Edition  •  Verified on GCP (#248990048888, #48439189383) &amp; AWS (#393036065405)</a:t>
            </a:r>
            <a:endParaRPr lang="en-US" sz="780" dirty="0"/>
          </a:p>
        </p:txBody>
      </p:sp>
      <p:sp>
        <p:nvSpPr>
          <p:cNvPr id="11" name="Shape 9"/>
          <p:cNvSpPr/>
          <p:nvPr/>
        </p:nvSpPr>
        <p:spPr>
          <a:xfrm>
            <a:off x="347472" y="566928"/>
            <a:ext cx="3154680" cy="5779008"/>
          </a:xfrm>
          <a:prstGeom prst="roundRect">
            <a:avLst>
              <a:gd name="adj" fmla="val 2899"/>
            </a:avLst>
          </a:prstGeom>
          <a:solidFill>
            <a:srgbClr val="FFFFFF"/>
          </a:solidFill>
          <a:ln w="12700">
            <a:solidFill>
              <a:srgbClr val="E2E8F0"/>
            </a:solidFill>
            <a:prstDash val="solid"/>
          </a:ln>
        </p:spPr>
      </p:sp>
      <p:sp>
        <p:nvSpPr>
          <p:cNvPr id="12" name="Shape 10"/>
          <p:cNvSpPr/>
          <p:nvPr/>
        </p:nvSpPr>
        <p:spPr>
          <a:xfrm>
            <a:off x="530352" y="768096"/>
            <a:ext cx="1691640" cy="256032"/>
          </a:xfrm>
          <a:prstGeom prst="roundRect">
            <a:avLst>
              <a:gd name="adj" fmla="val 28571"/>
            </a:avLst>
          </a:prstGeom>
          <a:solidFill>
            <a:srgbClr val="FCE8E6"/>
          </a:solidFill>
          <a:ln/>
        </p:spPr>
      </p:sp>
      <p:sp>
        <p:nvSpPr>
          <p:cNvPr id="13" name="Text 11"/>
          <p:cNvSpPr/>
          <p:nvPr/>
        </p:nvSpPr>
        <p:spPr>
          <a:xfrm>
            <a:off x="530352" y="768096"/>
            <a:ext cx="1691640" cy="256032"/>
          </a:xfrm>
          <a:prstGeom prst="rect">
            <a:avLst/>
          </a:prstGeom>
          <a:noFill/>
          <a:ln/>
        </p:spPr>
        <p:txBody>
          <a:bodyPr wrap="square" rtlCol="0" anchor="ctr"/>
          <a:lstStyle/>
          <a:p>
            <a:pPr algn="ctr" indent="0" marL="0">
              <a:buNone/>
            </a:pPr>
            <a:r>
              <a:rPr lang="en-US" sz="800" b="1" dirty="0">
                <a:solidFill>
                  <a:srgbClr val="D93025"/>
                </a:solidFill>
                <a:latin typeface="Google Sans" pitchFamily="34" charset="0"/>
                <a:ea typeface="Google Sans" pitchFamily="34" charset="-122"/>
                <a:cs typeface="Google Sans" pitchFamily="34" charset="-120"/>
              </a:rPr>
              <a:t>L3 SEQUENCE</a:t>
            </a:r>
            <a:endParaRPr lang="en-US" sz="800" dirty="0"/>
          </a:p>
        </p:txBody>
      </p:sp>
      <p:sp>
        <p:nvSpPr>
          <p:cNvPr id="14" name="Text 12"/>
          <p:cNvSpPr/>
          <p:nvPr/>
        </p:nvSpPr>
        <p:spPr>
          <a:xfrm>
            <a:off x="530352" y="1133856"/>
            <a:ext cx="2788920" cy="1325880"/>
          </a:xfrm>
          <a:prstGeom prst="rect">
            <a:avLst/>
          </a:prstGeom>
          <a:noFill/>
          <a:ln/>
        </p:spPr>
        <p:txBody>
          <a:bodyPr wrap="square" rtlCol="0" anchor="t"/>
          <a:lstStyle/>
          <a:p>
            <a:pPr indent="0" marL="0">
              <a:buNone/>
            </a:pPr>
            <a:r>
              <a:rPr lang="en-US" sz="1750" b="1" dirty="0">
                <a:solidFill>
                  <a:srgbClr val="0F172A"/>
                </a:solidFill>
                <a:latin typeface="Google Sans Display" pitchFamily="34" charset="0"/>
                <a:ea typeface="Google Sans Display" pitchFamily="34" charset="-122"/>
                <a:cs typeface="Google Sans Display" pitchFamily="34" charset="-120"/>
              </a:rPr>
              <a:t>Sub-5s Cache Eviction &amp; Stampede Protection</a:t>
            </a:r>
            <a:endParaRPr lang="en-US" sz="1750" dirty="0"/>
          </a:p>
        </p:txBody>
      </p:sp>
      <p:sp>
        <p:nvSpPr>
          <p:cNvPr id="15" name="Text 13"/>
          <p:cNvSpPr/>
          <p:nvPr/>
        </p:nvSpPr>
        <p:spPr>
          <a:xfrm>
            <a:off x="530352" y="2542032"/>
            <a:ext cx="2788920" cy="2148840"/>
          </a:xfrm>
          <a:prstGeom prst="rect">
            <a:avLst/>
          </a:prstGeom>
          <a:noFill/>
          <a:ln/>
        </p:spPr>
        <p:txBody>
          <a:bodyPr wrap="square" rtlCol="0" anchor="t"/>
          <a:lstStyle/>
          <a:p>
            <a:pPr indent="0" marL="0">
              <a:buNone/>
            </a:pPr>
            <a:r>
              <a:rPr lang="en-US" sz="1000" dirty="0">
                <a:solidFill>
                  <a:srgbClr val="334155"/>
                </a:solidFill>
                <a:latin typeface="Roboto" pitchFamily="34" charset="0"/>
                <a:ea typeface="Roboto" pitchFamily="34" charset="-122"/>
                <a:cs typeface="Roboto" pitchFamily="34" charset="-120"/>
              </a:rPr>
              <a:t>While Cloud KMS key state propagation can take up to 60s across storage, Hop 3 executes a targeted Valkey SCAN+UNLINK of cache:{tenant}:* in &lt;5s.</a:t>
            </a:r>
            <a:endParaRPr lang="en-US" sz="1000" dirty="0"/>
          </a:p>
          <a:p>
            <a:pPr indent="0" marL="0">
              <a:buNone/>
            </a:pP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When a revoked key is restored, SET NX PX 5000 single-flight locking prevents thundering-herd DB stampedes.</a:t>
            </a:r>
            <a:endParaRPr lang="en-US" sz="1000" dirty="0"/>
          </a:p>
        </p:txBody>
      </p:sp>
      <p:sp>
        <p:nvSpPr>
          <p:cNvPr id="16" name="Shape 14"/>
          <p:cNvSpPr/>
          <p:nvPr/>
        </p:nvSpPr>
        <p:spPr>
          <a:xfrm>
            <a:off x="530352" y="4846320"/>
            <a:ext cx="2788920" cy="1298448"/>
          </a:xfrm>
          <a:prstGeom prst="roundRect">
            <a:avLst>
              <a:gd name="adj" fmla="val 5634"/>
            </a:avLst>
          </a:prstGeom>
          <a:solidFill>
            <a:srgbClr val="FCE8E6"/>
          </a:solidFill>
          <a:ln w="12700">
            <a:solidFill>
              <a:srgbClr val="D93025"/>
            </a:solidFill>
            <a:prstDash val="solid"/>
          </a:ln>
        </p:spPr>
      </p:sp>
      <p:sp>
        <p:nvSpPr>
          <p:cNvPr id="17" name="Text 15"/>
          <p:cNvSpPr/>
          <p:nvPr/>
        </p:nvSpPr>
        <p:spPr>
          <a:xfrm>
            <a:off x="658368" y="4956048"/>
            <a:ext cx="2532888" cy="566928"/>
          </a:xfrm>
          <a:prstGeom prst="rect">
            <a:avLst/>
          </a:prstGeom>
          <a:noFill/>
          <a:ln/>
        </p:spPr>
        <p:txBody>
          <a:bodyPr wrap="square" rtlCol="0" anchor="ctr"/>
          <a:lstStyle/>
          <a:p>
            <a:pPr indent="0" marL="0">
              <a:buNone/>
            </a:pPr>
            <a:r>
              <a:rPr lang="en-US" sz="2800" b="1" dirty="0">
                <a:solidFill>
                  <a:srgbClr val="D93025"/>
                </a:solidFill>
                <a:latin typeface="Google Sans Display" pitchFamily="34" charset="0"/>
                <a:ea typeface="Google Sans Display" pitchFamily="34" charset="-122"/>
                <a:cs typeface="Google Sans Display" pitchFamily="34" charset="-120"/>
              </a:rPr>
              <a:t>&lt;5 sec</a:t>
            </a:r>
            <a:endParaRPr lang="en-US" sz="2800" dirty="0"/>
          </a:p>
        </p:txBody>
      </p:sp>
      <p:sp>
        <p:nvSpPr>
          <p:cNvPr id="18" name="Text 16"/>
          <p:cNvSpPr/>
          <p:nvPr/>
        </p:nvSpPr>
        <p:spPr>
          <a:xfrm>
            <a:off x="658368" y="5559552"/>
            <a:ext cx="2532888" cy="475488"/>
          </a:xfrm>
          <a:prstGeom prst="rect">
            <a:avLst/>
          </a:prstGeom>
          <a:noFill/>
          <a:ln/>
        </p:spPr>
        <p:txBody>
          <a:bodyPr wrap="square" rtlCol="0" anchor="ctr"/>
          <a:lstStyle/>
          <a:p>
            <a:pPr indent="0" marL="0">
              <a:buNone/>
            </a:pPr>
            <a:r>
              <a:rPr lang="en-US" sz="880" b="1" dirty="0">
                <a:solidFill>
                  <a:srgbClr val="0F172A"/>
                </a:solidFill>
                <a:latin typeface="Roboto" pitchFamily="34" charset="0"/>
                <a:ea typeface="Roboto" pitchFamily="34" charset="-122"/>
                <a:cs typeface="Roboto" pitchFamily="34" charset="-120"/>
              </a:rPr>
              <a:t>Targeted Valkey L1 Cache Purge SLA (HTTP 423)</a:t>
            </a:r>
            <a:endParaRPr lang="en-US" sz="880" dirty="0"/>
          </a:p>
        </p:txBody>
      </p:sp>
      <p:sp>
        <p:nvSpPr>
          <p:cNvPr id="19" name="Shape 17"/>
          <p:cNvSpPr/>
          <p:nvPr/>
        </p:nvSpPr>
        <p:spPr>
          <a:xfrm>
            <a:off x="3767328" y="594360"/>
            <a:ext cx="1481328" cy="438912"/>
          </a:xfrm>
          <a:prstGeom prst="roundRect">
            <a:avLst>
              <a:gd name="adj" fmla="val 14583"/>
            </a:avLst>
          </a:prstGeom>
          <a:solidFill>
            <a:srgbClr val="FFFFFF"/>
          </a:solidFill>
          <a:ln w="13970">
            <a:solidFill>
              <a:srgbClr val="1A73E8"/>
            </a:solidFill>
            <a:prstDash val="solid"/>
          </a:ln>
        </p:spPr>
      </p:sp>
      <p:sp>
        <p:nvSpPr>
          <p:cNvPr id="20" name="Text 18"/>
          <p:cNvSpPr/>
          <p:nvPr/>
        </p:nvSpPr>
        <p:spPr>
          <a:xfrm>
            <a:off x="3767328" y="594360"/>
            <a:ext cx="1481328" cy="438912"/>
          </a:xfrm>
          <a:prstGeom prst="rect">
            <a:avLst/>
          </a:prstGeom>
          <a:noFill/>
          <a:ln/>
        </p:spPr>
        <p:txBody>
          <a:bodyPr wrap="square" rtlCol="0" anchor="ctr"/>
          <a:lstStyle/>
          <a:p>
            <a:pPr algn="ctr" indent="0" marL="0">
              <a:buNone/>
            </a:pPr>
            <a:r>
              <a:rPr lang="en-US" sz="840" b="1" dirty="0">
                <a:solidFill>
                  <a:srgbClr val="0F172A"/>
                </a:solidFill>
                <a:latin typeface="Google Sans" pitchFamily="34" charset="0"/>
                <a:ea typeface="Google Sans" pitchFamily="34" charset="-122"/>
                <a:cs typeface="Google Sans" pitchFamily="34" charset="-120"/>
              </a:rPr>
              <a:t>Tenant Caller</a:t>
            </a:r>
            <a:endParaRPr lang="en-US" sz="840" dirty="0"/>
          </a:p>
        </p:txBody>
      </p:sp>
      <p:sp>
        <p:nvSpPr>
          <p:cNvPr id="21" name="Shape 19"/>
          <p:cNvSpPr/>
          <p:nvPr/>
        </p:nvSpPr>
        <p:spPr>
          <a:xfrm>
            <a:off x="4507992" y="1033272"/>
            <a:ext cx="0" cy="3429000"/>
          </a:xfrm>
          <a:prstGeom prst="line">
            <a:avLst/>
          </a:prstGeom>
          <a:noFill/>
          <a:ln w="12700">
            <a:solidFill>
              <a:srgbClr val="E2E8F0"/>
            </a:solidFill>
            <a:prstDash val="dash"/>
          </a:ln>
        </p:spPr>
      </p:sp>
      <p:sp>
        <p:nvSpPr>
          <p:cNvPr id="22" name="Shape 20"/>
          <p:cNvSpPr/>
          <p:nvPr/>
        </p:nvSpPr>
        <p:spPr>
          <a:xfrm>
            <a:off x="5394960" y="594360"/>
            <a:ext cx="1481328" cy="438912"/>
          </a:xfrm>
          <a:prstGeom prst="roundRect">
            <a:avLst>
              <a:gd name="adj" fmla="val 14583"/>
            </a:avLst>
          </a:prstGeom>
          <a:solidFill>
            <a:srgbClr val="FFFFFF"/>
          </a:solidFill>
          <a:ln w="13970">
            <a:solidFill>
              <a:srgbClr val="1A73E8"/>
            </a:solidFill>
            <a:prstDash val="solid"/>
          </a:ln>
        </p:spPr>
      </p:sp>
      <p:sp>
        <p:nvSpPr>
          <p:cNvPr id="23" name="Text 21"/>
          <p:cNvSpPr/>
          <p:nvPr/>
        </p:nvSpPr>
        <p:spPr>
          <a:xfrm>
            <a:off x="5394960" y="594360"/>
            <a:ext cx="1481328" cy="438912"/>
          </a:xfrm>
          <a:prstGeom prst="rect">
            <a:avLst/>
          </a:prstGeom>
          <a:noFill/>
          <a:ln/>
        </p:spPr>
        <p:txBody>
          <a:bodyPr wrap="square" rtlCol="0" anchor="ctr"/>
          <a:lstStyle/>
          <a:p>
            <a:pPr algn="ctr" indent="0" marL="0">
              <a:buNone/>
            </a:pPr>
            <a:r>
              <a:rPr lang="en-US" sz="840" b="1" dirty="0">
                <a:solidFill>
                  <a:srgbClr val="0F172A"/>
                </a:solidFill>
                <a:latin typeface="Google Sans" pitchFamily="34" charset="0"/>
                <a:ea typeface="Google Sans" pitchFamily="34" charset="-122"/>
                <a:cs typeface="Google Sans" pitchFamily="34" charset="-120"/>
              </a:rPr>
              <a:t>Hop 1: Edge STS</a:t>
            </a:r>
            <a:endParaRPr lang="en-US" sz="840" dirty="0"/>
          </a:p>
        </p:txBody>
      </p:sp>
      <p:sp>
        <p:nvSpPr>
          <p:cNvPr id="24" name="Shape 22"/>
          <p:cNvSpPr/>
          <p:nvPr/>
        </p:nvSpPr>
        <p:spPr>
          <a:xfrm>
            <a:off x="6135624" y="1033272"/>
            <a:ext cx="0" cy="3429000"/>
          </a:xfrm>
          <a:prstGeom prst="line">
            <a:avLst/>
          </a:prstGeom>
          <a:noFill/>
          <a:ln w="12700">
            <a:solidFill>
              <a:srgbClr val="E2E8F0"/>
            </a:solidFill>
            <a:prstDash val="dash"/>
          </a:ln>
        </p:spPr>
      </p:sp>
      <p:sp>
        <p:nvSpPr>
          <p:cNvPr id="25" name="Shape 23"/>
          <p:cNvSpPr/>
          <p:nvPr/>
        </p:nvSpPr>
        <p:spPr>
          <a:xfrm>
            <a:off x="7022592" y="594360"/>
            <a:ext cx="1481328" cy="438912"/>
          </a:xfrm>
          <a:prstGeom prst="roundRect">
            <a:avLst>
              <a:gd name="adj" fmla="val 14583"/>
            </a:avLst>
          </a:prstGeom>
          <a:solidFill>
            <a:srgbClr val="FFFFFF"/>
          </a:solidFill>
          <a:ln w="13970">
            <a:solidFill>
              <a:srgbClr val="1A73E8"/>
            </a:solidFill>
            <a:prstDash val="solid"/>
          </a:ln>
        </p:spPr>
      </p:sp>
      <p:sp>
        <p:nvSpPr>
          <p:cNvPr id="26" name="Text 24"/>
          <p:cNvSpPr/>
          <p:nvPr/>
        </p:nvSpPr>
        <p:spPr>
          <a:xfrm>
            <a:off x="7022592" y="594360"/>
            <a:ext cx="1481328" cy="438912"/>
          </a:xfrm>
          <a:prstGeom prst="rect">
            <a:avLst/>
          </a:prstGeom>
          <a:noFill/>
          <a:ln/>
        </p:spPr>
        <p:txBody>
          <a:bodyPr wrap="square" rtlCol="0" anchor="ctr"/>
          <a:lstStyle/>
          <a:p>
            <a:pPr algn="ctr" indent="0" marL="0">
              <a:buNone/>
            </a:pPr>
            <a:r>
              <a:rPr lang="en-US" sz="840" b="1" dirty="0">
                <a:solidFill>
                  <a:srgbClr val="0F172A"/>
                </a:solidFill>
                <a:latin typeface="Google Sans" pitchFamily="34" charset="0"/>
                <a:ea typeface="Google Sans" pitchFamily="34" charset="-122"/>
                <a:cs typeface="Google Sans" pitchFamily="34" charset="-120"/>
              </a:rPr>
              <a:t>Hops 2–3: ARD/Valkey</a:t>
            </a:r>
            <a:endParaRPr lang="en-US" sz="840" dirty="0"/>
          </a:p>
        </p:txBody>
      </p:sp>
      <p:sp>
        <p:nvSpPr>
          <p:cNvPr id="27" name="Shape 25"/>
          <p:cNvSpPr/>
          <p:nvPr/>
        </p:nvSpPr>
        <p:spPr>
          <a:xfrm>
            <a:off x="7763256" y="1033272"/>
            <a:ext cx="0" cy="3429000"/>
          </a:xfrm>
          <a:prstGeom prst="line">
            <a:avLst/>
          </a:prstGeom>
          <a:noFill/>
          <a:ln w="12700">
            <a:solidFill>
              <a:srgbClr val="E2E8F0"/>
            </a:solidFill>
            <a:prstDash val="dash"/>
          </a:ln>
        </p:spPr>
      </p:sp>
      <p:sp>
        <p:nvSpPr>
          <p:cNvPr id="28" name="Shape 26"/>
          <p:cNvSpPr/>
          <p:nvPr/>
        </p:nvSpPr>
        <p:spPr>
          <a:xfrm>
            <a:off x="8650224" y="594360"/>
            <a:ext cx="1481328" cy="438912"/>
          </a:xfrm>
          <a:prstGeom prst="roundRect">
            <a:avLst>
              <a:gd name="adj" fmla="val 14583"/>
            </a:avLst>
          </a:prstGeom>
          <a:solidFill>
            <a:srgbClr val="FFFFFF"/>
          </a:solidFill>
          <a:ln w="13970">
            <a:solidFill>
              <a:srgbClr val="1A73E8"/>
            </a:solidFill>
            <a:prstDash val="solid"/>
          </a:ln>
        </p:spPr>
      </p:sp>
      <p:sp>
        <p:nvSpPr>
          <p:cNvPr id="29" name="Text 27"/>
          <p:cNvSpPr/>
          <p:nvPr/>
        </p:nvSpPr>
        <p:spPr>
          <a:xfrm>
            <a:off x="8650224" y="594360"/>
            <a:ext cx="1481328" cy="438912"/>
          </a:xfrm>
          <a:prstGeom prst="rect">
            <a:avLst/>
          </a:prstGeom>
          <a:noFill/>
          <a:ln/>
        </p:spPr>
        <p:txBody>
          <a:bodyPr wrap="square" rtlCol="0" anchor="ctr"/>
          <a:lstStyle/>
          <a:p>
            <a:pPr algn="ctr" indent="0" marL="0">
              <a:buNone/>
            </a:pPr>
            <a:r>
              <a:rPr lang="en-US" sz="840" b="1" dirty="0">
                <a:solidFill>
                  <a:srgbClr val="0F172A"/>
                </a:solidFill>
                <a:latin typeface="Google Sans" pitchFamily="34" charset="0"/>
                <a:ea typeface="Google Sans" pitchFamily="34" charset="-122"/>
                <a:cs typeface="Google Sans" pitchFamily="34" charset="-120"/>
              </a:rPr>
              <a:t>Hop 4: Model Armor</a:t>
            </a:r>
            <a:endParaRPr lang="en-US" sz="840" dirty="0"/>
          </a:p>
        </p:txBody>
      </p:sp>
      <p:sp>
        <p:nvSpPr>
          <p:cNvPr id="30" name="Shape 28"/>
          <p:cNvSpPr/>
          <p:nvPr/>
        </p:nvSpPr>
        <p:spPr>
          <a:xfrm>
            <a:off x="9390888" y="1033272"/>
            <a:ext cx="0" cy="3429000"/>
          </a:xfrm>
          <a:prstGeom prst="line">
            <a:avLst/>
          </a:prstGeom>
          <a:noFill/>
          <a:ln w="12700">
            <a:solidFill>
              <a:srgbClr val="E2E8F0"/>
            </a:solidFill>
            <a:prstDash val="dash"/>
          </a:ln>
        </p:spPr>
      </p:sp>
      <p:sp>
        <p:nvSpPr>
          <p:cNvPr id="31" name="Shape 29"/>
          <p:cNvSpPr/>
          <p:nvPr/>
        </p:nvSpPr>
        <p:spPr>
          <a:xfrm>
            <a:off x="10277856" y="594360"/>
            <a:ext cx="1481328" cy="438912"/>
          </a:xfrm>
          <a:prstGeom prst="roundRect">
            <a:avLst>
              <a:gd name="adj" fmla="val 14583"/>
            </a:avLst>
          </a:prstGeom>
          <a:solidFill>
            <a:srgbClr val="FFFFFF"/>
          </a:solidFill>
          <a:ln w="13970">
            <a:solidFill>
              <a:srgbClr val="1A73E8"/>
            </a:solidFill>
            <a:prstDash val="solid"/>
          </a:ln>
        </p:spPr>
      </p:sp>
      <p:sp>
        <p:nvSpPr>
          <p:cNvPr id="32" name="Text 30"/>
          <p:cNvSpPr/>
          <p:nvPr/>
        </p:nvSpPr>
        <p:spPr>
          <a:xfrm>
            <a:off x="10277856" y="594360"/>
            <a:ext cx="1481328" cy="438912"/>
          </a:xfrm>
          <a:prstGeom prst="rect">
            <a:avLst/>
          </a:prstGeom>
          <a:noFill/>
          <a:ln/>
        </p:spPr>
        <p:txBody>
          <a:bodyPr wrap="square" rtlCol="0" anchor="ctr"/>
          <a:lstStyle/>
          <a:p>
            <a:pPr algn="ctr" indent="0" marL="0">
              <a:buNone/>
            </a:pPr>
            <a:r>
              <a:rPr lang="en-US" sz="840" b="1" dirty="0">
                <a:solidFill>
                  <a:srgbClr val="0F172A"/>
                </a:solidFill>
                <a:latin typeface="Google Sans" pitchFamily="34" charset="0"/>
                <a:ea typeface="Google Sans" pitchFamily="34" charset="-122"/>
                <a:cs typeface="Google Sans" pitchFamily="34" charset="-120"/>
              </a:rPr>
              <a:t>Hop 5: AlloyDB RLS</a:t>
            </a:r>
            <a:endParaRPr lang="en-US" sz="840" dirty="0"/>
          </a:p>
        </p:txBody>
      </p:sp>
      <p:sp>
        <p:nvSpPr>
          <p:cNvPr id="33" name="Shape 31"/>
          <p:cNvSpPr/>
          <p:nvPr/>
        </p:nvSpPr>
        <p:spPr>
          <a:xfrm>
            <a:off x="11018520" y="1033272"/>
            <a:ext cx="0" cy="3429000"/>
          </a:xfrm>
          <a:prstGeom prst="line">
            <a:avLst/>
          </a:prstGeom>
          <a:noFill/>
          <a:ln w="12700">
            <a:solidFill>
              <a:srgbClr val="E2E8F0"/>
            </a:solidFill>
            <a:prstDash val="dash"/>
          </a:ln>
        </p:spPr>
      </p:sp>
      <p:sp>
        <p:nvSpPr>
          <p:cNvPr id="34" name="Shape 32"/>
          <p:cNvSpPr/>
          <p:nvPr/>
        </p:nvSpPr>
        <p:spPr>
          <a:xfrm>
            <a:off x="4507992" y="1325880"/>
            <a:ext cx="1627632" cy="0"/>
          </a:xfrm>
          <a:prstGeom prst="line">
            <a:avLst/>
          </a:prstGeom>
          <a:noFill/>
          <a:ln w="22225">
            <a:solidFill>
              <a:srgbClr val="1A73E8"/>
            </a:solidFill>
            <a:prstDash val="solid"/>
            <a:tailEnd type="arrow" w="sm" len="sm"/>
          </a:ln>
        </p:spPr>
      </p:sp>
      <p:sp>
        <p:nvSpPr>
          <p:cNvPr id="35" name="Shape 33"/>
          <p:cNvSpPr/>
          <p:nvPr/>
        </p:nvSpPr>
        <p:spPr>
          <a:xfrm>
            <a:off x="4617720" y="1051560"/>
            <a:ext cx="1408176" cy="237744"/>
          </a:xfrm>
          <a:prstGeom prst="roundRect">
            <a:avLst>
              <a:gd name="adj" fmla="val 19231"/>
            </a:avLst>
          </a:prstGeom>
          <a:solidFill>
            <a:srgbClr val="FFFFFF"/>
          </a:solidFill>
          <a:ln w="9525">
            <a:solidFill>
              <a:srgbClr val="1A73E8"/>
            </a:solidFill>
            <a:prstDash val="solid"/>
          </a:ln>
        </p:spPr>
      </p:sp>
      <p:sp>
        <p:nvSpPr>
          <p:cNvPr id="36" name="Text 34"/>
          <p:cNvSpPr/>
          <p:nvPr/>
        </p:nvSpPr>
        <p:spPr>
          <a:xfrm>
            <a:off x="4617720" y="1051560"/>
            <a:ext cx="1408176" cy="237744"/>
          </a:xfrm>
          <a:prstGeom prst="rect">
            <a:avLst/>
          </a:prstGeom>
          <a:noFill/>
          <a:ln/>
        </p:spPr>
        <p:txBody>
          <a:bodyPr wrap="square" rtlCol="0" anchor="ctr"/>
          <a:lstStyle/>
          <a:p>
            <a:pPr algn="ctr" indent="0" marL="0">
              <a:buNone/>
            </a:pPr>
            <a:r>
              <a:rPr lang="en-US" sz="800" b="1" dirty="0">
                <a:solidFill>
                  <a:srgbClr val="0F172A"/>
                </a:solidFill>
                <a:latin typeface="Roboto" pitchFamily="34" charset="0"/>
                <a:ea typeface="Roboto" pitchFamily="34" charset="-122"/>
                <a:cs typeface="Roboto" pitchFamily="34" charset="-120"/>
              </a:rPr>
              <a:t>1. OIDC JWT + DPoP Proof (~8ms)</a:t>
            </a:r>
            <a:endParaRPr lang="en-US" sz="800" dirty="0"/>
          </a:p>
        </p:txBody>
      </p:sp>
      <p:sp>
        <p:nvSpPr>
          <p:cNvPr id="37" name="Shape 35"/>
          <p:cNvSpPr/>
          <p:nvPr/>
        </p:nvSpPr>
        <p:spPr>
          <a:xfrm>
            <a:off x="6135624" y="1901952"/>
            <a:ext cx="1627632" cy="0"/>
          </a:xfrm>
          <a:prstGeom prst="line">
            <a:avLst/>
          </a:prstGeom>
          <a:noFill/>
          <a:ln w="22225">
            <a:solidFill>
              <a:srgbClr val="1A73E8"/>
            </a:solidFill>
            <a:prstDash val="solid"/>
            <a:tailEnd type="arrow" w="sm" len="sm"/>
          </a:ln>
        </p:spPr>
      </p:sp>
      <p:sp>
        <p:nvSpPr>
          <p:cNvPr id="38" name="Shape 36"/>
          <p:cNvSpPr/>
          <p:nvPr/>
        </p:nvSpPr>
        <p:spPr>
          <a:xfrm>
            <a:off x="6245352" y="1627632"/>
            <a:ext cx="1408176" cy="237744"/>
          </a:xfrm>
          <a:prstGeom prst="roundRect">
            <a:avLst>
              <a:gd name="adj" fmla="val 19231"/>
            </a:avLst>
          </a:prstGeom>
          <a:solidFill>
            <a:srgbClr val="FFFFFF"/>
          </a:solidFill>
          <a:ln w="9525">
            <a:solidFill>
              <a:srgbClr val="1A73E8"/>
            </a:solidFill>
            <a:prstDash val="solid"/>
          </a:ln>
        </p:spPr>
      </p:sp>
      <p:sp>
        <p:nvSpPr>
          <p:cNvPr id="39" name="Text 37"/>
          <p:cNvSpPr/>
          <p:nvPr/>
        </p:nvSpPr>
        <p:spPr>
          <a:xfrm>
            <a:off x="6245352" y="1627632"/>
            <a:ext cx="1408176" cy="237744"/>
          </a:xfrm>
          <a:prstGeom prst="rect">
            <a:avLst/>
          </a:prstGeom>
          <a:noFill/>
          <a:ln/>
        </p:spPr>
        <p:txBody>
          <a:bodyPr wrap="square" rtlCol="0" anchor="ctr"/>
          <a:lstStyle/>
          <a:p>
            <a:pPr algn="ctr" indent="0" marL="0">
              <a:buNone/>
            </a:pPr>
            <a:r>
              <a:rPr lang="en-US" sz="800" b="1" dirty="0">
                <a:solidFill>
                  <a:srgbClr val="0F172A"/>
                </a:solidFill>
                <a:latin typeface="Roboto" pitchFamily="34" charset="0"/>
                <a:ea typeface="Roboto" pitchFamily="34" charset="-122"/>
                <a:cs typeface="Roboto" pitchFamily="34" charset="-120"/>
              </a:rPr>
              <a:t>2. KMS P-256 JWT + ARD (~4ms)</a:t>
            </a:r>
            <a:endParaRPr lang="en-US" sz="800" dirty="0"/>
          </a:p>
        </p:txBody>
      </p:sp>
      <p:sp>
        <p:nvSpPr>
          <p:cNvPr id="40" name="Shape 38"/>
          <p:cNvSpPr/>
          <p:nvPr/>
        </p:nvSpPr>
        <p:spPr>
          <a:xfrm>
            <a:off x="7763256" y="2478024"/>
            <a:ext cx="1627632" cy="0"/>
          </a:xfrm>
          <a:prstGeom prst="line">
            <a:avLst/>
          </a:prstGeom>
          <a:noFill/>
          <a:ln w="22225">
            <a:solidFill>
              <a:srgbClr val="1E8E3E"/>
            </a:solidFill>
            <a:prstDash val="solid"/>
            <a:tailEnd type="arrow" w="sm" len="sm"/>
          </a:ln>
        </p:spPr>
      </p:sp>
      <p:sp>
        <p:nvSpPr>
          <p:cNvPr id="41" name="Shape 39"/>
          <p:cNvSpPr/>
          <p:nvPr/>
        </p:nvSpPr>
        <p:spPr>
          <a:xfrm>
            <a:off x="7872984" y="2203704"/>
            <a:ext cx="1408176" cy="237744"/>
          </a:xfrm>
          <a:prstGeom prst="roundRect">
            <a:avLst>
              <a:gd name="adj" fmla="val 19231"/>
            </a:avLst>
          </a:prstGeom>
          <a:solidFill>
            <a:srgbClr val="FFFFFF"/>
          </a:solidFill>
          <a:ln w="9525">
            <a:solidFill>
              <a:srgbClr val="1E8E3E"/>
            </a:solidFill>
            <a:prstDash val="solid"/>
          </a:ln>
        </p:spPr>
      </p:sp>
      <p:sp>
        <p:nvSpPr>
          <p:cNvPr id="42" name="Text 40"/>
          <p:cNvSpPr/>
          <p:nvPr/>
        </p:nvSpPr>
        <p:spPr>
          <a:xfrm>
            <a:off x="7872984" y="2203704"/>
            <a:ext cx="1408176" cy="237744"/>
          </a:xfrm>
          <a:prstGeom prst="rect">
            <a:avLst/>
          </a:prstGeom>
          <a:noFill/>
          <a:ln/>
        </p:spPr>
        <p:txBody>
          <a:bodyPr wrap="square" rtlCol="0" anchor="ctr"/>
          <a:lstStyle/>
          <a:p>
            <a:pPr algn="ctr" indent="0" marL="0">
              <a:buNone/>
            </a:pPr>
            <a:r>
              <a:rPr lang="en-US" sz="800" b="1" dirty="0">
                <a:solidFill>
                  <a:srgbClr val="0F172A"/>
                </a:solidFill>
                <a:latin typeface="Roboto" pitchFamily="34" charset="0"/>
                <a:ea typeface="Roboto" pitchFamily="34" charset="-122"/>
                <a:cs typeface="Roboto" pitchFamily="34" charset="-120"/>
              </a:rPr>
              <a:t>3. ~3ms JTI Check + 120/600 RPM Bucket Pass</a:t>
            </a:r>
            <a:endParaRPr lang="en-US" sz="800" dirty="0"/>
          </a:p>
        </p:txBody>
      </p:sp>
      <p:sp>
        <p:nvSpPr>
          <p:cNvPr id="43" name="Shape 41"/>
          <p:cNvSpPr/>
          <p:nvPr/>
        </p:nvSpPr>
        <p:spPr>
          <a:xfrm>
            <a:off x="9390888" y="3054096"/>
            <a:ext cx="1627632" cy="0"/>
          </a:xfrm>
          <a:prstGeom prst="line">
            <a:avLst/>
          </a:prstGeom>
          <a:noFill/>
          <a:ln w="22225">
            <a:solidFill>
              <a:srgbClr val="B06000"/>
            </a:solidFill>
            <a:prstDash val="solid"/>
            <a:tailEnd type="arrow" w="sm" len="sm"/>
          </a:ln>
        </p:spPr>
      </p:sp>
      <p:sp>
        <p:nvSpPr>
          <p:cNvPr id="44" name="Shape 42"/>
          <p:cNvSpPr/>
          <p:nvPr/>
        </p:nvSpPr>
        <p:spPr>
          <a:xfrm>
            <a:off x="9500616" y="2779776"/>
            <a:ext cx="1408176" cy="237744"/>
          </a:xfrm>
          <a:prstGeom prst="roundRect">
            <a:avLst>
              <a:gd name="adj" fmla="val 19231"/>
            </a:avLst>
          </a:prstGeom>
          <a:solidFill>
            <a:srgbClr val="FFFFFF"/>
          </a:solidFill>
          <a:ln w="9525">
            <a:solidFill>
              <a:srgbClr val="B06000"/>
            </a:solidFill>
            <a:prstDash val="solid"/>
          </a:ln>
        </p:spPr>
      </p:sp>
      <p:sp>
        <p:nvSpPr>
          <p:cNvPr id="45" name="Text 43"/>
          <p:cNvSpPr/>
          <p:nvPr/>
        </p:nvSpPr>
        <p:spPr>
          <a:xfrm>
            <a:off x="9500616" y="2779776"/>
            <a:ext cx="1408176" cy="237744"/>
          </a:xfrm>
          <a:prstGeom prst="rect">
            <a:avLst/>
          </a:prstGeom>
          <a:noFill/>
          <a:ln/>
        </p:spPr>
        <p:txBody>
          <a:bodyPr wrap="square" rtlCol="0" anchor="ctr"/>
          <a:lstStyle/>
          <a:p>
            <a:pPr algn="ctr" indent="0" marL="0">
              <a:buNone/>
            </a:pPr>
            <a:r>
              <a:rPr lang="en-US" sz="800" b="1" dirty="0">
                <a:solidFill>
                  <a:srgbClr val="0F172A"/>
                </a:solidFill>
                <a:latin typeface="Roboto" pitchFamily="34" charset="0"/>
                <a:ea typeface="Roboto" pitchFamily="34" charset="-122"/>
                <a:cs typeface="Roboto" pitchFamily="34" charset="-120"/>
              </a:rPr>
              <a:t>4. ~22ms Inline DLP + 90% 32k Prefix Cache Hit</a:t>
            </a:r>
            <a:endParaRPr lang="en-US" sz="800" dirty="0"/>
          </a:p>
        </p:txBody>
      </p:sp>
      <p:sp>
        <p:nvSpPr>
          <p:cNvPr id="46" name="Shape 44"/>
          <p:cNvSpPr/>
          <p:nvPr/>
        </p:nvSpPr>
        <p:spPr>
          <a:xfrm>
            <a:off x="4507992" y="3767328"/>
            <a:ext cx="6510528" cy="0"/>
          </a:xfrm>
          <a:prstGeom prst="line">
            <a:avLst/>
          </a:prstGeom>
          <a:noFill/>
          <a:ln w="22225">
            <a:solidFill>
              <a:srgbClr val="1E8E3E"/>
            </a:solidFill>
            <a:prstDash val="solid"/>
            <a:headEnd type="arrow" w="sm" len="sm"/>
          </a:ln>
        </p:spPr>
      </p:sp>
      <p:sp>
        <p:nvSpPr>
          <p:cNvPr id="47" name="Shape 45"/>
          <p:cNvSpPr/>
          <p:nvPr/>
        </p:nvSpPr>
        <p:spPr>
          <a:xfrm>
            <a:off x="4617720" y="3493008"/>
            <a:ext cx="6291072" cy="237744"/>
          </a:xfrm>
          <a:prstGeom prst="roundRect">
            <a:avLst>
              <a:gd name="adj" fmla="val 19231"/>
            </a:avLst>
          </a:prstGeom>
          <a:solidFill>
            <a:srgbClr val="FFFFFF"/>
          </a:solidFill>
          <a:ln w="9525">
            <a:solidFill>
              <a:srgbClr val="1E8E3E"/>
            </a:solidFill>
            <a:prstDash val="solid"/>
          </a:ln>
        </p:spPr>
      </p:sp>
      <p:sp>
        <p:nvSpPr>
          <p:cNvPr id="48" name="Text 46"/>
          <p:cNvSpPr/>
          <p:nvPr/>
        </p:nvSpPr>
        <p:spPr>
          <a:xfrm>
            <a:off x="4617720" y="3493008"/>
            <a:ext cx="6291072" cy="237744"/>
          </a:xfrm>
          <a:prstGeom prst="rect">
            <a:avLst/>
          </a:prstGeom>
          <a:noFill/>
          <a:ln/>
        </p:spPr>
        <p:txBody>
          <a:bodyPr wrap="square" rtlCol="0" anchor="ctr"/>
          <a:lstStyle/>
          <a:p>
            <a:pPr algn="ctr" indent="0" marL="0">
              <a:buNone/>
            </a:pPr>
            <a:r>
              <a:rPr lang="en-US" sz="800" b="1" dirty="0">
                <a:solidFill>
                  <a:srgbClr val="0F172A"/>
                </a:solidFill>
                <a:latin typeface="Roboto" pitchFamily="34" charset="0"/>
                <a:ea typeface="Roboto" pitchFamily="34" charset="-122"/>
                <a:cs typeface="Roboto" pitchFamily="34" charset="-120"/>
              </a:rPr>
              <a:t>5. SET LOCAL tenant_id -&gt; 0 Foreign Rows + OTel Span (HTTP 200)</a:t>
            </a:r>
            <a:endParaRPr lang="en-US" sz="800" dirty="0"/>
          </a:p>
        </p:txBody>
      </p:sp>
      <p:sp>
        <p:nvSpPr>
          <p:cNvPr id="49" name="Shape 47"/>
          <p:cNvSpPr/>
          <p:nvPr/>
        </p:nvSpPr>
        <p:spPr>
          <a:xfrm>
            <a:off x="3703320" y="4617720"/>
            <a:ext cx="8138160" cy="1728216"/>
          </a:xfrm>
          <a:prstGeom prst="roundRect">
            <a:avLst>
              <a:gd name="adj" fmla="val 5291"/>
            </a:avLst>
          </a:prstGeom>
          <a:solidFill>
            <a:srgbClr val="FFFFFF"/>
          </a:solidFill>
          <a:ln w="15875">
            <a:solidFill>
              <a:srgbClr val="D93025"/>
            </a:solidFill>
            <a:prstDash val="solid"/>
          </a:ln>
        </p:spPr>
      </p:sp>
      <p:sp>
        <p:nvSpPr>
          <p:cNvPr id="50" name="Text 48"/>
          <p:cNvSpPr/>
          <p:nvPr/>
        </p:nvSpPr>
        <p:spPr>
          <a:xfrm>
            <a:off x="3886200" y="4718304"/>
            <a:ext cx="7772400" cy="256032"/>
          </a:xfrm>
          <a:prstGeom prst="rect">
            <a:avLst/>
          </a:prstGeom>
          <a:noFill/>
          <a:ln/>
        </p:spPr>
        <p:txBody>
          <a:bodyPr wrap="square" rtlCol="0" anchor="ctr"/>
          <a:lstStyle/>
          <a:p>
            <a:pPr indent="0" marL="0">
              <a:buNone/>
            </a:pPr>
            <a:r>
              <a:rPr lang="en-US" sz="920" b="1" dirty="0">
                <a:solidFill>
                  <a:srgbClr val="D93025"/>
                </a:solidFill>
                <a:latin typeface="Google Sans" pitchFamily="34" charset="0"/>
                <a:ea typeface="Google Sans" pitchFamily="34" charset="-122"/>
                <a:cs typeface="Google Sans" pitchFamily="34" charset="-120"/>
              </a:rPr>
              <a:t>CMEK REVOCATION &amp; SINGLE-FLIGHT STAMPEDE RECOVERY PROTOCOL</a:t>
            </a:r>
            <a:endParaRPr lang="en-US" sz="920" dirty="0"/>
          </a:p>
        </p:txBody>
      </p:sp>
      <p:sp>
        <p:nvSpPr>
          <p:cNvPr id="51" name="Text 49"/>
          <p:cNvSpPr/>
          <p:nvPr/>
        </p:nvSpPr>
        <p:spPr>
          <a:xfrm>
            <a:off x="3886200" y="5029200"/>
            <a:ext cx="7772400" cy="1207008"/>
          </a:xfrm>
          <a:prstGeom prst="rect">
            <a:avLst/>
          </a:prstGeom>
          <a:noFill/>
          <a:ln/>
        </p:spPr>
        <p:txBody>
          <a:bodyPr wrap="square" rtlCol="0" anchor="t"/>
          <a:lstStyle/>
          <a:p>
            <a:pPr indent="0" marL="0">
              <a:buNone/>
            </a:pPr>
            <a:r>
              <a:rPr lang="en-US" sz="900" dirty="0">
                <a:solidFill>
                  <a:srgbClr val="334155"/>
                </a:solidFill>
                <a:latin typeface="Roboto" pitchFamily="34" charset="0"/>
                <a:ea typeface="Roboto" pitchFamily="34" charset="-122"/>
                <a:cs typeface="Roboto" pitchFamily="34" charset="-120"/>
              </a:rPr>
              <a:t>• On CMEK Key Disable (&lt;60s KMS SLA): Hop 3 triggers targeted Valkey SCAN + UNLINK on cache:{tenant}:* in &lt;5s and returns HTTP 423 Locked.</a:t>
            </a:r>
            <a:endParaRPr lang="en-US" sz="900" dirty="0"/>
          </a:p>
          <a:p>
            <a:pPr indent="0" marL="0">
              <a:buNone/>
            </a:pPr>
            <a:r>
              <a:rPr lang="en-US" sz="900" dirty="0">
                <a:solidFill>
                  <a:srgbClr val="334155"/>
                </a:solidFill>
                <a:latin typeface="Roboto" pitchFamily="34" charset="0"/>
                <a:ea typeface="Roboto" pitchFamily="34" charset="-122"/>
                <a:cs typeface="Roboto" pitchFamily="34" charset="-120"/>
              </a:rPr>
              <a:t>• On Key Restore (Single-Flight Recovery): First worker acquires SET lock:rehydrate:{tenant} NX PX 5000, re-hydrates from AlloyDB RLS once, and broadcasts to waiting callers with zero DB stampede.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1723644"/>
          </a:xfrm>
          <a:prstGeom prst="rect">
            <a:avLst/>
          </a:prstGeom>
          <a:solidFill>
            <a:srgbClr val="1A73E8"/>
          </a:solidFill>
          <a:ln/>
        </p:spPr>
      </p:sp>
      <p:sp>
        <p:nvSpPr>
          <p:cNvPr id="3" name="Shape 1"/>
          <p:cNvSpPr/>
          <p:nvPr/>
        </p:nvSpPr>
        <p:spPr>
          <a:xfrm>
            <a:off x="0" y="1714500"/>
            <a:ext cx="73152" cy="1723644"/>
          </a:xfrm>
          <a:prstGeom prst="rect">
            <a:avLst/>
          </a:prstGeom>
          <a:solidFill>
            <a:srgbClr val="D93025"/>
          </a:solidFill>
          <a:ln/>
        </p:spPr>
      </p:sp>
      <p:sp>
        <p:nvSpPr>
          <p:cNvPr id="4" name="Shape 2"/>
          <p:cNvSpPr/>
          <p:nvPr/>
        </p:nvSpPr>
        <p:spPr>
          <a:xfrm>
            <a:off x="0" y="3429000"/>
            <a:ext cx="73152" cy="1723644"/>
          </a:xfrm>
          <a:prstGeom prst="rect">
            <a:avLst/>
          </a:prstGeom>
          <a:solidFill>
            <a:srgbClr val="F9AB00"/>
          </a:solidFill>
          <a:ln/>
        </p:spPr>
      </p:sp>
      <p:sp>
        <p:nvSpPr>
          <p:cNvPr id="5" name="Shape 3"/>
          <p:cNvSpPr/>
          <p:nvPr/>
        </p:nvSpPr>
        <p:spPr>
          <a:xfrm>
            <a:off x="0" y="5143500"/>
            <a:ext cx="73152" cy="1723644"/>
          </a:xfrm>
          <a:prstGeom prst="rect">
            <a:avLst/>
          </a:prstGeom>
          <a:solidFill>
            <a:srgbClr val="1E8E3E"/>
          </a:solidFill>
          <a:ln/>
        </p:spPr>
      </p:sp>
      <p:sp>
        <p:nvSpPr>
          <p:cNvPr id="6" name="Text 4"/>
          <p:cNvSpPr/>
          <p:nvPr/>
        </p:nvSpPr>
        <p:spPr>
          <a:xfrm>
            <a:off x="347472" y="201168"/>
            <a:ext cx="9875520" cy="237744"/>
          </a:xfrm>
          <a:prstGeom prst="rect">
            <a:avLst/>
          </a:prstGeom>
          <a:noFill/>
          <a:ln/>
        </p:spPr>
        <p:txBody>
          <a:bodyPr wrap="square" rtlCol="0" anchor="ctr"/>
          <a:lstStyle/>
          <a:p>
            <a:pPr indent="0" marL="0">
              <a:buNone/>
            </a:pPr>
            <a:r>
              <a:rPr lang="en-US" sz="850" b="1" dirty="0">
                <a:solidFill>
                  <a:srgbClr val="1A73E8"/>
                </a:solidFill>
                <a:latin typeface="Google Sans" pitchFamily="34" charset="0"/>
                <a:ea typeface="Google Sans" pitchFamily="34" charset="-122"/>
                <a:cs typeface="Google Sans" pitchFamily="34" charset="-120"/>
              </a:rPr>
              <a:t>GOOGLE CLOUD ARCHITECTURE CENTER  </a:t>
            </a:r>
            <a:pPr indent="0" marL="0">
              <a:buNone/>
            </a:pPr>
            <a:r>
              <a:rPr lang="en-US" sz="850" dirty="0">
                <a:solidFill>
                  <a:srgbClr val="64748B"/>
                </a:solidFill>
                <a:latin typeface="Google Sans" pitchFamily="34" charset="0"/>
                <a:ea typeface="Google Sans" pitchFamily="34" charset="-122"/>
                <a:cs typeface="Google Sans" pitchFamily="34" charset="-120"/>
              </a:rPr>
              <a:t>/  ACT II • WIRE PROTOCOL (L4)  /  Hop 1 Spoofed Header Stripping &amp; Signed STS JWT Wire Packet</a:t>
            </a:r>
            <a:endParaRPr lang="en-US" sz="850" dirty="0"/>
          </a:p>
        </p:txBody>
      </p:sp>
      <p:sp>
        <p:nvSpPr>
          <p:cNvPr id="7" name="Shape 5"/>
          <p:cNvSpPr/>
          <p:nvPr/>
        </p:nvSpPr>
        <p:spPr>
          <a:xfrm>
            <a:off x="10835640" y="182880"/>
            <a:ext cx="1005840" cy="256032"/>
          </a:xfrm>
          <a:prstGeom prst="roundRect">
            <a:avLst>
              <a:gd name="adj" fmla="val 50000"/>
            </a:avLst>
          </a:prstGeom>
          <a:solidFill>
            <a:srgbClr val="FFFFFF"/>
          </a:solidFill>
          <a:ln w="9525">
            <a:solidFill>
              <a:srgbClr val="E2E8F0"/>
            </a:solidFill>
            <a:prstDash val="solid"/>
          </a:ln>
        </p:spPr>
      </p:sp>
      <p:sp>
        <p:nvSpPr>
          <p:cNvPr id="8" name="Text 6"/>
          <p:cNvSpPr/>
          <p:nvPr/>
        </p:nvSpPr>
        <p:spPr>
          <a:xfrm>
            <a:off x="10835640" y="182880"/>
            <a:ext cx="1005840" cy="256032"/>
          </a:xfrm>
          <a:prstGeom prst="rect">
            <a:avLst/>
          </a:prstGeom>
          <a:noFill/>
          <a:ln/>
        </p:spPr>
        <p:txBody>
          <a:bodyPr wrap="square" rtlCol="0" anchor="ctr"/>
          <a:lstStyle/>
          <a:p>
            <a:pPr algn="ctr" indent="0" marL="0">
              <a:buNone/>
            </a:pPr>
            <a:r>
              <a:rPr lang="en-US" sz="850" b="1" dirty="0">
                <a:solidFill>
                  <a:srgbClr val="334155"/>
                </a:solidFill>
                <a:latin typeface="Google Sans" pitchFamily="34" charset="0"/>
                <a:ea typeface="Google Sans" pitchFamily="34" charset="-122"/>
                <a:cs typeface="Google Sans" pitchFamily="34" charset="-120"/>
              </a:rPr>
              <a:t>10 / 14</a:t>
            </a:r>
            <a:endParaRPr lang="en-US" sz="850" dirty="0"/>
          </a:p>
        </p:txBody>
      </p:sp>
      <p:sp>
        <p:nvSpPr>
          <p:cNvPr id="9" name="Shape 7"/>
          <p:cNvSpPr/>
          <p:nvPr/>
        </p:nvSpPr>
        <p:spPr>
          <a:xfrm>
            <a:off x="347472" y="6510528"/>
            <a:ext cx="11494008" cy="0"/>
          </a:xfrm>
          <a:prstGeom prst="line">
            <a:avLst/>
          </a:prstGeom>
          <a:noFill/>
          <a:ln w="9525">
            <a:solidFill>
              <a:srgbClr val="E2E8F0"/>
            </a:solidFill>
            <a:prstDash val="solid"/>
          </a:ln>
        </p:spPr>
      </p:sp>
      <p:sp>
        <p:nvSpPr>
          <p:cNvPr id="10" name="Text 8"/>
          <p:cNvSpPr/>
          <p:nvPr/>
        </p:nvSpPr>
        <p:spPr>
          <a:xfrm>
            <a:off x="347472" y="6556248"/>
            <a:ext cx="11494008" cy="219456"/>
          </a:xfrm>
          <a:prstGeom prst="rect">
            <a:avLst/>
          </a:prstGeom>
          <a:noFill/>
          <a:ln/>
        </p:spPr>
        <p:txBody>
          <a:bodyPr wrap="square" rtlCol="0" anchor="ctr"/>
          <a:lstStyle/>
          <a:p>
            <a:pPr indent="0" marL="0">
              <a:buNone/>
            </a:pPr>
            <a:r>
              <a:rPr lang="en-US" sz="780" dirty="0">
                <a:solidFill>
                  <a:srgbClr val="64748B"/>
                </a:solidFill>
                <a:latin typeface="Roboto" pitchFamily="34" charset="0"/>
                <a:ea typeface="Roboto" pitchFamily="34" charset="-122"/>
                <a:cs typeface="Roboto" pitchFamily="34" charset="-120"/>
              </a:rPr>
              <a:t>Multi-Tenant Agentic AI on Google Cloud  •  Blog 1 Executive Edition  •  Verified on GCP (#248990048888, #48439189383) &amp; AWS (#393036065405)</a:t>
            </a:r>
            <a:endParaRPr lang="en-US" sz="780" dirty="0"/>
          </a:p>
        </p:txBody>
      </p:sp>
      <p:sp>
        <p:nvSpPr>
          <p:cNvPr id="11" name="Shape 9"/>
          <p:cNvSpPr/>
          <p:nvPr/>
        </p:nvSpPr>
        <p:spPr>
          <a:xfrm>
            <a:off x="347472" y="566928"/>
            <a:ext cx="3154680" cy="5779008"/>
          </a:xfrm>
          <a:prstGeom prst="roundRect">
            <a:avLst>
              <a:gd name="adj" fmla="val 2899"/>
            </a:avLst>
          </a:prstGeom>
          <a:solidFill>
            <a:srgbClr val="FFFFFF"/>
          </a:solidFill>
          <a:ln w="12700">
            <a:solidFill>
              <a:srgbClr val="E2E8F0"/>
            </a:solidFill>
            <a:prstDash val="solid"/>
          </a:ln>
        </p:spPr>
      </p:sp>
      <p:sp>
        <p:nvSpPr>
          <p:cNvPr id="12" name="Shape 10"/>
          <p:cNvSpPr/>
          <p:nvPr/>
        </p:nvSpPr>
        <p:spPr>
          <a:xfrm>
            <a:off x="530352" y="768096"/>
            <a:ext cx="1691640" cy="256032"/>
          </a:xfrm>
          <a:prstGeom prst="roundRect">
            <a:avLst>
              <a:gd name="adj" fmla="val 28571"/>
            </a:avLst>
          </a:prstGeom>
          <a:solidFill>
            <a:srgbClr val="E8F0FE"/>
          </a:solidFill>
          <a:ln/>
        </p:spPr>
      </p:sp>
      <p:sp>
        <p:nvSpPr>
          <p:cNvPr id="13" name="Text 11"/>
          <p:cNvSpPr/>
          <p:nvPr/>
        </p:nvSpPr>
        <p:spPr>
          <a:xfrm>
            <a:off x="530352" y="768096"/>
            <a:ext cx="1691640" cy="256032"/>
          </a:xfrm>
          <a:prstGeom prst="rect">
            <a:avLst/>
          </a:prstGeom>
          <a:noFill/>
          <a:ln/>
        </p:spPr>
        <p:txBody>
          <a:bodyPr wrap="square" rtlCol="0" anchor="ctr"/>
          <a:lstStyle/>
          <a:p>
            <a:pPr algn="ctr" indent="0" marL="0">
              <a:buNone/>
            </a:pPr>
            <a:r>
              <a:rPr lang="en-US" sz="800" b="1" dirty="0">
                <a:solidFill>
                  <a:srgbClr val="1A73E8"/>
                </a:solidFill>
                <a:latin typeface="Google Sans" pitchFamily="34" charset="0"/>
                <a:ea typeface="Google Sans" pitchFamily="34" charset="-122"/>
                <a:cs typeface="Google Sans" pitchFamily="34" charset="-120"/>
              </a:rPr>
              <a:t>L4 WIRE PACKET</a:t>
            </a:r>
            <a:endParaRPr lang="en-US" sz="800" dirty="0"/>
          </a:p>
        </p:txBody>
      </p:sp>
      <p:sp>
        <p:nvSpPr>
          <p:cNvPr id="14" name="Text 12"/>
          <p:cNvSpPr/>
          <p:nvPr/>
        </p:nvSpPr>
        <p:spPr>
          <a:xfrm>
            <a:off x="530352" y="1133856"/>
            <a:ext cx="2788920" cy="1325880"/>
          </a:xfrm>
          <a:prstGeom prst="rect">
            <a:avLst/>
          </a:prstGeom>
          <a:noFill/>
          <a:ln/>
        </p:spPr>
        <p:txBody>
          <a:bodyPr wrap="square" rtlCol="0" anchor="t"/>
          <a:lstStyle/>
          <a:p>
            <a:pPr indent="0" marL="0">
              <a:buNone/>
            </a:pPr>
            <a:r>
              <a:rPr lang="en-US" sz="1750" b="1" dirty="0">
                <a:solidFill>
                  <a:srgbClr val="0F172A"/>
                </a:solidFill>
                <a:latin typeface="Google Sans Display" pitchFamily="34" charset="0"/>
                <a:ea typeface="Google Sans Display" pitchFamily="34" charset="-122"/>
                <a:cs typeface="Google Sans Display" pitchFamily="34" charset="-120"/>
              </a:rPr>
              <a:t>Zero Trust on the Wire Without Per-Hop KMS Latency</a:t>
            </a:r>
            <a:endParaRPr lang="en-US" sz="1750" dirty="0"/>
          </a:p>
        </p:txBody>
      </p:sp>
      <p:sp>
        <p:nvSpPr>
          <p:cNvPr id="15" name="Text 13"/>
          <p:cNvSpPr/>
          <p:nvPr/>
        </p:nvSpPr>
        <p:spPr>
          <a:xfrm>
            <a:off x="530352" y="2542032"/>
            <a:ext cx="2788920" cy="2148840"/>
          </a:xfrm>
          <a:prstGeom prst="rect">
            <a:avLst/>
          </a:prstGeom>
          <a:noFill/>
          <a:ln/>
        </p:spPr>
        <p:txBody>
          <a:bodyPr wrap="square" rtlCol="0" anchor="t"/>
          <a:lstStyle/>
          <a:p>
            <a:pPr indent="0" marL="0">
              <a:buNone/>
            </a:pPr>
            <a:r>
              <a:rPr lang="en-US" sz="1000" dirty="0">
                <a:solidFill>
                  <a:srgbClr val="334155"/>
                </a:solidFill>
                <a:latin typeface="Roboto" pitchFamily="34" charset="0"/>
                <a:ea typeface="Roboto" pitchFamily="34" charset="-122"/>
                <a:cs typeface="Roboto" pitchFamily="34" charset="-120"/>
              </a:rPr>
              <a:t>An untrusted client attempting to spoof X-Tenant-Id: finvault is stripped at Cloud Armor.</a:t>
            </a:r>
            <a:endParaRPr lang="en-US" sz="1000" dirty="0"/>
          </a:p>
          <a:p>
            <a:pPr indent="0" marL="0">
              <a:buNone/>
            </a:pP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Hop 1 mints an asymmetric KMS ECDSA P-256 TenantContext JWT, which downstream services verify locally in &lt;0.15ms via cached JWKS public keys.</a:t>
            </a:r>
            <a:endParaRPr lang="en-US" sz="1000" dirty="0"/>
          </a:p>
        </p:txBody>
      </p:sp>
      <p:sp>
        <p:nvSpPr>
          <p:cNvPr id="16" name="Shape 14"/>
          <p:cNvSpPr/>
          <p:nvPr/>
        </p:nvSpPr>
        <p:spPr>
          <a:xfrm>
            <a:off x="530352" y="4846320"/>
            <a:ext cx="2788920" cy="1298448"/>
          </a:xfrm>
          <a:prstGeom prst="roundRect">
            <a:avLst>
              <a:gd name="adj" fmla="val 5634"/>
            </a:avLst>
          </a:prstGeom>
          <a:solidFill>
            <a:srgbClr val="E8F0FE"/>
          </a:solidFill>
          <a:ln w="12700">
            <a:solidFill>
              <a:srgbClr val="1A73E8"/>
            </a:solidFill>
            <a:prstDash val="solid"/>
          </a:ln>
        </p:spPr>
      </p:sp>
      <p:sp>
        <p:nvSpPr>
          <p:cNvPr id="17" name="Text 15"/>
          <p:cNvSpPr/>
          <p:nvPr/>
        </p:nvSpPr>
        <p:spPr>
          <a:xfrm>
            <a:off x="658368" y="4956048"/>
            <a:ext cx="2532888" cy="566928"/>
          </a:xfrm>
          <a:prstGeom prst="rect">
            <a:avLst/>
          </a:prstGeom>
          <a:noFill/>
          <a:ln/>
        </p:spPr>
        <p:txBody>
          <a:bodyPr wrap="square" rtlCol="0" anchor="ctr"/>
          <a:lstStyle/>
          <a:p>
            <a:pPr indent="0" marL="0">
              <a:buNone/>
            </a:pPr>
            <a:r>
              <a:rPr lang="en-US" sz="2800" b="1" dirty="0">
                <a:solidFill>
                  <a:srgbClr val="1A73E8"/>
                </a:solidFill>
                <a:latin typeface="Google Sans Display" pitchFamily="34" charset="0"/>
                <a:ea typeface="Google Sans Display" pitchFamily="34" charset="-122"/>
                <a:cs typeface="Google Sans Display" pitchFamily="34" charset="-120"/>
              </a:rPr>
              <a:t>&lt;0.15ms</a:t>
            </a:r>
            <a:endParaRPr lang="en-US" sz="2800" dirty="0"/>
          </a:p>
        </p:txBody>
      </p:sp>
      <p:sp>
        <p:nvSpPr>
          <p:cNvPr id="18" name="Text 16"/>
          <p:cNvSpPr/>
          <p:nvPr/>
        </p:nvSpPr>
        <p:spPr>
          <a:xfrm>
            <a:off x="658368" y="5559552"/>
            <a:ext cx="2532888" cy="475488"/>
          </a:xfrm>
          <a:prstGeom prst="rect">
            <a:avLst/>
          </a:prstGeom>
          <a:noFill/>
          <a:ln/>
        </p:spPr>
        <p:txBody>
          <a:bodyPr wrap="square" rtlCol="0" anchor="ctr"/>
          <a:lstStyle/>
          <a:p>
            <a:pPr indent="0" marL="0">
              <a:buNone/>
            </a:pPr>
            <a:r>
              <a:rPr lang="en-US" sz="880" b="1" dirty="0">
                <a:solidFill>
                  <a:srgbClr val="0F172A"/>
                </a:solidFill>
                <a:latin typeface="Roboto" pitchFamily="34" charset="0"/>
                <a:ea typeface="Roboto" pitchFamily="34" charset="-122"/>
                <a:cs typeface="Roboto" pitchFamily="34" charset="-120"/>
              </a:rPr>
              <a:t>Local In-Memory JWKS Signature Verification</a:t>
            </a:r>
            <a:endParaRPr lang="en-US" sz="880" dirty="0"/>
          </a:p>
        </p:txBody>
      </p:sp>
      <p:sp>
        <p:nvSpPr>
          <p:cNvPr id="19" name="Shape 17"/>
          <p:cNvSpPr/>
          <p:nvPr/>
        </p:nvSpPr>
        <p:spPr>
          <a:xfrm>
            <a:off x="3703320" y="566928"/>
            <a:ext cx="3383280" cy="5779008"/>
          </a:xfrm>
          <a:prstGeom prst="roundRect">
            <a:avLst>
              <a:gd name="adj" fmla="val 2703"/>
            </a:avLst>
          </a:prstGeom>
          <a:solidFill>
            <a:srgbClr val="FFFFFF"/>
          </a:solidFill>
          <a:ln w="17145">
            <a:solidFill>
              <a:srgbClr val="D93025"/>
            </a:solidFill>
            <a:prstDash val="solid"/>
          </a:ln>
        </p:spPr>
      </p:sp>
      <p:sp>
        <p:nvSpPr>
          <p:cNvPr id="20" name="Shape 18"/>
          <p:cNvSpPr/>
          <p:nvPr/>
        </p:nvSpPr>
        <p:spPr>
          <a:xfrm>
            <a:off x="3703320" y="566928"/>
            <a:ext cx="3383280" cy="347472"/>
          </a:xfrm>
          <a:prstGeom prst="rect">
            <a:avLst/>
          </a:prstGeom>
          <a:solidFill>
            <a:srgbClr val="FCE8E6"/>
          </a:solidFill>
          <a:ln/>
        </p:spPr>
      </p:sp>
      <p:sp>
        <p:nvSpPr>
          <p:cNvPr id="21" name="Text 19"/>
          <p:cNvSpPr/>
          <p:nvPr/>
        </p:nvSpPr>
        <p:spPr>
          <a:xfrm>
            <a:off x="3840480" y="603504"/>
            <a:ext cx="3108960" cy="274320"/>
          </a:xfrm>
          <a:prstGeom prst="rect">
            <a:avLst/>
          </a:prstGeom>
          <a:noFill/>
          <a:ln/>
        </p:spPr>
        <p:txBody>
          <a:bodyPr wrap="square" rtlCol="0" anchor="ctr"/>
          <a:lstStyle/>
          <a:p>
            <a:pPr indent="0" marL="0">
              <a:buNone/>
            </a:pPr>
            <a:r>
              <a:rPr lang="en-US" sz="850" b="1" dirty="0">
                <a:solidFill>
                  <a:srgbClr val="D93025"/>
                </a:solidFill>
                <a:latin typeface="Google Sans" pitchFamily="34" charset="0"/>
                <a:ea typeface="Google Sans" pitchFamily="34" charset="-122"/>
                <a:cs typeface="Google Sans" pitchFamily="34" charset="-120"/>
              </a:rPr>
              <a:t>INGRESS: UNTRUSTED CALLER PACKET</a:t>
            </a:r>
            <a:endParaRPr lang="en-US" sz="850" dirty="0"/>
          </a:p>
        </p:txBody>
      </p:sp>
      <p:sp>
        <p:nvSpPr>
          <p:cNvPr id="22" name="Text 20"/>
          <p:cNvSpPr/>
          <p:nvPr/>
        </p:nvSpPr>
        <p:spPr>
          <a:xfrm>
            <a:off x="3840480" y="1051560"/>
            <a:ext cx="3108960" cy="4114800"/>
          </a:xfrm>
          <a:prstGeom prst="rect">
            <a:avLst/>
          </a:prstGeom>
          <a:noFill/>
          <a:ln/>
        </p:spPr>
        <p:txBody>
          <a:bodyPr wrap="square" rtlCol="0" anchor="t"/>
          <a:lstStyle/>
          <a:p>
            <a:pPr indent="0" marL="0">
              <a:buNone/>
            </a:pPr>
            <a:r>
              <a:rPr lang="en-US" sz="880" dirty="0">
                <a:solidFill>
                  <a:srgbClr val="0F172A"/>
                </a:solidFill>
                <a:latin typeface="Roboto Mono" pitchFamily="34" charset="0"/>
                <a:ea typeface="Roboto Mono" pitchFamily="34" charset="-122"/>
                <a:cs typeface="Roboto Mono" pitchFamily="34" charset="-120"/>
              </a:rPr>
              <a:t>POST /v1/agent:invoke HTTP/2</a:t>
            </a:r>
            <a:endParaRPr lang="en-US" sz="880" dirty="0"/>
          </a:p>
          <a:p>
            <a:pPr indent="0" marL="0">
              <a:buNone/>
            </a:pPr>
            <a:r>
              <a:rPr lang="en-US" sz="880" dirty="0">
                <a:solidFill>
                  <a:srgbClr val="0F172A"/>
                </a:solidFill>
                <a:latin typeface="Roboto Mono" pitchFamily="34" charset="0"/>
                <a:ea typeface="Roboto Mono" pitchFamily="34" charset="-122"/>
                <a:cs typeface="Roboto Mono" pitchFamily="34" charset="-120"/>
              </a:rPr>
              <a:t>Host: cymbal-agent-gateway</a:t>
            </a:r>
            <a:endParaRPr lang="en-US" sz="880" dirty="0"/>
          </a:p>
          <a:p>
            <a:pPr indent="0" marL="0">
              <a:buNone/>
            </a:pPr>
            <a:r>
              <a:rPr lang="en-US" sz="880" dirty="0">
                <a:solidFill>
                  <a:srgbClr val="0F172A"/>
                </a:solidFill>
                <a:latin typeface="Roboto Mono" pitchFamily="34" charset="0"/>
                <a:ea typeface="Roboto Mono" pitchFamily="34" charset="-122"/>
                <a:cs typeface="Roboto Mono" pitchFamily="34" charset="-120"/>
              </a:rPr>
              <a:t>Authorization: Bearer &lt;retailstream_oidc&gt;</a:t>
            </a:r>
            <a:endParaRPr lang="en-US" sz="880" dirty="0"/>
          </a:p>
          <a:p>
            <a:pPr indent="0" marL="0">
              <a:buNone/>
            </a:pPr>
            <a:r>
              <a:rPr lang="en-US" sz="880" dirty="0">
                <a:solidFill>
                  <a:srgbClr val="0F172A"/>
                </a:solidFill>
                <a:latin typeface="Roboto Mono" pitchFamily="34" charset="0"/>
                <a:ea typeface="Roboto Mono" pitchFamily="34" charset="-122"/>
                <a:cs typeface="Roboto Mono" pitchFamily="34" charset="-120"/>
              </a:rPr>
              <a:t>DPoP: &lt;rfc9449_ecdsa_proof&gt;</a:t>
            </a:r>
            <a:endParaRPr lang="en-US" sz="880" dirty="0"/>
          </a:p>
          <a:p>
            <a:pPr indent="0" marL="0">
              <a:buNone/>
            </a:pPr>
            <a:r>
              <a:rPr lang="en-US" sz="880" dirty="0">
                <a:solidFill>
                  <a:srgbClr val="0F172A"/>
                </a:solidFill>
                <a:latin typeface="Roboto Mono" pitchFamily="34" charset="0"/>
                <a:ea typeface="Roboto Mono" pitchFamily="34" charset="-122"/>
                <a:cs typeface="Roboto Mono" pitchFamily="34" charset="-120"/>
              </a:rPr>
              <a:t>X-Tenant-Id: finvault   &lt;-- SPOOFED!</a:t>
            </a:r>
            <a:endParaRPr lang="en-US" sz="880" dirty="0"/>
          </a:p>
          <a:p>
            <a:pPr indent="0" marL="0">
              <a:buNone/>
            </a:pPr>
            <a:endParaRPr lang="en-US" sz="880" dirty="0"/>
          </a:p>
          <a:p>
            <a:pPr indent="0" marL="0">
              <a:buNone/>
            </a:pPr>
            <a:r>
              <a:rPr lang="en-US" sz="880" dirty="0">
                <a:solidFill>
                  <a:srgbClr val="0F172A"/>
                </a:solidFill>
                <a:latin typeface="Roboto Mono" pitchFamily="34" charset="0"/>
                <a:ea typeface="Roboto Mono" pitchFamily="34" charset="-122"/>
                <a:cs typeface="Roboto Mono" pitchFamily="34" charset="-120"/>
              </a:rPr>
              <a:t>{</a:t>
            </a:r>
            <a:endParaRPr lang="en-US" sz="880" dirty="0"/>
          </a:p>
          <a:p>
            <a:pPr indent="0" marL="0">
              <a:buNone/>
            </a:pPr>
            <a:r>
              <a:rPr lang="en-US" sz="880" dirty="0">
                <a:solidFill>
                  <a:srgbClr val="0F172A"/>
                </a:solidFill>
                <a:latin typeface="Roboto Mono" pitchFamily="34" charset="0"/>
                <a:ea typeface="Roboto Mono" pitchFamily="34" charset="-122"/>
                <a:cs typeface="Roboto Mono" pitchFamily="34" charset="-120"/>
              </a:rPr>
              <a:t>  "prompt": "Summarize OCC wire audit",</a:t>
            </a:r>
            <a:endParaRPr lang="en-US" sz="880" dirty="0"/>
          </a:p>
          <a:p>
            <a:pPr indent="0" marL="0">
              <a:buNone/>
            </a:pPr>
            <a:r>
              <a:rPr lang="en-US" sz="880" dirty="0">
                <a:solidFill>
                  <a:srgbClr val="0F172A"/>
                </a:solidFill>
                <a:latin typeface="Roboto Mono" pitchFamily="34" charset="0"/>
                <a:ea typeface="Roboto Mono" pitchFamily="34" charset="-122"/>
                <a:cs typeface="Roboto Mono" pitchFamily="34" charset="-120"/>
              </a:rPr>
              <a:t>  "override_tenant": "finvault"</a:t>
            </a:r>
            <a:endParaRPr lang="en-US" sz="880" dirty="0"/>
          </a:p>
          <a:p>
            <a:pPr indent="0" marL="0">
              <a:buNone/>
            </a:pPr>
            <a:r>
              <a:rPr lang="en-US" sz="880" dirty="0">
                <a:solidFill>
                  <a:srgbClr val="0F172A"/>
                </a:solidFill>
                <a:latin typeface="Roboto Mono" pitchFamily="34" charset="0"/>
                <a:ea typeface="Roboto Mono" pitchFamily="34" charset="-122"/>
                <a:cs typeface="Roboto Mono" pitchFamily="34" charset="-120"/>
              </a:rPr>
              <a:t>}</a:t>
            </a:r>
            <a:endParaRPr lang="en-US" sz="880" dirty="0"/>
          </a:p>
        </p:txBody>
      </p:sp>
      <p:sp>
        <p:nvSpPr>
          <p:cNvPr id="23" name="Shape 21"/>
          <p:cNvSpPr/>
          <p:nvPr/>
        </p:nvSpPr>
        <p:spPr>
          <a:xfrm>
            <a:off x="3840480" y="5577840"/>
            <a:ext cx="3108960" cy="585216"/>
          </a:xfrm>
          <a:prstGeom prst="roundRect">
            <a:avLst>
              <a:gd name="adj" fmla="val 10938"/>
            </a:avLst>
          </a:prstGeom>
          <a:solidFill>
            <a:srgbClr val="FCE8E6"/>
          </a:solidFill>
          <a:ln/>
        </p:spPr>
      </p:sp>
      <p:sp>
        <p:nvSpPr>
          <p:cNvPr id="24" name="Text 22"/>
          <p:cNvSpPr/>
          <p:nvPr/>
        </p:nvSpPr>
        <p:spPr>
          <a:xfrm>
            <a:off x="3931920" y="5614416"/>
            <a:ext cx="2926080" cy="512064"/>
          </a:xfrm>
          <a:prstGeom prst="rect">
            <a:avLst/>
          </a:prstGeom>
          <a:noFill/>
          <a:ln/>
        </p:spPr>
        <p:txBody>
          <a:bodyPr wrap="square" rtlCol="0" anchor="ctr"/>
          <a:lstStyle/>
          <a:p>
            <a:pPr algn="ctr" indent="0" marL="0">
              <a:buNone/>
            </a:pPr>
            <a:r>
              <a:rPr lang="en-US" sz="840" b="1" dirty="0">
                <a:solidFill>
                  <a:srgbClr val="D93025"/>
                </a:solidFill>
                <a:latin typeface="Roboto" pitchFamily="34" charset="0"/>
                <a:ea typeface="Roboto" pitchFamily="34" charset="-122"/>
                <a:cs typeface="Roboto" pitchFamily="34" charset="-120"/>
              </a:rPr>
              <a:t>VERDICT: Spoofed X-Tenant-Id stripped;</a:t>
            </a:r>
            <a:endParaRPr lang="en-US" sz="840" dirty="0"/>
          </a:p>
          <a:p>
            <a:pPr algn="ctr" indent="0" marL="0">
              <a:buNone/>
            </a:pPr>
            <a:r>
              <a:rPr lang="en-US" sz="840" b="1" dirty="0">
                <a:solidFill>
                  <a:srgbClr val="D93025"/>
                </a:solidFill>
                <a:latin typeface="Roboto" pitchFamily="34" charset="0"/>
                <a:ea typeface="Roboto" pitchFamily="34" charset="-122"/>
                <a:cs typeface="Roboto" pitchFamily="34" charset="-120"/>
              </a:rPr>
              <a:t>override_tenant rejected at Hop 1</a:t>
            </a:r>
            <a:endParaRPr lang="en-US" sz="840" dirty="0"/>
          </a:p>
        </p:txBody>
      </p:sp>
      <p:sp>
        <p:nvSpPr>
          <p:cNvPr id="25" name="Shape 23"/>
          <p:cNvSpPr/>
          <p:nvPr/>
        </p:nvSpPr>
        <p:spPr>
          <a:xfrm>
            <a:off x="7086600" y="3456432"/>
            <a:ext cx="502920" cy="0"/>
          </a:xfrm>
          <a:prstGeom prst="line">
            <a:avLst/>
          </a:prstGeom>
          <a:noFill/>
          <a:ln w="25400">
            <a:solidFill>
              <a:srgbClr val="1A73E8"/>
            </a:solidFill>
            <a:prstDash val="solid"/>
            <a:tailEnd type="arrow" w="sm" len="sm"/>
          </a:ln>
        </p:spPr>
      </p:sp>
      <p:sp>
        <p:nvSpPr>
          <p:cNvPr id="26" name="Shape 24"/>
          <p:cNvSpPr/>
          <p:nvPr/>
        </p:nvSpPr>
        <p:spPr>
          <a:xfrm>
            <a:off x="7589520" y="566928"/>
            <a:ext cx="4251960" cy="5779008"/>
          </a:xfrm>
          <a:prstGeom prst="roundRect">
            <a:avLst>
              <a:gd name="adj" fmla="val 2151"/>
            </a:avLst>
          </a:prstGeom>
          <a:solidFill>
            <a:srgbClr val="FFFFFF"/>
          </a:solidFill>
          <a:ln w="17145">
            <a:solidFill>
              <a:srgbClr val="1E8E3E"/>
            </a:solidFill>
            <a:prstDash val="solid"/>
          </a:ln>
        </p:spPr>
      </p:sp>
      <p:sp>
        <p:nvSpPr>
          <p:cNvPr id="27" name="Shape 25"/>
          <p:cNvSpPr/>
          <p:nvPr/>
        </p:nvSpPr>
        <p:spPr>
          <a:xfrm>
            <a:off x="7589520" y="566928"/>
            <a:ext cx="4251960" cy="347472"/>
          </a:xfrm>
          <a:prstGeom prst="rect">
            <a:avLst/>
          </a:prstGeom>
          <a:solidFill>
            <a:srgbClr val="E6F4EA"/>
          </a:solidFill>
          <a:ln/>
        </p:spPr>
      </p:sp>
      <p:sp>
        <p:nvSpPr>
          <p:cNvPr id="28" name="Text 26"/>
          <p:cNvSpPr/>
          <p:nvPr/>
        </p:nvSpPr>
        <p:spPr>
          <a:xfrm>
            <a:off x="7726680" y="603504"/>
            <a:ext cx="3977640" cy="274320"/>
          </a:xfrm>
          <a:prstGeom prst="rect">
            <a:avLst/>
          </a:prstGeom>
          <a:noFill/>
          <a:ln/>
        </p:spPr>
        <p:txBody>
          <a:bodyPr wrap="square" rtlCol="0" anchor="ctr"/>
          <a:lstStyle/>
          <a:p>
            <a:pPr indent="0" marL="0">
              <a:buNone/>
            </a:pPr>
            <a:r>
              <a:rPr lang="en-US" sz="850" b="1" dirty="0">
                <a:solidFill>
                  <a:srgbClr val="1E8E3E"/>
                </a:solidFill>
                <a:latin typeface="Google Sans" pitchFamily="34" charset="0"/>
                <a:ea typeface="Google Sans" pitchFamily="34" charset="-122"/>
                <a:cs typeface="Google Sans" pitchFamily="34" charset="-120"/>
              </a:rPr>
              <a:t>EGRESS: KMS-SIGNED STS JWT (TENANTCONTEXT)</a:t>
            </a:r>
            <a:endParaRPr lang="en-US" sz="850" dirty="0"/>
          </a:p>
        </p:txBody>
      </p:sp>
      <p:sp>
        <p:nvSpPr>
          <p:cNvPr id="29" name="Text 27"/>
          <p:cNvSpPr/>
          <p:nvPr/>
        </p:nvSpPr>
        <p:spPr>
          <a:xfrm>
            <a:off x="7726680" y="1051560"/>
            <a:ext cx="3977640" cy="4297680"/>
          </a:xfrm>
          <a:prstGeom prst="rect">
            <a:avLst/>
          </a:prstGeom>
          <a:noFill/>
          <a:ln/>
        </p:spPr>
        <p:txBody>
          <a:bodyPr wrap="square" rtlCol="0" anchor="t"/>
          <a:lstStyle/>
          <a:p>
            <a:pPr indent="0" marL="0">
              <a:buNone/>
            </a:pPr>
            <a:r>
              <a:rPr lang="en-US" sz="880" dirty="0">
                <a:solidFill>
                  <a:srgbClr val="0F172A"/>
                </a:solidFill>
                <a:latin typeface="Roboto Mono" pitchFamily="34" charset="0"/>
                <a:ea typeface="Roboto Mono" pitchFamily="34" charset="-122"/>
                <a:cs typeface="Roboto Mono" pitchFamily="34" charset="-120"/>
              </a:rPr>
              <a:t>{</a:t>
            </a:r>
            <a:endParaRPr lang="en-US" sz="880" dirty="0"/>
          </a:p>
          <a:p>
            <a:pPr indent="0" marL="0">
              <a:buNone/>
            </a:pPr>
            <a:r>
              <a:rPr lang="en-US" sz="880" dirty="0">
                <a:solidFill>
                  <a:srgbClr val="0F172A"/>
                </a:solidFill>
                <a:latin typeface="Roboto Mono" pitchFamily="34" charset="0"/>
                <a:ea typeface="Roboto Mono" pitchFamily="34" charset="-122"/>
                <a:cs typeface="Roboto Mono" pitchFamily="34" charset="-120"/>
              </a:rPr>
              <a:t>  "iss": "https://sts.cymbal.internal",</a:t>
            </a:r>
            <a:endParaRPr lang="en-US" sz="880" dirty="0"/>
          </a:p>
          <a:p>
            <a:pPr indent="0" marL="0">
              <a:buNone/>
            </a:pPr>
            <a:r>
              <a:rPr lang="en-US" sz="880" dirty="0">
                <a:solidFill>
                  <a:srgbClr val="0F172A"/>
                </a:solidFill>
                <a:latin typeface="Roboto Mono" pitchFamily="34" charset="0"/>
                <a:ea typeface="Roboto Mono" pitchFamily="34" charset="-122"/>
                <a:cs typeface="Roboto Mono" pitchFamily="34" charset="-120"/>
              </a:rPr>
              <a:t>  "sub": "retailstream:alice@retailstream.com",</a:t>
            </a:r>
            <a:endParaRPr lang="en-US" sz="880" dirty="0"/>
          </a:p>
          <a:p>
            <a:pPr indent="0" marL="0">
              <a:buNone/>
            </a:pPr>
            <a:r>
              <a:rPr lang="en-US" sz="880" dirty="0">
                <a:solidFill>
                  <a:srgbClr val="0F172A"/>
                </a:solidFill>
                <a:latin typeface="Roboto Mono" pitchFamily="34" charset="0"/>
                <a:ea typeface="Roboto Mono" pitchFamily="34" charset="-122"/>
                <a:cs typeface="Roboto Mono" pitchFamily="34" charset="-120"/>
              </a:rPr>
              <a:t>  "tenant_id": "retailstream",</a:t>
            </a:r>
            <a:endParaRPr lang="en-US" sz="880" dirty="0"/>
          </a:p>
          <a:p>
            <a:pPr indent="0" marL="0">
              <a:buNone/>
            </a:pPr>
            <a:r>
              <a:rPr lang="en-US" sz="880" dirty="0">
                <a:solidFill>
                  <a:srgbClr val="0F172A"/>
                </a:solidFill>
                <a:latin typeface="Roboto Mono" pitchFamily="34" charset="0"/>
                <a:ea typeface="Roboto Mono" pitchFamily="34" charset="-122"/>
                <a:cs typeface="Roboto Mono" pitchFamily="34" charset="-120"/>
              </a:rPr>
              <a:t>  "tier": "STANDARD",</a:t>
            </a:r>
            <a:endParaRPr lang="en-US" sz="880" dirty="0"/>
          </a:p>
          <a:p>
            <a:pPr indent="0" marL="0">
              <a:buNone/>
            </a:pPr>
            <a:r>
              <a:rPr lang="en-US" sz="880" dirty="0">
                <a:solidFill>
                  <a:srgbClr val="0F172A"/>
                </a:solidFill>
                <a:latin typeface="Roboto Mono" pitchFamily="34" charset="0"/>
                <a:ea typeface="Roboto Mono" pitchFamily="34" charset="-122"/>
                <a:cs typeface="Roboto Mono" pitchFamily="34" charset="-120"/>
              </a:rPr>
              <a:t>  "rpm_limit": 120,</a:t>
            </a:r>
            <a:endParaRPr lang="en-US" sz="880" dirty="0"/>
          </a:p>
          <a:p>
            <a:pPr indent="0" marL="0">
              <a:buNone/>
            </a:pPr>
            <a:r>
              <a:rPr lang="en-US" sz="880" dirty="0">
                <a:solidFill>
                  <a:srgbClr val="0F172A"/>
                </a:solidFill>
                <a:latin typeface="Roboto Mono" pitchFamily="34" charset="0"/>
                <a:ea typeface="Roboto Mono" pitchFamily="34" charset="-122"/>
                <a:cs typeface="Roboto Mono" pitchFamily="34" charset="-120"/>
              </a:rPr>
              <a:t>  "thinking_budget_cap": 4000,</a:t>
            </a:r>
            <a:endParaRPr lang="en-US" sz="880" dirty="0"/>
          </a:p>
          <a:p>
            <a:pPr indent="0" marL="0">
              <a:buNone/>
            </a:pPr>
            <a:r>
              <a:rPr lang="en-US" sz="880" dirty="0">
                <a:solidFill>
                  <a:srgbClr val="0F172A"/>
                </a:solidFill>
                <a:latin typeface="Roboto Mono" pitchFamily="34" charset="0"/>
                <a:ea typeface="Roboto Mono" pitchFamily="34" charset="-122"/>
                <a:cs typeface="Roboto Mono" pitchFamily="34" charset="-120"/>
              </a:rPr>
              <a:t>  "cnf": { "jkt": "sha256:9f86d081..." },</a:t>
            </a:r>
            <a:endParaRPr lang="en-US" sz="880" dirty="0"/>
          </a:p>
          <a:p>
            <a:pPr indent="0" marL="0">
              <a:buNone/>
            </a:pPr>
            <a:r>
              <a:rPr lang="en-US" sz="880" dirty="0">
                <a:solidFill>
                  <a:srgbClr val="0F172A"/>
                </a:solidFill>
                <a:latin typeface="Roboto Mono" pitchFamily="34" charset="0"/>
                <a:ea typeface="Roboto Mono" pitchFamily="34" charset="-122"/>
                <a:cs typeface="Roboto Mono" pitchFamily="34" charset="-120"/>
              </a:rPr>
              <a:t>  "rls_binding": "app.current_tenant_id",</a:t>
            </a:r>
            <a:endParaRPr lang="en-US" sz="880" dirty="0"/>
          </a:p>
          <a:p>
            <a:pPr indent="0" marL="0">
              <a:buNone/>
            </a:pPr>
            <a:r>
              <a:rPr lang="en-US" sz="880" dirty="0">
                <a:solidFill>
                  <a:srgbClr val="0F172A"/>
                </a:solidFill>
                <a:latin typeface="Roboto Mono" pitchFamily="34" charset="0"/>
                <a:ea typeface="Roboto Mono" pitchFamily="34" charset="-122"/>
                <a:cs typeface="Roboto Mono" pitchFamily="34" charset="-120"/>
              </a:rPr>
              <a:t>  "jti": "urn:uuid:7c9e6679-7425...",</a:t>
            </a:r>
            <a:endParaRPr lang="en-US" sz="880" dirty="0"/>
          </a:p>
          <a:p>
            <a:pPr indent="0" marL="0">
              <a:buNone/>
            </a:pPr>
            <a:r>
              <a:rPr lang="en-US" sz="880" dirty="0">
                <a:solidFill>
                  <a:srgbClr val="0F172A"/>
                </a:solidFill>
                <a:latin typeface="Roboto Mono" pitchFamily="34" charset="0"/>
                <a:ea typeface="Roboto Mono" pitchFamily="34" charset="-122"/>
                <a:cs typeface="Roboto Mono" pitchFamily="34" charset="-120"/>
              </a:rPr>
              <a:t>  "exp": 1793380200,</a:t>
            </a:r>
            <a:endParaRPr lang="en-US" sz="880" dirty="0"/>
          </a:p>
          <a:p>
            <a:pPr indent="0" marL="0">
              <a:buNone/>
            </a:pPr>
            <a:r>
              <a:rPr lang="en-US" sz="880" dirty="0">
                <a:solidFill>
                  <a:srgbClr val="0F172A"/>
                </a:solidFill>
                <a:latin typeface="Roboto Mono" pitchFamily="34" charset="0"/>
                <a:ea typeface="Roboto Mono" pitchFamily="34" charset="-122"/>
                <a:cs typeface="Roboto Mono" pitchFamily="34" charset="-120"/>
              </a:rPr>
              <a:t>  "alg": "ES256 (Cloud KMS HSM)"</a:t>
            </a:r>
            <a:endParaRPr lang="en-US" sz="880" dirty="0"/>
          </a:p>
          <a:p>
            <a:pPr indent="0" marL="0">
              <a:buNone/>
            </a:pPr>
            <a:r>
              <a:rPr lang="en-US" sz="880" dirty="0">
                <a:solidFill>
                  <a:srgbClr val="0F172A"/>
                </a:solidFill>
                <a:latin typeface="Roboto Mono" pitchFamily="34" charset="0"/>
                <a:ea typeface="Roboto Mono" pitchFamily="34" charset="-122"/>
                <a:cs typeface="Roboto Mono" pitchFamily="34" charset="-120"/>
              </a:rPr>
              <a:t>}</a:t>
            </a:r>
            <a:endParaRPr lang="en-US" sz="880" dirty="0"/>
          </a:p>
        </p:txBody>
      </p:sp>
      <p:sp>
        <p:nvSpPr>
          <p:cNvPr id="30" name="Shape 28"/>
          <p:cNvSpPr/>
          <p:nvPr/>
        </p:nvSpPr>
        <p:spPr>
          <a:xfrm>
            <a:off x="7726680" y="5577840"/>
            <a:ext cx="3977640" cy="585216"/>
          </a:xfrm>
          <a:prstGeom prst="roundRect">
            <a:avLst>
              <a:gd name="adj" fmla="val 10938"/>
            </a:avLst>
          </a:prstGeom>
          <a:solidFill>
            <a:srgbClr val="E6F4EA"/>
          </a:solidFill>
          <a:ln/>
        </p:spPr>
      </p:sp>
      <p:sp>
        <p:nvSpPr>
          <p:cNvPr id="31" name="Text 29"/>
          <p:cNvSpPr/>
          <p:nvPr/>
        </p:nvSpPr>
        <p:spPr>
          <a:xfrm>
            <a:off x="7818120" y="5614416"/>
            <a:ext cx="3794760" cy="512064"/>
          </a:xfrm>
          <a:prstGeom prst="rect">
            <a:avLst/>
          </a:prstGeom>
          <a:noFill/>
          <a:ln/>
        </p:spPr>
        <p:txBody>
          <a:bodyPr wrap="square" rtlCol="0" anchor="ctr"/>
          <a:lstStyle/>
          <a:p>
            <a:pPr algn="ctr" indent="0" marL="0">
              <a:buNone/>
            </a:pPr>
            <a:r>
              <a:rPr lang="en-US" sz="840" b="1" dirty="0">
                <a:solidFill>
                  <a:srgbClr val="1E8E3E"/>
                </a:solidFill>
                <a:latin typeface="Roboto" pitchFamily="34" charset="0"/>
                <a:ea typeface="Roboto" pitchFamily="34" charset="-122"/>
                <a:cs typeface="Roboto" pitchFamily="34" charset="-120"/>
              </a:rPr>
              <a:t>VERDICT: Verified locally in &lt;0.15ms via cached JWKS;</a:t>
            </a:r>
            <a:endParaRPr lang="en-US" sz="840" dirty="0"/>
          </a:p>
          <a:p>
            <a:pPr algn="ctr" indent="0" marL="0">
              <a:buNone/>
            </a:pPr>
            <a:r>
              <a:rPr lang="en-US" sz="840" b="1" dirty="0">
                <a:solidFill>
                  <a:srgbClr val="1E8E3E"/>
                </a:solidFill>
                <a:latin typeface="Roboto" pitchFamily="34" charset="0"/>
                <a:ea typeface="Roboto" pitchFamily="34" charset="-122"/>
                <a:cs typeface="Roboto" pitchFamily="34" charset="-120"/>
              </a:rPr>
              <a:t>0 per-hop KMS RPCs • AlloyDB locked to retailstream</a:t>
            </a:r>
            <a:endParaRPr lang="en-US" sz="8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1723644"/>
          </a:xfrm>
          <a:prstGeom prst="rect">
            <a:avLst/>
          </a:prstGeom>
          <a:solidFill>
            <a:srgbClr val="1A73E8"/>
          </a:solidFill>
          <a:ln/>
        </p:spPr>
      </p:sp>
      <p:sp>
        <p:nvSpPr>
          <p:cNvPr id="3" name="Shape 1"/>
          <p:cNvSpPr/>
          <p:nvPr/>
        </p:nvSpPr>
        <p:spPr>
          <a:xfrm>
            <a:off x="0" y="1714500"/>
            <a:ext cx="73152" cy="1723644"/>
          </a:xfrm>
          <a:prstGeom prst="rect">
            <a:avLst/>
          </a:prstGeom>
          <a:solidFill>
            <a:srgbClr val="D93025"/>
          </a:solidFill>
          <a:ln/>
        </p:spPr>
      </p:sp>
      <p:sp>
        <p:nvSpPr>
          <p:cNvPr id="4" name="Shape 2"/>
          <p:cNvSpPr/>
          <p:nvPr/>
        </p:nvSpPr>
        <p:spPr>
          <a:xfrm>
            <a:off x="0" y="3429000"/>
            <a:ext cx="73152" cy="1723644"/>
          </a:xfrm>
          <a:prstGeom prst="rect">
            <a:avLst/>
          </a:prstGeom>
          <a:solidFill>
            <a:srgbClr val="F9AB00"/>
          </a:solidFill>
          <a:ln/>
        </p:spPr>
      </p:sp>
      <p:sp>
        <p:nvSpPr>
          <p:cNvPr id="5" name="Shape 3"/>
          <p:cNvSpPr/>
          <p:nvPr/>
        </p:nvSpPr>
        <p:spPr>
          <a:xfrm>
            <a:off x="0" y="5143500"/>
            <a:ext cx="73152" cy="1723644"/>
          </a:xfrm>
          <a:prstGeom prst="rect">
            <a:avLst/>
          </a:prstGeom>
          <a:solidFill>
            <a:srgbClr val="1E8E3E"/>
          </a:solidFill>
          <a:ln/>
        </p:spPr>
      </p:sp>
      <p:sp>
        <p:nvSpPr>
          <p:cNvPr id="6" name="Text 4"/>
          <p:cNvSpPr/>
          <p:nvPr/>
        </p:nvSpPr>
        <p:spPr>
          <a:xfrm>
            <a:off x="347472" y="201168"/>
            <a:ext cx="9875520" cy="237744"/>
          </a:xfrm>
          <a:prstGeom prst="rect">
            <a:avLst/>
          </a:prstGeom>
          <a:noFill/>
          <a:ln/>
        </p:spPr>
        <p:txBody>
          <a:bodyPr wrap="square" rtlCol="0" anchor="ctr"/>
          <a:lstStyle/>
          <a:p>
            <a:pPr indent="0" marL="0">
              <a:buNone/>
            </a:pPr>
            <a:r>
              <a:rPr lang="en-US" sz="850" b="1" dirty="0">
                <a:solidFill>
                  <a:srgbClr val="1A73E8"/>
                </a:solidFill>
                <a:latin typeface="Google Sans" pitchFamily="34" charset="0"/>
                <a:ea typeface="Google Sans" pitchFamily="34" charset="-122"/>
                <a:cs typeface="Google Sans" pitchFamily="34" charset="-120"/>
              </a:rPr>
              <a:t>GOOGLE CLOUD ARCHITECTURE CENTER  </a:t>
            </a:r>
            <a:pPr indent="0" marL="0">
              <a:buNone/>
            </a:pPr>
            <a:r>
              <a:rPr lang="en-US" sz="850" dirty="0">
                <a:solidFill>
                  <a:srgbClr val="64748B"/>
                </a:solidFill>
                <a:latin typeface="Google Sans" pitchFamily="34" charset="0"/>
                <a:ea typeface="Google Sans" pitchFamily="34" charset="-122"/>
                <a:cs typeface="Google Sans" pitchFamily="34" charset="-120"/>
              </a:rPr>
              <a:t>/  ACT III • GENUINE SOLUTION APPROACH  /  Closing 5 EAP Platform Boundaries with Feature-Flagged Adapters</a:t>
            </a:r>
            <a:endParaRPr lang="en-US" sz="850" dirty="0"/>
          </a:p>
        </p:txBody>
      </p:sp>
      <p:sp>
        <p:nvSpPr>
          <p:cNvPr id="7" name="Shape 5"/>
          <p:cNvSpPr/>
          <p:nvPr/>
        </p:nvSpPr>
        <p:spPr>
          <a:xfrm>
            <a:off x="10835640" y="182880"/>
            <a:ext cx="1005840" cy="256032"/>
          </a:xfrm>
          <a:prstGeom prst="roundRect">
            <a:avLst>
              <a:gd name="adj" fmla="val 50000"/>
            </a:avLst>
          </a:prstGeom>
          <a:solidFill>
            <a:srgbClr val="FFFFFF"/>
          </a:solidFill>
          <a:ln w="9525">
            <a:solidFill>
              <a:srgbClr val="E2E8F0"/>
            </a:solidFill>
            <a:prstDash val="solid"/>
          </a:ln>
        </p:spPr>
      </p:sp>
      <p:sp>
        <p:nvSpPr>
          <p:cNvPr id="8" name="Text 6"/>
          <p:cNvSpPr/>
          <p:nvPr/>
        </p:nvSpPr>
        <p:spPr>
          <a:xfrm>
            <a:off x="10835640" y="182880"/>
            <a:ext cx="1005840" cy="256032"/>
          </a:xfrm>
          <a:prstGeom prst="rect">
            <a:avLst/>
          </a:prstGeom>
          <a:noFill/>
          <a:ln/>
        </p:spPr>
        <p:txBody>
          <a:bodyPr wrap="square" rtlCol="0" anchor="ctr"/>
          <a:lstStyle/>
          <a:p>
            <a:pPr algn="ctr" indent="0" marL="0">
              <a:buNone/>
            </a:pPr>
            <a:r>
              <a:rPr lang="en-US" sz="850" b="1" dirty="0">
                <a:solidFill>
                  <a:srgbClr val="334155"/>
                </a:solidFill>
                <a:latin typeface="Google Sans" pitchFamily="34" charset="0"/>
                <a:ea typeface="Google Sans" pitchFamily="34" charset="-122"/>
                <a:cs typeface="Google Sans" pitchFamily="34" charset="-120"/>
              </a:rPr>
              <a:t>11 / 14</a:t>
            </a:r>
            <a:endParaRPr lang="en-US" sz="850" dirty="0"/>
          </a:p>
        </p:txBody>
      </p:sp>
      <p:sp>
        <p:nvSpPr>
          <p:cNvPr id="9" name="Shape 7"/>
          <p:cNvSpPr/>
          <p:nvPr/>
        </p:nvSpPr>
        <p:spPr>
          <a:xfrm>
            <a:off x="347472" y="6510528"/>
            <a:ext cx="11494008" cy="0"/>
          </a:xfrm>
          <a:prstGeom prst="line">
            <a:avLst/>
          </a:prstGeom>
          <a:noFill/>
          <a:ln w="9525">
            <a:solidFill>
              <a:srgbClr val="E2E8F0"/>
            </a:solidFill>
            <a:prstDash val="solid"/>
          </a:ln>
        </p:spPr>
      </p:sp>
      <p:sp>
        <p:nvSpPr>
          <p:cNvPr id="10" name="Text 8"/>
          <p:cNvSpPr/>
          <p:nvPr/>
        </p:nvSpPr>
        <p:spPr>
          <a:xfrm>
            <a:off x="347472" y="6556248"/>
            <a:ext cx="11494008" cy="219456"/>
          </a:xfrm>
          <a:prstGeom prst="rect">
            <a:avLst/>
          </a:prstGeom>
          <a:noFill/>
          <a:ln/>
        </p:spPr>
        <p:txBody>
          <a:bodyPr wrap="square" rtlCol="0" anchor="ctr"/>
          <a:lstStyle/>
          <a:p>
            <a:pPr indent="0" marL="0">
              <a:buNone/>
            </a:pPr>
            <a:r>
              <a:rPr lang="en-US" sz="780" dirty="0">
                <a:solidFill>
                  <a:srgbClr val="64748B"/>
                </a:solidFill>
                <a:latin typeface="Roboto" pitchFamily="34" charset="0"/>
                <a:ea typeface="Roboto" pitchFamily="34" charset="-122"/>
                <a:cs typeface="Roboto" pitchFamily="34" charset="-120"/>
              </a:rPr>
              <a:t>Multi-Tenant Agentic AI on Google Cloud  •  Blog 1 Executive Edition  •  Verified on GCP (#248990048888, #48439189383) &amp; AWS (#393036065405)</a:t>
            </a:r>
            <a:endParaRPr lang="en-US" sz="780" dirty="0"/>
          </a:p>
        </p:txBody>
      </p:sp>
      <p:sp>
        <p:nvSpPr>
          <p:cNvPr id="11" name="Shape 9"/>
          <p:cNvSpPr/>
          <p:nvPr/>
        </p:nvSpPr>
        <p:spPr>
          <a:xfrm>
            <a:off x="347472" y="566928"/>
            <a:ext cx="3154680" cy="5779008"/>
          </a:xfrm>
          <a:prstGeom prst="roundRect">
            <a:avLst>
              <a:gd name="adj" fmla="val 2899"/>
            </a:avLst>
          </a:prstGeom>
          <a:solidFill>
            <a:srgbClr val="FFFFFF"/>
          </a:solidFill>
          <a:ln w="12700">
            <a:solidFill>
              <a:srgbClr val="E2E8F0"/>
            </a:solidFill>
            <a:prstDash val="solid"/>
          </a:ln>
        </p:spPr>
      </p:sp>
      <p:sp>
        <p:nvSpPr>
          <p:cNvPr id="12" name="Shape 10"/>
          <p:cNvSpPr/>
          <p:nvPr/>
        </p:nvSpPr>
        <p:spPr>
          <a:xfrm>
            <a:off x="530352" y="768096"/>
            <a:ext cx="1691640" cy="256032"/>
          </a:xfrm>
          <a:prstGeom prst="roundRect">
            <a:avLst>
              <a:gd name="adj" fmla="val 28571"/>
            </a:avLst>
          </a:prstGeom>
          <a:solidFill>
            <a:srgbClr val="E8F0FE"/>
          </a:solidFill>
          <a:ln/>
        </p:spPr>
      </p:sp>
      <p:sp>
        <p:nvSpPr>
          <p:cNvPr id="13" name="Text 11"/>
          <p:cNvSpPr/>
          <p:nvPr/>
        </p:nvSpPr>
        <p:spPr>
          <a:xfrm>
            <a:off x="530352" y="768096"/>
            <a:ext cx="1691640" cy="256032"/>
          </a:xfrm>
          <a:prstGeom prst="rect">
            <a:avLst/>
          </a:prstGeom>
          <a:noFill/>
          <a:ln/>
        </p:spPr>
        <p:txBody>
          <a:bodyPr wrap="square" rtlCol="0" anchor="ctr"/>
          <a:lstStyle/>
          <a:p>
            <a:pPr algn="ctr" indent="0" marL="0">
              <a:buNone/>
            </a:pPr>
            <a:r>
              <a:rPr lang="en-US" sz="800" b="1" dirty="0">
                <a:solidFill>
                  <a:srgbClr val="1A73E8"/>
                </a:solidFill>
                <a:latin typeface="Google Sans" pitchFamily="34" charset="0"/>
                <a:ea typeface="Google Sans" pitchFamily="34" charset="-122"/>
                <a:cs typeface="Google Sans" pitchFamily="34" charset="-120"/>
              </a:rPr>
              <a:t>SOLUTION APPROACH</a:t>
            </a:r>
            <a:endParaRPr lang="en-US" sz="800" dirty="0"/>
          </a:p>
        </p:txBody>
      </p:sp>
      <p:sp>
        <p:nvSpPr>
          <p:cNvPr id="14" name="Text 12"/>
          <p:cNvSpPr/>
          <p:nvPr/>
        </p:nvSpPr>
        <p:spPr>
          <a:xfrm>
            <a:off x="530352" y="1133856"/>
            <a:ext cx="2788920" cy="1325880"/>
          </a:xfrm>
          <a:prstGeom prst="rect">
            <a:avLst/>
          </a:prstGeom>
          <a:noFill/>
          <a:ln/>
        </p:spPr>
        <p:txBody>
          <a:bodyPr wrap="square" rtlCol="0" anchor="t"/>
          <a:lstStyle/>
          <a:p>
            <a:pPr indent="0" marL="0">
              <a:buNone/>
            </a:pPr>
            <a:r>
              <a:rPr lang="en-US" sz="1750" b="1" dirty="0">
                <a:solidFill>
                  <a:srgbClr val="0F172A"/>
                </a:solidFill>
                <a:latin typeface="Google Sans Display" pitchFamily="34" charset="0"/>
                <a:ea typeface="Google Sans Display" pitchFamily="34" charset="-122"/>
                <a:cs typeface="Google Sans Display" pitchFamily="34" charset="-120"/>
              </a:rPr>
              <a:t>Production Controls Today, Clean GA Sunset Tomorrow</a:t>
            </a:r>
            <a:endParaRPr lang="en-US" sz="1750" dirty="0"/>
          </a:p>
        </p:txBody>
      </p:sp>
      <p:sp>
        <p:nvSpPr>
          <p:cNvPr id="15" name="Text 13"/>
          <p:cNvSpPr/>
          <p:nvPr/>
        </p:nvSpPr>
        <p:spPr>
          <a:xfrm>
            <a:off x="530352" y="2542032"/>
            <a:ext cx="2788920" cy="2148840"/>
          </a:xfrm>
          <a:prstGeom prst="rect">
            <a:avLst/>
          </a:prstGeom>
          <a:noFill/>
          <a:ln/>
        </p:spPr>
        <p:txBody>
          <a:bodyPr wrap="square" rtlCol="0" anchor="t"/>
          <a:lstStyle/>
          <a:p>
            <a:pPr indent="0" marL="0">
              <a:buNone/>
            </a:pPr>
            <a:r>
              <a:rPr lang="en-US" sz="1000" dirty="0">
                <a:solidFill>
                  <a:srgbClr val="334155"/>
                </a:solidFill>
                <a:latin typeface="Roboto" pitchFamily="34" charset="0"/>
                <a:ea typeface="Roboto" pitchFamily="34" charset="-122"/>
                <a:cs typeface="Roboto" pitchFamily="34" charset="-120"/>
              </a:rPr>
              <a:t>Every compensating control in core-cymbal-agent/ is wrapped behind an environment feature flag.</a:t>
            </a:r>
            <a:endParaRPr lang="en-US" sz="1000" dirty="0"/>
          </a:p>
          <a:p>
            <a:pPr indent="0" marL="0">
              <a:buNone/>
            </a:pP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When an Early Access Program (EAP) feature reaches General Availability, teams flip a single config flag with zero application code changes.</a:t>
            </a:r>
            <a:endParaRPr lang="en-US" sz="1000" dirty="0"/>
          </a:p>
        </p:txBody>
      </p:sp>
      <p:sp>
        <p:nvSpPr>
          <p:cNvPr id="16" name="Shape 14"/>
          <p:cNvSpPr/>
          <p:nvPr/>
        </p:nvSpPr>
        <p:spPr>
          <a:xfrm>
            <a:off x="530352" y="4846320"/>
            <a:ext cx="2788920" cy="1298448"/>
          </a:xfrm>
          <a:prstGeom prst="roundRect">
            <a:avLst>
              <a:gd name="adj" fmla="val 5634"/>
            </a:avLst>
          </a:prstGeom>
          <a:solidFill>
            <a:srgbClr val="E8F0FE"/>
          </a:solidFill>
          <a:ln w="12700">
            <a:solidFill>
              <a:srgbClr val="1A73E8"/>
            </a:solidFill>
            <a:prstDash val="solid"/>
          </a:ln>
        </p:spPr>
      </p:sp>
      <p:sp>
        <p:nvSpPr>
          <p:cNvPr id="17" name="Text 15"/>
          <p:cNvSpPr/>
          <p:nvPr/>
        </p:nvSpPr>
        <p:spPr>
          <a:xfrm>
            <a:off x="658368" y="4956048"/>
            <a:ext cx="2532888" cy="566928"/>
          </a:xfrm>
          <a:prstGeom prst="rect">
            <a:avLst/>
          </a:prstGeom>
          <a:noFill/>
          <a:ln/>
        </p:spPr>
        <p:txBody>
          <a:bodyPr wrap="square" rtlCol="0" anchor="ctr"/>
          <a:lstStyle/>
          <a:p>
            <a:pPr indent="0" marL="0">
              <a:buNone/>
            </a:pPr>
            <a:r>
              <a:rPr lang="en-US" sz="2800" b="1" dirty="0">
                <a:solidFill>
                  <a:srgbClr val="1A73E8"/>
                </a:solidFill>
                <a:latin typeface="Google Sans Display" pitchFamily="34" charset="0"/>
                <a:ea typeface="Google Sans Display" pitchFamily="34" charset="-122"/>
                <a:cs typeface="Google Sans Display" pitchFamily="34" charset="-120"/>
              </a:rPr>
              <a:t>5 / 5</a:t>
            </a:r>
            <a:endParaRPr lang="en-US" sz="2800" dirty="0"/>
          </a:p>
        </p:txBody>
      </p:sp>
      <p:sp>
        <p:nvSpPr>
          <p:cNvPr id="18" name="Text 16"/>
          <p:cNvSpPr/>
          <p:nvPr/>
        </p:nvSpPr>
        <p:spPr>
          <a:xfrm>
            <a:off x="658368" y="5559552"/>
            <a:ext cx="2532888" cy="475488"/>
          </a:xfrm>
          <a:prstGeom prst="rect">
            <a:avLst/>
          </a:prstGeom>
          <a:noFill/>
          <a:ln/>
        </p:spPr>
        <p:txBody>
          <a:bodyPr wrap="square" rtlCol="0" anchor="ctr"/>
          <a:lstStyle/>
          <a:p>
            <a:pPr indent="0" marL="0">
              <a:buNone/>
            </a:pPr>
            <a:r>
              <a:rPr lang="en-US" sz="880" b="1" dirty="0">
                <a:solidFill>
                  <a:srgbClr val="0F172A"/>
                </a:solidFill>
                <a:latin typeface="Roboto" pitchFamily="34" charset="0"/>
                <a:ea typeface="Roboto" pitchFamily="34" charset="-122"/>
                <a:cs typeface="Roboto" pitchFamily="34" charset="-120"/>
              </a:rPr>
              <a:t>EAP Gaps Closed with Zero-Rewrite GA Hooks</a:t>
            </a:r>
            <a:endParaRPr lang="en-US" sz="880" dirty="0"/>
          </a:p>
        </p:txBody>
      </p:sp>
      <p:sp>
        <p:nvSpPr>
          <p:cNvPr id="19" name="Shape 17"/>
          <p:cNvSpPr/>
          <p:nvPr/>
        </p:nvSpPr>
        <p:spPr>
          <a:xfrm>
            <a:off x="3703320" y="594360"/>
            <a:ext cx="8138160" cy="1024128"/>
          </a:xfrm>
          <a:prstGeom prst="roundRect">
            <a:avLst>
              <a:gd name="adj" fmla="val 7143"/>
            </a:avLst>
          </a:prstGeom>
          <a:solidFill>
            <a:srgbClr val="FFFFFF"/>
          </a:solidFill>
          <a:ln w="12700">
            <a:solidFill>
              <a:srgbClr val="E2E8F0"/>
            </a:solidFill>
            <a:prstDash val="solid"/>
          </a:ln>
        </p:spPr>
      </p:sp>
      <p:sp>
        <p:nvSpPr>
          <p:cNvPr id="20" name="Shape 18"/>
          <p:cNvSpPr/>
          <p:nvPr/>
        </p:nvSpPr>
        <p:spPr>
          <a:xfrm>
            <a:off x="3840480" y="740664"/>
            <a:ext cx="960120" cy="731520"/>
          </a:xfrm>
          <a:prstGeom prst="roundRect">
            <a:avLst>
              <a:gd name="adj" fmla="val 7500"/>
            </a:avLst>
          </a:prstGeom>
          <a:solidFill>
            <a:srgbClr val="E8F0FE"/>
          </a:solidFill>
          <a:ln/>
        </p:spPr>
      </p:sp>
      <p:sp>
        <p:nvSpPr>
          <p:cNvPr id="21" name="Text 19"/>
          <p:cNvSpPr/>
          <p:nvPr/>
        </p:nvSpPr>
        <p:spPr>
          <a:xfrm>
            <a:off x="3840480" y="740664"/>
            <a:ext cx="960120" cy="731520"/>
          </a:xfrm>
          <a:prstGeom prst="rect">
            <a:avLst/>
          </a:prstGeom>
          <a:noFill/>
          <a:ln/>
        </p:spPr>
        <p:txBody>
          <a:bodyPr wrap="square" rtlCol="0" anchor="ctr"/>
          <a:lstStyle/>
          <a:p>
            <a:pPr algn="ctr" indent="0" marL="0">
              <a:buNone/>
            </a:pPr>
            <a:r>
              <a:rPr lang="en-US" sz="1050" b="1" dirty="0">
                <a:solidFill>
                  <a:srgbClr val="1A73E8"/>
                </a:solidFill>
                <a:latin typeface="Google Sans Display" pitchFamily="34" charset="0"/>
                <a:ea typeface="Google Sans Display" pitchFamily="34" charset="-122"/>
                <a:cs typeface="Google Sans Display" pitchFamily="34" charset="-120"/>
              </a:rPr>
              <a:t>GAP-01</a:t>
            </a:r>
            <a:endParaRPr lang="en-US" sz="1050" dirty="0"/>
          </a:p>
        </p:txBody>
      </p:sp>
      <p:sp>
        <p:nvSpPr>
          <p:cNvPr id="22" name="Text 20"/>
          <p:cNvSpPr/>
          <p:nvPr/>
        </p:nvSpPr>
        <p:spPr>
          <a:xfrm>
            <a:off x="4937760" y="722376"/>
            <a:ext cx="3749040" cy="274320"/>
          </a:xfrm>
          <a:prstGeom prst="rect">
            <a:avLst/>
          </a:prstGeom>
          <a:noFill/>
          <a:ln/>
        </p:spPr>
        <p:txBody>
          <a:bodyPr wrap="square" rtlCol="0" anchor="ctr"/>
          <a:lstStyle/>
          <a:p>
            <a:pPr indent="0" marL="0">
              <a:buNone/>
            </a:pPr>
            <a:r>
              <a:rPr lang="en-US" sz="1020" b="1" dirty="0">
                <a:solidFill>
                  <a:srgbClr val="0F172A"/>
                </a:solidFill>
                <a:latin typeface="Google Sans" pitchFamily="34" charset="0"/>
                <a:ea typeface="Google Sans" pitchFamily="34" charset="-122"/>
                <a:cs typeface="Google Sans" pitchFamily="34" charset="-120"/>
              </a:rPr>
              <a:t>ARD Catalog Filter (Hop 2)</a:t>
            </a:r>
            <a:endParaRPr lang="en-US" sz="1020" dirty="0"/>
          </a:p>
        </p:txBody>
      </p:sp>
      <p:sp>
        <p:nvSpPr>
          <p:cNvPr id="23" name="Text 21"/>
          <p:cNvSpPr/>
          <p:nvPr/>
        </p:nvSpPr>
        <p:spPr>
          <a:xfrm>
            <a:off x="4937760" y="1014984"/>
            <a:ext cx="3749040" cy="493776"/>
          </a:xfrm>
          <a:prstGeom prst="rect">
            <a:avLst/>
          </a:prstGeom>
          <a:noFill/>
          <a:ln/>
        </p:spPr>
        <p:txBody>
          <a:bodyPr wrap="square" rtlCol="0" anchor="t"/>
          <a:lstStyle/>
          <a:p>
            <a:pPr indent="0" marL="0">
              <a:buNone/>
            </a:pPr>
            <a:r>
              <a:rPr lang="en-US" sz="880" dirty="0">
                <a:solidFill>
                  <a:srgbClr val="334155"/>
                </a:solidFill>
                <a:latin typeface="Roboto" pitchFamily="34" charset="0"/>
                <a:ea typeface="Roboto" pitchFamily="34" charset="-122"/>
                <a:cs typeface="Roboto" pitchFamily="34" charset="-120"/>
              </a:rPr>
              <a:t>Hop2RegistryPDP prunes ListAgents by signed JWT tenant_id</a:t>
            </a:r>
            <a:endParaRPr lang="en-US" sz="880" dirty="0"/>
          </a:p>
        </p:txBody>
      </p:sp>
      <p:sp>
        <p:nvSpPr>
          <p:cNvPr id="24" name="Shape 22"/>
          <p:cNvSpPr/>
          <p:nvPr/>
        </p:nvSpPr>
        <p:spPr>
          <a:xfrm>
            <a:off x="8823960" y="850392"/>
            <a:ext cx="2852928" cy="512064"/>
          </a:xfrm>
          <a:prstGeom prst="roundRect">
            <a:avLst>
              <a:gd name="adj" fmla="val 10714"/>
            </a:avLst>
          </a:prstGeom>
          <a:solidFill>
            <a:srgbClr val="E6F4EA"/>
          </a:solidFill>
          <a:ln w="10795">
            <a:solidFill>
              <a:srgbClr val="1E8E3E"/>
            </a:solidFill>
            <a:prstDash val="solid"/>
          </a:ln>
        </p:spPr>
      </p:sp>
      <p:sp>
        <p:nvSpPr>
          <p:cNvPr id="25" name="Text 23"/>
          <p:cNvSpPr/>
          <p:nvPr/>
        </p:nvSpPr>
        <p:spPr>
          <a:xfrm>
            <a:off x="8823960" y="850392"/>
            <a:ext cx="2852928" cy="512064"/>
          </a:xfrm>
          <a:prstGeom prst="rect">
            <a:avLst/>
          </a:prstGeom>
          <a:noFill/>
          <a:ln/>
        </p:spPr>
        <p:txBody>
          <a:bodyPr wrap="square" rtlCol="0" anchor="ctr"/>
          <a:lstStyle/>
          <a:p>
            <a:pPr algn="ctr" indent="0" marL="0">
              <a:buNone/>
            </a:pPr>
            <a:r>
              <a:rPr lang="en-US" sz="820" b="1" dirty="0">
                <a:solidFill>
                  <a:srgbClr val="1E8E3E"/>
                </a:solidFill>
                <a:latin typeface="Roboto Mono" pitchFamily="34" charset="0"/>
                <a:ea typeface="Roboto Mono" pitchFamily="34" charset="-122"/>
                <a:cs typeface="Roboto Mono" pitchFamily="34" charset="-120"/>
              </a:rPr>
              <a:t>CYMBAL_NATIVE_ARD_GA</a:t>
            </a:r>
            <a:endParaRPr lang="en-US" sz="820" dirty="0"/>
          </a:p>
        </p:txBody>
      </p:sp>
      <p:sp>
        <p:nvSpPr>
          <p:cNvPr id="26" name="Shape 24"/>
          <p:cNvSpPr/>
          <p:nvPr/>
        </p:nvSpPr>
        <p:spPr>
          <a:xfrm>
            <a:off x="3703320" y="1746504"/>
            <a:ext cx="8138160" cy="1024128"/>
          </a:xfrm>
          <a:prstGeom prst="roundRect">
            <a:avLst>
              <a:gd name="adj" fmla="val 7143"/>
            </a:avLst>
          </a:prstGeom>
          <a:solidFill>
            <a:srgbClr val="FFFFFF"/>
          </a:solidFill>
          <a:ln w="12700">
            <a:solidFill>
              <a:srgbClr val="E2E8F0"/>
            </a:solidFill>
            <a:prstDash val="solid"/>
          </a:ln>
        </p:spPr>
      </p:sp>
      <p:sp>
        <p:nvSpPr>
          <p:cNvPr id="27" name="Shape 25"/>
          <p:cNvSpPr/>
          <p:nvPr/>
        </p:nvSpPr>
        <p:spPr>
          <a:xfrm>
            <a:off x="3840480" y="1892808"/>
            <a:ext cx="960120" cy="731520"/>
          </a:xfrm>
          <a:prstGeom prst="roundRect">
            <a:avLst>
              <a:gd name="adj" fmla="val 7500"/>
            </a:avLst>
          </a:prstGeom>
          <a:solidFill>
            <a:srgbClr val="E8F0FE"/>
          </a:solidFill>
          <a:ln/>
        </p:spPr>
      </p:sp>
      <p:sp>
        <p:nvSpPr>
          <p:cNvPr id="28" name="Text 26"/>
          <p:cNvSpPr/>
          <p:nvPr/>
        </p:nvSpPr>
        <p:spPr>
          <a:xfrm>
            <a:off x="3840480" y="1892808"/>
            <a:ext cx="960120" cy="731520"/>
          </a:xfrm>
          <a:prstGeom prst="rect">
            <a:avLst/>
          </a:prstGeom>
          <a:noFill/>
          <a:ln/>
        </p:spPr>
        <p:txBody>
          <a:bodyPr wrap="square" rtlCol="0" anchor="ctr"/>
          <a:lstStyle/>
          <a:p>
            <a:pPr algn="ctr" indent="0" marL="0">
              <a:buNone/>
            </a:pPr>
            <a:r>
              <a:rPr lang="en-US" sz="1050" b="1" dirty="0">
                <a:solidFill>
                  <a:srgbClr val="1A73E8"/>
                </a:solidFill>
                <a:latin typeface="Google Sans Display" pitchFamily="34" charset="0"/>
                <a:ea typeface="Google Sans Display" pitchFamily="34" charset="-122"/>
                <a:cs typeface="Google Sans Display" pitchFamily="34" charset="-120"/>
              </a:rPr>
              <a:t>GAP-02</a:t>
            </a:r>
            <a:endParaRPr lang="en-US" sz="1050" dirty="0"/>
          </a:p>
        </p:txBody>
      </p:sp>
      <p:sp>
        <p:nvSpPr>
          <p:cNvPr id="29" name="Text 27"/>
          <p:cNvSpPr/>
          <p:nvPr/>
        </p:nvSpPr>
        <p:spPr>
          <a:xfrm>
            <a:off x="4937760" y="1874520"/>
            <a:ext cx="3749040" cy="274320"/>
          </a:xfrm>
          <a:prstGeom prst="rect">
            <a:avLst/>
          </a:prstGeom>
          <a:noFill/>
          <a:ln/>
        </p:spPr>
        <p:txBody>
          <a:bodyPr wrap="square" rtlCol="0" anchor="ctr"/>
          <a:lstStyle/>
          <a:p>
            <a:pPr indent="0" marL="0">
              <a:buNone/>
            </a:pPr>
            <a:r>
              <a:rPr lang="en-US" sz="1020" b="1" dirty="0">
                <a:solidFill>
                  <a:srgbClr val="0F172A"/>
                </a:solidFill>
                <a:latin typeface="Google Sans" pitchFamily="34" charset="0"/>
                <a:ea typeface="Google Sans" pitchFamily="34" charset="-122"/>
                <a:cs typeface="Google Sans" pitchFamily="34" charset="-120"/>
              </a:rPr>
              <a:t>Per-Tenant Memory CMEK (Hop 3)</a:t>
            </a:r>
            <a:endParaRPr lang="en-US" sz="1020" dirty="0"/>
          </a:p>
        </p:txBody>
      </p:sp>
      <p:sp>
        <p:nvSpPr>
          <p:cNvPr id="30" name="Text 28"/>
          <p:cNvSpPr/>
          <p:nvPr/>
        </p:nvSpPr>
        <p:spPr>
          <a:xfrm>
            <a:off x="4937760" y="2167128"/>
            <a:ext cx="3749040" cy="493776"/>
          </a:xfrm>
          <a:prstGeom prst="rect">
            <a:avLst/>
          </a:prstGeom>
          <a:noFill/>
          <a:ln/>
        </p:spPr>
        <p:txBody>
          <a:bodyPr wrap="square" rtlCol="0" anchor="t"/>
          <a:lstStyle/>
          <a:p>
            <a:pPr indent="0" marL="0">
              <a:buNone/>
            </a:pPr>
            <a:r>
              <a:rPr lang="en-US" sz="880" dirty="0">
                <a:solidFill>
                  <a:srgbClr val="334155"/>
                </a:solidFill>
                <a:latin typeface="Roboto" pitchFamily="34" charset="0"/>
                <a:ea typeface="Roboto" pitchFamily="34" charset="-122"/>
                <a:cs typeface="Roboto" pitchFamily="34" charset="-120"/>
              </a:rPr>
              <a:t>Envelope encryption + &lt;5s Valkey SCAN+UNLINK on KMS disable</a:t>
            </a:r>
            <a:endParaRPr lang="en-US" sz="880" dirty="0"/>
          </a:p>
        </p:txBody>
      </p:sp>
      <p:sp>
        <p:nvSpPr>
          <p:cNvPr id="31" name="Shape 29"/>
          <p:cNvSpPr/>
          <p:nvPr/>
        </p:nvSpPr>
        <p:spPr>
          <a:xfrm>
            <a:off x="8823960" y="2002536"/>
            <a:ext cx="2852928" cy="512064"/>
          </a:xfrm>
          <a:prstGeom prst="roundRect">
            <a:avLst>
              <a:gd name="adj" fmla="val 10714"/>
            </a:avLst>
          </a:prstGeom>
          <a:solidFill>
            <a:srgbClr val="E6F4EA"/>
          </a:solidFill>
          <a:ln w="10795">
            <a:solidFill>
              <a:srgbClr val="1E8E3E"/>
            </a:solidFill>
            <a:prstDash val="solid"/>
          </a:ln>
        </p:spPr>
      </p:sp>
      <p:sp>
        <p:nvSpPr>
          <p:cNvPr id="32" name="Text 30"/>
          <p:cNvSpPr/>
          <p:nvPr/>
        </p:nvSpPr>
        <p:spPr>
          <a:xfrm>
            <a:off x="8823960" y="2002536"/>
            <a:ext cx="2852928" cy="512064"/>
          </a:xfrm>
          <a:prstGeom prst="rect">
            <a:avLst/>
          </a:prstGeom>
          <a:noFill/>
          <a:ln/>
        </p:spPr>
        <p:txBody>
          <a:bodyPr wrap="square" rtlCol="0" anchor="ctr"/>
          <a:lstStyle/>
          <a:p>
            <a:pPr algn="ctr" indent="0" marL="0">
              <a:buNone/>
            </a:pPr>
            <a:r>
              <a:rPr lang="en-US" sz="820" b="1" dirty="0">
                <a:solidFill>
                  <a:srgbClr val="1E8E3E"/>
                </a:solidFill>
                <a:latin typeface="Roboto Mono" pitchFamily="34" charset="0"/>
                <a:ea typeface="Roboto Mono" pitchFamily="34" charset="-122"/>
                <a:cs typeface="Roboto Mono" pitchFamily="34" charset="-120"/>
              </a:rPr>
              <a:t>CYMBAL_NATIVE_KMS_PROBE_GA</a:t>
            </a:r>
            <a:endParaRPr lang="en-US" sz="820" dirty="0"/>
          </a:p>
        </p:txBody>
      </p:sp>
      <p:sp>
        <p:nvSpPr>
          <p:cNvPr id="33" name="Shape 31"/>
          <p:cNvSpPr/>
          <p:nvPr/>
        </p:nvSpPr>
        <p:spPr>
          <a:xfrm>
            <a:off x="3703320" y="2898648"/>
            <a:ext cx="8138160" cy="1024128"/>
          </a:xfrm>
          <a:prstGeom prst="roundRect">
            <a:avLst>
              <a:gd name="adj" fmla="val 7143"/>
            </a:avLst>
          </a:prstGeom>
          <a:solidFill>
            <a:srgbClr val="FFFFFF"/>
          </a:solidFill>
          <a:ln w="12700">
            <a:solidFill>
              <a:srgbClr val="E2E8F0"/>
            </a:solidFill>
            <a:prstDash val="solid"/>
          </a:ln>
        </p:spPr>
      </p:sp>
      <p:sp>
        <p:nvSpPr>
          <p:cNvPr id="34" name="Shape 32"/>
          <p:cNvSpPr/>
          <p:nvPr/>
        </p:nvSpPr>
        <p:spPr>
          <a:xfrm>
            <a:off x="3840480" y="3044952"/>
            <a:ext cx="960120" cy="731520"/>
          </a:xfrm>
          <a:prstGeom prst="roundRect">
            <a:avLst>
              <a:gd name="adj" fmla="val 7500"/>
            </a:avLst>
          </a:prstGeom>
          <a:solidFill>
            <a:srgbClr val="E8F0FE"/>
          </a:solidFill>
          <a:ln/>
        </p:spPr>
      </p:sp>
      <p:sp>
        <p:nvSpPr>
          <p:cNvPr id="35" name="Text 33"/>
          <p:cNvSpPr/>
          <p:nvPr/>
        </p:nvSpPr>
        <p:spPr>
          <a:xfrm>
            <a:off x="3840480" y="3044952"/>
            <a:ext cx="960120" cy="731520"/>
          </a:xfrm>
          <a:prstGeom prst="rect">
            <a:avLst/>
          </a:prstGeom>
          <a:noFill/>
          <a:ln/>
        </p:spPr>
        <p:txBody>
          <a:bodyPr wrap="square" rtlCol="0" anchor="ctr"/>
          <a:lstStyle/>
          <a:p>
            <a:pPr algn="ctr" indent="0" marL="0">
              <a:buNone/>
            </a:pPr>
            <a:r>
              <a:rPr lang="en-US" sz="1050" b="1" dirty="0">
                <a:solidFill>
                  <a:srgbClr val="1A73E8"/>
                </a:solidFill>
                <a:latin typeface="Google Sans Display" pitchFamily="34" charset="0"/>
                <a:ea typeface="Google Sans Display" pitchFamily="34" charset="-122"/>
                <a:cs typeface="Google Sans Display" pitchFamily="34" charset="-120"/>
              </a:rPr>
              <a:t>GAP-03</a:t>
            </a:r>
            <a:endParaRPr lang="en-US" sz="1050" dirty="0"/>
          </a:p>
        </p:txBody>
      </p:sp>
      <p:sp>
        <p:nvSpPr>
          <p:cNvPr id="36" name="Text 34"/>
          <p:cNvSpPr/>
          <p:nvPr/>
        </p:nvSpPr>
        <p:spPr>
          <a:xfrm>
            <a:off x="4937760" y="3026664"/>
            <a:ext cx="3749040" cy="274320"/>
          </a:xfrm>
          <a:prstGeom prst="rect">
            <a:avLst/>
          </a:prstGeom>
          <a:noFill/>
          <a:ln/>
        </p:spPr>
        <p:txBody>
          <a:bodyPr wrap="square" rtlCol="0" anchor="ctr"/>
          <a:lstStyle/>
          <a:p>
            <a:pPr indent="0" marL="0">
              <a:buNone/>
            </a:pPr>
            <a:r>
              <a:rPr lang="en-US" sz="1020" b="1" dirty="0">
                <a:solidFill>
                  <a:srgbClr val="0F172A"/>
                </a:solidFill>
                <a:latin typeface="Google Sans" pitchFamily="34" charset="0"/>
                <a:ea typeface="Google Sans" pitchFamily="34" charset="-122"/>
                <a:cs typeface="Google Sans" pitchFamily="34" charset="-120"/>
              </a:rPr>
              <a:t>Sub-Project Rate Quotas (Hop 3)</a:t>
            </a:r>
            <a:endParaRPr lang="en-US" sz="1020" dirty="0"/>
          </a:p>
        </p:txBody>
      </p:sp>
      <p:sp>
        <p:nvSpPr>
          <p:cNvPr id="37" name="Text 35"/>
          <p:cNvSpPr/>
          <p:nvPr/>
        </p:nvSpPr>
        <p:spPr>
          <a:xfrm>
            <a:off x="4937760" y="3319272"/>
            <a:ext cx="3749040" cy="493776"/>
          </a:xfrm>
          <a:prstGeom prst="rect">
            <a:avLst/>
          </a:prstGeom>
          <a:noFill/>
          <a:ln/>
        </p:spPr>
        <p:txBody>
          <a:bodyPr wrap="square" rtlCol="0" anchor="t"/>
          <a:lstStyle/>
          <a:p>
            <a:pPr indent="0" marL="0">
              <a:buNone/>
            </a:pPr>
            <a:r>
              <a:rPr lang="en-US" sz="880" dirty="0">
                <a:solidFill>
                  <a:srgbClr val="334155"/>
                </a:solidFill>
                <a:latin typeface="Roboto" pitchFamily="34" charset="0"/>
                <a:ea typeface="Roboto" pitchFamily="34" charset="-122"/>
                <a:cs typeface="Roboto" pitchFamily="34" charset="-120"/>
              </a:rPr>
              <a:t>Atomic Valkey Lua token buckets (120 vs. 600 RPM) + 4k/8k cap</a:t>
            </a:r>
            <a:endParaRPr lang="en-US" sz="880" dirty="0"/>
          </a:p>
        </p:txBody>
      </p:sp>
      <p:sp>
        <p:nvSpPr>
          <p:cNvPr id="38" name="Shape 36"/>
          <p:cNvSpPr/>
          <p:nvPr/>
        </p:nvSpPr>
        <p:spPr>
          <a:xfrm>
            <a:off x="8823960" y="3154680"/>
            <a:ext cx="2852928" cy="512064"/>
          </a:xfrm>
          <a:prstGeom prst="roundRect">
            <a:avLst>
              <a:gd name="adj" fmla="val 10714"/>
            </a:avLst>
          </a:prstGeom>
          <a:solidFill>
            <a:srgbClr val="E6F4EA"/>
          </a:solidFill>
          <a:ln w="10795">
            <a:solidFill>
              <a:srgbClr val="1E8E3E"/>
            </a:solidFill>
            <a:prstDash val="solid"/>
          </a:ln>
        </p:spPr>
      </p:sp>
      <p:sp>
        <p:nvSpPr>
          <p:cNvPr id="39" name="Text 37"/>
          <p:cNvSpPr/>
          <p:nvPr/>
        </p:nvSpPr>
        <p:spPr>
          <a:xfrm>
            <a:off x="8823960" y="3154680"/>
            <a:ext cx="2852928" cy="512064"/>
          </a:xfrm>
          <a:prstGeom prst="rect">
            <a:avLst/>
          </a:prstGeom>
          <a:noFill/>
          <a:ln/>
        </p:spPr>
        <p:txBody>
          <a:bodyPr wrap="square" rtlCol="0" anchor="ctr"/>
          <a:lstStyle/>
          <a:p>
            <a:pPr algn="ctr" indent="0" marL="0">
              <a:buNone/>
            </a:pPr>
            <a:r>
              <a:rPr lang="en-US" sz="820" b="1" dirty="0">
                <a:solidFill>
                  <a:srgbClr val="1E8E3E"/>
                </a:solidFill>
                <a:latin typeface="Roboto Mono" pitchFamily="34" charset="0"/>
                <a:ea typeface="Roboto Mono" pitchFamily="34" charset="-122"/>
                <a:cs typeface="Roboto Mono" pitchFamily="34" charset="-120"/>
              </a:rPr>
              <a:t>CYMBAL_NATIVE_MEM_TTL_GA</a:t>
            </a:r>
            <a:endParaRPr lang="en-US" sz="820" dirty="0"/>
          </a:p>
        </p:txBody>
      </p:sp>
      <p:sp>
        <p:nvSpPr>
          <p:cNvPr id="40" name="Shape 38"/>
          <p:cNvSpPr/>
          <p:nvPr/>
        </p:nvSpPr>
        <p:spPr>
          <a:xfrm>
            <a:off x="3703320" y="4050792"/>
            <a:ext cx="8138160" cy="1024128"/>
          </a:xfrm>
          <a:prstGeom prst="roundRect">
            <a:avLst>
              <a:gd name="adj" fmla="val 7143"/>
            </a:avLst>
          </a:prstGeom>
          <a:solidFill>
            <a:srgbClr val="FFFFFF"/>
          </a:solidFill>
          <a:ln w="12700">
            <a:solidFill>
              <a:srgbClr val="E2E8F0"/>
            </a:solidFill>
            <a:prstDash val="solid"/>
          </a:ln>
        </p:spPr>
      </p:sp>
      <p:sp>
        <p:nvSpPr>
          <p:cNvPr id="41" name="Shape 39"/>
          <p:cNvSpPr/>
          <p:nvPr/>
        </p:nvSpPr>
        <p:spPr>
          <a:xfrm>
            <a:off x="3840480" y="4197096"/>
            <a:ext cx="960120" cy="731520"/>
          </a:xfrm>
          <a:prstGeom prst="roundRect">
            <a:avLst>
              <a:gd name="adj" fmla="val 7500"/>
            </a:avLst>
          </a:prstGeom>
          <a:solidFill>
            <a:srgbClr val="E8F0FE"/>
          </a:solidFill>
          <a:ln/>
        </p:spPr>
      </p:sp>
      <p:sp>
        <p:nvSpPr>
          <p:cNvPr id="42" name="Text 40"/>
          <p:cNvSpPr/>
          <p:nvPr/>
        </p:nvSpPr>
        <p:spPr>
          <a:xfrm>
            <a:off x="3840480" y="4197096"/>
            <a:ext cx="960120" cy="731520"/>
          </a:xfrm>
          <a:prstGeom prst="rect">
            <a:avLst/>
          </a:prstGeom>
          <a:noFill/>
          <a:ln/>
        </p:spPr>
        <p:txBody>
          <a:bodyPr wrap="square" rtlCol="0" anchor="ctr"/>
          <a:lstStyle/>
          <a:p>
            <a:pPr algn="ctr" indent="0" marL="0">
              <a:buNone/>
            </a:pPr>
            <a:r>
              <a:rPr lang="en-US" sz="1050" b="1" dirty="0">
                <a:solidFill>
                  <a:srgbClr val="1A73E8"/>
                </a:solidFill>
                <a:latin typeface="Google Sans Display" pitchFamily="34" charset="0"/>
                <a:ea typeface="Google Sans Display" pitchFamily="34" charset="-122"/>
                <a:cs typeface="Google Sans Display" pitchFamily="34" charset="-120"/>
              </a:rPr>
              <a:t>GAP-04</a:t>
            </a:r>
            <a:endParaRPr lang="en-US" sz="1050" dirty="0"/>
          </a:p>
        </p:txBody>
      </p:sp>
      <p:sp>
        <p:nvSpPr>
          <p:cNvPr id="43" name="Text 41"/>
          <p:cNvSpPr/>
          <p:nvPr/>
        </p:nvSpPr>
        <p:spPr>
          <a:xfrm>
            <a:off x="4937760" y="4178808"/>
            <a:ext cx="3749040" cy="274320"/>
          </a:xfrm>
          <a:prstGeom prst="rect">
            <a:avLst/>
          </a:prstGeom>
          <a:noFill/>
          <a:ln/>
        </p:spPr>
        <p:txBody>
          <a:bodyPr wrap="square" rtlCol="0" anchor="ctr"/>
          <a:lstStyle/>
          <a:p>
            <a:pPr indent="0" marL="0">
              <a:buNone/>
            </a:pPr>
            <a:r>
              <a:rPr lang="en-US" sz="1020" b="1" dirty="0">
                <a:solidFill>
                  <a:srgbClr val="0F172A"/>
                </a:solidFill>
                <a:latin typeface="Google Sans" pitchFamily="34" charset="0"/>
                <a:ea typeface="Google Sans" pitchFamily="34" charset="-122"/>
                <a:cs typeface="Google Sans" pitchFamily="34" charset="-120"/>
              </a:rPr>
              <a:t>Multi-IdP 3LO Token Broker (Hop 1)</a:t>
            </a:r>
            <a:endParaRPr lang="en-US" sz="1020" dirty="0"/>
          </a:p>
        </p:txBody>
      </p:sp>
      <p:sp>
        <p:nvSpPr>
          <p:cNvPr id="44" name="Text 42"/>
          <p:cNvSpPr/>
          <p:nvPr/>
        </p:nvSpPr>
        <p:spPr>
          <a:xfrm>
            <a:off x="4937760" y="4471416"/>
            <a:ext cx="3749040" cy="493776"/>
          </a:xfrm>
          <a:prstGeom prst="rect">
            <a:avLst/>
          </a:prstGeom>
          <a:noFill/>
          <a:ln/>
        </p:spPr>
        <p:txBody>
          <a:bodyPr wrap="square" rtlCol="0" anchor="t"/>
          <a:lstStyle/>
          <a:p>
            <a:pPr indent="0" marL="0">
              <a:buNone/>
            </a:pPr>
            <a:r>
              <a:rPr lang="en-US" sz="880" dirty="0">
                <a:solidFill>
                  <a:srgbClr val="334155"/>
                </a:solidFill>
                <a:latin typeface="Roboto" pitchFamily="34" charset="0"/>
                <a:ea typeface="Roboto" pitchFamily="34" charset="-122"/>
                <a:cs typeface="Roboto" pitchFamily="34" charset="-120"/>
              </a:rPr>
              <a:t>DPoP-bound {tenant}:{user} 3LO vault + -32042 step-up consent</a:t>
            </a:r>
            <a:endParaRPr lang="en-US" sz="880" dirty="0"/>
          </a:p>
        </p:txBody>
      </p:sp>
      <p:sp>
        <p:nvSpPr>
          <p:cNvPr id="45" name="Shape 43"/>
          <p:cNvSpPr/>
          <p:nvPr/>
        </p:nvSpPr>
        <p:spPr>
          <a:xfrm>
            <a:off x="8823960" y="4306824"/>
            <a:ext cx="2852928" cy="512064"/>
          </a:xfrm>
          <a:prstGeom prst="roundRect">
            <a:avLst>
              <a:gd name="adj" fmla="val 10714"/>
            </a:avLst>
          </a:prstGeom>
          <a:solidFill>
            <a:srgbClr val="E6F4EA"/>
          </a:solidFill>
          <a:ln w="10795">
            <a:solidFill>
              <a:srgbClr val="1E8E3E"/>
            </a:solidFill>
            <a:prstDash val="solid"/>
          </a:ln>
        </p:spPr>
      </p:sp>
      <p:sp>
        <p:nvSpPr>
          <p:cNvPr id="46" name="Text 44"/>
          <p:cNvSpPr/>
          <p:nvPr/>
        </p:nvSpPr>
        <p:spPr>
          <a:xfrm>
            <a:off x="8823960" y="4306824"/>
            <a:ext cx="2852928" cy="512064"/>
          </a:xfrm>
          <a:prstGeom prst="rect">
            <a:avLst/>
          </a:prstGeom>
          <a:noFill/>
          <a:ln/>
        </p:spPr>
        <p:txBody>
          <a:bodyPr wrap="square" rtlCol="0" anchor="ctr"/>
          <a:lstStyle/>
          <a:p>
            <a:pPr algn="ctr" indent="0" marL="0">
              <a:buNone/>
            </a:pPr>
            <a:r>
              <a:rPr lang="en-US" sz="820" b="1" dirty="0">
                <a:solidFill>
                  <a:srgbClr val="1E8E3E"/>
                </a:solidFill>
                <a:latin typeface="Roboto Mono" pitchFamily="34" charset="0"/>
                <a:ea typeface="Roboto Mono" pitchFamily="34" charset="-122"/>
                <a:cs typeface="Roboto Mono" pitchFamily="34" charset="-120"/>
              </a:rPr>
              <a:t>CYMBAL_NATIVE_PSC_CUTOVER_GA</a:t>
            </a:r>
            <a:endParaRPr lang="en-US" sz="820" dirty="0"/>
          </a:p>
        </p:txBody>
      </p:sp>
      <p:sp>
        <p:nvSpPr>
          <p:cNvPr id="47" name="Shape 45"/>
          <p:cNvSpPr/>
          <p:nvPr/>
        </p:nvSpPr>
        <p:spPr>
          <a:xfrm>
            <a:off x="3703320" y="5202936"/>
            <a:ext cx="8138160" cy="1024128"/>
          </a:xfrm>
          <a:prstGeom prst="roundRect">
            <a:avLst>
              <a:gd name="adj" fmla="val 7143"/>
            </a:avLst>
          </a:prstGeom>
          <a:solidFill>
            <a:srgbClr val="FFFFFF"/>
          </a:solidFill>
          <a:ln w="12700">
            <a:solidFill>
              <a:srgbClr val="E2E8F0"/>
            </a:solidFill>
            <a:prstDash val="solid"/>
          </a:ln>
        </p:spPr>
      </p:sp>
      <p:sp>
        <p:nvSpPr>
          <p:cNvPr id="48" name="Shape 46"/>
          <p:cNvSpPr/>
          <p:nvPr/>
        </p:nvSpPr>
        <p:spPr>
          <a:xfrm>
            <a:off x="3840480" y="5349240"/>
            <a:ext cx="960120" cy="731520"/>
          </a:xfrm>
          <a:prstGeom prst="roundRect">
            <a:avLst>
              <a:gd name="adj" fmla="val 7500"/>
            </a:avLst>
          </a:prstGeom>
          <a:solidFill>
            <a:srgbClr val="E8F0FE"/>
          </a:solidFill>
          <a:ln/>
        </p:spPr>
      </p:sp>
      <p:sp>
        <p:nvSpPr>
          <p:cNvPr id="49" name="Text 47"/>
          <p:cNvSpPr/>
          <p:nvPr/>
        </p:nvSpPr>
        <p:spPr>
          <a:xfrm>
            <a:off x="3840480" y="5349240"/>
            <a:ext cx="960120" cy="731520"/>
          </a:xfrm>
          <a:prstGeom prst="rect">
            <a:avLst/>
          </a:prstGeom>
          <a:noFill/>
          <a:ln/>
        </p:spPr>
        <p:txBody>
          <a:bodyPr wrap="square" rtlCol="0" anchor="ctr"/>
          <a:lstStyle/>
          <a:p>
            <a:pPr algn="ctr" indent="0" marL="0">
              <a:buNone/>
            </a:pPr>
            <a:r>
              <a:rPr lang="en-US" sz="1050" b="1" dirty="0">
                <a:solidFill>
                  <a:srgbClr val="1A73E8"/>
                </a:solidFill>
                <a:latin typeface="Google Sans Display" pitchFamily="34" charset="0"/>
                <a:ea typeface="Google Sans Display" pitchFamily="34" charset="-122"/>
                <a:cs typeface="Google Sans Display" pitchFamily="34" charset="-120"/>
              </a:rPr>
              <a:t>GAP-05</a:t>
            </a:r>
            <a:endParaRPr lang="en-US" sz="1050" dirty="0"/>
          </a:p>
        </p:txBody>
      </p:sp>
      <p:sp>
        <p:nvSpPr>
          <p:cNvPr id="50" name="Text 48"/>
          <p:cNvSpPr/>
          <p:nvPr/>
        </p:nvSpPr>
        <p:spPr>
          <a:xfrm>
            <a:off x="4937760" y="5330952"/>
            <a:ext cx="3749040" cy="274320"/>
          </a:xfrm>
          <a:prstGeom prst="rect">
            <a:avLst/>
          </a:prstGeom>
          <a:noFill/>
          <a:ln/>
        </p:spPr>
        <p:txBody>
          <a:bodyPr wrap="square" rtlCol="0" anchor="ctr"/>
          <a:lstStyle/>
          <a:p>
            <a:pPr indent="0" marL="0">
              <a:buNone/>
            </a:pPr>
            <a:r>
              <a:rPr lang="en-US" sz="1020" b="1" dirty="0">
                <a:solidFill>
                  <a:srgbClr val="0F172A"/>
                </a:solidFill>
                <a:latin typeface="Google Sans" pitchFamily="34" charset="0"/>
                <a:ea typeface="Google Sans" pitchFamily="34" charset="-122"/>
                <a:cs typeface="Google Sans" pitchFamily="34" charset="-120"/>
              </a:rPr>
              <a:t>Zero-PII Token FinOps (Hop 5)</a:t>
            </a:r>
            <a:endParaRPr lang="en-US" sz="1020" dirty="0"/>
          </a:p>
        </p:txBody>
      </p:sp>
      <p:sp>
        <p:nvSpPr>
          <p:cNvPr id="51" name="Text 49"/>
          <p:cNvSpPr/>
          <p:nvPr/>
        </p:nvSpPr>
        <p:spPr>
          <a:xfrm>
            <a:off x="4937760" y="5623560"/>
            <a:ext cx="3749040" cy="493776"/>
          </a:xfrm>
          <a:prstGeom prst="rect">
            <a:avLst/>
          </a:prstGeom>
          <a:noFill/>
          <a:ln/>
        </p:spPr>
        <p:txBody>
          <a:bodyPr wrap="square" rtlCol="0" anchor="t"/>
          <a:lstStyle/>
          <a:p>
            <a:pPr indent="0" marL="0">
              <a:buNone/>
            </a:pPr>
            <a:r>
              <a:rPr lang="en-US" sz="880" dirty="0">
                <a:solidFill>
                  <a:srgbClr val="334155"/>
                </a:solidFill>
                <a:latin typeface="Roboto" pitchFamily="34" charset="0"/>
                <a:ea typeface="Roboto" pitchFamily="34" charset="-122"/>
                <a:cs typeface="Roboto" pitchFamily="34" charset="-120"/>
              </a:rPr>
              <a:t>SHA-256 prompt hashes + cached/thinking token OTel spans to BQ</a:t>
            </a:r>
            <a:endParaRPr lang="en-US" sz="880" dirty="0"/>
          </a:p>
        </p:txBody>
      </p:sp>
      <p:sp>
        <p:nvSpPr>
          <p:cNvPr id="52" name="Shape 50"/>
          <p:cNvSpPr/>
          <p:nvPr/>
        </p:nvSpPr>
        <p:spPr>
          <a:xfrm>
            <a:off x="8823960" y="5458968"/>
            <a:ext cx="2852928" cy="512064"/>
          </a:xfrm>
          <a:prstGeom prst="roundRect">
            <a:avLst>
              <a:gd name="adj" fmla="val 10714"/>
            </a:avLst>
          </a:prstGeom>
          <a:solidFill>
            <a:srgbClr val="E6F4EA"/>
          </a:solidFill>
          <a:ln w="10795">
            <a:solidFill>
              <a:srgbClr val="1E8E3E"/>
            </a:solidFill>
            <a:prstDash val="solid"/>
          </a:ln>
        </p:spPr>
      </p:sp>
      <p:sp>
        <p:nvSpPr>
          <p:cNvPr id="53" name="Text 51"/>
          <p:cNvSpPr/>
          <p:nvPr/>
        </p:nvSpPr>
        <p:spPr>
          <a:xfrm>
            <a:off x="8823960" y="5458968"/>
            <a:ext cx="2852928" cy="512064"/>
          </a:xfrm>
          <a:prstGeom prst="rect">
            <a:avLst/>
          </a:prstGeom>
          <a:noFill/>
          <a:ln/>
        </p:spPr>
        <p:txBody>
          <a:bodyPr wrap="square" rtlCol="0" anchor="ctr"/>
          <a:lstStyle/>
          <a:p>
            <a:pPr algn="ctr" indent="0" marL="0">
              <a:buNone/>
            </a:pPr>
            <a:r>
              <a:rPr lang="en-US" sz="820" b="1" dirty="0">
                <a:solidFill>
                  <a:srgbClr val="1E8E3E"/>
                </a:solidFill>
                <a:latin typeface="Roboto Mono" pitchFamily="34" charset="0"/>
                <a:ea typeface="Roboto Mono" pitchFamily="34" charset="-122"/>
                <a:cs typeface="Roboto Mono" pitchFamily="34" charset="-120"/>
              </a:rPr>
              <a:t>CYMBAL_NATIVE_OTEL_FINOPS_GA</a:t>
            </a:r>
            <a:endParaRPr lang="en-US" sz="8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1723644"/>
          </a:xfrm>
          <a:prstGeom prst="rect">
            <a:avLst/>
          </a:prstGeom>
          <a:solidFill>
            <a:srgbClr val="1A73E8"/>
          </a:solidFill>
          <a:ln/>
        </p:spPr>
      </p:sp>
      <p:sp>
        <p:nvSpPr>
          <p:cNvPr id="3" name="Shape 1"/>
          <p:cNvSpPr/>
          <p:nvPr/>
        </p:nvSpPr>
        <p:spPr>
          <a:xfrm>
            <a:off x="0" y="1714500"/>
            <a:ext cx="73152" cy="1723644"/>
          </a:xfrm>
          <a:prstGeom prst="rect">
            <a:avLst/>
          </a:prstGeom>
          <a:solidFill>
            <a:srgbClr val="D93025"/>
          </a:solidFill>
          <a:ln/>
        </p:spPr>
      </p:sp>
      <p:sp>
        <p:nvSpPr>
          <p:cNvPr id="4" name="Shape 2"/>
          <p:cNvSpPr/>
          <p:nvPr/>
        </p:nvSpPr>
        <p:spPr>
          <a:xfrm>
            <a:off x="0" y="3429000"/>
            <a:ext cx="73152" cy="1723644"/>
          </a:xfrm>
          <a:prstGeom prst="rect">
            <a:avLst/>
          </a:prstGeom>
          <a:solidFill>
            <a:srgbClr val="F9AB00"/>
          </a:solidFill>
          <a:ln/>
        </p:spPr>
      </p:sp>
      <p:sp>
        <p:nvSpPr>
          <p:cNvPr id="5" name="Shape 3"/>
          <p:cNvSpPr/>
          <p:nvPr/>
        </p:nvSpPr>
        <p:spPr>
          <a:xfrm>
            <a:off x="0" y="5143500"/>
            <a:ext cx="73152" cy="1723644"/>
          </a:xfrm>
          <a:prstGeom prst="rect">
            <a:avLst/>
          </a:prstGeom>
          <a:solidFill>
            <a:srgbClr val="1E8E3E"/>
          </a:solidFill>
          <a:ln/>
        </p:spPr>
      </p:sp>
      <p:sp>
        <p:nvSpPr>
          <p:cNvPr id="6" name="Text 4"/>
          <p:cNvSpPr/>
          <p:nvPr/>
        </p:nvSpPr>
        <p:spPr>
          <a:xfrm>
            <a:off x="347472" y="201168"/>
            <a:ext cx="9875520" cy="237744"/>
          </a:xfrm>
          <a:prstGeom prst="rect">
            <a:avLst/>
          </a:prstGeom>
          <a:noFill/>
          <a:ln/>
        </p:spPr>
        <p:txBody>
          <a:bodyPr wrap="square" rtlCol="0" anchor="ctr"/>
          <a:lstStyle/>
          <a:p>
            <a:pPr indent="0" marL="0">
              <a:buNone/>
            </a:pPr>
            <a:r>
              <a:rPr lang="en-US" sz="850" b="1" dirty="0">
                <a:solidFill>
                  <a:srgbClr val="1A73E8"/>
                </a:solidFill>
                <a:latin typeface="Google Sans" pitchFamily="34" charset="0"/>
                <a:ea typeface="Google Sans" pitchFamily="34" charset="-122"/>
                <a:cs typeface="Google Sans" pitchFamily="34" charset="-120"/>
              </a:rPr>
              <a:t>GOOGLE CLOUD ARCHITECTURE CENTER  </a:t>
            </a:r>
            <a:pPr indent="0" marL="0">
              <a:buNone/>
            </a:pPr>
            <a:r>
              <a:rPr lang="en-US" sz="850" dirty="0">
                <a:solidFill>
                  <a:srgbClr val="64748B"/>
                </a:solidFill>
                <a:latin typeface="Google Sans" pitchFamily="34" charset="0"/>
                <a:ea typeface="Google Sans" pitchFamily="34" charset="-122"/>
                <a:cs typeface="Google Sans" pitchFamily="34" charset="-120"/>
              </a:rPr>
              <a:t>/  ACT III • VERIFICATION PROOF 1  /  Grounded Dual-Plane GCP &amp; AWS Runtime Telemetry Receipts</a:t>
            </a:r>
            <a:endParaRPr lang="en-US" sz="850" dirty="0"/>
          </a:p>
        </p:txBody>
      </p:sp>
      <p:sp>
        <p:nvSpPr>
          <p:cNvPr id="7" name="Shape 5"/>
          <p:cNvSpPr/>
          <p:nvPr/>
        </p:nvSpPr>
        <p:spPr>
          <a:xfrm>
            <a:off x="10835640" y="182880"/>
            <a:ext cx="1005840" cy="256032"/>
          </a:xfrm>
          <a:prstGeom prst="roundRect">
            <a:avLst>
              <a:gd name="adj" fmla="val 50000"/>
            </a:avLst>
          </a:prstGeom>
          <a:solidFill>
            <a:srgbClr val="FFFFFF"/>
          </a:solidFill>
          <a:ln w="9525">
            <a:solidFill>
              <a:srgbClr val="E2E8F0"/>
            </a:solidFill>
            <a:prstDash val="solid"/>
          </a:ln>
        </p:spPr>
      </p:sp>
      <p:sp>
        <p:nvSpPr>
          <p:cNvPr id="8" name="Text 6"/>
          <p:cNvSpPr/>
          <p:nvPr/>
        </p:nvSpPr>
        <p:spPr>
          <a:xfrm>
            <a:off x="10835640" y="182880"/>
            <a:ext cx="1005840" cy="256032"/>
          </a:xfrm>
          <a:prstGeom prst="rect">
            <a:avLst/>
          </a:prstGeom>
          <a:noFill/>
          <a:ln/>
        </p:spPr>
        <p:txBody>
          <a:bodyPr wrap="square" rtlCol="0" anchor="ctr"/>
          <a:lstStyle/>
          <a:p>
            <a:pPr algn="ctr" indent="0" marL="0">
              <a:buNone/>
            </a:pPr>
            <a:r>
              <a:rPr lang="en-US" sz="850" b="1" dirty="0">
                <a:solidFill>
                  <a:srgbClr val="334155"/>
                </a:solidFill>
                <a:latin typeface="Google Sans" pitchFamily="34" charset="0"/>
                <a:ea typeface="Google Sans" pitchFamily="34" charset="-122"/>
                <a:cs typeface="Google Sans" pitchFamily="34" charset="-120"/>
              </a:rPr>
              <a:t>12 / 14</a:t>
            </a:r>
            <a:endParaRPr lang="en-US" sz="850" dirty="0"/>
          </a:p>
        </p:txBody>
      </p:sp>
      <p:sp>
        <p:nvSpPr>
          <p:cNvPr id="9" name="Shape 7"/>
          <p:cNvSpPr/>
          <p:nvPr/>
        </p:nvSpPr>
        <p:spPr>
          <a:xfrm>
            <a:off x="347472" y="6510528"/>
            <a:ext cx="11494008" cy="0"/>
          </a:xfrm>
          <a:prstGeom prst="line">
            <a:avLst/>
          </a:prstGeom>
          <a:noFill/>
          <a:ln w="9525">
            <a:solidFill>
              <a:srgbClr val="E2E8F0"/>
            </a:solidFill>
            <a:prstDash val="solid"/>
          </a:ln>
        </p:spPr>
      </p:sp>
      <p:sp>
        <p:nvSpPr>
          <p:cNvPr id="10" name="Text 8"/>
          <p:cNvSpPr/>
          <p:nvPr/>
        </p:nvSpPr>
        <p:spPr>
          <a:xfrm>
            <a:off x="347472" y="6556248"/>
            <a:ext cx="11494008" cy="219456"/>
          </a:xfrm>
          <a:prstGeom prst="rect">
            <a:avLst/>
          </a:prstGeom>
          <a:noFill/>
          <a:ln/>
        </p:spPr>
        <p:txBody>
          <a:bodyPr wrap="square" rtlCol="0" anchor="ctr"/>
          <a:lstStyle/>
          <a:p>
            <a:pPr indent="0" marL="0">
              <a:buNone/>
            </a:pPr>
            <a:r>
              <a:rPr lang="en-US" sz="780" dirty="0">
                <a:solidFill>
                  <a:srgbClr val="64748B"/>
                </a:solidFill>
                <a:latin typeface="Roboto" pitchFamily="34" charset="0"/>
                <a:ea typeface="Roboto" pitchFamily="34" charset="-122"/>
                <a:cs typeface="Roboto" pitchFamily="34" charset="-120"/>
              </a:rPr>
              <a:t>Multi-Tenant Agentic AI on Google Cloud  •  Blog 1 Executive Edition  •  Verified on GCP (#248990048888, #48439189383) &amp; AWS (#393036065405)</a:t>
            </a:r>
            <a:endParaRPr lang="en-US" sz="780" dirty="0"/>
          </a:p>
        </p:txBody>
      </p:sp>
      <p:sp>
        <p:nvSpPr>
          <p:cNvPr id="11" name="Shape 9"/>
          <p:cNvSpPr/>
          <p:nvPr/>
        </p:nvSpPr>
        <p:spPr>
          <a:xfrm>
            <a:off x="347472" y="566928"/>
            <a:ext cx="3154680" cy="5779008"/>
          </a:xfrm>
          <a:prstGeom prst="roundRect">
            <a:avLst>
              <a:gd name="adj" fmla="val 2899"/>
            </a:avLst>
          </a:prstGeom>
          <a:solidFill>
            <a:srgbClr val="FFFFFF"/>
          </a:solidFill>
          <a:ln w="12700">
            <a:solidFill>
              <a:srgbClr val="E2E8F0"/>
            </a:solidFill>
            <a:prstDash val="solid"/>
          </a:ln>
        </p:spPr>
      </p:sp>
      <p:sp>
        <p:nvSpPr>
          <p:cNvPr id="12" name="Shape 10"/>
          <p:cNvSpPr/>
          <p:nvPr/>
        </p:nvSpPr>
        <p:spPr>
          <a:xfrm>
            <a:off x="530352" y="768096"/>
            <a:ext cx="1691640" cy="256032"/>
          </a:xfrm>
          <a:prstGeom prst="roundRect">
            <a:avLst>
              <a:gd name="adj" fmla="val 28571"/>
            </a:avLst>
          </a:prstGeom>
          <a:solidFill>
            <a:srgbClr val="E6F4EA"/>
          </a:solidFill>
          <a:ln/>
        </p:spPr>
      </p:sp>
      <p:sp>
        <p:nvSpPr>
          <p:cNvPr id="13" name="Text 11"/>
          <p:cNvSpPr/>
          <p:nvPr/>
        </p:nvSpPr>
        <p:spPr>
          <a:xfrm>
            <a:off x="530352" y="768096"/>
            <a:ext cx="1691640" cy="256032"/>
          </a:xfrm>
          <a:prstGeom prst="rect">
            <a:avLst/>
          </a:prstGeom>
          <a:noFill/>
          <a:ln/>
        </p:spPr>
        <p:txBody>
          <a:bodyPr wrap="square" rtlCol="0" anchor="ctr"/>
          <a:lstStyle/>
          <a:p>
            <a:pPr algn="ctr" indent="0" marL="0">
              <a:buNone/>
            </a:pPr>
            <a:r>
              <a:rPr lang="en-US" sz="800" b="1" dirty="0">
                <a:solidFill>
                  <a:srgbClr val="1E8E3E"/>
                </a:solidFill>
                <a:latin typeface="Google Sans" pitchFamily="34" charset="0"/>
                <a:ea typeface="Google Sans" pitchFamily="34" charset="-122"/>
                <a:cs typeface="Google Sans" pitchFamily="34" charset="-120"/>
              </a:rPr>
              <a:t>DUAL-PLANE PROOF</a:t>
            </a:r>
            <a:endParaRPr lang="en-US" sz="800" dirty="0"/>
          </a:p>
        </p:txBody>
      </p:sp>
      <p:sp>
        <p:nvSpPr>
          <p:cNvPr id="14" name="Text 12"/>
          <p:cNvSpPr/>
          <p:nvPr/>
        </p:nvSpPr>
        <p:spPr>
          <a:xfrm>
            <a:off x="530352" y="1133856"/>
            <a:ext cx="2788920" cy="1325880"/>
          </a:xfrm>
          <a:prstGeom prst="rect">
            <a:avLst/>
          </a:prstGeom>
          <a:noFill/>
          <a:ln/>
        </p:spPr>
        <p:txBody>
          <a:bodyPr wrap="square" rtlCol="0" anchor="t"/>
          <a:lstStyle/>
          <a:p>
            <a:pPr indent="0" marL="0">
              <a:buNone/>
            </a:pPr>
            <a:r>
              <a:rPr lang="en-US" sz="1750" b="1" dirty="0">
                <a:solidFill>
                  <a:srgbClr val="0F172A"/>
                </a:solidFill>
                <a:latin typeface="Google Sans Display" pitchFamily="34" charset="0"/>
                <a:ea typeface="Google Sans Display" pitchFamily="34" charset="-122"/>
                <a:cs typeface="Google Sans Display" pitchFamily="34" charset="-120"/>
              </a:rPr>
              <a:t>Verified on Live Multi-Cloud Infrastructure</a:t>
            </a:r>
            <a:endParaRPr lang="en-US" sz="1750" dirty="0"/>
          </a:p>
        </p:txBody>
      </p:sp>
      <p:sp>
        <p:nvSpPr>
          <p:cNvPr id="15" name="Text 13"/>
          <p:cNvSpPr/>
          <p:nvPr/>
        </p:nvSpPr>
        <p:spPr>
          <a:xfrm>
            <a:off x="530352" y="2542032"/>
            <a:ext cx="2788920" cy="2148840"/>
          </a:xfrm>
          <a:prstGeom prst="rect">
            <a:avLst/>
          </a:prstGeom>
          <a:noFill/>
          <a:ln/>
        </p:spPr>
        <p:txBody>
          <a:bodyPr wrap="square" rtlCol="0" anchor="t"/>
          <a:lstStyle/>
          <a:p>
            <a:pPr indent="0" marL="0">
              <a:buNone/>
            </a:pPr>
            <a:r>
              <a:rPr lang="en-US" sz="1000" dirty="0">
                <a:solidFill>
                  <a:srgbClr val="334155"/>
                </a:solidFill>
                <a:latin typeface="Roboto" pitchFamily="34" charset="0"/>
                <a:ea typeface="Roboto" pitchFamily="34" charset="-122"/>
                <a:cs typeface="Roboto" pitchFamily="34" charset="-120"/>
              </a:rPr>
              <a:t>Every architectural claim is backed by automated runtime execution across two live GCP projects and AWS Bedrock AgentCore MCP.</a:t>
            </a:r>
            <a:endParaRPr lang="en-US" sz="1000" dirty="0"/>
          </a:p>
          <a:p>
            <a:pPr indent="0" marL="0">
              <a:buNone/>
            </a:pP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 GCP Projects: ramp-portal-dev (#248990048888) &amp; bbar-138hf0 (#48439189383)</a:t>
            </a: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 AWS Account: #393036065405</a:t>
            </a:r>
            <a:endParaRPr lang="en-US" sz="1000" dirty="0"/>
          </a:p>
        </p:txBody>
      </p:sp>
      <p:sp>
        <p:nvSpPr>
          <p:cNvPr id="16" name="Shape 14"/>
          <p:cNvSpPr/>
          <p:nvPr/>
        </p:nvSpPr>
        <p:spPr>
          <a:xfrm>
            <a:off x="530352" y="4846320"/>
            <a:ext cx="2788920" cy="1298448"/>
          </a:xfrm>
          <a:prstGeom prst="roundRect">
            <a:avLst>
              <a:gd name="adj" fmla="val 5634"/>
            </a:avLst>
          </a:prstGeom>
          <a:solidFill>
            <a:srgbClr val="E6F4EA"/>
          </a:solidFill>
          <a:ln w="12700">
            <a:solidFill>
              <a:srgbClr val="1E8E3E"/>
            </a:solidFill>
            <a:prstDash val="solid"/>
          </a:ln>
        </p:spPr>
      </p:sp>
      <p:sp>
        <p:nvSpPr>
          <p:cNvPr id="17" name="Text 15"/>
          <p:cNvSpPr/>
          <p:nvPr/>
        </p:nvSpPr>
        <p:spPr>
          <a:xfrm>
            <a:off x="658368" y="4956048"/>
            <a:ext cx="2532888" cy="566928"/>
          </a:xfrm>
          <a:prstGeom prst="rect">
            <a:avLst/>
          </a:prstGeom>
          <a:noFill/>
          <a:ln/>
        </p:spPr>
        <p:txBody>
          <a:bodyPr wrap="square" rtlCol="0" anchor="ctr"/>
          <a:lstStyle/>
          <a:p>
            <a:pPr indent="0" marL="0">
              <a:buNone/>
            </a:pPr>
            <a:r>
              <a:rPr lang="en-US" sz="2800" b="1" dirty="0">
                <a:solidFill>
                  <a:srgbClr val="1E8E3E"/>
                </a:solidFill>
                <a:latin typeface="Google Sans Display" pitchFamily="34" charset="0"/>
                <a:ea typeface="Google Sans Display" pitchFamily="34" charset="-122"/>
                <a:cs typeface="Google Sans Display" pitchFamily="34" charset="-120"/>
              </a:rPr>
              <a:t>107 / 107</a:t>
            </a:r>
            <a:endParaRPr lang="en-US" sz="2800" dirty="0"/>
          </a:p>
        </p:txBody>
      </p:sp>
      <p:sp>
        <p:nvSpPr>
          <p:cNvPr id="18" name="Text 16"/>
          <p:cNvSpPr/>
          <p:nvPr/>
        </p:nvSpPr>
        <p:spPr>
          <a:xfrm>
            <a:off x="658368" y="5559552"/>
            <a:ext cx="2532888" cy="475488"/>
          </a:xfrm>
          <a:prstGeom prst="rect">
            <a:avLst/>
          </a:prstGeom>
          <a:noFill/>
          <a:ln/>
        </p:spPr>
        <p:txBody>
          <a:bodyPr wrap="square" rtlCol="0" anchor="ctr"/>
          <a:lstStyle/>
          <a:p>
            <a:pPr indent="0" marL="0">
              <a:buNone/>
            </a:pPr>
            <a:r>
              <a:rPr lang="en-US" sz="880" b="1" dirty="0">
                <a:solidFill>
                  <a:srgbClr val="0F172A"/>
                </a:solidFill>
                <a:latin typeface="Roboto" pitchFamily="34" charset="0"/>
                <a:ea typeface="Roboto" pitchFamily="34" charset="-122"/>
                <a:cs typeface="Roboto" pitchFamily="34" charset="-120"/>
              </a:rPr>
              <a:t>Automated Security &amp; SaaS Assertions PASS</a:t>
            </a:r>
            <a:endParaRPr lang="en-US" sz="880" dirty="0"/>
          </a:p>
        </p:txBody>
      </p:sp>
      <p:sp>
        <p:nvSpPr>
          <p:cNvPr id="19" name="Shape 17"/>
          <p:cNvSpPr/>
          <p:nvPr/>
        </p:nvSpPr>
        <p:spPr>
          <a:xfrm>
            <a:off x="3703320" y="566928"/>
            <a:ext cx="3977640" cy="2816352"/>
          </a:xfrm>
          <a:prstGeom prst="roundRect">
            <a:avLst>
              <a:gd name="adj" fmla="val 3247"/>
            </a:avLst>
          </a:prstGeom>
          <a:solidFill>
            <a:srgbClr val="FFFFFF"/>
          </a:solidFill>
          <a:ln w="15875">
            <a:solidFill>
              <a:srgbClr val="1A73E8"/>
            </a:solidFill>
            <a:prstDash val="solid"/>
          </a:ln>
        </p:spPr>
      </p:sp>
      <p:sp>
        <p:nvSpPr>
          <p:cNvPr id="20" name="Shape 18"/>
          <p:cNvSpPr/>
          <p:nvPr/>
        </p:nvSpPr>
        <p:spPr>
          <a:xfrm>
            <a:off x="3867912" y="731520"/>
            <a:ext cx="1417320" cy="566928"/>
          </a:xfrm>
          <a:prstGeom prst="roundRect">
            <a:avLst>
              <a:gd name="adj" fmla="val 12903"/>
            </a:avLst>
          </a:prstGeom>
          <a:solidFill>
            <a:srgbClr val="E8F0FE"/>
          </a:solidFill>
          <a:ln/>
        </p:spPr>
      </p:sp>
      <p:sp>
        <p:nvSpPr>
          <p:cNvPr id="21" name="Text 19"/>
          <p:cNvSpPr/>
          <p:nvPr/>
        </p:nvSpPr>
        <p:spPr>
          <a:xfrm>
            <a:off x="3867912" y="731520"/>
            <a:ext cx="1417320" cy="566928"/>
          </a:xfrm>
          <a:prstGeom prst="rect">
            <a:avLst/>
          </a:prstGeom>
          <a:noFill/>
          <a:ln/>
        </p:spPr>
        <p:txBody>
          <a:bodyPr wrap="square" rtlCol="0" anchor="ctr"/>
          <a:lstStyle/>
          <a:p>
            <a:pPr algn="ctr" indent="0" marL="0">
              <a:buNone/>
            </a:pPr>
            <a:r>
              <a:rPr lang="en-US" sz="2200" b="1" dirty="0">
                <a:solidFill>
                  <a:srgbClr val="1A73E8"/>
                </a:solidFill>
                <a:latin typeface="Google Sans Display" pitchFamily="34" charset="0"/>
                <a:ea typeface="Google Sans Display" pitchFamily="34" charset="-122"/>
                <a:cs typeface="Google Sans Display" pitchFamily="34" charset="-120"/>
              </a:rPr>
              <a:t>20 / 20</a:t>
            </a:r>
            <a:endParaRPr lang="en-US" sz="2200" dirty="0"/>
          </a:p>
        </p:txBody>
      </p:sp>
      <p:sp>
        <p:nvSpPr>
          <p:cNvPr id="22" name="Text 20"/>
          <p:cNvSpPr/>
          <p:nvPr/>
        </p:nvSpPr>
        <p:spPr>
          <a:xfrm>
            <a:off x="5385816" y="768096"/>
            <a:ext cx="2148840" cy="512064"/>
          </a:xfrm>
          <a:prstGeom prst="rect">
            <a:avLst/>
          </a:prstGeom>
          <a:noFill/>
          <a:ln/>
        </p:spPr>
        <p:txBody>
          <a:bodyPr wrap="square" rtlCol="0" anchor="ctr"/>
          <a:lstStyle/>
          <a:p>
            <a:pPr indent="0" marL="0">
              <a:buNone/>
            </a:pPr>
            <a:r>
              <a:rPr lang="en-US" sz="1100" b="1" dirty="0">
                <a:solidFill>
                  <a:srgbClr val="0F172A"/>
                </a:solidFill>
                <a:latin typeface="Google Sans" pitchFamily="34" charset="0"/>
                <a:ea typeface="Google Sans" pitchFamily="34" charset="-122"/>
                <a:cs typeface="Google Sans" pitchFamily="34" charset="-120"/>
              </a:rPr>
              <a:t>Intra-Cloud GCP Runtime Suites</a:t>
            </a:r>
            <a:endParaRPr lang="en-US" sz="1100" dirty="0"/>
          </a:p>
        </p:txBody>
      </p:sp>
      <p:sp>
        <p:nvSpPr>
          <p:cNvPr id="23" name="Text 21"/>
          <p:cNvSpPr/>
          <p:nvPr/>
        </p:nvSpPr>
        <p:spPr>
          <a:xfrm>
            <a:off x="3867912" y="1444752"/>
            <a:ext cx="3648456" cy="1792224"/>
          </a:xfrm>
          <a:prstGeom prst="rect">
            <a:avLst/>
          </a:prstGeom>
          <a:noFill/>
          <a:ln/>
        </p:spPr>
        <p:txBody>
          <a:bodyPr wrap="square" rtlCol="0" anchor="t"/>
          <a:lstStyle/>
          <a:p>
            <a:pPr indent="0" marL="0">
              <a:buNone/>
            </a:pPr>
            <a:r>
              <a:rPr lang="en-US" sz="880" dirty="0">
                <a:solidFill>
                  <a:srgbClr val="334155"/>
                </a:solidFill>
                <a:latin typeface="Roboto" pitchFamily="34" charset="0"/>
                <a:ea typeface="Roboto" pitchFamily="34" charset="-122"/>
                <a:cs typeface="Roboto" pitchFamily="34" charset="-120"/>
              </a:rPr>
              <a:t>• Cloud Run Gen2 (gVisor runsc, 100% traffic)</a:t>
            </a:r>
            <a:endParaRPr lang="en-US" sz="880" dirty="0"/>
          </a:p>
          <a:p>
            <a:pPr indent="0" marL="0">
              <a:buNone/>
            </a:pPr>
            <a:endParaRPr lang="en-US" sz="880" dirty="0"/>
          </a:p>
          <a:p>
            <a:pPr indent="0" marL="0">
              <a:buNone/>
            </a:pPr>
            <a:r>
              <a:rPr lang="en-US" sz="880" dirty="0">
                <a:solidFill>
                  <a:srgbClr val="334155"/>
                </a:solidFill>
                <a:latin typeface="Roboto" pitchFamily="34" charset="0"/>
                <a:ea typeface="Roboto" pitchFamily="34" charset="-122"/>
                <a:cs typeface="Roboto" pitchFamily="34" charset="-120"/>
              </a:rPr>
              <a:t>• Spoofed X-Tenant-Id -&gt; HTTP 403; Valid DPoP -&gt; HTTP 200</a:t>
            </a:r>
            <a:endParaRPr lang="en-US" sz="880" dirty="0"/>
          </a:p>
          <a:p>
            <a:pPr indent="0" marL="0">
              <a:buNone/>
            </a:pPr>
            <a:endParaRPr lang="en-US" sz="880" dirty="0"/>
          </a:p>
          <a:p>
            <a:pPr indent="0" marL="0">
              <a:buNone/>
            </a:pPr>
            <a:r>
              <a:rPr lang="en-US" sz="880" dirty="0">
                <a:solidFill>
                  <a:srgbClr val="334155"/>
                </a:solidFill>
                <a:latin typeface="Roboto" pitchFamily="34" charset="0"/>
                <a:ea typeface="Roboto" pitchFamily="34" charset="-122"/>
                <a:cs typeface="Roboto" pitchFamily="34" charset="-120"/>
              </a:rPr>
              <a:t>• AlloyDB FORCE RLS -&gt; 0 foreign rows returned across all queries</a:t>
            </a:r>
            <a:endParaRPr lang="en-US" sz="880" dirty="0"/>
          </a:p>
        </p:txBody>
      </p:sp>
      <p:sp>
        <p:nvSpPr>
          <p:cNvPr id="24" name="Shape 22"/>
          <p:cNvSpPr/>
          <p:nvPr/>
        </p:nvSpPr>
        <p:spPr>
          <a:xfrm>
            <a:off x="7863840" y="566928"/>
            <a:ext cx="3977640" cy="2816352"/>
          </a:xfrm>
          <a:prstGeom prst="roundRect">
            <a:avLst>
              <a:gd name="adj" fmla="val 3247"/>
            </a:avLst>
          </a:prstGeom>
          <a:solidFill>
            <a:srgbClr val="FFFFFF"/>
          </a:solidFill>
          <a:ln w="15875">
            <a:solidFill>
              <a:srgbClr val="1E8E3E"/>
            </a:solidFill>
            <a:prstDash val="solid"/>
          </a:ln>
        </p:spPr>
      </p:sp>
      <p:sp>
        <p:nvSpPr>
          <p:cNvPr id="25" name="Shape 23"/>
          <p:cNvSpPr/>
          <p:nvPr/>
        </p:nvSpPr>
        <p:spPr>
          <a:xfrm>
            <a:off x="8028432" y="731520"/>
            <a:ext cx="1417320" cy="566928"/>
          </a:xfrm>
          <a:prstGeom prst="roundRect">
            <a:avLst>
              <a:gd name="adj" fmla="val 12903"/>
            </a:avLst>
          </a:prstGeom>
          <a:solidFill>
            <a:srgbClr val="E6F4EA"/>
          </a:solidFill>
          <a:ln/>
        </p:spPr>
      </p:sp>
      <p:sp>
        <p:nvSpPr>
          <p:cNvPr id="26" name="Text 24"/>
          <p:cNvSpPr/>
          <p:nvPr/>
        </p:nvSpPr>
        <p:spPr>
          <a:xfrm>
            <a:off x="8028432" y="731520"/>
            <a:ext cx="1417320" cy="566928"/>
          </a:xfrm>
          <a:prstGeom prst="rect">
            <a:avLst/>
          </a:prstGeom>
          <a:noFill/>
          <a:ln/>
        </p:spPr>
        <p:txBody>
          <a:bodyPr wrap="square" rtlCol="0" anchor="ctr"/>
          <a:lstStyle/>
          <a:p>
            <a:pPr algn="ctr" indent="0" marL="0">
              <a:buNone/>
            </a:pPr>
            <a:r>
              <a:rPr lang="en-US" sz="2200" b="1" dirty="0">
                <a:solidFill>
                  <a:srgbClr val="1E8E3E"/>
                </a:solidFill>
                <a:latin typeface="Google Sans Display" pitchFamily="34" charset="0"/>
                <a:ea typeface="Google Sans Display" pitchFamily="34" charset="-122"/>
                <a:cs typeface="Google Sans Display" pitchFamily="34" charset="-120"/>
              </a:rPr>
              <a:t>30 / 30</a:t>
            </a:r>
            <a:endParaRPr lang="en-US" sz="2200" dirty="0"/>
          </a:p>
        </p:txBody>
      </p:sp>
      <p:sp>
        <p:nvSpPr>
          <p:cNvPr id="27" name="Text 25"/>
          <p:cNvSpPr/>
          <p:nvPr/>
        </p:nvSpPr>
        <p:spPr>
          <a:xfrm>
            <a:off x="9546336" y="768096"/>
            <a:ext cx="2148840" cy="512064"/>
          </a:xfrm>
          <a:prstGeom prst="rect">
            <a:avLst/>
          </a:prstGeom>
          <a:noFill/>
          <a:ln/>
        </p:spPr>
        <p:txBody>
          <a:bodyPr wrap="square" rtlCol="0" anchor="ctr"/>
          <a:lstStyle/>
          <a:p>
            <a:pPr indent="0" marL="0">
              <a:buNone/>
            </a:pPr>
            <a:r>
              <a:rPr lang="en-US" sz="1100" b="1" dirty="0">
                <a:solidFill>
                  <a:srgbClr val="0F172A"/>
                </a:solidFill>
                <a:latin typeface="Google Sans" pitchFamily="34" charset="0"/>
                <a:ea typeface="Google Sans" pitchFamily="34" charset="-122"/>
                <a:cs typeface="Google Sans" pitchFamily="34" charset="-120"/>
              </a:rPr>
              <a:t>Inter-Cloud 10-SaaS AWS AgentCore MCP</a:t>
            </a:r>
            <a:endParaRPr lang="en-US" sz="1100" dirty="0"/>
          </a:p>
        </p:txBody>
      </p:sp>
      <p:sp>
        <p:nvSpPr>
          <p:cNvPr id="28" name="Text 26"/>
          <p:cNvSpPr/>
          <p:nvPr/>
        </p:nvSpPr>
        <p:spPr>
          <a:xfrm>
            <a:off x="8028432" y="1444752"/>
            <a:ext cx="3648456" cy="1792224"/>
          </a:xfrm>
          <a:prstGeom prst="rect">
            <a:avLst/>
          </a:prstGeom>
          <a:noFill/>
          <a:ln/>
        </p:spPr>
        <p:txBody>
          <a:bodyPr wrap="square" rtlCol="0" anchor="t"/>
          <a:lstStyle/>
          <a:p>
            <a:pPr indent="0" marL="0">
              <a:buNone/>
            </a:pPr>
            <a:r>
              <a:rPr lang="en-US" sz="880" dirty="0">
                <a:solidFill>
                  <a:srgbClr val="334155"/>
                </a:solidFill>
                <a:latin typeface="Roboto" pitchFamily="34" charset="0"/>
                <a:ea typeface="Roboto" pitchFamily="34" charset="-122"/>
                <a:cs typeface="Roboto" pitchFamily="34" charset="-120"/>
              </a:rPr>
              <a:t>• 10/10 SaaS targets READY on AgentCore Gateway (60/60 assertions)</a:t>
            </a:r>
            <a:endParaRPr lang="en-US" sz="880" dirty="0"/>
          </a:p>
          <a:p>
            <a:pPr indent="0" marL="0">
              <a:buNone/>
            </a:pPr>
            <a:endParaRPr lang="en-US" sz="880" dirty="0"/>
          </a:p>
          <a:p>
            <a:pPr indent="0" marL="0">
              <a:buNone/>
            </a:pPr>
            <a:r>
              <a:rPr lang="en-US" sz="880" dirty="0">
                <a:solidFill>
                  <a:srgbClr val="334155"/>
                </a:solidFill>
                <a:latin typeface="Roboto" pitchFamily="34" charset="0"/>
                <a:ea typeface="Roboto" pitchFamily="34" charset="-122"/>
                <a:cs typeface="Roboto" pitchFamily="34" charset="-120"/>
              </a:rPr>
              <a:t>• ThoughtSpot, Sigma, ServiceNow, Salesforce, Databricks, Snowflake, etc.</a:t>
            </a:r>
            <a:endParaRPr lang="en-US" sz="880" dirty="0"/>
          </a:p>
          <a:p>
            <a:pPr indent="0" marL="0">
              <a:buNone/>
            </a:pPr>
            <a:endParaRPr lang="en-US" sz="880" dirty="0"/>
          </a:p>
          <a:p>
            <a:pPr indent="0" marL="0">
              <a:buNone/>
            </a:pPr>
            <a:r>
              <a:rPr lang="en-US" sz="880" dirty="0">
                <a:solidFill>
                  <a:srgbClr val="334155"/>
                </a:solidFill>
                <a:latin typeface="Roboto" pitchFamily="34" charset="0"/>
                <a:ea typeface="Roboto" pitchFamily="34" charset="-122"/>
                <a:cs typeface="Roboto" pitchFamily="34" charset="-120"/>
              </a:rPr>
              <a:t>• Immutable ledger: s3://cymbal-aws-federation-393036065405-us-east-1</a:t>
            </a:r>
            <a:endParaRPr lang="en-US" sz="880" dirty="0"/>
          </a:p>
        </p:txBody>
      </p:sp>
      <p:sp>
        <p:nvSpPr>
          <p:cNvPr id="29" name="Shape 27"/>
          <p:cNvSpPr/>
          <p:nvPr/>
        </p:nvSpPr>
        <p:spPr>
          <a:xfrm>
            <a:off x="3703320" y="3520440"/>
            <a:ext cx="3977640" cy="2816352"/>
          </a:xfrm>
          <a:prstGeom prst="roundRect">
            <a:avLst>
              <a:gd name="adj" fmla="val 3247"/>
            </a:avLst>
          </a:prstGeom>
          <a:solidFill>
            <a:srgbClr val="FFFFFF"/>
          </a:solidFill>
          <a:ln w="15875">
            <a:solidFill>
              <a:srgbClr val="B06000"/>
            </a:solidFill>
            <a:prstDash val="solid"/>
          </a:ln>
        </p:spPr>
      </p:sp>
      <p:sp>
        <p:nvSpPr>
          <p:cNvPr id="30" name="Shape 28"/>
          <p:cNvSpPr/>
          <p:nvPr/>
        </p:nvSpPr>
        <p:spPr>
          <a:xfrm>
            <a:off x="3867912" y="3685032"/>
            <a:ext cx="1417320" cy="566928"/>
          </a:xfrm>
          <a:prstGeom prst="roundRect">
            <a:avLst>
              <a:gd name="adj" fmla="val 12903"/>
            </a:avLst>
          </a:prstGeom>
          <a:solidFill>
            <a:srgbClr val="FEF7E0"/>
          </a:solidFill>
          <a:ln/>
        </p:spPr>
      </p:sp>
      <p:sp>
        <p:nvSpPr>
          <p:cNvPr id="31" name="Text 29"/>
          <p:cNvSpPr/>
          <p:nvPr/>
        </p:nvSpPr>
        <p:spPr>
          <a:xfrm>
            <a:off x="3867912" y="3685032"/>
            <a:ext cx="1417320" cy="566928"/>
          </a:xfrm>
          <a:prstGeom prst="rect">
            <a:avLst/>
          </a:prstGeom>
          <a:noFill/>
          <a:ln/>
        </p:spPr>
        <p:txBody>
          <a:bodyPr wrap="square" rtlCol="0" anchor="ctr"/>
          <a:lstStyle/>
          <a:p>
            <a:pPr algn="ctr" indent="0" marL="0">
              <a:buNone/>
            </a:pPr>
            <a:r>
              <a:rPr lang="en-US" sz="2200" b="1" dirty="0">
                <a:solidFill>
                  <a:srgbClr val="B06000"/>
                </a:solidFill>
                <a:latin typeface="Google Sans Display" pitchFamily="34" charset="0"/>
                <a:ea typeface="Google Sans Display" pitchFamily="34" charset="-122"/>
                <a:cs typeface="Google Sans Display" pitchFamily="34" charset="-120"/>
              </a:rPr>
              <a:t>13 / 13</a:t>
            </a:r>
            <a:endParaRPr lang="en-US" sz="2200" dirty="0"/>
          </a:p>
        </p:txBody>
      </p:sp>
      <p:sp>
        <p:nvSpPr>
          <p:cNvPr id="32" name="Text 30"/>
          <p:cNvSpPr/>
          <p:nvPr/>
        </p:nvSpPr>
        <p:spPr>
          <a:xfrm>
            <a:off x="5385816" y="3721608"/>
            <a:ext cx="2148840" cy="512064"/>
          </a:xfrm>
          <a:prstGeom prst="rect">
            <a:avLst/>
          </a:prstGeom>
          <a:noFill/>
          <a:ln/>
        </p:spPr>
        <p:txBody>
          <a:bodyPr wrap="square" rtlCol="0" anchor="ctr"/>
          <a:lstStyle/>
          <a:p>
            <a:pPr indent="0" marL="0">
              <a:buNone/>
            </a:pPr>
            <a:r>
              <a:rPr lang="en-US" sz="1100" b="1" dirty="0">
                <a:solidFill>
                  <a:srgbClr val="0F172A"/>
                </a:solidFill>
                <a:latin typeface="Google Sans" pitchFamily="34" charset="0"/>
                <a:ea typeface="Google Sans" pitchFamily="34" charset="-122"/>
                <a:cs typeface="Google Sans" pitchFamily="34" charset="-120"/>
              </a:rPr>
              <a:t>Deep Forensic Audit Gates (F-01..F-13)</a:t>
            </a:r>
            <a:endParaRPr lang="en-US" sz="1100" dirty="0"/>
          </a:p>
        </p:txBody>
      </p:sp>
      <p:sp>
        <p:nvSpPr>
          <p:cNvPr id="33" name="Text 31"/>
          <p:cNvSpPr/>
          <p:nvPr/>
        </p:nvSpPr>
        <p:spPr>
          <a:xfrm>
            <a:off x="3867912" y="4398264"/>
            <a:ext cx="3648456" cy="1792224"/>
          </a:xfrm>
          <a:prstGeom prst="rect">
            <a:avLst/>
          </a:prstGeom>
          <a:noFill/>
          <a:ln/>
        </p:spPr>
        <p:txBody>
          <a:bodyPr wrap="square" rtlCol="0" anchor="t"/>
          <a:lstStyle/>
          <a:p>
            <a:pPr indent="0" marL="0">
              <a:buNone/>
            </a:pPr>
            <a:r>
              <a:rPr lang="en-US" sz="880" dirty="0">
                <a:solidFill>
                  <a:srgbClr val="334155"/>
                </a:solidFill>
                <a:latin typeface="Roboto" pitchFamily="34" charset="0"/>
                <a:ea typeface="Roboto" pitchFamily="34" charset="-122"/>
                <a:cs typeface="Roboto" pitchFamily="34" charset="-120"/>
              </a:rPr>
              <a:t>• 1,268 markdown links verified (0 broken) + 3 Terraform modules</a:t>
            </a:r>
            <a:endParaRPr lang="en-US" sz="880" dirty="0"/>
          </a:p>
          <a:p>
            <a:pPr indent="0" marL="0">
              <a:buNone/>
            </a:pPr>
            <a:endParaRPr lang="en-US" sz="880" dirty="0"/>
          </a:p>
          <a:p>
            <a:pPr indent="0" marL="0">
              <a:buNone/>
            </a:pPr>
            <a:r>
              <a:rPr lang="en-US" sz="880" dirty="0">
                <a:solidFill>
                  <a:srgbClr val="334155"/>
                </a:solidFill>
                <a:latin typeface="Roboto" pitchFamily="34" charset="0"/>
                <a:ea typeface="Roboto" pitchFamily="34" charset="-122"/>
                <a:cs typeface="Roboto" pitchFamily="34" charset="-120"/>
              </a:rPr>
              <a:t>• 14 Official #78 Draw.io blueprints (56v/23e, 0 collisions)</a:t>
            </a:r>
            <a:endParaRPr lang="en-US" sz="880" dirty="0"/>
          </a:p>
          <a:p>
            <a:pPr indent="0" marL="0">
              <a:buNone/>
            </a:pPr>
            <a:endParaRPr lang="en-US" sz="880" dirty="0"/>
          </a:p>
          <a:p>
            <a:pPr indent="0" marL="0">
              <a:buNone/>
            </a:pPr>
            <a:r>
              <a:rPr lang="en-US" sz="880" dirty="0">
                <a:solidFill>
                  <a:srgbClr val="334155"/>
                </a:solidFill>
                <a:latin typeface="Roboto" pitchFamily="34" charset="0"/>
                <a:ea typeface="Roboto" pitchFamily="34" charset="-122"/>
                <a:cs typeface="Roboto" pitchFamily="34" charset="-120"/>
              </a:rPr>
              <a:t>• Script: python3 -B scripts/run_deep_forensic_audit.py</a:t>
            </a:r>
            <a:endParaRPr lang="en-US" sz="880" dirty="0"/>
          </a:p>
        </p:txBody>
      </p:sp>
      <p:sp>
        <p:nvSpPr>
          <p:cNvPr id="34" name="Shape 32"/>
          <p:cNvSpPr/>
          <p:nvPr/>
        </p:nvSpPr>
        <p:spPr>
          <a:xfrm>
            <a:off x="7863840" y="3520440"/>
            <a:ext cx="3977640" cy="2816352"/>
          </a:xfrm>
          <a:prstGeom prst="roundRect">
            <a:avLst>
              <a:gd name="adj" fmla="val 3247"/>
            </a:avLst>
          </a:prstGeom>
          <a:solidFill>
            <a:srgbClr val="FFFFFF"/>
          </a:solidFill>
          <a:ln w="15875">
            <a:solidFill>
              <a:srgbClr val="D93025"/>
            </a:solidFill>
            <a:prstDash val="solid"/>
          </a:ln>
        </p:spPr>
      </p:sp>
      <p:sp>
        <p:nvSpPr>
          <p:cNvPr id="35" name="Shape 33"/>
          <p:cNvSpPr/>
          <p:nvPr/>
        </p:nvSpPr>
        <p:spPr>
          <a:xfrm>
            <a:off x="8028432" y="3685032"/>
            <a:ext cx="1417320" cy="566928"/>
          </a:xfrm>
          <a:prstGeom prst="roundRect">
            <a:avLst>
              <a:gd name="adj" fmla="val 12903"/>
            </a:avLst>
          </a:prstGeom>
          <a:solidFill>
            <a:srgbClr val="FCE8E6"/>
          </a:solidFill>
          <a:ln/>
        </p:spPr>
      </p:sp>
      <p:sp>
        <p:nvSpPr>
          <p:cNvPr id="36" name="Text 34"/>
          <p:cNvSpPr/>
          <p:nvPr/>
        </p:nvSpPr>
        <p:spPr>
          <a:xfrm>
            <a:off x="8028432" y="3685032"/>
            <a:ext cx="1417320" cy="566928"/>
          </a:xfrm>
          <a:prstGeom prst="rect">
            <a:avLst/>
          </a:prstGeom>
          <a:noFill/>
          <a:ln/>
        </p:spPr>
        <p:txBody>
          <a:bodyPr wrap="square" rtlCol="0" anchor="ctr"/>
          <a:lstStyle/>
          <a:p>
            <a:pPr algn="ctr" indent="0" marL="0">
              <a:buNone/>
            </a:pPr>
            <a:r>
              <a:rPr lang="en-US" sz="2200" b="1" dirty="0">
                <a:solidFill>
                  <a:srgbClr val="D93025"/>
                </a:solidFill>
                <a:latin typeface="Google Sans Display" pitchFamily="34" charset="0"/>
                <a:ea typeface="Google Sans Display" pitchFamily="34" charset="-122"/>
                <a:cs typeface="Google Sans Display" pitchFamily="34" charset="-120"/>
              </a:rPr>
              <a:t>43 / 43</a:t>
            </a:r>
            <a:endParaRPr lang="en-US" sz="2200" dirty="0"/>
          </a:p>
        </p:txBody>
      </p:sp>
      <p:sp>
        <p:nvSpPr>
          <p:cNvPr id="37" name="Text 35"/>
          <p:cNvSpPr/>
          <p:nvPr/>
        </p:nvSpPr>
        <p:spPr>
          <a:xfrm>
            <a:off x="9546336" y="3721608"/>
            <a:ext cx="2148840" cy="512064"/>
          </a:xfrm>
          <a:prstGeom prst="rect">
            <a:avLst/>
          </a:prstGeom>
          <a:noFill/>
          <a:ln/>
        </p:spPr>
        <p:txBody>
          <a:bodyPr wrap="square" rtlCol="0" anchor="ctr"/>
          <a:lstStyle/>
          <a:p>
            <a:pPr indent="0" marL="0">
              <a:buNone/>
            </a:pPr>
            <a:r>
              <a:rPr lang="en-US" sz="1100" b="1" dirty="0">
                <a:solidFill>
                  <a:srgbClr val="0F172A"/>
                </a:solidFill>
                <a:latin typeface="Google Sans" pitchFamily="34" charset="0"/>
                <a:ea typeface="Google Sans" pitchFamily="34" charset="-122"/>
                <a:cs typeface="Google Sans" pitchFamily="34" charset="-120"/>
              </a:rPr>
              <a:t>Genuine 2880x1800 Retina UI Captures</a:t>
            </a:r>
            <a:endParaRPr lang="en-US" sz="1100" dirty="0"/>
          </a:p>
        </p:txBody>
      </p:sp>
      <p:sp>
        <p:nvSpPr>
          <p:cNvPr id="38" name="Text 36"/>
          <p:cNvSpPr/>
          <p:nvPr/>
        </p:nvSpPr>
        <p:spPr>
          <a:xfrm>
            <a:off x="8028432" y="4398264"/>
            <a:ext cx="3648456" cy="1792224"/>
          </a:xfrm>
          <a:prstGeom prst="rect">
            <a:avLst/>
          </a:prstGeom>
          <a:noFill/>
          <a:ln/>
        </p:spPr>
        <p:txBody>
          <a:bodyPr wrap="square" rtlCol="0" anchor="t"/>
          <a:lstStyle/>
          <a:p>
            <a:pPr indent="0" marL="0">
              <a:buNone/>
            </a:pPr>
            <a:r>
              <a:rPr lang="en-US" sz="880" dirty="0">
                <a:solidFill>
                  <a:srgbClr val="334155"/>
                </a:solidFill>
                <a:latin typeface="Roboto" pitchFamily="34" charset="0"/>
                <a:ea typeface="Roboto" pitchFamily="34" charset="-122"/>
                <a:cs typeface="Roboto" pitchFamily="34" charset="-120"/>
              </a:rPr>
              <a:t>• 23 Multi-Cloud Console UIs + 20 Before/After 3P SaaS UIs</a:t>
            </a:r>
            <a:endParaRPr lang="en-US" sz="880" dirty="0"/>
          </a:p>
          <a:p>
            <a:pPr indent="0" marL="0">
              <a:buNone/>
            </a:pPr>
            <a:endParaRPr lang="en-US" sz="880" dirty="0"/>
          </a:p>
          <a:p>
            <a:pPr indent="0" marL="0">
              <a:buNone/>
            </a:pPr>
            <a:r>
              <a:rPr lang="en-US" sz="880" dirty="0">
                <a:solidFill>
                  <a:srgbClr val="334155"/>
                </a:solidFill>
                <a:latin typeface="Roboto" pitchFamily="34" charset="0"/>
                <a:ea typeface="Roboto" pitchFamily="34" charset="-122"/>
                <a:cs typeface="Roboto" pitchFamily="34" charset="-120"/>
              </a:rPr>
              <a:t>• 100% SHA-256 verified in docs/genuine_3p_before_after_provenance_receipt.json</a:t>
            </a:r>
            <a:endParaRPr lang="en-US" sz="880" dirty="0"/>
          </a:p>
          <a:p>
            <a:pPr indent="0" marL="0">
              <a:buNone/>
            </a:pPr>
            <a:endParaRPr lang="en-US" sz="880" dirty="0"/>
          </a:p>
          <a:p>
            <a:pPr indent="0" marL="0">
              <a:buNone/>
            </a:pPr>
            <a:r>
              <a:rPr lang="en-US" sz="880" dirty="0">
                <a:solidFill>
                  <a:srgbClr val="334155"/>
                </a:solidFill>
                <a:latin typeface="Roboto" pitchFamily="34" charset="0"/>
                <a:ea typeface="Roboto" pitchFamily="34" charset="-122"/>
                <a:cs typeface="Roboto" pitchFamily="34" charset="-120"/>
              </a:rPr>
              <a:t>• Zero synthetic HTML cards or mocked screenshots</a:t>
            </a:r>
            <a:endParaRPr lang="en-US" sz="8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1723644"/>
          </a:xfrm>
          <a:prstGeom prst="rect">
            <a:avLst/>
          </a:prstGeom>
          <a:solidFill>
            <a:srgbClr val="1A73E8"/>
          </a:solidFill>
          <a:ln/>
        </p:spPr>
      </p:sp>
      <p:sp>
        <p:nvSpPr>
          <p:cNvPr id="3" name="Shape 1"/>
          <p:cNvSpPr/>
          <p:nvPr/>
        </p:nvSpPr>
        <p:spPr>
          <a:xfrm>
            <a:off x="0" y="1714500"/>
            <a:ext cx="73152" cy="1723644"/>
          </a:xfrm>
          <a:prstGeom prst="rect">
            <a:avLst/>
          </a:prstGeom>
          <a:solidFill>
            <a:srgbClr val="D93025"/>
          </a:solidFill>
          <a:ln/>
        </p:spPr>
      </p:sp>
      <p:sp>
        <p:nvSpPr>
          <p:cNvPr id="4" name="Shape 2"/>
          <p:cNvSpPr/>
          <p:nvPr/>
        </p:nvSpPr>
        <p:spPr>
          <a:xfrm>
            <a:off x="0" y="3429000"/>
            <a:ext cx="73152" cy="1723644"/>
          </a:xfrm>
          <a:prstGeom prst="rect">
            <a:avLst/>
          </a:prstGeom>
          <a:solidFill>
            <a:srgbClr val="F9AB00"/>
          </a:solidFill>
          <a:ln/>
        </p:spPr>
      </p:sp>
      <p:sp>
        <p:nvSpPr>
          <p:cNvPr id="5" name="Shape 3"/>
          <p:cNvSpPr/>
          <p:nvPr/>
        </p:nvSpPr>
        <p:spPr>
          <a:xfrm>
            <a:off x="0" y="5143500"/>
            <a:ext cx="73152" cy="1723644"/>
          </a:xfrm>
          <a:prstGeom prst="rect">
            <a:avLst/>
          </a:prstGeom>
          <a:solidFill>
            <a:srgbClr val="1E8E3E"/>
          </a:solidFill>
          <a:ln/>
        </p:spPr>
      </p:sp>
      <p:sp>
        <p:nvSpPr>
          <p:cNvPr id="6" name="Text 4"/>
          <p:cNvSpPr/>
          <p:nvPr/>
        </p:nvSpPr>
        <p:spPr>
          <a:xfrm>
            <a:off x="347472" y="201168"/>
            <a:ext cx="9875520" cy="237744"/>
          </a:xfrm>
          <a:prstGeom prst="rect">
            <a:avLst/>
          </a:prstGeom>
          <a:noFill/>
          <a:ln/>
        </p:spPr>
        <p:txBody>
          <a:bodyPr wrap="square" rtlCol="0" anchor="ctr"/>
          <a:lstStyle/>
          <a:p>
            <a:pPr indent="0" marL="0">
              <a:buNone/>
            </a:pPr>
            <a:r>
              <a:rPr lang="en-US" sz="850" b="1" dirty="0">
                <a:solidFill>
                  <a:srgbClr val="1A73E8"/>
                </a:solidFill>
                <a:latin typeface="Google Sans" pitchFamily="34" charset="0"/>
                <a:ea typeface="Google Sans" pitchFamily="34" charset="-122"/>
                <a:cs typeface="Google Sans" pitchFamily="34" charset="-120"/>
              </a:rPr>
              <a:t>GOOGLE CLOUD ARCHITECTURE CENTER  </a:t>
            </a:r>
            <a:pPr indent="0" marL="0">
              <a:buNone/>
            </a:pPr>
            <a:r>
              <a:rPr lang="en-US" sz="850" dirty="0">
                <a:solidFill>
                  <a:srgbClr val="64748B"/>
                </a:solidFill>
                <a:latin typeface="Google Sans" pitchFamily="34" charset="0"/>
                <a:ea typeface="Google Sans" pitchFamily="34" charset="-122"/>
                <a:cs typeface="Google Sans" pitchFamily="34" charset="-120"/>
              </a:rPr>
              <a:t>/  ACT III • VERIFICATION PROOF 2  /  Live 2880x1800 Retina Before -&gt; After 3P SaaS UI Isolation</a:t>
            </a:r>
            <a:endParaRPr lang="en-US" sz="850" dirty="0"/>
          </a:p>
        </p:txBody>
      </p:sp>
      <p:sp>
        <p:nvSpPr>
          <p:cNvPr id="7" name="Shape 5"/>
          <p:cNvSpPr/>
          <p:nvPr/>
        </p:nvSpPr>
        <p:spPr>
          <a:xfrm>
            <a:off x="10835640" y="182880"/>
            <a:ext cx="1005840" cy="256032"/>
          </a:xfrm>
          <a:prstGeom prst="roundRect">
            <a:avLst>
              <a:gd name="adj" fmla="val 50000"/>
            </a:avLst>
          </a:prstGeom>
          <a:solidFill>
            <a:srgbClr val="FFFFFF"/>
          </a:solidFill>
          <a:ln w="9525">
            <a:solidFill>
              <a:srgbClr val="E2E8F0"/>
            </a:solidFill>
            <a:prstDash val="solid"/>
          </a:ln>
        </p:spPr>
      </p:sp>
      <p:sp>
        <p:nvSpPr>
          <p:cNvPr id="8" name="Text 6"/>
          <p:cNvSpPr/>
          <p:nvPr/>
        </p:nvSpPr>
        <p:spPr>
          <a:xfrm>
            <a:off x="10835640" y="182880"/>
            <a:ext cx="1005840" cy="256032"/>
          </a:xfrm>
          <a:prstGeom prst="rect">
            <a:avLst/>
          </a:prstGeom>
          <a:noFill/>
          <a:ln/>
        </p:spPr>
        <p:txBody>
          <a:bodyPr wrap="square" rtlCol="0" anchor="ctr"/>
          <a:lstStyle/>
          <a:p>
            <a:pPr algn="ctr" indent="0" marL="0">
              <a:buNone/>
            </a:pPr>
            <a:r>
              <a:rPr lang="en-US" sz="850" b="1" dirty="0">
                <a:solidFill>
                  <a:srgbClr val="334155"/>
                </a:solidFill>
                <a:latin typeface="Google Sans" pitchFamily="34" charset="0"/>
                <a:ea typeface="Google Sans" pitchFamily="34" charset="-122"/>
                <a:cs typeface="Google Sans" pitchFamily="34" charset="-120"/>
              </a:rPr>
              <a:t>13 / 14</a:t>
            </a:r>
            <a:endParaRPr lang="en-US" sz="850" dirty="0"/>
          </a:p>
        </p:txBody>
      </p:sp>
      <p:sp>
        <p:nvSpPr>
          <p:cNvPr id="9" name="Shape 7"/>
          <p:cNvSpPr/>
          <p:nvPr/>
        </p:nvSpPr>
        <p:spPr>
          <a:xfrm>
            <a:off x="347472" y="6510528"/>
            <a:ext cx="11494008" cy="0"/>
          </a:xfrm>
          <a:prstGeom prst="line">
            <a:avLst/>
          </a:prstGeom>
          <a:noFill/>
          <a:ln w="9525">
            <a:solidFill>
              <a:srgbClr val="E2E8F0"/>
            </a:solidFill>
            <a:prstDash val="solid"/>
          </a:ln>
        </p:spPr>
      </p:sp>
      <p:sp>
        <p:nvSpPr>
          <p:cNvPr id="10" name="Text 8"/>
          <p:cNvSpPr/>
          <p:nvPr/>
        </p:nvSpPr>
        <p:spPr>
          <a:xfrm>
            <a:off x="347472" y="6556248"/>
            <a:ext cx="11494008" cy="219456"/>
          </a:xfrm>
          <a:prstGeom prst="rect">
            <a:avLst/>
          </a:prstGeom>
          <a:noFill/>
          <a:ln/>
        </p:spPr>
        <p:txBody>
          <a:bodyPr wrap="square" rtlCol="0" anchor="ctr"/>
          <a:lstStyle/>
          <a:p>
            <a:pPr indent="0" marL="0">
              <a:buNone/>
            </a:pPr>
            <a:r>
              <a:rPr lang="en-US" sz="780" dirty="0">
                <a:solidFill>
                  <a:srgbClr val="64748B"/>
                </a:solidFill>
                <a:latin typeface="Roboto" pitchFamily="34" charset="0"/>
                <a:ea typeface="Roboto" pitchFamily="34" charset="-122"/>
                <a:cs typeface="Roboto" pitchFamily="34" charset="-120"/>
              </a:rPr>
              <a:t>Multi-Tenant Agentic AI on Google Cloud  •  Blog 1 Executive Edition  •  Verified on GCP (#248990048888, #48439189383) &amp; AWS (#393036065405)</a:t>
            </a:r>
            <a:endParaRPr lang="en-US" sz="780" dirty="0"/>
          </a:p>
        </p:txBody>
      </p:sp>
      <p:sp>
        <p:nvSpPr>
          <p:cNvPr id="11" name="Shape 9"/>
          <p:cNvSpPr/>
          <p:nvPr/>
        </p:nvSpPr>
        <p:spPr>
          <a:xfrm>
            <a:off x="347472" y="566928"/>
            <a:ext cx="3154680" cy="5779008"/>
          </a:xfrm>
          <a:prstGeom prst="roundRect">
            <a:avLst>
              <a:gd name="adj" fmla="val 2899"/>
            </a:avLst>
          </a:prstGeom>
          <a:solidFill>
            <a:srgbClr val="FFFFFF"/>
          </a:solidFill>
          <a:ln w="12700">
            <a:solidFill>
              <a:srgbClr val="E2E8F0"/>
            </a:solidFill>
            <a:prstDash val="solid"/>
          </a:ln>
        </p:spPr>
      </p:sp>
      <p:sp>
        <p:nvSpPr>
          <p:cNvPr id="12" name="Shape 10"/>
          <p:cNvSpPr/>
          <p:nvPr/>
        </p:nvSpPr>
        <p:spPr>
          <a:xfrm>
            <a:off x="530352" y="768096"/>
            <a:ext cx="1691640" cy="256032"/>
          </a:xfrm>
          <a:prstGeom prst="roundRect">
            <a:avLst>
              <a:gd name="adj" fmla="val 28571"/>
            </a:avLst>
          </a:prstGeom>
          <a:solidFill>
            <a:srgbClr val="E6F4EA"/>
          </a:solidFill>
          <a:ln/>
        </p:spPr>
      </p:sp>
      <p:sp>
        <p:nvSpPr>
          <p:cNvPr id="13" name="Text 11"/>
          <p:cNvSpPr/>
          <p:nvPr/>
        </p:nvSpPr>
        <p:spPr>
          <a:xfrm>
            <a:off x="530352" y="768096"/>
            <a:ext cx="1691640" cy="256032"/>
          </a:xfrm>
          <a:prstGeom prst="rect">
            <a:avLst/>
          </a:prstGeom>
          <a:noFill/>
          <a:ln/>
        </p:spPr>
        <p:txBody>
          <a:bodyPr wrap="square" rtlCol="0" anchor="ctr"/>
          <a:lstStyle/>
          <a:p>
            <a:pPr algn="ctr" indent="0" marL="0">
              <a:buNone/>
            </a:pPr>
            <a:r>
              <a:rPr lang="en-US" sz="800" b="1" dirty="0">
                <a:solidFill>
                  <a:srgbClr val="1E8E3E"/>
                </a:solidFill>
                <a:latin typeface="Google Sans" pitchFamily="34" charset="0"/>
                <a:ea typeface="Google Sans" pitchFamily="34" charset="-122"/>
                <a:cs typeface="Google Sans" pitchFamily="34" charset="-120"/>
              </a:rPr>
              <a:t>VISUAL UI PROOF</a:t>
            </a:r>
            <a:endParaRPr lang="en-US" sz="800" dirty="0"/>
          </a:p>
        </p:txBody>
      </p:sp>
      <p:sp>
        <p:nvSpPr>
          <p:cNvPr id="14" name="Text 12"/>
          <p:cNvSpPr/>
          <p:nvPr/>
        </p:nvSpPr>
        <p:spPr>
          <a:xfrm>
            <a:off x="530352" y="1133856"/>
            <a:ext cx="2788920" cy="1325880"/>
          </a:xfrm>
          <a:prstGeom prst="rect">
            <a:avLst/>
          </a:prstGeom>
          <a:noFill/>
          <a:ln/>
        </p:spPr>
        <p:txBody>
          <a:bodyPr wrap="square" rtlCol="0" anchor="t"/>
          <a:lstStyle/>
          <a:p>
            <a:pPr indent="0" marL="0">
              <a:buNone/>
            </a:pPr>
            <a:r>
              <a:rPr lang="en-US" sz="1750" b="1" dirty="0">
                <a:solidFill>
                  <a:srgbClr val="0F172A"/>
                </a:solidFill>
                <a:latin typeface="Google Sans Display" pitchFamily="34" charset="0"/>
                <a:ea typeface="Google Sans Display" pitchFamily="34" charset="-122"/>
                <a:cs typeface="Google Sans Display" pitchFamily="34" charset="-120"/>
              </a:rPr>
              <a:t>Zero Cross-Tenant Leakage on Live BI &amp; SQL Surfaces</a:t>
            </a:r>
            <a:endParaRPr lang="en-US" sz="1750" dirty="0"/>
          </a:p>
        </p:txBody>
      </p:sp>
      <p:sp>
        <p:nvSpPr>
          <p:cNvPr id="15" name="Text 13"/>
          <p:cNvSpPr/>
          <p:nvPr/>
        </p:nvSpPr>
        <p:spPr>
          <a:xfrm>
            <a:off x="530352" y="2542032"/>
            <a:ext cx="2788920" cy="2148840"/>
          </a:xfrm>
          <a:prstGeom prst="rect">
            <a:avLst/>
          </a:prstGeom>
          <a:noFill/>
          <a:ln/>
        </p:spPr>
        <p:txBody>
          <a:bodyPr wrap="square" rtlCol="0" anchor="t"/>
          <a:lstStyle/>
          <a:p>
            <a:pPr indent="0" marL="0">
              <a:buNone/>
            </a:pPr>
            <a:r>
              <a:rPr lang="en-US" sz="1000" dirty="0">
                <a:solidFill>
                  <a:srgbClr val="334155"/>
                </a:solidFill>
                <a:latin typeface="Roboto" pitchFamily="34" charset="0"/>
                <a:ea typeface="Roboto" pitchFamily="34" charset="-122"/>
                <a:cs typeface="Roboto" pitchFamily="34" charset="-120"/>
              </a:rPr>
              <a:t>Authentic 2880x1800 Retina captures of live third-party enterprise tools before and after 5-Hop AlloyDB RLS enforcement:</a:t>
            </a:r>
            <a:endParaRPr lang="en-US" sz="1000" dirty="0"/>
          </a:p>
          <a:p>
            <a:pPr indent="0" marL="0">
              <a:buNone/>
            </a:pP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 Metabase BI v0.50.26: Unscoped multi-tenant view -&gt; FinVault-only rows</a:t>
            </a: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 Trino SQL v440: Cross-tenant catalog enumeration -&gt; Scoped execution</a:t>
            </a:r>
            <a:endParaRPr lang="en-US" sz="1000" dirty="0"/>
          </a:p>
        </p:txBody>
      </p:sp>
      <p:sp>
        <p:nvSpPr>
          <p:cNvPr id="16" name="Shape 14"/>
          <p:cNvSpPr/>
          <p:nvPr/>
        </p:nvSpPr>
        <p:spPr>
          <a:xfrm>
            <a:off x="530352" y="4846320"/>
            <a:ext cx="2788920" cy="1298448"/>
          </a:xfrm>
          <a:prstGeom prst="roundRect">
            <a:avLst>
              <a:gd name="adj" fmla="val 5634"/>
            </a:avLst>
          </a:prstGeom>
          <a:solidFill>
            <a:srgbClr val="E6F4EA"/>
          </a:solidFill>
          <a:ln w="12700">
            <a:solidFill>
              <a:srgbClr val="1E8E3E"/>
            </a:solidFill>
            <a:prstDash val="solid"/>
          </a:ln>
        </p:spPr>
      </p:sp>
      <p:sp>
        <p:nvSpPr>
          <p:cNvPr id="17" name="Text 15"/>
          <p:cNvSpPr/>
          <p:nvPr/>
        </p:nvSpPr>
        <p:spPr>
          <a:xfrm>
            <a:off x="658368" y="4956048"/>
            <a:ext cx="2532888" cy="566928"/>
          </a:xfrm>
          <a:prstGeom prst="rect">
            <a:avLst/>
          </a:prstGeom>
          <a:noFill/>
          <a:ln/>
        </p:spPr>
        <p:txBody>
          <a:bodyPr wrap="square" rtlCol="0" anchor="ctr"/>
          <a:lstStyle/>
          <a:p>
            <a:pPr indent="0" marL="0">
              <a:buNone/>
            </a:pPr>
            <a:r>
              <a:rPr lang="en-US" sz="2800" b="1" dirty="0">
                <a:solidFill>
                  <a:srgbClr val="1E8E3E"/>
                </a:solidFill>
                <a:latin typeface="Google Sans Display" pitchFamily="34" charset="0"/>
                <a:ea typeface="Google Sans Display" pitchFamily="34" charset="-122"/>
                <a:cs typeface="Google Sans Display" pitchFamily="34" charset="-120"/>
              </a:rPr>
              <a:t>0 Rows</a:t>
            </a:r>
            <a:endParaRPr lang="en-US" sz="2800" dirty="0"/>
          </a:p>
        </p:txBody>
      </p:sp>
      <p:sp>
        <p:nvSpPr>
          <p:cNvPr id="18" name="Text 16"/>
          <p:cNvSpPr/>
          <p:nvPr/>
        </p:nvSpPr>
        <p:spPr>
          <a:xfrm>
            <a:off x="658368" y="5559552"/>
            <a:ext cx="2532888" cy="475488"/>
          </a:xfrm>
          <a:prstGeom prst="rect">
            <a:avLst/>
          </a:prstGeom>
          <a:noFill/>
          <a:ln/>
        </p:spPr>
        <p:txBody>
          <a:bodyPr wrap="square" rtlCol="0" anchor="ctr"/>
          <a:lstStyle/>
          <a:p>
            <a:pPr indent="0" marL="0">
              <a:buNone/>
            </a:pPr>
            <a:r>
              <a:rPr lang="en-US" sz="880" b="1" dirty="0">
                <a:solidFill>
                  <a:srgbClr val="0F172A"/>
                </a:solidFill>
                <a:latin typeface="Roboto" pitchFamily="34" charset="0"/>
                <a:ea typeface="Roboto" pitchFamily="34" charset="-122"/>
                <a:cs typeface="Roboto" pitchFamily="34" charset="-120"/>
              </a:rPr>
              <a:t>Cross-Tenant Leakage Across 10 Enterprise 3P UIs</a:t>
            </a:r>
            <a:endParaRPr lang="en-US" sz="880" dirty="0"/>
          </a:p>
        </p:txBody>
      </p:sp>
      <p:sp>
        <p:nvSpPr>
          <p:cNvPr id="19" name="Shape 17"/>
          <p:cNvSpPr/>
          <p:nvPr/>
        </p:nvSpPr>
        <p:spPr>
          <a:xfrm>
            <a:off x="3703320" y="566928"/>
            <a:ext cx="3977640" cy="5779008"/>
          </a:xfrm>
          <a:prstGeom prst="roundRect">
            <a:avLst>
              <a:gd name="adj" fmla="val 2299"/>
            </a:avLst>
          </a:prstGeom>
          <a:solidFill>
            <a:srgbClr val="FFFFFF"/>
          </a:solidFill>
          <a:ln w="12700">
            <a:solidFill>
              <a:srgbClr val="E2E8F0"/>
            </a:solidFill>
            <a:prstDash val="solid"/>
          </a:ln>
        </p:spPr>
      </p:sp>
      <p:sp>
        <p:nvSpPr>
          <p:cNvPr id="20" name="Text 18"/>
          <p:cNvSpPr/>
          <p:nvPr/>
        </p:nvSpPr>
        <p:spPr>
          <a:xfrm>
            <a:off x="3849624" y="658368"/>
            <a:ext cx="3685032" cy="274320"/>
          </a:xfrm>
          <a:prstGeom prst="rect">
            <a:avLst/>
          </a:prstGeom>
          <a:noFill/>
          <a:ln/>
        </p:spPr>
        <p:txBody>
          <a:bodyPr wrap="square" rtlCol="0" anchor="ctr"/>
          <a:lstStyle/>
          <a:p>
            <a:pPr indent="0" marL="0">
              <a:buNone/>
            </a:pPr>
            <a:r>
              <a:rPr lang="en-US" sz="1100" b="1" dirty="0">
                <a:solidFill>
                  <a:srgbClr val="1A73E8"/>
                </a:solidFill>
                <a:latin typeface="Google Sans" pitchFamily="34" charset="0"/>
                <a:ea typeface="Google Sans" pitchFamily="34" charset="-122"/>
                <a:cs typeface="Google Sans" pitchFamily="34" charset="-120"/>
              </a:rPr>
              <a:t>Metabase Enterprise BI v0.50.26</a:t>
            </a:r>
            <a:endParaRPr lang="en-US" sz="1100" dirty="0"/>
          </a:p>
        </p:txBody>
      </p:sp>
      <p:sp>
        <p:nvSpPr>
          <p:cNvPr id="21" name="Shape 19"/>
          <p:cNvSpPr/>
          <p:nvPr/>
        </p:nvSpPr>
        <p:spPr>
          <a:xfrm>
            <a:off x="3849624" y="987552"/>
            <a:ext cx="3685032" cy="256032"/>
          </a:xfrm>
          <a:prstGeom prst="rect">
            <a:avLst/>
          </a:prstGeom>
          <a:solidFill>
            <a:srgbClr val="FCE8E6"/>
          </a:solidFill>
          <a:ln/>
        </p:spPr>
      </p:sp>
      <p:sp>
        <p:nvSpPr>
          <p:cNvPr id="22" name="Text 20"/>
          <p:cNvSpPr/>
          <p:nvPr/>
        </p:nvSpPr>
        <p:spPr>
          <a:xfrm>
            <a:off x="3904488" y="987552"/>
            <a:ext cx="3575304" cy="256032"/>
          </a:xfrm>
          <a:prstGeom prst="rect">
            <a:avLst/>
          </a:prstGeom>
          <a:noFill/>
          <a:ln/>
        </p:spPr>
        <p:txBody>
          <a:bodyPr wrap="square" rtlCol="0" anchor="ctr"/>
          <a:lstStyle/>
          <a:p>
            <a:pPr indent="0" marL="0">
              <a:buNone/>
            </a:pPr>
            <a:r>
              <a:rPr lang="en-US" sz="760" b="1" dirty="0">
                <a:solidFill>
                  <a:srgbClr val="D93025"/>
                </a:solidFill>
                <a:latin typeface="Roboto" pitchFamily="34" charset="0"/>
                <a:ea typeface="Roboto" pitchFamily="34" charset="-122"/>
                <a:cs typeface="Roboto" pitchFamily="34" charset="-120"/>
              </a:rPr>
              <a:t>BEFORE: Unscoped Multi-Tenant Query (All Tenants Exposed)</a:t>
            </a:r>
            <a:endParaRPr lang="en-US" sz="760" dirty="0"/>
          </a:p>
        </p:txBody>
      </p:sp>
      <p:pic>
        <p:nvPicPr>
          <p:cNvPr id="23" name="Image 0" descr="/usr/local/google/home/nitinagga/Documents/blogs/screenshots/genuine-multicloud-3p-uis/before-after/before_01_metabase_bi.png">    </p:cNvPr>
          <p:cNvPicPr>
            <a:picLocks noChangeAspect="1"/>
          </p:cNvPicPr>
          <p:nvPr/>
        </p:nvPicPr>
        <p:blipFill>
          <a:blip r:embed="rId1"/>
          <a:stretch>
            <a:fillRect/>
          </a:stretch>
        </p:blipFill>
        <p:spPr>
          <a:xfrm>
            <a:off x="3849624" y="1261872"/>
            <a:ext cx="3685032" cy="2212848"/>
          </a:xfrm>
          <a:prstGeom prst="rect">
            <a:avLst/>
          </a:prstGeom>
        </p:spPr>
      </p:pic>
      <p:sp>
        <p:nvSpPr>
          <p:cNvPr id="24" name="Shape 21"/>
          <p:cNvSpPr/>
          <p:nvPr/>
        </p:nvSpPr>
        <p:spPr>
          <a:xfrm>
            <a:off x="3849624" y="3621024"/>
            <a:ext cx="3685032" cy="256032"/>
          </a:xfrm>
          <a:prstGeom prst="rect">
            <a:avLst/>
          </a:prstGeom>
          <a:solidFill>
            <a:srgbClr val="E6F4EA"/>
          </a:solidFill>
          <a:ln/>
        </p:spPr>
      </p:sp>
      <p:sp>
        <p:nvSpPr>
          <p:cNvPr id="25" name="Text 22"/>
          <p:cNvSpPr/>
          <p:nvPr/>
        </p:nvSpPr>
        <p:spPr>
          <a:xfrm>
            <a:off x="3904488" y="3621024"/>
            <a:ext cx="3575304" cy="256032"/>
          </a:xfrm>
          <a:prstGeom prst="rect">
            <a:avLst/>
          </a:prstGeom>
          <a:noFill/>
          <a:ln/>
        </p:spPr>
        <p:txBody>
          <a:bodyPr wrap="square" rtlCol="0" anchor="ctr"/>
          <a:lstStyle/>
          <a:p>
            <a:pPr indent="0" marL="0">
              <a:buNone/>
            </a:pPr>
            <a:r>
              <a:rPr lang="en-US" sz="760" b="1" dirty="0">
                <a:solidFill>
                  <a:srgbClr val="1E8E3E"/>
                </a:solidFill>
                <a:latin typeface="Roboto" pitchFamily="34" charset="0"/>
                <a:ea typeface="Roboto" pitchFamily="34" charset="-122"/>
                <a:cs typeface="Roboto" pitchFamily="34" charset="-120"/>
              </a:rPr>
              <a:t>AFTER: 5-Hop AlloyDB RLS + JWT (FinVault Only)</a:t>
            </a:r>
            <a:endParaRPr lang="en-US" sz="760" dirty="0"/>
          </a:p>
        </p:txBody>
      </p:sp>
      <p:pic>
        <p:nvPicPr>
          <p:cNvPr id="26" name="Image 1" descr="/usr/local/google/home/nitinagga/Documents/blogs/screenshots/genuine-multicloud-3p-uis/before-after/after_01_metabase_bi.png">    </p:cNvPr>
          <p:cNvPicPr>
            <a:picLocks noChangeAspect="1"/>
          </p:cNvPicPr>
          <p:nvPr/>
        </p:nvPicPr>
        <p:blipFill>
          <a:blip r:embed="rId2"/>
          <a:stretch>
            <a:fillRect/>
          </a:stretch>
        </p:blipFill>
        <p:spPr>
          <a:xfrm>
            <a:off x="3849624" y="3895344"/>
            <a:ext cx="3685032" cy="2212848"/>
          </a:xfrm>
          <a:prstGeom prst="rect">
            <a:avLst/>
          </a:prstGeom>
        </p:spPr>
      </p:pic>
      <p:sp>
        <p:nvSpPr>
          <p:cNvPr id="27" name="Shape 23"/>
          <p:cNvSpPr/>
          <p:nvPr/>
        </p:nvSpPr>
        <p:spPr>
          <a:xfrm>
            <a:off x="7863840" y="566928"/>
            <a:ext cx="3977640" cy="5779008"/>
          </a:xfrm>
          <a:prstGeom prst="roundRect">
            <a:avLst>
              <a:gd name="adj" fmla="val 2299"/>
            </a:avLst>
          </a:prstGeom>
          <a:solidFill>
            <a:srgbClr val="FFFFFF"/>
          </a:solidFill>
          <a:ln w="12700">
            <a:solidFill>
              <a:srgbClr val="E2E8F0"/>
            </a:solidFill>
            <a:prstDash val="solid"/>
          </a:ln>
        </p:spPr>
      </p:sp>
      <p:sp>
        <p:nvSpPr>
          <p:cNvPr id="28" name="Text 24"/>
          <p:cNvSpPr/>
          <p:nvPr/>
        </p:nvSpPr>
        <p:spPr>
          <a:xfrm>
            <a:off x="8010144" y="658368"/>
            <a:ext cx="3685032" cy="274320"/>
          </a:xfrm>
          <a:prstGeom prst="rect">
            <a:avLst/>
          </a:prstGeom>
          <a:noFill/>
          <a:ln/>
        </p:spPr>
        <p:txBody>
          <a:bodyPr wrap="square" rtlCol="0" anchor="ctr"/>
          <a:lstStyle/>
          <a:p>
            <a:pPr indent="0" marL="0">
              <a:buNone/>
            </a:pPr>
            <a:r>
              <a:rPr lang="en-US" sz="1100" b="1" dirty="0">
                <a:solidFill>
                  <a:srgbClr val="1A73E8"/>
                </a:solidFill>
                <a:latin typeface="Google Sans" pitchFamily="34" charset="0"/>
                <a:ea typeface="Google Sans" pitchFamily="34" charset="-122"/>
                <a:cs typeface="Google Sans" pitchFamily="34" charset="-120"/>
              </a:rPr>
              <a:t>Trino Distributed SQL v440</a:t>
            </a:r>
            <a:endParaRPr lang="en-US" sz="1100" dirty="0"/>
          </a:p>
        </p:txBody>
      </p:sp>
      <p:sp>
        <p:nvSpPr>
          <p:cNvPr id="29" name="Shape 25"/>
          <p:cNvSpPr/>
          <p:nvPr/>
        </p:nvSpPr>
        <p:spPr>
          <a:xfrm>
            <a:off x="8010144" y="987552"/>
            <a:ext cx="3685032" cy="256032"/>
          </a:xfrm>
          <a:prstGeom prst="rect">
            <a:avLst/>
          </a:prstGeom>
          <a:solidFill>
            <a:srgbClr val="FCE8E6"/>
          </a:solidFill>
          <a:ln/>
        </p:spPr>
      </p:sp>
      <p:sp>
        <p:nvSpPr>
          <p:cNvPr id="30" name="Text 26"/>
          <p:cNvSpPr/>
          <p:nvPr/>
        </p:nvSpPr>
        <p:spPr>
          <a:xfrm>
            <a:off x="8065008" y="987552"/>
            <a:ext cx="3575304" cy="256032"/>
          </a:xfrm>
          <a:prstGeom prst="rect">
            <a:avLst/>
          </a:prstGeom>
          <a:noFill/>
          <a:ln/>
        </p:spPr>
        <p:txBody>
          <a:bodyPr wrap="square" rtlCol="0" anchor="ctr"/>
          <a:lstStyle/>
          <a:p>
            <a:pPr indent="0" marL="0">
              <a:buNone/>
            </a:pPr>
            <a:r>
              <a:rPr lang="en-US" sz="760" b="1" dirty="0">
                <a:solidFill>
                  <a:srgbClr val="D93025"/>
                </a:solidFill>
                <a:latin typeface="Roboto" pitchFamily="34" charset="0"/>
                <a:ea typeface="Roboto" pitchFamily="34" charset="-122"/>
                <a:cs typeface="Roboto" pitchFamily="34" charset="-120"/>
              </a:rPr>
              <a:t>BEFORE: Cross-Tenant Catalog Enumeration</a:t>
            </a:r>
            <a:endParaRPr lang="en-US" sz="760" dirty="0"/>
          </a:p>
        </p:txBody>
      </p:sp>
      <p:pic>
        <p:nvPicPr>
          <p:cNvPr id="31" name="Image 2" descr="/usr/local/google/home/nitinagga/Documents/blogs/screenshots/genuine-multicloud-3p-uis/before-after/before_06_trino_sql.png">    </p:cNvPr>
          <p:cNvPicPr>
            <a:picLocks noChangeAspect="1"/>
          </p:cNvPicPr>
          <p:nvPr/>
        </p:nvPicPr>
        <p:blipFill>
          <a:blip r:embed="rId3"/>
          <a:stretch>
            <a:fillRect/>
          </a:stretch>
        </p:blipFill>
        <p:spPr>
          <a:xfrm>
            <a:off x="8010144" y="1261872"/>
            <a:ext cx="3685032" cy="2212848"/>
          </a:xfrm>
          <a:prstGeom prst="rect">
            <a:avLst/>
          </a:prstGeom>
        </p:spPr>
      </p:pic>
      <p:sp>
        <p:nvSpPr>
          <p:cNvPr id="32" name="Shape 27"/>
          <p:cNvSpPr/>
          <p:nvPr/>
        </p:nvSpPr>
        <p:spPr>
          <a:xfrm>
            <a:off x="8010144" y="3621024"/>
            <a:ext cx="3685032" cy="256032"/>
          </a:xfrm>
          <a:prstGeom prst="rect">
            <a:avLst/>
          </a:prstGeom>
          <a:solidFill>
            <a:srgbClr val="E6F4EA"/>
          </a:solidFill>
          <a:ln/>
        </p:spPr>
      </p:sp>
      <p:sp>
        <p:nvSpPr>
          <p:cNvPr id="33" name="Text 28"/>
          <p:cNvSpPr/>
          <p:nvPr/>
        </p:nvSpPr>
        <p:spPr>
          <a:xfrm>
            <a:off x="8065008" y="3621024"/>
            <a:ext cx="3575304" cy="256032"/>
          </a:xfrm>
          <a:prstGeom prst="rect">
            <a:avLst/>
          </a:prstGeom>
          <a:noFill/>
          <a:ln/>
        </p:spPr>
        <p:txBody>
          <a:bodyPr wrap="square" rtlCol="0" anchor="ctr"/>
          <a:lstStyle/>
          <a:p>
            <a:pPr indent="0" marL="0">
              <a:buNone/>
            </a:pPr>
            <a:r>
              <a:rPr lang="en-US" sz="760" b="1" dirty="0">
                <a:solidFill>
                  <a:srgbClr val="1E8E3E"/>
                </a:solidFill>
                <a:latin typeface="Roboto" pitchFamily="34" charset="0"/>
                <a:ea typeface="Roboto" pitchFamily="34" charset="-122"/>
                <a:cs typeface="Roboto" pitchFamily="34" charset="-120"/>
              </a:rPr>
              <a:t>AFTER: ARD + MCP + RLS Scoped Query (0 Leaked Rows)</a:t>
            </a:r>
            <a:endParaRPr lang="en-US" sz="760" dirty="0"/>
          </a:p>
        </p:txBody>
      </p:sp>
      <p:pic>
        <p:nvPicPr>
          <p:cNvPr id="34" name="Image 3" descr="/usr/local/google/home/nitinagga/Documents/blogs/screenshots/genuine-multicloud-3p-uis/before-after/after_06_trino_sql.png">    </p:cNvPr>
          <p:cNvPicPr>
            <a:picLocks noChangeAspect="1"/>
          </p:cNvPicPr>
          <p:nvPr/>
        </p:nvPicPr>
        <p:blipFill>
          <a:blip r:embed="rId4"/>
          <a:stretch>
            <a:fillRect/>
          </a:stretch>
        </p:blipFill>
        <p:spPr>
          <a:xfrm>
            <a:off x="8010144" y="3895344"/>
            <a:ext cx="3685032" cy="221284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1723644"/>
          </a:xfrm>
          <a:prstGeom prst="rect">
            <a:avLst/>
          </a:prstGeom>
          <a:solidFill>
            <a:srgbClr val="1A73E8"/>
          </a:solidFill>
          <a:ln/>
        </p:spPr>
      </p:sp>
      <p:sp>
        <p:nvSpPr>
          <p:cNvPr id="3" name="Shape 1"/>
          <p:cNvSpPr/>
          <p:nvPr/>
        </p:nvSpPr>
        <p:spPr>
          <a:xfrm>
            <a:off x="0" y="1714500"/>
            <a:ext cx="73152" cy="1723644"/>
          </a:xfrm>
          <a:prstGeom prst="rect">
            <a:avLst/>
          </a:prstGeom>
          <a:solidFill>
            <a:srgbClr val="D93025"/>
          </a:solidFill>
          <a:ln/>
        </p:spPr>
      </p:sp>
      <p:sp>
        <p:nvSpPr>
          <p:cNvPr id="4" name="Shape 2"/>
          <p:cNvSpPr/>
          <p:nvPr/>
        </p:nvSpPr>
        <p:spPr>
          <a:xfrm>
            <a:off x="0" y="3429000"/>
            <a:ext cx="73152" cy="1723644"/>
          </a:xfrm>
          <a:prstGeom prst="rect">
            <a:avLst/>
          </a:prstGeom>
          <a:solidFill>
            <a:srgbClr val="F9AB00"/>
          </a:solidFill>
          <a:ln/>
        </p:spPr>
      </p:sp>
      <p:sp>
        <p:nvSpPr>
          <p:cNvPr id="5" name="Shape 3"/>
          <p:cNvSpPr/>
          <p:nvPr/>
        </p:nvSpPr>
        <p:spPr>
          <a:xfrm>
            <a:off x="0" y="5143500"/>
            <a:ext cx="73152" cy="1723644"/>
          </a:xfrm>
          <a:prstGeom prst="rect">
            <a:avLst/>
          </a:prstGeom>
          <a:solidFill>
            <a:srgbClr val="1E8E3E"/>
          </a:solidFill>
          <a:ln/>
        </p:spPr>
      </p:sp>
      <p:sp>
        <p:nvSpPr>
          <p:cNvPr id="6" name="Text 4"/>
          <p:cNvSpPr/>
          <p:nvPr/>
        </p:nvSpPr>
        <p:spPr>
          <a:xfrm>
            <a:off x="347472" y="201168"/>
            <a:ext cx="9875520" cy="237744"/>
          </a:xfrm>
          <a:prstGeom prst="rect">
            <a:avLst/>
          </a:prstGeom>
          <a:noFill/>
          <a:ln/>
        </p:spPr>
        <p:txBody>
          <a:bodyPr wrap="square" rtlCol="0" anchor="ctr"/>
          <a:lstStyle/>
          <a:p>
            <a:pPr indent="0" marL="0">
              <a:buNone/>
            </a:pPr>
            <a:r>
              <a:rPr lang="en-US" sz="850" b="1" dirty="0">
                <a:solidFill>
                  <a:srgbClr val="1A73E8"/>
                </a:solidFill>
                <a:latin typeface="Google Sans" pitchFamily="34" charset="0"/>
                <a:ea typeface="Google Sans" pitchFamily="34" charset="-122"/>
                <a:cs typeface="Google Sans" pitchFamily="34" charset="-120"/>
              </a:rPr>
              <a:t>GOOGLE CLOUD ARCHITECTURE CENTER  </a:t>
            </a:r>
            <a:pPr indent="0" marL="0">
              <a:buNone/>
            </a:pPr>
            <a:r>
              <a:rPr lang="en-US" sz="850" dirty="0">
                <a:solidFill>
                  <a:srgbClr val="64748B"/>
                </a:solidFill>
                <a:latin typeface="Google Sans" pitchFamily="34" charset="0"/>
                <a:ea typeface="Google Sans" pitchFamily="34" charset="-122"/>
                <a:cs typeface="Google Sans" pitchFamily="34" charset="-120"/>
              </a:rPr>
              <a:t>/  ACT IV • BENEFITS &amp; CALL TO ACTION  /  Quantified Well-Architected Benefits &amp; 30-60-90 Day Adoption Plan</a:t>
            </a:r>
            <a:endParaRPr lang="en-US" sz="850" dirty="0"/>
          </a:p>
        </p:txBody>
      </p:sp>
      <p:sp>
        <p:nvSpPr>
          <p:cNvPr id="7" name="Shape 5"/>
          <p:cNvSpPr/>
          <p:nvPr/>
        </p:nvSpPr>
        <p:spPr>
          <a:xfrm>
            <a:off x="10835640" y="182880"/>
            <a:ext cx="1005840" cy="256032"/>
          </a:xfrm>
          <a:prstGeom prst="roundRect">
            <a:avLst>
              <a:gd name="adj" fmla="val 50000"/>
            </a:avLst>
          </a:prstGeom>
          <a:solidFill>
            <a:srgbClr val="FFFFFF"/>
          </a:solidFill>
          <a:ln w="9525">
            <a:solidFill>
              <a:srgbClr val="E2E8F0"/>
            </a:solidFill>
            <a:prstDash val="solid"/>
          </a:ln>
        </p:spPr>
      </p:sp>
      <p:sp>
        <p:nvSpPr>
          <p:cNvPr id="8" name="Text 6"/>
          <p:cNvSpPr/>
          <p:nvPr/>
        </p:nvSpPr>
        <p:spPr>
          <a:xfrm>
            <a:off x="10835640" y="182880"/>
            <a:ext cx="1005840" cy="256032"/>
          </a:xfrm>
          <a:prstGeom prst="rect">
            <a:avLst/>
          </a:prstGeom>
          <a:noFill/>
          <a:ln/>
        </p:spPr>
        <p:txBody>
          <a:bodyPr wrap="square" rtlCol="0" anchor="ctr"/>
          <a:lstStyle/>
          <a:p>
            <a:pPr algn="ctr" indent="0" marL="0">
              <a:buNone/>
            </a:pPr>
            <a:r>
              <a:rPr lang="en-US" sz="850" b="1" dirty="0">
                <a:solidFill>
                  <a:srgbClr val="334155"/>
                </a:solidFill>
                <a:latin typeface="Google Sans" pitchFamily="34" charset="0"/>
                <a:ea typeface="Google Sans" pitchFamily="34" charset="-122"/>
                <a:cs typeface="Google Sans" pitchFamily="34" charset="-120"/>
              </a:rPr>
              <a:t>14 / 14</a:t>
            </a:r>
            <a:endParaRPr lang="en-US" sz="850" dirty="0"/>
          </a:p>
        </p:txBody>
      </p:sp>
      <p:sp>
        <p:nvSpPr>
          <p:cNvPr id="9" name="Shape 7"/>
          <p:cNvSpPr/>
          <p:nvPr/>
        </p:nvSpPr>
        <p:spPr>
          <a:xfrm>
            <a:off x="347472" y="6510528"/>
            <a:ext cx="11494008" cy="0"/>
          </a:xfrm>
          <a:prstGeom prst="line">
            <a:avLst/>
          </a:prstGeom>
          <a:noFill/>
          <a:ln w="9525">
            <a:solidFill>
              <a:srgbClr val="E2E8F0"/>
            </a:solidFill>
            <a:prstDash val="solid"/>
          </a:ln>
        </p:spPr>
      </p:sp>
      <p:sp>
        <p:nvSpPr>
          <p:cNvPr id="10" name="Text 8"/>
          <p:cNvSpPr/>
          <p:nvPr/>
        </p:nvSpPr>
        <p:spPr>
          <a:xfrm>
            <a:off x="347472" y="6556248"/>
            <a:ext cx="11494008" cy="219456"/>
          </a:xfrm>
          <a:prstGeom prst="rect">
            <a:avLst/>
          </a:prstGeom>
          <a:noFill/>
          <a:ln/>
        </p:spPr>
        <p:txBody>
          <a:bodyPr wrap="square" rtlCol="0" anchor="ctr"/>
          <a:lstStyle/>
          <a:p>
            <a:pPr indent="0" marL="0">
              <a:buNone/>
            </a:pPr>
            <a:r>
              <a:rPr lang="en-US" sz="780" dirty="0">
                <a:solidFill>
                  <a:srgbClr val="64748B"/>
                </a:solidFill>
                <a:latin typeface="Roboto" pitchFamily="34" charset="0"/>
                <a:ea typeface="Roboto" pitchFamily="34" charset="-122"/>
                <a:cs typeface="Roboto" pitchFamily="34" charset="-120"/>
              </a:rPr>
              <a:t>Multi-Tenant Agentic AI on Google Cloud  •  Blog 1 Executive Edition  •  Verified on GCP (#248990048888, #48439189383) &amp; AWS (#393036065405)</a:t>
            </a:r>
            <a:endParaRPr lang="en-US" sz="780" dirty="0"/>
          </a:p>
        </p:txBody>
      </p:sp>
      <p:sp>
        <p:nvSpPr>
          <p:cNvPr id="11" name="Shape 9"/>
          <p:cNvSpPr/>
          <p:nvPr/>
        </p:nvSpPr>
        <p:spPr>
          <a:xfrm>
            <a:off x="347472" y="566928"/>
            <a:ext cx="3154680" cy="5779008"/>
          </a:xfrm>
          <a:prstGeom prst="roundRect">
            <a:avLst>
              <a:gd name="adj" fmla="val 2899"/>
            </a:avLst>
          </a:prstGeom>
          <a:solidFill>
            <a:srgbClr val="FFFFFF"/>
          </a:solidFill>
          <a:ln w="12700">
            <a:solidFill>
              <a:srgbClr val="E2E8F0"/>
            </a:solidFill>
            <a:prstDash val="solid"/>
          </a:ln>
        </p:spPr>
      </p:sp>
      <p:sp>
        <p:nvSpPr>
          <p:cNvPr id="12" name="Shape 10"/>
          <p:cNvSpPr/>
          <p:nvPr/>
        </p:nvSpPr>
        <p:spPr>
          <a:xfrm>
            <a:off x="530352" y="768096"/>
            <a:ext cx="1691640" cy="256032"/>
          </a:xfrm>
          <a:prstGeom prst="roundRect">
            <a:avLst>
              <a:gd name="adj" fmla="val 28571"/>
            </a:avLst>
          </a:prstGeom>
          <a:solidFill>
            <a:srgbClr val="E8F0FE"/>
          </a:solidFill>
          <a:ln/>
        </p:spPr>
      </p:sp>
      <p:sp>
        <p:nvSpPr>
          <p:cNvPr id="13" name="Text 11"/>
          <p:cNvSpPr/>
          <p:nvPr/>
        </p:nvSpPr>
        <p:spPr>
          <a:xfrm>
            <a:off x="530352" y="768096"/>
            <a:ext cx="1691640" cy="256032"/>
          </a:xfrm>
          <a:prstGeom prst="rect">
            <a:avLst/>
          </a:prstGeom>
          <a:noFill/>
          <a:ln/>
        </p:spPr>
        <p:txBody>
          <a:bodyPr wrap="square" rtlCol="0" anchor="ctr"/>
          <a:lstStyle/>
          <a:p>
            <a:pPr algn="ctr" indent="0" marL="0">
              <a:buNone/>
            </a:pPr>
            <a:r>
              <a:rPr lang="en-US" sz="800" b="1" dirty="0">
                <a:solidFill>
                  <a:srgbClr val="1A73E8"/>
                </a:solidFill>
                <a:latin typeface="Google Sans" pitchFamily="34" charset="0"/>
                <a:ea typeface="Google Sans" pitchFamily="34" charset="-122"/>
                <a:cs typeface="Google Sans" pitchFamily="34" charset="-120"/>
              </a:rPr>
              <a:t>CALL TO ACTION</a:t>
            </a:r>
            <a:endParaRPr lang="en-US" sz="800" dirty="0"/>
          </a:p>
        </p:txBody>
      </p:sp>
      <p:sp>
        <p:nvSpPr>
          <p:cNvPr id="14" name="Text 12"/>
          <p:cNvSpPr/>
          <p:nvPr/>
        </p:nvSpPr>
        <p:spPr>
          <a:xfrm>
            <a:off x="530352" y="1133856"/>
            <a:ext cx="2788920" cy="1325880"/>
          </a:xfrm>
          <a:prstGeom prst="rect">
            <a:avLst/>
          </a:prstGeom>
          <a:noFill/>
          <a:ln/>
        </p:spPr>
        <p:txBody>
          <a:bodyPr wrap="square" rtlCol="0" anchor="t"/>
          <a:lstStyle/>
          <a:p>
            <a:pPr indent="0" marL="0">
              <a:buNone/>
            </a:pPr>
            <a:r>
              <a:rPr lang="en-US" sz="1750" b="1" dirty="0">
                <a:solidFill>
                  <a:srgbClr val="0F172A"/>
                </a:solidFill>
                <a:latin typeface="Google Sans Display" pitchFamily="34" charset="0"/>
                <a:ea typeface="Google Sans Display" pitchFamily="34" charset="-122"/>
                <a:cs typeface="Google Sans Display" pitchFamily="34" charset="-120"/>
              </a:rPr>
              <a:t>Start Building with the 27-File Reference Workbench</a:t>
            </a:r>
            <a:endParaRPr lang="en-US" sz="1750" dirty="0"/>
          </a:p>
        </p:txBody>
      </p:sp>
      <p:sp>
        <p:nvSpPr>
          <p:cNvPr id="15" name="Text 13"/>
          <p:cNvSpPr/>
          <p:nvPr/>
        </p:nvSpPr>
        <p:spPr>
          <a:xfrm>
            <a:off x="530352" y="2542032"/>
            <a:ext cx="2788920" cy="2148840"/>
          </a:xfrm>
          <a:prstGeom prst="rect">
            <a:avLst/>
          </a:prstGeom>
          <a:noFill/>
          <a:ln/>
        </p:spPr>
        <p:txBody>
          <a:bodyPr wrap="square" rtlCol="0" anchor="t"/>
          <a:lstStyle/>
          <a:p>
            <a:pPr indent="0" marL="0">
              <a:buNone/>
            </a:pPr>
            <a:r>
              <a:rPr lang="en-US" sz="1000" dirty="0">
                <a:solidFill>
                  <a:srgbClr val="334155"/>
                </a:solidFill>
                <a:latin typeface="Roboto" pitchFamily="34" charset="0"/>
                <a:ea typeface="Roboto" pitchFamily="34" charset="-122"/>
                <a:cs typeface="Roboto" pitchFamily="34" charset="-120"/>
              </a:rPr>
              <a:t>Clone core-cymbal-agent/ and deploy the Terraform starter modules to certify your multi-tenant AI platform in 90 days.</a:t>
            </a:r>
            <a:endParaRPr lang="en-US" sz="1000" dirty="0"/>
          </a:p>
          <a:p>
            <a:pPr indent="0" marL="0">
              <a:buNone/>
            </a:pP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Next in Series:</a:t>
            </a: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 Blog 2: Pattern A Shared Pool</a:t>
            </a: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 Blog 3: Pattern B Sovereign Silos</a:t>
            </a: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 Blog 4: Pattern C Hybrid PSC</a:t>
            </a:r>
            <a:endParaRPr lang="en-US" sz="1000" dirty="0"/>
          </a:p>
          <a:p>
            <a:pPr indent="0" marL="0">
              <a:buNone/>
            </a:pPr>
            <a:r>
              <a:rPr lang="en-US" sz="1000" dirty="0">
                <a:solidFill>
                  <a:srgbClr val="334155"/>
                </a:solidFill>
                <a:latin typeface="Roboto" pitchFamily="34" charset="0"/>
                <a:ea typeface="Roboto" pitchFamily="34" charset="-122"/>
                <a:cs typeface="Roboto" pitchFamily="34" charset="-120"/>
              </a:rPr>
              <a:t>• Blog 5: Decision Guide</a:t>
            </a:r>
            <a:endParaRPr lang="en-US" sz="1000" dirty="0"/>
          </a:p>
        </p:txBody>
      </p:sp>
      <p:sp>
        <p:nvSpPr>
          <p:cNvPr id="16" name="Shape 14"/>
          <p:cNvSpPr/>
          <p:nvPr/>
        </p:nvSpPr>
        <p:spPr>
          <a:xfrm>
            <a:off x="530352" y="4846320"/>
            <a:ext cx="2788920" cy="1298448"/>
          </a:xfrm>
          <a:prstGeom prst="roundRect">
            <a:avLst>
              <a:gd name="adj" fmla="val 5634"/>
            </a:avLst>
          </a:prstGeom>
          <a:solidFill>
            <a:srgbClr val="E8F0FE"/>
          </a:solidFill>
          <a:ln w="12700">
            <a:solidFill>
              <a:srgbClr val="1A73E8"/>
            </a:solidFill>
            <a:prstDash val="solid"/>
          </a:ln>
        </p:spPr>
      </p:sp>
      <p:sp>
        <p:nvSpPr>
          <p:cNvPr id="17" name="Text 15"/>
          <p:cNvSpPr/>
          <p:nvPr/>
        </p:nvSpPr>
        <p:spPr>
          <a:xfrm>
            <a:off x="658368" y="4956048"/>
            <a:ext cx="2532888" cy="566928"/>
          </a:xfrm>
          <a:prstGeom prst="rect">
            <a:avLst/>
          </a:prstGeom>
          <a:noFill/>
          <a:ln/>
        </p:spPr>
        <p:txBody>
          <a:bodyPr wrap="square" rtlCol="0" anchor="ctr"/>
          <a:lstStyle/>
          <a:p>
            <a:pPr indent="0" marL="0">
              <a:buNone/>
            </a:pPr>
            <a:r>
              <a:rPr lang="en-US" sz="2800" b="1" dirty="0">
                <a:solidFill>
                  <a:srgbClr val="1A73E8"/>
                </a:solidFill>
                <a:latin typeface="Google Sans Display" pitchFamily="34" charset="0"/>
                <a:ea typeface="Google Sans Display" pitchFamily="34" charset="-122"/>
                <a:cs typeface="Google Sans Display" pitchFamily="34" charset="-120"/>
              </a:rPr>
              <a:t>&lt;30 sec</a:t>
            </a:r>
            <a:endParaRPr lang="en-US" sz="2800" dirty="0"/>
          </a:p>
        </p:txBody>
      </p:sp>
      <p:sp>
        <p:nvSpPr>
          <p:cNvPr id="18" name="Text 16"/>
          <p:cNvSpPr/>
          <p:nvPr/>
        </p:nvSpPr>
        <p:spPr>
          <a:xfrm>
            <a:off x="658368" y="5559552"/>
            <a:ext cx="2532888" cy="475488"/>
          </a:xfrm>
          <a:prstGeom prst="rect">
            <a:avLst/>
          </a:prstGeom>
          <a:noFill/>
          <a:ln/>
        </p:spPr>
        <p:txBody>
          <a:bodyPr wrap="square" rtlCol="0" anchor="ctr"/>
          <a:lstStyle/>
          <a:p>
            <a:pPr indent="0" marL="0">
              <a:buNone/>
            </a:pPr>
            <a:r>
              <a:rPr lang="en-US" sz="880" b="1" dirty="0">
                <a:solidFill>
                  <a:srgbClr val="0F172A"/>
                </a:solidFill>
                <a:latin typeface="Roboto" pitchFamily="34" charset="0"/>
                <a:ea typeface="Roboto" pitchFamily="34" charset="-122"/>
                <a:cs typeface="Roboto" pitchFamily="34" charset="-120"/>
              </a:rPr>
              <a:t>Cross-Region HA Failover RTO SLA</a:t>
            </a:r>
            <a:endParaRPr lang="en-US" sz="880" dirty="0"/>
          </a:p>
        </p:txBody>
      </p:sp>
      <p:sp>
        <p:nvSpPr>
          <p:cNvPr id="19" name="Shape 17"/>
          <p:cNvSpPr/>
          <p:nvPr/>
        </p:nvSpPr>
        <p:spPr>
          <a:xfrm>
            <a:off x="3703320" y="566928"/>
            <a:ext cx="1938528" cy="1389888"/>
          </a:xfrm>
          <a:prstGeom prst="roundRect">
            <a:avLst>
              <a:gd name="adj" fmla="val 5921"/>
            </a:avLst>
          </a:prstGeom>
          <a:solidFill>
            <a:srgbClr val="FFFFFF"/>
          </a:solidFill>
          <a:ln w="15240">
            <a:solidFill>
              <a:srgbClr val="1A73E8"/>
            </a:solidFill>
            <a:prstDash val="solid"/>
          </a:ln>
        </p:spPr>
      </p:sp>
      <p:sp>
        <p:nvSpPr>
          <p:cNvPr id="20" name="Text 18"/>
          <p:cNvSpPr/>
          <p:nvPr/>
        </p:nvSpPr>
        <p:spPr>
          <a:xfrm>
            <a:off x="3813048" y="658368"/>
            <a:ext cx="1719072" cy="512064"/>
          </a:xfrm>
          <a:prstGeom prst="rect">
            <a:avLst/>
          </a:prstGeom>
          <a:noFill/>
          <a:ln/>
        </p:spPr>
        <p:txBody>
          <a:bodyPr wrap="square" rtlCol="0" anchor="ctr"/>
          <a:lstStyle/>
          <a:p>
            <a:pPr indent="0" marL="0">
              <a:buNone/>
            </a:pPr>
            <a:r>
              <a:rPr lang="en-US" sz="2400" b="1" dirty="0">
                <a:solidFill>
                  <a:srgbClr val="1A73E8"/>
                </a:solidFill>
                <a:latin typeface="Google Sans Display" pitchFamily="34" charset="0"/>
                <a:ea typeface="Google Sans Display" pitchFamily="34" charset="-122"/>
                <a:cs typeface="Google Sans Display" pitchFamily="34" charset="-120"/>
              </a:rPr>
              <a:t>84.7%</a:t>
            </a:r>
            <a:endParaRPr lang="en-US" sz="2400" dirty="0"/>
          </a:p>
        </p:txBody>
      </p:sp>
      <p:sp>
        <p:nvSpPr>
          <p:cNvPr id="21" name="Text 19"/>
          <p:cNvSpPr/>
          <p:nvPr/>
        </p:nvSpPr>
        <p:spPr>
          <a:xfrm>
            <a:off x="3813048" y="1207008"/>
            <a:ext cx="1719072" cy="621792"/>
          </a:xfrm>
          <a:prstGeom prst="rect">
            <a:avLst/>
          </a:prstGeom>
          <a:noFill/>
          <a:ln/>
        </p:spPr>
        <p:txBody>
          <a:bodyPr wrap="square" rtlCol="0" anchor="ctr"/>
          <a:lstStyle/>
          <a:p>
            <a:pPr indent="0" marL="0">
              <a:buNone/>
            </a:pPr>
            <a:r>
              <a:rPr lang="en-US" sz="840" b="1" dirty="0">
                <a:solidFill>
                  <a:srgbClr val="0F172A"/>
                </a:solidFill>
                <a:latin typeface="Roboto" pitchFamily="34" charset="0"/>
                <a:ea typeface="Roboto" pitchFamily="34" charset="-122"/>
                <a:cs typeface="Roboto" pitchFamily="34" charset="-120"/>
              </a:rPr>
              <a:t>Net Token Cost Savings</a:t>
            </a:r>
            <a:endParaRPr lang="en-US" sz="840" dirty="0"/>
          </a:p>
          <a:p>
            <a:pPr indent="0" marL="0">
              <a:buNone/>
            </a:pPr>
            <a:r>
              <a:rPr lang="en-US" sz="840" b="1" dirty="0">
                <a:solidFill>
                  <a:srgbClr val="0F172A"/>
                </a:solidFill>
                <a:latin typeface="Roboto" pitchFamily="34" charset="0"/>
                <a:ea typeface="Roboto" pitchFamily="34" charset="-122"/>
                <a:cs typeface="Roboto" pitchFamily="34" charset="-120"/>
              </a:rPr>
              <a:t>(90% 32k Prefix Cache)</a:t>
            </a:r>
            <a:endParaRPr lang="en-US" sz="840" dirty="0"/>
          </a:p>
        </p:txBody>
      </p:sp>
      <p:sp>
        <p:nvSpPr>
          <p:cNvPr id="22" name="Shape 20"/>
          <p:cNvSpPr/>
          <p:nvPr/>
        </p:nvSpPr>
        <p:spPr>
          <a:xfrm>
            <a:off x="5769864" y="566928"/>
            <a:ext cx="1938528" cy="1389888"/>
          </a:xfrm>
          <a:prstGeom prst="roundRect">
            <a:avLst>
              <a:gd name="adj" fmla="val 5921"/>
            </a:avLst>
          </a:prstGeom>
          <a:solidFill>
            <a:srgbClr val="FFFFFF"/>
          </a:solidFill>
          <a:ln w="15240">
            <a:solidFill>
              <a:srgbClr val="1E8E3E"/>
            </a:solidFill>
            <a:prstDash val="solid"/>
          </a:ln>
        </p:spPr>
      </p:sp>
      <p:sp>
        <p:nvSpPr>
          <p:cNvPr id="23" name="Text 21"/>
          <p:cNvSpPr/>
          <p:nvPr/>
        </p:nvSpPr>
        <p:spPr>
          <a:xfrm>
            <a:off x="5879592" y="658368"/>
            <a:ext cx="1719072" cy="512064"/>
          </a:xfrm>
          <a:prstGeom prst="rect">
            <a:avLst/>
          </a:prstGeom>
          <a:noFill/>
          <a:ln/>
        </p:spPr>
        <p:txBody>
          <a:bodyPr wrap="square" rtlCol="0" anchor="ctr"/>
          <a:lstStyle/>
          <a:p>
            <a:pPr indent="0" marL="0">
              <a:buNone/>
            </a:pPr>
            <a:r>
              <a:rPr lang="en-US" sz="2400" b="1" dirty="0">
                <a:solidFill>
                  <a:srgbClr val="1E8E3E"/>
                </a:solidFill>
                <a:latin typeface="Google Sans Display" pitchFamily="34" charset="0"/>
                <a:ea typeface="Google Sans Display" pitchFamily="34" charset="-122"/>
                <a:cs typeface="Google Sans Display" pitchFamily="34" charset="-120"/>
              </a:rPr>
              <a:t>74%</a:t>
            </a:r>
            <a:endParaRPr lang="en-US" sz="2400" dirty="0"/>
          </a:p>
        </p:txBody>
      </p:sp>
      <p:sp>
        <p:nvSpPr>
          <p:cNvPr id="24" name="Text 22"/>
          <p:cNvSpPr/>
          <p:nvPr/>
        </p:nvSpPr>
        <p:spPr>
          <a:xfrm>
            <a:off x="5879592" y="1207008"/>
            <a:ext cx="1719072" cy="621792"/>
          </a:xfrm>
          <a:prstGeom prst="rect">
            <a:avLst/>
          </a:prstGeom>
          <a:noFill/>
          <a:ln/>
        </p:spPr>
        <p:txBody>
          <a:bodyPr wrap="square" rtlCol="0" anchor="ctr"/>
          <a:lstStyle/>
          <a:p>
            <a:pPr indent="0" marL="0">
              <a:buNone/>
            </a:pPr>
            <a:r>
              <a:rPr lang="en-US" sz="840" b="1" dirty="0">
                <a:solidFill>
                  <a:srgbClr val="0F172A"/>
                </a:solidFill>
                <a:latin typeface="Roboto" pitchFamily="34" charset="0"/>
                <a:ea typeface="Roboto" pitchFamily="34" charset="-122"/>
                <a:cs typeface="Roboto" pitchFamily="34" charset="-120"/>
              </a:rPr>
              <a:t>Portfolio TCO Reduction</a:t>
            </a:r>
            <a:endParaRPr lang="en-US" sz="840" dirty="0"/>
          </a:p>
          <a:p>
            <a:pPr indent="0" marL="0">
              <a:buNone/>
            </a:pPr>
            <a:r>
              <a:rPr lang="en-US" sz="840" b="1" dirty="0">
                <a:solidFill>
                  <a:srgbClr val="0F172A"/>
                </a:solidFill>
                <a:latin typeface="Roboto" pitchFamily="34" charset="0"/>
                <a:ea typeface="Roboto" pitchFamily="34" charset="-122"/>
                <a:cs typeface="Roboto" pitchFamily="34" charset="-120"/>
              </a:rPr>
              <a:t>(950 Pool + 50 PSC)</a:t>
            </a:r>
            <a:endParaRPr lang="en-US" sz="840" dirty="0"/>
          </a:p>
        </p:txBody>
      </p:sp>
      <p:sp>
        <p:nvSpPr>
          <p:cNvPr id="25" name="Shape 23"/>
          <p:cNvSpPr/>
          <p:nvPr/>
        </p:nvSpPr>
        <p:spPr>
          <a:xfrm>
            <a:off x="7836408" y="566928"/>
            <a:ext cx="1938528" cy="1389888"/>
          </a:xfrm>
          <a:prstGeom prst="roundRect">
            <a:avLst>
              <a:gd name="adj" fmla="val 5921"/>
            </a:avLst>
          </a:prstGeom>
          <a:solidFill>
            <a:srgbClr val="FFFFFF"/>
          </a:solidFill>
          <a:ln w="15240">
            <a:solidFill>
              <a:srgbClr val="B06000"/>
            </a:solidFill>
            <a:prstDash val="solid"/>
          </a:ln>
        </p:spPr>
      </p:sp>
      <p:sp>
        <p:nvSpPr>
          <p:cNvPr id="26" name="Text 24"/>
          <p:cNvSpPr/>
          <p:nvPr/>
        </p:nvSpPr>
        <p:spPr>
          <a:xfrm>
            <a:off x="7946136" y="658368"/>
            <a:ext cx="1719072" cy="512064"/>
          </a:xfrm>
          <a:prstGeom prst="rect">
            <a:avLst/>
          </a:prstGeom>
          <a:noFill/>
          <a:ln/>
        </p:spPr>
        <p:txBody>
          <a:bodyPr wrap="square" rtlCol="0" anchor="ctr"/>
          <a:lstStyle/>
          <a:p>
            <a:pPr indent="0" marL="0">
              <a:buNone/>
            </a:pPr>
            <a:r>
              <a:rPr lang="en-US" sz="2400" b="1" dirty="0">
                <a:solidFill>
                  <a:srgbClr val="B06000"/>
                </a:solidFill>
                <a:latin typeface="Google Sans Display" pitchFamily="34" charset="0"/>
                <a:ea typeface="Google Sans Display" pitchFamily="34" charset="-122"/>
                <a:cs typeface="Google Sans Display" pitchFamily="34" charset="-120"/>
              </a:rPr>
              <a:t>~42ms</a:t>
            </a:r>
            <a:endParaRPr lang="en-US" sz="2400" dirty="0"/>
          </a:p>
        </p:txBody>
      </p:sp>
      <p:sp>
        <p:nvSpPr>
          <p:cNvPr id="27" name="Text 25"/>
          <p:cNvSpPr/>
          <p:nvPr/>
        </p:nvSpPr>
        <p:spPr>
          <a:xfrm>
            <a:off x="7946136" y="1207008"/>
            <a:ext cx="1719072" cy="621792"/>
          </a:xfrm>
          <a:prstGeom prst="rect">
            <a:avLst/>
          </a:prstGeom>
          <a:noFill/>
          <a:ln/>
        </p:spPr>
        <p:txBody>
          <a:bodyPr wrap="square" rtlCol="0" anchor="ctr"/>
          <a:lstStyle/>
          <a:p>
            <a:pPr indent="0" marL="0">
              <a:buNone/>
            </a:pPr>
            <a:r>
              <a:rPr lang="en-US" sz="840" b="1" dirty="0">
                <a:solidFill>
                  <a:srgbClr val="0F172A"/>
                </a:solidFill>
                <a:latin typeface="Roboto" pitchFamily="34" charset="0"/>
                <a:ea typeface="Roboto" pitchFamily="34" charset="-122"/>
                <a:cs typeface="Roboto" pitchFamily="34" charset="-120"/>
              </a:rPr>
              <a:t>p95 5-Hop Governance</a:t>
            </a:r>
            <a:endParaRPr lang="en-US" sz="840" dirty="0"/>
          </a:p>
          <a:p>
            <a:pPr indent="0" marL="0">
              <a:buNone/>
            </a:pPr>
            <a:r>
              <a:rPr lang="en-US" sz="840" b="1" dirty="0">
                <a:solidFill>
                  <a:srgbClr val="0F172A"/>
                </a:solidFill>
                <a:latin typeface="Roboto" pitchFamily="34" charset="0"/>
                <a:ea typeface="Roboto" pitchFamily="34" charset="-122"/>
                <a:cs typeface="Roboto" pitchFamily="34" charset="-120"/>
              </a:rPr>
              <a:t>(~22ms Regional DLP)</a:t>
            </a:r>
            <a:endParaRPr lang="en-US" sz="840" dirty="0"/>
          </a:p>
        </p:txBody>
      </p:sp>
      <p:sp>
        <p:nvSpPr>
          <p:cNvPr id="28" name="Shape 26"/>
          <p:cNvSpPr/>
          <p:nvPr/>
        </p:nvSpPr>
        <p:spPr>
          <a:xfrm>
            <a:off x="9902952" y="566928"/>
            <a:ext cx="1938528" cy="1389888"/>
          </a:xfrm>
          <a:prstGeom prst="roundRect">
            <a:avLst>
              <a:gd name="adj" fmla="val 5921"/>
            </a:avLst>
          </a:prstGeom>
          <a:solidFill>
            <a:srgbClr val="FFFFFF"/>
          </a:solidFill>
          <a:ln w="15240">
            <a:solidFill>
              <a:srgbClr val="D93025"/>
            </a:solidFill>
            <a:prstDash val="solid"/>
          </a:ln>
        </p:spPr>
      </p:sp>
      <p:sp>
        <p:nvSpPr>
          <p:cNvPr id="29" name="Text 27"/>
          <p:cNvSpPr/>
          <p:nvPr/>
        </p:nvSpPr>
        <p:spPr>
          <a:xfrm>
            <a:off x="10012680" y="658368"/>
            <a:ext cx="1719072" cy="512064"/>
          </a:xfrm>
          <a:prstGeom prst="rect">
            <a:avLst/>
          </a:prstGeom>
          <a:noFill/>
          <a:ln/>
        </p:spPr>
        <p:txBody>
          <a:bodyPr wrap="square" rtlCol="0" anchor="ctr"/>
          <a:lstStyle/>
          <a:p>
            <a:pPr indent="0" marL="0">
              <a:buNone/>
            </a:pPr>
            <a:r>
              <a:rPr lang="en-US" sz="2400" b="1" dirty="0">
                <a:solidFill>
                  <a:srgbClr val="D93025"/>
                </a:solidFill>
                <a:latin typeface="Google Sans Display" pitchFamily="34" charset="0"/>
                <a:ea typeface="Google Sans Display" pitchFamily="34" charset="-122"/>
                <a:cs typeface="Google Sans Display" pitchFamily="34" charset="-120"/>
              </a:rPr>
              <a:t>&lt;5 sec</a:t>
            </a:r>
            <a:endParaRPr lang="en-US" sz="2400" dirty="0"/>
          </a:p>
        </p:txBody>
      </p:sp>
      <p:sp>
        <p:nvSpPr>
          <p:cNvPr id="30" name="Text 28"/>
          <p:cNvSpPr/>
          <p:nvPr/>
        </p:nvSpPr>
        <p:spPr>
          <a:xfrm>
            <a:off x="10012680" y="1207008"/>
            <a:ext cx="1719072" cy="621792"/>
          </a:xfrm>
          <a:prstGeom prst="rect">
            <a:avLst/>
          </a:prstGeom>
          <a:noFill/>
          <a:ln/>
        </p:spPr>
        <p:txBody>
          <a:bodyPr wrap="square" rtlCol="0" anchor="ctr"/>
          <a:lstStyle/>
          <a:p>
            <a:pPr indent="0" marL="0">
              <a:buNone/>
            </a:pPr>
            <a:r>
              <a:rPr lang="en-US" sz="840" b="1" dirty="0">
                <a:solidFill>
                  <a:srgbClr val="0F172A"/>
                </a:solidFill>
                <a:latin typeface="Roboto" pitchFamily="34" charset="0"/>
                <a:ea typeface="Roboto" pitchFamily="34" charset="-122"/>
                <a:cs typeface="Roboto" pitchFamily="34" charset="-120"/>
              </a:rPr>
              <a:t>Valkey L1 Cache Purge</a:t>
            </a:r>
            <a:endParaRPr lang="en-US" sz="840" dirty="0"/>
          </a:p>
          <a:p>
            <a:pPr indent="0" marL="0">
              <a:buNone/>
            </a:pPr>
            <a:r>
              <a:rPr lang="en-US" sz="840" b="1" dirty="0">
                <a:solidFill>
                  <a:srgbClr val="0F172A"/>
                </a:solidFill>
                <a:latin typeface="Roboto" pitchFamily="34" charset="0"/>
                <a:ea typeface="Roboto" pitchFamily="34" charset="-122"/>
                <a:cs typeface="Roboto" pitchFamily="34" charset="-120"/>
              </a:rPr>
              <a:t>(HTTP 423 CMEK Lock)</a:t>
            </a:r>
            <a:endParaRPr lang="en-US" sz="840" dirty="0"/>
          </a:p>
        </p:txBody>
      </p:sp>
      <p:sp>
        <p:nvSpPr>
          <p:cNvPr id="31" name="Shape 29"/>
          <p:cNvSpPr/>
          <p:nvPr/>
        </p:nvSpPr>
        <p:spPr>
          <a:xfrm>
            <a:off x="3703320" y="2139696"/>
            <a:ext cx="2560320" cy="4206240"/>
          </a:xfrm>
          <a:prstGeom prst="roundRect">
            <a:avLst>
              <a:gd name="adj" fmla="val 3571"/>
            </a:avLst>
          </a:prstGeom>
          <a:solidFill>
            <a:srgbClr val="FFFFFF"/>
          </a:solidFill>
          <a:ln w="15875">
            <a:solidFill>
              <a:srgbClr val="1A73E8"/>
            </a:solidFill>
            <a:prstDash val="solid"/>
          </a:ln>
        </p:spPr>
      </p:sp>
      <p:sp>
        <p:nvSpPr>
          <p:cNvPr id="32" name="Shape 30"/>
          <p:cNvSpPr/>
          <p:nvPr/>
        </p:nvSpPr>
        <p:spPr>
          <a:xfrm>
            <a:off x="3703320" y="2139696"/>
            <a:ext cx="2560320" cy="329184"/>
          </a:xfrm>
          <a:prstGeom prst="rect">
            <a:avLst/>
          </a:prstGeom>
          <a:solidFill>
            <a:srgbClr val="E8F0FE"/>
          </a:solidFill>
          <a:ln/>
        </p:spPr>
      </p:sp>
      <p:sp>
        <p:nvSpPr>
          <p:cNvPr id="33" name="Text 31"/>
          <p:cNvSpPr/>
          <p:nvPr/>
        </p:nvSpPr>
        <p:spPr>
          <a:xfrm>
            <a:off x="3813048" y="2176272"/>
            <a:ext cx="2340864" cy="256032"/>
          </a:xfrm>
          <a:prstGeom prst="rect">
            <a:avLst/>
          </a:prstGeom>
          <a:noFill/>
          <a:ln/>
        </p:spPr>
        <p:txBody>
          <a:bodyPr wrap="square" rtlCol="0" anchor="ctr"/>
          <a:lstStyle/>
          <a:p>
            <a:pPr indent="0" marL="0">
              <a:buNone/>
            </a:pPr>
            <a:r>
              <a:rPr lang="en-US" sz="800" b="1" dirty="0">
                <a:solidFill>
                  <a:srgbClr val="1A73E8"/>
                </a:solidFill>
                <a:latin typeface="Google Sans" pitchFamily="34" charset="0"/>
                <a:ea typeface="Google Sans" pitchFamily="34" charset="-122"/>
                <a:cs typeface="Google Sans" pitchFamily="34" charset="-120"/>
              </a:rPr>
              <a:t>DAYS 1–30 • FOUNDATION</a:t>
            </a:r>
            <a:endParaRPr lang="en-US" sz="800" dirty="0"/>
          </a:p>
        </p:txBody>
      </p:sp>
      <p:sp>
        <p:nvSpPr>
          <p:cNvPr id="34" name="Text 32"/>
          <p:cNvSpPr/>
          <p:nvPr/>
        </p:nvSpPr>
        <p:spPr>
          <a:xfrm>
            <a:off x="3831336" y="2560320"/>
            <a:ext cx="2304288" cy="512064"/>
          </a:xfrm>
          <a:prstGeom prst="rect">
            <a:avLst/>
          </a:prstGeom>
          <a:noFill/>
          <a:ln/>
        </p:spPr>
        <p:txBody>
          <a:bodyPr wrap="square" rtlCol="0" anchor="ctr"/>
          <a:lstStyle/>
          <a:p>
            <a:pPr indent="0" marL="0">
              <a:buNone/>
            </a:pPr>
            <a:r>
              <a:rPr lang="en-US" sz="1100" b="1" dirty="0">
                <a:solidFill>
                  <a:srgbClr val="0F172A"/>
                </a:solidFill>
                <a:latin typeface="Google Sans" pitchFamily="34" charset="0"/>
                <a:ea typeface="Google Sans" pitchFamily="34" charset="-122"/>
                <a:cs typeface="Google Sans" pitchFamily="34" charset="-120"/>
              </a:rPr>
              <a:t>Deploy 5-Hop Core &amp; Pattern A Pool</a:t>
            </a:r>
            <a:endParaRPr lang="en-US" sz="1100" dirty="0"/>
          </a:p>
        </p:txBody>
      </p:sp>
      <p:sp>
        <p:nvSpPr>
          <p:cNvPr id="35" name="Text 33"/>
          <p:cNvSpPr/>
          <p:nvPr/>
        </p:nvSpPr>
        <p:spPr>
          <a:xfrm>
            <a:off x="3831336" y="3182112"/>
            <a:ext cx="2304288" cy="2971800"/>
          </a:xfrm>
          <a:prstGeom prst="rect">
            <a:avLst/>
          </a:prstGeom>
          <a:noFill/>
          <a:ln/>
        </p:spPr>
        <p:txBody>
          <a:bodyPr wrap="square" rtlCol="0" anchor="t"/>
          <a:lstStyle/>
          <a:p>
            <a:pPr indent="0" marL="0">
              <a:buNone/>
            </a:pPr>
            <a:r>
              <a:rPr lang="en-US" sz="880" dirty="0">
                <a:solidFill>
                  <a:srgbClr val="334155"/>
                </a:solidFill>
                <a:latin typeface="Roboto" pitchFamily="34" charset="0"/>
                <a:ea typeface="Roboto" pitchFamily="34" charset="-122"/>
                <a:cs typeface="Roboto" pitchFamily="34" charset="-120"/>
              </a:rPr>
              <a:t>• Deploy core-cymbal-agent/ &amp; Terraform 2.6</a:t>
            </a:r>
            <a:endParaRPr lang="en-US" sz="880" dirty="0"/>
          </a:p>
          <a:p>
            <a:pPr indent="0" marL="0">
              <a:buNone/>
            </a:pPr>
            <a:endParaRPr lang="en-US" sz="880" dirty="0"/>
          </a:p>
          <a:p>
            <a:pPr indent="0" marL="0">
              <a:buNone/>
            </a:pPr>
            <a:r>
              <a:rPr lang="en-US" sz="880" dirty="0">
                <a:solidFill>
                  <a:srgbClr val="334155"/>
                </a:solidFill>
                <a:latin typeface="Roboto" pitchFamily="34" charset="0"/>
                <a:ea typeface="Roboto" pitchFamily="34" charset="-122"/>
                <a:cs typeface="Roboto" pitchFamily="34" charset="-120"/>
              </a:rPr>
              <a:t>• Enable &lt;0.15ms cached-JWKS STS JWT + DPoP</a:t>
            </a:r>
            <a:endParaRPr lang="en-US" sz="880" dirty="0"/>
          </a:p>
          <a:p>
            <a:pPr indent="0" marL="0">
              <a:buNone/>
            </a:pPr>
            <a:endParaRPr lang="en-US" sz="880" dirty="0"/>
          </a:p>
          <a:p>
            <a:pPr indent="0" marL="0">
              <a:buNone/>
            </a:pPr>
            <a:r>
              <a:rPr lang="en-US" sz="880" dirty="0">
                <a:solidFill>
                  <a:srgbClr val="334155"/>
                </a:solidFill>
                <a:latin typeface="Roboto" pitchFamily="34" charset="0"/>
                <a:ea typeface="Roboto" pitchFamily="34" charset="-122"/>
                <a:cs typeface="Roboto" pitchFamily="34" charset="-120"/>
              </a:rPr>
              <a:t>• Pass 10/10 Pattern A red-team breach simulations</a:t>
            </a:r>
            <a:endParaRPr lang="en-US" sz="880" dirty="0"/>
          </a:p>
        </p:txBody>
      </p:sp>
      <p:sp>
        <p:nvSpPr>
          <p:cNvPr id="36" name="Shape 34"/>
          <p:cNvSpPr/>
          <p:nvPr/>
        </p:nvSpPr>
        <p:spPr>
          <a:xfrm>
            <a:off x="6492240" y="2139696"/>
            <a:ext cx="2560320" cy="4206240"/>
          </a:xfrm>
          <a:prstGeom prst="roundRect">
            <a:avLst>
              <a:gd name="adj" fmla="val 3571"/>
            </a:avLst>
          </a:prstGeom>
          <a:solidFill>
            <a:srgbClr val="FFFFFF"/>
          </a:solidFill>
          <a:ln w="15875">
            <a:solidFill>
              <a:srgbClr val="D93025"/>
            </a:solidFill>
            <a:prstDash val="solid"/>
          </a:ln>
        </p:spPr>
      </p:sp>
      <p:sp>
        <p:nvSpPr>
          <p:cNvPr id="37" name="Shape 35"/>
          <p:cNvSpPr/>
          <p:nvPr/>
        </p:nvSpPr>
        <p:spPr>
          <a:xfrm>
            <a:off x="6492240" y="2139696"/>
            <a:ext cx="2560320" cy="329184"/>
          </a:xfrm>
          <a:prstGeom prst="rect">
            <a:avLst/>
          </a:prstGeom>
          <a:solidFill>
            <a:srgbClr val="FCE8E6"/>
          </a:solidFill>
          <a:ln/>
        </p:spPr>
      </p:sp>
      <p:sp>
        <p:nvSpPr>
          <p:cNvPr id="38" name="Text 36"/>
          <p:cNvSpPr/>
          <p:nvPr/>
        </p:nvSpPr>
        <p:spPr>
          <a:xfrm>
            <a:off x="6601968" y="2176272"/>
            <a:ext cx="2340864" cy="256032"/>
          </a:xfrm>
          <a:prstGeom prst="rect">
            <a:avLst/>
          </a:prstGeom>
          <a:noFill/>
          <a:ln/>
        </p:spPr>
        <p:txBody>
          <a:bodyPr wrap="square" rtlCol="0" anchor="ctr"/>
          <a:lstStyle/>
          <a:p>
            <a:pPr indent="0" marL="0">
              <a:buNone/>
            </a:pPr>
            <a:r>
              <a:rPr lang="en-US" sz="800" b="1" dirty="0">
                <a:solidFill>
                  <a:srgbClr val="D93025"/>
                </a:solidFill>
                <a:latin typeface="Google Sans" pitchFamily="34" charset="0"/>
                <a:ea typeface="Google Sans" pitchFamily="34" charset="-122"/>
                <a:cs typeface="Google Sans" pitchFamily="34" charset="-120"/>
              </a:rPr>
              <a:t>DAYS 31–60 • SOVEREIGNTY</a:t>
            </a:r>
            <a:endParaRPr lang="en-US" sz="800" dirty="0"/>
          </a:p>
        </p:txBody>
      </p:sp>
      <p:sp>
        <p:nvSpPr>
          <p:cNvPr id="39" name="Text 37"/>
          <p:cNvSpPr/>
          <p:nvPr/>
        </p:nvSpPr>
        <p:spPr>
          <a:xfrm>
            <a:off x="6620256" y="2560320"/>
            <a:ext cx="2304288" cy="512064"/>
          </a:xfrm>
          <a:prstGeom prst="rect">
            <a:avLst/>
          </a:prstGeom>
          <a:noFill/>
          <a:ln/>
        </p:spPr>
        <p:txBody>
          <a:bodyPr wrap="square" rtlCol="0" anchor="ctr"/>
          <a:lstStyle/>
          <a:p>
            <a:pPr indent="0" marL="0">
              <a:buNone/>
            </a:pPr>
            <a:r>
              <a:rPr lang="en-US" sz="1100" b="1" dirty="0">
                <a:solidFill>
                  <a:srgbClr val="0F172A"/>
                </a:solidFill>
                <a:latin typeface="Google Sans" pitchFamily="34" charset="0"/>
                <a:ea typeface="Google Sans" pitchFamily="34" charset="-122"/>
                <a:cs typeface="Google Sans" pitchFamily="34" charset="-120"/>
              </a:rPr>
              <a:t>Add Pattern B Silos &amp; CMEK Kill-Switch</a:t>
            </a:r>
            <a:endParaRPr lang="en-US" sz="1100" dirty="0"/>
          </a:p>
        </p:txBody>
      </p:sp>
      <p:sp>
        <p:nvSpPr>
          <p:cNvPr id="40" name="Text 38"/>
          <p:cNvSpPr/>
          <p:nvPr/>
        </p:nvSpPr>
        <p:spPr>
          <a:xfrm>
            <a:off x="6620256" y="3182112"/>
            <a:ext cx="2304288" cy="2971800"/>
          </a:xfrm>
          <a:prstGeom prst="rect">
            <a:avLst/>
          </a:prstGeom>
          <a:noFill/>
          <a:ln/>
        </p:spPr>
        <p:txBody>
          <a:bodyPr wrap="square" rtlCol="0" anchor="t"/>
          <a:lstStyle/>
          <a:p>
            <a:pPr indent="0" marL="0">
              <a:buNone/>
            </a:pPr>
            <a:r>
              <a:rPr lang="en-US" sz="880" dirty="0">
                <a:solidFill>
                  <a:srgbClr val="334155"/>
                </a:solidFill>
                <a:latin typeface="Roboto" pitchFamily="34" charset="0"/>
                <a:ea typeface="Roboto" pitchFamily="34" charset="-122"/>
                <a:cs typeface="Roboto" pitchFamily="34" charset="-120"/>
              </a:rPr>
              <a:t>• Apply Terraform 3.6 for regulated tenants</a:t>
            </a:r>
            <a:endParaRPr lang="en-US" sz="880" dirty="0"/>
          </a:p>
          <a:p>
            <a:pPr indent="0" marL="0">
              <a:buNone/>
            </a:pPr>
            <a:endParaRPr lang="en-US" sz="880" dirty="0"/>
          </a:p>
          <a:p>
            <a:pPr indent="0" marL="0">
              <a:buNone/>
            </a:pPr>
            <a:r>
              <a:rPr lang="en-US" sz="880" dirty="0">
                <a:solidFill>
                  <a:srgbClr val="334155"/>
                </a:solidFill>
                <a:latin typeface="Roboto" pitchFamily="34" charset="0"/>
                <a:ea typeface="Roboto" pitchFamily="34" charset="-122"/>
                <a:cs typeface="Roboto" pitchFamily="34" charset="-120"/>
              </a:rPr>
              <a:t>• Certify &lt;60s CMEK HTTP 423 + &lt;5s Valkey flush</a:t>
            </a:r>
            <a:endParaRPr lang="en-US" sz="880" dirty="0"/>
          </a:p>
          <a:p>
            <a:pPr indent="0" marL="0">
              <a:buNone/>
            </a:pPr>
            <a:endParaRPr lang="en-US" sz="880" dirty="0"/>
          </a:p>
          <a:p>
            <a:pPr indent="0" marL="0">
              <a:buNone/>
            </a:pPr>
            <a:r>
              <a:rPr lang="en-US" sz="880" dirty="0">
                <a:solidFill>
                  <a:srgbClr val="334155"/>
                </a:solidFill>
                <a:latin typeface="Roboto" pitchFamily="34" charset="0"/>
                <a:ea typeface="Roboto" pitchFamily="34" charset="-122"/>
                <a:cs typeface="Roboto" pitchFamily="34" charset="-120"/>
              </a:rPr>
              <a:t>• Verify SET NX PX 5000 single-flight recovery</a:t>
            </a:r>
            <a:endParaRPr lang="en-US" sz="880" dirty="0"/>
          </a:p>
        </p:txBody>
      </p:sp>
      <p:sp>
        <p:nvSpPr>
          <p:cNvPr id="41" name="Shape 39"/>
          <p:cNvSpPr/>
          <p:nvPr/>
        </p:nvSpPr>
        <p:spPr>
          <a:xfrm>
            <a:off x="9281160" y="2139696"/>
            <a:ext cx="2560320" cy="4206240"/>
          </a:xfrm>
          <a:prstGeom prst="roundRect">
            <a:avLst>
              <a:gd name="adj" fmla="val 3571"/>
            </a:avLst>
          </a:prstGeom>
          <a:solidFill>
            <a:srgbClr val="FFFFFF"/>
          </a:solidFill>
          <a:ln w="15875">
            <a:solidFill>
              <a:srgbClr val="1E8E3E"/>
            </a:solidFill>
            <a:prstDash val="solid"/>
          </a:ln>
        </p:spPr>
      </p:sp>
      <p:sp>
        <p:nvSpPr>
          <p:cNvPr id="42" name="Shape 40"/>
          <p:cNvSpPr/>
          <p:nvPr/>
        </p:nvSpPr>
        <p:spPr>
          <a:xfrm>
            <a:off x="9281160" y="2139696"/>
            <a:ext cx="2560320" cy="329184"/>
          </a:xfrm>
          <a:prstGeom prst="rect">
            <a:avLst/>
          </a:prstGeom>
          <a:solidFill>
            <a:srgbClr val="E6F4EA"/>
          </a:solidFill>
          <a:ln/>
        </p:spPr>
      </p:sp>
      <p:sp>
        <p:nvSpPr>
          <p:cNvPr id="43" name="Text 41"/>
          <p:cNvSpPr/>
          <p:nvPr/>
        </p:nvSpPr>
        <p:spPr>
          <a:xfrm>
            <a:off x="9390888" y="2176272"/>
            <a:ext cx="2340864" cy="256032"/>
          </a:xfrm>
          <a:prstGeom prst="rect">
            <a:avLst/>
          </a:prstGeom>
          <a:noFill/>
          <a:ln/>
        </p:spPr>
        <p:txBody>
          <a:bodyPr wrap="square" rtlCol="0" anchor="ctr"/>
          <a:lstStyle/>
          <a:p>
            <a:pPr indent="0" marL="0">
              <a:buNone/>
            </a:pPr>
            <a:r>
              <a:rPr lang="en-US" sz="800" b="1" dirty="0">
                <a:solidFill>
                  <a:srgbClr val="1E8E3E"/>
                </a:solidFill>
                <a:latin typeface="Google Sans" pitchFamily="34" charset="0"/>
                <a:ea typeface="Google Sans" pitchFamily="34" charset="-122"/>
                <a:cs typeface="Google Sans" pitchFamily="34" charset="-120"/>
              </a:rPr>
              <a:t>DAYS 61–90 • SCALE &amp; CI/CD</a:t>
            </a:r>
            <a:endParaRPr lang="en-US" sz="800" dirty="0"/>
          </a:p>
        </p:txBody>
      </p:sp>
      <p:sp>
        <p:nvSpPr>
          <p:cNvPr id="44" name="Text 42"/>
          <p:cNvSpPr/>
          <p:nvPr/>
        </p:nvSpPr>
        <p:spPr>
          <a:xfrm>
            <a:off x="9409176" y="2560320"/>
            <a:ext cx="2304288" cy="512064"/>
          </a:xfrm>
          <a:prstGeom prst="rect">
            <a:avLst/>
          </a:prstGeom>
          <a:noFill/>
          <a:ln/>
        </p:spPr>
        <p:txBody>
          <a:bodyPr wrap="square" rtlCol="0" anchor="ctr"/>
          <a:lstStyle/>
          <a:p>
            <a:pPr indent="0" marL="0">
              <a:buNone/>
            </a:pPr>
            <a:r>
              <a:rPr lang="en-US" sz="1100" b="1" dirty="0">
                <a:solidFill>
                  <a:srgbClr val="0F172A"/>
                </a:solidFill>
                <a:latin typeface="Google Sans" pitchFamily="34" charset="0"/>
                <a:ea typeface="Google Sans" pitchFamily="34" charset="-122"/>
                <a:cs typeface="Google Sans" pitchFamily="34" charset="-120"/>
              </a:rPr>
              <a:t>Launch Pattern C PSC &amp; Forensic Gate</a:t>
            </a:r>
            <a:endParaRPr lang="en-US" sz="1100" dirty="0"/>
          </a:p>
        </p:txBody>
      </p:sp>
      <p:sp>
        <p:nvSpPr>
          <p:cNvPr id="45" name="Text 43"/>
          <p:cNvSpPr/>
          <p:nvPr/>
        </p:nvSpPr>
        <p:spPr>
          <a:xfrm>
            <a:off x="9409176" y="3182112"/>
            <a:ext cx="2304288" cy="2971800"/>
          </a:xfrm>
          <a:prstGeom prst="rect">
            <a:avLst/>
          </a:prstGeom>
          <a:noFill/>
          <a:ln/>
        </p:spPr>
        <p:txBody>
          <a:bodyPr wrap="square" rtlCol="0" anchor="t"/>
          <a:lstStyle/>
          <a:p>
            <a:pPr indent="0" marL="0">
              <a:buNone/>
            </a:pPr>
            <a:r>
              <a:rPr lang="en-US" sz="880" dirty="0">
                <a:solidFill>
                  <a:srgbClr val="334155"/>
                </a:solidFill>
                <a:latin typeface="Roboto" pitchFamily="34" charset="0"/>
                <a:ea typeface="Roboto" pitchFamily="34" charset="-122"/>
                <a:cs typeface="Roboto" pitchFamily="34" charset="-120"/>
              </a:rPr>
              <a:t>• Apply Terraform 4.6 for 0ms live tier promotion</a:t>
            </a:r>
            <a:endParaRPr lang="en-US" sz="880" dirty="0"/>
          </a:p>
          <a:p>
            <a:pPr indent="0" marL="0">
              <a:buNone/>
            </a:pPr>
            <a:endParaRPr lang="en-US" sz="880" dirty="0"/>
          </a:p>
          <a:p>
            <a:pPr indent="0" marL="0">
              <a:buNone/>
            </a:pPr>
            <a:r>
              <a:rPr lang="en-US" sz="880" dirty="0">
                <a:solidFill>
                  <a:srgbClr val="334155"/>
                </a:solidFill>
                <a:latin typeface="Roboto" pitchFamily="34" charset="0"/>
                <a:ea typeface="Roboto" pitchFamily="34" charset="-122"/>
                <a:cs typeface="Roboto" pitchFamily="34" charset="-120"/>
              </a:rPr>
              <a:t>• Enable BigQuery OTel FinOps chargeback SQL</a:t>
            </a:r>
            <a:endParaRPr lang="en-US" sz="880" dirty="0"/>
          </a:p>
          <a:p>
            <a:pPr indent="0" marL="0">
              <a:buNone/>
            </a:pPr>
            <a:endParaRPr lang="en-US" sz="880" dirty="0"/>
          </a:p>
          <a:p>
            <a:pPr indent="0" marL="0">
              <a:buNone/>
            </a:pPr>
            <a:r>
              <a:rPr lang="en-US" sz="880" dirty="0">
                <a:solidFill>
                  <a:srgbClr val="334155"/>
                </a:solidFill>
                <a:latin typeface="Roboto" pitchFamily="34" charset="0"/>
                <a:ea typeface="Roboto" pitchFamily="34" charset="-122"/>
                <a:cs typeface="Roboto" pitchFamily="34" charset="-120"/>
              </a:rPr>
              <a:t>• Gate releases on 13/13 Forensic CI/CD audit</a:t>
            </a:r>
            <a:endParaRPr lang="en-US" sz="8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Blog 1 — Multi-Tenant Agentic AI on Google Cloud (Executive Edition)</dc:title>
  <dc:subject>PptxGenJS Presentation</dc:subject>
  <dc:creator>Google Cloud FDE &amp; AI Platform Architecture Team</dc:creator>
  <cp:lastModifiedBy>Google Cloud FDE &amp; AI Platform Architecture Team</cp:lastModifiedBy>
  <cp:revision>1</cp:revision>
  <dcterms:created xsi:type="dcterms:W3CDTF">2026-10-30T21:37:17Z</dcterms:created>
  <dcterms:modified xsi:type="dcterms:W3CDTF">2026-10-30T21:37:17Z</dcterms:modified>
</cp:coreProperties>
</file>