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In this six-slide executive and technical briefing, we are walking through Design Patterns for Scalable Multi-Agent Ecosystems: Vertex AI Agent Engine, MCP &amp; A2A.</a:t>
            </a:r>
            <a:endParaRPr lang="en-US" dirty="0"/>
          </a:p>
          <a:p>
            <a:r>
              <a:rPr lang="en-US" dirty="0"/>
              <a:t>In this session, we look at how enterprise teams scale from a single AI chatbot to a coordinated ecosystem of specialized agents—using Vertex AI Agent Engine for managed runtime orchestration, the Model Context Protocol (MCP) for standardized enterprise tool access, and the Agent-to-Agent (A2A) protocol for governed delegation.</a:t>
            </a:r>
            <a:endParaRPr lang="en-US" dirty="0"/>
          </a:p>
          <a:p>
            <a:r>
              <a:rPr lang="en-US" dirty="0"/>
              <a:t>With our business goal and architectural thesis set, let's turn to Slide 2 to examine the complete Figure 1 Google Cloud Hub-and-Spoke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the executive overview we just covered on Slide 1, this diagram gives us the complete end-to-end physical map of the system on Google Cloud.</a:t>
            </a:r>
            <a:endParaRPr lang="en-US" dirty="0"/>
          </a:p>
          <a:p>
            <a:r>
              <a:rPr lang="en-US" dirty="0"/>
              <a:t>Figure 1 shows our complete Google Cloud physical blueprint for multi-agent orchestration. Requests enter the blue Routing Hub, get routed to a Supervisor Agent inside the green Governance Hub on Vertex AI Agent Engine, and delegate specialized tasks across the bottom spokes using signed A2A agent cards and governed MCP tool servers connected to BigQuery, AlloyDB, and third-party SaaS.</a:t>
            </a:r>
            <a:endParaRPr lang="en-US" dirty="0"/>
          </a:p>
          <a:p>
            <a:r>
              <a:rPr lang="en-US" dirty="0"/>
              <a:t>Now that we see where each component sits in Figure 1, let's move to Slide 3 to walk through how a live request flows across these services step by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from the Figure 1 blueprint on Slide 2, this slide unpacks the exact step-by-step runtime workflow.</a:t>
            </a:r>
            <a:endParaRPr lang="en-US" dirty="0"/>
          </a:p>
          <a:p>
            <a:r>
              <a:rPr lang="en-US" dirty="0"/>
              <a:t>Walking through the six-step choreography on this slide illustrates how context and security travel across multiple agents. When the Supervisor Agent delegates a sub-task over A2A or calls an MCP tool, it passes a scoped identity token, a shared distributed trace ID, and a strict token budget—ensuring specialist agents collaborate cleanly without losing user permissions or entering infinite loops.</a:t>
            </a:r>
            <a:endParaRPr lang="en-US" dirty="0"/>
          </a:p>
          <a:p>
            <a:r>
              <a:rPr lang="en-US" dirty="0"/>
              <a:t>Having seen how the components interact step by step on Slide 3, let's turn to Slide 4 to see how this architecture solves a concrete enterprise customer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step-by-step technical workflow on Slide 3, this slide connects the architecture directly to tangible business value and the managed Google Cloud services that power it.</a:t>
            </a:r>
            <a:endParaRPr lang="en-US" dirty="0"/>
          </a:p>
          <a:p>
            <a:r>
              <a:rPr lang="en-US" dirty="0"/>
              <a:t>This slide connects our multi-agent architecture to a real enterprise operations workflow—showing how a Supervisor Agent coordinates an Incident Diagnostic Agent, a Database Analytics Agent, and a Ticketing Agent in parallel to resolve complex cross-department workflows in seconds rather than hours.</a:t>
            </a:r>
            <a:endParaRPr lang="en-US" dirty="0"/>
          </a:p>
          <a:p>
            <a:r>
              <a:rPr lang="en-US" dirty="0"/>
              <a:t>Once business and technical leaders see how the use case works on Slide 4, the natural next question is: how does this compare to alternative designs, and what are the trade-offs? Let's look at Slide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the customer use case from Slide 4, this slide evaluates our architectural trade-offs so decision-makers have full confidence in why this design is recommended.</a:t>
            </a:r>
            <a:endParaRPr lang="en-US" dirty="0"/>
          </a:p>
          <a:p>
            <a:r>
              <a:rPr lang="en-US" dirty="0"/>
              <a:t>Here we compare the three primary multi-agent orchestration topologies—Hierarchical Supervisor, Sequential Pipeline, and Peer-to-Peer Mesh—so your architects know exactly which pattern to choose based on workflow determinism, latency budgets, and governance requirements.</a:t>
            </a:r>
            <a:endParaRPr lang="en-US" dirty="0"/>
          </a:p>
          <a:p>
            <a:r>
              <a:rPr lang="en-US" dirty="0"/>
              <a:t>With the architectural trade-offs clear here on Slide 5, let's turn to our final slide—Slide 6—to walk through the deployment checklist and next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design trade-offs from Slide 5, our closing slide transitions from architecture into hands-on production deployment.</a:t>
            </a:r>
            <a:endParaRPr lang="en-US" dirty="0"/>
          </a:p>
          <a:p>
            <a:r>
              <a:rPr lang="en-US" dirty="0"/>
              <a:t>Finally, here is the deployment runbook for registering A2A agent cards, exposing governed MCP tool endpoints, and launching your multi-agent ecosystem on Vertex AI Agent Engine.</a:t>
            </a:r>
            <a:endParaRPr lang="en-US" dirty="0"/>
          </a:p>
          <a:p>
            <a:r>
              <a:rPr lang="en-US" dirty="0"/>
              <a:t>That concludes our six-slide briefing—let's open the floor for your questions or launch the interactive codebase workbench to inspect the implementation files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image" Target="../media/image-2-19.png"/><Relationship Id="rId20" Type="http://schemas.openxmlformats.org/officeDocument/2006/relationships/image" Target="../media/image-2-20.png"/><Relationship Id="rId21" Type="http://schemas.openxmlformats.org/officeDocument/2006/relationships/slideLayout" Target="../slideLayouts/slideLayout1.xml"/><Relationship Id="rId2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804672" y="438912"/>
            <a:ext cx="6766560" cy="219456"/>
          </a:xfrm>
          <a:prstGeom prst="rect">
            <a:avLst/>
          </a:prstGeom>
          <a:noFill/>
          <a:ln/>
        </p:spPr>
        <p:txBody>
          <a:bodyPr wrap="square" rtlCol="0" anchor="ctr"/>
          <a:lstStyle/>
          <a:p>
            <a:pPr indent="0" marL="0">
              <a:buNone/>
            </a:pPr>
            <a:r>
              <a:rPr lang="en-US" sz="920" b="1" dirty="0">
                <a:solidFill>
                  <a:srgbClr val="5F6368"/>
                </a:solidFill>
                <a:latin typeface="Arial" pitchFamily="34" charset="0"/>
                <a:ea typeface="Arial" pitchFamily="34" charset="-122"/>
                <a:cs typeface="Arial" pitchFamily="34" charset="-120"/>
              </a:rPr>
              <a:t>Cloud Architecture Center   ›   Reference Guide • Agent Engine, MCP &amp; A2A</a:t>
            </a:r>
            <a:endParaRPr lang="en-US" sz="920" dirty="0"/>
          </a:p>
        </p:txBody>
      </p:sp>
      <p:sp>
        <p:nvSpPr>
          <p:cNvPr id="4" name="Shape 2"/>
          <p:cNvSpPr/>
          <p:nvPr/>
        </p:nvSpPr>
        <p:spPr>
          <a:xfrm>
            <a:off x="7973568" y="429768"/>
            <a:ext cx="841248" cy="219456"/>
          </a:xfrm>
          <a:prstGeom prst="roundRect">
            <a:avLst>
              <a:gd name="adj" fmla="val 16667"/>
            </a:avLst>
          </a:prstGeom>
          <a:solidFill>
            <a:srgbClr val="F1F5F9"/>
          </a:solidFill>
          <a:ln w="9525">
            <a:solidFill>
              <a:srgbClr val="CBD5E1"/>
            </a:solidFill>
            <a:prstDash val="solid"/>
          </a:ln>
        </p:spPr>
      </p:sp>
      <p:sp>
        <p:nvSpPr>
          <p:cNvPr id="5" name="Text 3"/>
          <p:cNvSpPr/>
          <p:nvPr/>
        </p:nvSpPr>
        <p:spPr>
          <a:xfrm>
            <a:off x="7973568" y="429768"/>
            <a:ext cx="841248" cy="219456"/>
          </a:xfrm>
          <a:prstGeom prst="rect">
            <a:avLst/>
          </a:prstGeom>
          <a:noFill/>
          <a:ln/>
        </p:spPr>
        <p:txBody>
          <a:bodyPr wrap="square" rtlCol="0" anchor="ctr"/>
          <a:lstStyle/>
          <a:p>
            <a:pPr algn="ctr" indent="0" marL="0">
              <a:buNone/>
            </a:pPr>
            <a:r>
              <a:rPr lang="en-US" sz="780" b="1" dirty="0">
                <a:solidFill>
                  <a:srgbClr val="334155"/>
                </a:solidFill>
                <a:latin typeface="Courier New" pitchFamily="34" charset="0"/>
                <a:ea typeface="Courier New" pitchFamily="34" charset="-122"/>
                <a:cs typeface="Courier New" pitchFamily="34" charset="-120"/>
              </a:rPr>
              <a:t>DOC-REF-09</a:t>
            </a:r>
            <a:endParaRPr lang="en-US" sz="780" dirty="0"/>
          </a:p>
        </p:txBody>
      </p:sp>
      <p:sp>
        <p:nvSpPr>
          <p:cNvPr id="6" name="Text 4"/>
          <p:cNvSpPr/>
          <p:nvPr/>
        </p:nvSpPr>
        <p:spPr>
          <a:xfrm>
            <a:off x="8869680" y="438912"/>
            <a:ext cx="2514600" cy="219456"/>
          </a:xfrm>
          <a:prstGeom prst="rect">
            <a:avLst/>
          </a:prstGeom>
          <a:noFill/>
          <a:ln/>
        </p:spPr>
        <p:txBody>
          <a:bodyPr wrap="square" rtlCol="0" anchor="ctr"/>
          <a:lstStyle/>
          <a:p>
            <a:pPr algn="r" indent="0" marL="0">
              <a:buNone/>
            </a:pPr>
            <a:r>
              <a:rPr lang="en-US" sz="880" dirty="0">
                <a:solidFill>
                  <a:srgbClr val="5F6368"/>
                </a:solidFill>
                <a:latin typeface="Arial" pitchFamily="34" charset="0"/>
                <a:ea typeface="Arial" pitchFamily="34" charset="-122"/>
                <a:cs typeface="Arial" pitchFamily="34" charset="-120"/>
              </a:rPr>
              <a:t>·   10 min read   ·   Last reviewed 2026-10-15</a:t>
            </a:r>
            <a:endParaRPr lang="en-US" sz="880" dirty="0"/>
          </a:p>
        </p:txBody>
      </p:sp>
      <p:sp>
        <p:nvSpPr>
          <p:cNvPr id="7" name="Text 5"/>
          <p:cNvSpPr/>
          <p:nvPr/>
        </p:nvSpPr>
        <p:spPr>
          <a:xfrm>
            <a:off x="804672" y="768096"/>
            <a:ext cx="10570464" cy="877824"/>
          </a:xfrm>
          <a:prstGeom prst="rect">
            <a:avLst/>
          </a:prstGeom>
          <a:noFill/>
          <a:ln/>
        </p:spPr>
        <p:txBody>
          <a:bodyPr wrap="square" rtlCol="0" anchor="ctr"/>
          <a:lstStyle/>
          <a:p>
            <a:pPr indent="0" marL="0">
              <a:buNone/>
            </a:pPr>
            <a:r>
              <a:rPr lang="en-US" sz="2150" dirty="0">
                <a:solidFill>
                  <a:srgbClr val="202124"/>
                </a:solidFill>
                <a:latin typeface="Arial" pitchFamily="34" charset="0"/>
                <a:ea typeface="Arial" pitchFamily="34" charset="-122"/>
                <a:cs typeface="Arial" pitchFamily="34" charset="-120"/>
              </a:rPr>
              <a:t>Design Patterns for Scalable Multi-Agent Ecosystems: Vertex AI Agent Engine, MCP &amp; A2A</a:t>
            </a:r>
            <a:endParaRPr lang="en-US" sz="2150" dirty="0"/>
          </a:p>
        </p:txBody>
      </p:sp>
      <p:sp>
        <p:nvSpPr>
          <p:cNvPr id="8" name="Shape 6"/>
          <p:cNvSpPr/>
          <p:nvPr/>
        </p:nvSpPr>
        <p:spPr>
          <a:xfrm>
            <a:off x="384048" y="1773936"/>
            <a:ext cx="11420856" cy="0"/>
          </a:xfrm>
          <a:prstGeom prst="line">
            <a:avLst/>
          </a:prstGeom>
          <a:noFill/>
          <a:ln w="9525">
            <a:solidFill>
              <a:srgbClr val="DADCE0"/>
            </a:solidFill>
            <a:prstDash val="solid"/>
          </a:ln>
        </p:spPr>
      </p:sp>
      <p:sp>
        <p:nvSpPr>
          <p:cNvPr id="9" name="Text 7"/>
          <p:cNvSpPr/>
          <p:nvPr/>
        </p:nvSpPr>
        <p:spPr>
          <a:xfrm>
            <a:off x="804672" y="1938528"/>
            <a:ext cx="10570464" cy="585216"/>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Scaling an enterprise agent ecosystem requires separating intra-domain tool access from inter-agent collaboration. When every agent bundles custom database drivers and proprietary API wrappers, credential rotation and schema evolution become unmanageable.</a:t>
            </a:r>
            <a:endParaRPr lang="en-US" sz="980" dirty="0"/>
          </a:p>
        </p:txBody>
      </p:sp>
      <p:sp>
        <p:nvSpPr>
          <p:cNvPr id="10" name="Text 8"/>
          <p:cNvSpPr/>
          <p:nvPr/>
        </p:nvSpPr>
        <p:spPr>
          <a:xfrm>
            <a:off x="804672" y="2633472"/>
            <a:ext cx="10570464" cy="877824"/>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By deploying Stateless MCP Servers on Cloud Run in front of BigQuery and enterprise APIs, and publishing A2A Agent Cards registered in the Gemini Enterprise Catalog, domain teams can evolve Order, Distributor, and Logistics Tracking agents independently while preserving end-to-end OBO+DPoP security.</a:t>
            </a:r>
            <a:endParaRPr lang="en-US" sz="980" dirty="0"/>
          </a:p>
        </p:txBody>
      </p:sp>
      <p:sp>
        <p:nvSpPr>
          <p:cNvPr id="11" name="Shape 9"/>
          <p:cNvSpPr/>
          <p:nvPr/>
        </p:nvSpPr>
        <p:spPr>
          <a:xfrm>
            <a:off x="804672" y="4553712"/>
            <a:ext cx="10570464" cy="0"/>
          </a:xfrm>
          <a:prstGeom prst="line">
            <a:avLst/>
          </a:prstGeom>
          <a:noFill/>
          <a:ln w="9525">
            <a:solidFill>
              <a:srgbClr val="DADCE0"/>
            </a:solidFill>
            <a:prstDash val="solid"/>
          </a:ln>
        </p:spPr>
      </p:sp>
      <p:sp>
        <p:nvSpPr>
          <p:cNvPr id="12" name="Text 10"/>
          <p:cNvSpPr/>
          <p:nvPr/>
        </p:nvSpPr>
        <p:spPr>
          <a:xfrm>
            <a:off x="804672" y="4700016"/>
            <a:ext cx="10570464" cy="347472"/>
          </a:xfrm>
          <a:prstGeom prst="rect">
            <a:avLst/>
          </a:prstGeom>
          <a:noFill/>
          <a:ln/>
        </p:spPr>
        <p:txBody>
          <a:bodyPr wrap="square" rtlCol="0" anchor="ctr"/>
          <a:lstStyle/>
          <a:p>
            <a:pPr indent="0" marL="0">
              <a:buNone/>
            </a:pPr>
            <a:r>
              <a:rPr lang="en-US" sz="1650" dirty="0">
                <a:solidFill>
                  <a:srgbClr val="202124"/>
                </a:solidFill>
                <a:latin typeface="Arial" pitchFamily="34" charset="0"/>
                <a:ea typeface="Arial" pitchFamily="34" charset="-122"/>
                <a:cs typeface="Arial" pitchFamily="34" charset="-120"/>
              </a:rPr>
              <a:t>Architecture</a:t>
            </a:r>
            <a:endParaRPr lang="en-US" sz="1650" dirty="0"/>
          </a:p>
        </p:txBody>
      </p:sp>
      <p:sp>
        <p:nvSpPr>
          <p:cNvPr id="13" name="Text 11"/>
          <p:cNvSpPr/>
          <p:nvPr/>
        </p:nvSpPr>
        <p:spPr>
          <a:xfrm>
            <a:off x="804672" y="5120640"/>
            <a:ext cx="10570464" cy="1353312"/>
          </a:xfrm>
          <a:prstGeom prst="rect">
            <a:avLst/>
          </a:prstGeom>
          <a:noFill/>
          <a:ln/>
        </p:spPr>
        <p:txBody>
          <a:bodyPr wrap="square" rtlCol="0" anchor="t"/>
          <a:lstStyle/>
          <a:p>
            <a:pPr indent="0" marL="0">
              <a:lnSpc>
                <a:spcPct val="122000"/>
              </a:lnSpc>
              <a:buNone/>
            </a:pPr>
            <a:r>
              <a:rPr lang="en-US" sz="960" dirty="0">
                <a:solidFill>
                  <a:srgbClr val="3C4043"/>
                </a:solidFill>
                <a:latin typeface="Arial" pitchFamily="34" charset="0"/>
                <a:ea typeface="Arial" pitchFamily="34" charset="-122"/>
                <a:cs typeface="Arial" pitchFamily="34" charset="-120"/>
              </a:rPr>
              <a:t>In this pattern, the Root Orchestrator Agent delegates domain objectives over A2A JSON-RPC to specialized sub-agents, while each sub-agent invokes stateless MCP tool servers deployed on Cloud Run.
</a:t>
            </a:r>
            <a:pPr indent="0" marL="0">
              <a:lnSpc>
                <a:spcPct val="122000"/>
              </a:lnSpc>
              <a:buNone/>
            </a:pPr>
            <a:r>
              <a:rPr lang="en-US" sz="960" dirty="0">
                <a:solidFill>
                  <a:srgbClr val="3C4043"/>
                </a:solidFill>
                <a:latin typeface="Arial" pitchFamily="34" charset="0"/>
                <a:ea typeface="Arial" pitchFamily="34" charset="-122"/>
                <a:cs typeface="Arial" pitchFamily="34" charset="-120"/>
              </a:rPr>
              <a:t>The topology separates centralized ingress and governance from isolated execution spokes (Domain Spoke A: Order &amp; Warehouse Inventory Agent and Domain Spoke B: Distributor &amp; Logistics Tracking Agent), ensuring deterministic policy enforcement and unified observability across the Google Cloud organization.</a:t>
            </a:r>
            <a:endParaRPr lang="en-US" sz="9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Agent Engine, MCP &amp; A2A  ›  Architecture  ›  Figure 1</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DOC-REF-09  ·  Page 2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Shape 4"/>
          <p:cNvSpPr/>
          <p:nvPr/>
        </p:nvSpPr>
        <p:spPr>
          <a:xfrm>
            <a:off x="658368" y="640080"/>
            <a:ext cx="10872216" cy="5852160"/>
          </a:xfrm>
          <a:prstGeom prst="roundRect">
            <a:avLst>
              <a:gd name="adj" fmla="val 625"/>
            </a:avLst>
          </a:prstGeom>
          <a:solidFill>
            <a:srgbClr val="FFFFFF"/>
          </a:solidFill>
          <a:ln w="10795">
            <a:solidFill>
              <a:srgbClr val="DADCE0"/>
            </a:solidFill>
            <a:prstDash val="solid"/>
          </a:ln>
        </p:spPr>
      </p:sp>
      <p:sp>
        <p:nvSpPr>
          <p:cNvPr id="7" name="Shape 5"/>
          <p:cNvSpPr/>
          <p:nvPr/>
        </p:nvSpPr>
        <p:spPr>
          <a:xfrm>
            <a:off x="658368" y="640080"/>
            <a:ext cx="10872216" cy="310896"/>
          </a:xfrm>
          <a:prstGeom prst="rect">
            <a:avLst/>
          </a:prstGeom>
          <a:solidFill>
            <a:srgbClr val="F8F9FA"/>
          </a:solidFill>
          <a:ln w="9525">
            <a:solidFill>
              <a:srgbClr val="DADCE0"/>
            </a:solidFill>
            <a:prstDash val="solid"/>
          </a:ln>
        </p:spPr>
      </p:sp>
      <p:sp>
        <p:nvSpPr>
          <p:cNvPr id="8" name="Text 6"/>
          <p:cNvSpPr/>
          <p:nvPr/>
        </p:nvSpPr>
        <p:spPr>
          <a:xfrm>
            <a:off x="822960" y="640080"/>
            <a:ext cx="10515600" cy="310896"/>
          </a:xfrm>
          <a:prstGeom prst="rect">
            <a:avLst/>
          </a:prstGeom>
          <a:noFill/>
          <a:ln/>
        </p:spPr>
        <p:txBody>
          <a:bodyPr wrap="square" rtlCol="0" anchor="ctr"/>
          <a:lstStyle/>
          <a:p>
            <a:pPr indent="0" marL="0">
              <a:buNone/>
            </a:pPr>
            <a:r>
              <a:rPr lang="en-US" sz="900" b="1" dirty="0">
                <a:solidFill>
                  <a:srgbClr val="202124"/>
                </a:solidFill>
                <a:latin typeface="Arial" pitchFamily="34" charset="0"/>
                <a:ea typeface="Arial" pitchFamily="34" charset="-122"/>
                <a:cs typeface="Arial" pitchFamily="34" charset="-120"/>
              </a:rPr>
              <a:t>Figure 1: Scalable Multi-Agent Ecosystem with Vertex AI Agent Engine, MCP &amp; A2A</a:t>
            </a:r>
            <a:endParaRPr lang="en-US" sz="900" dirty="0"/>
          </a:p>
        </p:txBody>
      </p:sp>
      <p:sp>
        <p:nvSpPr>
          <p:cNvPr id="9" name="Shape 7"/>
          <p:cNvSpPr/>
          <p:nvPr/>
        </p:nvSpPr>
        <p:spPr>
          <a:xfrm>
            <a:off x="658368" y="6163056"/>
            <a:ext cx="10872216" cy="329184"/>
          </a:xfrm>
          <a:prstGeom prst="rect">
            <a:avLst/>
          </a:prstGeom>
          <a:solidFill>
            <a:srgbClr val="F8F9FA"/>
          </a:solidFill>
          <a:ln w="9525">
            <a:solidFill>
              <a:srgbClr val="DADCE0"/>
            </a:solidFill>
            <a:prstDash val="solid"/>
          </a:ln>
        </p:spPr>
      </p:sp>
      <p:sp>
        <p:nvSpPr>
          <p:cNvPr id="10" name="Text 8"/>
          <p:cNvSpPr/>
          <p:nvPr/>
        </p:nvSpPr>
        <p:spPr>
          <a:xfrm>
            <a:off x="822960" y="6163056"/>
            <a:ext cx="10515600" cy="329184"/>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Figure 1. Coordinating Root, Order, Distributor, and Tracking agents via A2A Agent Cards and Cloud Run Stateless MCP Servers.</a:t>
            </a:r>
            <a:endParaRPr lang="en-US" sz="820" dirty="0"/>
          </a:p>
        </p:txBody>
      </p:sp>
      <p:sp>
        <p:nvSpPr>
          <p:cNvPr id="11" name="Shape 9"/>
          <p:cNvSpPr/>
          <p:nvPr/>
        </p:nvSpPr>
        <p:spPr>
          <a:xfrm>
            <a:off x="3922776" y="1664208"/>
            <a:ext cx="4344314" cy="4389120"/>
          </a:xfrm>
          <a:prstGeom prst="roundRect">
            <a:avLst>
              <a:gd name="adj" fmla="val 737"/>
            </a:avLst>
          </a:prstGeom>
          <a:solidFill>
            <a:srgbClr val="1A73E8"/>
          </a:solidFill>
          <a:ln w="15875">
            <a:solidFill>
              <a:srgbClr val="9AA0A6"/>
            </a:solidFill>
            <a:prstDash val="solid"/>
          </a:ln>
        </p:spPr>
      </p:sp>
      <p:sp>
        <p:nvSpPr>
          <p:cNvPr id="12" name="Shape 10"/>
          <p:cNvSpPr/>
          <p:nvPr/>
        </p:nvSpPr>
        <p:spPr>
          <a:xfrm>
            <a:off x="3982212" y="1851660"/>
            <a:ext cx="4224528" cy="4134917"/>
          </a:xfrm>
          <a:prstGeom prst="roundRect">
            <a:avLst>
              <a:gd name="adj" fmla="val 774"/>
            </a:avLst>
          </a:prstGeom>
          <a:solidFill>
            <a:srgbClr val="FFFFFF"/>
          </a:solidFill>
          <a:ln w="10795">
            <a:solidFill>
              <a:srgbClr val="9AA0A6"/>
            </a:solidFill>
            <a:prstDash val="solid"/>
          </a:ln>
        </p:spPr>
      </p:sp>
      <p:sp>
        <p:nvSpPr>
          <p:cNvPr id="13" name="Text 11"/>
          <p:cNvSpPr/>
          <p:nvPr/>
        </p:nvSpPr>
        <p:spPr>
          <a:xfrm>
            <a:off x="4027932" y="1858975"/>
            <a:ext cx="1773936"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VPC Service Controls Multi-Agent Ecosystem Perimeter</a:t>
            </a:r>
            <a:endParaRPr lang="en-US" sz="420" dirty="0"/>
          </a:p>
        </p:txBody>
      </p:sp>
      <p:sp>
        <p:nvSpPr>
          <p:cNvPr id="14" name="Shape 12"/>
          <p:cNvSpPr/>
          <p:nvPr/>
        </p:nvSpPr>
        <p:spPr>
          <a:xfrm>
            <a:off x="4042562" y="1986077"/>
            <a:ext cx="4104742" cy="3931920"/>
          </a:xfrm>
          <a:prstGeom prst="roundRect">
            <a:avLst>
              <a:gd name="adj" fmla="val 814"/>
            </a:avLst>
          </a:prstGeom>
          <a:solidFill>
            <a:srgbClr val="FFFFFF"/>
          </a:solidFill>
          <a:ln w="10795">
            <a:solidFill>
              <a:srgbClr val="9AA0A6"/>
            </a:solidFill>
            <a:prstDash val="solid"/>
          </a:ln>
        </p:spPr>
      </p:sp>
      <p:sp>
        <p:nvSpPr>
          <p:cNvPr id="15" name="Text 13"/>
          <p:cNvSpPr/>
          <p:nvPr/>
        </p:nvSpPr>
        <p:spPr>
          <a:xfrm>
            <a:off x="4088282" y="1993392"/>
            <a:ext cx="1723644"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A2A JSON-RPC Mesh &amp; OBO+DPoP Scope Narrowing</a:t>
            </a:r>
            <a:endParaRPr lang="en-US" sz="420" dirty="0"/>
          </a:p>
        </p:txBody>
      </p:sp>
      <p:sp>
        <p:nvSpPr>
          <p:cNvPr id="16" name="Shape 14"/>
          <p:cNvSpPr/>
          <p:nvPr/>
        </p:nvSpPr>
        <p:spPr>
          <a:xfrm>
            <a:off x="4109314" y="3738982"/>
            <a:ext cx="1932127" cy="2097634"/>
          </a:xfrm>
          <a:prstGeom prst="roundRect">
            <a:avLst>
              <a:gd name="adj" fmla="val 1656"/>
            </a:avLst>
          </a:prstGeom>
          <a:solidFill>
            <a:srgbClr val="FFFFFF"/>
          </a:solidFill>
          <a:ln w="10795">
            <a:solidFill>
              <a:srgbClr val="9AA0A6"/>
            </a:solidFill>
            <a:prstDash val="solid"/>
          </a:ln>
        </p:spPr>
      </p:sp>
      <p:sp>
        <p:nvSpPr>
          <p:cNvPr id="17" name="Text 15"/>
          <p:cNvSpPr/>
          <p:nvPr/>
        </p:nvSpPr>
        <p:spPr>
          <a:xfrm>
            <a:off x="4155034"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Domain Spoke A: Order &amp; Warehouse Inventory Agent</a:t>
            </a:r>
            <a:endParaRPr lang="en-US" sz="385" dirty="0"/>
          </a:p>
        </p:txBody>
      </p:sp>
      <p:sp>
        <p:nvSpPr>
          <p:cNvPr id="18" name="Shape 16"/>
          <p:cNvSpPr/>
          <p:nvPr/>
        </p:nvSpPr>
        <p:spPr>
          <a:xfrm>
            <a:off x="6146597" y="3738982"/>
            <a:ext cx="1932127" cy="2097634"/>
          </a:xfrm>
          <a:prstGeom prst="roundRect">
            <a:avLst>
              <a:gd name="adj" fmla="val 1656"/>
            </a:avLst>
          </a:prstGeom>
          <a:solidFill>
            <a:srgbClr val="FFFFFF"/>
          </a:solidFill>
          <a:ln w="10795">
            <a:solidFill>
              <a:srgbClr val="9AA0A6"/>
            </a:solidFill>
            <a:prstDash val="solid"/>
          </a:ln>
        </p:spPr>
      </p:sp>
      <p:sp>
        <p:nvSpPr>
          <p:cNvPr id="19" name="Text 17"/>
          <p:cNvSpPr/>
          <p:nvPr/>
        </p:nvSpPr>
        <p:spPr>
          <a:xfrm>
            <a:off x="6192317"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Domain Spoke B: Distributor &amp; Logistics Tracking Agent</a:t>
            </a:r>
            <a:endParaRPr lang="en-US" sz="385" dirty="0"/>
          </a:p>
        </p:txBody>
      </p:sp>
      <p:sp>
        <p:nvSpPr>
          <p:cNvPr id="20" name="Shape 18"/>
          <p:cNvSpPr/>
          <p:nvPr/>
        </p:nvSpPr>
        <p:spPr>
          <a:xfrm>
            <a:off x="4169664" y="3873398"/>
            <a:ext cx="1812341" cy="1902866"/>
          </a:xfrm>
          <a:prstGeom prst="roundRect">
            <a:avLst>
              <a:gd name="adj" fmla="val 1766"/>
            </a:avLst>
          </a:prstGeom>
          <a:solidFill>
            <a:srgbClr val="FEEFC3"/>
          </a:solidFill>
          <a:ln w="10795">
            <a:solidFill>
              <a:srgbClr val="9AA0A6"/>
            </a:solidFill>
            <a:prstDash val="solid"/>
          </a:ln>
        </p:spPr>
      </p:sp>
      <p:sp>
        <p:nvSpPr>
          <p:cNvPr id="21" name="Text 19"/>
          <p:cNvSpPr/>
          <p:nvPr/>
        </p:nvSpPr>
        <p:spPr>
          <a:xfrm>
            <a:off x="4215384"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Order &amp; Inventory Domain Agent</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Independent ADK deployment with Stateless Cloud Run MCP Server</a:t>
            </a:r>
            <a:endParaRPr lang="en-US" sz="540" dirty="0"/>
          </a:p>
        </p:txBody>
      </p:sp>
      <p:sp>
        <p:nvSpPr>
          <p:cNvPr id="22" name="Shape 20"/>
          <p:cNvSpPr/>
          <p:nvPr/>
        </p:nvSpPr>
        <p:spPr>
          <a:xfrm>
            <a:off x="6206947" y="3873398"/>
            <a:ext cx="1812341" cy="1902866"/>
          </a:xfrm>
          <a:prstGeom prst="roundRect">
            <a:avLst>
              <a:gd name="adj" fmla="val 1766"/>
            </a:avLst>
          </a:prstGeom>
          <a:solidFill>
            <a:srgbClr val="FAD2CF"/>
          </a:solidFill>
          <a:ln w="10795">
            <a:solidFill>
              <a:srgbClr val="9AA0A6"/>
            </a:solidFill>
            <a:prstDash val="solid"/>
          </a:ln>
        </p:spPr>
      </p:sp>
      <p:sp>
        <p:nvSpPr>
          <p:cNvPr id="23" name="Text 21"/>
          <p:cNvSpPr/>
          <p:nvPr/>
        </p:nvSpPr>
        <p:spPr>
          <a:xfrm>
            <a:off x="6252667"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Distributor &amp; Tracking Domain Agent</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Federated A2A peer with partner API circuit breakers</a:t>
            </a:r>
            <a:endParaRPr lang="en-US" sz="540" dirty="0"/>
          </a:p>
        </p:txBody>
      </p:sp>
      <p:sp>
        <p:nvSpPr>
          <p:cNvPr id="24" name="Shape 22"/>
          <p:cNvSpPr/>
          <p:nvPr/>
        </p:nvSpPr>
        <p:spPr>
          <a:xfrm>
            <a:off x="4101998" y="2113178"/>
            <a:ext cx="2487168" cy="1236269"/>
          </a:xfrm>
          <a:prstGeom prst="roundRect">
            <a:avLst>
              <a:gd name="adj" fmla="val 2589"/>
            </a:avLst>
          </a:prstGeom>
          <a:solidFill>
            <a:srgbClr val="AECBFA"/>
          </a:solidFill>
          <a:ln w="10795">
            <a:solidFill>
              <a:srgbClr val="9AA0A6"/>
            </a:solidFill>
            <a:prstDash val="solid"/>
          </a:ln>
        </p:spPr>
      </p:sp>
      <p:sp>
        <p:nvSpPr>
          <p:cNvPr id="25" name="Text 23"/>
          <p:cNvSpPr/>
          <p:nvPr/>
        </p:nvSpPr>
        <p:spPr>
          <a:xfrm>
            <a:off x="4147718" y="2131466"/>
            <a:ext cx="2404872" cy="256032"/>
          </a:xfrm>
          <a:prstGeom prst="rect">
            <a:avLst/>
          </a:prstGeom>
          <a:noFill/>
          <a:ln/>
        </p:spPr>
        <p:txBody>
          <a:bodyPr wrap="square" lIns="0" tIns="0" rIns="0" bIns="0" rtlCol="0" anchor="t">
            <a:normAutofit/>
          </a:bodyPr>
          <a:lstStyle/>
          <a:p>
            <a:pPr algn="l" indent="0" marL="0">
              <a:lnSpc>
                <a:spcPct val="88000"/>
              </a:lnSpc>
              <a:buNone/>
            </a:pPr>
            <a:r>
              <a:rPr lang="en-US" sz="480" b="1" dirty="0">
                <a:solidFill>
                  <a:srgbClr val="202124"/>
                </a:solidFill>
                <a:latin typeface="Arial" pitchFamily="34" charset="0"/>
                <a:ea typeface="Arial" pitchFamily="34" charset="-122"/>
                <a:cs typeface="Arial" pitchFamily="34" charset="-120"/>
              </a:rPr>
              <a:t>A2A Discovery &amp; Federation Hub</a:t>
            </a:r>
            <a:endParaRPr lang="en-US" sz="480" dirty="0"/>
          </a:p>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Agent Card registry (/.well-known/agent.json) &amp; OBO token narrowing</a:t>
            </a:r>
            <a:endParaRPr lang="en-US" sz="480" dirty="0"/>
          </a:p>
        </p:txBody>
      </p:sp>
      <p:sp>
        <p:nvSpPr>
          <p:cNvPr id="26" name="Shape 24"/>
          <p:cNvSpPr/>
          <p:nvPr/>
        </p:nvSpPr>
        <p:spPr>
          <a:xfrm>
            <a:off x="6836054" y="2143354"/>
            <a:ext cx="1228039" cy="1198778"/>
          </a:xfrm>
          <a:prstGeom prst="roundRect">
            <a:avLst>
              <a:gd name="adj" fmla="val 2670"/>
            </a:avLst>
          </a:prstGeom>
          <a:solidFill>
            <a:srgbClr val="CEEAD6"/>
          </a:solidFill>
          <a:ln w="10795">
            <a:solidFill>
              <a:srgbClr val="9AA0A6"/>
            </a:solidFill>
            <a:prstDash val="solid"/>
          </a:ln>
        </p:spPr>
      </p:sp>
      <p:sp>
        <p:nvSpPr>
          <p:cNvPr id="27" name="Text 25"/>
          <p:cNvSpPr/>
          <p:nvPr/>
        </p:nvSpPr>
        <p:spPr>
          <a:xfrm>
            <a:off x="6881774" y="2161642"/>
            <a:ext cx="1145743" cy="137160"/>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Central governance and circuit-breaker telemetry</a:t>
            </a:r>
            <a:endParaRPr lang="en-US" sz="460" dirty="0"/>
          </a:p>
        </p:txBody>
      </p:sp>
      <p:pic>
        <p:nvPicPr>
          <p:cNvPr id="28" name="Image 0" descr="preencoded.png">    </p:cNvPr>
          <p:cNvPicPr>
            <a:picLocks noChangeAspect="1"/>
          </p:cNvPicPr>
          <p:nvPr/>
        </p:nvPicPr>
        <p:blipFill>
          <a:blip r:embed="rId1"/>
          <a:stretch>
            <a:fillRect/>
          </a:stretch>
        </p:blipFill>
        <p:spPr>
          <a:xfrm>
            <a:off x="3982212" y="1707185"/>
            <a:ext cx="561442" cy="100584"/>
          </a:xfrm>
          <a:prstGeom prst="rect">
            <a:avLst/>
          </a:prstGeom>
        </p:spPr>
      </p:pic>
      <p:sp>
        <p:nvSpPr>
          <p:cNvPr id="29" name="Shape 26"/>
          <p:cNvSpPr/>
          <p:nvPr/>
        </p:nvSpPr>
        <p:spPr>
          <a:xfrm>
            <a:off x="5967374" y="1364285"/>
            <a:ext cx="0" cy="1093622"/>
          </a:xfrm>
          <a:prstGeom prst="line">
            <a:avLst/>
          </a:prstGeom>
          <a:noFill/>
          <a:ln w="12700">
            <a:solidFill>
              <a:srgbClr val="5F6368"/>
            </a:solidFill>
            <a:prstDash val="solid"/>
            <a:tailEnd type="triangle" w="sm" len="sm"/>
          </a:ln>
        </p:spPr>
      </p:sp>
      <p:sp>
        <p:nvSpPr>
          <p:cNvPr id="30" name="Shape 27"/>
          <p:cNvSpPr/>
          <p:nvPr/>
        </p:nvSpPr>
        <p:spPr>
          <a:xfrm flipV="1">
            <a:off x="6139282" y="1371600"/>
            <a:ext cx="0" cy="1093622"/>
          </a:xfrm>
          <a:prstGeom prst="line">
            <a:avLst/>
          </a:prstGeom>
          <a:noFill/>
          <a:ln w="12700">
            <a:solidFill>
              <a:srgbClr val="5F6368"/>
            </a:solidFill>
            <a:prstDash val="solid"/>
            <a:tailEnd type="triangle" w="sm" len="sm"/>
          </a:ln>
        </p:spPr>
      </p:sp>
      <p:sp>
        <p:nvSpPr>
          <p:cNvPr id="31" name="Shape 28"/>
          <p:cNvSpPr/>
          <p:nvPr/>
        </p:nvSpPr>
        <p:spPr>
          <a:xfrm flipH="1">
            <a:off x="5413248" y="2607869"/>
            <a:ext cx="127102" cy="0"/>
          </a:xfrm>
          <a:prstGeom prst="line">
            <a:avLst/>
          </a:prstGeom>
          <a:noFill/>
          <a:ln w="12700">
            <a:solidFill>
              <a:srgbClr val="5F6368"/>
            </a:solidFill>
            <a:prstDash val="solid"/>
          </a:ln>
        </p:spPr>
      </p:sp>
      <p:sp>
        <p:nvSpPr>
          <p:cNvPr id="32" name="Shape 29"/>
          <p:cNvSpPr/>
          <p:nvPr/>
        </p:nvSpPr>
        <p:spPr>
          <a:xfrm flipV="1">
            <a:off x="5413248" y="2461565"/>
            <a:ext cx="0" cy="146304"/>
          </a:xfrm>
          <a:prstGeom prst="line">
            <a:avLst/>
          </a:prstGeom>
          <a:noFill/>
          <a:ln w="12700">
            <a:solidFill>
              <a:srgbClr val="5F6368"/>
            </a:solidFill>
            <a:prstDash val="solid"/>
          </a:ln>
        </p:spPr>
      </p:sp>
      <p:sp>
        <p:nvSpPr>
          <p:cNvPr id="33" name="Shape 30"/>
          <p:cNvSpPr/>
          <p:nvPr/>
        </p:nvSpPr>
        <p:spPr>
          <a:xfrm flipH="1">
            <a:off x="4941418" y="2461565"/>
            <a:ext cx="471830" cy="0"/>
          </a:xfrm>
          <a:prstGeom prst="line">
            <a:avLst/>
          </a:prstGeom>
          <a:noFill/>
          <a:ln w="12700">
            <a:solidFill>
              <a:srgbClr val="5F6368"/>
            </a:solidFill>
            <a:prstDash val="solid"/>
            <a:tailEnd type="triangle" w="sm" len="sm"/>
          </a:ln>
        </p:spPr>
      </p:sp>
      <p:sp>
        <p:nvSpPr>
          <p:cNvPr id="34" name="Shape 31"/>
          <p:cNvSpPr/>
          <p:nvPr/>
        </p:nvSpPr>
        <p:spPr>
          <a:xfrm flipH="1">
            <a:off x="5413248" y="2607869"/>
            <a:ext cx="127102" cy="0"/>
          </a:xfrm>
          <a:prstGeom prst="line">
            <a:avLst/>
          </a:prstGeom>
          <a:noFill/>
          <a:ln w="12700">
            <a:solidFill>
              <a:srgbClr val="5F6368"/>
            </a:solidFill>
            <a:prstDash val="solid"/>
          </a:ln>
        </p:spPr>
      </p:sp>
      <p:sp>
        <p:nvSpPr>
          <p:cNvPr id="35" name="Shape 32"/>
          <p:cNvSpPr/>
          <p:nvPr/>
        </p:nvSpPr>
        <p:spPr>
          <a:xfrm>
            <a:off x="5413248" y="2607869"/>
            <a:ext cx="0" cy="168250"/>
          </a:xfrm>
          <a:prstGeom prst="line">
            <a:avLst/>
          </a:prstGeom>
          <a:noFill/>
          <a:ln w="12700">
            <a:solidFill>
              <a:srgbClr val="5F6368"/>
            </a:solidFill>
            <a:prstDash val="solid"/>
          </a:ln>
        </p:spPr>
      </p:sp>
      <p:sp>
        <p:nvSpPr>
          <p:cNvPr id="36" name="Shape 33"/>
          <p:cNvSpPr/>
          <p:nvPr/>
        </p:nvSpPr>
        <p:spPr>
          <a:xfrm flipH="1">
            <a:off x="4941418" y="2776118"/>
            <a:ext cx="471830" cy="0"/>
          </a:xfrm>
          <a:prstGeom prst="line">
            <a:avLst/>
          </a:prstGeom>
          <a:noFill/>
          <a:ln w="12700">
            <a:solidFill>
              <a:srgbClr val="5F6368"/>
            </a:solidFill>
            <a:prstDash val="solid"/>
            <a:tailEnd type="triangle" w="sm" len="sm"/>
          </a:ln>
        </p:spPr>
      </p:sp>
      <p:sp>
        <p:nvSpPr>
          <p:cNvPr id="37" name="Shape 34"/>
          <p:cNvSpPr/>
          <p:nvPr/>
        </p:nvSpPr>
        <p:spPr>
          <a:xfrm>
            <a:off x="4941418" y="3143707"/>
            <a:ext cx="688543" cy="0"/>
          </a:xfrm>
          <a:prstGeom prst="line">
            <a:avLst/>
          </a:prstGeom>
          <a:noFill/>
          <a:ln w="12700">
            <a:solidFill>
              <a:srgbClr val="5F6368"/>
            </a:solidFill>
            <a:prstDash val="solid"/>
            <a:headEnd type="triangle" w="sm" len="sm"/>
            <a:tailEnd type="triangle" w="sm" len="sm"/>
          </a:ln>
        </p:spPr>
      </p:sp>
      <p:sp>
        <p:nvSpPr>
          <p:cNvPr id="38" name="Shape 35"/>
          <p:cNvSpPr/>
          <p:nvPr/>
        </p:nvSpPr>
        <p:spPr>
          <a:xfrm>
            <a:off x="5967374" y="2750515"/>
            <a:ext cx="0" cy="269748"/>
          </a:xfrm>
          <a:prstGeom prst="line">
            <a:avLst/>
          </a:prstGeom>
          <a:noFill/>
          <a:ln w="12700">
            <a:solidFill>
              <a:srgbClr val="5F6368"/>
            </a:solidFill>
            <a:prstDash val="solid"/>
            <a:tailEnd type="triangle" w="sm" len="sm"/>
          </a:ln>
        </p:spPr>
      </p:sp>
      <p:sp>
        <p:nvSpPr>
          <p:cNvPr id="39" name="Shape 36"/>
          <p:cNvSpPr/>
          <p:nvPr/>
        </p:nvSpPr>
        <p:spPr>
          <a:xfrm flipV="1">
            <a:off x="6139282" y="2750515"/>
            <a:ext cx="0" cy="269748"/>
          </a:xfrm>
          <a:prstGeom prst="line">
            <a:avLst/>
          </a:prstGeom>
          <a:noFill/>
          <a:ln w="12700">
            <a:solidFill>
              <a:srgbClr val="5F6368"/>
            </a:solidFill>
            <a:prstDash val="solid"/>
            <a:tailEnd type="triangle" w="sm" len="sm"/>
          </a:ln>
        </p:spPr>
      </p:sp>
      <p:sp>
        <p:nvSpPr>
          <p:cNvPr id="40" name="Shape 37"/>
          <p:cNvSpPr/>
          <p:nvPr/>
        </p:nvSpPr>
        <p:spPr>
          <a:xfrm flipV="1">
            <a:off x="5529377" y="3633826"/>
            <a:ext cx="0" cy="673913"/>
          </a:xfrm>
          <a:prstGeom prst="line">
            <a:avLst/>
          </a:prstGeom>
          <a:noFill/>
          <a:ln w="12700">
            <a:solidFill>
              <a:srgbClr val="5F6368"/>
            </a:solidFill>
            <a:prstDash val="solid"/>
          </a:ln>
        </p:spPr>
      </p:sp>
      <p:sp>
        <p:nvSpPr>
          <p:cNvPr id="41" name="Shape 38"/>
          <p:cNvSpPr/>
          <p:nvPr/>
        </p:nvSpPr>
        <p:spPr>
          <a:xfrm>
            <a:off x="5529377" y="3633826"/>
            <a:ext cx="512978" cy="0"/>
          </a:xfrm>
          <a:prstGeom prst="line">
            <a:avLst/>
          </a:prstGeom>
          <a:noFill/>
          <a:ln w="12700">
            <a:solidFill>
              <a:srgbClr val="5F6368"/>
            </a:solidFill>
            <a:prstDash val="solid"/>
          </a:ln>
        </p:spPr>
      </p:sp>
      <p:sp>
        <p:nvSpPr>
          <p:cNvPr id="42" name="Shape 39"/>
          <p:cNvSpPr/>
          <p:nvPr/>
        </p:nvSpPr>
        <p:spPr>
          <a:xfrm flipV="1">
            <a:off x="6042355" y="3267151"/>
            <a:ext cx="0" cy="366674"/>
          </a:xfrm>
          <a:prstGeom prst="line">
            <a:avLst/>
          </a:prstGeom>
          <a:noFill/>
          <a:ln w="12700">
            <a:solidFill>
              <a:srgbClr val="5F6368"/>
            </a:solidFill>
            <a:prstDash val="solid"/>
            <a:tailEnd type="triangle" w="sm" len="sm"/>
          </a:ln>
        </p:spPr>
      </p:sp>
      <p:sp>
        <p:nvSpPr>
          <p:cNvPr id="43" name="Shape 40"/>
          <p:cNvSpPr/>
          <p:nvPr/>
        </p:nvSpPr>
        <p:spPr>
          <a:xfrm flipV="1">
            <a:off x="5529377" y="3633826"/>
            <a:ext cx="0" cy="673913"/>
          </a:xfrm>
          <a:prstGeom prst="line">
            <a:avLst/>
          </a:prstGeom>
          <a:noFill/>
          <a:ln w="12700">
            <a:solidFill>
              <a:srgbClr val="5F6368"/>
            </a:solidFill>
            <a:prstDash val="solid"/>
            <a:headEnd type="triangle" w="sm" len="sm"/>
          </a:ln>
        </p:spPr>
      </p:sp>
      <p:sp>
        <p:nvSpPr>
          <p:cNvPr id="44" name="Shape 41"/>
          <p:cNvSpPr/>
          <p:nvPr/>
        </p:nvSpPr>
        <p:spPr>
          <a:xfrm>
            <a:off x="5529377" y="3633826"/>
            <a:ext cx="2037283" cy="0"/>
          </a:xfrm>
          <a:prstGeom prst="line">
            <a:avLst/>
          </a:prstGeom>
          <a:noFill/>
          <a:ln w="12700">
            <a:solidFill>
              <a:srgbClr val="5F6368"/>
            </a:solidFill>
            <a:prstDash val="solid"/>
          </a:ln>
        </p:spPr>
      </p:sp>
      <p:sp>
        <p:nvSpPr>
          <p:cNvPr id="45" name="Shape 42"/>
          <p:cNvSpPr/>
          <p:nvPr/>
        </p:nvSpPr>
        <p:spPr>
          <a:xfrm>
            <a:off x="7566660" y="3633826"/>
            <a:ext cx="0" cy="673913"/>
          </a:xfrm>
          <a:prstGeom prst="line">
            <a:avLst/>
          </a:prstGeom>
          <a:noFill/>
          <a:ln w="12700">
            <a:solidFill>
              <a:srgbClr val="5F6368"/>
            </a:solidFill>
            <a:prstDash val="solid"/>
            <a:tailEnd type="triangle" w="sm" len="sm"/>
          </a:ln>
        </p:spPr>
      </p:sp>
      <p:sp>
        <p:nvSpPr>
          <p:cNvPr id="46" name="Shape 43"/>
          <p:cNvSpPr/>
          <p:nvPr/>
        </p:nvSpPr>
        <p:spPr>
          <a:xfrm flipV="1">
            <a:off x="5075834" y="3581705"/>
            <a:ext cx="0" cy="157277"/>
          </a:xfrm>
          <a:prstGeom prst="line">
            <a:avLst/>
          </a:prstGeom>
          <a:noFill/>
          <a:ln w="12700">
            <a:solidFill>
              <a:srgbClr val="5F6368"/>
            </a:solidFill>
            <a:prstDash val="dash"/>
            <a:headEnd type="triangle" w="sm" len="sm"/>
          </a:ln>
        </p:spPr>
      </p:sp>
      <p:sp>
        <p:nvSpPr>
          <p:cNvPr id="47" name="Shape 44"/>
          <p:cNvSpPr/>
          <p:nvPr/>
        </p:nvSpPr>
        <p:spPr>
          <a:xfrm>
            <a:off x="5075834" y="3581705"/>
            <a:ext cx="2374697" cy="0"/>
          </a:xfrm>
          <a:prstGeom prst="line">
            <a:avLst/>
          </a:prstGeom>
          <a:noFill/>
          <a:ln w="12700">
            <a:solidFill>
              <a:srgbClr val="5F6368"/>
            </a:solidFill>
            <a:prstDash val="dash"/>
          </a:ln>
        </p:spPr>
      </p:sp>
      <p:sp>
        <p:nvSpPr>
          <p:cNvPr id="48" name="Shape 45"/>
          <p:cNvSpPr/>
          <p:nvPr/>
        </p:nvSpPr>
        <p:spPr>
          <a:xfrm flipV="1">
            <a:off x="7450531" y="3342132"/>
            <a:ext cx="0" cy="239573"/>
          </a:xfrm>
          <a:prstGeom prst="line">
            <a:avLst/>
          </a:prstGeom>
          <a:noFill/>
          <a:ln w="12700">
            <a:solidFill>
              <a:srgbClr val="5F6368"/>
            </a:solidFill>
            <a:prstDash val="dash"/>
            <a:tailEnd type="triangle" w="sm" len="sm"/>
          </a:ln>
        </p:spPr>
      </p:sp>
      <p:sp>
        <p:nvSpPr>
          <p:cNvPr id="49" name="Shape 46"/>
          <p:cNvSpPr/>
          <p:nvPr/>
        </p:nvSpPr>
        <p:spPr>
          <a:xfrm>
            <a:off x="7450531" y="3342132"/>
            <a:ext cx="0" cy="239573"/>
          </a:xfrm>
          <a:prstGeom prst="line">
            <a:avLst/>
          </a:prstGeom>
          <a:noFill/>
          <a:ln w="12700">
            <a:solidFill>
              <a:srgbClr val="5F6368"/>
            </a:solidFill>
            <a:prstDash val="dash"/>
          </a:ln>
        </p:spPr>
      </p:sp>
      <p:sp>
        <p:nvSpPr>
          <p:cNvPr id="50" name="Shape 47"/>
          <p:cNvSpPr/>
          <p:nvPr/>
        </p:nvSpPr>
        <p:spPr>
          <a:xfrm flipH="1">
            <a:off x="7113118" y="3581705"/>
            <a:ext cx="337414" cy="0"/>
          </a:xfrm>
          <a:prstGeom prst="line">
            <a:avLst/>
          </a:prstGeom>
          <a:noFill/>
          <a:ln w="12700">
            <a:solidFill>
              <a:srgbClr val="5F6368"/>
            </a:solidFill>
            <a:prstDash val="dash"/>
          </a:ln>
        </p:spPr>
      </p:sp>
      <p:sp>
        <p:nvSpPr>
          <p:cNvPr id="51" name="Shape 48"/>
          <p:cNvSpPr/>
          <p:nvPr/>
        </p:nvSpPr>
        <p:spPr>
          <a:xfrm>
            <a:off x="7113118" y="3581705"/>
            <a:ext cx="0" cy="157277"/>
          </a:xfrm>
          <a:prstGeom prst="line">
            <a:avLst/>
          </a:prstGeom>
          <a:noFill/>
          <a:ln w="12700">
            <a:solidFill>
              <a:srgbClr val="5F6368"/>
            </a:solidFill>
            <a:prstDash val="dash"/>
            <a:tailEnd type="triangle" w="sm" len="sm"/>
          </a:ln>
        </p:spPr>
      </p:sp>
      <p:sp>
        <p:nvSpPr>
          <p:cNvPr id="52" name="Shape 49"/>
          <p:cNvSpPr/>
          <p:nvPr/>
        </p:nvSpPr>
        <p:spPr>
          <a:xfrm>
            <a:off x="4933188" y="4255618"/>
            <a:ext cx="82296" cy="0"/>
          </a:xfrm>
          <a:prstGeom prst="line">
            <a:avLst/>
          </a:prstGeom>
          <a:noFill/>
          <a:ln w="12700">
            <a:solidFill>
              <a:srgbClr val="5F6368"/>
            </a:solidFill>
            <a:prstDash val="solid"/>
          </a:ln>
        </p:spPr>
      </p:sp>
      <p:sp>
        <p:nvSpPr>
          <p:cNvPr id="53" name="Shape 50"/>
          <p:cNvSpPr/>
          <p:nvPr/>
        </p:nvSpPr>
        <p:spPr>
          <a:xfrm>
            <a:off x="5015484" y="4255618"/>
            <a:ext cx="0" cy="127102"/>
          </a:xfrm>
          <a:prstGeom prst="line">
            <a:avLst/>
          </a:prstGeom>
          <a:noFill/>
          <a:ln w="12700">
            <a:solidFill>
              <a:srgbClr val="5F6368"/>
            </a:solidFill>
            <a:prstDash val="solid"/>
          </a:ln>
        </p:spPr>
      </p:sp>
      <p:sp>
        <p:nvSpPr>
          <p:cNvPr id="54" name="Shape 51"/>
          <p:cNvSpPr/>
          <p:nvPr/>
        </p:nvSpPr>
        <p:spPr>
          <a:xfrm>
            <a:off x="5015484" y="4382719"/>
            <a:ext cx="112471" cy="0"/>
          </a:xfrm>
          <a:prstGeom prst="line">
            <a:avLst/>
          </a:prstGeom>
          <a:noFill/>
          <a:ln w="12700">
            <a:solidFill>
              <a:srgbClr val="5F6368"/>
            </a:solidFill>
            <a:prstDash val="solid"/>
          </a:ln>
        </p:spPr>
      </p:sp>
      <p:sp>
        <p:nvSpPr>
          <p:cNvPr id="55" name="Shape 52"/>
          <p:cNvSpPr/>
          <p:nvPr/>
        </p:nvSpPr>
        <p:spPr>
          <a:xfrm>
            <a:off x="4933188" y="5139842"/>
            <a:ext cx="112471" cy="0"/>
          </a:xfrm>
          <a:prstGeom prst="line">
            <a:avLst/>
          </a:prstGeom>
          <a:noFill/>
          <a:ln w="12700">
            <a:solidFill>
              <a:srgbClr val="5F6368"/>
            </a:solidFill>
            <a:prstDash val="solid"/>
          </a:ln>
        </p:spPr>
      </p:sp>
      <p:sp>
        <p:nvSpPr>
          <p:cNvPr id="56" name="Shape 53"/>
          <p:cNvSpPr/>
          <p:nvPr/>
        </p:nvSpPr>
        <p:spPr>
          <a:xfrm flipV="1">
            <a:off x="5045659" y="4502506"/>
            <a:ext cx="0" cy="637337"/>
          </a:xfrm>
          <a:prstGeom prst="line">
            <a:avLst/>
          </a:prstGeom>
          <a:noFill/>
          <a:ln w="12700">
            <a:solidFill>
              <a:srgbClr val="5F6368"/>
            </a:solidFill>
            <a:prstDash val="solid"/>
          </a:ln>
        </p:spPr>
      </p:sp>
      <p:sp>
        <p:nvSpPr>
          <p:cNvPr id="57" name="Shape 54"/>
          <p:cNvSpPr/>
          <p:nvPr/>
        </p:nvSpPr>
        <p:spPr>
          <a:xfrm>
            <a:off x="5045659" y="4502506"/>
            <a:ext cx="82296" cy="0"/>
          </a:xfrm>
          <a:prstGeom prst="line">
            <a:avLst/>
          </a:prstGeom>
          <a:noFill/>
          <a:ln w="12700">
            <a:solidFill>
              <a:srgbClr val="5F6368"/>
            </a:solidFill>
            <a:prstDash val="solid"/>
          </a:ln>
        </p:spPr>
      </p:sp>
      <p:sp>
        <p:nvSpPr>
          <p:cNvPr id="58" name="Shape 55"/>
          <p:cNvSpPr/>
          <p:nvPr/>
        </p:nvSpPr>
        <p:spPr>
          <a:xfrm flipV="1">
            <a:off x="5529377" y="4795114"/>
            <a:ext cx="0" cy="52121"/>
          </a:xfrm>
          <a:prstGeom prst="line">
            <a:avLst/>
          </a:prstGeom>
          <a:noFill/>
          <a:ln w="12700">
            <a:solidFill>
              <a:srgbClr val="5F6368"/>
            </a:solidFill>
            <a:prstDash val="solid"/>
            <a:headEnd type="triangle" w="sm" len="sm"/>
          </a:ln>
        </p:spPr>
      </p:sp>
      <p:sp>
        <p:nvSpPr>
          <p:cNvPr id="59" name="Shape 56"/>
          <p:cNvSpPr/>
          <p:nvPr/>
        </p:nvSpPr>
        <p:spPr>
          <a:xfrm flipV="1">
            <a:off x="5529377" y="4593031"/>
            <a:ext cx="0" cy="52121"/>
          </a:xfrm>
          <a:prstGeom prst="line">
            <a:avLst/>
          </a:prstGeom>
          <a:noFill/>
          <a:ln w="12700">
            <a:solidFill>
              <a:srgbClr val="5F6368"/>
            </a:solidFill>
            <a:prstDash val="solid"/>
            <a:tailEnd type="triangle" w="sm" len="sm"/>
          </a:ln>
        </p:spPr>
      </p:sp>
      <p:sp>
        <p:nvSpPr>
          <p:cNvPr id="60" name="Shape 57"/>
          <p:cNvSpPr/>
          <p:nvPr/>
        </p:nvSpPr>
        <p:spPr>
          <a:xfrm flipV="1">
            <a:off x="5529377" y="5356555"/>
            <a:ext cx="0" cy="53035"/>
          </a:xfrm>
          <a:prstGeom prst="line">
            <a:avLst/>
          </a:prstGeom>
          <a:noFill/>
          <a:ln w="12700">
            <a:solidFill>
              <a:srgbClr val="5F6368"/>
            </a:solidFill>
            <a:prstDash val="solid"/>
            <a:headEnd type="triangle" w="sm" len="sm"/>
          </a:ln>
        </p:spPr>
      </p:sp>
      <p:sp>
        <p:nvSpPr>
          <p:cNvPr id="61" name="Shape 58"/>
          <p:cNvSpPr/>
          <p:nvPr/>
        </p:nvSpPr>
        <p:spPr>
          <a:xfrm flipV="1">
            <a:off x="5529377" y="5131613"/>
            <a:ext cx="0" cy="53035"/>
          </a:xfrm>
          <a:prstGeom prst="line">
            <a:avLst/>
          </a:prstGeom>
          <a:noFill/>
          <a:ln w="12700">
            <a:solidFill>
              <a:srgbClr val="5F6368"/>
            </a:solidFill>
            <a:prstDash val="solid"/>
            <a:tailEnd type="triangle" w="sm" len="sm"/>
          </a:ln>
        </p:spPr>
      </p:sp>
      <p:sp>
        <p:nvSpPr>
          <p:cNvPr id="62" name="Shape 59"/>
          <p:cNvSpPr/>
          <p:nvPr/>
        </p:nvSpPr>
        <p:spPr>
          <a:xfrm>
            <a:off x="6970471" y="4255618"/>
            <a:ext cx="82296" cy="0"/>
          </a:xfrm>
          <a:prstGeom prst="line">
            <a:avLst/>
          </a:prstGeom>
          <a:noFill/>
          <a:ln w="12700">
            <a:solidFill>
              <a:srgbClr val="5F6368"/>
            </a:solidFill>
            <a:prstDash val="solid"/>
          </a:ln>
        </p:spPr>
      </p:sp>
      <p:sp>
        <p:nvSpPr>
          <p:cNvPr id="63" name="Shape 60"/>
          <p:cNvSpPr/>
          <p:nvPr/>
        </p:nvSpPr>
        <p:spPr>
          <a:xfrm>
            <a:off x="7052767" y="4255618"/>
            <a:ext cx="0" cy="127102"/>
          </a:xfrm>
          <a:prstGeom prst="line">
            <a:avLst/>
          </a:prstGeom>
          <a:noFill/>
          <a:ln w="12700">
            <a:solidFill>
              <a:srgbClr val="5F6368"/>
            </a:solidFill>
            <a:prstDash val="solid"/>
          </a:ln>
        </p:spPr>
      </p:sp>
      <p:sp>
        <p:nvSpPr>
          <p:cNvPr id="64" name="Shape 61"/>
          <p:cNvSpPr/>
          <p:nvPr/>
        </p:nvSpPr>
        <p:spPr>
          <a:xfrm>
            <a:off x="7052767" y="4382719"/>
            <a:ext cx="112471" cy="0"/>
          </a:xfrm>
          <a:prstGeom prst="line">
            <a:avLst/>
          </a:prstGeom>
          <a:noFill/>
          <a:ln w="12700">
            <a:solidFill>
              <a:srgbClr val="5F6368"/>
            </a:solidFill>
            <a:prstDash val="solid"/>
          </a:ln>
        </p:spPr>
      </p:sp>
      <p:sp>
        <p:nvSpPr>
          <p:cNvPr id="65" name="Shape 62"/>
          <p:cNvSpPr/>
          <p:nvPr/>
        </p:nvSpPr>
        <p:spPr>
          <a:xfrm>
            <a:off x="6970471" y="4637837"/>
            <a:ext cx="112471" cy="0"/>
          </a:xfrm>
          <a:prstGeom prst="line">
            <a:avLst/>
          </a:prstGeom>
          <a:noFill/>
          <a:ln w="12700">
            <a:solidFill>
              <a:srgbClr val="5F6368"/>
            </a:solidFill>
            <a:prstDash val="solid"/>
          </a:ln>
        </p:spPr>
      </p:sp>
      <p:sp>
        <p:nvSpPr>
          <p:cNvPr id="66" name="Shape 63"/>
          <p:cNvSpPr/>
          <p:nvPr/>
        </p:nvSpPr>
        <p:spPr>
          <a:xfrm flipV="1">
            <a:off x="7082942" y="4502506"/>
            <a:ext cx="0" cy="135331"/>
          </a:xfrm>
          <a:prstGeom prst="line">
            <a:avLst/>
          </a:prstGeom>
          <a:noFill/>
          <a:ln w="12700">
            <a:solidFill>
              <a:srgbClr val="5F6368"/>
            </a:solidFill>
            <a:prstDash val="solid"/>
          </a:ln>
        </p:spPr>
      </p:sp>
      <p:sp>
        <p:nvSpPr>
          <p:cNvPr id="67" name="Shape 64"/>
          <p:cNvSpPr/>
          <p:nvPr/>
        </p:nvSpPr>
        <p:spPr>
          <a:xfrm>
            <a:off x="7082942" y="4502506"/>
            <a:ext cx="82296" cy="0"/>
          </a:xfrm>
          <a:prstGeom prst="line">
            <a:avLst/>
          </a:prstGeom>
          <a:noFill/>
          <a:ln w="12700">
            <a:solidFill>
              <a:srgbClr val="5F6368"/>
            </a:solidFill>
            <a:prstDash val="solid"/>
          </a:ln>
        </p:spPr>
      </p:sp>
      <p:sp>
        <p:nvSpPr>
          <p:cNvPr id="68" name="Shape 65"/>
          <p:cNvSpPr/>
          <p:nvPr/>
        </p:nvSpPr>
        <p:spPr>
          <a:xfrm flipV="1">
            <a:off x="7566660" y="4795114"/>
            <a:ext cx="0" cy="52121"/>
          </a:xfrm>
          <a:prstGeom prst="line">
            <a:avLst/>
          </a:prstGeom>
          <a:noFill/>
          <a:ln w="12700">
            <a:solidFill>
              <a:srgbClr val="5F6368"/>
            </a:solidFill>
            <a:prstDash val="solid"/>
            <a:headEnd type="triangle" w="sm" len="sm"/>
          </a:ln>
        </p:spPr>
      </p:sp>
      <p:sp>
        <p:nvSpPr>
          <p:cNvPr id="69" name="Shape 66"/>
          <p:cNvSpPr/>
          <p:nvPr/>
        </p:nvSpPr>
        <p:spPr>
          <a:xfrm flipV="1">
            <a:off x="7566660" y="4593031"/>
            <a:ext cx="0" cy="52121"/>
          </a:xfrm>
          <a:prstGeom prst="line">
            <a:avLst/>
          </a:prstGeom>
          <a:noFill/>
          <a:ln w="12700">
            <a:solidFill>
              <a:srgbClr val="5F6368"/>
            </a:solidFill>
            <a:prstDash val="solid"/>
            <a:tailEnd type="triangle" w="sm" len="sm"/>
          </a:ln>
        </p:spPr>
      </p:sp>
      <p:sp>
        <p:nvSpPr>
          <p:cNvPr id="70" name="Shape 67"/>
          <p:cNvSpPr/>
          <p:nvPr/>
        </p:nvSpPr>
        <p:spPr>
          <a:xfrm flipV="1">
            <a:off x="7566660" y="5356555"/>
            <a:ext cx="0" cy="53035"/>
          </a:xfrm>
          <a:prstGeom prst="line">
            <a:avLst/>
          </a:prstGeom>
          <a:noFill/>
          <a:ln w="12700">
            <a:solidFill>
              <a:srgbClr val="5F6368"/>
            </a:solidFill>
            <a:prstDash val="solid"/>
            <a:headEnd type="triangle" w="sm" len="sm"/>
          </a:ln>
        </p:spPr>
      </p:sp>
      <p:sp>
        <p:nvSpPr>
          <p:cNvPr id="71" name="Shape 68"/>
          <p:cNvSpPr/>
          <p:nvPr/>
        </p:nvSpPr>
        <p:spPr>
          <a:xfrm flipV="1">
            <a:off x="7566660" y="5131613"/>
            <a:ext cx="0" cy="53035"/>
          </a:xfrm>
          <a:prstGeom prst="line">
            <a:avLst/>
          </a:prstGeom>
          <a:noFill/>
          <a:ln w="12700">
            <a:solidFill>
              <a:srgbClr val="5F6368"/>
            </a:solidFill>
            <a:prstDash val="solid"/>
            <a:tailEnd type="triangle" w="sm" len="sm"/>
          </a:ln>
        </p:spPr>
      </p:sp>
      <p:sp>
        <p:nvSpPr>
          <p:cNvPr id="72" name="Shape 69"/>
          <p:cNvSpPr/>
          <p:nvPr/>
        </p:nvSpPr>
        <p:spPr>
          <a:xfrm>
            <a:off x="5588813" y="1042416"/>
            <a:ext cx="936346" cy="321869"/>
          </a:xfrm>
          <a:prstGeom prst="roundRect">
            <a:avLst>
              <a:gd name="adj" fmla="val 12784"/>
            </a:avLst>
          </a:prstGeom>
          <a:solidFill>
            <a:srgbClr val="FFFFFF"/>
          </a:solidFill>
          <a:ln w="10795">
            <a:solidFill>
              <a:srgbClr val="DADCE0"/>
            </a:solidFill>
            <a:prstDash val="solid"/>
          </a:ln>
        </p:spPr>
      </p:sp>
      <p:pic>
        <p:nvPicPr>
          <p:cNvPr id="73" name="Image 1" descr="preencoded.png">    </p:cNvPr>
          <p:cNvPicPr>
            <a:picLocks noChangeAspect="1"/>
          </p:cNvPicPr>
          <p:nvPr/>
        </p:nvPicPr>
        <p:blipFill>
          <a:blip r:embed="rId2"/>
          <a:stretch>
            <a:fillRect/>
          </a:stretch>
        </p:blipFill>
        <p:spPr>
          <a:xfrm>
            <a:off x="5629961" y="1132942"/>
            <a:ext cx="141732" cy="141732"/>
          </a:xfrm>
          <a:prstGeom prst="rect">
            <a:avLst/>
          </a:prstGeom>
        </p:spPr>
      </p:pic>
      <p:sp>
        <p:nvSpPr>
          <p:cNvPr id="74" name="Text 70"/>
          <p:cNvSpPr/>
          <p:nvPr/>
        </p:nvSpPr>
        <p:spPr>
          <a:xfrm>
            <a:off x="5808269" y="1051560"/>
            <a:ext cx="680314" cy="303581"/>
          </a:xfrm>
          <a:prstGeom prst="rect">
            <a:avLst/>
          </a:prstGeom>
          <a:noFill/>
          <a:ln/>
        </p:spPr>
        <p:txBody>
          <a:bodyPr wrap="square" lIns="0" tIns="0" rIns="0" bIns="0" rtlCol="0" anchor="ctr">
            <a:normAutofit/>
          </a:bodyPr>
          <a:lstStyle/>
          <a:p>
            <a:pPr algn="l" indent="0" marL="0">
              <a:lnSpc>
                <a:spcPct val="88000"/>
              </a:lnSpc>
              <a:buNone/>
            </a:pPr>
            <a:r>
              <a:rPr lang="en-US" sz="560" b="1" dirty="0">
                <a:solidFill>
                  <a:srgbClr val="202124"/>
                </a:solidFill>
                <a:latin typeface="Arial" pitchFamily="34" charset="0"/>
                <a:ea typeface="Arial" pitchFamily="34" charset="-122"/>
                <a:cs typeface="Arial" pitchFamily="34" charset="-120"/>
              </a:rPr>
              <a:t>Enterprise Caller</a:t>
            </a:r>
            <a:endParaRPr lang="en-US" sz="560" dirty="0"/>
          </a:p>
          <a:p>
            <a:pPr algn="l" indent="0" marL="0">
              <a:lnSpc>
                <a:spcPct val="88000"/>
              </a:lnSpc>
              <a:buNone/>
            </a:pPr>
            <a:r>
              <a:rPr lang="en-US" sz="480" dirty="0">
                <a:solidFill>
                  <a:srgbClr val="3C4043"/>
                </a:solidFill>
                <a:latin typeface="Arial" pitchFamily="34" charset="0"/>
                <a:ea typeface="Arial" pitchFamily="34" charset="-122"/>
                <a:cs typeface="Arial" pitchFamily="34" charset="-120"/>
              </a:rPr>
              <a:t>Root Orchestrator Client</a:t>
            </a:r>
            <a:endParaRPr lang="en-US" sz="560" dirty="0"/>
          </a:p>
        </p:txBody>
      </p:sp>
      <p:sp>
        <p:nvSpPr>
          <p:cNvPr id="75" name="Shape 71"/>
          <p:cNvSpPr/>
          <p:nvPr/>
        </p:nvSpPr>
        <p:spPr>
          <a:xfrm>
            <a:off x="5540350" y="2465222"/>
            <a:ext cx="981151" cy="284378"/>
          </a:xfrm>
          <a:prstGeom prst="roundRect">
            <a:avLst>
              <a:gd name="adj" fmla="val 14469"/>
            </a:avLst>
          </a:prstGeom>
          <a:solidFill>
            <a:srgbClr val="FFFFFF"/>
          </a:solidFill>
          <a:ln w="10795">
            <a:solidFill>
              <a:srgbClr val="DADCE0"/>
            </a:solidFill>
            <a:prstDash val="solid"/>
          </a:ln>
        </p:spPr>
      </p:sp>
      <p:pic>
        <p:nvPicPr>
          <p:cNvPr id="76" name="Image 2" descr="preencoded.png">    </p:cNvPr>
          <p:cNvPicPr>
            <a:picLocks noChangeAspect="1"/>
          </p:cNvPicPr>
          <p:nvPr/>
        </p:nvPicPr>
        <p:blipFill>
          <a:blip r:embed="rId3"/>
          <a:stretch>
            <a:fillRect/>
          </a:stretch>
        </p:blipFill>
        <p:spPr>
          <a:xfrm>
            <a:off x="5563210" y="2536546"/>
            <a:ext cx="141732" cy="141732"/>
          </a:xfrm>
          <a:prstGeom prst="rect">
            <a:avLst/>
          </a:prstGeom>
        </p:spPr>
      </p:pic>
      <p:sp>
        <p:nvSpPr>
          <p:cNvPr id="77" name="Text 72"/>
          <p:cNvSpPr/>
          <p:nvPr/>
        </p:nvSpPr>
        <p:spPr>
          <a:xfrm>
            <a:off x="5727802" y="2470709"/>
            <a:ext cx="779069" cy="273406"/>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External Application Load Balancer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Global A2A Gateway Ingress</a:t>
            </a:r>
            <a:endParaRPr lang="en-US" sz="435" dirty="0"/>
          </a:p>
        </p:txBody>
      </p:sp>
      <p:sp>
        <p:nvSpPr>
          <p:cNvPr id="78" name="Shape 73"/>
          <p:cNvSpPr/>
          <p:nvPr/>
        </p:nvSpPr>
        <p:spPr>
          <a:xfrm>
            <a:off x="6932981" y="2368296"/>
            <a:ext cx="1033272" cy="269748"/>
          </a:xfrm>
          <a:prstGeom prst="roundRect">
            <a:avLst>
              <a:gd name="adj" fmla="val 15254"/>
            </a:avLst>
          </a:prstGeom>
          <a:solidFill>
            <a:srgbClr val="FFFFFF"/>
          </a:solidFill>
          <a:ln w="10795">
            <a:solidFill>
              <a:srgbClr val="DADCE0"/>
            </a:solidFill>
            <a:prstDash val="solid"/>
          </a:ln>
        </p:spPr>
      </p:sp>
      <p:pic>
        <p:nvPicPr>
          <p:cNvPr id="79" name="Image 3" descr="preencoded.png">    </p:cNvPr>
          <p:cNvPicPr>
            <a:picLocks noChangeAspect="1"/>
          </p:cNvPicPr>
          <p:nvPr/>
        </p:nvPicPr>
        <p:blipFill>
          <a:blip r:embed="rId4"/>
          <a:stretch>
            <a:fillRect/>
          </a:stretch>
        </p:blipFill>
        <p:spPr>
          <a:xfrm>
            <a:off x="6955841" y="2435962"/>
            <a:ext cx="134417" cy="134417"/>
          </a:xfrm>
          <a:prstGeom prst="rect">
            <a:avLst/>
          </a:prstGeom>
        </p:spPr>
      </p:pic>
      <p:sp>
        <p:nvSpPr>
          <p:cNvPr id="80" name="Text 74"/>
          <p:cNvSpPr/>
          <p:nvPr/>
        </p:nvSpPr>
        <p:spPr>
          <a:xfrm>
            <a:off x="7113118" y="2373782"/>
            <a:ext cx="838505"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Security Command Center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A2A &amp; MCP Posture Monitoring</a:t>
            </a:r>
            <a:endParaRPr lang="en-US" sz="435" dirty="0"/>
          </a:p>
        </p:txBody>
      </p:sp>
      <p:sp>
        <p:nvSpPr>
          <p:cNvPr id="81" name="Shape 75"/>
          <p:cNvSpPr/>
          <p:nvPr/>
        </p:nvSpPr>
        <p:spPr>
          <a:xfrm>
            <a:off x="6948526" y="2997403"/>
            <a:ext cx="1004011" cy="255118"/>
          </a:xfrm>
          <a:prstGeom prst="roundRect">
            <a:avLst>
              <a:gd name="adj" fmla="val 16129"/>
            </a:avLst>
          </a:prstGeom>
          <a:solidFill>
            <a:srgbClr val="FFFFFF"/>
          </a:solidFill>
          <a:ln w="10795">
            <a:solidFill>
              <a:srgbClr val="DADCE0"/>
            </a:solidFill>
            <a:prstDash val="solid"/>
          </a:ln>
        </p:spPr>
      </p:sp>
      <p:pic>
        <p:nvPicPr>
          <p:cNvPr id="82" name="Image 4" descr="preencoded.png">    </p:cNvPr>
          <p:cNvPicPr>
            <a:picLocks noChangeAspect="1"/>
          </p:cNvPicPr>
          <p:nvPr/>
        </p:nvPicPr>
        <p:blipFill>
          <a:blip r:embed="rId5"/>
          <a:stretch>
            <a:fillRect/>
          </a:stretch>
        </p:blipFill>
        <p:spPr>
          <a:xfrm>
            <a:off x="6971386" y="3061411"/>
            <a:ext cx="128016" cy="128016"/>
          </a:xfrm>
          <a:prstGeom prst="rect">
            <a:avLst/>
          </a:prstGeom>
        </p:spPr>
      </p:pic>
      <p:sp>
        <p:nvSpPr>
          <p:cNvPr id="83" name="Text 76"/>
          <p:cNvSpPr/>
          <p:nvPr/>
        </p:nvSpPr>
        <p:spPr>
          <a:xfrm>
            <a:off x="7121347" y="3002890"/>
            <a:ext cx="81747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Cloud Trace &amp; BigQuery</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8s Deadline &amp; 4k Token Budgets</a:t>
            </a:r>
            <a:endParaRPr lang="en-US" sz="435" dirty="0"/>
          </a:p>
        </p:txBody>
      </p:sp>
      <p:sp>
        <p:nvSpPr>
          <p:cNvPr id="84" name="Shape 77"/>
          <p:cNvSpPr/>
          <p:nvPr/>
        </p:nvSpPr>
        <p:spPr>
          <a:xfrm>
            <a:off x="6955841" y="2690165"/>
            <a:ext cx="988466" cy="255118"/>
          </a:xfrm>
          <a:prstGeom prst="roundRect">
            <a:avLst>
              <a:gd name="adj" fmla="val 16129"/>
            </a:avLst>
          </a:prstGeom>
          <a:solidFill>
            <a:srgbClr val="FFFFFF"/>
          </a:solidFill>
          <a:ln w="10795">
            <a:solidFill>
              <a:srgbClr val="DADCE0"/>
            </a:solidFill>
            <a:prstDash val="solid"/>
          </a:ln>
        </p:spPr>
      </p:sp>
      <p:pic>
        <p:nvPicPr>
          <p:cNvPr id="85" name="Image 5" descr="preencoded.png">    </p:cNvPr>
          <p:cNvPicPr>
            <a:picLocks noChangeAspect="1"/>
          </p:cNvPicPr>
          <p:nvPr/>
        </p:nvPicPr>
        <p:blipFill>
          <a:blip r:embed="rId6"/>
          <a:stretch>
            <a:fillRect/>
          </a:stretch>
        </p:blipFill>
        <p:spPr>
          <a:xfrm>
            <a:off x="6978701" y="2754173"/>
            <a:ext cx="128016" cy="128016"/>
          </a:xfrm>
          <a:prstGeom prst="rect">
            <a:avLst/>
          </a:prstGeom>
        </p:spPr>
      </p:pic>
      <p:sp>
        <p:nvSpPr>
          <p:cNvPr id="86" name="Text 78"/>
          <p:cNvSpPr/>
          <p:nvPr/>
        </p:nvSpPr>
        <p:spPr>
          <a:xfrm>
            <a:off x="7128662" y="2695651"/>
            <a:ext cx="80101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Central IAM &amp; PAB</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Workload Identity Federation</a:t>
            </a:r>
            <a:endParaRPr lang="en-US" sz="435" dirty="0"/>
          </a:p>
        </p:txBody>
      </p:sp>
      <p:sp>
        <p:nvSpPr>
          <p:cNvPr id="87" name="Shape 79"/>
          <p:cNvSpPr/>
          <p:nvPr/>
        </p:nvSpPr>
        <p:spPr>
          <a:xfrm>
            <a:off x="5127955" y="4307738"/>
            <a:ext cx="801014" cy="277063"/>
          </a:xfrm>
          <a:prstGeom prst="roundRect">
            <a:avLst>
              <a:gd name="adj" fmla="val 14851"/>
            </a:avLst>
          </a:prstGeom>
          <a:solidFill>
            <a:srgbClr val="FFFFFF"/>
          </a:solidFill>
          <a:ln w="10795">
            <a:solidFill>
              <a:srgbClr val="DADCE0"/>
            </a:solidFill>
            <a:prstDash val="solid"/>
          </a:ln>
        </p:spPr>
      </p:sp>
      <p:pic>
        <p:nvPicPr>
          <p:cNvPr id="88" name="Image 6" descr="preencoded.png">    </p:cNvPr>
          <p:cNvPicPr>
            <a:picLocks noChangeAspect="1"/>
          </p:cNvPicPr>
          <p:nvPr/>
        </p:nvPicPr>
        <p:blipFill>
          <a:blip r:embed="rId7"/>
          <a:stretch>
            <a:fillRect/>
          </a:stretch>
        </p:blipFill>
        <p:spPr>
          <a:xfrm>
            <a:off x="5150815" y="4377233"/>
            <a:ext cx="138074" cy="138074"/>
          </a:xfrm>
          <a:prstGeom prst="rect">
            <a:avLst/>
          </a:prstGeom>
        </p:spPr>
      </p:pic>
      <p:sp>
        <p:nvSpPr>
          <p:cNvPr id="89" name="Text 80"/>
          <p:cNvSpPr/>
          <p:nvPr/>
        </p:nvSpPr>
        <p:spPr>
          <a:xfrm>
            <a:off x="5311750"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Order Agent (ADK)</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Vertex AI Agent Engine</a:t>
            </a:r>
            <a:endParaRPr lang="en-US" sz="435" dirty="0"/>
          </a:p>
        </p:txBody>
      </p:sp>
      <p:sp>
        <p:nvSpPr>
          <p:cNvPr id="90" name="Shape 81"/>
          <p:cNvSpPr/>
          <p:nvPr/>
        </p:nvSpPr>
        <p:spPr>
          <a:xfrm>
            <a:off x="5127955" y="4847234"/>
            <a:ext cx="801014" cy="277063"/>
          </a:xfrm>
          <a:prstGeom prst="roundRect">
            <a:avLst>
              <a:gd name="adj" fmla="val 14851"/>
            </a:avLst>
          </a:prstGeom>
          <a:solidFill>
            <a:srgbClr val="FFFFFF"/>
          </a:solidFill>
          <a:ln w="10795">
            <a:solidFill>
              <a:srgbClr val="DADCE0"/>
            </a:solidFill>
            <a:prstDash val="solid"/>
          </a:ln>
        </p:spPr>
      </p:sp>
      <p:pic>
        <p:nvPicPr>
          <p:cNvPr id="91" name="Image 7" descr="preencoded.png">    </p:cNvPr>
          <p:cNvPicPr>
            <a:picLocks noChangeAspect="1"/>
          </p:cNvPicPr>
          <p:nvPr/>
        </p:nvPicPr>
        <p:blipFill>
          <a:blip r:embed="rId8"/>
          <a:stretch>
            <a:fillRect/>
          </a:stretch>
        </p:blipFill>
        <p:spPr>
          <a:xfrm>
            <a:off x="5150815" y="4916729"/>
            <a:ext cx="138074" cy="138074"/>
          </a:xfrm>
          <a:prstGeom prst="rect">
            <a:avLst/>
          </a:prstGeom>
        </p:spPr>
      </p:pic>
      <p:sp>
        <p:nvSpPr>
          <p:cNvPr id="92" name="Text 82"/>
          <p:cNvSpPr/>
          <p:nvPr/>
        </p:nvSpPr>
        <p:spPr>
          <a:xfrm>
            <a:off x="5311750"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Inventory MCP Server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Stateless Cloud Run SSE Pool</a:t>
            </a:r>
            <a:endParaRPr lang="en-US" sz="435" dirty="0"/>
          </a:p>
        </p:txBody>
      </p:sp>
      <p:sp>
        <p:nvSpPr>
          <p:cNvPr id="93" name="Shape 83"/>
          <p:cNvSpPr/>
          <p:nvPr/>
        </p:nvSpPr>
        <p:spPr>
          <a:xfrm>
            <a:off x="5127955" y="5409590"/>
            <a:ext cx="801014" cy="277063"/>
          </a:xfrm>
          <a:prstGeom prst="roundRect">
            <a:avLst>
              <a:gd name="adj" fmla="val 14851"/>
            </a:avLst>
          </a:prstGeom>
          <a:solidFill>
            <a:srgbClr val="FFFFFF"/>
          </a:solidFill>
          <a:ln w="10795">
            <a:solidFill>
              <a:srgbClr val="DADCE0"/>
            </a:solidFill>
            <a:prstDash val="solid"/>
          </a:ln>
        </p:spPr>
      </p:sp>
      <p:pic>
        <p:nvPicPr>
          <p:cNvPr id="94" name="Image 8" descr="preencoded.png">    </p:cNvPr>
          <p:cNvPicPr>
            <a:picLocks noChangeAspect="1"/>
          </p:cNvPicPr>
          <p:nvPr/>
        </p:nvPicPr>
        <p:blipFill>
          <a:blip r:embed="rId9"/>
          <a:stretch>
            <a:fillRect/>
          </a:stretch>
        </p:blipFill>
        <p:spPr>
          <a:xfrm>
            <a:off x="5150815" y="5479085"/>
            <a:ext cx="138074" cy="138074"/>
          </a:xfrm>
          <a:prstGeom prst="rect">
            <a:avLst/>
          </a:prstGeom>
        </p:spPr>
      </p:pic>
      <p:sp>
        <p:nvSpPr>
          <p:cNvPr id="95" name="Text 84"/>
          <p:cNvSpPr/>
          <p:nvPr/>
        </p:nvSpPr>
        <p:spPr>
          <a:xfrm>
            <a:off x="5311750"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BigQuery &amp; AlloyDB</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Regional Warehouse Stock Ledger</a:t>
            </a:r>
            <a:endParaRPr lang="en-US" sz="435" dirty="0"/>
          </a:p>
        </p:txBody>
      </p:sp>
      <p:sp>
        <p:nvSpPr>
          <p:cNvPr id="96" name="Shape 85"/>
          <p:cNvSpPr/>
          <p:nvPr/>
        </p:nvSpPr>
        <p:spPr>
          <a:xfrm>
            <a:off x="7165238" y="4307738"/>
            <a:ext cx="801014" cy="277063"/>
          </a:xfrm>
          <a:prstGeom prst="roundRect">
            <a:avLst>
              <a:gd name="adj" fmla="val 14851"/>
            </a:avLst>
          </a:prstGeom>
          <a:solidFill>
            <a:srgbClr val="FFFFFF"/>
          </a:solidFill>
          <a:ln w="10795">
            <a:solidFill>
              <a:srgbClr val="DADCE0"/>
            </a:solidFill>
            <a:prstDash val="solid"/>
          </a:ln>
        </p:spPr>
      </p:sp>
      <p:pic>
        <p:nvPicPr>
          <p:cNvPr id="97" name="Image 9" descr="preencoded.png">    </p:cNvPr>
          <p:cNvPicPr>
            <a:picLocks noChangeAspect="1"/>
          </p:cNvPicPr>
          <p:nvPr/>
        </p:nvPicPr>
        <p:blipFill>
          <a:blip r:embed="rId10"/>
          <a:stretch>
            <a:fillRect/>
          </a:stretch>
        </p:blipFill>
        <p:spPr>
          <a:xfrm>
            <a:off x="7188098" y="4377233"/>
            <a:ext cx="138074" cy="138074"/>
          </a:xfrm>
          <a:prstGeom prst="rect">
            <a:avLst/>
          </a:prstGeom>
        </p:spPr>
      </p:pic>
      <p:sp>
        <p:nvSpPr>
          <p:cNvPr id="98" name="Text 86"/>
          <p:cNvSpPr/>
          <p:nvPr/>
        </p:nvSpPr>
        <p:spPr>
          <a:xfrm>
            <a:off x="7349033"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Tracking Agent (A2A)</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Cloud Run + Agent Engine</a:t>
            </a:r>
            <a:endParaRPr lang="en-US" sz="435" dirty="0"/>
          </a:p>
        </p:txBody>
      </p:sp>
      <p:sp>
        <p:nvSpPr>
          <p:cNvPr id="99" name="Shape 87"/>
          <p:cNvSpPr/>
          <p:nvPr/>
        </p:nvSpPr>
        <p:spPr>
          <a:xfrm>
            <a:off x="7165238" y="4847234"/>
            <a:ext cx="801014" cy="277063"/>
          </a:xfrm>
          <a:prstGeom prst="roundRect">
            <a:avLst>
              <a:gd name="adj" fmla="val 14851"/>
            </a:avLst>
          </a:prstGeom>
          <a:solidFill>
            <a:srgbClr val="FFFFFF"/>
          </a:solidFill>
          <a:ln w="10795">
            <a:solidFill>
              <a:srgbClr val="DADCE0"/>
            </a:solidFill>
            <a:prstDash val="solid"/>
          </a:ln>
        </p:spPr>
      </p:sp>
      <p:pic>
        <p:nvPicPr>
          <p:cNvPr id="100" name="Image 10" descr="preencoded.png">    </p:cNvPr>
          <p:cNvPicPr>
            <a:picLocks noChangeAspect="1"/>
          </p:cNvPicPr>
          <p:nvPr/>
        </p:nvPicPr>
        <p:blipFill>
          <a:blip r:embed="rId11"/>
          <a:stretch>
            <a:fillRect/>
          </a:stretch>
        </p:blipFill>
        <p:spPr>
          <a:xfrm>
            <a:off x="7188098" y="4916729"/>
            <a:ext cx="138074" cy="138074"/>
          </a:xfrm>
          <a:prstGeom prst="rect">
            <a:avLst/>
          </a:prstGeom>
        </p:spPr>
      </p:pic>
      <p:sp>
        <p:nvSpPr>
          <p:cNvPr id="101" name="Text 88"/>
          <p:cNvSpPr/>
          <p:nvPr/>
        </p:nvSpPr>
        <p:spPr>
          <a:xfrm>
            <a:off x="7349033"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Logistics MCP Server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Stateless Cloud Run Partner API</a:t>
            </a:r>
            <a:endParaRPr lang="en-US" sz="435" dirty="0"/>
          </a:p>
        </p:txBody>
      </p:sp>
      <p:sp>
        <p:nvSpPr>
          <p:cNvPr id="102" name="Shape 89"/>
          <p:cNvSpPr/>
          <p:nvPr/>
        </p:nvSpPr>
        <p:spPr>
          <a:xfrm>
            <a:off x="7165238" y="5409590"/>
            <a:ext cx="801014" cy="277063"/>
          </a:xfrm>
          <a:prstGeom prst="roundRect">
            <a:avLst>
              <a:gd name="adj" fmla="val 14851"/>
            </a:avLst>
          </a:prstGeom>
          <a:solidFill>
            <a:srgbClr val="FFFFFF"/>
          </a:solidFill>
          <a:ln w="10795">
            <a:solidFill>
              <a:srgbClr val="DADCE0"/>
            </a:solidFill>
            <a:prstDash val="solid"/>
          </a:ln>
        </p:spPr>
      </p:sp>
      <p:pic>
        <p:nvPicPr>
          <p:cNvPr id="103" name="Image 11" descr="preencoded.png">    </p:cNvPr>
          <p:cNvPicPr>
            <a:picLocks noChangeAspect="1"/>
          </p:cNvPicPr>
          <p:nvPr/>
        </p:nvPicPr>
        <p:blipFill>
          <a:blip r:embed="rId12"/>
          <a:stretch>
            <a:fillRect/>
          </a:stretch>
        </p:blipFill>
        <p:spPr>
          <a:xfrm>
            <a:off x="7188098" y="5479085"/>
            <a:ext cx="138074" cy="138074"/>
          </a:xfrm>
          <a:prstGeom prst="rect">
            <a:avLst/>
          </a:prstGeom>
        </p:spPr>
      </p:pic>
      <p:sp>
        <p:nvSpPr>
          <p:cNvPr id="104" name="Text 90"/>
          <p:cNvSpPr/>
          <p:nvPr/>
        </p:nvSpPr>
        <p:spPr>
          <a:xfrm>
            <a:off x="7349033"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BigQuery &amp; Spanner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Carrier Telemetry &amp; Fallback Cache</a:t>
            </a:r>
            <a:endParaRPr lang="en-US" sz="435" dirty="0"/>
          </a:p>
        </p:txBody>
      </p:sp>
      <p:sp>
        <p:nvSpPr>
          <p:cNvPr id="105" name="Shape 91"/>
          <p:cNvSpPr/>
          <p:nvPr/>
        </p:nvSpPr>
        <p:spPr>
          <a:xfrm>
            <a:off x="5629961" y="3020263"/>
            <a:ext cx="838505" cy="246888"/>
          </a:xfrm>
          <a:prstGeom prst="roundRect">
            <a:avLst>
              <a:gd name="adj" fmla="val 16667"/>
            </a:avLst>
          </a:prstGeom>
          <a:solidFill>
            <a:srgbClr val="FFFFFF"/>
          </a:solidFill>
          <a:ln w="10795">
            <a:solidFill>
              <a:srgbClr val="DADCE0"/>
            </a:solidFill>
            <a:prstDash val="solid"/>
          </a:ln>
        </p:spPr>
      </p:sp>
      <p:pic>
        <p:nvPicPr>
          <p:cNvPr id="106" name="Image 12" descr="preencoded.png">    </p:cNvPr>
          <p:cNvPicPr>
            <a:picLocks noChangeAspect="1"/>
          </p:cNvPicPr>
          <p:nvPr/>
        </p:nvPicPr>
        <p:blipFill>
          <a:blip r:embed="rId13"/>
          <a:stretch>
            <a:fillRect/>
          </a:stretch>
        </p:blipFill>
        <p:spPr>
          <a:xfrm>
            <a:off x="5652821" y="3081528"/>
            <a:ext cx="123444" cy="123444"/>
          </a:xfrm>
          <a:prstGeom prst="rect">
            <a:avLst/>
          </a:prstGeom>
        </p:spPr>
      </p:pic>
      <p:sp>
        <p:nvSpPr>
          <p:cNvPr id="107" name="Text 92"/>
          <p:cNvSpPr/>
          <p:nvPr/>
        </p:nvSpPr>
        <p:spPr>
          <a:xfrm>
            <a:off x="5799125" y="3025750"/>
            <a:ext cx="655625"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Gemini Enterprise Catalog</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A2A Agent Card Discovery</a:t>
            </a:r>
            <a:endParaRPr lang="en-US" sz="435" dirty="0"/>
          </a:p>
        </p:txBody>
      </p:sp>
      <p:sp>
        <p:nvSpPr>
          <p:cNvPr id="108" name="Shape 93"/>
          <p:cNvSpPr/>
          <p:nvPr/>
        </p:nvSpPr>
        <p:spPr>
          <a:xfrm>
            <a:off x="4207154" y="4121201"/>
            <a:ext cx="726948" cy="269748"/>
          </a:xfrm>
          <a:prstGeom prst="roundRect">
            <a:avLst>
              <a:gd name="adj" fmla="val 15254"/>
            </a:avLst>
          </a:prstGeom>
          <a:solidFill>
            <a:srgbClr val="FFFFFF"/>
          </a:solidFill>
          <a:ln w="10795">
            <a:solidFill>
              <a:srgbClr val="DADCE0"/>
            </a:solidFill>
            <a:prstDash val="solid"/>
          </a:ln>
        </p:spPr>
      </p:sp>
      <p:pic>
        <p:nvPicPr>
          <p:cNvPr id="109" name="Image 13" descr="preencoded.png">    </p:cNvPr>
          <p:cNvPicPr>
            <a:picLocks noChangeAspect="1"/>
          </p:cNvPicPr>
          <p:nvPr/>
        </p:nvPicPr>
        <p:blipFill>
          <a:blip r:embed="rId14"/>
          <a:stretch>
            <a:fillRect/>
          </a:stretch>
        </p:blipFill>
        <p:spPr>
          <a:xfrm>
            <a:off x="4230014" y="4190695"/>
            <a:ext cx="130759" cy="130759"/>
          </a:xfrm>
          <a:prstGeom prst="rect">
            <a:avLst/>
          </a:prstGeom>
        </p:spPr>
      </p:pic>
      <p:sp>
        <p:nvSpPr>
          <p:cNvPr id="110" name="Text 94"/>
          <p:cNvSpPr/>
          <p:nvPr/>
        </p:nvSpPr>
        <p:spPr>
          <a:xfrm>
            <a:off x="4383634"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Model Armor Spoke Guard</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Domain Input/Output Guard</a:t>
            </a:r>
            <a:endParaRPr lang="en-US" sz="435" dirty="0"/>
          </a:p>
        </p:txBody>
      </p:sp>
      <p:sp>
        <p:nvSpPr>
          <p:cNvPr id="111" name="Shape 95"/>
          <p:cNvSpPr/>
          <p:nvPr/>
        </p:nvSpPr>
        <p:spPr>
          <a:xfrm>
            <a:off x="4207154" y="5004511"/>
            <a:ext cx="726948" cy="269748"/>
          </a:xfrm>
          <a:prstGeom prst="roundRect">
            <a:avLst>
              <a:gd name="adj" fmla="val 15254"/>
            </a:avLst>
          </a:prstGeom>
          <a:solidFill>
            <a:srgbClr val="FFFFFF"/>
          </a:solidFill>
          <a:ln w="10795">
            <a:solidFill>
              <a:srgbClr val="DADCE0"/>
            </a:solidFill>
            <a:prstDash val="solid"/>
          </a:ln>
        </p:spPr>
      </p:sp>
      <p:pic>
        <p:nvPicPr>
          <p:cNvPr id="112" name="Image 14" descr="preencoded.png">    </p:cNvPr>
          <p:cNvPicPr>
            <a:picLocks noChangeAspect="1"/>
          </p:cNvPicPr>
          <p:nvPr/>
        </p:nvPicPr>
        <p:blipFill>
          <a:blip r:embed="rId15"/>
          <a:stretch>
            <a:fillRect/>
          </a:stretch>
        </p:blipFill>
        <p:spPr>
          <a:xfrm>
            <a:off x="4230014" y="5074006"/>
            <a:ext cx="130759" cy="130759"/>
          </a:xfrm>
          <a:prstGeom prst="rect">
            <a:avLst/>
          </a:prstGeom>
        </p:spPr>
      </p:pic>
      <p:sp>
        <p:nvSpPr>
          <p:cNvPr id="113" name="Text 96"/>
          <p:cNvSpPr/>
          <p:nvPr/>
        </p:nvSpPr>
        <p:spPr>
          <a:xfrm>
            <a:off x="4383634" y="5009998"/>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Gemini 2.5 Pro</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4,000-Token Circuit Breaker</a:t>
            </a:r>
            <a:endParaRPr lang="en-US" sz="435" dirty="0"/>
          </a:p>
        </p:txBody>
      </p:sp>
      <p:sp>
        <p:nvSpPr>
          <p:cNvPr id="114" name="Shape 97"/>
          <p:cNvSpPr/>
          <p:nvPr/>
        </p:nvSpPr>
        <p:spPr>
          <a:xfrm>
            <a:off x="6244438" y="4121201"/>
            <a:ext cx="726948" cy="269748"/>
          </a:xfrm>
          <a:prstGeom prst="roundRect">
            <a:avLst>
              <a:gd name="adj" fmla="val 15254"/>
            </a:avLst>
          </a:prstGeom>
          <a:solidFill>
            <a:srgbClr val="FFFFFF"/>
          </a:solidFill>
          <a:ln w="10795">
            <a:solidFill>
              <a:srgbClr val="DADCE0"/>
            </a:solidFill>
            <a:prstDash val="solid"/>
          </a:ln>
        </p:spPr>
      </p:sp>
      <p:pic>
        <p:nvPicPr>
          <p:cNvPr id="115" name="Image 15" descr="preencoded.png">    </p:cNvPr>
          <p:cNvPicPr>
            <a:picLocks noChangeAspect="1"/>
          </p:cNvPicPr>
          <p:nvPr/>
        </p:nvPicPr>
        <p:blipFill>
          <a:blip r:embed="rId16"/>
          <a:stretch>
            <a:fillRect/>
          </a:stretch>
        </p:blipFill>
        <p:spPr>
          <a:xfrm>
            <a:off x="6267298" y="4190695"/>
            <a:ext cx="130759" cy="130759"/>
          </a:xfrm>
          <a:prstGeom prst="rect">
            <a:avLst/>
          </a:prstGeom>
        </p:spPr>
      </p:pic>
      <p:sp>
        <p:nvSpPr>
          <p:cNvPr id="116" name="Text 98"/>
          <p:cNvSpPr/>
          <p:nvPr/>
        </p:nvSpPr>
        <p:spPr>
          <a:xfrm>
            <a:off x="6420917"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Cloud DLP &amp; Model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Partner Payload Sanitization</a:t>
            </a:r>
            <a:endParaRPr lang="en-US" sz="435" dirty="0"/>
          </a:p>
        </p:txBody>
      </p:sp>
      <p:sp>
        <p:nvSpPr>
          <p:cNvPr id="117" name="Shape 99"/>
          <p:cNvSpPr/>
          <p:nvPr/>
        </p:nvSpPr>
        <p:spPr>
          <a:xfrm>
            <a:off x="6244438" y="4502506"/>
            <a:ext cx="726948" cy="269748"/>
          </a:xfrm>
          <a:prstGeom prst="roundRect">
            <a:avLst>
              <a:gd name="adj" fmla="val 15254"/>
            </a:avLst>
          </a:prstGeom>
          <a:solidFill>
            <a:srgbClr val="FFFFFF"/>
          </a:solidFill>
          <a:ln w="10795">
            <a:solidFill>
              <a:srgbClr val="DADCE0"/>
            </a:solidFill>
            <a:prstDash val="solid"/>
          </a:ln>
        </p:spPr>
      </p:sp>
      <p:pic>
        <p:nvPicPr>
          <p:cNvPr id="118" name="Image 16" descr="preencoded.png">    </p:cNvPr>
          <p:cNvPicPr>
            <a:picLocks noChangeAspect="1"/>
          </p:cNvPicPr>
          <p:nvPr/>
        </p:nvPicPr>
        <p:blipFill>
          <a:blip r:embed="rId17"/>
          <a:stretch>
            <a:fillRect/>
          </a:stretch>
        </p:blipFill>
        <p:spPr>
          <a:xfrm>
            <a:off x="6267298" y="4572000"/>
            <a:ext cx="130759" cy="130759"/>
          </a:xfrm>
          <a:prstGeom prst="rect">
            <a:avLst/>
          </a:prstGeom>
        </p:spPr>
      </p:pic>
      <p:sp>
        <p:nvSpPr>
          <p:cNvPr id="119" name="Text 100"/>
          <p:cNvSpPr/>
          <p:nvPr/>
        </p:nvSpPr>
        <p:spPr>
          <a:xfrm>
            <a:off x="6420917" y="4507992"/>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Gemini 2.5 Flash</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8-Second SLA Deadline</a:t>
            </a:r>
            <a:endParaRPr lang="en-US" sz="435" dirty="0"/>
          </a:p>
        </p:txBody>
      </p:sp>
      <p:sp>
        <p:nvSpPr>
          <p:cNvPr id="120" name="Shape 101"/>
          <p:cNvSpPr/>
          <p:nvPr/>
        </p:nvSpPr>
        <p:spPr>
          <a:xfrm>
            <a:off x="4176979" y="2338121"/>
            <a:ext cx="764438" cy="246888"/>
          </a:xfrm>
          <a:prstGeom prst="roundRect">
            <a:avLst>
              <a:gd name="adj" fmla="val 16667"/>
            </a:avLst>
          </a:prstGeom>
          <a:solidFill>
            <a:srgbClr val="FFFFFF"/>
          </a:solidFill>
          <a:ln w="10795">
            <a:solidFill>
              <a:srgbClr val="DADCE0"/>
            </a:solidFill>
            <a:prstDash val="solid"/>
          </a:ln>
        </p:spPr>
      </p:sp>
      <p:pic>
        <p:nvPicPr>
          <p:cNvPr id="121" name="Image 17" descr="preencoded.png">    </p:cNvPr>
          <p:cNvPicPr>
            <a:picLocks noChangeAspect="1"/>
          </p:cNvPicPr>
          <p:nvPr/>
        </p:nvPicPr>
        <p:blipFill>
          <a:blip r:embed="rId18"/>
          <a:stretch>
            <a:fillRect/>
          </a:stretch>
        </p:blipFill>
        <p:spPr>
          <a:xfrm>
            <a:off x="4199839" y="2399386"/>
            <a:ext cx="123444" cy="123444"/>
          </a:xfrm>
          <a:prstGeom prst="rect">
            <a:avLst/>
          </a:prstGeom>
        </p:spPr>
      </p:pic>
      <p:sp>
        <p:nvSpPr>
          <p:cNvPr id="122" name="Text 102"/>
          <p:cNvSpPr/>
          <p:nvPr/>
        </p:nvSpPr>
        <p:spPr>
          <a:xfrm>
            <a:off x="4346143" y="2343607"/>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Google Cloud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Ingress WAF &amp; Rate Control</a:t>
            </a:r>
            <a:endParaRPr lang="en-US" sz="435" dirty="0"/>
          </a:p>
        </p:txBody>
      </p:sp>
      <p:sp>
        <p:nvSpPr>
          <p:cNvPr id="123" name="Shape 103"/>
          <p:cNvSpPr/>
          <p:nvPr/>
        </p:nvSpPr>
        <p:spPr>
          <a:xfrm>
            <a:off x="4176979" y="2652674"/>
            <a:ext cx="764438" cy="246888"/>
          </a:xfrm>
          <a:prstGeom prst="roundRect">
            <a:avLst>
              <a:gd name="adj" fmla="val 16667"/>
            </a:avLst>
          </a:prstGeom>
          <a:solidFill>
            <a:srgbClr val="FFFFFF"/>
          </a:solidFill>
          <a:ln w="10795">
            <a:solidFill>
              <a:srgbClr val="DADCE0"/>
            </a:solidFill>
            <a:prstDash val="solid"/>
          </a:ln>
        </p:spPr>
      </p:sp>
      <p:pic>
        <p:nvPicPr>
          <p:cNvPr id="124" name="Image 18" descr="preencoded.png">    </p:cNvPr>
          <p:cNvPicPr>
            <a:picLocks noChangeAspect="1"/>
          </p:cNvPicPr>
          <p:nvPr/>
        </p:nvPicPr>
        <p:blipFill>
          <a:blip r:embed="rId19"/>
          <a:stretch>
            <a:fillRect/>
          </a:stretch>
        </p:blipFill>
        <p:spPr>
          <a:xfrm>
            <a:off x="4199839" y="2713939"/>
            <a:ext cx="123444" cy="123444"/>
          </a:xfrm>
          <a:prstGeom prst="rect">
            <a:avLst/>
          </a:prstGeom>
        </p:spPr>
      </p:pic>
      <p:sp>
        <p:nvSpPr>
          <p:cNvPr id="125" name="Text 104"/>
          <p:cNvSpPr/>
          <p:nvPr/>
        </p:nvSpPr>
        <p:spPr>
          <a:xfrm>
            <a:off x="4346143" y="2658161"/>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Model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Cross-Agent Payload Screen</a:t>
            </a:r>
            <a:endParaRPr lang="en-US" sz="435" dirty="0"/>
          </a:p>
        </p:txBody>
      </p:sp>
      <p:sp>
        <p:nvSpPr>
          <p:cNvPr id="126" name="Shape 105"/>
          <p:cNvSpPr/>
          <p:nvPr/>
        </p:nvSpPr>
        <p:spPr>
          <a:xfrm>
            <a:off x="4207154" y="3020263"/>
            <a:ext cx="734263" cy="246888"/>
          </a:xfrm>
          <a:prstGeom prst="roundRect">
            <a:avLst>
              <a:gd name="adj" fmla="val 16667"/>
            </a:avLst>
          </a:prstGeom>
          <a:solidFill>
            <a:srgbClr val="FFFFFF"/>
          </a:solidFill>
          <a:ln w="10795">
            <a:solidFill>
              <a:srgbClr val="DADCE0"/>
            </a:solidFill>
            <a:prstDash val="solid"/>
          </a:ln>
        </p:spPr>
      </p:sp>
      <p:pic>
        <p:nvPicPr>
          <p:cNvPr id="127" name="Image 19" descr="preencoded.png">    </p:cNvPr>
          <p:cNvPicPr>
            <a:picLocks noChangeAspect="1"/>
          </p:cNvPicPr>
          <p:nvPr/>
        </p:nvPicPr>
        <p:blipFill>
          <a:blip r:embed="rId20"/>
          <a:stretch>
            <a:fillRect/>
          </a:stretch>
        </p:blipFill>
        <p:spPr>
          <a:xfrm>
            <a:off x="4230014" y="3081528"/>
            <a:ext cx="123444" cy="123444"/>
          </a:xfrm>
          <a:prstGeom prst="rect">
            <a:avLst/>
          </a:prstGeom>
        </p:spPr>
      </p:pic>
      <p:sp>
        <p:nvSpPr>
          <p:cNvPr id="128" name="Text 106"/>
          <p:cNvSpPr/>
          <p:nvPr/>
        </p:nvSpPr>
        <p:spPr>
          <a:xfrm>
            <a:off x="4376318" y="3025750"/>
            <a:ext cx="551383"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OBO + DPoP Broker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Per-Hop Scope Narrowing</a:t>
            </a:r>
            <a:endParaRPr lang="en-US" sz="435" dirty="0"/>
          </a:p>
        </p:txBody>
      </p:sp>
      <p:sp>
        <p:nvSpPr>
          <p:cNvPr id="129" name="Shape 107"/>
          <p:cNvSpPr/>
          <p:nvPr/>
        </p:nvSpPr>
        <p:spPr>
          <a:xfrm>
            <a:off x="5904281" y="1458468"/>
            <a:ext cx="127102" cy="127102"/>
          </a:xfrm>
          <a:prstGeom prst="ellipse">
            <a:avLst/>
          </a:prstGeom>
          <a:solidFill>
            <a:srgbClr val="174EA6"/>
          </a:solidFill>
          <a:ln w="10795">
            <a:solidFill>
              <a:srgbClr val="174EA6"/>
            </a:solidFill>
            <a:prstDash val="solid"/>
          </a:ln>
        </p:spPr>
      </p:sp>
      <p:sp>
        <p:nvSpPr>
          <p:cNvPr id="130" name="Text 108"/>
          <p:cNvSpPr/>
          <p:nvPr/>
        </p:nvSpPr>
        <p:spPr>
          <a:xfrm>
            <a:off x="5904281"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31" name="Shape 109"/>
          <p:cNvSpPr/>
          <p:nvPr/>
        </p:nvSpPr>
        <p:spPr>
          <a:xfrm>
            <a:off x="6076188" y="1458468"/>
            <a:ext cx="127102" cy="127102"/>
          </a:xfrm>
          <a:prstGeom prst="ellipse">
            <a:avLst/>
          </a:prstGeom>
          <a:solidFill>
            <a:srgbClr val="174EA6"/>
          </a:solidFill>
          <a:ln w="10795">
            <a:solidFill>
              <a:srgbClr val="174EA6"/>
            </a:solidFill>
            <a:prstDash val="solid"/>
          </a:ln>
        </p:spPr>
      </p:sp>
      <p:sp>
        <p:nvSpPr>
          <p:cNvPr id="132" name="Text 110"/>
          <p:cNvSpPr/>
          <p:nvPr/>
        </p:nvSpPr>
        <p:spPr>
          <a:xfrm>
            <a:off x="6076188"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3" name="Shape 111"/>
          <p:cNvSpPr/>
          <p:nvPr/>
        </p:nvSpPr>
        <p:spPr>
          <a:xfrm>
            <a:off x="5904281" y="2817266"/>
            <a:ext cx="127102" cy="127102"/>
          </a:xfrm>
          <a:prstGeom prst="ellipse">
            <a:avLst/>
          </a:prstGeom>
          <a:solidFill>
            <a:srgbClr val="174EA6"/>
          </a:solidFill>
          <a:ln w="10795">
            <a:solidFill>
              <a:srgbClr val="174EA6"/>
            </a:solidFill>
            <a:prstDash val="solid"/>
          </a:ln>
        </p:spPr>
      </p:sp>
      <p:sp>
        <p:nvSpPr>
          <p:cNvPr id="134" name="Text 112"/>
          <p:cNvSpPr/>
          <p:nvPr/>
        </p:nvSpPr>
        <p:spPr>
          <a:xfrm>
            <a:off x="5904281"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35" name="Shape 113"/>
          <p:cNvSpPr/>
          <p:nvPr/>
        </p:nvSpPr>
        <p:spPr>
          <a:xfrm>
            <a:off x="6076188" y="2817266"/>
            <a:ext cx="127102" cy="127102"/>
          </a:xfrm>
          <a:prstGeom prst="ellipse">
            <a:avLst/>
          </a:prstGeom>
          <a:solidFill>
            <a:srgbClr val="174EA6"/>
          </a:solidFill>
          <a:ln w="10795">
            <a:solidFill>
              <a:srgbClr val="174EA6"/>
            </a:solidFill>
            <a:prstDash val="solid"/>
          </a:ln>
        </p:spPr>
      </p:sp>
      <p:sp>
        <p:nvSpPr>
          <p:cNvPr id="136" name="Text 114"/>
          <p:cNvSpPr/>
          <p:nvPr/>
        </p:nvSpPr>
        <p:spPr>
          <a:xfrm>
            <a:off x="6076188"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7" name="Shape 115"/>
          <p:cNvSpPr/>
          <p:nvPr/>
        </p:nvSpPr>
        <p:spPr>
          <a:xfrm>
            <a:off x="5297119" y="3397910"/>
            <a:ext cx="127102" cy="127102"/>
          </a:xfrm>
          <a:prstGeom prst="ellipse">
            <a:avLst/>
          </a:prstGeom>
          <a:solidFill>
            <a:srgbClr val="174EA6"/>
          </a:solidFill>
          <a:ln w="10795">
            <a:solidFill>
              <a:srgbClr val="174EA6"/>
            </a:solidFill>
            <a:prstDash val="solid"/>
          </a:ln>
        </p:spPr>
      </p:sp>
      <p:sp>
        <p:nvSpPr>
          <p:cNvPr id="138" name="Text 116"/>
          <p:cNvSpPr/>
          <p:nvPr/>
        </p:nvSpPr>
        <p:spPr>
          <a:xfrm>
            <a:off x="5297119"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39" name="Shape 117"/>
          <p:cNvSpPr/>
          <p:nvPr/>
        </p:nvSpPr>
        <p:spPr>
          <a:xfrm>
            <a:off x="6091733" y="3397910"/>
            <a:ext cx="127102" cy="127102"/>
          </a:xfrm>
          <a:prstGeom prst="ellipse">
            <a:avLst/>
          </a:prstGeom>
          <a:solidFill>
            <a:srgbClr val="174EA6"/>
          </a:solidFill>
          <a:ln w="10795">
            <a:solidFill>
              <a:srgbClr val="174EA6"/>
            </a:solidFill>
            <a:prstDash val="solid"/>
          </a:ln>
        </p:spPr>
      </p:sp>
      <p:sp>
        <p:nvSpPr>
          <p:cNvPr id="140" name="Text 118"/>
          <p:cNvSpPr/>
          <p:nvPr/>
        </p:nvSpPr>
        <p:spPr>
          <a:xfrm>
            <a:off x="6091733"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41" name="Shape 119"/>
          <p:cNvSpPr/>
          <p:nvPr/>
        </p:nvSpPr>
        <p:spPr>
          <a:xfrm>
            <a:off x="4233672" y="4439412"/>
            <a:ext cx="127102" cy="127102"/>
          </a:xfrm>
          <a:prstGeom prst="ellipse">
            <a:avLst/>
          </a:prstGeom>
          <a:solidFill>
            <a:srgbClr val="174EA6"/>
          </a:solidFill>
          <a:ln w="10795">
            <a:solidFill>
              <a:srgbClr val="174EA6"/>
            </a:solidFill>
            <a:prstDash val="solid"/>
          </a:ln>
        </p:spPr>
      </p:sp>
      <p:sp>
        <p:nvSpPr>
          <p:cNvPr id="142" name="Text 120"/>
          <p:cNvSpPr/>
          <p:nvPr/>
        </p:nvSpPr>
        <p:spPr>
          <a:xfrm>
            <a:off x="4233672" y="443941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43" name="Shape 121"/>
          <p:cNvSpPr/>
          <p:nvPr/>
        </p:nvSpPr>
        <p:spPr>
          <a:xfrm>
            <a:off x="4233672" y="4619549"/>
            <a:ext cx="127102" cy="127102"/>
          </a:xfrm>
          <a:prstGeom prst="ellipse">
            <a:avLst/>
          </a:prstGeom>
          <a:solidFill>
            <a:srgbClr val="174EA6"/>
          </a:solidFill>
          <a:ln w="10795">
            <a:solidFill>
              <a:srgbClr val="174EA6"/>
            </a:solidFill>
            <a:prstDash val="solid"/>
          </a:ln>
        </p:spPr>
      </p:sp>
      <p:sp>
        <p:nvSpPr>
          <p:cNvPr id="144" name="Text 122"/>
          <p:cNvSpPr/>
          <p:nvPr/>
        </p:nvSpPr>
        <p:spPr>
          <a:xfrm>
            <a:off x="4233672" y="4619549"/>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45" name="Shape 123"/>
          <p:cNvSpPr/>
          <p:nvPr/>
        </p:nvSpPr>
        <p:spPr>
          <a:xfrm>
            <a:off x="4233672" y="5330952"/>
            <a:ext cx="127102" cy="127102"/>
          </a:xfrm>
          <a:prstGeom prst="ellipse">
            <a:avLst/>
          </a:prstGeom>
          <a:solidFill>
            <a:srgbClr val="174EA6"/>
          </a:solidFill>
          <a:ln w="10795">
            <a:solidFill>
              <a:srgbClr val="174EA6"/>
            </a:solidFill>
            <a:prstDash val="solid"/>
          </a:ln>
        </p:spPr>
      </p:sp>
      <p:sp>
        <p:nvSpPr>
          <p:cNvPr id="146" name="Text 124"/>
          <p:cNvSpPr/>
          <p:nvPr/>
        </p:nvSpPr>
        <p:spPr>
          <a:xfrm>
            <a:off x="4233672" y="533095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47" name="Text 125"/>
          <p:cNvSpPr/>
          <p:nvPr/>
        </p:nvSpPr>
        <p:spPr>
          <a:xfrm>
            <a:off x="7416698"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Distributed A2A &amp; MCP trace spans</a:t>
            </a:r>
            <a:endParaRPr lang="en-US" sz="420" dirty="0"/>
          </a:p>
        </p:txBody>
      </p:sp>
      <p:sp>
        <p:nvSpPr>
          <p:cNvPr id="148" name="Text 126"/>
          <p:cNvSpPr/>
          <p:nvPr/>
        </p:nvSpPr>
        <p:spPr>
          <a:xfrm>
            <a:off x="5221224" y="4659782"/>
            <a:ext cx="616306"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Stateless MCP SSE Call</a:t>
            </a:r>
            <a:endParaRPr lang="en-US" sz="420" dirty="0"/>
          </a:p>
        </p:txBody>
      </p:sp>
      <p:sp>
        <p:nvSpPr>
          <p:cNvPr id="149" name="Text 127"/>
          <p:cNvSpPr/>
          <p:nvPr/>
        </p:nvSpPr>
        <p:spPr>
          <a:xfrm>
            <a:off x="5183734" y="5206594"/>
            <a:ext cx="6903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Parameterized Stock Query</a:t>
            </a:r>
            <a:endParaRPr lang="en-US" sz="420" dirty="0"/>
          </a:p>
        </p:txBody>
      </p:sp>
      <p:sp>
        <p:nvSpPr>
          <p:cNvPr id="150" name="Text 128"/>
          <p:cNvSpPr/>
          <p:nvPr/>
        </p:nvSpPr>
        <p:spPr>
          <a:xfrm>
            <a:off x="7246620" y="4659782"/>
            <a:ext cx="64099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Stateless MCP Tool Call</a:t>
            </a:r>
            <a:endParaRPr lang="en-US" sz="420" dirty="0"/>
          </a:p>
        </p:txBody>
      </p:sp>
      <p:sp>
        <p:nvSpPr>
          <p:cNvPr id="151" name="Text 129"/>
          <p:cNvSpPr/>
          <p:nvPr/>
        </p:nvSpPr>
        <p:spPr>
          <a:xfrm>
            <a:off x="7184441" y="5206594"/>
            <a:ext cx="76443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Partner API &amp; Cache Fallback</a:t>
            </a:r>
            <a:endParaRPr lang="en-US" sz="420" dirty="0"/>
          </a:p>
        </p:txBody>
      </p:sp>
      <p:sp>
        <p:nvSpPr>
          <p:cNvPr id="152" name="Text 130"/>
          <p:cNvSpPr/>
          <p:nvPr/>
        </p:nvSpPr>
        <p:spPr>
          <a:xfrm>
            <a:off x="4387291" y="5337353"/>
            <a:ext cx="591617"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Plan tool invocations</a:t>
            </a:r>
            <a:endParaRPr lang="en-US" sz="420" dirty="0"/>
          </a:p>
        </p:txBody>
      </p:sp>
      <p:sp>
        <p:nvSpPr>
          <p:cNvPr id="153" name="Text 131"/>
          <p:cNvSpPr/>
          <p:nvPr/>
        </p:nvSpPr>
        <p:spPr>
          <a:xfrm>
            <a:off x="6326734"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Aggregated multi-agent JSON-RPC result</a:t>
            </a:r>
            <a:endParaRPr lang="en-US" sz="420" dirty="0"/>
          </a:p>
        </p:txBody>
      </p:sp>
      <p:sp>
        <p:nvSpPr>
          <p:cNvPr id="154" name="Text 132"/>
          <p:cNvSpPr/>
          <p:nvPr/>
        </p:nvSpPr>
        <p:spPr>
          <a:xfrm>
            <a:off x="5338267"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Delegate A2A task via Agent Card</a:t>
            </a:r>
            <a:endParaRPr lang="en-US" sz="420" dirty="0"/>
          </a:p>
        </p:txBody>
      </p:sp>
      <p:sp>
        <p:nvSpPr>
          <p:cNvPr id="155" name="Text 133"/>
          <p:cNvSpPr/>
          <p:nvPr/>
        </p:nvSpPr>
        <p:spPr>
          <a:xfrm>
            <a:off x="4977079" y="2980944"/>
            <a:ext cx="616306"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Narrow OBO token scope</a:t>
            </a:r>
            <a:endParaRPr lang="en-US" sz="420" dirty="0"/>
          </a:p>
        </p:txBody>
      </p:sp>
      <p:sp>
        <p:nvSpPr>
          <p:cNvPr id="156" name="Text 134"/>
          <p:cNvSpPr/>
          <p:nvPr/>
        </p:nvSpPr>
        <p:spPr>
          <a:xfrm>
            <a:off x="4461358" y="4445813"/>
            <a:ext cx="4434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Screen A2A task</a:t>
            </a:r>
            <a:endParaRPr lang="en-US" sz="420" dirty="0"/>
          </a:p>
        </p:txBody>
      </p:sp>
      <p:sp>
        <p:nvSpPr>
          <p:cNvPr id="157" name="Text 135"/>
          <p:cNvSpPr/>
          <p:nvPr/>
        </p:nvSpPr>
        <p:spPr>
          <a:xfrm>
            <a:off x="4436669" y="4625950"/>
            <a:ext cx="49286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Screen A2A output</a:t>
            </a:r>
            <a:endParaRPr lang="en-US" sz="420" dirty="0"/>
          </a:p>
        </p:txBody>
      </p:sp>
      <p:sp>
        <p:nvSpPr>
          <p:cNvPr id="158" name="Text 136"/>
          <p:cNvSpPr/>
          <p:nvPr/>
        </p:nvSpPr>
        <p:spPr>
          <a:xfrm>
            <a:off x="4876495" y="2299716"/>
            <a:ext cx="616306"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WAF &amp; ingress policies</a:t>
            </a:r>
            <a:endParaRPr lang="en-US" sz="420" dirty="0"/>
          </a:p>
        </p:txBody>
      </p:sp>
      <p:sp>
        <p:nvSpPr>
          <p:cNvPr id="159" name="Text 137"/>
          <p:cNvSpPr/>
          <p:nvPr/>
        </p:nvSpPr>
        <p:spPr>
          <a:xfrm>
            <a:off x="5003597" y="2816352"/>
            <a:ext cx="6903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Sanitize A2A task payload</a:t>
            </a:r>
            <a:endParaRPr lang="en-US" sz="420" dirty="0"/>
          </a:p>
        </p:txBody>
      </p:sp>
      <p:sp>
        <p:nvSpPr>
          <p:cNvPr id="160" name="Text 138"/>
          <p:cNvSpPr/>
          <p:nvPr/>
        </p:nvSpPr>
        <p:spPr>
          <a:xfrm>
            <a:off x="6238951" y="1463954"/>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Response</a:t>
            </a:r>
            <a:endParaRPr lang="en-US" sz="420" dirty="0"/>
          </a:p>
        </p:txBody>
      </p:sp>
      <p:sp>
        <p:nvSpPr>
          <p:cNvPr id="161" name="Text 139"/>
          <p:cNvSpPr/>
          <p:nvPr/>
        </p:nvSpPr>
        <p:spPr>
          <a:xfrm>
            <a:off x="6238951"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Response</a:t>
            </a:r>
            <a:endParaRPr lang="en-US" sz="420" dirty="0"/>
          </a:p>
        </p:txBody>
      </p:sp>
      <p:sp>
        <p:nvSpPr>
          <p:cNvPr id="162" name="Text 140"/>
          <p:cNvSpPr/>
          <p:nvPr/>
        </p:nvSpPr>
        <p:spPr>
          <a:xfrm>
            <a:off x="5531206" y="1463954"/>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Request</a:t>
            </a:r>
            <a:endParaRPr lang="en-US" sz="420" dirty="0"/>
          </a:p>
        </p:txBody>
      </p:sp>
      <p:sp>
        <p:nvSpPr>
          <p:cNvPr id="163" name="Text 141"/>
          <p:cNvSpPr/>
          <p:nvPr/>
        </p:nvSpPr>
        <p:spPr>
          <a:xfrm>
            <a:off x="5531206"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Request</a:t>
            </a:r>
            <a:endParaRPr lang="en-US" sz="4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Agent Engine, MCP &amp; A2A  ›  Architecture  ›  Components &amp; Agentic flow</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DOC-REF-09  ·  Page 3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03504"/>
            <a:ext cx="10680192" cy="201168"/>
          </a:xfrm>
          <a:prstGeom prst="rect">
            <a:avLst/>
          </a:prstGeom>
          <a:noFill/>
          <a:ln/>
        </p:spPr>
        <p:txBody>
          <a:bodyPr wrap="square" rtlCol="0" anchor="ctr"/>
          <a:lstStyle/>
          <a:p>
            <a:pPr indent="0" marL="0">
              <a:buNone/>
            </a:pPr>
            <a:r>
              <a:rPr lang="en-US" sz="920" dirty="0">
                <a:solidFill>
                  <a:srgbClr val="3C4043"/>
                </a:solidFill>
                <a:latin typeface="Arial" pitchFamily="34" charset="0"/>
                <a:ea typeface="Arial" pitchFamily="34" charset="-122"/>
                <a:cs typeface="Arial" pitchFamily="34" charset="-120"/>
              </a:rPr>
              <a:t>The architecture consists of the following components:</a:t>
            </a:r>
            <a:endParaRPr lang="en-US" sz="920" dirty="0"/>
          </a:p>
        </p:txBody>
      </p:sp>
      <p:sp>
        <p:nvSpPr>
          <p:cNvPr id="7" name="Shape 5"/>
          <p:cNvSpPr/>
          <p:nvPr/>
        </p:nvSpPr>
        <p:spPr>
          <a:xfrm>
            <a:off x="749808" y="841248"/>
            <a:ext cx="2889504" cy="256032"/>
          </a:xfrm>
          <a:prstGeom prst="rect">
            <a:avLst/>
          </a:prstGeom>
          <a:solidFill>
            <a:srgbClr val="F8F9FA"/>
          </a:solidFill>
          <a:ln w="9525">
            <a:solidFill>
              <a:srgbClr val="DADCE0"/>
            </a:solidFill>
            <a:prstDash val="solid"/>
          </a:ln>
        </p:spPr>
      </p:sp>
      <p:sp>
        <p:nvSpPr>
          <p:cNvPr id="8" name="Text 6"/>
          <p:cNvSpPr/>
          <p:nvPr/>
        </p:nvSpPr>
        <p:spPr>
          <a:xfrm>
            <a:off x="841248" y="841248"/>
            <a:ext cx="2706624"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Component</a:t>
            </a:r>
            <a:endParaRPr lang="en-US" sz="840" dirty="0"/>
          </a:p>
        </p:txBody>
      </p:sp>
      <p:sp>
        <p:nvSpPr>
          <p:cNvPr id="9" name="Shape 7"/>
          <p:cNvSpPr/>
          <p:nvPr/>
        </p:nvSpPr>
        <p:spPr>
          <a:xfrm>
            <a:off x="3639312" y="841248"/>
            <a:ext cx="7790688" cy="256032"/>
          </a:xfrm>
          <a:prstGeom prst="rect">
            <a:avLst/>
          </a:prstGeom>
          <a:solidFill>
            <a:srgbClr val="F8F9FA"/>
          </a:solidFill>
          <a:ln w="9525">
            <a:solidFill>
              <a:srgbClr val="DADCE0"/>
            </a:solidFill>
            <a:prstDash val="solid"/>
          </a:ln>
        </p:spPr>
      </p:sp>
      <p:sp>
        <p:nvSpPr>
          <p:cNvPr id="10" name="Text 8"/>
          <p:cNvSpPr/>
          <p:nvPr/>
        </p:nvSpPr>
        <p:spPr>
          <a:xfrm>
            <a:off x="3749040" y="841248"/>
            <a:ext cx="7571232"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Description</a:t>
            </a:r>
            <a:endParaRPr lang="en-US" sz="840" dirty="0"/>
          </a:p>
        </p:txBody>
      </p:sp>
      <p:sp>
        <p:nvSpPr>
          <p:cNvPr id="11" name="Shape 9"/>
          <p:cNvSpPr/>
          <p:nvPr/>
        </p:nvSpPr>
        <p:spPr>
          <a:xfrm>
            <a:off x="749808" y="1097280"/>
            <a:ext cx="2889504" cy="338328"/>
          </a:xfrm>
          <a:prstGeom prst="rect">
            <a:avLst/>
          </a:prstGeom>
          <a:solidFill>
            <a:srgbClr val="FFFFFF"/>
          </a:solidFill>
          <a:ln w="9525">
            <a:solidFill>
              <a:srgbClr val="DADCE0"/>
            </a:solidFill>
            <a:prstDash val="solid"/>
          </a:ln>
        </p:spPr>
      </p:sp>
      <p:sp>
        <p:nvSpPr>
          <p:cNvPr id="12" name="Text 10"/>
          <p:cNvSpPr/>
          <p:nvPr/>
        </p:nvSpPr>
        <p:spPr>
          <a:xfrm>
            <a:off x="841248" y="1115568"/>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VPC Service Controls Multi-Agent Ecosystem Perimeter
</a:t>
            </a:r>
            <a:pPr indent="0" marL="0">
              <a:buNone/>
            </a:pPr>
            <a:r>
              <a:rPr lang="en-US" sz="650" dirty="0">
                <a:solidFill>
                  <a:srgbClr val="5F6368"/>
                </a:solidFill>
                <a:latin typeface="Arial" pitchFamily="34" charset="0"/>
                <a:ea typeface="Arial" pitchFamily="34" charset="-122"/>
                <a:cs typeface="Arial" pitchFamily="34" charset="-120"/>
              </a:rPr>
              <a:t>Outer security and governance boundary that prevents unauthorized data.</a:t>
            </a:r>
            <a:endParaRPr lang="en-US" sz="750" dirty="0"/>
          </a:p>
        </p:txBody>
      </p:sp>
      <p:sp>
        <p:nvSpPr>
          <p:cNvPr id="13" name="Shape 11"/>
          <p:cNvSpPr/>
          <p:nvPr/>
        </p:nvSpPr>
        <p:spPr>
          <a:xfrm>
            <a:off x="3639312" y="1097280"/>
            <a:ext cx="7790688" cy="338328"/>
          </a:xfrm>
          <a:prstGeom prst="rect">
            <a:avLst/>
          </a:prstGeom>
          <a:solidFill>
            <a:srgbClr val="FFFFFF"/>
          </a:solidFill>
          <a:ln w="9525">
            <a:solidFill>
              <a:srgbClr val="DADCE0"/>
            </a:solidFill>
            <a:prstDash val="solid"/>
          </a:ln>
        </p:spPr>
      </p:sp>
      <p:sp>
        <p:nvSpPr>
          <p:cNvPr id="14" name="Text 12"/>
          <p:cNvSpPr/>
          <p:nvPr/>
        </p:nvSpPr>
        <p:spPr>
          <a:xfrm>
            <a:off x="3749040" y="1115568"/>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VPC Service Controls Multi-Agent Ecosystem Perimeter: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VPC Service Controls service perimeters around hub and spoke projects to block unauthorized cross-perimeter data movement.</a:t>
            </a:r>
            <a:endParaRPr lang="en-US" sz="690" dirty="0"/>
          </a:p>
        </p:txBody>
      </p:sp>
      <p:sp>
        <p:nvSpPr>
          <p:cNvPr id="15" name="Shape 13"/>
          <p:cNvSpPr/>
          <p:nvPr/>
        </p:nvSpPr>
        <p:spPr>
          <a:xfrm>
            <a:off x="749808" y="1435608"/>
            <a:ext cx="2889504" cy="822960"/>
          </a:xfrm>
          <a:prstGeom prst="rect">
            <a:avLst/>
          </a:prstGeom>
          <a:solidFill>
            <a:srgbClr val="FFFFFF"/>
          </a:solidFill>
          <a:ln w="9525">
            <a:solidFill>
              <a:srgbClr val="DADCE0"/>
            </a:solidFill>
            <a:prstDash val="solid"/>
          </a:ln>
        </p:spPr>
      </p:sp>
      <p:sp>
        <p:nvSpPr>
          <p:cNvPr id="16" name="Text 14"/>
          <p:cNvSpPr/>
          <p:nvPr/>
        </p:nvSpPr>
        <p:spPr>
          <a:xfrm>
            <a:off x="841248" y="145389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A2A Discovery &amp; Federation Hub
</a:t>
            </a:r>
            <a:pPr indent="0" marL="0">
              <a:buNone/>
            </a:pPr>
            <a:r>
              <a:rPr lang="en-US" sz="650" dirty="0">
                <a:solidFill>
                  <a:srgbClr val="5F6368"/>
                </a:solidFill>
                <a:latin typeface="Arial" pitchFamily="34" charset="0"/>
                <a:ea typeface="Arial" pitchFamily="34" charset="-122"/>
                <a:cs typeface="Arial" pitchFamily="34" charset="-120"/>
              </a:rPr>
              <a:t>Centralized ingress and control plane managing edge security, identity verification, and request routing.</a:t>
            </a:r>
            <a:endParaRPr lang="en-US" sz="750" dirty="0"/>
          </a:p>
        </p:txBody>
      </p:sp>
      <p:sp>
        <p:nvSpPr>
          <p:cNvPr id="17" name="Shape 15"/>
          <p:cNvSpPr/>
          <p:nvPr/>
        </p:nvSpPr>
        <p:spPr>
          <a:xfrm>
            <a:off x="3639312" y="1435608"/>
            <a:ext cx="7790688" cy="822960"/>
          </a:xfrm>
          <a:prstGeom prst="rect">
            <a:avLst/>
          </a:prstGeom>
          <a:solidFill>
            <a:srgbClr val="FFFFFF"/>
          </a:solidFill>
          <a:ln w="9525">
            <a:solidFill>
              <a:srgbClr val="DADCE0"/>
            </a:solidFill>
            <a:prstDash val="solid"/>
          </a:ln>
        </p:spPr>
      </p:sp>
      <p:sp>
        <p:nvSpPr>
          <p:cNvPr id="18" name="Text 16"/>
          <p:cNvSpPr/>
          <p:nvPr/>
        </p:nvSpPr>
        <p:spPr>
          <a:xfrm>
            <a:off x="3749040" y="145389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External Application Load Balancer: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Acts as the unified global entry point for incoming requests.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Google Cloud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edge policy rules before reaching the runtime.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Model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incoming prompts and verifies policy constraints at the routing hub.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OBO + DPoP Broker: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Authenticates callers and binds cryptographic identity and scope claims before routing.</a:t>
            </a:r>
            <a:endParaRPr lang="en-US" sz="690" dirty="0"/>
          </a:p>
        </p:txBody>
      </p:sp>
      <p:sp>
        <p:nvSpPr>
          <p:cNvPr id="19" name="Shape 17"/>
          <p:cNvSpPr/>
          <p:nvPr/>
        </p:nvSpPr>
        <p:spPr>
          <a:xfrm>
            <a:off x="749808" y="2258568"/>
            <a:ext cx="2889504" cy="822960"/>
          </a:xfrm>
          <a:prstGeom prst="rect">
            <a:avLst/>
          </a:prstGeom>
          <a:solidFill>
            <a:srgbClr val="FFFFFF"/>
          </a:solidFill>
          <a:ln w="9525">
            <a:solidFill>
              <a:srgbClr val="DADCE0"/>
            </a:solidFill>
            <a:prstDash val="solid"/>
          </a:ln>
        </p:spPr>
      </p:sp>
      <p:sp>
        <p:nvSpPr>
          <p:cNvPr id="20" name="Text 18"/>
          <p:cNvSpPr/>
          <p:nvPr/>
        </p:nvSpPr>
        <p:spPr>
          <a:xfrm>
            <a:off x="841248" y="227685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Central governance and circuit-breaker telemetry
</a:t>
            </a:r>
            <a:pPr indent="0" marL="0">
              <a:buNone/>
            </a:pPr>
            <a:r>
              <a:rPr lang="en-US" sz="650" dirty="0">
                <a:solidFill>
                  <a:srgbClr val="5F6368"/>
                </a:solidFill>
                <a:latin typeface="Arial" pitchFamily="34" charset="0"/>
                <a:ea typeface="Arial" pitchFamily="34" charset="-122"/>
                <a:cs typeface="Arial" pitchFamily="34" charset="-120"/>
              </a:rPr>
              <a:t>Dedicated governance plane providing unified security posture, cryptographic key management, and OpenTelemetry observability.</a:t>
            </a:r>
            <a:endParaRPr lang="en-US" sz="750" dirty="0"/>
          </a:p>
        </p:txBody>
      </p:sp>
      <p:sp>
        <p:nvSpPr>
          <p:cNvPr id="21" name="Shape 19"/>
          <p:cNvSpPr/>
          <p:nvPr/>
        </p:nvSpPr>
        <p:spPr>
          <a:xfrm>
            <a:off x="3639312" y="2258568"/>
            <a:ext cx="7790688" cy="822960"/>
          </a:xfrm>
          <a:prstGeom prst="rect">
            <a:avLst/>
          </a:prstGeom>
          <a:solidFill>
            <a:srgbClr val="FFFFFF"/>
          </a:solidFill>
          <a:ln w="9525">
            <a:solidFill>
              <a:srgbClr val="DADCE0"/>
            </a:solidFill>
            <a:prstDash val="solid"/>
          </a:ln>
        </p:spPr>
      </p:sp>
      <p:sp>
        <p:nvSpPr>
          <p:cNvPr id="22" name="Text 20"/>
          <p:cNvSpPr/>
          <p:nvPr/>
        </p:nvSpPr>
        <p:spPr>
          <a:xfrm>
            <a:off x="3749040" y="227685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Security Command Center: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Provides centralized threat detection, posture management, and continuous compliance verification.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Central IAM &amp; PAB: </a:t>
            </a:r>
            <a:pPr indent="0" marL="0">
              <a:lnSpc>
                <a:spcPct val="102000"/>
              </a:lnSpc>
              <a:buNone/>
            </a:pPr>
            <a:r>
              <a:rPr lang="en-US" sz="670" dirty="0">
                <a:solidFill>
                  <a:srgbClr val="3C4043"/>
                </a:solidFill>
                <a:latin typeface="Arial" pitchFamily="34" charset="0"/>
                <a:ea typeface="Arial" pitchFamily="34" charset="-122"/>
                <a:cs typeface="Arial" pitchFamily="34" charset="-120"/>
              </a:rPr>
              <a:t>Manages access policies, cryptographic signing keys, and entitlement registries.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Cloud Trace &amp; BigQuery: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Aggregates audit logs, execution traces, and OpenTelemetry FinOps telemetry into BigQuery.</a:t>
            </a:r>
            <a:endParaRPr lang="en-US" sz="690" dirty="0"/>
          </a:p>
        </p:txBody>
      </p:sp>
      <p:sp>
        <p:nvSpPr>
          <p:cNvPr id="23" name="Shape 21"/>
          <p:cNvSpPr/>
          <p:nvPr/>
        </p:nvSpPr>
        <p:spPr>
          <a:xfrm>
            <a:off x="749808" y="3081528"/>
            <a:ext cx="2889504" cy="338328"/>
          </a:xfrm>
          <a:prstGeom prst="rect">
            <a:avLst/>
          </a:prstGeom>
          <a:solidFill>
            <a:srgbClr val="FFFFFF"/>
          </a:solidFill>
          <a:ln w="9525">
            <a:solidFill>
              <a:srgbClr val="DADCE0"/>
            </a:solidFill>
            <a:prstDash val="solid"/>
          </a:ln>
        </p:spPr>
      </p:sp>
      <p:sp>
        <p:nvSpPr>
          <p:cNvPr id="24" name="Text 22"/>
          <p:cNvSpPr/>
          <p:nvPr/>
        </p:nvSpPr>
        <p:spPr>
          <a:xfrm>
            <a:off x="841248" y="3099816"/>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Principal Access Boundary Policy
</a:t>
            </a:r>
            <a:pPr indent="0" marL="0">
              <a:buNone/>
            </a:pPr>
            <a:r>
              <a:rPr lang="en-US" sz="650" dirty="0">
                <a:solidFill>
                  <a:srgbClr val="5F6368"/>
                </a:solidFill>
                <a:latin typeface="Arial" pitchFamily="34" charset="0"/>
                <a:ea typeface="Arial" pitchFamily="34" charset="-122"/>
                <a:cs typeface="Arial" pitchFamily="34" charset="-120"/>
              </a:rPr>
              <a:t>Identity and resource isolation boundary restricting principal access so workloads.</a:t>
            </a:r>
            <a:endParaRPr lang="en-US" sz="750" dirty="0"/>
          </a:p>
        </p:txBody>
      </p:sp>
      <p:sp>
        <p:nvSpPr>
          <p:cNvPr id="25" name="Shape 23"/>
          <p:cNvSpPr/>
          <p:nvPr/>
        </p:nvSpPr>
        <p:spPr>
          <a:xfrm>
            <a:off x="3639312" y="3081528"/>
            <a:ext cx="7790688" cy="338328"/>
          </a:xfrm>
          <a:prstGeom prst="rect">
            <a:avLst/>
          </a:prstGeom>
          <a:solidFill>
            <a:srgbClr val="FFFFFF"/>
          </a:solidFill>
          <a:ln w="9525">
            <a:solidFill>
              <a:srgbClr val="DADCE0"/>
            </a:solidFill>
            <a:prstDash val="solid"/>
          </a:ln>
        </p:spPr>
      </p:sp>
      <p:sp>
        <p:nvSpPr>
          <p:cNvPr id="26" name="Text 24"/>
          <p:cNvSpPr/>
          <p:nvPr/>
        </p:nvSpPr>
        <p:spPr>
          <a:xfrm>
            <a:off x="3749040" y="3099816"/>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A2A JSON-RPC Mesh &amp; OBO+DPoP Scope Narrowing: </a:t>
            </a:r>
            <a:pPr indent="0" marL="0">
              <a:lnSpc>
                <a:spcPct val="102000"/>
              </a:lnSpc>
              <a:buNone/>
            </a:pPr>
            <a:r>
              <a:rPr lang="en-US" sz="670" dirty="0">
                <a:solidFill>
                  <a:srgbClr val="3C4043"/>
                </a:solidFill>
                <a:latin typeface="Arial" pitchFamily="34" charset="0"/>
                <a:ea typeface="Arial" pitchFamily="34" charset="-122"/>
                <a:cs typeface="Arial" pitchFamily="34" charset="-120"/>
              </a:rPr>
              <a:t>Binds IAM Principal Access Boundary (PAB) policies to spoke principals so credentials and tool calls remain strictly scoped to their authorized boundary.</a:t>
            </a:r>
            <a:endParaRPr lang="en-US" sz="690" dirty="0"/>
          </a:p>
        </p:txBody>
      </p:sp>
      <p:sp>
        <p:nvSpPr>
          <p:cNvPr id="27" name="Shape 25"/>
          <p:cNvSpPr/>
          <p:nvPr/>
        </p:nvSpPr>
        <p:spPr>
          <a:xfrm>
            <a:off x="749808" y="3419856"/>
            <a:ext cx="2889504" cy="822960"/>
          </a:xfrm>
          <a:prstGeom prst="rect">
            <a:avLst/>
          </a:prstGeom>
          <a:solidFill>
            <a:srgbClr val="FFFFFF"/>
          </a:solidFill>
          <a:ln w="9525">
            <a:solidFill>
              <a:srgbClr val="DADCE0"/>
            </a:solidFill>
            <a:prstDash val="solid"/>
          </a:ln>
        </p:spPr>
      </p:sp>
      <p:sp>
        <p:nvSpPr>
          <p:cNvPr id="28" name="Text 26"/>
          <p:cNvSpPr/>
          <p:nvPr/>
        </p:nvSpPr>
        <p:spPr>
          <a:xfrm>
            <a:off x="841248" y="3438144"/>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Order &amp; Inventory Domain Agent &amp; Distributor &amp; Tracking Domain Agent
</a:t>
            </a:r>
            <a:pPr indent="0" marL="0">
              <a:buNone/>
            </a:pPr>
            <a:r>
              <a:rPr lang="en-US" sz="650" dirty="0">
                <a:solidFill>
                  <a:srgbClr val="5F6368"/>
                </a:solidFill>
                <a:latin typeface="Arial" pitchFamily="34" charset="0"/>
                <a:ea typeface="Arial" pitchFamily="34" charset="-122"/>
                <a:cs typeface="Arial" pitchFamily="34" charset="-120"/>
              </a:rPr>
              <a:t>Isolated Google Cloud execution spokes.</a:t>
            </a:r>
            <a:endParaRPr lang="en-US" sz="750" dirty="0"/>
          </a:p>
        </p:txBody>
      </p:sp>
      <p:sp>
        <p:nvSpPr>
          <p:cNvPr id="29" name="Shape 27"/>
          <p:cNvSpPr/>
          <p:nvPr/>
        </p:nvSpPr>
        <p:spPr>
          <a:xfrm>
            <a:off x="3639312" y="3419856"/>
            <a:ext cx="7790688" cy="822960"/>
          </a:xfrm>
          <a:prstGeom prst="rect">
            <a:avLst/>
          </a:prstGeom>
          <a:solidFill>
            <a:srgbClr val="FFFFFF"/>
          </a:solidFill>
          <a:ln w="9525">
            <a:solidFill>
              <a:srgbClr val="DADCE0"/>
            </a:solidFill>
            <a:prstDash val="solid"/>
          </a:ln>
        </p:spPr>
      </p:sp>
      <p:sp>
        <p:nvSpPr>
          <p:cNvPr id="30" name="Text 28"/>
          <p:cNvSpPr/>
          <p:nvPr/>
        </p:nvSpPr>
        <p:spPr>
          <a:xfrm>
            <a:off x="3749040" y="3438144"/>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Order Agent (ADK) / Tracking Agent (A2A): </a:t>
            </a:r>
            <a:pPr indent="0" marL="0">
              <a:lnSpc>
                <a:spcPct val="102000"/>
              </a:lnSpc>
              <a:buNone/>
            </a:pPr>
            <a:r>
              <a:rPr lang="en-US" sz="670" dirty="0">
                <a:solidFill>
                  <a:srgbClr val="3C4043"/>
                </a:solidFill>
                <a:latin typeface="Arial" pitchFamily="34" charset="0"/>
                <a:ea typeface="Arial" pitchFamily="34" charset="-122"/>
                <a:cs typeface="Arial" pitchFamily="34" charset="-120"/>
              </a:rPr>
              <a:t>Core execution environments orchestrating reasoning, memory, and tool execution across left and right spokes.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Model Armor Spoke Guard / Cloud DLP &amp; Model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prompts and model outputs within each spoke boundary to enforce safety and DLP policies.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Inventory MCP Server / Logistics MCP Server: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Serverless tool interfaces providing standardized, scoped access to enterprise systems.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BigQuery &amp; AlloyDB / BigQuery &amp; Spanner: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Isolated persistence layers enforcing access boundaries, vector namespaces, and encryption at rest.</a:t>
            </a:r>
            <a:endParaRPr lang="en-US" sz="690" dirty="0"/>
          </a:p>
        </p:txBody>
      </p:sp>
      <p:sp>
        <p:nvSpPr>
          <p:cNvPr id="31" name="Shape 29"/>
          <p:cNvSpPr/>
          <p:nvPr/>
        </p:nvSpPr>
        <p:spPr>
          <a:xfrm>
            <a:off x="749808" y="4315968"/>
            <a:ext cx="10680192" cy="0"/>
          </a:xfrm>
          <a:prstGeom prst="line">
            <a:avLst/>
          </a:prstGeom>
          <a:noFill/>
          <a:ln w="9525">
            <a:solidFill>
              <a:srgbClr val="DADCE0"/>
            </a:solidFill>
            <a:prstDash val="solid"/>
          </a:ln>
        </p:spPr>
      </p:sp>
      <p:sp>
        <p:nvSpPr>
          <p:cNvPr id="32" name="Text 30"/>
          <p:cNvSpPr/>
          <p:nvPr/>
        </p:nvSpPr>
        <p:spPr>
          <a:xfrm>
            <a:off x="749808" y="4370832"/>
            <a:ext cx="10680192" cy="237744"/>
          </a:xfrm>
          <a:prstGeom prst="rect">
            <a:avLst/>
          </a:prstGeom>
          <a:noFill/>
          <a:ln/>
        </p:spPr>
        <p:txBody>
          <a:bodyPr wrap="square" rtlCol="0" anchor="ctr"/>
          <a:lstStyle/>
          <a:p>
            <a:pPr indent="0" marL="0">
              <a:buNone/>
            </a:pPr>
            <a:r>
              <a:rPr lang="en-US" sz="1250" dirty="0">
                <a:solidFill>
                  <a:srgbClr val="202124"/>
                </a:solidFill>
                <a:latin typeface="Arial" pitchFamily="34" charset="0"/>
                <a:ea typeface="Arial" pitchFamily="34" charset="-122"/>
                <a:cs typeface="Arial" pitchFamily="34" charset="-120"/>
              </a:rPr>
              <a:t>Agentic flow</a:t>
            </a:r>
            <a:endParaRPr lang="en-US" sz="1250" dirty="0"/>
          </a:p>
        </p:txBody>
      </p:sp>
      <p:sp>
        <p:nvSpPr>
          <p:cNvPr id="33" name="Text 31"/>
          <p:cNvSpPr/>
          <p:nvPr/>
        </p:nvSpPr>
        <p:spPr>
          <a:xfrm>
            <a:off x="749808" y="4626864"/>
            <a:ext cx="10680192" cy="1901952"/>
          </a:xfrm>
          <a:prstGeom prst="rect">
            <a:avLst/>
          </a:prstGeom>
          <a:noFill/>
          <a:ln/>
        </p:spPr>
        <p:txBody>
          <a:bodyPr wrap="square" rtlCol="0" anchor="t">
            <a:normAutofit/>
          </a:bodyPr>
          <a:lstStyle/>
          <a:p>
            <a:pPr indent="0" marL="0">
              <a:lnSpc>
                <a:spcPct val="106000"/>
              </a:lnSpc>
              <a:buNone/>
            </a:pPr>
            <a:r>
              <a:rPr lang="en-US" sz="730" b="1" dirty="0">
                <a:solidFill>
                  <a:srgbClr val="202124"/>
                </a:solidFill>
                <a:latin typeface="Arial" pitchFamily="34" charset="0"/>
                <a:ea typeface="Arial" pitchFamily="34" charset="-122"/>
                <a:cs typeface="Arial" pitchFamily="34" charset="-120"/>
              </a:rPr>
              <a:t>1.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 caller sends a request to External Application Load Balancer in the A2A Discovery &amp; Federation Hub.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2.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After passing policy and security checks across Google Cloud Armor, Model Armor, and OBO + DPoP Broker, the request is forwarded to Gemini Enterprise Catalog.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3. </a:t>
            </a:r>
            <a:pPr indent="0" marL="0">
              <a:lnSpc>
                <a:spcPct val="106000"/>
              </a:lnSpc>
              <a:buNone/>
            </a:pPr>
            <a:r>
              <a:rPr lang="en-US" sz="720" dirty="0">
                <a:solidFill>
                  <a:srgbClr val="3C4043"/>
                </a:solidFill>
                <a:latin typeface="Arial" pitchFamily="34" charset="0"/>
                <a:ea typeface="Arial" pitchFamily="34" charset="-122"/>
                <a:cs typeface="Arial" pitchFamily="34" charset="-120"/>
              </a:rPr>
              <a:t>Gemini Enterprise Catalog verifies the caller's identity claims, attaches scoped execution metadata, and routes the request to the target execution spoke.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4. </a:t>
            </a:r>
            <a:pPr indent="0" marL="0">
              <a:lnSpc>
                <a:spcPct val="106000"/>
              </a:lnSpc>
              <a:buNone/>
            </a:pPr>
            <a:r>
              <a:rPr lang="en-US" sz="720" dirty="0">
                <a:solidFill>
                  <a:srgbClr val="3C4043"/>
                </a:solidFill>
                <a:latin typeface="Arial" pitchFamily="34" charset="0"/>
                <a:ea typeface="Arial" pitchFamily="34" charset="-122"/>
                <a:cs typeface="Arial" pitchFamily="34" charset="-120"/>
              </a:rPr>
              <a:t>Within Order &amp; Inventory Domain Agent, the runtime orchestrates execution across four deterministic sub-steps.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4a. </a:t>
            </a:r>
            <a:pPr indent="0" marL="0">
              <a:lnSpc>
                <a:spcPct val="106000"/>
              </a:lnSpc>
              <a:buNone/>
            </a:pPr>
            <a:r>
              <a:rPr lang="en-US" sz="680" dirty="0">
                <a:solidFill>
                  <a:srgbClr val="3C4043"/>
                </a:solidFill>
                <a:latin typeface="Arial" pitchFamily="34" charset="0"/>
                <a:ea typeface="Arial" pitchFamily="34" charset="-122"/>
                <a:cs typeface="Arial" pitchFamily="34" charset="-120"/>
              </a:rPr>
              <a:t>Input policy validation: Screens the incoming payload against safety and DLP policies.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4b. </a:t>
            </a:r>
            <a:pPr indent="0" marL="0">
              <a:lnSpc>
                <a:spcPct val="106000"/>
              </a:lnSpc>
              <a:buNone/>
            </a:pPr>
            <a:r>
              <a:rPr lang="en-US" sz="680" dirty="0">
                <a:solidFill>
                  <a:srgbClr val="3C4043"/>
                </a:solidFill>
                <a:latin typeface="Arial" pitchFamily="34" charset="0"/>
                <a:ea typeface="Arial" pitchFamily="34" charset="-122"/>
                <a:cs typeface="Arial" pitchFamily="34" charset="-120"/>
              </a:rPr>
              <a:t>Grounded context retrieval: Queries the datastore via Stateless MCP SSE Call.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4c. </a:t>
            </a:r>
            <a:pPr indent="0" marL="0">
              <a:lnSpc>
                <a:spcPct val="106000"/>
              </a:lnSpc>
              <a:buNone/>
            </a:pPr>
            <a:r>
              <a:rPr lang="en-US" sz="680" dirty="0">
                <a:solidFill>
                  <a:srgbClr val="3C4043"/>
                </a:solidFill>
                <a:latin typeface="Arial" pitchFamily="34" charset="0"/>
                <a:ea typeface="Arial" pitchFamily="34" charset="-122"/>
                <a:cs typeface="Arial" pitchFamily="34" charset="-120"/>
              </a:rPr>
              <a:t>Scoped tool invocation: Executes external tool operations via Parameterized Stock Query.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4d. </a:t>
            </a:r>
            <a:pPr indent="0" marL="0">
              <a:lnSpc>
                <a:spcPct val="106000"/>
              </a:lnSpc>
              <a:buNone/>
            </a:pPr>
            <a:r>
              <a:rPr lang="en-US" sz="680" dirty="0">
                <a:solidFill>
                  <a:srgbClr val="3C4043"/>
                </a:solidFill>
                <a:latin typeface="Arial" pitchFamily="34" charset="0"/>
                <a:ea typeface="Arial" pitchFamily="34" charset="-122"/>
                <a:cs typeface="Arial" pitchFamily="34" charset="-120"/>
              </a:rPr>
              <a:t>Transactional state persistence: Commits verified state updates under strict isolation boundaries.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5. </a:t>
            </a:r>
            <a:pPr indent="0" marL="0">
              <a:lnSpc>
                <a:spcPct val="106000"/>
              </a:lnSpc>
              <a:buNone/>
            </a:pPr>
            <a:r>
              <a:rPr lang="en-US" sz="720" dirty="0">
                <a:solidFill>
                  <a:srgbClr val="3C4043"/>
                </a:solidFill>
                <a:latin typeface="Arial" pitchFamily="34" charset="0"/>
                <a:ea typeface="Arial" pitchFamily="34" charset="-122"/>
                <a:cs typeface="Arial" pitchFamily="34" charset="-120"/>
              </a:rPr>
              <a:t>Order Agent (ADK) sends the validated, context-enriched prompt to Gemini 2.5 Pro to synthesize a grounded response.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6. </a:t>
            </a:r>
            <a:pPr indent="0" marL="0">
              <a:lnSpc>
                <a:spcPct val="106000"/>
              </a:lnSpc>
              <a:buNone/>
            </a:pPr>
            <a:r>
              <a:rPr lang="en-US" sz="720" dirty="0">
                <a:solidFill>
                  <a:srgbClr val="3C4043"/>
                </a:solidFill>
                <a:latin typeface="Arial" pitchFamily="34" charset="0"/>
                <a:ea typeface="Arial" pitchFamily="34" charset="-122"/>
                <a:cs typeface="Arial" pitchFamily="34" charset="-120"/>
              </a:rPr>
              <a:t>Order Agent (ADK) passes the generated output through Model Armor Spoke Guard for final output sanitization and policy enforcement.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7. </a:t>
            </a:r>
            <a:pPr indent="0" marL="0">
              <a:lnSpc>
                <a:spcPct val="106000"/>
              </a:lnSpc>
              <a:buNone/>
            </a:pPr>
            <a:r>
              <a:rPr lang="en-US" sz="720" dirty="0">
                <a:solidFill>
                  <a:srgbClr val="3C4043"/>
                </a:solidFill>
                <a:latin typeface="Arial" pitchFamily="34" charset="0"/>
                <a:ea typeface="Arial" pitchFamily="34" charset="-122"/>
                <a:cs typeface="Arial" pitchFamily="34" charset="-120"/>
              </a:rPr>
              <a:t>The verified response returns to the caller through the A2A Discovery &amp; Federation Hub, while structured OpenTelemetry audit and FinOps spans stream to the Central governance and circuit-breaker telemetry.
</a:t>
            </a:r>
            <a:endParaRPr lang="en-US" sz="73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Agent Engine, MCP &amp; A2A  ›  Products used  &amp;  Use case</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DOC-REF-09  ·  Page 4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Products used</a:t>
            </a:r>
            <a:endParaRPr lang="en-US" sz="1500" dirty="0"/>
          </a:p>
        </p:txBody>
      </p:sp>
      <p:sp>
        <p:nvSpPr>
          <p:cNvPr id="7" name="Text 5"/>
          <p:cNvSpPr/>
          <p:nvPr/>
        </p:nvSpPr>
        <p:spPr>
          <a:xfrm>
            <a:off x="749808" y="914400"/>
            <a:ext cx="10680192" cy="329184"/>
          </a:xfrm>
          <a:prstGeom prst="rect">
            <a:avLst/>
          </a:prstGeom>
          <a:noFill/>
          <a:ln/>
        </p:spPr>
        <p:txBody>
          <a:bodyPr wrap="square" rtlCol="0" anchor="t"/>
          <a:lstStyle/>
          <a:p>
            <a:pPr indent="0" marL="0">
              <a:buNone/>
            </a:pPr>
            <a:r>
              <a:rPr lang="en-US" sz="860" dirty="0">
                <a:solidFill>
                  <a:srgbClr val="3C4043"/>
                </a:solidFill>
                <a:latin typeface="Arial" pitchFamily="34" charset="0"/>
                <a:ea typeface="Arial" pitchFamily="34" charset="-122"/>
                <a:cs typeface="Arial" pitchFamily="34" charset="-120"/>
              </a:rPr>
              <a:t>This reference architecture uses the following Google Cloud services and open-source frameworks to implement Design Patterns for Scalable Multi-Agent Ecosystems: Vertex AI Agent Engine, MCP &amp; A2A.</a:t>
            </a:r>
            <a:endParaRPr lang="en-US" sz="860" dirty="0"/>
          </a:p>
        </p:txBody>
      </p:sp>
      <p:sp>
        <p:nvSpPr>
          <p:cNvPr id="8" name="Text 6"/>
          <p:cNvSpPr/>
          <p:nvPr/>
        </p:nvSpPr>
        <p:spPr>
          <a:xfrm>
            <a:off x="877824" y="1261872"/>
            <a:ext cx="10552176" cy="2011680"/>
          </a:xfrm>
          <a:prstGeom prst="rect">
            <a:avLst/>
          </a:prstGeom>
          <a:noFill/>
          <a:ln/>
        </p:spPr>
        <p:txBody>
          <a:bodyPr wrap="square" rtlCol="0" anchor="t">
            <a:normAutofit/>
          </a:bodyPr>
          <a:lstStyle/>
          <a:p>
            <a:pPr indent="0" marL="0">
              <a:lnSpc>
                <a:spcPct val="118000"/>
              </a:lnSpc>
              <a:buNone/>
            </a:pPr>
            <a:r>
              <a:rPr lang="en-US" sz="810" b="1" dirty="0">
                <a:solidFill>
                  <a:srgbClr val="1A73E8"/>
                </a:solidFill>
                <a:latin typeface="Arial" pitchFamily="34" charset="0"/>
                <a:ea typeface="Arial" pitchFamily="34" charset="-122"/>
                <a:cs typeface="Arial" pitchFamily="34" charset="-120"/>
              </a:rPr>
              <a:t>•  Vertex AI Agent Engine: </a:t>
            </a:r>
            <a:pPr indent="0" marL="0">
              <a:lnSpc>
                <a:spcPct val="118000"/>
              </a:lnSpc>
              <a:buNone/>
            </a:pPr>
            <a:r>
              <a:rPr lang="en-US" sz="790" dirty="0">
                <a:solidFill>
                  <a:srgbClr val="3C4043"/>
                </a:solidFill>
                <a:latin typeface="Arial" pitchFamily="34" charset="0"/>
                <a:ea typeface="Arial" pitchFamily="34" charset="-122"/>
                <a:cs typeface="Arial" pitchFamily="34" charset="-120"/>
              </a:rPr>
              <a:t>Managed runtime environment to host, scale, and govern AI agents with managed Sessions, Memory Bank, and Context Caching.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Google ADK 2.0: </a:t>
            </a:r>
            <a:pPr indent="0" marL="0">
              <a:lnSpc>
                <a:spcPct val="118000"/>
              </a:lnSpc>
              <a:buNone/>
            </a:pPr>
            <a:r>
              <a:rPr lang="en-US" sz="790" dirty="0">
                <a:solidFill>
                  <a:srgbClr val="3C4043"/>
                </a:solidFill>
                <a:latin typeface="Arial" pitchFamily="34" charset="0"/>
                <a:ea typeface="Arial" pitchFamily="34" charset="-122"/>
                <a:cs typeface="Arial" pitchFamily="34" charset="-120"/>
              </a:rPr>
              <a:t>Open-source Agent Development Kit for building, orchestrating, and testing hierarchical multi-agent systems with deterministic callbacks.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Run: </a:t>
            </a:r>
            <a:pPr indent="0" marL="0">
              <a:lnSpc>
                <a:spcPct val="118000"/>
              </a:lnSpc>
              <a:buNone/>
            </a:pPr>
            <a:r>
              <a:rPr lang="en-US" sz="790" dirty="0">
                <a:solidFill>
                  <a:srgbClr val="3C4043"/>
                </a:solidFill>
                <a:latin typeface="Arial" pitchFamily="34" charset="0"/>
                <a:ea typeface="Arial" pitchFamily="34" charset="-122"/>
                <a:cs typeface="Arial" pitchFamily="34" charset="-120"/>
              </a:rPr>
              <a:t>Serverless container platform used to host stateless ingress routers and Model Context Protocol (MCP) tool servers inside gVisor sandboxes.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BigQuery Enterprise Data Warehouse: </a:t>
            </a:r>
            <a:pPr indent="0" marL="0">
              <a:lnSpc>
                <a:spcPct val="118000"/>
              </a:lnSpc>
              <a:buNone/>
            </a:pPr>
            <a:r>
              <a:rPr lang="en-US" sz="790" dirty="0">
                <a:solidFill>
                  <a:srgbClr val="3C4043"/>
                </a:solidFill>
                <a:latin typeface="Arial" pitchFamily="34" charset="0"/>
                <a:ea typeface="Arial" pitchFamily="34" charset="-122"/>
                <a:cs typeface="Arial" pitchFamily="34" charset="-120"/>
              </a:rPr>
              <a:t>Serverless enterprise data warehouse aggregating OpenTelemetry execution spans, audit logs, and token chargeback analytics.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Gemini Enterprise: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Core Google Cloud service used in DOC-REF-09 to enforce production security, scalability, and observability.</a:t>
            </a:r>
            <a:endParaRPr lang="en-US" sz="810" dirty="0"/>
          </a:p>
        </p:txBody>
      </p:sp>
      <p:sp>
        <p:nvSpPr>
          <p:cNvPr id="9" name="Shape 7"/>
          <p:cNvSpPr/>
          <p:nvPr/>
        </p:nvSpPr>
        <p:spPr>
          <a:xfrm>
            <a:off x="749808" y="3346704"/>
            <a:ext cx="10680192" cy="0"/>
          </a:xfrm>
          <a:prstGeom prst="line">
            <a:avLst/>
          </a:prstGeom>
          <a:noFill/>
          <a:ln w="9525">
            <a:solidFill>
              <a:srgbClr val="DADCE0"/>
            </a:solidFill>
            <a:prstDash val="solid"/>
          </a:ln>
        </p:spPr>
      </p:sp>
      <p:sp>
        <p:nvSpPr>
          <p:cNvPr id="10" name="Text 8"/>
          <p:cNvSpPr/>
          <p:nvPr/>
        </p:nvSpPr>
        <p:spPr>
          <a:xfrm>
            <a:off x="749808" y="3419856"/>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Use case</a:t>
            </a:r>
            <a:endParaRPr lang="en-US" sz="1500" dirty="0"/>
          </a:p>
        </p:txBody>
      </p:sp>
      <p:sp>
        <p:nvSpPr>
          <p:cNvPr id="11" name="Text 9"/>
          <p:cNvSpPr/>
          <p:nvPr/>
        </p:nvSpPr>
        <p:spPr>
          <a:xfrm>
            <a:off x="749808" y="3712464"/>
            <a:ext cx="10680192" cy="237744"/>
          </a:xfrm>
          <a:prstGeom prst="rect">
            <a:avLst/>
          </a:prstGeom>
          <a:noFill/>
          <a:ln/>
        </p:spPr>
        <p:txBody>
          <a:bodyPr wrap="square" rtlCol="0" anchor="ctr"/>
          <a:lstStyle/>
          <a:p>
            <a:pPr indent="0" marL="0">
              <a:buNone/>
            </a:pPr>
            <a:r>
              <a:rPr lang="en-US" sz="1100" b="1" dirty="0">
                <a:solidFill>
                  <a:srgbClr val="202124"/>
                </a:solidFill>
                <a:latin typeface="Arial" pitchFamily="34" charset="0"/>
                <a:ea typeface="Arial" pitchFamily="34" charset="-122"/>
                <a:cs typeface="Arial" pitchFamily="34" charset="-120"/>
              </a:rPr>
              <a:t>A2A Agent Card Discovery, OBO Scope Narrowing &amp; Circuit Breaking</a:t>
            </a:r>
            <a:endParaRPr lang="en-US" sz="1100" dirty="0"/>
          </a:p>
        </p:txBody>
      </p:sp>
      <p:sp>
        <p:nvSpPr>
          <p:cNvPr id="12" name="Text 10"/>
          <p:cNvSpPr/>
          <p:nvPr/>
        </p:nvSpPr>
        <p:spPr>
          <a:xfrm>
            <a:off x="749808" y="3986784"/>
            <a:ext cx="10680192" cy="749808"/>
          </a:xfrm>
          <a:prstGeom prst="rect">
            <a:avLst/>
          </a:prstGeom>
          <a:noFill/>
          <a:ln/>
        </p:spPr>
        <p:txBody>
          <a:bodyPr wrap="square" rtlCol="0" anchor="t">
            <a:normAutofit/>
          </a:bodyPr>
          <a:lstStyle/>
          <a:p>
            <a:pPr indent="0" marL="0">
              <a:lnSpc>
                <a:spcPct val="114000"/>
              </a:lnSpc>
              <a:buNone/>
            </a:pPr>
            <a:r>
              <a:rPr lang="en-US" sz="840" dirty="0">
                <a:solidFill>
                  <a:srgbClr val="3C4043"/>
                </a:solidFill>
                <a:latin typeface="Arial" pitchFamily="34" charset="0"/>
                <a:ea typeface="Arial" pitchFamily="34" charset="-122"/>
                <a:cs typeface="Arial" pitchFamily="34" charset="-120"/>
              </a:rPr>
              <a:t>When the Root Orchestrator delegates a supply-chain disruption query across Order, Distributor, and Logistics Tracking agents, each A2A hop narrows the OBO token scope to the target agent’s declared capabilities.</a:t>
            </a:r>
            <a:endParaRPr lang="en-US" sz="840" dirty="0"/>
          </a:p>
        </p:txBody>
      </p:sp>
      <p:sp>
        <p:nvSpPr>
          <p:cNvPr id="13" name="Text 11"/>
          <p:cNvSpPr/>
          <p:nvPr/>
        </p:nvSpPr>
        <p:spPr>
          <a:xfrm>
            <a:off x="749808" y="4773168"/>
            <a:ext cx="10680192" cy="20116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For this use case, the architecture provides the following benefits:</a:t>
            </a:r>
            <a:endParaRPr lang="en-US" sz="860" dirty="0"/>
          </a:p>
        </p:txBody>
      </p:sp>
      <p:sp>
        <p:nvSpPr>
          <p:cNvPr id="14" name="Text 12"/>
          <p:cNvSpPr/>
          <p:nvPr/>
        </p:nvSpPr>
        <p:spPr>
          <a:xfrm>
            <a:off x="877824" y="5010912"/>
            <a:ext cx="10552176" cy="1481328"/>
          </a:xfrm>
          <a:prstGeom prst="rect">
            <a:avLst/>
          </a:prstGeom>
          <a:noFill/>
          <a:ln/>
        </p:spPr>
        <p:txBody>
          <a:bodyPr wrap="square" rtlCol="0" anchor="t">
            <a:normAutofit/>
          </a:bodyPr>
          <a:lstStyle/>
          <a:p>
            <a:pPr indent="0" marL="0">
              <a:lnSpc>
                <a:spcPct val="116000"/>
              </a:lnSpc>
              <a:buNone/>
            </a:pPr>
            <a:r>
              <a:rPr lang="en-US" sz="800" b="1" dirty="0">
                <a:solidFill>
                  <a:srgbClr val="202124"/>
                </a:solidFill>
                <a:latin typeface="Arial" pitchFamily="34" charset="0"/>
                <a:ea typeface="Arial" pitchFamily="34" charset="-122"/>
                <a:cs typeface="Arial" pitchFamily="34" charset="-120"/>
              </a:rPr>
              <a:t>•  Strict data isolation: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Enforces deterministic tenant and domain boundaries via A2A JSON-RPC Mesh &amp; OBO+DPoP Scope Narrowing and BigQuery &amp; AlloyDB, preventing cross-spoke state or credential leakage.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Dynamic Capability Discovery via /.well-known/agent.json: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Each domain agent publishes its JSON Schema input/output contract, required OAuth scopes, and SLA timeout in its A2A Agent Card registered in Gemini Enterprise.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Per-Sub-Agent Token &amp; Latency Circuit Breakers: </a:t>
            </a:r>
            <a:pPr indent="0" marL="0">
              <a:lnSpc>
                <a:spcPct val="116000"/>
              </a:lnSpc>
              <a:buNone/>
            </a:pPr>
            <a:r>
              <a:rPr lang="en-US" sz="780" dirty="0">
                <a:solidFill>
                  <a:srgbClr val="3C4043"/>
                </a:solidFill>
                <a:latin typeface="Arial" pitchFamily="34" charset="0"/>
                <a:ea typeface="Arial" pitchFamily="34" charset="-122"/>
                <a:cs typeface="Arial" pitchFamily="34" charset="-120"/>
              </a:rPr>
              <a:t>The Root Orchestrator enforces a 4,000-token budget and 8-second deadline per A2A sub-agent call, gracefully degrading to cached BigQuery inventory snapshots if an external logistics partner API times out.</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Agent Engine, MCP &amp; A2A  ›  Design alternatives  &amp;  Design considerations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DOC-REF-09  ·  Page 5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alternatives</a:t>
            </a:r>
            <a:endParaRPr lang="en-US" sz="1450" dirty="0"/>
          </a:p>
        </p:txBody>
      </p:sp>
      <p:sp>
        <p:nvSpPr>
          <p:cNvPr id="7" name="Text 5"/>
          <p:cNvSpPr/>
          <p:nvPr/>
        </p:nvSpPr>
        <p:spPr>
          <a:xfrm>
            <a:off x="749808" y="914400"/>
            <a:ext cx="10680192" cy="1810512"/>
          </a:xfrm>
          <a:prstGeom prst="rect">
            <a:avLst/>
          </a:prstGeom>
          <a:noFill/>
          <a:ln/>
        </p:spPr>
        <p:txBody>
          <a:bodyPr wrap="square" rtlCol="0" anchor="t">
            <a:normAutofit/>
          </a:bodyPr>
          <a:lstStyle/>
          <a:p>
            <a:pPr indent="0" marL="0">
              <a:lnSpc>
                <a:spcPct val="112000"/>
              </a:lnSpc>
              <a:buNone/>
            </a:pPr>
            <a:r>
              <a:rPr lang="en-US" sz="810" b="1" dirty="0">
                <a:solidFill>
                  <a:srgbClr val="202124"/>
                </a:solidFill>
                <a:latin typeface="Arial" pitchFamily="34" charset="0"/>
                <a:ea typeface="Arial" pitchFamily="34" charset="-122"/>
                <a:cs typeface="Arial" pitchFamily="34" charset="-120"/>
              </a:rPr>
              <a:t>Private access deployment &amp; network isolation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The baseline topology routes traffic through External Application Load Balancer and Gemini Enterprise Catalog under VPC Service Controls Multi-Agent Ecosystem Perimeter.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External vs. internal private ingress: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For internet-facing workloads, retain the global External Application Load Balancer with Google Cloud Armor and Model Armor.
</a:t>
            </a:r>
            <a:pPr indent="0" marL="0">
              <a:lnSpc>
                <a:spcPct val="112000"/>
              </a:lnSpc>
              <a:buNone/>
            </a:pPr>
            <a:r>
              <a:rPr lang="en-US" sz="810" b="1" dirty="0">
                <a:solidFill>
                  <a:srgbClr val="202124"/>
                </a:solidFill>
                <a:latin typeface="Arial" pitchFamily="34" charset="0"/>
                <a:ea typeface="Arial" pitchFamily="34" charset="-122"/>
                <a:cs typeface="Arial" pitchFamily="34" charset="-120"/>
              </a:rPr>
              <a:t>Order Agent (ADK) &amp; Inventory MCP Server placement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Each execution spoke pairs Order Agent (ADK) with Inventory MCP Server and BigQuery &amp; AlloyDB.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Dedicated spoke vs. shared tool gateways: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Spoke-local Inventory MCP Server: Maximizes blast-radius containment by keeping credentials, service accounts, and data access strictly inside.; Shared enterprise tool gateway: Consolidates stateless, non-tenant-specific MCP tools into a central hub project via Private Service Connect.
</a:t>
            </a:r>
            <a:endParaRPr lang="en-US" sz="810" dirty="0"/>
          </a:p>
        </p:txBody>
      </p:sp>
      <p:sp>
        <p:nvSpPr>
          <p:cNvPr id="8" name="Shape 6"/>
          <p:cNvSpPr/>
          <p:nvPr/>
        </p:nvSpPr>
        <p:spPr>
          <a:xfrm>
            <a:off x="749808" y="2779776"/>
            <a:ext cx="10680192" cy="0"/>
          </a:xfrm>
          <a:prstGeom prst="line">
            <a:avLst/>
          </a:prstGeom>
          <a:noFill/>
          <a:ln w="9525">
            <a:solidFill>
              <a:srgbClr val="DADCE0"/>
            </a:solidFill>
            <a:prstDash val="solid"/>
          </a:ln>
        </p:spPr>
      </p:sp>
      <p:sp>
        <p:nvSpPr>
          <p:cNvPr id="9" name="Text 7"/>
          <p:cNvSpPr/>
          <p:nvPr/>
        </p:nvSpPr>
        <p:spPr>
          <a:xfrm>
            <a:off x="749808" y="2852928"/>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considerations</a:t>
            </a:r>
            <a:endParaRPr lang="en-US" sz="1450" dirty="0"/>
          </a:p>
        </p:txBody>
      </p:sp>
      <p:sp>
        <p:nvSpPr>
          <p:cNvPr id="10" name="Text 8"/>
          <p:cNvSpPr/>
          <p:nvPr/>
        </p:nvSpPr>
        <p:spPr>
          <a:xfrm>
            <a:off x="749808" y="3127248"/>
            <a:ext cx="10680192" cy="201168"/>
          </a:xfrm>
          <a:prstGeom prst="rect">
            <a:avLst/>
          </a:prstGeom>
          <a:noFill/>
          <a:ln/>
        </p:spPr>
        <p:txBody>
          <a:bodyPr wrap="square" rtlCol="0" anchor="ctr"/>
          <a:lstStyle/>
          <a:p>
            <a:pPr indent="0" marL="0">
              <a:buNone/>
            </a:pPr>
            <a:r>
              <a:rPr lang="en-US" sz="820" dirty="0">
                <a:solidFill>
                  <a:srgbClr val="3C4043"/>
                </a:solidFill>
                <a:latin typeface="Arial" pitchFamily="34" charset="0"/>
                <a:ea typeface="Arial" pitchFamily="34" charset="-122"/>
                <a:cs typeface="Arial" pitchFamily="34" charset="-120"/>
              </a:rPr>
              <a:t>This section aligns the reference architecture with the Google Cloud Well-Architected Framework across security, reliability, operational excellence, and cost optimization, alongside production failure-mode mitigations.</a:t>
            </a:r>
            <a:endParaRPr lang="en-US" sz="820" dirty="0"/>
          </a:p>
        </p:txBody>
      </p:sp>
      <p:sp>
        <p:nvSpPr>
          <p:cNvPr id="11" name="Shape 9"/>
          <p:cNvSpPr/>
          <p:nvPr/>
        </p:nvSpPr>
        <p:spPr>
          <a:xfrm>
            <a:off x="749808" y="3364992"/>
            <a:ext cx="2048256" cy="256032"/>
          </a:xfrm>
          <a:prstGeom prst="rect">
            <a:avLst/>
          </a:prstGeom>
          <a:solidFill>
            <a:srgbClr val="F8F9FA"/>
          </a:solidFill>
          <a:ln w="9525">
            <a:solidFill>
              <a:srgbClr val="DADCE0"/>
            </a:solidFill>
            <a:prstDash val="solid"/>
          </a:ln>
        </p:spPr>
      </p:sp>
      <p:sp>
        <p:nvSpPr>
          <p:cNvPr id="12" name="Text 10"/>
          <p:cNvSpPr/>
          <p:nvPr/>
        </p:nvSpPr>
        <p:spPr>
          <a:xfrm>
            <a:off x="841248" y="3364992"/>
            <a:ext cx="186537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Well-Architected pillar</a:t>
            </a:r>
            <a:endParaRPr lang="en-US" sz="800" dirty="0"/>
          </a:p>
        </p:txBody>
      </p:sp>
      <p:sp>
        <p:nvSpPr>
          <p:cNvPr id="13" name="Shape 11"/>
          <p:cNvSpPr/>
          <p:nvPr/>
        </p:nvSpPr>
        <p:spPr>
          <a:xfrm>
            <a:off x="2798064" y="3364992"/>
            <a:ext cx="2322576" cy="256032"/>
          </a:xfrm>
          <a:prstGeom prst="rect">
            <a:avLst/>
          </a:prstGeom>
          <a:solidFill>
            <a:srgbClr val="F8F9FA"/>
          </a:solidFill>
          <a:ln w="9525">
            <a:solidFill>
              <a:srgbClr val="DADCE0"/>
            </a:solidFill>
            <a:prstDash val="solid"/>
          </a:ln>
        </p:spPr>
      </p:sp>
      <p:sp>
        <p:nvSpPr>
          <p:cNvPr id="14" name="Text 12"/>
          <p:cNvSpPr/>
          <p:nvPr/>
        </p:nvSpPr>
        <p:spPr>
          <a:xfrm>
            <a:off x="2889504" y="3364992"/>
            <a:ext cx="213969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Component</a:t>
            </a:r>
            <a:endParaRPr lang="en-US" sz="800" dirty="0"/>
          </a:p>
        </p:txBody>
      </p:sp>
      <p:sp>
        <p:nvSpPr>
          <p:cNvPr id="15" name="Shape 13"/>
          <p:cNvSpPr/>
          <p:nvPr/>
        </p:nvSpPr>
        <p:spPr>
          <a:xfrm>
            <a:off x="5120640" y="3364992"/>
            <a:ext cx="6309360" cy="256032"/>
          </a:xfrm>
          <a:prstGeom prst="rect">
            <a:avLst/>
          </a:prstGeom>
          <a:solidFill>
            <a:srgbClr val="F8F9FA"/>
          </a:solidFill>
          <a:ln w="9525">
            <a:solidFill>
              <a:srgbClr val="DADCE0"/>
            </a:solidFill>
            <a:prstDash val="solid"/>
          </a:ln>
        </p:spPr>
      </p:sp>
      <p:sp>
        <p:nvSpPr>
          <p:cNvPr id="16" name="Text 14"/>
          <p:cNvSpPr/>
          <p:nvPr/>
        </p:nvSpPr>
        <p:spPr>
          <a:xfrm>
            <a:off x="5212080" y="3364992"/>
            <a:ext cx="6126480"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Design considerations and recommendations</a:t>
            </a:r>
            <a:endParaRPr lang="en-US" sz="800" dirty="0"/>
          </a:p>
        </p:txBody>
      </p:sp>
      <p:sp>
        <p:nvSpPr>
          <p:cNvPr id="17" name="Shape 15"/>
          <p:cNvSpPr/>
          <p:nvPr/>
        </p:nvSpPr>
        <p:spPr>
          <a:xfrm>
            <a:off x="749808" y="3621024"/>
            <a:ext cx="2048256" cy="722376"/>
          </a:xfrm>
          <a:prstGeom prst="rect">
            <a:avLst/>
          </a:prstGeom>
          <a:solidFill>
            <a:srgbClr val="FFFFFF"/>
          </a:solidFill>
          <a:ln w="9525">
            <a:solidFill>
              <a:srgbClr val="DADCE0"/>
            </a:solidFill>
            <a:prstDash val="solid"/>
          </a:ln>
        </p:spPr>
      </p:sp>
      <p:sp>
        <p:nvSpPr>
          <p:cNvPr id="18" name="Text 16"/>
          <p:cNvSpPr/>
          <p:nvPr/>
        </p:nvSpPr>
        <p:spPr>
          <a:xfrm>
            <a:off x="841248" y="3648456"/>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Security, privacy, and compliance</a:t>
            </a:r>
            <a:endParaRPr lang="en-US" sz="780" dirty="0"/>
          </a:p>
        </p:txBody>
      </p:sp>
      <p:sp>
        <p:nvSpPr>
          <p:cNvPr id="19" name="Shape 17"/>
          <p:cNvSpPr/>
          <p:nvPr/>
        </p:nvSpPr>
        <p:spPr>
          <a:xfrm>
            <a:off x="2798064" y="3621024"/>
            <a:ext cx="2322576" cy="722376"/>
          </a:xfrm>
          <a:prstGeom prst="rect">
            <a:avLst/>
          </a:prstGeom>
          <a:solidFill>
            <a:srgbClr val="FFFFFF"/>
          </a:solidFill>
          <a:ln w="9525">
            <a:solidFill>
              <a:srgbClr val="DADCE0"/>
            </a:solidFill>
            <a:prstDash val="solid"/>
          </a:ln>
        </p:spPr>
      </p:sp>
      <p:sp>
        <p:nvSpPr>
          <p:cNvPr id="20" name="Text 18"/>
          <p:cNvSpPr/>
          <p:nvPr/>
        </p:nvSpPr>
        <p:spPr>
          <a:xfrm>
            <a:off x="2889504" y="3648456"/>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VPC Service Controls &amp; Access Boundaries</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Google Cloud Armor &amp; Model Armor Spoke Guard</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BigQuery &amp; AlloyDB &amp; Central IAM &amp; PAB</a:t>
            </a:r>
            <a:endParaRPr lang="en-US" sz="710" dirty="0"/>
          </a:p>
        </p:txBody>
      </p:sp>
      <p:sp>
        <p:nvSpPr>
          <p:cNvPr id="21" name="Shape 19"/>
          <p:cNvSpPr/>
          <p:nvPr/>
        </p:nvSpPr>
        <p:spPr>
          <a:xfrm>
            <a:off x="5120640" y="3621024"/>
            <a:ext cx="6309360" cy="722376"/>
          </a:xfrm>
          <a:prstGeom prst="rect">
            <a:avLst/>
          </a:prstGeom>
          <a:solidFill>
            <a:srgbClr val="FFFFFF"/>
          </a:solidFill>
          <a:ln w="9525">
            <a:solidFill>
              <a:srgbClr val="DADCE0"/>
            </a:solidFill>
            <a:prstDash val="solid"/>
          </a:ln>
        </p:spPr>
      </p:sp>
      <p:sp>
        <p:nvSpPr>
          <p:cNvPr id="22" name="Text 20"/>
          <p:cNvSpPr/>
          <p:nvPr/>
        </p:nvSpPr>
        <p:spPr>
          <a:xfrm>
            <a:off x="5230368" y="3648456"/>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VPC Service Controls &amp; Access Boundaries: </a:t>
            </a:r>
            <a:pPr indent="0" marL="0">
              <a:buNone/>
            </a:pPr>
            <a:r>
              <a:rPr lang="en-US" sz="690" dirty="0">
                <a:solidFill>
                  <a:srgbClr val="3C4043"/>
                </a:solidFill>
                <a:latin typeface="Arial" pitchFamily="34" charset="0"/>
                <a:ea typeface="Arial" pitchFamily="34" charset="-122"/>
                <a:cs typeface="Arial" pitchFamily="34" charset="-120"/>
              </a:rPr>
              <a:t>Enforce VPC Service Controls perimeters around hub and spoke projects to block unauthorized data exfiltration, and bind Principal Access Boundary (PAB) policies to spoke principals.
</a:t>
            </a:r>
            <a:pPr indent="0" marL="0">
              <a:buNone/>
            </a:pPr>
            <a:r>
              <a:rPr lang="en-US" sz="700" b="1" dirty="0">
                <a:solidFill>
                  <a:srgbClr val="202124"/>
                </a:solidFill>
                <a:latin typeface="Arial" pitchFamily="34" charset="0"/>
                <a:ea typeface="Arial" pitchFamily="34" charset="-122"/>
                <a:cs typeface="Arial" pitchFamily="34" charset="-120"/>
              </a:rPr>
              <a:t>• Google Cloud Armor &amp; Model Armor Spoke Guard: </a:t>
            </a:r>
            <a:pPr indent="0" marL="0">
              <a:buNone/>
            </a:pPr>
            <a:r>
              <a:rPr lang="en-US" sz="690" dirty="0">
                <a:solidFill>
                  <a:srgbClr val="3C4043"/>
                </a:solidFill>
                <a:latin typeface="Arial" pitchFamily="34" charset="0"/>
                <a:ea typeface="Arial" pitchFamily="34" charset="-122"/>
                <a:cs typeface="Arial" pitchFamily="34" charset="-120"/>
              </a:rPr>
              <a:t>Strip client-supplied privilege headers at the edge, verify caller identity claims, and screen prompts and completions with Model Armor Spoke Guard.
</a:t>
            </a:r>
            <a:pPr indent="0" marL="0">
              <a:buNone/>
            </a:pPr>
            <a:r>
              <a:rPr lang="en-US" sz="700" b="1" dirty="0">
                <a:solidFill>
                  <a:srgbClr val="202124"/>
                </a:solidFill>
                <a:latin typeface="Arial" pitchFamily="34" charset="0"/>
                <a:ea typeface="Arial" pitchFamily="34" charset="-122"/>
                <a:cs typeface="Arial" pitchFamily="34" charset="-120"/>
              </a:rPr>
              <a:t>• BigQuery &amp; AlloyDB &amp; Central IAM &amp; PAB: </a:t>
            </a:r>
            <a:pPr indent="0" marL="0">
              <a:buNone/>
            </a:pPr>
            <a:r>
              <a:rPr lang="en-US" sz="690" dirty="0">
                <a:solidFill>
                  <a:srgbClr val="3C4043"/>
                </a:solidFill>
                <a:latin typeface="Arial" pitchFamily="34" charset="0"/>
                <a:ea typeface="Arial" pitchFamily="34" charset="-122"/>
                <a:cs typeface="Arial" pitchFamily="34" charset="-120"/>
              </a:rPr>
              <a:t>Encrypt state at rest with Customer-Managed Encryption Keys and enforce least-privilege access scopes on BigQuery &amp; AlloyDB.</a:t>
            </a:r>
            <a:endParaRPr lang="en-US" sz="700" dirty="0"/>
          </a:p>
        </p:txBody>
      </p:sp>
      <p:sp>
        <p:nvSpPr>
          <p:cNvPr id="23" name="Shape 21"/>
          <p:cNvSpPr/>
          <p:nvPr/>
        </p:nvSpPr>
        <p:spPr>
          <a:xfrm>
            <a:off x="749808" y="4343400"/>
            <a:ext cx="2048256" cy="722376"/>
          </a:xfrm>
          <a:prstGeom prst="rect">
            <a:avLst/>
          </a:prstGeom>
          <a:solidFill>
            <a:srgbClr val="FFFFFF"/>
          </a:solidFill>
          <a:ln w="9525">
            <a:solidFill>
              <a:srgbClr val="DADCE0"/>
            </a:solidFill>
            <a:prstDash val="solid"/>
          </a:ln>
        </p:spPr>
      </p:sp>
      <p:sp>
        <p:nvSpPr>
          <p:cNvPr id="24" name="Text 22"/>
          <p:cNvSpPr/>
          <p:nvPr/>
        </p:nvSpPr>
        <p:spPr>
          <a:xfrm>
            <a:off x="841248" y="4370832"/>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Reliability</a:t>
            </a:r>
            <a:endParaRPr lang="en-US" sz="780" dirty="0"/>
          </a:p>
        </p:txBody>
      </p:sp>
      <p:sp>
        <p:nvSpPr>
          <p:cNvPr id="25" name="Shape 23"/>
          <p:cNvSpPr/>
          <p:nvPr/>
        </p:nvSpPr>
        <p:spPr>
          <a:xfrm>
            <a:off x="2798064" y="4343400"/>
            <a:ext cx="2322576" cy="722376"/>
          </a:xfrm>
          <a:prstGeom prst="rect">
            <a:avLst/>
          </a:prstGeom>
          <a:solidFill>
            <a:srgbClr val="FFFFFF"/>
          </a:solidFill>
          <a:ln w="9525">
            <a:solidFill>
              <a:srgbClr val="DADCE0"/>
            </a:solidFill>
            <a:prstDash val="solid"/>
          </a:ln>
        </p:spPr>
      </p:sp>
      <p:sp>
        <p:nvSpPr>
          <p:cNvPr id="26" name="Text 24"/>
          <p:cNvSpPr/>
          <p:nvPr/>
        </p:nvSpPr>
        <p:spPr>
          <a:xfrm>
            <a:off x="2889504" y="4370832"/>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External Application Load Balancer &amp; Gemini Enterprise Catalog</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Order Agent (ADK) &amp; Inventory MCP Server</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BigQuery &amp; AlloyDB</a:t>
            </a:r>
            <a:endParaRPr lang="en-US" sz="710" dirty="0"/>
          </a:p>
        </p:txBody>
      </p:sp>
      <p:sp>
        <p:nvSpPr>
          <p:cNvPr id="27" name="Shape 25"/>
          <p:cNvSpPr/>
          <p:nvPr/>
        </p:nvSpPr>
        <p:spPr>
          <a:xfrm>
            <a:off x="5120640" y="4343400"/>
            <a:ext cx="6309360" cy="722376"/>
          </a:xfrm>
          <a:prstGeom prst="rect">
            <a:avLst/>
          </a:prstGeom>
          <a:solidFill>
            <a:srgbClr val="FFFFFF"/>
          </a:solidFill>
          <a:ln w="9525">
            <a:solidFill>
              <a:srgbClr val="DADCE0"/>
            </a:solidFill>
            <a:prstDash val="solid"/>
          </a:ln>
        </p:spPr>
      </p:sp>
      <p:sp>
        <p:nvSpPr>
          <p:cNvPr id="28" name="Text 26"/>
          <p:cNvSpPr/>
          <p:nvPr/>
        </p:nvSpPr>
        <p:spPr>
          <a:xfrm>
            <a:off x="5230368" y="4370832"/>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External Application Load Balancer &amp; Gemini Enterprise Catalog: </a:t>
            </a:r>
            <a:pPr indent="0" marL="0">
              <a:buNone/>
            </a:pPr>
            <a:r>
              <a:rPr lang="en-US" sz="690" dirty="0">
                <a:solidFill>
                  <a:srgbClr val="3C4043"/>
                </a:solidFill>
                <a:latin typeface="Arial" pitchFamily="34" charset="0"/>
                <a:ea typeface="Arial" pitchFamily="34" charset="-122"/>
                <a:cs typeface="Arial" pitchFamily="34" charset="-120"/>
              </a:rPr>
              <a:t>Deploy Gemini Enterprise Catalog across multi-region serverless Network Endpoint Groups (NEGs) with minimum warm instances to eliminate cold-start latency spikes.
</a:t>
            </a:r>
            <a:pPr indent="0" marL="0">
              <a:buNone/>
            </a:pPr>
            <a:r>
              <a:rPr lang="en-US" sz="700" b="1" dirty="0">
                <a:solidFill>
                  <a:srgbClr val="202124"/>
                </a:solidFill>
                <a:latin typeface="Arial" pitchFamily="34" charset="0"/>
                <a:ea typeface="Arial" pitchFamily="34" charset="-122"/>
                <a:cs typeface="Arial" pitchFamily="34" charset="-120"/>
              </a:rPr>
              <a:t>• Order Agent (ADK) &amp; Inventory MCP Server: </a:t>
            </a:r>
            <a:pPr indent="0" marL="0">
              <a:buNone/>
            </a:pPr>
            <a:r>
              <a:rPr lang="en-US" sz="690" dirty="0">
                <a:solidFill>
                  <a:srgbClr val="3C4043"/>
                </a:solidFill>
                <a:latin typeface="Arial" pitchFamily="34" charset="0"/>
                <a:ea typeface="Arial" pitchFamily="34" charset="-122"/>
                <a:cs typeface="Arial" pitchFamily="34" charset="-120"/>
              </a:rPr>
              <a:t>Enforce bounded retry budgets with exponential backoff, per-tool execution timeouts, and stateless horizontal scaling on Inventory MCP Server.
</a:t>
            </a:r>
            <a:pPr indent="0" marL="0">
              <a:buNone/>
            </a:pPr>
            <a:r>
              <a:rPr lang="en-US" sz="700" b="1" dirty="0">
                <a:solidFill>
                  <a:srgbClr val="202124"/>
                </a:solidFill>
                <a:latin typeface="Arial" pitchFamily="34" charset="0"/>
                <a:ea typeface="Arial" pitchFamily="34" charset="-122"/>
                <a:cs typeface="Arial" pitchFamily="34" charset="-120"/>
              </a:rPr>
              <a:t>• BigQuery &amp; AlloyDB: </a:t>
            </a:r>
            <a:pPr indent="0" marL="0">
              <a:buNone/>
            </a:pPr>
            <a:r>
              <a:rPr lang="en-US" sz="690" dirty="0">
                <a:solidFill>
                  <a:srgbClr val="3C4043"/>
                </a:solidFill>
                <a:latin typeface="Arial" pitchFamily="34" charset="0"/>
                <a:ea typeface="Arial" pitchFamily="34" charset="-122"/>
                <a:cs typeface="Arial" pitchFamily="34" charset="-120"/>
              </a:rPr>
              <a:t>Enable regional high availability and Point-in-Time Recovery on BigQuery &amp; AlloyDB with automated backup verification.</a:t>
            </a:r>
            <a:endParaRPr lang="en-US" sz="700" dirty="0"/>
          </a:p>
        </p:txBody>
      </p:sp>
      <p:sp>
        <p:nvSpPr>
          <p:cNvPr id="29" name="Shape 27"/>
          <p:cNvSpPr/>
          <p:nvPr/>
        </p:nvSpPr>
        <p:spPr>
          <a:xfrm>
            <a:off x="749808" y="5065776"/>
            <a:ext cx="2048256" cy="722376"/>
          </a:xfrm>
          <a:prstGeom prst="rect">
            <a:avLst/>
          </a:prstGeom>
          <a:solidFill>
            <a:srgbClr val="FFFFFF"/>
          </a:solidFill>
          <a:ln w="9525">
            <a:solidFill>
              <a:srgbClr val="DADCE0"/>
            </a:solidFill>
            <a:prstDash val="solid"/>
          </a:ln>
        </p:spPr>
      </p:sp>
      <p:sp>
        <p:nvSpPr>
          <p:cNvPr id="30" name="Text 28"/>
          <p:cNvSpPr/>
          <p:nvPr/>
        </p:nvSpPr>
        <p:spPr>
          <a:xfrm>
            <a:off x="841248" y="5093208"/>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Operational efficiency</a:t>
            </a:r>
            <a:endParaRPr lang="en-US" sz="780" dirty="0"/>
          </a:p>
        </p:txBody>
      </p:sp>
      <p:sp>
        <p:nvSpPr>
          <p:cNvPr id="31" name="Shape 29"/>
          <p:cNvSpPr/>
          <p:nvPr/>
        </p:nvSpPr>
        <p:spPr>
          <a:xfrm>
            <a:off x="2798064" y="5065776"/>
            <a:ext cx="2322576" cy="722376"/>
          </a:xfrm>
          <a:prstGeom prst="rect">
            <a:avLst/>
          </a:prstGeom>
          <a:solidFill>
            <a:srgbClr val="FFFFFF"/>
          </a:solidFill>
          <a:ln w="9525">
            <a:solidFill>
              <a:srgbClr val="DADCE0"/>
            </a:solidFill>
            <a:prstDash val="solid"/>
          </a:ln>
        </p:spPr>
      </p:sp>
      <p:sp>
        <p:nvSpPr>
          <p:cNvPr id="32" name="Text 30"/>
          <p:cNvSpPr/>
          <p:nvPr/>
        </p:nvSpPr>
        <p:spPr>
          <a:xfrm>
            <a:off x="2889504" y="5093208"/>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Infrastructure as Code</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Security Command Center &amp; Cloud Trace &amp; BigQuery</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Automated CI/CD &amp; Red-Team Gates</a:t>
            </a:r>
            <a:endParaRPr lang="en-US" sz="710" dirty="0"/>
          </a:p>
        </p:txBody>
      </p:sp>
      <p:sp>
        <p:nvSpPr>
          <p:cNvPr id="33" name="Shape 31"/>
          <p:cNvSpPr/>
          <p:nvPr/>
        </p:nvSpPr>
        <p:spPr>
          <a:xfrm>
            <a:off x="5120640" y="5065776"/>
            <a:ext cx="6309360" cy="722376"/>
          </a:xfrm>
          <a:prstGeom prst="rect">
            <a:avLst/>
          </a:prstGeom>
          <a:solidFill>
            <a:srgbClr val="FFFFFF"/>
          </a:solidFill>
          <a:ln w="9525">
            <a:solidFill>
              <a:srgbClr val="DADCE0"/>
            </a:solidFill>
            <a:prstDash val="solid"/>
          </a:ln>
        </p:spPr>
      </p:sp>
      <p:sp>
        <p:nvSpPr>
          <p:cNvPr id="34" name="Text 32"/>
          <p:cNvSpPr/>
          <p:nvPr/>
        </p:nvSpPr>
        <p:spPr>
          <a:xfrm>
            <a:off x="5230368" y="5093208"/>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Infrastructure as Code: </a:t>
            </a:r>
            <a:pPr indent="0" marL="0">
              <a:buNone/>
            </a:pPr>
            <a:r>
              <a:rPr lang="en-US" sz="690" dirty="0">
                <a:solidFill>
                  <a:srgbClr val="3C4043"/>
                </a:solidFill>
                <a:latin typeface="Arial" pitchFamily="34" charset="0"/>
                <a:ea typeface="Arial" pitchFamily="34" charset="-122"/>
                <a:cs typeface="Arial" pitchFamily="34" charset="-120"/>
              </a:rPr>
              <a:t>Provision Order &amp; Inventory Domain Agent and Distributor &amp; Tracking Domain Agent spokes through versioned Terraform modules that atomically bind perimeters, IAM roles, and runtime configurations.
</a:t>
            </a:r>
            <a:pPr indent="0" marL="0">
              <a:buNone/>
            </a:pPr>
            <a:r>
              <a:rPr lang="en-US" sz="700" b="1" dirty="0">
                <a:solidFill>
                  <a:srgbClr val="202124"/>
                </a:solidFill>
                <a:latin typeface="Arial" pitchFamily="34" charset="0"/>
                <a:ea typeface="Arial" pitchFamily="34" charset="-122"/>
                <a:cs typeface="Arial" pitchFamily="34" charset="-120"/>
              </a:rPr>
              <a:t>• Security Command Center &amp; Cloud Trace &amp; BigQuery: </a:t>
            </a:r>
            <a:pPr indent="0" marL="0">
              <a:buNone/>
            </a:pPr>
            <a:r>
              <a:rPr lang="en-US" sz="690" dirty="0">
                <a:solidFill>
                  <a:srgbClr val="3C4043"/>
                </a:solidFill>
                <a:latin typeface="Arial" pitchFamily="34" charset="0"/>
                <a:ea typeface="Arial" pitchFamily="34" charset="-122"/>
                <a:cs typeface="Arial" pitchFamily="34" charset="-120"/>
              </a:rPr>
              <a:t>Stream structured OpenTelemetry traces and zero-PII audit logs to Cloud Trace &amp; BigQuery and monitor posture drift in Security Command Center.
</a:t>
            </a:r>
            <a:pPr indent="0" marL="0">
              <a:buNone/>
            </a:pPr>
            <a:r>
              <a:rPr lang="en-US" sz="700" b="1" dirty="0">
                <a:solidFill>
                  <a:srgbClr val="202124"/>
                </a:solidFill>
                <a:latin typeface="Arial" pitchFamily="34" charset="0"/>
                <a:ea typeface="Arial" pitchFamily="34" charset="-122"/>
                <a:cs typeface="Arial" pitchFamily="34" charset="-120"/>
              </a:rPr>
              <a:t>• Automated CI/CD &amp; Red-Team Gates: </a:t>
            </a:r>
            <a:pPr indent="0" marL="0">
              <a:buNone/>
            </a:pPr>
            <a:r>
              <a:rPr lang="en-US" sz="690" dirty="0">
                <a:solidFill>
                  <a:srgbClr val="3C4043"/>
                </a:solidFill>
                <a:latin typeface="Arial" pitchFamily="34" charset="0"/>
                <a:ea typeface="Arial" pitchFamily="34" charset="-122"/>
                <a:cs typeface="Arial" pitchFamily="34" charset="-120"/>
              </a:rPr>
              <a:t>Gate every prompt, model, or tool change on automated Vertex AI Gen AI Evaluation Service benchmarks and security regression checks before production rollout.</a:t>
            </a:r>
            <a:endParaRPr lang="en-US" sz="700" dirty="0"/>
          </a:p>
        </p:txBody>
      </p:sp>
      <p:sp>
        <p:nvSpPr>
          <p:cNvPr id="35" name="Shape 33"/>
          <p:cNvSpPr/>
          <p:nvPr/>
        </p:nvSpPr>
        <p:spPr>
          <a:xfrm>
            <a:off x="749808" y="5788152"/>
            <a:ext cx="2048256" cy="722376"/>
          </a:xfrm>
          <a:prstGeom prst="rect">
            <a:avLst/>
          </a:prstGeom>
          <a:solidFill>
            <a:srgbClr val="FFFFFF"/>
          </a:solidFill>
          <a:ln w="9525">
            <a:solidFill>
              <a:srgbClr val="DADCE0"/>
            </a:solidFill>
            <a:prstDash val="solid"/>
          </a:ln>
        </p:spPr>
      </p:sp>
      <p:sp>
        <p:nvSpPr>
          <p:cNvPr id="36" name="Text 34"/>
          <p:cNvSpPr/>
          <p:nvPr/>
        </p:nvSpPr>
        <p:spPr>
          <a:xfrm>
            <a:off x="841248" y="5815584"/>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Cost optimization</a:t>
            </a:r>
            <a:endParaRPr lang="en-US" sz="780" dirty="0"/>
          </a:p>
        </p:txBody>
      </p:sp>
      <p:sp>
        <p:nvSpPr>
          <p:cNvPr id="37" name="Shape 35"/>
          <p:cNvSpPr/>
          <p:nvPr/>
        </p:nvSpPr>
        <p:spPr>
          <a:xfrm>
            <a:off x="2798064" y="5788152"/>
            <a:ext cx="2322576" cy="722376"/>
          </a:xfrm>
          <a:prstGeom prst="rect">
            <a:avLst/>
          </a:prstGeom>
          <a:solidFill>
            <a:srgbClr val="FFFFFF"/>
          </a:solidFill>
          <a:ln w="9525">
            <a:solidFill>
              <a:srgbClr val="DADCE0"/>
            </a:solidFill>
            <a:prstDash val="solid"/>
          </a:ln>
        </p:spPr>
      </p:sp>
      <p:sp>
        <p:nvSpPr>
          <p:cNvPr id="38" name="Text 36"/>
          <p:cNvSpPr/>
          <p:nvPr/>
        </p:nvSpPr>
        <p:spPr>
          <a:xfrm>
            <a:off x="2889504" y="5815584"/>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Gemini 2.5 Pro Context Caching</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OBO + DPoP Broker &amp; Inventory MCP Server</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Cloud Trace &amp; BigQuery FinOps Attribution</a:t>
            </a:r>
            <a:endParaRPr lang="en-US" sz="710" dirty="0"/>
          </a:p>
        </p:txBody>
      </p:sp>
      <p:sp>
        <p:nvSpPr>
          <p:cNvPr id="39" name="Shape 37"/>
          <p:cNvSpPr/>
          <p:nvPr/>
        </p:nvSpPr>
        <p:spPr>
          <a:xfrm>
            <a:off x="5120640" y="5788152"/>
            <a:ext cx="6309360" cy="722376"/>
          </a:xfrm>
          <a:prstGeom prst="rect">
            <a:avLst/>
          </a:prstGeom>
          <a:solidFill>
            <a:srgbClr val="FFFFFF"/>
          </a:solidFill>
          <a:ln w="9525">
            <a:solidFill>
              <a:srgbClr val="DADCE0"/>
            </a:solidFill>
            <a:prstDash val="solid"/>
          </a:ln>
        </p:spPr>
      </p:sp>
      <p:sp>
        <p:nvSpPr>
          <p:cNvPr id="40" name="Text 38"/>
          <p:cNvSpPr/>
          <p:nvPr/>
        </p:nvSpPr>
        <p:spPr>
          <a:xfrm>
            <a:off x="5230368" y="5815584"/>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Gemini 2.5 Pro Context Caching: </a:t>
            </a:r>
            <a:pPr indent="0" marL="0">
              <a:buNone/>
            </a:pPr>
            <a:r>
              <a:rPr lang="en-US" sz="690" dirty="0">
                <a:solidFill>
                  <a:srgbClr val="3C4043"/>
                </a:solidFill>
                <a:latin typeface="Arial" pitchFamily="34" charset="0"/>
                <a:ea typeface="Arial" pitchFamily="34" charset="-122"/>
                <a:cs typeface="Arial" pitchFamily="34" charset="-120"/>
              </a:rPr>
              <a:t>Enable Vertex AI Context Caching on shared system instructions, tool schemas, and reference rubrics to reduce repeated input token costs by up to 90%.
</a:t>
            </a:r>
            <a:pPr indent="0" marL="0">
              <a:buNone/>
            </a:pPr>
            <a:r>
              <a:rPr lang="en-US" sz="700" b="1" dirty="0">
                <a:solidFill>
                  <a:srgbClr val="202124"/>
                </a:solidFill>
                <a:latin typeface="Arial" pitchFamily="34" charset="0"/>
                <a:ea typeface="Arial" pitchFamily="34" charset="-122"/>
                <a:cs typeface="Arial" pitchFamily="34" charset="-120"/>
              </a:rPr>
              <a:t>• OBO + DPoP Broker &amp; Inventory MCP Server: </a:t>
            </a:r>
            <a:pPr indent="0" marL="0">
              <a:buNone/>
            </a:pPr>
            <a:r>
              <a:rPr lang="en-US" sz="690" dirty="0">
                <a:solidFill>
                  <a:srgbClr val="3C4043"/>
                </a:solidFill>
                <a:latin typeface="Arial" pitchFamily="34" charset="0"/>
                <a:ea typeface="Arial" pitchFamily="34" charset="-122"/>
                <a:cs typeface="Arial" pitchFamily="34" charset="-120"/>
              </a:rPr>
              <a:t>Reject malformed or adversarial requests at the edge before invoking downstream models, and scale idle stateless tool containers down to zero.
</a:t>
            </a:r>
            <a:pPr indent="0" marL="0">
              <a:buNone/>
            </a:pPr>
            <a:r>
              <a:rPr lang="en-US" sz="700" b="1" dirty="0">
                <a:solidFill>
                  <a:srgbClr val="202124"/>
                </a:solidFill>
                <a:latin typeface="Arial" pitchFamily="34" charset="0"/>
                <a:ea typeface="Arial" pitchFamily="34" charset="-122"/>
                <a:cs typeface="Arial" pitchFamily="34" charset="-120"/>
              </a:rPr>
              <a:t>• Cloud Trace &amp; BigQuery FinOps Attribution: </a:t>
            </a:r>
            <a:pPr indent="0" marL="0">
              <a:buNone/>
            </a:pPr>
            <a:r>
              <a:rPr lang="en-US" sz="690" dirty="0">
                <a:solidFill>
                  <a:srgbClr val="3C4043"/>
                </a:solidFill>
                <a:latin typeface="Arial" pitchFamily="34" charset="0"/>
                <a:ea typeface="Arial" pitchFamily="34" charset="-122"/>
                <a:cs typeface="Arial" pitchFamily="34" charset="-120"/>
              </a:rPr>
              <a:t>Export OpenTelemetry token usage spans and Cloud Billing records to BigQuery to enforce per-spoke quota budgets and automated spend alerts.</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Agent Engine, MCP &amp; A2A  ›  Deployment,  What's next  &amp;  Contributors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DOC-REF-09  ·  Page 6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Deployment</a:t>
            </a:r>
            <a:endParaRPr lang="en-US" sz="1450" dirty="0"/>
          </a:p>
        </p:txBody>
      </p:sp>
      <p:sp>
        <p:nvSpPr>
          <p:cNvPr id="7" name="Text 5"/>
          <p:cNvSpPr/>
          <p:nvPr/>
        </p:nvSpPr>
        <p:spPr>
          <a:xfrm>
            <a:off x="749808" y="914400"/>
            <a:ext cx="10680192" cy="29260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To deploy and verify the Design Patterns for Scalable Multi-Agent Ecosystems: Vertex AI Agent Engine, MCP &amp; A2A pattern on Google Cloud, use the following production implementation reference.</a:t>
            </a:r>
            <a:endParaRPr lang="en-US" sz="860" dirty="0"/>
          </a:p>
        </p:txBody>
      </p:sp>
      <p:sp>
        <p:nvSpPr>
          <p:cNvPr id="8" name="Shape 6"/>
          <p:cNvSpPr/>
          <p:nvPr/>
        </p:nvSpPr>
        <p:spPr>
          <a:xfrm>
            <a:off x="749808" y="1243584"/>
            <a:ext cx="10680192" cy="256032"/>
          </a:xfrm>
          <a:prstGeom prst="rect">
            <a:avLst/>
          </a:prstGeom>
          <a:solidFill>
            <a:srgbClr val="F8F9FA"/>
          </a:solidFill>
          <a:ln w="9525">
            <a:solidFill>
              <a:srgbClr val="DADCE0"/>
            </a:solidFill>
            <a:prstDash val="solid"/>
          </a:ln>
        </p:spPr>
      </p:sp>
      <p:sp>
        <p:nvSpPr>
          <p:cNvPr id="9" name="Text 7"/>
          <p:cNvSpPr/>
          <p:nvPr/>
        </p:nvSpPr>
        <p:spPr>
          <a:xfrm>
            <a:off x="877824" y="1243584"/>
            <a:ext cx="7772400" cy="256032"/>
          </a:xfrm>
          <a:prstGeom prst="rect">
            <a:avLst/>
          </a:prstGeom>
          <a:noFill/>
          <a:ln/>
        </p:spPr>
        <p:txBody>
          <a:bodyPr wrap="square" rtlCol="0" anchor="ctr"/>
          <a:lstStyle/>
          <a:p>
            <a:pPr indent="0" marL="0">
              <a:buNone/>
            </a:pPr>
            <a:r>
              <a:rPr lang="en-US" sz="800" b="1" dirty="0">
                <a:solidFill>
                  <a:srgbClr val="3C4043"/>
                </a:solidFill>
                <a:latin typeface="Courier New" pitchFamily="34" charset="0"/>
                <a:ea typeface="Courier New" pitchFamily="34" charset="-122"/>
                <a:cs typeface="Courier New" pitchFamily="34" charset="-120"/>
              </a:rPr>
              <a:t>src/supply_chain/agent_card_and_mcp.py</a:t>
            </a:r>
            <a:endParaRPr lang="en-US" sz="800" dirty="0"/>
          </a:p>
        </p:txBody>
      </p:sp>
      <p:sp>
        <p:nvSpPr>
          <p:cNvPr id="10" name="Text 8"/>
          <p:cNvSpPr/>
          <p:nvPr/>
        </p:nvSpPr>
        <p:spPr>
          <a:xfrm>
            <a:off x="8778240" y="1243584"/>
            <a:ext cx="2514600" cy="256032"/>
          </a:xfrm>
          <a:prstGeom prst="rect">
            <a:avLst/>
          </a:prstGeom>
          <a:noFill/>
          <a:ln/>
        </p:spPr>
        <p:txBody>
          <a:bodyPr wrap="square" rtlCol="0" anchor="ctr"/>
          <a:lstStyle/>
          <a:p>
            <a:pPr algn="r" indent="0" marL="0">
              <a:buNone/>
            </a:pPr>
            <a:r>
              <a:rPr lang="en-US" sz="720" b="1" dirty="0">
                <a:solidFill>
                  <a:srgbClr val="5F6368"/>
                </a:solidFill>
                <a:latin typeface="Arial" pitchFamily="34" charset="0"/>
                <a:ea typeface="Arial" pitchFamily="34" charset="-122"/>
                <a:cs typeface="Arial" pitchFamily="34" charset="-120"/>
              </a:rPr>
              <a:t>PYTHON</a:t>
            </a:r>
            <a:endParaRPr lang="en-US" sz="720" dirty="0"/>
          </a:p>
        </p:txBody>
      </p:sp>
      <p:sp>
        <p:nvSpPr>
          <p:cNvPr id="11" name="Shape 9"/>
          <p:cNvSpPr/>
          <p:nvPr/>
        </p:nvSpPr>
        <p:spPr>
          <a:xfrm>
            <a:off x="749808" y="1499616"/>
            <a:ext cx="10680192" cy="2029968"/>
          </a:xfrm>
          <a:prstGeom prst="rect">
            <a:avLst/>
          </a:prstGeom>
          <a:solidFill>
            <a:srgbClr val="F8FAFC"/>
          </a:solidFill>
          <a:ln w="9525">
            <a:solidFill>
              <a:srgbClr val="DADCE0"/>
            </a:solidFill>
            <a:prstDash val="solid"/>
          </a:ln>
        </p:spPr>
      </p:sp>
      <p:sp>
        <p:nvSpPr>
          <p:cNvPr id="12" name="Text 10"/>
          <p:cNvSpPr/>
          <p:nvPr/>
        </p:nvSpPr>
        <p:spPr>
          <a:xfrm>
            <a:off x="877824" y="1536192"/>
            <a:ext cx="10424160" cy="1956816"/>
          </a:xfrm>
          <a:prstGeom prst="rect">
            <a:avLst/>
          </a:prstGeom>
          <a:noFill/>
          <a:ln/>
        </p:spPr>
        <p:txBody>
          <a:bodyPr wrap="square" rtlCol="0" anchor="t">
            <a:normAutofit/>
          </a:bodyPr>
          <a:lstStyle/>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from google.adk.agents import LlmAgent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from google.adk.tools.mcp_tool import MCPToolset, SseServerParams</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Connect Order Agent to Stateless Cloud Run MCP Server with OBO+DPoP headers</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inventory_mcp_tools = MCPToolset(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connection_params=SseServerParams(</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url="https://inventory-mcp-server-uc.a.run.app/sse",</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headers={"Authorization": f"DPoP {obo_intent_token}", "DPoP": dpop_proof_jwt},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order_agent = LlmAgent(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name="order_inventory_agent",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model="gemini-2.5-pro",</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instruction="Check regional BigQuery warehouse stock via MCP and reserve safety stock.",</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tools=[inventory_mcp_tools],</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a:t>
            </a:r>
            <a:endParaRPr lang="en-US" sz="690" dirty="0"/>
          </a:p>
        </p:txBody>
      </p:sp>
      <p:sp>
        <p:nvSpPr>
          <p:cNvPr id="13" name="Shape 11"/>
          <p:cNvSpPr/>
          <p:nvPr/>
        </p:nvSpPr>
        <p:spPr>
          <a:xfrm>
            <a:off x="749808" y="3621024"/>
            <a:ext cx="10680192" cy="0"/>
          </a:xfrm>
          <a:prstGeom prst="line">
            <a:avLst/>
          </a:prstGeom>
          <a:noFill/>
          <a:ln w="9525">
            <a:solidFill>
              <a:srgbClr val="DADCE0"/>
            </a:solidFill>
            <a:prstDash val="solid"/>
          </a:ln>
        </p:spPr>
      </p:sp>
      <p:sp>
        <p:nvSpPr>
          <p:cNvPr id="14" name="Text 12"/>
          <p:cNvSpPr/>
          <p:nvPr/>
        </p:nvSpPr>
        <p:spPr>
          <a:xfrm>
            <a:off x="749808" y="3694176"/>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What's next</a:t>
            </a:r>
            <a:endParaRPr lang="en-US" sz="1400" dirty="0"/>
          </a:p>
        </p:txBody>
      </p:sp>
      <p:sp>
        <p:nvSpPr>
          <p:cNvPr id="15" name="Text 13"/>
          <p:cNvSpPr/>
          <p:nvPr/>
        </p:nvSpPr>
        <p:spPr>
          <a:xfrm>
            <a:off x="877824" y="3968496"/>
            <a:ext cx="10552176" cy="1115568"/>
          </a:xfrm>
          <a:prstGeom prst="rect">
            <a:avLst/>
          </a:prstGeom>
          <a:noFill/>
          <a:ln/>
        </p:spPr>
        <p:txBody>
          <a:bodyPr wrap="square" rtlCol="0" anchor="t"/>
          <a:lstStyle/>
          <a:p>
            <a:pPr indent="0" marL="0">
              <a:lnSpc>
                <a:spcPct val="118000"/>
              </a:lnSpc>
              <a:buNone/>
            </a:pPr>
            <a:r>
              <a:rPr lang="en-US" sz="800" b="1" dirty="0">
                <a:solidFill>
                  <a:srgbClr val="1A73E8"/>
                </a:solidFill>
                <a:latin typeface="Arial" pitchFamily="34" charset="0"/>
                <a:ea typeface="Arial" pitchFamily="34" charset="-122"/>
                <a:cs typeface="Arial" pitchFamily="34" charset="-120"/>
              </a:rPr>
              <a:t>•  Multi-tenant agentic AI system on Google Cloud: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Read the canonical Google Cloud Architecture Center reference architecture.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Agent Development Kit (ADK) Documentation: </a:t>
            </a:r>
            <a:pPr indent="0" marL="0">
              <a:lnSpc>
                <a:spcPct val="118000"/>
              </a:lnSpc>
              <a:buNone/>
            </a:pPr>
            <a:r>
              <a:rPr lang="en-US" sz="780" dirty="0">
                <a:solidFill>
                  <a:srgbClr val="3C4043"/>
                </a:solidFill>
                <a:latin typeface="Arial" pitchFamily="34" charset="0"/>
                <a:ea typeface="Arial" pitchFamily="34" charset="-122"/>
                <a:cs typeface="Arial" pitchFamily="34" charset="-120"/>
              </a:rPr>
              <a:t>Build hierarchical multi-agent systems, deterministic callbacks, and MCP toolsets.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Vertex AI Agent Engine Overview: </a:t>
            </a:r>
            <a:pPr indent="0" marL="0">
              <a:lnSpc>
                <a:spcPct val="118000"/>
              </a:lnSpc>
              <a:buNone/>
            </a:pPr>
            <a:r>
              <a:rPr lang="en-US" sz="780" dirty="0">
                <a:solidFill>
                  <a:srgbClr val="3C4043"/>
                </a:solidFill>
                <a:latin typeface="Arial" pitchFamily="34" charset="0"/>
                <a:ea typeface="Arial" pitchFamily="34" charset="-122"/>
                <a:cs typeface="Arial" pitchFamily="34" charset="-120"/>
              </a:rPr>
              <a:t>Explore managed runtime deployment, Sessions, Memory Bank, and Context Caching.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Google Cloud Well-Architected Framework: AI and ML perspective: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Review best practices for security, reliability, operational efficiency, and cost optimization.</a:t>
            </a:r>
            <a:endParaRPr lang="en-US" sz="800" dirty="0"/>
          </a:p>
        </p:txBody>
      </p:sp>
      <p:sp>
        <p:nvSpPr>
          <p:cNvPr id="16" name="Shape 14"/>
          <p:cNvSpPr/>
          <p:nvPr/>
        </p:nvSpPr>
        <p:spPr>
          <a:xfrm>
            <a:off x="749808" y="5157216"/>
            <a:ext cx="10680192" cy="0"/>
          </a:xfrm>
          <a:prstGeom prst="line">
            <a:avLst/>
          </a:prstGeom>
          <a:noFill/>
          <a:ln w="9525">
            <a:solidFill>
              <a:srgbClr val="DADCE0"/>
            </a:solidFill>
            <a:prstDash val="solid"/>
          </a:ln>
        </p:spPr>
      </p:sp>
      <p:sp>
        <p:nvSpPr>
          <p:cNvPr id="17" name="Text 15"/>
          <p:cNvSpPr/>
          <p:nvPr/>
        </p:nvSpPr>
        <p:spPr>
          <a:xfrm>
            <a:off x="749808" y="5230368"/>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Contributors</a:t>
            </a:r>
            <a:endParaRPr lang="en-US" sz="1400" dirty="0"/>
          </a:p>
        </p:txBody>
      </p:sp>
      <p:sp>
        <p:nvSpPr>
          <p:cNvPr id="18" name="Text 16"/>
          <p:cNvSpPr/>
          <p:nvPr/>
        </p:nvSpPr>
        <p:spPr>
          <a:xfrm>
            <a:off x="749808" y="5504688"/>
            <a:ext cx="10680192" cy="1042416"/>
          </a:xfrm>
          <a:prstGeom prst="rect">
            <a:avLst/>
          </a:prstGeom>
          <a:noFill/>
          <a:ln/>
        </p:spPr>
        <p:txBody>
          <a:bodyPr wrap="square" rtlCol="0" anchor="t"/>
          <a:lstStyle/>
          <a:p>
            <a:pPr indent="0" marL="0">
              <a:lnSpc>
                <a:spcPct val="122000"/>
              </a:lnSpc>
              <a:buNone/>
            </a:pPr>
            <a:r>
              <a:rPr lang="en-US" sz="780" dirty="0">
                <a:solidFill>
                  <a:srgbClr val="5F6368"/>
                </a:solidFill>
                <a:latin typeface="Arial" pitchFamily="34" charset="0"/>
                <a:ea typeface="Arial" pitchFamily="34" charset="-122"/>
                <a:cs typeface="Arial" pitchFamily="34" charset="-120"/>
              </a:rPr>
              <a:t>Except as otherwise noted, the content of this page is licensed under the Creative Commons Attribution 4.0 License, and code samples are licensed under the Apache 2.0 License.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Authors: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Google Cloud Partner Engineering • Enterprise AI Architecture Team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Other contributors: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Principal AI Architect &amp; Field Deployment Engineering • Google Cloud Architecture Center Engineering Team
</a:t>
            </a:r>
            <a:pPr indent="0" marL="0">
              <a:lnSpc>
                <a:spcPct val="122000"/>
              </a:lnSpc>
              <a:buNone/>
            </a:pPr>
            <a:r>
              <a:rPr lang="en-US" sz="760" i="1" dirty="0">
                <a:solidFill>
                  <a:srgbClr val="5F6368"/>
                </a:solidFill>
                <a:latin typeface="Arial" pitchFamily="34" charset="0"/>
                <a:ea typeface="Arial" pitchFamily="34" charset="-122"/>
                <a:cs typeface="Arial" pitchFamily="34" charset="-120"/>
              </a:rPr>
              <a:t>Last updated 2026-10-15 UTC.</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DOC-REF-09: Design Patterns for Scalable Multi-Agent Ecosystems: Vertex AI Agent Engine, MCP &amp; A2A (DOC-REF-09)</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2026-10-16T15:16:31Z</dcterms:created>
  <dcterms:modified xsi:type="dcterms:W3CDTF">2026-10-16T15:16:31Z</dcterms:modified>
</cp:coreProperties>
</file>