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slideLayout" Target="../slideLayouts/slideLayout1.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804672" y="438912"/>
            <a:ext cx="6766560" cy="219456"/>
          </a:xfrm>
          <a:prstGeom prst="rect">
            <a:avLst/>
          </a:prstGeom>
          <a:noFill/>
          <a:ln/>
        </p:spPr>
        <p:txBody>
          <a:bodyPr wrap="square" rtlCol="0" anchor="ctr"/>
          <a:lstStyle/>
          <a:p>
            <a:pPr indent="0" marL="0">
              <a:buNone/>
            </a:pPr>
            <a:r>
              <a:rPr lang="en-US" sz="920" b="1" dirty="0">
                <a:solidFill>
                  <a:srgbClr val="5F6368"/>
                </a:solidFill>
                <a:latin typeface="Arial" pitchFamily="34" charset="0"/>
                <a:ea typeface="Arial" pitchFamily="34" charset="-122"/>
                <a:cs typeface="Arial" pitchFamily="34" charset="-120"/>
              </a:rPr>
              <a:t>Cloud Architecture Center   ›   Reference Guide • Agent Engine, MCP &amp; A2A</a:t>
            </a:r>
            <a:endParaRPr lang="en-US" sz="920" dirty="0"/>
          </a:p>
        </p:txBody>
      </p:sp>
      <p:sp>
        <p:nvSpPr>
          <p:cNvPr id="4" name="Shape 2"/>
          <p:cNvSpPr/>
          <p:nvPr/>
        </p:nvSpPr>
        <p:spPr>
          <a:xfrm>
            <a:off x="7973568" y="429768"/>
            <a:ext cx="841248" cy="219456"/>
          </a:xfrm>
          <a:prstGeom prst="roundRect">
            <a:avLst>
              <a:gd name="adj" fmla="val 16667"/>
            </a:avLst>
          </a:prstGeom>
          <a:solidFill>
            <a:srgbClr val="F1F5F9"/>
          </a:solidFill>
          <a:ln w="9525">
            <a:solidFill>
              <a:srgbClr val="CBD5E1"/>
            </a:solidFill>
            <a:prstDash val="solid"/>
          </a:ln>
        </p:spPr>
      </p:sp>
      <p:sp>
        <p:nvSpPr>
          <p:cNvPr id="5" name="Text 3"/>
          <p:cNvSpPr/>
          <p:nvPr/>
        </p:nvSpPr>
        <p:spPr>
          <a:xfrm>
            <a:off x="7973568" y="429768"/>
            <a:ext cx="841248" cy="219456"/>
          </a:xfrm>
          <a:prstGeom prst="rect">
            <a:avLst/>
          </a:prstGeom>
          <a:noFill/>
          <a:ln/>
        </p:spPr>
        <p:txBody>
          <a:bodyPr wrap="square" rtlCol="0" anchor="ctr"/>
          <a:lstStyle/>
          <a:p>
            <a:pPr algn="ctr" indent="0" marL="0">
              <a:buNone/>
            </a:pPr>
            <a:r>
              <a:rPr lang="en-US" sz="780" b="1" dirty="0">
                <a:solidFill>
                  <a:srgbClr val="334155"/>
                </a:solidFill>
                <a:latin typeface="Courier New" pitchFamily="34" charset="0"/>
                <a:ea typeface="Courier New" pitchFamily="34" charset="-122"/>
                <a:cs typeface="Courier New" pitchFamily="34" charset="-120"/>
              </a:rPr>
              <a:t>DOC-REF-09</a:t>
            </a:r>
            <a:endParaRPr lang="en-US" sz="780" dirty="0"/>
          </a:p>
        </p:txBody>
      </p:sp>
      <p:sp>
        <p:nvSpPr>
          <p:cNvPr id="6" name="Text 4"/>
          <p:cNvSpPr/>
          <p:nvPr/>
        </p:nvSpPr>
        <p:spPr>
          <a:xfrm>
            <a:off x="8869680" y="438912"/>
            <a:ext cx="2514600" cy="219456"/>
          </a:xfrm>
          <a:prstGeom prst="rect">
            <a:avLst/>
          </a:prstGeom>
          <a:noFill/>
          <a:ln/>
        </p:spPr>
        <p:txBody>
          <a:bodyPr wrap="square" rtlCol="0" anchor="ctr"/>
          <a:lstStyle/>
          <a:p>
            <a:pPr algn="r" indent="0" marL="0">
              <a:buNone/>
            </a:pPr>
            <a:r>
              <a:rPr lang="en-US" sz="880" dirty="0">
                <a:solidFill>
                  <a:srgbClr val="5F6368"/>
                </a:solidFill>
                <a:latin typeface="Arial" pitchFamily="34" charset="0"/>
                <a:ea typeface="Arial" pitchFamily="34" charset="-122"/>
                <a:cs typeface="Arial" pitchFamily="34" charset="-120"/>
              </a:rPr>
              <a:t>·   10 min read   ·   Last reviewed 2026-10-15</a:t>
            </a:r>
            <a:endParaRPr lang="en-US" sz="880" dirty="0"/>
          </a:p>
        </p:txBody>
      </p:sp>
      <p:sp>
        <p:nvSpPr>
          <p:cNvPr id="7" name="Text 5"/>
          <p:cNvSpPr/>
          <p:nvPr/>
        </p:nvSpPr>
        <p:spPr>
          <a:xfrm>
            <a:off x="804672" y="768096"/>
            <a:ext cx="10570464" cy="877824"/>
          </a:xfrm>
          <a:prstGeom prst="rect">
            <a:avLst/>
          </a:prstGeom>
          <a:noFill/>
          <a:ln/>
        </p:spPr>
        <p:txBody>
          <a:bodyPr wrap="square" rtlCol="0" anchor="ctr"/>
          <a:lstStyle/>
          <a:p>
            <a:pPr indent="0" marL="0">
              <a:buNone/>
            </a:pPr>
            <a:r>
              <a:rPr lang="en-US" sz="2150" dirty="0">
                <a:solidFill>
                  <a:srgbClr val="202124"/>
                </a:solidFill>
                <a:latin typeface="Arial" pitchFamily="34" charset="0"/>
                <a:ea typeface="Arial" pitchFamily="34" charset="-122"/>
                <a:cs typeface="Arial" pitchFamily="34" charset="-120"/>
              </a:rPr>
              <a:t>Design Patterns for Scalable Multi-Agent Ecosystems: Vertex AI Agent Engine, MCP &amp; A2A</a:t>
            </a:r>
            <a:endParaRPr lang="en-US" sz="2150" dirty="0"/>
          </a:p>
        </p:txBody>
      </p:sp>
      <p:sp>
        <p:nvSpPr>
          <p:cNvPr id="8" name="Shape 6"/>
          <p:cNvSpPr/>
          <p:nvPr/>
        </p:nvSpPr>
        <p:spPr>
          <a:xfrm>
            <a:off x="384048" y="1773936"/>
            <a:ext cx="11420856" cy="0"/>
          </a:xfrm>
          <a:prstGeom prst="line">
            <a:avLst/>
          </a:prstGeom>
          <a:noFill/>
          <a:ln w="9525">
            <a:solidFill>
              <a:srgbClr val="DADCE0"/>
            </a:solidFill>
            <a:prstDash val="solid"/>
          </a:ln>
        </p:spPr>
      </p:sp>
      <p:sp>
        <p:nvSpPr>
          <p:cNvPr id="9" name="Text 7"/>
          <p:cNvSpPr/>
          <p:nvPr/>
        </p:nvSpPr>
        <p:spPr>
          <a:xfrm>
            <a:off x="804672" y="1938528"/>
            <a:ext cx="10570464" cy="585216"/>
          </a:xfrm>
          <a:prstGeom prst="rect">
            <a:avLst/>
          </a:prstGeom>
          <a:noFill/>
          <a:ln/>
        </p:spPr>
        <p:txBody>
          <a:bodyPr wrap="square" rtlCol="0" anchor="t"/>
          <a:lstStyle/>
          <a:p>
            <a:pPr indent="0" marL="0">
              <a:lnSpc>
                <a:spcPct val="122000"/>
              </a:lnSpc>
              <a:buNone/>
            </a:pPr>
            <a:r>
              <a:rPr lang="en-US" sz="980" dirty="0">
                <a:solidFill>
                  <a:srgbClr val="3C4043"/>
                </a:solidFill>
                <a:latin typeface="Arial" pitchFamily="34" charset="0"/>
                <a:ea typeface="Arial" pitchFamily="34" charset="-122"/>
                <a:cs typeface="Arial" pitchFamily="34" charset="-120"/>
              </a:rPr>
              <a:t>Scaling an enterprise agent ecosystem requires separating intra-domain tool access from inter-agent collaboration. When every agent bundles custom database drivers and proprietary API wrappers, credential rotation and schema evolution become unmanageable.</a:t>
            </a:r>
            <a:endParaRPr lang="en-US" sz="980" dirty="0"/>
          </a:p>
        </p:txBody>
      </p:sp>
      <p:sp>
        <p:nvSpPr>
          <p:cNvPr id="10" name="Text 8"/>
          <p:cNvSpPr/>
          <p:nvPr/>
        </p:nvSpPr>
        <p:spPr>
          <a:xfrm>
            <a:off x="804672" y="2633472"/>
            <a:ext cx="10570464" cy="877824"/>
          </a:xfrm>
          <a:prstGeom prst="rect">
            <a:avLst/>
          </a:prstGeom>
          <a:noFill/>
          <a:ln/>
        </p:spPr>
        <p:txBody>
          <a:bodyPr wrap="square" rtlCol="0" anchor="t"/>
          <a:lstStyle/>
          <a:p>
            <a:pPr indent="0" marL="0">
              <a:lnSpc>
                <a:spcPct val="122000"/>
              </a:lnSpc>
              <a:buNone/>
            </a:pPr>
            <a:r>
              <a:rPr lang="en-US" sz="980" dirty="0">
                <a:solidFill>
                  <a:srgbClr val="3C4043"/>
                </a:solidFill>
                <a:latin typeface="Arial" pitchFamily="34" charset="0"/>
                <a:ea typeface="Arial" pitchFamily="34" charset="-122"/>
                <a:cs typeface="Arial" pitchFamily="34" charset="-120"/>
              </a:rPr>
              <a:t>By deploying Stateless MCP Servers on Cloud Run in front of BigQuery and enterprise APIs, and publishing A2A Agent Cards registered in the Gemini Enterprise Catalog, domain teams can evolve Order, Distributor, and Logistics Tracking agents independently while preserving end-to-end OBO+DPoP security.</a:t>
            </a:r>
            <a:endParaRPr lang="en-US" sz="980" dirty="0"/>
          </a:p>
        </p:txBody>
      </p:sp>
      <p:sp>
        <p:nvSpPr>
          <p:cNvPr id="11" name="Shape 9"/>
          <p:cNvSpPr/>
          <p:nvPr/>
        </p:nvSpPr>
        <p:spPr>
          <a:xfrm>
            <a:off x="804672" y="4553712"/>
            <a:ext cx="10570464" cy="0"/>
          </a:xfrm>
          <a:prstGeom prst="line">
            <a:avLst/>
          </a:prstGeom>
          <a:noFill/>
          <a:ln w="9525">
            <a:solidFill>
              <a:srgbClr val="DADCE0"/>
            </a:solidFill>
            <a:prstDash val="solid"/>
          </a:ln>
        </p:spPr>
      </p:sp>
      <p:sp>
        <p:nvSpPr>
          <p:cNvPr id="12" name="Text 10"/>
          <p:cNvSpPr/>
          <p:nvPr/>
        </p:nvSpPr>
        <p:spPr>
          <a:xfrm>
            <a:off x="804672" y="4700016"/>
            <a:ext cx="10570464" cy="347472"/>
          </a:xfrm>
          <a:prstGeom prst="rect">
            <a:avLst/>
          </a:prstGeom>
          <a:noFill/>
          <a:ln/>
        </p:spPr>
        <p:txBody>
          <a:bodyPr wrap="square" rtlCol="0" anchor="ctr"/>
          <a:lstStyle/>
          <a:p>
            <a:pPr indent="0" marL="0">
              <a:buNone/>
            </a:pPr>
            <a:r>
              <a:rPr lang="en-US" sz="1650" dirty="0">
                <a:solidFill>
                  <a:srgbClr val="202124"/>
                </a:solidFill>
                <a:latin typeface="Arial" pitchFamily="34" charset="0"/>
                <a:ea typeface="Arial" pitchFamily="34" charset="-122"/>
                <a:cs typeface="Arial" pitchFamily="34" charset="-120"/>
              </a:rPr>
              <a:t>Architecture</a:t>
            </a:r>
            <a:endParaRPr lang="en-US" sz="1650" dirty="0"/>
          </a:p>
        </p:txBody>
      </p:sp>
      <p:sp>
        <p:nvSpPr>
          <p:cNvPr id="13" name="Text 11"/>
          <p:cNvSpPr/>
          <p:nvPr/>
        </p:nvSpPr>
        <p:spPr>
          <a:xfrm>
            <a:off x="804672" y="5120640"/>
            <a:ext cx="10570464" cy="1353312"/>
          </a:xfrm>
          <a:prstGeom prst="rect">
            <a:avLst/>
          </a:prstGeom>
          <a:noFill/>
          <a:ln/>
        </p:spPr>
        <p:txBody>
          <a:bodyPr wrap="square" rtlCol="0" anchor="t"/>
          <a:lstStyle/>
          <a:p>
            <a:pPr indent="0" marL="0">
              <a:lnSpc>
                <a:spcPct val="122000"/>
              </a:lnSpc>
              <a:buNone/>
            </a:pPr>
            <a:r>
              <a:rPr lang="en-US" sz="960" dirty="0">
                <a:solidFill>
                  <a:srgbClr val="3C4043"/>
                </a:solidFill>
                <a:latin typeface="Arial" pitchFamily="34" charset="0"/>
                <a:ea typeface="Arial" pitchFamily="34" charset="-122"/>
                <a:cs typeface="Arial" pitchFamily="34" charset="-120"/>
              </a:rPr>
              <a:t>In this pattern, the Root Orchestrator Agent delegates domain objectives over A2A JSON-RPC to specialized sub-agents, while each sub-agent invokes stateless MCP tool servers deployed on Cloud Run.
</a:t>
            </a:r>
            <a:pPr indent="0" marL="0">
              <a:lnSpc>
                <a:spcPct val="122000"/>
              </a:lnSpc>
              <a:buNone/>
            </a:pPr>
            <a:r>
              <a:rPr lang="en-US" sz="960" dirty="0">
                <a:solidFill>
                  <a:srgbClr val="3C4043"/>
                </a:solidFill>
                <a:latin typeface="Arial" pitchFamily="34" charset="0"/>
                <a:ea typeface="Arial" pitchFamily="34" charset="-122"/>
                <a:cs typeface="Arial" pitchFamily="34" charset="-120"/>
              </a:rPr>
              <a:t>The topology separates centralized ingress and governance from isolated execution spokes (Triad Pillar 2: Pattern A Pooled FinOps &amp; COGS Engine and Triad Pillar 2: Pattern B Silos &amp; Pattern C Hybrid), ensuring deterministic policy enforcement and unified observability across the Google Cloud organization.</a:t>
            </a:r>
            <a:endParaRPr lang="en-US" sz="9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Reference Guide • Agent Engine, MCP &amp; A2A  ›  Architecture  ›  Figure 1</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DOC-REF-09  ·  Page 2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Shape 4"/>
          <p:cNvSpPr/>
          <p:nvPr/>
        </p:nvSpPr>
        <p:spPr>
          <a:xfrm>
            <a:off x="658368" y="640080"/>
            <a:ext cx="10872216" cy="5852160"/>
          </a:xfrm>
          <a:prstGeom prst="roundRect">
            <a:avLst>
              <a:gd name="adj" fmla="val 625"/>
            </a:avLst>
          </a:prstGeom>
          <a:solidFill>
            <a:srgbClr val="FFFFFF"/>
          </a:solidFill>
          <a:ln w="10795">
            <a:solidFill>
              <a:srgbClr val="DADCE0"/>
            </a:solidFill>
            <a:prstDash val="solid"/>
          </a:ln>
        </p:spPr>
      </p:sp>
      <p:sp>
        <p:nvSpPr>
          <p:cNvPr id="7" name="Shape 5"/>
          <p:cNvSpPr/>
          <p:nvPr/>
        </p:nvSpPr>
        <p:spPr>
          <a:xfrm>
            <a:off x="658368" y="640080"/>
            <a:ext cx="10872216" cy="310896"/>
          </a:xfrm>
          <a:prstGeom prst="rect">
            <a:avLst/>
          </a:prstGeom>
          <a:solidFill>
            <a:srgbClr val="F8F9FA"/>
          </a:solidFill>
          <a:ln w="9525">
            <a:solidFill>
              <a:srgbClr val="DADCE0"/>
            </a:solidFill>
            <a:prstDash val="solid"/>
          </a:ln>
        </p:spPr>
      </p:sp>
      <p:sp>
        <p:nvSpPr>
          <p:cNvPr id="8" name="Text 6"/>
          <p:cNvSpPr/>
          <p:nvPr/>
        </p:nvSpPr>
        <p:spPr>
          <a:xfrm>
            <a:off x="822960" y="640080"/>
            <a:ext cx="10515600" cy="310896"/>
          </a:xfrm>
          <a:prstGeom prst="rect">
            <a:avLst/>
          </a:prstGeom>
          <a:noFill/>
          <a:ln/>
        </p:spPr>
        <p:txBody>
          <a:bodyPr wrap="square" rtlCol="0" anchor="ctr"/>
          <a:lstStyle/>
          <a:p>
            <a:pPr indent="0" marL="0">
              <a:buNone/>
            </a:pPr>
            <a:r>
              <a:rPr lang="en-US" sz="900" b="1" dirty="0">
                <a:solidFill>
                  <a:srgbClr val="202124"/>
                </a:solidFill>
                <a:latin typeface="Arial" pitchFamily="34" charset="0"/>
                <a:ea typeface="Arial" pitchFamily="34" charset="-122"/>
                <a:cs typeface="Arial" pitchFamily="34" charset="-120"/>
              </a:rPr>
              <a:t>Figure 1: Scalable Multi-Agent Ecosystem with Vertex AI Agent Engine, MCP &amp; A2A</a:t>
            </a:r>
            <a:endParaRPr lang="en-US" sz="900" dirty="0"/>
          </a:p>
        </p:txBody>
      </p:sp>
      <p:sp>
        <p:nvSpPr>
          <p:cNvPr id="9" name="Shape 7"/>
          <p:cNvSpPr/>
          <p:nvPr/>
        </p:nvSpPr>
        <p:spPr>
          <a:xfrm>
            <a:off x="658368" y="6163056"/>
            <a:ext cx="10872216" cy="329184"/>
          </a:xfrm>
          <a:prstGeom prst="rect">
            <a:avLst/>
          </a:prstGeom>
          <a:solidFill>
            <a:srgbClr val="F8F9FA"/>
          </a:solidFill>
          <a:ln w="9525">
            <a:solidFill>
              <a:srgbClr val="DADCE0"/>
            </a:solidFill>
            <a:prstDash val="solid"/>
          </a:ln>
        </p:spPr>
      </p:sp>
      <p:sp>
        <p:nvSpPr>
          <p:cNvPr id="10" name="Text 8"/>
          <p:cNvSpPr/>
          <p:nvPr/>
        </p:nvSpPr>
        <p:spPr>
          <a:xfrm>
            <a:off x="822960" y="6163056"/>
            <a:ext cx="10515600" cy="329184"/>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Figure 1. Figure 1: Coordinating Root, Order, Distributor, and Tracking agents via A2A Agent Cards and Cloud Run Stateless MCP Servers.</a:t>
            </a:r>
            <a:endParaRPr lang="en-US" sz="820" dirty="0"/>
          </a:p>
        </p:txBody>
      </p:sp>
      <p:sp>
        <p:nvSpPr>
          <p:cNvPr id="11" name="Shape 9"/>
          <p:cNvSpPr/>
          <p:nvPr/>
        </p:nvSpPr>
        <p:spPr>
          <a:xfrm>
            <a:off x="3922776" y="1664208"/>
            <a:ext cx="4344314" cy="4389120"/>
          </a:xfrm>
          <a:prstGeom prst="roundRect">
            <a:avLst>
              <a:gd name="adj" fmla="val 737"/>
            </a:avLst>
          </a:prstGeom>
          <a:solidFill>
            <a:srgbClr val="1A73E8"/>
          </a:solidFill>
          <a:ln w="15875">
            <a:solidFill>
              <a:srgbClr val="9AA0A6"/>
            </a:solidFill>
            <a:prstDash val="solid"/>
          </a:ln>
        </p:spPr>
      </p:sp>
      <p:sp>
        <p:nvSpPr>
          <p:cNvPr id="12" name="Shape 10"/>
          <p:cNvSpPr/>
          <p:nvPr/>
        </p:nvSpPr>
        <p:spPr>
          <a:xfrm>
            <a:off x="3982212" y="1851660"/>
            <a:ext cx="4224528" cy="4134917"/>
          </a:xfrm>
          <a:prstGeom prst="roundRect">
            <a:avLst>
              <a:gd name="adj" fmla="val 774"/>
            </a:avLst>
          </a:prstGeom>
          <a:solidFill>
            <a:srgbClr val="FFFFFF"/>
          </a:solidFill>
          <a:ln w="10795">
            <a:solidFill>
              <a:srgbClr val="9AA0A6"/>
            </a:solidFill>
            <a:prstDash val="solid"/>
          </a:ln>
        </p:spPr>
      </p:sp>
      <p:sp>
        <p:nvSpPr>
          <p:cNvPr id="13" name="Text 11"/>
          <p:cNvSpPr/>
          <p:nvPr/>
        </p:nvSpPr>
        <p:spPr>
          <a:xfrm>
            <a:off x="4027932" y="1869948"/>
            <a:ext cx="1858975" cy="146304"/>
          </a:xfrm>
          <a:prstGeom prst="rect">
            <a:avLst/>
          </a:prstGeom>
          <a:noFill/>
          <a:ln/>
        </p:spPr>
        <p:txBody>
          <a:bodyPr wrap="square" lIns="0" tIns="0" rIns="0" bIns="0" rtlCol="0" anchor="t">
            <a:normAutofit/>
          </a:bodyPr>
          <a:lstStyle/>
          <a:p>
            <a:pPr algn="l" indent="0" marL="0">
              <a:lnSpc>
                <a:spcPct val="88000"/>
              </a:lnSpc>
              <a:buNone/>
            </a:pPr>
            <a:r>
              <a:rPr lang="en-US" sz="460" b="1" dirty="0">
                <a:solidFill>
                  <a:srgbClr val="202124"/>
                </a:solidFill>
                <a:latin typeface="Arial" pitchFamily="34" charset="0"/>
                <a:ea typeface="Arial" pitchFamily="34" charset="-122"/>
                <a:cs typeface="Arial" pitchFamily="34" charset="-120"/>
              </a:rPr>
              <a:t>The Multi-Tenant Agentic Triad: Security (Hops 1–5) • FinOps COGS (-84.7%) • Zero-PII Observability</a:t>
            </a:r>
            <a:endParaRPr lang="en-US" sz="460" dirty="0"/>
          </a:p>
        </p:txBody>
      </p:sp>
      <p:sp>
        <p:nvSpPr>
          <p:cNvPr id="14" name="Shape 12"/>
          <p:cNvSpPr/>
          <p:nvPr/>
        </p:nvSpPr>
        <p:spPr>
          <a:xfrm>
            <a:off x="4042562" y="1986077"/>
            <a:ext cx="4104742" cy="3931920"/>
          </a:xfrm>
          <a:prstGeom prst="roundRect">
            <a:avLst>
              <a:gd name="adj" fmla="val 814"/>
            </a:avLst>
          </a:prstGeom>
          <a:solidFill>
            <a:srgbClr val="FFFFFF"/>
          </a:solidFill>
          <a:ln w="10795">
            <a:solidFill>
              <a:srgbClr val="9AA0A6"/>
            </a:solidFill>
            <a:prstDash val="solid"/>
          </a:ln>
        </p:spPr>
      </p:sp>
      <p:sp>
        <p:nvSpPr>
          <p:cNvPr id="15" name="Text 13"/>
          <p:cNvSpPr/>
          <p:nvPr/>
        </p:nvSpPr>
        <p:spPr>
          <a:xfrm>
            <a:off x="4088282" y="2004365"/>
            <a:ext cx="1805940" cy="146304"/>
          </a:xfrm>
          <a:prstGeom prst="rect">
            <a:avLst/>
          </a:prstGeom>
          <a:noFill/>
          <a:ln/>
        </p:spPr>
        <p:txBody>
          <a:bodyPr wrap="square" lIns="0" tIns="0" rIns="0" bIns="0" rtlCol="0" anchor="t">
            <a:normAutofit/>
          </a:bodyPr>
          <a:lstStyle/>
          <a:p>
            <a:pPr algn="l" indent="0" marL="0">
              <a:lnSpc>
                <a:spcPct val="88000"/>
              </a:lnSpc>
              <a:buNone/>
            </a:pPr>
            <a:r>
              <a:rPr lang="en-US" sz="460" b="1" dirty="0">
                <a:solidFill>
                  <a:srgbClr val="202124"/>
                </a:solidFill>
                <a:latin typeface="Arial" pitchFamily="34" charset="0"/>
                <a:ea typeface="Arial" pitchFamily="34" charset="-122"/>
                <a:cs typeface="Arial" pitchFamily="34" charset="-120"/>
              </a:rPr>
              <a:t>Unified Vertex AI Agent Engine &amp; Google ADK Reference Architecture (20/20 Simulations PASS)</a:t>
            </a:r>
            <a:endParaRPr lang="en-US" sz="460" dirty="0"/>
          </a:p>
        </p:txBody>
      </p:sp>
      <p:sp>
        <p:nvSpPr>
          <p:cNvPr id="16" name="Shape 14"/>
          <p:cNvSpPr/>
          <p:nvPr/>
        </p:nvSpPr>
        <p:spPr>
          <a:xfrm>
            <a:off x="4109314" y="3738982"/>
            <a:ext cx="1932127" cy="2097634"/>
          </a:xfrm>
          <a:prstGeom prst="roundRect">
            <a:avLst>
              <a:gd name="adj" fmla="val 1656"/>
            </a:avLst>
          </a:prstGeom>
          <a:solidFill>
            <a:srgbClr val="FFFFFF"/>
          </a:solidFill>
          <a:ln w="10795">
            <a:solidFill>
              <a:srgbClr val="9AA0A6"/>
            </a:solidFill>
            <a:prstDash val="solid"/>
          </a:ln>
        </p:spPr>
      </p:sp>
      <p:sp>
        <p:nvSpPr>
          <p:cNvPr id="17" name="Text 15"/>
          <p:cNvSpPr/>
          <p:nvPr/>
        </p:nvSpPr>
        <p:spPr>
          <a:xfrm>
            <a:off x="4155034" y="3757270"/>
            <a:ext cx="1255471" cy="146304"/>
          </a:xfrm>
          <a:prstGeom prst="rect">
            <a:avLst/>
          </a:prstGeom>
          <a:noFill/>
          <a:ln/>
        </p:spPr>
        <p:txBody>
          <a:bodyPr wrap="square" lIns="0" tIns="0" rIns="0" bIns="0" rtlCol="0" anchor="t">
            <a:normAutofit/>
          </a:bodyPr>
          <a:lstStyle/>
          <a:p>
            <a:pPr algn="l" indent="0" marL="0">
              <a:lnSpc>
                <a:spcPct val="88000"/>
              </a:lnSpc>
              <a:buNone/>
            </a:pPr>
            <a:r>
              <a:rPr lang="en-US" sz="385" b="1" dirty="0">
                <a:solidFill>
                  <a:srgbClr val="202124"/>
                </a:solidFill>
                <a:latin typeface="Arial" pitchFamily="34" charset="0"/>
                <a:ea typeface="Arial" pitchFamily="34" charset="-122"/>
                <a:cs typeface="Arial" pitchFamily="34" charset="-120"/>
              </a:rPr>
              <a:t>Triad Pillar 2 (High Density): Pattern A Pooled FinOps &amp; COGS Engine</a:t>
            </a:r>
            <a:endParaRPr lang="en-US" sz="385" dirty="0"/>
          </a:p>
        </p:txBody>
      </p:sp>
      <p:sp>
        <p:nvSpPr>
          <p:cNvPr id="18" name="Shape 16"/>
          <p:cNvSpPr/>
          <p:nvPr/>
        </p:nvSpPr>
        <p:spPr>
          <a:xfrm>
            <a:off x="6146597" y="3738982"/>
            <a:ext cx="1932127" cy="2097634"/>
          </a:xfrm>
          <a:prstGeom prst="roundRect">
            <a:avLst>
              <a:gd name="adj" fmla="val 1656"/>
            </a:avLst>
          </a:prstGeom>
          <a:solidFill>
            <a:srgbClr val="FFFFFF"/>
          </a:solidFill>
          <a:ln w="10795">
            <a:solidFill>
              <a:srgbClr val="9AA0A6"/>
            </a:solidFill>
            <a:prstDash val="solid"/>
          </a:ln>
        </p:spPr>
      </p:sp>
      <p:sp>
        <p:nvSpPr>
          <p:cNvPr id="19" name="Text 17"/>
          <p:cNvSpPr/>
          <p:nvPr/>
        </p:nvSpPr>
        <p:spPr>
          <a:xfrm>
            <a:off x="6192317" y="3757270"/>
            <a:ext cx="1255471" cy="146304"/>
          </a:xfrm>
          <a:prstGeom prst="rect">
            <a:avLst/>
          </a:prstGeom>
          <a:noFill/>
          <a:ln/>
        </p:spPr>
        <p:txBody>
          <a:bodyPr wrap="square" lIns="0" tIns="0" rIns="0" bIns="0" rtlCol="0" anchor="t">
            <a:normAutofit/>
          </a:bodyPr>
          <a:lstStyle/>
          <a:p>
            <a:pPr algn="l" indent="0" marL="0">
              <a:lnSpc>
                <a:spcPct val="88000"/>
              </a:lnSpc>
              <a:buNone/>
            </a:pPr>
            <a:r>
              <a:rPr lang="en-US" sz="385" b="1" dirty="0">
                <a:solidFill>
                  <a:srgbClr val="202124"/>
                </a:solidFill>
                <a:latin typeface="Arial" pitchFamily="34" charset="0"/>
                <a:ea typeface="Arial" pitchFamily="34" charset="-122"/>
                <a:cs typeface="Arial" pitchFamily="34" charset="-120"/>
              </a:rPr>
              <a:t>Triad Pillar 2 (Regulated Scale): Pattern B Silos ($$$) &amp; Pattern C Hybrid ($$)</a:t>
            </a:r>
            <a:endParaRPr lang="en-US" sz="385" dirty="0"/>
          </a:p>
        </p:txBody>
      </p:sp>
      <p:sp>
        <p:nvSpPr>
          <p:cNvPr id="20" name="Shape 18"/>
          <p:cNvSpPr/>
          <p:nvPr/>
        </p:nvSpPr>
        <p:spPr>
          <a:xfrm>
            <a:off x="4169664" y="3873398"/>
            <a:ext cx="1812341" cy="1902866"/>
          </a:xfrm>
          <a:prstGeom prst="roundRect">
            <a:avLst>
              <a:gd name="adj" fmla="val 1766"/>
            </a:avLst>
          </a:prstGeom>
          <a:solidFill>
            <a:srgbClr val="FEEFC3"/>
          </a:solidFill>
          <a:ln w="10795">
            <a:solidFill>
              <a:srgbClr val="9AA0A6"/>
            </a:solidFill>
            <a:prstDash val="solid"/>
          </a:ln>
        </p:spPr>
      </p:sp>
      <p:sp>
        <p:nvSpPr>
          <p:cNvPr id="21" name="Text 19"/>
          <p:cNvSpPr/>
          <p:nvPr/>
        </p:nvSpPr>
        <p:spPr>
          <a:xfrm>
            <a:off x="4215384" y="3891686"/>
            <a:ext cx="1730045" cy="256032"/>
          </a:xfrm>
          <a:prstGeom prst="rect">
            <a:avLst/>
          </a:prstGeom>
          <a:noFill/>
          <a:ln/>
        </p:spPr>
        <p:txBody>
          <a:bodyPr wrap="square" lIns="0" tIns="0" rIns="0" bIns="0" rtlCol="0" anchor="t">
            <a:normAutofit/>
          </a:bodyPr>
          <a:lstStyle/>
          <a:p>
            <a:pPr algn="l" indent="0" marL="0">
              <a:lnSpc>
                <a:spcPct val="88000"/>
              </a:lnSpc>
              <a:buNone/>
            </a:pPr>
            <a:r>
              <a:rPr lang="en-US" sz="540" b="1" dirty="0">
                <a:solidFill>
                  <a:srgbClr val="202124"/>
                </a:solidFill>
                <a:latin typeface="Arial" pitchFamily="34" charset="0"/>
                <a:ea typeface="Arial" pitchFamily="34" charset="-122"/>
                <a:cs typeface="Arial" pitchFamily="34" charset="-120"/>
              </a:rPr>
              <a:t>Pattern A: Pooled Unit Economics</a:t>
            </a:r>
            <a:endParaRPr lang="en-US" sz="540" dirty="0"/>
          </a:p>
          <a:p>
            <a:pPr algn="l" indent="0" marL="0">
              <a:lnSpc>
                <a:spcPct val="88000"/>
              </a:lnSpc>
              <a:buNone/>
            </a:pPr>
            <a:r>
              <a:rPr lang="en-US" sz="450" dirty="0">
                <a:solidFill>
                  <a:srgbClr val="202124"/>
                </a:solidFill>
                <a:latin typeface="Arial" pitchFamily="34" charset="0"/>
                <a:ea typeface="Arial" pitchFamily="34" charset="-122"/>
                <a:cs typeface="Arial" pitchFamily="34" charset="-120"/>
              </a:rPr>
              <a:t>Lowest COGS ($) • 84.7% Net Input Token Savings</a:t>
            </a:r>
            <a:endParaRPr lang="en-US" sz="540" dirty="0"/>
          </a:p>
        </p:txBody>
      </p:sp>
      <p:sp>
        <p:nvSpPr>
          <p:cNvPr id="22" name="Shape 20"/>
          <p:cNvSpPr/>
          <p:nvPr/>
        </p:nvSpPr>
        <p:spPr>
          <a:xfrm>
            <a:off x="6206947" y="3873398"/>
            <a:ext cx="1812341" cy="1902866"/>
          </a:xfrm>
          <a:prstGeom prst="roundRect">
            <a:avLst>
              <a:gd name="adj" fmla="val 1766"/>
            </a:avLst>
          </a:prstGeom>
          <a:solidFill>
            <a:srgbClr val="FAD2CF"/>
          </a:solidFill>
          <a:ln w="10795">
            <a:solidFill>
              <a:srgbClr val="9AA0A6"/>
            </a:solidFill>
            <a:prstDash val="solid"/>
          </a:ln>
        </p:spPr>
      </p:sp>
      <p:sp>
        <p:nvSpPr>
          <p:cNvPr id="23" name="Text 21"/>
          <p:cNvSpPr/>
          <p:nvPr/>
        </p:nvSpPr>
        <p:spPr>
          <a:xfrm>
            <a:off x="6252667" y="3891686"/>
            <a:ext cx="1730045" cy="256032"/>
          </a:xfrm>
          <a:prstGeom prst="rect">
            <a:avLst/>
          </a:prstGeom>
          <a:noFill/>
          <a:ln/>
        </p:spPr>
        <p:txBody>
          <a:bodyPr wrap="square" lIns="0" tIns="0" rIns="0" bIns="0" rtlCol="0" anchor="t">
            <a:normAutofit/>
          </a:bodyPr>
          <a:lstStyle/>
          <a:p>
            <a:pPr algn="l" indent="0" marL="0">
              <a:lnSpc>
                <a:spcPct val="88000"/>
              </a:lnSpc>
              <a:buNone/>
            </a:pPr>
            <a:r>
              <a:rPr lang="en-US" sz="540" b="1" dirty="0">
                <a:solidFill>
                  <a:srgbClr val="202124"/>
                </a:solidFill>
                <a:latin typeface="Arial" pitchFamily="34" charset="0"/>
                <a:ea typeface="Arial" pitchFamily="34" charset="-122"/>
                <a:cs typeface="Arial" pitchFamily="34" charset="-120"/>
              </a:rPr>
              <a:t>Pattern B Silos &amp; Pattern C PSC Spokes</a:t>
            </a:r>
            <a:endParaRPr lang="en-US" sz="540" dirty="0"/>
          </a:p>
          <a:p>
            <a:pPr algn="l" indent="0" marL="0">
              <a:lnSpc>
                <a:spcPct val="88000"/>
              </a:lnSpc>
              <a:buNone/>
            </a:pPr>
            <a:r>
              <a:rPr lang="en-US" sz="450" dirty="0">
                <a:solidFill>
                  <a:srgbClr val="202124"/>
                </a:solidFill>
                <a:latin typeface="Arial" pitchFamily="34" charset="0"/>
                <a:ea typeface="Arial" pitchFamily="34" charset="-122"/>
                <a:cs typeface="Arial" pitchFamily="34" charset="-120"/>
              </a:rPr>
              <a:t>Zero Blast Radius + Zero-Downtime Tier Promotion</a:t>
            </a:r>
            <a:endParaRPr lang="en-US" sz="540" dirty="0"/>
          </a:p>
        </p:txBody>
      </p:sp>
      <p:sp>
        <p:nvSpPr>
          <p:cNvPr id="24" name="Shape 22"/>
          <p:cNvSpPr/>
          <p:nvPr/>
        </p:nvSpPr>
        <p:spPr>
          <a:xfrm>
            <a:off x="4101998" y="2113178"/>
            <a:ext cx="2487168" cy="1236269"/>
          </a:xfrm>
          <a:prstGeom prst="roundRect">
            <a:avLst>
              <a:gd name="adj" fmla="val 2589"/>
            </a:avLst>
          </a:prstGeom>
          <a:solidFill>
            <a:srgbClr val="AECBFA"/>
          </a:solidFill>
          <a:ln w="10795">
            <a:solidFill>
              <a:srgbClr val="9AA0A6"/>
            </a:solidFill>
            <a:prstDash val="solid"/>
          </a:ln>
        </p:spPr>
      </p:sp>
      <p:sp>
        <p:nvSpPr>
          <p:cNvPr id="25" name="Text 23"/>
          <p:cNvSpPr/>
          <p:nvPr/>
        </p:nvSpPr>
        <p:spPr>
          <a:xfrm>
            <a:off x="4147718" y="2131466"/>
            <a:ext cx="2404872" cy="256032"/>
          </a:xfrm>
          <a:prstGeom prst="rect">
            <a:avLst/>
          </a:prstGeom>
          <a:noFill/>
          <a:ln/>
        </p:spPr>
        <p:txBody>
          <a:bodyPr wrap="square" lIns="0" tIns="0" rIns="0" bIns="0" rtlCol="0" anchor="t">
            <a:normAutofit/>
          </a:bodyPr>
          <a:lstStyle/>
          <a:p>
            <a:pPr algn="l" indent="0" marL="0">
              <a:lnSpc>
                <a:spcPct val="88000"/>
              </a:lnSpc>
              <a:buNone/>
            </a:pPr>
            <a:r>
              <a:rPr lang="en-US" sz="480" b="1" dirty="0">
                <a:solidFill>
                  <a:srgbClr val="202124"/>
                </a:solidFill>
                <a:latin typeface="Arial" pitchFamily="34" charset="0"/>
                <a:ea typeface="Arial" pitchFamily="34" charset="-122"/>
                <a:cs typeface="Arial" pitchFamily="34" charset="-120"/>
              </a:rPr>
              <a:t>Triad Pillar 1: Zero-Trust Cryptographic Security</a:t>
            </a:r>
            <a:endParaRPr lang="en-US" sz="480" dirty="0"/>
          </a:p>
          <a:p>
            <a:pPr algn="l" indent="0" marL="0">
              <a:lnSpc>
                <a:spcPct val="88000"/>
              </a:lnSpc>
              <a:buNone/>
            </a:pPr>
            <a:r>
              <a:rPr lang="en-US" sz="410" dirty="0">
                <a:solidFill>
                  <a:srgbClr val="202124"/>
                </a:solidFill>
                <a:latin typeface="Arial" pitchFamily="34" charset="0"/>
                <a:ea typeface="Arial" pitchFamily="34" charset="-122"/>
                <a:cs typeface="Arial" pitchFamily="34" charset="-120"/>
              </a:rPr>
              <a:t>5-Hop Context Chain across Ingress, Catalog &amp; Runtime</a:t>
            </a:r>
            <a:endParaRPr lang="en-US" sz="480" dirty="0"/>
          </a:p>
        </p:txBody>
      </p:sp>
      <p:sp>
        <p:nvSpPr>
          <p:cNvPr id="26" name="Shape 24"/>
          <p:cNvSpPr/>
          <p:nvPr/>
        </p:nvSpPr>
        <p:spPr>
          <a:xfrm>
            <a:off x="6836054" y="2143354"/>
            <a:ext cx="1228039" cy="1198778"/>
          </a:xfrm>
          <a:prstGeom prst="roundRect">
            <a:avLst>
              <a:gd name="adj" fmla="val 2670"/>
            </a:avLst>
          </a:prstGeom>
          <a:solidFill>
            <a:srgbClr val="CEEAD6"/>
          </a:solidFill>
          <a:ln w="10795">
            <a:solidFill>
              <a:srgbClr val="9AA0A6"/>
            </a:solidFill>
            <a:prstDash val="solid"/>
          </a:ln>
        </p:spPr>
      </p:sp>
      <p:sp>
        <p:nvSpPr>
          <p:cNvPr id="27" name="Text 25"/>
          <p:cNvSpPr/>
          <p:nvPr/>
        </p:nvSpPr>
        <p:spPr>
          <a:xfrm>
            <a:off x="6881774" y="2161642"/>
            <a:ext cx="1145743" cy="146304"/>
          </a:xfrm>
          <a:prstGeom prst="rect">
            <a:avLst/>
          </a:prstGeom>
          <a:noFill/>
          <a:ln/>
        </p:spPr>
        <p:txBody>
          <a:bodyPr wrap="square" lIns="0" tIns="0" rIns="0" bIns="0" rtlCol="0" anchor="t">
            <a:normAutofit/>
          </a:bodyPr>
          <a:lstStyle/>
          <a:p>
            <a:pPr algn="l" indent="0" marL="0">
              <a:lnSpc>
                <a:spcPct val="88000"/>
              </a:lnSpc>
              <a:buNone/>
            </a:pPr>
            <a:r>
              <a:rPr lang="en-US" sz="460" b="1" dirty="0">
                <a:solidFill>
                  <a:srgbClr val="202124"/>
                </a:solidFill>
                <a:latin typeface="Arial" pitchFamily="34" charset="0"/>
                <a:ea typeface="Arial" pitchFamily="34" charset="-122"/>
                <a:cs typeface="Arial" pitchFamily="34" charset="-120"/>
              </a:rPr>
              <a:t>Triad Pillar 3: Privacy- Preserving OTel &amp; Chargeback</a:t>
            </a:r>
            <a:endParaRPr lang="en-US" sz="460" dirty="0"/>
          </a:p>
        </p:txBody>
      </p:sp>
      <p:pic>
        <p:nvPicPr>
          <p:cNvPr id="28" name="Image 0" descr="preencoded.png">    </p:cNvPr>
          <p:cNvPicPr>
            <a:picLocks noChangeAspect="1"/>
          </p:cNvPicPr>
          <p:nvPr/>
        </p:nvPicPr>
        <p:blipFill>
          <a:blip r:embed="rId1"/>
          <a:stretch>
            <a:fillRect/>
          </a:stretch>
        </p:blipFill>
        <p:spPr>
          <a:xfrm>
            <a:off x="3982212" y="1707185"/>
            <a:ext cx="561442" cy="100584"/>
          </a:xfrm>
          <a:prstGeom prst="rect">
            <a:avLst/>
          </a:prstGeom>
        </p:spPr>
      </p:pic>
      <p:sp>
        <p:nvSpPr>
          <p:cNvPr id="29" name="Shape 26"/>
          <p:cNvSpPr/>
          <p:nvPr/>
        </p:nvSpPr>
        <p:spPr>
          <a:xfrm>
            <a:off x="5967374" y="1364285"/>
            <a:ext cx="0" cy="1093622"/>
          </a:xfrm>
          <a:prstGeom prst="line">
            <a:avLst/>
          </a:prstGeom>
          <a:noFill/>
          <a:ln w="12700">
            <a:solidFill>
              <a:srgbClr val="5F6368"/>
            </a:solidFill>
            <a:prstDash val="solid"/>
            <a:tailEnd type="triangle" w="sm" len="sm"/>
          </a:ln>
        </p:spPr>
      </p:sp>
      <p:sp>
        <p:nvSpPr>
          <p:cNvPr id="30" name="Shape 27"/>
          <p:cNvSpPr/>
          <p:nvPr/>
        </p:nvSpPr>
        <p:spPr>
          <a:xfrm flipV="1">
            <a:off x="6139282" y="1371600"/>
            <a:ext cx="0" cy="1093622"/>
          </a:xfrm>
          <a:prstGeom prst="line">
            <a:avLst/>
          </a:prstGeom>
          <a:noFill/>
          <a:ln w="12700">
            <a:solidFill>
              <a:srgbClr val="5F6368"/>
            </a:solidFill>
            <a:prstDash val="solid"/>
            <a:tailEnd type="triangle" w="sm" len="sm"/>
          </a:ln>
        </p:spPr>
      </p:sp>
      <p:sp>
        <p:nvSpPr>
          <p:cNvPr id="31" name="Shape 28"/>
          <p:cNvSpPr/>
          <p:nvPr/>
        </p:nvSpPr>
        <p:spPr>
          <a:xfrm flipH="1">
            <a:off x="5413248" y="2607869"/>
            <a:ext cx="127102" cy="0"/>
          </a:xfrm>
          <a:prstGeom prst="line">
            <a:avLst/>
          </a:prstGeom>
          <a:noFill/>
          <a:ln w="12700">
            <a:solidFill>
              <a:srgbClr val="5F6368"/>
            </a:solidFill>
            <a:prstDash val="solid"/>
          </a:ln>
        </p:spPr>
      </p:sp>
      <p:sp>
        <p:nvSpPr>
          <p:cNvPr id="32" name="Shape 29"/>
          <p:cNvSpPr/>
          <p:nvPr/>
        </p:nvSpPr>
        <p:spPr>
          <a:xfrm flipV="1">
            <a:off x="5413248" y="2461565"/>
            <a:ext cx="0" cy="146304"/>
          </a:xfrm>
          <a:prstGeom prst="line">
            <a:avLst/>
          </a:prstGeom>
          <a:noFill/>
          <a:ln w="12700">
            <a:solidFill>
              <a:srgbClr val="5F6368"/>
            </a:solidFill>
            <a:prstDash val="solid"/>
          </a:ln>
        </p:spPr>
      </p:sp>
      <p:sp>
        <p:nvSpPr>
          <p:cNvPr id="33" name="Shape 30"/>
          <p:cNvSpPr/>
          <p:nvPr/>
        </p:nvSpPr>
        <p:spPr>
          <a:xfrm flipH="1">
            <a:off x="4941418" y="2461565"/>
            <a:ext cx="471830" cy="0"/>
          </a:xfrm>
          <a:prstGeom prst="line">
            <a:avLst/>
          </a:prstGeom>
          <a:noFill/>
          <a:ln w="12700">
            <a:solidFill>
              <a:srgbClr val="5F6368"/>
            </a:solidFill>
            <a:prstDash val="solid"/>
            <a:tailEnd type="triangle" w="sm" len="sm"/>
          </a:ln>
        </p:spPr>
      </p:sp>
      <p:sp>
        <p:nvSpPr>
          <p:cNvPr id="34" name="Shape 31"/>
          <p:cNvSpPr/>
          <p:nvPr/>
        </p:nvSpPr>
        <p:spPr>
          <a:xfrm flipH="1">
            <a:off x="5413248" y="2607869"/>
            <a:ext cx="127102" cy="0"/>
          </a:xfrm>
          <a:prstGeom prst="line">
            <a:avLst/>
          </a:prstGeom>
          <a:noFill/>
          <a:ln w="12700">
            <a:solidFill>
              <a:srgbClr val="5F6368"/>
            </a:solidFill>
            <a:prstDash val="solid"/>
          </a:ln>
        </p:spPr>
      </p:sp>
      <p:sp>
        <p:nvSpPr>
          <p:cNvPr id="35" name="Shape 32"/>
          <p:cNvSpPr/>
          <p:nvPr/>
        </p:nvSpPr>
        <p:spPr>
          <a:xfrm>
            <a:off x="5413248" y="2607869"/>
            <a:ext cx="0" cy="168250"/>
          </a:xfrm>
          <a:prstGeom prst="line">
            <a:avLst/>
          </a:prstGeom>
          <a:noFill/>
          <a:ln w="12700">
            <a:solidFill>
              <a:srgbClr val="5F6368"/>
            </a:solidFill>
            <a:prstDash val="solid"/>
          </a:ln>
        </p:spPr>
      </p:sp>
      <p:sp>
        <p:nvSpPr>
          <p:cNvPr id="36" name="Shape 33"/>
          <p:cNvSpPr/>
          <p:nvPr/>
        </p:nvSpPr>
        <p:spPr>
          <a:xfrm flipH="1">
            <a:off x="4941418" y="2776118"/>
            <a:ext cx="471830" cy="0"/>
          </a:xfrm>
          <a:prstGeom prst="line">
            <a:avLst/>
          </a:prstGeom>
          <a:noFill/>
          <a:ln w="12700">
            <a:solidFill>
              <a:srgbClr val="5F6368"/>
            </a:solidFill>
            <a:prstDash val="solid"/>
            <a:tailEnd type="triangle" w="sm" len="sm"/>
          </a:ln>
        </p:spPr>
      </p:sp>
      <p:sp>
        <p:nvSpPr>
          <p:cNvPr id="37" name="Shape 34"/>
          <p:cNvSpPr/>
          <p:nvPr/>
        </p:nvSpPr>
        <p:spPr>
          <a:xfrm>
            <a:off x="4941418" y="3143707"/>
            <a:ext cx="688543" cy="0"/>
          </a:xfrm>
          <a:prstGeom prst="line">
            <a:avLst/>
          </a:prstGeom>
          <a:noFill/>
          <a:ln w="12700">
            <a:solidFill>
              <a:srgbClr val="5F6368"/>
            </a:solidFill>
            <a:prstDash val="solid"/>
            <a:headEnd type="triangle" w="sm" len="sm"/>
            <a:tailEnd type="triangle" w="sm" len="sm"/>
          </a:ln>
        </p:spPr>
      </p:sp>
      <p:sp>
        <p:nvSpPr>
          <p:cNvPr id="38" name="Shape 35"/>
          <p:cNvSpPr/>
          <p:nvPr/>
        </p:nvSpPr>
        <p:spPr>
          <a:xfrm>
            <a:off x="5967374" y="2750515"/>
            <a:ext cx="0" cy="269748"/>
          </a:xfrm>
          <a:prstGeom prst="line">
            <a:avLst/>
          </a:prstGeom>
          <a:noFill/>
          <a:ln w="12700">
            <a:solidFill>
              <a:srgbClr val="5F6368"/>
            </a:solidFill>
            <a:prstDash val="solid"/>
            <a:tailEnd type="triangle" w="sm" len="sm"/>
          </a:ln>
        </p:spPr>
      </p:sp>
      <p:sp>
        <p:nvSpPr>
          <p:cNvPr id="39" name="Shape 36"/>
          <p:cNvSpPr/>
          <p:nvPr/>
        </p:nvSpPr>
        <p:spPr>
          <a:xfrm flipV="1">
            <a:off x="6139282" y="2750515"/>
            <a:ext cx="0" cy="269748"/>
          </a:xfrm>
          <a:prstGeom prst="line">
            <a:avLst/>
          </a:prstGeom>
          <a:noFill/>
          <a:ln w="12700">
            <a:solidFill>
              <a:srgbClr val="5F6368"/>
            </a:solidFill>
            <a:prstDash val="solid"/>
            <a:tailEnd type="triangle" w="sm" len="sm"/>
          </a:ln>
        </p:spPr>
      </p:sp>
      <p:sp>
        <p:nvSpPr>
          <p:cNvPr id="40" name="Shape 37"/>
          <p:cNvSpPr/>
          <p:nvPr/>
        </p:nvSpPr>
        <p:spPr>
          <a:xfrm flipV="1">
            <a:off x="5529377" y="3633826"/>
            <a:ext cx="0" cy="673913"/>
          </a:xfrm>
          <a:prstGeom prst="line">
            <a:avLst/>
          </a:prstGeom>
          <a:noFill/>
          <a:ln w="12700">
            <a:solidFill>
              <a:srgbClr val="5F6368"/>
            </a:solidFill>
            <a:prstDash val="solid"/>
          </a:ln>
        </p:spPr>
      </p:sp>
      <p:sp>
        <p:nvSpPr>
          <p:cNvPr id="41" name="Shape 38"/>
          <p:cNvSpPr/>
          <p:nvPr/>
        </p:nvSpPr>
        <p:spPr>
          <a:xfrm>
            <a:off x="5529377" y="3633826"/>
            <a:ext cx="512978" cy="0"/>
          </a:xfrm>
          <a:prstGeom prst="line">
            <a:avLst/>
          </a:prstGeom>
          <a:noFill/>
          <a:ln w="12700">
            <a:solidFill>
              <a:srgbClr val="5F6368"/>
            </a:solidFill>
            <a:prstDash val="solid"/>
          </a:ln>
        </p:spPr>
      </p:sp>
      <p:sp>
        <p:nvSpPr>
          <p:cNvPr id="42" name="Shape 39"/>
          <p:cNvSpPr/>
          <p:nvPr/>
        </p:nvSpPr>
        <p:spPr>
          <a:xfrm flipV="1">
            <a:off x="6042355" y="3267151"/>
            <a:ext cx="0" cy="366674"/>
          </a:xfrm>
          <a:prstGeom prst="line">
            <a:avLst/>
          </a:prstGeom>
          <a:noFill/>
          <a:ln w="12700">
            <a:solidFill>
              <a:srgbClr val="5F6368"/>
            </a:solidFill>
            <a:prstDash val="solid"/>
            <a:tailEnd type="triangle" w="sm" len="sm"/>
          </a:ln>
        </p:spPr>
      </p:sp>
      <p:sp>
        <p:nvSpPr>
          <p:cNvPr id="43" name="Shape 40"/>
          <p:cNvSpPr/>
          <p:nvPr/>
        </p:nvSpPr>
        <p:spPr>
          <a:xfrm flipV="1">
            <a:off x="5529377" y="3633826"/>
            <a:ext cx="0" cy="673913"/>
          </a:xfrm>
          <a:prstGeom prst="line">
            <a:avLst/>
          </a:prstGeom>
          <a:noFill/>
          <a:ln w="12700">
            <a:solidFill>
              <a:srgbClr val="5F6368"/>
            </a:solidFill>
            <a:prstDash val="solid"/>
            <a:headEnd type="triangle" w="sm" len="sm"/>
          </a:ln>
        </p:spPr>
      </p:sp>
      <p:sp>
        <p:nvSpPr>
          <p:cNvPr id="44" name="Shape 41"/>
          <p:cNvSpPr/>
          <p:nvPr/>
        </p:nvSpPr>
        <p:spPr>
          <a:xfrm>
            <a:off x="5529377" y="3633826"/>
            <a:ext cx="2037283" cy="0"/>
          </a:xfrm>
          <a:prstGeom prst="line">
            <a:avLst/>
          </a:prstGeom>
          <a:noFill/>
          <a:ln w="12700">
            <a:solidFill>
              <a:srgbClr val="5F6368"/>
            </a:solidFill>
            <a:prstDash val="solid"/>
          </a:ln>
        </p:spPr>
      </p:sp>
      <p:sp>
        <p:nvSpPr>
          <p:cNvPr id="45" name="Shape 42"/>
          <p:cNvSpPr/>
          <p:nvPr/>
        </p:nvSpPr>
        <p:spPr>
          <a:xfrm>
            <a:off x="7566660" y="3633826"/>
            <a:ext cx="0" cy="673913"/>
          </a:xfrm>
          <a:prstGeom prst="line">
            <a:avLst/>
          </a:prstGeom>
          <a:noFill/>
          <a:ln w="12700">
            <a:solidFill>
              <a:srgbClr val="5F6368"/>
            </a:solidFill>
            <a:prstDash val="solid"/>
            <a:tailEnd type="triangle" w="sm" len="sm"/>
          </a:ln>
        </p:spPr>
      </p:sp>
      <p:sp>
        <p:nvSpPr>
          <p:cNvPr id="46" name="Shape 43"/>
          <p:cNvSpPr/>
          <p:nvPr/>
        </p:nvSpPr>
        <p:spPr>
          <a:xfrm flipV="1">
            <a:off x="5075834" y="3581705"/>
            <a:ext cx="0" cy="157277"/>
          </a:xfrm>
          <a:prstGeom prst="line">
            <a:avLst/>
          </a:prstGeom>
          <a:noFill/>
          <a:ln w="12700">
            <a:solidFill>
              <a:srgbClr val="5F6368"/>
            </a:solidFill>
            <a:prstDash val="dash"/>
            <a:headEnd type="triangle" w="sm" len="sm"/>
          </a:ln>
        </p:spPr>
      </p:sp>
      <p:sp>
        <p:nvSpPr>
          <p:cNvPr id="47" name="Shape 44"/>
          <p:cNvSpPr/>
          <p:nvPr/>
        </p:nvSpPr>
        <p:spPr>
          <a:xfrm>
            <a:off x="5075834" y="3581705"/>
            <a:ext cx="2374697" cy="0"/>
          </a:xfrm>
          <a:prstGeom prst="line">
            <a:avLst/>
          </a:prstGeom>
          <a:noFill/>
          <a:ln w="12700">
            <a:solidFill>
              <a:srgbClr val="5F6368"/>
            </a:solidFill>
            <a:prstDash val="dash"/>
          </a:ln>
        </p:spPr>
      </p:sp>
      <p:sp>
        <p:nvSpPr>
          <p:cNvPr id="48" name="Shape 45"/>
          <p:cNvSpPr/>
          <p:nvPr/>
        </p:nvSpPr>
        <p:spPr>
          <a:xfrm flipV="1">
            <a:off x="7450531" y="3342132"/>
            <a:ext cx="0" cy="239573"/>
          </a:xfrm>
          <a:prstGeom prst="line">
            <a:avLst/>
          </a:prstGeom>
          <a:noFill/>
          <a:ln w="12700">
            <a:solidFill>
              <a:srgbClr val="5F6368"/>
            </a:solidFill>
            <a:prstDash val="dash"/>
            <a:tailEnd type="triangle" w="sm" len="sm"/>
          </a:ln>
        </p:spPr>
      </p:sp>
      <p:sp>
        <p:nvSpPr>
          <p:cNvPr id="49" name="Shape 46"/>
          <p:cNvSpPr/>
          <p:nvPr/>
        </p:nvSpPr>
        <p:spPr>
          <a:xfrm>
            <a:off x="7450531" y="3342132"/>
            <a:ext cx="0" cy="239573"/>
          </a:xfrm>
          <a:prstGeom prst="line">
            <a:avLst/>
          </a:prstGeom>
          <a:noFill/>
          <a:ln w="12700">
            <a:solidFill>
              <a:srgbClr val="5F6368"/>
            </a:solidFill>
            <a:prstDash val="dash"/>
          </a:ln>
        </p:spPr>
      </p:sp>
      <p:sp>
        <p:nvSpPr>
          <p:cNvPr id="50" name="Shape 47"/>
          <p:cNvSpPr/>
          <p:nvPr/>
        </p:nvSpPr>
        <p:spPr>
          <a:xfrm flipH="1">
            <a:off x="7113118" y="3581705"/>
            <a:ext cx="337414" cy="0"/>
          </a:xfrm>
          <a:prstGeom prst="line">
            <a:avLst/>
          </a:prstGeom>
          <a:noFill/>
          <a:ln w="12700">
            <a:solidFill>
              <a:srgbClr val="5F6368"/>
            </a:solidFill>
            <a:prstDash val="dash"/>
          </a:ln>
        </p:spPr>
      </p:sp>
      <p:sp>
        <p:nvSpPr>
          <p:cNvPr id="51" name="Shape 48"/>
          <p:cNvSpPr/>
          <p:nvPr/>
        </p:nvSpPr>
        <p:spPr>
          <a:xfrm>
            <a:off x="7113118" y="3581705"/>
            <a:ext cx="0" cy="157277"/>
          </a:xfrm>
          <a:prstGeom prst="line">
            <a:avLst/>
          </a:prstGeom>
          <a:noFill/>
          <a:ln w="12700">
            <a:solidFill>
              <a:srgbClr val="5F6368"/>
            </a:solidFill>
            <a:prstDash val="dash"/>
            <a:tailEnd type="triangle" w="sm" len="sm"/>
          </a:ln>
        </p:spPr>
      </p:sp>
      <p:sp>
        <p:nvSpPr>
          <p:cNvPr id="52" name="Shape 49"/>
          <p:cNvSpPr/>
          <p:nvPr/>
        </p:nvSpPr>
        <p:spPr>
          <a:xfrm>
            <a:off x="4933188" y="4255618"/>
            <a:ext cx="82296" cy="0"/>
          </a:xfrm>
          <a:prstGeom prst="line">
            <a:avLst/>
          </a:prstGeom>
          <a:noFill/>
          <a:ln w="12700">
            <a:solidFill>
              <a:srgbClr val="5F6368"/>
            </a:solidFill>
            <a:prstDash val="solid"/>
          </a:ln>
        </p:spPr>
      </p:sp>
      <p:sp>
        <p:nvSpPr>
          <p:cNvPr id="53" name="Shape 50"/>
          <p:cNvSpPr/>
          <p:nvPr/>
        </p:nvSpPr>
        <p:spPr>
          <a:xfrm>
            <a:off x="5015484" y="4255618"/>
            <a:ext cx="0" cy="127102"/>
          </a:xfrm>
          <a:prstGeom prst="line">
            <a:avLst/>
          </a:prstGeom>
          <a:noFill/>
          <a:ln w="12700">
            <a:solidFill>
              <a:srgbClr val="5F6368"/>
            </a:solidFill>
            <a:prstDash val="solid"/>
          </a:ln>
        </p:spPr>
      </p:sp>
      <p:sp>
        <p:nvSpPr>
          <p:cNvPr id="54" name="Shape 51"/>
          <p:cNvSpPr/>
          <p:nvPr/>
        </p:nvSpPr>
        <p:spPr>
          <a:xfrm>
            <a:off x="5015484" y="4382719"/>
            <a:ext cx="112471" cy="0"/>
          </a:xfrm>
          <a:prstGeom prst="line">
            <a:avLst/>
          </a:prstGeom>
          <a:noFill/>
          <a:ln w="12700">
            <a:solidFill>
              <a:srgbClr val="5F6368"/>
            </a:solidFill>
            <a:prstDash val="solid"/>
          </a:ln>
        </p:spPr>
      </p:sp>
      <p:sp>
        <p:nvSpPr>
          <p:cNvPr id="55" name="Shape 52"/>
          <p:cNvSpPr/>
          <p:nvPr/>
        </p:nvSpPr>
        <p:spPr>
          <a:xfrm>
            <a:off x="4933188" y="5139842"/>
            <a:ext cx="112471" cy="0"/>
          </a:xfrm>
          <a:prstGeom prst="line">
            <a:avLst/>
          </a:prstGeom>
          <a:noFill/>
          <a:ln w="12700">
            <a:solidFill>
              <a:srgbClr val="5F6368"/>
            </a:solidFill>
            <a:prstDash val="solid"/>
          </a:ln>
        </p:spPr>
      </p:sp>
      <p:sp>
        <p:nvSpPr>
          <p:cNvPr id="56" name="Shape 53"/>
          <p:cNvSpPr/>
          <p:nvPr/>
        </p:nvSpPr>
        <p:spPr>
          <a:xfrm flipV="1">
            <a:off x="5045659" y="4502506"/>
            <a:ext cx="0" cy="637337"/>
          </a:xfrm>
          <a:prstGeom prst="line">
            <a:avLst/>
          </a:prstGeom>
          <a:noFill/>
          <a:ln w="12700">
            <a:solidFill>
              <a:srgbClr val="5F6368"/>
            </a:solidFill>
            <a:prstDash val="solid"/>
          </a:ln>
        </p:spPr>
      </p:sp>
      <p:sp>
        <p:nvSpPr>
          <p:cNvPr id="57" name="Shape 54"/>
          <p:cNvSpPr/>
          <p:nvPr/>
        </p:nvSpPr>
        <p:spPr>
          <a:xfrm>
            <a:off x="5045659" y="4502506"/>
            <a:ext cx="82296" cy="0"/>
          </a:xfrm>
          <a:prstGeom prst="line">
            <a:avLst/>
          </a:prstGeom>
          <a:noFill/>
          <a:ln w="12700">
            <a:solidFill>
              <a:srgbClr val="5F6368"/>
            </a:solidFill>
            <a:prstDash val="solid"/>
          </a:ln>
        </p:spPr>
      </p:sp>
      <p:sp>
        <p:nvSpPr>
          <p:cNvPr id="58" name="Shape 55"/>
          <p:cNvSpPr/>
          <p:nvPr/>
        </p:nvSpPr>
        <p:spPr>
          <a:xfrm flipV="1">
            <a:off x="5529377" y="4795114"/>
            <a:ext cx="0" cy="52121"/>
          </a:xfrm>
          <a:prstGeom prst="line">
            <a:avLst/>
          </a:prstGeom>
          <a:noFill/>
          <a:ln w="12700">
            <a:solidFill>
              <a:srgbClr val="5F6368"/>
            </a:solidFill>
            <a:prstDash val="solid"/>
          </a:ln>
        </p:spPr>
      </p:sp>
      <p:sp>
        <p:nvSpPr>
          <p:cNvPr id="59" name="Shape 56"/>
          <p:cNvSpPr/>
          <p:nvPr/>
        </p:nvSpPr>
        <p:spPr>
          <a:xfrm flipV="1">
            <a:off x="5529377" y="4593031"/>
            <a:ext cx="0" cy="52121"/>
          </a:xfrm>
          <a:prstGeom prst="line">
            <a:avLst/>
          </a:prstGeom>
          <a:noFill/>
          <a:ln w="12700">
            <a:solidFill>
              <a:srgbClr val="5F6368"/>
            </a:solidFill>
            <a:prstDash val="solid"/>
            <a:tailEnd type="triangle" w="sm" len="sm"/>
          </a:ln>
        </p:spPr>
      </p:sp>
      <p:sp>
        <p:nvSpPr>
          <p:cNvPr id="60" name="Shape 57"/>
          <p:cNvSpPr/>
          <p:nvPr/>
        </p:nvSpPr>
        <p:spPr>
          <a:xfrm flipV="1">
            <a:off x="5529377" y="5356555"/>
            <a:ext cx="0" cy="53035"/>
          </a:xfrm>
          <a:prstGeom prst="line">
            <a:avLst/>
          </a:prstGeom>
          <a:noFill/>
          <a:ln w="12700">
            <a:solidFill>
              <a:srgbClr val="5F6368"/>
            </a:solidFill>
            <a:prstDash val="solid"/>
          </a:ln>
        </p:spPr>
      </p:sp>
      <p:sp>
        <p:nvSpPr>
          <p:cNvPr id="61" name="Shape 58"/>
          <p:cNvSpPr/>
          <p:nvPr/>
        </p:nvSpPr>
        <p:spPr>
          <a:xfrm flipV="1">
            <a:off x="5529377" y="5131613"/>
            <a:ext cx="0" cy="53035"/>
          </a:xfrm>
          <a:prstGeom prst="line">
            <a:avLst/>
          </a:prstGeom>
          <a:noFill/>
          <a:ln w="12700">
            <a:solidFill>
              <a:srgbClr val="5F6368"/>
            </a:solidFill>
            <a:prstDash val="solid"/>
            <a:tailEnd type="triangle" w="sm" len="sm"/>
          </a:ln>
        </p:spPr>
      </p:sp>
      <p:sp>
        <p:nvSpPr>
          <p:cNvPr id="62" name="Shape 59"/>
          <p:cNvSpPr/>
          <p:nvPr/>
        </p:nvSpPr>
        <p:spPr>
          <a:xfrm>
            <a:off x="6970471" y="4255618"/>
            <a:ext cx="82296" cy="0"/>
          </a:xfrm>
          <a:prstGeom prst="line">
            <a:avLst/>
          </a:prstGeom>
          <a:noFill/>
          <a:ln w="12700">
            <a:solidFill>
              <a:srgbClr val="5F6368"/>
            </a:solidFill>
            <a:prstDash val="solid"/>
          </a:ln>
        </p:spPr>
      </p:sp>
      <p:sp>
        <p:nvSpPr>
          <p:cNvPr id="63" name="Shape 60"/>
          <p:cNvSpPr/>
          <p:nvPr/>
        </p:nvSpPr>
        <p:spPr>
          <a:xfrm>
            <a:off x="7052767" y="4255618"/>
            <a:ext cx="0" cy="127102"/>
          </a:xfrm>
          <a:prstGeom prst="line">
            <a:avLst/>
          </a:prstGeom>
          <a:noFill/>
          <a:ln w="12700">
            <a:solidFill>
              <a:srgbClr val="5F6368"/>
            </a:solidFill>
            <a:prstDash val="solid"/>
          </a:ln>
        </p:spPr>
      </p:sp>
      <p:sp>
        <p:nvSpPr>
          <p:cNvPr id="64" name="Shape 61"/>
          <p:cNvSpPr/>
          <p:nvPr/>
        </p:nvSpPr>
        <p:spPr>
          <a:xfrm>
            <a:off x="7052767" y="4382719"/>
            <a:ext cx="112471" cy="0"/>
          </a:xfrm>
          <a:prstGeom prst="line">
            <a:avLst/>
          </a:prstGeom>
          <a:noFill/>
          <a:ln w="12700">
            <a:solidFill>
              <a:srgbClr val="5F6368"/>
            </a:solidFill>
            <a:prstDash val="solid"/>
          </a:ln>
        </p:spPr>
      </p:sp>
      <p:sp>
        <p:nvSpPr>
          <p:cNvPr id="65" name="Shape 62"/>
          <p:cNvSpPr/>
          <p:nvPr/>
        </p:nvSpPr>
        <p:spPr>
          <a:xfrm>
            <a:off x="6970471" y="4637837"/>
            <a:ext cx="112471" cy="0"/>
          </a:xfrm>
          <a:prstGeom prst="line">
            <a:avLst/>
          </a:prstGeom>
          <a:noFill/>
          <a:ln w="12700">
            <a:solidFill>
              <a:srgbClr val="5F6368"/>
            </a:solidFill>
            <a:prstDash val="solid"/>
          </a:ln>
        </p:spPr>
      </p:sp>
      <p:sp>
        <p:nvSpPr>
          <p:cNvPr id="66" name="Shape 63"/>
          <p:cNvSpPr/>
          <p:nvPr/>
        </p:nvSpPr>
        <p:spPr>
          <a:xfrm flipV="1">
            <a:off x="7082942" y="4502506"/>
            <a:ext cx="0" cy="135331"/>
          </a:xfrm>
          <a:prstGeom prst="line">
            <a:avLst/>
          </a:prstGeom>
          <a:noFill/>
          <a:ln w="12700">
            <a:solidFill>
              <a:srgbClr val="5F6368"/>
            </a:solidFill>
            <a:prstDash val="solid"/>
          </a:ln>
        </p:spPr>
      </p:sp>
      <p:sp>
        <p:nvSpPr>
          <p:cNvPr id="67" name="Shape 64"/>
          <p:cNvSpPr/>
          <p:nvPr/>
        </p:nvSpPr>
        <p:spPr>
          <a:xfrm>
            <a:off x="7082942" y="4502506"/>
            <a:ext cx="82296" cy="0"/>
          </a:xfrm>
          <a:prstGeom prst="line">
            <a:avLst/>
          </a:prstGeom>
          <a:noFill/>
          <a:ln w="12700">
            <a:solidFill>
              <a:srgbClr val="5F6368"/>
            </a:solidFill>
            <a:prstDash val="solid"/>
          </a:ln>
        </p:spPr>
      </p:sp>
      <p:sp>
        <p:nvSpPr>
          <p:cNvPr id="68" name="Shape 65"/>
          <p:cNvSpPr/>
          <p:nvPr/>
        </p:nvSpPr>
        <p:spPr>
          <a:xfrm flipV="1">
            <a:off x="7566660" y="4795114"/>
            <a:ext cx="0" cy="52121"/>
          </a:xfrm>
          <a:prstGeom prst="line">
            <a:avLst/>
          </a:prstGeom>
          <a:noFill/>
          <a:ln w="12700">
            <a:solidFill>
              <a:srgbClr val="5F6368"/>
            </a:solidFill>
            <a:prstDash val="solid"/>
          </a:ln>
        </p:spPr>
      </p:sp>
      <p:sp>
        <p:nvSpPr>
          <p:cNvPr id="69" name="Shape 66"/>
          <p:cNvSpPr/>
          <p:nvPr/>
        </p:nvSpPr>
        <p:spPr>
          <a:xfrm flipV="1">
            <a:off x="7566660" y="4593031"/>
            <a:ext cx="0" cy="52121"/>
          </a:xfrm>
          <a:prstGeom prst="line">
            <a:avLst/>
          </a:prstGeom>
          <a:noFill/>
          <a:ln w="12700">
            <a:solidFill>
              <a:srgbClr val="5F6368"/>
            </a:solidFill>
            <a:prstDash val="solid"/>
            <a:tailEnd type="triangle" w="sm" len="sm"/>
          </a:ln>
        </p:spPr>
      </p:sp>
      <p:sp>
        <p:nvSpPr>
          <p:cNvPr id="70" name="Shape 67"/>
          <p:cNvSpPr/>
          <p:nvPr/>
        </p:nvSpPr>
        <p:spPr>
          <a:xfrm flipV="1">
            <a:off x="7566660" y="5356555"/>
            <a:ext cx="0" cy="53035"/>
          </a:xfrm>
          <a:prstGeom prst="line">
            <a:avLst/>
          </a:prstGeom>
          <a:noFill/>
          <a:ln w="12700">
            <a:solidFill>
              <a:srgbClr val="5F6368"/>
            </a:solidFill>
            <a:prstDash val="solid"/>
          </a:ln>
        </p:spPr>
      </p:sp>
      <p:sp>
        <p:nvSpPr>
          <p:cNvPr id="71" name="Shape 68"/>
          <p:cNvSpPr/>
          <p:nvPr/>
        </p:nvSpPr>
        <p:spPr>
          <a:xfrm flipV="1">
            <a:off x="7566660" y="5131613"/>
            <a:ext cx="0" cy="53035"/>
          </a:xfrm>
          <a:prstGeom prst="line">
            <a:avLst/>
          </a:prstGeom>
          <a:noFill/>
          <a:ln w="12700">
            <a:solidFill>
              <a:srgbClr val="5F6368"/>
            </a:solidFill>
            <a:prstDash val="solid"/>
            <a:tailEnd type="triangle" w="sm" len="sm"/>
          </a:ln>
        </p:spPr>
      </p:sp>
      <p:sp>
        <p:nvSpPr>
          <p:cNvPr id="72" name="Shape 69"/>
          <p:cNvSpPr/>
          <p:nvPr/>
        </p:nvSpPr>
        <p:spPr>
          <a:xfrm>
            <a:off x="5588813" y="1042416"/>
            <a:ext cx="936346" cy="321869"/>
          </a:xfrm>
          <a:prstGeom prst="roundRect">
            <a:avLst>
              <a:gd name="adj" fmla="val 12784"/>
            </a:avLst>
          </a:prstGeom>
          <a:solidFill>
            <a:srgbClr val="FFFFFF"/>
          </a:solidFill>
          <a:ln w="10795">
            <a:solidFill>
              <a:srgbClr val="DADCE0"/>
            </a:solidFill>
            <a:prstDash val="solid"/>
          </a:ln>
        </p:spPr>
      </p:sp>
      <p:pic>
        <p:nvPicPr>
          <p:cNvPr id="73" name="Image 1" descr="preencoded.png">    </p:cNvPr>
          <p:cNvPicPr>
            <a:picLocks noChangeAspect="1"/>
          </p:cNvPicPr>
          <p:nvPr/>
        </p:nvPicPr>
        <p:blipFill>
          <a:blip r:embed="rId2"/>
          <a:stretch>
            <a:fillRect/>
          </a:stretch>
        </p:blipFill>
        <p:spPr>
          <a:xfrm>
            <a:off x="5629961" y="1132942"/>
            <a:ext cx="141732" cy="141732"/>
          </a:xfrm>
          <a:prstGeom prst="rect">
            <a:avLst/>
          </a:prstGeom>
        </p:spPr>
      </p:pic>
      <p:sp>
        <p:nvSpPr>
          <p:cNvPr id="74" name="Text 70"/>
          <p:cNvSpPr/>
          <p:nvPr/>
        </p:nvSpPr>
        <p:spPr>
          <a:xfrm>
            <a:off x="5808269" y="1051560"/>
            <a:ext cx="680314" cy="303581"/>
          </a:xfrm>
          <a:prstGeom prst="rect">
            <a:avLst/>
          </a:prstGeom>
          <a:noFill/>
          <a:ln/>
        </p:spPr>
        <p:txBody>
          <a:bodyPr wrap="square" lIns="0" tIns="0" rIns="0" bIns="0" rtlCol="0" anchor="ctr">
            <a:normAutofit/>
          </a:bodyPr>
          <a:lstStyle/>
          <a:p>
            <a:pPr algn="l" indent="0" marL="0">
              <a:lnSpc>
                <a:spcPct val="88000"/>
              </a:lnSpc>
              <a:buNone/>
            </a:pPr>
            <a:r>
              <a:rPr lang="en-US" sz="560" b="1" dirty="0">
                <a:solidFill>
                  <a:srgbClr val="202124"/>
                </a:solidFill>
                <a:latin typeface="Arial" pitchFamily="34" charset="0"/>
                <a:ea typeface="Arial" pitchFamily="34" charset="-122"/>
                <a:cs typeface="Arial" pitchFamily="34" charset="-120"/>
              </a:rPr>
              <a:t>Enterprise &amp; SMB Users</a:t>
            </a:r>
            <a:endParaRPr lang="en-US" sz="560" dirty="0"/>
          </a:p>
          <a:p>
            <a:pPr algn="l" indent="0" marL="0">
              <a:lnSpc>
                <a:spcPct val="88000"/>
              </a:lnSpc>
              <a:buNone/>
            </a:pPr>
            <a:r>
              <a:rPr lang="en-US" sz="480" dirty="0">
                <a:solidFill>
                  <a:srgbClr val="3C4043"/>
                </a:solidFill>
                <a:latin typeface="Arial" pitchFamily="34" charset="0"/>
                <a:ea typeface="Arial" pitchFamily="34" charset="-122"/>
                <a:cs typeface="Arial" pitchFamily="34" charset="-120"/>
              </a:rPr>
              <a:t>10,000+ Multi-Tier Tenants</a:t>
            </a:r>
            <a:endParaRPr lang="en-US" sz="560" dirty="0"/>
          </a:p>
        </p:txBody>
      </p:sp>
      <p:sp>
        <p:nvSpPr>
          <p:cNvPr id="75" name="Shape 71"/>
          <p:cNvSpPr/>
          <p:nvPr/>
        </p:nvSpPr>
        <p:spPr>
          <a:xfrm>
            <a:off x="5540350" y="2465222"/>
            <a:ext cx="981151" cy="284378"/>
          </a:xfrm>
          <a:prstGeom prst="roundRect">
            <a:avLst>
              <a:gd name="adj" fmla="val 14469"/>
            </a:avLst>
          </a:prstGeom>
          <a:solidFill>
            <a:srgbClr val="FFFFFF"/>
          </a:solidFill>
          <a:ln w="10795">
            <a:solidFill>
              <a:srgbClr val="DADCE0"/>
            </a:solidFill>
            <a:prstDash val="solid"/>
          </a:ln>
        </p:spPr>
      </p:sp>
      <p:pic>
        <p:nvPicPr>
          <p:cNvPr id="76" name="Image 2" descr="preencoded.png">    </p:cNvPr>
          <p:cNvPicPr>
            <a:picLocks noChangeAspect="1"/>
          </p:cNvPicPr>
          <p:nvPr/>
        </p:nvPicPr>
        <p:blipFill>
          <a:blip r:embed="rId3"/>
          <a:stretch>
            <a:fillRect/>
          </a:stretch>
        </p:blipFill>
        <p:spPr>
          <a:xfrm>
            <a:off x="5576926" y="2516429"/>
            <a:ext cx="181966" cy="181966"/>
          </a:xfrm>
          <a:prstGeom prst="rect">
            <a:avLst/>
          </a:prstGeom>
        </p:spPr>
      </p:pic>
      <p:sp>
        <p:nvSpPr>
          <p:cNvPr id="77" name="Text 72"/>
          <p:cNvSpPr/>
          <p:nvPr/>
        </p:nvSpPr>
        <p:spPr>
          <a:xfrm>
            <a:off x="5795467" y="2474366"/>
            <a:ext cx="689458" cy="26609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External Application Load Balancer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Global Anycast Ingress</a:t>
            </a:r>
            <a:endParaRPr lang="en-US" sz="500" dirty="0"/>
          </a:p>
        </p:txBody>
      </p:sp>
      <p:sp>
        <p:nvSpPr>
          <p:cNvPr id="78" name="Shape 73"/>
          <p:cNvSpPr/>
          <p:nvPr/>
        </p:nvSpPr>
        <p:spPr>
          <a:xfrm>
            <a:off x="6932981" y="2368296"/>
            <a:ext cx="1033272" cy="269748"/>
          </a:xfrm>
          <a:prstGeom prst="roundRect">
            <a:avLst>
              <a:gd name="adj" fmla="val 15254"/>
            </a:avLst>
          </a:prstGeom>
          <a:solidFill>
            <a:srgbClr val="FFFFFF"/>
          </a:solidFill>
          <a:ln w="10795">
            <a:solidFill>
              <a:srgbClr val="DADCE0"/>
            </a:solidFill>
            <a:prstDash val="solid"/>
          </a:ln>
        </p:spPr>
      </p:sp>
      <p:pic>
        <p:nvPicPr>
          <p:cNvPr id="79" name="Image 3" descr="preencoded.png">    </p:cNvPr>
          <p:cNvPicPr>
            <a:picLocks noChangeAspect="1"/>
          </p:cNvPicPr>
          <p:nvPr/>
        </p:nvPicPr>
        <p:blipFill>
          <a:blip r:embed="rId4"/>
          <a:stretch>
            <a:fillRect/>
          </a:stretch>
        </p:blipFill>
        <p:spPr>
          <a:xfrm>
            <a:off x="6969557" y="2416759"/>
            <a:ext cx="172822" cy="172822"/>
          </a:xfrm>
          <a:prstGeom prst="rect">
            <a:avLst/>
          </a:prstGeom>
        </p:spPr>
      </p:pic>
      <p:sp>
        <p:nvSpPr>
          <p:cNvPr id="80" name="Text 74"/>
          <p:cNvSpPr/>
          <p:nvPr/>
        </p:nvSpPr>
        <p:spPr>
          <a:xfrm>
            <a:off x="7178954" y="2377440"/>
            <a:ext cx="750722" cy="25146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Security Command Center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Unified SIEM &amp; Audit Lineage</a:t>
            </a:r>
            <a:endParaRPr lang="en-US" sz="500" dirty="0"/>
          </a:p>
        </p:txBody>
      </p:sp>
      <p:sp>
        <p:nvSpPr>
          <p:cNvPr id="81" name="Shape 75"/>
          <p:cNvSpPr/>
          <p:nvPr/>
        </p:nvSpPr>
        <p:spPr>
          <a:xfrm>
            <a:off x="6948526" y="2997403"/>
            <a:ext cx="1004011" cy="255118"/>
          </a:xfrm>
          <a:prstGeom prst="roundRect">
            <a:avLst>
              <a:gd name="adj" fmla="val 16129"/>
            </a:avLst>
          </a:prstGeom>
          <a:solidFill>
            <a:srgbClr val="FFFFFF"/>
          </a:solidFill>
          <a:ln w="10795">
            <a:solidFill>
              <a:srgbClr val="DADCE0"/>
            </a:solidFill>
            <a:prstDash val="solid"/>
          </a:ln>
        </p:spPr>
      </p:sp>
      <p:pic>
        <p:nvPicPr>
          <p:cNvPr id="82" name="Image 4" descr="preencoded.png">    </p:cNvPr>
          <p:cNvPicPr>
            <a:picLocks noChangeAspect="1"/>
          </p:cNvPicPr>
          <p:nvPr/>
        </p:nvPicPr>
        <p:blipFill>
          <a:blip r:embed="rId5"/>
          <a:stretch>
            <a:fillRect/>
          </a:stretch>
        </p:blipFill>
        <p:spPr>
          <a:xfrm>
            <a:off x="6985102" y="3043123"/>
            <a:ext cx="163678" cy="163678"/>
          </a:xfrm>
          <a:prstGeom prst="rect">
            <a:avLst/>
          </a:prstGeom>
        </p:spPr>
      </p:pic>
      <p:sp>
        <p:nvSpPr>
          <p:cNvPr id="83" name="Text 76"/>
          <p:cNvSpPr/>
          <p:nvPr/>
        </p:nvSpPr>
        <p:spPr>
          <a:xfrm>
            <a:off x="7185355" y="3006547"/>
            <a:ext cx="730606" cy="23683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BigQuery OTel Sink</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Zero-PII Cryptographic Spans</a:t>
            </a:r>
            <a:endParaRPr lang="en-US" sz="500" dirty="0"/>
          </a:p>
        </p:txBody>
      </p:sp>
      <p:sp>
        <p:nvSpPr>
          <p:cNvPr id="84" name="Shape 77"/>
          <p:cNvSpPr/>
          <p:nvPr/>
        </p:nvSpPr>
        <p:spPr>
          <a:xfrm>
            <a:off x="6955841" y="2690165"/>
            <a:ext cx="988466" cy="255118"/>
          </a:xfrm>
          <a:prstGeom prst="roundRect">
            <a:avLst>
              <a:gd name="adj" fmla="val 16129"/>
            </a:avLst>
          </a:prstGeom>
          <a:solidFill>
            <a:srgbClr val="FFFFFF"/>
          </a:solidFill>
          <a:ln w="10795">
            <a:solidFill>
              <a:srgbClr val="DADCE0"/>
            </a:solidFill>
            <a:prstDash val="solid"/>
          </a:ln>
        </p:spPr>
      </p:sp>
      <p:pic>
        <p:nvPicPr>
          <p:cNvPr id="85" name="Image 5" descr="preencoded.png">    </p:cNvPr>
          <p:cNvPicPr>
            <a:picLocks noChangeAspect="1"/>
          </p:cNvPicPr>
          <p:nvPr/>
        </p:nvPicPr>
        <p:blipFill>
          <a:blip r:embed="rId6"/>
          <a:stretch>
            <a:fillRect/>
          </a:stretch>
        </p:blipFill>
        <p:spPr>
          <a:xfrm>
            <a:off x="6992417" y="2735885"/>
            <a:ext cx="163678" cy="163678"/>
          </a:xfrm>
          <a:prstGeom prst="rect">
            <a:avLst/>
          </a:prstGeom>
        </p:spPr>
      </p:pic>
      <p:sp>
        <p:nvSpPr>
          <p:cNvPr id="86" name="Text 78"/>
          <p:cNvSpPr/>
          <p:nvPr/>
        </p:nvSpPr>
        <p:spPr>
          <a:xfrm>
            <a:off x="7192670" y="2699309"/>
            <a:ext cx="715061" cy="23683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3 Chargeback Models</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Even, Proportional &amp; Tiered</a:t>
            </a:r>
            <a:endParaRPr lang="en-US" sz="500" dirty="0"/>
          </a:p>
        </p:txBody>
      </p:sp>
      <p:sp>
        <p:nvSpPr>
          <p:cNvPr id="87" name="Shape 79"/>
          <p:cNvSpPr/>
          <p:nvPr/>
        </p:nvSpPr>
        <p:spPr>
          <a:xfrm>
            <a:off x="5127955" y="4307738"/>
            <a:ext cx="801014" cy="277063"/>
          </a:xfrm>
          <a:prstGeom prst="roundRect">
            <a:avLst>
              <a:gd name="adj" fmla="val 14851"/>
            </a:avLst>
          </a:prstGeom>
          <a:solidFill>
            <a:srgbClr val="FFFFFF"/>
          </a:solidFill>
          <a:ln w="10795">
            <a:solidFill>
              <a:srgbClr val="DADCE0"/>
            </a:solidFill>
            <a:prstDash val="solid"/>
          </a:ln>
        </p:spPr>
      </p:sp>
      <p:pic>
        <p:nvPicPr>
          <p:cNvPr id="88" name="Image 6" descr="preencoded.png">    </p:cNvPr>
          <p:cNvPicPr>
            <a:picLocks noChangeAspect="1"/>
          </p:cNvPicPr>
          <p:nvPr/>
        </p:nvPicPr>
        <p:blipFill>
          <a:blip r:embed="rId7"/>
          <a:stretch>
            <a:fillRect/>
          </a:stretch>
        </p:blipFill>
        <p:spPr>
          <a:xfrm>
            <a:off x="5164531" y="4358030"/>
            <a:ext cx="177394" cy="177394"/>
          </a:xfrm>
          <a:prstGeom prst="rect">
            <a:avLst/>
          </a:prstGeom>
        </p:spPr>
      </p:pic>
      <p:sp>
        <p:nvSpPr>
          <p:cNvPr id="89" name="Text 80"/>
          <p:cNvSpPr/>
          <p:nvPr/>
        </p:nvSpPr>
        <p:spPr>
          <a:xfrm>
            <a:off x="5378501" y="4316882"/>
            <a:ext cx="513893" cy="258775"/>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Thinking Budget Cap</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Clamps 4k Std vs 8k Ent</a:t>
            </a:r>
            <a:endParaRPr lang="en-US" sz="500" dirty="0"/>
          </a:p>
        </p:txBody>
      </p:sp>
      <p:sp>
        <p:nvSpPr>
          <p:cNvPr id="90" name="Shape 81"/>
          <p:cNvSpPr/>
          <p:nvPr/>
        </p:nvSpPr>
        <p:spPr>
          <a:xfrm>
            <a:off x="5127955" y="4847234"/>
            <a:ext cx="801014" cy="277063"/>
          </a:xfrm>
          <a:prstGeom prst="roundRect">
            <a:avLst>
              <a:gd name="adj" fmla="val 14851"/>
            </a:avLst>
          </a:prstGeom>
          <a:solidFill>
            <a:srgbClr val="FFFFFF"/>
          </a:solidFill>
          <a:ln w="10795">
            <a:solidFill>
              <a:srgbClr val="DADCE0"/>
            </a:solidFill>
            <a:prstDash val="solid"/>
          </a:ln>
        </p:spPr>
      </p:sp>
      <p:pic>
        <p:nvPicPr>
          <p:cNvPr id="91" name="Image 7" descr="preencoded.png">    </p:cNvPr>
          <p:cNvPicPr>
            <a:picLocks noChangeAspect="1"/>
          </p:cNvPicPr>
          <p:nvPr/>
        </p:nvPicPr>
        <p:blipFill>
          <a:blip r:embed="rId8"/>
          <a:stretch>
            <a:fillRect/>
          </a:stretch>
        </p:blipFill>
        <p:spPr>
          <a:xfrm>
            <a:off x="5164531" y="4897526"/>
            <a:ext cx="177394" cy="177394"/>
          </a:xfrm>
          <a:prstGeom prst="rect">
            <a:avLst/>
          </a:prstGeom>
        </p:spPr>
      </p:pic>
      <p:sp>
        <p:nvSpPr>
          <p:cNvPr id="92" name="Text 82"/>
          <p:cNvSpPr/>
          <p:nvPr/>
        </p:nvSpPr>
        <p:spPr>
          <a:xfrm>
            <a:off x="5378501" y="4856378"/>
            <a:ext cx="513893" cy="258775"/>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2LO &amp; 3LO Auth Mgr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Scoped Per-Tenant Vault</a:t>
            </a:r>
            <a:endParaRPr lang="en-US" sz="500" dirty="0"/>
          </a:p>
        </p:txBody>
      </p:sp>
      <p:sp>
        <p:nvSpPr>
          <p:cNvPr id="93" name="Shape 83"/>
          <p:cNvSpPr/>
          <p:nvPr/>
        </p:nvSpPr>
        <p:spPr>
          <a:xfrm>
            <a:off x="5127955" y="5409590"/>
            <a:ext cx="801014" cy="277063"/>
          </a:xfrm>
          <a:prstGeom prst="roundRect">
            <a:avLst>
              <a:gd name="adj" fmla="val 14851"/>
            </a:avLst>
          </a:prstGeom>
          <a:solidFill>
            <a:srgbClr val="FFFFFF"/>
          </a:solidFill>
          <a:ln w="10795">
            <a:solidFill>
              <a:srgbClr val="DADCE0"/>
            </a:solidFill>
            <a:prstDash val="solid"/>
          </a:ln>
        </p:spPr>
      </p:sp>
      <p:pic>
        <p:nvPicPr>
          <p:cNvPr id="94" name="Image 8" descr="preencoded.png">    </p:cNvPr>
          <p:cNvPicPr>
            <a:picLocks noChangeAspect="1"/>
          </p:cNvPicPr>
          <p:nvPr/>
        </p:nvPicPr>
        <p:blipFill>
          <a:blip r:embed="rId9"/>
          <a:stretch>
            <a:fillRect/>
          </a:stretch>
        </p:blipFill>
        <p:spPr>
          <a:xfrm>
            <a:off x="5164531" y="5459882"/>
            <a:ext cx="177394" cy="177394"/>
          </a:xfrm>
          <a:prstGeom prst="rect">
            <a:avLst/>
          </a:prstGeom>
        </p:spPr>
      </p:pic>
      <p:sp>
        <p:nvSpPr>
          <p:cNvPr id="95" name="Text 84"/>
          <p:cNvSpPr/>
          <p:nvPr/>
        </p:nvSpPr>
        <p:spPr>
          <a:xfrm>
            <a:off x="5378501" y="5418734"/>
            <a:ext cx="513893" cy="258775"/>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AlloyDB RLS &amp; L1–L5</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Shared Storage Density</a:t>
            </a:r>
            <a:endParaRPr lang="en-US" sz="500" dirty="0"/>
          </a:p>
        </p:txBody>
      </p:sp>
      <p:sp>
        <p:nvSpPr>
          <p:cNvPr id="96" name="Shape 85"/>
          <p:cNvSpPr/>
          <p:nvPr/>
        </p:nvSpPr>
        <p:spPr>
          <a:xfrm>
            <a:off x="7165238" y="4307738"/>
            <a:ext cx="801014" cy="277063"/>
          </a:xfrm>
          <a:prstGeom prst="roundRect">
            <a:avLst>
              <a:gd name="adj" fmla="val 14851"/>
            </a:avLst>
          </a:prstGeom>
          <a:solidFill>
            <a:srgbClr val="FFFFFF"/>
          </a:solidFill>
          <a:ln w="10795">
            <a:solidFill>
              <a:srgbClr val="DADCE0"/>
            </a:solidFill>
            <a:prstDash val="solid"/>
          </a:ln>
        </p:spPr>
      </p:sp>
      <p:pic>
        <p:nvPicPr>
          <p:cNvPr id="97" name="Image 9" descr="preencoded.png">    </p:cNvPr>
          <p:cNvPicPr>
            <a:picLocks noChangeAspect="1"/>
          </p:cNvPicPr>
          <p:nvPr/>
        </p:nvPicPr>
        <p:blipFill>
          <a:blip r:embed="rId10"/>
          <a:stretch>
            <a:fillRect/>
          </a:stretch>
        </p:blipFill>
        <p:spPr>
          <a:xfrm>
            <a:off x="7201814" y="4358030"/>
            <a:ext cx="177394" cy="177394"/>
          </a:xfrm>
          <a:prstGeom prst="rect">
            <a:avLst/>
          </a:prstGeom>
        </p:spPr>
      </p:pic>
      <p:sp>
        <p:nvSpPr>
          <p:cNvPr id="98" name="Text 86"/>
          <p:cNvSpPr/>
          <p:nvPr/>
        </p:nvSpPr>
        <p:spPr>
          <a:xfrm>
            <a:off x="7415784" y="4316882"/>
            <a:ext cx="513893" cy="258775"/>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PSC Spoke Runtime</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3-Phase Live Tier Upgrade</a:t>
            </a:r>
            <a:endParaRPr lang="en-US" sz="500" dirty="0"/>
          </a:p>
        </p:txBody>
      </p:sp>
      <p:sp>
        <p:nvSpPr>
          <p:cNvPr id="99" name="Shape 87"/>
          <p:cNvSpPr/>
          <p:nvPr/>
        </p:nvSpPr>
        <p:spPr>
          <a:xfrm>
            <a:off x="7165238" y="4847234"/>
            <a:ext cx="801014" cy="277063"/>
          </a:xfrm>
          <a:prstGeom prst="roundRect">
            <a:avLst>
              <a:gd name="adj" fmla="val 14851"/>
            </a:avLst>
          </a:prstGeom>
          <a:solidFill>
            <a:srgbClr val="FFFFFF"/>
          </a:solidFill>
          <a:ln w="10795">
            <a:solidFill>
              <a:srgbClr val="DADCE0"/>
            </a:solidFill>
            <a:prstDash val="solid"/>
          </a:ln>
        </p:spPr>
      </p:sp>
      <p:pic>
        <p:nvPicPr>
          <p:cNvPr id="100" name="Image 10" descr="preencoded.png">    </p:cNvPr>
          <p:cNvPicPr>
            <a:picLocks noChangeAspect="1"/>
          </p:cNvPicPr>
          <p:nvPr/>
        </p:nvPicPr>
        <p:blipFill>
          <a:blip r:embed="rId11"/>
          <a:stretch>
            <a:fillRect/>
          </a:stretch>
        </p:blipFill>
        <p:spPr>
          <a:xfrm>
            <a:off x="7201814" y="4897526"/>
            <a:ext cx="177394" cy="177394"/>
          </a:xfrm>
          <a:prstGeom prst="rect">
            <a:avLst/>
          </a:prstGeom>
        </p:spPr>
      </p:pic>
      <p:sp>
        <p:nvSpPr>
          <p:cNvPr id="101" name="Text 88"/>
          <p:cNvSpPr/>
          <p:nvPr/>
        </p:nvSpPr>
        <p:spPr>
          <a:xfrm>
            <a:off x="7415784" y="4856378"/>
            <a:ext cx="513893" cy="258775"/>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Dedicated Silo MCP</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Zero Cross-Project Egress</a:t>
            </a:r>
            <a:endParaRPr lang="en-US" sz="500" dirty="0"/>
          </a:p>
        </p:txBody>
      </p:sp>
      <p:sp>
        <p:nvSpPr>
          <p:cNvPr id="102" name="Shape 89"/>
          <p:cNvSpPr/>
          <p:nvPr/>
        </p:nvSpPr>
        <p:spPr>
          <a:xfrm>
            <a:off x="7165238" y="5409590"/>
            <a:ext cx="801014" cy="277063"/>
          </a:xfrm>
          <a:prstGeom prst="roundRect">
            <a:avLst>
              <a:gd name="adj" fmla="val 14851"/>
            </a:avLst>
          </a:prstGeom>
          <a:solidFill>
            <a:srgbClr val="FFFFFF"/>
          </a:solidFill>
          <a:ln w="10795">
            <a:solidFill>
              <a:srgbClr val="DADCE0"/>
            </a:solidFill>
            <a:prstDash val="solid"/>
          </a:ln>
        </p:spPr>
      </p:sp>
      <p:pic>
        <p:nvPicPr>
          <p:cNvPr id="103" name="Image 11" descr="preencoded.png">    </p:cNvPr>
          <p:cNvPicPr>
            <a:picLocks noChangeAspect="1"/>
          </p:cNvPicPr>
          <p:nvPr/>
        </p:nvPicPr>
        <p:blipFill>
          <a:blip r:embed="rId12"/>
          <a:stretch>
            <a:fillRect/>
          </a:stretch>
        </p:blipFill>
        <p:spPr>
          <a:xfrm>
            <a:off x="7201814" y="5459882"/>
            <a:ext cx="177394" cy="177394"/>
          </a:xfrm>
          <a:prstGeom prst="rect">
            <a:avLst/>
          </a:prstGeom>
        </p:spPr>
      </p:pic>
      <p:sp>
        <p:nvSpPr>
          <p:cNvPr id="104" name="Text 90"/>
          <p:cNvSpPr/>
          <p:nvPr/>
        </p:nvSpPr>
        <p:spPr>
          <a:xfrm>
            <a:off x="7415784" y="5418734"/>
            <a:ext cx="513893" cy="258775"/>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Cloud KMS CMEK Lock</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Instant HTTP 423 Kill-Switch</a:t>
            </a:r>
            <a:endParaRPr lang="en-US" sz="500" dirty="0"/>
          </a:p>
        </p:txBody>
      </p:sp>
      <p:sp>
        <p:nvSpPr>
          <p:cNvPr id="105" name="Shape 91"/>
          <p:cNvSpPr/>
          <p:nvPr/>
        </p:nvSpPr>
        <p:spPr>
          <a:xfrm>
            <a:off x="5629961" y="3020263"/>
            <a:ext cx="838505" cy="246888"/>
          </a:xfrm>
          <a:prstGeom prst="roundRect">
            <a:avLst>
              <a:gd name="adj" fmla="val 16667"/>
            </a:avLst>
          </a:prstGeom>
          <a:solidFill>
            <a:srgbClr val="FFFFFF"/>
          </a:solidFill>
          <a:ln w="10795">
            <a:solidFill>
              <a:srgbClr val="DADCE0"/>
            </a:solidFill>
            <a:prstDash val="solid"/>
          </a:ln>
        </p:spPr>
      </p:sp>
      <p:pic>
        <p:nvPicPr>
          <p:cNvPr id="106" name="Image 12" descr="preencoded.png">    </p:cNvPr>
          <p:cNvPicPr>
            <a:picLocks noChangeAspect="1"/>
          </p:cNvPicPr>
          <p:nvPr/>
        </p:nvPicPr>
        <p:blipFill>
          <a:blip r:embed="rId13"/>
          <a:stretch>
            <a:fillRect/>
          </a:stretch>
        </p:blipFill>
        <p:spPr>
          <a:xfrm>
            <a:off x="5666537" y="3065069"/>
            <a:ext cx="158191" cy="158191"/>
          </a:xfrm>
          <a:prstGeom prst="rect">
            <a:avLst/>
          </a:prstGeom>
        </p:spPr>
      </p:pic>
      <p:sp>
        <p:nvSpPr>
          <p:cNvPr id="107" name="Text 92"/>
          <p:cNvSpPr/>
          <p:nvPr/>
        </p:nvSpPr>
        <p:spPr>
          <a:xfrm>
            <a:off x="5861304" y="3029407"/>
            <a:ext cx="570586" cy="22860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Architecture Selector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Routes Pattern A, B or C</a:t>
            </a:r>
            <a:endParaRPr lang="en-US" sz="500" dirty="0"/>
          </a:p>
        </p:txBody>
      </p:sp>
      <p:sp>
        <p:nvSpPr>
          <p:cNvPr id="108" name="Shape 93"/>
          <p:cNvSpPr/>
          <p:nvPr/>
        </p:nvSpPr>
        <p:spPr>
          <a:xfrm>
            <a:off x="4207154" y="4121201"/>
            <a:ext cx="726948" cy="269748"/>
          </a:xfrm>
          <a:prstGeom prst="roundRect">
            <a:avLst>
              <a:gd name="adj" fmla="val 15254"/>
            </a:avLst>
          </a:prstGeom>
          <a:solidFill>
            <a:srgbClr val="FFFFFF"/>
          </a:solidFill>
          <a:ln w="10795">
            <a:solidFill>
              <a:srgbClr val="DADCE0"/>
            </a:solidFill>
            <a:prstDash val="solid"/>
          </a:ln>
        </p:spPr>
      </p:sp>
      <p:pic>
        <p:nvPicPr>
          <p:cNvPr id="109" name="Image 13" descr="preencoded.png">    </p:cNvPr>
          <p:cNvPicPr>
            <a:picLocks noChangeAspect="1"/>
          </p:cNvPicPr>
          <p:nvPr/>
        </p:nvPicPr>
        <p:blipFill>
          <a:blip r:embed="rId14"/>
          <a:stretch>
            <a:fillRect/>
          </a:stretch>
        </p:blipFill>
        <p:spPr>
          <a:xfrm>
            <a:off x="4243730" y="4169664"/>
            <a:ext cx="172822" cy="172822"/>
          </a:xfrm>
          <a:prstGeom prst="rect">
            <a:avLst/>
          </a:prstGeom>
        </p:spPr>
      </p:pic>
      <p:sp>
        <p:nvSpPr>
          <p:cNvPr id="110" name="Text 94"/>
          <p:cNvSpPr/>
          <p:nvPr/>
        </p:nvSpPr>
        <p:spPr>
          <a:xfrm>
            <a:off x="4453128" y="4130345"/>
            <a:ext cx="444398" cy="25146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Valkey Rate Bulkhead</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120 RPM Std / 600 RPM Ent</a:t>
            </a:r>
            <a:endParaRPr lang="en-US" sz="500" dirty="0"/>
          </a:p>
        </p:txBody>
      </p:sp>
      <p:sp>
        <p:nvSpPr>
          <p:cNvPr id="111" name="Shape 95"/>
          <p:cNvSpPr/>
          <p:nvPr/>
        </p:nvSpPr>
        <p:spPr>
          <a:xfrm>
            <a:off x="4207154" y="5004511"/>
            <a:ext cx="726948" cy="269748"/>
          </a:xfrm>
          <a:prstGeom prst="roundRect">
            <a:avLst>
              <a:gd name="adj" fmla="val 15254"/>
            </a:avLst>
          </a:prstGeom>
          <a:solidFill>
            <a:srgbClr val="FFFFFF"/>
          </a:solidFill>
          <a:ln w="10795">
            <a:solidFill>
              <a:srgbClr val="DADCE0"/>
            </a:solidFill>
            <a:prstDash val="solid"/>
          </a:ln>
        </p:spPr>
      </p:sp>
      <p:pic>
        <p:nvPicPr>
          <p:cNvPr id="112" name="Image 14" descr="preencoded.png">    </p:cNvPr>
          <p:cNvPicPr>
            <a:picLocks noChangeAspect="1"/>
          </p:cNvPicPr>
          <p:nvPr/>
        </p:nvPicPr>
        <p:blipFill>
          <a:blip r:embed="rId15"/>
          <a:stretch>
            <a:fillRect/>
          </a:stretch>
        </p:blipFill>
        <p:spPr>
          <a:xfrm>
            <a:off x="4243730" y="5052974"/>
            <a:ext cx="172822" cy="172822"/>
          </a:xfrm>
          <a:prstGeom prst="rect">
            <a:avLst/>
          </a:prstGeom>
        </p:spPr>
      </p:pic>
      <p:sp>
        <p:nvSpPr>
          <p:cNvPr id="113" name="Text 96"/>
          <p:cNvSpPr/>
          <p:nvPr/>
        </p:nvSpPr>
        <p:spPr>
          <a:xfrm>
            <a:off x="4453128" y="5013655"/>
            <a:ext cx="444398" cy="25146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ContextCacheConfig</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90% Discount on 32k Prefix</a:t>
            </a:r>
            <a:endParaRPr lang="en-US" sz="500" dirty="0"/>
          </a:p>
        </p:txBody>
      </p:sp>
      <p:sp>
        <p:nvSpPr>
          <p:cNvPr id="114" name="Shape 97"/>
          <p:cNvSpPr/>
          <p:nvPr/>
        </p:nvSpPr>
        <p:spPr>
          <a:xfrm>
            <a:off x="6244438" y="4121201"/>
            <a:ext cx="726948" cy="269748"/>
          </a:xfrm>
          <a:prstGeom prst="roundRect">
            <a:avLst>
              <a:gd name="adj" fmla="val 15254"/>
            </a:avLst>
          </a:prstGeom>
          <a:solidFill>
            <a:srgbClr val="FFFFFF"/>
          </a:solidFill>
          <a:ln w="10795">
            <a:solidFill>
              <a:srgbClr val="DADCE0"/>
            </a:solidFill>
            <a:prstDash val="solid"/>
          </a:ln>
        </p:spPr>
      </p:sp>
      <p:pic>
        <p:nvPicPr>
          <p:cNvPr id="115" name="Image 15" descr="preencoded.png">    </p:cNvPr>
          <p:cNvPicPr>
            <a:picLocks noChangeAspect="1"/>
          </p:cNvPicPr>
          <p:nvPr/>
        </p:nvPicPr>
        <p:blipFill>
          <a:blip r:embed="rId16"/>
          <a:stretch>
            <a:fillRect/>
          </a:stretch>
        </p:blipFill>
        <p:spPr>
          <a:xfrm>
            <a:off x="6281014" y="4169664"/>
            <a:ext cx="172822" cy="172822"/>
          </a:xfrm>
          <a:prstGeom prst="rect">
            <a:avLst/>
          </a:prstGeom>
        </p:spPr>
      </p:pic>
      <p:sp>
        <p:nvSpPr>
          <p:cNvPr id="116" name="Text 98"/>
          <p:cNvSpPr/>
          <p:nvPr/>
        </p:nvSpPr>
        <p:spPr>
          <a:xfrm>
            <a:off x="6490411" y="4130345"/>
            <a:ext cx="444398" cy="25146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VPC-SC &amp; IAM PAB</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Hard Perimeter Isolation</a:t>
            </a:r>
            <a:endParaRPr lang="en-US" sz="500" dirty="0"/>
          </a:p>
        </p:txBody>
      </p:sp>
      <p:sp>
        <p:nvSpPr>
          <p:cNvPr id="117" name="Shape 99"/>
          <p:cNvSpPr/>
          <p:nvPr/>
        </p:nvSpPr>
        <p:spPr>
          <a:xfrm>
            <a:off x="6244438" y="4502506"/>
            <a:ext cx="726948" cy="269748"/>
          </a:xfrm>
          <a:prstGeom prst="roundRect">
            <a:avLst>
              <a:gd name="adj" fmla="val 15254"/>
            </a:avLst>
          </a:prstGeom>
          <a:solidFill>
            <a:srgbClr val="FFFFFF"/>
          </a:solidFill>
          <a:ln w="10795">
            <a:solidFill>
              <a:srgbClr val="DADCE0"/>
            </a:solidFill>
            <a:prstDash val="solid"/>
          </a:ln>
        </p:spPr>
      </p:sp>
      <p:pic>
        <p:nvPicPr>
          <p:cNvPr id="118" name="Image 16" descr="preencoded.png">    </p:cNvPr>
          <p:cNvPicPr>
            <a:picLocks noChangeAspect="1"/>
          </p:cNvPicPr>
          <p:nvPr/>
        </p:nvPicPr>
        <p:blipFill>
          <a:blip r:embed="rId17"/>
          <a:stretch>
            <a:fillRect/>
          </a:stretch>
        </p:blipFill>
        <p:spPr>
          <a:xfrm>
            <a:off x="6281014" y="4550969"/>
            <a:ext cx="172822" cy="172822"/>
          </a:xfrm>
          <a:prstGeom prst="rect">
            <a:avLst/>
          </a:prstGeom>
        </p:spPr>
      </p:pic>
      <p:sp>
        <p:nvSpPr>
          <p:cNvPr id="119" name="Text 100"/>
          <p:cNvSpPr/>
          <p:nvPr/>
        </p:nvSpPr>
        <p:spPr>
          <a:xfrm>
            <a:off x="6490411" y="4511650"/>
            <a:ext cx="444398" cy="25146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Gemma 3 &amp; Claude 3.7</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Air-Gapped GKE &amp; Dedicated PT</a:t>
            </a:r>
            <a:endParaRPr lang="en-US" sz="500" dirty="0"/>
          </a:p>
        </p:txBody>
      </p:sp>
      <p:sp>
        <p:nvSpPr>
          <p:cNvPr id="120" name="Shape 101"/>
          <p:cNvSpPr/>
          <p:nvPr/>
        </p:nvSpPr>
        <p:spPr>
          <a:xfrm>
            <a:off x="4176979" y="2338121"/>
            <a:ext cx="764438" cy="246888"/>
          </a:xfrm>
          <a:prstGeom prst="roundRect">
            <a:avLst>
              <a:gd name="adj" fmla="val 16667"/>
            </a:avLst>
          </a:prstGeom>
          <a:solidFill>
            <a:srgbClr val="FFFFFF"/>
          </a:solidFill>
          <a:ln w="10795">
            <a:solidFill>
              <a:srgbClr val="DADCE0"/>
            </a:solidFill>
            <a:prstDash val="solid"/>
          </a:ln>
        </p:spPr>
      </p:sp>
      <p:pic>
        <p:nvPicPr>
          <p:cNvPr id="121" name="Image 17" descr="preencoded.png">    </p:cNvPr>
          <p:cNvPicPr>
            <a:picLocks noChangeAspect="1"/>
          </p:cNvPicPr>
          <p:nvPr/>
        </p:nvPicPr>
        <p:blipFill>
          <a:blip r:embed="rId18"/>
          <a:stretch>
            <a:fillRect/>
          </a:stretch>
        </p:blipFill>
        <p:spPr>
          <a:xfrm>
            <a:off x="4213555" y="2382926"/>
            <a:ext cx="158191" cy="158191"/>
          </a:xfrm>
          <a:prstGeom prst="rect">
            <a:avLst/>
          </a:prstGeom>
        </p:spPr>
      </p:pic>
      <p:sp>
        <p:nvSpPr>
          <p:cNvPr id="122" name="Text 102"/>
          <p:cNvSpPr/>
          <p:nvPr/>
        </p:nvSpPr>
        <p:spPr>
          <a:xfrm>
            <a:off x="4408322" y="2347265"/>
            <a:ext cx="496519" cy="22860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Hop 1: Edge PEP</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Header Strip + OBO + DPoP</a:t>
            </a:r>
            <a:endParaRPr lang="en-US" sz="500" dirty="0"/>
          </a:p>
        </p:txBody>
      </p:sp>
      <p:sp>
        <p:nvSpPr>
          <p:cNvPr id="123" name="Shape 103"/>
          <p:cNvSpPr/>
          <p:nvPr/>
        </p:nvSpPr>
        <p:spPr>
          <a:xfrm>
            <a:off x="4176979" y="2652674"/>
            <a:ext cx="764438" cy="246888"/>
          </a:xfrm>
          <a:prstGeom prst="roundRect">
            <a:avLst>
              <a:gd name="adj" fmla="val 16667"/>
            </a:avLst>
          </a:prstGeom>
          <a:solidFill>
            <a:srgbClr val="FFFFFF"/>
          </a:solidFill>
          <a:ln w="10795">
            <a:solidFill>
              <a:srgbClr val="DADCE0"/>
            </a:solidFill>
            <a:prstDash val="solid"/>
          </a:ln>
        </p:spPr>
      </p:sp>
      <p:pic>
        <p:nvPicPr>
          <p:cNvPr id="124" name="Image 18" descr="preencoded.png">    </p:cNvPr>
          <p:cNvPicPr>
            <a:picLocks noChangeAspect="1"/>
          </p:cNvPicPr>
          <p:nvPr/>
        </p:nvPicPr>
        <p:blipFill>
          <a:blip r:embed="rId19"/>
          <a:stretch>
            <a:fillRect/>
          </a:stretch>
        </p:blipFill>
        <p:spPr>
          <a:xfrm>
            <a:off x="4213555" y="2697480"/>
            <a:ext cx="158191" cy="158191"/>
          </a:xfrm>
          <a:prstGeom prst="rect">
            <a:avLst/>
          </a:prstGeom>
        </p:spPr>
      </p:pic>
      <p:sp>
        <p:nvSpPr>
          <p:cNvPr id="125" name="Text 104"/>
          <p:cNvSpPr/>
          <p:nvPr/>
        </p:nvSpPr>
        <p:spPr>
          <a:xfrm>
            <a:off x="4408322" y="2661818"/>
            <a:ext cx="496519" cy="22860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Hop 4: Model Armor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Injection 400 + Policy 422 + SDP</a:t>
            </a:r>
            <a:endParaRPr lang="en-US" sz="500" dirty="0"/>
          </a:p>
        </p:txBody>
      </p:sp>
      <p:sp>
        <p:nvSpPr>
          <p:cNvPr id="126" name="Shape 105"/>
          <p:cNvSpPr/>
          <p:nvPr/>
        </p:nvSpPr>
        <p:spPr>
          <a:xfrm>
            <a:off x="4207154" y="3020263"/>
            <a:ext cx="734263" cy="246888"/>
          </a:xfrm>
          <a:prstGeom prst="roundRect">
            <a:avLst>
              <a:gd name="adj" fmla="val 16667"/>
            </a:avLst>
          </a:prstGeom>
          <a:solidFill>
            <a:srgbClr val="FFFFFF"/>
          </a:solidFill>
          <a:ln w="10795">
            <a:solidFill>
              <a:srgbClr val="DADCE0"/>
            </a:solidFill>
            <a:prstDash val="solid"/>
          </a:ln>
        </p:spPr>
      </p:sp>
      <p:pic>
        <p:nvPicPr>
          <p:cNvPr id="127" name="Image 19" descr="preencoded.png">    </p:cNvPr>
          <p:cNvPicPr>
            <a:picLocks noChangeAspect="1"/>
          </p:cNvPicPr>
          <p:nvPr/>
        </p:nvPicPr>
        <p:blipFill>
          <a:blip r:embed="rId20"/>
          <a:stretch>
            <a:fillRect/>
          </a:stretch>
        </p:blipFill>
        <p:spPr>
          <a:xfrm>
            <a:off x="4243730" y="3065069"/>
            <a:ext cx="158191" cy="158191"/>
          </a:xfrm>
          <a:prstGeom prst="rect">
            <a:avLst/>
          </a:prstGeom>
        </p:spPr>
      </p:pic>
      <p:sp>
        <p:nvSpPr>
          <p:cNvPr id="128" name="Text 106"/>
          <p:cNvSpPr/>
          <p:nvPr/>
        </p:nvSpPr>
        <p:spPr>
          <a:xfrm>
            <a:off x="4438498" y="3029407"/>
            <a:ext cx="466344" cy="22860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Hop 2: Catalog PDP</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Discovery Catalog + Tool Prune</a:t>
            </a:r>
            <a:endParaRPr lang="en-US" sz="500" dirty="0"/>
          </a:p>
        </p:txBody>
      </p:sp>
      <p:sp>
        <p:nvSpPr>
          <p:cNvPr id="129" name="Text 107"/>
          <p:cNvSpPr/>
          <p:nvPr/>
        </p:nvSpPr>
        <p:spPr>
          <a:xfrm>
            <a:off x="7541057" y="3373222"/>
            <a:ext cx="546811" cy="161849"/>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Real-time COGS &amp;</a:t>
            </a:r>
            <a:endParaRPr lang="en-US" sz="500" dirty="0"/>
          </a:p>
          <a:p>
            <a:pPr algn="l" indent="0" marL="0">
              <a:lnSpc>
                <a:spcPct val="88000"/>
              </a:lnSpc>
              <a:buNone/>
            </a:pPr>
            <a:r>
              <a:rPr lang="en-US" sz="440" dirty="0">
                <a:solidFill>
                  <a:srgbClr val="202124"/>
                </a:solidFill>
                <a:latin typeface="Arial" pitchFamily="34" charset="0"/>
                <a:ea typeface="Arial" pitchFamily="34" charset="-122"/>
                <a:cs typeface="Arial" pitchFamily="34" charset="-120"/>
              </a:rPr>
              <a:t>security telemetry</a:t>
            </a:r>
            <a:endParaRPr lang="en-US" sz="500" dirty="0"/>
          </a:p>
        </p:txBody>
      </p:sp>
      <p:sp>
        <p:nvSpPr>
          <p:cNvPr id="130" name="Text 108"/>
          <p:cNvSpPr/>
          <p:nvPr/>
        </p:nvSpPr>
        <p:spPr>
          <a:xfrm>
            <a:off x="5237683" y="4654296"/>
            <a:ext cx="591617" cy="124358"/>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Zero Cache</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Bleed</a:t>
            </a:r>
            <a:endParaRPr lang="en-US" sz="500" dirty="0"/>
          </a:p>
        </p:txBody>
      </p:sp>
      <p:sp>
        <p:nvSpPr>
          <p:cNvPr id="131" name="Text 109"/>
          <p:cNvSpPr/>
          <p:nvPr/>
        </p:nvSpPr>
        <p:spPr>
          <a:xfrm>
            <a:off x="5237683" y="5201107"/>
            <a:ext cx="591617" cy="124358"/>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Storage-Engine</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RLS Policy</a:t>
            </a:r>
            <a:endParaRPr lang="en-US" sz="500" dirty="0"/>
          </a:p>
        </p:txBody>
      </p:sp>
      <p:sp>
        <p:nvSpPr>
          <p:cNvPr id="132" name="Text 110"/>
          <p:cNvSpPr/>
          <p:nvPr/>
        </p:nvSpPr>
        <p:spPr>
          <a:xfrm>
            <a:off x="7274966" y="4654296"/>
            <a:ext cx="591617" cy="124358"/>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Private PSC</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NAT Bridge</a:t>
            </a:r>
            <a:endParaRPr lang="en-US" sz="500" dirty="0"/>
          </a:p>
        </p:txBody>
      </p:sp>
      <p:sp>
        <p:nvSpPr>
          <p:cNvPr id="133" name="Text 111"/>
          <p:cNvSpPr/>
          <p:nvPr/>
        </p:nvSpPr>
        <p:spPr>
          <a:xfrm>
            <a:off x="7274966" y="5201107"/>
            <a:ext cx="591617" cy="124358"/>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Customer-Revocable</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CMEK Keys</a:t>
            </a:r>
            <a:endParaRPr lang="en-US" sz="500" dirty="0"/>
          </a:p>
        </p:txBody>
      </p:sp>
      <p:sp>
        <p:nvSpPr>
          <p:cNvPr id="134" name="Text 112"/>
          <p:cNvSpPr/>
          <p:nvPr/>
        </p:nvSpPr>
        <p:spPr>
          <a:xfrm>
            <a:off x="4432097" y="5328209"/>
            <a:ext cx="509321" cy="131674"/>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90% Cached</a:t>
            </a:r>
            <a:endParaRPr lang="en-US" sz="500" dirty="0"/>
          </a:p>
          <a:p>
            <a:pPr algn="l" indent="0" marL="0">
              <a:lnSpc>
                <a:spcPct val="88000"/>
              </a:lnSpc>
              <a:buNone/>
            </a:pPr>
            <a:r>
              <a:rPr lang="en-US" sz="440" dirty="0">
                <a:solidFill>
                  <a:srgbClr val="202124"/>
                </a:solidFill>
                <a:latin typeface="Arial" pitchFamily="34" charset="0"/>
                <a:ea typeface="Arial" pitchFamily="34" charset="-122"/>
                <a:cs typeface="Arial" pitchFamily="34" charset="-120"/>
              </a:rPr>
              <a:t>inference</a:t>
            </a:r>
            <a:endParaRPr lang="en-US" sz="500" dirty="0"/>
          </a:p>
        </p:txBody>
      </p:sp>
      <p:sp>
        <p:nvSpPr>
          <p:cNvPr id="135" name="Text 113"/>
          <p:cNvSpPr/>
          <p:nvPr/>
        </p:nvSpPr>
        <p:spPr>
          <a:xfrm>
            <a:off x="6282842" y="3396082"/>
            <a:ext cx="554126" cy="116129"/>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Verified zero-bleed</a:t>
            </a:r>
            <a:endParaRPr lang="en-US" sz="500" dirty="0"/>
          </a:p>
          <a:p>
            <a:pPr algn="l" indent="0" marL="0">
              <a:lnSpc>
                <a:spcPct val="88000"/>
              </a:lnSpc>
              <a:buNone/>
            </a:pPr>
            <a:r>
              <a:rPr lang="en-US" sz="440" dirty="0">
                <a:solidFill>
                  <a:srgbClr val="202124"/>
                </a:solidFill>
                <a:latin typeface="Arial" pitchFamily="34" charset="0"/>
                <a:ea typeface="Arial" pitchFamily="34" charset="-122"/>
                <a:cs typeface="Arial" pitchFamily="34" charset="-120"/>
              </a:rPr>
              <a:t>agent completion</a:t>
            </a:r>
            <a:endParaRPr lang="en-US" sz="500" dirty="0"/>
          </a:p>
        </p:txBody>
      </p:sp>
      <p:sp>
        <p:nvSpPr>
          <p:cNvPr id="136" name="Text 114"/>
          <p:cNvSpPr/>
          <p:nvPr/>
        </p:nvSpPr>
        <p:spPr>
          <a:xfrm>
            <a:off x="5488229" y="3396082"/>
            <a:ext cx="494690" cy="116129"/>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Dispatch to optimal</a:t>
            </a:r>
            <a:endParaRPr lang="en-US" sz="500" dirty="0"/>
          </a:p>
          <a:p>
            <a:pPr algn="l" indent="0" marL="0">
              <a:lnSpc>
                <a:spcPct val="88000"/>
              </a:lnSpc>
              <a:buNone/>
            </a:pPr>
            <a:r>
              <a:rPr lang="en-US" sz="440" dirty="0">
                <a:solidFill>
                  <a:srgbClr val="202124"/>
                </a:solidFill>
                <a:latin typeface="Arial" pitchFamily="34" charset="0"/>
                <a:ea typeface="Arial" pitchFamily="34" charset="-122"/>
                <a:cs typeface="Arial" pitchFamily="34" charset="-120"/>
              </a:rPr>
              <a:t>cost/security tier</a:t>
            </a:r>
            <a:endParaRPr lang="en-US" sz="500" dirty="0"/>
          </a:p>
        </p:txBody>
      </p:sp>
      <p:sp>
        <p:nvSpPr>
          <p:cNvPr id="137" name="Text 115"/>
          <p:cNvSpPr/>
          <p:nvPr/>
        </p:nvSpPr>
        <p:spPr>
          <a:xfrm>
            <a:off x="5039258" y="2983687"/>
            <a:ext cx="502006" cy="109728"/>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Prune Catalog</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&amp; MCP tools</a:t>
            </a:r>
            <a:endParaRPr lang="en-US" sz="500" dirty="0"/>
          </a:p>
        </p:txBody>
      </p:sp>
      <p:sp>
        <p:nvSpPr>
          <p:cNvPr id="138" name="Text 116"/>
          <p:cNvSpPr/>
          <p:nvPr/>
        </p:nvSpPr>
        <p:spPr>
          <a:xfrm>
            <a:off x="4432097" y="4459529"/>
            <a:ext cx="509321" cy="109728"/>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Check quota</a:t>
            </a:r>
            <a:endParaRPr lang="en-US" sz="500" dirty="0"/>
          </a:p>
        </p:txBody>
      </p:sp>
      <p:sp>
        <p:nvSpPr>
          <p:cNvPr id="139" name="Text 117"/>
          <p:cNvSpPr/>
          <p:nvPr/>
        </p:nvSpPr>
        <p:spPr>
          <a:xfrm>
            <a:off x="4432097" y="4639666"/>
            <a:ext cx="509321" cy="109728"/>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Log COGS</a:t>
            </a:r>
            <a:endParaRPr lang="en-US" sz="500" dirty="0"/>
          </a:p>
        </p:txBody>
      </p:sp>
      <p:sp>
        <p:nvSpPr>
          <p:cNvPr id="140" name="Text 118"/>
          <p:cNvSpPr/>
          <p:nvPr/>
        </p:nvSpPr>
        <p:spPr>
          <a:xfrm>
            <a:off x="5016398" y="2302459"/>
            <a:ext cx="344729" cy="109728"/>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Verify OBO</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&amp; DPoP</a:t>
            </a:r>
            <a:endParaRPr lang="en-US" sz="500" dirty="0"/>
          </a:p>
        </p:txBody>
      </p:sp>
      <p:sp>
        <p:nvSpPr>
          <p:cNvPr id="141" name="Text 119"/>
          <p:cNvSpPr/>
          <p:nvPr/>
        </p:nvSpPr>
        <p:spPr>
          <a:xfrm>
            <a:off x="5016398" y="2819095"/>
            <a:ext cx="344729" cy="109728"/>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Screen &amp;</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redact PII</a:t>
            </a:r>
            <a:endParaRPr lang="en-US" sz="500" dirty="0"/>
          </a:p>
        </p:txBody>
      </p:sp>
      <p:sp>
        <p:nvSpPr>
          <p:cNvPr id="142" name="Text 120"/>
          <p:cNvSpPr/>
          <p:nvPr/>
        </p:nvSpPr>
        <p:spPr>
          <a:xfrm>
            <a:off x="6267298" y="1478585"/>
            <a:ext cx="299923" cy="109728"/>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Response</a:t>
            </a:r>
            <a:endParaRPr lang="en-US" sz="500" dirty="0"/>
          </a:p>
        </p:txBody>
      </p:sp>
      <p:sp>
        <p:nvSpPr>
          <p:cNvPr id="143" name="Text 121"/>
          <p:cNvSpPr/>
          <p:nvPr/>
        </p:nvSpPr>
        <p:spPr>
          <a:xfrm>
            <a:off x="6267298" y="2838298"/>
            <a:ext cx="299923" cy="109728"/>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Response</a:t>
            </a:r>
            <a:endParaRPr lang="en-US" sz="500" dirty="0"/>
          </a:p>
        </p:txBody>
      </p:sp>
      <p:sp>
        <p:nvSpPr>
          <p:cNvPr id="144" name="Text 122"/>
          <p:cNvSpPr/>
          <p:nvPr/>
        </p:nvSpPr>
        <p:spPr>
          <a:xfrm>
            <a:off x="5578754" y="1478585"/>
            <a:ext cx="262433" cy="109728"/>
          </a:xfrm>
          <a:prstGeom prst="rect">
            <a:avLst/>
          </a:prstGeom>
          <a:noFill/>
          <a:ln/>
        </p:spPr>
        <p:txBody>
          <a:bodyPr wrap="square" lIns="0" tIns="0" rIns="0" bIns="0" rtlCol="0" anchor="ctr">
            <a:normAutofit/>
          </a:bodyPr>
          <a:lstStyle/>
          <a:p>
            <a:pPr algn="r" indent="0" marL="0">
              <a:lnSpc>
                <a:spcPct val="88000"/>
              </a:lnSpc>
              <a:buNone/>
            </a:pPr>
            <a:r>
              <a:rPr lang="en-US" sz="500" b="1" dirty="0">
                <a:solidFill>
                  <a:srgbClr val="202124"/>
                </a:solidFill>
                <a:latin typeface="Arial" pitchFamily="34" charset="0"/>
                <a:ea typeface="Arial" pitchFamily="34" charset="-122"/>
                <a:cs typeface="Arial" pitchFamily="34" charset="-120"/>
              </a:rPr>
              <a:t>Request</a:t>
            </a:r>
            <a:endParaRPr lang="en-US" sz="500" dirty="0"/>
          </a:p>
        </p:txBody>
      </p:sp>
      <p:sp>
        <p:nvSpPr>
          <p:cNvPr id="145" name="Text 123"/>
          <p:cNvSpPr/>
          <p:nvPr/>
        </p:nvSpPr>
        <p:spPr>
          <a:xfrm>
            <a:off x="5578754" y="2838298"/>
            <a:ext cx="262433" cy="109728"/>
          </a:xfrm>
          <a:prstGeom prst="rect">
            <a:avLst/>
          </a:prstGeom>
          <a:noFill/>
          <a:ln/>
        </p:spPr>
        <p:txBody>
          <a:bodyPr wrap="square" lIns="0" tIns="0" rIns="0" bIns="0" rtlCol="0" anchor="ctr">
            <a:normAutofit/>
          </a:bodyPr>
          <a:lstStyle/>
          <a:p>
            <a:pPr algn="r" indent="0" marL="0">
              <a:lnSpc>
                <a:spcPct val="88000"/>
              </a:lnSpc>
              <a:buNone/>
            </a:pPr>
            <a:r>
              <a:rPr lang="en-US" sz="500" b="1" dirty="0">
                <a:solidFill>
                  <a:srgbClr val="202124"/>
                </a:solidFill>
                <a:latin typeface="Arial" pitchFamily="34" charset="0"/>
                <a:ea typeface="Arial" pitchFamily="34" charset="-122"/>
                <a:cs typeface="Arial" pitchFamily="34" charset="-120"/>
              </a:rPr>
              <a:t>Request</a:t>
            </a:r>
            <a:endParaRPr lang="en-US" sz="500" dirty="0"/>
          </a:p>
        </p:txBody>
      </p:sp>
      <p:sp>
        <p:nvSpPr>
          <p:cNvPr id="146" name="Shape 124"/>
          <p:cNvSpPr/>
          <p:nvPr/>
        </p:nvSpPr>
        <p:spPr>
          <a:xfrm>
            <a:off x="5904281" y="1458468"/>
            <a:ext cx="127102" cy="127102"/>
          </a:xfrm>
          <a:prstGeom prst="ellipse">
            <a:avLst/>
          </a:prstGeom>
          <a:solidFill>
            <a:srgbClr val="174EA6"/>
          </a:solidFill>
          <a:ln w="10795">
            <a:solidFill>
              <a:srgbClr val="174EA6"/>
            </a:solidFill>
            <a:prstDash val="solid"/>
          </a:ln>
        </p:spPr>
      </p:sp>
      <p:sp>
        <p:nvSpPr>
          <p:cNvPr id="147" name="Text 125"/>
          <p:cNvSpPr/>
          <p:nvPr/>
        </p:nvSpPr>
        <p:spPr>
          <a:xfrm>
            <a:off x="5904281" y="1458468"/>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48" name="Shape 126"/>
          <p:cNvSpPr/>
          <p:nvPr/>
        </p:nvSpPr>
        <p:spPr>
          <a:xfrm>
            <a:off x="6076188" y="1458468"/>
            <a:ext cx="127102" cy="127102"/>
          </a:xfrm>
          <a:prstGeom prst="ellipse">
            <a:avLst/>
          </a:prstGeom>
          <a:solidFill>
            <a:srgbClr val="174EA6"/>
          </a:solidFill>
          <a:ln w="10795">
            <a:solidFill>
              <a:srgbClr val="174EA6"/>
            </a:solidFill>
            <a:prstDash val="solid"/>
          </a:ln>
        </p:spPr>
      </p:sp>
      <p:sp>
        <p:nvSpPr>
          <p:cNvPr id="149" name="Text 127"/>
          <p:cNvSpPr/>
          <p:nvPr/>
        </p:nvSpPr>
        <p:spPr>
          <a:xfrm>
            <a:off x="6076188" y="1458468"/>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50" name="Shape 128"/>
          <p:cNvSpPr/>
          <p:nvPr/>
        </p:nvSpPr>
        <p:spPr>
          <a:xfrm>
            <a:off x="5904281" y="2817266"/>
            <a:ext cx="127102" cy="127102"/>
          </a:xfrm>
          <a:prstGeom prst="ellipse">
            <a:avLst/>
          </a:prstGeom>
          <a:solidFill>
            <a:srgbClr val="174EA6"/>
          </a:solidFill>
          <a:ln w="10795">
            <a:solidFill>
              <a:srgbClr val="174EA6"/>
            </a:solidFill>
            <a:prstDash val="solid"/>
          </a:ln>
        </p:spPr>
      </p:sp>
      <p:sp>
        <p:nvSpPr>
          <p:cNvPr id="151" name="Text 129"/>
          <p:cNvSpPr/>
          <p:nvPr/>
        </p:nvSpPr>
        <p:spPr>
          <a:xfrm>
            <a:off x="5904281" y="2817266"/>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52" name="Shape 130"/>
          <p:cNvSpPr/>
          <p:nvPr/>
        </p:nvSpPr>
        <p:spPr>
          <a:xfrm>
            <a:off x="6076188" y="2817266"/>
            <a:ext cx="127102" cy="127102"/>
          </a:xfrm>
          <a:prstGeom prst="ellipse">
            <a:avLst/>
          </a:prstGeom>
          <a:solidFill>
            <a:srgbClr val="174EA6"/>
          </a:solidFill>
          <a:ln w="10795">
            <a:solidFill>
              <a:srgbClr val="174EA6"/>
            </a:solidFill>
            <a:prstDash val="solid"/>
          </a:ln>
        </p:spPr>
      </p:sp>
      <p:sp>
        <p:nvSpPr>
          <p:cNvPr id="153" name="Text 131"/>
          <p:cNvSpPr/>
          <p:nvPr/>
        </p:nvSpPr>
        <p:spPr>
          <a:xfrm>
            <a:off x="6076188" y="2817266"/>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54" name="Shape 132"/>
          <p:cNvSpPr/>
          <p:nvPr/>
        </p:nvSpPr>
        <p:spPr>
          <a:xfrm>
            <a:off x="5297119" y="3397910"/>
            <a:ext cx="127102" cy="127102"/>
          </a:xfrm>
          <a:prstGeom prst="ellipse">
            <a:avLst/>
          </a:prstGeom>
          <a:solidFill>
            <a:srgbClr val="174EA6"/>
          </a:solidFill>
          <a:ln w="10795">
            <a:solidFill>
              <a:srgbClr val="174EA6"/>
            </a:solidFill>
            <a:prstDash val="solid"/>
          </a:ln>
        </p:spPr>
      </p:sp>
      <p:sp>
        <p:nvSpPr>
          <p:cNvPr id="155" name="Text 133"/>
          <p:cNvSpPr/>
          <p:nvPr/>
        </p:nvSpPr>
        <p:spPr>
          <a:xfrm>
            <a:off x="5297119" y="3397910"/>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56" name="Shape 134"/>
          <p:cNvSpPr/>
          <p:nvPr/>
        </p:nvSpPr>
        <p:spPr>
          <a:xfrm>
            <a:off x="6091733" y="3397910"/>
            <a:ext cx="127102" cy="127102"/>
          </a:xfrm>
          <a:prstGeom prst="ellipse">
            <a:avLst/>
          </a:prstGeom>
          <a:solidFill>
            <a:srgbClr val="174EA6"/>
          </a:solidFill>
          <a:ln w="10795">
            <a:solidFill>
              <a:srgbClr val="174EA6"/>
            </a:solidFill>
            <a:prstDash val="solid"/>
          </a:ln>
        </p:spPr>
      </p:sp>
      <p:sp>
        <p:nvSpPr>
          <p:cNvPr id="157" name="Text 135"/>
          <p:cNvSpPr/>
          <p:nvPr/>
        </p:nvSpPr>
        <p:spPr>
          <a:xfrm>
            <a:off x="6091733" y="3397910"/>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58" name="Shape 136"/>
          <p:cNvSpPr/>
          <p:nvPr/>
        </p:nvSpPr>
        <p:spPr>
          <a:xfrm>
            <a:off x="4233672" y="4439412"/>
            <a:ext cx="127102" cy="127102"/>
          </a:xfrm>
          <a:prstGeom prst="ellipse">
            <a:avLst/>
          </a:prstGeom>
          <a:solidFill>
            <a:srgbClr val="174EA6"/>
          </a:solidFill>
          <a:ln w="10795">
            <a:solidFill>
              <a:srgbClr val="174EA6"/>
            </a:solidFill>
            <a:prstDash val="solid"/>
          </a:ln>
        </p:spPr>
      </p:sp>
      <p:sp>
        <p:nvSpPr>
          <p:cNvPr id="159" name="Text 137"/>
          <p:cNvSpPr/>
          <p:nvPr/>
        </p:nvSpPr>
        <p:spPr>
          <a:xfrm>
            <a:off x="4233672" y="4439412"/>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60" name="Shape 138"/>
          <p:cNvSpPr/>
          <p:nvPr/>
        </p:nvSpPr>
        <p:spPr>
          <a:xfrm>
            <a:off x="4233672" y="4619549"/>
            <a:ext cx="127102" cy="127102"/>
          </a:xfrm>
          <a:prstGeom prst="ellipse">
            <a:avLst/>
          </a:prstGeom>
          <a:solidFill>
            <a:srgbClr val="174EA6"/>
          </a:solidFill>
          <a:ln w="10795">
            <a:solidFill>
              <a:srgbClr val="174EA6"/>
            </a:solidFill>
            <a:prstDash val="solid"/>
          </a:ln>
        </p:spPr>
      </p:sp>
      <p:sp>
        <p:nvSpPr>
          <p:cNvPr id="161" name="Text 139"/>
          <p:cNvSpPr/>
          <p:nvPr/>
        </p:nvSpPr>
        <p:spPr>
          <a:xfrm>
            <a:off x="4233672" y="4619549"/>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162" name="Shape 140"/>
          <p:cNvSpPr/>
          <p:nvPr/>
        </p:nvSpPr>
        <p:spPr>
          <a:xfrm>
            <a:off x="4233672" y="5330952"/>
            <a:ext cx="127102" cy="127102"/>
          </a:xfrm>
          <a:prstGeom prst="ellipse">
            <a:avLst/>
          </a:prstGeom>
          <a:solidFill>
            <a:srgbClr val="174EA6"/>
          </a:solidFill>
          <a:ln w="10795">
            <a:solidFill>
              <a:srgbClr val="174EA6"/>
            </a:solidFill>
            <a:prstDash val="solid"/>
          </a:ln>
        </p:spPr>
      </p:sp>
      <p:sp>
        <p:nvSpPr>
          <p:cNvPr id="163" name="Text 141"/>
          <p:cNvSpPr/>
          <p:nvPr/>
        </p:nvSpPr>
        <p:spPr>
          <a:xfrm>
            <a:off x="4233672" y="5330952"/>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Reference Guide • Agent Engine, MCP &amp; A2A  ›  Architecture  ›  Components &amp; Agentic flow</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DOC-REF-09  ·  Page 3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21792"/>
            <a:ext cx="10680192" cy="219456"/>
          </a:xfrm>
          <a:prstGeom prst="rect">
            <a:avLst/>
          </a:prstGeom>
          <a:noFill/>
          <a:ln/>
        </p:spPr>
        <p:txBody>
          <a:bodyPr wrap="square" rtlCol="0" anchor="ctr"/>
          <a:lstStyle/>
          <a:p>
            <a:pPr indent="0" marL="0">
              <a:buNone/>
            </a:pPr>
            <a:r>
              <a:rPr lang="en-US" sz="940" dirty="0">
                <a:solidFill>
                  <a:srgbClr val="3C4043"/>
                </a:solidFill>
                <a:latin typeface="Arial" pitchFamily="34" charset="0"/>
                <a:ea typeface="Arial" pitchFamily="34" charset="-122"/>
                <a:cs typeface="Arial" pitchFamily="34" charset="-120"/>
              </a:rPr>
              <a:t>The architecture consists of the following components:</a:t>
            </a:r>
            <a:endParaRPr lang="en-US" sz="940" dirty="0"/>
          </a:p>
        </p:txBody>
      </p:sp>
      <p:sp>
        <p:nvSpPr>
          <p:cNvPr id="7" name="Shape 5"/>
          <p:cNvSpPr/>
          <p:nvPr/>
        </p:nvSpPr>
        <p:spPr>
          <a:xfrm>
            <a:off x="749808" y="877824"/>
            <a:ext cx="2889504" cy="274320"/>
          </a:xfrm>
          <a:prstGeom prst="rect">
            <a:avLst/>
          </a:prstGeom>
          <a:solidFill>
            <a:srgbClr val="F8F9FA"/>
          </a:solidFill>
          <a:ln w="9525">
            <a:solidFill>
              <a:srgbClr val="DADCE0"/>
            </a:solidFill>
            <a:prstDash val="solid"/>
          </a:ln>
        </p:spPr>
      </p:sp>
      <p:sp>
        <p:nvSpPr>
          <p:cNvPr id="8" name="Text 6"/>
          <p:cNvSpPr/>
          <p:nvPr/>
        </p:nvSpPr>
        <p:spPr>
          <a:xfrm>
            <a:off x="841248" y="877824"/>
            <a:ext cx="2706624" cy="274320"/>
          </a:xfrm>
          <a:prstGeom prst="rect">
            <a:avLst/>
          </a:prstGeom>
          <a:noFill/>
          <a:ln/>
        </p:spPr>
        <p:txBody>
          <a:bodyPr wrap="square" rtlCol="0" anchor="ctr"/>
          <a:lstStyle/>
          <a:p>
            <a:pPr indent="0" marL="0">
              <a:buNone/>
            </a:pPr>
            <a:r>
              <a:rPr lang="en-US" sz="840" b="1" dirty="0">
                <a:solidFill>
                  <a:srgbClr val="202124"/>
                </a:solidFill>
                <a:latin typeface="Arial" pitchFamily="34" charset="0"/>
                <a:ea typeface="Arial" pitchFamily="34" charset="-122"/>
                <a:cs typeface="Arial" pitchFamily="34" charset="-120"/>
              </a:rPr>
              <a:t>Component</a:t>
            </a:r>
            <a:endParaRPr lang="en-US" sz="840" dirty="0"/>
          </a:p>
        </p:txBody>
      </p:sp>
      <p:sp>
        <p:nvSpPr>
          <p:cNvPr id="9" name="Shape 7"/>
          <p:cNvSpPr/>
          <p:nvPr/>
        </p:nvSpPr>
        <p:spPr>
          <a:xfrm>
            <a:off x="3639312" y="877824"/>
            <a:ext cx="7790688" cy="274320"/>
          </a:xfrm>
          <a:prstGeom prst="rect">
            <a:avLst/>
          </a:prstGeom>
          <a:solidFill>
            <a:srgbClr val="F8F9FA"/>
          </a:solidFill>
          <a:ln w="9525">
            <a:solidFill>
              <a:srgbClr val="DADCE0"/>
            </a:solidFill>
            <a:prstDash val="solid"/>
          </a:ln>
        </p:spPr>
      </p:sp>
      <p:sp>
        <p:nvSpPr>
          <p:cNvPr id="10" name="Text 8"/>
          <p:cNvSpPr/>
          <p:nvPr/>
        </p:nvSpPr>
        <p:spPr>
          <a:xfrm>
            <a:off x="3749040" y="877824"/>
            <a:ext cx="7571232" cy="274320"/>
          </a:xfrm>
          <a:prstGeom prst="rect">
            <a:avLst/>
          </a:prstGeom>
          <a:noFill/>
          <a:ln/>
        </p:spPr>
        <p:txBody>
          <a:bodyPr wrap="square" rtlCol="0" anchor="ctr"/>
          <a:lstStyle/>
          <a:p>
            <a:pPr indent="0" marL="0">
              <a:buNone/>
            </a:pPr>
            <a:r>
              <a:rPr lang="en-US" sz="840" b="1" dirty="0">
                <a:solidFill>
                  <a:srgbClr val="202124"/>
                </a:solidFill>
                <a:latin typeface="Arial" pitchFamily="34" charset="0"/>
                <a:ea typeface="Arial" pitchFamily="34" charset="-122"/>
                <a:cs typeface="Arial" pitchFamily="34" charset="-120"/>
              </a:rPr>
              <a:t>Description</a:t>
            </a:r>
            <a:endParaRPr lang="en-US" sz="840" dirty="0"/>
          </a:p>
        </p:txBody>
      </p:sp>
      <p:sp>
        <p:nvSpPr>
          <p:cNvPr id="11" name="Shape 9"/>
          <p:cNvSpPr/>
          <p:nvPr/>
        </p:nvSpPr>
        <p:spPr>
          <a:xfrm>
            <a:off x="749808" y="1152144"/>
            <a:ext cx="2889504" cy="296266"/>
          </a:xfrm>
          <a:prstGeom prst="rect">
            <a:avLst/>
          </a:prstGeom>
          <a:solidFill>
            <a:srgbClr val="FFFFFF"/>
          </a:solidFill>
          <a:ln w="9525">
            <a:solidFill>
              <a:srgbClr val="DADCE0"/>
            </a:solidFill>
            <a:prstDash val="solid"/>
          </a:ln>
        </p:spPr>
      </p:sp>
      <p:sp>
        <p:nvSpPr>
          <p:cNvPr id="12" name="Text 10"/>
          <p:cNvSpPr/>
          <p:nvPr/>
        </p:nvSpPr>
        <p:spPr>
          <a:xfrm>
            <a:off x="841248" y="1170432"/>
            <a:ext cx="2706624" cy="259690"/>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The Multi-Tenant Agentic Triad: Security • FinOps COGS • Zero-PII Observability
</a:t>
            </a:r>
            <a:pPr indent="0" marL="0">
              <a:buNone/>
            </a:pPr>
            <a:r>
              <a:rPr lang="en-US" sz="670" dirty="0">
                <a:solidFill>
                  <a:srgbClr val="5F6368"/>
                </a:solidFill>
                <a:latin typeface="Arial" pitchFamily="34" charset="0"/>
                <a:ea typeface="Arial" pitchFamily="34" charset="-122"/>
                <a:cs typeface="Arial" pitchFamily="34" charset="-120"/>
              </a:rPr>
              <a:t>Outer security and governance boundary that prevents unauthorized data exfiltration.</a:t>
            </a:r>
            <a:endParaRPr lang="en-US" sz="780" dirty="0"/>
          </a:p>
        </p:txBody>
      </p:sp>
      <p:sp>
        <p:nvSpPr>
          <p:cNvPr id="13" name="Shape 11"/>
          <p:cNvSpPr/>
          <p:nvPr/>
        </p:nvSpPr>
        <p:spPr>
          <a:xfrm>
            <a:off x="3639312" y="1152144"/>
            <a:ext cx="7790688" cy="296266"/>
          </a:xfrm>
          <a:prstGeom prst="rect">
            <a:avLst/>
          </a:prstGeom>
          <a:solidFill>
            <a:srgbClr val="FFFFFF"/>
          </a:solidFill>
          <a:ln w="9525">
            <a:solidFill>
              <a:srgbClr val="DADCE0"/>
            </a:solidFill>
            <a:prstDash val="solid"/>
          </a:ln>
        </p:spPr>
      </p:sp>
      <p:sp>
        <p:nvSpPr>
          <p:cNvPr id="14" name="Text 12"/>
          <p:cNvSpPr/>
          <p:nvPr/>
        </p:nvSpPr>
        <p:spPr>
          <a:xfrm>
            <a:off x="3749040" y="1170432"/>
            <a:ext cx="7571232" cy="259690"/>
          </a:xfrm>
          <a:prstGeom prst="rect">
            <a:avLst/>
          </a:prstGeom>
          <a:noFill/>
          <a:ln/>
        </p:spPr>
        <p:txBody>
          <a:bodyPr wrap="square" rtlCol="0" anchor="ctr"/>
          <a:lstStyle/>
          <a:p>
            <a:pPr indent="0" marL="0">
              <a:buNone/>
            </a:pPr>
            <a:r>
              <a:rPr lang="en-US" sz="720" b="1" dirty="0">
                <a:solidFill>
                  <a:srgbClr val="202124"/>
                </a:solidFill>
                <a:latin typeface="Arial" pitchFamily="34" charset="0"/>
                <a:ea typeface="Arial" pitchFamily="34" charset="-122"/>
                <a:cs typeface="Arial" pitchFamily="34" charset="-120"/>
              </a:rPr>
              <a:t>• The Multi-Tenant Agentic Triad: Security • FinOps COGS • Zero-PII Observability: </a:t>
            </a:r>
            <a:pPr indent="0" marL="0">
              <a:buNone/>
            </a:pPr>
            <a:r>
              <a:rPr lang="en-US" sz="700" dirty="0">
                <a:solidFill>
                  <a:srgbClr val="3C4043"/>
                </a:solidFill>
                <a:latin typeface="Arial" pitchFamily="34" charset="0"/>
                <a:ea typeface="Arial" pitchFamily="34" charset="-122"/>
                <a:cs typeface="Arial" pitchFamily="34" charset="-120"/>
              </a:rPr>
              <a:t>Enforces VPC Service Controls service perimeters around hub and spoke projects to block unauthorized cross-perimeter data movement.</a:t>
            </a:r>
            <a:endParaRPr lang="en-US" sz="720" dirty="0"/>
          </a:p>
        </p:txBody>
      </p:sp>
      <p:sp>
        <p:nvSpPr>
          <p:cNvPr id="15" name="Shape 13"/>
          <p:cNvSpPr/>
          <p:nvPr/>
        </p:nvSpPr>
        <p:spPr>
          <a:xfrm>
            <a:off x="749808" y="1448410"/>
            <a:ext cx="2889504" cy="786384"/>
          </a:xfrm>
          <a:prstGeom prst="rect">
            <a:avLst/>
          </a:prstGeom>
          <a:solidFill>
            <a:srgbClr val="FFFFFF"/>
          </a:solidFill>
          <a:ln w="9525">
            <a:solidFill>
              <a:srgbClr val="DADCE0"/>
            </a:solidFill>
            <a:prstDash val="solid"/>
          </a:ln>
        </p:spPr>
      </p:sp>
      <p:sp>
        <p:nvSpPr>
          <p:cNvPr id="16" name="Text 14"/>
          <p:cNvSpPr/>
          <p:nvPr/>
        </p:nvSpPr>
        <p:spPr>
          <a:xfrm>
            <a:off x="841248" y="1466698"/>
            <a:ext cx="2706624" cy="749808"/>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Triad Pillar 1: Zero-Trust Cryptographic Security
</a:t>
            </a:r>
            <a:pPr indent="0" marL="0">
              <a:buNone/>
            </a:pPr>
            <a:r>
              <a:rPr lang="en-US" sz="670" dirty="0">
                <a:solidFill>
                  <a:srgbClr val="5F6368"/>
                </a:solidFill>
                <a:latin typeface="Arial" pitchFamily="34" charset="0"/>
                <a:ea typeface="Arial" pitchFamily="34" charset="-122"/>
                <a:cs typeface="Arial" pitchFamily="34" charset="-120"/>
              </a:rPr>
              <a:t>Centralized ingress and control plane managing edge security, identity verification, and request routing.</a:t>
            </a:r>
            <a:endParaRPr lang="en-US" sz="780" dirty="0"/>
          </a:p>
        </p:txBody>
      </p:sp>
      <p:sp>
        <p:nvSpPr>
          <p:cNvPr id="17" name="Shape 15"/>
          <p:cNvSpPr/>
          <p:nvPr/>
        </p:nvSpPr>
        <p:spPr>
          <a:xfrm>
            <a:off x="3639312" y="1448410"/>
            <a:ext cx="7790688" cy="786384"/>
          </a:xfrm>
          <a:prstGeom prst="rect">
            <a:avLst/>
          </a:prstGeom>
          <a:solidFill>
            <a:srgbClr val="FFFFFF"/>
          </a:solidFill>
          <a:ln w="9525">
            <a:solidFill>
              <a:srgbClr val="DADCE0"/>
            </a:solidFill>
            <a:prstDash val="solid"/>
          </a:ln>
        </p:spPr>
      </p:sp>
      <p:sp>
        <p:nvSpPr>
          <p:cNvPr id="18" name="Text 16"/>
          <p:cNvSpPr/>
          <p:nvPr/>
        </p:nvSpPr>
        <p:spPr>
          <a:xfrm>
            <a:off x="3749040" y="1466698"/>
            <a:ext cx="7571232" cy="749808"/>
          </a:xfrm>
          <a:prstGeom prst="rect">
            <a:avLst/>
          </a:prstGeom>
          <a:noFill/>
          <a:ln/>
        </p:spPr>
        <p:txBody>
          <a:bodyPr wrap="square" rtlCol="0" anchor="ctr"/>
          <a:lstStyle/>
          <a:p>
            <a:pPr indent="0" marL="0">
              <a:buNone/>
            </a:pPr>
            <a:r>
              <a:rPr lang="en-US" sz="720" b="1" dirty="0">
                <a:solidFill>
                  <a:srgbClr val="202124"/>
                </a:solidFill>
                <a:latin typeface="Arial" pitchFamily="34" charset="0"/>
                <a:ea typeface="Arial" pitchFamily="34" charset="-122"/>
                <a:cs typeface="Arial" pitchFamily="34" charset="-120"/>
              </a:rPr>
              <a:t>• External Application Load Balancer: </a:t>
            </a:r>
            <a:pPr indent="0" marL="0">
              <a:buNone/>
            </a:pPr>
            <a:r>
              <a:rPr lang="en-US" sz="700" dirty="0">
                <a:solidFill>
                  <a:srgbClr val="3C4043"/>
                </a:solidFill>
                <a:latin typeface="Arial" pitchFamily="34" charset="0"/>
                <a:ea typeface="Arial" pitchFamily="34" charset="-122"/>
                <a:cs typeface="Arial" pitchFamily="34" charset="-120"/>
              </a:rPr>
              <a:t>Acts as the unified global entry point for incoming requests.
</a:t>
            </a:r>
            <a:pPr indent="0" marL="0">
              <a:buNone/>
            </a:pPr>
            <a:r>
              <a:rPr lang="en-US" sz="720" b="1" dirty="0">
                <a:solidFill>
                  <a:srgbClr val="202124"/>
                </a:solidFill>
                <a:latin typeface="Arial" pitchFamily="34" charset="0"/>
                <a:ea typeface="Arial" pitchFamily="34" charset="-122"/>
                <a:cs typeface="Arial" pitchFamily="34" charset="-120"/>
              </a:rPr>
              <a:t>• Hop 1: Edge PEP &amp; Hop 2: Catalog PDP: </a:t>
            </a:r>
            <a:pPr indent="0" marL="0">
              <a:buNone/>
            </a:pPr>
            <a:r>
              <a:rPr lang="en-US" sz="700" dirty="0">
                <a:solidFill>
                  <a:srgbClr val="3C4043"/>
                </a:solidFill>
                <a:latin typeface="Arial" pitchFamily="34" charset="0"/>
                <a:ea typeface="Arial" pitchFamily="34" charset="-122"/>
                <a:cs typeface="Arial" pitchFamily="34" charset="-120"/>
              </a:rPr>
              <a:t>Enforces edge policy rules and screens payloads before reaching the runtime.
</a:t>
            </a:r>
            <a:pPr indent="0" marL="0">
              <a:buNone/>
            </a:pPr>
            <a:r>
              <a:rPr lang="en-US" sz="720" b="1" dirty="0">
                <a:solidFill>
                  <a:srgbClr val="202124"/>
                </a:solidFill>
                <a:latin typeface="Arial" pitchFamily="34" charset="0"/>
                <a:ea typeface="Arial" pitchFamily="34" charset="-122"/>
                <a:cs typeface="Arial" pitchFamily="34" charset="-120"/>
              </a:rPr>
              <a:t>• Hop 4: Model Armor: </a:t>
            </a:r>
            <a:pPr indent="0" marL="0">
              <a:buNone/>
            </a:pPr>
            <a:r>
              <a:rPr lang="en-US" sz="700" dirty="0">
                <a:solidFill>
                  <a:srgbClr val="3C4043"/>
                </a:solidFill>
                <a:latin typeface="Arial" pitchFamily="34" charset="0"/>
                <a:ea typeface="Arial" pitchFamily="34" charset="-122"/>
                <a:cs typeface="Arial" pitchFamily="34" charset="-120"/>
              </a:rPr>
              <a:t>Authenticates callers and verifies identity and scope claims before routing.
</a:t>
            </a:r>
            <a:pPr indent="0" marL="0">
              <a:buNone/>
            </a:pPr>
            <a:r>
              <a:rPr lang="en-US" sz="720" b="1" dirty="0">
                <a:solidFill>
                  <a:srgbClr val="202124"/>
                </a:solidFill>
                <a:latin typeface="Arial" pitchFamily="34" charset="0"/>
                <a:ea typeface="Arial" pitchFamily="34" charset="-122"/>
                <a:cs typeface="Arial" pitchFamily="34" charset="-120"/>
              </a:rPr>
              <a:t>• Architecture Selector: </a:t>
            </a:r>
            <a:pPr indent="0" marL="0">
              <a:buNone/>
            </a:pPr>
            <a:r>
              <a:rPr lang="en-US" sz="700" dirty="0">
                <a:solidFill>
                  <a:srgbClr val="3C4043"/>
                </a:solidFill>
                <a:latin typeface="Arial" pitchFamily="34" charset="0"/>
                <a:ea typeface="Arial" pitchFamily="34" charset="-122"/>
                <a:cs typeface="Arial" pitchFamily="34" charset="-120"/>
              </a:rPr>
              <a:t>Serverless routing service that validates caller tokens and dispatches requests to the target execution spoke.</a:t>
            </a:r>
            <a:endParaRPr lang="en-US" sz="720" dirty="0"/>
          </a:p>
        </p:txBody>
      </p:sp>
      <p:sp>
        <p:nvSpPr>
          <p:cNvPr id="19" name="Shape 17"/>
          <p:cNvSpPr/>
          <p:nvPr/>
        </p:nvSpPr>
        <p:spPr>
          <a:xfrm>
            <a:off x="749808" y="2234794"/>
            <a:ext cx="2889504" cy="615391"/>
          </a:xfrm>
          <a:prstGeom prst="rect">
            <a:avLst/>
          </a:prstGeom>
          <a:solidFill>
            <a:srgbClr val="FFFFFF"/>
          </a:solidFill>
          <a:ln w="9525">
            <a:solidFill>
              <a:srgbClr val="DADCE0"/>
            </a:solidFill>
            <a:prstDash val="solid"/>
          </a:ln>
        </p:spPr>
      </p:sp>
      <p:sp>
        <p:nvSpPr>
          <p:cNvPr id="20" name="Text 18"/>
          <p:cNvSpPr/>
          <p:nvPr/>
        </p:nvSpPr>
        <p:spPr>
          <a:xfrm>
            <a:off x="841248" y="2253082"/>
            <a:ext cx="2706624" cy="578815"/>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Triad Pillar 3: Privacy- Preserving OTel &amp; Chargeback
</a:t>
            </a:r>
            <a:pPr indent="0" marL="0">
              <a:buNone/>
            </a:pPr>
            <a:r>
              <a:rPr lang="en-US" sz="670" dirty="0">
                <a:solidFill>
                  <a:srgbClr val="5F6368"/>
                </a:solidFill>
                <a:latin typeface="Arial" pitchFamily="34" charset="0"/>
                <a:ea typeface="Arial" pitchFamily="34" charset="-122"/>
                <a:cs typeface="Arial" pitchFamily="34" charset="-120"/>
              </a:rPr>
              <a:t>Dedicated governance plane providing unified security posture, cryptographic key management, and OpenTelemetry observability.</a:t>
            </a:r>
            <a:endParaRPr lang="en-US" sz="780" dirty="0"/>
          </a:p>
        </p:txBody>
      </p:sp>
      <p:sp>
        <p:nvSpPr>
          <p:cNvPr id="21" name="Shape 19"/>
          <p:cNvSpPr/>
          <p:nvPr/>
        </p:nvSpPr>
        <p:spPr>
          <a:xfrm>
            <a:off x="3639312" y="2234794"/>
            <a:ext cx="7790688" cy="615391"/>
          </a:xfrm>
          <a:prstGeom prst="rect">
            <a:avLst/>
          </a:prstGeom>
          <a:solidFill>
            <a:srgbClr val="FFFFFF"/>
          </a:solidFill>
          <a:ln w="9525">
            <a:solidFill>
              <a:srgbClr val="DADCE0"/>
            </a:solidFill>
            <a:prstDash val="solid"/>
          </a:ln>
        </p:spPr>
      </p:sp>
      <p:sp>
        <p:nvSpPr>
          <p:cNvPr id="22" name="Text 20"/>
          <p:cNvSpPr/>
          <p:nvPr/>
        </p:nvSpPr>
        <p:spPr>
          <a:xfrm>
            <a:off x="3749040" y="2253082"/>
            <a:ext cx="7571232" cy="578815"/>
          </a:xfrm>
          <a:prstGeom prst="rect">
            <a:avLst/>
          </a:prstGeom>
          <a:noFill/>
          <a:ln/>
        </p:spPr>
        <p:txBody>
          <a:bodyPr wrap="square" rtlCol="0" anchor="ctr"/>
          <a:lstStyle/>
          <a:p>
            <a:pPr indent="0" marL="0">
              <a:buNone/>
            </a:pPr>
            <a:r>
              <a:rPr lang="en-US" sz="720" b="1" dirty="0">
                <a:solidFill>
                  <a:srgbClr val="202124"/>
                </a:solidFill>
                <a:latin typeface="Arial" pitchFamily="34" charset="0"/>
                <a:ea typeface="Arial" pitchFamily="34" charset="-122"/>
                <a:cs typeface="Arial" pitchFamily="34" charset="-120"/>
              </a:rPr>
              <a:t>• Security Command Center: </a:t>
            </a:r>
            <a:pPr indent="0" marL="0">
              <a:buNone/>
            </a:pPr>
            <a:r>
              <a:rPr lang="en-US" sz="700" dirty="0">
                <a:solidFill>
                  <a:srgbClr val="3C4043"/>
                </a:solidFill>
                <a:latin typeface="Arial" pitchFamily="34" charset="0"/>
                <a:ea typeface="Arial" pitchFamily="34" charset="-122"/>
                <a:cs typeface="Arial" pitchFamily="34" charset="-120"/>
              </a:rPr>
              <a:t>Provides centralized threat detection, posture management, and continuous compliance verification.
</a:t>
            </a:r>
            <a:pPr indent="0" marL="0">
              <a:buNone/>
            </a:pPr>
            <a:r>
              <a:rPr lang="en-US" sz="720" b="1" dirty="0">
                <a:solidFill>
                  <a:srgbClr val="202124"/>
                </a:solidFill>
                <a:latin typeface="Arial" pitchFamily="34" charset="0"/>
                <a:ea typeface="Arial" pitchFamily="34" charset="-122"/>
                <a:cs typeface="Arial" pitchFamily="34" charset="-120"/>
              </a:rPr>
              <a:t>• 3 Chargeback Models: </a:t>
            </a:r>
            <a:pPr indent="0" marL="0">
              <a:buNone/>
            </a:pPr>
            <a:r>
              <a:rPr lang="en-US" sz="700" dirty="0">
                <a:solidFill>
                  <a:srgbClr val="3C4043"/>
                </a:solidFill>
                <a:latin typeface="Arial" pitchFamily="34" charset="0"/>
                <a:ea typeface="Arial" pitchFamily="34" charset="-122"/>
                <a:cs typeface="Arial" pitchFamily="34" charset="-120"/>
              </a:rPr>
              <a:t>Manages access policies, cryptographic signing keys, and entitlement registries.
</a:t>
            </a:r>
            <a:pPr indent="0" marL="0">
              <a:buNone/>
            </a:pPr>
            <a:r>
              <a:rPr lang="en-US" sz="720" b="1" dirty="0">
                <a:solidFill>
                  <a:srgbClr val="202124"/>
                </a:solidFill>
                <a:latin typeface="Arial" pitchFamily="34" charset="0"/>
                <a:ea typeface="Arial" pitchFamily="34" charset="-122"/>
                <a:cs typeface="Arial" pitchFamily="34" charset="-120"/>
              </a:rPr>
              <a:t>• BigQuery OTel Sink: </a:t>
            </a:r>
            <a:pPr indent="0" marL="0">
              <a:buNone/>
            </a:pPr>
            <a:r>
              <a:rPr lang="en-US" sz="700" dirty="0">
                <a:solidFill>
                  <a:srgbClr val="3C4043"/>
                </a:solidFill>
                <a:latin typeface="Arial" pitchFamily="34" charset="0"/>
                <a:ea typeface="Arial" pitchFamily="34" charset="-122"/>
                <a:cs typeface="Arial" pitchFamily="34" charset="-120"/>
              </a:rPr>
              <a:t>Aggregates audit logs, execution traces, and OpenTelemetry FinOps telemetry into BigQuery.</a:t>
            </a:r>
            <a:endParaRPr lang="en-US" sz="720" dirty="0"/>
          </a:p>
        </p:txBody>
      </p:sp>
      <p:sp>
        <p:nvSpPr>
          <p:cNvPr id="23" name="Shape 21"/>
          <p:cNvSpPr/>
          <p:nvPr/>
        </p:nvSpPr>
        <p:spPr>
          <a:xfrm>
            <a:off x="749808" y="2850185"/>
            <a:ext cx="2889504" cy="296266"/>
          </a:xfrm>
          <a:prstGeom prst="rect">
            <a:avLst/>
          </a:prstGeom>
          <a:solidFill>
            <a:srgbClr val="FFFFFF"/>
          </a:solidFill>
          <a:ln w="9525">
            <a:solidFill>
              <a:srgbClr val="DADCE0"/>
            </a:solidFill>
            <a:prstDash val="solid"/>
          </a:ln>
        </p:spPr>
      </p:sp>
      <p:sp>
        <p:nvSpPr>
          <p:cNvPr id="24" name="Text 22"/>
          <p:cNvSpPr/>
          <p:nvPr/>
        </p:nvSpPr>
        <p:spPr>
          <a:xfrm>
            <a:off x="841248" y="2868473"/>
            <a:ext cx="2706624" cy="259690"/>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Principal Access Boundary Policy
</a:t>
            </a:r>
            <a:pPr indent="0" marL="0">
              <a:buNone/>
            </a:pPr>
            <a:r>
              <a:rPr lang="en-US" sz="670" dirty="0">
                <a:solidFill>
                  <a:srgbClr val="5F6368"/>
                </a:solidFill>
                <a:latin typeface="Arial" pitchFamily="34" charset="0"/>
                <a:ea typeface="Arial" pitchFamily="34" charset="-122"/>
                <a:cs typeface="Arial" pitchFamily="34" charset="-120"/>
              </a:rPr>
              <a:t>Identity and resource isolation boundary restricting principal access so workloads.</a:t>
            </a:r>
            <a:endParaRPr lang="en-US" sz="780" dirty="0"/>
          </a:p>
        </p:txBody>
      </p:sp>
      <p:sp>
        <p:nvSpPr>
          <p:cNvPr id="25" name="Shape 23"/>
          <p:cNvSpPr/>
          <p:nvPr/>
        </p:nvSpPr>
        <p:spPr>
          <a:xfrm>
            <a:off x="3639312" y="2850185"/>
            <a:ext cx="7790688" cy="296266"/>
          </a:xfrm>
          <a:prstGeom prst="rect">
            <a:avLst/>
          </a:prstGeom>
          <a:solidFill>
            <a:srgbClr val="FFFFFF"/>
          </a:solidFill>
          <a:ln w="9525">
            <a:solidFill>
              <a:srgbClr val="DADCE0"/>
            </a:solidFill>
            <a:prstDash val="solid"/>
          </a:ln>
        </p:spPr>
      </p:sp>
      <p:sp>
        <p:nvSpPr>
          <p:cNvPr id="26" name="Text 24"/>
          <p:cNvSpPr/>
          <p:nvPr/>
        </p:nvSpPr>
        <p:spPr>
          <a:xfrm>
            <a:off x="3749040" y="2868473"/>
            <a:ext cx="7571232" cy="259690"/>
          </a:xfrm>
          <a:prstGeom prst="rect">
            <a:avLst/>
          </a:prstGeom>
          <a:noFill/>
          <a:ln/>
        </p:spPr>
        <p:txBody>
          <a:bodyPr wrap="square" rtlCol="0" anchor="ctr"/>
          <a:lstStyle/>
          <a:p>
            <a:pPr indent="0" marL="0">
              <a:buNone/>
            </a:pPr>
            <a:r>
              <a:rPr lang="en-US" sz="720" b="1" dirty="0">
                <a:solidFill>
                  <a:srgbClr val="202124"/>
                </a:solidFill>
                <a:latin typeface="Arial" pitchFamily="34" charset="0"/>
                <a:ea typeface="Arial" pitchFamily="34" charset="-122"/>
                <a:cs typeface="Arial" pitchFamily="34" charset="-120"/>
              </a:rPr>
              <a:t>• Unified Vertex AI Agent Engine &amp; Google ADK Reference Architecture: </a:t>
            </a:r>
            <a:pPr indent="0" marL="0">
              <a:buNone/>
            </a:pPr>
            <a:r>
              <a:rPr lang="en-US" sz="700" dirty="0">
                <a:solidFill>
                  <a:srgbClr val="3C4043"/>
                </a:solidFill>
                <a:latin typeface="Arial" pitchFamily="34" charset="0"/>
                <a:ea typeface="Arial" pitchFamily="34" charset="-122"/>
                <a:cs typeface="Arial" pitchFamily="34" charset="-120"/>
              </a:rPr>
              <a:t>Binds IAM Principal Access Boundary (PAB) policies to spoke principals so credentials and tool calls remain strictly scoped to their authorized boundary.</a:t>
            </a:r>
            <a:endParaRPr lang="en-US" sz="720" dirty="0"/>
          </a:p>
        </p:txBody>
      </p:sp>
      <p:sp>
        <p:nvSpPr>
          <p:cNvPr id="27" name="Shape 25"/>
          <p:cNvSpPr/>
          <p:nvPr/>
        </p:nvSpPr>
        <p:spPr>
          <a:xfrm>
            <a:off x="749808" y="3146450"/>
            <a:ext cx="2889504" cy="785470"/>
          </a:xfrm>
          <a:prstGeom prst="rect">
            <a:avLst/>
          </a:prstGeom>
          <a:solidFill>
            <a:srgbClr val="FFFFFF"/>
          </a:solidFill>
          <a:ln w="9525">
            <a:solidFill>
              <a:srgbClr val="DADCE0"/>
            </a:solidFill>
            <a:prstDash val="solid"/>
          </a:ln>
        </p:spPr>
      </p:sp>
      <p:sp>
        <p:nvSpPr>
          <p:cNvPr id="28" name="Text 26"/>
          <p:cNvSpPr/>
          <p:nvPr/>
        </p:nvSpPr>
        <p:spPr>
          <a:xfrm>
            <a:off x="841248" y="3164738"/>
            <a:ext cx="2706624" cy="748894"/>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Pattern A: Pooled Unit Economics &amp; Pattern B Silos &amp; Pattern C PSC Spokes
</a:t>
            </a:r>
            <a:pPr indent="0" marL="0">
              <a:buNone/>
            </a:pPr>
            <a:r>
              <a:rPr lang="en-US" sz="670" dirty="0">
                <a:solidFill>
                  <a:srgbClr val="5F6368"/>
                </a:solidFill>
                <a:latin typeface="Arial" pitchFamily="34" charset="0"/>
                <a:ea typeface="Arial" pitchFamily="34" charset="-122"/>
                <a:cs typeface="Arial" pitchFamily="34" charset="-120"/>
              </a:rPr>
              <a:t>Isolated Google Cloud execution spokes.</a:t>
            </a:r>
            <a:endParaRPr lang="en-US" sz="780" dirty="0"/>
          </a:p>
        </p:txBody>
      </p:sp>
      <p:sp>
        <p:nvSpPr>
          <p:cNvPr id="29" name="Shape 27"/>
          <p:cNvSpPr/>
          <p:nvPr/>
        </p:nvSpPr>
        <p:spPr>
          <a:xfrm>
            <a:off x="3639312" y="3146450"/>
            <a:ext cx="7790688" cy="785470"/>
          </a:xfrm>
          <a:prstGeom prst="rect">
            <a:avLst/>
          </a:prstGeom>
          <a:solidFill>
            <a:srgbClr val="FFFFFF"/>
          </a:solidFill>
          <a:ln w="9525">
            <a:solidFill>
              <a:srgbClr val="DADCE0"/>
            </a:solidFill>
            <a:prstDash val="solid"/>
          </a:ln>
        </p:spPr>
      </p:sp>
      <p:sp>
        <p:nvSpPr>
          <p:cNvPr id="30" name="Text 28"/>
          <p:cNvSpPr/>
          <p:nvPr/>
        </p:nvSpPr>
        <p:spPr>
          <a:xfrm>
            <a:off x="3749040" y="3164738"/>
            <a:ext cx="7571232" cy="748894"/>
          </a:xfrm>
          <a:prstGeom prst="rect">
            <a:avLst/>
          </a:prstGeom>
          <a:noFill/>
          <a:ln/>
        </p:spPr>
        <p:txBody>
          <a:bodyPr wrap="square" rtlCol="0" anchor="ctr"/>
          <a:lstStyle/>
          <a:p>
            <a:pPr indent="0" marL="0">
              <a:buNone/>
            </a:pPr>
            <a:r>
              <a:rPr lang="en-US" sz="720" b="1" dirty="0">
                <a:solidFill>
                  <a:srgbClr val="202124"/>
                </a:solidFill>
                <a:latin typeface="Arial" pitchFamily="34" charset="0"/>
                <a:ea typeface="Arial" pitchFamily="34" charset="-122"/>
                <a:cs typeface="Arial" pitchFamily="34" charset="-120"/>
              </a:rPr>
              <a:t>• Thinking Budget Cap: </a:t>
            </a:r>
            <a:pPr indent="0" marL="0">
              <a:buNone/>
            </a:pPr>
            <a:r>
              <a:rPr lang="en-US" sz="700" dirty="0">
                <a:solidFill>
                  <a:srgbClr val="3C4043"/>
                </a:solidFill>
                <a:latin typeface="Arial" pitchFamily="34" charset="0"/>
                <a:ea typeface="Arial" pitchFamily="34" charset="-122"/>
                <a:cs typeface="Arial" pitchFamily="34" charset="-120"/>
              </a:rPr>
              <a:t>Core execution environment orchestrating reasoning, memory, and tool execution.
</a:t>
            </a:r>
            <a:pPr indent="0" marL="0">
              <a:buNone/>
            </a:pPr>
            <a:r>
              <a:rPr lang="en-US" sz="720" b="1" dirty="0">
                <a:solidFill>
                  <a:srgbClr val="202124"/>
                </a:solidFill>
                <a:latin typeface="Arial" pitchFamily="34" charset="0"/>
                <a:ea typeface="Arial" pitchFamily="34" charset="-122"/>
                <a:cs typeface="Arial" pitchFamily="34" charset="-120"/>
              </a:rPr>
              <a:t>• Valkey Rate Bulkhead: </a:t>
            </a:r>
            <a:pPr indent="0" marL="0">
              <a:buNone/>
            </a:pPr>
            <a:r>
              <a:rPr lang="en-US" sz="700" dirty="0">
                <a:solidFill>
                  <a:srgbClr val="3C4043"/>
                </a:solidFill>
                <a:latin typeface="Arial" pitchFamily="34" charset="0"/>
                <a:ea typeface="Arial" pitchFamily="34" charset="-122"/>
                <a:cs typeface="Arial" pitchFamily="34" charset="-120"/>
              </a:rPr>
              <a:t>Screens prompts and model outputs within the execution boundary to enforce safety and DLP policies.
</a:t>
            </a:r>
            <a:pPr indent="0" marL="0">
              <a:buNone/>
            </a:pPr>
            <a:r>
              <a:rPr lang="en-US" sz="720" b="1" dirty="0">
                <a:solidFill>
                  <a:srgbClr val="202124"/>
                </a:solidFill>
                <a:latin typeface="Arial" pitchFamily="34" charset="0"/>
                <a:ea typeface="Arial" pitchFamily="34" charset="-122"/>
                <a:cs typeface="Arial" pitchFamily="34" charset="-120"/>
              </a:rPr>
              <a:t>• 2LO &amp; 3LO Auth Mgr: </a:t>
            </a:r>
            <a:pPr indent="0" marL="0">
              <a:buNone/>
            </a:pPr>
            <a:r>
              <a:rPr lang="en-US" sz="700" dirty="0">
                <a:solidFill>
                  <a:srgbClr val="3C4043"/>
                </a:solidFill>
                <a:latin typeface="Arial" pitchFamily="34" charset="0"/>
                <a:ea typeface="Arial" pitchFamily="34" charset="-122"/>
                <a:cs typeface="Arial" pitchFamily="34" charset="-120"/>
              </a:rPr>
              <a:t>Serverless tool interface providing standardized, scoped access to enterprise systems.
</a:t>
            </a:r>
            <a:pPr indent="0" marL="0">
              <a:buNone/>
            </a:pPr>
            <a:r>
              <a:rPr lang="en-US" sz="720" b="1" dirty="0">
                <a:solidFill>
                  <a:srgbClr val="202124"/>
                </a:solidFill>
                <a:latin typeface="Arial" pitchFamily="34" charset="0"/>
                <a:ea typeface="Arial" pitchFamily="34" charset="-122"/>
                <a:cs typeface="Arial" pitchFamily="34" charset="-120"/>
              </a:rPr>
              <a:t>• AlloyDB RLS &amp; L1–L5: </a:t>
            </a:r>
            <a:pPr indent="0" marL="0">
              <a:buNone/>
            </a:pPr>
            <a:r>
              <a:rPr lang="en-US" sz="700" dirty="0">
                <a:solidFill>
                  <a:srgbClr val="3C4043"/>
                </a:solidFill>
                <a:latin typeface="Arial" pitchFamily="34" charset="0"/>
                <a:ea typeface="Arial" pitchFamily="34" charset="-122"/>
                <a:cs typeface="Arial" pitchFamily="34" charset="-120"/>
              </a:rPr>
              <a:t>Isolated persistence layer enforcing access boundaries, vector namespaces, and encryption at rest.</a:t>
            </a:r>
            <a:endParaRPr lang="en-US" sz="720" dirty="0"/>
          </a:p>
        </p:txBody>
      </p:sp>
      <p:sp>
        <p:nvSpPr>
          <p:cNvPr id="31" name="Shape 29"/>
          <p:cNvSpPr/>
          <p:nvPr/>
        </p:nvSpPr>
        <p:spPr>
          <a:xfrm>
            <a:off x="749808" y="4041648"/>
            <a:ext cx="10680192" cy="0"/>
          </a:xfrm>
          <a:prstGeom prst="line">
            <a:avLst/>
          </a:prstGeom>
          <a:noFill/>
          <a:ln w="9525">
            <a:solidFill>
              <a:srgbClr val="DADCE0"/>
            </a:solidFill>
            <a:prstDash val="solid"/>
          </a:ln>
        </p:spPr>
      </p:sp>
      <p:sp>
        <p:nvSpPr>
          <p:cNvPr id="32" name="Text 30"/>
          <p:cNvSpPr/>
          <p:nvPr/>
        </p:nvSpPr>
        <p:spPr>
          <a:xfrm>
            <a:off x="749808" y="4114800"/>
            <a:ext cx="10680192" cy="256032"/>
          </a:xfrm>
          <a:prstGeom prst="rect">
            <a:avLst/>
          </a:prstGeom>
          <a:noFill/>
          <a:ln/>
        </p:spPr>
        <p:txBody>
          <a:bodyPr wrap="square" rtlCol="0" anchor="ctr"/>
          <a:lstStyle/>
          <a:p>
            <a:pPr indent="0" marL="0">
              <a:buNone/>
            </a:pPr>
            <a:r>
              <a:rPr lang="en-US" sz="1300" dirty="0">
                <a:solidFill>
                  <a:srgbClr val="202124"/>
                </a:solidFill>
                <a:latin typeface="Arial" pitchFamily="34" charset="0"/>
                <a:ea typeface="Arial" pitchFamily="34" charset="-122"/>
                <a:cs typeface="Arial" pitchFamily="34" charset="-120"/>
              </a:rPr>
              <a:t>Agentic flow</a:t>
            </a:r>
            <a:endParaRPr lang="en-US" sz="1300" dirty="0"/>
          </a:p>
        </p:txBody>
      </p:sp>
      <p:sp>
        <p:nvSpPr>
          <p:cNvPr id="33" name="Text 31"/>
          <p:cNvSpPr/>
          <p:nvPr/>
        </p:nvSpPr>
        <p:spPr>
          <a:xfrm>
            <a:off x="749808" y="4407408"/>
            <a:ext cx="10680192" cy="2139696"/>
          </a:xfrm>
          <a:prstGeom prst="rect">
            <a:avLst/>
          </a:prstGeom>
          <a:noFill/>
          <a:ln/>
        </p:spPr>
        <p:txBody>
          <a:bodyPr wrap="square" rtlCol="0" anchor="t"/>
          <a:lstStyle/>
          <a:p>
            <a:pPr indent="0" marL="0">
              <a:lnSpc>
                <a:spcPct val="108000"/>
              </a:lnSpc>
              <a:buNone/>
            </a:pPr>
            <a:r>
              <a:rPr lang="en-US" sz="740" b="1" dirty="0">
                <a:solidFill>
                  <a:srgbClr val="202124"/>
                </a:solidFill>
                <a:latin typeface="Arial" pitchFamily="34" charset="0"/>
                <a:ea typeface="Arial" pitchFamily="34" charset="-122"/>
                <a:cs typeface="Arial" pitchFamily="34" charset="-120"/>
              </a:rPr>
              <a:t>1. </a:t>
            </a:r>
            <a:pPr indent="0" marL="0">
              <a:lnSpc>
                <a:spcPct val="108000"/>
              </a:lnSpc>
              <a:buNone/>
            </a:pPr>
            <a:r>
              <a:rPr lang="en-US" sz="730" dirty="0">
                <a:solidFill>
                  <a:srgbClr val="3C4043"/>
                </a:solidFill>
                <a:latin typeface="Arial" pitchFamily="34" charset="0"/>
                <a:ea typeface="Arial" pitchFamily="34" charset="-122"/>
                <a:cs typeface="Arial" pitchFamily="34" charset="-120"/>
              </a:rPr>
              <a:t>A caller sends a request to External Application Load Balancer in the Triad Pillar 1: Zero-Trust Cryptographic Security.
</a:t>
            </a:r>
            <a:pPr indent="0" marL="0">
              <a:lnSpc>
                <a:spcPct val="108000"/>
              </a:lnSpc>
              <a:buNone/>
            </a:pPr>
            <a:r>
              <a:rPr lang="en-US" sz="740" b="1" dirty="0">
                <a:solidFill>
                  <a:srgbClr val="202124"/>
                </a:solidFill>
                <a:latin typeface="Arial" pitchFamily="34" charset="0"/>
                <a:ea typeface="Arial" pitchFamily="34" charset="-122"/>
                <a:cs typeface="Arial" pitchFamily="34" charset="-120"/>
              </a:rPr>
              <a:t>2. </a:t>
            </a:r>
            <a:pPr indent="0" marL="0">
              <a:lnSpc>
                <a:spcPct val="108000"/>
              </a:lnSpc>
              <a:buNone/>
            </a:pPr>
            <a:r>
              <a:rPr lang="en-US" sz="730" dirty="0">
                <a:solidFill>
                  <a:srgbClr val="3C4043"/>
                </a:solidFill>
                <a:latin typeface="Arial" pitchFamily="34" charset="0"/>
                <a:ea typeface="Arial" pitchFamily="34" charset="-122"/>
                <a:cs typeface="Arial" pitchFamily="34" charset="-120"/>
              </a:rPr>
              <a:t>After passing policy and security checks across Hop 1: Edge PEP, Hop 4: Model Armor, and Hop 2: Catalog PDP, the request is forwarded to Architecture Selector.
</a:t>
            </a:r>
            <a:pPr indent="0" marL="0">
              <a:lnSpc>
                <a:spcPct val="108000"/>
              </a:lnSpc>
              <a:buNone/>
            </a:pPr>
            <a:r>
              <a:rPr lang="en-US" sz="740" b="1" dirty="0">
                <a:solidFill>
                  <a:srgbClr val="202124"/>
                </a:solidFill>
                <a:latin typeface="Arial" pitchFamily="34" charset="0"/>
                <a:ea typeface="Arial" pitchFamily="34" charset="-122"/>
                <a:cs typeface="Arial" pitchFamily="34" charset="-120"/>
              </a:rPr>
              <a:t>3. </a:t>
            </a:r>
            <a:pPr indent="0" marL="0">
              <a:lnSpc>
                <a:spcPct val="108000"/>
              </a:lnSpc>
              <a:buNone/>
            </a:pPr>
            <a:r>
              <a:rPr lang="en-US" sz="730" dirty="0">
                <a:solidFill>
                  <a:srgbClr val="3C4043"/>
                </a:solidFill>
                <a:latin typeface="Arial" pitchFamily="34" charset="0"/>
                <a:ea typeface="Arial" pitchFamily="34" charset="-122"/>
                <a:cs typeface="Arial" pitchFamily="34" charset="-120"/>
              </a:rPr>
              <a:t>Architecture Selector verifies the caller's identity claims, attaches scoped execution metadata, and routes the request to the target execution spoke.
</a:t>
            </a:r>
            <a:pPr indent="0" marL="0">
              <a:lnSpc>
                <a:spcPct val="108000"/>
              </a:lnSpc>
              <a:buNone/>
            </a:pPr>
            <a:r>
              <a:rPr lang="en-US" sz="740" b="1" dirty="0">
                <a:solidFill>
                  <a:srgbClr val="202124"/>
                </a:solidFill>
                <a:latin typeface="Arial" pitchFamily="34" charset="0"/>
                <a:ea typeface="Arial" pitchFamily="34" charset="-122"/>
                <a:cs typeface="Arial" pitchFamily="34" charset="-120"/>
              </a:rPr>
              <a:t>4. </a:t>
            </a:r>
            <a:pPr indent="0" marL="0">
              <a:lnSpc>
                <a:spcPct val="108000"/>
              </a:lnSpc>
              <a:buNone/>
            </a:pPr>
            <a:r>
              <a:rPr lang="en-US" sz="730" dirty="0">
                <a:solidFill>
                  <a:srgbClr val="3C4043"/>
                </a:solidFill>
                <a:latin typeface="Arial" pitchFamily="34" charset="0"/>
                <a:ea typeface="Arial" pitchFamily="34" charset="-122"/>
                <a:cs typeface="Arial" pitchFamily="34" charset="-120"/>
              </a:rPr>
              <a:t>Within Pattern A: Pooled Unit Economics, the runtime orchestrates execution across four deterministic sub-steps.
</a:t>
            </a:r>
            <a:pPr indent="0" marL="0">
              <a:lnSpc>
                <a:spcPct val="108000"/>
              </a:lnSpc>
              <a:buNone/>
            </a:pPr>
            <a:r>
              <a:rPr lang="en-US" sz="700" b="1" dirty="0">
                <a:solidFill>
                  <a:srgbClr val="202124"/>
                </a:solidFill>
                <a:latin typeface="Arial" pitchFamily="34" charset="0"/>
                <a:ea typeface="Arial" pitchFamily="34" charset="-122"/>
                <a:cs typeface="Arial" pitchFamily="34" charset="-120"/>
              </a:rPr>
              <a:t>     4a. </a:t>
            </a:r>
            <a:pPr indent="0" marL="0">
              <a:lnSpc>
                <a:spcPct val="108000"/>
              </a:lnSpc>
              <a:buNone/>
            </a:pPr>
            <a:r>
              <a:rPr lang="en-US" sz="690" dirty="0">
                <a:solidFill>
                  <a:srgbClr val="3C4043"/>
                </a:solidFill>
                <a:latin typeface="Arial" pitchFamily="34" charset="0"/>
                <a:ea typeface="Arial" pitchFamily="34" charset="-122"/>
                <a:cs typeface="Arial" pitchFamily="34" charset="-120"/>
              </a:rPr>
              <a:t>Input policy validation: Screens the incoming payload against safety and DLP policies.
</a:t>
            </a:r>
            <a:pPr indent="0" marL="0">
              <a:lnSpc>
                <a:spcPct val="108000"/>
              </a:lnSpc>
              <a:buNone/>
            </a:pPr>
            <a:r>
              <a:rPr lang="en-US" sz="700" b="1" dirty="0">
                <a:solidFill>
                  <a:srgbClr val="202124"/>
                </a:solidFill>
                <a:latin typeface="Arial" pitchFamily="34" charset="0"/>
                <a:ea typeface="Arial" pitchFamily="34" charset="-122"/>
                <a:cs typeface="Arial" pitchFamily="34" charset="-120"/>
              </a:rPr>
              <a:t>     4b. </a:t>
            </a:r>
            <a:pPr indent="0" marL="0">
              <a:lnSpc>
                <a:spcPct val="108000"/>
              </a:lnSpc>
              <a:buNone/>
            </a:pPr>
            <a:r>
              <a:rPr lang="en-US" sz="690" dirty="0">
                <a:solidFill>
                  <a:srgbClr val="3C4043"/>
                </a:solidFill>
                <a:latin typeface="Arial" pitchFamily="34" charset="0"/>
                <a:ea typeface="Arial" pitchFamily="34" charset="-122"/>
                <a:cs typeface="Arial" pitchFamily="34" charset="-120"/>
              </a:rPr>
              <a:t>Grounded context retrieval: Queries the datastore via Zero Cache Bleed.
</a:t>
            </a:r>
            <a:pPr indent="0" marL="0">
              <a:lnSpc>
                <a:spcPct val="108000"/>
              </a:lnSpc>
              <a:buNone/>
            </a:pPr>
            <a:r>
              <a:rPr lang="en-US" sz="700" b="1" dirty="0">
                <a:solidFill>
                  <a:srgbClr val="202124"/>
                </a:solidFill>
                <a:latin typeface="Arial" pitchFamily="34" charset="0"/>
                <a:ea typeface="Arial" pitchFamily="34" charset="-122"/>
                <a:cs typeface="Arial" pitchFamily="34" charset="-120"/>
              </a:rPr>
              <a:t>     4c. </a:t>
            </a:r>
            <a:pPr indent="0" marL="0">
              <a:lnSpc>
                <a:spcPct val="108000"/>
              </a:lnSpc>
              <a:buNone/>
            </a:pPr>
            <a:r>
              <a:rPr lang="en-US" sz="690" dirty="0">
                <a:solidFill>
                  <a:srgbClr val="3C4043"/>
                </a:solidFill>
                <a:latin typeface="Arial" pitchFamily="34" charset="0"/>
                <a:ea typeface="Arial" pitchFamily="34" charset="-122"/>
                <a:cs typeface="Arial" pitchFamily="34" charset="-120"/>
              </a:rPr>
              <a:t>Scoped tool invocation: Executes external tool operations via Storage-Engine RLS Policy.
</a:t>
            </a:r>
            <a:pPr indent="0" marL="0">
              <a:lnSpc>
                <a:spcPct val="108000"/>
              </a:lnSpc>
              <a:buNone/>
            </a:pPr>
            <a:r>
              <a:rPr lang="en-US" sz="700" b="1" dirty="0">
                <a:solidFill>
                  <a:srgbClr val="202124"/>
                </a:solidFill>
                <a:latin typeface="Arial" pitchFamily="34" charset="0"/>
                <a:ea typeface="Arial" pitchFamily="34" charset="-122"/>
                <a:cs typeface="Arial" pitchFamily="34" charset="-120"/>
              </a:rPr>
              <a:t>     4d. </a:t>
            </a:r>
            <a:pPr indent="0" marL="0">
              <a:lnSpc>
                <a:spcPct val="108000"/>
              </a:lnSpc>
              <a:buNone/>
            </a:pPr>
            <a:r>
              <a:rPr lang="en-US" sz="690" dirty="0">
                <a:solidFill>
                  <a:srgbClr val="3C4043"/>
                </a:solidFill>
                <a:latin typeface="Arial" pitchFamily="34" charset="0"/>
                <a:ea typeface="Arial" pitchFamily="34" charset="-122"/>
                <a:cs typeface="Arial" pitchFamily="34" charset="-120"/>
              </a:rPr>
              <a:t>Transactional state persistence: Commits verified state updates under strict isolation boundaries.
</a:t>
            </a:r>
            <a:pPr indent="0" marL="0">
              <a:lnSpc>
                <a:spcPct val="108000"/>
              </a:lnSpc>
              <a:buNone/>
            </a:pPr>
            <a:r>
              <a:rPr lang="en-US" sz="740" b="1" dirty="0">
                <a:solidFill>
                  <a:srgbClr val="202124"/>
                </a:solidFill>
                <a:latin typeface="Arial" pitchFamily="34" charset="0"/>
                <a:ea typeface="Arial" pitchFamily="34" charset="-122"/>
                <a:cs typeface="Arial" pitchFamily="34" charset="-120"/>
              </a:rPr>
              <a:t>5. </a:t>
            </a:r>
            <a:pPr indent="0" marL="0">
              <a:lnSpc>
                <a:spcPct val="108000"/>
              </a:lnSpc>
              <a:buNone/>
            </a:pPr>
            <a:r>
              <a:rPr lang="en-US" sz="730" dirty="0">
                <a:solidFill>
                  <a:srgbClr val="3C4043"/>
                </a:solidFill>
                <a:latin typeface="Arial" pitchFamily="34" charset="0"/>
                <a:ea typeface="Arial" pitchFamily="34" charset="-122"/>
                <a:cs typeface="Arial" pitchFamily="34" charset="-120"/>
              </a:rPr>
              <a:t>Thinking Budget Cap sends the validated, context-enriched prompt to ContextCacheConfig to synthesize a grounded response.
</a:t>
            </a:r>
            <a:pPr indent="0" marL="0">
              <a:lnSpc>
                <a:spcPct val="108000"/>
              </a:lnSpc>
              <a:buNone/>
            </a:pPr>
            <a:r>
              <a:rPr lang="en-US" sz="740" b="1" dirty="0">
                <a:solidFill>
                  <a:srgbClr val="202124"/>
                </a:solidFill>
                <a:latin typeface="Arial" pitchFamily="34" charset="0"/>
                <a:ea typeface="Arial" pitchFamily="34" charset="-122"/>
                <a:cs typeface="Arial" pitchFamily="34" charset="-120"/>
              </a:rPr>
              <a:t>6. </a:t>
            </a:r>
            <a:pPr indent="0" marL="0">
              <a:lnSpc>
                <a:spcPct val="108000"/>
              </a:lnSpc>
              <a:buNone/>
            </a:pPr>
            <a:r>
              <a:rPr lang="en-US" sz="730" dirty="0">
                <a:solidFill>
                  <a:srgbClr val="3C4043"/>
                </a:solidFill>
                <a:latin typeface="Arial" pitchFamily="34" charset="0"/>
                <a:ea typeface="Arial" pitchFamily="34" charset="-122"/>
                <a:cs typeface="Arial" pitchFamily="34" charset="-120"/>
              </a:rPr>
              <a:t>Thinking Budget Cap passes the generated output through Valkey Rate Bulkhead for final output sanitization and policy enforcement.
</a:t>
            </a:r>
            <a:pPr indent="0" marL="0">
              <a:lnSpc>
                <a:spcPct val="108000"/>
              </a:lnSpc>
              <a:buNone/>
            </a:pPr>
            <a:r>
              <a:rPr lang="en-US" sz="740" b="1" dirty="0">
                <a:solidFill>
                  <a:srgbClr val="202124"/>
                </a:solidFill>
                <a:latin typeface="Arial" pitchFamily="34" charset="0"/>
                <a:ea typeface="Arial" pitchFamily="34" charset="-122"/>
                <a:cs typeface="Arial" pitchFamily="34" charset="-120"/>
              </a:rPr>
              <a:t>7. </a:t>
            </a:r>
            <a:pPr indent="0" marL="0">
              <a:lnSpc>
                <a:spcPct val="108000"/>
              </a:lnSpc>
              <a:buNone/>
            </a:pPr>
            <a:r>
              <a:rPr lang="en-US" sz="730" dirty="0">
                <a:solidFill>
                  <a:srgbClr val="3C4043"/>
                </a:solidFill>
                <a:latin typeface="Arial" pitchFamily="34" charset="0"/>
                <a:ea typeface="Arial" pitchFamily="34" charset="-122"/>
                <a:cs typeface="Arial" pitchFamily="34" charset="-120"/>
              </a:rPr>
              <a:t>The verified response returns to the caller through the Triad Pillar 1: Zero-Trust Cryptographic Security, while structured OpenTelemetry audit and FinOps spans stream to the Triad Pillar 3: Privacy- Preserving OTel &amp; Chargeback.
</a:t>
            </a:r>
            <a:endParaRPr lang="en-US" sz="7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Reference Guide • Agent Engine, MCP &amp; A2A  ›  Products used  &amp;  Use case</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DOC-REF-09  ·  Page 4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58368"/>
            <a:ext cx="10680192" cy="310896"/>
          </a:xfrm>
          <a:prstGeom prst="rect">
            <a:avLst/>
          </a:prstGeom>
          <a:noFill/>
          <a:ln/>
        </p:spPr>
        <p:txBody>
          <a:bodyPr wrap="square" rtlCol="0" anchor="ctr"/>
          <a:lstStyle/>
          <a:p>
            <a:pPr indent="0" marL="0">
              <a:buNone/>
            </a:pPr>
            <a:r>
              <a:rPr lang="en-US" sz="1550" dirty="0">
                <a:solidFill>
                  <a:srgbClr val="202124"/>
                </a:solidFill>
                <a:latin typeface="Arial" pitchFamily="34" charset="0"/>
                <a:ea typeface="Arial" pitchFamily="34" charset="-122"/>
                <a:cs typeface="Arial" pitchFamily="34" charset="-120"/>
              </a:rPr>
              <a:t>Products used</a:t>
            </a:r>
            <a:endParaRPr lang="en-US" sz="1550" dirty="0"/>
          </a:p>
        </p:txBody>
      </p:sp>
      <p:sp>
        <p:nvSpPr>
          <p:cNvPr id="7" name="Text 5"/>
          <p:cNvSpPr/>
          <p:nvPr/>
        </p:nvSpPr>
        <p:spPr>
          <a:xfrm>
            <a:off x="749808" y="1005840"/>
            <a:ext cx="10680192" cy="219456"/>
          </a:xfrm>
          <a:prstGeom prst="rect">
            <a:avLst/>
          </a:prstGeom>
          <a:noFill/>
          <a:ln/>
        </p:spPr>
        <p:txBody>
          <a:bodyPr wrap="square" rtlCol="0" anchor="ctr"/>
          <a:lstStyle/>
          <a:p>
            <a:pPr indent="0" marL="0">
              <a:buNone/>
            </a:pPr>
            <a:r>
              <a:rPr lang="en-US" sz="920" dirty="0">
                <a:solidFill>
                  <a:srgbClr val="3C4043"/>
                </a:solidFill>
                <a:latin typeface="Arial" pitchFamily="34" charset="0"/>
                <a:ea typeface="Arial" pitchFamily="34" charset="-122"/>
                <a:cs typeface="Arial" pitchFamily="34" charset="-120"/>
              </a:rPr>
              <a:t>This reference architecture uses the following Google Cloud services and open-source frameworks to implement Design Patterns for Scalable Multi-Agent Ecosystems: Vertex AI Agent Engine, MCP &amp; A2A.</a:t>
            </a:r>
            <a:endParaRPr lang="en-US" sz="920" dirty="0"/>
          </a:p>
        </p:txBody>
      </p:sp>
      <p:sp>
        <p:nvSpPr>
          <p:cNvPr id="8" name="Text 6"/>
          <p:cNvSpPr/>
          <p:nvPr/>
        </p:nvSpPr>
        <p:spPr>
          <a:xfrm>
            <a:off x="877824" y="1280160"/>
            <a:ext cx="10552176" cy="1993392"/>
          </a:xfrm>
          <a:prstGeom prst="rect">
            <a:avLst/>
          </a:prstGeom>
          <a:noFill/>
          <a:ln/>
        </p:spPr>
        <p:txBody>
          <a:bodyPr wrap="square" rtlCol="0" anchor="t"/>
          <a:lstStyle/>
          <a:p>
            <a:pPr indent="0" marL="0">
              <a:lnSpc>
                <a:spcPct val="124000"/>
              </a:lnSpc>
              <a:buNone/>
            </a:pPr>
            <a:r>
              <a:rPr lang="en-US" sz="840" b="1" dirty="0">
                <a:solidFill>
                  <a:srgbClr val="1A73E8"/>
                </a:solidFill>
                <a:latin typeface="Arial" pitchFamily="34" charset="0"/>
                <a:ea typeface="Arial" pitchFamily="34" charset="-122"/>
                <a:cs typeface="Arial" pitchFamily="34" charset="-120"/>
              </a:rPr>
              <a:t>•  Vertex AI Agent Engine: </a:t>
            </a:r>
            <a:pPr indent="0" marL="0">
              <a:lnSpc>
                <a:spcPct val="124000"/>
              </a:lnSpc>
              <a:buNone/>
            </a:pPr>
            <a:r>
              <a:rPr lang="en-US" sz="820" dirty="0">
                <a:solidFill>
                  <a:srgbClr val="3C4043"/>
                </a:solidFill>
                <a:latin typeface="Arial" pitchFamily="34" charset="0"/>
                <a:ea typeface="Arial" pitchFamily="34" charset="-122"/>
                <a:cs typeface="Arial" pitchFamily="34" charset="-120"/>
              </a:rPr>
              <a:t>Managed runtime environment to host, scale, and govern AI agents with managed Sessions, Memory Bank, and Context Caching.
</a:t>
            </a:r>
            <a:pPr indent="0" marL="0">
              <a:lnSpc>
                <a:spcPct val="124000"/>
              </a:lnSpc>
              <a:buNone/>
            </a:pPr>
            <a:r>
              <a:rPr lang="en-US" sz="840" b="1" dirty="0">
                <a:solidFill>
                  <a:srgbClr val="1A73E8"/>
                </a:solidFill>
                <a:latin typeface="Arial" pitchFamily="34" charset="0"/>
                <a:ea typeface="Arial" pitchFamily="34" charset="-122"/>
                <a:cs typeface="Arial" pitchFamily="34" charset="-120"/>
              </a:rPr>
              <a:t>•  Google ADK 2.0: </a:t>
            </a:r>
            <a:pPr indent="0" marL="0">
              <a:lnSpc>
                <a:spcPct val="124000"/>
              </a:lnSpc>
              <a:buNone/>
            </a:pPr>
            <a:r>
              <a:rPr lang="en-US" sz="820" dirty="0">
                <a:solidFill>
                  <a:srgbClr val="3C4043"/>
                </a:solidFill>
                <a:latin typeface="Arial" pitchFamily="34" charset="0"/>
                <a:ea typeface="Arial" pitchFamily="34" charset="-122"/>
                <a:cs typeface="Arial" pitchFamily="34" charset="-120"/>
              </a:rPr>
              <a:t>Open-source Agent Development Kit for building, orchestrating, and testing hierarchical multi-agent systems with deterministic callbacks.
</a:t>
            </a:r>
            <a:pPr indent="0" marL="0">
              <a:lnSpc>
                <a:spcPct val="124000"/>
              </a:lnSpc>
              <a:buNone/>
            </a:pPr>
            <a:r>
              <a:rPr lang="en-US" sz="840" b="1" dirty="0">
                <a:solidFill>
                  <a:srgbClr val="1A73E8"/>
                </a:solidFill>
                <a:latin typeface="Arial" pitchFamily="34" charset="0"/>
                <a:ea typeface="Arial" pitchFamily="34" charset="-122"/>
                <a:cs typeface="Arial" pitchFamily="34" charset="-120"/>
              </a:rPr>
              <a:t>•  Cloud Run: </a:t>
            </a:r>
            <a:pPr indent="0" marL="0">
              <a:lnSpc>
                <a:spcPct val="124000"/>
              </a:lnSpc>
              <a:buNone/>
            </a:pPr>
            <a:r>
              <a:rPr lang="en-US" sz="820" dirty="0">
                <a:solidFill>
                  <a:srgbClr val="3C4043"/>
                </a:solidFill>
                <a:latin typeface="Arial" pitchFamily="34" charset="0"/>
                <a:ea typeface="Arial" pitchFamily="34" charset="-122"/>
                <a:cs typeface="Arial" pitchFamily="34" charset="-120"/>
              </a:rPr>
              <a:t>Serverless container platform used to host stateless ingress routers and Model Context Protocol (MCP) tool servers inside gVisor sandboxes.
</a:t>
            </a:r>
            <a:pPr indent="0" marL="0">
              <a:lnSpc>
                <a:spcPct val="124000"/>
              </a:lnSpc>
              <a:buNone/>
            </a:pPr>
            <a:r>
              <a:rPr lang="en-US" sz="840" b="1" dirty="0">
                <a:solidFill>
                  <a:srgbClr val="1A73E8"/>
                </a:solidFill>
                <a:latin typeface="Arial" pitchFamily="34" charset="0"/>
                <a:ea typeface="Arial" pitchFamily="34" charset="-122"/>
                <a:cs typeface="Arial" pitchFamily="34" charset="-120"/>
              </a:rPr>
              <a:t>•  BigQuery Enterprise Data Warehouse: </a:t>
            </a:r>
            <a:pPr indent="0" marL="0">
              <a:lnSpc>
                <a:spcPct val="124000"/>
              </a:lnSpc>
              <a:buNone/>
            </a:pPr>
            <a:r>
              <a:rPr lang="en-US" sz="820" dirty="0">
                <a:solidFill>
                  <a:srgbClr val="3C4043"/>
                </a:solidFill>
                <a:latin typeface="Arial" pitchFamily="34" charset="0"/>
                <a:ea typeface="Arial" pitchFamily="34" charset="-122"/>
                <a:cs typeface="Arial" pitchFamily="34" charset="-120"/>
              </a:rPr>
              <a:t>Serverless enterprise data warehouse aggregating OpenTelemetry execution spans, audit logs, and token chargeback analytics.
</a:t>
            </a:r>
            <a:pPr indent="0" marL="0">
              <a:lnSpc>
                <a:spcPct val="124000"/>
              </a:lnSpc>
              <a:buNone/>
            </a:pPr>
            <a:r>
              <a:rPr lang="en-US" sz="840" b="1" dirty="0">
                <a:solidFill>
                  <a:srgbClr val="1A73E8"/>
                </a:solidFill>
                <a:latin typeface="Arial" pitchFamily="34" charset="0"/>
                <a:ea typeface="Arial" pitchFamily="34" charset="-122"/>
                <a:cs typeface="Arial" pitchFamily="34" charset="-120"/>
              </a:rPr>
              <a:t>•  Gemini Enterprise: </a:t>
            </a:r>
            <a:pPr indent="0" marL="0">
              <a:lnSpc>
                <a:spcPct val="124000"/>
              </a:lnSpc>
              <a:buNone/>
            </a:pPr>
            <a:r>
              <a:rPr lang="en-US" sz="820" dirty="0">
                <a:solidFill>
                  <a:srgbClr val="3C4043"/>
                </a:solidFill>
                <a:latin typeface="Arial" pitchFamily="34" charset="0"/>
                <a:ea typeface="Arial" pitchFamily="34" charset="-122"/>
                <a:cs typeface="Arial" pitchFamily="34" charset="-120"/>
              </a:rPr>
              <a:t>Core Google Cloud service used in DOC-REF-09 to enforce production security, scalability, and observability.</a:t>
            </a:r>
            <a:endParaRPr lang="en-US" sz="840" dirty="0"/>
          </a:p>
        </p:txBody>
      </p:sp>
      <p:sp>
        <p:nvSpPr>
          <p:cNvPr id="9" name="Shape 7"/>
          <p:cNvSpPr/>
          <p:nvPr/>
        </p:nvSpPr>
        <p:spPr>
          <a:xfrm>
            <a:off x="749808" y="3383280"/>
            <a:ext cx="10680192" cy="0"/>
          </a:xfrm>
          <a:prstGeom prst="line">
            <a:avLst/>
          </a:prstGeom>
          <a:noFill/>
          <a:ln w="9525">
            <a:solidFill>
              <a:srgbClr val="DADCE0"/>
            </a:solidFill>
            <a:prstDash val="solid"/>
          </a:ln>
        </p:spPr>
      </p:sp>
      <p:sp>
        <p:nvSpPr>
          <p:cNvPr id="10" name="Text 8"/>
          <p:cNvSpPr/>
          <p:nvPr/>
        </p:nvSpPr>
        <p:spPr>
          <a:xfrm>
            <a:off x="749808" y="3511296"/>
            <a:ext cx="10680192" cy="310896"/>
          </a:xfrm>
          <a:prstGeom prst="rect">
            <a:avLst/>
          </a:prstGeom>
          <a:noFill/>
          <a:ln/>
        </p:spPr>
        <p:txBody>
          <a:bodyPr wrap="square" rtlCol="0" anchor="ctr"/>
          <a:lstStyle/>
          <a:p>
            <a:pPr indent="0" marL="0">
              <a:buNone/>
            </a:pPr>
            <a:r>
              <a:rPr lang="en-US" sz="1550" dirty="0">
                <a:solidFill>
                  <a:srgbClr val="202124"/>
                </a:solidFill>
                <a:latin typeface="Arial" pitchFamily="34" charset="0"/>
                <a:ea typeface="Arial" pitchFamily="34" charset="-122"/>
                <a:cs typeface="Arial" pitchFamily="34" charset="-120"/>
              </a:rPr>
              <a:t>Use case</a:t>
            </a:r>
            <a:endParaRPr lang="en-US" sz="1550" dirty="0"/>
          </a:p>
        </p:txBody>
      </p:sp>
      <p:sp>
        <p:nvSpPr>
          <p:cNvPr id="11" name="Text 9"/>
          <p:cNvSpPr/>
          <p:nvPr/>
        </p:nvSpPr>
        <p:spPr>
          <a:xfrm>
            <a:off x="749808" y="3858768"/>
            <a:ext cx="10680192" cy="256032"/>
          </a:xfrm>
          <a:prstGeom prst="rect">
            <a:avLst/>
          </a:prstGeom>
          <a:noFill/>
          <a:ln/>
        </p:spPr>
        <p:txBody>
          <a:bodyPr wrap="square" rtlCol="0" anchor="ctr"/>
          <a:lstStyle/>
          <a:p>
            <a:pPr indent="0" marL="0">
              <a:buNone/>
            </a:pPr>
            <a:r>
              <a:rPr lang="en-US" sz="1150" b="1" dirty="0">
                <a:solidFill>
                  <a:srgbClr val="202124"/>
                </a:solidFill>
                <a:latin typeface="Arial" pitchFamily="34" charset="0"/>
                <a:ea typeface="Arial" pitchFamily="34" charset="-122"/>
                <a:cs typeface="Arial" pitchFamily="34" charset="-120"/>
              </a:rPr>
              <a:t>A2A Agent Card Discovery, OBO Scope Narrowing &amp; Circuit Breaking</a:t>
            </a:r>
            <a:endParaRPr lang="en-US" sz="1150" dirty="0"/>
          </a:p>
        </p:txBody>
      </p:sp>
      <p:sp>
        <p:nvSpPr>
          <p:cNvPr id="12" name="Text 10"/>
          <p:cNvSpPr/>
          <p:nvPr/>
        </p:nvSpPr>
        <p:spPr>
          <a:xfrm>
            <a:off x="749808" y="4151376"/>
            <a:ext cx="10680192" cy="658368"/>
          </a:xfrm>
          <a:prstGeom prst="rect">
            <a:avLst/>
          </a:prstGeom>
          <a:noFill/>
          <a:ln/>
        </p:spPr>
        <p:txBody>
          <a:bodyPr wrap="square" rtlCol="0" anchor="t"/>
          <a:lstStyle/>
          <a:p>
            <a:pPr indent="0" marL="0">
              <a:lnSpc>
                <a:spcPct val="118000"/>
              </a:lnSpc>
              <a:buNone/>
            </a:pPr>
            <a:r>
              <a:rPr lang="en-US" sz="880" dirty="0">
                <a:solidFill>
                  <a:srgbClr val="3C4043"/>
                </a:solidFill>
                <a:latin typeface="Arial" pitchFamily="34" charset="0"/>
                <a:ea typeface="Arial" pitchFamily="34" charset="-122"/>
                <a:cs typeface="Arial" pitchFamily="34" charset="-120"/>
              </a:rPr>
              <a:t>When the Root Orchestrator delegates a supply-chain disruption query across Order, Distributor, and Logistics Tracking agents, each A2A hop narrows the OBO token scope to the target agent’s declared capabilities.</a:t>
            </a:r>
            <a:endParaRPr lang="en-US" sz="880" dirty="0"/>
          </a:p>
        </p:txBody>
      </p:sp>
      <p:sp>
        <p:nvSpPr>
          <p:cNvPr id="13" name="Text 11"/>
          <p:cNvSpPr/>
          <p:nvPr/>
        </p:nvSpPr>
        <p:spPr>
          <a:xfrm>
            <a:off x="749808" y="4846320"/>
            <a:ext cx="10680192" cy="201168"/>
          </a:xfrm>
          <a:prstGeom prst="rect">
            <a:avLst/>
          </a:prstGeom>
          <a:noFill/>
          <a:ln/>
        </p:spPr>
        <p:txBody>
          <a:bodyPr wrap="square" rtlCol="0" anchor="ctr"/>
          <a:lstStyle/>
          <a:p>
            <a:pPr indent="0" marL="0">
              <a:buNone/>
            </a:pPr>
            <a:r>
              <a:rPr lang="en-US" sz="880" dirty="0">
                <a:solidFill>
                  <a:srgbClr val="3C4043"/>
                </a:solidFill>
                <a:latin typeface="Arial" pitchFamily="34" charset="0"/>
                <a:ea typeface="Arial" pitchFamily="34" charset="-122"/>
                <a:cs typeface="Arial" pitchFamily="34" charset="-120"/>
              </a:rPr>
              <a:t>For this use case, the architecture provides the following benefits:</a:t>
            </a:r>
            <a:endParaRPr lang="en-US" sz="880" dirty="0"/>
          </a:p>
        </p:txBody>
      </p:sp>
      <p:sp>
        <p:nvSpPr>
          <p:cNvPr id="14" name="Text 12"/>
          <p:cNvSpPr/>
          <p:nvPr/>
        </p:nvSpPr>
        <p:spPr>
          <a:xfrm>
            <a:off x="877824" y="5084064"/>
            <a:ext cx="10552176" cy="1426464"/>
          </a:xfrm>
          <a:prstGeom prst="rect">
            <a:avLst/>
          </a:prstGeom>
          <a:noFill/>
          <a:ln/>
        </p:spPr>
        <p:txBody>
          <a:bodyPr wrap="square" rtlCol="0" anchor="t"/>
          <a:lstStyle/>
          <a:p>
            <a:pPr indent="0" marL="0">
              <a:lnSpc>
                <a:spcPct val="120000"/>
              </a:lnSpc>
              <a:buNone/>
            </a:pPr>
            <a:r>
              <a:rPr lang="en-US" sz="820" b="1" dirty="0">
                <a:solidFill>
                  <a:srgbClr val="202124"/>
                </a:solidFill>
                <a:latin typeface="Arial" pitchFamily="34" charset="0"/>
                <a:ea typeface="Arial" pitchFamily="34" charset="-122"/>
                <a:cs typeface="Arial" pitchFamily="34" charset="-120"/>
              </a:rPr>
              <a:t>•  Strict data isolation: </a:t>
            </a:r>
            <a:pPr indent="0" marL="0">
              <a:lnSpc>
                <a:spcPct val="120000"/>
              </a:lnSpc>
              <a:buNone/>
            </a:pPr>
            <a:r>
              <a:rPr lang="en-US" sz="800" dirty="0">
                <a:solidFill>
                  <a:srgbClr val="3C4043"/>
                </a:solidFill>
                <a:latin typeface="Arial" pitchFamily="34" charset="0"/>
                <a:ea typeface="Arial" pitchFamily="34" charset="-122"/>
                <a:cs typeface="Arial" pitchFamily="34" charset="-120"/>
              </a:rPr>
              <a:t>Enforces deterministic tenant and domain boundaries via Unified Vertex AI Agent Engine &amp; Google ADK Reference Architecture and AlloyDB RLS &amp; L1–L5, preventing cross-spoke state or credential leakage.
</a:t>
            </a:r>
            <a:pPr indent="0" marL="0">
              <a:lnSpc>
                <a:spcPct val="120000"/>
              </a:lnSpc>
              <a:buNone/>
            </a:pPr>
            <a:r>
              <a:rPr lang="en-US" sz="820" b="1" dirty="0">
                <a:solidFill>
                  <a:srgbClr val="202124"/>
                </a:solidFill>
                <a:latin typeface="Arial" pitchFamily="34" charset="0"/>
                <a:ea typeface="Arial" pitchFamily="34" charset="-122"/>
                <a:cs typeface="Arial" pitchFamily="34" charset="-120"/>
              </a:rPr>
              <a:t>•  Dynamic Capability Discovery via /.well-known/agent.json: </a:t>
            </a:r>
            <a:pPr indent="0" marL="0">
              <a:lnSpc>
                <a:spcPct val="120000"/>
              </a:lnSpc>
              <a:buNone/>
            </a:pPr>
            <a:r>
              <a:rPr lang="en-US" sz="800" dirty="0">
                <a:solidFill>
                  <a:srgbClr val="3C4043"/>
                </a:solidFill>
                <a:latin typeface="Arial" pitchFamily="34" charset="0"/>
                <a:ea typeface="Arial" pitchFamily="34" charset="-122"/>
                <a:cs typeface="Arial" pitchFamily="34" charset="-120"/>
              </a:rPr>
              <a:t>Each domain agent publishes its JSON Schema input/output contract, required OAuth scopes, and SLA timeout in its A2A Agent Card registered in Gemini Enterprise.
</a:t>
            </a:r>
            <a:pPr indent="0" marL="0">
              <a:lnSpc>
                <a:spcPct val="120000"/>
              </a:lnSpc>
              <a:buNone/>
            </a:pPr>
            <a:r>
              <a:rPr lang="en-US" sz="820" b="1" dirty="0">
                <a:solidFill>
                  <a:srgbClr val="202124"/>
                </a:solidFill>
                <a:latin typeface="Arial" pitchFamily="34" charset="0"/>
                <a:ea typeface="Arial" pitchFamily="34" charset="-122"/>
                <a:cs typeface="Arial" pitchFamily="34" charset="-120"/>
              </a:rPr>
              <a:t>•  Per-Sub-Agent Token &amp; Latency Circuit Breakers: </a:t>
            </a:r>
            <a:pPr indent="0" marL="0">
              <a:lnSpc>
                <a:spcPct val="120000"/>
              </a:lnSpc>
              <a:buNone/>
            </a:pPr>
            <a:r>
              <a:rPr lang="en-US" sz="800" dirty="0">
                <a:solidFill>
                  <a:srgbClr val="3C4043"/>
                </a:solidFill>
                <a:latin typeface="Arial" pitchFamily="34" charset="0"/>
                <a:ea typeface="Arial" pitchFamily="34" charset="-122"/>
                <a:cs typeface="Arial" pitchFamily="34" charset="-120"/>
              </a:rPr>
              <a:t>The Root Orchestrator enforces a 4,000-token budget and 8-second deadline per A2A sub-agent call, gracefully degrading to cached BigQuery inventory snapshots if an external logistics partner API times out.</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Reference Guide • Agent Engine, MCP &amp; A2A  ›  Design alternatives  &amp;  Design considerations</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DOC-REF-09  ·  Page 5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21792"/>
            <a:ext cx="10680192" cy="274320"/>
          </a:xfrm>
          <a:prstGeom prst="rect">
            <a:avLst/>
          </a:prstGeom>
          <a:noFill/>
          <a:ln/>
        </p:spPr>
        <p:txBody>
          <a:bodyPr wrap="square" rtlCol="0" anchor="ctr"/>
          <a:lstStyle/>
          <a:p>
            <a:pPr indent="0" marL="0">
              <a:buNone/>
            </a:pPr>
            <a:r>
              <a:rPr lang="en-US" sz="1450" dirty="0">
                <a:solidFill>
                  <a:srgbClr val="202124"/>
                </a:solidFill>
                <a:latin typeface="Arial" pitchFamily="34" charset="0"/>
                <a:ea typeface="Arial" pitchFamily="34" charset="-122"/>
                <a:cs typeface="Arial" pitchFamily="34" charset="-120"/>
              </a:rPr>
              <a:t>Design alternatives</a:t>
            </a:r>
            <a:endParaRPr lang="en-US" sz="1450" dirty="0"/>
          </a:p>
        </p:txBody>
      </p:sp>
      <p:sp>
        <p:nvSpPr>
          <p:cNvPr id="7" name="Text 5"/>
          <p:cNvSpPr/>
          <p:nvPr/>
        </p:nvSpPr>
        <p:spPr>
          <a:xfrm>
            <a:off x="749808" y="914400"/>
            <a:ext cx="10680192" cy="1810512"/>
          </a:xfrm>
          <a:prstGeom prst="rect">
            <a:avLst/>
          </a:prstGeom>
          <a:noFill/>
          <a:ln/>
        </p:spPr>
        <p:txBody>
          <a:bodyPr wrap="square" rtlCol="0" anchor="t"/>
          <a:lstStyle/>
          <a:p>
            <a:pPr indent="0" marL="0">
              <a:lnSpc>
                <a:spcPct val="112000"/>
              </a:lnSpc>
              <a:buNone/>
            </a:pPr>
            <a:r>
              <a:rPr lang="en-US" sz="820" b="1" dirty="0">
                <a:solidFill>
                  <a:srgbClr val="202124"/>
                </a:solidFill>
                <a:latin typeface="Arial" pitchFamily="34" charset="0"/>
                <a:ea typeface="Arial" pitchFamily="34" charset="-122"/>
                <a:cs typeface="Arial" pitchFamily="34" charset="-120"/>
              </a:rPr>
              <a:t>Private access deployment &amp; network isolation — </a:t>
            </a:r>
            <a:pPr indent="0" marL="0">
              <a:lnSpc>
                <a:spcPct val="112000"/>
              </a:lnSpc>
              <a:buNone/>
            </a:pPr>
            <a:r>
              <a:rPr lang="en-US" sz="780" dirty="0">
                <a:solidFill>
                  <a:srgbClr val="3C4043"/>
                </a:solidFill>
                <a:latin typeface="Arial" pitchFamily="34" charset="0"/>
                <a:ea typeface="Arial" pitchFamily="34" charset="-122"/>
                <a:cs typeface="Arial" pitchFamily="34" charset="-120"/>
              </a:rPr>
              <a:t>The baseline topology routes traffic through External Application Load Balancer and Architecture Selector under The Multi-Tenant Agentic Triad: Security • FinOps COGS • Zero-PII Observability.
</a:t>
            </a:r>
            <a:pPr indent="0" marL="0">
              <a:lnSpc>
                <a:spcPct val="112000"/>
              </a:lnSpc>
              <a:buNone/>
            </a:pPr>
            <a:r>
              <a:rPr lang="en-US" sz="750" b="1" dirty="0">
                <a:solidFill>
                  <a:srgbClr val="202124"/>
                </a:solidFill>
                <a:latin typeface="Arial" pitchFamily="34" charset="0"/>
                <a:ea typeface="Arial" pitchFamily="34" charset="-122"/>
                <a:cs typeface="Arial" pitchFamily="34" charset="-120"/>
              </a:rPr>
              <a:t>    •  External vs. internal private ingress: </a:t>
            </a:r>
            <a:pPr indent="0" marL="0">
              <a:lnSpc>
                <a:spcPct val="112000"/>
              </a:lnSpc>
              <a:buNone/>
            </a:pPr>
            <a:r>
              <a:rPr lang="en-US" sz="740" dirty="0">
                <a:solidFill>
                  <a:srgbClr val="3C4043"/>
                </a:solidFill>
                <a:latin typeface="Arial" pitchFamily="34" charset="0"/>
                <a:ea typeface="Arial" pitchFamily="34" charset="-122"/>
                <a:cs typeface="Arial" pitchFamily="34" charset="-120"/>
              </a:rPr>
              <a:t>For internet-facing workloads, retain the global External Application Load Balancer with Hop 1: Edge PEP and Hop 4: Model Armor.
</a:t>
            </a:r>
            <a:pPr indent="0" marL="0">
              <a:lnSpc>
                <a:spcPct val="112000"/>
              </a:lnSpc>
              <a:buNone/>
            </a:pPr>
            <a:pPr indent="0" marL="0">
              <a:lnSpc>
                <a:spcPct val="112000"/>
              </a:lnSpc>
              <a:buNone/>
            </a:pPr>
            <a:r>
              <a:rPr lang="en-US" sz="820" b="1" dirty="0">
                <a:solidFill>
                  <a:srgbClr val="202124"/>
                </a:solidFill>
                <a:latin typeface="Arial" pitchFamily="34" charset="0"/>
                <a:ea typeface="Arial" pitchFamily="34" charset="-122"/>
                <a:cs typeface="Arial" pitchFamily="34" charset="-120"/>
              </a:rPr>
              <a:t>Thinking Budget Cap &amp; 2LO &amp; 3LO Auth Mgr placement — </a:t>
            </a:r>
            <a:pPr indent="0" marL="0">
              <a:lnSpc>
                <a:spcPct val="112000"/>
              </a:lnSpc>
              <a:buNone/>
            </a:pPr>
            <a:r>
              <a:rPr lang="en-US" sz="780" dirty="0">
                <a:solidFill>
                  <a:srgbClr val="3C4043"/>
                </a:solidFill>
                <a:latin typeface="Arial" pitchFamily="34" charset="0"/>
                <a:ea typeface="Arial" pitchFamily="34" charset="-122"/>
                <a:cs typeface="Arial" pitchFamily="34" charset="-120"/>
              </a:rPr>
              <a:t>Each execution spoke pairs Thinking Budget Cap with 2LO &amp; 3LO Auth Mgr and AlloyDB RLS &amp; L1–L5.
</a:t>
            </a:r>
            <a:pPr indent="0" marL="0">
              <a:lnSpc>
                <a:spcPct val="112000"/>
              </a:lnSpc>
              <a:buNone/>
            </a:pPr>
            <a:r>
              <a:rPr lang="en-US" sz="750" b="1" dirty="0">
                <a:solidFill>
                  <a:srgbClr val="202124"/>
                </a:solidFill>
                <a:latin typeface="Arial" pitchFamily="34" charset="0"/>
                <a:ea typeface="Arial" pitchFamily="34" charset="-122"/>
                <a:cs typeface="Arial" pitchFamily="34" charset="-120"/>
              </a:rPr>
              <a:t>    •  Dedicated spoke vs. shared tool gateways: </a:t>
            </a:r>
            <a:pPr indent="0" marL="0">
              <a:lnSpc>
                <a:spcPct val="112000"/>
              </a:lnSpc>
              <a:buNone/>
            </a:pPr>
            <a:r>
              <a:rPr lang="en-US" sz="740" dirty="0">
                <a:solidFill>
                  <a:srgbClr val="3C4043"/>
                </a:solidFill>
                <a:latin typeface="Arial" pitchFamily="34" charset="0"/>
                <a:ea typeface="Arial" pitchFamily="34" charset="-122"/>
                <a:cs typeface="Arial" pitchFamily="34" charset="-120"/>
              </a:rPr>
              <a:t>Spoke-local 2LO &amp; 3LO Auth Mgr: Maximizes blast-radius containment by keeping credentials, service accounts, and data access strictly inside.; Shared enterprise tool gateway: Consolidates stateless, non-tenant-specific MCP tools into a central hub project via Private Service Connect.
</a:t>
            </a:r>
            <a:endParaRPr lang="en-US" sz="820" dirty="0"/>
          </a:p>
        </p:txBody>
      </p:sp>
      <p:sp>
        <p:nvSpPr>
          <p:cNvPr id="8" name="Shape 6"/>
          <p:cNvSpPr/>
          <p:nvPr/>
        </p:nvSpPr>
        <p:spPr>
          <a:xfrm>
            <a:off x="749808" y="2779776"/>
            <a:ext cx="10680192" cy="0"/>
          </a:xfrm>
          <a:prstGeom prst="line">
            <a:avLst/>
          </a:prstGeom>
          <a:noFill/>
          <a:ln w="9525">
            <a:solidFill>
              <a:srgbClr val="DADCE0"/>
            </a:solidFill>
            <a:prstDash val="solid"/>
          </a:ln>
        </p:spPr>
      </p:sp>
      <p:sp>
        <p:nvSpPr>
          <p:cNvPr id="9" name="Text 7"/>
          <p:cNvSpPr/>
          <p:nvPr/>
        </p:nvSpPr>
        <p:spPr>
          <a:xfrm>
            <a:off x="749808" y="2852928"/>
            <a:ext cx="10680192" cy="274320"/>
          </a:xfrm>
          <a:prstGeom prst="rect">
            <a:avLst/>
          </a:prstGeom>
          <a:noFill/>
          <a:ln/>
        </p:spPr>
        <p:txBody>
          <a:bodyPr wrap="square" rtlCol="0" anchor="ctr"/>
          <a:lstStyle/>
          <a:p>
            <a:pPr indent="0" marL="0">
              <a:buNone/>
            </a:pPr>
            <a:r>
              <a:rPr lang="en-US" sz="1450" dirty="0">
                <a:solidFill>
                  <a:srgbClr val="202124"/>
                </a:solidFill>
                <a:latin typeface="Arial" pitchFamily="34" charset="0"/>
                <a:ea typeface="Arial" pitchFamily="34" charset="-122"/>
                <a:cs typeface="Arial" pitchFamily="34" charset="-120"/>
              </a:rPr>
              <a:t>Design considerations</a:t>
            </a:r>
            <a:endParaRPr lang="en-US" sz="1450" dirty="0"/>
          </a:p>
        </p:txBody>
      </p:sp>
      <p:sp>
        <p:nvSpPr>
          <p:cNvPr id="10" name="Text 8"/>
          <p:cNvSpPr/>
          <p:nvPr/>
        </p:nvSpPr>
        <p:spPr>
          <a:xfrm>
            <a:off x="749808" y="3127248"/>
            <a:ext cx="10680192" cy="201168"/>
          </a:xfrm>
          <a:prstGeom prst="rect">
            <a:avLst/>
          </a:prstGeom>
          <a:noFill/>
          <a:ln/>
        </p:spPr>
        <p:txBody>
          <a:bodyPr wrap="square" rtlCol="0" anchor="ctr"/>
          <a:lstStyle/>
          <a:p>
            <a:pPr indent="0" marL="0">
              <a:buNone/>
            </a:pPr>
            <a:r>
              <a:rPr lang="en-US" sz="820" dirty="0">
                <a:solidFill>
                  <a:srgbClr val="3C4043"/>
                </a:solidFill>
                <a:latin typeface="Arial" pitchFamily="34" charset="0"/>
                <a:ea typeface="Arial" pitchFamily="34" charset="-122"/>
                <a:cs typeface="Arial" pitchFamily="34" charset="-120"/>
              </a:rPr>
              <a:t>This section aligns the reference architecture with the Google Cloud Well-Architected Framework across security, reliability, operational excellence, and cost optimization, alongside production failure-mode mitigations.</a:t>
            </a:r>
            <a:endParaRPr lang="en-US" sz="820" dirty="0"/>
          </a:p>
        </p:txBody>
      </p:sp>
      <p:sp>
        <p:nvSpPr>
          <p:cNvPr id="11" name="Shape 9"/>
          <p:cNvSpPr/>
          <p:nvPr/>
        </p:nvSpPr>
        <p:spPr>
          <a:xfrm>
            <a:off x="749808" y="3364992"/>
            <a:ext cx="2048256" cy="256032"/>
          </a:xfrm>
          <a:prstGeom prst="rect">
            <a:avLst/>
          </a:prstGeom>
          <a:solidFill>
            <a:srgbClr val="F8F9FA"/>
          </a:solidFill>
          <a:ln w="9525">
            <a:solidFill>
              <a:srgbClr val="DADCE0"/>
            </a:solidFill>
            <a:prstDash val="solid"/>
          </a:ln>
        </p:spPr>
      </p:sp>
      <p:sp>
        <p:nvSpPr>
          <p:cNvPr id="12" name="Text 10"/>
          <p:cNvSpPr/>
          <p:nvPr/>
        </p:nvSpPr>
        <p:spPr>
          <a:xfrm>
            <a:off x="841248" y="3364992"/>
            <a:ext cx="1865376" cy="256032"/>
          </a:xfrm>
          <a:prstGeom prst="rect">
            <a:avLst/>
          </a:prstGeom>
          <a:noFill/>
          <a:ln/>
        </p:spPr>
        <p:txBody>
          <a:bodyPr wrap="square" rtlCol="0" anchor="ctr"/>
          <a:lstStyle/>
          <a:p>
            <a:pPr indent="0" marL="0">
              <a:buNone/>
            </a:pPr>
            <a:r>
              <a:rPr lang="en-US" sz="800" b="1" dirty="0">
                <a:solidFill>
                  <a:srgbClr val="202124"/>
                </a:solidFill>
                <a:latin typeface="Arial" pitchFamily="34" charset="0"/>
                <a:ea typeface="Arial" pitchFamily="34" charset="-122"/>
                <a:cs typeface="Arial" pitchFamily="34" charset="-120"/>
              </a:rPr>
              <a:t>Well-Architected pillar</a:t>
            </a:r>
            <a:endParaRPr lang="en-US" sz="800" dirty="0"/>
          </a:p>
        </p:txBody>
      </p:sp>
      <p:sp>
        <p:nvSpPr>
          <p:cNvPr id="13" name="Shape 11"/>
          <p:cNvSpPr/>
          <p:nvPr/>
        </p:nvSpPr>
        <p:spPr>
          <a:xfrm>
            <a:off x="2798064" y="3364992"/>
            <a:ext cx="2322576" cy="256032"/>
          </a:xfrm>
          <a:prstGeom prst="rect">
            <a:avLst/>
          </a:prstGeom>
          <a:solidFill>
            <a:srgbClr val="F8F9FA"/>
          </a:solidFill>
          <a:ln w="9525">
            <a:solidFill>
              <a:srgbClr val="DADCE0"/>
            </a:solidFill>
            <a:prstDash val="solid"/>
          </a:ln>
        </p:spPr>
      </p:sp>
      <p:sp>
        <p:nvSpPr>
          <p:cNvPr id="14" name="Text 12"/>
          <p:cNvSpPr/>
          <p:nvPr/>
        </p:nvSpPr>
        <p:spPr>
          <a:xfrm>
            <a:off x="2889504" y="3364992"/>
            <a:ext cx="2139696" cy="256032"/>
          </a:xfrm>
          <a:prstGeom prst="rect">
            <a:avLst/>
          </a:prstGeom>
          <a:noFill/>
          <a:ln/>
        </p:spPr>
        <p:txBody>
          <a:bodyPr wrap="square" rtlCol="0" anchor="ctr"/>
          <a:lstStyle/>
          <a:p>
            <a:pPr indent="0" marL="0">
              <a:buNone/>
            </a:pPr>
            <a:r>
              <a:rPr lang="en-US" sz="800" b="1" dirty="0">
                <a:solidFill>
                  <a:srgbClr val="202124"/>
                </a:solidFill>
                <a:latin typeface="Arial" pitchFamily="34" charset="0"/>
                <a:ea typeface="Arial" pitchFamily="34" charset="-122"/>
                <a:cs typeface="Arial" pitchFamily="34" charset="-120"/>
              </a:rPr>
              <a:t>Component</a:t>
            </a:r>
            <a:endParaRPr lang="en-US" sz="800" dirty="0"/>
          </a:p>
        </p:txBody>
      </p:sp>
      <p:sp>
        <p:nvSpPr>
          <p:cNvPr id="15" name="Shape 13"/>
          <p:cNvSpPr/>
          <p:nvPr/>
        </p:nvSpPr>
        <p:spPr>
          <a:xfrm>
            <a:off x="5120640" y="3364992"/>
            <a:ext cx="6309360" cy="256032"/>
          </a:xfrm>
          <a:prstGeom prst="rect">
            <a:avLst/>
          </a:prstGeom>
          <a:solidFill>
            <a:srgbClr val="F8F9FA"/>
          </a:solidFill>
          <a:ln w="9525">
            <a:solidFill>
              <a:srgbClr val="DADCE0"/>
            </a:solidFill>
            <a:prstDash val="solid"/>
          </a:ln>
        </p:spPr>
      </p:sp>
      <p:sp>
        <p:nvSpPr>
          <p:cNvPr id="16" name="Text 14"/>
          <p:cNvSpPr/>
          <p:nvPr/>
        </p:nvSpPr>
        <p:spPr>
          <a:xfrm>
            <a:off x="5212080" y="3364992"/>
            <a:ext cx="6126480" cy="256032"/>
          </a:xfrm>
          <a:prstGeom prst="rect">
            <a:avLst/>
          </a:prstGeom>
          <a:noFill/>
          <a:ln/>
        </p:spPr>
        <p:txBody>
          <a:bodyPr wrap="square" rtlCol="0" anchor="ctr"/>
          <a:lstStyle/>
          <a:p>
            <a:pPr indent="0" marL="0">
              <a:buNone/>
            </a:pPr>
            <a:r>
              <a:rPr lang="en-US" sz="800" b="1" dirty="0">
                <a:solidFill>
                  <a:srgbClr val="202124"/>
                </a:solidFill>
                <a:latin typeface="Arial" pitchFamily="34" charset="0"/>
                <a:ea typeface="Arial" pitchFamily="34" charset="-122"/>
                <a:cs typeface="Arial" pitchFamily="34" charset="-120"/>
              </a:rPr>
              <a:t>Design considerations and recommendations</a:t>
            </a:r>
            <a:endParaRPr lang="en-US" sz="800" dirty="0"/>
          </a:p>
        </p:txBody>
      </p:sp>
      <p:sp>
        <p:nvSpPr>
          <p:cNvPr id="17" name="Shape 15"/>
          <p:cNvSpPr/>
          <p:nvPr/>
        </p:nvSpPr>
        <p:spPr>
          <a:xfrm>
            <a:off x="749808" y="3621024"/>
            <a:ext cx="2048256" cy="722376"/>
          </a:xfrm>
          <a:prstGeom prst="rect">
            <a:avLst/>
          </a:prstGeom>
          <a:solidFill>
            <a:srgbClr val="FFFFFF"/>
          </a:solidFill>
          <a:ln w="9525">
            <a:solidFill>
              <a:srgbClr val="DADCE0"/>
            </a:solidFill>
            <a:prstDash val="solid"/>
          </a:ln>
        </p:spPr>
      </p:sp>
      <p:sp>
        <p:nvSpPr>
          <p:cNvPr id="18" name="Text 16"/>
          <p:cNvSpPr/>
          <p:nvPr/>
        </p:nvSpPr>
        <p:spPr>
          <a:xfrm>
            <a:off x="841248" y="3648456"/>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Security, privacy, and compliance</a:t>
            </a:r>
            <a:endParaRPr lang="en-US" sz="780" dirty="0"/>
          </a:p>
        </p:txBody>
      </p:sp>
      <p:sp>
        <p:nvSpPr>
          <p:cNvPr id="19" name="Shape 17"/>
          <p:cNvSpPr/>
          <p:nvPr/>
        </p:nvSpPr>
        <p:spPr>
          <a:xfrm>
            <a:off x="2798064" y="3621024"/>
            <a:ext cx="2322576" cy="722376"/>
          </a:xfrm>
          <a:prstGeom prst="rect">
            <a:avLst/>
          </a:prstGeom>
          <a:solidFill>
            <a:srgbClr val="FFFFFF"/>
          </a:solidFill>
          <a:ln w="9525">
            <a:solidFill>
              <a:srgbClr val="DADCE0"/>
            </a:solidFill>
            <a:prstDash val="solid"/>
          </a:ln>
        </p:spPr>
      </p:sp>
      <p:sp>
        <p:nvSpPr>
          <p:cNvPr id="20" name="Text 18"/>
          <p:cNvSpPr/>
          <p:nvPr/>
        </p:nvSpPr>
        <p:spPr>
          <a:xfrm>
            <a:off x="2889504" y="3648456"/>
            <a:ext cx="2139696" cy="667512"/>
          </a:xfrm>
          <a:prstGeom prst="rect">
            <a:avLst/>
          </a:prstGeom>
          <a:noFill/>
          <a:ln/>
        </p:spPr>
        <p:txBody>
          <a:bodyPr wrap="square" rtlCol="0" anchor="ctr"/>
          <a:lstStyle/>
          <a:p>
            <a:pPr indent="0" marL="0">
              <a:buNone/>
            </a:pPr>
            <a:r>
              <a:rPr lang="en-US" sz="720" b="1" dirty="0">
                <a:solidFill>
                  <a:srgbClr val="202124"/>
                </a:solidFill>
                <a:latin typeface="Arial" pitchFamily="34" charset="0"/>
                <a:ea typeface="Arial" pitchFamily="34" charset="-122"/>
                <a:cs typeface="Arial" pitchFamily="34" charset="-120"/>
              </a:rPr>
              <a:t>• The Multi-Tenant Agentic Triad: Security • FinOps COGS • Zero-PII Observability &amp; Unified Vertex AI Agent Engine &amp; Google ADK Reference Architecture</a:t>
            </a:r>
            <a:endParaRPr lang="en-US" sz="720" dirty="0"/>
          </a:p>
          <a:p>
            <a:pPr indent="0" marL="0">
              <a:buNone/>
            </a:pPr>
            <a:r>
              <a:rPr lang="en-US" sz="720" b="1" dirty="0">
                <a:solidFill>
                  <a:srgbClr val="202124"/>
                </a:solidFill>
                <a:latin typeface="Arial" pitchFamily="34" charset="0"/>
                <a:ea typeface="Arial" pitchFamily="34" charset="-122"/>
                <a:cs typeface="Arial" pitchFamily="34" charset="-120"/>
              </a:rPr>
              <a:t>• Hop 1: Edge PEP, Hop 4: Model Armor &amp; Valkey Rate Bulkhead</a:t>
            </a:r>
            <a:endParaRPr lang="en-US" sz="720" dirty="0"/>
          </a:p>
          <a:p>
            <a:pPr indent="0" marL="0">
              <a:buNone/>
            </a:pPr>
            <a:r>
              <a:rPr lang="en-US" sz="720" b="1" dirty="0">
                <a:solidFill>
                  <a:srgbClr val="202124"/>
                </a:solidFill>
                <a:latin typeface="Arial" pitchFamily="34" charset="0"/>
                <a:ea typeface="Arial" pitchFamily="34" charset="-122"/>
                <a:cs typeface="Arial" pitchFamily="34" charset="-120"/>
              </a:rPr>
              <a:t>• AlloyDB RLS &amp; L1–L5 &amp; 3 Chargeback Models</a:t>
            </a:r>
            <a:endParaRPr lang="en-US" sz="720" dirty="0"/>
          </a:p>
        </p:txBody>
      </p:sp>
      <p:sp>
        <p:nvSpPr>
          <p:cNvPr id="21" name="Shape 19"/>
          <p:cNvSpPr/>
          <p:nvPr/>
        </p:nvSpPr>
        <p:spPr>
          <a:xfrm>
            <a:off x="5120640" y="3621024"/>
            <a:ext cx="6309360" cy="722376"/>
          </a:xfrm>
          <a:prstGeom prst="rect">
            <a:avLst/>
          </a:prstGeom>
          <a:solidFill>
            <a:srgbClr val="FFFFFF"/>
          </a:solidFill>
          <a:ln w="9525">
            <a:solidFill>
              <a:srgbClr val="DADCE0"/>
            </a:solidFill>
            <a:prstDash val="solid"/>
          </a:ln>
        </p:spPr>
      </p:sp>
      <p:sp>
        <p:nvSpPr>
          <p:cNvPr id="22" name="Text 20"/>
          <p:cNvSpPr/>
          <p:nvPr/>
        </p:nvSpPr>
        <p:spPr>
          <a:xfrm>
            <a:off x="5230368" y="3648456"/>
            <a:ext cx="6089904" cy="667512"/>
          </a:xfrm>
          <a:prstGeom prst="rect">
            <a:avLst/>
          </a:prstGeom>
          <a:noFill/>
          <a:ln/>
        </p:spPr>
        <p:txBody>
          <a:bodyPr wrap="square" rtlCol="0" anchor="ctr"/>
          <a:lstStyle/>
          <a:p>
            <a:pPr indent="0" marL="0">
              <a:buNone/>
            </a:pPr>
            <a:r>
              <a:rPr lang="en-US" sz="710" b="1" dirty="0">
                <a:solidFill>
                  <a:srgbClr val="202124"/>
                </a:solidFill>
                <a:latin typeface="Arial" pitchFamily="34" charset="0"/>
                <a:ea typeface="Arial" pitchFamily="34" charset="-122"/>
                <a:cs typeface="Arial" pitchFamily="34" charset="-120"/>
              </a:rPr>
              <a:t>• The Multi-Tenant Agentic Triad: Security • FinOps COGS • Zero-PII Observability &amp; Unified Vertex AI Agent Engine &amp; Google ADK Reference Architecture: </a:t>
            </a:r>
            <a:pPr indent="0" marL="0">
              <a:buNone/>
            </a:pPr>
            <a:r>
              <a:rPr lang="en-US" sz="700" dirty="0">
                <a:solidFill>
                  <a:srgbClr val="3C4043"/>
                </a:solidFill>
                <a:latin typeface="Arial" pitchFamily="34" charset="0"/>
                <a:ea typeface="Arial" pitchFamily="34" charset="-122"/>
                <a:cs typeface="Arial" pitchFamily="34" charset="-120"/>
              </a:rPr>
              <a:t>Enforce The Multi-Tenant Agentic Triad: Security • FinOps COGS • Zero-PII Observability perimeters around hub and spoke projects to block unauthorized data exfiltration, and bind.
</a:t>
            </a:r>
            <a:pPr indent="0" marL="0">
              <a:buNone/>
            </a:pPr>
            <a:r>
              <a:rPr lang="en-US" sz="710" b="1" dirty="0">
                <a:solidFill>
                  <a:srgbClr val="202124"/>
                </a:solidFill>
                <a:latin typeface="Arial" pitchFamily="34" charset="0"/>
                <a:ea typeface="Arial" pitchFamily="34" charset="-122"/>
                <a:cs typeface="Arial" pitchFamily="34" charset="-120"/>
              </a:rPr>
              <a:t>• Hop 1: Edge PEP, Hop 4: Model Armor &amp; Valkey Rate Bulkhead: </a:t>
            </a:r>
            <a:pPr indent="0" marL="0">
              <a:buNone/>
            </a:pPr>
            <a:r>
              <a:rPr lang="en-US" sz="700" dirty="0">
                <a:solidFill>
                  <a:srgbClr val="3C4043"/>
                </a:solidFill>
                <a:latin typeface="Arial" pitchFamily="34" charset="0"/>
                <a:ea typeface="Arial" pitchFamily="34" charset="-122"/>
                <a:cs typeface="Arial" pitchFamily="34" charset="-120"/>
              </a:rPr>
              <a:t>Strip client-supplied privilege headers at the edge, verify caller identity claims, and screen both incoming prompts and outgoing completions with Valkey Rate Bulkhead.
</a:t>
            </a:r>
            <a:pPr indent="0" marL="0">
              <a:buNone/>
            </a:pPr>
            <a:r>
              <a:rPr lang="en-US" sz="710" b="1" dirty="0">
                <a:solidFill>
                  <a:srgbClr val="202124"/>
                </a:solidFill>
                <a:latin typeface="Arial" pitchFamily="34" charset="0"/>
                <a:ea typeface="Arial" pitchFamily="34" charset="-122"/>
                <a:cs typeface="Arial" pitchFamily="34" charset="-120"/>
              </a:rPr>
              <a:t>• AlloyDB RLS &amp; L1–L5 &amp; 3 Chargeback Models: </a:t>
            </a:r>
            <a:pPr indent="0" marL="0">
              <a:buNone/>
            </a:pPr>
            <a:r>
              <a:rPr lang="en-US" sz="700" dirty="0">
                <a:solidFill>
                  <a:srgbClr val="3C4043"/>
                </a:solidFill>
                <a:latin typeface="Arial" pitchFamily="34" charset="0"/>
                <a:ea typeface="Arial" pitchFamily="34" charset="-122"/>
                <a:cs typeface="Arial" pitchFamily="34" charset="-120"/>
              </a:rPr>
              <a:t>Encrypt state at rest with Customer-Managed Encryption Keys and enforce least-privilege access scopes on AlloyDB RLS &amp; L1–L5.</a:t>
            </a:r>
            <a:endParaRPr lang="en-US" sz="710" dirty="0"/>
          </a:p>
        </p:txBody>
      </p:sp>
      <p:sp>
        <p:nvSpPr>
          <p:cNvPr id="23" name="Shape 21"/>
          <p:cNvSpPr/>
          <p:nvPr/>
        </p:nvSpPr>
        <p:spPr>
          <a:xfrm>
            <a:off x="749808" y="4343400"/>
            <a:ext cx="2048256" cy="722376"/>
          </a:xfrm>
          <a:prstGeom prst="rect">
            <a:avLst/>
          </a:prstGeom>
          <a:solidFill>
            <a:srgbClr val="FFFFFF"/>
          </a:solidFill>
          <a:ln w="9525">
            <a:solidFill>
              <a:srgbClr val="DADCE0"/>
            </a:solidFill>
            <a:prstDash val="solid"/>
          </a:ln>
        </p:spPr>
      </p:sp>
      <p:sp>
        <p:nvSpPr>
          <p:cNvPr id="24" name="Text 22"/>
          <p:cNvSpPr/>
          <p:nvPr/>
        </p:nvSpPr>
        <p:spPr>
          <a:xfrm>
            <a:off x="841248" y="4370832"/>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Reliability</a:t>
            </a:r>
            <a:endParaRPr lang="en-US" sz="780" dirty="0"/>
          </a:p>
        </p:txBody>
      </p:sp>
      <p:sp>
        <p:nvSpPr>
          <p:cNvPr id="25" name="Shape 23"/>
          <p:cNvSpPr/>
          <p:nvPr/>
        </p:nvSpPr>
        <p:spPr>
          <a:xfrm>
            <a:off x="2798064" y="4343400"/>
            <a:ext cx="2322576" cy="722376"/>
          </a:xfrm>
          <a:prstGeom prst="rect">
            <a:avLst/>
          </a:prstGeom>
          <a:solidFill>
            <a:srgbClr val="FFFFFF"/>
          </a:solidFill>
          <a:ln w="9525">
            <a:solidFill>
              <a:srgbClr val="DADCE0"/>
            </a:solidFill>
            <a:prstDash val="solid"/>
          </a:ln>
        </p:spPr>
      </p:sp>
      <p:sp>
        <p:nvSpPr>
          <p:cNvPr id="26" name="Text 24"/>
          <p:cNvSpPr/>
          <p:nvPr/>
        </p:nvSpPr>
        <p:spPr>
          <a:xfrm>
            <a:off x="2889504" y="4370832"/>
            <a:ext cx="2139696" cy="667512"/>
          </a:xfrm>
          <a:prstGeom prst="rect">
            <a:avLst/>
          </a:prstGeom>
          <a:noFill/>
          <a:ln/>
        </p:spPr>
        <p:txBody>
          <a:bodyPr wrap="square" rtlCol="0" anchor="ctr"/>
          <a:lstStyle/>
          <a:p>
            <a:pPr indent="0" marL="0">
              <a:buNone/>
            </a:pPr>
            <a:r>
              <a:rPr lang="en-US" sz="720" b="1" dirty="0">
                <a:solidFill>
                  <a:srgbClr val="202124"/>
                </a:solidFill>
                <a:latin typeface="Arial" pitchFamily="34" charset="0"/>
                <a:ea typeface="Arial" pitchFamily="34" charset="-122"/>
                <a:cs typeface="Arial" pitchFamily="34" charset="-120"/>
              </a:rPr>
              <a:t>• External Application Load Balancer &amp; Architecture Selector</a:t>
            </a:r>
            <a:endParaRPr lang="en-US" sz="720" dirty="0"/>
          </a:p>
          <a:p>
            <a:pPr indent="0" marL="0">
              <a:buNone/>
            </a:pPr>
            <a:r>
              <a:rPr lang="en-US" sz="720" b="1" dirty="0">
                <a:solidFill>
                  <a:srgbClr val="202124"/>
                </a:solidFill>
                <a:latin typeface="Arial" pitchFamily="34" charset="0"/>
                <a:ea typeface="Arial" pitchFamily="34" charset="-122"/>
                <a:cs typeface="Arial" pitchFamily="34" charset="-120"/>
              </a:rPr>
              <a:t>• Thinking Budget Cap &amp; 2LO &amp; 3LO Auth Mgr</a:t>
            </a:r>
            <a:endParaRPr lang="en-US" sz="720" dirty="0"/>
          </a:p>
          <a:p>
            <a:pPr indent="0" marL="0">
              <a:buNone/>
            </a:pPr>
            <a:r>
              <a:rPr lang="en-US" sz="720" b="1" dirty="0">
                <a:solidFill>
                  <a:srgbClr val="202124"/>
                </a:solidFill>
                <a:latin typeface="Arial" pitchFamily="34" charset="0"/>
                <a:ea typeface="Arial" pitchFamily="34" charset="-122"/>
                <a:cs typeface="Arial" pitchFamily="34" charset="-120"/>
              </a:rPr>
              <a:t>• AlloyDB RLS &amp; L1–L5</a:t>
            </a:r>
            <a:endParaRPr lang="en-US" sz="720" dirty="0"/>
          </a:p>
        </p:txBody>
      </p:sp>
      <p:sp>
        <p:nvSpPr>
          <p:cNvPr id="27" name="Shape 25"/>
          <p:cNvSpPr/>
          <p:nvPr/>
        </p:nvSpPr>
        <p:spPr>
          <a:xfrm>
            <a:off x="5120640" y="4343400"/>
            <a:ext cx="6309360" cy="722376"/>
          </a:xfrm>
          <a:prstGeom prst="rect">
            <a:avLst/>
          </a:prstGeom>
          <a:solidFill>
            <a:srgbClr val="FFFFFF"/>
          </a:solidFill>
          <a:ln w="9525">
            <a:solidFill>
              <a:srgbClr val="DADCE0"/>
            </a:solidFill>
            <a:prstDash val="solid"/>
          </a:ln>
        </p:spPr>
      </p:sp>
      <p:sp>
        <p:nvSpPr>
          <p:cNvPr id="28" name="Text 26"/>
          <p:cNvSpPr/>
          <p:nvPr/>
        </p:nvSpPr>
        <p:spPr>
          <a:xfrm>
            <a:off x="5230368" y="4370832"/>
            <a:ext cx="6089904" cy="667512"/>
          </a:xfrm>
          <a:prstGeom prst="rect">
            <a:avLst/>
          </a:prstGeom>
          <a:noFill/>
          <a:ln/>
        </p:spPr>
        <p:txBody>
          <a:bodyPr wrap="square" rtlCol="0" anchor="ctr"/>
          <a:lstStyle/>
          <a:p>
            <a:pPr indent="0" marL="0">
              <a:buNone/>
            </a:pPr>
            <a:r>
              <a:rPr lang="en-US" sz="710" b="1" dirty="0">
                <a:solidFill>
                  <a:srgbClr val="202124"/>
                </a:solidFill>
                <a:latin typeface="Arial" pitchFamily="34" charset="0"/>
                <a:ea typeface="Arial" pitchFamily="34" charset="-122"/>
                <a:cs typeface="Arial" pitchFamily="34" charset="-120"/>
              </a:rPr>
              <a:t>• External Application Load Balancer &amp; Architecture Selector: </a:t>
            </a:r>
            <a:pPr indent="0" marL="0">
              <a:buNone/>
            </a:pPr>
            <a:r>
              <a:rPr lang="en-US" sz="700" dirty="0">
                <a:solidFill>
                  <a:srgbClr val="3C4043"/>
                </a:solidFill>
                <a:latin typeface="Arial" pitchFamily="34" charset="0"/>
                <a:ea typeface="Arial" pitchFamily="34" charset="-122"/>
                <a:cs typeface="Arial" pitchFamily="34" charset="-120"/>
              </a:rPr>
              <a:t>Deploy Architecture Selector across multi-region serverless Network Endpoint Groups (NEGs) with minimum warm instances to eliminate cold-start latency spikes.
</a:t>
            </a:r>
            <a:pPr indent="0" marL="0">
              <a:buNone/>
            </a:pPr>
            <a:r>
              <a:rPr lang="en-US" sz="710" b="1" dirty="0">
                <a:solidFill>
                  <a:srgbClr val="202124"/>
                </a:solidFill>
                <a:latin typeface="Arial" pitchFamily="34" charset="0"/>
                <a:ea typeface="Arial" pitchFamily="34" charset="-122"/>
                <a:cs typeface="Arial" pitchFamily="34" charset="-120"/>
              </a:rPr>
              <a:t>• Thinking Budget Cap &amp; 2LO &amp; 3LO Auth Mgr: </a:t>
            </a:r>
            <a:pPr indent="0" marL="0">
              <a:buNone/>
            </a:pPr>
            <a:r>
              <a:rPr lang="en-US" sz="700" dirty="0">
                <a:solidFill>
                  <a:srgbClr val="3C4043"/>
                </a:solidFill>
                <a:latin typeface="Arial" pitchFamily="34" charset="0"/>
                <a:ea typeface="Arial" pitchFamily="34" charset="-122"/>
                <a:cs typeface="Arial" pitchFamily="34" charset="-120"/>
              </a:rPr>
              <a:t>Enforce bounded retry budgets with exponential backoff, per-tool execution timeouts, and stateless horizontal scaling on 2LO &amp; 3LO Auth Mgr.
</a:t>
            </a:r>
            <a:pPr indent="0" marL="0">
              <a:buNone/>
            </a:pPr>
            <a:r>
              <a:rPr lang="en-US" sz="710" b="1" dirty="0">
                <a:solidFill>
                  <a:srgbClr val="202124"/>
                </a:solidFill>
                <a:latin typeface="Arial" pitchFamily="34" charset="0"/>
                <a:ea typeface="Arial" pitchFamily="34" charset="-122"/>
                <a:cs typeface="Arial" pitchFamily="34" charset="-120"/>
              </a:rPr>
              <a:t>• AlloyDB RLS &amp; L1–L5: </a:t>
            </a:r>
            <a:pPr indent="0" marL="0">
              <a:buNone/>
            </a:pPr>
            <a:r>
              <a:rPr lang="en-US" sz="700" dirty="0">
                <a:solidFill>
                  <a:srgbClr val="3C4043"/>
                </a:solidFill>
                <a:latin typeface="Arial" pitchFamily="34" charset="0"/>
                <a:ea typeface="Arial" pitchFamily="34" charset="-122"/>
                <a:cs typeface="Arial" pitchFamily="34" charset="-120"/>
              </a:rPr>
              <a:t>Enable regional high availability and Point-in-Time Recovery on AlloyDB RLS &amp; L1–L5 with automated backup verification.</a:t>
            </a:r>
            <a:endParaRPr lang="en-US" sz="710" dirty="0"/>
          </a:p>
        </p:txBody>
      </p:sp>
      <p:sp>
        <p:nvSpPr>
          <p:cNvPr id="29" name="Shape 27"/>
          <p:cNvSpPr/>
          <p:nvPr/>
        </p:nvSpPr>
        <p:spPr>
          <a:xfrm>
            <a:off x="749808" y="5065776"/>
            <a:ext cx="2048256" cy="722376"/>
          </a:xfrm>
          <a:prstGeom prst="rect">
            <a:avLst/>
          </a:prstGeom>
          <a:solidFill>
            <a:srgbClr val="FFFFFF"/>
          </a:solidFill>
          <a:ln w="9525">
            <a:solidFill>
              <a:srgbClr val="DADCE0"/>
            </a:solidFill>
            <a:prstDash val="solid"/>
          </a:ln>
        </p:spPr>
      </p:sp>
      <p:sp>
        <p:nvSpPr>
          <p:cNvPr id="30" name="Text 28"/>
          <p:cNvSpPr/>
          <p:nvPr/>
        </p:nvSpPr>
        <p:spPr>
          <a:xfrm>
            <a:off x="841248" y="5093208"/>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Operational efficiency</a:t>
            </a:r>
            <a:endParaRPr lang="en-US" sz="780" dirty="0"/>
          </a:p>
        </p:txBody>
      </p:sp>
      <p:sp>
        <p:nvSpPr>
          <p:cNvPr id="31" name="Shape 29"/>
          <p:cNvSpPr/>
          <p:nvPr/>
        </p:nvSpPr>
        <p:spPr>
          <a:xfrm>
            <a:off x="2798064" y="5065776"/>
            <a:ext cx="2322576" cy="722376"/>
          </a:xfrm>
          <a:prstGeom prst="rect">
            <a:avLst/>
          </a:prstGeom>
          <a:solidFill>
            <a:srgbClr val="FFFFFF"/>
          </a:solidFill>
          <a:ln w="9525">
            <a:solidFill>
              <a:srgbClr val="DADCE0"/>
            </a:solidFill>
            <a:prstDash val="solid"/>
          </a:ln>
        </p:spPr>
      </p:sp>
      <p:sp>
        <p:nvSpPr>
          <p:cNvPr id="32" name="Text 30"/>
          <p:cNvSpPr/>
          <p:nvPr/>
        </p:nvSpPr>
        <p:spPr>
          <a:xfrm>
            <a:off x="2889504" y="5093208"/>
            <a:ext cx="2139696" cy="667512"/>
          </a:xfrm>
          <a:prstGeom prst="rect">
            <a:avLst/>
          </a:prstGeom>
          <a:noFill/>
          <a:ln/>
        </p:spPr>
        <p:txBody>
          <a:bodyPr wrap="square" rtlCol="0" anchor="ctr"/>
          <a:lstStyle/>
          <a:p>
            <a:pPr indent="0" marL="0">
              <a:buNone/>
            </a:pPr>
            <a:r>
              <a:rPr lang="en-US" sz="720" b="1" dirty="0">
                <a:solidFill>
                  <a:srgbClr val="202124"/>
                </a:solidFill>
                <a:latin typeface="Arial" pitchFamily="34" charset="0"/>
                <a:ea typeface="Arial" pitchFamily="34" charset="-122"/>
                <a:cs typeface="Arial" pitchFamily="34" charset="-120"/>
              </a:rPr>
              <a:t>• Infrastructure as Code</a:t>
            </a:r>
            <a:endParaRPr lang="en-US" sz="720" dirty="0"/>
          </a:p>
          <a:p>
            <a:pPr indent="0" marL="0">
              <a:buNone/>
            </a:pPr>
            <a:r>
              <a:rPr lang="en-US" sz="720" b="1" dirty="0">
                <a:solidFill>
                  <a:srgbClr val="202124"/>
                </a:solidFill>
                <a:latin typeface="Arial" pitchFamily="34" charset="0"/>
                <a:ea typeface="Arial" pitchFamily="34" charset="-122"/>
                <a:cs typeface="Arial" pitchFamily="34" charset="-120"/>
              </a:rPr>
              <a:t>• Security Command Center &amp; BigQuery OTel Sink</a:t>
            </a:r>
            <a:endParaRPr lang="en-US" sz="720" dirty="0"/>
          </a:p>
          <a:p>
            <a:pPr indent="0" marL="0">
              <a:buNone/>
            </a:pPr>
            <a:r>
              <a:rPr lang="en-US" sz="720" b="1" dirty="0">
                <a:solidFill>
                  <a:srgbClr val="202124"/>
                </a:solidFill>
                <a:latin typeface="Arial" pitchFamily="34" charset="0"/>
                <a:ea typeface="Arial" pitchFamily="34" charset="-122"/>
                <a:cs typeface="Arial" pitchFamily="34" charset="-120"/>
              </a:rPr>
              <a:t>• Automated CI/CD &amp; Red-Team Gates</a:t>
            </a:r>
            <a:endParaRPr lang="en-US" sz="720" dirty="0"/>
          </a:p>
        </p:txBody>
      </p:sp>
      <p:sp>
        <p:nvSpPr>
          <p:cNvPr id="33" name="Shape 31"/>
          <p:cNvSpPr/>
          <p:nvPr/>
        </p:nvSpPr>
        <p:spPr>
          <a:xfrm>
            <a:off x="5120640" y="5065776"/>
            <a:ext cx="6309360" cy="722376"/>
          </a:xfrm>
          <a:prstGeom prst="rect">
            <a:avLst/>
          </a:prstGeom>
          <a:solidFill>
            <a:srgbClr val="FFFFFF"/>
          </a:solidFill>
          <a:ln w="9525">
            <a:solidFill>
              <a:srgbClr val="DADCE0"/>
            </a:solidFill>
            <a:prstDash val="solid"/>
          </a:ln>
        </p:spPr>
      </p:sp>
      <p:sp>
        <p:nvSpPr>
          <p:cNvPr id="34" name="Text 32"/>
          <p:cNvSpPr/>
          <p:nvPr/>
        </p:nvSpPr>
        <p:spPr>
          <a:xfrm>
            <a:off x="5230368" y="5093208"/>
            <a:ext cx="6089904" cy="667512"/>
          </a:xfrm>
          <a:prstGeom prst="rect">
            <a:avLst/>
          </a:prstGeom>
          <a:noFill/>
          <a:ln/>
        </p:spPr>
        <p:txBody>
          <a:bodyPr wrap="square" rtlCol="0" anchor="ctr"/>
          <a:lstStyle/>
          <a:p>
            <a:pPr indent="0" marL="0">
              <a:buNone/>
            </a:pPr>
            <a:r>
              <a:rPr lang="en-US" sz="710" b="1" dirty="0">
                <a:solidFill>
                  <a:srgbClr val="202124"/>
                </a:solidFill>
                <a:latin typeface="Arial" pitchFamily="34" charset="0"/>
                <a:ea typeface="Arial" pitchFamily="34" charset="-122"/>
                <a:cs typeface="Arial" pitchFamily="34" charset="-120"/>
              </a:rPr>
              <a:t>• Infrastructure as Code: </a:t>
            </a:r>
            <a:pPr indent="0" marL="0">
              <a:buNone/>
            </a:pPr>
            <a:r>
              <a:rPr lang="en-US" sz="700" dirty="0">
                <a:solidFill>
                  <a:srgbClr val="3C4043"/>
                </a:solidFill>
                <a:latin typeface="Arial" pitchFamily="34" charset="0"/>
                <a:ea typeface="Arial" pitchFamily="34" charset="-122"/>
                <a:cs typeface="Arial" pitchFamily="34" charset="-120"/>
              </a:rPr>
              <a:t>Provision Pattern A: Pooled Unit Economics and Pattern B Silos &amp; Pattern C PSC Spokes spokes through versioned Terraform modules that atomically bind perimeters, IAM roles, and runtime configurations.
</a:t>
            </a:r>
            <a:pPr indent="0" marL="0">
              <a:buNone/>
            </a:pPr>
            <a:r>
              <a:rPr lang="en-US" sz="710" b="1" dirty="0">
                <a:solidFill>
                  <a:srgbClr val="202124"/>
                </a:solidFill>
                <a:latin typeface="Arial" pitchFamily="34" charset="0"/>
                <a:ea typeface="Arial" pitchFamily="34" charset="-122"/>
                <a:cs typeface="Arial" pitchFamily="34" charset="-120"/>
              </a:rPr>
              <a:t>• Security Command Center &amp; BigQuery OTel Sink: </a:t>
            </a:r>
            <a:pPr indent="0" marL="0">
              <a:buNone/>
            </a:pPr>
            <a:r>
              <a:rPr lang="en-US" sz="700" dirty="0">
                <a:solidFill>
                  <a:srgbClr val="3C4043"/>
                </a:solidFill>
                <a:latin typeface="Arial" pitchFamily="34" charset="0"/>
                <a:ea typeface="Arial" pitchFamily="34" charset="-122"/>
                <a:cs typeface="Arial" pitchFamily="34" charset="-120"/>
              </a:rPr>
              <a:t>Stream structured OpenTelemetry traces and zero-PII audit logs to BigQuery OTel Sink and monitor posture drift in Security Command Center.
</a:t>
            </a:r>
            <a:pPr indent="0" marL="0">
              <a:buNone/>
            </a:pPr>
            <a:r>
              <a:rPr lang="en-US" sz="710" b="1" dirty="0">
                <a:solidFill>
                  <a:srgbClr val="202124"/>
                </a:solidFill>
                <a:latin typeface="Arial" pitchFamily="34" charset="0"/>
                <a:ea typeface="Arial" pitchFamily="34" charset="-122"/>
                <a:cs typeface="Arial" pitchFamily="34" charset="-120"/>
              </a:rPr>
              <a:t>• Automated CI/CD &amp; Red-Team Gates: </a:t>
            </a:r>
            <a:pPr indent="0" marL="0">
              <a:buNone/>
            </a:pPr>
            <a:r>
              <a:rPr lang="en-US" sz="700" dirty="0">
                <a:solidFill>
                  <a:srgbClr val="3C4043"/>
                </a:solidFill>
                <a:latin typeface="Arial" pitchFamily="34" charset="0"/>
                <a:ea typeface="Arial" pitchFamily="34" charset="-122"/>
                <a:cs typeface="Arial" pitchFamily="34" charset="-120"/>
              </a:rPr>
              <a:t>Gate every prompt, model, or tool change on automated Vertex AI Gen AI Evaluation Service benchmarks and security regression checks before production rollout.</a:t>
            </a:r>
            <a:endParaRPr lang="en-US" sz="710" dirty="0"/>
          </a:p>
        </p:txBody>
      </p:sp>
      <p:sp>
        <p:nvSpPr>
          <p:cNvPr id="35" name="Shape 33"/>
          <p:cNvSpPr/>
          <p:nvPr/>
        </p:nvSpPr>
        <p:spPr>
          <a:xfrm>
            <a:off x="749808" y="5788152"/>
            <a:ext cx="2048256" cy="722376"/>
          </a:xfrm>
          <a:prstGeom prst="rect">
            <a:avLst/>
          </a:prstGeom>
          <a:solidFill>
            <a:srgbClr val="FFFFFF"/>
          </a:solidFill>
          <a:ln w="9525">
            <a:solidFill>
              <a:srgbClr val="DADCE0"/>
            </a:solidFill>
            <a:prstDash val="solid"/>
          </a:ln>
        </p:spPr>
      </p:sp>
      <p:sp>
        <p:nvSpPr>
          <p:cNvPr id="36" name="Text 34"/>
          <p:cNvSpPr/>
          <p:nvPr/>
        </p:nvSpPr>
        <p:spPr>
          <a:xfrm>
            <a:off x="841248" y="5815584"/>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Cost optimization</a:t>
            </a:r>
            <a:endParaRPr lang="en-US" sz="780" dirty="0"/>
          </a:p>
        </p:txBody>
      </p:sp>
      <p:sp>
        <p:nvSpPr>
          <p:cNvPr id="37" name="Shape 35"/>
          <p:cNvSpPr/>
          <p:nvPr/>
        </p:nvSpPr>
        <p:spPr>
          <a:xfrm>
            <a:off x="2798064" y="5788152"/>
            <a:ext cx="2322576" cy="722376"/>
          </a:xfrm>
          <a:prstGeom prst="rect">
            <a:avLst/>
          </a:prstGeom>
          <a:solidFill>
            <a:srgbClr val="FFFFFF"/>
          </a:solidFill>
          <a:ln w="9525">
            <a:solidFill>
              <a:srgbClr val="DADCE0"/>
            </a:solidFill>
            <a:prstDash val="solid"/>
          </a:ln>
        </p:spPr>
      </p:sp>
      <p:sp>
        <p:nvSpPr>
          <p:cNvPr id="38" name="Text 36"/>
          <p:cNvSpPr/>
          <p:nvPr/>
        </p:nvSpPr>
        <p:spPr>
          <a:xfrm>
            <a:off x="2889504" y="5815584"/>
            <a:ext cx="2139696" cy="667512"/>
          </a:xfrm>
          <a:prstGeom prst="rect">
            <a:avLst/>
          </a:prstGeom>
          <a:noFill/>
          <a:ln/>
        </p:spPr>
        <p:txBody>
          <a:bodyPr wrap="square" rtlCol="0" anchor="ctr"/>
          <a:lstStyle/>
          <a:p>
            <a:pPr indent="0" marL="0">
              <a:buNone/>
            </a:pPr>
            <a:r>
              <a:rPr lang="en-US" sz="720" b="1" dirty="0">
                <a:solidFill>
                  <a:srgbClr val="202124"/>
                </a:solidFill>
                <a:latin typeface="Arial" pitchFamily="34" charset="0"/>
                <a:ea typeface="Arial" pitchFamily="34" charset="-122"/>
                <a:cs typeface="Arial" pitchFamily="34" charset="-120"/>
              </a:rPr>
              <a:t>• ContextCacheConfig Context Caching</a:t>
            </a:r>
            <a:endParaRPr lang="en-US" sz="720" dirty="0"/>
          </a:p>
          <a:p>
            <a:pPr indent="0" marL="0">
              <a:buNone/>
            </a:pPr>
            <a:r>
              <a:rPr lang="en-US" sz="720" b="1" dirty="0">
                <a:solidFill>
                  <a:srgbClr val="202124"/>
                </a:solidFill>
                <a:latin typeface="Arial" pitchFamily="34" charset="0"/>
                <a:ea typeface="Arial" pitchFamily="34" charset="-122"/>
                <a:cs typeface="Arial" pitchFamily="34" charset="-120"/>
              </a:rPr>
              <a:t>• Hop 2: Catalog PDP &amp; 2LO &amp; 3LO Auth Mgr</a:t>
            </a:r>
            <a:endParaRPr lang="en-US" sz="720" dirty="0"/>
          </a:p>
          <a:p>
            <a:pPr indent="0" marL="0">
              <a:buNone/>
            </a:pPr>
            <a:r>
              <a:rPr lang="en-US" sz="720" b="1" dirty="0">
                <a:solidFill>
                  <a:srgbClr val="202124"/>
                </a:solidFill>
                <a:latin typeface="Arial" pitchFamily="34" charset="0"/>
                <a:ea typeface="Arial" pitchFamily="34" charset="-122"/>
                <a:cs typeface="Arial" pitchFamily="34" charset="-120"/>
              </a:rPr>
              <a:t>• BigQuery OTel Sink FinOps Attribution</a:t>
            </a:r>
            <a:endParaRPr lang="en-US" sz="720" dirty="0"/>
          </a:p>
        </p:txBody>
      </p:sp>
      <p:sp>
        <p:nvSpPr>
          <p:cNvPr id="39" name="Shape 37"/>
          <p:cNvSpPr/>
          <p:nvPr/>
        </p:nvSpPr>
        <p:spPr>
          <a:xfrm>
            <a:off x="5120640" y="5788152"/>
            <a:ext cx="6309360" cy="722376"/>
          </a:xfrm>
          <a:prstGeom prst="rect">
            <a:avLst/>
          </a:prstGeom>
          <a:solidFill>
            <a:srgbClr val="FFFFFF"/>
          </a:solidFill>
          <a:ln w="9525">
            <a:solidFill>
              <a:srgbClr val="DADCE0"/>
            </a:solidFill>
            <a:prstDash val="solid"/>
          </a:ln>
        </p:spPr>
      </p:sp>
      <p:sp>
        <p:nvSpPr>
          <p:cNvPr id="40" name="Text 38"/>
          <p:cNvSpPr/>
          <p:nvPr/>
        </p:nvSpPr>
        <p:spPr>
          <a:xfrm>
            <a:off x="5230368" y="5815584"/>
            <a:ext cx="6089904" cy="667512"/>
          </a:xfrm>
          <a:prstGeom prst="rect">
            <a:avLst/>
          </a:prstGeom>
          <a:noFill/>
          <a:ln/>
        </p:spPr>
        <p:txBody>
          <a:bodyPr wrap="square" rtlCol="0" anchor="ctr"/>
          <a:lstStyle/>
          <a:p>
            <a:pPr indent="0" marL="0">
              <a:buNone/>
            </a:pPr>
            <a:r>
              <a:rPr lang="en-US" sz="710" b="1" dirty="0">
                <a:solidFill>
                  <a:srgbClr val="202124"/>
                </a:solidFill>
                <a:latin typeface="Arial" pitchFamily="34" charset="0"/>
                <a:ea typeface="Arial" pitchFamily="34" charset="-122"/>
                <a:cs typeface="Arial" pitchFamily="34" charset="-120"/>
              </a:rPr>
              <a:t>• ContextCacheConfig Context Caching: </a:t>
            </a:r>
            <a:pPr indent="0" marL="0">
              <a:buNone/>
            </a:pPr>
            <a:r>
              <a:rPr lang="en-US" sz="700" dirty="0">
                <a:solidFill>
                  <a:srgbClr val="3C4043"/>
                </a:solidFill>
                <a:latin typeface="Arial" pitchFamily="34" charset="0"/>
                <a:ea typeface="Arial" pitchFamily="34" charset="-122"/>
                <a:cs typeface="Arial" pitchFamily="34" charset="-120"/>
              </a:rPr>
              <a:t>Enable Vertex AI Context Caching on shared system instructions, tool schemas, and reference rubrics to reduce repeated input token costs by up to 90%.
</a:t>
            </a:r>
            <a:pPr indent="0" marL="0">
              <a:buNone/>
            </a:pPr>
            <a:r>
              <a:rPr lang="en-US" sz="710" b="1" dirty="0">
                <a:solidFill>
                  <a:srgbClr val="202124"/>
                </a:solidFill>
                <a:latin typeface="Arial" pitchFamily="34" charset="0"/>
                <a:ea typeface="Arial" pitchFamily="34" charset="-122"/>
                <a:cs typeface="Arial" pitchFamily="34" charset="-120"/>
              </a:rPr>
              <a:t>• Hop 2: Catalog PDP &amp; 2LO &amp; 3LO Auth Mgr: </a:t>
            </a:r>
            <a:pPr indent="0" marL="0">
              <a:buNone/>
            </a:pPr>
            <a:r>
              <a:rPr lang="en-US" sz="700" dirty="0">
                <a:solidFill>
                  <a:srgbClr val="3C4043"/>
                </a:solidFill>
                <a:latin typeface="Arial" pitchFamily="34" charset="0"/>
                <a:ea typeface="Arial" pitchFamily="34" charset="-122"/>
                <a:cs typeface="Arial" pitchFamily="34" charset="-120"/>
              </a:rPr>
              <a:t>Reject malformed or adversarial requests at the edge before invoking downstream models, and scale idle stateless tool containers down to zero.
</a:t>
            </a:r>
            <a:pPr indent="0" marL="0">
              <a:buNone/>
            </a:pPr>
            <a:r>
              <a:rPr lang="en-US" sz="710" b="1" dirty="0">
                <a:solidFill>
                  <a:srgbClr val="202124"/>
                </a:solidFill>
                <a:latin typeface="Arial" pitchFamily="34" charset="0"/>
                <a:ea typeface="Arial" pitchFamily="34" charset="-122"/>
                <a:cs typeface="Arial" pitchFamily="34" charset="-120"/>
              </a:rPr>
              <a:t>• BigQuery OTel Sink FinOps Attribution: </a:t>
            </a:r>
            <a:pPr indent="0" marL="0">
              <a:buNone/>
            </a:pPr>
            <a:r>
              <a:rPr lang="en-US" sz="700" dirty="0">
                <a:solidFill>
                  <a:srgbClr val="3C4043"/>
                </a:solidFill>
                <a:latin typeface="Arial" pitchFamily="34" charset="0"/>
                <a:ea typeface="Arial" pitchFamily="34" charset="-122"/>
                <a:cs typeface="Arial" pitchFamily="34" charset="-120"/>
              </a:rPr>
              <a:t>Export OpenTelemetry token usage spans and Cloud Billing records to BigQuery to enforce per-spoke quota budgets and automated spend alerts.</a:t>
            </a:r>
            <a:endParaRPr lang="en-US" sz="7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Reference Guide • Agent Engine, MCP &amp; A2A  ›  Deployment,  What's next  &amp;  Contributors</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DOC-REF-09  ·  Page 6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21792"/>
            <a:ext cx="10680192" cy="274320"/>
          </a:xfrm>
          <a:prstGeom prst="rect">
            <a:avLst/>
          </a:prstGeom>
          <a:noFill/>
          <a:ln/>
        </p:spPr>
        <p:txBody>
          <a:bodyPr wrap="square" rtlCol="0" anchor="ctr"/>
          <a:lstStyle/>
          <a:p>
            <a:pPr indent="0" marL="0">
              <a:buNone/>
            </a:pPr>
            <a:r>
              <a:rPr lang="en-US" sz="1450" dirty="0">
                <a:solidFill>
                  <a:srgbClr val="202124"/>
                </a:solidFill>
                <a:latin typeface="Arial" pitchFamily="34" charset="0"/>
                <a:ea typeface="Arial" pitchFamily="34" charset="-122"/>
                <a:cs typeface="Arial" pitchFamily="34" charset="-120"/>
              </a:rPr>
              <a:t>Deployment</a:t>
            </a:r>
            <a:endParaRPr lang="en-US" sz="1450" dirty="0"/>
          </a:p>
        </p:txBody>
      </p:sp>
      <p:sp>
        <p:nvSpPr>
          <p:cNvPr id="7" name="Text 5"/>
          <p:cNvSpPr/>
          <p:nvPr/>
        </p:nvSpPr>
        <p:spPr>
          <a:xfrm>
            <a:off x="749808" y="914400"/>
            <a:ext cx="10680192" cy="292608"/>
          </a:xfrm>
          <a:prstGeom prst="rect">
            <a:avLst/>
          </a:prstGeom>
          <a:noFill/>
          <a:ln/>
        </p:spPr>
        <p:txBody>
          <a:bodyPr wrap="square" rtlCol="0" anchor="ctr"/>
          <a:lstStyle/>
          <a:p>
            <a:pPr indent="0" marL="0">
              <a:buNone/>
            </a:pPr>
            <a:r>
              <a:rPr lang="en-US" sz="860" dirty="0">
                <a:solidFill>
                  <a:srgbClr val="3C4043"/>
                </a:solidFill>
                <a:latin typeface="Arial" pitchFamily="34" charset="0"/>
                <a:ea typeface="Arial" pitchFamily="34" charset="-122"/>
                <a:cs typeface="Arial" pitchFamily="34" charset="-120"/>
              </a:rPr>
              <a:t>To deploy and verify the Design Patterns for Scalable Multi-Agent Ecosystems: Vertex AI Agent Engine, MCP &amp; A2A pattern on Google Cloud, use the following production implementation reference.</a:t>
            </a:r>
            <a:endParaRPr lang="en-US" sz="860" dirty="0"/>
          </a:p>
        </p:txBody>
      </p:sp>
      <p:sp>
        <p:nvSpPr>
          <p:cNvPr id="8" name="Shape 6"/>
          <p:cNvSpPr/>
          <p:nvPr/>
        </p:nvSpPr>
        <p:spPr>
          <a:xfrm>
            <a:off x="749808" y="1243584"/>
            <a:ext cx="10680192" cy="256032"/>
          </a:xfrm>
          <a:prstGeom prst="rect">
            <a:avLst/>
          </a:prstGeom>
          <a:solidFill>
            <a:srgbClr val="F8F9FA"/>
          </a:solidFill>
          <a:ln w="9525">
            <a:solidFill>
              <a:srgbClr val="DADCE0"/>
            </a:solidFill>
            <a:prstDash val="solid"/>
          </a:ln>
        </p:spPr>
      </p:sp>
      <p:sp>
        <p:nvSpPr>
          <p:cNvPr id="9" name="Text 7"/>
          <p:cNvSpPr/>
          <p:nvPr/>
        </p:nvSpPr>
        <p:spPr>
          <a:xfrm>
            <a:off x="877824" y="1243584"/>
            <a:ext cx="7772400" cy="256032"/>
          </a:xfrm>
          <a:prstGeom prst="rect">
            <a:avLst/>
          </a:prstGeom>
          <a:noFill/>
          <a:ln/>
        </p:spPr>
        <p:txBody>
          <a:bodyPr wrap="square" rtlCol="0" anchor="ctr"/>
          <a:lstStyle/>
          <a:p>
            <a:pPr indent="0" marL="0">
              <a:buNone/>
            </a:pPr>
            <a:r>
              <a:rPr lang="en-US" sz="800" b="1" dirty="0">
                <a:solidFill>
                  <a:srgbClr val="3C4043"/>
                </a:solidFill>
                <a:latin typeface="Courier New" pitchFamily="34" charset="0"/>
                <a:ea typeface="Courier New" pitchFamily="34" charset="-122"/>
                <a:cs typeface="Courier New" pitchFamily="34" charset="-120"/>
              </a:rPr>
              <a:t>src/supply_chain/agent_card_and_mcp.py</a:t>
            </a:r>
            <a:endParaRPr lang="en-US" sz="800" dirty="0"/>
          </a:p>
        </p:txBody>
      </p:sp>
      <p:sp>
        <p:nvSpPr>
          <p:cNvPr id="10" name="Text 8"/>
          <p:cNvSpPr/>
          <p:nvPr/>
        </p:nvSpPr>
        <p:spPr>
          <a:xfrm>
            <a:off x="8778240" y="1243584"/>
            <a:ext cx="2514600" cy="256032"/>
          </a:xfrm>
          <a:prstGeom prst="rect">
            <a:avLst/>
          </a:prstGeom>
          <a:noFill/>
          <a:ln/>
        </p:spPr>
        <p:txBody>
          <a:bodyPr wrap="square" rtlCol="0" anchor="ctr"/>
          <a:lstStyle/>
          <a:p>
            <a:pPr algn="r" indent="0" marL="0">
              <a:buNone/>
            </a:pPr>
            <a:r>
              <a:rPr lang="en-US" sz="720" b="1" dirty="0">
                <a:solidFill>
                  <a:srgbClr val="5F6368"/>
                </a:solidFill>
                <a:latin typeface="Arial" pitchFamily="34" charset="0"/>
                <a:ea typeface="Arial" pitchFamily="34" charset="-122"/>
                <a:cs typeface="Arial" pitchFamily="34" charset="-120"/>
              </a:rPr>
              <a:t>PYTHON</a:t>
            </a:r>
            <a:endParaRPr lang="en-US" sz="720" dirty="0"/>
          </a:p>
        </p:txBody>
      </p:sp>
      <p:sp>
        <p:nvSpPr>
          <p:cNvPr id="11" name="Shape 9"/>
          <p:cNvSpPr/>
          <p:nvPr/>
        </p:nvSpPr>
        <p:spPr>
          <a:xfrm>
            <a:off x="749808" y="1499616"/>
            <a:ext cx="10680192" cy="2029968"/>
          </a:xfrm>
          <a:prstGeom prst="rect">
            <a:avLst/>
          </a:prstGeom>
          <a:solidFill>
            <a:srgbClr val="F8FAFC"/>
          </a:solidFill>
          <a:ln w="9525">
            <a:solidFill>
              <a:srgbClr val="DADCE0"/>
            </a:solidFill>
            <a:prstDash val="solid"/>
          </a:ln>
        </p:spPr>
      </p:sp>
      <p:sp>
        <p:nvSpPr>
          <p:cNvPr id="12" name="Text 10"/>
          <p:cNvSpPr/>
          <p:nvPr/>
        </p:nvSpPr>
        <p:spPr>
          <a:xfrm>
            <a:off x="877824" y="1554480"/>
            <a:ext cx="10424160" cy="1920240"/>
          </a:xfrm>
          <a:prstGeom prst="rect">
            <a:avLst/>
          </a:prstGeom>
          <a:noFill/>
          <a:ln/>
        </p:spPr>
        <p:txBody>
          <a:bodyPr wrap="square" rtlCol="0" anchor="t"/>
          <a:lstStyle/>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from google.adk.agents import LlmAgent</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from google.adk.tools.mcp_tool import MCPToolset, SseServerParams</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 Connect Order Agent to Stateless Cloud Run MCP Server with OBO+DPoP headers</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inventory_mcp_tools = MCPToolset(</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    connection_params=SseServerParams(</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        url="https://inventory-mcp-server-uc.a.run.app/sse",</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        headers={"Authorization": f"DPoP {obo_intent_token}", "DPoP": dpop_proof_jwt},</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    )</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order_agent = LlmAgent(</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    name="order_inventory_agent",</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    model="gemini-2.5-pro",</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    instruction="Check regional BigQuery warehouse stock via MCP and reserve safety stock.",</a:t>
            </a:r>
            <a:endParaRPr lang="en-US" sz="740" dirty="0"/>
          </a:p>
          <a:p>
            <a:pPr indent="0" marL="0">
              <a:lnSpc>
                <a:spcPct val="112000"/>
              </a:lnSpc>
              <a:buNone/>
            </a:pPr>
            <a:r>
              <a:rPr lang="en-US" sz="740" dirty="0">
                <a:solidFill>
                  <a:srgbClr val="202124"/>
                </a:solidFill>
                <a:latin typeface="Courier New" pitchFamily="34" charset="0"/>
                <a:ea typeface="Courier New" pitchFamily="34" charset="-122"/>
                <a:cs typeface="Courier New" pitchFamily="34" charset="-120"/>
              </a:rPr>
              <a:t>    tools=[inventory_mcp_tools],</a:t>
            </a:r>
            <a:endParaRPr lang="en-US" sz="740" dirty="0"/>
          </a:p>
        </p:txBody>
      </p:sp>
      <p:sp>
        <p:nvSpPr>
          <p:cNvPr id="13" name="Shape 11"/>
          <p:cNvSpPr/>
          <p:nvPr/>
        </p:nvSpPr>
        <p:spPr>
          <a:xfrm>
            <a:off x="749808" y="3621024"/>
            <a:ext cx="10680192" cy="0"/>
          </a:xfrm>
          <a:prstGeom prst="line">
            <a:avLst/>
          </a:prstGeom>
          <a:noFill/>
          <a:ln w="9525">
            <a:solidFill>
              <a:srgbClr val="DADCE0"/>
            </a:solidFill>
            <a:prstDash val="solid"/>
          </a:ln>
        </p:spPr>
      </p:sp>
      <p:sp>
        <p:nvSpPr>
          <p:cNvPr id="14" name="Text 12"/>
          <p:cNvSpPr/>
          <p:nvPr/>
        </p:nvSpPr>
        <p:spPr>
          <a:xfrm>
            <a:off x="749808" y="3694176"/>
            <a:ext cx="10680192" cy="256032"/>
          </a:xfrm>
          <a:prstGeom prst="rect">
            <a:avLst/>
          </a:prstGeom>
          <a:noFill/>
          <a:ln/>
        </p:spPr>
        <p:txBody>
          <a:bodyPr wrap="square" rtlCol="0" anchor="ctr"/>
          <a:lstStyle/>
          <a:p>
            <a:pPr indent="0" marL="0">
              <a:buNone/>
            </a:pPr>
            <a:r>
              <a:rPr lang="en-US" sz="1400" dirty="0">
                <a:solidFill>
                  <a:srgbClr val="202124"/>
                </a:solidFill>
                <a:latin typeface="Arial" pitchFamily="34" charset="0"/>
                <a:ea typeface="Arial" pitchFamily="34" charset="-122"/>
                <a:cs typeface="Arial" pitchFamily="34" charset="-120"/>
              </a:rPr>
              <a:t>What's next</a:t>
            </a:r>
            <a:endParaRPr lang="en-US" sz="1400" dirty="0"/>
          </a:p>
        </p:txBody>
      </p:sp>
      <p:sp>
        <p:nvSpPr>
          <p:cNvPr id="15" name="Text 13"/>
          <p:cNvSpPr/>
          <p:nvPr/>
        </p:nvSpPr>
        <p:spPr>
          <a:xfrm>
            <a:off x="877824" y="3968496"/>
            <a:ext cx="10552176" cy="1115568"/>
          </a:xfrm>
          <a:prstGeom prst="rect">
            <a:avLst/>
          </a:prstGeom>
          <a:noFill/>
          <a:ln/>
        </p:spPr>
        <p:txBody>
          <a:bodyPr wrap="square" rtlCol="0" anchor="t"/>
          <a:lstStyle/>
          <a:p>
            <a:pPr indent="0" marL="0">
              <a:lnSpc>
                <a:spcPct val="118000"/>
              </a:lnSpc>
              <a:buNone/>
            </a:pPr>
            <a:r>
              <a:rPr lang="en-US" sz="800" b="1" dirty="0">
                <a:solidFill>
                  <a:srgbClr val="1A73E8"/>
                </a:solidFill>
                <a:latin typeface="Arial" pitchFamily="34" charset="0"/>
                <a:ea typeface="Arial" pitchFamily="34" charset="-122"/>
                <a:cs typeface="Arial" pitchFamily="34" charset="-120"/>
              </a:rPr>
              <a:t>•  Multi-tenant agentic AI system on Google Cloud: </a:t>
            </a:r>
            <a:pPr indent="0" marL="0">
              <a:lnSpc>
                <a:spcPct val="118000"/>
              </a:lnSpc>
              <a:buNone/>
            </a:pPr>
            <a:r>
              <a:rPr lang="en-US" sz="780" dirty="0">
                <a:solidFill>
                  <a:srgbClr val="3C4043"/>
                </a:solidFill>
                <a:latin typeface="Arial" pitchFamily="34" charset="0"/>
                <a:ea typeface="Arial" pitchFamily="34" charset="-122"/>
                <a:cs typeface="Arial" pitchFamily="34" charset="-120"/>
              </a:rPr>
              <a:t>Read the canonical Google Cloud Architecture Center reference architecture.
</a:t>
            </a:r>
            <a:pPr indent="0" marL="0">
              <a:lnSpc>
                <a:spcPct val="118000"/>
              </a:lnSpc>
              <a:buNone/>
            </a:pPr>
            <a:r>
              <a:rPr lang="en-US" sz="800" b="1" dirty="0">
                <a:solidFill>
                  <a:srgbClr val="1A73E8"/>
                </a:solidFill>
                <a:latin typeface="Arial" pitchFamily="34" charset="0"/>
                <a:ea typeface="Arial" pitchFamily="34" charset="-122"/>
                <a:cs typeface="Arial" pitchFamily="34" charset="-120"/>
              </a:rPr>
              <a:t>•  Agent Development Kit (ADK) Documentation: </a:t>
            </a:r>
            <a:pPr indent="0" marL="0">
              <a:lnSpc>
                <a:spcPct val="118000"/>
              </a:lnSpc>
              <a:buNone/>
            </a:pPr>
            <a:r>
              <a:rPr lang="en-US" sz="780" dirty="0">
                <a:solidFill>
                  <a:srgbClr val="3C4043"/>
                </a:solidFill>
                <a:latin typeface="Arial" pitchFamily="34" charset="0"/>
                <a:ea typeface="Arial" pitchFamily="34" charset="-122"/>
                <a:cs typeface="Arial" pitchFamily="34" charset="-120"/>
              </a:rPr>
              <a:t>Build hierarchical multi-agent systems, deterministic callbacks, and MCP toolsets.
</a:t>
            </a:r>
            <a:pPr indent="0" marL="0">
              <a:lnSpc>
                <a:spcPct val="118000"/>
              </a:lnSpc>
              <a:buNone/>
            </a:pPr>
            <a:r>
              <a:rPr lang="en-US" sz="800" b="1" dirty="0">
                <a:solidFill>
                  <a:srgbClr val="1A73E8"/>
                </a:solidFill>
                <a:latin typeface="Arial" pitchFamily="34" charset="0"/>
                <a:ea typeface="Arial" pitchFamily="34" charset="-122"/>
                <a:cs typeface="Arial" pitchFamily="34" charset="-120"/>
              </a:rPr>
              <a:t>•  Vertex AI Agent Engine Overview: </a:t>
            </a:r>
            <a:pPr indent="0" marL="0">
              <a:lnSpc>
                <a:spcPct val="118000"/>
              </a:lnSpc>
              <a:buNone/>
            </a:pPr>
            <a:r>
              <a:rPr lang="en-US" sz="780" dirty="0">
                <a:solidFill>
                  <a:srgbClr val="3C4043"/>
                </a:solidFill>
                <a:latin typeface="Arial" pitchFamily="34" charset="0"/>
                <a:ea typeface="Arial" pitchFamily="34" charset="-122"/>
                <a:cs typeface="Arial" pitchFamily="34" charset="-120"/>
              </a:rPr>
              <a:t>Explore managed runtime deployment, Sessions, Memory Bank, and Context Caching.
</a:t>
            </a:r>
            <a:pPr indent="0" marL="0">
              <a:lnSpc>
                <a:spcPct val="118000"/>
              </a:lnSpc>
              <a:buNone/>
            </a:pPr>
            <a:r>
              <a:rPr lang="en-US" sz="800" b="1" dirty="0">
                <a:solidFill>
                  <a:srgbClr val="1A73E8"/>
                </a:solidFill>
                <a:latin typeface="Arial" pitchFamily="34" charset="0"/>
                <a:ea typeface="Arial" pitchFamily="34" charset="-122"/>
                <a:cs typeface="Arial" pitchFamily="34" charset="-120"/>
              </a:rPr>
              <a:t>•  Google Cloud Well-Architected Framework: AI and ML perspective: </a:t>
            </a:r>
            <a:pPr indent="0" marL="0">
              <a:lnSpc>
                <a:spcPct val="118000"/>
              </a:lnSpc>
              <a:buNone/>
            </a:pPr>
            <a:r>
              <a:rPr lang="en-US" sz="780" dirty="0">
                <a:solidFill>
                  <a:srgbClr val="3C4043"/>
                </a:solidFill>
                <a:latin typeface="Arial" pitchFamily="34" charset="0"/>
                <a:ea typeface="Arial" pitchFamily="34" charset="-122"/>
                <a:cs typeface="Arial" pitchFamily="34" charset="-120"/>
              </a:rPr>
              <a:t>Review best practices for security, reliability, operational efficiency, and cost optimization.</a:t>
            </a:r>
            <a:endParaRPr lang="en-US" sz="800" dirty="0"/>
          </a:p>
        </p:txBody>
      </p:sp>
      <p:sp>
        <p:nvSpPr>
          <p:cNvPr id="16" name="Shape 14"/>
          <p:cNvSpPr/>
          <p:nvPr/>
        </p:nvSpPr>
        <p:spPr>
          <a:xfrm>
            <a:off x="749808" y="5157216"/>
            <a:ext cx="10680192" cy="0"/>
          </a:xfrm>
          <a:prstGeom prst="line">
            <a:avLst/>
          </a:prstGeom>
          <a:noFill/>
          <a:ln w="9525">
            <a:solidFill>
              <a:srgbClr val="DADCE0"/>
            </a:solidFill>
            <a:prstDash val="solid"/>
          </a:ln>
        </p:spPr>
      </p:sp>
      <p:sp>
        <p:nvSpPr>
          <p:cNvPr id="17" name="Text 15"/>
          <p:cNvSpPr/>
          <p:nvPr/>
        </p:nvSpPr>
        <p:spPr>
          <a:xfrm>
            <a:off x="749808" y="5230368"/>
            <a:ext cx="10680192" cy="256032"/>
          </a:xfrm>
          <a:prstGeom prst="rect">
            <a:avLst/>
          </a:prstGeom>
          <a:noFill/>
          <a:ln/>
        </p:spPr>
        <p:txBody>
          <a:bodyPr wrap="square" rtlCol="0" anchor="ctr"/>
          <a:lstStyle/>
          <a:p>
            <a:pPr indent="0" marL="0">
              <a:buNone/>
            </a:pPr>
            <a:r>
              <a:rPr lang="en-US" sz="1400" dirty="0">
                <a:solidFill>
                  <a:srgbClr val="202124"/>
                </a:solidFill>
                <a:latin typeface="Arial" pitchFamily="34" charset="0"/>
                <a:ea typeface="Arial" pitchFamily="34" charset="-122"/>
                <a:cs typeface="Arial" pitchFamily="34" charset="-120"/>
              </a:rPr>
              <a:t>Contributors</a:t>
            </a:r>
            <a:endParaRPr lang="en-US" sz="1400" dirty="0"/>
          </a:p>
        </p:txBody>
      </p:sp>
      <p:sp>
        <p:nvSpPr>
          <p:cNvPr id="18" name="Text 16"/>
          <p:cNvSpPr/>
          <p:nvPr/>
        </p:nvSpPr>
        <p:spPr>
          <a:xfrm>
            <a:off x="749808" y="5504688"/>
            <a:ext cx="10680192" cy="1042416"/>
          </a:xfrm>
          <a:prstGeom prst="rect">
            <a:avLst/>
          </a:prstGeom>
          <a:noFill/>
          <a:ln/>
        </p:spPr>
        <p:txBody>
          <a:bodyPr wrap="square" rtlCol="0" anchor="t"/>
          <a:lstStyle/>
          <a:p>
            <a:pPr indent="0" marL="0">
              <a:lnSpc>
                <a:spcPct val="122000"/>
              </a:lnSpc>
              <a:buNone/>
            </a:pPr>
            <a:r>
              <a:rPr lang="en-US" sz="780" dirty="0">
                <a:solidFill>
                  <a:srgbClr val="5F6368"/>
                </a:solidFill>
                <a:latin typeface="Arial" pitchFamily="34" charset="0"/>
                <a:ea typeface="Arial" pitchFamily="34" charset="-122"/>
                <a:cs typeface="Arial" pitchFamily="34" charset="-120"/>
              </a:rPr>
              <a:t>Except as otherwise noted, the content of this page is licensed under the Creative Commons Attribution 4.0 License, and code samples are licensed under the Apache 2.0 License.
</a:t>
            </a:r>
            <a:pPr indent="0" marL="0">
              <a:lnSpc>
                <a:spcPct val="122000"/>
              </a:lnSpc>
              <a:buNone/>
            </a:pPr>
            <a:r>
              <a:rPr lang="en-US" sz="820" b="1" dirty="0">
                <a:solidFill>
                  <a:srgbClr val="202124"/>
                </a:solidFill>
                <a:latin typeface="Arial" pitchFamily="34" charset="0"/>
                <a:ea typeface="Arial" pitchFamily="34" charset="-122"/>
                <a:cs typeface="Arial" pitchFamily="34" charset="-120"/>
              </a:rPr>
              <a:t>Authors: </a:t>
            </a:r>
            <a:pPr indent="0" marL="0">
              <a:lnSpc>
                <a:spcPct val="122000"/>
              </a:lnSpc>
              <a:buNone/>
            </a:pPr>
            <a:r>
              <a:rPr lang="en-US" sz="820" dirty="0">
                <a:solidFill>
                  <a:srgbClr val="3C4043"/>
                </a:solidFill>
                <a:latin typeface="Arial" pitchFamily="34" charset="0"/>
                <a:ea typeface="Arial" pitchFamily="34" charset="-122"/>
                <a:cs typeface="Arial" pitchFamily="34" charset="-120"/>
              </a:rPr>
              <a:t>Google Cloud Partner Engineering • Enterprise AI Architecture Team
</a:t>
            </a:r>
            <a:pPr indent="0" marL="0">
              <a:lnSpc>
                <a:spcPct val="122000"/>
              </a:lnSpc>
              <a:buNone/>
            </a:pPr>
            <a:r>
              <a:rPr lang="en-US" sz="820" b="1" dirty="0">
                <a:solidFill>
                  <a:srgbClr val="202124"/>
                </a:solidFill>
                <a:latin typeface="Arial" pitchFamily="34" charset="0"/>
                <a:ea typeface="Arial" pitchFamily="34" charset="-122"/>
                <a:cs typeface="Arial" pitchFamily="34" charset="-120"/>
              </a:rPr>
              <a:t>Other contributors: </a:t>
            </a:r>
            <a:pPr indent="0" marL="0">
              <a:lnSpc>
                <a:spcPct val="122000"/>
              </a:lnSpc>
              <a:buNone/>
            </a:pPr>
            <a:r>
              <a:rPr lang="en-US" sz="820" dirty="0">
                <a:solidFill>
                  <a:srgbClr val="3C4043"/>
                </a:solidFill>
                <a:latin typeface="Arial" pitchFamily="34" charset="0"/>
                <a:ea typeface="Arial" pitchFamily="34" charset="-122"/>
                <a:cs typeface="Arial" pitchFamily="34" charset="-120"/>
              </a:rPr>
              <a:t>Principal AI Architect &amp; Field Deployment Engineering • Google Cloud Architecture Center Engineering Team
</a:t>
            </a:r>
            <a:pPr indent="0" marL="0">
              <a:lnSpc>
                <a:spcPct val="122000"/>
              </a:lnSpc>
              <a:buNone/>
            </a:pPr>
            <a:r>
              <a:rPr lang="en-US" sz="760" i="1" dirty="0">
                <a:solidFill>
                  <a:srgbClr val="5F6368"/>
                </a:solidFill>
                <a:latin typeface="Arial" pitchFamily="34" charset="0"/>
                <a:ea typeface="Arial" pitchFamily="34" charset="-122"/>
                <a:cs typeface="Arial" pitchFamily="34" charset="-120"/>
              </a:rPr>
              <a:t>Last updated 2026-10-15 UTC.</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DOC-REF-09: Design Patterns for Scalable Multi-Agent Ecosystems: Vertex AI Agent Engine, MCP &amp; A2A (DOC-REF-09)</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2026-10-15T23:20:48Z</dcterms:created>
  <dcterms:modified xsi:type="dcterms:W3CDTF">2026-10-15T23:20:48Z</dcterms:modified>
</cp:coreProperties>
</file>