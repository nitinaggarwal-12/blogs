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Design Patterns for Scalable Multi-Agent Ecosystems: Vertex AI Agent Engine, MCP &amp; A2A.</a:t>
            </a:r>
            <a:endParaRPr lang="en-US" dirty="0"/>
          </a:p>
          <a:p>
            <a:r>
              <a:rPr lang="en-US" dirty="0"/>
              <a:t>In this session, we look at how enterprise teams scale from a single AI chatbot to a coordinated ecosystem of specialized agents—using Vertex AI Agent Engine for managed runtime orchestration, the Model Context Protocol (MCP) for standardized enterprise tool access, and the Agent-to-Agent (A2A) protocol for governed delegation.</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shows our complete Google Cloud physical blueprint for multi-agent orchestration. Requests enter the blue Routing Hub, get routed to a Supervisor Agent inside the green Governance Hub on Vertex AI Agent Engine, and delegate specialized tasks across the bottom spokes using signed A2A agent cards and governed MCP tool servers connected to BigQuery, AlloyDB, and third-party SaaS.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six-step choreography on this slide illustrates how context and security travel across multiple agents. When the Supervisor Agent delegates a sub-task over A2A or calls an MCP tool, it passes a scoped identity token, a shared distributed trace ID, and a strict token budget—ensuring specialist agents collaborate cleanly without losing user permissions or entering infinite loops.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connects our multi-agent architecture to a real enterprise operations workflow—showing how a Supervisor Agent coordinates an Incident Diagnostic Agent, a Database Analytics Agent, and a Ticketing Agent in parallel to resolve complex cross-department workflows in seconds rather than hours.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compare the three primary multi-agent orchestration topologies—Hierarchical Supervisor, Sequential Pipeline, and Peer-to-Peer Mesh—so your architects know exactly which pattern to choose based on workflow determinism, latency budgets, and governance requirements.</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deployment runbook for registering A2A agent cards, exposing governed MCP tool endpoints, and launching your multi-agent ecosystem on Vertex AI Agent Engine.</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Agent Engine, MCP &amp; A2A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DOC-REF-09</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10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Scaling an enterprise agent ecosystem requires separating intra-domain tool access from inter-agent collaboration. When every agent bundles custom database drivers and proprietary API wrappers, credential rotation and schema evolution become unmanageable.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deploying Stateless MCP Servers on Cloud Run in front of BigQuery and enterprise APIs, and publishing A2A Agent Cards registered in the Gemini Enterprise Catalog, domain teams can evolve Order, Distributor, and Logistics Tracking agents independently while preserving end-to-end OBO+DPoP security.</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In this pattern, the Root Orchestrator Agent delegates domain objectives over A2A JSON-RPC to specialized sub-agents, while each sub-agent invokes stateless MCP tool servers deployed on Cloud Run.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(Domain Spoke A: Order &amp; Warehouse Inventory Agent and Domain Spoke B: Distributor &amp; Logistics Tracking Agent),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Scalable Multi-Agent Ecosystem with Vertex AI Agent Engine, MCP &amp; A2A</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Coordinating Root, Order, Distributor, and Tracking agents via A2A Agent Cards and Cloud Run Stateless MCP Servers.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Service Controls Multi-Agent Ecosystem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A2A JSON-RPC Mesh &amp; OBO+DPoP Scope Narrowing</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A: Order &amp; Warehouse Inventory Agent</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B: Distributor &amp; Logistics Tracking Agent</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Order &amp; Inventory Domain Agent</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Independent ADK deployment with Stateless Cloud Run MCP Server</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Distributor &amp; Tracking Domain Agent</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Federated A2A peer with partner API circuit breakers</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A2A Discovery &amp; Federation Hub</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Agent Card registry (/.well-known/agent.json) &amp; OBO token narrowing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circuit-breaker telemetry</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Caller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Root Orchestrator Client</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A2A Gateway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&amp; MCP Posture Monitoring</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Trace &amp; BigQuery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 Deadline &amp; 4k Token Budgets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Workload Identity Federation</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Order Agent (ADK)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Vertex AI Agent Engine</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Inventory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SSE Pool</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Regional Warehouse Stock Ledger</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Tracking Agent (A2A)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Run + Agent Engine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Logistics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Partner API</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Spanner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Carrier Telemetry &amp; Fallback Cache</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Enterprise Catalog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Agent Card Discovery</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Spoke Guard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Domain Input/Output Guard</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4,000-Token Circuit Breaker</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DLP &amp;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Partner Payload Sanitization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8-Second SLA Deadline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Ingress WAF &amp; Rate Control</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Cross-Agent Payload Screen</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OBO + DPoP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Per-Hop Scope Narrowing</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Distributed A2A &amp; MCP trace spans</a:t>
            </a:r>
            <a:endParaRPr lang="en-US" sz="420" dirty="0"/>
          </a:p>
        </p:txBody>
      </p:sp>
      <p:sp>
        <p:nvSpPr>
          <p:cNvPr id="148" name="Text 126"/>
          <p:cNvSpPr/>
          <p:nvPr/>
        </p:nvSpPr>
        <p:spPr>
          <a:xfrm>
            <a:off x="5221224"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SSE Call</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Parameterized Stock Query</a:t>
            </a:r>
            <a:endParaRPr lang="en-US" sz="420" dirty="0"/>
          </a:p>
        </p:txBody>
      </p:sp>
      <p:sp>
        <p:nvSpPr>
          <p:cNvPr id="150" name="Text 128"/>
          <p:cNvSpPr/>
          <p:nvPr/>
        </p:nvSpPr>
        <p:spPr>
          <a:xfrm>
            <a:off x="7246620" y="4659782"/>
            <a:ext cx="64099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Tool Call</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Partner API &amp; Cache Fallback</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Plan tool invocations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Aggregated multi-agent JSON-RPC result</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Delegate A2A task via Agent Card</a:t>
            </a:r>
            <a:endParaRPr lang="en-US" sz="420" dirty="0"/>
          </a:p>
        </p:txBody>
      </p:sp>
      <p:sp>
        <p:nvSpPr>
          <p:cNvPr id="155" name="Text 133"/>
          <p:cNvSpPr/>
          <p:nvPr/>
        </p:nvSpPr>
        <p:spPr>
          <a:xfrm>
            <a:off x="4977079" y="298094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Narrow OBO token scope</a:t>
            </a:r>
            <a:endParaRPr lang="en-US" sz="420" dirty="0"/>
          </a:p>
        </p:txBody>
      </p:sp>
      <p:sp>
        <p:nvSpPr>
          <p:cNvPr id="156" name="Text 134"/>
          <p:cNvSpPr/>
          <p:nvPr/>
        </p:nvSpPr>
        <p:spPr>
          <a:xfrm>
            <a:off x="4461358" y="4445813"/>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task</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output</a:t>
            </a:r>
            <a:endParaRPr lang="en-US" sz="420" dirty="0"/>
          </a:p>
        </p:txBody>
      </p:sp>
      <p:sp>
        <p:nvSpPr>
          <p:cNvPr id="158" name="Text 136"/>
          <p:cNvSpPr/>
          <p:nvPr/>
        </p:nvSpPr>
        <p:spPr>
          <a:xfrm>
            <a:off x="4876495" y="2299716"/>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WAF &amp; ingress policies</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A2A task payload</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VPC Service Controls Multi-Agent Ecosystem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Service Controls Multi-Agent Ecosystem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A2A Discovery &amp; Federation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OBO + DPoP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circuit-breaker telemetry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Trace &amp; BigQuery: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A2A JSON-RPC Mesh &amp; OBO+DPoP Scope Narrowing: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Order &amp; Inventory Domain Agent &amp; Distributor &amp; Tracking Domain Agent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Order Agent (ADK) / Tracking Agent (A2A):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Spoke Guard / Cloud DLP &amp;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Inventory MCP Server / Logistics MCP Server: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&amp; AlloyDB / BigQuery &amp; Spanner: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A2A Discovery &amp; Federation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OBO + DPoP Broker, the request is forwarded to Gemini Enterprise Catalog.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Gemini Enterprise Catalog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Order &amp; Inventory Domain Agent,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Stateless MCP SSE Call.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Parameterized Stock Query.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passes the generated output through Model Armor Spoke Guard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A2A Discovery &amp; Federation Hub, while structured OpenTelemetry audit and FinOps spans stream to the Central governance and circuit-breaker telemetry.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Design Patterns for Scalable Multi-Agent Ecosystems: Vertex AI Agent Engine, MCP &amp; A2A.</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Enterprise Data Warehouse: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Gemini Enterprise: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Enterprise agent control plane unifying agent discovery, Workforce Identity Federation, and governed multi-agent workflows.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A2A Agent Card Discovery, OBO Scope Narrowing &amp; Circuit Breaking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When the Root Orchestrator delegates a supply-chain disruption query across Order, Distributor, and Logistics Tracking agents, each A2A hop narrows the OBO token scope to the target agent’s declared capabilities.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A2A JSON-RPC Mesh &amp; OBO+DPoP Scope Narrowing and BigQuery &amp; AlloyDB,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Dynamic Capability Discovery via /.well-known/agent.json: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Each domain agent publishes its JSON Schema input/output contract, required OAuth scopes, and SLA timeout in its A2A Agent Card registered in Gemini Enterprise.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Per-Sub-Agent Token &amp; Latency Circuit Breakers: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Root Orchestrator enforces a 4,000-token budget and 8-second deadline per A2A sub-agent call, gracefully degrading to cached BigQuery inventory snapshots if an external logistics partner API times out.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Gemini Enterprise Catalog under VPC Service Controls Multi-Agent Ecosystem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Order Agent (ADK) &amp; Inventory MCP Server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Order Agent (ADK) with Inventory MCP Server and BigQuery &amp;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Inventory MCP Server: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Spoke Guard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Spoke Guard: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Spoke Guard.
</a:t>
            </a:r>
            <a:pPr indent="0" marL="0">
              <a:buNone/>
            </a:pPr>
            <a:r>
              <a:rPr lang="en-US" sz="700" b="1" dirty="0">
                <a:solidFill>
                  <a:srgbClr val="202124"/>
                </a:solidFill>
                <a:latin typeface="Arial" pitchFamily="34" charset="0"/>
                <a:ea typeface="Arial" pitchFamily="34" charset="-122"/>
                <a:cs typeface="Arial" pitchFamily="34" charset="-120"/>
              </a:rPr>
              <a:t>• BigQuery &amp; AlloyDB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BigQuery &amp; AlloyDB.</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Gemini Enterprise Catalog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Order Agent (ADK)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Gemini Enterprise Catalog: </a:t>
            </a:r>
            <a:pPr indent="0" marL="0">
              <a:buNone/>
            </a:pPr>
            <a:r>
              <a:rPr lang="en-US" sz="690" dirty="0">
                <a:solidFill>
                  <a:srgbClr val="3C4043"/>
                </a:solidFill>
                <a:latin typeface="Arial" pitchFamily="34" charset="0"/>
                <a:ea typeface="Arial" pitchFamily="34" charset="-122"/>
                <a:cs typeface="Arial" pitchFamily="34" charset="-120"/>
              </a:rPr>
              <a:t>Deploy Gemini Enterprise Catalog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Order Agent (ADK) &amp; Inventory MCP Server: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Inventory MCP Server.
</a:t>
            </a:r>
            <a:pPr indent="0" marL="0">
              <a:buNone/>
            </a:pPr>
            <a:r>
              <a:rPr lang="en-US" sz="700" b="1" dirty="0">
                <a:solidFill>
                  <a:srgbClr val="202124"/>
                </a:solidFill>
                <a:latin typeface="Arial" pitchFamily="34" charset="0"/>
                <a:ea typeface="Arial" pitchFamily="34" charset="-122"/>
                <a:cs typeface="Arial" pitchFamily="34" charset="-120"/>
              </a:rPr>
              <a:t>• BigQuery &amp; AlloyDB: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BigQuery &amp; AlloyDB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Trace &amp; BigQuery</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Order &amp; Inventory Domain Agent and Distributor &amp; Tracking Domain Agent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Trace &amp; BigQuery: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Trace &amp; BigQuery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OBO + DPoP Broker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Trace &amp; BigQuery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OBO + DPoP Broker &amp; Inventory MCP Server: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Trace &amp; BigQuery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Design Patterns for Scalable Multi-Agent Ecosystems: Vertex AI Agent Engine, MCP &amp; A2A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src/supply_chain/agent_card_and_mcp.py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lIns="0" tIns="0" rIns="0" bIns="0" rtlCol="0" anchor="t"/>
          <a:lstStyle/>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from google.adk.agents import LlmAgent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from google.adk.tools.mcp_tool import MCPToolset, SseServerParams</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Connect Order Agent to Stateless Cloud Run MCP Server with OBO+DPoP headers</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inventory_mcp_tools = MCPToolset(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connection_params=SseServerParams(</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url="https://inventory-mcp-server-uc.a.run.app/sse",</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headers={"Authorization": f"DPoP {obo_intent_token}", "DPoP": dpop_proof_jwt},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order_agent = LlmAgent(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name="order_inventory_agent",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model="gemini-2.5-pro",</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instruction="Check regional BigQuery warehouse stock via MCP and reserve safety stock.",</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tools=[inventory_mcp_tools],</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a:t>
            </a:r>
            <a:endParaRPr lang="en-US" sz="68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lIns="0" tIns="0" rIns="0" bIns="0" rtlCol="0" anchor="t"/>
          <a:lstStyle/>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Read the canonical Google Cloud Architecture Center reference architecture.</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Agent Development Kit (ADK) Documentation: </a:t>
            </a:r>
            <a:pPr indent="0" marL="0">
              <a:lnSpc>
                <a:spcPct val="120000"/>
              </a:lnSpc>
              <a:buNone/>
            </a:pPr>
            <a:r>
              <a:rPr lang="en-US" sz="770" dirty="0">
                <a:solidFill>
                  <a:srgbClr val="3C4043"/>
                </a:solidFill>
                <a:latin typeface="Arial" pitchFamily="34" charset="0"/>
                <a:ea typeface="Arial" pitchFamily="34" charset="-122"/>
                <a:cs typeface="Arial" pitchFamily="34" charset="-120"/>
              </a:rPr>
              <a:t>Build hierarchical multi-agent systems, deterministic callbacks, and MCP toolsets.</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Vertex AI Agent Engine Overview: </a:t>
            </a:r>
            <a:pPr indent="0" marL="0">
              <a:lnSpc>
                <a:spcPct val="120000"/>
              </a:lnSpc>
              <a:buNone/>
            </a:pPr>
            <a:r>
              <a:rPr lang="en-US" sz="770" dirty="0">
                <a:solidFill>
                  <a:srgbClr val="3C4043"/>
                </a:solidFill>
                <a:latin typeface="Arial" pitchFamily="34" charset="0"/>
                <a:ea typeface="Arial" pitchFamily="34" charset="-122"/>
                <a:cs typeface="Arial" pitchFamily="34" charset="-120"/>
              </a:rPr>
              <a:t>Explore managed runtime deployment, Sessions, Memory Bank, and Context Caching.</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79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lIns="0" tIns="0" rIns="0" bIns="0" rtlCol="0" anchor="t"/>
          <a:lstStyle/>
          <a:p>
            <a:pPr indent="0" marL="0">
              <a:lnSpc>
                <a:spcPct val="124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Authors: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Google Cloud Partner Engineering • Enterprise AI Architecture Team</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Other contributors: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a:t>
            </a:r>
            <a:endParaRPr lang="en-US" sz="780" dirty="0"/>
          </a:p>
          <a:p>
            <a:pPr indent="0" marL="0">
              <a:lnSpc>
                <a:spcPct val="124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DOC-REF-09: Design Patterns for Scalable Multi-Agent Ecosystems: Vertex AI Agent Engine, MCP &amp; A2A (DOC-REF-09)</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2026-10-30T18:57:58Z</dcterms:created>
  <dcterms:modified xsi:type="dcterms:W3CDTF">2026-10-30T18:57:58Z</dcterms:modified>
</cp:coreProperties>
</file>