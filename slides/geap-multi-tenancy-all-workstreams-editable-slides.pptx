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notesMasterIdLst>
    <p:notesMasterId r:id="rId6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GEAP Multi-Tenant Agentic AI: Pooled, Sovereign Silos &amp; Hybrid — Complete Program Deck
All 14 Google Cloud Architecture Center blueprints across Workstreams 1–5 as 100% editable slides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
• Workstream 1 • Reference Architecture &amp; Cloud Architecture Center Doc PR
• Workstream 2 • Pattern A — High-Density Pooled Architecture
• Workstream 3 • Pattern B — Zero-Trust Sovereign Silos
• Workstream 4 • Pattern C — Dynamic Hybrid, PSC &amp; Live Tier Migration
• Workstream 5 • Decision Guide, Agentic Triad &amp; Program Wrap-up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Taxonomy &amp; 5-Hop Baseline (Workstream 1)
Pooled, Sovereign Silo &amp; Dynamic Hybrid topologies extending the Cloud Architecture Center hub-and-spoke reference for B2B ISV SaaS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Official Architecture Center reference models one spoke project per business unit; 90%+ of B2B SaaS ISVs cannot afford that per Standard-tier tenant.
• Agents add four new failure modes: dynamic MCP discovery, confused-deputy credentials, context-cache bleed, and noisy-neighbor runaway reasoning loops.
• Workstream 1 defines Pattern A (Pooled), Pattern B (Sovereign Silos), and Pattern C (Dynamic Hybrid) on an 80% reusable core + 20% topology delta.
• A single 5-Hop Cryptographic Context Chain (hop1..hop5 Python modules) enforces identical governance across all three patterns.
• Deliverables: Doc PR for the Architecture Center (1.3), product review pack (1.2), and an EAP/product-gap ledger with 3 P0 workarounds (1.4).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GEAP Multi-Tenant Agentic AI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Cloud Architecture Center: Multi-Tenant Agentic AI with 5-Hop Cryptographic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Agentic multi-tenancy needs controls at edge, registry, runtime, guardrail, and data layers; a tenant_id column is not isolation.
• Choose topology per tenant tier: Pattern A for Standard, Pattern B for regulator-mandated perimeters, Pattern C when you serve both.
• The 5-Hop chain is topology-agnostic code; the trust boundary changes, the governance modules do not.
• Prompt prefix caching is safe in a pool only when ContextCacheConfig is read-only on shared system instructions.
• Three P0 product gaps already have engineered workarounds; EAP allowlists target Q4 2026 for native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Pooled Architecture: One Shared Runtime, Two Competing Tenants, Zero Bleed
High-Density Pooled Multi-Tenancy on GEAP &amp; ADK 2.0 — 5-Hop Cryptographic Context Chain, 10-point breach suite, 90% ContextCacheConfig save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Problem: dedicated projects per Standard-tier SaaS customer destroy gross margin, but naive shared runtimes leak agents, tools, caches and PII.
• Solution: one shared project (cymbal-pooled-saas-prod) governed by the 5-Hop Cryptographic Context Chain from edge PEP to AlloyDB RLS.
• FinVault Bank (Enterprise, Google OIDC/Jira) and RetailStream Corp (Standard, Entra ID/ServiceNow) share one runtime with 10/10 breach vectors blocked.
• ContextCacheConfig READ_ONLY_IMMUTABLE_PREFIX bills the 32,000-token operator prefix at a 90% discount for ~84.7% net input COGS reduction.
• Ships as Milestone 1 (Week 4) with a Terraform starter, 90-minute codelab, and locally runnable run_breach_simulations.py.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Shared Runtime Governance
• One actor, 'FinVault &amp; RetailStream Competing SaaS Tenants', enters one 'Shared GCP Project: cymbal-pooled-saas-prod'.
• Routing hub 'Hop 1 &amp; Hop 2: Edge PEP &amp; GEAP Registry PDP': strip X-Tenant-ID, filter ARD catalog, mint OBO + DPoP token.
• Governance hub 'Hop 3 &amp; 5: Shared FinOps, Cache &amp; OTel Hub': ContextCacheConfig 90%, Redis Rate Bulkhead, BigQuery OTel Sink.
• Trunk badge 3 'Bind immutable temp:tenant_id' before any tenant code runs; badge 7 returns 'SDP-redacted tenant response'.
• Slice A FinVault: Model Armor masks IBAN/SWIFT + OCC NLC, Gemini &amp; Claude 3.7, 3LO Workspace/Jira, Shared AlloyDB RLS.
• Slice B RetailStream: Card PAN + PCI NLC, Gemini 2.5 Pro clamped to 4,000 tokens, 3LO Entra &amp; SNOW inline consent gate.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A: High-Density Pooled Multi-Tenant Architecture &amp; Shared Runtime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A: 10-Point Cross-Tenant Breach Simulation &amp; Cryptographic Defense Matrix
• Same geometry as Figure 1, relabeled as gates: 'Red-Team Attacker Spoofed Headers &amp; Injections' probes, badge 7 returns 'Blocked / Safe'.
• 'Hop 1 &amp; Hop 2 Gates (Vectors 1, 2, 3 &amp; 10)': header strip, Agent 403, tool prune of FinVault Jira MCP.
• 'Hop 3 &amp; 5 FinOps &amp;' hub: Vector 6 Redis 429 &amp; 4k clamp, Vector 10 inline 3LO, BigQuery OTel logs every blocked vector.
• 'Hop 4 Guardrail Gates (Vectors 4, 5 &amp; 8)': HTTP 400 SQLi/cache dump, HTTP 422 NLC, SDP mask IBAN/SWIFT/PAN, zero raw PII egress.
• 'Hop 3 &amp; Hop 5 Storage Gates (Vectors 7 &amp; 9)': L4 memory, GCS skills, READ_ONLY_IMMUTABLE_PREFIX cache, AlloyDB RLS SET LOCAL.
• Dashed governance line: 'Real-time security violation spans' — every denial is a queryable audit record.
Editable source: diagrams/ws2-pattern-a-breach-defense-sequence.drawio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A: 10-Point Cross-Tenant Breach Simulation &amp; Cryptographic Defense Matrix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Pattern A Demo Environment &amp; 3P Auth Sandbox: Pooled Project, Federated IdPs, OAuth 2LO/3LO Apps, Redis &amp; Firestore Tenant Config
• One shared project (cymbal-pooled-saas-prod, us-central1) with 12 enabled APIs hosts both demo tenants; isolation is logical, not per-project.
• Routing hub is the Hop 1 front door: Cloud Armor cymbal-pooled-edge-waf (rule 1000 SQLi/XSS deny-403) plus the Edge PEP that strips forged X-Tenant-ID headers.
• Left spoke wires FinVault Bank: a Google OAuth 2.0 Client ID on finvault.com, Workspace 3LO scopes (drive, calendar, gmail) and Jira read/write:jira-work.
• Right spoke wires RetailStream Corp with zero Google footprint: Entra app Cymbal-RetailStream-Agent-Client, Graph Sites.Read.All, ServiceNow useraccount.
• Governance hub holds the shared setup: Agent Identity (Auth Manager) scope registry, Cloud KMS for CMEK and BigQuery for OpenTelemetry audit.
• Firestore seeds tier, thinking budget (8000 vs 4000), Redis rpm (600 vs 120) and allowed_agents per tenant; the 2.5 breach suite verifies the whole sandbox.
Editable source: diagrams/ws2-demo-env-and-3p-auth-sandbox-topology.drawio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Pattern A Demo Environment &amp; 3P Auth Sandbox: Pooled Project, Federated IdPs, OAuth 2LO/3LO Apps, Redis &amp; Firestore Tenant Config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Pattern A 1-Click Terraform Starter: Provider → Cloud Armor WAF → Cloud Run v2 GEAP Gateway → Redis / KMS CMEK → BigQuery OTel Resource Graph
• A single root module (main.tf + variables.tf) on Terraform &gt;= 1.5.0 with hashicorp/google &gt;= 5.30.0 deploys the pooled Pattern A core in one apply.
• Routing hub is Hop 1: google_compute_security_policy.cymbal_pooled_waf with a deny(403) SQLi/XSS rule at priority 1000 and a default SRC_IPS_V1 allow.
• Left spoke is the runtime graph: google_cloud_run_v2_service.cymbal_pooled_gateway, Gen2 gVisor, internal-LB ingress and env vars referencing other resources.
• Right spoke is the data graph: google_redis_instance.tenant_token_bulkhead (REDIS_7_0, STANDARD_HA, 5 GB); AlloyDB RLS and Firestore are provisioned in 2.2.
• Governance hub covers keys and audit: cymbal-pooled-tenant-kr key ring, finvault-agent-memory-cmek (90-day rotation), BigQuery dataset cymbal_multi_tenant_otel.
• Two outputs close the loop — pooled_gateway_uri and redis_bulkhead_host — so downstream workstreams can bind to the deployed resources without hardcoding.
Editable source: diagrams/ws2-terraform-starter-resource-graph.drawio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Pattern A 1-Click Terraform Starter: Provider → Cloud Armor WAF → Cloud Run v2 GEAP Gateway → Redis / KMS CMEK → BigQuery OTel Resource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Pooled density and zero-bleed isolation are compatible when tenant identity is cryptographic and enforced at every hop, not just the gateway.
• Shared compute (gVisor pods) and shared storage (AlloyDB RLS) plus tenant-scoped policy is the whole Pattern A picture.
• Read-only immutable prefix caching is both the FinOps lever (90% prefix discount) and a security control (no suffix write-back).
• Verify architecture with a deterministic red-team suite that asserts status codes, decisions and payloads for all 10 vectors.
• Graduate tenants to Pattern B Sovereign Silos only when they mandate VPC-SC, project separation, CMEK kill-switch or air-gapped Gemma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Sovereign Silos: One Project, One Perimeter, One Key per Tenant
Reusing the 80% 5-Hop Cymbal core inside dedicated VPC-SC / PAB / CMEK tenant projects with air-gapped Gemma 3 on GKE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Regulated tenants (OCC/FDIC, DORA, HIPAA, public sector) often prohibit shared compute, shared databases, and platform-owned keys.
• Pattern B keeps core-cymbal-agent unchanged and adds a 20% delta: mTLS SPIFFE pinning, IAM PAB, VPC-SC perimeter, CMEK kill-switch, Gemma 3 on GKE.
• Each tenant gets a dedicated project: cymbal-finvault-silo-prod and cymbal-retailstream-silo-prod, each with its own agent-memory-cmek key.
• Revoking the tenant CMEK halts every agent turn at Hop 3 with HTTP 423 KMS_KEY_DISABLED; all 6 sovereign security tests pass.
• Trade-off: zero noisy neighbours and simple per-project quotas versus a higher per-tenant infrastructure floor and multi-project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B Provisioning Topology: Org → Per-Tenant Silo Projects, VPC-SC Perimeters, IAM PAB &amp; Cloud KMS CMEK Keys
• One org, two dedicated tenant projects — cymbal-finvault-silo-prod and cymbal-retailstream-silo-prod — created under ORG_ID and linked to one billing account.
• Bootstrap enables seven silo APIs per project: aiplatform, discoveryengine, modelarmor, container, cloudkms, alloydb and accesscontextmanager.
• Per-tenant Cloud KMS: key ring finvault-kr in us-central1 with crypto key agent-memory-cmek, purpose encryption, 90-day (7776000s) rotation.
• The Vertex AI service agent (service-&lt;PROJECT_NUMBER&gt;@gcp-sa-aiplatform) receives roles/cloudkms.cryptoKeyEncrypterDecrypter on the tenant key only.
• Org-level IAM Principal Access Boundary finvault-sovereign-pab restricts FinVault principals strictly to the FinVault silo project resource.
• Step 7 closes the loop: run_silo_security_tests.py replays perimeter exfiltration and CMEK revocation checks before the silo is declared live.
Editable source: diagrams/ws3-multi-project-silo-and-cmek-setup-topology.drawio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B Provisioning Topology: Org → Per-Tenant Silo Projects, VPC-SC Perimeters, IAM PAB &amp; Cloud KMS CMEK Keys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Terraform Blueprint Resource Graph: Provider → Cloud KMS CMEK → VPC-SC Perimeter → Sovereign VPC → Private Air-Gapped GKE (Gemma 3)
• A single root module (Terraform &gt;= 1.5.0, hashicorp/google &gt;= 5.30.0) provisions one sovereign silo per tenant from five variables in terraform.tfvars.
• google_kms_key_ring.tenant_silo_keyring (${tenant_id}-sovereign-kr) and google_kms_crypto_key.tenant_agent_cmek (agent-memory-cmek, 90-day rotation) come first.
• google_access_context_manager_service_perimeter.tenant_sovereign_perimeter binds projects/${tenant_silo_project_number} and restricts eight APIs.
• Restricted services: aiplatform, discoveryengine, modelarmor, alloydb, bigquery, storage, cloudkms and container — no path out of the perimeter.
• google_compute_network.tenant_silo_vpc and tenant_silo_subnet (10.40.0.0/20, Private Google Access) host the private GKE Autopilot cluster.
• google_container_cluster.airgapped_gemma3_cluster uses private nodes/endpoint and database_encryption.key_name = the CMEK key, surfaced via two outputs.
Editable source: diagrams/ws3-terraform-silo-blueprint-resource-graph.drawio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Terraform Blueprint Resource Graph: Provider → Cloud KMS CMEK → VPC-SC Perimeter → Sovereign VPC → Private Air-Gapped GKE (Gemma 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Choose Pattern B only when a contract demands a dedicated blast radius, a customer-revocable key, or no multi-tenant model endpoints.
• Keep the governance code identical across patterns; pay for infrastructure, not for a second engineering team.
• PAB answers 'which projects may this principal ever reach?' — it blocks lateral movement even when another project's IAM is wrong.
• Make the tenant CMEK the single dependency for runtime, memory, data, and audit so one key disable is a complete kill-switch.
• Prove every control with the 6-test suite before onboarding, and keep the results visible on the architecture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Hybrid: One Control Plane, Pooled &amp; Sovereign Tiers, Live Upgrades
Tenant-aware hub routing Standard to a shared pool and Enterprise over Private Service Connect to CMEK spokes, with 0-dropped-turn upgrades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Tiered SaaS needs Pattern A economics for Standard and Pattern B sovereignty for Enterprise — Pattern C serves both behind one SaaS URL.
• Unified Hybrid Control Hub (cymbal-hybrid-hub-prod): Cloud Armor/IAP, Cloud Run Router, Firestore Route Table, Cross-Project ARD Federated GEAP Registry.
• RetailStream (Standard) runs in the Shared Pooled Runtime at a 4,000 thinking cap; FinVault (Enterprise) is reached over PSC at psc://10.10.0.50.
• 3-Phase engine (SHADOW_SYNC → ATOMIC_CUTOVER → DRAIN_AND_VERIFY) promotes RetailStream to its own CMEK PSC spoke on the same live session.
• 4.5 suite verifies 4/4 PASS: 0 ms replication lag, 0 dropped sessions, 8,000 budget unclamped, rs-agent-cmek bound, zero global state bleed.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Start at the actor: Standard &amp; Enterprise Single Unified SaaS URL — one hostname for both tiers, step 1 Request in, step 7 Response out.
• Routing hub: Cloud Armor &amp; IAP + OBO/DPoP, Cross-Project ARD Federated GEAP Registry, Firestore Route Table, ALB, Cloud Run Router.
• Governance hub: 3-Phase Zero-Downtime Tier Migration Engine — SHADOW_SYNC (0ms Lag Copy), ATOMIC_CUTOVER, DRAIN_AND_VERIFY (4/4 PASS).
• Trunk badge 3 'Route Standard to Pool or Enterprise via PSC' fans out; badge 7 'Seamless response (0 dropped sessions)' returns.
• Left spoke: Shared Pooled Runtime with Gemini 2.5 Pro 4,000 Thinking Cap + Cache and Shared AlloyDB RLS that Streams State to PSC Spoke.
• Right spoke: Dedicated Enterprise PSC Spokes, Unidirectional PSC Bridge, CMEK Spoke AlloyDB; dashed Live promotion: Pool -&gt; PSC Spoke.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C: Dynamic Hybrid Hub-and-Spoke, Private Service Connect &amp; Live Tier Migration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Pattern C Demo Environment: Central Ingress Hub, Shared Pool &amp; PSC Service Attachment Spokes
• One hub project (cymbal-hybrid-hub-prod, cymbal-hub-vpc / cymbal-hub-subnet) fronts both tiers behind a single Global ALB + Cloud Armor + IAP URL.
• The Firestore routing table and cross-project GEAP registry decide per tenant: Standard → pool://cymbal-shared-pooled-runtime-v2, Enterprise → psc://.
• Producer side lives in the tenant spoke: a 10.40.240.0/24 PSC NAT subnet plus finvault-agent-spoke-psc (ACCEPT_MANUAL, accept-list hub project = 10).
• Consumer side lives in the hub: reserve psc-endpoint-finvault-ip (10.10.0.50) and bind psc-consumer-finvault to the spoke's ServiceAttachment URI.
• PSC is NAT-based, so every spoke may reuse 10.40.0.0/20 with no CIDR overlap, and exposure is unidirectional — spokes cannot reach back into the hub VPC.
• Step 7 closes the loop: run_tier_migration_suite.py verifies hybrid routing and the live tier upgrade locally before any customer traffic hits the demo.
Editable source: diagrams/ws4-hub-and-spoke-demo-env-setup-topology.drawio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Pattern C Demo Environment: Central Ingress Hub, Shared Pool &amp; PSC Service Attachment Spokes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— Zero-Downtime Tier Upgrade Test Sequence: SHADOW_SYNC → ATOMIC_CUTOVER → DRAIN_AND_VERIFY (4/4 PASS)
• run_tier_migration_suite.py drives PatternCHybridRouterAndMigrator through 4 assertions-backed tests; nothing mutates the global TENANT_PROFILES.
• TEST 1A/1B fix the baseline: retailstream → PATTERN_C_HYBRID_POOL clamped to 4,000 tokens; finvault → PATTERN_C_HYBRID_PSC_SPOKE over psc:// with 8,000.
• TEST 2 runs the 3-phase engine: SHADOW_SYNC (replication_lag_ms == 0, PSC_CONNECTION_ACCEPTED) → ATOMIC_CUTOVER → DRAIN_AND_VERIFY (dropped_sessions == 0).
• The cutover flips routing_table['retailstream'] to tier ENTERPRISE, budget 8,000, target psc://10.10.0.51/... and state UPGRADED_ZERO_DOWNTIME_SPOKE.
• TEST 3 reuses the same session_id (sess-rs-live-upgrade-01) and asserts PSC routing, thinking_budget_clamped is False, and rs-agent-cmek in cmek_key_uri.
• Left spoke = the pooled source rows stream from; right spoke = cymbal-retailstream-spoke-prod, the CMEK target that status MIGRATION_COMPLETE confirms.
Editable source: diagrams/ws4-zero-downtime-tier-upgrade-sequence.drawio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3 component inventory for Zero-Downtime Tier Upgrade Test Sequence: SHADOW_SYNC → ATOMIC_CUTOVER → DRAIN_AND_VERIFY (4/4 PASS)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— Terraform Hybrid PSC Blueprint Resource Graph: Hub VPC → Consumer PSC Endpoint → Producer ServiceAttachment in Enterprise Spoke
• main.tf pins terraform &gt;= 1.5.0 and hashicorp/google &gt;= 5.30.0, then declares two provider aliases — google.hub and google.spoke — fed by five variables.
• Hub side: google_compute_network.cymbal_hub_vpc (cymbal-hybrid-hub-vpc) and cymbal_hub_subnet at 10.10.0.0/20 with private Google access enabled.
• Spoke side: enterprise_spoke_vpc, a 10.40.240.0/24 PRIVATE_SERVICE_CONNECT NAT subnet, and ${tenant}-agent-spoke-psc with ACCEPT_MANUAL and connection_limit 20.
• The consumer bridge is two resources: google_compute_address.hub_psc_consumer_ip (10.10.0.50) and google_compute_forwarding_rule.hub_psc_consumer_endpoint.
• Two outputs — psc_service_attachment_uri and hub_psc_consumer_ip — feed the 4.3 router's Firestore route table; those hub consumers are not resources here.
• tfvars example targets cymbal-hybrid-hub-prod ↔ cymbal-finvault-silo-prod with finvault-spoke-ilb as target_service; README quickstart is init → plan → apply.
Editable source: diagrams/ws4-terraform-hybrid-psc-blueprint-resource-graph.drawio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 component inventory for Terraform Hybrid PSC Blueprint Resource Graph: Hub VPC → Consumer PSC Endpoint → Producer ServiceAttachment in Enterprise Spoke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Pattern C routes isolation instead of duplicating it: one control plane, one URL, two execution tiers.
• Routing is keyed only on the Hop 1 cryptographic tenant_id — a client header can never claim Enterprise tier.
• Instance-scoped profile mutation makes the live upgrade safe: zero global state bleed across tenants or test runs.
• Private Service Connect removes CIDR overlap and VPC-peering limits while keeping spokes unidirectional and VPC-SC compatible.
• The migration is measurable: 0 ms lag, 0 dropped sessions, same session id, 4/4 suite gates passing.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the Multi-Tenant Agentic Triad
Workstream 5 wrap-up: topology decision tree, Pattern A/B/C comparison, the Agentic Triad, 5-Hop invariant, and the EAP backlog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Two questions decide topology: all tenants need physical isolation (VPC-SC / Gemma 3)? -&gt; Pattern B; else tiered packaging? No -&gt; A, Yes -&gt; C.
• 80% of the code is identical: core-cymbal-agent/ implements the 5-Hop Cryptographic Context Chain once; A, B and C are 20% perimeter deltas.
• The Multi-Tenant Agentic Triad balances Zero-Trust Security (Hops 1-5), FinOps &amp; COGS Engineering, and Privacy-Preserving Tenant Observability.
• Unit cost ladder: Pattern A $ (85-90% shared prefix savings), Pattern C $$ (blended SaaS margin), Pattern B $$$ (dedicated baseline per tenant).
• Nine open product gaps (3 P0, 4 P1, 2 P2) each ship with a repo workaround and a named EAP allowlist targeting Q4 2026 - Q1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Actor 'Enterprise &amp; SMB Users 10,000+ Multi-Tier Tenants' enters at badge 1 Request and receives badge 7 Response.
• Routing hub = Triad Pillar 1: Hop 1 Edge PEP, Hop 4 Model Armor, Hop 2 Registry PDP, External ALB, Architecture Selector (Pattern A/B/C).
• Governance hub = Triad Pillar 3: Security Command Center, 3 Chargeback Models, BigQuery OTel Sink; dashed line carries zero-PII telemetry.
• Badge 3 'Dispatch to optimal cost/security tier' is where the selector commits; badge 7 'Verified zero-bleed agent completion' closes it.
• Left spoke Pattern A Pooled Unit Economics: Redis Rate Bulkhead, Thinking Budget Cap, ContextCacheConfig 90% Discount, AlloyDB RLS &amp; L1-L5.
• Right spoke Pattern B Silos &amp; Pattern C PSC Spokes: VPC-SC &amp; IAM PAB, Gemma 3 &amp; Claude 3.7, PSC Spoke Runtime, Silo MCP, CMEK Lock.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Workstream 5 Capstone: Executive Topology Decision Guide &amp; The Multi-Tenant Agentic Triad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Answer the compliance question before the packaging question; most topology debates are really about which question is being asked.
• Whatever pattern you pick, the same five hops run; only the blast radius of each hop changes.
• Pooled density, sovereign isolation and hybrid routing are points on one cost/security curve ($ / $$$ / $$), not three products.
• The Triad is a balance: security-only raises TCO, cost-only invites noisy neighbors and cache bleed, observability without redaction leaks PII.
• Adopt the Milestone 1 sign-off gate as your acceptance criteria: header strip, deterministic 403s, tiered clamps and 429s, PII redaction plus RLS.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See blogs/ for the full explanatory articles and slides/ for per-workstream decks.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pn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pn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pn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image" Target="../media/image-18-17.png"/><Relationship Id="rId18" Type="http://schemas.openxmlformats.org/officeDocument/2006/relationships/image" Target="../media/image-18-18.png"/><Relationship Id="rId19" Type="http://schemas.openxmlformats.org/officeDocument/2006/relationships/image" Target="../media/image-18-19.png"/><Relationship Id="rId20" Type="http://schemas.openxmlformats.org/officeDocument/2006/relationships/image" Target="../media/image-1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image" Target="../media/image-24-8.png"/><Relationship Id="rId9" Type="http://schemas.openxmlformats.org/officeDocument/2006/relationships/image" Target="../media/image-24-9.png"/><Relationship Id="rId10" Type="http://schemas.openxmlformats.org/officeDocument/2006/relationships/image" Target="../media/image-24-10.png"/><Relationship Id="rId11" Type="http://schemas.openxmlformats.org/officeDocument/2006/relationships/image" Target="../media/image-24-11.png"/><Relationship Id="rId12" Type="http://schemas.openxmlformats.org/officeDocument/2006/relationships/image" Target="../media/image-24-12.png"/><Relationship Id="rId13" Type="http://schemas.openxmlformats.org/officeDocument/2006/relationships/image" Target="../media/image-24-13.png"/><Relationship Id="rId14" Type="http://schemas.openxmlformats.org/officeDocument/2006/relationships/image" Target="../media/image-24-14.png"/><Relationship Id="rId15" Type="http://schemas.openxmlformats.org/officeDocument/2006/relationships/image" Target="../media/image-24-15.png"/><Relationship Id="rId16" Type="http://schemas.openxmlformats.org/officeDocument/2006/relationships/image" Target="../media/image-24-16.png"/><Relationship Id="rId17" Type="http://schemas.openxmlformats.org/officeDocument/2006/relationships/image" Target="../media/image-24-17.png"/><Relationship Id="rId18" Type="http://schemas.openxmlformats.org/officeDocument/2006/relationships/image" Target="../media/image-24-18.png"/><Relationship Id="rId19" Type="http://schemas.openxmlformats.org/officeDocument/2006/relationships/image" Target="../media/image-24-19.png"/><Relationship Id="rId20" Type="http://schemas.openxmlformats.org/officeDocument/2006/relationships/image" Target="../media/image-24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image" Target="../media/image-30-5.png"/><Relationship Id="rId6" Type="http://schemas.openxmlformats.org/officeDocument/2006/relationships/image" Target="../media/image-30-6.png"/><Relationship Id="rId7" Type="http://schemas.openxmlformats.org/officeDocument/2006/relationships/image" Target="../media/image-30-7.png"/><Relationship Id="rId8" Type="http://schemas.openxmlformats.org/officeDocument/2006/relationships/image" Target="../media/image-30-8.png"/><Relationship Id="rId9" Type="http://schemas.openxmlformats.org/officeDocument/2006/relationships/image" Target="../media/image-30-9.png"/><Relationship Id="rId10" Type="http://schemas.openxmlformats.org/officeDocument/2006/relationships/image" Target="../media/image-30-10.png"/><Relationship Id="rId11" Type="http://schemas.openxmlformats.org/officeDocument/2006/relationships/image" Target="../media/image-30-11.png"/><Relationship Id="rId12" Type="http://schemas.openxmlformats.org/officeDocument/2006/relationships/image" Target="../media/image-30-12.png"/><Relationship Id="rId13" Type="http://schemas.openxmlformats.org/officeDocument/2006/relationships/image" Target="../media/image-30-13.png"/><Relationship Id="rId14" Type="http://schemas.openxmlformats.org/officeDocument/2006/relationships/image" Target="../media/image-30-14.png"/><Relationship Id="rId15" Type="http://schemas.openxmlformats.org/officeDocument/2006/relationships/image" Target="../media/image-30-15.png"/><Relationship Id="rId16" Type="http://schemas.openxmlformats.org/officeDocument/2006/relationships/image" Target="../media/image-30-16.png"/><Relationship Id="rId17" Type="http://schemas.openxmlformats.org/officeDocument/2006/relationships/image" Target="../media/image-30-17.png"/><Relationship Id="rId18" Type="http://schemas.openxmlformats.org/officeDocument/2006/relationships/image" Target="../media/image-30-18.png"/><Relationship Id="rId19" Type="http://schemas.openxmlformats.org/officeDocument/2006/relationships/image" Target="../media/image-30-19.png"/><Relationship Id="rId20" Type="http://schemas.openxmlformats.org/officeDocument/2006/relationships/image" Target="../media/image-3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image" Target="../media/image-33-8.png"/><Relationship Id="rId9" Type="http://schemas.openxmlformats.org/officeDocument/2006/relationships/image" Target="../media/image-33-9.png"/><Relationship Id="rId10" Type="http://schemas.openxmlformats.org/officeDocument/2006/relationships/image" Target="../media/image-33-10.png"/><Relationship Id="rId11" Type="http://schemas.openxmlformats.org/officeDocument/2006/relationships/image" Target="../media/image-33-11.png"/><Relationship Id="rId12" Type="http://schemas.openxmlformats.org/officeDocument/2006/relationships/image" Target="../media/image-33-12.png"/><Relationship Id="rId13" Type="http://schemas.openxmlformats.org/officeDocument/2006/relationships/image" Target="../media/image-33-13.png"/><Relationship Id="rId14" Type="http://schemas.openxmlformats.org/officeDocument/2006/relationships/image" Target="../media/image-33-14.png"/><Relationship Id="rId15" Type="http://schemas.openxmlformats.org/officeDocument/2006/relationships/image" Target="../media/image-33-15.png"/><Relationship Id="rId16" Type="http://schemas.openxmlformats.org/officeDocument/2006/relationships/image" Target="../media/image-33-16.png"/><Relationship Id="rId17" Type="http://schemas.openxmlformats.org/officeDocument/2006/relationships/image" Target="../media/image-33-17.png"/><Relationship Id="rId18" Type="http://schemas.openxmlformats.org/officeDocument/2006/relationships/image" Target="../media/image-33-18.png"/><Relationship Id="rId19" Type="http://schemas.openxmlformats.org/officeDocument/2006/relationships/image" Target="../media/image-33-19.png"/><Relationship Id="rId20" Type="http://schemas.openxmlformats.org/officeDocument/2006/relationships/image" Target="../media/image-3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pn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png"/><Relationship Id="rId15" Type="http://schemas.openxmlformats.org/officeDocument/2006/relationships/image" Target="../media/image-36-15.png"/><Relationship Id="rId16" Type="http://schemas.openxmlformats.org/officeDocument/2006/relationships/image" Target="../media/image-36-16.png"/><Relationship Id="rId17" Type="http://schemas.openxmlformats.org/officeDocument/2006/relationships/image" Target="../media/image-36-17.png"/><Relationship Id="rId18" Type="http://schemas.openxmlformats.org/officeDocument/2006/relationships/image" Target="../media/image-36-18.png"/><Relationship Id="rId19" Type="http://schemas.openxmlformats.org/officeDocument/2006/relationships/image" Target="../media/image-36-19.png"/><Relationship Id="rId20" Type="http://schemas.openxmlformats.org/officeDocument/2006/relationships/image" Target="../media/image-3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image" Target="../media/image-42-6.png"/><Relationship Id="rId7" Type="http://schemas.openxmlformats.org/officeDocument/2006/relationships/image" Target="../media/image-42-7.png"/><Relationship Id="rId8" Type="http://schemas.openxmlformats.org/officeDocument/2006/relationships/image" Target="../media/image-42-8.png"/><Relationship Id="rId9" Type="http://schemas.openxmlformats.org/officeDocument/2006/relationships/image" Target="../media/image-42-9.png"/><Relationship Id="rId10" Type="http://schemas.openxmlformats.org/officeDocument/2006/relationships/image" Target="../media/image-42-10.png"/><Relationship Id="rId11" Type="http://schemas.openxmlformats.org/officeDocument/2006/relationships/image" Target="../media/image-42-11.png"/><Relationship Id="rId12" Type="http://schemas.openxmlformats.org/officeDocument/2006/relationships/image" Target="../media/image-42-12.png"/><Relationship Id="rId13" Type="http://schemas.openxmlformats.org/officeDocument/2006/relationships/image" Target="../media/image-42-13.png"/><Relationship Id="rId14" Type="http://schemas.openxmlformats.org/officeDocument/2006/relationships/image" Target="../media/image-42-14.png"/><Relationship Id="rId15" Type="http://schemas.openxmlformats.org/officeDocument/2006/relationships/image" Target="../media/image-42-15.png"/><Relationship Id="rId16" Type="http://schemas.openxmlformats.org/officeDocument/2006/relationships/image" Target="../media/image-42-16.png"/><Relationship Id="rId17" Type="http://schemas.openxmlformats.org/officeDocument/2006/relationships/image" Target="../media/image-42-17.png"/><Relationship Id="rId18" Type="http://schemas.openxmlformats.org/officeDocument/2006/relationships/image" Target="../media/image-42-18.png"/><Relationship Id="rId19" Type="http://schemas.openxmlformats.org/officeDocument/2006/relationships/image" Target="../media/image-42-19.png"/><Relationship Id="rId20" Type="http://schemas.openxmlformats.org/officeDocument/2006/relationships/image" Target="../media/image-4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image" Target="../media/image-45-3.png"/><Relationship Id="rId4" Type="http://schemas.openxmlformats.org/officeDocument/2006/relationships/image" Target="../media/image-45-4.png"/><Relationship Id="rId5" Type="http://schemas.openxmlformats.org/officeDocument/2006/relationships/image" Target="../media/image-45-5.png"/><Relationship Id="rId6" Type="http://schemas.openxmlformats.org/officeDocument/2006/relationships/image" Target="../media/image-45-6.png"/><Relationship Id="rId7" Type="http://schemas.openxmlformats.org/officeDocument/2006/relationships/image" Target="../media/image-45-7.png"/><Relationship Id="rId8" Type="http://schemas.openxmlformats.org/officeDocument/2006/relationships/image" Target="../media/image-45-8.png"/><Relationship Id="rId9" Type="http://schemas.openxmlformats.org/officeDocument/2006/relationships/image" Target="../media/image-45-9.png"/><Relationship Id="rId10" Type="http://schemas.openxmlformats.org/officeDocument/2006/relationships/image" Target="../media/image-45-10.png"/><Relationship Id="rId11" Type="http://schemas.openxmlformats.org/officeDocument/2006/relationships/image" Target="../media/image-45-11.png"/><Relationship Id="rId12" Type="http://schemas.openxmlformats.org/officeDocument/2006/relationships/image" Target="../media/image-45-12.png"/><Relationship Id="rId13" Type="http://schemas.openxmlformats.org/officeDocument/2006/relationships/image" Target="../media/image-45-13.png"/><Relationship Id="rId14" Type="http://schemas.openxmlformats.org/officeDocument/2006/relationships/image" Target="../media/image-45-14.png"/><Relationship Id="rId15" Type="http://schemas.openxmlformats.org/officeDocument/2006/relationships/image" Target="../media/image-45-15.png"/><Relationship Id="rId16" Type="http://schemas.openxmlformats.org/officeDocument/2006/relationships/image" Target="../media/image-45-16.png"/><Relationship Id="rId17" Type="http://schemas.openxmlformats.org/officeDocument/2006/relationships/image" Target="../media/image-45-17.png"/><Relationship Id="rId18" Type="http://schemas.openxmlformats.org/officeDocument/2006/relationships/image" Target="../media/image-45-18.png"/><Relationship Id="rId19" Type="http://schemas.openxmlformats.org/officeDocument/2006/relationships/image" Target="../media/image-45-19.png"/><Relationship Id="rId20" Type="http://schemas.openxmlformats.org/officeDocument/2006/relationships/image" Target="../media/image-4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image" Target="../media/image-48-6.png"/><Relationship Id="rId7" Type="http://schemas.openxmlformats.org/officeDocument/2006/relationships/image" Target="../media/image-48-7.png"/><Relationship Id="rId8" Type="http://schemas.openxmlformats.org/officeDocument/2006/relationships/image" Target="../media/image-48-8.png"/><Relationship Id="rId9" Type="http://schemas.openxmlformats.org/officeDocument/2006/relationships/image" Target="../media/image-48-9.png"/><Relationship Id="rId10" Type="http://schemas.openxmlformats.org/officeDocument/2006/relationships/image" Target="../media/image-48-10.png"/><Relationship Id="rId11" Type="http://schemas.openxmlformats.org/officeDocument/2006/relationships/image" Target="../media/image-48-11.png"/><Relationship Id="rId12" Type="http://schemas.openxmlformats.org/officeDocument/2006/relationships/image" Target="../media/image-48-12.png"/><Relationship Id="rId13" Type="http://schemas.openxmlformats.org/officeDocument/2006/relationships/image" Target="../media/image-48-13.png"/><Relationship Id="rId14" Type="http://schemas.openxmlformats.org/officeDocument/2006/relationships/image" Target="../media/image-48-14.png"/><Relationship Id="rId15" Type="http://schemas.openxmlformats.org/officeDocument/2006/relationships/image" Target="../media/image-48-15.png"/><Relationship Id="rId16" Type="http://schemas.openxmlformats.org/officeDocument/2006/relationships/image" Target="../media/image-48-16.png"/><Relationship Id="rId17" Type="http://schemas.openxmlformats.org/officeDocument/2006/relationships/image" Target="../media/image-48-17.png"/><Relationship Id="rId18" Type="http://schemas.openxmlformats.org/officeDocument/2006/relationships/image" Target="../media/image-48-18.png"/><Relationship Id="rId19" Type="http://schemas.openxmlformats.org/officeDocument/2006/relationships/image" Target="../media/image-48-19.png"/><Relationship Id="rId20" Type="http://schemas.openxmlformats.org/officeDocument/2006/relationships/image" Target="../media/image-48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image" Target="../media/image-51-5.png"/><Relationship Id="rId6" Type="http://schemas.openxmlformats.org/officeDocument/2006/relationships/image" Target="../media/image-51-6.png"/><Relationship Id="rId7" Type="http://schemas.openxmlformats.org/officeDocument/2006/relationships/image" Target="../media/image-51-7.png"/><Relationship Id="rId8" Type="http://schemas.openxmlformats.org/officeDocument/2006/relationships/image" Target="../media/image-51-8.png"/><Relationship Id="rId9" Type="http://schemas.openxmlformats.org/officeDocument/2006/relationships/image" Target="../media/image-51-9.png"/><Relationship Id="rId10" Type="http://schemas.openxmlformats.org/officeDocument/2006/relationships/image" Target="../media/image-51-10.png"/><Relationship Id="rId11" Type="http://schemas.openxmlformats.org/officeDocument/2006/relationships/image" Target="../media/image-51-11.png"/><Relationship Id="rId12" Type="http://schemas.openxmlformats.org/officeDocument/2006/relationships/image" Target="../media/image-51-12.png"/><Relationship Id="rId13" Type="http://schemas.openxmlformats.org/officeDocument/2006/relationships/image" Target="../media/image-51-13.png"/><Relationship Id="rId14" Type="http://schemas.openxmlformats.org/officeDocument/2006/relationships/image" Target="../media/image-51-14.png"/><Relationship Id="rId15" Type="http://schemas.openxmlformats.org/officeDocument/2006/relationships/image" Target="../media/image-51-15.png"/><Relationship Id="rId16" Type="http://schemas.openxmlformats.org/officeDocument/2006/relationships/image" Target="../media/image-51-16.png"/><Relationship Id="rId17" Type="http://schemas.openxmlformats.org/officeDocument/2006/relationships/image" Target="../media/image-51-17.png"/><Relationship Id="rId18" Type="http://schemas.openxmlformats.org/officeDocument/2006/relationships/image" Target="../media/image-51-18.png"/><Relationship Id="rId19" Type="http://schemas.openxmlformats.org/officeDocument/2006/relationships/image" Target="../media/image-51-19.png"/><Relationship Id="rId20" Type="http://schemas.openxmlformats.org/officeDocument/2006/relationships/image" Target="../media/image-5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image" Target="../media/image-57-4.png"/><Relationship Id="rId5" Type="http://schemas.openxmlformats.org/officeDocument/2006/relationships/image" Target="../media/image-57-5.png"/><Relationship Id="rId6" Type="http://schemas.openxmlformats.org/officeDocument/2006/relationships/image" Target="../media/image-57-6.png"/><Relationship Id="rId7" Type="http://schemas.openxmlformats.org/officeDocument/2006/relationships/image" Target="../media/image-57-7.png"/><Relationship Id="rId8" Type="http://schemas.openxmlformats.org/officeDocument/2006/relationships/image" Target="../media/image-57-8.png"/><Relationship Id="rId9" Type="http://schemas.openxmlformats.org/officeDocument/2006/relationships/image" Target="../media/image-57-9.png"/><Relationship Id="rId10" Type="http://schemas.openxmlformats.org/officeDocument/2006/relationships/image" Target="../media/image-57-10.png"/><Relationship Id="rId11" Type="http://schemas.openxmlformats.org/officeDocument/2006/relationships/image" Target="../media/image-57-11.png"/><Relationship Id="rId12" Type="http://schemas.openxmlformats.org/officeDocument/2006/relationships/image" Target="../media/image-57-12.png"/><Relationship Id="rId13" Type="http://schemas.openxmlformats.org/officeDocument/2006/relationships/image" Target="../media/image-57-13.png"/><Relationship Id="rId14" Type="http://schemas.openxmlformats.org/officeDocument/2006/relationships/image" Target="../media/image-57-14.png"/><Relationship Id="rId15" Type="http://schemas.openxmlformats.org/officeDocument/2006/relationships/image" Target="../media/image-57-15.png"/><Relationship Id="rId16" Type="http://schemas.openxmlformats.org/officeDocument/2006/relationships/image" Target="../media/image-57-16.png"/><Relationship Id="rId17" Type="http://schemas.openxmlformats.org/officeDocument/2006/relationships/image" Target="../media/image-57-17.png"/><Relationship Id="rId18" Type="http://schemas.openxmlformats.org/officeDocument/2006/relationships/image" Target="../media/image-57-18.png"/><Relationship Id="rId19" Type="http://schemas.openxmlformats.org/officeDocument/2006/relationships/image" Target="../media/image-57-19.png"/><Relationship Id="rId20" Type="http://schemas.openxmlformats.org/officeDocument/2006/relationships/image" Target="../media/image-5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384048"/>
            <a:ext cx="6720840" cy="5074920"/>
          </a:xfrm>
          <a:prstGeom prst="roundRect">
            <a:avLst>
              <a:gd name="adj" fmla="val 1802"/>
            </a:avLst>
          </a:prstGeom>
          <a:solidFill>
            <a:srgbClr val="132238"/>
          </a:solidFill>
          <a:ln w="12700">
            <a:solidFill>
              <a:srgbClr val="23385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384048"/>
            <a:ext cx="109728" cy="50749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77240" y="705917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91540" y="705917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005840" y="705917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20140" y="705917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25880" y="621792"/>
            <a:ext cx="5577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NEXT ’26  •  ENTERPRISE AGENTIC ARCHITECTURE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77240" y="987552"/>
            <a:ext cx="6126480" cy="310896"/>
          </a:xfrm>
          <a:prstGeom prst="roundRect">
            <a:avLst>
              <a:gd name="adj" fmla="val 17647"/>
            </a:avLst>
          </a:prstGeom>
          <a:solidFill>
            <a:srgbClr val="172B4D"/>
          </a:solidFill>
          <a:ln w="9525">
            <a:solidFill>
              <a:srgbClr val="4285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987552"/>
            <a:ext cx="5943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F0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PROGRAM DECK • WORKSTREAMS 1–5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240" y="1426464"/>
            <a:ext cx="6172200" cy="1691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AI: Pooled, Sovereign Silos &amp; Hybrid — Complete Program Deck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777240" y="3154680"/>
            <a:ext cx="61722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14 Google Cloud Architecture Center blueprints across Workstreams 1–5 as 100% editable slides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777240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4285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4187952"/>
            <a:ext cx="195681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868680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• Pooled SaaS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Runtime + 90% Cache Save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2843784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34A85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43784" y="4187952"/>
            <a:ext cx="195681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23" name="Text 21"/>
          <p:cNvSpPr/>
          <p:nvPr/>
        </p:nvSpPr>
        <p:spPr>
          <a:xfrm>
            <a:off x="2935224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• Sovereign Silos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935224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CMEK + Gemma 3 Air-Gap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4910328" y="4187952"/>
            <a:ext cx="1956816" cy="1024128"/>
          </a:xfrm>
          <a:prstGeom prst="roundRect">
            <a:avLst>
              <a:gd name="adj" fmla="val 5357"/>
            </a:avLst>
          </a:prstGeom>
          <a:solidFill>
            <a:srgbClr val="0B1426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910328" y="4187952"/>
            <a:ext cx="195681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7" name="Text 25"/>
          <p:cNvSpPr/>
          <p:nvPr/>
        </p:nvSpPr>
        <p:spPr>
          <a:xfrm>
            <a:off x="5001768" y="4297680"/>
            <a:ext cx="177393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• Dynamic Hybrid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001768" y="4626864"/>
            <a:ext cx="1773936" cy="493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Spokes + Live Tier Upgrade</a:t>
            </a:r>
            <a:endParaRPr lang="en-US" sz="820" dirty="0"/>
          </a:p>
        </p:txBody>
      </p:sp>
      <p:sp>
        <p:nvSpPr>
          <p:cNvPr id="29" name="Shape 27"/>
          <p:cNvSpPr/>
          <p:nvPr/>
        </p:nvSpPr>
        <p:spPr>
          <a:xfrm>
            <a:off x="7360920" y="384048"/>
            <a:ext cx="4370832" cy="5074920"/>
          </a:xfrm>
          <a:prstGeom prst="roundRect">
            <a:avLst>
              <a:gd name="adj" fmla="val 2092"/>
            </a:avLst>
          </a:prstGeom>
          <a:solidFill>
            <a:srgbClr val="FFFFFF"/>
          </a:solidFill>
          <a:ln w="19050">
            <a:solidFill>
              <a:srgbClr val="4285F4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60920" y="384048"/>
            <a:ext cx="4370832" cy="384048"/>
          </a:xfrm>
          <a:prstGeom prst="rect">
            <a:avLst/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0" y="411480"/>
            <a:ext cx="409651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NATIVE EDITABLE ARCHITECTURE BLUEPRINT</a:t>
            </a:r>
            <a:endParaRPr lang="en-US" sz="850" dirty="0"/>
          </a:p>
        </p:txBody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5494" y="841248"/>
            <a:ext cx="3422599" cy="40690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7498080" y="4983480"/>
            <a:ext cx="409651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7498080" y="4983480"/>
            <a:ext cx="40965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PromptCanvas Vision AST → Decomposed Native PPTX Shapes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7200" y="5614416"/>
            <a:ext cx="82296" cy="932688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7" name="Text 34"/>
          <p:cNvSpPr/>
          <p:nvPr/>
        </p:nvSpPr>
        <p:spPr>
          <a:xfrm>
            <a:off x="621792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Editable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792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PPTX &amp; Google Slides Shapes, Icons &amp; Connectors</a:t>
            </a:r>
            <a:endParaRPr lang="en-US" sz="820" dirty="0"/>
          </a:p>
        </p:txBody>
      </p:sp>
      <p:sp>
        <p:nvSpPr>
          <p:cNvPr id="39" name="Shape 36"/>
          <p:cNvSpPr/>
          <p:nvPr/>
        </p:nvSpPr>
        <p:spPr>
          <a:xfrm>
            <a:off x="3310128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310128" y="5614416"/>
            <a:ext cx="82296" cy="932688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1" name="Text 38"/>
          <p:cNvSpPr/>
          <p:nvPr/>
        </p:nvSpPr>
        <p:spPr>
          <a:xfrm>
            <a:off x="3474720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3474720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OBO+DPoP → Registry PDP → Sandbox → Model Armor → RLS</a:t>
            </a:r>
            <a:endParaRPr lang="en-US" sz="820" dirty="0"/>
          </a:p>
        </p:txBody>
      </p:sp>
      <p:sp>
        <p:nvSpPr>
          <p:cNvPr id="43" name="Shape 40"/>
          <p:cNvSpPr/>
          <p:nvPr/>
        </p:nvSpPr>
        <p:spPr>
          <a:xfrm>
            <a:off x="6163056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163056" y="5614416"/>
            <a:ext cx="82296" cy="932688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Text 42"/>
          <p:cNvSpPr/>
          <p:nvPr/>
        </p:nvSpPr>
        <p:spPr>
          <a:xfrm>
            <a:off x="6327648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12/12 PASS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327648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Deep Forensic Audit &amp; Schema Verification</a:t>
            </a:r>
            <a:endParaRPr lang="en-US" sz="820" dirty="0"/>
          </a:p>
        </p:txBody>
      </p:sp>
      <p:sp>
        <p:nvSpPr>
          <p:cNvPr id="47" name="Shape 44"/>
          <p:cNvSpPr/>
          <p:nvPr/>
        </p:nvSpPr>
        <p:spPr>
          <a:xfrm>
            <a:off x="9015984" y="5614416"/>
            <a:ext cx="2715768" cy="932688"/>
          </a:xfrm>
          <a:prstGeom prst="roundRect">
            <a:avLst>
              <a:gd name="adj" fmla="val 6863"/>
            </a:avLst>
          </a:prstGeom>
          <a:solidFill>
            <a:srgbClr val="132238"/>
          </a:solidFill>
          <a:ln w="9525">
            <a:solidFill>
              <a:srgbClr val="233858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9015984" y="5614416"/>
            <a:ext cx="82296" cy="932688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9" name="Text 46"/>
          <p:cNvSpPr/>
          <p:nvPr/>
        </p:nvSpPr>
        <p:spPr>
          <a:xfrm>
            <a:off x="9180576" y="5687568"/>
            <a:ext cx="24505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20/20 PASS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9180576" y="5998464"/>
            <a:ext cx="24505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Breach Defense, Silo CMEK &amp; Zero-Downtime Upgrade Sims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86868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6227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Map • Workstreams 1–5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DEEP DIVE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REFERENCE ARCHITECTURE • TECHNICAL BREAKDOWN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Map • Workstreams 1–5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blogs/ for the full explanatory articles and slides/ for per-workstream decks.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34440"/>
            <a:ext cx="10911535" cy="4389120"/>
          </a:xfrm>
          <a:prstGeom prst="roundRect">
            <a:avLst>
              <a:gd name="adj" fmla="val 2500"/>
            </a:avLst>
          </a:prstGeom>
          <a:solidFill>
            <a:srgbClr val="132238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34440"/>
            <a:ext cx="128016" cy="43891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173918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" y="173918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173918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4460" y="173918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1645920"/>
            <a:ext cx="96313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 •  GOOGLE CLOUD ARCHITECTURE WORKSTREAM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148840"/>
            <a:ext cx="10088575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Taxonomy &amp; 5-Hop Baseline (Workstream 1)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51560" y="3794760"/>
            <a:ext cx="100885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Sovereign Silo &amp; Dynamic Hybrid topologies extending the Cloud Architecture Center hub-and-spoke reference for B2B ISV SaaS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 spoke project per business unit; 90%+ of B2B SaaS ISVs cannot afford that per Standard-tier tenant.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add four new failure modes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MCP discovery, confused-deputy credentials, context-cache bleed, and noisy-neighbor runaway reasoning loops.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(Pooled), Pattern B (Sovereign Silos), and Pattern C (Dynamic Hybrid) on an 80% reusable core + 20% topology delta.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 (hop1..hop5 Python modules) enforces identical governance across all three patterns.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PR for the Architecture Center (1.3), product review pack (1.2), and an EAP/product-gap ledger with 3 P0 workarounds (1.4).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GEAP Multi-Tenant Agentic AI Taxonomy: Pooled (A), Sovereign Silos (B) &amp; Hybrid (C)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ARD catalog filter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Cross-Pattern Breach Alerts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ARD PDP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NLCs &amp; SDP PII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diagrams/ws1-multi-tenant-taxonomy-overview.drawio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VIS-WS1-MULTI-TENANT-TAXONOMY-OVERVIEW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Control Plane &amp; Multi-Tenant Governance Perimeter (80% Reusab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&amp; 5-Hop Cryptographic Context Chain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Shared Runtime (Standard &amp; High-Density SaaS)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(Sovereign Silos) &amp; Pattern C (Hybrid PSC Spokes)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Pool (Shared Runtime)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(8k Cap) &amp; RetailStream (4k Cap)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Sovereign Tenant Project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+ IAM PAB + CMEK Kill-Switch + 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 PEP/PDP)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ingress, OBO+DPoP &amp; ARD catalog filter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 FinOps observability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B2B Tenants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(OIDC) &amp; RetailStream (Entra)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Cross-Pattern Breach Alerts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 &amp; BQ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OTel &amp; Chargeback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 &amp; PAB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(2LO/3LO)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Row-Level Security (RLS)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diagrams/ws1-multi-tenant-taxonomy-overview.drawio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Cloud Architecture Center: Multi-Tenant Agentic AI with 5-Hop Cryptographic Governance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Redis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OCC NLC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(8k Budget)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NLC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(4k Cap)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diagrams/ws1-cloud-arch-center-5hop-baseline.drawio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VIS-WS1-CLOUD-ARCH-CENTER-5HOP-BASELINE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hubs (VPC Service Controls Organization Perimeter)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Alpha)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Beta)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(FinVault Bank)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Enterprise Tier (Google OIDC)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(RetailStream Corp)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Standard Tier (Entra ID)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&amp; cryptographic token exchange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 security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OIDC / Entra JWT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Continuous Threat Detection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 Sink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Manager (2LO / 3LO)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Datastore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BigQuery, AlloyDB RLS, 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diagrams/ws1-cloud-arch-center-5hop-baseline.drawio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edge, registry, runtime, guardrail, and data layers; a tenant_id column is not isolation.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topology per tenant tier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for Standard, Pattern B for regulator-mandated perimeters, Pattern C when you serve both.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is topology-agnostic code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trust boundary changes, the governance modules do not.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 a pool only when ContextCacheConfig is read-only on shared system instructions.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P0 product gaps already have engineered workarounds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EAP allowlists target Q4 2026 for native support.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EAP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34440"/>
            <a:ext cx="10911535" cy="4389120"/>
          </a:xfrm>
          <a:prstGeom prst="roundRect">
            <a:avLst>
              <a:gd name="adj" fmla="val 2500"/>
            </a:avLst>
          </a:prstGeom>
          <a:solidFill>
            <a:srgbClr val="132238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34440"/>
            <a:ext cx="128016" cy="43891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173918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" y="173918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173918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4460" y="173918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1645920"/>
            <a:ext cx="96313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  •  GOOGLE CLOUD ARCHITECTURE WORKSTREAM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148840"/>
            <a:ext cx="10088575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— Pooled Architecture: One Shared Runtime, Two Competing Tenants, Zero Bleed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51560" y="3794760"/>
            <a:ext cx="100885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High-Density Pooled Multi-Tenancy on GEAP &amp; ADK 2.0 — 5-Hop Cryptographic Context Chain, 10-point breach suite, 90% ContextCacheConfig save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projects per Standard-tier SaaS customer destroy gross margin, but naive shared runtimes leak agents, tools, caches and PII.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(cymbal-pooled-saas-prod) governed by the 5-Hop Cryptographic Context Chain from edge PEP to AlloyDB RLS.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 •  5-Hop Context Chain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(Enterprise, Google OIDC/Jira) and RetailStream Corp (Standard, Entra ID/ServiceNow) share one runtime with 10/10 breach vectors blocked.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ID 3LO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READ_ONLY_IMMUTABLE_PREFIX bills the 32,000-token operator prefix at a 90% discount for ~84.7% net input COGS reduction.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Ships as Milestone 1 (Week 4) with a Terraform starter, 90-minute codelab, and locally runnable run_breach_simulations.py.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2 • Pattern A — High-Density Pooled Architecture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A: High-Density Pooled Multi-Tenant Architecture &amp; Shared Runtime Governance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A: High-Density Pooled Multi-Tenant Architecture &amp; Shared Runtime Governance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cymbal-pooled-saas-prod (Maximum Density Pooled SaaS)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 • 5-Hop Cryptographic Context Chain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(Envelope CMEK)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GEAP Registry PDP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&amp; ARD catalog pruning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Token Chargeback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app.current_tenant='finvault'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current_tenant='retailstream'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OCC NLC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NLC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Registry PDP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Filter (403 Alpha)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 (jkt)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49978"/>
            <a:ext cx="777240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49978"/>
            <a:ext cx="777240" cy="16367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Filtered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DPoP token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ARD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High-Density Pooled Multi-Tenant Architecture &amp; Shared Runtime Governance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actor, 'FinVault &amp; RetailStream Competing SaaS Tenants', enters one 'Shared GCP Project: cymbal-pooled-saas-prod'.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'Hop 1 &amp; Hop 2: Edge PEP &amp; GEAP Registry PDP': strip X-Tenant-ID, filter ARD catalog, mint OBO + DPoP token.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'Hop 3 &amp; 5: Shared FinOps, Cache &amp; OTel Hub': ContextCacheConfig 90%, Redis Rate Bulkhead, BigQuery OTel Sink.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'Bind immutable temp:tenant_id' before any tenant code runs; badge 7 returns 'SDP-redacted tenant response'.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A FinVault: Model Armor masks IBAN/SWIFT + OCC NLC, Gemini &amp; Claude 3.7, 3LO Workspace/Jira, Shared AlloyDB RLS.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 B RetailStream: Card PAN + PCI NLC, Gemini 2.5 Pro clamped to 4,000 tokens, 3LO Entra &amp; SNOW inline consent gate.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diagrams/ws2-pattern-a-pooled-5hop-architecture.drawio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VIS-WS2-PATTERN-A-POOLED-5HOP-ARCHITECTURE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GCP Project: cymbal-pooled-saas-prod (Maximum Density Pooled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VPC • 5-Hop Cryptographic Context Chain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A • FinVault Bank (Enterprise Tier)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Logical &amp; Cryptographic Slice B • RetailStream Corp (Standard Tier)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Logical Partition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finvault:user:session (Envelope CMEK)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Logical Partition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Namespace: retailstream:user:session (120 RPM Cap)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2: Edge PEP &amp; GEAP Registry PDP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Header stripping, OBO+DPoP &amp; ARD catalog pruning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5: Shared FinOps, Cache &amp; OTel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SaaS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ContextCacheConfig (90% COGS Save)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32k Shared Operator Prefix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Token Chargeback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 Rate Bulkhead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4k Standard vs 8k Enterprise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app.current_tenant='finvault'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diagrams/ws2-pattern-a-pooled-5hop-architecture.drawio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Pattern A: 10-Point Cross-Tenant Breach Simulation &amp; Cryptographic Defense Matrix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A: 10-Point Cross-Tenant Breach Simulation &amp; Cryptographic Defense Matrix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Adversarial Breach Verification Harness (10/10 Deterministic Security Gates PASS)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• Zero-Trust 5-Hop Enforcement Pipeline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Guardrail Gates (Vectors 4, 5 &amp; 8) • Prompt, NLC &amp; SDP DLP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Hop 5 Storage Gates (Vectors 7 &amp; 9) • Memory, Skills &amp; RLS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Semantic NLCs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Injection Screen &amp; Egress SDP Redaction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Bank, Skills &amp; AlloyDB RLS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Cryptographic Namespace &amp; Storage-Engine Isolation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 Gates (Vectors 1, 2, 3 &amp; 10)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Neutralizes header spoofing, Agent Alpha &amp; MCP leaks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 FinOps &amp; Audit Gates (Vectors 6 &amp; 9)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Red-Team Attacker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Spoofed Headers &amp; Injections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Edge PEP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6: Redis 429 &amp; 4k Token Clamp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250 RPM Flood &amp; 16k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Logs Every Blocked Vector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10: Inline 3LO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401 Entra OAuth Challenge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Raw PII Egress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[REDACTED-FINVAULT-*]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7C: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Cross-Tenant Rows Returned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Executes Only Clean Turns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9: Prefix Cache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READ_ONLY_IMMUTABLE_PREFIX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8: SDP Mask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IBAN, SWIFT &amp; PAN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Vault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Tenant-Scoped OAuth Tokens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Catalog + ADK Callback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4: HTTP 400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SQLi &amp; Cache Dump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5: HTTP 422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OCC Escalation Suppress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7A: L4 Memory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PermissionError on Cross-Read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7B: GCS Skills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gs://cymbal-skills-fv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1: Header Strip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Drops Forged X-Tenant-ID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2: Agent 403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Blocks Retail -&gt; Agent Alpha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Vector 3: Tool Prune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Prunes FinVault Jira MCP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security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violation spans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DLP Egress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PII in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Prefix Cache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cross-tenant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data/cache bleed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NLC rules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context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enters Hop 3–5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3LO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tools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prompt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 PII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spoofed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Return HTTP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Forbidden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 / Safe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403 / 200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 Probe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Probe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10-Point Cross-Tenant Breach Simulation &amp; Cryptographic Defense Matrix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geometry as Figure 1, relabeled as gates: 'Red-Team Attacker Spoofed Headers &amp; Injections' probes, badge 7 returns 'Blocked / Safe'.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1 &amp; Hop 2 Gates (Vectors 1, 2, 3 &amp; 10)': header strip, Agent 403, tool prune of FinVault Jira MCP.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5 FinOps &amp;' hub: Vector 6 Redis 429 &amp; 4k clamp, Vector 10 inline 3LO, BigQuery OTel logs every blocked vector.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4 Guardrail Gates (Vectors 4, 5 &amp; 8)': HTTP 400 SQLi/cache dump, HTTP 422 NLC, SDP mask IBAN/SWIFT/PAN, zero raw PII egress.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'Hop 3 &amp; Hop 5 Storage Gates (Vectors 7 &amp; 9)': L4 memory, GCS skills, READ_ONLY_IMMUTABLE_PREFIX cache, AlloyDB RLS SET LOCAL.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governance line: 'Real-time security violation spans' — every denial is a queryable audit record.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diagrams/ws2-pattern-a-breach-defense-sequence.drawio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VIS-WS2-PATTERN-A-BREACH-DEFENSE-SEQUENCE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Adversarial Breach Verification Harness (10/10 Deterministic Securit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• Zero-Trust 5-Hop Enforcement Pipeline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4 Guardrail Gates (Vectors 4, 5 &amp; 8) • Prompt, NLC &amp; SDP DLP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Hop 5 Storage Gates (Vectors 7 &amp; 9) • Memory, Skills &amp;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Armor &amp; Semantic NLCs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Ingress Injection Screen &amp; Egress SDP Redaction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 Bank, Skills &amp;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Cryptographic Namespace &amp; Storage-Engine Isolation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&amp; Hop 2 Gates (Vectors 1, 2, 3 &amp; 10)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Neutralizes header spoofing, Agent Alpha &amp; MCP leaks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3 &amp; 5 FinOps &amp; Audit Gates (Vectors 6 &amp; 9)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Red-Team Attacker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Spoofed Headers &amp; Injections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Armor Edge PEP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6: Redis 429 &amp; 4k Token Clamp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Blocks 250 RPM Flood &amp; 16k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Logs Every Blocked Vector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Vector 10: Inline 3LO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401 Entra OAuth Challenge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Raw PII Egress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[REDACTED-FINVAULT-*]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diagrams/ws2-pattern-a-breach-defense-sequence.drawio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694944"/>
            <a:ext cx="4872838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Demo Environment &amp; 3P Auth Sandbox: Pooled Project, Federated IdPs, OAuth 2LO/3LO Apps, Redis &amp; Firestore Tenant Config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(cymbal-pooled-saas-prod, us-central1) with 12 enabled APIs hosts both demo tenants; isolation is logical, not per-project.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the Hop 1 front door: Cloud Armor cymbal-pooled-edge-waf (rule 1000 SQLi/XSS deny-403) plus the Edge PEP that strips forged X-Tenant-ID headers.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wires FinVault Bank: a Google OAuth 2.0 Client ID on finvault.com, Workspace 3LO scopes (drive, calendar, gmail) and Jira read/write:jira-work.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wires RetailStream Corp with zero Google footprint: Entra app Cymbal-RetailStream-Agent-Client, Graph Sites.Read.All, ServiceNow useraccount.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holds the shared setup: Agent Identity (Auth Manager) scope registry, Cloud KMS for CMEK and BigQuery for OpenTelemetry audit.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seeds tier, thinking budget (8000 vs 4000), Redis rpm (600 vs 120) and allowed_agents per tenant; the 2.5 breach suite verifies the whole sandbox.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3: Pattern A Demo Environment &amp; 3P Auth Sandbox: Pooled Project, Federated IdPs, OAuth 2LO/3LO Apps, Redis &amp; Firestore Tenant Config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Pattern A Demo Environment &amp; 3P Auth Sandbox: Pooled Project, Federated IdPs, OAuth 2LO/3LO Apps, Redis &amp; Firestore Tenant Config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Demo Project cymbal-pooled-saas-prod (us-central1) • 12 Enabled APIs (aiplatform, modelarmor, dlp, run, iap, alloydb, redis, firestore, cloudkms, bigquery)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GEAP Runtime • Hop 1 Edge PEP + Hop 5 3P Auth Sandbox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Alpha Sandbox: FinVault Bank (ENTERPRISE • Google Workspace OIDC + Jira 3LO)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Beta Sandbox: RetailStream Corp (STANDARD • Microsoft Entra ID, Zero Google Footprint)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Sandbox Wiring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finvault.com OAuth 2.0 Client ID • 8,000 thinking budget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Sandbox Wiring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retailstream.onmicrosoft.com • 4,000 thinking budget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env ingress &amp; bootstrap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Project, APIs, Cloud Armor WAF, Global LB &amp; Edge PEP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Secrets, IdP issuer map &amp; observability setup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Platform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 + IdP admin consoles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External App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edge.cymbal-saas.example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(Auth Manager)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scope registry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bigquery.googleapis.com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cloudkms.googleapis.com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Agent Alpha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claude-3-7-sonnet allowed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MCP Sandbox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read/write:jira-work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ITOM REST useraccount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 • rpm 600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Tenant Doc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STANDARD • rpm 120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Edge PEP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Envoy Service Extension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OIDC Client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2.0 Client ID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3LO Scopes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App Reg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Cymbal-RetailStream-Agent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Sites.Read.All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SharePoint runbooks 3LO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WAF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cymbal-pooled-edge-waf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Sanitizer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X-Tenant-ID spoof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 PEP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IDP_ISSUER_MAP + OBO/DPoP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Scopes, keys &amp; audit datasets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+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Jira tools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allowed_agents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alpha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OIDC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URL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7.0 5GB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bulkhead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breach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suite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3LO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IdPs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(OIDC &amp; Entra)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OIDC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issuer per tenant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client ID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tenant config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SQLi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XSS deny-403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forged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headers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APIs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Demo Environment &amp; 3P Auth Sandbox: Pooled Project, Federated IdPs, OAuth 2LO/3LO Apps, Redis &amp; Firestore Tenant Config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shared project (cymbal-pooled-saas-prod, us-central1) with 12 enabled APIs hosts both demo tenants; isolation is logical, not per-project.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the Hop 1 front door: Cloud Armor cymbal-pooled-edge-waf (rule 1000 SQLi/XSS deny-403) plus the Edge PEP that strips forged X-Tenant-ID headers.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wires FinVault Bank: a Google OAuth 2.0 Client ID on finvault.com, Workspace 3LO scopes (drive, calendar, gmail) and Jira read/write:jira-work.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wires RetailStream Corp with zero Google footprint: Entra app Cymbal-RetailStream-Agent-Client, Graph Sites.Read.All, ServiceNow useraccount.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holds the shared setup: Agent Identity (Auth Manager) scope registry, Cloud KMS for CMEK and BigQuery for OpenTelemetry audit.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seeds tier, thinking budget (8000 vs 4000), Redis rpm (600 vs 120) and allowed_agents per tenant; the 2.5 breach suite verifies the whole sandbox.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diagrams/ws2-demo-env-and-3p-auth-sandbox-topology.drawio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VIS-WS2-DEMO-ENV-AND-3P-AUTH-SANDBOX-TOPOLOGY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Demo Project cymbal-pooled-saas-prod (us-central1) • 12 Enabl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GEAP Runtime • Hop 1 Edge PEP + Hop 5 3P Auth Sandbox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Alpha Sandbox: FinVault Bank (ENTERPRISE • Google Workspace O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Beta Sandbox: RetailStream Corp (STANDARD • Microsoft Entra 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Sandbox Wiring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finvault.com OAuth 2.0 Client ID • 8,000 thinking budget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Sandbox Wiring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retailstream.onmicrosoft.com • 4,000 thinking budget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env ingress &amp; bootstrap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Project, APIs, Cloud Armor WAF, Global LB &amp; Edge PEP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Secrets, IdP issuer map &amp; observability setup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 Platform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bootstrap + IdP admin consoles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External App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edge.cymbal-saas.example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(Auth Manager)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3LO scope registry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bigquery.googleapis.com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cloudkms.googleapis.com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Agent Alpha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claude-3-7-sonnet allowed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Component Specification Table  •  Source: diagrams/ws2-demo-env-and-3p-auth-sandbox-topology.drawio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6850" y="694944"/>
            <a:ext cx="5443423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1-Click Terraform Starter: Provider → Cloud Armor WAF → Cloud Run v2 GEAP Gateway → Redis / KMS CMEK → BigQuery OTel Resource Graph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(main.tf + variables.tf) on Terraform &gt;= 1.5.0 with hashicorp/google &gt;= 5.30.0 deploys the pooled Pattern A core in one apply.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Hop 1: google_compute_security_policy.cymbal_pooled_waf with a deny(403) SQLi/XSS rule at priority 1000 and a default SRC_IPS_V1 allow.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is the runtime graph: google_cloud_run_v2_service.cymbal_pooled_gateway, Gen2 gVisor, internal-LB ingress and env vars referencing other resources.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is the data graph: google_redis_instance.tenant_token_bulkhead (REDIS_7_0, STANDARD_HA, 5 GB); AlloyDB RLS and Firestore are provisioned in 2.2.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covers keys and audit: cymbal-pooled-tenant-kr key ring, finvault-agent-memory-cmek (90-day rotation), BigQuery dataset cymbal_multi_tenant_otel.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close the loop — pooled_gateway_uri and redis_bulkhead_host — so downstream workstreams can bind to the deployed resources without hardcoding.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4: Pattern A 1-Click Terraform Starter: Provider → Cloud Armor WAF → Cloud Run v2 GEAP Gateway → Redis / KMS CMEK → BigQuery OTel Resource Graph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Pattern A 1-Click Terraform Starter: Provider → Cloud Armor WAF → Cloud Run v2 GEAP Gateway → Redis / KMS CMEK → BigQuery OTel Resource Graph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(main.tf + variables.tf) • provider "google" { project = var.project_id, region = var.region }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Dependency Graph • Hop 1 Edge → Hop 3 Runtime &amp; Bulkhead → Hop 5 Audit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Services Graph: google_cloud_run_v2_service.cymbal_pooled_gateway (Gen2 gVisor)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Graph: google_redis_instance.tenant_token_bulkhead + AlloyDB RLS &amp; Firestore (provisioned in 2.2)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GEAP Gateway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 • EXECUTION_ENVIRONMENT_GEN2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Data &amp; Bulkhead Stores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 7.0 STANDARD_HA 5GB (Hop 3 FinOps)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Provider, project &amp; ingress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required_providers + Hop 1 Cloud Armor WAF front door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CMEK keys &amp; observability resources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(IaC)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init • plan • apply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provider &gt;= 5.30.0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var.project_id / var.region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Ring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cymbal-pooled-tenant-kr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Dataset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cymbal_multi_tenant_otel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CMEK Key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finvault-agent-memory-cmek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REDIS_BULKHEAD_HOST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redis_instance.host ref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 Labels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hop-3-finops-bulkhead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CYMBAL_TOPOLOGY_MODE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alloydb.googleapis.com (2.2)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CONTEXT_CACHE_ID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shared-diagnostic-prefix-v2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Config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runtime docs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LB Ingress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INGRESS_TRAFFIC_INTERNAL_LB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v2 Service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cymbal-pooled-agent-gateway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Gateway Container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cymbal-agent-gateway:v2.0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Redis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cymbal-tenant-bulkhead-redis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STANDARD_HA 5 GB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REDIS_7_0 • var.region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Policy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cymbal_pooled_waf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 1000 deny(403)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sqli-v33 || xss-v33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allow rule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SRC_IPS_V1 to IAP &amp; PEP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rotation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Hop 5 OTel audit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Gen2 gVisor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Implicit dep on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instance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&amp; rate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bulkhead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pattern-a-pooled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pooled_gateway_uri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redis_bulkhead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 env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Hop 3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data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2147483647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template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URI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Edge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policy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Preconfigured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rules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1-Click Terraform Starter: Provider → Cloud Armor WAF → Cloud Run v2 GEAP Gateway → Redis / KMS CMEK → BigQuery OTel Resource Graph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(main.tf + variables.tf) on Terraform &gt;= 1.5.0 with hashicorp/google &gt;= 5.30.0 deploys the pooled Pattern A core in one apply.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is Hop 1: google_compute_security_policy.cymbal_pooled_waf with a deny(403) SQLi/XSS rule at priority 1000 and a default SRC_IPS_V1 allow.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is the runtime graph: google_cloud_run_v2_service.cymbal_pooled_gateway, Gen2 gVisor, internal-LB ingress and env vars referencing other resources.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is the data graph: google_redis_instance.tenant_token_bulkhead (REDIS_7_0, STANDARD_HA, 5 GB); AlloyDB RLS and Firestore are provisioned in 2.2.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covers keys and audit: cymbal-pooled-tenant-kr key ring, finvault-agent-memory-cmek (90-day rotation), BigQuery dataset cymbal_multi_tenant_otel.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close the loop — pooled_gateway_uri and redis_bulkhead_host — so downstream workstreams can bind to the deployed resources without hardcoding.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diagrams/ws2-terraform-starter-resource-graph.drawio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VIS-WS2-TERRAFORM-STARTER-RESOURCE-GRAPH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(main.tf + variables.tf) • provider "google" {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Resource Dependency Graph • Hop 1 Edge → Hop 3 Runtime &amp; Bulkhead →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&amp; Services Graph: google_cloud_run_v2_service.cymbal_pooled_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Graph: google_redis_instance.tenant_token_bulkhead + AlloyDB RL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Run v2 GEAP Gateway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cymbal-pooled-agent-gateway • EXECUTION_ENVIRONMENT_GEN2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Data &amp; Bulkhead Stores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Memorystore Redis 7.0 STANDARD_HA 5GB (Hop 3 FinOps)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Provider, project &amp; ingress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required_providers + Hop 1 Cloud Armor WAF front door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IAM, CMEK keys &amp; observability resources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(IaC)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init • plan • apply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provider &gt;= 5.30.0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var.project_id / var.region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cymbal-pooled-tenant-kr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Dataset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cymbal_multi_tenant_otel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CMEK Key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finvault-agent-memory-cmek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REDIS_BULKHEAD_HOST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redis_instance.host ref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Component Specification Table  •  Source: diagrams/ws2-terraform-starter-resource-graph.drawio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 and zero-bleed isolation are compatible when tenant identity is cryptographic and enforced at every hop, not just the gateway.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compute (gVisor pods) and shared storage (AlloyDB RLS) plus tenant-scoped policy is the whole Pattern A picture.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AlloyDB RLS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immutable prefix caching is both the FinOps lever (90% prefix discount) and a security control (no suffix write-back).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architecture with a deterministic red-team suite that asserts status codes, decisions and payloads for all 10 vectors.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 tenants to Pattern B Sovereign Silos only when they mandate VPC-SC, project separation, CMEK kill-switch or air-gapped Gemma 3.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run_breach_simulations.py, apply the 2.6 Terraform starter, complete the 90-minute codelab, then continue to Workstream 3 — Pattern B Sovereign Silos.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34440"/>
            <a:ext cx="10911535" cy="4389120"/>
          </a:xfrm>
          <a:prstGeom prst="roundRect">
            <a:avLst>
              <a:gd name="adj" fmla="val 2500"/>
            </a:avLst>
          </a:prstGeom>
          <a:solidFill>
            <a:srgbClr val="132238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34440"/>
            <a:ext cx="128016" cy="43891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173918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" y="173918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173918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4460" y="173918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1645920"/>
            <a:ext cx="96313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 •  GOOGLE CLOUD ARCHITECTURE WORKSTREAM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148840"/>
            <a:ext cx="10088575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Sovereign Silos: One Project, One Perimeter, One Key per Tenant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51560" y="3794760"/>
            <a:ext cx="100885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80% 5-Hop Cymbal core inside dedicated VPC-SC / PAB / CMEK tenant projects with air-gapped Gemma 3 on GKE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 sector) often prohibit shared compute, shared databases, and platform-owned keys.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 adds a 20% delta: mTLS SPIFFE pinning, IAM PAB, VPC-SC perimeter, CMEK kill-switch, Gemma 3 on GKE.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tenant gets a dedicated project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 and cymbal-retailstream-silo-prod, each with its own agent-memory-cmek key.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 agent turn at Hop 3 with HTTP 423 KMS_KEY_DISABLED; all 6 sovereign security tests pass.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noisy neighbours and simple per-project quotas versus a higher per-tenant infrastructure floor and multi-project operations.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B: Zero-Trust Sovereign Silos (VPC-SC, IAM PAB, CMEK &amp; Air-Gapped Gemma 3 on GKE)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Template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Template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diagrams/ws3-pattern-b-sovereign-silos-architecture.drawio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VIS-WS3-PATTERN-B-SOVEREIGN-SILOS-ARCHITECTURE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Multi-Project Sovereign Topology (80% Core 5-Hop Pipeline + 20% Sove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Routing &amp; Governance Hub VPC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Alpha • Project: cymbal-finvault-silo-prod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Beta • Project: cymbal-retailstream-silo-prod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Silo (FinVault Bank)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finvault-kr/agent-memory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Silo (RetailStream)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retailstream-kr/memory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&amp; SPIFFE Routing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certificate pinning (HTTP 401 on SAN mismatch)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&amp; Sovereign Security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SPIFFE Clients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&amp; RetailStream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SNI Silo Routing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&amp; PAB Violation Feed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 Security Suite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6/6 Sovereign Tests PASS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/ EKM Key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Kill-Switch (HTTP 423)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CMEK Datastore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AlloyDB &amp; 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diagrams/ws3-pattern-b-sovereign-silos-architecture.drawio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Provisioning Topology: Org → Per-Tenant Silo Projects, VPC-SC Perimeters, IAM PAB &amp; Cloud KMS CMEK Keys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org, two dedicated tenant projects — cymbal-finvault-silo-prod and cymbal-retailstream-silo-prod — created under ORG_ID and linked to one billing account.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enables seven silo APIs per project: aiplatform, discoveryengine, modelarmor, container, cloudkms, alloydb and accesscontextmanager.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Cloud KMS: key ring finvault-kr in us-central1 with crypto key agent-memory-cmek, purpose encryption, 90-day (7776000s) rotation.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Vertex AI service agent (service-&lt;PROJECT_NUMBER&gt;@gcp-sa-aiplatform) receives roles/cloudkms.cryptoKeyEncrypterDecrypter on the tenant key only.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IAM Principal Access Boundary finvault-sovereign-pab restricts FinVault principals strictly to the FinVault silo project resource.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run_silo_security_tests.py replays perimeter exfiltration and CMEK revocation checks before the silo is declared live.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Pattern B Provisioning Topology: Org → Per-Tenant Silo Projects, VPC-SC Perimeters, IAM PAB &amp; Cloud KMS CMEK Keys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B Provisioning Topology: Org → Per-Tenant Silo Projects, VPC-SC Perimeters, IAM PAB &amp; Cloud KMS CMEK Keys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Organization 123456789012 • Multi-Project Sovereign Silo Topology (One Project, Perimeter, Key Ring &amp; PAB Policy per Tenant)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 &amp; Org-Level Governance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cymbal-finvault-silo-prod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+ PAB • Project: cymbal-retailstream-silo-prod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Silo Setup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Ring finvault-kr • agent-memory-cmek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Silo Setup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loop • Dedicated key ring &amp; CMEK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 Project Bootstrap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create → billing link → services enable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PAB, KMS &amp; Security Governance Hub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/ FDE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+ ORG_ID + BILLING_ACCOUNT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&amp; Env Variables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REGION=us-central1</a:t>
            </a:r>
            <a:endParaRPr lang="en-US" sz="49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Policy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finvault-sovereign-pab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Key IAM Binding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cryptoKeyEncrypterDecrypter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Context Mgr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Policy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AlloyDB &amp; GEAP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SA key binding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finvault-kr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Ring (Tenant B)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us-central1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 7776000s (90d)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Tests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run_silo_security_tests.py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Restricts 7 silo APIs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 Gemma 3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container.googleapis.com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projects create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--organization=ORG_ID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Link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BILLING_ACCOUNT per silo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7 Silo APIs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aiplatform…accesscontext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PAB, perimeter &amp; KMS IAM bindings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project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scoped to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proj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SA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EncrypterDecrypter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Exfil &amp; CMEK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revocation tests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CMEK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crypto key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project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49854"/>
            <a:ext cx="673913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KMS, GKE, AlloyDB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key ring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CMEK key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silo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billing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tests PASS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bootstrap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ready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Provisioning Topology: Org → Per-Tenant Silo Projects, VPC-SC Perimeters, IAM PAB &amp; Cloud KMS CMEK Keys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org, two dedicated tenant projects — cymbal-finvault-silo-prod and cymbal-retailstream-silo-prod — created under ORG_ID and linked to one billing account.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Bootstrap enables seven silo APIs per project: aiplatform, discoveryengine, modelarmor, container, cloudkms, alloydb and accesscontextmanager.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Per-tenant Cloud KMS: key ring finvault-kr in us-central1 with crypto key agent-memory-cmek, purpose encryption, 90-day (7776000s) rotation.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Vertex AI service agent (service-&lt;PROJECT_NUMBER&gt;@gcp-sa-aiplatform) receives roles/cloudkms.cryptoKeyEncrypterDecrypter on the tenant key only.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Org-level IAM Principal Access Boundary finvault-sovereign-pab restricts FinVault principals strictly to the FinVault silo project resource.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run_silo_security_tests.py replays perimeter exfiltration and CMEK revocation checks before the silo is declared live.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diagrams/ws3-multi-project-silo-and-cmek-setup-topology.drawio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VIS-WS3-MULTI-PROJECT-SILO-AND-CMEK-SETUP-TOPOLOGY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Cloud Organization 123456789012 • Multi-Project Sovereign Sil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 &amp; Org-Level Governance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cymbal-finvault-silo-prod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+ PAB • Project: cymbal-retailstream-silo-prod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Silo Setup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 Ring finvault-kr • agent-memory-cmek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RetailStream Silo Setup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loop • Dedicated key ring &amp; CMEK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 Project Bootstrap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 create → billing link → services enable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Org-Level PAB, KMS &amp; Security Governance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/ FDE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+ ORG_ID + BILLING_ACCOUNT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 &amp; Env Variables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REGION=us-central1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IAM PAB Policy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finvault-sovereign-pab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KMS Key IAM Binding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cryptoKeyEncrypterDecrypter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Access Context Mgr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Policy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CMEK AlloyDB &amp; GEAP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Vertex SA key binding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diagrams/ws3-multi-project-silo-and-cmek-setup-topology.drawio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0507" y="694944"/>
            <a:ext cx="5435194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Blueprint Resource Graph: Provider → Cloud KMS CMEK → VPC-SC Perimeter → Sovereign VPC → Private Air-Gapped GKE (Gemma 3)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(Terraform &gt;= 1.5.0, hashicorp/google &gt;= 5.30.0) provisions one sovereign silo per tenant from five variables in terraform.tfvars.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google_kms_key_ring.tenant_silo_keyring (${tenant_id}-sovereign-kr) and google_kms_crypto_key.tenant_agent_cmek (agent-memory-cmek, 90-day rotation) come first.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 binds projects/${tenant_silo_project_number} and restricts eight APIs.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services: aiplatform, discoveryengine, modelarmor, alloydb, bigquery, storage, cloudkms and container — no path out of the perimeter.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google_compute_network.tenant_silo_vpc and tenant_silo_subnet (10.40.0.0/20, Private Google Access) host the private GKE Autopilot cluster.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google_container_cluster.airgapped_gemma3_cluster uses private nodes/endpoint and database_encryption.key_name = the CMEK key, surfaced via two outputs.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3: Terraform Blueprint Resource Graph: Provider → Cloud KMS CMEK → VPC-SC Perimeter → Sovereign VPC → Private Air-Gapped GKE (Gemma 3)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Terraform Blueprint Resource Graph: Provider → Cloud KMS CMEK → VPC-SC Perimeter → Sovereign VPC → Private Air-Gapped GKE (Gemma 3)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 • Pattern B Sovereign Silo (One Workspace per Tenant: tenant_id, tenant_silo_project_id, access_context_policy_id)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• project = var.tenant_silo_project_id • region = var.region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 / subnetwork / google_container_cluster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 Resources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perimeter_${tenant_id}_sovereign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VPC &amp; Private GKE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${tenant_id}-airgapped-gemma3-gke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&amp; Input Variables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terraform.tfvars.example → variables.tf → provider "google"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 &amp; google_kms_crypto_key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→ plan → apply (&gt;= 1.5.0)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&gt;= 5.30.0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 us-central1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tenant_silo_keyring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${tenant_id}-sovereign-kr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ENCRYPT_DECRYPT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rotation_period 7776000s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tenant_agent_cmek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agent-memory-cmek 90d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bigquery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database_encryption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= CMEK id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modelarmor &amp; kms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GKE Autopilot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nodes + endpoint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&amp; container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restricted_services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tenant_silo_subnet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10.40.0.0/20 PGA on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cmek_key_id • perimeter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 Perimeter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accessPolicies/${policy}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aiplatform &amp; GEAP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discoveryengine restricted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tenant_silo_vpc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auto_create_subnets=false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 IT)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air-gapped serving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var.tenant_id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"finvault"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tenant_silo_project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cymbal-finvault-silo-prod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access_context_policy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998877665544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key_name feeds GKE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encryption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 parent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ACM policy ID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egress for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restricted APIs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CIDR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172.16.0.0/28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etcd ENCRYPTED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CMEK key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Outputs: CMEK key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&amp; perimeter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status.resources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projects/${number}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dependency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(KMS first)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Perimeter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 policy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project num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 8 APIs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prefix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resources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716682"/>
            <a:ext cx="50932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ID &amp; number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 emitted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written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Vars resolved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Blueprint Resource Graph: Provider → Cloud KMS CMEK → VPC-SC Perimeter → Sovereign VPC → Private Air-Gapped GKE (Gemma 3)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root module (Terraform &gt;= 1.5.0, hashicorp/google &gt;= 5.30.0) provisions one sovereign silo per tenant from five variables in terraform.tfvars.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google_kms_key_ring.tenant_silo_keyring (${tenant_id}-sovereign-kr) and google_kms_crypto_key.tenant_agent_cmek (agent-memory-cmek, 90-day rotation) come first.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google_access_context_manager_service_perimeter.tenant_sovereign_perimeter binds projects/${tenant_silo_project_number} and restricts eight APIs.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Restricted services: aiplatform, discoveryengine, modelarmor, alloydb, bigquery, storage, cloudkms and container — no path out of the perimeter.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google_compute_network.tenant_silo_vpc and tenant_silo_subnet (10.40.0.0/20, Private Google Access) host the private GKE Autopilot cluster.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google_container_cluster.airgapped_gemma3_cluster uses private nodes/endpoint and database_encryption.key_name = the CMEK key, surfaced via two outputs.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diagrams/ws3-terraform-silo-blueprint-resource-graph.drawio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VIS-WS3-TERRAFORM-SILO-BLUEPRINT-RESOURCE-GRAPH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 • Pattern B Sovereign Silo (One Workspace per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• project = var.tenant_silo_project_id • region =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google_access_context_manager_service_perimeter.tenant_sovereign_per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google_compute_network / subnetwork / google_container_cluster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Perimeter Resources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perimeter_${tenant_id}_sovereign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VPC &amp; Private GKE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${tenant_id}-airgapped-gemma3-gke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&amp; Input Variables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terraform.tfvars.example → variables.tf → provider "google"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google_kms_key_ring &amp; google_kms_crypto_key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 → plan → apply (&gt;= 1.5.0)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&gt;= 5.30.0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 us-central1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tenant_silo_keyring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${tenant_id}-sovereign-kr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ENCRYPT_DECRYPT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rotation_period 7776000s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tenant_agent_cmek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agent-memory-cmek 90d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&amp; bigquery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restricted_services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Component Specification Table  •  Source: diagrams/ws3-terraform-silo-blueprint-resource-graph.drawio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 contract demands a dedicated blast radius, a customer-revocable key, or no multi-tenant model endpoints.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governance code identical across patterns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for infrastructure, not for a second engineering team.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 principal ever reach?' — it blocks lateral movement even when another project's IAM is wrong.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 dependency for runtime, memory, data, and audit so one key disable is a complete kill-switch.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 suite before onboarding, and keep the results visible on the architecture diagram.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34440"/>
            <a:ext cx="10911535" cy="4389120"/>
          </a:xfrm>
          <a:prstGeom prst="roundRect">
            <a:avLst>
              <a:gd name="adj" fmla="val 2500"/>
            </a:avLst>
          </a:prstGeom>
          <a:solidFill>
            <a:srgbClr val="132238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34440"/>
            <a:ext cx="128016" cy="43891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173918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" y="173918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173918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4460" y="173918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1645920"/>
            <a:ext cx="96313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  •  GOOGLE CLOUD ARCHITECTURE WORKSTREAM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148840"/>
            <a:ext cx="10088575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— Dynamic Hybrid: One Control Plane, Pooled &amp; Sovereign Tiers, Live Upgrades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51560" y="3794760"/>
            <a:ext cx="100885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hub routing Standard to a shared pool and Enterprise over Private Service Connect to CMEK spokes, with 0-dropped-turn upgrades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Tiered SaaS needs Pattern A economics for Standard and Pattern B sovereignty for Enterprise — Pattern C serves both behind one SaaS URL.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Armor/IAP, Cloud Run Router, Firestore Route Table, Cross-Project ARD Federated GEAP Registry.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+ IAP  •  GEAP Registry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(Standard) runs in the Shared Pooled Runtime at a 4,000 thinking cap; FinVault (Enterprise) is reached over PSC at psc://10.10.0.50.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engine (SHADOW_SYNC → ATOMIC_CUTOVER → DRAIN_AND_VERIFY) promotes RetailStream to its own CMEK PSC spoke on the same live session.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4.5 suite verifies 4/4 PASS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ms replication lag, 0 dropped sessions, 8,000 budget unclamped, rs-agent-cmek bound, zero global state bleed.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• Pattern C — Dynamic Hybrid, PSC &amp; Live Tier Migration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Pattern C: Dynamic Hybrid Hub-and-Spoke, Private Service Connect &amp; Live Tier Migration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 (cymbal-hybrid-hub-prod) + PSC Bridge to Sovereign Spokes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• Tenant-Aware Router &amp; 3-Phase Live Tier Migrator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(FinVault + Upgraded RetailStream)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psc://10.10.0.50 (FinVault) &amp; psc://10.10.0.51 (Retail)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Copy)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Firestore Route to PSC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for Phase 1 Shadow Sync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Replicated State + CMEK Lock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DLP &amp; NLC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SaaS URL + OBO/DPoP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ARD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Registry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Maps Tenant -&gt; Pool or PSC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C: Dynamic Hybrid Hub-and-Spoke, Private Service Connect &amp; Live Tier Migration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at the actor: Standard &amp; Enterprise Single Unified SaaS URL — one hostname for both tiers, step 1 Request in, step 7 Response out.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&amp; IAP + OBO/DPoP, Cross-Project ARD Federated GEAP Registry, Firestore Route Table, ALB, Cloud Run Router.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3-Phase Zero-Downtime Tier Migration Engine — SHADOW_SYNC (0ms Lag Copy), ATOMIC_CUTOVER, DRAIN_AND_VERIFY (4/4 PASS).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Trunk badge 3 'Route Standard to Pool or Enterprise via PSC' fans out; badge 7 'Seamless response (0 dropped sessions)' returns.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Shared Pooled Runtime with Gemini 2.5 Pro 4,000 Thinking Cap + Cache and Shared AlloyDB RLS that Streams State to PSC Spoke.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Dedicated Enterprise PSC Spokes, Unidirectional PSC Bridge, CMEK Spoke AlloyDB; dashed Live promotion: Pool -&gt; PSC Spoke.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diagrams/ws4-pattern-c-hybrid-psc-and-migration.drawio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VIS-WS4-PATTERN-C-HYBRID-PSC-AND-MIGRATION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Hybrid Control Hub (cymbal-hybrid-hub-prod) + PSC Bridge to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• Tenant-Aware Router &amp; 3-Phase Live Tier Migrator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Plane (Initial RetailStream Route)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Private Service Connect (PSC) Spokes (FinVault + Up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pool://cymbal-shared-pooled-v2 (90% Cache Savings)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Enterprise PSC Spokes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psc://10.10.0.50 (FinVault) &amp; psc://10.10.0.51 (Retail)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Control Plane &amp; Intelligent Router Hub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Zero-Downtime Tier Migration Engine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&amp; Enterprise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Single Unified SaaS URL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Load Balancing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 (0ms Lag Copy)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Streams RLS &amp; L4 Memory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Dropped Turns (4/4 PASS)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Flips Firestore Route to 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for Phase 1 Shadow Sync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diagrams/ws4-pattern-c-hybrid-psc-and-migration.drawio</a:t>
            </a:r>
            <a:endParaRPr lang="en-US" sz="7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54" y="694944"/>
            <a:ext cx="4922215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Demo Environment: Central Ingress Hub, Shared Pool &amp; PSC Service Attachment Spokes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hub project (cymbal-hybrid-hub-prod, cymbal-hub-vpc / cymbal-hub-subnet) fronts both tiers behind a single Global ALB + Cloud Armor + IAP URL.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Firestore routing table and cross-project GEAP registry decide per tenant: Standard → pool://cymbal-shared-pooled-runtime-v2, Enterprise → psc://.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lives in the tenant spoke: a 10.40.240.0/24 PSC NAT subnet plus finvault-agent-spoke-psc (ACCEPT_MANUAL, accept-list hub project = 10).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side lives in the hub: reserve psc-endpoint-finvault-ip (10.10.0.50) and bind psc-consumer-finvault to the spoke's ServiceAttachment URI.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is NAT-based, so every spoke may reuse 10.40.0.0/20 with no CIDR overlap, and exposure is unidirectional — spokes cannot reach back into the hub VPC.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run_tier_migration_suite.py verifies hybrid routing and the live tier upgrade locally before any customer traffic hits the demo.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2: Pattern C Demo Environment: Central Ingress Hub, Shared Pool &amp; PSC Service Attachment Spokes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Pattern C Demo Environment: Central Ingress Hub, Shared Pool &amp; PSC Service Attachment Spokes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1: Cymbal Unified Control Plane &amp; Ingress Hub (cymbal-hybrid-hub-prod • us-central1)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cymbal-hub-vpc • cymbal-hub-subnet • NAT-Based PSC Consumer Endpoints (No CIDR Overlap)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Compute &amp; RLS Plane (RetailStream Initial Route)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PSC Producer Spoke (cymbal-finvault-silo-prod • finvault-sovereign-vpc • VPC-SC)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Tenant Spoke (Producer)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finvault-agent-spoke-psc (ACCEPT_MANUAL)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Hub (Consumer Side)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cross-project GEAP registry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 Addressing &amp; PSC Endpoint Reservation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Operator (FDE)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gcloud + Terraform Provisioning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Consumer Forwarding Rule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psc-consumer-finvault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psc-endpoint- finvault-ip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10.10.0.50 • cymbal-hub-subnet</a:t>
            </a:r>
            <a:endParaRPr lang="en-US" sz="41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Upgrade Suite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Service Attachment URI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projects/../serviceAttachments</a:t>
            </a:r>
            <a:endParaRPr lang="en-US" sz="41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Row-Level Security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+ Cloud KMS CMEK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Prefix Cache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GEAP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Alpha • 8,000 Budget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Incident Agent v2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Spoke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/ Jira Connectors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Tenant-Aware Ingress Router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Screen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GEAP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NAT Subnet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10.40.240.0/24 PSC purpose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ILB Fwd Rule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finvault-spoke-ilb-fwd-rule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ALB +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Hop 1 • Single SaaS URL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tenant_routing_table[id]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GEAP Agent Cards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reserves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endpoints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RLS-scoped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rows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accept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project=10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exposure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routing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locally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407054"/>
            <a:ext cx="656539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IP &amp; bind attachment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response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63470"/>
            <a:ext cx="50932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&amp; WAF policies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 tier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or PSC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Demo Environment: Central Ingress Hub, Shared Pool &amp; PSC Service Attachment Spokes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hub project (cymbal-hybrid-hub-prod, cymbal-hub-vpc / cymbal-hub-subnet) fronts both tiers behind a single Global ALB + Cloud Armor + IAP URL.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Firestore routing table and cross-project GEAP registry decide per tenant: Standard → pool://cymbal-shared-pooled-runtime-v2, Enterprise → psc://.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lives in the tenant spoke: a 10.40.240.0/24 PSC NAT subnet plus finvault-agent-spoke-psc (ACCEPT_MANUAL, accept-list hub project = 10).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side lives in the hub: reserve psc-endpoint-finvault-ip (10.10.0.50) and bind psc-consumer-finvault to the spoke's ServiceAttachment URI.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is NAT-based, so every spoke may reuse 10.40.0.0/20 with no CIDR overlap, and exposure is unidirectional — spokes cannot reach back into the hub VPC.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7 closes the loop: run_tier_migration_suite.py verifies hybrid routing and the live tier upgrade locally before any customer traffic hits the demo.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diagrams/ws4-hub-and-spoke-demo-env-setup-topology.drawio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VIS-WS4-HUB-AND-SPOKE-DEMO-ENV-SETUP-TOPOLOGY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1: Cymbal Unified Control Plane &amp; Ingress Hub (cymbal-hybrid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cymbal-hub-vpc • cymbal-hub-subnet • NAT-Based PSC Consumer Endpoint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Tier: Shared Pooled Compute &amp; RLS Plane (RetailStream Initi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Tier: PSC Producer Spoke (cymbal-finvault-silo-prod • fin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Pooled Runtime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Tenant Spoke (Producer)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finvault-agent-spoke-psc (ACCEPT_MANUAL)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Hub (Consumer Side)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live routing table + cross-project GEAP registry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VPC Addressing &amp; PSC Endpoint Reservation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 Operator (FDE)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gcloud + Terraform Provisioning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Consumer Forwarding Rule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psc-consumer-finvault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psc-endpoint- finvault-ip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10.10.0.50 • cymbal-hub-subnet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Upgrade Suite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run_tier_migration_suite.py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Service Attachment URI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projects/../serviceAttachments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tenant_id Row-Level Security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Component Specification Table  •  Source: diagrams/ws4-hub-and-spoke-demo-env-setup-topology.drawio</a:t>
            </a:r>
            <a:endParaRPr lang="en-US" sz="7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5" y="694944"/>
            <a:ext cx="5198364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Tier Upgrade Test Sequence: SHADOW_SYNC → ATOMIC_CUTOVER → DRAIN_AND_VERIFY (4/4 PASS)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drives PatternCHybridRouterAndMigrator through 4 assertions-backed tests; nothing mutates the global TENANT_PROFILES.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 fix the baseline: retailstream → PATTERN_C_HYBRID_POOL clamped to 4,000 tokens; finvault → PATTERN_C_HYBRID_PSC_SPOKE over psc:// with 8,000.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runs the 3-phase engine: SHADOW_SYNC (replication_lag_ms == 0, PSC_CONNECTION_ACCEPTED) → ATOMIC_CUTOVER → DRAIN_AND_VERIFY (dropped_sessions == 0).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cutover flips routing_table['retailstream'] to tier ENTERPRISE, budget 8,000, target psc://10.10.0.51/... and state UPGRADED_ZERO_DOWNTIME_SPOKE.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reuses the same session_id (sess-rs-live-upgrade-01) and asserts PSC routing, thinking_budget_clamped is False, and rs-agent-cmek in cmek_key_uri.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= the pooled source rows stream from; right spoke = cymbal-retailstream-spoke-prod, the CMEK target that status MIGRATION_COMPLETE confirms.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3: Zero-Downtime Tier Upgrade Test Sequence: SHADOW_SYNC → ATOMIC_CUTOVER → DRAIN_AND_VERIFY (4/4 PASS)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Zero-Downtime Tier Upgrade Test Sequence: SHADOW_SYNC → ATOMIC_CUTOVER → DRAIN_AND_VERIFY (4/4 PASS)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4.5 Test Harness • PatternCHybridRouterAndMigrator (Instance-Scoped tenant_profiles, Zero Global Mutation)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session_id (sess-rs-live-upgrade-01) Before &amp; After Cutover • Continuous Synthetic Traffic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BEFORE: retailstream = STANDARD • PATTERN_C_HYBRID_POOL • STEADY_STATE_POOL (Shadow Sync Source)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AFTER: retailstream = ENTERPRISE • PATTERN_C_HYBRID_PSC_SPOKE • UPGRADED_ZERO_DOWNTIME_SPOKE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Source (Pre-Upgrade)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pool://cymbal-shared-pooled-runtime-v2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Target (Post-Upgrade)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psc://10.10.0.51/.../retailstream-agent-spoke-psc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Runner &amp; Router Under Test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route_and_invoke() + execute_zero_downtime_tier_upgrade()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Silent Migration State Machine (TEST 2)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Harness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python3 run_tier_migration_suite.py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Auth OBO + DPoP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(FV) &amp; Entra (RS) JWTs</a:t>
            </a:r>
            <a:endParaRPr lang="en-US" sz="49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replication_lag_ms == 0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MIGRATION_COMPLETE, 0 drops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ENTERPRISE, budget 8000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RLS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query_alloydb_with_rls()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AlloyDB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rs-kr / rs-agent-cmek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shared-incident- diagnostic-v2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agent://cymbal/... (RS)</a:t>
            </a:r>
            <a:endParaRPr lang="en-US" sz="41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cymbal-retailstream- spoke-prod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Dedicated Spoke Project</a:t>
            </a:r>
            <a:endParaRPr lang="en-US" sz="41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2LO/3LO Tools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Spoke Connectors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Router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routing_table[tenant_id]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Prompt Screen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Clamped to 4,000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Model Armor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Guardrails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8,000, clamped False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 Pre-Upgrade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 -&gt; HYBRID_POOL, cap 4000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1B Enterprise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FV -&gt; psc://, budget 8000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Migration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phases, lag 0, dropped 0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 audit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log: 3 phases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In-flight turn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finishes on pool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RLS rows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spoke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asserts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psc://10.10.0.51/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cmek_key_uri has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rs-agent-cmek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same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on PSC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OK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4000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upgrade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phases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 == 3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Pre-upgrade turn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Rows replicated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topology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HYBRID_POOL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assert endpoint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startswith psc://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4/4 PASS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suite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Zero-Downtime Tier Upgrade Test Sequence: SHADOW_SYNC → ATOMIC_CUTOVER → DRAIN_AND_VERIFY (4/4 PASS)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run_tier_migration_suite.py drives PatternCHybridRouterAndMigrator through 4 assertions-backed tests; nothing mutates the global TENANT_PROFILES.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1A/1B fix the baseline: retailstream → PATTERN_C_HYBRID_POOL clamped to 4,000 tokens; finvault → PATTERN_C_HYBRID_PSC_SPOKE over psc:// with 8,000.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 runs the 3-phase engine: SHADOW_SYNC (replication_lag_ms == 0, PSC_CONNECTION_ACCEPTED) → ATOMIC_CUTOVER → DRAIN_AND_VERIFY (dropped_sessions == 0).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cutover flips routing_table['retailstream'] to tier ENTERPRISE, budget 8,000, target psc://10.10.0.51/... and state UPGRADED_ZERO_DOWNTIME_SPOKE.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 reuses the same session_id (sess-rs-live-upgrade-01) and asserts PSC routing, thinking_budget_clamped is False, and rs-agent-cmek in cmek_key_uri.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= the pooled source rows stream from; right spoke = cymbal-retailstream-spoke-prod, the CMEK target that status MIGRATION_COMPLETE confirms.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diagrams/ws4-zero-downtime-tier-upgrade-sequence.drawio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VIS-WS4-ZERO-DOWNTIME-TIER-UPGRADE-SEQUENCE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Test Harness • PatternCHybridRouterAndMigrator (Insta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session_id (sess-rs-live-upgrade-01) Before &amp; After Cutover • 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BEFORE: retailstream = STANDARD • PATTERN_C_HYBRID_POOL • STEADY_STA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AFTER: retailstream = ENTERPRISE • PATTERN_C_HYBRID_PSC_SPOKE • UPGR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Pooled Source (Pre-Upgrade)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pool://cymbal-shared-pooled-runtime-v2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 Target (Post-Upgrade)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psc://10.10.0.51/.../retailstream-agent-spoke-psc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Runner &amp; Router Under Test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route_and_invoke() + execute_zero_downtime_tier_upgrade()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3-Phase Silent Migration State Machine (TEST 2)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Harness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python3 run_tier_migration_suite.py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Hop 1 Auth OBO + DPoP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OIDC (FV) &amp; Entra (RS) JWTs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SHADOW_SYNC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replication_lag_ms == 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DRAIN_AND_VERIFY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MIGRATION_COMPLETE, 0 drops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ATOMIC_CUTOVER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tier ENTERPRISE, budget 8000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AlloyDB RLS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query_alloydb_with_rls()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3 Component Specification Table  •  Source: diagrams/ws4-zero-downtime-tier-upgrade-sequence.drawio</a:t>
            </a:r>
            <a:endParaRPr lang="en-US" sz="7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5838" y="694944"/>
            <a:ext cx="5163617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Hybrid PSC Blueprint Resource Graph: Hub VPC → Consumer PSC Endpoint → Producer ServiceAttachment in Enterprise Spoke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pins terraform &gt;= 1.5.0 and hashicorp/google &gt;= 5.30.0, then declares two provider aliases — google.hub and google.spoke — fed by five variables.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side: google_compute_network.cymbal_hub_vpc (cymbal-hybrid-hub-vpc) and cymbal_hub_subnet at 10.10.0.0/20 with private Google access enabled.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side: enterprise_spoke_vpc, a 10.40.240.0/24 PRIVATE_SERVICE_CONNECT NAT subnet, and ${tenant}-agent-spoke-psc with ACCEPT_MANUAL and connection_limit 20.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bridge is two resources: google_compute_address.hub_psc_consumer_ip (10.10.0.50) and google_compute_forwarding_rule.hub_psc_consumer_endpoint.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— psc_service_attachment_uri and hub_psc_consumer_ip — feed the 4.3 router's Firestore route table; those hub consumers are not resources here.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 example targets cymbal-hybrid-hub-prod ↔ cymbal-finvault-silo-prod with finvault-spoke-ilb as target_service; README quickstart is init → plan → apply.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4: Terraform Hybrid PSC Blueprint Resource Graph: Hub VPC → Consumer PSC Endpoint → Producer ServiceAttachment in Enterprise Spoke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Terraform Hybrid PSC Blueprint Resource Graph: Hub VPC → Consumer PSC Endpoint → Producer ServiceAttachment in Enterprise Spoke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Root Module: 4.6-terraform-hybrid-psc-blueprint (terraform.tfvars: hub_project_id, enterprise_spoke_project_id, region)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Dependency Graph: Providers → Networks → Subnets → ServiceAttachment → Address → ForwardingRule → Outputs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 Consumers of the Blueprint (Not Declared in main.tf): 4.3 Router, Firestore Route Table, Registry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Producer Side in Enterprise Spoke (google.spoke): cymbal-finvault-silo-prod • enterprise_tenant_id = finvault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Downstream Hub Consumers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cymbal-hybrid-hub-prod (tfvars hub_project_id)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Network &amp; ServiceAttachment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${var.enterprise_tenant_id}-agent-spoke-psc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Providers, Variables &amp; Hub Network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"google" alias hub/spoke • var.region = us-central1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PSC Endpoint in Central Hub (google.hub)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Operator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 -&gt; plan -&gt; apply (README)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network.cymbal_hub_vpc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cymbal-hybrid-hub-vpc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address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hub_psc_consumer_ip 10.10.0.50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hub_psc_consumer_ip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IP routing to spoke</a:t>
            </a:r>
            <a:endParaRPr lang="en-US" sz="41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forwarding_rule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hub_psc_consumer_endpoint</a:t>
            </a:r>
            <a:endParaRPr lang="en-US" sz="41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Logs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PSC_SPOKE route (4.4)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psc_service_ attachment_uri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enterprise_spoke_psc_attach</a:t>
            </a:r>
            <a:endParaRPr lang="en-US" sz="41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Registry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Card Discovery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google_compute_ service_attachment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ACCEPT_MANUAL • limit 20</a:t>
            </a:r>
            <a:endParaRPr lang="en-US" sz="41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Ingress Rule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Router SA (4.4)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target_service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var.spoke_ilb_forwarding_rule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cymbal_hub_subnet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10.10.0.0/20 • PGA enabled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psc_service_attachment URI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Targets 10.10.0.50 endpoint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enterprise_spoke_vpc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finvault-spoke-vpc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enterprise_spoke_ psc_nat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10.40.240.0/24 PSC purpose</a:t>
            </a:r>
            <a:endParaRPr lang="en-US" sz="41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google.hub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= var.hub_project_id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google.spoke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var.enterprise_spoke_project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variables.tf (5 vars)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 default finvault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psc-consumer- ${tenant_id}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output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 URI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managed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this module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consumer_accept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hub_project_id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finvault-spoke-ilb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forwarding rule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= service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attachment.id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psc:// target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Reserve INTERNAL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 in subnet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 from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 output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via PSC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project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684678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project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credentials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Outputs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Hybrid PSC Blueprint Resource Graph: Hub VPC → Consumer PSC Endpoint → Producer ServiceAttachment in Enterprise Spoke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pins terraform &gt;= 1.5.0 and hashicorp/google &gt;= 5.30.0, then declares two provider aliases — google.hub and google.spoke — fed by five variables.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side: google_compute_network.cymbal_hub_vpc (cymbal-hybrid-hub-vpc) and cymbal_hub_subnet at 10.10.0.0/20 with private Google access enabled.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side: enterprise_spoke_vpc, a 10.40.240.0/24 PRIVATE_SERVICE_CONNECT NAT subnet, and ${tenant}-agent-spoke-psc with ACCEPT_MANUAL and connection_limit 20.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consumer bridge is two resources: google_compute_address.hub_psc_consumer_ip (10.10.0.50) and google_compute_forwarding_rule.hub_psc_consumer_endpoint.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outputs — psc_service_attachment_uri and hub_psc_consumer_ip — feed the 4.3 router's Firestore route table; those hub consumers are not resources here.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tfvars example targets cymbal-hybrid-hub-prod ↔ cymbal-finvault-silo-prod with finvault-spoke-ilb as target_service; README quickstart is init → plan → apply.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diagrams/ws4-terraform-hybrid-psc-blueprint-resource-graph.drawio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VIS-WS4-TERRAFORM-HYBRID-PSC-BLUEPRINT-RESOURCE-GRAPH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Root Module: 4.6-terraform-hybrid-psc-blueprint (terraform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Dependency Graph: Providers → Networks → Subnets → ServiceAttachment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Side Consumers of the Blueprint (Not Declared in main.tf): 4.3 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Producer Side in Enterprise Spoke (google.spoke): cymbal-finvault-si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Downstream Hub Consumers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cymbal-hybrid-hub-prod (tfvars hub_project_id)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Spoke Network &amp; ServiceAttachment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${var.enterprise_tenant_id}-agent-spoke-psc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Providers, Variables &amp; Hub Network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provider "google" alias hub/spoke • var.region = us-central1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Consumer PSC Endpoint in Central Hub (google.hub)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Operator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init -&gt; plan -&gt; apply (README)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 network.cymbal_hub_vpc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cymbal-hybrid-hub-vpc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 address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hub_psc_consumer_ip 10.10.0.50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output hub_psc_consumer_ip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 IP routing to spoke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google_compute_ forwarding_rule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hub_psc_consumer_endpoint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Logs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Verify PSC_SPOKE route (4.4)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4 Component Specification Table  •  Source: diagrams/ws4-terraform-hybrid-psc-blueprint-resource-graph.drawio</a:t>
            </a:r>
            <a:endParaRPr lang="en-US" sz="7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routes isolation instead of duplicating it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control plane, one URL, two execution tiers.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is keyed only on the Hop 1 cryptographic tenant_id — a client header can never claim Enterprise tier.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Instance-scoped profile mutation makes the live upgrade safe: zero global state bleed across tenants or test runs.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Service Connect removes CIDR overlap and VPC-peering limits while keeping spokes unidirectional and VPC-SC compatible.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Perimeter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migration is measurable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ms lag, 0 dropped sessions, same session id, 4/4 suite gates passing.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4.6 Terraform PSC blueprint, run the 4.5 zero-downtime upgrade suite, then continue to Workstream 5 for the decision guide and capstone.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4754880" y="0"/>
            <a:ext cx="2468880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7223760" y="0"/>
            <a:ext cx="2194560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418320" y="0"/>
            <a:ext cx="2773375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1234440"/>
            <a:ext cx="10911535" cy="4389120"/>
          </a:xfrm>
          <a:prstGeom prst="roundRect">
            <a:avLst>
              <a:gd name="adj" fmla="val 2500"/>
            </a:avLst>
          </a:prstGeom>
          <a:solidFill>
            <a:srgbClr val="132238"/>
          </a:solidFill>
          <a:ln w="15875">
            <a:solidFill>
              <a:srgbClr val="4285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234440"/>
            <a:ext cx="128016" cy="43891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1051560" y="173918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1165860" y="173918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1280160" y="173918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394460" y="173918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600200" y="1645920"/>
            <a:ext cx="963137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B4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  •  GOOGLE CLOUD ARCHITECTURE WORKSTREAM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2148840"/>
            <a:ext cx="10088575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Siloed, or Hybrid? Executive Decision Guide &amp; the Multi-Tenant Agentic Triad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51560" y="3794760"/>
            <a:ext cx="1008857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wrap-up: topology decision tree, Pattern A/B/C comparison, the Agentic Triad, 5-Hop invariant, and the EAP backlog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 • CORE MULTI-TENANT GOVERNANCE PILLARS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questions decide topology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tenants need physical isolation (VPC-SC / Gemma 3)? -&gt; Pattern B; else tiered packaging? No -&gt; A, Yes -&gt; C.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  •  VPC-SC Perimeter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of the code is identical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Core-cymbal-agent/ implements the 5-Hop Cryptographic Context Chain once; A, B and C are 20% perimeter deltas.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 balances Zero-Trust Security (Hops 1-5), FinOps &amp; COGS Engineering, and Privacy-Preserving Tenant Observability.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cost ladder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$ (85-90% shared prefix savings), Pattern C $$ (blended SaaS margin), Pattern B $$$ (dedicated baseline per tenant).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  •  Pattern B Sovereign Silos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open product gaps (3 P0, 4 P1, 2 P2) each ship with a repo workaround and a named EAP allowlist targeting Q4 2026 - Q1 2027.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 2026 EAP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B1426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4285F4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MANDATE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• Decision Guide, Agentic Triad &amp; Program Wrap-up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MASTER BLUEPRINT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7629" y="694944"/>
            <a:ext cx="4860036" cy="5779008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1" name="Text 18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020" dirty="0"/>
          </a:p>
        </p:txBody>
      </p:sp>
      <p:sp>
        <p:nvSpPr>
          <p:cNvPr id="23" name="Shape 20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2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840" dirty="0"/>
          </a:p>
        </p:txBody>
      </p:sp>
      <p:sp>
        <p:nvSpPr>
          <p:cNvPr id="28" name="Shape 25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0" name="Shape 27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840" dirty="0"/>
          </a:p>
        </p:txBody>
      </p:sp>
      <p:sp>
        <p:nvSpPr>
          <p:cNvPr id="33" name="Shape 30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5" name="Shape 32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37" name="Text 34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840" dirty="0"/>
          </a:p>
        </p:txBody>
      </p:sp>
      <p:sp>
        <p:nvSpPr>
          <p:cNvPr id="38" name="Shape 35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40" name="Shape 37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1" name="Text 38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840" dirty="0"/>
          </a:p>
        </p:txBody>
      </p:sp>
      <p:sp>
        <p:nvSpPr>
          <p:cNvPr id="43" name="Shape 40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45" name="Shape 42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46" name="Text 43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840" dirty="0"/>
          </a:p>
        </p:txBody>
      </p:sp>
      <p:sp>
        <p:nvSpPr>
          <p:cNvPr id="48" name="Shape 45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50" name="Shape 47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51" name="Text 48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52" name="Text 49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840" dirty="0"/>
          </a:p>
        </p:txBody>
      </p:sp>
      <p:sp>
        <p:nvSpPr>
          <p:cNvPr id="53" name="Shape 50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54" name="Text 51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1:1 Aspect-Locked Master PNG • Next Slide: 56 Editable Native Shapes</a:t>
            </a:r>
            <a:endParaRPr lang="en-US" sz="780" dirty="0"/>
          </a:p>
        </p:txBody>
      </p:sp>
      <p:sp>
        <p:nvSpPr>
          <p:cNvPr id="55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Workstream 5 Capstone: Executive Topology Decision Guide &amp; The Multi-Tenant Agentic Triad  •  Next slide: 100% Decomposed Native Editable Shapes</a:t>
            </a:r>
            <a:endParaRPr lang="en-US" sz="7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92608" y="621792"/>
            <a:ext cx="5650992" cy="5925312"/>
          </a:xfrm>
          <a:prstGeom prst="roundRect">
            <a:avLst>
              <a:gd name="adj" fmla="val 1294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" y="1411834"/>
            <a:ext cx="5009998" cy="5062118"/>
          </a:xfrm>
          <a:prstGeom prst="roundRect">
            <a:avLst>
              <a:gd name="adj" fmla="val 548"/>
            </a:avLst>
          </a:prstGeom>
          <a:solidFill>
            <a:srgbClr val="1A73E8"/>
          </a:solidFill>
          <a:ln w="12700">
            <a:solidFill>
              <a:srgbClr val="9AA0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2142" y="1627632"/>
            <a:ext cx="4871923" cy="4768596"/>
          </a:xfrm>
          <a:prstGeom prst="roundRect">
            <a:avLst>
              <a:gd name="adj" fmla="val 57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7862" y="1641348"/>
            <a:ext cx="47804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 (-84.7%) • Zero-PII Observability</a:t>
            </a:r>
            <a:endParaRPr lang="en-US" sz="520" dirty="0"/>
          </a:p>
        </p:txBody>
      </p:sp>
      <p:sp>
        <p:nvSpPr>
          <p:cNvPr id="21" name="Shape 19"/>
          <p:cNvSpPr/>
          <p:nvPr/>
        </p:nvSpPr>
        <p:spPr>
          <a:xfrm>
            <a:off x="751637" y="1783080"/>
            <a:ext cx="4733849" cy="4535424"/>
          </a:xfrm>
          <a:prstGeom prst="roundRect">
            <a:avLst>
              <a:gd name="adj" fmla="val 605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7357" y="1796796"/>
            <a:ext cx="464240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GEAP &amp; ADK 2.0 Reference Architecture (12/12 Forensic Audit • 20/20 Simulations PASS)</a:t>
            </a:r>
            <a:endParaRPr lang="en-US" sz="520" dirty="0"/>
          </a:p>
        </p:txBody>
      </p:sp>
      <p:sp>
        <p:nvSpPr>
          <p:cNvPr id="23" name="Shape 21"/>
          <p:cNvSpPr/>
          <p:nvPr/>
        </p:nvSpPr>
        <p:spPr>
          <a:xfrm>
            <a:off x="829361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5081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(High Density): Pattern A Pooled FinOps &amp; COGS Engine</a:t>
            </a:r>
            <a:endParaRPr lang="en-US" sz="520" dirty="0"/>
          </a:p>
        </p:txBody>
      </p:sp>
      <p:sp>
        <p:nvSpPr>
          <p:cNvPr id="25" name="Shape 23"/>
          <p:cNvSpPr/>
          <p:nvPr/>
        </p:nvSpPr>
        <p:spPr>
          <a:xfrm>
            <a:off x="3178454" y="3804818"/>
            <a:ext cx="2228393" cy="2418588"/>
          </a:xfrm>
          <a:prstGeom prst="roundRect">
            <a:avLst>
              <a:gd name="adj" fmla="val 1231"/>
            </a:avLst>
          </a:prstGeom>
          <a:solidFill>
            <a:srgbClr val="FFFFF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24174" y="3818534"/>
            <a:ext cx="21369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 (Regulated Scale): Pattern B Silos ($$$) &amp; Pattern C Hybrid ($$)</a:t>
            </a:r>
            <a:endParaRPr lang="en-US" sz="520" dirty="0"/>
          </a:p>
        </p:txBody>
      </p:sp>
      <p:sp>
        <p:nvSpPr>
          <p:cNvPr id="27" name="Shape 25"/>
          <p:cNvSpPr/>
          <p:nvPr/>
        </p:nvSpPr>
        <p:spPr>
          <a:xfrm>
            <a:off x="897941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EEFC3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3661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520" dirty="0"/>
          </a:p>
        </p:txBody>
      </p:sp>
      <p:sp>
        <p:nvSpPr>
          <p:cNvPr id="29" name="Shape 27"/>
          <p:cNvSpPr/>
          <p:nvPr/>
        </p:nvSpPr>
        <p:spPr>
          <a:xfrm>
            <a:off x="3247949" y="3960266"/>
            <a:ext cx="2090318" cy="2194560"/>
          </a:xfrm>
          <a:prstGeom prst="roundRect">
            <a:avLst>
              <a:gd name="adj" fmla="val 1312"/>
            </a:avLst>
          </a:prstGeom>
          <a:solidFill>
            <a:srgbClr val="FAD2CF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3669" y="3973982"/>
            <a:ext cx="199887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520" dirty="0"/>
          </a:p>
        </p:txBody>
      </p:sp>
      <p:sp>
        <p:nvSpPr>
          <p:cNvPr id="31" name="Shape 29"/>
          <p:cNvSpPr/>
          <p:nvPr/>
        </p:nvSpPr>
        <p:spPr>
          <a:xfrm>
            <a:off x="820217" y="1930298"/>
            <a:ext cx="2867558" cy="1425550"/>
          </a:xfrm>
          <a:prstGeom prst="roundRect">
            <a:avLst>
              <a:gd name="adj" fmla="val 1924"/>
            </a:avLst>
          </a:prstGeom>
          <a:solidFill>
            <a:srgbClr val="AECBFA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65937" y="1944014"/>
            <a:ext cx="27761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52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3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Ingress, Registry &amp; Runtime</a:t>
            </a:r>
            <a:endParaRPr lang="en-US" sz="520" dirty="0"/>
          </a:p>
        </p:txBody>
      </p:sp>
      <p:sp>
        <p:nvSpPr>
          <p:cNvPr id="33" name="Shape 31"/>
          <p:cNvSpPr/>
          <p:nvPr/>
        </p:nvSpPr>
        <p:spPr>
          <a:xfrm>
            <a:off x="3973068" y="1965046"/>
            <a:ext cx="1416406" cy="1382573"/>
          </a:xfrm>
          <a:prstGeom prst="roundRect">
            <a:avLst>
              <a:gd name="adj" fmla="val 1984"/>
            </a:avLst>
          </a:prstGeom>
          <a:solidFill>
            <a:srgbClr val="CEEAD6"/>
          </a:solidFill>
          <a:ln w="9525">
            <a:solidFill>
              <a:srgbClr val="9AA0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18788" y="1978762"/>
            <a:ext cx="132496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5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520" dirty="0"/>
          </a:p>
        </p:txBody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2142" y="1461211"/>
            <a:ext cx="648310" cy="116129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970886" y="1066190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 flipV="1">
            <a:off x="3170225" y="1075334"/>
            <a:ext cx="0" cy="126095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 flipH="1">
            <a:off x="2358238" y="2499970"/>
            <a:ext cx="111557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2358238" y="2331720"/>
            <a:ext cx="0" cy="1682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 flipH="1">
            <a:off x="1796796" y="2331720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1" name="Shape 38"/>
          <p:cNvSpPr/>
          <p:nvPr/>
        </p:nvSpPr>
        <p:spPr>
          <a:xfrm>
            <a:off x="2358238" y="2499970"/>
            <a:ext cx="0" cy="194767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H="1">
            <a:off x="1796796" y="2694737"/>
            <a:ext cx="56144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>
            <a:off x="1796796" y="3118104"/>
            <a:ext cx="777240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2970886" y="2664562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5" name="Shape 42"/>
          <p:cNvSpPr/>
          <p:nvPr/>
        </p:nvSpPr>
        <p:spPr>
          <a:xfrm flipV="1">
            <a:off x="3170225" y="2672791"/>
            <a:ext cx="0" cy="30266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3057754" y="3268980"/>
            <a:ext cx="0" cy="41513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7" name="Shape 44"/>
          <p:cNvSpPr/>
          <p:nvPr/>
        </p:nvSpPr>
        <p:spPr>
          <a:xfrm flipV="1">
            <a:off x="2444191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8" name="Shape 45"/>
          <p:cNvSpPr/>
          <p:nvPr/>
        </p:nvSpPr>
        <p:spPr>
          <a:xfrm>
            <a:off x="2444191" y="3684118"/>
            <a:ext cx="235000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4794199" y="3684118"/>
            <a:ext cx="0" cy="768096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0" name="Shape 47"/>
          <p:cNvSpPr/>
          <p:nvPr/>
        </p:nvSpPr>
        <p:spPr>
          <a:xfrm flipV="1">
            <a:off x="1943100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51" name="Shape 48"/>
          <p:cNvSpPr/>
          <p:nvPr/>
        </p:nvSpPr>
        <p:spPr>
          <a:xfrm>
            <a:off x="1943100" y="3623767"/>
            <a:ext cx="273862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</a:ln>
        </p:spPr>
      </p:sp>
      <p:sp>
        <p:nvSpPr>
          <p:cNvPr id="52" name="Shape 49"/>
          <p:cNvSpPr/>
          <p:nvPr/>
        </p:nvSpPr>
        <p:spPr>
          <a:xfrm flipV="1">
            <a:off x="4681728" y="3355848"/>
            <a:ext cx="0" cy="267919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3" name="Shape 50"/>
          <p:cNvSpPr/>
          <p:nvPr/>
        </p:nvSpPr>
        <p:spPr>
          <a:xfrm>
            <a:off x="4293108" y="3623767"/>
            <a:ext cx="0" cy="171907"/>
          </a:xfrm>
          <a:prstGeom prst="line">
            <a:avLst/>
          </a:prstGeom>
          <a:noFill/>
          <a:ln w="10795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4" name="Shape 51"/>
          <p:cNvSpPr/>
          <p:nvPr/>
        </p:nvSpPr>
        <p:spPr>
          <a:xfrm>
            <a:off x="1839773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904695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904695" y="4556455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57" name="Shape 54"/>
          <p:cNvSpPr/>
          <p:nvPr/>
        </p:nvSpPr>
        <p:spPr>
          <a:xfrm>
            <a:off x="1839773" y="5419649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1904695" y="4668926"/>
            <a:ext cx="0" cy="7507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1904695" y="4668926"/>
            <a:ext cx="55778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2444191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2444191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 flipV="1">
            <a:off x="2444191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 flipV="1">
            <a:off x="2444191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4" name="Shape 61"/>
          <p:cNvSpPr/>
          <p:nvPr/>
        </p:nvSpPr>
        <p:spPr>
          <a:xfrm>
            <a:off x="4188866" y="4401007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253789" y="4401007"/>
            <a:ext cx="0" cy="155448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4253789" y="4556455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7" name="Shape 64"/>
          <p:cNvSpPr/>
          <p:nvPr/>
        </p:nvSpPr>
        <p:spPr>
          <a:xfrm>
            <a:off x="4188866" y="4841748"/>
            <a:ext cx="64922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4253789" y="4668926"/>
            <a:ext cx="0" cy="172822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4253789" y="4668926"/>
            <a:ext cx="56693" cy="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4794199" y="502279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4794199" y="4789627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 flipV="1">
            <a:off x="4794199" y="5670194"/>
            <a:ext cx="0" cy="61265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 flipV="1">
            <a:off x="4794199" y="5411419"/>
            <a:ext cx="0" cy="60350"/>
          </a:xfrm>
          <a:prstGeom prst="line">
            <a:avLst/>
          </a:prstGeom>
          <a:noFill/>
          <a:ln w="10795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4" name="Shape 71"/>
          <p:cNvSpPr/>
          <p:nvPr/>
        </p:nvSpPr>
        <p:spPr>
          <a:xfrm>
            <a:off x="2534717" y="694944"/>
            <a:ext cx="1079906" cy="371246"/>
          </a:xfrm>
          <a:prstGeom prst="roundRect">
            <a:avLst>
              <a:gd name="adj" fmla="val 985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777" y="713232"/>
            <a:ext cx="118872" cy="118872"/>
          </a:xfrm>
          <a:prstGeom prst="rect">
            <a:avLst/>
          </a:prstGeom>
        </p:spPr>
      </p:pic>
      <p:sp>
        <p:nvSpPr>
          <p:cNvPr id="76" name="Text 72"/>
          <p:cNvSpPr/>
          <p:nvPr/>
        </p:nvSpPr>
        <p:spPr>
          <a:xfrm>
            <a:off x="2534717" y="832104"/>
            <a:ext cx="1079906" cy="2340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45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3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450" dirty="0"/>
          </a:p>
        </p:txBody>
      </p:sp>
      <p:sp>
        <p:nvSpPr>
          <p:cNvPr id="77" name="Shape 73"/>
          <p:cNvSpPr/>
          <p:nvPr/>
        </p:nvSpPr>
        <p:spPr>
          <a:xfrm>
            <a:off x="2478938" y="2336292"/>
            <a:ext cx="1132027" cy="328270"/>
          </a:xfrm>
          <a:prstGeom prst="roundRect">
            <a:avLst>
              <a:gd name="adj" fmla="val 11142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7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0942" y="2418588"/>
            <a:ext cx="164592" cy="164592"/>
          </a:xfrm>
          <a:prstGeom prst="rect">
            <a:avLst/>
          </a:prstGeom>
        </p:spPr>
      </p:pic>
      <p:sp>
        <p:nvSpPr>
          <p:cNvPr id="79" name="Text 74"/>
          <p:cNvSpPr/>
          <p:nvPr/>
        </p:nvSpPr>
        <p:spPr>
          <a:xfrm>
            <a:off x="2693822" y="2336292"/>
            <a:ext cx="898855" cy="3282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1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3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410" dirty="0"/>
          </a:p>
        </p:txBody>
      </p:sp>
      <p:sp>
        <p:nvSpPr>
          <p:cNvPr id="80" name="Shape 75"/>
          <p:cNvSpPr/>
          <p:nvPr/>
        </p:nvSpPr>
        <p:spPr>
          <a:xfrm>
            <a:off x="4085539" y="2223821"/>
            <a:ext cx="119237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7543" y="2296973"/>
            <a:ext cx="164592" cy="164592"/>
          </a:xfrm>
          <a:prstGeom prst="rect">
            <a:avLst/>
          </a:prstGeom>
        </p:spPr>
      </p:pic>
      <p:sp>
        <p:nvSpPr>
          <p:cNvPr id="82" name="Text 76"/>
          <p:cNvSpPr/>
          <p:nvPr/>
        </p:nvSpPr>
        <p:spPr>
          <a:xfrm>
            <a:off x="4300423" y="2223821"/>
            <a:ext cx="9592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SIEM &amp; Audit Lineage</a:t>
            </a:r>
            <a:endParaRPr lang="en-US" sz="490" dirty="0"/>
          </a:p>
        </p:txBody>
      </p:sp>
      <p:sp>
        <p:nvSpPr>
          <p:cNvPr id="83" name="Shape 77"/>
          <p:cNvSpPr/>
          <p:nvPr/>
        </p:nvSpPr>
        <p:spPr>
          <a:xfrm>
            <a:off x="4102913" y="2949854"/>
            <a:ext cx="1157630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34917" y="3013862"/>
            <a:ext cx="164592" cy="164592"/>
          </a:xfrm>
          <a:prstGeom prst="rect">
            <a:avLst/>
          </a:prstGeom>
        </p:spPr>
      </p:pic>
      <p:sp>
        <p:nvSpPr>
          <p:cNvPr id="85" name="Text 78"/>
          <p:cNvSpPr/>
          <p:nvPr/>
        </p:nvSpPr>
        <p:spPr>
          <a:xfrm>
            <a:off x="4317797" y="2949854"/>
            <a:ext cx="924458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Cryptographic Spans</a:t>
            </a:r>
            <a:endParaRPr lang="en-US" sz="460" dirty="0"/>
          </a:p>
        </p:txBody>
      </p:sp>
      <p:sp>
        <p:nvSpPr>
          <p:cNvPr id="86" name="Shape 79"/>
          <p:cNvSpPr/>
          <p:nvPr/>
        </p:nvSpPr>
        <p:spPr>
          <a:xfrm>
            <a:off x="4111142" y="2595067"/>
            <a:ext cx="1140257" cy="293522"/>
          </a:xfrm>
          <a:prstGeom prst="roundRect">
            <a:avLst>
              <a:gd name="adj" fmla="val 1246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8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3146" y="2659990"/>
            <a:ext cx="164592" cy="164592"/>
          </a:xfrm>
          <a:prstGeom prst="rect">
            <a:avLst/>
          </a:prstGeom>
        </p:spPr>
      </p:pic>
      <p:sp>
        <p:nvSpPr>
          <p:cNvPr id="88" name="Text 80"/>
          <p:cNvSpPr/>
          <p:nvPr/>
        </p:nvSpPr>
        <p:spPr>
          <a:xfrm>
            <a:off x="4326026" y="2595067"/>
            <a:ext cx="907085" cy="2935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460" dirty="0"/>
          </a:p>
        </p:txBody>
      </p:sp>
      <p:sp>
        <p:nvSpPr>
          <p:cNvPr id="89" name="Shape 81"/>
          <p:cNvSpPr/>
          <p:nvPr/>
        </p:nvSpPr>
        <p:spPr>
          <a:xfrm>
            <a:off x="1960474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92478" y="5809183"/>
            <a:ext cx="164592" cy="164592"/>
          </a:xfrm>
          <a:prstGeom prst="rect">
            <a:avLst/>
          </a:prstGeom>
        </p:spPr>
      </p:pic>
      <p:sp>
        <p:nvSpPr>
          <p:cNvPr id="91" name="Text 82"/>
          <p:cNvSpPr/>
          <p:nvPr/>
        </p:nvSpPr>
        <p:spPr>
          <a:xfrm>
            <a:off x="2175358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RLS &amp; L1–L5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Storage Density</a:t>
            </a:r>
            <a:endParaRPr lang="en-US" sz="490" dirty="0"/>
          </a:p>
        </p:txBody>
      </p:sp>
      <p:sp>
        <p:nvSpPr>
          <p:cNvPr id="92" name="Shape 83"/>
          <p:cNvSpPr/>
          <p:nvPr/>
        </p:nvSpPr>
        <p:spPr>
          <a:xfrm>
            <a:off x="4310482" y="5731459"/>
            <a:ext cx="967435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42486" y="5809183"/>
            <a:ext cx="164592" cy="164592"/>
          </a:xfrm>
          <a:prstGeom prst="rect">
            <a:avLst/>
          </a:prstGeom>
        </p:spPr>
      </p:pic>
      <p:sp>
        <p:nvSpPr>
          <p:cNvPr id="94" name="Text 84"/>
          <p:cNvSpPr/>
          <p:nvPr/>
        </p:nvSpPr>
        <p:spPr>
          <a:xfrm>
            <a:off x="4525366" y="5731459"/>
            <a:ext cx="734263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HTTP 423 Kill-Switch</a:t>
            </a:r>
            <a:endParaRPr lang="en-US" sz="490" dirty="0"/>
          </a:p>
        </p:txBody>
      </p:sp>
      <p:sp>
        <p:nvSpPr>
          <p:cNvPr id="95" name="Shape 85"/>
          <p:cNvSpPr/>
          <p:nvPr/>
        </p:nvSpPr>
        <p:spPr>
          <a:xfrm>
            <a:off x="1969618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01622" y="4539082"/>
            <a:ext cx="164592" cy="164592"/>
          </a:xfrm>
          <a:prstGeom prst="rect">
            <a:avLst/>
          </a:prstGeom>
        </p:spPr>
      </p:pic>
      <p:sp>
        <p:nvSpPr>
          <p:cNvPr id="97" name="Text 86"/>
          <p:cNvSpPr/>
          <p:nvPr/>
        </p:nvSpPr>
        <p:spPr>
          <a:xfrm>
            <a:off x="2184502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490" dirty="0"/>
          </a:p>
        </p:txBody>
      </p:sp>
      <p:sp>
        <p:nvSpPr>
          <p:cNvPr id="98" name="Shape 87"/>
          <p:cNvSpPr/>
          <p:nvPr/>
        </p:nvSpPr>
        <p:spPr>
          <a:xfrm>
            <a:off x="4318711" y="4461358"/>
            <a:ext cx="950062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9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50715" y="4539082"/>
            <a:ext cx="164592" cy="164592"/>
          </a:xfrm>
          <a:prstGeom prst="rect">
            <a:avLst/>
          </a:prstGeom>
        </p:spPr>
      </p:pic>
      <p:sp>
        <p:nvSpPr>
          <p:cNvPr id="100" name="Text 88"/>
          <p:cNvSpPr/>
          <p:nvPr/>
        </p:nvSpPr>
        <p:spPr>
          <a:xfrm>
            <a:off x="4533595" y="4461358"/>
            <a:ext cx="71689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Live Tier Upgrade</a:t>
            </a:r>
            <a:endParaRPr lang="en-US" sz="490" dirty="0"/>
          </a:p>
        </p:txBody>
      </p:sp>
      <p:sp>
        <p:nvSpPr>
          <p:cNvPr id="101" name="Shape 89"/>
          <p:cNvSpPr/>
          <p:nvPr/>
        </p:nvSpPr>
        <p:spPr>
          <a:xfrm>
            <a:off x="1986077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2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18081" y="5160874"/>
            <a:ext cx="164592" cy="164592"/>
          </a:xfrm>
          <a:prstGeom prst="rect">
            <a:avLst/>
          </a:prstGeom>
        </p:spPr>
      </p:pic>
      <p:sp>
        <p:nvSpPr>
          <p:cNvPr id="103" name="Text 90"/>
          <p:cNvSpPr/>
          <p:nvPr/>
        </p:nvSpPr>
        <p:spPr>
          <a:xfrm>
            <a:off x="2200961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490" dirty="0"/>
          </a:p>
        </p:txBody>
      </p:sp>
      <p:sp>
        <p:nvSpPr>
          <p:cNvPr id="104" name="Shape 91"/>
          <p:cNvSpPr/>
          <p:nvPr/>
        </p:nvSpPr>
        <p:spPr>
          <a:xfrm>
            <a:off x="4336085" y="5083150"/>
            <a:ext cx="924458" cy="32004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5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368089" y="5160874"/>
            <a:ext cx="164592" cy="164592"/>
          </a:xfrm>
          <a:prstGeom prst="rect">
            <a:avLst/>
          </a:prstGeom>
        </p:spPr>
      </p:pic>
      <p:sp>
        <p:nvSpPr>
          <p:cNvPr id="106" name="Text 92"/>
          <p:cNvSpPr/>
          <p:nvPr/>
        </p:nvSpPr>
        <p:spPr>
          <a:xfrm>
            <a:off x="4550969" y="5083150"/>
            <a:ext cx="69128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490" dirty="0"/>
          </a:p>
        </p:txBody>
      </p:sp>
      <p:sp>
        <p:nvSpPr>
          <p:cNvPr id="107" name="Shape 93"/>
          <p:cNvSpPr/>
          <p:nvPr/>
        </p:nvSpPr>
        <p:spPr>
          <a:xfrm>
            <a:off x="2582266" y="2975458"/>
            <a:ext cx="967435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0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14270" y="3037637"/>
            <a:ext cx="160020" cy="160020"/>
          </a:xfrm>
          <a:prstGeom prst="rect">
            <a:avLst/>
          </a:prstGeom>
        </p:spPr>
      </p:pic>
      <p:sp>
        <p:nvSpPr>
          <p:cNvPr id="109" name="Text 94"/>
          <p:cNvSpPr/>
          <p:nvPr/>
        </p:nvSpPr>
        <p:spPr>
          <a:xfrm>
            <a:off x="2792578" y="2975458"/>
            <a:ext cx="738835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Pattern A, B or C</a:t>
            </a:r>
            <a:endParaRPr lang="en-US" sz="460" dirty="0"/>
          </a:p>
        </p:txBody>
      </p:sp>
      <p:sp>
        <p:nvSpPr>
          <p:cNvPr id="110" name="Shape 95"/>
          <p:cNvSpPr/>
          <p:nvPr/>
        </p:nvSpPr>
        <p:spPr>
          <a:xfrm>
            <a:off x="967435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439" y="4318711"/>
            <a:ext cx="164592" cy="164592"/>
          </a:xfrm>
          <a:prstGeom prst="rect">
            <a:avLst/>
          </a:prstGeom>
        </p:spPr>
      </p:pic>
      <p:sp>
        <p:nvSpPr>
          <p:cNvPr id="112" name="Text 96"/>
          <p:cNvSpPr/>
          <p:nvPr/>
        </p:nvSpPr>
        <p:spPr>
          <a:xfrm>
            <a:off x="1182319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Redis Rate Bulkhead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490" dirty="0"/>
          </a:p>
        </p:txBody>
      </p:sp>
      <p:sp>
        <p:nvSpPr>
          <p:cNvPr id="113" name="Shape 97"/>
          <p:cNvSpPr/>
          <p:nvPr/>
        </p:nvSpPr>
        <p:spPr>
          <a:xfrm>
            <a:off x="967435" y="5264201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4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9439" y="5337353"/>
            <a:ext cx="164592" cy="164592"/>
          </a:xfrm>
          <a:prstGeom prst="rect">
            <a:avLst/>
          </a:prstGeom>
        </p:spPr>
      </p:pic>
      <p:sp>
        <p:nvSpPr>
          <p:cNvPr id="115" name="Text 98"/>
          <p:cNvSpPr/>
          <p:nvPr/>
        </p:nvSpPr>
        <p:spPr>
          <a:xfrm>
            <a:off x="1182319" y="5264201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490" dirty="0"/>
          </a:p>
        </p:txBody>
      </p:sp>
      <p:sp>
        <p:nvSpPr>
          <p:cNvPr id="116" name="Shape 99"/>
          <p:cNvSpPr/>
          <p:nvPr/>
        </p:nvSpPr>
        <p:spPr>
          <a:xfrm>
            <a:off x="3316529" y="4245559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1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48533" y="4318711"/>
            <a:ext cx="164592" cy="164592"/>
          </a:xfrm>
          <a:prstGeom prst="rect">
            <a:avLst/>
          </a:prstGeom>
        </p:spPr>
      </p:pic>
      <p:sp>
        <p:nvSpPr>
          <p:cNvPr id="118" name="Text 100"/>
          <p:cNvSpPr/>
          <p:nvPr/>
        </p:nvSpPr>
        <p:spPr>
          <a:xfrm>
            <a:off x="3531413" y="4245559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490" dirty="0"/>
          </a:p>
        </p:txBody>
      </p:sp>
      <p:sp>
        <p:nvSpPr>
          <p:cNvPr id="119" name="Shape 101"/>
          <p:cNvSpPr/>
          <p:nvPr/>
        </p:nvSpPr>
        <p:spPr>
          <a:xfrm>
            <a:off x="3316529" y="4685386"/>
            <a:ext cx="872338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0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348533" y="4758538"/>
            <a:ext cx="164592" cy="164592"/>
          </a:xfrm>
          <a:prstGeom prst="rect">
            <a:avLst/>
          </a:prstGeom>
        </p:spPr>
      </p:pic>
      <p:sp>
        <p:nvSpPr>
          <p:cNvPr id="121" name="Text 102"/>
          <p:cNvSpPr/>
          <p:nvPr/>
        </p:nvSpPr>
        <p:spPr>
          <a:xfrm>
            <a:off x="3531413" y="4685386"/>
            <a:ext cx="6391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49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490" dirty="0"/>
          </a:p>
        </p:txBody>
      </p:sp>
      <p:sp>
        <p:nvSpPr>
          <p:cNvPr id="122" name="Shape 103"/>
          <p:cNvSpPr/>
          <p:nvPr/>
        </p:nvSpPr>
        <p:spPr>
          <a:xfrm>
            <a:off x="907085" y="2189074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39089" y="2252167"/>
            <a:ext cx="160020" cy="160020"/>
          </a:xfrm>
          <a:prstGeom prst="rect">
            <a:avLst/>
          </a:prstGeom>
        </p:spPr>
      </p:pic>
      <p:sp>
        <p:nvSpPr>
          <p:cNvPr id="124" name="Text 104"/>
          <p:cNvSpPr/>
          <p:nvPr/>
        </p:nvSpPr>
        <p:spPr>
          <a:xfrm>
            <a:off x="1117397" y="2189074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OBO + DPoP</a:t>
            </a:r>
            <a:endParaRPr lang="en-US" sz="460" dirty="0"/>
          </a:p>
        </p:txBody>
      </p:sp>
      <p:sp>
        <p:nvSpPr>
          <p:cNvPr id="125" name="Shape 105"/>
          <p:cNvSpPr/>
          <p:nvPr/>
        </p:nvSpPr>
        <p:spPr>
          <a:xfrm>
            <a:off x="907085" y="2552090"/>
            <a:ext cx="881482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6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939089" y="2614270"/>
            <a:ext cx="160020" cy="160020"/>
          </a:xfrm>
          <a:prstGeom prst="rect">
            <a:avLst/>
          </a:prstGeom>
        </p:spPr>
      </p:pic>
      <p:sp>
        <p:nvSpPr>
          <p:cNvPr id="127" name="Text 106"/>
          <p:cNvSpPr/>
          <p:nvPr/>
        </p:nvSpPr>
        <p:spPr>
          <a:xfrm>
            <a:off x="1117397" y="2552090"/>
            <a:ext cx="652882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NLC 422 + SDP</a:t>
            </a:r>
            <a:endParaRPr lang="en-US" sz="460" dirty="0"/>
          </a:p>
        </p:txBody>
      </p:sp>
      <p:sp>
        <p:nvSpPr>
          <p:cNvPr id="128" name="Shape 107"/>
          <p:cNvSpPr/>
          <p:nvPr/>
        </p:nvSpPr>
        <p:spPr>
          <a:xfrm>
            <a:off x="940918" y="2975458"/>
            <a:ext cx="846734" cy="285293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pic>
        <p:nvPicPr>
          <p:cNvPr id="129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972922" y="3037637"/>
            <a:ext cx="160020" cy="160020"/>
          </a:xfrm>
          <a:prstGeom prst="rect">
            <a:avLst/>
          </a:prstGeom>
        </p:spPr>
      </p:pic>
      <p:sp>
        <p:nvSpPr>
          <p:cNvPr id="130" name="Text 108"/>
          <p:cNvSpPr/>
          <p:nvPr/>
        </p:nvSpPr>
        <p:spPr>
          <a:xfrm>
            <a:off x="1151230" y="2975458"/>
            <a:ext cx="618134" cy="28529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Registry PDP</a:t>
            </a:r>
            <a:endParaRPr lang="en-US" sz="46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ARD Filter + ADK Tool Prune</a:t>
            </a:r>
            <a:endParaRPr lang="en-US" sz="460" dirty="0"/>
          </a:p>
        </p:txBody>
      </p:sp>
      <p:sp>
        <p:nvSpPr>
          <p:cNvPr id="131" name="Text 109"/>
          <p:cNvSpPr/>
          <p:nvPr/>
        </p:nvSpPr>
        <p:spPr>
          <a:xfrm>
            <a:off x="4707331" y="3373222"/>
            <a:ext cx="756209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40" dirty="0"/>
          </a:p>
        </p:txBody>
      </p:sp>
      <p:sp>
        <p:nvSpPr>
          <p:cNvPr id="132" name="Text 110"/>
          <p:cNvSpPr/>
          <p:nvPr/>
        </p:nvSpPr>
        <p:spPr>
          <a:xfrm>
            <a:off x="2055571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40" dirty="0"/>
          </a:p>
        </p:txBody>
      </p:sp>
      <p:sp>
        <p:nvSpPr>
          <p:cNvPr id="133" name="Text 111"/>
          <p:cNvSpPr/>
          <p:nvPr/>
        </p:nvSpPr>
        <p:spPr>
          <a:xfrm>
            <a:off x="2055571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40" dirty="0"/>
          </a:p>
        </p:txBody>
      </p:sp>
      <p:sp>
        <p:nvSpPr>
          <p:cNvPr id="134" name="Text 112"/>
          <p:cNvSpPr/>
          <p:nvPr/>
        </p:nvSpPr>
        <p:spPr>
          <a:xfrm>
            <a:off x="4405579" y="482254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40" dirty="0"/>
          </a:p>
        </p:txBody>
      </p:sp>
      <p:sp>
        <p:nvSpPr>
          <p:cNvPr id="135" name="Text 113"/>
          <p:cNvSpPr/>
          <p:nvPr/>
        </p:nvSpPr>
        <p:spPr>
          <a:xfrm>
            <a:off x="4405579" y="545256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40" dirty="0"/>
          </a:p>
        </p:txBody>
      </p:sp>
      <p:sp>
        <p:nvSpPr>
          <p:cNvPr id="136" name="Text 114"/>
          <p:cNvSpPr/>
          <p:nvPr/>
        </p:nvSpPr>
        <p:spPr>
          <a:xfrm>
            <a:off x="3290926" y="3383280"/>
            <a:ext cx="7260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40" dirty="0"/>
          </a:p>
        </p:txBody>
      </p:sp>
      <p:sp>
        <p:nvSpPr>
          <p:cNvPr id="137" name="Text 115"/>
          <p:cNvSpPr/>
          <p:nvPr/>
        </p:nvSpPr>
        <p:spPr>
          <a:xfrm>
            <a:off x="1165860" y="5603443"/>
            <a:ext cx="7123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40" dirty="0"/>
          </a:p>
        </p:txBody>
      </p:sp>
      <p:sp>
        <p:nvSpPr>
          <p:cNvPr id="138" name="Text 116"/>
          <p:cNvSpPr/>
          <p:nvPr/>
        </p:nvSpPr>
        <p:spPr>
          <a:xfrm>
            <a:off x="2375611" y="3383280"/>
            <a:ext cx="6565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40" dirty="0"/>
          </a:p>
          <a:p>
            <a:pPr algn="l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40" dirty="0"/>
          </a:p>
        </p:txBody>
      </p:sp>
      <p:sp>
        <p:nvSpPr>
          <p:cNvPr id="139" name="Text 117"/>
          <p:cNvSpPr/>
          <p:nvPr/>
        </p:nvSpPr>
        <p:spPr>
          <a:xfrm>
            <a:off x="1848002" y="2917850"/>
            <a:ext cx="6739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ARD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40" dirty="0"/>
          </a:p>
        </p:txBody>
      </p:sp>
      <p:sp>
        <p:nvSpPr>
          <p:cNvPr id="140" name="Text 118"/>
          <p:cNvSpPr/>
          <p:nvPr/>
        </p:nvSpPr>
        <p:spPr>
          <a:xfrm>
            <a:off x="1165860" y="4625035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40" dirty="0"/>
          </a:p>
        </p:txBody>
      </p:sp>
      <p:sp>
        <p:nvSpPr>
          <p:cNvPr id="141" name="Text 119"/>
          <p:cNvSpPr/>
          <p:nvPr/>
        </p:nvSpPr>
        <p:spPr>
          <a:xfrm>
            <a:off x="1165860" y="4832604"/>
            <a:ext cx="712318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40" dirty="0"/>
          </a:p>
        </p:txBody>
      </p:sp>
      <p:sp>
        <p:nvSpPr>
          <p:cNvPr id="142" name="Text 120"/>
          <p:cNvSpPr/>
          <p:nvPr/>
        </p:nvSpPr>
        <p:spPr>
          <a:xfrm>
            <a:off x="1822399" y="2131466"/>
            <a:ext cx="5093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40" dirty="0"/>
          </a:p>
          <a:p>
            <a:pPr algn="ctr" indent="0" marL="0">
              <a:lnSpc>
                <a:spcPct val="92000"/>
              </a:lnSpc>
              <a:buNone/>
            </a:pPr>
            <a:r>
              <a:rPr lang="en-US" sz="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DPoP</a:t>
            </a:r>
            <a:endParaRPr lang="en-US" sz="440" dirty="0"/>
          </a:p>
        </p:txBody>
      </p:sp>
      <p:sp>
        <p:nvSpPr>
          <p:cNvPr id="143" name="Text 121"/>
          <p:cNvSpPr/>
          <p:nvPr/>
        </p:nvSpPr>
        <p:spPr>
          <a:xfrm>
            <a:off x="1822399" y="2716682"/>
            <a:ext cx="509321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40" dirty="0"/>
          </a:p>
        </p:txBody>
      </p:sp>
      <p:sp>
        <p:nvSpPr>
          <p:cNvPr id="144" name="Text 122"/>
          <p:cNvSpPr/>
          <p:nvPr/>
        </p:nvSpPr>
        <p:spPr>
          <a:xfrm>
            <a:off x="3273552" y="1186891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5" name="Text 123"/>
          <p:cNvSpPr/>
          <p:nvPr/>
        </p:nvSpPr>
        <p:spPr>
          <a:xfrm>
            <a:off x="3273552" y="2755087"/>
            <a:ext cx="431597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40" dirty="0"/>
          </a:p>
        </p:txBody>
      </p:sp>
      <p:sp>
        <p:nvSpPr>
          <p:cNvPr id="146" name="Text 124"/>
          <p:cNvSpPr/>
          <p:nvPr/>
        </p:nvSpPr>
        <p:spPr>
          <a:xfrm>
            <a:off x="2469794" y="1186891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7" name="Text 125"/>
          <p:cNvSpPr/>
          <p:nvPr/>
        </p:nvSpPr>
        <p:spPr>
          <a:xfrm>
            <a:off x="2469794" y="2755087"/>
            <a:ext cx="388620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92000"/>
              </a:lnSpc>
              <a:buNone/>
            </a:pPr>
            <a:r>
              <a:rPr lang="en-US" sz="4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40" dirty="0"/>
          </a:p>
        </p:txBody>
      </p:sp>
      <p:sp>
        <p:nvSpPr>
          <p:cNvPr id="148" name="Shape 126"/>
          <p:cNvSpPr/>
          <p:nvPr/>
        </p:nvSpPr>
        <p:spPr>
          <a:xfrm>
            <a:off x="2884932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2884932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50" dirty="0"/>
          </a:p>
        </p:txBody>
      </p:sp>
      <p:sp>
        <p:nvSpPr>
          <p:cNvPr id="150" name="Shape 128"/>
          <p:cNvSpPr/>
          <p:nvPr/>
        </p:nvSpPr>
        <p:spPr>
          <a:xfrm>
            <a:off x="3083357" y="116128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3083357" y="116128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2" name="Shape 130"/>
          <p:cNvSpPr/>
          <p:nvPr/>
        </p:nvSpPr>
        <p:spPr>
          <a:xfrm>
            <a:off x="2884932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2884932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50" dirty="0"/>
          </a:p>
        </p:txBody>
      </p:sp>
      <p:sp>
        <p:nvSpPr>
          <p:cNvPr id="154" name="Shape 132"/>
          <p:cNvSpPr/>
          <p:nvPr/>
        </p:nvSpPr>
        <p:spPr>
          <a:xfrm>
            <a:off x="3083357" y="272948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3083357" y="272948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56" name="Shape 134"/>
          <p:cNvSpPr/>
          <p:nvPr/>
        </p:nvSpPr>
        <p:spPr>
          <a:xfrm>
            <a:off x="2185416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2185416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50" dirty="0"/>
          </a:p>
        </p:txBody>
      </p:sp>
      <p:sp>
        <p:nvSpPr>
          <p:cNvPr id="158" name="Shape 136"/>
          <p:cNvSpPr/>
          <p:nvPr/>
        </p:nvSpPr>
        <p:spPr>
          <a:xfrm>
            <a:off x="3100730" y="3407054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3100730" y="3407054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550" dirty="0"/>
          </a:p>
        </p:txBody>
      </p:sp>
      <p:sp>
        <p:nvSpPr>
          <p:cNvPr id="160" name="Shape 138"/>
          <p:cNvSpPr/>
          <p:nvPr/>
        </p:nvSpPr>
        <p:spPr>
          <a:xfrm>
            <a:off x="975665" y="4599432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975665" y="4599432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50" dirty="0"/>
          </a:p>
        </p:txBody>
      </p:sp>
      <p:sp>
        <p:nvSpPr>
          <p:cNvPr id="162" name="Shape 140"/>
          <p:cNvSpPr/>
          <p:nvPr/>
        </p:nvSpPr>
        <p:spPr>
          <a:xfrm>
            <a:off x="975665" y="4807001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975665" y="4807001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550" dirty="0"/>
          </a:p>
        </p:txBody>
      </p:sp>
      <p:sp>
        <p:nvSpPr>
          <p:cNvPr id="164" name="Shape 142"/>
          <p:cNvSpPr/>
          <p:nvPr/>
        </p:nvSpPr>
        <p:spPr>
          <a:xfrm>
            <a:off x="975665" y="5627218"/>
            <a:ext cx="172822" cy="172822"/>
          </a:xfrm>
          <a:prstGeom prst="ellipse">
            <a:avLst/>
          </a:prstGeom>
          <a:solidFill>
            <a:srgbClr val="174EA6"/>
          </a:solidFill>
          <a:ln w="9525">
            <a:solidFill>
              <a:srgbClr val="174EA6"/>
            </a:solidFill>
            <a:prstDash val="solid"/>
          </a:ln>
        </p:spPr>
      </p:sp>
      <p:sp>
        <p:nvSpPr>
          <p:cNvPr id="165" name="Text 143"/>
          <p:cNvSpPr/>
          <p:nvPr/>
        </p:nvSpPr>
        <p:spPr>
          <a:xfrm>
            <a:off x="975665" y="5627218"/>
            <a:ext cx="172822" cy="1728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550" dirty="0"/>
          </a:p>
        </p:txBody>
      </p:sp>
      <p:sp>
        <p:nvSpPr>
          <p:cNvPr id="166" name="Shape 144"/>
          <p:cNvSpPr/>
          <p:nvPr/>
        </p:nvSpPr>
        <p:spPr>
          <a:xfrm>
            <a:off x="6089904" y="621792"/>
            <a:ext cx="5809183" cy="713232"/>
          </a:xfrm>
          <a:prstGeom prst="roundRect">
            <a:avLst>
              <a:gd name="adj" fmla="val 8974"/>
            </a:avLst>
          </a:prstGeom>
          <a:solidFill>
            <a:srgbClr val="E8F0FE"/>
          </a:solidFill>
          <a:ln w="12700">
            <a:solidFill>
              <a:srgbClr val="AECBFA"/>
            </a:solidFill>
            <a:prstDash val="solid"/>
          </a:ln>
        </p:spPr>
      </p:sp>
      <p:sp>
        <p:nvSpPr>
          <p:cNvPr id="167" name="Shape 145"/>
          <p:cNvSpPr/>
          <p:nvPr/>
        </p:nvSpPr>
        <p:spPr>
          <a:xfrm>
            <a:off x="6089904" y="621792"/>
            <a:ext cx="82296" cy="7132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68" name="Text 146"/>
          <p:cNvSpPr/>
          <p:nvPr/>
        </p:nvSpPr>
        <p:spPr>
          <a:xfrm>
            <a:off x="6254496" y="694944"/>
            <a:ext cx="555315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• ARCHITECTURAL WALKTHROUGH</a:t>
            </a:r>
            <a:endParaRPr lang="en-US" sz="800" dirty="0"/>
          </a:p>
        </p:txBody>
      </p:sp>
      <p:sp>
        <p:nvSpPr>
          <p:cNvPr id="169" name="Text 147"/>
          <p:cNvSpPr/>
          <p:nvPr/>
        </p:nvSpPr>
        <p:spPr>
          <a:xfrm>
            <a:off x="6254496" y="896112"/>
            <a:ext cx="5553151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5 Capstone: Executive Topology Decision Guide &amp; The Multi-Tenant Agentic Triad</a:t>
            </a:r>
            <a:endParaRPr lang="en-US" sz="1020" dirty="0"/>
          </a:p>
        </p:txBody>
      </p:sp>
      <p:sp>
        <p:nvSpPr>
          <p:cNvPr id="170" name="Shape 148"/>
          <p:cNvSpPr/>
          <p:nvPr/>
        </p:nvSpPr>
        <p:spPr>
          <a:xfrm>
            <a:off x="6089904" y="142646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1" name="Shape 149"/>
          <p:cNvSpPr/>
          <p:nvPr/>
        </p:nvSpPr>
        <p:spPr>
          <a:xfrm>
            <a:off x="6089904" y="1426464"/>
            <a:ext cx="64008" cy="720547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72" name="Shape 150"/>
          <p:cNvSpPr/>
          <p:nvPr/>
        </p:nvSpPr>
        <p:spPr>
          <a:xfrm>
            <a:off x="6217920" y="167701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173" name="Text 151"/>
          <p:cNvSpPr/>
          <p:nvPr/>
        </p:nvSpPr>
        <p:spPr>
          <a:xfrm>
            <a:off x="6217920" y="167701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  <p:sp>
        <p:nvSpPr>
          <p:cNvPr id="174" name="Text 152"/>
          <p:cNvSpPr/>
          <p:nvPr/>
        </p:nvSpPr>
        <p:spPr>
          <a:xfrm>
            <a:off x="6510528" y="146304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'Enterprise &amp; SMB Users 10,000+ Multi-Tier Tenants' enters at badge 1 Request and receives badge 7 Response.</a:t>
            </a:r>
            <a:endParaRPr lang="en-US" sz="840" dirty="0"/>
          </a:p>
        </p:txBody>
      </p:sp>
      <p:sp>
        <p:nvSpPr>
          <p:cNvPr id="175" name="Shape 153"/>
          <p:cNvSpPr/>
          <p:nvPr/>
        </p:nvSpPr>
        <p:spPr>
          <a:xfrm>
            <a:off x="6089904" y="221101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76" name="Shape 154"/>
          <p:cNvSpPr/>
          <p:nvPr/>
        </p:nvSpPr>
        <p:spPr>
          <a:xfrm>
            <a:off x="6089904" y="2211019"/>
            <a:ext cx="64008" cy="720547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77" name="Shape 155"/>
          <p:cNvSpPr/>
          <p:nvPr/>
        </p:nvSpPr>
        <p:spPr>
          <a:xfrm>
            <a:off x="6217920" y="246156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178" name="Text 156"/>
          <p:cNvSpPr/>
          <p:nvPr/>
        </p:nvSpPr>
        <p:spPr>
          <a:xfrm>
            <a:off x="6217920" y="246156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179" name="Text 157"/>
          <p:cNvSpPr/>
          <p:nvPr/>
        </p:nvSpPr>
        <p:spPr>
          <a:xfrm>
            <a:off x="6510528" y="224759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= Triad Pillar 1: Hop 1 Edge PEP, Hop 4 Model Armor, Hop 2 Registry PDP, External ALB, Architecture Selector (Pattern A/B/C).</a:t>
            </a:r>
            <a:endParaRPr lang="en-US" sz="840" dirty="0"/>
          </a:p>
        </p:txBody>
      </p:sp>
      <p:sp>
        <p:nvSpPr>
          <p:cNvPr id="180" name="Shape 158"/>
          <p:cNvSpPr/>
          <p:nvPr/>
        </p:nvSpPr>
        <p:spPr>
          <a:xfrm>
            <a:off x="6089904" y="299648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1" name="Shape 159"/>
          <p:cNvSpPr/>
          <p:nvPr/>
        </p:nvSpPr>
        <p:spPr>
          <a:xfrm>
            <a:off x="6089904" y="2996489"/>
            <a:ext cx="64008" cy="720547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182" name="Shape 160"/>
          <p:cNvSpPr/>
          <p:nvPr/>
        </p:nvSpPr>
        <p:spPr>
          <a:xfrm>
            <a:off x="6217920" y="324703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183" name="Text 161"/>
          <p:cNvSpPr/>
          <p:nvPr/>
        </p:nvSpPr>
        <p:spPr>
          <a:xfrm>
            <a:off x="6217920" y="324703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184" name="Text 162"/>
          <p:cNvSpPr/>
          <p:nvPr/>
        </p:nvSpPr>
        <p:spPr>
          <a:xfrm>
            <a:off x="6510528" y="303306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 = Triad Pillar 3: Security Command Center, 3 Chargeback Models, BigQuery OTel Sink; dashed line carries zero-PII telemetry.</a:t>
            </a:r>
            <a:endParaRPr lang="en-US" sz="840" dirty="0"/>
          </a:p>
        </p:txBody>
      </p:sp>
      <p:sp>
        <p:nvSpPr>
          <p:cNvPr id="185" name="Shape 163"/>
          <p:cNvSpPr/>
          <p:nvPr/>
        </p:nvSpPr>
        <p:spPr>
          <a:xfrm>
            <a:off x="6089904" y="3781044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6" name="Shape 164"/>
          <p:cNvSpPr/>
          <p:nvPr/>
        </p:nvSpPr>
        <p:spPr>
          <a:xfrm>
            <a:off x="6089904" y="3781044"/>
            <a:ext cx="64008" cy="720547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187" name="Shape 165"/>
          <p:cNvSpPr/>
          <p:nvPr/>
        </p:nvSpPr>
        <p:spPr>
          <a:xfrm>
            <a:off x="6217920" y="4031590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188" name="Text 166"/>
          <p:cNvSpPr/>
          <p:nvPr/>
        </p:nvSpPr>
        <p:spPr>
          <a:xfrm>
            <a:off x="6217920" y="4031590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189" name="Text 167"/>
          <p:cNvSpPr/>
          <p:nvPr/>
        </p:nvSpPr>
        <p:spPr>
          <a:xfrm>
            <a:off x="6510528" y="3817620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'Dispatch to optimal cost/security tier' is where the selector commits; badge 7 'Verified zero-bleed agent completion' closes it.</a:t>
            </a:r>
            <a:endParaRPr lang="en-US" sz="840" dirty="0"/>
          </a:p>
        </p:txBody>
      </p:sp>
      <p:sp>
        <p:nvSpPr>
          <p:cNvPr id="190" name="Shape 168"/>
          <p:cNvSpPr/>
          <p:nvPr/>
        </p:nvSpPr>
        <p:spPr>
          <a:xfrm>
            <a:off x="6089904" y="456559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1" name="Shape 169"/>
          <p:cNvSpPr/>
          <p:nvPr/>
        </p:nvSpPr>
        <p:spPr>
          <a:xfrm>
            <a:off x="6089904" y="4565599"/>
            <a:ext cx="64008" cy="720547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192" name="Shape 170"/>
          <p:cNvSpPr/>
          <p:nvPr/>
        </p:nvSpPr>
        <p:spPr>
          <a:xfrm>
            <a:off x="6217920" y="4816145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F3E8FD"/>
          </a:solidFill>
          <a:ln/>
        </p:spPr>
      </p:sp>
      <p:sp>
        <p:nvSpPr>
          <p:cNvPr id="193" name="Text 171"/>
          <p:cNvSpPr/>
          <p:nvPr/>
        </p:nvSpPr>
        <p:spPr>
          <a:xfrm>
            <a:off x="6217920" y="4816145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194" name="Text 172"/>
          <p:cNvSpPr/>
          <p:nvPr/>
        </p:nvSpPr>
        <p:spPr>
          <a:xfrm>
            <a:off x="6510528" y="460217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 Pattern A Pooled Unit Economics: Redis Rate Bulkhead, Thinking Budget Cap, ContextCacheConfig 90% Discount, AlloyDB RLS &amp; L1-L5.</a:t>
            </a:r>
            <a:endParaRPr lang="en-US" sz="840" dirty="0"/>
          </a:p>
        </p:txBody>
      </p:sp>
      <p:sp>
        <p:nvSpPr>
          <p:cNvPr id="195" name="Shape 173"/>
          <p:cNvSpPr/>
          <p:nvPr/>
        </p:nvSpPr>
        <p:spPr>
          <a:xfrm>
            <a:off x="6089904" y="5351069"/>
            <a:ext cx="5809183" cy="720547"/>
          </a:xfrm>
          <a:prstGeom prst="roundRect">
            <a:avLst>
              <a:gd name="adj" fmla="val 76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96" name="Shape 174"/>
          <p:cNvSpPr/>
          <p:nvPr/>
        </p:nvSpPr>
        <p:spPr>
          <a:xfrm>
            <a:off x="6089904" y="5351069"/>
            <a:ext cx="64008" cy="720547"/>
          </a:xfrm>
          <a:prstGeom prst="rect">
            <a:avLst/>
          </a:prstGeom>
          <a:solidFill>
            <a:srgbClr val="00897B"/>
          </a:solidFill>
          <a:ln/>
        </p:spPr>
      </p:sp>
      <p:sp>
        <p:nvSpPr>
          <p:cNvPr id="197" name="Shape 175"/>
          <p:cNvSpPr/>
          <p:nvPr/>
        </p:nvSpPr>
        <p:spPr>
          <a:xfrm>
            <a:off x="6217920" y="5601614"/>
            <a:ext cx="237744" cy="219456"/>
          </a:xfrm>
          <a:prstGeom prst="roundRect">
            <a:avLst>
              <a:gd name="adj" fmla="val 16667"/>
            </a:avLst>
          </a:prstGeom>
          <a:solidFill>
            <a:srgbClr val="E0F2F1"/>
          </a:solidFill>
          <a:ln/>
        </p:spPr>
      </p:sp>
      <p:sp>
        <p:nvSpPr>
          <p:cNvPr id="198" name="Text 176"/>
          <p:cNvSpPr/>
          <p:nvPr/>
        </p:nvSpPr>
        <p:spPr>
          <a:xfrm>
            <a:off x="6217920" y="5601614"/>
            <a:ext cx="237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4D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99" name="Text 177"/>
          <p:cNvSpPr/>
          <p:nvPr/>
        </p:nvSpPr>
        <p:spPr>
          <a:xfrm>
            <a:off x="6510528" y="5387645"/>
            <a:ext cx="5315407" cy="64739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 Pattern B Silos &amp; Pattern C PSC Spokes: VPC-SC &amp; IAM PAB, Gemma 3 &amp; Claude 3.7, PSC Spoke Runtime, Silo MCP, CMEK Lock.</a:t>
            </a:r>
            <a:endParaRPr lang="en-US" sz="840" dirty="0"/>
          </a:p>
        </p:txBody>
      </p:sp>
      <p:sp>
        <p:nvSpPr>
          <p:cNvPr id="200" name="Shape 178"/>
          <p:cNvSpPr/>
          <p:nvPr/>
        </p:nvSpPr>
        <p:spPr>
          <a:xfrm>
            <a:off x="6089904" y="6163056"/>
            <a:ext cx="5809183" cy="384048"/>
          </a:xfrm>
          <a:prstGeom prst="roundRect">
            <a:avLst>
              <a:gd name="adj" fmla="val 14286"/>
            </a:avLst>
          </a:prstGeom>
          <a:solidFill>
            <a:srgbClr val="0B1426"/>
          </a:solidFill>
          <a:ln/>
        </p:spPr>
      </p:sp>
      <p:sp>
        <p:nvSpPr>
          <p:cNvPr id="201" name="Text 179"/>
          <p:cNvSpPr/>
          <p:nvPr/>
        </p:nvSpPr>
        <p:spPr>
          <a:xfrm>
            <a:off x="6199632" y="6163056"/>
            <a:ext cx="5589727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Source: diagrams/ws5-decision-tree-and-agentic-triad.drawio</a:t>
            </a:r>
            <a:endParaRPr lang="en-US" sz="780" dirty="0"/>
          </a:p>
        </p:txBody>
      </p:sp>
      <p:sp>
        <p:nvSpPr>
          <p:cNvPr id="202" name="Text 18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VIS-WS5-DECISION-TREE-AND-AGENTIC-TRIAD  •  Click any box, icon, or connector in PowerPoint / Google Slides to edit</a:t>
            </a:r>
            <a:endParaRPr lang="en-US" sz="7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Architectural Component Inventory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 TABLE</a:t>
            </a:r>
            <a:endParaRPr lang="en-US" sz="7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76656"/>
          <a:ext cx="1146017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5333695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/ Enclave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&amp; Governance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Layer 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Multi-Tenant Agentic Triad: Security (Hops 1–5) • FinOps COGS (-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GEAP &amp; ADK 2.0 Reference Architecture (12/12 Forensic Audit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(High Density): Pattern A Pooled FinOps &amp; COGS Engine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2 (Regulated Scale): Pattern B Silos ($$$) &amp; Pattern C 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Unit Economics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Lowest COGS ($) • 84.7% Net Input Token Savings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Silos &amp; Pattern C PSC Spokes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 Blast Radius + Zero-Downtime Tier Promotion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1: Zero-Trust Cryptographic Security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5-Hop Context Chain across Ingress, Registry &amp; Runtime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Triad Pillar 3: Privacy- Preserving OTel &amp; Chargeback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&amp; Governance Enclave Boundary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Enterprise &amp; SMB Users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10,000+ Multi-Tier Tenants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 Load Balancer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 Anycast Ingress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 Center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Unified SIEM &amp; Audit Lineage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Sink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Cryptographic Spans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Chargeback Models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Even, Proportional &amp; Tiered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AlloyDB RLS &amp; L1–L5</a:t>
                      </a:r>
                      <a:endParaRPr lang="en-US" sz="8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3C40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Storage Density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Component Specification Table  •  Source: diagrams/ws5-decision-tree-and-agentic-triad.drawio</a:t>
            </a:r>
            <a:endParaRPr lang="en-US" sz="7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77724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70832" y="132588"/>
            <a:ext cx="512338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MANDATES • EDITABLE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94944"/>
          </a:xfrm>
          <a:prstGeom prst="roundRect">
            <a:avLst>
              <a:gd name="adj" fmla="val 92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100584" cy="69494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694944"/>
            <a:ext cx="7772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8E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ARCHITECTURAL TAKEAWAYS &amp; PRODUCTION CHECKLIST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886968"/>
            <a:ext cx="8412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9311335" y="804672"/>
            <a:ext cx="2331720" cy="347472"/>
          </a:xfrm>
          <a:prstGeom prst="roundRect">
            <a:avLst>
              <a:gd name="adj" fmla="val 15789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11335" y="804672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Native Editable Bento Cards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463040"/>
            <a:ext cx="3685946" cy="5943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5" name="Shape 23"/>
          <p:cNvSpPr/>
          <p:nvPr/>
        </p:nvSpPr>
        <p:spPr>
          <a:xfrm>
            <a:off x="512064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2064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69264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 the compliance question before the packaging question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12064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topology debates are really about which question is being asked.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512064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8F0FE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&amp; Identity PEP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52874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52874" y="1463040"/>
            <a:ext cx="3685946" cy="59436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34" name="Shape 32"/>
          <p:cNvSpPr/>
          <p:nvPr/>
        </p:nvSpPr>
        <p:spPr>
          <a:xfrm>
            <a:off x="4399178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99178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56378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Whatever pattern you pick, the same five hops run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399178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4399178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the blast radius of each hop changes.</a:t>
            </a:r>
            <a:endParaRPr lang="en-US" sz="1020" dirty="0"/>
          </a:p>
        </p:txBody>
      </p:sp>
      <p:sp>
        <p:nvSpPr>
          <p:cNvPr id="39" name="Shape 37"/>
          <p:cNvSpPr/>
          <p:nvPr/>
        </p:nvSpPr>
        <p:spPr>
          <a:xfrm>
            <a:off x="4399178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E6F4EA"/>
          </a:solidFill>
          <a:ln/>
        </p:spPr>
      </p:sp>
      <p:sp>
        <p:nvSpPr>
          <p:cNvPr id="40" name="Text 38"/>
          <p:cNvSpPr/>
          <p:nvPr/>
        </p:nvSpPr>
        <p:spPr>
          <a:xfrm>
            <a:off x="4454042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&amp; Registry PDP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8139989" y="1463040"/>
            <a:ext cx="3685946" cy="2211934"/>
          </a:xfrm>
          <a:prstGeom prst="roundRect">
            <a:avLst>
              <a:gd name="adj" fmla="val 330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139989" y="1463040"/>
            <a:ext cx="3685946" cy="59436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43" name="Shape 41"/>
          <p:cNvSpPr/>
          <p:nvPr/>
        </p:nvSpPr>
        <p:spPr>
          <a:xfrm>
            <a:off x="8286293" y="1609344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EF7E0"/>
          </a:solidFill>
          <a:ln w="9525">
            <a:solidFill>
              <a:srgbClr val="FDE29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286293" y="1609344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743493" y="1591056"/>
            <a:ext cx="29361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8286293" y="2011680"/>
            <a:ext cx="33933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7" name="Text 45"/>
          <p:cNvSpPr/>
          <p:nvPr/>
        </p:nvSpPr>
        <p:spPr>
          <a:xfrm>
            <a:off x="8286293" y="2066544"/>
            <a:ext cx="3393338" cy="122438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density, sovereign isolation and hybrid routing are points on one cost/security curve ($ / $$$ / $$), not three products.</a:t>
            </a:r>
            <a:endParaRPr lang="en-US" sz="1020" dirty="0"/>
          </a:p>
        </p:txBody>
      </p:sp>
      <p:sp>
        <p:nvSpPr>
          <p:cNvPr id="48" name="Shape 46"/>
          <p:cNvSpPr/>
          <p:nvPr/>
        </p:nvSpPr>
        <p:spPr>
          <a:xfrm>
            <a:off x="8286293" y="3345790"/>
            <a:ext cx="3393338" cy="228600"/>
          </a:xfrm>
          <a:prstGeom prst="roundRect">
            <a:avLst>
              <a:gd name="adj" fmla="val 20000"/>
            </a:avLst>
          </a:prstGeom>
          <a:solidFill>
            <a:srgbClr val="FEF7E0"/>
          </a:solidFill>
          <a:ln/>
        </p:spPr>
      </p:sp>
      <p:sp>
        <p:nvSpPr>
          <p:cNvPr id="49" name="Text 47"/>
          <p:cNvSpPr/>
          <p:nvPr/>
        </p:nvSpPr>
        <p:spPr>
          <a:xfrm>
            <a:off x="8341157" y="3345790"/>
            <a:ext cx="32836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&amp; Memory Isolation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65760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857854"/>
            <a:ext cx="5629046" cy="59436"/>
          </a:xfrm>
          <a:prstGeom prst="rect">
            <a:avLst/>
          </a:prstGeom>
          <a:solidFill>
            <a:srgbClr val="D93025"/>
          </a:solidFill>
          <a:ln/>
        </p:spPr>
      </p:sp>
      <p:sp>
        <p:nvSpPr>
          <p:cNvPr id="52" name="Shape 50"/>
          <p:cNvSpPr/>
          <p:nvPr/>
        </p:nvSpPr>
        <p:spPr>
          <a:xfrm>
            <a:off x="512064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CE8E6"/>
          </a:solidFill>
          <a:ln w="9525">
            <a:solidFill>
              <a:srgbClr val="FAD2C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2064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969264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Triad is a balance</a:t>
            </a:r>
            <a:endParaRPr lang="en-US" sz="1250" dirty="0"/>
          </a:p>
        </p:txBody>
      </p:sp>
      <p:sp>
        <p:nvSpPr>
          <p:cNvPr id="55" name="Shape 53"/>
          <p:cNvSpPr/>
          <p:nvPr/>
        </p:nvSpPr>
        <p:spPr>
          <a:xfrm>
            <a:off x="512064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56" name="Text 54"/>
          <p:cNvSpPr/>
          <p:nvPr/>
        </p:nvSpPr>
        <p:spPr>
          <a:xfrm>
            <a:off x="512064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Security-only raises TCO, cost-only invites noisy neighbors and cache bleed, observability without redaction leaks PII.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512064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CE8E6"/>
          </a:solidFill>
          <a:ln/>
        </p:spPr>
      </p:sp>
      <p:sp>
        <p:nvSpPr>
          <p:cNvPr id="58" name="Text 56"/>
          <p:cNvSpPr/>
          <p:nvPr/>
        </p:nvSpPr>
        <p:spPr>
          <a:xfrm>
            <a:off x="566928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52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 &amp; DLP Redaction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6195974" y="3857854"/>
            <a:ext cx="5629046" cy="2122322"/>
          </a:xfrm>
          <a:prstGeom prst="roundRect">
            <a:avLst>
              <a:gd name="adj" fmla="val 344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195974" y="3857854"/>
            <a:ext cx="5629046" cy="59436"/>
          </a:xfrm>
          <a:prstGeom prst="rect">
            <a:avLst/>
          </a:prstGeom>
          <a:solidFill>
            <a:srgbClr val="9334E6"/>
          </a:solidFill>
          <a:ln/>
        </p:spPr>
      </p:sp>
      <p:sp>
        <p:nvSpPr>
          <p:cNvPr id="61" name="Shape 59"/>
          <p:cNvSpPr/>
          <p:nvPr/>
        </p:nvSpPr>
        <p:spPr>
          <a:xfrm>
            <a:off x="6342278" y="4004158"/>
            <a:ext cx="384048" cy="292608"/>
          </a:xfrm>
          <a:prstGeom prst="roundRect">
            <a:avLst>
              <a:gd name="adj" fmla="val 18750"/>
            </a:avLst>
          </a:prstGeom>
          <a:solidFill>
            <a:srgbClr val="F3E8FD"/>
          </a:solidFill>
          <a:ln w="9525">
            <a:solidFill>
              <a:srgbClr val="D7AEF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342278" y="4004158"/>
            <a:ext cx="3840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799478" y="3985870"/>
            <a:ext cx="487923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342278" y="4406494"/>
            <a:ext cx="5336438" cy="10973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65" name="Text 63"/>
          <p:cNvSpPr/>
          <p:nvPr/>
        </p:nvSpPr>
        <p:spPr>
          <a:xfrm>
            <a:off x="6342278" y="4461358"/>
            <a:ext cx="5336438" cy="1134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 the Milestone 1 sign-off gate as your acceptance criteria: header strip, deterministic 403s, tiered clamps and 429s, PII redaction plus RLS.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342278" y="5650992"/>
            <a:ext cx="5336438" cy="228600"/>
          </a:xfrm>
          <a:prstGeom prst="roundRect">
            <a:avLst>
              <a:gd name="adj" fmla="val 20000"/>
            </a:avLst>
          </a:prstGeom>
          <a:solidFill>
            <a:srgbClr val="F3E8FD"/>
          </a:solidFill>
          <a:ln/>
        </p:spPr>
      </p:sp>
      <p:sp>
        <p:nvSpPr>
          <p:cNvPr id="67" name="Text 65"/>
          <p:cNvSpPr/>
          <p:nvPr/>
        </p:nvSpPr>
        <p:spPr>
          <a:xfrm>
            <a:off x="6397142" y="5650992"/>
            <a:ext cx="522671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81D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RLS &amp; OTel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365760" y="6108192"/>
            <a:ext cx="11460175" cy="420624"/>
          </a:xfrm>
          <a:prstGeom prst="roundRect">
            <a:avLst>
              <a:gd name="adj" fmla="val 13043"/>
            </a:avLst>
          </a:prstGeom>
          <a:solidFill>
            <a:srgbClr val="0D6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475488" y="6181344"/>
            <a:ext cx="1783080" cy="274320"/>
          </a:xfrm>
          <a:prstGeom prst="roundRect">
            <a:avLst>
              <a:gd name="adj" fmla="val 16667"/>
            </a:avLst>
          </a:prstGeom>
          <a:solidFill>
            <a:srgbClr val="34A853"/>
          </a:solidFill>
          <a:ln/>
        </p:spPr>
      </p:sp>
      <p:sp>
        <p:nvSpPr>
          <p:cNvPr id="70" name="Text 68"/>
          <p:cNvSpPr/>
          <p:nvPr/>
        </p:nvSpPr>
        <p:spPr>
          <a:xfrm>
            <a:off x="475488" y="6181344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 / ACTION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2377440" y="6163056"/>
            <a:ext cx="931133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the decision tree with legal and product together, clone core-cymbal-agent/, run the three test suites, and request the P0 EAP allowlists.</a:t>
            </a:r>
            <a:endParaRPr lang="en-US" sz="950" dirty="0"/>
          </a:p>
        </p:txBody>
      </p:sp>
      <p:sp>
        <p:nvSpPr>
          <p:cNvPr id="72" name="Text 7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7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4754880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4754880" y="0"/>
            <a:ext cx="2468880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7223760" y="0"/>
            <a:ext cx="2194560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418320" y="0"/>
            <a:ext cx="2773375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20040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34340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62940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29000" y="160020"/>
            <a:ext cx="868680" cy="246888"/>
          </a:xfrm>
          <a:prstGeom prst="roundRect">
            <a:avLst>
              <a:gd name="adj" fmla="val 22222"/>
            </a:avLst>
          </a:prstGeom>
          <a:solidFill>
            <a:srgbClr val="E8F0FE"/>
          </a:solidFill>
          <a:ln w="9525">
            <a:solidFill>
              <a:srgbClr val="AECBF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62272" y="132588"/>
            <a:ext cx="5031943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Assets, Editable Diagrams &amp; Source Lineage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31375" y="160020"/>
            <a:ext cx="2240280" cy="246888"/>
          </a:xfrm>
          <a:prstGeom prst="roundRect">
            <a:avLst>
              <a:gd name="adj" fmla="val 22222"/>
            </a:avLst>
          </a:prstGeom>
          <a:solidFill>
            <a:srgbClr val="E6F4EA"/>
          </a:solidFill>
          <a:ln w="9525">
            <a:solidFill>
              <a:srgbClr val="CEEA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31375" y="160020"/>
            <a:ext cx="22402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DELIVERABLES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5760" y="640080"/>
            <a:ext cx="11460175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640080"/>
            <a:ext cx="91440" cy="60350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713232"/>
            <a:ext cx="110029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Editable Architecture Blueprints, Source Blogs &amp; Executable Code Artifacts</a:t>
            </a:r>
            <a:endParaRPr lang="en-US" sz="165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53312"/>
          <a:ext cx="11460175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560320"/>
                <a:gridCol w="256032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Blueprint ID &amp; Title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 Source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High-Res PNG Blueprint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PromptCanvas Vision 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4EA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 — GEAP Multi-Tenant Agentic AI Taxonomy: Pooled (Pattern A), Sovereign Silos (Pattern B) &amp; Hybrid (Pattern C)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diagrams/vision_metadata/ws1-multi-tenant-taxonomy-overview.vision.json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diagrams/vision_metadata/ws1-cloud-arch-center-5hop-baseline.vision.json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diagrams/ws2-pattern-a-pooled-5hop-architecture.drawio.png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diagrams/vision_metadata/ws2-pattern-a-pooled-5hop-architecture.vision.json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diagrams/ws2-pattern-a-breach-defense-sequence.drawio.png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diagrams/vision_metadata/ws2-pattern-a-breach-defense-sequence.vision.json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2.2 • DEMO ENV &amp; 3P AUTH SANDBOX — Pattern A Demo Environment &amp; 3P Auth Sandbox: Pooled Project, Federated IdPs, OAuth 2LO/3LO Apps, Redis &amp; Firestore Tenant Config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diagrams/ws2-demo-env-and-3p-auth-sandbox-topology.drawio.png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diagrams/vision_metadata/ws2-demo-env-and-3p-auth-sandbox-topology.vision.json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2.6 • TERRAFORM STARTER RESOURCE GRAPH — Pattern A 1-Click Terraform Starter: Provider → Cloud Armor WAF → Cloud Run v2 GEAP Gateway → Redis / KMS CMEK → BigQuery OTel Resource Graph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diagrams/ws2-terraform-starter-resource-graph.drawio.png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diagrams/vision_metadata/ws2-terraform-starter-resource-graph.vision.json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 — Pattern B: Zero-Trust Sovereign Silos (VPC-SC, IAM PAB, CMEK Kill-Switch &amp; Air-Gapped Gemma 3 on GKE)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diagrams/vision_metadata/ws3-pattern-b-sovereign-silos-architecture.vision.json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3.2 • MULTI-PROJECT SILO &amp; CMEK SETUP — Pattern B Provisioning Topology: Org → Per-Tenant Silo Projects, VPC-SC Perimeters, IAM PAB &amp; Cloud KMS CMEK Keys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diagrams/ws3-multi-project-silo-and-cmek-setup-topology.drawio.png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diagrams/vision_metadata/ws3-multi-project-silo-and-cmek-setup-topology.vision.json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3.6 • TERRAFORM SILO BLUEPRINT RESOURCE GRAPH — Terraform Blueprint Resource Graph: Provider → Cloud KMS CMEK → VPC-SC Perimeter → Sovereign VPC → Private Air-Gapped GKE (Gemma 3)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diagrams/ws3-terraform-silo-blueprint-resource-graph.drawio.png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diagrams/vision_metadata/ws3-terraform-silo-blueprint-resource-graph.vision.json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4.1 • PATTERN C BLUEPRINT — Pattern C: Dynamic Hybrid Hub-and-Spoke, Private Service Connect (PSC) &amp; Live Tier Migration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diagrams/ws4-pattern-c-hybrid-psc-and-migration.drawio.png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diagrams/vision_metadata/ws4-pattern-c-hybrid-psc-and-migration.vision.json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4.2 • HUB-AND-SPOKE DEMO ENV SETUP — Pattern C Demo Environment: Central Ingress Hub, Shared Pool &amp; PSC Service Attachment Spokes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diagrams/ws4-hub-and-spoke-demo-env-setup-topology.drawio.png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diagrams/vision_metadata/ws4-hub-and-spoke-demo-env-setup-topology.vision.json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4.5 • ZERO-DOWNTIME TIER UPGRADE SUITE — Zero-Downtime Tier Upgrade Test Sequence: SHADOW_SYNC → ATOMIC_CUTOVER → DRAIN_AND_VERIFY (4/4 PASS)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diagrams/ws4-zero-downtime-tier-upgrade-sequence.drawio.png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diagrams/vision_metadata/ws4-zero-downtime-tier-upgrade-sequence.vision.json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4.6 • TERRAFORM HYBRID PSC RESOURCE GRAPH — Terraform Hybrid PSC Blueprint Resource Graph: Hub VPC → Consumer PSC Endpoint → Producer ServiceAttachment in Enterprise Spoke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diagrams/ws4-terraform-hybrid-psc-blueprint-resource-graph.drawio.png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diagrams/vision_metadata/ws4-terraform-hybrid-psc-blueprint-resource-graph.vision.json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021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5.1 &amp; 5.2 • CAPSTONE BLUEPRINT — Workstream 5 Capstone: Executive Topology Decision Guide &amp; The Multi-Tenant Agentic Triad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E8E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diagrams/ws5-decision-tree-and-agentic-triad.drawio.png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9334E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diagrams/vision_metadata/ws5-decision-tree-and-agentic-triad.vision.json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365760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365760" y="4892040"/>
            <a:ext cx="3697834" cy="54864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23" name="Text 20"/>
          <p:cNvSpPr/>
          <p:nvPr/>
        </p:nvSpPr>
        <p:spPr>
          <a:xfrm>
            <a:off x="502920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Explanatory &amp; Flagship Blogs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02920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5 workstream blogs (blogs/ws1..ws5*.md) &amp; 4 flagship deep-dives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4246474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246474" y="4892040"/>
            <a:ext cx="3697834" cy="54864"/>
          </a:xfrm>
          <a:prstGeom prst="rect">
            <a:avLst/>
          </a:prstGeom>
          <a:solidFill>
            <a:srgbClr val="1E8E3E"/>
          </a:solidFill>
          <a:ln/>
        </p:spPr>
      </p:sp>
      <p:sp>
        <p:nvSpPr>
          <p:cNvPr id="27" name="Text 24"/>
          <p:cNvSpPr/>
          <p:nvPr/>
        </p:nvSpPr>
        <p:spPr>
          <a:xfrm>
            <a:off x="4383634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652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Workstream Source Deliverables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383634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360 verified files across Workstreams 1–5 (Python 5-Hop, Terraform, Codelabs)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8128102" y="4892040"/>
            <a:ext cx="3697834" cy="1508760"/>
          </a:xfrm>
          <a:prstGeom prst="roundRect">
            <a:avLst>
              <a:gd name="adj" fmla="val 4242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28102" y="4892040"/>
            <a:ext cx="3697834" cy="54864"/>
          </a:xfrm>
          <a:prstGeom prst="rect">
            <a:avLst/>
          </a:prstGeom>
          <a:solidFill>
            <a:srgbClr val="F29900"/>
          </a:solidFill>
          <a:ln/>
        </p:spPr>
      </p:sp>
      <p:sp>
        <p:nvSpPr>
          <p:cNvPr id="31" name="Text 28"/>
          <p:cNvSpPr/>
          <p:nvPr/>
        </p:nvSpPr>
        <p:spPr>
          <a:xfrm>
            <a:off x="8265262" y="5001768"/>
            <a:ext cx="342381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6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Reference Architecture &amp; Repo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8265262" y="5312664"/>
            <a:ext cx="342381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https://docs.cloud.google.com/architecture/multi-tenant-agentic-ai-system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ENTERPRISE ARCHITECTURE  •  </a:t>
            </a:r>
            <a:pPr algn="l" indent="0" marL="0">
              <a:buNone/>
            </a:pPr>
            <a:r>
              <a:rPr lang="en-US" sz="7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blogs/ for the full explanatory articles and slides/ for per-workstream decks.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60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GEAP Multi-Tenant Agentic AI: Pooled, Sovereign Silos &amp; Hybrid — Complete Program Deck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2026-10-13T05:06:10Z</dcterms:created>
  <dcterms:modified xsi:type="dcterms:W3CDTF">2026-10-13T05:06:10Z</dcterms:modified>
</cp:coreProperties>
</file>