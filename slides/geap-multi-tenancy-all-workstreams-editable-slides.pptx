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Cloud Armor • IAP OBO/DPoP • KMS JWKS
</a:t>
            </a:r>
            <a:pPr indent="0" marL="0">
              <a:buNone/>
            </a:pPr>
            <a:r>
              <a:rPr lang="en-US" sz="730" dirty="0">
                <a:solidFill>
                  <a:srgbClr val="5F6368"/>
                </a:solidFill>
                <a:latin typeface="Roboto" pitchFamily="34" charset="0"/>
                <a:ea typeface="Roboto" pitchFamily="34" charset="-122"/>
                <a:cs typeface="Roboto" pitchFamily="34" charset="-120"/>
              </a:rPr>
              <a:t>Target &amp; SLA: ~42ms p95 5-Hop Overhead • &lt;0.15ms Cached JWKS • ~3ms Valkey JTI Revoke</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WS1 • Foundation &amp; 5-Hop Baseline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2.6 • Cloud Run gVisor • ContextCacheConfig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84.7% Input Token Savings • 120/600 RPM Bulkheads • 10/10 Breach Vectors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WS2 • Pattern A High-Density Pool</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3.6 • VPC-SC • IAM PAB • Cloud KMS CMEK • Private GKE Gemma 3 27B
</a:t>
            </a:r>
            <a:pPr indent="0" marL="0">
              <a:buNone/>
            </a:pPr>
            <a:r>
              <a:rPr lang="en-US" sz="730" dirty="0">
                <a:solidFill>
                  <a:srgbClr val="5F6368"/>
                </a:solidFill>
                <a:latin typeface="Roboto" pitchFamily="34" charset="0"/>
                <a:ea typeface="Roboto" pitchFamily="34" charset="-122"/>
                <a:cs typeface="Roboto" pitchFamily="34" charset="-120"/>
              </a:rPr>
              <a:t>Target &amp; SLA: &lt;60s HTTP 423 CMEK Kill-Switch • &lt;5s Valkey SCAN+UNLINK • 6/6 Silo Tests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WS3 • 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4.6 • Firestore Router • /28 PSC NAT • DMS CDC Shadow-Sync
</a:t>
            </a:r>
            <a:pPr indent="0" marL="0">
              <a:buNone/>
            </a:pPr>
            <a:r>
              <a:rPr lang="en-US" sz="730" dirty="0">
                <a:solidFill>
                  <a:srgbClr val="5F6368"/>
                </a:solidFill>
                <a:latin typeface="Roboto" pitchFamily="34" charset="0"/>
                <a:ea typeface="Roboto" pitchFamily="34" charset="-122"/>
                <a:cs typeface="Roboto" pitchFamily="34" charset="-120"/>
              </a:rPr>
              <a:t>Target &amp; SLA: 0ms Atomic Cutover • 0 Dropped Turns • 74% Lower 1,000-Tenant TCO •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WS4 • Pattern C Hybrid PSC Bridge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Unifies a 2-question topology selector, 1,000-tenant FinOps TCO model, and 13/13 forensic gates.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2-Question Selector • BigQuery OTel FinOps • 10-SaaS AWS AgentCore MCP
</a:t>
            </a:r>
            <a:pPr indent="0" marL="0">
              <a:buNone/>
            </a:pPr>
            <a:r>
              <a:rPr lang="en-US" sz="730" dirty="0">
                <a:solidFill>
                  <a:srgbClr val="5F6368"/>
                </a:solidFill>
                <a:latin typeface="Roboto" pitchFamily="34" charset="0"/>
                <a:ea typeface="Roboto" pitchFamily="34" charset="-122"/>
                <a:cs typeface="Roboto" pitchFamily="34" charset="-120"/>
              </a:rPr>
              <a:t>Target &amp; SLA: 20/20 GCP + 30/30 SaaS Flows + 20 Before/After 3P UIs • 13/13 Forensic Gates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WS5 • Decision Guide &amp; Agentic Triad</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PROGRAM VERIFICATION 01 • LIVE GCP (#248990048888 / #48439189383) &amp; 10-SAAS AWS AGENTCORE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Unified 5-Hop ADK runtime certified across Pattern A Pool, Pattern B Sovereign Silo &amp; Pattern C Hybrid PSC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Cloud: GCP #248990048888 &amp; #48439189383 • AWS #393036065405</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20/20 GCP Simulations (10 Pool + 6 Silo + 4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30/30 10-SaaS AWS AgentCore MCP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PROGRAM VERIFICATION 02 • 20 BEFORE/AFTER 3RD-PARTY SAAS RETINA UI PROOFS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Metabase, Grafana, Redmine, NocoDB, Gitea, Trino, ClickHouse, Directus, Datalust Seq &amp; HashiCorp Vault 2880×1800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(10 SaaS Platforms)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Multi-Cloud: 43 Total Retina Captures (23 Baseline + 20 B/A)</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 10/10 Unit Tests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PROGRAM 01 • WS1–WS2 POOLED &amp; EDGE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OBO/DPoP Identity, 90% Cache &amp; 10/10 Breach PASS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&lt;0.15ms JWKS, AlloyDB FORCE RLS, Metabase BI v0.50.26, Trino SQL v440 &amp; Redmine ITSM v5.1 Before/After UIs.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PROGRAM 02 • WS3 SOVEREIGN SILOS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VPC-SC, &lt;60s CMEK Kill-Switch &amp; Gemma 3 27B</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6/6 sovereign perimeter tests plus NocoDB GxP 21 CFR Part 11 &amp; HashiCorp Vault &lt;60s HTTP 423 CMEK lock UIs.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PROGRAM 03 • WS4 HYBRID PSC UPGRADE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/28 PSC NAT &amp; 0ms Tier Cutover</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4/4 live promotion tests (0 dropped turns, 74% lower TCO) plus Grafana Enterprise &amp; Gitea live PSC UIs.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PROGRAM 04 • WS5 CAPSTONE &amp; 13/13 GATES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27-File Workbench, 15 Decks &amp; 60/60 SaaS Assertions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Unifies Terraform 2.6/3.6/4.6, zero-PII BigQuery OTel FinOps, Directus + Seq proofs, and 13/13 forensic gates.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Complete 5-Workstream Program • Dual-Plane GCP, 10-SaaS MCP &amp; 20 Before/After 3P UIs  •  Act III Forensic Verification Audit: Grounded Google Cloud CLI &amp; Telemetry…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Multi-Cloud &amp; 3P SaaS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AWS AgentCore, and Before/After 3rd-Party SaaS UI captures.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23 Multi-Cloud Retina Captures • 27 Workbench Files</a:t>
            </a:r>
            <a:endParaRPr lang="en-US" sz="740" dirty="0"/>
          </a:p>
        </p:txBody>
      </p:sp>
      <p:sp>
        <p:nvSpPr>
          <p:cNvPr id="43" name="Text 40"/>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2026-10-30T21:18:24Z</dcterms:created>
  <dcterms:modified xsi:type="dcterms:W3CDTF">2026-10-30T21:18:24Z</dcterms:modified>
</cp:coreProperties>
</file>