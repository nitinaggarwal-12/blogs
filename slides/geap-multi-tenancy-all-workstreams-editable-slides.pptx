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notesMasterIdLst>
    <p:notesMasterId r:id="rId6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GEAP Multi-Tenant Agentic AI: Pooled, Sovereign Silos &amp; Hybrid — Complete Program Deck
All 7 Google Cloud Architecture Center blueprints across Workstreams 1–5 as 100% editable slides
Series: Multi-Tenant Agentic AI on Google Cloud • Gemini Enterprise Agent Platform (GEAP)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Program Map • Workstreams 1–5
• Workstream 1 • Reference Architecture &amp; Cloud Architecture Center Doc PR
• Workstream 2 • Pattern A — High-Density Pooled Architecture
• Workstream 3 • Pattern B — Zero-Trust Sovereign Silos
• Workstream 4 • Pattern C — Dynamic Hybrid, PSC &amp; Live Tier Migration
• Workstream 5 • Decision Guide, Agentic Triad &amp; Program Wrap-up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Multi-Tenant Agentic AI on Google Cloud: Taxonomy &amp; 5-Hop Baseline (Workstream 1)
Pooled, Sovereign Silo &amp; Dynamic Hybrid topologies extending the Cloud Architecture Center hub-and-spoke reference for B2B ISV SaaS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TL;DR
• Official Architecture Center reference models one spoke project per business unit; 90%+ of B2B SaaS ISVs cannot afford that per Standard-tier tenant.
• Agents add four new failure modes: dynamic MCP discovery, confused-deputy credentials, context-cache bleed, and noisy-neighbor runaway reasoning loops.
• Workstream 1 defines Pattern A (Pooled), Pattern B (Sovereign Silos), and Pattern C (Dynamic Hybrid) on an 80% reusable core + 20% topology delta.
• A single 5-Hop Cryptographic Context Chain (hop1..hop5 Python modules) enforces identical governance across all three patterns.
• Deliverables: Doc PR for the Architecture Center (1.3), product review pack (1.2), and an EAP/product-gap ledger with 3 P0 workarounds (1.4).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GEAP Multi-Tenant Agentic AI Taxonomy: Pooled (A), Sovereign Silos (B) &amp; Hybrid (C)
B2B ISV SaaS Reference Architecture Expanding Google Cloud Architecture Center (Cymbal SaaS Serving FinVault &amp; RetailStream)
• Actor 'Competing B2B Tenants FinVault (OIDC) &amp; RetailStream (Entra)' enters at badge 1 Request and exits at badge 7 Response.
• Wrappers: 'Shared Control Plane &amp; Multi-Tenant Governance Perimeter (80% Reusable Core + 20% Topology Delta)' around the VPC.
• 'Routing hub (Hop 1 &amp; Hop 2 PEP/PDP)': Cloud Armor &amp; IAP strip X-Tenant-ID, Model Armor screen, OBO + DPoP, ALB, Cloud Run Router.
• 'Central governance and FinOps observability hub': SCC, Central IAM &amp; PAB Agent Identity (2LO/3LO), Cloud Logging &amp; BQ Zero-PII OTel.
• Badge 3 'Route by tenant tier (Pool, Silo or PSC)' decides topology; badge 7 'Sanitized response with SDP redaction' scrubs returns.
• Left 'Tenant Pool (Shared Runtime)' vs right 'Dedicated Sovereign Tenant Project' with 'CMEK Datastore AlloyDB, BQ &amp; KMS 423 Lock'.
Editable source: diagrams/ws1-multi-tenant-taxonomy-overview.drawio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GEAP Multi-Tenant Agentic AI Taxonomy: Pooled (A), Sovereign Silos (B) &amp; Hybrid (C)
B2B ISV SaaS Reference Architecture Expanding Google Cloud Architecture Center (Cymbal SaaS Serving FinVault &amp; RetailStream)
• Actor 'Competing B2B Tenants FinVault (OIDC) &amp; RetailStream (Entra)' enters at badge 1 Request and exits at badge 7 Response.
• Wrappers: 'Shared Control Plane &amp; Multi-Tenant Governance Perimeter (80% Reusable Core + 20% Topology Delta)' around the VPC.
• 'Routing hub (Hop 1 &amp; Hop 2 PEP/PDP)': Cloud Armor &amp; IAP strip X-Tenant-ID, Model Armor screen, OBO + DPoP, ALB, Cloud Run Router.
• 'Central governance and FinOps observability hub': SCC, Central IAM &amp; PAB Agent Identity (2LO/3LO), Cloud Logging &amp; BQ Zero-PII OTel.
• Badge 3 'Route by tenant tier (Pool, Silo or PSC)' decides topology; badge 7 'Sanitized response with SDP redaction' scrubs returns.
• Left 'Tenant Pool (Shared Runtime)' vs right 'Dedicated Sovereign Tenant Project' with 'CMEK Datastore AlloyDB, BQ &amp; KMS 423 Lock'.
Editable source: diagrams/ws1-multi-tenant-taxonomy-overview.drawio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component inventory for GEAP Multi-Tenant Agentic AI Taxonomy: Pooled (A), Sovereign Silos (B) &amp; Hybrid (C)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Cloud Architecture Center: Multi-Tenant Agentic AI with 5-Hop Cryptographic Governance
Official Hub-and-Spoke Reference Architecture (docs.cloud.google.com/architecture/multi-tenant-agentic-ai-system)
• Actor 'User OIDC / Entra JWT' with badges 1 Request and 7 Response mirrors the published hub-and-spoke article exactly.
• Outer wrapper 'Shared hubs (VPC Service Controls Organization Perimeter)' and inner 'VPC' are unchanged from the official reference.
• 'Routing hub (Hop 1 &amp; Hop 2)': Cloud Armor Strips Forged X-Tenant-ID, Model Armor Edge Prompt Injection Gate, IAP RFC 8693 OBO + DPoP.
• 'Central governance and security hub': Security Command Center, Central IAM Auth Manager (2LO / 3LO), Cloud Logging BigQuery OTel Sink.
• Dashed 'Security and observability' line fans to both spokes; badge 3 'Route request to tenant', badge 7 'Sanitized response from tenant'.
• 'PAB • Hop 3–5 Isolation Boundary' wraps Tenant A (FinVault, 8k Budget, Bank SDP &amp; OCC NLC) and Tenant B (RetailStream, 4k Cap, PCI).
Editable source: diagrams/ws1-cloud-arch-center-5hop-baseline.drawio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Cloud Architecture Center: Multi-Tenant Agentic AI with 5-Hop Cryptographic Governance
Official Hub-and-Spoke Reference Architecture (docs.cloud.google.com/architecture/multi-tenant-agentic-ai-system)
• Actor 'User OIDC / Entra JWT' with badges 1 Request and 7 Response mirrors the published hub-and-spoke article exactly.
• Outer wrapper 'Shared hubs (VPC Service Controls Organization Perimeter)' and inner 'VPC' are unchanged from the official reference.
• 'Routing hub (Hop 1 &amp; Hop 2)': Cloud Armor Strips Forged X-Tenant-ID, Model Armor Edge Prompt Injection Gate, IAP RFC 8693 OBO + DPoP.
• 'Central governance and security hub': Security Command Center, Central IAM Auth Manager (2LO / 3LO), Cloud Logging BigQuery OTel Sink.
• Dashed 'Security and observability' line fans to both spokes; badge 3 'Route request to tenant', badge 7 'Sanitized response from tenant'.
• 'PAB • Hop 3–5 Isolation Boundary' wraps Tenant A (FinVault, 8k Budget, Bank SDP &amp; OCC NLC) and Tenant B (RetailStream, 4k Cap, PCI).
Editable source: diagrams/ws1-cloud-arch-center-5hop-baseline.drawio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component inventory for Cloud Architecture Center: Multi-Tenant Agentic AI with 5-Hop Cryptographic Governance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Takeaways
• Agentic multi-tenancy needs controls at edge, registry, runtime, guardrail, and data layers; a tenant_id column is not isolation.
• Choose topology per tenant tier: Pattern A for Standard, Pattern B for regulator-mandated perimeters, Pattern C when you serve both.
• The 5-Hop chain is topology-agnostic code; the trust boundary changes, the governance modules do not.
• Prompt prefix caching is safe in a pool only when ContextCacheConfig is read-only on shared system instructions.
• Three P0 product gaps already have engineered workarounds; EAP allowlists target Q4 2026 for native support.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A — Pooled Architecture: One Shared Runtime, Two Competing Tenants, Zero Bleed
High-Density Pooled Multi-Tenancy on GEAP &amp; ADK 2.0 — 5-Hop Cryptographic Context Chain, 10-point breach suite, 90% ContextCacheConfig save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TL;DR
• Problem: dedicated projects per Standard-tier SaaS customer destroy gross margin, but naive shared runtimes leak agents, tools, caches and PII.
• Solution: one shared project (cymbal-pooled-saas-prod) governed by the 5-Hop Cryptographic Context Chain from edge PEP to AlloyDB RLS.
• FinVault Bank (Enterprise, Google OIDC/Jira) and RetailStream Corp (Standard, Entra ID/ServiceNow) share one runtime with 10/10 breach vectors blocked.
• ContextCacheConfig READ_ONLY_IMMUTABLE_PREFIX bills the 32,000-token operator prefix at a 90% discount for ~84.7% net input COGS reduction.
• Ships as Milestone 1 (Week 4) with a Terraform starter, 90-minute codelab, and locally runnable run_breach_simulations.py.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A: High-Density Pooled Multi-Tenant Architecture &amp; Shared Runtime Governance
Milestone 1 (Weeks 1–4) • Shared Project (cymbal-pooled-saas-prod) with 90% Prompt Prefix Cache Savings &amp; 0 Bleed
• One actor, 'FinVault &amp; RetailStream Competing SaaS Tenants', enters one 'Shared GCP Project: cymbal-pooled-saas-prod'.
• Routing hub 'Hop 1 &amp; Hop 2: Edge PEP &amp; GEAP Registry PDP': strip X-Tenant-ID, filter ARD catalog, mint OBO + DPoP token.
• Governance hub 'Hop 3 &amp; 5: Shared FinOps, Cache &amp; OTel Hub': ContextCacheConfig 90%, Redis Rate Bulkhead, BigQuery OTel Sink.
• Trunk badge 3 'Bind immutable temp:tenant_id' before any tenant code runs; badge 7 returns 'SDP-redacted tenant response'.
• Slice A FinVault: Model Armor masks IBAN/SWIFT + OCC NLC, Gemini &amp; Claude 3.7, 3LO Workspace/Jira, Shared AlloyDB RLS.
• Slice B RetailStream: Card PAN + PCI NLC, Gemini 2.5 Pro clamped to 4,000 tokens, 3LO Entra &amp; SNOW inline consent gate.
Editable source: diagrams/ws2-pattern-a-pooled-5hop-architecture.drawio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A: High-Density Pooled Multi-Tenant Architecture &amp; Shared Runtime Governance
Milestone 1 (Weeks 1–4) • Shared Project (cymbal-pooled-saas-prod) with 90% Prompt Prefix Cache Savings &amp; 0 Bleed
• One actor, 'FinVault &amp; RetailStream Competing SaaS Tenants', enters one 'Shared GCP Project: cymbal-pooled-saas-prod'.
• Routing hub 'Hop 1 &amp; Hop 2: Edge PEP &amp; GEAP Registry PDP': strip X-Tenant-ID, filter ARD catalog, mint OBO + DPoP token.
• Governance hub 'Hop 3 &amp; 5: Shared FinOps, Cache &amp; OTel Hub': ContextCacheConfig 90%, Redis Rate Bulkhead, BigQuery OTel Sink.
• Trunk badge 3 'Bind immutable temp:tenant_id' before any tenant code runs; badge 7 returns 'SDP-redacted tenant response'.
• Slice A FinVault: Model Armor masks IBAN/SWIFT + OCC NLC, Gemini &amp; Claude 3.7, 3LO Workspace/Jira, Shared AlloyDB RLS.
• Slice B RetailStream: Card PAN + PCI NLC, Gemini 2.5 Pro clamped to 4,000 tokens, 3LO Entra &amp; SNOW inline consent gate.
Editable source: diagrams/ws2-pattern-a-pooled-5hop-architecture.drawio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component inventory for Pattern A: High-Density Pooled Multi-Tenant Architecture &amp; Shared Runtime Governance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Pattern A: 10-Point Cross-Tenant Breach Simulation &amp; Cryptographic Defense Matrix
Workstream 2.2 &amp; 2.5 (run_breach_simulations.py) • 10/10 Adversarial Vectors Neutralized Across Hops 1–5
• Same geometry as Figure 1, relabeled as gates: 'Red-Team Attacker Spoofed Headers &amp; Injections' probes, badge 7 returns 'Blocked / Safe'.
• 'Hop 1 &amp; Hop 2 Gates (Vectors 1, 2, 3 &amp; 10)': header strip, Agent 403, tool prune of FinVault Jira MCP.
• 'Hop 3 &amp; 5 FinOps &amp;' hub: Vector 6 Redis 429 &amp; 4k clamp, Vector 10 inline 3LO, BigQuery OTel logs every blocked vector.
• 'Hop 4 Guardrail Gates (Vectors 4, 5 &amp; 8)': HTTP 400 SQLi/cache dump, HTTP 422 NLC, SDP mask IBAN/SWIFT/PAN, zero raw PII egress.
• 'Hop 3 &amp; Hop 5 Storage Gates (Vectors 7 &amp; 9)': L4 memory, GCS skills, READ_ONLY_IMMUTABLE_PREFIX cache, AlloyDB RLS SET LOCAL.
• Dashed governance line: 'Real-time security violation spans' — every denial is a queryable audit record.
Editable source: diagrams/ws2-pattern-a-breach-defense-sequence.drawio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Pattern A: 10-Point Cross-Tenant Breach Simulation &amp; Cryptographic Defense Matrix
Workstream 2.2 &amp; 2.5 (run_breach_simulations.py) • 10/10 Adversarial Vectors Neutralized Across Hops 1–5
• Same geometry as Figure 1, relabeled as gates: 'Red-Team Attacker Spoofed Headers &amp; Injections' probes, badge 7 returns 'Blocked / Safe'.
• 'Hop 1 &amp; Hop 2 Gates (Vectors 1, 2, 3 &amp; 10)': header strip, Agent 403, tool prune of FinVault Jira MCP.
• 'Hop 3 &amp; 5 FinOps &amp;' hub: Vector 6 Redis 429 &amp; 4k clamp, Vector 10 inline 3LO, BigQuery OTel logs every blocked vector.
• 'Hop 4 Guardrail Gates (Vectors 4, 5 &amp; 8)': HTTP 400 SQLi/cache dump, HTTP 422 NLC, SDP mask IBAN/SWIFT/PAN, zero raw PII egress.
• 'Hop 3 &amp; Hop 5 Storage Gates (Vectors 7 &amp; 9)': L4 memory, GCS skills, READ_ONLY_IMMUTABLE_PREFIX cache, AlloyDB RLS SET LOCAL.
• Dashed governance line: 'Real-time security violation spans' — every denial is a queryable audit record.
Editable source: diagrams/ws2-pattern-a-breach-defense-sequence.drawio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component inventory for Pattern A: 10-Point Cross-Tenant Breach Simulation &amp; Cryptographic Defense Matrix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— Pattern A Demo Environment &amp; 3P Auth Sandbox: Pooled Project, Federated IdPs, OAuth 2LO/3LO Apps, Redis &amp; Firestore Tenant Config
Provisioning Topology for cymbal-pooled-saas-prod (us-central1) Seeding FinVault Bank (Google OIDC + Jira) &amp; RetailStream Corp (Entra ID + SharePoint/ServiceNow)
• One shared project (cymbal-pooled-saas-prod, us-central1) with 12 enabled APIs hosts both demo tenants; isolation is logical, not per-project.
• Routing hub is the Hop 1 front door: Cloud Armor cymbal-pooled-edge-waf (rule 1000 SQLi/XSS deny-403) plus the Edge PEP that strips forged X-Tenant-ID headers.
• Left spoke wires FinVault Bank: a Google OAuth 2.0 Client ID on finvault.com, Workspace 3LO scopes (drive, calendar, gmail) and Jira read/write:jira-work.
• Right spoke wires RetailStream Corp with zero Google footprint: Entra app Cymbal-RetailStream-Agent-Client, Graph Sites.Read.All, ServiceNow useraccount.
• Governance hub holds the shared setup: Agent Identity (Auth Manager) scope registry, Cloud KMS for CMEK and BigQuery for OpenTelemetry audit.
• Firestore seeds tier, thinking budget (8000 vs 4000), Redis rpm (600 vs 120) and allowed_agents per tenant; the 2.5 breach suite verifies the whole sandbox.
Editable source: diagrams/ws2-demo-env-and-3p-auth-sandbox-topology.drawio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— Pattern A Demo Environment &amp; 3P Auth Sandbox: Pooled Project, Federated IdPs, OAuth 2LO/3LO Apps, Redis &amp; Firestore Tenant Config
Provisioning Topology for cymbal-pooled-saas-prod (us-central1) Seeding FinVault Bank (Google OIDC + Jira) &amp; RetailStream Corp (Entra ID + SharePoint/ServiceNow)
• One shared project (cymbal-pooled-saas-prod, us-central1) with 12 enabled APIs hosts both demo tenants; isolation is logical, not per-project.
• Routing hub is the Hop 1 front door: Cloud Armor cymbal-pooled-edge-waf (rule 1000 SQLi/XSS deny-403) plus the Edge PEP that strips forged X-Tenant-ID headers.
• Left spoke wires FinVault Bank: a Google OAuth 2.0 Client ID on finvault.com, Workspace 3LO scopes (drive, calendar, gmail) and Jira read/write:jira-work.
• Right spoke wires RetailStream Corp with zero Google footprint: Entra app Cymbal-RetailStream-Agent-Client, Graph Sites.Read.All, ServiceNow useraccount.
• Governance hub holds the shared setup: Agent Identity (Auth Manager) scope registry, Cloud KMS for CMEK and BigQuery for OpenTelemetry audit.
• Firestore seeds tier, thinking budget (8000 vs 4000), Redis rpm (600 vs 120) and allowed_agents per tenant; the 2.5 breach suite verifies the whole sandbox.
Editable source: diagrams/ws2-demo-env-and-3p-auth-sandbox-topology.drawio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component inventory for Pattern A Demo Environment &amp; 3P Auth Sandbox: Pooled Project, Federated IdPs, OAuth 2LO/3LO Apps, Redis &amp; Firestore Tenant Config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4 — Pattern A 1-Click Terraform Starter: Provider → Cloud Armor WAF → Cloud Run v2 GEAP Gateway → Redis / KMS CMEK → BigQuery OTel Resource Graph
hashicorp/google &gt;= 5.30.0 on Terraform &gt;= 1.5.0 • project_id cymbal-pooled-saas-prod • region us-central1 • Hop 1, Hop 3 &amp; Hop 5 Resources
• A single root module (main.tf + variables.tf) on Terraform &gt;= 1.5.0 with hashicorp/google &gt;= 5.30.0 deploys the pooled Pattern A core in one apply.
• Routing hub is Hop 1: google_compute_security_policy.cymbal_pooled_waf with a deny(403) SQLi/XSS rule at priority 1000 and a default SRC_IPS_V1 allow.
• Left spoke is the runtime graph: google_cloud_run_v2_service.cymbal_pooled_gateway, Gen2 gVisor, internal-LB ingress and env vars referencing other resources.
• Right spoke is the data graph: google_redis_instance.tenant_token_bulkhead (REDIS_7_0, STANDARD_HA, 5 GB); AlloyDB RLS and Firestore are provisioned in 2.2.
• Governance hub covers keys and audit: cymbal-pooled-tenant-kr key ring, finvault-agent-memory-cmek (90-day rotation), BigQuery dataset cymbal_multi_tenant_otel.
• Two outputs close the loop — pooled_gateway_uri and redis_bulkhead_host — so downstream workstreams can bind to the deployed resources without hardcoding.
Editable source: diagrams/ws2-terraform-starter-resource-graph.drawio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4 — Pattern A 1-Click Terraform Starter: Provider → Cloud Armor WAF → Cloud Run v2 GEAP Gateway → Redis / KMS CMEK → BigQuery OTel Resource Graph
hashicorp/google &gt;= 5.30.0 on Terraform &gt;= 1.5.0 • project_id cymbal-pooled-saas-prod • region us-central1 • Hop 1, Hop 3 &amp; Hop 5 Resources
• A single root module (main.tf + variables.tf) on Terraform &gt;= 1.5.0 with hashicorp/google &gt;= 5.30.0 deploys the pooled Pattern A core in one apply.
• Routing hub is Hop 1: google_compute_security_policy.cymbal_pooled_waf with a deny(403) SQLi/XSS rule at priority 1000 and a default SRC_IPS_V1 allow.
• Left spoke is the runtime graph: google_cloud_run_v2_service.cymbal_pooled_gateway, Gen2 gVisor, internal-LB ingress and env vars referencing other resources.
• Right spoke is the data graph: google_redis_instance.tenant_token_bulkhead (REDIS_7_0, STANDARD_HA, 5 GB); AlloyDB RLS and Firestore are provisioned in 2.2.
• Governance hub covers keys and audit: cymbal-pooled-tenant-kr key ring, finvault-agent-memory-cmek (90-day rotation), BigQuery dataset cymbal_multi_tenant_otel.
• Two outputs close the loop — pooled_gateway_uri and redis_bulkhead_host — so downstream workstreams can bind to the deployed resources without hardcoding.
Editable source: diagrams/ws2-terraform-starter-resource-graph.drawio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4 component inventory for Pattern A 1-Click Terraform Starter: Provider → Cloud Armor WAF → Cloud Run v2 GEAP Gateway → Redis / KMS CMEK → BigQuery OTel Resource Graph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Takeaways
• Pooled density and zero-bleed isolation are compatible when tenant identity is cryptographic and enforced at every hop, not just the gateway.
• Shared compute (gVisor pods) and shared storage (AlloyDB RLS) plus tenant-scoped policy is the whole Pattern A picture.
• Read-only immutable prefix caching is both the FinOps lever (90% prefix discount) and a security control (no suffix write-back).
• Verify architecture with a deterministic red-team suite that asserts status codes, decisions and payloads for all 10 vectors.
• Graduate tenants to Pattern B Sovereign Silos only when they mandate VPC-SC, project separation, CMEK kill-switch or air-gapped Gemma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B — Sovereign Silos: One Project, One Perimeter, One Key per Tenant
Reusing the 80% 5-Hop Cymbal core inside dedicated VPC-SC / PAB / CMEK tenant projects with air-gapped Gemma 3 on GKE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TL;DR
• Regulated tenants (OCC/FDIC, DORA, HIPAA, public sector) often prohibit shared compute, shared databases, and platform-owned keys.
• Pattern B keeps core-cymbal-agent unchanged and adds a 20% delta: mTLS SPIFFE pinning, IAM PAB, VPC-SC perimeter, CMEK kill-switch, Gemma 3 on GKE.
• Each tenant gets a dedicated project: cymbal-finvault-silo-prod and cymbal-retailstream-silo-prod, each with its own agent-memory-cmek key.
• Revoking the tenant CMEK halts every agent turn at Hop 3 with HTTP 423 KMS_KEY_DISABLED; all 6 sovereign security tests pass.
• Trade-off: zero noisy neighbours and simple per-project quotas versus a higher per-tenant infrastructure floor and multi-project operations.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B: Zero-Trust Sovereign Silos (VPC-SC, IAM PAB, CMEK &amp; Air-Gapped Gemma 3 on GKE)
Milestone 2 (Weeks 4–7) • Dedicated Per-Tenant GCP Projects with Physical Isolation &amp; Instant HTTP 423 CMEK Lock
• Follow badges 1→7: mTLS Request enters from the SPIFFE clients; Silo Response or HTTP 423 Locked returns on the same trunk.
• Routing hub: Cloud Armor SPIFFE pinning, Model Armor edge filter, IAM PAB Verifier, External ALB, Sovereign Hub Router.
• Governance hub: Security Command Center, Cloud KMS / EKM Key, and the Silo Security Suite 6/6 Sovereign Tests PASS card.
• Dashed line 'CMEK state &amp; VPC-SC audit monitoring' feeds both silos — the signal Hop 3 uses to refuse work instantly.
• Left spoke: Perimeter Alpha / cymbal-finvault-silo-prod with Gemma 3 (27B) GKE air-gapped inference and Private GKE Zero Egress.
• Right spoke: Perimeter Beta / cymbal-retailstream-silo-prod with Gemini 2.5 Pro PT and Local Silo MCP Entra SharePoint &amp; SNOW.
Editable source: diagrams/ws3-pattern-b-sovereign-silos-architecture.drawio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B: Zero-Trust Sovereign Silos (VPC-SC, IAM PAB, CMEK &amp; Air-Gapped Gemma 3 on GKE)
Milestone 2 (Weeks 4–7) • Dedicated Per-Tenant GCP Projects with Physical Isolation &amp; Instant HTTP 423 CMEK Lock
• Follow badges 1→7: mTLS Request enters from the SPIFFE clients; Silo Response or HTTP 423 Locked returns on the same trunk.
• Routing hub: Cloud Armor SPIFFE pinning, Model Armor edge filter, IAM PAB Verifier, External ALB, Sovereign Hub Router.
• Governance hub: Security Command Center, Cloud KMS / EKM Key, and the Silo Security Suite 6/6 Sovereign Tests PASS card.
• Dashed line 'CMEK state &amp; VPC-SC audit monitoring' feeds both silos — the signal Hop 3 uses to refuse work instantly.
• Left spoke: Perimeter Alpha / cymbal-finvault-silo-prod with Gemma 3 (27B) GKE air-gapped inference and Private GKE Zero Egress.
• Right spoke: Perimeter Beta / cymbal-retailstream-silo-prod with Gemini 2.5 Pro PT and Local Silo MCP Entra SharePoint &amp; SNOW.
Editable source: diagrams/ws3-pattern-b-sovereign-silos-architecture.drawio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component inventory for Pattern B: Zero-Trust Sovereign Silos (VPC-SC, IAM PAB, CMEK &amp; Air-Gapped Gemma 3 on GKE)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Pattern B Provisioning Topology: Org → Per-Tenant Silo Projects, VPC-SC Perimeters, IAM PAB &amp; Cloud KMS CMEK Keys
Setup Multi-Project Silo Demo &amp; Cloud KMS CMEK Keys • cymbal-finvault-silo-prod &amp; cymbal-retailstream-silo-prod (us-central1)
• One org, two dedicated tenant projects — cymbal-finvault-silo-prod and cymbal-retailstream-silo-prod — created under ORG_ID and linked to one billing account.
• Bootstrap enables seven silo APIs per project: aiplatform, discoveryengine, modelarmor, container, cloudkms, alloydb and accesscontextmanager.
• Per-tenant Cloud KMS: key ring finvault-kr in us-central1 with crypto key agent-memory-cmek, purpose encryption, 90-day (7776000s) rotation.
• The Vertex AI service agent (service-&lt;PROJECT_NUMBER&gt;@gcp-sa-aiplatform) receives roles/cloudkms.cryptoKeyEncrypterDecrypter on the tenant key only.
• Org-level IAM Principal Access Boundary finvault-sovereign-pab restricts FinVault principals strictly to the FinVault silo project resource.
• Step 7 closes the loop: run_silo_security_tests.py replays perimeter exfiltration and CMEK revocation checks before the silo is declared live.
Editable source: diagrams/ws3-multi-project-silo-and-cmek-setup-topology.drawio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Pattern B Provisioning Topology: Org → Per-Tenant Silo Projects, VPC-SC Perimeters, IAM PAB &amp; Cloud KMS CMEK Keys
Setup Multi-Project Silo Demo &amp; Cloud KMS CMEK Keys • cymbal-finvault-silo-prod &amp; cymbal-retailstream-silo-prod (us-central1)
• One org, two dedicated tenant projects — cymbal-finvault-silo-prod and cymbal-retailstream-silo-prod — created under ORG_ID and linked to one billing account.
• Bootstrap enables seven silo APIs per project: aiplatform, discoveryengine, modelarmor, container, cloudkms, alloydb and accesscontextmanager.
• Per-tenant Cloud KMS: key ring finvault-kr in us-central1 with crypto key agent-memory-cmek, purpose encryption, 90-day (7776000s) rotation.
• The Vertex AI service agent (service-&lt;PROJECT_NUMBER&gt;@gcp-sa-aiplatform) receives roles/cloudkms.cryptoKeyEncrypterDecrypter on the tenant key only.
• Org-level IAM Principal Access Boundary finvault-sovereign-pab restricts FinVault principals strictly to the FinVault silo project resource.
• Step 7 closes the loop: run_silo_security_tests.py replays perimeter exfiltration and CMEK revocation checks before the silo is declared live.
Editable source: diagrams/ws3-multi-project-silo-and-cmek-setup-topology.drawio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component inventory for Pattern B Provisioning Topology: Org → Per-Tenant Silo Projects, VPC-SC Perimeters, IAM PAB &amp; Cloud KMS CMEK Keys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— Terraform Blueprint Resource Graph: Provider → Cloud KMS CMEK → VPC-SC Perimeter → Sovereign VPC → Private Air-Gapped GKE (Gemma 3)
main.tf / variables.tf / terraform.tfvars.example • hashicorp/google &gt;= 5.30.0 • terraform init → plan → apply
• A single root module (Terraform &gt;= 1.5.0, hashicorp/google &gt;= 5.30.0) provisions one sovereign silo per tenant from five variables in terraform.tfvars.
• google_kms_key_ring.tenant_silo_keyring (${tenant_id}-sovereign-kr) and google_kms_crypto_key.tenant_agent_cmek (agent-memory-cmek, 90-day rotation) come first.
• google_access_context_manager_service_perimeter.tenant_sovereign_perimeter binds projects/${tenant_silo_project_number} and restricts eight APIs.
• Restricted services: aiplatform, discoveryengine, modelarmor, alloydb, bigquery, storage, cloudkms and container — no path out of the perimeter.
• google_compute_network.tenant_silo_vpc and tenant_silo_subnet (10.40.0.0/20, Private Google Access) host the private GKE Autopilot cluster.
• google_container_cluster.airgapped_gemma3_cluster uses private nodes/endpoint and database_encryption.key_name = the CMEK key, surfaced via two outputs.
Editable source: diagrams/ws3-terraform-silo-blueprint-resource-graph.drawio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— Terraform Blueprint Resource Graph: Provider → Cloud KMS CMEK → VPC-SC Perimeter → Sovereign VPC → Private Air-Gapped GKE (Gemma 3)
main.tf / variables.tf / terraform.tfvars.example • hashicorp/google &gt;= 5.30.0 • terraform init → plan → apply
• A single root module (Terraform &gt;= 1.5.0, hashicorp/google &gt;= 5.30.0) provisions one sovereign silo per tenant from five variables in terraform.tfvars.
• google_kms_key_ring.tenant_silo_keyring (${tenant_id}-sovereign-kr) and google_kms_crypto_key.tenant_agent_cmek (agent-memory-cmek, 90-day rotation) come first.
• google_access_context_manager_service_perimeter.tenant_sovereign_perimeter binds projects/${tenant_silo_project_number} and restricts eight APIs.
• Restricted services: aiplatform, discoveryengine, modelarmor, alloydb, bigquery, storage, cloudkms and container — no path out of the perimeter.
• google_compute_network.tenant_silo_vpc and tenant_silo_subnet (10.40.0.0/20, Private Google Access) host the private GKE Autopilot cluster.
• google_container_cluster.airgapped_gemma3_cluster uses private nodes/endpoint and database_encryption.key_name = the CMEK key, surfaced via two outputs.
Editable source: diagrams/ws3-terraform-silo-blueprint-resource-graph.drawio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component inventory for Terraform Blueprint Resource Graph: Provider → Cloud KMS CMEK → VPC-SC Perimeter → Sovereign VPC → Private Air-Gapped GKE (Gemma 3)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Takeaways
• Choose Pattern B only when a contract demands a dedicated blast radius, a customer-revocable key, or no multi-tenant model endpoints.
• Keep the governance code identical across patterns; pay for infrastructure, not for a second engineering team.
• PAB answers 'which projects may this principal ever reach?' — it blocks lateral movement even when another project's IAM is wrong.
• Make the tenant CMEK the single dependency for runtime, memory, data, and audit so one key disable is a complete kill-switch.
• Prove every control with the 6-test suite before onboarding, and keep the results visible on the architecture diagram.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C — Dynamic Hybrid: One Control Plane, Pooled &amp; Sovereign Tiers, Live Upgrades
Tenant-aware hub routing Standard to a shared pool and Enterprise over Private Service Connect to CMEK spokes, with 0-dropped-turn upgrades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TL;DR
• Tiered SaaS needs Pattern A economics for Standard and Pattern B sovereignty for Enterprise — Pattern C serves both behind one SaaS URL.
• Unified Hybrid Control Hub (cymbal-hybrid-hub-prod): Cloud Armor/IAP, Cloud Run Router, Firestore Route Table, Cross-Project ARD Federated GEAP Registry.
• RetailStream (Standard) runs in the Shared Pooled Runtime at a 4,000 thinking cap; FinVault (Enterprise) is reached over PSC at psc://10.10.0.50.
• 3-Phase engine (SHADOW_SYNC → ATOMIC_CUTOVER → DRAIN_AND_VERIFY) promotes RetailStream to its own CMEK PSC spoke on the same live session.
• 4.5 suite verifies 4/4 PASS: 0 ms replication lag, 0 dropped sessions, 8,000 budget unclamped, rs-agent-cmek bound, zero global state bleed.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C: Dynamic Hybrid Hub-and-Spoke, Private Service Connect &amp; Live Tier Migration
Milestone 3 (Weeks 7–10) • Unified Control Plane Routing Standard to Shared Pool &amp; Enterprise to PSC Spokes (0 Dropped Turns)
• Start at the actor: Standard &amp; Enterprise Single Unified SaaS URL — one hostname for both tiers, step 1 Request in, step 7 Response out.
• Routing hub: Cloud Armor &amp; IAP + OBO/DPoP, Cross-Project ARD Federated GEAP Registry, Firestore Route Table, ALB, Cloud Run Router.
• Governance hub: 3-Phase Zero-Downtime Tier Migration Engine — SHADOW_SYNC (0ms Lag Copy), ATOMIC_CUTOVER, DRAIN_AND_VERIFY (4/4 PASS).
• Trunk badge 3 'Route Standard to Pool or Enterprise via PSC' fans out; badge 7 'Seamless response (0 dropped sessions)' returns.
• Left spoke: Shared Pooled Runtime with Gemini 2.5 Pro 4,000 Thinking Cap + Cache and Shared AlloyDB RLS that Streams State to PSC Spoke.
• Right spoke: Dedicated Enterprise PSC Spokes, Unidirectional PSC Bridge, CMEK Spoke AlloyDB; dashed Live promotion: Pool -&gt; PSC Spoke.
Editable source: diagrams/ws4-pattern-c-hybrid-psc-and-migration.drawio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C: Dynamic Hybrid Hub-and-Spoke, Private Service Connect &amp; Live Tier Migration
Milestone 3 (Weeks 7–10) • Unified Control Plane Routing Standard to Shared Pool &amp; Enterprise to PSC Spokes (0 Dropped Turns)
• Start at the actor: Standard &amp; Enterprise Single Unified SaaS URL — one hostname for both tiers, step 1 Request in, step 7 Response out.
• Routing hub: Cloud Armor &amp; IAP + OBO/DPoP, Cross-Project ARD Federated GEAP Registry, Firestore Route Table, ALB, Cloud Run Router.
• Governance hub: 3-Phase Zero-Downtime Tier Migration Engine — SHADOW_SYNC (0ms Lag Copy), ATOMIC_CUTOVER, DRAIN_AND_VERIFY (4/4 PASS).
• Trunk badge 3 'Route Standard to Pool or Enterprise via PSC' fans out; badge 7 'Seamless response (0 dropped sessions)' returns.
• Left spoke: Shared Pooled Runtime with Gemini 2.5 Pro 4,000 Thinking Cap + Cache and Shared AlloyDB RLS that Streams State to PSC Spoke.
• Right spoke: Dedicated Enterprise PSC Spokes, Unidirectional PSC Bridge, CMEK Spoke AlloyDB; dashed Live promotion: Pool -&gt; PSC Spoke.
Editable source: diagrams/ws4-pattern-c-hybrid-psc-and-migration.drawio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component inventory for Pattern C: Dynamic Hybrid Hub-and-Spoke, Private Service Connect &amp; Live Tier Migration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Pattern C Demo Environment: Central Ingress Hub, Shared Pool &amp; PSC Service Attachment Spokes
Provisioning Topology • cymbal-hybrid-hub-prod Consumer Endpoints (10.10.0.50/.51) → Producer ServiceAttachments in Tenant Spokes (us-central1)
• One hub project (cymbal-hybrid-hub-prod, cymbal-hub-vpc / cymbal-hub-subnet) fronts both tiers behind a single Global ALB + Cloud Armor + IAP URL.
• The Firestore routing table and cross-project GEAP registry decide per tenant: Standard → pool://cymbal-shared-pooled-runtime-v2, Enterprise → psc://.
• Producer side lives in the tenant spoke: a 10.40.240.0/24 PSC NAT subnet plus finvault-agent-spoke-psc (ACCEPT_MANUAL, accept-list hub project = 10).
• Consumer side lives in the hub: reserve psc-endpoint-finvault-ip (10.10.0.50) and bind psc-consumer-finvault to the spoke's ServiceAttachment URI.
• PSC is NAT-based, so every spoke may reuse 10.40.0.0/20 with no CIDR overlap, and exposure is unidirectional — spokes cannot reach back into the hub VPC.
• Step 7 closes the loop: run_tier_migration_suite.py verifies hybrid routing and the live tier upgrade locally before any customer traffic hits the demo.
Editable source: diagrams/ws4-hub-and-spoke-demo-env-setup-topology.drawio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Pattern C Demo Environment: Central Ingress Hub, Shared Pool &amp; PSC Service Attachment Spokes
Provisioning Topology • cymbal-hybrid-hub-prod Consumer Endpoints (10.10.0.50/.51) → Producer ServiceAttachments in Tenant Spokes (us-central1)
• One hub project (cymbal-hybrid-hub-prod, cymbal-hub-vpc / cymbal-hub-subnet) fronts both tiers behind a single Global ALB + Cloud Armor + IAP URL.
• The Firestore routing table and cross-project GEAP registry decide per tenant: Standard → pool://cymbal-shared-pooled-runtime-v2, Enterprise → psc://.
• Producer side lives in the tenant spoke: a 10.40.240.0/24 PSC NAT subnet plus finvault-agent-spoke-psc (ACCEPT_MANUAL, accept-list hub project = 10).
• Consumer side lives in the hub: reserve psc-endpoint-finvault-ip (10.10.0.50) and bind psc-consumer-finvault to the spoke's ServiceAttachment URI.
• PSC is NAT-based, so every spoke may reuse 10.40.0.0/20 with no CIDR overlap, and exposure is unidirectional — spokes cannot reach back into the hub VPC.
• Step 7 closes the loop: run_tier_migration_suite.py verifies hybrid routing and the live tier upgrade locally before any customer traffic hits the demo.
Editable source: diagrams/ws4-hub-and-spoke-demo-env-setup-topology.drawio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component inventory for Pattern C Demo Environment: Central Ingress Hub, Shared Pool &amp; PSC Service Attachment Spokes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— Zero-Downtime Tier Upgrade Test Sequence: SHADOW_SYNC → ATOMIC_CUTOVER → DRAIN_AND_VERIFY (4/4 PASS)
run_tier_migration_suite.py • Promotes retailstream Mid-Session from pool:// (4,000 cap) to psc://10.10.0.51 (8,000 budget + CMEK) with dropped_sessions == 0
• run_tier_migration_suite.py drives PatternCHybridRouterAndMigrator through 4 assertions-backed tests; nothing mutates the global TENANT_PROFILES.
• TEST 1A/1B fix the baseline: retailstream → PATTERN_C_HYBRID_POOL clamped to 4,000 tokens; finvault → PATTERN_C_HYBRID_PSC_SPOKE over psc:// with 8,000.
• TEST 2 runs the 3-phase engine: SHADOW_SYNC (replication_lag_ms == 0, PSC_CONNECTION_ACCEPTED) → ATOMIC_CUTOVER → DRAIN_AND_VERIFY (dropped_sessions == 0).
• The cutover flips routing_table['retailstream'] to tier ENTERPRISE, budget 8,000, target psc://10.10.0.51/... and state UPGRADED_ZERO_DOWNTIME_SPOKE.
• TEST 3 reuses the same session_id (sess-rs-live-upgrade-01) and asserts PSC routing, thinking_budget_clamped is False, and rs-agent-cmek in cmek_key_uri.
• Left spoke = the pooled source rows stream from; right spoke = cymbal-retailstream-spoke-prod, the CMEK target that status MIGRATION_COMPLETE confirms.
Editable source: diagrams/ws4-zero-downtime-tier-upgrade-sequence.drawio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— Zero-Downtime Tier Upgrade Test Sequence: SHADOW_SYNC → ATOMIC_CUTOVER → DRAIN_AND_VERIFY (4/4 PASS)
run_tier_migration_suite.py • Promotes retailstream Mid-Session from pool:// (4,000 cap) to psc://10.10.0.51 (8,000 budget + CMEK) with dropped_sessions == 0
• run_tier_migration_suite.py drives PatternCHybridRouterAndMigrator through 4 assertions-backed tests; nothing mutates the global TENANT_PROFILES.
• TEST 1A/1B fix the baseline: retailstream → PATTERN_C_HYBRID_POOL clamped to 4,000 tokens; finvault → PATTERN_C_HYBRID_PSC_SPOKE over psc:// with 8,000.
• TEST 2 runs the 3-phase engine: SHADOW_SYNC (replication_lag_ms == 0, PSC_CONNECTION_ACCEPTED) → ATOMIC_CUTOVER → DRAIN_AND_VERIFY (dropped_sessions == 0).
• The cutover flips routing_table['retailstream'] to tier ENTERPRISE, budget 8,000, target psc://10.10.0.51/... and state UPGRADED_ZERO_DOWNTIME_SPOKE.
• TEST 3 reuses the same session_id (sess-rs-live-upgrade-01) and asserts PSC routing, thinking_budget_clamped is False, and rs-agent-cmek in cmek_key_uri.
• Left spoke = the pooled source rows stream from; right spoke = cymbal-retailstream-spoke-prod, the CMEK target that status MIGRATION_COMPLETE confirms.
Editable source: diagrams/ws4-zero-downtime-tier-upgrade-sequence.drawio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component inventory for Zero-Downtime Tier Upgrade Test Sequence: SHADOW_SYNC → ATOMIC_CUTOVER → DRAIN_AND_VERIFY (4/4 PASS)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4 — Terraform Hybrid PSC Blueprint Resource Graph: Hub VPC → Consumer PSC Endpoint → Producer ServiceAttachment in Enterprise Spoke
main.tf (google &gt;= 5.30.0, terraform &gt;= 1.5.0) • Dual Provider Aliases google.hub / google.spoke • Outputs psc_service_attachment_uri &amp; hub_psc_consumer_ip
• main.tf pins terraform &gt;= 1.5.0 and hashicorp/google &gt;= 5.30.0, then declares two provider aliases — google.hub and google.spoke — fed by five variables.
• Hub side: google_compute_network.cymbal_hub_vpc (cymbal-hybrid-hub-vpc) and cymbal_hub_subnet at 10.10.0.0/20 with private Google access enabled.
• Spoke side: enterprise_spoke_vpc, a 10.40.240.0/24 PRIVATE_SERVICE_CONNECT NAT subnet, and ${tenant}-agent-spoke-psc with ACCEPT_MANUAL and connection_limit 20.
• The consumer bridge is two resources: google_compute_address.hub_psc_consumer_ip (10.10.0.50) and google_compute_forwarding_rule.hub_psc_consumer_endpoint.
• Two outputs — psc_service_attachment_uri and hub_psc_consumer_ip — feed the 4.3 router's Firestore route table; those hub consumers are not resources here.
• tfvars example targets cymbal-hybrid-hub-prod ↔ cymbal-finvault-silo-prod with finvault-spoke-ilb as target_service; README quickstart is init → plan → apply.
Editable source: diagrams/ws4-terraform-hybrid-psc-blueprint-resource-graph.drawio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4 — Terraform Hybrid PSC Blueprint Resource Graph: Hub VPC → Consumer PSC Endpoint → Producer ServiceAttachment in Enterprise Spoke
main.tf (google &gt;= 5.30.0, terraform &gt;= 1.5.0) • Dual Provider Aliases google.hub / google.spoke • Outputs psc_service_attachment_uri &amp; hub_psc_consumer_ip
• main.tf pins terraform &gt;= 1.5.0 and hashicorp/google &gt;= 5.30.0, then declares two provider aliases — google.hub and google.spoke — fed by five variables.
• Hub side: google_compute_network.cymbal_hub_vpc (cymbal-hybrid-hub-vpc) and cymbal_hub_subnet at 10.10.0.0/20 with private Google access enabled.
• Spoke side: enterprise_spoke_vpc, a 10.40.240.0/24 PRIVATE_SERVICE_CONNECT NAT subnet, and ${tenant}-agent-spoke-psc with ACCEPT_MANUAL and connection_limit 20.
• The consumer bridge is two resources: google_compute_address.hub_psc_consumer_ip (10.10.0.50) and google_compute_forwarding_rule.hub_psc_consumer_endpoint.
• Two outputs — psc_service_attachment_uri and hub_psc_consumer_ip — feed the 4.3 router's Firestore route table; those hub consumers are not resources here.
• tfvars example targets cymbal-hybrid-hub-prod ↔ cymbal-finvault-silo-prod with finvault-spoke-ilb as target_service; README quickstart is init → plan → apply.
Editable source: diagrams/ws4-terraform-hybrid-psc-blueprint-resource-graph.drawio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4 component inventory for Terraform Hybrid PSC Blueprint Resource Graph: Hub VPC → Consumer PSC Endpoint → Producer ServiceAttachment in Enterprise Spoke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Takeaways
• Pattern C routes isolation instead of duplicating it: one control plane, one URL, two execution tiers.
• Routing is keyed only on the Hop 1 cryptographic tenant_id — a client header can never claim Enterprise tier.
• Instance-scoped profile mutation makes the live upgrade safe: zero global state bleed across tenants or test runs.
• Private Service Connect removes CIDR overlap and VPC-peering limits while keeping spokes unidirectional and VPC-SC compatible.
• The migration is measurable: 0 ms lag, 0 dropped sessions, same session id, 4/4 suite gates passing.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Pooled, Siloed, or Hybrid? Executive Decision Guide &amp; the Multi-Tenant Agentic Triad
Workstream 5 wrap-up: topology decision tree, Pattern A/B/C comparison, the Agentic Triad, 5-Hop invariant, and the EAP backlog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TL;DR
• Two questions decide topology: all tenants need physical isolation (VPC-SC / Gemma 3)? -&gt; Pattern B; else tiered packaging? No -&gt; A, Yes -&gt; C.
• 80% of the code is identical: core-cymbal-agent/ implements the 5-Hop Cryptographic Context Chain once; A, B and C are 20% perimeter deltas.
• The Multi-Tenant Agentic Triad balances Zero-Trust Security (Hops 1-5), FinOps &amp; COGS Engineering, and Privacy-Preserving Tenant Observability.
• Unit cost ladder: Pattern A $ (85-90% shared prefix savings), Pattern C $$ (blended SaaS margin), Pattern B $$$ (dedicated baseline per tenant).
• Nine open product gaps (3 P0, 4 P1, 2 P2) each ship with a repo workaround and a named EAP allowlist targeting Q4 2026 - Q1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Workstream 5 Capstone: Executive Topology Decision Guide &amp; The Multi-Tenant Agentic Triad
Unifying Zero-Trust Security, FinOps Unit Economics (90% Prefix Cache), and Zero-PII OpenTelemetry Across All 3 Patterns
• Actor 'Enterprise &amp; SMB Users 10,000+ Multi-Tier Tenants' enters at badge 1 Request and receives badge 7 Response.
• Routing hub = Triad Pillar 1: Hop 1 Edge PEP, Hop 4 Model Armor, Hop 2 Registry PDP, External ALB, Architecture Selector (Pattern A/B/C).
• Governance hub = Triad Pillar 3: Security Command Center, 3 Chargeback Models, BigQuery OTel Sink; dashed line carries zero-PII telemetry.
• Badge 3 'Dispatch to optimal cost/security tier' is where the selector commits; badge 7 'Verified zero-bleed agent completion' closes it.
• Left spoke Pattern A Pooled Unit Economics: Redis Rate Bulkhead, Thinking Budget Cap, ContextCacheConfig 90% Discount, AlloyDB RLS &amp; L1-L5.
• Right spoke Pattern B Silos &amp; Pattern C PSC Spokes: VPC-SC &amp; IAM PAB, Gemma 3 &amp; Claude 3.7, PSC Spoke Runtime, Silo MCP, CMEK Lock.
Editable source: diagrams/ws5-decision-tree-and-agentic-triad.drawio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Workstream 5 Capstone: Executive Topology Decision Guide &amp; The Multi-Tenant Agentic Triad
Unifying Zero-Trust Security, FinOps Unit Economics (90% Prefix Cache), and Zero-PII OpenTelemetry Across All 3 Patterns
• Actor 'Enterprise &amp; SMB Users 10,000+ Multi-Tier Tenants' enters at badge 1 Request and receives badge 7 Response.
• Routing hub = Triad Pillar 1: Hop 1 Edge PEP, Hop 4 Model Armor, Hop 2 Registry PDP, External ALB, Architecture Selector (Pattern A/B/C).
• Governance hub = Triad Pillar 3: Security Command Center, 3 Chargeback Models, BigQuery OTel Sink; dashed line carries zero-PII telemetry.
• Badge 3 'Dispatch to optimal cost/security tier' is where the selector commits; badge 7 'Verified zero-bleed agent completion' closes it.
• Left spoke Pattern A Pooled Unit Economics: Redis Rate Bulkhead, Thinking Budget Cap, ContextCacheConfig 90% Discount, AlloyDB RLS &amp; L1-L5.
• Right spoke Pattern B Silos &amp; Pattern C PSC Spokes: VPC-SC &amp; IAM PAB, Gemma 3 &amp; Claude 3.7, PSC Spoke Runtime, Silo MCP, CMEK Lock.
Editable source: diagrams/ws5-decision-tree-and-agentic-triad.drawio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component inventory for Workstream 5 Capstone: Executive Topology Decision Guide &amp; The Multi-Tenant Agentic Triad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Takeaways
• Answer the compliance question before the packaging question; most topology debates are really about which question is being asked.
• Whatever pattern you pick, the same five hops run; only the blast radius of each hop changes.
• Pooled density, sovereign isolation and hybrid routing are points on one cost/security curve ($ / $$$ / $$), not three products.
• The Triad is a balance: security-only raises TCO, cost-only invites noisy neighbors and cache bleed, observability without redaction leaks PII.
• Adopt the Milestone 1 sign-off gate as your acceptance criteria: header strip, deterministic 403s, tiered clamps and 429s, PII redaction plus RLS.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See blogs/ for the full explanatory articles and slides/ for per-workstream decks.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image" Target="../media/image-6-17.png"/><Relationship Id="rId18" Type="http://schemas.openxmlformats.org/officeDocument/2006/relationships/image" Target="../media/image-6-18.png"/><Relationship Id="rId19" Type="http://schemas.openxmlformats.org/officeDocument/2006/relationships/image" Target="../media/image-6-19.png"/><Relationship Id="rId20" Type="http://schemas.openxmlformats.org/officeDocument/2006/relationships/image" Target="../media/image-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image" Target="../media/image-9-18.png"/><Relationship Id="rId19" Type="http://schemas.openxmlformats.org/officeDocument/2006/relationships/image" Target="../media/image-9-19.png"/><Relationship Id="rId20" Type="http://schemas.openxmlformats.org/officeDocument/2006/relationships/image" Target="../media/image-9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image" Target="../media/image-15-13.png"/><Relationship Id="rId14" Type="http://schemas.openxmlformats.org/officeDocument/2006/relationships/image" Target="../media/image-15-14.png"/><Relationship Id="rId15" Type="http://schemas.openxmlformats.org/officeDocument/2006/relationships/image" Target="../media/image-15-15.png"/><Relationship Id="rId16" Type="http://schemas.openxmlformats.org/officeDocument/2006/relationships/image" Target="../media/image-15-16.png"/><Relationship Id="rId17" Type="http://schemas.openxmlformats.org/officeDocument/2006/relationships/image" Target="../media/image-15-17.png"/><Relationship Id="rId18" Type="http://schemas.openxmlformats.org/officeDocument/2006/relationships/image" Target="../media/image-15-18.png"/><Relationship Id="rId19" Type="http://schemas.openxmlformats.org/officeDocument/2006/relationships/image" Target="../media/image-15-19.png"/><Relationship Id="rId20" Type="http://schemas.openxmlformats.org/officeDocument/2006/relationships/image" Target="../media/image-15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pn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pn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png"/><Relationship Id="rId17" Type="http://schemas.openxmlformats.org/officeDocument/2006/relationships/image" Target="../media/image-18-17.png"/><Relationship Id="rId18" Type="http://schemas.openxmlformats.org/officeDocument/2006/relationships/image" Target="../media/image-18-18.png"/><Relationship Id="rId19" Type="http://schemas.openxmlformats.org/officeDocument/2006/relationships/image" Target="../media/image-18-19.png"/><Relationship Id="rId20" Type="http://schemas.openxmlformats.org/officeDocument/2006/relationships/image" Target="../media/image-18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pn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pn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png"/><Relationship Id="rId17" Type="http://schemas.openxmlformats.org/officeDocument/2006/relationships/image" Target="../media/image-21-17.png"/><Relationship Id="rId18" Type="http://schemas.openxmlformats.org/officeDocument/2006/relationships/image" Target="../media/image-21-18.png"/><Relationship Id="rId19" Type="http://schemas.openxmlformats.org/officeDocument/2006/relationships/image" Target="../media/image-21-19.png"/><Relationship Id="rId20" Type="http://schemas.openxmlformats.org/officeDocument/2006/relationships/image" Target="../media/image-21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image" Target="../media/image-24-8.png"/><Relationship Id="rId9" Type="http://schemas.openxmlformats.org/officeDocument/2006/relationships/image" Target="../media/image-24-9.png"/><Relationship Id="rId10" Type="http://schemas.openxmlformats.org/officeDocument/2006/relationships/image" Target="../media/image-24-10.png"/><Relationship Id="rId11" Type="http://schemas.openxmlformats.org/officeDocument/2006/relationships/image" Target="../media/image-24-11.png"/><Relationship Id="rId12" Type="http://schemas.openxmlformats.org/officeDocument/2006/relationships/image" Target="../media/image-24-12.png"/><Relationship Id="rId13" Type="http://schemas.openxmlformats.org/officeDocument/2006/relationships/image" Target="../media/image-24-13.png"/><Relationship Id="rId14" Type="http://schemas.openxmlformats.org/officeDocument/2006/relationships/image" Target="../media/image-24-14.png"/><Relationship Id="rId15" Type="http://schemas.openxmlformats.org/officeDocument/2006/relationships/image" Target="../media/image-24-15.png"/><Relationship Id="rId16" Type="http://schemas.openxmlformats.org/officeDocument/2006/relationships/image" Target="../media/image-24-16.png"/><Relationship Id="rId17" Type="http://schemas.openxmlformats.org/officeDocument/2006/relationships/image" Target="../media/image-24-17.png"/><Relationship Id="rId18" Type="http://schemas.openxmlformats.org/officeDocument/2006/relationships/image" Target="../media/image-24-18.png"/><Relationship Id="rId19" Type="http://schemas.openxmlformats.org/officeDocument/2006/relationships/image" Target="../media/image-24-19.png"/><Relationship Id="rId20" Type="http://schemas.openxmlformats.org/officeDocument/2006/relationships/image" Target="../media/image-24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image" Target="../media/image-30-9.png"/><Relationship Id="rId10" Type="http://schemas.openxmlformats.org/officeDocument/2006/relationships/image" Target="../media/image-30-10.png"/><Relationship Id="rId11" Type="http://schemas.openxmlformats.org/officeDocument/2006/relationships/image" Target="../media/image-30-11.png"/><Relationship Id="rId12" Type="http://schemas.openxmlformats.org/officeDocument/2006/relationships/image" Target="../media/image-30-12.png"/><Relationship Id="rId13" Type="http://schemas.openxmlformats.org/officeDocument/2006/relationships/image" Target="../media/image-30-13.png"/><Relationship Id="rId14" Type="http://schemas.openxmlformats.org/officeDocument/2006/relationships/image" Target="../media/image-30-14.png"/><Relationship Id="rId15" Type="http://schemas.openxmlformats.org/officeDocument/2006/relationships/image" Target="../media/image-30-15.png"/><Relationship Id="rId16" Type="http://schemas.openxmlformats.org/officeDocument/2006/relationships/image" Target="../media/image-30-16.png"/><Relationship Id="rId17" Type="http://schemas.openxmlformats.org/officeDocument/2006/relationships/image" Target="../media/image-30-17.png"/><Relationship Id="rId18" Type="http://schemas.openxmlformats.org/officeDocument/2006/relationships/image" Target="../media/image-30-18.png"/><Relationship Id="rId19" Type="http://schemas.openxmlformats.org/officeDocument/2006/relationships/image" Target="../media/image-30-19.png"/><Relationship Id="rId20" Type="http://schemas.openxmlformats.org/officeDocument/2006/relationships/image" Target="../media/image-30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image" Target="../media/image-33-7.png"/><Relationship Id="rId8" Type="http://schemas.openxmlformats.org/officeDocument/2006/relationships/image" Target="../media/image-33-8.png"/><Relationship Id="rId9" Type="http://schemas.openxmlformats.org/officeDocument/2006/relationships/image" Target="../media/image-33-9.png"/><Relationship Id="rId10" Type="http://schemas.openxmlformats.org/officeDocument/2006/relationships/image" Target="../media/image-33-10.png"/><Relationship Id="rId11" Type="http://schemas.openxmlformats.org/officeDocument/2006/relationships/image" Target="../media/image-33-11.png"/><Relationship Id="rId12" Type="http://schemas.openxmlformats.org/officeDocument/2006/relationships/image" Target="../media/image-33-12.png"/><Relationship Id="rId13" Type="http://schemas.openxmlformats.org/officeDocument/2006/relationships/image" Target="../media/image-33-13.png"/><Relationship Id="rId14" Type="http://schemas.openxmlformats.org/officeDocument/2006/relationships/image" Target="../media/image-33-14.png"/><Relationship Id="rId15" Type="http://schemas.openxmlformats.org/officeDocument/2006/relationships/image" Target="../media/image-33-15.png"/><Relationship Id="rId16" Type="http://schemas.openxmlformats.org/officeDocument/2006/relationships/image" Target="../media/image-33-16.png"/><Relationship Id="rId17" Type="http://schemas.openxmlformats.org/officeDocument/2006/relationships/image" Target="../media/image-33-17.png"/><Relationship Id="rId18" Type="http://schemas.openxmlformats.org/officeDocument/2006/relationships/image" Target="../media/image-33-18.png"/><Relationship Id="rId19" Type="http://schemas.openxmlformats.org/officeDocument/2006/relationships/image" Target="../media/image-33-19.png"/><Relationship Id="rId20" Type="http://schemas.openxmlformats.org/officeDocument/2006/relationships/image" Target="../media/image-33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image" Target="../media/image-36-5.png"/><Relationship Id="rId6" Type="http://schemas.openxmlformats.org/officeDocument/2006/relationships/image" Target="../media/image-36-6.png"/><Relationship Id="rId7" Type="http://schemas.openxmlformats.org/officeDocument/2006/relationships/image" Target="../media/image-36-7.png"/><Relationship Id="rId8" Type="http://schemas.openxmlformats.org/officeDocument/2006/relationships/image" Target="../media/image-36-8.png"/><Relationship Id="rId9" Type="http://schemas.openxmlformats.org/officeDocument/2006/relationships/image" Target="../media/image-36-9.png"/><Relationship Id="rId10" Type="http://schemas.openxmlformats.org/officeDocument/2006/relationships/image" Target="../media/image-36-10.png"/><Relationship Id="rId11" Type="http://schemas.openxmlformats.org/officeDocument/2006/relationships/image" Target="../media/image-36-11.png"/><Relationship Id="rId12" Type="http://schemas.openxmlformats.org/officeDocument/2006/relationships/image" Target="../media/image-36-12.png"/><Relationship Id="rId13" Type="http://schemas.openxmlformats.org/officeDocument/2006/relationships/image" Target="../media/image-36-13.png"/><Relationship Id="rId14" Type="http://schemas.openxmlformats.org/officeDocument/2006/relationships/image" Target="../media/image-36-14.png"/><Relationship Id="rId15" Type="http://schemas.openxmlformats.org/officeDocument/2006/relationships/image" Target="../media/image-36-15.png"/><Relationship Id="rId16" Type="http://schemas.openxmlformats.org/officeDocument/2006/relationships/image" Target="../media/image-36-16.png"/><Relationship Id="rId17" Type="http://schemas.openxmlformats.org/officeDocument/2006/relationships/image" Target="../media/image-36-17.png"/><Relationship Id="rId18" Type="http://schemas.openxmlformats.org/officeDocument/2006/relationships/image" Target="../media/image-36-18.png"/><Relationship Id="rId19" Type="http://schemas.openxmlformats.org/officeDocument/2006/relationships/image" Target="../media/image-36-19.png"/><Relationship Id="rId20" Type="http://schemas.openxmlformats.org/officeDocument/2006/relationships/image" Target="../media/image-3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image" Target="../media/image-42-5.png"/><Relationship Id="rId6" Type="http://schemas.openxmlformats.org/officeDocument/2006/relationships/image" Target="../media/image-42-6.png"/><Relationship Id="rId7" Type="http://schemas.openxmlformats.org/officeDocument/2006/relationships/image" Target="../media/image-42-7.png"/><Relationship Id="rId8" Type="http://schemas.openxmlformats.org/officeDocument/2006/relationships/image" Target="../media/image-42-8.png"/><Relationship Id="rId9" Type="http://schemas.openxmlformats.org/officeDocument/2006/relationships/image" Target="../media/image-42-9.png"/><Relationship Id="rId10" Type="http://schemas.openxmlformats.org/officeDocument/2006/relationships/image" Target="../media/image-42-10.png"/><Relationship Id="rId11" Type="http://schemas.openxmlformats.org/officeDocument/2006/relationships/image" Target="../media/image-42-11.png"/><Relationship Id="rId12" Type="http://schemas.openxmlformats.org/officeDocument/2006/relationships/image" Target="../media/image-42-12.png"/><Relationship Id="rId13" Type="http://schemas.openxmlformats.org/officeDocument/2006/relationships/image" Target="../media/image-42-13.png"/><Relationship Id="rId14" Type="http://schemas.openxmlformats.org/officeDocument/2006/relationships/image" Target="../media/image-42-14.png"/><Relationship Id="rId15" Type="http://schemas.openxmlformats.org/officeDocument/2006/relationships/image" Target="../media/image-42-15.png"/><Relationship Id="rId16" Type="http://schemas.openxmlformats.org/officeDocument/2006/relationships/image" Target="../media/image-42-16.png"/><Relationship Id="rId17" Type="http://schemas.openxmlformats.org/officeDocument/2006/relationships/image" Target="../media/image-42-17.png"/><Relationship Id="rId18" Type="http://schemas.openxmlformats.org/officeDocument/2006/relationships/image" Target="../media/image-42-18.png"/><Relationship Id="rId19" Type="http://schemas.openxmlformats.org/officeDocument/2006/relationships/image" Target="../media/image-42-19.png"/><Relationship Id="rId20" Type="http://schemas.openxmlformats.org/officeDocument/2006/relationships/image" Target="../media/image-4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image" Target="../media/image-45-4.png"/><Relationship Id="rId5" Type="http://schemas.openxmlformats.org/officeDocument/2006/relationships/image" Target="../media/image-45-5.png"/><Relationship Id="rId6" Type="http://schemas.openxmlformats.org/officeDocument/2006/relationships/image" Target="../media/image-45-6.png"/><Relationship Id="rId7" Type="http://schemas.openxmlformats.org/officeDocument/2006/relationships/image" Target="../media/image-45-7.png"/><Relationship Id="rId8" Type="http://schemas.openxmlformats.org/officeDocument/2006/relationships/image" Target="../media/image-45-8.png"/><Relationship Id="rId9" Type="http://schemas.openxmlformats.org/officeDocument/2006/relationships/image" Target="../media/image-45-9.png"/><Relationship Id="rId10" Type="http://schemas.openxmlformats.org/officeDocument/2006/relationships/image" Target="../media/image-45-10.png"/><Relationship Id="rId11" Type="http://schemas.openxmlformats.org/officeDocument/2006/relationships/image" Target="../media/image-45-11.png"/><Relationship Id="rId12" Type="http://schemas.openxmlformats.org/officeDocument/2006/relationships/image" Target="../media/image-45-12.png"/><Relationship Id="rId13" Type="http://schemas.openxmlformats.org/officeDocument/2006/relationships/image" Target="../media/image-45-13.png"/><Relationship Id="rId14" Type="http://schemas.openxmlformats.org/officeDocument/2006/relationships/image" Target="../media/image-45-14.png"/><Relationship Id="rId15" Type="http://schemas.openxmlformats.org/officeDocument/2006/relationships/image" Target="../media/image-45-15.png"/><Relationship Id="rId16" Type="http://schemas.openxmlformats.org/officeDocument/2006/relationships/image" Target="../media/image-45-16.png"/><Relationship Id="rId17" Type="http://schemas.openxmlformats.org/officeDocument/2006/relationships/image" Target="../media/image-45-17.png"/><Relationship Id="rId18" Type="http://schemas.openxmlformats.org/officeDocument/2006/relationships/image" Target="../media/image-45-18.png"/><Relationship Id="rId19" Type="http://schemas.openxmlformats.org/officeDocument/2006/relationships/image" Target="../media/image-45-19.png"/><Relationship Id="rId20" Type="http://schemas.openxmlformats.org/officeDocument/2006/relationships/image" Target="../media/image-45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image" Target="../media/image-48-4.png"/><Relationship Id="rId5" Type="http://schemas.openxmlformats.org/officeDocument/2006/relationships/image" Target="../media/image-48-5.png"/><Relationship Id="rId6" Type="http://schemas.openxmlformats.org/officeDocument/2006/relationships/image" Target="../media/image-48-6.png"/><Relationship Id="rId7" Type="http://schemas.openxmlformats.org/officeDocument/2006/relationships/image" Target="../media/image-48-7.png"/><Relationship Id="rId8" Type="http://schemas.openxmlformats.org/officeDocument/2006/relationships/image" Target="../media/image-48-8.png"/><Relationship Id="rId9" Type="http://schemas.openxmlformats.org/officeDocument/2006/relationships/image" Target="../media/image-48-9.png"/><Relationship Id="rId10" Type="http://schemas.openxmlformats.org/officeDocument/2006/relationships/image" Target="../media/image-48-10.png"/><Relationship Id="rId11" Type="http://schemas.openxmlformats.org/officeDocument/2006/relationships/image" Target="../media/image-48-11.png"/><Relationship Id="rId12" Type="http://schemas.openxmlformats.org/officeDocument/2006/relationships/image" Target="../media/image-48-12.png"/><Relationship Id="rId13" Type="http://schemas.openxmlformats.org/officeDocument/2006/relationships/image" Target="../media/image-48-13.png"/><Relationship Id="rId14" Type="http://schemas.openxmlformats.org/officeDocument/2006/relationships/image" Target="../media/image-48-14.png"/><Relationship Id="rId15" Type="http://schemas.openxmlformats.org/officeDocument/2006/relationships/image" Target="../media/image-48-15.png"/><Relationship Id="rId16" Type="http://schemas.openxmlformats.org/officeDocument/2006/relationships/image" Target="../media/image-48-16.png"/><Relationship Id="rId17" Type="http://schemas.openxmlformats.org/officeDocument/2006/relationships/image" Target="../media/image-48-17.png"/><Relationship Id="rId18" Type="http://schemas.openxmlformats.org/officeDocument/2006/relationships/image" Target="../media/image-48-18.png"/><Relationship Id="rId19" Type="http://schemas.openxmlformats.org/officeDocument/2006/relationships/image" Target="../media/image-48-19.png"/><Relationship Id="rId20" Type="http://schemas.openxmlformats.org/officeDocument/2006/relationships/image" Target="../media/image-48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image" Target="../media/image-51-3.png"/><Relationship Id="rId4" Type="http://schemas.openxmlformats.org/officeDocument/2006/relationships/image" Target="../media/image-51-4.png"/><Relationship Id="rId5" Type="http://schemas.openxmlformats.org/officeDocument/2006/relationships/image" Target="../media/image-51-5.png"/><Relationship Id="rId6" Type="http://schemas.openxmlformats.org/officeDocument/2006/relationships/image" Target="../media/image-51-6.png"/><Relationship Id="rId7" Type="http://schemas.openxmlformats.org/officeDocument/2006/relationships/image" Target="../media/image-51-7.png"/><Relationship Id="rId8" Type="http://schemas.openxmlformats.org/officeDocument/2006/relationships/image" Target="../media/image-51-8.png"/><Relationship Id="rId9" Type="http://schemas.openxmlformats.org/officeDocument/2006/relationships/image" Target="../media/image-51-9.png"/><Relationship Id="rId10" Type="http://schemas.openxmlformats.org/officeDocument/2006/relationships/image" Target="../media/image-51-10.png"/><Relationship Id="rId11" Type="http://schemas.openxmlformats.org/officeDocument/2006/relationships/image" Target="../media/image-51-11.png"/><Relationship Id="rId12" Type="http://schemas.openxmlformats.org/officeDocument/2006/relationships/image" Target="../media/image-51-12.png"/><Relationship Id="rId13" Type="http://schemas.openxmlformats.org/officeDocument/2006/relationships/image" Target="../media/image-51-13.png"/><Relationship Id="rId14" Type="http://schemas.openxmlformats.org/officeDocument/2006/relationships/image" Target="../media/image-51-14.png"/><Relationship Id="rId15" Type="http://schemas.openxmlformats.org/officeDocument/2006/relationships/image" Target="../media/image-51-15.png"/><Relationship Id="rId16" Type="http://schemas.openxmlformats.org/officeDocument/2006/relationships/image" Target="../media/image-51-16.png"/><Relationship Id="rId17" Type="http://schemas.openxmlformats.org/officeDocument/2006/relationships/image" Target="../media/image-51-17.png"/><Relationship Id="rId18" Type="http://schemas.openxmlformats.org/officeDocument/2006/relationships/image" Target="../media/image-51-18.png"/><Relationship Id="rId19" Type="http://schemas.openxmlformats.org/officeDocument/2006/relationships/image" Target="../media/image-51-19.png"/><Relationship Id="rId20" Type="http://schemas.openxmlformats.org/officeDocument/2006/relationships/image" Target="../media/image-51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image" Target="../media/image-57-3.png"/><Relationship Id="rId4" Type="http://schemas.openxmlformats.org/officeDocument/2006/relationships/image" Target="../media/image-57-4.png"/><Relationship Id="rId5" Type="http://schemas.openxmlformats.org/officeDocument/2006/relationships/image" Target="../media/image-57-5.png"/><Relationship Id="rId6" Type="http://schemas.openxmlformats.org/officeDocument/2006/relationships/image" Target="../media/image-57-6.png"/><Relationship Id="rId7" Type="http://schemas.openxmlformats.org/officeDocument/2006/relationships/image" Target="../media/image-57-7.png"/><Relationship Id="rId8" Type="http://schemas.openxmlformats.org/officeDocument/2006/relationships/image" Target="../media/image-57-8.png"/><Relationship Id="rId9" Type="http://schemas.openxmlformats.org/officeDocument/2006/relationships/image" Target="../media/image-57-9.png"/><Relationship Id="rId10" Type="http://schemas.openxmlformats.org/officeDocument/2006/relationships/image" Target="../media/image-57-10.png"/><Relationship Id="rId11" Type="http://schemas.openxmlformats.org/officeDocument/2006/relationships/image" Target="../media/image-57-11.png"/><Relationship Id="rId12" Type="http://schemas.openxmlformats.org/officeDocument/2006/relationships/image" Target="../media/image-57-12.png"/><Relationship Id="rId13" Type="http://schemas.openxmlformats.org/officeDocument/2006/relationships/image" Target="../media/image-57-13.png"/><Relationship Id="rId14" Type="http://schemas.openxmlformats.org/officeDocument/2006/relationships/image" Target="../media/image-57-14.png"/><Relationship Id="rId15" Type="http://schemas.openxmlformats.org/officeDocument/2006/relationships/image" Target="../media/image-57-15.png"/><Relationship Id="rId16" Type="http://schemas.openxmlformats.org/officeDocument/2006/relationships/image" Target="../media/image-57-16.png"/><Relationship Id="rId17" Type="http://schemas.openxmlformats.org/officeDocument/2006/relationships/image" Target="../media/image-57-17.png"/><Relationship Id="rId18" Type="http://schemas.openxmlformats.org/officeDocument/2006/relationships/image" Target="../media/image-57-18.png"/><Relationship Id="rId19" Type="http://schemas.openxmlformats.org/officeDocument/2006/relationships/image" Target="../media/image-57-19.png"/><Relationship Id="rId20" Type="http://schemas.openxmlformats.org/officeDocument/2006/relationships/image" Target="../media/image-57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82296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PROGRAM DECK • WORKSTREAMS 1–5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8655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GEAP Multi-Tenant Agentic AI: Pooled, Sovereign Silos &amp; Hybrid — Complete Program Deck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7 Google Cloud Architecture Center blueprints across Workstreams 1–5 as 100% editable slides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12064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diagram slide is 100% native editable (PromptCanvas Vision Decompiler → Draw.io → PowerPoint / Google Slides)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reference: https://docs.cloud.google.com/architecture/multi-tenant-agentic-ai-system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Program Map • Workstreams 1–5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 Map • Workstreams 1–5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 High-Density Pooled Architecture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• Pattern C — Dynamic Hybrid, PSC &amp; Live Tier Migration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01168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Cloud: Taxonomy &amp; 5-Hop Baseline (Workstream 1)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384048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Pooled, Sovereign Silo &amp; Dynamic Hybrid topologies extending the Cloud Architecture Center hub-and-spoke reference for B2B ISV SaaS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Executive TL;DR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Architecture Center reference models one spoke project per business unit; 90%+ of B2B SaaS ISVs cannot afford that per Standard-tier tenant.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add four new failure modes: dynamic MCP discovery, confused-deputy credentials, context-cache bleed, and noisy-neighbor runaway reasoning loops.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defines Pattern A (Pooled), Pattern B (Sovereign Silos), and Pattern C (Dynamic Hybrid) on an 80% reusable core + 20% topology delta.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5-Hop Cryptographic Context Chain (hop1..hop5 Python modules) enforces identical governance across all three patterns.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Deliverables: Doc PR for the Architecture Center (1.3), product review pack (1.2), and an EAP/product-gap ledger with 3 P0 workarounds (1.4).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GEAP MULTI-TENANT AGENTIC AI TAXONOMY: POOLED (A), SOVEREIGN SILOS (B) &amp; HYBRID (C)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VIS-WS1-MULTI-TENANT-TAXONOMY-OVERVIEW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23514" y="521208"/>
            <a:ext cx="5344668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6666" y="576072"/>
            <a:ext cx="5198364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GEAP MULTI-TENANT AGENTIC AI TAXONOMY: POOLED (A), SOVEREIGN SILOS (B) &amp; HYBRID (C)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VIS-WS1-MULTI-TENANT-TAXONOMY-OVERVIEW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&amp; Multi-Tenant Governance Perimeter (80% Reusable Core + 20% Topology Delta)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(Standard &amp; High-Density SaaS)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(Sovereign Silos) &amp; Pattern C (Hybrid PSC Spokes)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Project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CMEK Kill-Switch + PSC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&amp; ARD catalog filter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FinOps observability hub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1.1 BLUEPRINT] GEAP Multi-Tenant Agentic AI Taxonomy: Pooled (Pattern A), Sovereign Silos (Pattern B) &amp; Hybrid (Pattern C)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ISV SaaS Reference Architecture Expanding Google Cloud Architecture Center (Cymbal SaaS Serving FinVault &amp; RetailStream)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TenantsFinVault (OIDC) &amp; RetailStream (Entra)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Balancer • Cloud Load Balancing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 • Cross-Pattern Breach Alerts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Zero-PII OTel &amp; Chargeback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Row-Level Security (RLS)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AlloyDB, BQ &amp; KMS 423 Lock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Topology Router &amp; ARD PDP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NLCs &amp; SDP PII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3.7 or Private GKE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&amp; IAP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Forged X-Tenant-ID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Sender-Constrained JWT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599286" y="2312518"/>
            <a:ext cx="565099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621231" y="2878531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GEAP Multi-Tenant Agentic AI Taxonomy: Pooled (A), Sovereign Silos (B) &amp; Hybrid (C)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 'Competing B2B Tenants FinVault (OIDC) &amp; RetailStream (Entra)' enters at badge 1 Request and exits at badge 7 Response.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Wrappers: 'Shared Control Plane &amp; Multi-Tenant Governance Perimeter (80% Reusable Core + 20% Topology Delta)' around the VPC.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'Routing hub (Hop 1 &amp; Hop 2 PEP/PDP)': Cloud Armor &amp; IAP strip X-Tenant-ID, Model Armor screen, OBO + DPoP, ALB, Cloud Run Router.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'Central governance and FinOps observability hub': SCC, Central IAM &amp; PAB Agent Identity (2LO/3LO), Cloud Logging &amp; BQ Zero-PII OTel.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 3 'Route by tenant tier (Pool, Silo or PSC)' decides topology; badge 7 'Sanitized response with SDP redaction' scrubs returns.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'Tenant Pool (Shared Runtime)' vs right 'Dedicated Sovereign Tenant Project' with 'CMEK Datastore AlloyDB, BQ &amp; KMS 423 Lock'.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diagrams/ws1-multi-tenant-taxonomy-overview.drawio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GEAP MULTI-TENANT AGENTIC AI TAXONOMY: POOLED (A), SOVEREIGN SILOS (B) &amp; HYBRID (C)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Control Plane &amp; Multi-Tenant Governance Perimeter (80% Reusable Core + 20% Topolog…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 &amp; 5-Hop Cryptographic Context Chain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A: Pooled Shared Runtime (Standard &amp; High-Density SaaS)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B (Sovereign Silos) &amp; Pattern C (Hybrid PSC Spokes)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Pool (Shared Runtime)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(8k Cap) &amp; RetailStream (4k Cap)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Sovereign Tenant Project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VPC-SC + IAM PAB + CMEK Kill-Switch + PSC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Routing hub (Hop 1 &amp; Hop 2 PEP/PDP)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ingress, OBO+DPoP &amp; ARD catalog filter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governance and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FinOps observability hub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1.1 BLUEPRINT] GEAP Multi-Tenant Agentic AI Taxonomy: Pooled (Pattern A), Sov…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B2B ISV SaaS Reference Architecture Expanding Google Cloud Architecture Center (Cymbal SaaS Serving FinVault…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Competing B2B TenantsFinVault (OIDC) &amp; RetailStream (Entra)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 Balancer • Cloud Load Balancing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Command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 • Cross-Pattern Breach Alerts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Logging &amp; BQ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Zero-PII OTel &amp; Chargeback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IAM &amp; PAB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Identity (2LO/3LO)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CLOUD ARCHITECTURE CENTER: MULTI-TENANT AGENTIC AI WITH 5-HOP CRYPTOGRAPHIC GOVERNANCE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VIS-WS1-CLOUD-ARCH-CENTER-5HOP-BASELINE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23514" y="521208"/>
            <a:ext cx="5344668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6666" y="576072"/>
            <a:ext cx="5198364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CLOUD ARCHITECTURE CENTER: MULTI-TENANT AGENTIC AI WITH 5-HOP CRYPTOGRAPHIC GOVERNANCE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VIS-WS1-CLOUD-ARCH-CENTER-5HOP-BASELINE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hubs (VPC Service Controls Organization Perimeter)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Alpha)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Beta)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(FinVault Bank)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Enterprise Tier (Google OIDC)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(RetailStream Corp)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Standard Tier (Entra ID)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 &amp; cryptographic token exchange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hub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1.3 DOC PR BLUEPRINT] Cloud Architecture Center: Multi-Tenant Agentic AI System with 5-Hop Cryptographic Governance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Hub-and-Spoke Reference Architecture (docs.cloud.google.com/architecture/multi-tenant-agentic-ai-system)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UserOIDC / Entra JWT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Balancer • Cloud Load Balancing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 • Continuous Threat Detection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Audit Sink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Manager (2LO / 3LO)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BigQuery, AlloyDB RLS, CMEK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BigQuery, AlloyDB RLS, Redis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+ Agent Alpha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Diagnostic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Workspace &amp; Jira 3LO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SharePoint &amp; SNOW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portal &amp; Hop 2 PDP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Bank SDP &amp; OCC NLC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&amp; Claude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Platform (8k Budget)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PCI PAN SDP &amp; NLC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Platform (4k Cap)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Strips Forged X-Tenant-ID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Injection Gate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and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observability • monitoring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tenant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request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tenant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621231" y="2312518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621231" y="2878531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Center: Multi-Tenant Agentic AI with 5-Hop Cryptographic Governance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 'User OIDC / Entra JWT' with badges 1 Request and 7 Response mirrors the published hub-and-spoke article exactly.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Outer wrapper 'Shared hubs (VPC Service Controls Organization Perimeter)' and inner 'VPC' are unchanged from the official reference.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'Routing hub (Hop 1 &amp; Hop 2)': Cloud Armor Strips Forged X-Tenant-ID, Model Armor Edge Prompt Injection Gate, IAP RFC 8693 OBO + DPoP.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'Central governance and security hub': Security Command Center, Central IAM Auth Manager (2LO / 3LO), Cloud Logging BigQuery OTel Sink.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'Security and observability' line fans to both spokes; badge 3 'Route request to tenant', badge 7 'Sanitized response from tenant'.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'PAB • Hop 3–5 Isolation Boundary' wraps Tenant A (FinVault, 8k Budget, Bank SDP &amp; OCC NLC) and Tenant B (RetailStream, 4k Cap, PCI).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diagrams/ws1-cloud-arch-center-5hop-baseline.drawio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CLOUD ARCHITECTURE CENTER: MULTI-TENANT AGENTIC AI WITH 5-HOP CRYPTOGRAPHIC GOVERNANCE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hubs (VPC Service Controls Organization Perimeter)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PAB • Hop 3–5 Isolation Boundary (Tenant Alpha)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PAB • Hop 3–5 Isolation Boundary (Tenant Beta)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A (FinVault Bank)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project • Enterprise Tier (Google OIDC)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B (RetailStream Corp)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project • Standard Tier (Entra ID)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Routing hub (Hop 1 &amp; Hop 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ingress &amp; cryptographic token exchange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governance and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hub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1.3 DOC PR BLUEPRINT] Cloud Architecture Center: Multi-Tenant Agentic AI Syst…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Official Hub-and-Spoke Reference Architecture (docs.cloud.google.com/architecture/multi-tenant-agentic-ai-sys…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UserOIDC / Entra JWT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 Balancer • Cloud Load Balancing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Command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 • Continuous Threat Detection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Logging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OTel Audit Sink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IAM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 Manager (2LO / 3LO)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Key Takeaways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multi-tenancy needs controls at edge, registry, runtime, guardrail, and data layers; a tenant_id column is not isolation.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topology per tenant tier: Pattern A for Standard, Pattern B for regulator-mandated perimeters, Pattern C when you serve both.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5-Hop chain is topology-agnostic code; the trust boundary changes, the governance modules do not.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prefix caching is safe in a pool only when ContextCacheConfig is read-only on shared system instructions.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P0 product gaps already have engineered workarounds; EAP allowlists target Q4 2026 for native support.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the 1.3 Doc PR, enable the 1.4 allowlist checklist in your sandbox, then proceed to Workstream 2 (Pattern A Pooled, Milestone 1).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01168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— Pooled Architecture: One Shared Runtime, Two Competing Tenants, Zero Bleed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384048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High-Density Pooled Multi-Tenancy on GEAP &amp; ADK 2.0 — 5-Hop Cryptographic Context Chain, 10-point breach suite, 90% ContextCacheConfig save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Executive TL;DR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Problem: dedicated projects per Standard-tier SaaS customer destroy gross margin, but naive shared runtimes leak agents, tools, caches and PII.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one shared project (cymbal-pooled-saas-prod) governed by the 5-Hop Cryptographic Context Chain from edge PEP to AlloyDB RLS.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Bank (Enterprise, Google OIDC/Jira) and RetailStream Corp (Standard, Entra ID/ServiceNow) share one runtime with 10/10 breach vectors blocked.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 READ_ONLY_IMMUTABLE_PREFIX bills the 32,000-token operator prefix at a 90% discount for ~84.7% net input COGS reduction.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Ships as Milestone 1 (Week 4) with a Terraform starter, 90-minute codelab, and locally runnable run_breach_simulations.py.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 High-Density Pooled Architecture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A: HIGH-DENSITY POOLED MULTI-TENANT ARCHITECTURE &amp; SHARED RUNTIME GOVERNANCE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VIS-WS2-PATTERN-A-POOLED-5HOP-ARCHITECTURE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23514" y="521208"/>
            <a:ext cx="5344668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6666" y="576072"/>
            <a:ext cx="5198364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A: HIGH-DENSITY POOLED MULTI-TENANT ARCHITECTURE &amp; SHARED RUNTIME GOVERNANCE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VIS-WS2-PATTERN-A-POOLED-5HOP-ARCHITECTURE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GCP Project: cymbal-pooled-saas-prod (Maximum Density Pooled SaaS)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VPC • 5-Hop Cryptographic Context Chain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A • FinVault Bank (Enterprise Tier)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B • RetailStream Corp (Standard Tier)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Logical Partition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finvault:user:session (Envelope CMEK)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Logical Partition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retailstream:user:session (120 RPM Cap)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2: Edge PEP &amp; GEAP Registry PDP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stripping, OBO+DPoP &amp; ARD catalog pruning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5: Shared FinOps,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 &amp; OTel Hub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2.1 • PATTERN A BLUEPRINT] Pattern A: High-Density Pooled Multi-Tenant Architecture &amp; Shared Runtime Governance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1 (Weeks 1–4) • Shared Project (cymbal-pooled-saas-prod) with 90% Prompt Prefix Cache Savings &amp; 0 Bleed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RetailStreamCompeting SaaS Tenants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Balancer • Cloud Load Balancing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(90% COGS Save) • 32k Shared Operator Prefix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Zero-PII Token Chargeback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Rate Bulkhead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4k Standard vs 8k Enterprise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RLS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app.current_tenant='finvault'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RLS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current_tenant='retailstream'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+ Private Agent Alpha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Agent Only (403 Alpha)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Workspace/Jira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Drive, Calendar, Gmail, Jira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Entra &amp; SNOW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OAuth Consent Gate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Callback Gate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before_agent_callback Prune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IBAN/SWIFT + OCC NLC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&amp; Claude 3.7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8,000 Thinking-Token Budget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Card PAN + PCI NLC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Clamped to 4,000 Tokens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WAF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Strips Forged X-Tenant-ID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GEAP Registry PDP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 Catalog Filter (403 Alpha)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+ OBO Broker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 (jkt)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84.7% Net Input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COGS Savings &amp; OTel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gs://cymbal-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skills-finvault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Filtered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Rows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gs://cymbal-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skills-retail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Filtered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 Rows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SDP-redacted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response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immutable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temp:tenant_id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 OBO +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DPoP token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599286" y="2312518"/>
            <a:ext cx="565099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header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X-Tenant-ID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621231" y="2878531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ARD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High-Density Pooled Multi-Tenant Architecture &amp; Shared Runtime Governance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actor, 'FinVault &amp; RetailStream Competing SaaS Tenants', enters one 'Shared GCP Project: cymbal-pooled-saas-prod'.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'Hop 1 &amp; Hop 2: Edge PEP &amp; GEAP Registry PDP': strip X-Tenant-ID, filter ARD catalog, mint OBO + DPoP token.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 'Hop 3 &amp; 5: Shared FinOps, Cache &amp; OTel Hub': ContextCacheConfig 90%, Redis Rate Bulkhead, BigQuery OTel Sink.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Trunk badge 3 'Bind immutable temp:tenant_id' before any tenant code runs; badge 7 returns 'SDP-redacted tenant response'.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A FinVault: Model Armor masks IBAN/SWIFT + OCC NLC, Gemini &amp; Claude 3.7, 3LO Workspace/Jira, Shared AlloyDB RLS.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B RetailStream: Card PAN + PCI NLC, Gemini 2.5 Pro clamped to 4,000 tokens, 3LO Entra &amp; SNOW inline consent gate.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diagrams/ws2-pattern-a-pooled-5hop-architecture.drawio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A: HIGH-DENSITY POOLED MULTI-TENANT ARCHITECTURE &amp; SHARED RUNTIME GOVERNANCE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GCP Project: cymbal-pooled-saas-prod (Maximum Density Pooled SaaS)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VPC • 5-Hop Cryptographic Context Chain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Logical &amp; Cryptographic Slice A • FinVault Bank (Enterprise Tier)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Logical &amp; Cryptographic Slice B • RetailStream Corp (Standard Tier)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Logical Partition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Namespace: finvault:user:session (Envelope CMEK)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RetailStream Logical Partition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Namespace: retailstream:user:session (120 RPM Cap)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1 &amp; Hop 2: Edge PEP &amp; GEAP Registry PDP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Header stripping, OBO+DPoP &amp; ARD catalog pruning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3 &amp; 5: Shared FinOps,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Cache &amp; OTel Hub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2.1 • PATTERN A BLUEPRINT] Pattern A: High-Density Pooled Multi-Tenant Archit…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Milestone 1 (Weeks 1–4) • Shared Project (cymbal-pooled-saas-prod) with 90% Prompt Prefix Cache Savings &amp; 0 B…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&amp; RetailStreamCompeting SaaS Tenants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 Balancer • Cloud Load Balancing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ContextCacheConfig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(90% COGS Save) • 32k Shared Operator Prefix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OTel Sink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Zero-PII Token Chargeback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Redis Rate Bulkhead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4k Standard vs 8k Enterprise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A: 10-POINT CROSS-TENANT BREACH SIMULATION &amp; CRYPTOGRAPHIC DEFENSE MATRIX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VIS-WS2-PATTERN-A-BREACH-DEFENSE-SEQUENCE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23514" y="521208"/>
            <a:ext cx="5344668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6666" y="576072"/>
            <a:ext cx="5198364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A: 10-POINT CROSS-TENANT BREACH SIMULATION &amp; CRYPTOGRAPHIC DEFENSE MATRIX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VIS-WS2-PATTERN-A-BREACH-DEFENSE-SEQUENCE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Adversarial Breach Verification Harness (10/10 Deterministic Security Gates PASS)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• Zero-Trust 5-Hop Enforcement Pipeline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 Guardrail Gates (Vectors 4, 5 &amp; 8) • Prompt, NLC &amp; SDP DLP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Hop 5 Storage Gates (Vectors 7 &amp; 9) • Memory, Skills &amp; RLS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 &amp; Semantic NLCs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Injection Screen &amp; Egress SDP Redaction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Bank, Skills &amp; AlloyDB RLS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Namespace &amp; Storage-Engine Isolation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 Gates (Vectors 1, 2, 3 &amp; 10)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Neutralizes header spoofing, Agent Alpha &amp; MCP leaks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5 FinOps &amp;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Gates (Vectors 6 &amp; 9)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2.5 • BREACH SUITE BLUEPRINT] Pattern A: 10-Point Cross-Tenant Breach Simulation &amp; Cryptographic Defense Matrix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2.2 &amp; 2.5 (run_breach_simulations.py) • 10/10 Adversarial Vectors Neutralized Across Hops 1–5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Red-Team AttackerSpoofed Headers &amp; Injections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Balancer • Cloud Armor Edge PEP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6: Redis 429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4k Token Clamp • Blocks 250 RPM Flood &amp; 16k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Audit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Logs Every Blocked Vector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10: Inline 3LO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401 Entra OAuth Challenge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Raw PII Egress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[REDACTED-FINVAULT-*]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7C: AlloyDB RLS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Cross-Tenant Rows Returned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 Only Clean Turns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9: Prefix Cache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READ_ONLY_IMMUTABLE_PREFIX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8: SDP Mask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Redacts IBAN, SWIFT &amp; PAN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Manager Vault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Tenant-Scoped OAuth Tokens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 Registry PDP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 Catalog + ADK Callback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4: HTTP 400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SQLi &amp; Cache Dump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5: HTTP 422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OCC Escalation Suppress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7A: L4 Memory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PermissionError on Cross-Read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7B: GCS Skills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gs://cymbal-skills-fv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1: Header Strip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Drops Forged X-Tenant-ID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2: Agent 403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Retail -&gt; Agent Alpha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3: Tool Prune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Prunes FinVault Jira MCP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security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violation spans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DLP Egress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PII in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Completion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Cache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cross-tenant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data/cache bleed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NLC rules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context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enters Hop 3–5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 3LO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tools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prompt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 PII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580083" y="2312518"/>
            <a:ext cx="605333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spoofed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580083" y="2878531"/>
            <a:ext cx="605333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HTTP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403 Forbidden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 / Safe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403 / 200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 Probe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Probe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10-Point Cross-Tenant Breach Simulation &amp; Cryptographic Defense Matrix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geometry as Figure 1, relabeled as gates: 'Red-Team Attacker Spoofed Headers &amp; Injections' probes, badge 7 returns 'Blocked / Safe'.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'Hop 1 &amp; Hop 2 Gates (Vectors 1, 2, 3 &amp; 10)': header strip, Agent 403, tool prune of FinVault Jira MCP.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'Hop 3 &amp; 5 FinOps &amp;' hub: Vector 6 Redis 429 &amp; 4k clamp, Vector 10 inline 3LO, BigQuery OTel logs every blocked vector.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'Hop 4 Guardrail Gates (Vectors 4, 5 &amp; 8)': HTTP 400 SQLi/cache dump, HTTP 422 NLC, SDP mask IBAN/SWIFT/PAN, zero raw PII egress.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'Hop 3 &amp; Hop 5 Storage Gates (Vectors 7 &amp; 9)': L4 memory, GCS skills, READ_ONLY_IMMUTABLE_PREFIX cache, AlloyDB RLS SET LOCAL.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governance line: 'Real-time security violation spans' — every denial is a queryable audit record.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diagrams/ws2-pattern-a-breach-defense-sequence.drawio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A: 10-POINT CROSS-TENANT BREACH SIMULATION &amp; CRYPTOGRAPHIC DEFENSE MATRIX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Adversarial Breach Verification Harness (10/10 Deterministic Security Gates PASS)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 • Zero-Trust 5-Hop Enforcement Pipeline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4 Guardrail Gates (Vectors 4, 5 &amp; 8) • Prompt, NLC &amp; SDP DLP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3 &amp; Hop 5 Storage Gates (Vectors 7 &amp; 9) • Memory, Skills &amp; RLS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Armor &amp; Semantic NLCs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Ingress Injection Screen &amp; Egress SDP Redaction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 Bank, Skills &amp; AlloyDB RLS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Cryptographic Namespace &amp; Storage-Engine Isolation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1 &amp; Hop 2 Gates (Vectors 1, 2, 3 &amp;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Neutralizes header spoofing, Agent Alpha &amp; MCP leaks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3 &amp; 5 FinOps &amp;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 Gates (Vectors 6 &amp; 9)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2.5 • BREACH SUITE BLUEPRINT] Pattern A: 10-Point Cross-Tenant Breach Simulat…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2.2 &amp; 2.5 (run_breach_simulations.py) • 10/10 Adversarial Vectors Neutralized Across Hops 1–5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Red-Team AttackerSpoofed Headers &amp; Injections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 Balancer • Cloud Armor Edge PEP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Vector 6: Redis 429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&amp; 4k Token Clamp • Blocks 250 RPM Flood &amp; 16k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OTel Audit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Logs Every Blocked Vector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Vector 10: Inline 3LO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 401 Entra OAuth Challenge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PATTERN A DEMO ENVIRONMENT &amp; 3P AUTH SANDBOX: POOLED PROJECT, FEDERATED IDPS, OAUTH 2LO/3LO APPS, REDIS &amp; FIRESTORE TENANT CONFIG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VIS-WS2-DEMO-ENV-AND-3P-AUTH-SANDBOX-TOPOLOGY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17113" y="521208"/>
            <a:ext cx="5358384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0265" y="576072"/>
            <a:ext cx="5212080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PATTERN A DEMO ENVIRONMENT &amp; 3P AUTH SANDBOX: POOLED PROJECT, FEDERATED IDPS, OAUTH 2LO/3LO APPS, REDIS &amp; FIRESTORE TENANT CONFIG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VIS-WS2-DEMO-ENV-AND-3P-AUTH-SANDBOX-TOPOLOGY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Demo Project cymbal-pooled-saas-prod (us-central1) • 12 Enabled APIs (aiplatform, modelarmor, dlp, run, iap, alloydb, redis, firestore, cloudkms, bigquery)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GEAP Runtime • Hop 1 Edge PEP + Hop 5 3P Auth Sandbox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Alpha Sandbox: FinVault Bank (ENTERPRISE • Google Workspace OIDC + Jira 3LO)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Beta Sandbox: RetailStream Corp (STANDARD • Microsoft Entra ID, Zero Google Footprint)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Sandbox Wiring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finvault.com OAuth 2.0 Client ID • 8,000 thinking budget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Sandbox Wiring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retailstream.onmicrosoft.com • 4,000 thinking budget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env ingress &amp; bootstrap hub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Project, APIs, Cloud Armor WAF, Global LB &amp; Edge PEP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Secrets, IdP issuer map &amp;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observability setup hub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2.2 • DEMO ENV &amp; 3P AUTH SANDBOX] Pattern A Demo Environment &amp; 3P Auth Sandbox: Pooled Project, Federated IdPs, OAuth 2LO/3LO Apps, Redis &amp; Firestore Tenant Config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Provisioning Topology for cymbal-pooled-saas-prod (us-central1) Seeding FinVault Bank (Google OIDC + Jira) &amp; RetailStream Corp (Entra ID + SharePoint/ServiceNow)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 Platform Operatorgcloud bootstrap + IdP admin consoles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External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Load Balancer • edge.cymbal-saas.example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(Auth Manager) • 3LO scope registry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bigquery.googleapis.com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cloudkms.googleapis.com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Agent Alpha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claude-3-7-sonnet allowed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Redis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cymbal-tenant-bulkhead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MCP Sandbox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read/write:jira-work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 MCP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ITOM REST useraccount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Tenant Doc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ENTERPRISE • rpm 600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Tenant Doc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STANDARD • rpm 120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Edge PEP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Envoy Service Extension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OIDC Client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Client ID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3LO Scopes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drive, calendar, gmail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App Reg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Cymbal-RetailStream-Agent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Sites.Read.All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SharePoint runbooks 3LO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WAF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cymbal-pooled-edge-waf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Sanitizer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X-Tenant-ID spoof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Edge PEP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IDP_ISSUER_MAP + OBO/DPoP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Scopes, keys &amp;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datasets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+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tools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allowed_agents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+ alpha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OIDC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URL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7.0 5GB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bulkhead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breach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simulation suite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3LO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scopes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IdPs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(OIDC &amp; Entra)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11173" y="3118104"/>
            <a:ext cx="762610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 OIDC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issuer per tenant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client ID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tenant config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559966" y="2312518"/>
            <a:ext cx="64465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1000 SQLi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XSS deny-403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559966" y="2878531"/>
            <a:ext cx="64465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forged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headers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APIs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Demo Environment &amp; 3P Auth Sandbox: Pooled Project, Federated IdPs, OAuth 2LO/3LO Apps, Redis &amp; Firestore Tenant Config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project (cymbal-pooled-saas-prod, us-central1) with 12 enabled APIs hosts both demo tenants; isolation is logical, not per-project.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is the Hop 1 front door: Cloud Armor cymbal-pooled-edge-waf (rule 1000 SQLi/XSS deny-403) plus the Edge PEP that strips forged X-Tenant-ID headers.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 wires FinVault Bank: a Google OAuth 2.0 Client ID on finvault.com, Workspace 3LO scopes (drive, calendar, gmail) and Jira read/write:jira-work.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 wires RetailStream Corp with zero Google footprint: Entra app Cymbal-RetailStream-Agent-Client, Graph Sites.Read.All, ServiceNow useraccount.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 holds the shared setup: Agent Identity (Auth Manager) scope registry, Cloud KMS for CMEK and BigQuery for OpenTelemetry audit.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seeds tier, thinking budget (8000 vs 4000), Redis rpm (600 vs 120) and allowed_agents per tenant; the 2.5 breach suite verifies the whole sandbox.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diagrams/ws2-demo-env-and-3p-auth-sandbox-topology.drawio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PATTERN A DEMO ENVIRONMENT &amp; 3P AUTH SANDBOX: POOLED PROJECT, FEDERATED IDPS, OAUTH 2LO/3LO APPS, REDIS &amp; FIRESTORE TENANT CONFIG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Demo Project cymbal-pooled-saas-prod (us-central1) • 12 Enabled APIs (aiplatform,…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Pooled GEAP Runtime • Hop 1 Edge PEP + Hop 5 3P Auth Sandbox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Alpha Sandbox: FinVault Bank (ENTERPRISE • Google Workspace OIDC + Jira 3LO)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Beta Sandbox: RetailStream Corp (STANDARD • Microsoft Entra ID, Zero Google Footpr…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Sandbox Wiring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finvault.com OAuth 2.0 Client ID • 8,000 thinking budget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RetailStream Sandbox Wiring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retailstream.onmicrosoft.com • 4,000 thinking budget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env ingress &amp; bootstrap hub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Project, APIs, Cloud Armor WAF, Global LB &amp; Edge PEP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Secrets, IdP issuer map &amp;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observability setup hub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2.2 • DEMO ENV &amp; 3P AUTH SANDBOX] Pattern A Demo Environment &amp; 3P Auth Sandbo…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Provisioning Topology for cymbal-pooled-saas-prod (us-central1) Seeding FinVault Bank (Google OIDC + Jira) &amp;…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Cymbal Platform Operatorgcloud bootstrap + IdP admin consoles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Global External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 Load Balancer • edge.cymbal-saas.example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Identity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(Auth Manager) • 3LO scope registry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OTel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bigquery.googleapis.com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KMS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cloudkms.googleapis.com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— PATTERN A 1-CLICK TERRAFORM STARTER: PROVIDER → CLOUD ARMOR WAF → CLOUD RUN V2 GEAP GATEWAY → REDIS / KMS CMEK → BIGQUERY OTEL RESOURCE GRAPH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VIS-WS2-TERRAFORM-STARTER-RESOURCE-GRAPH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111703" y="521208"/>
            <a:ext cx="5968289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84855" y="576072"/>
            <a:ext cx="5821985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— PATTERN A 1-CLICK TERRAFORM STARTER: PROVIDER → CLOUD ARMOR WAF → CLOUD RUN V2 GEAP GATEWAY → REDIS / KMS CMEK → BIGQUERY OTEL RESOURCE GRAPH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VIS-WS2-TERRAFORM-STARTER-RESOURCE-GRAPH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Root Module (main.tf + variables.tf) • provider "google" { project = var.project_id, region = var.region }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 Dependency Graph • Hop 1 Edge → Hop 3 Runtime &amp; Bulkhead → Hop 5 Audit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Services Graph: google_cloud_run_v2_service.cymbal_pooled_gateway (Gen2 gVisor)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Graph: google_redis_instance.tenant_token_bulkhead + AlloyDB RLS &amp; Firestore (provisioned in 2.2)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v2 GEAP Gateway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cymbal-pooled-agent-gateway • EXECUTION_ENVIRONMENT_GEN2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Data &amp; Bulkhead Stores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Redis 7.0 STANDARD_HA 5GB (Hop 3 FinOps)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Provider, project &amp; ingress hub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required_providers + Hop 1 Cloud Armor WAF front door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IAM, CMEK keys &amp;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observability resources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2.6 • TERRAFORM STARTER RESOURCE GRAPH] Pattern A 1-Click Terraform Starter: Provider → Cloud Armor WAF → Cloud Run v2 GEAP Gateway → Redis / KMS CMEK → BigQuery OTel Resource Graph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hashicorp/google &gt;= 5.30.0 on Terraform &gt;= 1.5.0 • project_id cymbal-pooled-saas-prod • region us-central1 • Hop 1, Hop 3 &amp; Hop 5 Resources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Operator (IaC)terraform init • plan • apply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provider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&gt;= 5.30.0 • var.project_id / var.region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Key Ring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cymbal-pooled-tenant-kr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Dataset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cymbal_multi_tenant_otel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CMEK Key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finvault-agent-memory-cmek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REDIS_BULKHEAD_HOST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redis_instance.host ref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 Labels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hop-3-finops-bulkhead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CYMBAL_TOPOLOGY_MODE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RLS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alloydb.googleapis.com (2.2)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CONTEXT_CACHE_ID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shared-diagnostic-prefix-v2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Config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Per-tenant runtime docs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LB Ingress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INGRESS_TRAFFIC_INTERNAL_LB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v2 Service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cymbal-pooled-agent-gateway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 Container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cymbal-agent-gateway:v2.0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Redis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cymbal-tenant-bulkhead-redis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STANDARD_HA 5 GB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REDIS_7_0 • var.region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Policy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cymbal_pooled_waf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1000 deny(403)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sqli-v33 || xss-v33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allow rule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SRC_IPS_V1 to IAP &amp; PEP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rotation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Hop 5 OTel audit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Gen2 gVisor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sandbox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Implicit dep on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instance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&amp; rate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bulkhead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pattern-a-pooled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pooled_gateway_uri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redis_bulkhead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 env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Hop 3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data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2147483647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template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URI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621231" y="2312518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Edge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policy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580083" y="2878531"/>
            <a:ext cx="605333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Preconfigured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rules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tfvars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1-Click Terraform Starter: Provider → Cloud Armor WAF → Cloud Run v2 GEAP Gateway → Redis / KMS CMEK → BigQuery OTel Resource Graph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root module (main.tf + variables.tf) on Terraform &gt;= 1.5.0 with hashicorp/google &gt;= 5.30.0 deploys the pooled Pattern A core in one apply.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is Hop 1: google_compute_security_policy.cymbal_pooled_waf with a deny(403) SQLi/XSS rule at priority 1000 and a default SRC_IPS_V1 allow.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 is the runtime graph: google_cloud_run_v2_service.cymbal_pooled_gateway, Gen2 gVisor, internal-LB ingress and env vars referencing other resources.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 is the data graph: google_redis_instance.tenant_token_bulkhead (REDIS_7_0, STANDARD_HA, 5 GB); AlloyDB RLS and Firestore are provisioned in 2.2.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 covers keys and audit: cymbal-pooled-tenant-kr key ring, finvault-agent-memory-cmek (90-day rotation), BigQuery dataset cymbal_multi_tenant_otel.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outputs close the loop — pooled_gateway_uri and redis_bulkhead_host — so downstream workstreams can bind to the deployed resources without hardcoding.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diagrams/ws2-terraform-starter-resource-graph.drawio</a:t>
            </a:r>
            <a:endParaRPr lang="en-US" sz="7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— PATTERN A 1-CLICK TERRAFORM STARTER: PROVIDER → CLOUD ARMOR WAF → CLOUD RUN V2 GEAP GATEWAY → REDIS / KMS CMEK → BIGQUERY OTEL RESOURCE GRAPH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Root Module (main.tf + variables.tf) • provider "google" { project = var.projec…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Resource Dependency Graph • Hop 1 Edge → Hop 3 Runtime &amp; Bulkhead → Hop 5 Audit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Runtime &amp; Services Graph: google_cloud_run_v2_service.cymbal_pooled_gateway (Gen2 gVisor)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Graph: google_redis_instance.tenant_token_bulkhead + AlloyDB RLS &amp; Firestore (provis…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Run v2 GEAP Gateway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cymbal-pooled-agent-gateway • EXECUTION_ENVIRONMENT_GEN2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Data &amp; Bulkhead Stores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Memorystore Redis 7.0 STANDARD_HA 5GB (Hop 3 FinOps)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Provider, project &amp; ingress hub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required_providers + Hop 1 Cloud Armor WAF front door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IAM, CMEK keys &amp;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observability resources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2.6 • TERRAFORM STARTER RESOURCE GRAPH] Pattern A 1-Click Terraform Starter:…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hashicorp/google &gt;= 5.30.0 on Terraform &gt;= 1.5.0 • project_id cymbal-pooled-saas-prod • region us-central1 •…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 Operator (IaC)terraform init • plan • apply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provider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&gt;= 5.30.0 • var.project_id / var.region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KMS Key Ring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cymbal-pooled-tenant-kr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Dataset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cymbal_multi_tenant_otel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CMEK Key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finvault-agent-memory-cmek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Key Takeaways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density and zero-bleed isolation are compatible when tenant identity is cryptographic and enforced at every hop, not just the gateway.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compute (gVisor pods) and shared storage (AlloyDB RLS) plus tenant-scoped policy is the whole Pattern A picture.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immutable prefix caching is both the FinOps lever (90% prefix discount) and a security control (no suffix write-back).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architecture with a deterministic red-team suite that asserts status codes, decisions and payloads for all 10 vectors.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Graduate tenants to Pattern B Sovereign Silos only when they mandate VPC-SC, project separation, CMEK kill-switch or air-gapped Gemma 3.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run_breach_simulations.py, apply the 2.6 Terraform starter, complete the 90-minute codelab, then continue to Workstream 3 — Pattern B Sovereign Silos.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01168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— Sovereign Silos: One Project, One Perimeter, One Key per Tenant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384048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Reusing the 80% 5-Hop Cymbal core inside dedicated VPC-SC / PAB / CMEK tenant projects with air-gapped Gemma 3 on GKE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Executive TL;DR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Regulated tenants (OCC/FDIC, DORA, HIPAA, public sector) often prohibit shared compute, shared databases, and platform-owned keys.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keeps core-cymbal-agent unchanged and adds a 20% delta: mTLS SPIFFE pinning, IAM PAB, VPC-SC perimeter, CMEK kill-switch, Gemma 3 on GKE.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tenant gets a dedicated project: cymbal-finvault-silo-prod and cymbal-retailstream-silo-prod, each with its own agent-memory-cmek key.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Revoking the tenant CMEK halts every agent turn at Hop 3 with HTTP 423 KMS_KEY_DISABLED; all 6 sovereign security tests pass.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zero noisy neighbours and simple per-project quotas versus a higher per-tenant infrastructure floor and multi-project operations.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B: ZERO-TRUST SOVEREIGN SILOS (VPC-SC, IAM PAB, CMEK &amp; AIR-GAPPED GEMMA 3 ON GKE)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VIS-WS3-PATTERN-B-SOVEREIGN-SILOS-ARCHITECTURE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23514" y="521208"/>
            <a:ext cx="5344668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6666" y="576072"/>
            <a:ext cx="5198364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B: ZERO-TRUST SOVEREIGN SILOS (VPC-SC, IAM PAB, CMEK &amp; AIR-GAPPED GEMMA 3 ON GKE)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VIS-WS3-PATTERN-B-SOVEREIGN-SILOS-ARCHITECTURE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 (80% Core 5-Hop Pipeline + 20% Sovereign VPC-SC / PAB / CMEK Delta)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Routing &amp; Governance Hub VPC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Alpha • Project: cymbal-finvault-silo-prod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Beta • Project: cymbal-retailstream-silo-prod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(FinVault Bank)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Project • CMEK: finvault-kr/agent-memory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Silo (RetailStream)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Project • CMEK: retailstream-kr/memory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certificate pinning (HTTP 401 on SAN mismatch)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Security Hub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3.1 • PATTERN B BLUEPRINT] Pattern B: Zero-Trust Sovereign Silos (VPC-SC, IAM PAB, CMEK Kill-Switch &amp; Air-Gapped Gemma 3 on GKE)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2 (Weeks 4–7) • Dedicated Per-Tenant GCP Projects with Physical Isolation &amp; Instant HTTP 423 CMEK Lock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SPIFFE ClientsFinVault &amp; RetailStream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Balancer • SNI Silo Routing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 • VPC-SC &amp; PAB Violation Feed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Suite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Sovereign Tests PASS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/ EKM Key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Kill-Switch (HTTP 423)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AlloyDB &amp; Memory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AlloyDB &amp; Memory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RetailStream Silo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&amp; Jira (0 Egress)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SharePoint &amp; SNOW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to Dedicated Silo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FinVault Template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(27B) GKE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vLLM + Claude 3.7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 PCI Template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Provisioned Quota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&amp; mTLS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X.509 SPIFFE Cert Pinning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&amp; DDoS Filter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Verifier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Cross-Project Block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state &amp; VPC-SC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monitoring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Egress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Ready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Bound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RAG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Ready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response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(or HTTP 423 Locked)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isolated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tenant project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org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policy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580083" y="2312518"/>
            <a:ext cx="605333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client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SPIFFE SAN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621231" y="2878531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Response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/ 423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Request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Valid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B: Zero-Trust Sovereign Silos (VPC-SC, IAM PAB, CMEK &amp; Air-Gapped Gemma 3 on GKE)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badges 1→7: mTLS Request enters from the SPIFFE clients; Silo Response or HTTP 423 Locked returns on the same trunk.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hub: Cloud Armor SPIFFE pinning, Model Armor edge filter, IAM PAB Verifier, External ALB, Sovereign Hub Router.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hub: Security Command Center, Cloud KMS / EKM Key, and the Silo Security Suite 6/6 Sovereign Tests PASS card.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line 'CMEK state &amp; VPC-SC audit monitoring' feeds both silos — the signal Hop 3 uses to refuse work instantly.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spoke: Perimeter Alpha / cymbal-finvault-silo-prod with Gemma 3 (27B) GKE air-gapped inference and Private GKE Zero Egress.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spoke: Perimeter Beta / cymbal-retailstream-silo-prod with Gemini 2.5 Pro PT and Local Silo MCP Entra SharePoint &amp; SNOW.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diagrams/ws3-pattern-b-sovereign-silos-architecture.drawio</a:t>
            </a:r>
            <a:endParaRPr lang="en-US" sz="7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B: ZERO-TRUST SOVEREIGN SILOS (VPC-SC, IAM PAB, CMEK &amp; AIR-GAPPED GEMMA 3 ON GKE)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Multi-Project Sovereign Topology (80% Core 5-Hop Pipeline + 20% Sovereign VPC-SC / PAB /…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mTLS Routing &amp; Governance Hub VPC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PAB + VPC-SC Perimeter Alpha • Project: cymbal-finvault-silo-prod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PAB + VPC-SC Perimeter Beta • Project: cymbal-retailstream-silo-prod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A Silo (FinVault Bank)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Project • CMEK: finvault-kr/agent-memory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B Silo (RetailStream)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Project • CMEK: retailstream-kr/memory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mTLS &amp; SPIFFE Routing Hub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certificate pinning (HTTP 401 on SAN mismatch)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KMS CMEK &amp;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Sovereign Security Hub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3.1 • PATTERN B BLUEPRINT] Pattern B: Zero-Trust Sovereign Silos (VPC-SC, IAM…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Milestone 2 (Weeks 4–7) • Dedicated Per-Tenant GCP Projects with Physical Isolation &amp; Instant HTTP 423 CMEK L…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mTLS SPIFFE ClientsFinVault &amp; RetailStream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 Balancer • SNI Silo Routing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Command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 • VPC-SC &amp; PAB Violation Feed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Silo Security Suite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6/6 Sovereign Tests PASS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KMS / EKM Key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 Kill-Switch (HTTP 423)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B PROVISIONING TOPOLOGY: ORG → PER-TENANT SILO PROJECTS, VPC-SC PERIMETERS, IAM PAB &amp; CLOUD KMS CMEK KEYS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VIS-WS3-MULTI-PROJECT-SILO-AND-CMEK-SETUP-TOPOLOGY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23514" y="521208"/>
            <a:ext cx="5344668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6666" y="576072"/>
            <a:ext cx="5198364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B PROVISIONING TOPOLOGY: ORG → PER-TENANT SILO PROJECTS, VPC-SC PERIMETERS, IAM PAB &amp; CLOUD KMS CMEK KEYS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VIS-WS3-MULTI-PROJECT-SILO-AND-CMEK-SETUP-TOPOLOGY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Organization 123456789012 • Multi-Project Sovereign Silo Topology (One Project, Perimeter, Key Ring &amp; PAB Policy per Tenant)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Hub Project Bootstrap &amp; Org-Level Governance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 + PAB • Project: cymbal-finvault-silo-prod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 + PAB • Project: cymbal-retailstream-silo-prod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Silo Setup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Ring finvault-kr • agent-memory-cmek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Silo Setup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loop • Dedicated key ring &amp; CMEK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Hub Project Bootstrap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create → billing link → services enable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Org-Level PAB, KMS &amp;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Governance Hub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3.2 • MULTI-PROJECT SILO &amp; CMEK SETUP] Pattern B Provisioning Topology: Org → Per-Tenant Silo Projects, VPC-SC Perimeters, IAM PAB &amp; Cloud KMS CMEK Keys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Multi-Project Silo Demo &amp; Cloud KMS CMEK Keys • cymbal-finvault-silo-prod &amp; cymbal-retailstream-silo-prod (us-central1)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/ FDE Operatorgcloud + ORG_ID + BILLING_ACCOUNT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&amp; Env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 • REGION=us-central1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Policy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finvault-sovereign-pab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Key IAM Binding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cryptoKeyEncrypterDecrypter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Context Mgr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 Policy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AlloyDB &amp; GEAP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SA key binding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AlloyDB &amp; GEAP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SA key binding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Ring finvault-kr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us-central1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Ring (Tenant B)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us-central1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agent-memory-cmek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rotation 7776000s (90d)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agent-memory-cmek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rotation 7776000s (90d)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Tests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run_silo_security_tests.py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Restricts 7 silo APIs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 Gemma 3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container.googleapis.com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Restricts 7 silo APIs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 Gemma 3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container.googleapis.com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gcloud projects create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--organization=ORG_ID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Link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BILLING_ACCOUNT per silo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7 Silo APIs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aiplatform…accesscontext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PAB, perimeter &amp;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IAM bindings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scoped to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project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7146" y="5712257"/>
            <a:ext cx="802843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SA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EncrypterDecrypter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scoped to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proj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5676" y="5712257"/>
            <a:ext cx="802843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SA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EncrypterDecrypter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Exfil &amp; CMEK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revocation tests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CMEK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 key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 tenant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project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KMS,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GKE, AlloyDB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key ring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CMEK key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619402" y="2312518"/>
            <a:ext cx="525780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silo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599286" y="2878531"/>
            <a:ext cx="565099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billing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tests PASS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gcloud bootstrap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ready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Provisioning Topology: Org → Per-Tenant Silo Projects, VPC-SC Perimeters, IAM PAB &amp; Cloud KMS CMEK Keys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org, two dedicated tenant projects — cymbal-finvault-silo-prod and cymbal-retailstream-silo-prod — created under ORG_ID and linked to one billing account.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 enables seven silo APIs per project: aiplatform, discoveryengine, modelarmor, container, cloudkms, alloydb and accesscontextmanager.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Per-tenant Cloud KMS: key ring finvault-kr in us-central1 with crypto key agent-memory-cmek, purpose encryption, 90-day (7776000s) rotation.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Vertex AI service agent (service-&lt;PROJECT_NUMBER&gt;@gcp-sa-aiplatform) receives roles/cloudkms.cryptoKeyEncrypterDecrypter on the tenant key only.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Org-level IAM Principal Access Boundary finvault-sovereign-pab restricts FinVault principals strictly to the FinVault silo project resource.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7 closes the loop: run_silo_security_tests.py replays perimeter exfiltration and CMEK revocation checks before the silo is declared live.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diagrams/ws3-multi-project-silo-and-cmek-setup-topology.drawio</a:t>
            </a:r>
            <a:endParaRPr lang="en-US" sz="7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B PROVISIONING TOPOLOGY: ORG → PER-TENANT SILO PROJECTS, VPC-SC PERIMETERS, IAM PAB &amp; CLOUD KMS CMEK KEYS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Cloud Organization 123456789012 • Multi-Project Sovereign Silo Topology (One Proje…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Hub Project Bootstrap &amp; Org-Level Governance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VPC-SC Perimeter + PAB • Project: cymbal-finvault-silo-prod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VPC-SC Perimeter + PAB • Project: cymbal-retailstream-silo-prod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Silo Setup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Ring finvault-kr • agent-memory-cmek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RetailStream Silo Setup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loop • Dedicated key ring &amp; CMEK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Hub Project Bootstrap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projects create → billing link → services enable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Org-Level PAB, KMS &amp;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Governance Hub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3.2 • MULTI-PROJECT SILO &amp; CMEK SETUP] Pattern B Provisioning Topology: Org →…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Setup Multi-Project Silo Demo &amp; Cloud KMS CMEK Keys • cymbal-finvault-silo-prod &amp; cymbal-retailstream-silo-pr…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 / FDE Operatorgcloud + ORG_ID + BILLING_ACCOUNT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 &amp; Env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Variables • REGION=us-central1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IAM PAB Policy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finvault-sovereign-pab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KMS Key IAM Binding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cryptoKeyEncrypterDecrypter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 Context Mgr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VPC-SC Perimeter Policy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TERRAFORM BLUEPRINT RESOURCE GRAPH: PROVIDER → CLOUD KMS CMEK → VPC-SC PERIMETER → SOVEREIGN VPC → PRIVATE AIR-GAPPED GKE (GEMMA 3)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VIS-WS3-TERRAFORM-SILO-BLUEPRINT-RESOURCE-GRAPH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116275" y="521208"/>
            <a:ext cx="5959145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89427" y="576072"/>
            <a:ext cx="5812841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TERRAFORM BLUEPRINT RESOURCE GRAPH: PROVIDER → CLOUD KMS CMEK → VPC-SC PERIMETER → SOVEREIGN VPC → PRIVATE AIR-GAPPED GKE (GEMMA 3)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VIS-WS3-TERRAFORM-SILO-BLUEPRINT-RESOURCE-GRAPH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Root Module • Pattern B Sovereign Silo (One Workspace per Tenant: tenant_id, tenant_silo_project_id, access_context_policy_id)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"google" • project = var.tenant_silo_project_id • region = var.region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google_access_context_manager_service_perimeter.tenant_sovereign_perimeter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google_compute_network / subnetwork / google_container_cluster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 Resources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perimeter_${tenant_id}_sovereign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VPC &amp; Private GKE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${tenant_id}-airgapped-gemma3-gke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&amp; Input Variables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terraform.tfvars.example → variables.tf → provider "google"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google_kms_key_ring &amp;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google_kms_crypto_key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3.6 • TERRAFORM SILO BLUEPRINT RESOURCE GRAPH] Terraform Blueprint Resource Graph: Provider → Cloud KMS CMEK → VPC-SC Perimeter → Sovereign VPC → Private Air-Gapped GKE (Gemma 3)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main.tf / variables.tf / terraform.tfvars.example • hashicorp/google &gt;= 5.30.0 • terraform init → plan → apply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Operatorinit → plan → apply (&gt;= 1.5.0)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"google"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&gt;= 5.30.0 • region us-central1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tenant_silo_keyring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${tenant_id}-sovereign-kr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ENCRYPT_DECRYPT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rotation_period 7776000s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tenant_agent_cmek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agent-memory-cmek 90d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bigquery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restricted_services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database_encryption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key_name = CMEK id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modelarmor &amp; kms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restricted_services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GKE Autopilot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nodes + endpoint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&amp; container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restricted_services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tenant_silo_subnet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10.40.0.0/20 PGA on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cmek_key_id • perimeter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Perimeter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accessPolicies/${policy}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aiplatform &amp; GEAP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discoveryengine restricted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tenant_silo_vpc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auto_create_subnets=false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 IT)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air-gapped serving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var.tenant_id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"finvault"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tenant_silo_project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cymbal-finvault-silo-prod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access_context_policy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 policy 998877665544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key_name feeds GKE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etcd encryption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Perimeter parent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 policy ID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egress for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restricted APIs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CIDR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172.16.0.0/28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etcd ENCRYPTED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CMEK key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Outputs: CMEK key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&amp; perimeter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status.resources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projects/${number}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dependency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(KMS first)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Perimeter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 policy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project num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 8 APIs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580083" y="2312518"/>
            <a:ext cx="605333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prefix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resources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599286" y="2878531"/>
            <a:ext cx="565099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ID &amp;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 emitted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written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apply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Vars resolved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Blueprint Resource Graph: Provider → Cloud KMS CMEK → VPC-SC Perimeter → Sovereign VPC → Private Air-Gapped GKE (Gemma 3)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root module (Terraform &gt;= 1.5.0, hashicorp/google &gt;= 5.30.0) provisions one sovereign silo per tenant from five variables in terraform.tfvars.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google_kms_key_ring.tenant_silo_keyring (${tenant_id}-sovereign-kr) and google_kms_crypto_key.tenant_agent_cmek (agent-memory-cmek, 90-day rotation) come first.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google_access_context_manager_service_perimeter.tenant_sovereign_perimeter binds projects/${tenant_silo_project_number} and restricts eight APIs.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Restricted services: aiplatform, discoveryengine, modelarmor, alloydb, bigquery, storage, cloudkms and container — no path out of the perimeter.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google_compute_network.tenant_silo_vpc and tenant_silo_subnet (10.40.0.0/20, Private Google Access) host the private GKE Autopilot cluster.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google_container_cluster.airgapped_gemma3_cluster uses private nodes/endpoint and database_encryption.key_name = the CMEK key, surfaced via two outputs.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diagrams/ws3-terraform-silo-blueprint-resource-graph.drawio</a:t>
            </a:r>
            <a:endParaRPr lang="en-US" sz="7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TERRAFORM BLUEPRINT RESOURCE GRAPH: PROVIDER → CLOUD KMS CMEK → VPC-SC PERIMETER → SOVEREIGN VPC → PRIVATE AIR-GAPPED GKE (GEMMA 3)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Root Module • Pattern B Sovereign Silo (One Workspace per Tenant: tenant_id, te…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 "google" • project = var.tenant_silo_project_id • region = var.region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google_access_context_manager_service_perimeter.tenant_sovereign_perimeter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google_compute_network / subnetwork / google_container_cluster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VPC-SC Perimeter Resources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perimeter_${tenant_id}_sovereign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Sovereign VPC &amp; Private GKE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${tenant_id}-airgapped-gemma3-gke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 &amp; Input Variables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terraform.tfvars.example → variables.tf → provider "google"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google_kms_key_ring &amp;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google_kms_crypto_key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3.6 • TERRAFORM SILO BLUEPRINT RESOURCE GRAPH] Terraform Blueprint Resource G…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main.tf / variables.tf / terraform.tfvars.example • hashicorp/google &gt;= 5.30.0 • terraform init → plan → apply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Operatorinit → plan → apply (&gt;= 1.5.0)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 "google"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&gt;= 5.30.0 • region us-central1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tenant_silo_keyring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${tenant_id}-sovereign-kr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ENCRYPT_DECRYPT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rotation_period 7776000s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tenant_agent_cmek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agent-memory-cmek 90d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Key Takeaways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Pattern B only when a contract demands a dedicated blast radius, a customer-revocable key, or no multi-tenant model endpoints.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governance code identical across patterns; pay for infrastructure, not for a second engineering team.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answers 'which projects may this principal ever reach?' — it blocks lateral movement even when another project's IAM is wrong.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the tenant CMEK the single dependency for runtime, memory, data, and audit so one key disable is a complete kill-switch.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every control with the 6-test suite before onboarding, and keep the results visible on the architecture diagram.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run_silo_security_tests.py, apply the 3.6 Terraform silo blueprint for one tenant, and book the 90-minute Pattern B codelab with your security team.</a:t>
            </a:r>
            <a:endParaRPr lang="en-US" sz="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01168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— Dynamic Hybrid: One Control Plane, Pooled &amp; Sovereign Tiers, Live Upgrades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384048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Tenant-aware hub routing Standard to a shared pool and Enterprise over Private Service Connect to CMEK spokes, with 0-dropped-turn upgrades</a:t>
            </a:r>
            <a:endParaRPr lang="en-US" sz="15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Executive TL;DR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Tiered SaaS needs Pattern A economics for Standard and Pattern B sovereignty for Enterprise — Pattern C serves both behind one SaaS URL.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 (cymbal-hybrid-hub-prod): Cloud Armor/IAP, Cloud Run Router, Firestore Route Table, Cross-Project ARD Federated GEAP Registry.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(Standard) runs in the Shared Pooled Runtime at a 4,000 thinking cap; FinVault (Enterprise) is reached over PSC at psc://10.10.0.50.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engine (SHADOW_SYNC → ATOMIC_CUTOVER → DRAIN_AND_VERIFY) promotes RetailStream to its own CMEK PSC spoke on the same live session.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 suite verifies 4/4 PASS: 0 ms replication lag, 0 dropped sessions, 8,000 budget unclamped, rs-agent-cmek bound, zero global state bleed.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• Pattern C — Dynamic Hybrid, PSC &amp; Live Tier Migration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C: DYNAMIC HYBRID HUB-AND-SPOKE, PRIVATE SERVICE CONNECT &amp; LIVE TIER MIGRATION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VIS-WS4-PATTERN-C-HYBRID-PSC-AND-MIGRATION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23514" y="521208"/>
            <a:ext cx="5344668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6666" y="576072"/>
            <a:ext cx="5198364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C: DYNAMIC HYBRID HUB-AND-SPOKE, PRIVATE SERVICE CONNECT &amp; LIVE TIER MIGRATION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VIS-WS4-PATTERN-C-HYBRID-PSC-AND-MIGRATION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 (cymbal-hybrid-hub-prod) + PSC Bridge to Sovereign Spokes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VPC • Tenant-Aware Router &amp; 3-Phase Live Tier Migrator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Tier: Shared Pooled Plane (Initial RetailStream Route)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Tier: Private Service Connect (PSC) Spokes (FinVault + Upgraded RetailStream)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pool://cymbal-shared-pooled-v2 (90% Cache Savings)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Enterprise PSC Spokes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psc://10.10.0.50 (FinVault) &amp; psc://10.10.0.51 (Retail)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Control Plane &amp; Intelligent Router Hub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live routing table + Cross-Project GEAP Registry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Zero-Downtime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Migration Engine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4.1 • PATTERN C BLUEPRINT] Pattern C: Dynamic Hybrid Hub-and-Spoke, Private Service Connect (PSC) &amp; Live Tier Migration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3 (Weeks 7–10) • Unified Control Plane Routing Standard to Shared Pool &amp; Enterprise to PSC Spokes (0 Dropped Turns)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&amp; EnterpriseSingle Unified SaaS URL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Balancer • Cloud Load Balancing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SHADOW_SYNC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(0ms Lag Copy) • Streams RLS &amp; L4 Memory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DRAIN_AND_VERIFY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Dropped Turns (4/4 PASS)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ATOMIC_CUTOVER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Flips Firestore Route to PSC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RLS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for Phase 1 Shadow Sync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AlloyDB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Replicated State + CMEK Lock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Serves Standard SaaS Tier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 Target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Delegated 3LO Tools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MCP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Inside VPC-SC Spoke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Router &amp; Live Migrator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Prompt &amp; SDP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Thinking Cap + Cache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DLP &amp; NLC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&amp; Claude 3.7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Upgraded 8,000 Thinking Cap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&amp; IAP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SaaS URL + OBO/DPoP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ARD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GEAP Registry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Maps Tenant -&gt; Pool or PSC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promotion: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-&gt; PSC Spoke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State to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Bridge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Storage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response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 dropped sessions)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Standard to Pool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Enterprise via PSC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route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lookup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621231" y="2312518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619402" y="2878531"/>
            <a:ext cx="525780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route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C: Dynamic Hybrid Hub-and-Spoke, Private Service Connect &amp; Live Tier Migration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at the actor: Standard &amp; Enterprise Single Unified SaaS URL — one hostname for both tiers, step 1 Request in, step 7 Response out.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hub: Cloud Armor &amp; IAP + OBO/DPoP, Cross-Project ARD Federated GEAP Registry, Firestore Route Table, ALB, Cloud Run Router.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hub: 3-Phase Zero-Downtime Tier Migration Engine — SHADOW_SYNC (0ms Lag Copy), ATOMIC_CUTOVER, DRAIN_AND_VERIFY (4/4 PASS).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Trunk badge 3 'Route Standard to Pool or Enterprise via PSC' fans out; badge 7 'Seamless response (0 dropped sessions)' returns.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spoke: Shared Pooled Runtime with Gemini 2.5 Pro 4,000 Thinking Cap + Cache and Shared AlloyDB RLS that Streams State to PSC Spoke.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spoke: Dedicated Enterprise PSC Spokes, Unidirectional PSC Bridge, CMEK Spoke AlloyDB; dashed Live promotion: Pool -&gt; PSC Spoke.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diagrams/ws4-pattern-c-hybrid-psc-and-migration.drawio</a:t>
            </a:r>
            <a:endParaRPr lang="en-US" sz="7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C: DYNAMIC HYBRID HUB-AND-SPOKE, PRIVATE SERVICE CONNECT &amp; LIVE TIER MIGRATION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Unified Hybrid Control Hub (cymbal-hybrid-hub-prod) + PSC Bridge to Sovereign Spokes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Hub VPC • Tenant-Aware Router &amp; 3-Phase Live Tier Migrator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Tier: Shared Pooled Plane (Initial RetailStream Route)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Enterprise Tier: Private Service Connect (PSC) Spokes (FinVault + Upgraded RetailStream)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Pooled Runtime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pool://cymbal-shared-pooled-v2 (90% Cache Savings)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Enterprise PSC Spokes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psc://10.10.0.50 (FinVault) &amp; psc://10.10.0.51 (Retail)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Unified Control Plane &amp; Intelligent Router Hub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Firestore live routing table + Cross-Project GEAP Registry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3-Phase Zero-Downtime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Migration Engine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4.1 • PATTERN C BLUEPRINT] Pattern C: Dynamic Hybrid Hub-and-Spoke, Private S…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Milestone 3 (Weeks 7–10) • Unified Control Plane Routing Standard to Shared Pool &amp; Enterprise to PSC Spokes (…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&amp; EnterpriseSingle Unified SaaS URL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 Balancer • Cloud Load Balancing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SHADOW_SYNC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(0ms Lag Copy) • Streams RLS &amp; L4 Memory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DRAIN_AND_VERIFY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Dropped Turns (4/4 PASS)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ATOMIC_CUTOVER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Flips Firestore Route to PSC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C DEMO ENVIRONMENT: CENTRAL INGRESS HUB, SHARED POOL &amp; PSC SERVICE ATTACHMENT SPOKES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VIS-WS4-HUB-AND-SPOKE-DEMO-ENV-SETUP-TOPOLOGY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390595" y="521208"/>
            <a:ext cx="5410505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63747" y="576072"/>
            <a:ext cx="5264201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C DEMO ENVIRONMENT: CENTRAL INGRESS HUB, SHARED POOL &amp; PSC SERVICE ATTACHMENT SPOKES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VIS-WS4-HUB-AND-SPOKE-DEMO-ENV-SETUP-TOPOLOGY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1: Cymbal Unified Control Plane &amp; Ingress Hub (cymbal-hybrid-hub-prod • us-central1)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cymbal-hub-vpc • cymbal-hub-subnet • NAT-Based PSC Consumer Endpoints (No CIDR Overlap)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Tier: Shared Pooled Compute &amp; RLS Plane (RetailStream Initial Route)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Tier: PSC Producer Spoke (cymbal-finvault-silo-prod • finvault-sovereign-vpc • VPC-SC)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pool://cymbal-shared-pooled-runtime-v2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Tenant Spoke (Producer)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finvault-agent-spoke-psc (ACCEPT_MANUAL)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 Hub (Consumer Side)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live routing table + cross-project GEAP registry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VPC Addressing &amp;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Endpoint Reservation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4.2 • HUB-AND-SPOKE DEMO ENV SETUP] Pattern C Demo Environment: Central Ingress Hub, Shared Pool &amp; PSC Service Attachment Spokes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Provisioning Topology • cymbal-hybrid-hub-prod Consumer Endpoints (10.10.0.50/.51) → Producer ServiceAttachments in Tenant Spokes (us-central1)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Operator (FDE)gcloud + Terraform Provisioning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Consumer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Forwarding Rule • psc-consumer-finvault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psc-endpoint-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finvault-ip • 10.10.0.50 • cymbal-hub-subnet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Upgrade Suite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run_tier_migration_suite.py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Service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Attachment URI • projects/../serviceAttachments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RLS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 Row-Level Security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AlloyDB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+ Cloud KMS CMEK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Prefix Cache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GEAP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Alpha • 8,000 Budget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Incident Agent v2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Spoke MCP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/ Jira Connectors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Tenant-Aware Ingress Router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Prompt Screen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GEAP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Thinking Cap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NAT Subnet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10.40.240.0/24 PSC purpose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ILB Fwd Rule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finvault-spoke-ilb-fwd-rule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ALB +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Hop 1 • Single SaaS URL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tenant_routing_table[id]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Registry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GEAP Agent Cards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reserves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endpoints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RLS-scoped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rows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accept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project=10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 exposure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routing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locally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 IP &amp;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attachment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agents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Standard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response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599286" y="2312518"/>
            <a:ext cx="565099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&amp;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policies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599286" y="2878531"/>
            <a:ext cx="565099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 tier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or PSC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Demo Environment: Central Ingress Hub, Shared Pool &amp; PSC Service Attachment Spokes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hub project (cymbal-hybrid-hub-prod, cymbal-hub-vpc / cymbal-hub-subnet) fronts both tiers behind a single Global ALB + Cloud Armor + IAP URL.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Firestore routing table and cross-project GEAP registry decide per tenant: Standard → pool://cymbal-shared-pooled-runtime-v2, Enterprise → psc://.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 side lives in the tenant spoke: a 10.40.240.0/24 PSC NAT subnet plus finvault-agent-spoke-psc (ACCEPT_MANUAL, accept-list hub project = 10).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side lives in the hub: reserve psc-endpoint-finvault-ip (10.10.0.50) and bind psc-consumer-finvault to the spoke's ServiceAttachment URI.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is NAT-based, so every spoke may reuse 10.40.0.0/20 with no CIDR overlap, and exposure is unidirectional — spokes cannot reach back into the hub VPC.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7 closes the loop: run_tier_migration_suite.py verifies hybrid routing and the live tier upgrade locally before any customer traffic hits the demo.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diagrams/ws4-hub-and-spoke-demo-env-setup-topology.drawio</a:t>
            </a:r>
            <a:endParaRPr lang="en-US" sz="7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C DEMO ENVIRONMENT: CENTRAL INGRESS HUB, SHARED POOL &amp; PSC SERVICE ATTACHMENT SPOKES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1: Cymbal Unified Control Plane &amp; Ingress Hub (cymbal-hybrid-hub-prod • us-centra…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cymbal-hub-vpc • cymbal-hub-subnet • NAT-Based PSC Consumer Endpoints (No CIDR Overlap)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Tier: Shared Pooled Compute &amp; RLS Plane (RetailStream Initial Route)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Enterprise Tier: PSC Producer Spoke (cymbal-finvault-silo-prod • finvault-sovereign-vpc •…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Pooled Runtime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pool://cymbal-shared-pooled-runtime-v2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Tenant Spoke (Producer)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finvault-agent-spoke-psc (ACCEPT_MANUAL)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Ingress Hub (Consumer Side)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Firestore live routing table + cross-project GEAP registry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Hub VPC Addressing &amp;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PSC Endpoint Reservation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4.2 • HUB-AND-SPOKE DEMO ENV SETUP] Pattern C Demo Environment: Central Ingre…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Provisioning Topology • cymbal-hybrid-hub-prod Consumer Endpoints (10.10.0.50/.51) → Producer ServiceAttachme…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 Operator (FDE)gcloud + Terraform Provisioning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PSC Consumer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Forwarding Rule • psc-consumer-finvault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psc-endpoint-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finvault-ip • 10.10.0.50 • cymbal-hub-subnet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Upgrade Suite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run_tier_migration_suite.py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 Service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Attachment URI • projects/../serviceAttachments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ZERO-DOWNTIME TIER UPGRADE TEST SEQUENCE: SHADOW_SYNC → ATOMIC_CUTOVER → DRAIN_AND_VERIFY (4/4 PASS)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VIS-WS4-ZERO-DOWNTIME-TIER-UPGRADE-SEQUENCE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42462" y="521208"/>
            <a:ext cx="5706770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5614" y="576072"/>
            <a:ext cx="5560466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ZERO-DOWNTIME TIER UPGRADE TEST SEQUENCE: SHADOW_SYNC → ATOMIC_CUTOVER → DRAIN_AND_VERIFY (4/4 PASS)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VIS-WS4-ZERO-DOWNTIME-TIER-UPGRADE-SEQUENCE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4.5 Test Harness • PatternCHybridRouterAndMigrator (Instance-Scoped tenant_profiles, Zero Global Mutation)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session_id (sess-rs-live-upgrade-01) Before &amp; After Cutover • Continuous Synthetic Traffic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retailstream = STANDARD • PATTERN_C_HYBRID_POOL • STEADY_STATE_POOL (Shadow Sync Source)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retailstream = ENTERPRISE • PATTERN_C_HYBRID_PSC_SPOKE • UPGRADED_ZERO_DOWNTIME_SPOKE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Source (Pre-Upgrade)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pool://cymbal-shared-pooled-runtime-v2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Target (Post-Upgrade)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psc://10.10.0.51/.../retailstream-agent-spoke-psc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Runner &amp; Router Under Test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route_and_invoke() + execute_zero_downtime_tier_upgrade()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Silent Migration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Machine (TEST 2)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4.5 • ZERO-DOWNTIME TIER UPGRADE SUITE] Zero-Downtime Tier Upgrade Test Sequence: SHADOW_SYNC → ATOMIC_CUTOVER → DRAIN_AND_VERIFY (4/4 PASS)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run_tier_migration_suite.py • Promotes retailstream Mid-Session from pool:// (4,000 cap) to psc://10.10.0.51 (8,000 budget + CMEK) with dropped_sessions == 0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Harness Operatorpython3 run_tier_migration_suite.py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Auth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 • OIDC (FV) &amp; Entra (RS) JWTs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SHADOW_SYNC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replication_lag_ms == 0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DRAIN_AND_VERIFY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MIGRATION_COMPLETE, 0 drops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ATOMIC_CUTOVER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ENTERPRISE, budget 8000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RLS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query_alloydb_with_rls()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AlloyDB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rs-kr / rs-agent-cmek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shared-incident-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diagnostic-v2 • agent://cymbal/... (RS)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cymbal-retailstream-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spoke-prod • New Dedicated Spoke Project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2LO/3LO Tools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MCP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Spoke Connectors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Router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routing_table[tenant_id]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Prompt Screen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Clamped to 4,000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Guardrails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8,000, clamped False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1A Pre-Upgrade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 -&gt; HYBRID_POOL, cap 4000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1B Enterprise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FV -&gt; psc://, budget 8000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2 Migration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phases, lag 0, dropped 0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 audit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log: 3 phases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In-flight turn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finishes on pool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RLS rows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spoke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3 asserts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psc://10.10.0.51/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cmek_key_uri has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rs-agent-cmek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3: same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on PSC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OK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clamped 4000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Pre-upgrade turn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upgrade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assert phases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 == 3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Pre-upgrade turn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Rows replicated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539850" y="2312518"/>
            <a:ext cx="683971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assert topology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HYBRID_POOL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500530" y="2878531"/>
            <a:ext cx="762610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assert endpoint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startswith psc://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4/4 PASS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4/4 PASS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suite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suite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Zero-Downtime Tier Upgrade Test Sequence: SHADOW_SYNC → ATOMIC_CUTOVER → DRAIN_AND_VERIFY (4/4 PASS)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run_tier_migration_suite.py drives PatternCHybridRouterAndMigrator through 4 assertions-backed tests; nothing mutates the global TENANT_PROFILES.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1A/1B fix the baseline: retailstream → PATTERN_C_HYBRID_POOL clamped to 4,000 tokens; finvault → PATTERN_C_HYBRID_PSC_SPOKE over psc:// with 8,000.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2 runs the 3-phase engine: SHADOW_SYNC (replication_lag_ms == 0, PSC_CONNECTION_ACCEPTED) → ATOMIC_CUTOVER → DRAIN_AND_VERIFY (dropped_sessions == 0).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cutover flips routing_table['retailstream'] to tier ENTERPRISE, budget 8,000, target psc://10.10.0.51/... and state UPGRADED_ZERO_DOWNTIME_SPOKE.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3 reuses the same session_id (sess-rs-live-upgrade-01) and asserts PSC routing, thinking_budget_clamped is False, and rs-agent-cmek in cmek_key_uri.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 = the pooled source rows stream from; right spoke = cymbal-retailstream-spoke-prod, the CMEK target that status MIGRATION_COMPLETE confirms.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diagrams/ws4-zero-downtime-tier-upgrade-sequence.drawio</a:t>
            </a:r>
            <a:endParaRPr lang="en-US" sz="7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ZERO-DOWNTIME TIER UPGRADE TEST SEQUENCE: SHADOW_SYNC → ATOMIC_CUTOVER → DRAIN_AND_VERIFY (4/4 PASS)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4.5 Test Harness • PatternCHybridRouterAndMigrator (Instance-Scoped tenant_pro…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session_id (sess-rs-live-upgrade-01) Before &amp; After Cutover • Continuous Synthetic T…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BEFORE: retailstream = STANDARD • PATTERN_C_HYBRID_POOL • STEADY_STATE_POOL (Shadow Sync…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AFTER: retailstream = ENTERPRISE • PATTERN_C_HYBRID_PSC_SPOKE • UPGRADED_ZERO_DOWNTIME_SP…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Pooled Source (Pre-Upgrade)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pool://cymbal-shared-pooled-runtime-v2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PSC Target (Post-Upgrade)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psc://10.10.0.51/.../retailstream-agent-spoke-psc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Runner &amp; Router Under Test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route_and_invoke() + execute_zero_downtime_tier_upgrade()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3-Phase Silent Migration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Machine (TEST 2)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4.5 • ZERO-DOWNTIME TIER UPGRADE SUITE] Zero-Downtime Tier Upgrade Test Seque…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run_tier_migration_suite.py • Promotes retailstream Mid-Session from pool:// (4,000 cap) to psc://10.10.0.51…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Harness Operatorpython3 run_tier_migration_suite.py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1 Auth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OBO + DPoP • OIDC (FV) &amp; Entra (RS) JWTs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SHADOW_SYNC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replication_lag_ms == 0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DRAIN_AND_VERIFY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MIGRATION_COMPLETE, 0 drops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ATOMIC_CUTOVER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ENTERPRISE, budget 8000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— TERRAFORM HYBRID PSC BLUEPRINT RESOURCE GRAPH: HUB VPC → CONSUMER PSC ENDPOINT → PRODUCER SERVICEATTACHMENT IN ENTERPRISE SPOKE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VIS-WS4-TERRAFORM-HYBRID-PSC-BLUEPRINT-RESOURCE-GRAPH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60750" y="521208"/>
            <a:ext cx="5669280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3902" y="576072"/>
            <a:ext cx="5522976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— TERRAFORM HYBRID PSC BLUEPRINT RESOURCE GRAPH: HUB VPC → CONSUMER PSC ENDPOINT → PRODUCER SERVICEATTACHMENT IN ENTERPRISE SPOKE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VIS-WS4-TERRAFORM-HYBRID-PSC-BLUEPRINT-RESOURCE-GRAPH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Root Module: 4.6-terraform-hybrid-psc-blueprint (terraform.tfvars: hub_project_id, enterprise_spoke_project_id, region)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Dependency Graph: Providers → Networks → Subnets → ServiceAttachment → Address → ForwardingRule → Outputs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Side Consumers of the Blueprint (Not Declared in main.tf): 4.3 Router, Firestore Route Table, Registry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 Side in Enterprise Spoke (google.spoke): cymbal-finvault-silo-prod • enterprise_tenant_id = finvault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Downstream Hub Consumers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cymbal-hybrid-hub-prod (tfvars hub_project_id)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Network &amp; ServiceAttachment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${var.enterprise_tenant_id}-agent-spoke-psc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Providers, Variables &amp; Hub Network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"google" alias hub/spoke • var.region = us-central1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PSC Endpoint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Central Hub (google.hub)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4.6 • TERRAFORM HYBRID PSC RESOURCE GRAPH] Terraform Hybrid PSC Blueprint Resource Graph: Hub VPC → Consumer PSC Endpoint → Producer ServiceAttachment in Enterprise Spoke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main.tf (google &gt;= 5.30.0, terraform &gt;= 1.5.0) • Dual Provider Aliases google.hub / google.spoke • Outputs psc_service_attachment_uri &amp; hub_psc_consumer_ip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Operatorinit -&gt; plan -&gt; apply (README)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google_compute_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network.cymbal_hub_vpc • cymbal-hybrid-hub-vpc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google_compute_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 • hub_psc_consumer_ip 10.10.0.50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hub_psc_consumer_ip • Hub IP routing to spoke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google_compute_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forwarding_rule • hub_psc_consumer_endpoint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Logs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PSC_SPOKE route (4.4)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psc_service_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attachment_uri • enterprise_spoke_psc_attach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Registry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Agent Card Discovery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google_compute_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service_attachment • ACCEPT_MANUAL • limit 20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Ingress Rule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Router SA (4.4)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target_service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var.spoke_ilb_forwarding_rule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cymbal_hub_subnet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10.10.0.0/20 • PGA enabled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psc_service_attachment URI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Targets 10.10.0.50 endpoint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enterprise_spoke_vpc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finvault-spoke-vpc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enterprise_spoke_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psc_nat • 10.40.240.0/24 PSC purpose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google.hub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= var.hub_project_id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google.spoke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var.enterprise_spoke_project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variables.tf (5 vars)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 default finvault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psc-consumer-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${tenant_id}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output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attachment URI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managed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this module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consumer_accept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hub_project_id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5676" y="5712257"/>
            <a:ext cx="802843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finvault-spoke-ilb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forwarding rule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= service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attachment.id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psc:// target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 INTERNAL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 in subnet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from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tfvars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 output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via PSC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619402" y="2312518"/>
            <a:ext cx="525780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project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credentials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580083" y="2878531"/>
            <a:ext cx="605333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project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credentials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apply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apply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Hybrid PSC Blueprint Resource Graph: Hub VPC → Consumer PSC Endpoint → Producer ServiceAttachment in Enterprise Spoke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main.tf pins terraform &gt;= 1.5.0 and hashicorp/google &gt;= 5.30.0, then declares two provider aliases — google.hub and google.spoke — fed by five variables.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side: google_compute_network.cymbal_hub_vpc (cymbal-hybrid-hub-vpc) and cymbal_hub_subnet at 10.10.0.0/20 with private Google access enabled.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side: enterprise_spoke_vpc, a 10.40.240.0/24 PRIVATE_SERVICE_CONNECT NAT subnet, and ${tenant}-agent-spoke-psc with ACCEPT_MANUAL and connection_limit 20.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consumer bridge is two resources: google_compute_address.hub_psc_consumer_ip (10.10.0.50) and google_compute_forwarding_rule.hub_psc_consumer_endpoint.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outputs — psc_service_attachment_uri and hub_psc_consumer_ip — feed the 4.3 router's Firestore route table; those hub consumers are not resources here.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tfvars example targets cymbal-hybrid-hub-prod ↔ cymbal-finvault-silo-prod with finvault-spoke-ilb as target_service; README quickstart is init → plan → apply.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diagrams/ws4-terraform-hybrid-psc-blueprint-resource-graph.drawio</a:t>
            </a:r>
            <a:endParaRPr lang="en-US" sz="7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— TERRAFORM HYBRID PSC BLUEPRINT RESOURCE GRAPH: HUB VPC → CONSUMER PSC ENDPOINT → PRODUCER SERVICEATTACHMENT IN ENTERPRISE SPOKE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Root Module: 4.6-terraform-hybrid-psc-blueprint (terraform.tfvars: hub_project_…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Dependency Graph: Providers → Networks → Subnets → ServiceAttachment → Address → Forwardi…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Hub Side Consumers of the Blueprint (Not Declared in main.tf): 4.3 Router, Firestore Rout…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Producer Side in Enterprise Spoke (google.spoke): cymbal-finvault-silo-prod • enterprise_…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Downstream Hub Consumers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cymbal-hybrid-hub-prod (tfvars hub_project_id)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Spoke Network &amp; ServiceAttachment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${var.enterprise_tenant_id}-agent-spoke-psc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Providers, Variables &amp; Hub Network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 "google" alias hub/spoke • var.region = us-central1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Consumer PSC Endpoint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Central Hub (google.hub)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4.6 • TERRAFORM HYBRID PSC RESOURCE GRAPH] Terraform Hybrid PSC Blueprint Res…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main.tf (google &gt;= 5.30.0, terraform &gt;= 1.5.0) • Dual Provider Aliases google.hub / google.spoke • Outputs ps…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Operatorinit -&gt; plan -&gt; apply (README)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google_compute_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network.cymbal_hub_vpc • cymbal-hybrid-hub-vpc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google_compute_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address • hub_psc_consumer_ip 10.10.0.50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output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hub_psc_consumer_ip • Hub IP routing to spoke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google_compute_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forwarding_rule • hub_psc_consumer_endpoint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Key Takeaways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routes isolation instead of duplicating it: one control plane, one URL, two execution tiers.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is keyed only on the Hop 1 cryptographic tenant_id — a client header can never claim Enterprise tier.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Instance-scoped profile mutation makes the live upgrade safe: zero global state bleed across tenants or test runs.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Service Connect removes CIDR overlap and VPC-peering limits while keeping spokes unidirectional and VPC-SC compatible.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migration is measurable: 0 ms lag, 0 dropped sessions, same session id, 4/4 suite gates passing.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the 4.6 Terraform PSC blueprint, run the 4.5 zero-downtime upgrade suite, then continue to Workstream 5 for the decision guide and capstone.</a:t>
            </a:r>
            <a:endParaRPr lang="en-US" sz="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01168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Pooled, Siloed, or Hybrid? Executive Decision Guide &amp; the Multi-Tenant Agentic Triad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384048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wrap-up: topology decision tree, Pattern A/B/C comparison, the Agentic Triad, 5-Hop invariant, and the EAP backlog</a:t>
            </a:r>
            <a:endParaRPr lang="en-US" sz="15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Executive TL;DR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questions decide topology: all tenants need physical isolation (VPC-SC / Gemma 3)? -&gt; Pattern B; else tiered packaging? No -&gt; A, Yes -&gt; C.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of the code is identical: core-cymbal-agent/ implements the 5-Hop Cryptographic Context Chain once; A, B and C are 20% perimeter deltas.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 balances Zero-Trust Security (Hops 1-5), FinOps &amp; COGS Engineering, and Privacy-Preserving Tenant Observability.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cost ladder: Pattern A $ (85-90% shared prefix savings), Pattern C $$ (blended SaaS margin), Pattern B $$$ (dedicated baseline per tenant).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 open product gaps (3 P0, 4 P1, 2 P2) each ship with a repo workaround and a named EAP allowlist targeting Q4 2026 - Q1 2027.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</a:t>
            </a:r>
            <a:endParaRPr lang="en-US" sz="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WORKSTREAM 5 CAPSTONE: EXECUTIVE TOPOLOGY DECISION GUIDE &amp; THE MULTI-TENANT AGENTIC TRIAD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VIS-WS5-DECISION-TREE-AND-AGENTIC-TRIAD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23514" y="521208"/>
            <a:ext cx="5344668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6666" y="576072"/>
            <a:ext cx="5198364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WORKSTREAM 5 CAPSTONE: EXECUTIVE TOPOLOGY DECISION GUIDE &amp; THE MULTI-TENANT AGENTIC TRIAD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VIS-WS5-DECISION-TREE-AND-AGENTIC-TRIAD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Triad: Security (Hops 1–5) • FinOps COGS (-84.7%) • Zero-PII Observability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GEAP &amp; ADK 2.0 Reference Architecture (12/12 Forensic Audit • 20/20 Simulations PASS)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 (High Density): Pattern A Pooled FinOps &amp; COGS Engine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 (Regulated Scale): Pattern B Silos ($$$) &amp; Pattern C Hybrid ($$)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Unit Economics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COGS ($) • 84.7% Net Input Token Savings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Silos &amp; Pattern C PSC Spokes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Blast Radius + Zero-Downtime Tier Promotion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1: Zero-Trust Cryptographic Security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Context Chain across Ingress, Registry &amp; Runtime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3: Privacy-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Preserving OTel &amp; Chargeback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5.1 &amp; 5.2 • CAPSTONE BLUEPRINT] Workstream 5 Capstone: Executive Topology Decision Guide &amp; The Multi-Tenant Agentic Triad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Unifying Zero-Trust Security, FinOps Unit Economics (90% Prefix Cache), and Zero-PII OpenTelemetry Across All 3 Patterns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&amp; SMB Users10,000+ Multi-Tier Tenants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Balancer • Global Anycast Ingress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 • Unified SIEM &amp; Audit Lineage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Zero-PII Cryptographic Spans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Chargeback Models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Even, Proportional &amp; Tiered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RLS &amp; L1–L5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Storage Density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Lock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HTTP 423 Kill-Switch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Thinking Budget Cap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Clamps 4k Std vs 8k Ent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Live Tier Upgrade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&amp; 3LO Auth Mgr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Per-Tenant Vault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MCP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Cross-Project Egress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Selector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Pattern A, B or C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Rate Bulkhead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RPM Std / 600 RPM Ent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Discount on 32k Prefix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IAM PAB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Perimeter Isolation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&amp; Claude 3.7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GKE &amp; Dedicated PT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1: Edge PEP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 + OBO + DPoP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400 + NLC 422 + SDP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2: Registry PDP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 Filter + ADK Tool Prune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COGS &amp;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telemetry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Cache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Bleed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Storage-Engine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PSC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 Bridge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5676" y="5712257"/>
            <a:ext cx="802843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Customer-Revocable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Keys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zero-bleed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completion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Cached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to optimal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cost/security tier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 ARD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MCP tools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quota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COGS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621231" y="2312518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OBO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DPoP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621231" y="2878531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&amp;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 PII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Capstone: Executive Topology Decision Guide &amp; The Multi-Tenant Agentic Triad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 'Enterprise &amp; SMB Users 10,000+ Multi-Tier Tenants' enters at badge 1 Request and receives badge 7 Response.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= Triad Pillar 1: Hop 1 Edge PEP, Hop 4 Model Armor, Hop 2 Registry PDP, External ALB, Architecture Selector (Pattern A/B/C).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 = Triad Pillar 3: Security Command Center, 3 Chargeback Models, BigQuery OTel Sink; dashed line carries zero-PII telemetry.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 3 'Dispatch to optimal cost/security tier' is where the selector commits; badge 7 'Verified zero-bleed agent completion' closes it.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 Pattern A Pooled Unit Economics: Redis Rate Bulkhead, Thinking Budget Cap, ContextCacheConfig 90% Discount, AlloyDB RLS &amp; L1-L5.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 Pattern B Silos &amp; Pattern C PSC Spokes: VPC-SC &amp; IAM PAB, Gemma 3 &amp; Claude 3.7, PSC Spoke Runtime, Silo MCP, CMEK Lock.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diagrams/ws5-decision-tree-and-agentic-triad.drawio</a:t>
            </a:r>
            <a:endParaRPr lang="en-US" sz="7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WORKSTREAM 5 CAPSTONE: EXECUTIVE TOPOLOGY DECISION GUIDE &amp; THE MULTI-TENANT AGENTIC TRIAD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Multi-Tenant Agentic Triad: Security (Hops 1–5) • FinOps COGS (-84.7%) • Zero-PII Obs…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Unified GEAP &amp; ADK 2.0 Reference Architecture (12/12 Forensic Audit • 20/20 Simulations P…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Triad Pillar 2 (High Density): Pattern A Pooled FinOps &amp; COGS Engine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Triad Pillar 2 (Regulated Scale): Pattern B Silos ($$$) &amp; Pattern C Hybrid ($$)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A: Pooled Unit Economics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Lowest COGS ($) • 84.7% Net Input Token Savings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B Silos &amp; Pattern C PSC Spokes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 Blast Radius + Zero-Downtime Tier Promotion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Triad Pillar 1: Zero-Trust Cryptographic Security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5-Hop Context Chain across Ingress, Registry &amp; Runtime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Triad Pillar 3: Privacy-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Preserving OTel &amp; Chargeback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5.1 &amp; 5.2 • CAPSTONE BLUEPRINT] Workstream 5 Capstone: Executive Topology Dec…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Unifying Zero-Trust Security, FinOps Unit Economics (90% Prefix Cache), and Zero-PII OpenTelemetry Across All…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Enterprise &amp; SMB Users10,000+ Multi-Tier Tenants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 Balancer • Global Anycast Ingress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Command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 • Unified SIEM &amp; Audit Lineage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OTel Sink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Zero-PII Cryptographic Spans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Chargeback Models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Even, Proportional &amp; Tiered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Key Takeaways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the compliance question before the packaging question; most topology debates are really about which question is being asked.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Whatever pattern you pick, the same five hops run; only the blast radius of each hop changes.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density, sovereign isolation and hybrid routing are points on one cost/security curve ($ / $$$ / $$), not three products.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Triad is a balance: security-only raises TCO, cost-only invites noisy neighbors and cache bleed, observability without redaction leaks PII.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 the Milestone 1 sign-off gate as your acceptance criteria: header strip, deterministic 403s, tiered clamps and 429s, PII redaction plus RLS.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decision tree with legal and product together, clone core-cymbal-agent/, run the three test suites, and request the P0 EAP allowlists.</a:t>
            </a:r>
            <a:endParaRPr lang="en-US" sz="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Assets, Editable Diagrams &amp; Source Documents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04088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 &amp; Editable Diagrams</a:t>
            </a:r>
            <a:endParaRPr lang="en-US" sz="20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52728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926080"/>
                <a:gridCol w="2926080"/>
                <a:gridCol w="1767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Editable Draw.io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Draw.io Render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Vision AST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1.1 BLUEPRINT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GEAP Multi-Tenant Agentic AI Taxonomy: Pooled (Pattern A), Sovereign Silos (Pattern B) &amp; Hybrid (Pattern C)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diagrams/ws1-multi-tenant-taxonomy-overview.drawio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diagrams/ws1-multi-tenant-taxonomy-overview.drawio.png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diagrams/vision_metadata/ws1-multi-tenant-taxonomy-overview.vision.json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1.3 DOC PR BLUEPRINT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Architecture Center: Multi-Tenant Agentic AI System with 5-Hop Cryptographic Governance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diagrams/ws1-cloud-arch-center-5hop-baseline.drawio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diagrams/ws1-cloud-arch-center-5hop-baseline.drawio.png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diagrams/vision_metadata/ws1-cloud-arch-center-5hop-baseline.vision.json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2.1 • PATTERN A BLUEPRINT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A: High-Density Pooled Multi-Tenant Architecture &amp; Shared Runtime Governance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diagrams/ws2-pattern-a-pooled-5hop-architecture.drawio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diagrams/ws2-pattern-a-pooled-5hop-architecture.drawio.png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diagrams/vision_metadata/ws2-pattern-a-pooled-5hop-architecture.vision.json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2.5 • BREACH SUITE BLUEPRINT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A: 10-Point Cross-Tenant Breach Simulation &amp; Cryptographic Defense Matrix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diagrams/ws2-pattern-a-breach-defense-sequence.drawio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diagrams/ws2-pattern-a-breach-defense-sequence.drawio.png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diagrams/vision_metadata/ws2-pattern-a-breach-defense-sequence.vision.json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2.2 • DEMO ENV &amp; 3P AUTH SANDBOX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A Demo Environment &amp; 3P Auth Sandbox: Pooled Project, Federated IdPs, OAuth 2LO/3LO Apps, Redis &amp; Firestore Tenant Config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diagrams/ws2-demo-env-and-3p-auth-sandbox-topology.drawio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diagrams/ws2-demo-env-and-3p-auth-sandbox-topology.drawio.png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diagrams/vision_metadata/ws2-demo-env-and-3p-auth-sandbox-topology.vision.json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2.6 • TERRAFORM STARTER RESOURCE GRAPH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A 1-Click Terraform Starter: Provider → Cloud Armor WAF → Cloud Run v2 GEAP Gateway → Redis / KMS CMEK → BigQuery OTel Resource Graph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diagrams/ws2-terraform-starter-resource-graph.drawio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diagrams/ws2-terraform-starter-resource-graph.drawio.png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diagrams/vision_metadata/ws2-terraform-starter-resource-graph.vision.json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3.1 • PATTERN B BLUEPRINT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B: Zero-Trust Sovereign Silos (VPC-SC, IAM PAB, CMEK Kill-Switch &amp; Air-Gapped Gemma 3 on GKE)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diagrams/ws3-pattern-b-sovereign-silos-architecture.drawio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diagrams/ws3-pattern-b-sovereign-silos-architecture.drawio.png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diagrams/vision_metadata/ws3-pattern-b-sovereign-silos-architecture.vision.json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3.2 • MULTI-PROJECT SILO &amp; CMEK SETUP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B Provisioning Topology: Org → Per-Tenant Silo Projects, VPC-SC Perimeters, IAM PAB &amp; Cloud KMS CMEK Keys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diagrams/ws3-multi-project-silo-and-cmek-setup-topology.drawio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diagrams/ws3-multi-project-silo-and-cmek-setup-topology.drawio.png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diagrams/vision_metadata/ws3-multi-project-silo-and-cmek-setup-topology.vision.json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3.6 • TERRAFORM SILO BLUEPRINT RESOURCE GRAPH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Blueprint Resource Graph: Provider → Cloud KMS CMEK → VPC-SC Perimeter → Sovereign VPC → Private Air-Gapped GKE (Gemma 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diagrams/ws3-terraform-silo-blueprint-resource-graph.drawio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diagrams/ws3-terraform-silo-blueprint-resource-graph.drawio.png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diagrams/vision_metadata/ws3-terraform-silo-blueprint-resource-graph.vision.json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4.1 • PATTERN C BLUEPRINT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C: Dynamic Hybrid Hub-and-Spoke, Private Service Connect (PSC) &amp; Live Tier Migration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diagrams/ws4-pattern-c-hybrid-psc-and-migration.drawio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diagrams/ws4-pattern-c-hybrid-psc-and-migration.drawio.png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diagrams/vision_metadata/ws4-pattern-c-hybrid-psc-and-migration.vision.json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4.2 • HUB-AND-SPOKE DEMO ENV SETUP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C Demo Environment: Central Ingress Hub, Shared Pool &amp; PSC Service Attachment Spokes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diagrams/ws4-hub-and-spoke-demo-env-setup-topology.drawio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diagrams/ws4-hub-and-spoke-demo-env-setup-topology.drawio.png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diagrams/vision_metadata/ws4-hub-and-spoke-demo-env-setup-topology.vision.json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4.5 • ZERO-DOWNTIME TIER UPGRADE SUITE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Zero-Downtime Tier Upgrade Test Sequence: SHADOW_SYNC → ATOMIC_CUTOVER → DRAIN_AND_VERIFY (4/4 PASS)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diagrams/ws4-zero-downtime-tier-upgrade-sequence.drawio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diagrams/ws4-zero-downtime-tier-upgrade-sequence.drawio.png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diagrams/vision_metadata/ws4-zero-downtime-tier-upgrade-sequence.vision.json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4.6 • TERRAFORM HYBRID PSC RESOURCE GRAPH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Hybrid PSC Blueprint Resource Graph: Hub VPC → Consumer PSC Endpoint → Producer ServiceAttachment in Enterprise Spoke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diagrams/ws4-terraform-hybrid-psc-blueprint-resource-graph.drawio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diagrams/ws4-terraform-hybrid-psc-blueprint-resource-graph.drawio.png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diagrams/vision_metadata/ws4-terraform-hybrid-psc-blueprint-resource-graph.vision.json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5.1 &amp; 5.2 • CAPSTONE BLUEPRINT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5 Capstone: Executive Topology Decision Guide &amp; The Multi-Tenant Agentic Triad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diagrams/ws5-decision-tree-and-agentic-triad.drawio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diagrams/ws5-decision-tree-and-agentic-triad.drawio.png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diagrams/vision_metadata/ws5-decision-tree-and-agentic-triad.vision.json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709160"/>
            <a:ext cx="10911535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Blog: blogs/ws1-reference-architecture-taxonomy-and-5hop-baseline.md  •  Deck: slides/ws1-reference-architecture-editable-slides.pptx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Blog: blogs/ws2-pattern-a-pooled-architecture.md  •  Deck: slides/ws2-pattern-a-pooled-editable-slides.pptx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Blog: blogs/ws3-pattern-b-sovereign-silos.md  •  Deck: slides/ws3-pattern-b-siloed-editable-slides.pptx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Blog: blogs/ws4-pattern-c-hybrid-dynamic-tiering.md  •  Deck: slides/ws4-pattern-c-hybrid-editable-slides.pptx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Blog: blogs/ws5-decision-guide-and-agentic-triad.md  •  Deck: slides/ws5-wrap-up-editable-slides.pptx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reference: https://docs.cloud.google.com/architecture/multi-tenant-agentic-ai-system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https://github.com/nitinaggarwal-12/blogs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GEAP Multi-Tenant Agentic AI: Pooled, Sovereign Silos &amp; Hybrid — Complete Program Deck</dc:title>
  <dc:subject>PptxGenJS Presentation</dc:subject>
  <dc:creator>Google Cloud FDE • PromptCanvas Vision Decompiler</dc:creator>
  <cp:lastModifiedBy>Google Cloud FDE • PromptCanvas Vision Decompiler</cp:lastModifiedBy>
  <cp:revision>1</cp:revision>
  <dcterms:created xsi:type="dcterms:W3CDTF">2026-10-08T13:26:07Z</dcterms:created>
  <dcterms:modified xsi:type="dcterms:W3CDTF">2026-10-08T13:26:07Z</dcterms:modified>
</cp:coreProperties>
</file>