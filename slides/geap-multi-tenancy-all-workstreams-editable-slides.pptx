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our complete executive and technical briefing on the Gemini Enterprise Agent Platform Multi-Tenancy Program.</a:t>
            </a:r>
            <a:endParaRPr lang="en-US" dirty="0"/>
          </a:p>
          <a:p>
            <a:r>
              <a:rPr lang="en-US" dirty="0"/>
              <a:t>Over the next twenty-five slides, we will show how software providers and enterprise platform teams build, secure, and scale multi-tenant AI agents on Google Cloud—protecting SaaS gross margins for commercial accounts while delivering uncompromising sovereignty for regulated enterprises.</a:t>
            </a:r>
            <a:endParaRPr lang="en-US" dirty="0"/>
          </a:p>
          <a:p>
            <a:r>
              <a:rPr lang="en-US" dirty="0"/>
              <a:t>Let's move to Slide 2 to look at our five-workstream program map so everyone can see how the five chapters of this briefing connect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opening thesis from Slide 1, this program map acts as our executive roadmap for the entire twenty-five-slide deck.</a:t>
            </a:r>
            <a:endParaRPr lang="en-US" dirty="0"/>
          </a:p>
          <a:p>
            <a:r>
              <a:rPr lang="en-US" dirty="0"/>
              <a:t>Notice how the five chapters progress logically: Workstream 1 establishes our five-hop security baseline and three-pattern taxonomy; Workstream 2 builds Pattern A, our High-Density Shared Pool; Workstream 3 builds Pattern B, our Zero-Trust Sovereign Silos; Workstream 4 connects them via Pattern C with zero-downtime live customer upgrades; and Workstream 5 gives leadership our twelve-dimension decision matrix and eighty-percent shared codebase.</a:t>
            </a:r>
            <a:endParaRPr lang="en-US" dirty="0"/>
          </a:p>
          <a:p>
            <a:r>
              <a:rPr lang="en-US" dirty="0"/>
              <a:t>With that five-part roadmap in place, let's turn to Slide 3 to open our first chapter: Workstream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directly out of the five-workstream program map on Slide 2, we now begin Workstream 1 (Foundation &amp; Reference Taxonomy).</a:t>
            </a:r>
            <a:endParaRPr lang="en-US" dirty="0"/>
          </a:p>
          <a:p>
            <a:r>
              <a:rPr lang="en-US" dirty="0"/>
              <a:t>In this first chapter on Workstream 1, we establish the foundational five-hop security architecture and the three multi-tenant deployment patterns—Shared Pool, Sovereign Silos, and Hybrid Bridge—that anchor the entire program.</a:t>
            </a:r>
            <a:endParaRPr lang="en-US" dirty="0"/>
          </a:p>
          <a:p>
            <a:r>
              <a:rPr lang="en-US" dirty="0"/>
              <a:t>Let's advance to Slide 4 to examine the authoritative Figure 1 Google Cloud architecture blueprint for WS1 before we zoom into its core runtime mechanism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3, we start at the top with the complete Figure 1 Google Cloud architecture blueprint so everyone sees the end-to-end system map first.</a:t>
            </a:r>
            <a:endParaRPr lang="en-US" dirty="0"/>
          </a:p>
          <a:p>
            <a:r>
              <a:rPr lang="en-US" dirty="0"/>
              <a:t>Zooming into Figure 1, here is our master Google Cloud physical blueprint. Requests enter the blue Routing Hub at the top, pass through the green Five-Hop Governance Hub in the center, and branch into either the yellow Shared Pool Spoke on the left for high-density commercial accounts or the red Sovereign Silo Spoke on the right for regulated enterprise accounts.</a:t>
            </a:r>
            <a:endParaRPr lang="en-US" dirty="0"/>
          </a:p>
          <a:p>
            <a:r>
              <a:rPr lang="en-US" dirty="0"/>
              <a:t>Now that we have the end-to-end Figure 1 architecture map here on Slide 4, let's zoom in on Slide 5 to examine the core security and runtime mechanism that powers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4, this diagram shows how WS1 enforces isolation and reliability in action.</a:t>
            </a:r>
            <a:endParaRPr lang="en-US" dirty="0"/>
          </a:p>
          <a:p>
            <a:r>
              <a:rPr lang="en-US" dirty="0"/>
              <a:t>Look at the three logical security zones from left to right: customer requests enter through our Front Door in Zone 1, receive an unforgeable cryptographic tenant passport inside our Five-Hop Control Plane in Zone 2, and execute inside isolated data and model lanes in Zone 3. For both business and technical leaders, this means every tenant is governed by the exact same security discipline regardless of tier.</a:t>
            </a:r>
            <a:endParaRPr lang="en-US" dirty="0"/>
          </a:p>
          <a:p>
            <a:r>
              <a:rPr lang="en-US" dirty="0"/>
              <a:t>With both the physical blueprint and runtime mechanism clear, let's turn to Slide 6 to review the architectural trade-offs, selection rules, and verification results for WS1.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5, this slide closes our four-slide chapter on WS1 by summarizing the business decision rules and automated test outcomes.</a:t>
            </a:r>
            <a:endParaRPr lang="en-US" dirty="0"/>
          </a:p>
          <a:p>
            <a:r>
              <a:rPr lang="en-US" dirty="0"/>
              <a:t>This comparison table gives executives and architects the four simple rules at the bottom for matching any customer contract to the right pattern—balancing SaaS gross margins in Pattern A against dedicated regulatory isolation in Pattern B and seamless live tier upgrades in Pattern C.</a:t>
            </a:r>
            <a:endParaRPr lang="en-US" dirty="0"/>
          </a:p>
          <a:p>
            <a:r>
              <a:rPr lang="en-US" dirty="0"/>
              <a:t>That completes our chapter on Workstream 1 (Foundation &amp; Reference Taxonomy). Next, on Slide 7, we move directly into Workstream 2, where we dive deep into Pattern A—our High-Density Shared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1 (Foundation &amp; Reference Taxonomy) on Slide 6, we now transition into Workstream 2 (Pattern A — High-Density Shared Pool).</a:t>
            </a:r>
            <a:endParaRPr lang="en-US" dirty="0"/>
          </a:p>
          <a:p>
            <a:r>
              <a:rPr lang="en-US" dirty="0"/>
              <a:t>Here in Chapter 2, we focus on Pattern A—answering how a SaaS business can host hundreds of commercial customers on a single shared Google Cloud environment to achieve up to ninety percent prompt-caching cost savings without ever risking cross-tenant data bleed.</a:t>
            </a:r>
            <a:endParaRPr lang="en-US" dirty="0"/>
          </a:p>
          <a:p>
            <a:r>
              <a:rPr lang="en-US" dirty="0"/>
              <a:t>Let's advance to Slide 8 to examine the authoritative Figure 1 Google Cloud architecture blueprint for WS2 before we zoom into its core runtime mechanism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7, we start at the top with the complete Figure 1 Google Cloud architecture blueprint so everyone sees the end-to-end system map first.</a:t>
            </a:r>
            <a:endParaRPr lang="en-US" dirty="0"/>
          </a:p>
          <a:p>
            <a:r>
              <a:rPr lang="en-US" dirty="0"/>
              <a:t>Figure 1 shows the complete Pattern A shared-pool physical blueprint on Google Cloud. Federated users from Google OIDC and Microsoft Entra arrive through the blue Routing Hub, get rate-limited by per-tenant Valkey bulkheads and served from a shared thirty-two-thousand-token Vertex AI prefix cache in the green Governance Hub, and query tenant-locked rows inside the yellow Shared Pool Spoke.</a:t>
            </a:r>
            <a:endParaRPr lang="en-US" dirty="0"/>
          </a:p>
          <a:p>
            <a:r>
              <a:rPr lang="en-US" dirty="0"/>
              <a:t>Now that we have the end-to-end Figure 1 architecture map here on Slide 8, let's zoom in on Slide 9 to examine the core security and runtime mechanism that powers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8, this diagram shows how WS2 enforces isolation and reliability in action.</a:t>
            </a:r>
            <a:endParaRPr lang="en-US" dirty="0"/>
          </a:p>
          <a:p>
            <a:r>
              <a:rPr lang="en-US" dirty="0"/>
              <a:t>Zooming in from Figure 1 to the wire packet level, these three stages show how we stop cross-tenant spoofing before it ever touches our shared pool. Even if a caller from RetailStream injects a fake header claiming to be FinVault on the left, our Hop 1 gate in the center strips it out and binds their verified login identity directly into the AlloyDB Row-Level Security session on the right.</a:t>
            </a:r>
            <a:endParaRPr lang="en-US" dirty="0"/>
          </a:p>
          <a:p>
            <a:r>
              <a:rPr lang="en-US" dirty="0"/>
              <a:t>With both the physical blueprint and runtime mechanism clear, let's turn to Slide 10 to review the architectural trade-offs, selection rules, and verification results for WS2.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9, this slide closes our four-slide chapter on WS2 by summarizing the business decision rules and automated test outcomes.</a:t>
            </a:r>
            <a:endParaRPr lang="en-US" dirty="0"/>
          </a:p>
          <a:p>
            <a:r>
              <a:rPr lang="en-US" dirty="0"/>
              <a:t>Our ten-point red-team verification matrix confirms that every common multi-tenant failure mode—from header spoofing and prompt-cache poisoning to noisy-neighbor traffic floods—is 100% blocked while preserving shared-pool unit economics.</a:t>
            </a:r>
            <a:endParaRPr lang="en-US" dirty="0"/>
          </a:p>
          <a:p>
            <a:r>
              <a:rPr lang="en-US" dirty="0"/>
              <a:t>That completes our chapter on Workstream 2 (Pattern A — High-Density Shared Pool). Next, on Slide 11, we move directly into Workstream 3, where we examine Pattern B for regulated customers who legally require their own dedicated cloud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2 (Pattern A — High-Density Shared Pool) on Slide 10, we now transition into Workstream 3 (Pattern B — Zero-Trust Sovereign Silos).</a:t>
            </a:r>
            <a:endParaRPr lang="en-US" dirty="0"/>
          </a:p>
          <a:p>
            <a:r>
              <a:rPr lang="en-US" dirty="0"/>
              <a:t>In Chapter 3, we move to Pattern B—our Zero-Trust Sovereign Silo architecture—built for regulated banking, healthcare, and public-sector customers whose compliance officers mandate zero physical blast radius and customer-controlled encryption kill-switches.</a:t>
            </a:r>
            <a:endParaRPr lang="en-US" dirty="0"/>
          </a:p>
          <a:p>
            <a:r>
              <a:rPr lang="en-US" dirty="0"/>
              <a:t>Let's advance to Slide 12 to examine the authoritative Figure 1 Google Cloud architecture blueprint for WS3 before we zoom into its core runtime mechanism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11, we start at the top with the complete Figure 1 Google Cloud architecture blueprint so everyone sees the end-to-end system map first.</a:t>
            </a:r>
            <a:endParaRPr lang="en-US" dirty="0"/>
          </a:p>
          <a:p>
            <a:r>
              <a:rPr lang="en-US" dirty="0"/>
              <a:t>In Figure 1, you can see how the Pattern B sovereign vault is physically isolated on Google Cloud. A dedicated single-tenant project is wrapped inside a VPC Service Controls perimeter and Principal Access Boundary, with every database table, memory bank, and optional air-gapped GKE Gemma 3 GPU node encrypted by the customer’s own Cloud KMS key.</a:t>
            </a:r>
            <a:endParaRPr lang="en-US" dirty="0"/>
          </a:p>
          <a:p>
            <a:r>
              <a:rPr lang="en-US" dirty="0"/>
              <a:t>Now that we have the end-to-end Figure 1 architecture map here on Slide 12, let's zoom in on Slide 13 to examine the core security and runtime mechanism that powers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12, this diagram shows how WS3 enforces isolation and reliability in action.</a:t>
            </a:r>
            <a:endParaRPr lang="en-US" dirty="0"/>
          </a:p>
          <a:p>
            <a:r>
              <a:rPr lang="en-US" dirty="0"/>
              <a:t>Zooming in from Figure 1 to the runtime timeline, this sequence illustrates our sub-sixty-second Cloud KMS kill-switch guarantee. The moment a bank security officer revokes their encryption key, our health probe detects the change, immediately flushes the customer’s volatile memory cache in Valkey, blocks all active sessions with HTTP 423 Locked, and cleanly recovers from AlloyDB once the customer restores their key.</a:t>
            </a:r>
            <a:endParaRPr lang="en-US" dirty="0"/>
          </a:p>
          <a:p>
            <a:r>
              <a:rPr lang="en-US" dirty="0"/>
              <a:t>With both the physical blueprint and runtime mechanism clear, let's turn to Slide 14 to review the architectural trade-offs, selection rules, and verification results for WS3.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13, this slide closes our four-slide chapter on WS3 by summarizing the business decision rules and automated test outcomes.</a:t>
            </a:r>
            <a:endParaRPr lang="en-US" dirty="0"/>
          </a:p>
          <a:p>
            <a:r>
              <a:rPr lang="en-US" dirty="0"/>
              <a:t>This sovereign hosting matrix compares dedicated Vertex AI endpoints against air-gapped Gemma 3 on GKE and summarizes our six passing perimeter and encryption kill-switch verification tests.</a:t>
            </a:r>
            <a:endParaRPr lang="en-US" dirty="0"/>
          </a:p>
          <a:p>
            <a:r>
              <a:rPr lang="en-US" dirty="0"/>
              <a:t>That completes our chapter on Workstream 3 (Pattern B — Zero-Trust Sovereign Silos). Next, on Slide 15, we move directly into Workstream 4, where we show how Pattern C bridges our Shared Pool and Sovereign Silos behind one unified front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3 (Pattern B — Zero-Trust Sovereign Silos) on Slide 14, we now transition into Workstream 4 (Pattern C — Dynamic Hybrid &amp; Zero-Downtime Upgrade).</a:t>
            </a:r>
            <a:endParaRPr lang="en-US" dirty="0"/>
          </a:p>
          <a:p>
            <a:r>
              <a:rPr lang="en-US" dirty="0"/>
              <a:t>Chapter 4 introduces Pattern C—our Dynamic Hybrid Hub-and-Spoke architecture—designed so customers can start in our cost-effective Shared Pool and graduate into a dedicated Sovereign Silo mid-contract with zero downtime and zero URL or login changes.</a:t>
            </a:r>
            <a:endParaRPr lang="en-US" dirty="0"/>
          </a:p>
          <a:p>
            <a:r>
              <a:rPr lang="en-US" dirty="0"/>
              <a:t>Let's advance to Slide 16 to examine the authoritative Figure 1 Google Cloud architecture blueprint for WS4 before we zoom into its core runtime mechanism on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15, we start at the top with the complete Figure 1 Google Cloud architecture blueprint so everyone sees the end-to-end system map first.</a:t>
            </a:r>
            <a:endParaRPr lang="en-US" dirty="0"/>
          </a:p>
          <a:p>
            <a:r>
              <a:rPr lang="en-US" dirty="0"/>
              <a:t>Figure 1 maps out the Pattern C hybrid physical blueprint. A single shared Routing and Governance Hub inspects each tenant’s live tier and routes standard tenants locally to the yellow Shared Pool Spoke while dispatching enterprise tenants across a one-way Private Service Connect `/28` NAT tunnel into their red Dedicated Sovereign Spoke.</a:t>
            </a:r>
            <a:endParaRPr lang="en-US" dirty="0"/>
          </a:p>
          <a:p>
            <a:r>
              <a:rPr lang="en-US" dirty="0"/>
              <a:t>Now that we have the end-to-end Figure 1 architecture map here on Slide 16, let's zoom in on Slide 17 to examine the core security and runtime mechanism that powers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16, this diagram shows how WS4 enforces isolation and reliability in action.</a:t>
            </a:r>
            <a:endParaRPr lang="en-US" dirty="0"/>
          </a:p>
          <a:p>
            <a:r>
              <a:rPr lang="en-US" dirty="0"/>
              <a:t>Zooming in from Figure 1 to our live migration engine, this four-stage state machine shows how we upgrade a customer from the Shared Pool into their Sovereign Spoke without dropping a single active conversation. We replicate their historical data in the background during Shadow Sync, verify 100% cryptographic hash parity, flip their routing pointer in zero milliseconds during Atomic Cutover, and automatically roll back to the shared pool if any pre-cutover health check fails.</a:t>
            </a:r>
            <a:endParaRPr lang="en-US" dirty="0"/>
          </a:p>
          <a:p>
            <a:r>
              <a:rPr lang="en-US" dirty="0"/>
              <a:t>With both the physical blueprint and runtime mechanism clear, let's turn to Slide 18 to review the architectural trade-offs, selection rules, and verification results for WS4.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17, this slide closes our four-slide chapter on WS4 by summarizing the business decision rules and automated test outcomes.</a:t>
            </a:r>
            <a:endParaRPr lang="en-US" dirty="0"/>
          </a:p>
          <a:p>
            <a:r>
              <a:rPr lang="en-US" dirty="0"/>
              <a:t>This comparison and four-point verification matrix shows why one-way Private Service Connect outperforms legacy VPC peering—eliminating IP address conflicts and preventing any spoke from initiating reverse connections back into the central hub.</a:t>
            </a:r>
            <a:endParaRPr lang="en-US" dirty="0"/>
          </a:p>
          <a:p>
            <a:r>
              <a:rPr lang="en-US" dirty="0"/>
              <a:t>That completes our chapter on Workstream 4 (Pattern C — Dynamic Hybrid &amp; Zero-Downtime Upgrade). Next, on Slide 19, we move directly into Workstream 5, our capstone chapter on the Executive Decision Guide and the 80/20 shared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just completed our verification table for Workstream 4 (Pattern C — Dynamic Hybrid &amp; Zero-Downtime Upgrade) on Slide 18, we now transition into Workstream 5 (Capstone Decision Guide &amp; Agentic Triad).</a:t>
            </a:r>
            <a:endParaRPr lang="en-US" dirty="0"/>
          </a:p>
          <a:p>
            <a:r>
              <a:rPr lang="en-US" dirty="0"/>
              <a:t>Our fifth and final chapter, Workstream 5, brings the entire program together—showing how executive and engineering teams govern all three patterns simultaneously while reusing eighty percent of the same core Python application code.</a:t>
            </a:r>
            <a:endParaRPr lang="en-US" dirty="0"/>
          </a:p>
          <a:p>
            <a:r>
              <a:rPr lang="en-US" dirty="0"/>
              <a:t>Let's advance to Slide 20 to examine the authoritative Figure 1 Google Cloud architecture blueprint for WS5 before we zoom into its core runtime mechanism on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after our chapter introduction on Slide 19, we start at the top with the complete Figure 1 Google Cloud architecture blueprint so everyone sees the end-to-end system map first.</a:t>
            </a:r>
            <a:endParaRPr lang="en-US" dirty="0"/>
          </a:p>
          <a:p>
            <a:r>
              <a:rPr lang="en-US" dirty="0"/>
              <a:t>Our capstone Figure 1 blueprint unites the two-question topology decision tree with the Multi-Tenant Agentic Triad—allowing every enterprise customer to combine Shared Platform Agents, Private Tenant-Only Agents, and dynamically loaded Cloud Storage Skills without ever forking our core container image.</a:t>
            </a:r>
            <a:endParaRPr lang="en-US" dirty="0"/>
          </a:p>
          <a:p>
            <a:r>
              <a:rPr lang="en-US" dirty="0"/>
              <a:t>Now that we have the end-to-end Figure 1 architecture map here on Slide 20, let's zoom in on Slide 21 to examine the core security and runtime mechanism that powers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directly from the Figure 1 physical blueprint on Slide 20, this diagram shows how WS5 enforces isolation and reliability in action.</a:t>
            </a:r>
            <a:endParaRPr lang="en-US" dirty="0"/>
          </a:p>
          <a:p>
            <a:r>
              <a:rPr lang="en-US" dirty="0"/>
              <a:t>Zooming in from Figure 1 to our software architecture, look at the 80/20 split across these three zones: eighty percent of our codebase—the entire five-hop security pipeline, ADK 2.0 reasoning engine, and Model Context Protocol hub in Zones 1 and 2—stays 100% identical across every customer tier, while only the twenty percent infrastructure adapter in Zone 3 swaps between Pool, Silo, and Hybrid.</a:t>
            </a:r>
            <a:endParaRPr lang="en-US" dirty="0"/>
          </a:p>
          <a:p>
            <a:r>
              <a:rPr lang="en-US" dirty="0"/>
              <a:t>With both the physical blueprint and runtime mechanism clear, let's turn to Slide 22 to review the architectural trade-offs, selection rules, and verification results for WS5.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deep-dive workflow on Slide 21, this slide closes our four-slide chapter on WS5 by summarizing the business decision rules and automated test outcomes.</a:t>
            </a:r>
            <a:endParaRPr lang="en-US" dirty="0"/>
          </a:p>
          <a:p>
            <a:r>
              <a:rPr lang="en-US" dirty="0"/>
              <a:t>This master twelve-dimension decision matrix serves as your single executive scorecard across Patterns A, B, and C, backed by all twenty passing automated breach, kill-switch, and zero-downtime migration tests.</a:t>
            </a:r>
            <a:endParaRPr lang="en-US" dirty="0"/>
          </a:p>
          <a:p>
            <a:r>
              <a:rPr lang="en-US" dirty="0"/>
              <a:t>That completes our chapter on Workstream 5 (Capstone Decision Guide &amp; Agentic Triad). Next, on Slide 23, we move directly into our three closing program capstone slides covering live Google Cloud Console proof, our three Well-Architected executive guarantees, and the complete deliverables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Having completed all five workstream chapters on Slide 22, we move to Slide 23 to show the live visual evidence captured directly from our Google Cloud projects—proving that every pattern we just reviewed is running and verified in production.</a:t>
            </a:r>
            <a:endParaRPr lang="en-US" dirty="0"/>
          </a:p>
          <a:p>
            <a:r>
              <a:rPr lang="en-US" dirty="0"/>
              <a:t>On the left, you can see our active Cloud Run revisions, enabled Google Cloud security APIs, and Cloud Logging traces; on the right, the summary cards confirm that all twenty automated red-team breach, sovereign kill-switch, and zero-downtime tier migration tests pass with zero cross-tenant data leakage.</a:t>
            </a:r>
            <a:endParaRPr lang="en-US" dirty="0"/>
          </a:p>
          <a:p>
            <a:r>
              <a:rPr lang="en-US" dirty="0"/>
              <a:t>With live cloud verification confirmed here on Slide 23, let's turn to Slide 24 to synthesize the entire program into our three executive Well-Architected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Backed by the live Google Cloud verification proof from Slide 23, this slide distills our entire five-workstream architecture into three executive guarantees aligned with the Google Cloud Well-Architected Framework.</a:t>
            </a:r>
            <a:endParaRPr lang="en-US" dirty="0"/>
          </a:p>
          <a:p>
            <a:r>
              <a:rPr lang="en-US" dirty="0"/>
              <a:t>For our leadership and engineering teams, these three pillars summarize what we have built: first, eighty percent shared Python application code across Pooled, Sovereign Silo, and Hybrid deployments; second, safe per-customer customization through the Agentic Triad of shared agents, private agents, and dynamic Cloud Storage skills; and third, up to ninety percent prompt-cache efficiency paired with deterministic five-hop security.</a:t>
            </a:r>
            <a:endParaRPr lang="en-US" dirty="0"/>
          </a:p>
          <a:p>
            <a:r>
              <a:rPr lang="en-US" dirty="0"/>
              <a:t>Finally, let's move to our closing slide—Slide 25—for the complete index of all fourteen editable architecture blueprints and runnable engineering deliverables.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our three Well-Architected executive guarantees from Slide 24, our closing slide serves as your single reference directory for every engineering asset produced across the five workstreams.</a:t>
            </a:r>
            <a:endParaRPr lang="en-US" dirty="0"/>
          </a:p>
          <a:p>
            <a:r>
              <a:rPr lang="en-US" dirty="0"/>
              <a:t>Here you can see how all fourteen editable Draw.io and Google Slides blueprints, our twenty-four-file Python runtime, our three Terraform infrastructure starters, and our twenty-test simulation suite map across Workstreams 1 through 5 so your team can adopt them immediately.</a:t>
            </a:r>
            <a:endParaRPr lang="en-US" dirty="0"/>
          </a:p>
          <a:p>
            <a:r>
              <a:rPr lang="en-US" dirty="0"/>
              <a:t>Thank you all for your time—let's open the floor for executive, business, and technical questions, or dive into any individual workstream or live simulation in the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image" Target="../media/image-12-17.png"/><Relationship Id="rId18" Type="http://schemas.openxmlformats.org/officeDocument/2006/relationships/image" Target="../media/image-12-18.png"/><Relationship Id="rId19" Type="http://schemas.openxmlformats.org/officeDocument/2006/relationships/image" Target="../media/image-12-19.png"/><Relationship Id="rId20" Type="http://schemas.openxmlformats.org/officeDocument/2006/relationships/image" Target="../media/image-12-20.png"/><Relationship Id="rId21" Type="http://schemas.openxmlformats.org/officeDocument/2006/relationships/slideLayout" Target="../slideLayouts/slideLayout1.xml"/><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image" Target="../media/image-20-16.png"/><Relationship Id="rId17" Type="http://schemas.openxmlformats.org/officeDocument/2006/relationships/image" Target="../media/image-20-17.png"/><Relationship Id="rId18" Type="http://schemas.openxmlformats.org/officeDocument/2006/relationships/image" Target="../media/image-20-18.png"/><Relationship Id="rId19" Type="http://schemas.openxmlformats.org/officeDocument/2006/relationships/slideLayout" Target="../slideLayouts/slideLayout1.xml"/><Relationship Id="rId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Cohesive 5-Workstream Executive Program Deck: Reference Taxonomy (WS1), Pooled Pattern A (WS2), Sovereign Silos Pattern B (WS3), Hybrid PSC Pattern C (WS4) &amp; Decision Guide (WS5)</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1 Reference Taxonomy</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2 Pattern A Pooled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3 Pattern B Sovereign Silos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Workstream 4 Pattern C Dynamic Hybrid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1–2</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Cover &amp; 5-Workstream Progression</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Opens the 25-slide Master Program Deck and maps how WS1 (Taxonomy), WS2 (Pooled), WS3 (Sovereign Silos), WS4 (Hybrid PSC) and WS5 (Decision Guide) build on one 5-Hop codebase (Slide 2).</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3–22</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 Chapters × 4 Slides: Divider -&gt; Figure 1 -&gt; Deep-Dive -&gt; Matrix</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chapter opens with a section divider, its authoritative Figure 1 blueprint (Slides 4, 8, 12, 16, 20), its signature deep-dive mechanism (Slides 5, 9, 13, 17, 21) and its verification matrix (Slides 6, 10, 14, 18, 22).</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23–24</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Live Console Proof &amp; Program Operating Model</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Proves the program live with Cloud Run revisions and the 20/20 Logs Explorer ledger (Slide 23) and distills the 80/20 code-reuse, Agentic Triad and CI/CD governance operating model (Slide 24).</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 25</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Blueprint Lineage &amp; Deliverables Index</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the architecture blueprint summary and reference lineage table indexing all 14 Figure 1 diagrams, Terraform 2.6 / 3.6 / 4.6 modules and the 20/20 simulation suites (Slide 25).</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5-WORKSTREAM PROGRAM ARCHITECTURE PROGRESSION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 Cohesive Architecture Progression</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SKUs, runtime isolation boundaries, and production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Quota • 90% Shared Prompt Cache Efficiency</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600 RPM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Complete 5-Workstream Google Cloud Architecture Center Program Deck — 100% Native Editable Shapes &amp; Verified Live Telemetry.</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Official Google Cloud Architecture Center hub-and-spoke reference architecture comparing Pooled (Pattern A), Sovereign Silos (Pattern B), and Dynamic Hybrid (Pattern C) isolation models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3-Zone Reference Taxonomy &amp; Signed STS JWT Envelope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(Tenant Identity &amp; Edge Ingress) → Zone 2 (Vertex AI Agent Engine &amp; Cloud Run) → Zone 3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TENANT IDENTITY &amp; EDGE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Pipeline)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Cloud Run</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RFC 9449 DPoP</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DLP &amp; 90% Cache</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Signed STS JWT</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TenantContext</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Routing</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(Pool / Silo / PSC)</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(Patterns A, B &amp; C + VPC-SC Boundary)</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VPC-SC Perimeter &amp; Hybrid PSC Spokes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Hub &amp; BigQuery FinOps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  Zone 1 (Ingress) → Zone 2 (5-Hop Control Plane) → Zone 3 (Patterns A/B/C + VPC-SC Boundary)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project boundary</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(ramp-portal-dev); logical separation in software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under org folder</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Ingress Hub project + Shared Pool + Dedicated Enterprise Spoke projects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agent runtime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shared Vertex AI Agent Engine worker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&amp; private GKE GPU cluster (172.16.0.2/28,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Firestore dynamic tier router dispatches Standard -&gt; Pool, Enterprise -&gt;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sanitization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/24 NAT)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access control</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sender-constrained tokens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verification + tier-scoped OBO/DPoP token forwarding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state plane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with FORCE ROW LEVEL SECURITY + namespaced L1–L5 Memory Bank</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Memory Bank encrypted by tenant Cloud KMS CMEK (HTTP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token cost reduction)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Vertex AI Provisioned Throughput or air-gapped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Baseline unit cost &amp; target tier</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tenant / month • Regulated Banking, Healthcare &amp; Public Sector (6/6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Silo (Ent) • Multi-tier SaaS with live tier upsell (4/4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Ingress &amp; Federated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Shared FinOps Cache, Quotas &amp;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Manages Memorystore for Valkey per-tenant RPM bulkheads, 90% shared ContextCacheConfig prefixes, and BigQuery OTel chargeback.</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Pooled Agent Runtime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ephemeral gVisor sandboxes with tenant-scoped Model Armor templates and thinking budget caps.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Shared AlloyDB &amp; BigQuery with RLS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mandatory PostgreSQL and BigQuery Row-Level Security policies (tenant_id = SESSION_TENANT) and 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and RetailStream Corp enter the shared GCP project (ramp-portal-dev) through a single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(Hops 1 &amp; 2): Cloud Armor strips spoofed headers, IAP + STS mints DPoP-bound OBO tokens, and Agent Engine Registry filters visible tools.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(FinOps &amp; Governance): Gemini 2.5 Pro ContextCacheConfig delivers a 90% shared prefix discount while Memorystore Valkey enforces per-tenant RPM.</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Enterprise Slice): Runs with an 8,000-token thinking budget, OCC NLC rules, IBAN/SWIFT DLP redaction, and Google Workspace/Jira 3LO.</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Triad Pillar 1: 5-Hop Governance &amp;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Hops 1, 2 &amp; 4 (OBO/DPoP, Catalog PDP, Model Armor) and applies the 2-Question Decision Tree to dispatch to Pattern A, B, or C.</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Triad Pillar 3: Zero-PII FinOps &amp; SCC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Streams SDP-redacted OpenTelemetry spans into BigQuery to power Even Split, Proportional Chargeback, and Tiered FinOps models.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Triad Pillar 2: Pattern A Pooled Unit Economics</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Combines 90% shared ContextCacheConfig discounts, Memorystore Valkey RPM bulkheads, 4,000-token caps, and AlloyDB RLS (120 RPM Pool unit cost).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Regulated Scale: Pattern B Silos &amp; Pattern C PSC</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Delivers dedicated VPC-SC + IAM PAB + Cloud KMS CMEK kill-switches (HTTP 423), air-gapped Gemma 3, and zero-downtime PSC tier upgrades.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10,000+ multi-tier tenants enter at Step 1 through a unified front door and receive a zero-bleed, SLA-verified response at Step 7.</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(Triad Pillar 1 — Zero-Trust Ingress &amp; Decision Selector): Evaluates Hop 1 Identity, Hop 4 Model Armor, Hop 2 Catalog, and the 2-Question Topology Selector.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(Triad Pillar 3 — FinOps &amp; Security Governance): Security Command Center, 3 Chargeback SQL Models, and BigQuery OTel Sink govern compliance and billing.</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(Triad Pillar 2 — Pattern A Pooled Unit Economics): Enforces Memorystore Valkey RPM bulkheads, 4,000 thinking token caps, 90% prefix cache discount,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Verification &amp; Trade-Off Matrix</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Control Plane: ramp-portal-dev (#248990048888)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gen2,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20/20 multi-tenant isolation,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Isolation: 0 Cross-Tenant Rows or Spans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HOP 1–5 SIGNED STS JWT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ARD Catalog Filter</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and binds KMS-signed STS JWT TenantContext across Hops 1–5.</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ACT I METRICS VERIFIED IN PROD</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84.7% Token Savings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Act I SLAs: Valkey HTTP 429 Retry-After jitter, &lt;60s CMEK L1 flush + Day-2 recovery &amp; 90% 32k prefix cache.</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+ 20/20 SUITE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AlloyDB RLS Rows Leaked</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by run_deep_forensic_audit.py (12/12 PASS) and 20/20 security, CMEK revocation &amp; 0ms PSC migration tests.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3675888"/>
        </p:xfrm>
        <a:graphic>
          <a:graphicData uri="http://schemas.openxmlformats.org/drawingml/2006/table">
            <a:tbl>
              <a:tblPr/>
              <a:tblGrid>
                <a:gridCol w="2788920"/>
                <a:gridCol w="2788920"/>
                <a:gridCol w="3200400"/>
                <a:gridCol w="2590495"/>
              </a:tblGrid>
              <a:tr h="347472">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Architecture Blueprint (#78 Hub &amp; Spoke)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Architectural Question Answered</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60" b="1" dirty="0">
                          <a:solidFill>
                            <a:srgbClr val="FFFFFF"/>
                          </a:solidFill>
                          <a:latin typeface="Google Sans" pitchFamily="34" charset="0"/>
                          <a:ea typeface="Google Sans" pitchFamily="34" charset="-122"/>
                          <a:cs typeface="Google Sans" pitchFamily="34" charset="-120"/>
                        </a:rPr>
                        <a:t>Core Google Cloud Stack</a:t>
                      </a:r>
                      <a:endParaRPr lang="en-US" sz="860" dirty="0">
                        <a:latin typeface="Google Sans" charset="0"/>
                        <a:ea typeface="Google Sans" charset="0"/>
                        <a:cs typeface="Google Sans" charset="0"/>
                      </a:endParaRPr>
                    </a:p>
                  </a:txBody>
                  <a:tcPr marL="73152" marR="73152" marT="45720" marB="4572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2.0) • Model Armor • AlloyDB &amp;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2.1 — Pattern A: High-Density Pooled Multi-Tenant Architecture &amp; Shared Runtime Governance</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120 RPM Pooled unit cost footprint while guaranteeing cryptographic and row-level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High-Density SaaS Unit Economics (120 RPM Pool) with Cryptographic 5-Hop Isolation.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2.5 — Pattern A: 10-Point Cross-Tenant Breach Simulation &amp; Cryptographic Defense Matrix</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2.2 — Pattern A Demo Environment &amp; 3P Auth Sandbox: Pooled Project, Federated IdPs, OAuth 2LO/3LO Apps, Valkey &amp; Firestore Tenant Config</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55041">
                <a:tc>
                  <a:txBody>
                    <a:bodyPr/>
                    <a:lstStyle/>
                    <a:p>
                      <a:pPr indent="0" marL="0">
                        <a:buNone/>
                      </a:pPr>
                      <a:r>
                        <a:rPr lang="en-US" sz="740" b="1" dirty="0">
                          <a:solidFill>
                            <a:srgbClr val="3C4043"/>
                          </a:solidFill>
                          <a:latin typeface="Google Sans" pitchFamily="34" charset="0"/>
                          <a:ea typeface="Google Sans" pitchFamily="34" charset="-122"/>
                          <a:cs typeface="Google Sans" pitchFamily="34" charset="-120"/>
                        </a:rPr>
                        <a:t>WORKSTREAM 2.6 — Pattern A 1-Click Terraform Starter: Provider → Google Cloud Armor → Cloud Run v2 Agent Gateway → Valkey / KMS CMEK → BigQuery OTel Resource Graph</a:t>
                      </a:r>
                      <a:endParaRPr lang="en-US" sz="74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40" dirty="0">
                        <a:latin typeface="Roboto" charset="0"/>
                        <a:ea typeface="Roboto" charset="0"/>
                        <a:cs typeface="Roboto"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2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20" dirty="0">
                        <a:latin typeface="Google Sans" charset="0"/>
                        <a:ea typeface="Google Sans" charset="0"/>
                        <a:cs typeface="Google Sans" charset="0"/>
                      </a:endParaRPr>
                    </a:p>
                  </a:txBody>
                  <a:tcPr marL="73152" marR="73152" marT="36576" marB="3657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956048"/>
            <a:ext cx="2718511" cy="1408176"/>
          </a:xfrm>
          <a:prstGeom prst="roundRect">
            <a:avLst>
              <a:gd name="adj" fmla="val 5195"/>
            </a:avLst>
          </a:prstGeom>
          <a:solidFill>
            <a:srgbClr val="F8F9FA"/>
          </a:solidFill>
          <a:ln w="12700">
            <a:solidFill>
              <a:srgbClr val="DADCE0"/>
            </a:solidFill>
            <a:prstDash val="solid"/>
          </a:ln>
        </p:spPr>
      </p:sp>
      <p:sp>
        <p:nvSpPr>
          <p:cNvPr id="20" name="Shape 17"/>
          <p:cNvSpPr/>
          <p:nvPr/>
        </p:nvSpPr>
        <p:spPr>
          <a:xfrm>
            <a:off x="411480" y="4956048"/>
            <a:ext cx="2718511" cy="54864"/>
          </a:xfrm>
          <a:prstGeom prst="rect">
            <a:avLst/>
          </a:prstGeom>
          <a:solidFill>
            <a:srgbClr val="4285F4"/>
          </a:solidFill>
          <a:ln/>
        </p:spPr>
      </p:sp>
      <p:sp>
        <p:nvSpPr>
          <p:cNvPr id="21" name="Text 18"/>
          <p:cNvSpPr/>
          <p:nvPr/>
        </p:nvSpPr>
        <p:spPr>
          <a:xfrm>
            <a:off x="521208"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1. 3-Act Executive Deck Structure</a:t>
            </a:r>
            <a:endParaRPr lang="en-US" sz="920" dirty="0"/>
          </a:p>
        </p:txBody>
      </p:sp>
      <p:sp>
        <p:nvSpPr>
          <p:cNvPr id="22" name="Text 19"/>
          <p:cNvSpPr/>
          <p:nvPr/>
        </p:nvSpPr>
        <p:spPr>
          <a:xfrm>
            <a:off x="521208"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Each workstream deck weaves Act I (Thesis &amp; #78 Blueprint), Act II (3-Zone, Payload, UML &amp; State Loops), and Act III (Matrices, Live Proof &amp; Roadmap).</a:t>
            </a:r>
            <a:endParaRPr lang="en-US" sz="780" dirty="0"/>
          </a:p>
        </p:txBody>
      </p:sp>
      <p:sp>
        <p:nvSpPr>
          <p:cNvPr id="23" name="Shape 20"/>
          <p:cNvSpPr/>
          <p:nvPr/>
        </p:nvSpPr>
        <p:spPr>
          <a:xfrm>
            <a:off x="539496" y="6099048"/>
            <a:ext cx="2462479" cy="192024"/>
          </a:xfrm>
          <a:prstGeom prst="roundRect">
            <a:avLst>
              <a:gd name="adj" fmla="val 23810"/>
            </a:avLst>
          </a:prstGeom>
          <a:solidFill>
            <a:srgbClr val="E8F0FE"/>
          </a:solidFill>
          <a:ln/>
        </p:spPr>
      </p:sp>
      <p:sp>
        <p:nvSpPr>
          <p:cNvPr id="24" name="Text 21"/>
          <p:cNvSpPr/>
          <p:nvPr/>
        </p:nvSpPr>
        <p:spPr>
          <a:xfrm>
            <a:off x="594360" y="6099048"/>
            <a:ext cx="2352751"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3294583" y="4956048"/>
            <a:ext cx="2718511" cy="1408176"/>
          </a:xfrm>
          <a:prstGeom prst="roundRect">
            <a:avLst>
              <a:gd name="adj" fmla="val 5195"/>
            </a:avLst>
          </a:prstGeom>
          <a:solidFill>
            <a:srgbClr val="F8F9FA"/>
          </a:solidFill>
          <a:ln w="12700">
            <a:solidFill>
              <a:srgbClr val="DADCE0"/>
            </a:solidFill>
            <a:prstDash val="solid"/>
          </a:ln>
        </p:spPr>
      </p:sp>
      <p:sp>
        <p:nvSpPr>
          <p:cNvPr id="26" name="Shape 23"/>
          <p:cNvSpPr/>
          <p:nvPr/>
        </p:nvSpPr>
        <p:spPr>
          <a:xfrm>
            <a:off x="3294583" y="4956048"/>
            <a:ext cx="2718511" cy="54864"/>
          </a:xfrm>
          <a:prstGeom prst="rect">
            <a:avLst/>
          </a:prstGeom>
          <a:solidFill>
            <a:srgbClr val="EA4335"/>
          </a:solidFill>
          <a:ln/>
        </p:spPr>
      </p:sp>
      <p:sp>
        <p:nvSpPr>
          <p:cNvPr id="27" name="Text 24"/>
          <p:cNvSpPr/>
          <p:nvPr/>
        </p:nvSpPr>
        <p:spPr>
          <a:xfrm>
            <a:off x="3404311"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2. Automated Security &amp; FinOps Proof</a:t>
            </a:r>
            <a:endParaRPr lang="en-US" sz="920" dirty="0"/>
          </a:p>
        </p:txBody>
      </p:sp>
      <p:sp>
        <p:nvSpPr>
          <p:cNvPr id="28" name="Text 25"/>
          <p:cNvSpPr/>
          <p:nvPr/>
        </p:nvSpPr>
        <p:spPr>
          <a:xfrm>
            <a:off x="3404311"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and 90% shared prefix caching.</a:t>
            </a:r>
            <a:endParaRPr lang="en-US" sz="780" dirty="0"/>
          </a:p>
        </p:txBody>
      </p:sp>
      <p:sp>
        <p:nvSpPr>
          <p:cNvPr id="29" name="Shape 26"/>
          <p:cNvSpPr/>
          <p:nvPr/>
        </p:nvSpPr>
        <p:spPr>
          <a:xfrm>
            <a:off x="3422599" y="6099048"/>
            <a:ext cx="2462479" cy="192024"/>
          </a:xfrm>
          <a:prstGeom prst="roundRect">
            <a:avLst>
              <a:gd name="adj" fmla="val 23810"/>
            </a:avLst>
          </a:prstGeom>
          <a:solidFill>
            <a:srgbClr val="FCE8E6"/>
          </a:solidFill>
          <a:ln/>
        </p:spPr>
      </p:sp>
      <p:sp>
        <p:nvSpPr>
          <p:cNvPr id="30" name="Text 27"/>
          <p:cNvSpPr/>
          <p:nvPr/>
        </p:nvSpPr>
        <p:spPr>
          <a:xfrm>
            <a:off x="3477463" y="6099048"/>
            <a:ext cx="2352751"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6178601" y="4956048"/>
            <a:ext cx="2718511" cy="1408176"/>
          </a:xfrm>
          <a:prstGeom prst="roundRect">
            <a:avLst>
              <a:gd name="adj" fmla="val 5195"/>
            </a:avLst>
          </a:prstGeom>
          <a:solidFill>
            <a:srgbClr val="F8F9FA"/>
          </a:solidFill>
          <a:ln w="12700">
            <a:solidFill>
              <a:srgbClr val="DADCE0"/>
            </a:solidFill>
            <a:prstDash val="solid"/>
          </a:ln>
        </p:spPr>
      </p:sp>
      <p:sp>
        <p:nvSpPr>
          <p:cNvPr id="32" name="Shape 29"/>
          <p:cNvSpPr/>
          <p:nvPr/>
        </p:nvSpPr>
        <p:spPr>
          <a:xfrm>
            <a:off x="6178601" y="4956048"/>
            <a:ext cx="2718511" cy="54864"/>
          </a:xfrm>
          <a:prstGeom prst="rect">
            <a:avLst/>
          </a:prstGeom>
          <a:solidFill>
            <a:srgbClr val="FBBC04"/>
          </a:solidFill>
          <a:ln/>
        </p:spPr>
      </p:sp>
      <p:sp>
        <p:nvSpPr>
          <p:cNvPr id="33" name="Text 30"/>
          <p:cNvSpPr/>
          <p:nvPr/>
        </p:nvSpPr>
        <p:spPr>
          <a:xfrm>
            <a:off x="6288329"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3. Official Architecture Center (#78)</a:t>
            </a:r>
            <a:endParaRPr lang="en-US" sz="920" dirty="0"/>
          </a:p>
        </p:txBody>
      </p:sp>
      <p:sp>
        <p:nvSpPr>
          <p:cNvPr id="34" name="Text 31"/>
          <p:cNvSpPr/>
          <p:nvPr/>
        </p:nvSpPr>
        <p:spPr>
          <a:xfrm>
            <a:off x="6288329"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for Pooled, Siloed, and Hybrid SaaS.</a:t>
            </a:r>
            <a:endParaRPr lang="en-US" sz="780" dirty="0"/>
          </a:p>
        </p:txBody>
      </p:sp>
      <p:sp>
        <p:nvSpPr>
          <p:cNvPr id="35" name="Shape 32"/>
          <p:cNvSpPr/>
          <p:nvPr/>
        </p:nvSpPr>
        <p:spPr>
          <a:xfrm>
            <a:off x="6306617" y="6099048"/>
            <a:ext cx="2462479" cy="192024"/>
          </a:xfrm>
          <a:prstGeom prst="roundRect">
            <a:avLst>
              <a:gd name="adj" fmla="val 23810"/>
            </a:avLst>
          </a:prstGeom>
          <a:solidFill>
            <a:srgbClr val="FEF7E0"/>
          </a:solidFill>
          <a:ln/>
        </p:spPr>
      </p:sp>
      <p:sp>
        <p:nvSpPr>
          <p:cNvPr id="36" name="Text 33"/>
          <p:cNvSpPr/>
          <p:nvPr/>
        </p:nvSpPr>
        <p:spPr>
          <a:xfrm>
            <a:off x="6361481" y="6099048"/>
            <a:ext cx="2352751"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Shape 34"/>
          <p:cNvSpPr/>
          <p:nvPr/>
        </p:nvSpPr>
        <p:spPr>
          <a:xfrm>
            <a:off x="9061704" y="4956048"/>
            <a:ext cx="2718511" cy="1408176"/>
          </a:xfrm>
          <a:prstGeom prst="roundRect">
            <a:avLst>
              <a:gd name="adj" fmla="val 5195"/>
            </a:avLst>
          </a:prstGeom>
          <a:solidFill>
            <a:srgbClr val="F8F9FA"/>
          </a:solidFill>
          <a:ln w="12700">
            <a:solidFill>
              <a:srgbClr val="DADCE0"/>
            </a:solidFill>
            <a:prstDash val="solid"/>
          </a:ln>
        </p:spPr>
      </p:sp>
      <p:sp>
        <p:nvSpPr>
          <p:cNvPr id="38" name="Shape 35"/>
          <p:cNvSpPr/>
          <p:nvPr/>
        </p:nvSpPr>
        <p:spPr>
          <a:xfrm>
            <a:off x="9061704" y="4956048"/>
            <a:ext cx="2718511" cy="54864"/>
          </a:xfrm>
          <a:prstGeom prst="rect">
            <a:avLst/>
          </a:prstGeom>
          <a:solidFill>
            <a:srgbClr val="34A853"/>
          </a:solidFill>
          <a:ln/>
        </p:spPr>
      </p:sp>
      <p:sp>
        <p:nvSpPr>
          <p:cNvPr id="39" name="Text 36"/>
          <p:cNvSpPr/>
          <p:nvPr/>
        </p:nvSpPr>
        <p:spPr>
          <a:xfrm>
            <a:off x="9171432" y="5047488"/>
            <a:ext cx="2499284" cy="256032"/>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4. Grounded Live Cloud Console Proof</a:t>
            </a:r>
            <a:endParaRPr lang="en-US" sz="920" dirty="0"/>
          </a:p>
        </p:txBody>
      </p:sp>
      <p:sp>
        <p:nvSpPr>
          <p:cNvPr id="40" name="Text 37"/>
          <p:cNvSpPr/>
          <p:nvPr/>
        </p:nvSpPr>
        <p:spPr>
          <a:xfrm>
            <a:off x="9171432" y="5321808"/>
            <a:ext cx="2499284" cy="731520"/>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Pairs 100% native editable vector shapes with authentic Google Cloud Console &amp; Pantheon verification captures across 3 live GCP projects.</a:t>
            </a:r>
            <a:endParaRPr lang="en-US" sz="780" dirty="0"/>
          </a:p>
        </p:txBody>
      </p:sp>
      <p:sp>
        <p:nvSpPr>
          <p:cNvPr id="41" name="Shape 38"/>
          <p:cNvSpPr/>
          <p:nvPr/>
        </p:nvSpPr>
        <p:spPr>
          <a:xfrm>
            <a:off x="9189720" y="6099048"/>
            <a:ext cx="2462479" cy="192024"/>
          </a:xfrm>
          <a:prstGeom prst="roundRect">
            <a:avLst>
              <a:gd name="adj" fmla="val 23810"/>
            </a:avLst>
          </a:prstGeom>
          <a:solidFill>
            <a:srgbClr val="E6F4EA"/>
          </a:solidFill>
          <a:ln/>
        </p:spPr>
      </p:sp>
      <p:sp>
        <p:nvSpPr>
          <p:cNvPr id="42" name="Text 39"/>
          <p:cNvSpPr/>
          <p:nvPr/>
        </p:nvSpPr>
        <p:spPr>
          <a:xfrm>
            <a:off x="9244584" y="6099048"/>
            <a:ext cx="2352751" cy="192024"/>
          </a:xfrm>
          <a:prstGeom prst="rect">
            <a:avLst/>
          </a:prstGeom>
          <a:noFill/>
          <a:ln/>
        </p:spPr>
        <p:txBody>
          <a:bodyPr wrap="square" rtlCol="0" anchor="ctr"/>
          <a:lstStyle/>
          <a:p>
            <a:pPr indent="0" marL="0">
              <a:buNone/>
            </a:pPr>
            <a:r>
              <a:rPr lang="en-US" sz="740" b="1" dirty="0">
                <a:solidFill>
                  <a:srgbClr val="0D652D"/>
                </a:solidFill>
                <a:latin typeface="Google Sans" pitchFamily="34" charset="0"/>
                <a:ea typeface="Google Sans" pitchFamily="34" charset="-122"/>
                <a:cs typeface="Google Sans" pitchFamily="34" charset="-120"/>
              </a:rPr>
              <a:t>9 Verified Cloud Console Captures • 24 Code Files</a:t>
            </a:r>
            <a:endParaRPr lang="en-US" sz="740" dirty="0"/>
          </a:p>
        </p:txBody>
      </p:sp>
      <p:sp>
        <p:nvSpPr>
          <p:cNvPr id="43"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Complete 5-Workstream Google Cloud Architecture Center Program Deck — 100% Native Editable Shapes &amp; Verified Live Telemetry.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2026-10-20T13:07:18Z</dcterms:created>
  <dcterms:modified xsi:type="dcterms:W3CDTF">2026-10-20T13:07:18Z</dcterms:modified>
</cp:coreProperties>
</file>