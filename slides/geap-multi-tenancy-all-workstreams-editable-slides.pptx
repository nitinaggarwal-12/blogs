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our complete executive and technical briefing on the Gemini Enterprise Agent Platform Multi-Tenancy Program.</a:t>
            </a:r>
            <a:endParaRPr lang="en-US" dirty="0"/>
          </a:p>
          <a:p>
            <a:r>
              <a:rPr lang="en-US" dirty="0"/>
              <a:t>Over the next twenty-five slides, we will show how software providers and enterprise platform teams build, secure, and scale multi-tenant AI agents on Google Cloud—protecting SaaS gross margins for commercial accounts while delivering uncompromising sovereignty for regulated enterprises.</a:t>
            </a:r>
            <a:endParaRPr lang="en-US" dirty="0"/>
          </a:p>
          <a:p>
            <a:r>
              <a:rPr lang="en-US" dirty="0"/>
              <a:t>Let's move to Slide 2 to look at our five-workstream program map so everyone can see how the five chapters of this briefing connect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opening thesis from Slide 1, this program map acts as our executive roadmap for the entire twenty-five-slide deck.</a:t>
            </a:r>
            <a:endParaRPr lang="en-US" dirty="0"/>
          </a:p>
          <a:p>
            <a:r>
              <a:rPr lang="en-US" dirty="0"/>
              <a:t>Notice how the five chapters progress logically: Workstream 1 establishes our five-hop security baseline and three-pattern taxonomy; Workstream 2 builds Pattern A, our High-Density Shared Pool; Workstream 3 builds Pattern B, our Zero-Trust Sovereign Silos; Workstream 4 connects them via Pattern C with zero-downtime live customer upgrades; and Workstream 5 gives leadership our twelve-dimension decision matrix and eighty-percent shared codebase.</a:t>
            </a:r>
            <a:endParaRPr lang="en-US" dirty="0"/>
          </a:p>
          <a:p>
            <a:r>
              <a:rPr lang="en-US" dirty="0"/>
              <a:t>With that five-part roadmap in place, let's turn to Slide 3 to open our first chapter: Workstream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directly out of the five-workstream program map on Slide 2, we now begin Workstream 1 (Foundation &amp; Reference Taxonomy).</a:t>
            </a:r>
            <a:endParaRPr lang="en-US" dirty="0"/>
          </a:p>
          <a:p>
            <a:r>
              <a:rPr lang="en-US" dirty="0"/>
              <a:t>In this first chapter on Workstream 1, we establish the foundational five-hop security architecture and the three multi-tenant deployment patterns—Shared Pool, Sovereign Silos, and Hybrid Bridge—that anchor the entire program.</a:t>
            </a:r>
            <a:endParaRPr lang="en-US" dirty="0"/>
          </a:p>
          <a:p>
            <a:r>
              <a:rPr lang="en-US" dirty="0"/>
              <a:t>Let's advance to Slide 4 to examine the authoritative Figure 1 Google Cloud architecture blueprint for WS1 before we zoom into its core runtime mechanism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3, we start at the top with the complete Figure 1 Google Cloud architecture blueprint so everyone sees the end-to-end system map first.</a:t>
            </a:r>
            <a:endParaRPr lang="en-US" dirty="0"/>
          </a:p>
          <a:p>
            <a:r>
              <a:rPr lang="en-US" dirty="0"/>
              <a:t>Zooming into Figure 1, here is our master Google Cloud physical blueprint. Requests enter the blue Routing Hub at the top, pass through the green Five-Hop Governance Hub in the center, and branch into either the yellow Shared Pool Spoke on the left for high-density commercial accounts or the red Sovereign Silo Spoke on the right for regulated enterprise accounts.</a:t>
            </a:r>
            <a:endParaRPr lang="en-US" dirty="0"/>
          </a:p>
          <a:p>
            <a:r>
              <a:rPr lang="en-US" dirty="0"/>
              <a:t>Now that we have the end-to-end Figure 1 architecture map here on Slide 4, let's zoom in on Slide 5 to examine the core security and runtime mechanism that powers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4, this diagram shows how WS1 enforces isolation and reliability in action.</a:t>
            </a:r>
            <a:endParaRPr lang="en-US" dirty="0"/>
          </a:p>
          <a:p>
            <a:r>
              <a:rPr lang="en-US" dirty="0"/>
              <a:t>Look at the three logical security zones from left to right: customer requests enter through our Front Door in Zone 1, receive an unforgeable cryptographic tenant passport inside our Five-Hop Control Plane in Zone 2, and execute inside isolated data and model lanes in Zone 3. For both business and technical leaders, this means every tenant is governed by the exact same security discipline regardless of tier.</a:t>
            </a:r>
            <a:endParaRPr lang="en-US" dirty="0"/>
          </a:p>
          <a:p>
            <a:r>
              <a:rPr lang="en-US" dirty="0"/>
              <a:t>With both the physical blueprint and runtime mechanism clear, let's turn to Slide 6 to review the architectural trade-offs, selection rules, and verification results for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5, this slide closes our four-slide chapter on WS1 by summarizing the business decision rules and automated test outcomes.</a:t>
            </a:r>
            <a:endParaRPr lang="en-US" dirty="0"/>
          </a:p>
          <a:p>
            <a:r>
              <a:rPr lang="en-US" dirty="0"/>
              <a:t>This comparison table gives executives and architects the four simple rules at the bottom for matching any customer contract to the right pattern—balancing SaaS gross margins in Pattern A against dedicated regulatory isolation in Pattern B and seamless live tier upgrades in Pattern C.</a:t>
            </a:r>
            <a:endParaRPr lang="en-US" dirty="0"/>
          </a:p>
          <a:p>
            <a:r>
              <a:rPr lang="en-US" dirty="0"/>
              <a:t>That completes our chapter on Workstream 1 (Foundation &amp; Reference Taxonomy). Next, on Slide 7, we move directly into Workstream 2, where we dive deep into Pattern A—our High-Density Shared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1 (Foundation &amp; Reference Taxonomy) on Slide 6, we now transition into Workstream 2 (Pattern A — High-Density Shared Pool).</a:t>
            </a:r>
            <a:endParaRPr lang="en-US" dirty="0"/>
          </a:p>
          <a:p>
            <a:r>
              <a:rPr lang="en-US" dirty="0"/>
              <a:t>Here in Chapter 2, we focus on Pattern A—answering how a SaaS business can host hundreds of commercial customers on a single shared Google Cloud environment to achieve up to ninety percent prompt-caching cost savings without ever risking cross-tenant data bleed.</a:t>
            </a:r>
            <a:endParaRPr lang="en-US" dirty="0"/>
          </a:p>
          <a:p>
            <a:r>
              <a:rPr lang="en-US" dirty="0"/>
              <a:t>Let's advance to Slide 8 to examine the authoritative Figure 1 Google Cloud architecture blueprint for WS2 before we zoom into its core runtime mechanism on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7, we start at the top with the complete Figure 1 Google Cloud architecture blueprint so everyone sees the end-to-end system map first.</a:t>
            </a:r>
            <a:endParaRPr lang="en-US" dirty="0"/>
          </a:p>
          <a:p>
            <a:r>
              <a:rPr lang="en-US" dirty="0"/>
              <a:t>Figure 1 shows the complete Pattern A shared-pool physical blueprint on Google Cloud. Federated users from Google OIDC and Microsoft Entra arrive through the blue Routing Hub, get rate-limited by per-tenant Valkey bulkheads and served from a shared thirty-two-thousand-token Vertex AI prefix cache in the green Governance Hub, and query tenant-locked rows inside the yellow Shared Pool Spoke.</a:t>
            </a:r>
            <a:endParaRPr lang="en-US" dirty="0"/>
          </a:p>
          <a:p>
            <a:r>
              <a:rPr lang="en-US" dirty="0"/>
              <a:t>Now that we have the end-to-end Figure 1 architecture map here on Slide 8, let's zoom in on Slide 9 to examine the core security and runtime mechanism that powers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8, this diagram shows how WS2 enforces isolation and reliability in action.</a:t>
            </a:r>
            <a:endParaRPr lang="en-US" dirty="0"/>
          </a:p>
          <a:p>
            <a:r>
              <a:rPr lang="en-US" dirty="0"/>
              <a:t>Zooming in from Figure 1 to the wire packet level, these three stages show how we stop cross-tenant spoofing before it ever touches our shared pool. Even if a caller from RetailStream injects a fake header claiming to be FinVault on the left, our Hop 1 gate in the center strips it out and binds their verified login identity directly into the AlloyDB Row-Level Security session on the right.</a:t>
            </a:r>
            <a:endParaRPr lang="en-US" dirty="0"/>
          </a:p>
          <a:p>
            <a:r>
              <a:rPr lang="en-US" dirty="0"/>
              <a:t>With both the physical blueprint and runtime mechanism clear, let's turn to Slide 10 to review the architectural trade-offs, selection rules, and verification results for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9, this slide closes our four-slide chapter on WS2 by summarizing the business decision rules and automated test outcomes.</a:t>
            </a:r>
            <a:endParaRPr lang="en-US" dirty="0"/>
          </a:p>
          <a:p>
            <a:r>
              <a:rPr lang="en-US" dirty="0"/>
              <a:t>Our ten-point red-team verification matrix confirms that every common multi-tenant failure mode—from header spoofing and prompt-cache poisoning to noisy-neighbor traffic floods—is 100% blocked while preserving shared-pool unit economics.</a:t>
            </a:r>
            <a:endParaRPr lang="en-US" dirty="0"/>
          </a:p>
          <a:p>
            <a:r>
              <a:rPr lang="en-US" dirty="0"/>
              <a:t>That completes our chapter on Workstream 2 (Pattern A — High-Density Shared Pool). Next, on Slide 11, we move directly into Workstream 3, where we examine Pattern B for regulated customers who legally require their own dedicated cloud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2 (Pattern A — High-Density Shared Pool) on Slide 10, we now transition into Workstream 3 (Pattern B — Zero-Trust Sovereign Silos).</a:t>
            </a:r>
            <a:endParaRPr lang="en-US" dirty="0"/>
          </a:p>
          <a:p>
            <a:r>
              <a:rPr lang="en-US" dirty="0"/>
              <a:t>In Chapter 3, we move to Pattern B—our Zero-Trust Sovereign Silo architecture—built for regulated banking, healthcare, and public-sector customers whose compliance officers mandate zero physical blast radius and customer-controlled encryption kill-switches.</a:t>
            </a:r>
            <a:endParaRPr lang="en-US" dirty="0"/>
          </a:p>
          <a:p>
            <a:r>
              <a:rPr lang="en-US" dirty="0"/>
              <a:t>Let's advance to Slide 12 to examine the authoritative Figure 1 Google Cloud architecture blueprint for WS3 before we zoom into its core runtime mechanism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11, we start at the top with the complete Figure 1 Google Cloud architecture blueprint so everyone sees the end-to-end system map first.</a:t>
            </a:r>
            <a:endParaRPr lang="en-US" dirty="0"/>
          </a:p>
          <a:p>
            <a:r>
              <a:rPr lang="en-US" dirty="0"/>
              <a:t>In Figure 1, you can see how the Pattern B sovereign vault is physically isolated on Google Cloud. A dedicated single-tenant project is wrapped inside a VPC Service Controls perimeter and Principal Access Boundary, with every database table, memory bank, and optional air-gapped GKE Gemma 3 GPU node encrypted by the customer’s own Cloud KMS key.</a:t>
            </a:r>
            <a:endParaRPr lang="en-US" dirty="0"/>
          </a:p>
          <a:p>
            <a:r>
              <a:rPr lang="en-US" dirty="0"/>
              <a:t>Now that we have the end-to-end Figure 1 architecture map here on Slide 12, let's zoom in on Slide 13 to examine the core security and runtime mechanism that powers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12, this diagram shows how WS3 enforces isolation and reliability in action.</a:t>
            </a:r>
            <a:endParaRPr lang="en-US" dirty="0"/>
          </a:p>
          <a:p>
            <a:r>
              <a:rPr lang="en-US" dirty="0"/>
              <a:t>Zooming in from Figure 1 to the runtime timeline, this sequence illustrates our sub-sixty-second Cloud KMS kill-switch guarantee. The moment a bank security officer revokes their encryption key, our health probe detects the change, immediately flushes the customer’s volatile memory cache in Valkey, blocks all active sessions with HTTP 423 Locked, and cleanly recovers from AlloyDB once the customer restores their key.</a:t>
            </a:r>
            <a:endParaRPr lang="en-US" dirty="0"/>
          </a:p>
          <a:p>
            <a:r>
              <a:rPr lang="en-US" dirty="0"/>
              <a:t>With both the physical blueprint and runtime mechanism clear, let's turn to Slide 14 to review the architectural trade-offs, selection rules, and verification results for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13, this slide closes our four-slide chapter on WS3 by summarizing the business decision rules and automated test outcomes.</a:t>
            </a:r>
            <a:endParaRPr lang="en-US" dirty="0"/>
          </a:p>
          <a:p>
            <a:r>
              <a:rPr lang="en-US" dirty="0"/>
              <a:t>This sovereign hosting matrix compares dedicated Vertex AI endpoints against air-gapped Gemma 3 on GKE and summarizes our six passing perimeter and encryption kill-switch verification tests.</a:t>
            </a:r>
            <a:endParaRPr lang="en-US" dirty="0"/>
          </a:p>
          <a:p>
            <a:r>
              <a:rPr lang="en-US" dirty="0"/>
              <a:t>That completes our chapter on Workstream 3 (Pattern B — Zero-Trust Sovereign Silos). Next, on Slide 15, we move directly into Workstream 4, where we show how Pattern C bridges our Shared Pool and Sovereign Silos behind one unified front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3 (Pattern B — Zero-Trust Sovereign Silos) on Slide 14, we now transition into Workstream 4 (Pattern C — Dynamic Hybrid &amp; Zero-Downtime Upgrade).</a:t>
            </a:r>
            <a:endParaRPr lang="en-US" dirty="0"/>
          </a:p>
          <a:p>
            <a:r>
              <a:rPr lang="en-US" dirty="0"/>
              <a:t>Chapter 4 introduces Pattern C—our Dynamic Hybrid Hub-and-Spoke architecture—designed so customers can start in our cost-effective Shared Pool and graduate into a dedicated Sovereign Silo mid-contract with zero downtime and zero URL or login changes.</a:t>
            </a:r>
            <a:endParaRPr lang="en-US" dirty="0"/>
          </a:p>
          <a:p>
            <a:r>
              <a:rPr lang="en-US" dirty="0"/>
              <a:t>Let's advance to Slide 16 to examine the authoritative Figure 1 Google Cloud architecture blueprint for WS4 before we zoom into its core runtime mechanism on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15, we start at the top with the complete Figure 1 Google Cloud architecture blueprint so everyone sees the end-to-end system map first.</a:t>
            </a:r>
            <a:endParaRPr lang="en-US" dirty="0"/>
          </a:p>
          <a:p>
            <a:r>
              <a:rPr lang="en-US" dirty="0"/>
              <a:t>Figure 1 maps out the Pattern C hybrid physical blueprint. A single shared Routing and Governance Hub inspects each tenant’s live tier and routes standard tenants locally to the yellow Shared Pool Spoke while dispatching enterprise tenants across a one-way Private Service Connect `/28` NAT tunnel into their red Dedicated Sovereign Spoke.</a:t>
            </a:r>
            <a:endParaRPr lang="en-US" dirty="0"/>
          </a:p>
          <a:p>
            <a:r>
              <a:rPr lang="en-US" dirty="0"/>
              <a:t>Now that we have the end-to-end Figure 1 architecture map here on Slide 16, let's zoom in on Slide 17 to examine the core security and runtime mechanism that powers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16, this diagram shows how WS4 enforces isolation and reliability in action.</a:t>
            </a:r>
            <a:endParaRPr lang="en-US" dirty="0"/>
          </a:p>
          <a:p>
            <a:r>
              <a:rPr lang="en-US" dirty="0"/>
              <a:t>Zooming in from Figure 1 to our live migration engine, this four-stage state machine shows how we upgrade a customer from the Shared Pool into their Sovereign Spoke without dropping a single active conversation. We replicate their historical data in the background during Shadow Sync, verify 100% cryptographic hash parity, flip their routing pointer in zero milliseconds during Atomic Cutover, and automatically roll back to the shared pool if any pre-cutover health check fails.</a:t>
            </a:r>
            <a:endParaRPr lang="en-US" dirty="0"/>
          </a:p>
          <a:p>
            <a:r>
              <a:rPr lang="en-US" dirty="0"/>
              <a:t>With both the physical blueprint and runtime mechanism clear, let's turn to Slide 18 to review the architectural trade-offs, selection rules, and verification results for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17, this slide closes our four-slide chapter on WS4 by summarizing the business decision rules and automated test outcomes.</a:t>
            </a:r>
            <a:endParaRPr lang="en-US" dirty="0"/>
          </a:p>
          <a:p>
            <a:r>
              <a:rPr lang="en-US" dirty="0"/>
              <a:t>This comparison and four-point verification matrix shows why one-way Private Service Connect outperforms legacy VPC peering—eliminating IP address conflicts and preventing any spoke from initiating reverse connections back into the central hub.</a:t>
            </a:r>
            <a:endParaRPr lang="en-US" dirty="0"/>
          </a:p>
          <a:p>
            <a:r>
              <a:rPr lang="en-US" dirty="0"/>
              <a:t>That completes our chapter on Workstream 4 (Pattern C — Dynamic Hybrid &amp; Zero-Downtime Upgrade). Next, on Slide 19, we move directly into Workstream 5, our capstone chapter on the Executive Decision Guide and the 80/20 shared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4 (Pattern C — Dynamic Hybrid &amp; Zero-Downtime Upgrade) on Slide 18, we now transition into Workstream 5 (Capstone Decision Guide &amp; Agentic Triad).</a:t>
            </a:r>
            <a:endParaRPr lang="en-US" dirty="0"/>
          </a:p>
          <a:p>
            <a:r>
              <a:rPr lang="en-US" dirty="0"/>
              <a:t>Our fifth and final chapter, Workstream 5, brings the entire program together—showing how executive and engineering teams govern all three patterns simultaneously while reusing eighty percent of the same core Python application code.</a:t>
            </a:r>
            <a:endParaRPr lang="en-US" dirty="0"/>
          </a:p>
          <a:p>
            <a:r>
              <a:rPr lang="en-US" dirty="0"/>
              <a:t>Let's advance to Slide 20 to examine the authoritative Figure 1 Google Cloud architecture blueprint for WS5 before we zoom into its core runtime mechanism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19, we start at the top with the complete Figure 1 Google Cloud architecture blueprint so everyone sees the end-to-end system map first.</a:t>
            </a:r>
            <a:endParaRPr lang="en-US" dirty="0"/>
          </a:p>
          <a:p>
            <a:r>
              <a:rPr lang="en-US" dirty="0"/>
              <a:t>Our capstone Figure 1 blueprint unites the two-question topology decision tree with the Multi-Tenant Agentic Triad—allowing every enterprise customer to combine Shared Platform Agents, Private Tenant-Only Agents, and dynamically loaded Cloud Storage Skills without ever forking our core container image.</a:t>
            </a:r>
            <a:endParaRPr lang="en-US" dirty="0"/>
          </a:p>
          <a:p>
            <a:r>
              <a:rPr lang="en-US" dirty="0"/>
              <a:t>Now that we have the end-to-end Figure 1 architecture map here on Slide 20, let's zoom in on Slide 21 to examine the core security and runtime mechanism that powers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20, this diagram shows how WS5 enforces isolation and reliability in action.</a:t>
            </a:r>
            <a:endParaRPr lang="en-US" dirty="0"/>
          </a:p>
          <a:p>
            <a:r>
              <a:rPr lang="en-US" dirty="0"/>
              <a:t>Zooming in from Figure 1 to our software architecture, look at the 80/20 split across these three zones: eighty percent of our codebase—the entire five-hop security pipeline, ADK reasoning engine, and Model Context Protocol hub in Zones 1 and 2—stays 100% identical across every customer tier, while only the twenty percent infrastructure adapter in Zone 3 swaps between Pool, Silo, and Hybrid.</a:t>
            </a:r>
            <a:endParaRPr lang="en-US" dirty="0"/>
          </a:p>
          <a:p>
            <a:r>
              <a:rPr lang="en-US" dirty="0"/>
              <a:t>With both the physical blueprint and runtime mechanism clear, let's turn to Slide 22 to review the architectural trade-offs, selection rules, and verification results for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21, this slide closes our four-slide chapter on WS5 by summarizing the business decision rules and automated test outcomes.</a:t>
            </a:r>
            <a:endParaRPr lang="en-US" dirty="0"/>
          </a:p>
          <a:p>
            <a:r>
              <a:rPr lang="en-US" dirty="0"/>
              <a:t>This master twelve-dimension decision matrix serves as your single executive scorecard across Patterns A, B, and C, backed by all twenty passing automated breach, kill-switch, and zero-downtime migration tests.</a:t>
            </a:r>
            <a:endParaRPr lang="en-US" dirty="0"/>
          </a:p>
          <a:p>
            <a:r>
              <a:rPr lang="en-US" dirty="0"/>
              <a:t>That completes our chapter on Workstream 5 (Capstone Decision Guide &amp; Agentic Triad). Next, on Slide 23, we move directly into our three closing program capstone slides covering live Google Cloud Console proof, our three Well-Architected executive guarantees, and the complete deliverables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completed all five workstream chapters on Slide 22, we move to Slide 23 to show the live Dual-Plane visual evidence captured directly from our Google Cloud and AWS environments—proving that every pattern we just reviewed is running and verified in production.</a:t>
            </a:r>
            <a:endParaRPr lang="en-US" dirty="0"/>
          </a:p>
          <a:p>
            <a:r>
              <a:rPr lang="en-US" dirty="0"/>
              <a:t>On the left, you can see our active Cloud Run revisions, enabled Google Cloud security APIs, and Cloud Logging traces; on the right, the summary cards confirm that all 20/20 Intra-Cloud Google Cloud breach, sovereign kill-switch, and zero-downtime tier migration tests plus all 30/30 Inter-Cloud 10-SaaS AWS Bedrock AgentCore MCP target flows (60/60 assertions) pass with zero cross-tenant data leakage.</a:t>
            </a:r>
            <a:endParaRPr lang="en-US" dirty="0"/>
          </a:p>
          <a:p>
            <a:r>
              <a:rPr lang="en-US" dirty="0"/>
              <a:t>With live Dual-Plane verification confirmed here on Slide 23, let's turn to Slide 24 to synthesize the entire program into our three executive Well-Architected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Backed by the live Google Cloud verification proof from Slide 23, this slide distills our entire five-workstream architecture into three executive guarantees aligned with the Google Cloud Well-Architected Framework.</a:t>
            </a:r>
            <a:endParaRPr lang="en-US" dirty="0"/>
          </a:p>
          <a:p>
            <a:r>
              <a:rPr lang="en-US" dirty="0"/>
              <a:t>For our leadership and engineering teams, these three pillars summarize what we have built: first, eighty percent shared Python application code across Pooled, Sovereign Silo, and Hybrid deployments; second, safe per-customer customization through the Agentic Triad of shared agents, private agents, and dynamic Cloud Storage skills; and third, up to ninety percent prompt-cache efficiency paired with deterministic five-hop security.</a:t>
            </a:r>
            <a:endParaRPr lang="en-US" dirty="0"/>
          </a:p>
          <a:p>
            <a:r>
              <a:rPr lang="en-US" dirty="0"/>
              <a:t>Finally, let's move to our closing slide—Slide 25—for the complete index of all fourteen editable architecture blueprints and runnable engineering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our three Well-Architected executive guarantees from Slide 24, our closing slide serves as your single reference directory for every engineering asset produced across the five workstreams.</a:t>
            </a:r>
            <a:endParaRPr lang="en-US" dirty="0"/>
          </a:p>
          <a:p>
            <a:r>
              <a:rPr lang="en-US" dirty="0"/>
              <a:t>Here you can see how all fourteen editable Draw.io and Google Slides blueprints, our twenty-seven-file Python runtime, our three Terraform infrastructure starters, and our twenty-test simulation suite map across Workstreams 1 through 5 so your team can adopt them immediately.</a:t>
            </a:r>
            <a:endParaRPr lang="en-US" dirty="0"/>
          </a:p>
          <a:p>
            <a:r>
              <a:rPr lang="en-US" dirty="0"/>
              <a:t>Thank you all for your time—let's open the floor for executive, business, and technical questions, or dive into any individual workstream or live simulation in the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image" Target="../media/image-12-19.png"/><Relationship Id="rId20" Type="http://schemas.openxmlformats.org/officeDocument/2006/relationships/image" Target="../media/image-12-20.png"/><Relationship Id="rId21" Type="http://schemas.openxmlformats.org/officeDocument/2006/relationships/slideLayout" Target="../slideLayouts/slideLayout1.xml"/><Relationship Id="rId2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image" Target="../media/image-20-16.png"/><Relationship Id="rId17" Type="http://schemas.openxmlformats.org/officeDocument/2006/relationships/image" Target="../media/image-20-17.png"/><Relationship Id="rId18" Type="http://schemas.openxmlformats.org/officeDocument/2006/relationships/image" Target="../media/image-20-18.png"/><Relationship Id="rId19" Type="http://schemas.openxmlformats.org/officeDocument/2006/relationships/slideLayout" Target="../slideLayouts/slideLayout1.xml"/><Relationship Id="rId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COMPLETE PROGRAM DECK • WORKSTREAMS 1–5</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Google Cloud Multi-Tenant Agentic AI: Pooled, Sovereign Silos &amp; Hybrid — Complete Program Deck</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Cohesive 5-Workstream Executive Program Deck: Reference Taxonomy (WS1), Pooled Pattern A (WS2), Sovereign Silos Pattern B (WS3), Hybrid PSC Pattern C (WS4) &amp; Decision Guide (WS5)</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1 Reference Taxonomy</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Defines Pooled (Pattern A), Siloed (Pattern B), and Hybrid (Pattern C) on an 80% shared 5-hop ADK core.</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2 Pattern A Pooled</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Hosts commercial tenants in one shared GCP project with 90% prefix cache savings and 10/10 attacks blocked.</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3 Pattern B Sovereign Silos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Isolates regulated tenants in dedicated GCP projects with VPC-SC, IAM PAB, and &lt;60s CMEK kill-switches.</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4 Pattern C Dynamic Hybrid</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Bridges a shared pool and PSC enterprise spokes with zero-downtime live tier upgrades (4/4 PASS).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1–2</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Cover &amp; 5-Workstream Progression</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Opens the 25-slide Master Program Deck and maps how WS1 (Taxonomy), WS2 (Pooled), WS3 (Sovereign Silos), WS4 (Hybrid PSC) and WS5 (Decision Guide) build on one 5-Hop codebase (Slide 2).</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3–22</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 Chapters × 4 Slides: Divider → Figure 1 → Deep-Dive → Matrix</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chapter opens with a section divider, its authoritative Figure 1 blueprint (Slides 4, 8, 12, 16, 20), its signature deep-dive mechanism (Slides 5, 9, 13, 17, 21) and its verification matrix (Slides 6, 10, 14, 18, 22).</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23–24</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Live Console Proof &amp; Program Operating Model</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Proves the program live with Cloud Run revisions and the 20/20 Logs Explorer ledger (Slide 23) and distills the 80/20 code-reuse, Agentic Triad and CI/CD governance operating model (Slide 24).</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 25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Blueprint Lineage &amp; Deliverables Index</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the architecture blueprint summary and reference lineage table indexing all 14 Figure 1 diagrams, Terraform 2.6 / 3.6 / 4.6 modules and the 20/20 simulation suites (Slide 25).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5-WORKSTREAM PROGRAM ARCHITECTURE PROGRESSION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OVERVIEW</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Program Map • Workstreams 1–5 Cohesive Architecture Progression</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SKUs, runtime isolation boundaries, and production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1 Reference Taxonomy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Defines Pooled (Pattern A), Siloed (Pattern B), and Hybrid (Pattern C) on an 80% shared 5-hop ADK core.</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core-cymbal-agent/runtime_pipeline.py • Cloud Armor • IAP OBO/DPoP • KMS JWKS
</a:t>
            </a:r>
            <a:pPr indent="0" marL="0">
              <a:buNone/>
            </a:pPr>
            <a:r>
              <a:rPr lang="en-US" sz="730" dirty="0">
                <a:solidFill>
                  <a:srgbClr val="5F6368"/>
                </a:solidFill>
                <a:latin typeface="Roboto" pitchFamily="34" charset="0"/>
                <a:ea typeface="Roboto" pitchFamily="34" charset="-122"/>
                <a:cs typeface="Roboto" pitchFamily="34" charset="-120"/>
              </a:rPr>
              <a:t>Target &amp; SLA: ~42ms p95 5-Hop Overhead • &lt;0.15ms Cached JWKS • ~3ms Valkey JTI Revoke</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WS1 • Foundation &amp; 5-Hop Baseline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2 Pattern A Pooled</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Hosts commercial tenants in one shared GCP project with 90% prefix cache savings and 10/10 attacks blocked.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2.6 • Cloud Run gVisor • ContextCacheConfig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84.7% Input Token Savings • 120/600 RPM Bulkheads • 10/10 Breach Vectors PASS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WS2 • Pattern A High-Density Pool</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3 Pattern B Sovereign Silos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Isolates regulated tenants in dedicated GCP projects with VPC-SC, IAM PAB, and &lt;60s CMEK kill-switches.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3.6 • VPC-SC • IAM PAB • Cloud KMS CMEK • Private GKE Gemma 3 27B
</a:t>
            </a:r>
            <a:pPr indent="0" marL="0">
              <a:buNone/>
            </a:pPr>
            <a:r>
              <a:rPr lang="en-US" sz="730" dirty="0">
                <a:solidFill>
                  <a:srgbClr val="5F6368"/>
                </a:solidFill>
                <a:latin typeface="Roboto" pitchFamily="34" charset="0"/>
                <a:ea typeface="Roboto" pitchFamily="34" charset="-122"/>
                <a:cs typeface="Roboto" pitchFamily="34" charset="-120"/>
              </a:rPr>
              <a:t>Target &amp; SLA: &lt;60s HTTP 423 CMEK Kill-Switch • &lt;5s Valkey SCAN+UNLINK • 6/6 Silo Tests PASS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WS3 • Pattern B Sovereign Silos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4 Pattern C Dynamic Hybrid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Bridges a shared pool and PSC enterprise spokes with zero-downtime live tier upgrades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4.6 • Firestore Router • /28 PSC NAT • DMS CDC Shadow-Sync
</a:t>
            </a:r>
            <a:pPr indent="0" marL="0">
              <a:buNone/>
            </a:pPr>
            <a:r>
              <a:rPr lang="en-US" sz="730" dirty="0">
                <a:solidFill>
                  <a:srgbClr val="5F6368"/>
                </a:solidFill>
                <a:latin typeface="Roboto" pitchFamily="34" charset="0"/>
                <a:ea typeface="Roboto" pitchFamily="34" charset="-122"/>
                <a:cs typeface="Roboto" pitchFamily="34" charset="-120"/>
              </a:rPr>
              <a:t>Target &amp; SLA: 0ms Atomic Cutover • 0 Dropped Turns • 74% Lower 1,000-Tenant TCO • 4/4 PASS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WS4 • Pattern C Hybrid PSC Bridge</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5 Executive Decision Guide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Unifies a 2-question topology selector, 1,000-tenant FinOps TCO model, and 13/13 forensic gates.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2-Question Selector • BigQuery OTel FinOps • 10-SaaS AWS AgentCore MCP
</a:t>
            </a:r>
            <a:pPr indent="0" marL="0">
              <a:buNone/>
            </a:pPr>
            <a:r>
              <a:rPr lang="en-US" sz="730" dirty="0">
                <a:solidFill>
                  <a:srgbClr val="5F6368"/>
                </a:solidFill>
                <a:latin typeface="Roboto" pitchFamily="34" charset="0"/>
                <a:ea typeface="Roboto" pitchFamily="34" charset="-122"/>
                <a:cs typeface="Roboto" pitchFamily="34" charset="-120"/>
              </a:rPr>
              <a:t>Target &amp; SLA: 20/20 GCP + 30/30 SaaS Flows + 20 Before/After 3P UIs • 13/13 Forensic Gates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WS5 • Decision Guide &amp; Agentic Triad</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Complete 5-Workstream Google Cloud Architecture Center Program Deck — 100% Native Editable Shapes &amp; Verified Live Telemetry.</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WS1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Routing Hub (Ingress &amp; Identity PEP)</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&amp; Security Hub</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Pattern A: Pooled Shared Runtime Spoke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Control Plane (cymbal-pooled-prod)</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VPC &amp; 5-Hop Cryptographic Context Chain</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Text 73"/>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Pool (Shared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FinVault (8k Cap) &amp; RetailStream (4k Cap)</a:t>
            </a:r>
            <a:endParaRPr lang="en-US" sz="470" dirty="0"/>
          </a:p>
        </p:txBody>
      </p:sp>
      <p:sp>
        <p:nvSpPr>
          <p:cNvPr id="76" name="Shape 74"/>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7" name="Text 75"/>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Sovereign Tenant Silo</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VPC-SC + IAM PAB + finvault-silo-cmek + PSC</a:t>
            </a:r>
            <a:endParaRPr lang="en-US" sz="47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Routing hub (Hop 1 &amp; Hop 2 PEP/PDP)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7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Central governance and FinOps observability hub</a:t>
            </a:r>
            <a:endParaRPr lang="en-US" sz="430" dirty="0"/>
          </a:p>
        </p:txBody>
      </p:sp>
      <p:pic>
        <p:nvPicPr>
          <p:cNvPr id="82"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3" name="Shape 80"/>
          <p:cNvSpPr/>
          <p:nvPr/>
        </p:nvSpPr>
        <p:spPr>
          <a:xfrm>
            <a:off x="3591763" y="1032358"/>
            <a:ext cx="0" cy="1269187"/>
          </a:xfrm>
          <a:prstGeom prst="line">
            <a:avLst/>
          </a:prstGeom>
          <a:noFill/>
          <a:ln w="12700">
            <a:solidFill>
              <a:srgbClr val="5F6368"/>
            </a:solidFill>
            <a:prstDash val="solid"/>
            <a:tailEnd type="triangle" w="sm" len="sm"/>
          </a:ln>
        </p:spPr>
      </p:sp>
      <p:sp>
        <p:nvSpPr>
          <p:cNvPr id="84" name="Shape 81"/>
          <p:cNvSpPr/>
          <p:nvPr/>
        </p:nvSpPr>
        <p:spPr>
          <a:xfrm flipV="1">
            <a:off x="3792017" y="1040587"/>
            <a:ext cx="0" cy="1269187"/>
          </a:xfrm>
          <a:prstGeom prst="line">
            <a:avLst/>
          </a:prstGeom>
          <a:noFill/>
          <a:ln w="12700">
            <a:solidFill>
              <a:srgbClr val="5F6368"/>
            </a:solidFill>
            <a:prstDash val="solid"/>
            <a:tailEnd type="triangle" w="sm" len="sm"/>
          </a:ln>
        </p:spPr>
      </p:sp>
      <p:sp>
        <p:nvSpPr>
          <p:cNvPr id="85" name="Shape 82"/>
          <p:cNvSpPr/>
          <p:nvPr/>
        </p:nvSpPr>
        <p:spPr>
          <a:xfrm flipH="1">
            <a:off x="2948940" y="2414016"/>
            <a:ext cx="148133" cy="0"/>
          </a:xfrm>
          <a:prstGeom prst="line">
            <a:avLst/>
          </a:prstGeom>
          <a:noFill/>
          <a:ln w="12700">
            <a:solidFill>
              <a:srgbClr val="5F6368"/>
            </a:solidFill>
            <a:prstDash val="solid"/>
            <a:headEnd type="triangle" w="sm" len="sm"/>
          </a:ln>
        </p:spPr>
      </p:sp>
      <p:sp>
        <p:nvSpPr>
          <p:cNvPr id="86" name="Shape 83"/>
          <p:cNvSpPr/>
          <p:nvPr/>
        </p:nvSpPr>
        <p:spPr>
          <a:xfrm flipV="1">
            <a:off x="2948940" y="2306117"/>
            <a:ext cx="0" cy="107899"/>
          </a:xfrm>
          <a:prstGeom prst="line">
            <a:avLst/>
          </a:prstGeom>
          <a:noFill/>
          <a:ln w="12700">
            <a:solidFill>
              <a:srgbClr val="5F6368"/>
            </a:solidFill>
            <a:prstDash val="solid"/>
          </a:ln>
        </p:spPr>
      </p:sp>
      <p:sp>
        <p:nvSpPr>
          <p:cNvPr id="87" name="Shape 84"/>
          <p:cNvSpPr/>
          <p:nvPr/>
        </p:nvSpPr>
        <p:spPr>
          <a:xfrm flipH="1">
            <a:off x="2401214" y="2306117"/>
            <a:ext cx="547726" cy="0"/>
          </a:xfrm>
          <a:prstGeom prst="line">
            <a:avLst/>
          </a:prstGeom>
          <a:noFill/>
          <a:ln w="12700">
            <a:solidFill>
              <a:srgbClr val="5F6368"/>
            </a:solidFill>
            <a:prstDash val="solid"/>
            <a:tailEnd type="triangle" w="sm" len="sm"/>
          </a:ln>
        </p:spPr>
      </p:sp>
      <p:sp>
        <p:nvSpPr>
          <p:cNvPr id="88" name="Shape 85"/>
          <p:cNvSpPr/>
          <p:nvPr/>
        </p:nvSpPr>
        <p:spPr>
          <a:xfrm flipH="1">
            <a:off x="2948940" y="2535631"/>
            <a:ext cx="148133" cy="0"/>
          </a:xfrm>
          <a:prstGeom prst="line">
            <a:avLst/>
          </a:prstGeom>
          <a:noFill/>
          <a:ln w="12700">
            <a:solidFill>
              <a:srgbClr val="5F6368"/>
            </a:solidFill>
            <a:prstDash val="solid"/>
            <a:headEnd type="triangle" w="sm" len="sm"/>
          </a:ln>
        </p:spPr>
      </p:sp>
      <p:sp>
        <p:nvSpPr>
          <p:cNvPr id="89" name="Shape 86"/>
          <p:cNvSpPr/>
          <p:nvPr/>
        </p:nvSpPr>
        <p:spPr>
          <a:xfrm>
            <a:off x="2948940" y="2535631"/>
            <a:ext cx="0" cy="135331"/>
          </a:xfrm>
          <a:prstGeom prst="line">
            <a:avLst/>
          </a:prstGeom>
          <a:noFill/>
          <a:ln w="12700">
            <a:solidFill>
              <a:srgbClr val="5F6368"/>
            </a:solidFill>
            <a:prstDash val="solid"/>
          </a:ln>
        </p:spPr>
      </p:sp>
      <p:sp>
        <p:nvSpPr>
          <p:cNvPr id="90" name="Shape 87"/>
          <p:cNvSpPr/>
          <p:nvPr/>
        </p:nvSpPr>
        <p:spPr>
          <a:xfrm flipH="1">
            <a:off x="2401214" y="2670962"/>
            <a:ext cx="547726" cy="0"/>
          </a:xfrm>
          <a:prstGeom prst="line">
            <a:avLst/>
          </a:prstGeom>
          <a:noFill/>
          <a:ln w="12700">
            <a:solidFill>
              <a:srgbClr val="5F6368"/>
            </a:solidFill>
            <a:prstDash val="solid"/>
            <a:tailEnd type="triangle" w="sm" len="sm"/>
          </a:ln>
        </p:spPr>
      </p:sp>
      <p:sp>
        <p:nvSpPr>
          <p:cNvPr id="91" name="Shape 88"/>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2" name="Shape 89"/>
          <p:cNvSpPr/>
          <p:nvPr/>
        </p:nvSpPr>
        <p:spPr>
          <a:xfrm>
            <a:off x="3591763" y="2640787"/>
            <a:ext cx="0" cy="312725"/>
          </a:xfrm>
          <a:prstGeom prst="line">
            <a:avLst/>
          </a:prstGeom>
          <a:noFill/>
          <a:ln w="12700">
            <a:solidFill>
              <a:srgbClr val="5F6368"/>
            </a:solidFill>
            <a:prstDash val="solid"/>
            <a:tailEnd type="triangle" w="sm" len="sm"/>
          </a:ln>
        </p:spPr>
      </p:sp>
      <p:sp>
        <p:nvSpPr>
          <p:cNvPr id="93" name="Shape 90"/>
          <p:cNvSpPr/>
          <p:nvPr/>
        </p:nvSpPr>
        <p:spPr>
          <a:xfrm flipV="1">
            <a:off x="3792017" y="2640787"/>
            <a:ext cx="0" cy="312725"/>
          </a:xfrm>
          <a:prstGeom prst="line">
            <a:avLst/>
          </a:prstGeom>
          <a:noFill/>
          <a:ln w="12700">
            <a:solidFill>
              <a:srgbClr val="5F6368"/>
            </a:solidFill>
            <a:prstDash val="solid"/>
            <a:tailEnd type="triangle" w="sm" len="sm"/>
          </a:ln>
        </p:spPr>
      </p:sp>
      <p:sp>
        <p:nvSpPr>
          <p:cNvPr id="94" name="Shape 91"/>
          <p:cNvSpPr/>
          <p:nvPr/>
        </p:nvSpPr>
        <p:spPr>
          <a:xfrm flipV="1">
            <a:off x="3083357" y="3665830"/>
            <a:ext cx="0" cy="782726"/>
          </a:xfrm>
          <a:prstGeom prst="line">
            <a:avLst/>
          </a:prstGeom>
          <a:noFill/>
          <a:ln w="12700">
            <a:solidFill>
              <a:srgbClr val="5F6368"/>
            </a:solidFill>
            <a:prstDash val="solid"/>
          </a:ln>
        </p:spPr>
      </p:sp>
      <p:sp>
        <p:nvSpPr>
          <p:cNvPr id="95" name="Shape 92"/>
          <p:cNvSpPr/>
          <p:nvPr/>
        </p:nvSpPr>
        <p:spPr>
          <a:xfrm>
            <a:off x="3083357" y="3665830"/>
            <a:ext cx="595274" cy="0"/>
          </a:xfrm>
          <a:prstGeom prst="line">
            <a:avLst/>
          </a:prstGeom>
          <a:noFill/>
          <a:ln w="12700">
            <a:solidFill>
              <a:srgbClr val="5F6368"/>
            </a:solidFill>
            <a:prstDash val="solid"/>
          </a:ln>
        </p:spPr>
      </p:sp>
      <p:sp>
        <p:nvSpPr>
          <p:cNvPr id="96" name="Shape 93"/>
          <p:cNvSpPr/>
          <p:nvPr/>
        </p:nvSpPr>
        <p:spPr>
          <a:xfrm flipV="1">
            <a:off x="3678631" y="3239719"/>
            <a:ext cx="0" cy="426110"/>
          </a:xfrm>
          <a:prstGeom prst="line">
            <a:avLst/>
          </a:prstGeom>
          <a:noFill/>
          <a:ln w="12700">
            <a:solidFill>
              <a:srgbClr val="5F6368"/>
            </a:solidFill>
            <a:prstDash val="solid"/>
            <a:tailEnd type="triangle" w="sm" len="sm"/>
          </a:ln>
        </p:spPr>
      </p:sp>
      <p:sp>
        <p:nvSpPr>
          <p:cNvPr id="97" name="Shape 94"/>
          <p:cNvSpPr/>
          <p:nvPr/>
        </p:nvSpPr>
        <p:spPr>
          <a:xfrm flipV="1">
            <a:off x="3083357" y="3665830"/>
            <a:ext cx="0" cy="782726"/>
          </a:xfrm>
          <a:prstGeom prst="line">
            <a:avLst/>
          </a:prstGeom>
          <a:noFill/>
          <a:ln w="12700">
            <a:solidFill>
              <a:srgbClr val="5F6368"/>
            </a:solidFill>
            <a:prstDash val="solid"/>
            <a:headEnd type="triangle" w="sm" len="sm"/>
          </a:ln>
        </p:spPr>
      </p:sp>
      <p:sp>
        <p:nvSpPr>
          <p:cNvPr id="98" name="Shape 95"/>
          <p:cNvSpPr/>
          <p:nvPr/>
        </p:nvSpPr>
        <p:spPr>
          <a:xfrm>
            <a:off x="3083357" y="3665830"/>
            <a:ext cx="2364638" cy="0"/>
          </a:xfrm>
          <a:prstGeom prst="line">
            <a:avLst/>
          </a:prstGeom>
          <a:noFill/>
          <a:ln w="12700">
            <a:solidFill>
              <a:srgbClr val="5F6368"/>
            </a:solidFill>
            <a:prstDash val="solid"/>
          </a:ln>
        </p:spPr>
      </p:sp>
      <p:sp>
        <p:nvSpPr>
          <p:cNvPr id="99" name="Shape 96"/>
          <p:cNvSpPr/>
          <p:nvPr/>
        </p:nvSpPr>
        <p:spPr>
          <a:xfrm>
            <a:off x="5447995" y="3665830"/>
            <a:ext cx="0" cy="782726"/>
          </a:xfrm>
          <a:prstGeom prst="line">
            <a:avLst/>
          </a:prstGeom>
          <a:noFill/>
          <a:ln w="12700">
            <a:solidFill>
              <a:srgbClr val="5F6368"/>
            </a:solidFill>
            <a:prstDash val="solid"/>
            <a:tailEnd type="triangle" w="sm" len="sm"/>
          </a:ln>
        </p:spPr>
      </p:sp>
      <p:sp>
        <p:nvSpPr>
          <p:cNvPr id="100" name="Shape 97"/>
          <p:cNvSpPr/>
          <p:nvPr/>
        </p:nvSpPr>
        <p:spPr>
          <a:xfrm flipV="1">
            <a:off x="2557577" y="3605479"/>
            <a:ext cx="0" cy="181966"/>
          </a:xfrm>
          <a:prstGeom prst="line">
            <a:avLst/>
          </a:prstGeom>
          <a:noFill/>
          <a:ln w="12700">
            <a:solidFill>
              <a:srgbClr val="5F6368"/>
            </a:solidFill>
            <a:prstDash val="dash"/>
            <a:headEnd type="triangle" w="sm" len="sm"/>
          </a:ln>
        </p:spPr>
      </p:sp>
      <p:sp>
        <p:nvSpPr>
          <p:cNvPr id="101" name="Shape 98"/>
          <p:cNvSpPr/>
          <p:nvPr/>
        </p:nvSpPr>
        <p:spPr>
          <a:xfrm>
            <a:off x="2557577" y="3605479"/>
            <a:ext cx="2756002" cy="0"/>
          </a:xfrm>
          <a:prstGeom prst="line">
            <a:avLst/>
          </a:prstGeom>
          <a:noFill/>
          <a:ln w="12700">
            <a:solidFill>
              <a:srgbClr val="5F6368"/>
            </a:solidFill>
            <a:prstDash val="dash"/>
          </a:ln>
        </p:spPr>
      </p:sp>
      <p:sp>
        <p:nvSpPr>
          <p:cNvPr id="102" name="Shape 99"/>
          <p:cNvSpPr/>
          <p:nvPr/>
        </p:nvSpPr>
        <p:spPr>
          <a:xfrm flipV="1">
            <a:off x="5313578" y="3327502"/>
            <a:ext cx="0" cy="277978"/>
          </a:xfrm>
          <a:prstGeom prst="line">
            <a:avLst/>
          </a:prstGeom>
          <a:noFill/>
          <a:ln w="12700">
            <a:solidFill>
              <a:srgbClr val="5F6368"/>
            </a:solidFill>
            <a:prstDash val="dash"/>
            <a:tailEnd type="triangle" w="sm" len="sm"/>
          </a:ln>
        </p:spPr>
      </p:sp>
      <p:sp>
        <p:nvSpPr>
          <p:cNvPr id="103" name="Shape 100"/>
          <p:cNvSpPr/>
          <p:nvPr/>
        </p:nvSpPr>
        <p:spPr>
          <a:xfrm>
            <a:off x="5313578" y="3327502"/>
            <a:ext cx="0" cy="277978"/>
          </a:xfrm>
          <a:prstGeom prst="line">
            <a:avLst/>
          </a:prstGeom>
          <a:noFill/>
          <a:ln w="12700">
            <a:solidFill>
              <a:srgbClr val="5F6368"/>
            </a:solidFill>
            <a:prstDash val="dash"/>
          </a:ln>
        </p:spPr>
      </p:sp>
      <p:sp>
        <p:nvSpPr>
          <p:cNvPr id="104" name="Shape 101"/>
          <p:cNvSpPr/>
          <p:nvPr/>
        </p:nvSpPr>
        <p:spPr>
          <a:xfrm flipH="1">
            <a:off x="4922215" y="3605479"/>
            <a:ext cx="391363" cy="0"/>
          </a:xfrm>
          <a:prstGeom prst="line">
            <a:avLst/>
          </a:prstGeom>
          <a:noFill/>
          <a:ln w="12700">
            <a:solidFill>
              <a:srgbClr val="5F6368"/>
            </a:solidFill>
            <a:prstDash val="dash"/>
          </a:ln>
        </p:spPr>
      </p:sp>
      <p:sp>
        <p:nvSpPr>
          <p:cNvPr id="105" name="Shape 102"/>
          <p:cNvSpPr/>
          <p:nvPr/>
        </p:nvSpPr>
        <p:spPr>
          <a:xfrm>
            <a:off x="4922215" y="3605479"/>
            <a:ext cx="0" cy="181966"/>
          </a:xfrm>
          <a:prstGeom prst="line">
            <a:avLst/>
          </a:prstGeom>
          <a:noFill/>
          <a:ln w="12700">
            <a:solidFill>
              <a:srgbClr val="5F6368"/>
            </a:solidFill>
            <a:prstDash val="dash"/>
            <a:tailEnd type="triangle" w="sm" len="sm"/>
          </a:ln>
        </p:spPr>
      </p:sp>
      <p:sp>
        <p:nvSpPr>
          <p:cNvPr id="106" name="Shape 103"/>
          <p:cNvSpPr/>
          <p:nvPr/>
        </p:nvSpPr>
        <p:spPr>
          <a:xfrm>
            <a:off x="2392070" y="4387291"/>
            <a:ext cx="96012" cy="0"/>
          </a:xfrm>
          <a:prstGeom prst="line">
            <a:avLst/>
          </a:prstGeom>
          <a:noFill/>
          <a:ln w="12700">
            <a:solidFill>
              <a:srgbClr val="5F6368"/>
            </a:solidFill>
            <a:prstDash val="solid"/>
            <a:headEnd type="triangle" w="sm" len="sm"/>
          </a:ln>
        </p:spPr>
      </p:sp>
      <p:sp>
        <p:nvSpPr>
          <p:cNvPr id="107" name="Shape 104"/>
          <p:cNvSpPr/>
          <p:nvPr/>
        </p:nvSpPr>
        <p:spPr>
          <a:xfrm>
            <a:off x="2488082" y="4387291"/>
            <a:ext cx="0" cy="148133"/>
          </a:xfrm>
          <a:prstGeom prst="line">
            <a:avLst/>
          </a:prstGeom>
          <a:noFill/>
          <a:ln w="12700">
            <a:solidFill>
              <a:srgbClr val="5F6368"/>
            </a:solidFill>
            <a:prstDash val="solid"/>
          </a:ln>
        </p:spPr>
      </p:sp>
      <p:sp>
        <p:nvSpPr>
          <p:cNvPr id="108" name="Shape 105"/>
          <p:cNvSpPr/>
          <p:nvPr/>
        </p:nvSpPr>
        <p:spPr>
          <a:xfrm>
            <a:off x="2488082" y="4535424"/>
            <a:ext cx="130759" cy="0"/>
          </a:xfrm>
          <a:prstGeom prst="line">
            <a:avLst/>
          </a:prstGeom>
          <a:noFill/>
          <a:ln w="12700">
            <a:solidFill>
              <a:srgbClr val="5F6368"/>
            </a:solidFill>
            <a:prstDash val="solid"/>
            <a:tailEnd type="triangle" w="sm" len="sm"/>
          </a:ln>
        </p:spPr>
      </p:sp>
      <p:sp>
        <p:nvSpPr>
          <p:cNvPr id="109" name="Shape 106"/>
          <p:cNvSpPr/>
          <p:nvPr/>
        </p:nvSpPr>
        <p:spPr>
          <a:xfrm>
            <a:off x="2392070" y="5413248"/>
            <a:ext cx="130759" cy="0"/>
          </a:xfrm>
          <a:prstGeom prst="line">
            <a:avLst/>
          </a:prstGeom>
          <a:noFill/>
          <a:ln w="12700">
            <a:solidFill>
              <a:srgbClr val="5F6368"/>
            </a:solidFill>
            <a:prstDash val="solid"/>
            <a:headEnd type="triangle" w="sm" len="sm"/>
          </a:ln>
        </p:spPr>
      </p:sp>
      <p:sp>
        <p:nvSpPr>
          <p:cNvPr id="110" name="Shape 107"/>
          <p:cNvSpPr/>
          <p:nvPr/>
        </p:nvSpPr>
        <p:spPr>
          <a:xfrm flipV="1">
            <a:off x="2522830" y="4674413"/>
            <a:ext cx="0" cy="738835"/>
          </a:xfrm>
          <a:prstGeom prst="line">
            <a:avLst/>
          </a:prstGeom>
          <a:noFill/>
          <a:ln w="12700">
            <a:solidFill>
              <a:srgbClr val="5F6368"/>
            </a:solidFill>
            <a:prstDash val="solid"/>
          </a:ln>
        </p:spPr>
      </p:sp>
      <p:sp>
        <p:nvSpPr>
          <p:cNvPr id="111" name="Shape 108"/>
          <p:cNvSpPr/>
          <p:nvPr/>
        </p:nvSpPr>
        <p:spPr>
          <a:xfrm>
            <a:off x="2522830" y="4674413"/>
            <a:ext cx="96012" cy="0"/>
          </a:xfrm>
          <a:prstGeom prst="line">
            <a:avLst/>
          </a:prstGeom>
          <a:noFill/>
          <a:ln w="12700">
            <a:solidFill>
              <a:srgbClr val="5F6368"/>
            </a:solidFill>
            <a:prstDash val="solid"/>
            <a:tailEnd type="triangle" w="sm" len="sm"/>
          </a:ln>
        </p:spPr>
      </p:sp>
      <p:sp>
        <p:nvSpPr>
          <p:cNvPr id="112" name="Shape 109"/>
          <p:cNvSpPr/>
          <p:nvPr/>
        </p:nvSpPr>
        <p:spPr>
          <a:xfrm flipV="1">
            <a:off x="3083357" y="5013655"/>
            <a:ext cx="0" cy="60350"/>
          </a:xfrm>
          <a:prstGeom prst="line">
            <a:avLst/>
          </a:prstGeom>
          <a:noFill/>
          <a:ln w="12700">
            <a:solidFill>
              <a:srgbClr val="5F6368"/>
            </a:solidFill>
            <a:prstDash val="solid"/>
            <a:headEnd type="triangle" w="sm" len="sm"/>
          </a:ln>
        </p:spPr>
      </p:sp>
      <p:sp>
        <p:nvSpPr>
          <p:cNvPr id="113" name="Shape 110"/>
          <p:cNvSpPr/>
          <p:nvPr/>
        </p:nvSpPr>
        <p:spPr>
          <a:xfrm flipV="1">
            <a:off x="3083357" y="4778654"/>
            <a:ext cx="0" cy="61265"/>
          </a:xfrm>
          <a:prstGeom prst="line">
            <a:avLst/>
          </a:prstGeom>
          <a:noFill/>
          <a:ln w="12700">
            <a:solidFill>
              <a:srgbClr val="5F6368"/>
            </a:solidFill>
            <a:prstDash val="solid"/>
            <a:tailEnd type="triangle" w="sm" len="sm"/>
          </a:ln>
        </p:spPr>
      </p:sp>
      <p:sp>
        <p:nvSpPr>
          <p:cNvPr id="114" name="Shape 111"/>
          <p:cNvSpPr/>
          <p:nvPr/>
        </p:nvSpPr>
        <p:spPr>
          <a:xfrm flipV="1">
            <a:off x="3083357" y="5665622"/>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5405018"/>
            <a:ext cx="0" cy="60350"/>
          </a:xfrm>
          <a:prstGeom prst="line">
            <a:avLst/>
          </a:prstGeom>
          <a:noFill/>
          <a:ln w="12700">
            <a:solidFill>
              <a:srgbClr val="5F6368"/>
            </a:solidFill>
            <a:prstDash val="solid"/>
            <a:tailEnd type="triangle" w="sm" len="sm"/>
          </a:ln>
        </p:spPr>
      </p:sp>
      <p:sp>
        <p:nvSpPr>
          <p:cNvPr id="116" name="Shape 113"/>
          <p:cNvSpPr/>
          <p:nvPr/>
        </p:nvSpPr>
        <p:spPr>
          <a:xfrm>
            <a:off x="4756709" y="4387291"/>
            <a:ext cx="96012" cy="0"/>
          </a:xfrm>
          <a:prstGeom prst="line">
            <a:avLst/>
          </a:prstGeom>
          <a:noFill/>
          <a:ln w="12700">
            <a:solidFill>
              <a:srgbClr val="5F6368"/>
            </a:solidFill>
            <a:prstDash val="solid"/>
            <a:headEnd type="triangle" w="sm" len="sm"/>
          </a:ln>
        </p:spPr>
      </p:sp>
      <p:sp>
        <p:nvSpPr>
          <p:cNvPr id="117" name="Shape 114"/>
          <p:cNvSpPr/>
          <p:nvPr/>
        </p:nvSpPr>
        <p:spPr>
          <a:xfrm>
            <a:off x="4852721" y="4387291"/>
            <a:ext cx="0" cy="148133"/>
          </a:xfrm>
          <a:prstGeom prst="line">
            <a:avLst/>
          </a:prstGeom>
          <a:noFill/>
          <a:ln w="12700">
            <a:solidFill>
              <a:srgbClr val="5F6368"/>
            </a:solidFill>
            <a:prstDash val="solid"/>
          </a:ln>
        </p:spPr>
      </p:sp>
      <p:sp>
        <p:nvSpPr>
          <p:cNvPr id="118" name="Shape 115"/>
          <p:cNvSpPr/>
          <p:nvPr/>
        </p:nvSpPr>
        <p:spPr>
          <a:xfrm>
            <a:off x="4852721" y="4535424"/>
            <a:ext cx="129845" cy="0"/>
          </a:xfrm>
          <a:prstGeom prst="line">
            <a:avLst/>
          </a:prstGeom>
          <a:noFill/>
          <a:ln w="12700">
            <a:solidFill>
              <a:srgbClr val="5F6368"/>
            </a:solidFill>
            <a:prstDash val="solid"/>
            <a:tailEnd type="triangle" w="sm" len="sm"/>
          </a:ln>
        </p:spPr>
      </p:sp>
      <p:sp>
        <p:nvSpPr>
          <p:cNvPr id="119" name="Shape 116"/>
          <p:cNvSpPr/>
          <p:nvPr/>
        </p:nvSpPr>
        <p:spPr>
          <a:xfrm>
            <a:off x="4756709" y="4830775"/>
            <a:ext cx="130759" cy="0"/>
          </a:xfrm>
          <a:prstGeom prst="line">
            <a:avLst/>
          </a:prstGeom>
          <a:noFill/>
          <a:ln w="12700">
            <a:solidFill>
              <a:srgbClr val="5F6368"/>
            </a:solidFill>
            <a:prstDash val="solid"/>
            <a:headEnd type="triangle" w="sm" len="sm"/>
          </a:ln>
        </p:spPr>
      </p:sp>
      <p:sp>
        <p:nvSpPr>
          <p:cNvPr id="120" name="Shape 117"/>
          <p:cNvSpPr/>
          <p:nvPr/>
        </p:nvSpPr>
        <p:spPr>
          <a:xfrm flipV="1">
            <a:off x="4887468" y="4674413"/>
            <a:ext cx="0" cy="156362"/>
          </a:xfrm>
          <a:prstGeom prst="line">
            <a:avLst/>
          </a:prstGeom>
          <a:noFill/>
          <a:ln w="12700">
            <a:solidFill>
              <a:srgbClr val="5F6368"/>
            </a:solidFill>
            <a:prstDash val="solid"/>
          </a:ln>
        </p:spPr>
      </p:sp>
      <p:sp>
        <p:nvSpPr>
          <p:cNvPr id="121" name="Shape 118"/>
          <p:cNvSpPr/>
          <p:nvPr/>
        </p:nvSpPr>
        <p:spPr>
          <a:xfrm>
            <a:off x="4887468" y="4674413"/>
            <a:ext cx="95098" cy="0"/>
          </a:xfrm>
          <a:prstGeom prst="line">
            <a:avLst/>
          </a:prstGeom>
          <a:noFill/>
          <a:ln w="12700">
            <a:solidFill>
              <a:srgbClr val="5F6368"/>
            </a:solidFill>
            <a:prstDash val="solid"/>
            <a:tailEnd type="triangle" w="sm" len="sm"/>
          </a:ln>
        </p:spPr>
      </p:sp>
      <p:sp>
        <p:nvSpPr>
          <p:cNvPr id="122" name="Shape 119"/>
          <p:cNvSpPr/>
          <p:nvPr/>
        </p:nvSpPr>
        <p:spPr>
          <a:xfrm flipV="1">
            <a:off x="5447995" y="5013655"/>
            <a:ext cx="0" cy="60350"/>
          </a:xfrm>
          <a:prstGeom prst="line">
            <a:avLst/>
          </a:prstGeom>
          <a:noFill/>
          <a:ln w="12700">
            <a:solidFill>
              <a:srgbClr val="5F6368"/>
            </a:solidFill>
            <a:prstDash val="solid"/>
            <a:headEnd type="triangle" w="sm" len="sm"/>
          </a:ln>
        </p:spPr>
      </p:sp>
      <p:sp>
        <p:nvSpPr>
          <p:cNvPr id="123" name="Shape 120"/>
          <p:cNvSpPr/>
          <p:nvPr/>
        </p:nvSpPr>
        <p:spPr>
          <a:xfrm flipV="1">
            <a:off x="5447995" y="4778654"/>
            <a:ext cx="0" cy="61265"/>
          </a:xfrm>
          <a:prstGeom prst="line">
            <a:avLst/>
          </a:prstGeom>
          <a:noFill/>
          <a:ln w="12700">
            <a:solidFill>
              <a:srgbClr val="5F6368"/>
            </a:solidFill>
            <a:prstDash val="solid"/>
            <a:tailEnd type="triangle" w="sm" len="sm"/>
          </a:ln>
        </p:spPr>
      </p:sp>
      <p:sp>
        <p:nvSpPr>
          <p:cNvPr id="124" name="Shape 121"/>
          <p:cNvSpPr/>
          <p:nvPr/>
        </p:nvSpPr>
        <p:spPr>
          <a:xfrm flipV="1">
            <a:off x="5447995" y="5665622"/>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5405018"/>
            <a:ext cx="0" cy="60350"/>
          </a:xfrm>
          <a:prstGeom prst="line">
            <a:avLst/>
          </a:prstGeom>
          <a:noFill/>
          <a:ln w="12700">
            <a:solidFill>
              <a:srgbClr val="5F6368"/>
            </a:solidFill>
            <a:prstDash val="solid"/>
            <a:tailEnd type="triangle" w="sm" len="sm"/>
          </a:ln>
        </p:spPr>
      </p:sp>
      <p:sp>
        <p:nvSpPr>
          <p:cNvPr id="126" name="Shape 123"/>
          <p:cNvSpPr/>
          <p:nvPr/>
        </p:nvSpPr>
        <p:spPr>
          <a:xfrm>
            <a:off x="1473098" y="3802075"/>
            <a:ext cx="1926641" cy="113386"/>
          </a:xfrm>
          <a:prstGeom prst="rect">
            <a:avLst/>
          </a:prstGeom>
          <a:solidFill>
            <a:srgbClr val="FFFFFF"/>
          </a:solidFill>
          <a:ln/>
        </p:spPr>
      </p:sp>
      <p:sp>
        <p:nvSpPr>
          <p:cNvPr id="127" name="Text 124"/>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00" dirty="0"/>
          </a:p>
        </p:txBody>
      </p:sp>
      <p:sp>
        <p:nvSpPr>
          <p:cNvPr id="128" name="Shape 125"/>
          <p:cNvSpPr/>
          <p:nvPr/>
        </p:nvSpPr>
        <p:spPr>
          <a:xfrm>
            <a:off x="3837737" y="3802075"/>
            <a:ext cx="1636776" cy="113386"/>
          </a:xfrm>
          <a:prstGeom prst="rect">
            <a:avLst/>
          </a:prstGeom>
          <a:solidFill>
            <a:srgbClr val="FFFFFF"/>
          </a:solidFill>
          <a:ln/>
        </p:spPr>
      </p:sp>
      <p:sp>
        <p:nvSpPr>
          <p:cNvPr id="129" name="Text 126"/>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Dedicated Spoke: Pattern B Silo or Pattern C PSC Spoke</a:t>
            </a:r>
            <a:endParaRPr lang="en-US" sz="400" dirty="0"/>
          </a:p>
        </p:txBody>
      </p:sp>
      <p:sp>
        <p:nvSpPr>
          <p:cNvPr id="130" name="Shape 127"/>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1"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2" name="Text 128"/>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Competing B2B Tenants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(OIDC) &amp; RetailStream (Entra)</a:t>
            </a:r>
            <a:endParaRPr lang="en-US" sz="480" dirty="0"/>
          </a:p>
        </p:txBody>
      </p:sp>
      <p:sp>
        <p:nvSpPr>
          <p:cNvPr id="133" name="Shape 129"/>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4"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5" name="Text 130"/>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36" name="Shape 131"/>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7"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8" name="Text 132"/>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security_breach_audit_log</a:t>
            </a:r>
            <a:endParaRPr lang="en-US" sz="490" dirty="0"/>
          </a:p>
        </p:txBody>
      </p:sp>
      <p:sp>
        <p:nvSpPr>
          <p:cNvPr id="139" name="Shape 133"/>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0"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1" name="Text 134"/>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42" name="Shape 135"/>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3"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4" name="Text 136"/>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Central IAM &amp;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Identity (2LO/3LO)</a:t>
            </a:r>
            <a:endParaRPr lang="en-US" sz="490" dirty="0"/>
          </a:p>
        </p:txBody>
      </p:sp>
      <p:sp>
        <p:nvSpPr>
          <p:cNvPr id="145" name="Shape 137"/>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6"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7" name="Text 138"/>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gVisor + temp:tenant_id</a:t>
            </a:r>
            <a:endParaRPr lang="en-US" sz="490" dirty="0"/>
          </a:p>
        </p:txBody>
      </p:sp>
      <p:sp>
        <p:nvSpPr>
          <p:cNvPr id="148" name="Shape 139"/>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9"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0" name="Text 140"/>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+ 3LO OIDC/Entra</a:t>
            </a:r>
            <a:endParaRPr lang="en-US" sz="490" dirty="0"/>
          </a:p>
        </p:txBody>
      </p:sp>
      <p:sp>
        <p:nvSpPr>
          <p:cNvPr id="151" name="Shape 141"/>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2"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3" name="Text 142"/>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AlloyDB &amp; BQ RLS</a:t>
            </a:r>
            <a:endParaRPr lang="en-US" sz="490" dirty="0"/>
          </a:p>
          <a:p>
            <a:pPr algn="l" indent="0" marL="0">
              <a:lnSpc>
                <a:spcPct val="100000"/>
              </a:lnSpc>
              <a:buNone/>
            </a:pPr>
            <a:r>
              <a:rPr lang="en-US" sz="373" dirty="0">
                <a:solidFill>
                  <a:srgbClr val="3C4043"/>
                </a:solidFill>
                <a:latin typeface="Arial" pitchFamily="34" charset="0"/>
                <a:ea typeface="Arial" pitchFamily="34" charset="-122"/>
                <a:cs typeface="Arial" pitchFamily="34" charset="-120"/>
              </a:rPr>
              <a:t>tenant_pooled_rls_policy</a:t>
            </a:r>
            <a:endParaRPr lang="en-US" sz="490" dirty="0"/>
          </a:p>
        </p:txBody>
      </p:sp>
      <p:sp>
        <p:nvSpPr>
          <p:cNvPr id="154" name="Shape 143"/>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5"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6" name="Text 144"/>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57" name="Shape 145"/>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8"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9" name="Text 146"/>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Local Silo 3LO Connectors</a:t>
            </a:r>
            <a:endParaRPr lang="en-US" sz="490" dirty="0"/>
          </a:p>
        </p:txBody>
      </p:sp>
      <p:sp>
        <p:nvSpPr>
          <p:cNvPr id="160" name="Shape 147"/>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1"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2" name="Text 148"/>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423 Lock</a:t>
            </a:r>
            <a:endParaRPr lang="en-US" sz="490" dirty="0"/>
          </a:p>
        </p:txBody>
      </p:sp>
      <p:sp>
        <p:nvSpPr>
          <p:cNvPr id="163" name="Shape 149"/>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4"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5" name="Text 150"/>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a:t>
            </a:r>
            <a:endParaRPr lang="en-US" sz="490" dirty="0"/>
          </a:p>
          <a:p>
            <a:pPr algn="l" indent="0" marL="0">
              <a:lnSpc>
                <a:spcPct val="100000"/>
              </a:lnSpc>
              <a:buNone/>
            </a:pPr>
            <a:r>
              <a:rPr lang="en-US" sz="350" dirty="0">
                <a:solidFill>
                  <a:srgbClr val="3C4043"/>
                </a:solidFill>
                <a:latin typeface="Arial" pitchFamily="34" charset="0"/>
                <a:ea typeface="Arial" pitchFamily="34" charset="-122"/>
                <a:cs typeface="Arial" pitchFamily="34" charset="-120"/>
              </a:rPr>
              <a:t>cymbal-multi-tenant-patterns</a:t>
            </a:r>
            <a:endParaRPr lang="en-US" sz="490" dirty="0"/>
          </a:p>
        </p:txBody>
      </p:sp>
      <p:sp>
        <p:nvSpPr>
          <p:cNvPr id="166" name="Shape 151"/>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7"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8" name="Text 152"/>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Rai Filters &amp; SDP PII</a:t>
            </a:r>
            <a:endParaRPr lang="en-US" sz="490" dirty="0"/>
          </a:p>
        </p:txBody>
      </p:sp>
      <p:sp>
        <p:nvSpPr>
          <p:cNvPr id="169" name="Shape 153"/>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0"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1" name="Text 154"/>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90% Prefix Cache Savings</a:t>
            </a:r>
            <a:endParaRPr lang="en-US" sz="490" dirty="0"/>
          </a:p>
        </p:txBody>
      </p:sp>
      <p:sp>
        <p:nvSpPr>
          <p:cNvPr id="172" name="Shape 155"/>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3"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4" name="Text 156"/>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Sovereign Silo Guardrails</a:t>
            </a:r>
            <a:endParaRPr lang="en-US" sz="490" dirty="0"/>
          </a:p>
        </p:txBody>
      </p:sp>
      <p:sp>
        <p:nvSpPr>
          <p:cNvPr id="175" name="Shape 157"/>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6"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7" name="Text 158"/>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 Gemma 3</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PT or Private GKE</a:t>
            </a:r>
            <a:endParaRPr lang="en-US" sz="490" dirty="0"/>
          </a:p>
        </p:txBody>
      </p:sp>
      <p:sp>
        <p:nvSpPr>
          <p:cNvPr id="178" name="Shape 15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0" name="Text 16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81" name="Shape 16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3" name="Text 16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Ingress Prompt Screen</a:t>
            </a:r>
            <a:endParaRPr lang="en-US" sz="490" dirty="0"/>
          </a:p>
        </p:txBody>
      </p:sp>
      <p:sp>
        <p:nvSpPr>
          <p:cNvPr id="184" name="Shape 16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6" name="Text 16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RFC 8693 OBO + DPoP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KMS ECDSA P-256 Sign</a:t>
            </a:r>
            <a:endParaRPr lang="en-US" sz="490" dirty="0"/>
          </a:p>
        </p:txBody>
      </p:sp>
      <p:sp>
        <p:nvSpPr>
          <p:cNvPr id="187" name="Shape 165"/>
          <p:cNvSpPr/>
          <p:nvPr/>
        </p:nvSpPr>
        <p:spPr>
          <a:xfrm>
            <a:off x="3517697"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9" name="Shape 167"/>
          <p:cNvSpPr/>
          <p:nvPr/>
        </p:nvSpPr>
        <p:spPr>
          <a:xfrm>
            <a:off x="3717950"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1" name="Shape 169"/>
          <p:cNvSpPr/>
          <p:nvPr/>
        </p:nvSpPr>
        <p:spPr>
          <a:xfrm>
            <a:off x="3517697"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3" name="Shape 171"/>
          <p:cNvSpPr/>
          <p:nvPr/>
        </p:nvSpPr>
        <p:spPr>
          <a:xfrm>
            <a:off x="3717950"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2813609"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7" name="Shape 175"/>
          <p:cNvSpPr/>
          <p:nvPr/>
        </p:nvSpPr>
        <p:spPr>
          <a:xfrm>
            <a:off x="3735324" y="3392424"/>
            <a:ext cx="148133" cy="148133"/>
          </a:xfrm>
          <a:prstGeom prst="ellipse">
            <a:avLst/>
          </a:prstGeom>
          <a:solidFill>
            <a:srgbClr val="174EA6"/>
          </a:solidFill>
          <a:ln w="10795">
            <a:solidFill>
              <a:srgbClr val="174EA6"/>
            </a:solidFill>
            <a:prstDash val="solid"/>
          </a:ln>
        </p:spPr>
      </p:sp>
      <p:sp>
        <p:nvSpPr>
          <p:cNvPr id="198" name="Text 176"/>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1579169" y="4600346"/>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4808830"/>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3" name="Shape 181"/>
          <p:cNvSpPr/>
          <p:nvPr/>
        </p:nvSpPr>
        <p:spPr>
          <a:xfrm>
            <a:off x="1579169" y="5634533"/>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5" name="Shape 183"/>
          <p:cNvSpPr/>
          <p:nvPr/>
        </p:nvSpPr>
        <p:spPr>
          <a:xfrm>
            <a:off x="5339182" y="3353105"/>
            <a:ext cx="760781" cy="217627"/>
          </a:xfrm>
          <a:prstGeom prst="roundRect">
            <a:avLst>
              <a:gd name="adj" fmla="val 21008"/>
            </a:avLst>
          </a:prstGeom>
          <a:solidFill>
            <a:srgbClr val="FFFFFF"/>
          </a:solidFill>
          <a:ln w="5715">
            <a:solidFill>
              <a:srgbClr val="DADCE0"/>
            </a:solidFill>
            <a:prstDash val="solid"/>
          </a:ln>
        </p:spPr>
      </p:sp>
      <p:sp>
        <p:nvSpPr>
          <p:cNvPr id="206" name="Text 184"/>
          <p:cNvSpPr/>
          <p:nvPr/>
        </p:nvSpPr>
        <p:spPr>
          <a:xfrm>
            <a:off x="5359298" y="3362249"/>
            <a:ext cx="720547" cy="199339"/>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Security, OTel &amp; FinOps</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chargeback telemetry</a:t>
            </a:r>
            <a:endParaRPr lang="en-US" sz="410" dirty="0"/>
          </a:p>
        </p:txBody>
      </p:sp>
      <p:sp>
        <p:nvSpPr>
          <p:cNvPr id="207" name="Shape 185"/>
          <p:cNvSpPr/>
          <p:nvPr/>
        </p:nvSpPr>
        <p:spPr>
          <a:xfrm>
            <a:off x="2884932" y="4817974"/>
            <a:ext cx="397764" cy="208483"/>
          </a:xfrm>
          <a:prstGeom prst="roundRect">
            <a:avLst>
              <a:gd name="adj" fmla="val 21930"/>
            </a:avLst>
          </a:prstGeom>
          <a:solidFill>
            <a:srgbClr val="FFFFFF"/>
          </a:solidFill>
          <a:ln w="5715">
            <a:solidFill>
              <a:srgbClr val="DADCE0"/>
            </a:solidFill>
            <a:prstDash val="solid"/>
          </a:ln>
        </p:spPr>
      </p:sp>
      <p:sp>
        <p:nvSpPr>
          <p:cNvPr id="208" name="Text 186"/>
          <p:cNvSpPr/>
          <p:nvPr/>
        </p:nvSpPr>
        <p:spPr>
          <a:xfrm>
            <a:off x="2905049" y="4827118"/>
            <a:ext cx="35753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Scoped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MCP &amp; RAG</a:t>
            </a:r>
            <a:endParaRPr lang="en-US" sz="410" dirty="0"/>
          </a:p>
        </p:txBody>
      </p:sp>
      <p:sp>
        <p:nvSpPr>
          <p:cNvPr id="209" name="Shape 187"/>
          <p:cNvSpPr/>
          <p:nvPr/>
        </p:nvSpPr>
        <p:spPr>
          <a:xfrm>
            <a:off x="2815438" y="5452567"/>
            <a:ext cx="534924" cy="208483"/>
          </a:xfrm>
          <a:prstGeom prst="roundRect">
            <a:avLst>
              <a:gd name="adj" fmla="val 21930"/>
            </a:avLst>
          </a:prstGeom>
          <a:solidFill>
            <a:srgbClr val="FFFFFF"/>
          </a:solidFill>
          <a:ln w="5715">
            <a:solidFill>
              <a:srgbClr val="DADCE0"/>
            </a:solidFill>
            <a:prstDash val="solid"/>
          </a:ln>
        </p:spPr>
      </p:sp>
      <p:sp>
        <p:nvSpPr>
          <p:cNvPr id="210" name="Text 188"/>
          <p:cNvSpPr/>
          <p:nvPr/>
        </p:nvSpPr>
        <p:spPr>
          <a:xfrm>
            <a:off x="2835554" y="5461711"/>
            <a:ext cx="49469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SET LOCAL</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current_tenant</a:t>
            </a:r>
            <a:endParaRPr lang="en-US" sz="410" dirty="0"/>
          </a:p>
        </p:txBody>
      </p:sp>
      <p:sp>
        <p:nvSpPr>
          <p:cNvPr id="211" name="Shape 189"/>
          <p:cNvSpPr/>
          <p:nvPr/>
        </p:nvSpPr>
        <p:spPr>
          <a:xfrm>
            <a:off x="5235854" y="4817974"/>
            <a:ext cx="425196" cy="208483"/>
          </a:xfrm>
          <a:prstGeom prst="roundRect">
            <a:avLst>
              <a:gd name="adj" fmla="val 21930"/>
            </a:avLst>
          </a:prstGeom>
          <a:solidFill>
            <a:srgbClr val="FFFFFF"/>
          </a:solidFill>
          <a:ln w="5715">
            <a:solidFill>
              <a:srgbClr val="DADCE0"/>
            </a:solidFill>
            <a:prstDash val="solid"/>
          </a:ln>
        </p:spPr>
      </p:sp>
      <p:sp>
        <p:nvSpPr>
          <p:cNvPr id="212" name="Text 190"/>
          <p:cNvSpPr/>
          <p:nvPr/>
        </p:nvSpPr>
        <p:spPr>
          <a:xfrm>
            <a:off x="5255971" y="4827118"/>
            <a:ext cx="384962"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Air-Gapped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Silo RAG</a:t>
            </a:r>
            <a:endParaRPr lang="en-US" sz="410" dirty="0"/>
          </a:p>
        </p:txBody>
      </p:sp>
      <p:sp>
        <p:nvSpPr>
          <p:cNvPr id="213" name="Shape 191"/>
          <p:cNvSpPr/>
          <p:nvPr/>
        </p:nvSpPr>
        <p:spPr>
          <a:xfrm>
            <a:off x="5180076" y="5452567"/>
            <a:ext cx="534924" cy="208483"/>
          </a:xfrm>
          <a:prstGeom prst="roundRect">
            <a:avLst>
              <a:gd name="adj" fmla="val 21930"/>
            </a:avLst>
          </a:prstGeom>
          <a:solidFill>
            <a:srgbClr val="FFFFFF"/>
          </a:solidFill>
          <a:ln w="5715">
            <a:solidFill>
              <a:srgbClr val="DADCE0"/>
            </a:solidFill>
            <a:prstDash val="solid"/>
          </a:ln>
        </p:spPr>
      </p:sp>
      <p:sp>
        <p:nvSpPr>
          <p:cNvPr id="214" name="Text 192"/>
          <p:cNvSpPr/>
          <p:nvPr/>
        </p:nvSpPr>
        <p:spPr>
          <a:xfrm>
            <a:off x="5200193" y="5461711"/>
            <a:ext cx="49469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CMEK-Encrypted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State &amp; Tools</a:t>
            </a:r>
            <a:endParaRPr lang="en-US" sz="410" dirty="0"/>
          </a:p>
        </p:txBody>
      </p:sp>
      <p:sp>
        <p:nvSpPr>
          <p:cNvPr id="215" name="Shape 193"/>
          <p:cNvSpPr/>
          <p:nvPr/>
        </p:nvSpPr>
        <p:spPr>
          <a:xfrm>
            <a:off x="1757477" y="5604358"/>
            <a:ext cx="397764" cy="208483"/>
          </a:xfrm>
          <a:prstGeom prst="roundRect">
            <a:avLst>
              <a:gd name="adj" fmla="val 21930"/>
            </a:avLst>
          </a:prstGeom>
          <a:solidFill>
            <a:srgbClr val="FFFFFF"/>
          </a:solidFill>
          <a:ln w="5715">
            <a:solidFill>
              <a:srgbClr val="DADCE0"/>
            </a:solidFill>
            <a:prstDash val="solid"/>
          </a:ln>
        </p:spPr>
      </p:sp>
      <p:sp>
        <p:nvSpPr>
          <p:cNvPr id="216" name="Text 194"/>
          <p:cNvSpPr/>
          <p:nvPr/>
        </p:nvSpPr>
        <p:spPr>
          <a:xfrm>
            <a:off x="1777594" y="5613502"/>
            <a:ext cx="35753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Generates</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response</a:t>
            </a:r>
            <a:endParaRPr lang="en-US" sz="410" dirty="0"/>
          </a:p>
        </p:txBody>
      </p:sp>
      <p:sp>
        <p:nvSpPr>
          <p:cNvPr id="217" name="Shape 195"/>
          <p:cNvSpPr/>
          <p:nvPr/>
        </p:nvSpPr>
        <p:spPr>
          <a:xfrm>
            <a:off x="3905402" y="3354019"/>
            <a:ext cx="644652" cy="208483"/>
          </a:xfrm>
          <a:prstGeom prst="roundRect">
            <a:avLst>
              <a:gd name="adj" fmla="val 21930"/>
            </a:avLst>
          </a:prstGeom>
          <a:solidFill>
            <a:srgbClr val="FFFFFF"/>
          </a:solidFill>
          <a:ln w="5715">
            <a:solidFill>
              <a:srgbClr val="DADCE0"/>
            </a:solidFill>
            <a:prstDash val="solid"/>
          </a:ln>
        </p:spPr>
      </p:sp>
      <p:sp>
        <p:nvSpPr>
          <p:cNvPr id="218" name="Text 196"/>
          <p:cNvSpPr/>
          <p:nvPr/>
        </p:nvSpPr>
        <p:spPr>
          <a:xfrm>
            <a:off x="3925519" y="3363163"/>
            <a:ext cx="604418"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Sanitized response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with SDP redaction</a:t>
            </a:r>
            <a:endParaRPr lang="en-US" sz="410" dirty="0"/>
          </a:p>
        </p:txBody>
      </p:sp>
      <p:sp>
        <p:nvSpPr>
          <p:cNvPr id="219" name="Shape 197"/>
          <p:cNvSpPr/>
          <p:nvPr/>
        </p:nvSpPr>
        <p:spPr>
          <a:xfrm>
            <a:off x="2983687" y="3354019"/>
            <a:ext cx="669341" cy="208483"/>
          </a:xfrm>
          <a:prstGeom prst="roundRect">
            <a:avLst>
              <a:gd name="adj" fmla="val 21930"/>
            </a:avLst>
          </a:prstGeom>
          <a:solidFill>
            <a:srgbClr val="FFFFFF"/>
          </a:solidFill>
          <a:ln w="5715">
            <a:solidFill>
              <a:srgbClr val="DADCE0"/>
            </a:solidFill>
            <a:prstDash val="solid"/>
          </a:ln>
        </p:spPr>
      </p:sp>
      <p:sp>
        <p:nvSpPr>
          <p:cNvPr id="220" name="Text 198"/>
          <p:cNvSpPr/>
          <p:nvPr/>
        </p:nvSpPr>
        <p:spPr>
          <a:xfrm>
            <a:off x="3003804" y="3363163"/>
            <a:ext cx="629107"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Route by tenant tier</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(Pool, Silo or PSC)</a:t>
            </a:r>
            <a:endParaRPr lang="en-US" sz="410" dirty="0"/>
          </a:p>
        </p:txBody>
      </p:sp>
      <p:sp>
        <p:nvSpPr>
          <p:cNvPr id="221" name="Shape 199"/>
          <p:cNvSpPr/>
          <p:nvPr/>
        </p:nvSpPr>
        <p:spPr>
          <a:xfrm>
            <a:off x="2589581" y="2871216"/>
            <a:ext cx="425196" cy="208483"/>
          </a:xfrm>
          <a:prstGeom prst="roundRect">
            <a:avLst>
              <a:gd name="adj" fmla="val 21930"/>
            </a:avLst>
          </a:prstGeom>
          <a:solidFill>
            <a:srgbClr val="FFFFFF"/>
          </a:solidFill>
          <a:ln w="5715">
            <a:solidFill>
              <a:srgbClr val="DADCE0"/>
            </a:solidFill>
            <a:prstDash val="solid"/>
          </a:ln>
        </p:spPr>
      </p:sp>
      <p:sp>
        <p:nvSpPr>
          <p:cNvPr id="222" name="Text 200"/>
          <p:cNvSpPr/>
          <p:nvPr/>
        </p:nvSpPr>
        <p:spPr>
          <a:xfrm>
            <a:off x="2609698" y="2880360"/>
            <a:ext cx="384962"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OBO + KMS</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ECDSA sign</a:t>
            </a:r>
            <a:endParaRPr lang="en-US" sz="410" dirty="0"/>
          </a:p>
        </p:txBody>
      </p:sp>
      <p:sp>
        <p:nvSpPr>
          <p:cNvPr id="223" name="Shape 201"/>
          <p:cNvSpPr/>
          <p:nvPr/>
        </p:nvSpPr>
        <p:spPr>
          <a:xfrm>
            <a:off x="1757477" y="4605833"/>
            <a:ext cx="589788" cy="138989"/>
          </a:xfrm>
          <a:prstGeom prst="roundRect">
            <a:avLst>
              <a:gd name="adj" fmla="val 32895"/>
            </a:avLst>
          </a:prstGeom>
          <a:solidFill>
            <a:srgbClr val="FFFFFF"/>
          </a:solidFill>
          <a:ln w="5715">
            <a:solidFill>
              <a:srgbClr val="DADCE0"/>
            </a:solidFill>
            <a:prstDash val="solid"/>
          </a:ln>
        </p:spPr>
      </p:sp>
      <p:sp>
        <p:nvSpPr>
          <p:cNvPr id="224" name="Text 202"/>
          <p:cNvSpPr/>
          <p:nvPr/>
        </p:nvSpPr>
        <p:spPr>
          <a:xfrm>
            <a:off x="1777594" y="4614977"/>
            <a:ext cx="549554"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 request</a:t>
            </a:r>
            <a:endParaRPr lang="en-US" sz="410" dirty="0"/>
          </a:p>
        </p:txBody>
      </p:sp>
      <p:sp>
        <p:nvSpPr>
          <p:cNvPr id="225" name="Shape 203"/>
          <p:cNvSpPr/>
          <p:nvPr/>
        </p:nvSpPr>
        <p:spPr>
          <a:xfrm>
            <a:off x="1757477" y="4814316"/>
            <a:ext cx="617220" cy="138989"/>
          </a:xfrm>
          <a:prstGeom prst="roundRect">
            <a:avLst>
              <a:gd name="adj" fmla="val 32895"/>
            </a:avLst>
          </a:prstGeom>
          <a:solidFill>
            <a:srgbClr val="FFFFFF"/>
          </a:solidFill>
          <a:ln w="5715">
            <a:solidFill>
              <a:srgbClr val="DADCE0"/>
            </a:solidFill>
            <a:prstDash val="solid"/>
          </a:ln>
        </p:spPr>
      </p:sp>
      <p:sp>
        <p:nvSpPr>
          <p:cNvPr id="226" name="Text 204"/>
          <p:cNvSpPr/>
          <p:nvPr/>
        </p:nvSpPr>
        <p:spPr>
          <a:xfrm>
            <a:off x="1777594" y="4823460"/>
            <a:ext cx="57698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 response</a:t>
            </a:r>
            <a:endParaRPr lang="en-US" sz="410" dirty="0"/>
          </a:p>
        </p:txBody>
      </p:sp>
      <p:sp>
        <p:nvSpPr>
          <p:cNvPr id="227" name="Shape 205"/>
          <p:cNvSpPr/>
          <p:nvPr/>
        </p:nvSpPr>
        <p:spPr>
          <a:xfrm>
            <a:off x="2443277" y="2080260"/>
            <a:ext cx="480060" cy="208483"/>
          </a:xfrm>
          <a:prstGeom prst="roundRect">
            <a:avLst>
              <a:gd name="adj" fmla="val 21930"/>
            </a:avLst>
          </a:prstGeom>
          <a:solidFill>
            <a:srgbClr val="FFFFFF"/>
          </a:solidFill>
          <a:ln w="5715">
            <a:solidFill>
              <a:srgbClr val="DADCE0"/>
            </a:solidFill>
            <a:prstDash val="solid"/>
          </a:ln>
        </p:spPr>
      </p:sp>
      <p:sp>
        <p:nvSpPr>
          <p:cNvPr id="228" name="Text 206"/>
          <p:cNvSpPr/>
          <p:nvPr/>
        </p:nvSpPr>
        <p:spPr>
          <a:xfrm>
            <a:off x="2463394" y="2089404"/>
            <a:ext cx="439826"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Header &amp; WAF</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policies</a:t>
            </a:r>
            <a:endParaRPr lang="en-US" sz="410" dirty="0"/>
          </a:p>
        </p:txBody>
      </p:sp>
      <p:sp>
        <p:nvSpPr>
          <p:cNvPr id="229" name="Shape 207"/>
          <p:cNvSpPr/>
          <p:nvPr/>
        </p:nvSpPr>
        <p:spPr>
          <a:xfrm>
            <a:off x="2498141" y="2625242"/>
            <a:ext cx="370332" cy="208483"/>
          </a:xfrm>
          <a:prstGeom prst="roundRect">
            <a:avLst>
              <a:gd name="adj" fmla="val 21930"/>
            </a:avLst>
          </a:prstGeom>
          <a:solidFill>
            <a:srgbClr val="FFFFFF"/>
          </a:solidFill>
          <a:ln w="5715">
            <a:solidFill>
              <a:srgbClr val="DADCE0"/>
            </a:solidFill>
            <a:prstDash val="solid"/>
          </a:ln>
        </p:spPr>
      </p:sp>
      <p:sp>
        <p:nvSpPr>
          <p:cNvPr id="230" name="Text 208"/>
          <p:cNvSpPr/>
          <p:nvPr/>
        </p:nvSpPr>
        <p:spPr>
          <a:xfrm>
            <a:off x="2518258" y="2634386"/>
            <a:ext cx="330098"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prompt</a:t>
            </a:r>
            <a:endParaRPr lang="en-US" sz="410" dirty="0"/>
          </a:p>
        </p:txBody>
      </p:sp>
      <p:sp>
        <p:nvSpPr>
          <p:cNvPr id="231" name="Shape 209"/>
          <p:cNvSpPr/>
          <p:nvPr/>
        </p:nvSpPr>
        <p:spPr>
          <a:xfrm>
            <a:off x="3888029" y="1144829"/>
            <a:ext cx="370332" cy="138989"/>
          </a:xfrm>
          <a:prstGeom prst="roundRect">
            <a:avLst>
              <a:gd name="adj" fmla="val 32895"/>
            </a:avLst>
          </a:prstGeom>
          <a:solidFill>
            <a:srgbClr val="FFFFFF"/>
          </a:solidFill>
          <a:ln w="5715">
            <a:solidFill>
              <a:srgbClr val="DADCE0"/>
            </a:solidFill>
            <a:prstDash val="solid"/>
          </a:ln>
        </p:spPr>
      </p:sp>
      <p:sp>
        <p:nvSpPr>
          <p:cNvPr id="232" name="Text 210"/>
          <p:cNvSpPr/>
          <p:nvPr/>
        </p:nvSpPr>
        <p:spPr>
          <a:xfrm>
            <a:off x="3908146" y="1153973"/>
            <a:ext cx="330098"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Response</a:t>
            </a:r>
            <a:endParaRPr lang="en-US" sz="410" dirty="0"/>
          </a:p>
        </p:txBody>
      </p:sp>
      <p:sp>
        <p:nvSpPr>
          <p:cNvPr id="233" name="Shape 211"/>
          <p:cNvSpPr/>
          <p:nvPr/>
        </p:nvSpPr>
        <p:spPr>
          <a:xfrm>
            <a:off x="3888029" y="2723083"/>
            <a:ext cx="370332" cy="138989"/>
          </a:xfrm>
          <a:prstGeom prst="roundRect">
            <a:avLst>
              <a:gd name="adj" fmla="val 32895"/>
            </a:avLst>
          </a:prstGeom>
          <a:solidFill>
            <a:srgbClr val="FFFFFF"/>
          </a:solidFill>
          <a:ln w="5715">
            <a:solidFill>
              <a:srgbClr val="DADCE0"/>
            </a:solidFill>
            <a:prstDash val="solid"/>
          </a:ln>
        </p:spPr>
      </p:sp>
      <p:sp>
        <p:nvSpPr>
          <p:cNvPr id="234" name="Text 212"/>
          <p:cNvSpPr/>
          <p:nvPr/>
        </p:nvSpPr>
        <p:spPr>
          <a:xfrm>
            <a:off x="3908146" y="2732227"/>
            <a:ext cx="330098"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Response</a:t>
            </a:r>
            <a:endParaRPr lang="en-US" sz="410" dirty="0"/>
          </a:p>
        </p:txBody>
      </p:sp>
      <p:sp>
        <p:nvSpPr>
          <p:cNvPr id="235" name="Shape 213"/>
          <p:cNvSpPr/>
          <p:nvPr/>
        </p:nvSpPr>
        <p:spPr>
          <a:xfrm>
            <a:off x="3144622" y="1144829"/>
            <a:ext cx="342900" cy="138989"/>
          </a:xfrm>
          <a:prstGeom prst="roundRect">
            <a:avLst>
              <a:gd name="adj" fmla="val 32895"/>
            </a:avLst>
          </a:prstGeom>
          <a:solidFill>
            <a:srgbClr val="FFFFFF"/>
          </a:solidFill>
          <a:ln w="5715">
            <a:solidFill>
              <a:srgbClr val="DADCE0"/>
            </a:solidFill>
            <a:prstDash val="solid"/>
          </a:ln>
        </p:spPr>
      </p:sp>
      <p:sp>
        <p:nvSpPr>
          <p:cNvPr id="236" name="Text 214"/>
          <p:cNvSpPr/>
          <p:nvPr/>
        </p:nvSpPr>
        <p:spPr>
          <a:xfrm>
            <a:off x="3164738" y="1153973"/>
            <a:ext cx="30266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Request</a:t>
            </a:r>
            <a:endParaRPr lang="en-US" sz="410" dirty="0"/>
          </a:p>
        </p:txBody>
      </p:sp>
      <p:sp>
        <p:nvSpPr>
          <p:cNvPr id="237" name="Shape 215"/>
          <p:cNvSpPr/>
          <p:nvPr/>
        </p:nvSpPr>
        <p:spPr>
          <a:xfrm>
            <a:off x="3144622" y="2723083"/>
            <a:ext cx="342900" cy="138989"/>
          </a:xfrm>
          <a:prstGeom prst="roundRect">
            <a:avLst>
              <a:gd name="adj" fmla="val 32895"/>
            </a:avLst>
          </a:prstGeom>
          <a:solidFill>
            <a:srgbClr val="FFFFFF"/>
          </a:solidFill>
          <a:ln w="5715">
            <a:solidFill>
              <a:srgbClr val="DADCE0"/>
            </a:solidFill>
            <a:prstDash val="solid"/>
          </a:ln>
        </p:spPr>
      </p:sp>
      <p:sp>
        <p:nvSpPr>
          <p:cNvPr id="238" name="Text 216"/>
          <p:cNvSpPr/>
          <p:nvPr/>
        </p:nvSpPr>
        <p:spPr>
          <a:xfrm>
            <a:off x="3164738" y="2732227"/>
            <a:ext cx="30266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Request</a:t>
            </a:r>
            <a:endParaRPr lang="en-US" sz="410" dirty="0"/>
          </a:p>
        </p:txBody>
      </p:sp>
      <p:sp>
        <p:nvSpPr>
          <p:cNvPr id="239" name="Text 217"/>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WS2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Shared Edge PEP &amp; Identity (Hop 1)</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60 Shapes • 20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GCP Project: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VPC</a:t>
            </a:r>
            <a:endParaRPr lang="en-US" sz="44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Shape 71"/>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4" name="Text 72"/>
          <p:cNvSpPr/>
          <p:nvPr/>
        </p:nvSpPr>
        <p:spPr>
          <a:xfrm>
            <a:off x="1560881" y="3970325"/>
            <a:ext cx="211592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3. Pooled Agent Runtime (shared by all tenants)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70" dirty="0"/>
          </a:p>
        </p:txBody>
      </p:sp>
      <p:sp>
        <p:nvSpPr>
          <p:cNvPr id="75" name="Shape 73"/>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6" name="Text 74"/>
          <p:cNvSpPr/>
          <p:nvPr/>
        </p:nvSpPr>
        <p:spPr>
          <a:xfrm>
            <a:off x="3856025" y="3970325"/>
            <a:ext cx="2063801"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4. Shared Data &amp; Tool Plane (RLS-partitioned)</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70" dirty="0"/>
          </a:p>
        </p:txBody>
      </p:sp>
      <p:sp>
        <p:nvSpPr>
          <p:cNvPr id="77" name="Shape 75"/>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8" name="Text 76"/>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Hop 1 &amp; Hop 2: Edge PEP &amp; Agent Catalog 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70" dirty="0"/>
          </a:p>
        </p:txBody>
      </p:sp>
      <p:sp>
        <p:nvSpPr>
          <p:cNvPr id="79" name="Shape 77"/>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0" name="Text 78"/>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Hop 3 &amp; 5: Shared FinOps, Cache &amp; OTel Hub</a:t>
            </a:r>
            <a:endParaRPr lang="en-US" sz="430" dirty="0"/>
          </a:p>
        </p:txBody>
      </p:sp>
      <p:sp>
        <p:nvSpPr>
          <p:cNvPr id="81" name="Shape 79"/>
          <p:cNvSpPr/>
          <p:nvPr/>
        </p:nvSpPr>
        <p:spPr>
          <a:xfrm>
            <a:off x="1566367" y="5222138"/>
            <a:ext cx="2104034" cy="834847"/>
          </a:xfrm>
          <a:prstGeom prst="roundRect">
            <a:avLst>
              <a:gd name="adj" fmla="val 3286"/>
            </a:avLst>
          </a:prstGeom>
          <a:solidFill>
            <a:srgbClr val="FFFFFF"/>
          </a:solidFill>
          <a:ln w="10795">
            <a:solidFill>
              <a:srgbClr val="9AA0A6"/>
            </a:solidFill>
            <a:prstDash val="solid"/>
          </a:ln>
        </p:spPr>
      </p:sp>
      <p:pic>
        <p:nvPicPr>
          <p:cNvPr id="82" name="Image 0" descr="preencoded.png">    </p:cNvPr>
          <p:cNvPicPr>
            <a:picLocks noChangeAspect="1"/>
          </p:cNvPicPr>
          <p:nvPr/>
        </p:nvPicPr>
        <p:blipFill>
          <a:blip r:embed="rId1"/>
          <a:stretch>
            <a:fillRect/>
          </a:stretch>
        </p:blipFill>
        <p:spPr>
          <a:xfrm>
            <a:off x="1607515" y="5247742"/>
            <a:ext cx="164592" cy="164592"/>
          </a:xfrm>
          <a:prstGeom prst="rect">
            <a:avLst/>
          </a:prstGeom>
        </p:spPr>
      </p:pic>
      <p:sp>
        <p:nvSpPr>
          <p:cNvPr id="83" name="Text 80"/>
          <p:cNvSpPr/>
          <p:nvPr/>
        </p:nvSpPr>
        <p:spPr>
          <a:xfrm>
            <a:off x="1840687" y="5247742"/>
            <a:ext cx="177485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5-Level Memory Bank (ONE bank)</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Namespaced per tenant — same service, disjoint keys</a:t>
            </a:r>
            <a:endParaRPr lang="en-US" sz="480" dirty="0"/>
          </a:p>
        </p:txBody>
      </p:sp>
      <p:sp>
        <p:nvSpPr>
          <p:cNvPr id="84" name="Shape 81"/>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5" name="Image 1" descr="preencoded.png">    </p:cNvPr>
          <p:cNvPicPr>
            <a:picLocks noChangeAspect="1"/>
          </p:cNvPicPr>
          <p:nvPr/>
        </p:nvPicPr>
        <p:blipFill>
          <a:blip r:embed="rId2"/>
          <a:stretch>
            <a:fillRect/>
          </a:stretch>
        </p:blipFill>
        <p:spPr>
          <a:xfrm>
            <a:off x="3902659" y="4256532"/>
            <a:ext cx="164592" cy="164592"/>
          </a:xfrm>
          <a:prstGeom prst="rect">
            <a:avLst/>
          </a:prstGeom>
        </p:spPr>
      </p:pic>
      <p:sp>
        <p:nvSpPr>
          <p:cNvPr id="86" name="Text 82"/>
          <p:cNvSpPr/>
          <p:nvPr/>
        </p:nvSpPr>
        <p:spPr>
          <a:xfrm>
            <a:off x="4135831" y="4256532"/>
            <a:ext cx="172273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AlloyDB (ONE schema) + BigQuery (ONE dataset)</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pattern_a_pooled_rls_entities • FORCE ROW LEVEL SECURITY</a:t>
            </a:r>
            <a:endParaRPr lang="en-US" sz="480" dirty="0"/>
          </a:p>
        </p:txBody>
      </p:sp>
      <p:pic>
        <p:nvPicPr>
          <p:cNvPr id="87"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8" name="Shape 83"/>
          <p:cNvSpPr/>
          <p:nvPr/>
        </p:nvSpPr>
        <p:spPr>
          <a:xfrm>
            <a:off x="3591763" y="1032358"/>
            <a:ext cx="0" cy="1269187"/>
          </a:xfrm>
          <a:prstGeom prst="line">
            <a:avLst/>
          </a:prstGeom>
          <a:noFill/>
          <a:ln w="12700">
            <a:solidFill>
              <a:srgbClr val="5F6368"/>
            </a:solidFill>
            <a:prstDash val="solid"/>
            <a:tailEnd type="triangle" w="sm" len="sm"/>
          </a:ln>
        </p:spPr>
      </p:sp>
      <p:sp>
        <p:nvSpPr>
          <p:cNvPr id="89" name="Shape 84"/>
          <p:cNvSpPr/>
          <p:nvPr/>
        </p:nvSpPr>
        <p:spPr>
          <a:xfrm flipV="1">
            <a:off x="3792017" y="1040587"/>
            <a:ext cx="0" cy="1269187"/>
          </a:xfrm>
          <a:prstGeom prst="line">
            <a:avLst/>
          </a:prstGeom>
          <a:noFill/>
          <a:ln w="12700">
            <a:solidFill>
              <a:srgbClr val="5F6368"/>
            </a:solidFill>
            <a:prstDash val="solid"/>
            <a:tailEnd type="triangle" w="sm" len="sm"/>
          </a:ln>
        </p:spPr>
      </p:sp>
      <p:sp>
        <p:nvSpPr>
          <p:cNvPr id="90" name="Shape 85"/>
          <p:cNvSpPr/>
          <p:nvPr/>
        </p:nvSpPr>
        <p:spPr>
          <a:xfrm flipH="1">
            <a:off x="2948940" y="2414016"/>
            <a:ext cx="148133" cy="0"/>
          </a:xfrm>
          <a:prstGeom prst="line">
            <a:avLst/>
          </a:prstGeom>
          <a:noFill/>
          <a:ln w="12700">
            <a:solidFill>
              <a:srgbClr val="5F6368"/>
            </a:solidFill>
            <a:prstDash val="solid"/>
            <a:headEnd type="triangle" w="sm" len="sm"/>
          </a:ln>
        </p:spPr>
      </p:sp>
      <p:sp>
        <p:nvSpPr>
          <p:cNvPr id="91" name="Shape 86"/>
          <p:cNvSpPr/>
          <p:nvPr/>
        </p:nvSpPr>
        <p:spPr>
          <a:xfrm flipV="1">
            <a:off x="2948940" y="2306117"/>
            <a:ext cx="0" cy="107899"/>
          </a:xfrm>
          <a:prstGeom prst="line">
            <a:avLst/>
          </a:prstGeom>
          <a:noFill/>
          <a:ln w="12700">
            <a:solidFill>
              <a:srgbClr val="5F6368"/>
            </a:solidFill>
            <a:prstDash val="solid"/>
          </a:ln>
        </p:spPr>
      </p:sp>
      <p:sp>
        <p:nvSpPr>
          <p:cNvPr id="92" name="Shape 87"/>
          <p:cNvSpPr/>
          <p:nvPr/>
        </p:nvSpPr>
        <p:spPr>
          <a:xfrm flipH="1">
            <a:off x="2401214" y="2306117"/>
            <a:ext cx="547726" cy="0"/>
          </a:xfrm>
          <a:prstGeom prst="line">
            <a:avLst/>
          </a:prstGeom>
          <a:noFill/>
          <a:ln w="12700">
            <a:solidFill>
              <a:srgbClr val="5F6368"/>
            </a:solidFill>
            <a:prstDash val="solid"/>
            <a:tailEnd type="triangle" w="sm" len="sm"/>
          </a:ln>
        </p:spPr>
      </p:sp>
      <p:sp>
        <p:nvSpPr>
          <p:cNvPr id="93" name="Shape 88"/>
          <p:cNvSpPr/>
          <p:nvPr/>
        </p:nvSpPr>
        <p:spPr>
          <a:xfrm flipH="1">
            <a:off x="2948940" y="2535631"/>
            <a:ext cx="148133" cy="0"/>
          </a:xfrm>
          <a:prstGeom prst="line">
            <a:avLst/>
          </a:prstGeom>
          <a:noFill/>
          <a:ln w="12700">
            <a:solidFill>
              <a:srgbClr val="5F6368"/>
            </a:solidFill>
            <a:prstDash val="solid"/>
            <a:headEnd type="triangle" w="sm" len="sm"/>
          </a:ln>
        </p:spPr>
      </p:sp>
      <p:sp>
        <p:nvSpPr>
          <p:cNvPr id="94" name="Shape 89"/>
          <p:cNvSpPr/>
          <p:nvPr/>
        </p:nvSpPr>
        <p:spPr>
          <a:xfrm>
            <a:off x="2948940" y="2535631"/>
            <a:ext cx="0" cy="135331"/>
          </a:xfrm>
          <a:prstGeom prst="line">
            <a:avLst/>
          </a:prstGeom>
          <a:noFill/>
          <a:ln w="12700">
            <a:solidFill>
              <a:srgbClr val="5F6368"/>
            </a:solidFill>
            <a:prstDash val="solid"/>
          </a:ln>
        </p:spPr>
      </p:sp>
      <p:sp>
        <p:nvSpPr>
          <p:cNvPr id="95" name="Shape 90"/>
          <p:cNvSpPr/>
          <p:nvPr/>
        </p:nvSpPr>
        <p:spPr>
          <a:xfrm flipH="1">
            <a:off x="2401214" y="2670962"/>
            <a:ext cx="547726" cy="0"/>
          </a:xfrm>
          <a:prstGeom prst="line">
            <a:avLst/>
          </a:prstGeom>
          <a:noFill/>
          <a:ln w="12700">
            <a:solidFill>
              <a:srgbClr val="5F6368"/>
            </a:solidFill>
            <a:prstDash val="solid"/>
            <a:tailEnd type="triangle" w="sm" len="sm"/>
          </a:ln>
        </p:spPr>
      </p:sp>
      <p:sp>
        <p:nvSpPr>
          <p:cNvPr id="96" name="Shape 91"/>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7" name="Shape 92"/>
          <p:cNvSpPr/>
          <p:nvPr/>
        </p:nvSpPr>
        <p:spPr>
          <a:xfrm>
            <a:off x="3591763" y="2640787"/>
            <a:ext cx="0" cy="312725"/>
          </a:xfrm>
          <a:prstGeom prst="line">
            <a:avLst/>
          </a:prstGeom>
          <a:noFill/>
          <a:ln w="12700">
            <a:solidFill>
              <a:srgbClr val="5F6368"/>
            </a:solidFill>
            <a:prstDash val="solid"/>
            <a:tailEnd type="triangle" w="sm" len="sm"/>
          </a:ln>
        </p:spPr>
      </p:sp>
      <p:sp>
        <p:nvSpPr>
          <p:cNvPr id="98" name="Shape 93"/>
          <p:cNvSpPr/>
          <p:nvPr/>
        </p:nvSpPr>
        <p:spPr>
          <a:xfrm flipV="1">
            <a:off x="3792017" y="2640787"/>
            <a:ext cx="0" cy="312725"/>
          </a:xfrm>
          <a:prstGeom prst="line">
            <a:avLst/>
          </a:prstGeom>
          <a:noFill/>
          <a:ln w="12700">
            <a:solidFill>
              <a:srgbClr val="5F6368"/>
            </a:solidFill>
            <a:prstDash val="solid"/>
            <a:tailEnd type="triangle" w="sm" len="sm"/>
          </a:ln>
        </p:spPr>
      </p:sp>
      <p:sp>
        <p:nvSpPr>
          <p:cNvPr id="99" name="Shape 94"/>
          <p:cNvSpPr/>
          <p:nvPr/>
        </p:nvSpPr>
        <p:spPr>
          <a:xfrm>
            <a:off x="3678631" y="3239719"/>
            <a:ext cx="0" cy="408737"/>
          </a:xfrm>
          <a:prstGeom prst="line">
            <a:avLst/>
          </a:prstGeom>
          <a:noFill/>
          <a:ln w="12700">
            <a:solidFill>
              <a:srgbClr val="5F6368"/>
            </a:solidFill>
            <a:prstDash val="solid"/>
          </a:ln>
        </p:spPr>
      </p:sp>
      <p:sp>
        <p:nvSpPr>
          <p:cNvPr id="100" name="Shape 95"/>
          <p:cNvSpPr/>
          <p:nvPr/>
        </p:nvSpPr>
        <p:spPr>
          <a:xfrm flipH="1">
            <a:off x="3196742" y="3648456"/>
            <a:ext cx="481889" cy="0"/>
          </a:xfrm>
          <a:prstGeom prst="line">
            <a:avLst/>
          </a:prstGeom>
          <a:noFill/>
          <a:ln w="12700">
            <a:solidFill>
              <a:srgbClr val="5F6368"/>
            </a:solidFill>
            <a:prstDash val="solid"/>
          </a:ln>
        </p:spPr>
      </p:sp>
      <p:sp>
        <p:nvSpPr>
          <p:cNvPr id="101" name="Shape 96"/>
          <p:cNvSpPr/>
          <p:nvPr/>
        </p:nvSpPr>
        <p:spPr>
          <a:xfrm>
            <a:off x="3196742" y="3648456"/>
            <a:ext cx="0" cy="547726"/>
          </a:xfrm>
          <a:prstGeom prst="line">
            <a:avLst/>
          </a:prstGeom>
          <a:noFill/>
          <a:ln w="12700">
            <a:solidFill>
              <a:srgbClr val="5F6368"/>
            </a:solidFill>
            <a:prstDash val="solid"/>
            <a:tailEnd type="triangle" w="sm" len="sm"/>
          </a:ln>
        </p:spPr>
      </p:sp>
      <p:sp>
        <p:nvSpPr>
          <p:cNvPr id="102" name="Shape 97"/>
          <p:cNvSpPr/>
          <p:nvPr/>
        </p:nvSpPr>
        <p:spPr>
          <a:xfrm>
            <a:off x="2462479" y="4361688"/>
            <a:ext cx="260604" cy="0"/>
          </a:xfrm>
          <a:prstGeom prst="line">
            <a:avLst/>
          </a:prstGeom>
          <a:noFill/>
          <a:ln w="12700">
            <a:solidFill>
              <a:srgbClr val="5F6368"/>
            </a:solidFill>
            <a:prstDash val="solid"/>
            <a:headEnd type="triangle" w="sm" len="sm"/>
            <a:tailEnd type="triangle" w="sm" len="sm"/>
          </a:ln>
        </p:spPr>
      </p:sp>
      <p:sp>
        <p:nvSpPr>
          <p:cNvPr id="103" name="Shape 98"/>
          <p:cNvSpPr/>
          <p:nvPr/>
        </p:nvSpPr>
        <p:spPr>
          <a:xfrm>
            <a:off x="2462479" y="4848149"/>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3196742" y="4526280"/>
            <a:ext cx="0" cy="157277"/>
          </a:xfrm>
          <a:prstGeom prst="line">
            <a:avLst/>
          </a:prstGeom>
          <a:noFill/>
          <a:ln w="12700">
            <a:solidFill>
              <a:srgbClr val="5F6368"/>
            </a:solidFill>
            <a:prstDash val="solid"/>
            <a:tailEnd type="triangle" w="sm" len="sm"/>
          </a:ln>
        </p:spPr>
      </p:sp>
      <p:sp>
        <p:nvSpPr>
          <p:cNvPr id="105" name="Shape 100"/>
          <p:cNvSpPr/>
          <p:nvPr/>
        </p:nvSpPr>
        <p:spPr>
          <a:xfrm>
            <a:off x="3196742" y="5013655"/>
            <a:ext cx="0" cy="200254"/>
          </a:xfrm>
          <a:prstGeom prst="line">
            <a:avLst/>
          </a:prstGeom>
          <a:noFill/>
          <a:ln w="12700">
            <a:solidFill>
              <a:srgbClr val="5F6368"/>
            </a:solidFill>
            <a:prstDash val="solid"/>
            <a:headEnd type="triangle" w="sm" len="sm"/>
            <a:tailEnd type="triangle" w="sm" len="sm"/>
          </a:ln>
        </p:spPr>
      </p:sp>
      <p:sp>
        <p:nvSpPr>
          <p:cNvPr id="106" name="Shape 101"/>
          <p:cNvSpPr/>
          <p:nvPr/>
        </p:nvSpPr>
        <p:spPr>
          <a:xfrm>
            <a:off x="3670402" y="4326941"/>
            <a:ext cx="191110" cy="0"/>
          </a:xfrm>
          <a:prstGeom prst="line">
            <a:avLst/>
          </a:prstGeom>
          <a:noFill/>
          <a:ln w="12700">
            <a:solidFill>
              <a:srgbClr val="5F6368"/>
            </a:solidFill>
            <a:prstDash val="solid"/>
            <a:tailEnd type="triangle" w="sm" len="sm"/>
          </a:ln>
        </p:spPr>
      </p:sp>
      <p:sp>
        <p:nvSpPr>
          <p:cNvPr id="107" name="Shape 102"/>
          <p:cNvSpPr/>
          <p:nvPr/>
        </p:nvSpPr>
        <p:spPr>
          <a:xfrm>
            <a:off x="4347972" y="5056632"/>
            <a:ext cx="0" cy="139903"/>
          </a:xfrm>
          <a:prstGeom prst="line">
            <a:avLst/>
          </a:prstGeom>
          <a:noFill/>
          <a:ln w="12700">
            <a:solidFill>
              <a:srgbClr val="5F6368"/>
            </a:solidFill>
            <a:prstDash val="solid"/>
            <a:tailEnd type="triangle" w="sm" len="sm"/>
          </a:ln>
        </p:spPr>
      </p:sp>
      <p:sp>
        <p:nvSpPr>
          <p:cNvPr id="108" name="Shape 103"/>
          <p:cNvSpPr/>
          <p:nvPr/>
        </p:nvSpPr>
        <p:spPr>
          <a:xfrm flipV="1">
            <a:off x="5426050" y="5056632"/>
            <a:ext cx="0" cy="139903"/>
          </a:xfrm>
          <a:prstGeom prst="line">
            <a:avLst/>
          </a:prstGeom>
          <a:noFill/>
          <a:ln w="12700">
            <a:solidFill>
              <a:srgbClr val="5F6368"/>
            </a:solidFill>
            <a:prstDash val="solid"/>
            <a:headEnd type="triangle" w="sm" len="sm"/>
          </a:ln>
        </p:spPr>
      </p:sp>
      <p:sp>
        <p:nvSpPr>
          <p:cNvPr id="109" name="Shape 104"/>
          <p:cNvSpPr/>
          <p:nvPr/>
        </p:nvSpPr>
        <p:spPr>
          <a:xfrm>
            <a:off x="4347972" y="5517490"/>
            <a:ext cx="0" cy="130759"/>
          </a:xfrm>
          <a:prstGeom prst="line">
            <a:avLst/>
          </a:prstGeom>
          <a:noFill/>
          <a:ln w="12700">
            <a:solidFill>
              <a:srgbClr val="5F6368"/>
            </a:solidFill>
            <a:prstDash val="solid"/>
            <a:tailEnd type="triangle" w="sm" len="sm"/>
          </a:ln>
        </p:spPr>
      </p:sp>
      <p:sp>
        <p:nvSpPr>
          <p:cNvPr id="110" name="Shape 105"/>
          <p:cNvSpPr/>
          <p:nvPr/>
        </p:nvSpPr>
        <p:spPr>
          <a:xfrm>
            <a:off x="5426050" y="5517490"/>
            <a:ext cx="0" cy="130759"/>
          </a:xfrm>
          <a:prstGeom prst="line">
            <a:avLst/>
          </a:prstGeom>
          <a:noFill/>
          <a:ln w="12700">
            <a:solidFill>
              <a:srgbClr val="5F6368"/>
            </a:solidFill>
            <a:prstDash val="solid"/>
            <a:tailEnd type="triangle" w="sm" len="sm"/>
          </a:ln>
        </p:spPr>
      </p:sp>
      <p:sp>
        <p:nvSpPr>
          <p:cNvPr id="111" name="Shape 106"/>
          <p:cNvSpPr/>
          <p:nvPr/>
        </p:nvSpPr>
        <p:spPr>
          <a:xfrm>
            <a:off x="4347972" y="5970118"/>
            <a:ext cx="0" cy="95098"/>
          </a:xfrm>
          <a:prstGeom prst="line">
            <a:avLst/>
          </a:prstGeom>
          <a:noFill/>
          <a:ln w="12700">
            <a:solidFill>
              <a:srgbClr val="5F6368"/>
            </a:solidFill>
            <a:prstDash val="solid"/>
          </a:ln>
        </p:spPr>
      </p:sp>
      <p:sp>
        <p:nvSpPr>
          <p:cNvPr id="112" name="Shape 107"/>
          <p:cNvSpPr/>
          <p:nvPr/>
        </p:nvSpPr>
        <p:spPr>
          <a:xfrm>
            <a:off x="4347972" y="6065215"/>
            <a:ext cx="1660550" cy="0"/>
          </a:xfrm>
          <a:prstGeom prst="line">
            <a:avLst/>
          </a:prstGeom>
          <a:noFill/>
          <a:ln w="12700">
            <a:solidFill>
              <a:srgbClr val="5F6368"/>
            </a:solidFill>
            <a:prstDash val="solid"/>
          </a:ln>
        </p:spPr>
      </p:sp>
      <p:sp>
        <p:nvSpPr>
          <p:cNvPr id="113" name="Shape 108"/>
          <p:cNvSpPr/>
          <p:nvPr/>
        </p:nvSpPr>
        <p:spPr>
          <a:xfrm flipV="1">
            <a:off x="6008522" y="3509467"/>
            <a:ext cx="0" cy="2555748"/>
          </a:xfrm>
          <a:prstGeom prst="line">
            <a:avLst/>
          </a:prstGeom>
          <a:noFill/>
          <a:ln w="12700">
            <a:solidFill>
              <a:srgbClr val="5F6368"/>
            </a:solidFill>
            <a:prstDash val="solid"/>
          </a:ln>
        </p:spPr>
      </p:sp>
      <p:sp>
        <p:nvSpPr>
          <p:cNvPr id="114" name="Shape 109"/>
          <p:cNvSpPr/>
          <p:nvPr/>
        </p:nvSpPr>
        <p:spPr>
          <a:xfrm flipH="1">
            <a:off x="4069994" y="3509467"/>
            <a:ext cx="1938528" cy="0"/>
          </a:xfrm>
          <a:prstGeom prst="line">
            <a:avLst/>
          </a:prstGeom>
          <a:noFill/>
          <a:ln w="12700">
            <a:solidFill>
              <a:srgbClr val="5F6368"/>
            </a:solidFill>
            <a:prstDash val="solid"/>
          </a:ln>
        </p:spPr>
      </p:sp>
      <p:sp>
        <p:nvSpPr>
          <p:cNvPr id="115" name="Shape 110"/>
          <p:cNvSpPr/>
          <p:nvPr/>
        </p:nvSpPr>
        <p:spPr>
          <a:xfrm flipV="1">
            <a:off x="4069994" y="3239719"/>
            <a:ext cx="0" cy="269748"/>
          </a:xfrm>
          <a:prstGeom prst="line">
            <a:avLst/>
          </a:prstGeom>
          <a:noFill/>
          <a:ln w="12700">
            <a:solidFill>
              <a:srgbClr val="5F6368"/>
            </a:solidFill>
            <a:prstDash val="solid"/>
            <a:tailEnd type="triangle" w="sm" len="sm"/>
          </a:ln>
        </p:spPr>
      </p:sp>
      <p:sp>
        <p:nvSpPr>
          <p:cNvPr id="116" name="Shape 111"/>
          <p:cNvSpPr/>
          <p:nvPr/>
        </p:nvSpPr>
        <p:spPr>
          <a:xfrm>
            <a:off x="5182819" y="3335731"/>
            <a:ext cx="0" cy="364846"/>
          </a:xfrm>
          <a:prstGeom prst="line">
            <a:avLst/>
          </a:prstGeom>
          <a:noFill/>
          <a:ln w="12700">
            <a:solidFill>
              <a:srgbClr val="5F6368"/>
            </a:solidFill>
            <a:prstDash val="dash"/>
          </a:ln>
        </p:spPr>
      </p:sp>
      <p:sp>
        <p:nvSpPr>
          <p:cNvPr id="117" name="Shape 112"/>
          <p:cNvSpPr/>
          <p:nvPr/>
        </p:nvSpPr>
        <p:spPr>
          <a:xfrm flipH="1">
            <a:off x="2609698" y="3700577"/>
            <a:ext cx="2573122" cy="0"/>
          </a:xfrm>
          <a:prstGeom prst="line">
            <a:avLst/>
          </a:prstGeom>
          <a:noFill/>
          <a:ln w="12700">
            <a:solidFill>
              <a:srgbClr val="5F6368"/>
            </a:solidFill>
            <a:prstDash val="dash"/>
          </a:ln>
        </p:spPr>
      </p:sp>
      <p:sp>
        <p:nvSpPr>
          <p:cNvPr id="118" name="Shape 113"/>
          <p:cNvSpPr/>
          <p:nvPr/>
        </p:nvSpPr>
        <p:spPr>
          <a:xfrm>
            <a:off x="2609698" y="3700577"/>
            <a:ext cx="0" cy="235001"/>
          </a:xfrm>
          <a:prstGeom prst="line">
            <a:avLst/>
          </a:prstGeom>
          <a:noFill/>
          <a:ln w="12700">
            <a:solidFill>
              <a:srgbClr val="5F6368"/>
            </a:solidFill>
            <a:prstDash val="dash"/>
            <a:tailEnd type="triangle" w="sm" len="sm"/>
          </a:ln>
        </p:spPr>
      </p:sp>
      <p:sp>
        <p:nvSpPr>
          <p:cNvPr id="119" name="Shape 114"/>
          <p:cNvSpPr/>
          <p:nvPr/>
        </p:nvSpPr>
        <p:spPr>
          <a:xfrm>
            <a:off x="5182819" y="3700577"/>
            <a:ext cx="0" cy="235001"/>
          </a:xfrm>
          <a:prstGeom prst="line">
            <a:avLst/>
          </a:prstGeom>
          <a:noFill/>
          <a:ln w="12700">
            <a:solidFill>
              <a:srgbClr val="5F6368"/>
            </a:solidFill>
            <a:prstDash val="dash"/>
            <a:tailEnd type="triangle" w="sm" len="sm"/>
          </a:ln>
        </p:spPr>
      </p:sp>
      <p:sp>
        <p:nvSpPr>
          <p:cNvPr id="120" name="Shape 115"/>
          <p:cNvSpPr/>
          <p:nvPr/>
        </p:nvSpPr>
        <p:spPr>
          <a:xfrm>
            <a:off x="1473098" y="3802075"/>
            <a:ext cx="4242816" cy="113386"/>
          </a:xfrm>
          <a:prstGeom prst="rect">
            <a:avLst/>
          </a:prstGeom>
          <a:solidFill>
            <a:srgbClr val="FFFFFF"/>
          </a:solidFill>
          <a:ln/>
        </p:spPr>
      </p:sp>
      <p:sp>
        <p:nvSpPr>
          <p:cNvPr id="121" name="Text 116"/>
          <p:cNvSpPr/>
          <p:nvPr/>
        </p:nvSpPr>
        <p:spPr>
          <a:xfrm>
            <a:off x="1491386" y="3803904"/>
            <a:ext cx="4497934"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00" dirty="0"/>
          </a:p>
        </p:txBody>
      </p:sp>
      <p:sp>
        <p:nvSpPr>
          <p:cNvPr id="122" name="Shape 117"/>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3"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4" name="Text 118"/>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FinVault &amp; RetailStream</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Competing SaaS Tenants</a:t>
            </a:r>
            <a:endParaRPr lang="en-US" sz="480" dirty="0"/>
          </a:p>
        </p:txBody>
      </p:sp>
      <p:sp>
        <p:nvSpPr>
          <p:cNvPr id="125" name="Shape 119"/>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6"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7" name="Text 120"/>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28" name="Shape 121"/>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9"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30" name="Text 122"/>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ContextCacheConfig (90% COGS Save)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Operator Prefix</a:t>
            </a:r>
            <a:endParaRPr lang="en-US" sz="490" dirty="0"/>
          </a:p>
        </p:txBody>
      </p:sp>
      <p:sp>
        <p:nvSpPr>
          <p:cNvPr id="131" name="Shape 123"/>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2"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3" name="Text 124"/>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34" name="Shape 125"/>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5"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6" name="Text 126"/>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4k Standard vs 8k Enterprise</a:t>
            </a:r>
            <a:endParaRPr lang="en-US" sz="490" dirty="0"/>
          </a:p>
        </p:txBody>
      </p:sp>
      <p:sp>
        <p:nvSpPr>
          <p:cNvPr id="137" name="Shape 127"/>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8"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9" name="Text 128"/>
          <p:cNvSpPr/>
          <p:nvPr/>
        </p:nvSpPr>
        <p:spPr>
          <a:xfrm>
            <a:off x="4092854"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ROW ACCESS POLICY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SESSION_USER tenant filter</a:t>
            </a:r>
            <a:endParaRPr lang="en-US" sz="490" dirty="0"/>
          </a:p>
        </p:txBody>
      </p:sp>
      <p:sp>
        <p:nvSpPr>
          <p:cNvPr id="140" name="Shape 129"/>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1"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2" name="Text 130"/>
          <p:cNvSpPr/>
          <p:nvPr/>
        </p:nvSpPr>
        <p:spPr>
          <a:xfrm>
            <a:off x="5170932"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Hub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service + per-tenant 3LO consent</a:t>
            </a:r>
            <a:endParaRPr lang="en-US" sz="490" dirty="0"/>
          </a:p>
        </p:txBody>
      </p:sp>
      <p:sp>
        <p:nvSpPr>
          <p:cNvPr id="143" name="Shape 131"/>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4"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5" name="Text 132"/>
          <p:cNvSpPr/>
          <p:nvPr/>
        </p:nvSpPr>
        <p:spPr>
          <a:xfrm>
            <a:off x="4092854"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SDP Egress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IBAN / SWIFT / PAN masking</a:t>
            </a:r>
            <a:endParaRPr lang="en-US" sz="490" dirty="0"/>
          </a:p>
        </p:txBody>
      </p:sp>
      <p:sp>
        <p:nvSpPr>
          <p:cNvPr id="146" name="Shape 133"/>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7"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8" name="Text 134"/>
          <p:cNvSpPr/>
          <p:nvPr/>
        </p:nvSpPr>
        <p:spPr>
          <a:xfrm>
            <a:off x="5170932"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adk-agent-signing-key • per-tenant claims</a:t>
            </a:r>
            <a:endParaRPr lang="en-US" sz="490" dirty="0"/>
          </a:p>
        </p:txBody>
      </p:sp>
      <p:sp>
        <p:nvSpPr>
          <p:cNvPr id="149" name="Shape 135"/>
          <p:cNvSpPr/>
          <p:nvPr/>
        </p:nvSpPr>
        <p:spPr>
          <a:xfrm>
            <a:off x="2723083" y="4205326"/>
            <a:ext cx="947318" cy="321869"/>
          </a:xfrm>
          <a:prstGeom prst="roundRect">
            <a:avLst>
              <a:gd name="adj" fmla="val 11364"/>
            </a:avLst>
          </a:prstGeom>
          <a:solidFill>
            <a:srgbClr val="FFFFFF"/>
          </a:solidFill>
          <a:ln w="10795">
            <a:solidFill>
              <a:srgbClr val="DADCE0"/>
            </a:solidFill>
            <a:prstDash val="solid"/>
          </a:ln>
        </p:spPr>
      </p:sp>
      <p:pic>
        <p:nvPicPr>
          <p:cNvPr id="150" name="Image 12" descr="preencoded.png">    </p:cNvPr>
          <p:cNvPicPr>
            <a:picLocks noChangeAspect="1"/>
          </p:cNvPicPr>
          <p:nvPr/>
        </p:nvPicPr>
        <p:blipFill>
          <a:blip r:embed="rId13"/>
          <a:stretch>
            <a:fillRect/>
          </a:stretch>
        </p:blipFill>
        <p:spPr>
          <a:xfrm>
            <a:off x="2764231" y="4283050"/>
            <a:ext cx="167335" cy="167335"/>
          </a:xfrm>
          <a:prstGeom prst="rect">
            <a:avLst/>
          </a:prstGeom>
        </p:spPr>
      </p:pic>
      <p:sp>
        <p:nvSpPr>
          <p:cNvPr id="151" name="Text 136"/>
          <p:cNvSpPr/>
          <p:nvPr/>
        </p:nvSpPr>
        <p:spPr>
          <a:xfrm>
            <a:off x="2954426" y="420532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ONE gVisor pool • temp:tenant_id</a:t>
            </a:r>
            <a:endParaRPr lang="en-US" sz="490" dirty="0"/>
          </a:p>
        </p:txBody>
      </p:sp>
      <p:sp>
        <p:nvSpPr>
          <p:cNvPr id="152" name="Shape 137"/>
          <p:cNvSpPr/>
          <p:nvPr/>
        </p:nvSpPr>
        <p:spPr>
          <a:xfrm>
            <a:off x="2723083" y="4691786"/>
            <a:ext cx="947318" cy="321869"/>
          </a:xfrm>
          <a:prstGeom prst="roundRect">
            <a:avLst>
              <a:gd name="adj" fmla="val 11364"/>
            </a:avLst>
          </a:prstGeom>
          <a:solidFill>
            <a:srgbClr val="FFFFFF"/>
          </a:solidFill>
          <a:ln w="10795">
            <a:solidFill>
              <a:srgbClr val="DADCE0"/>
            </a:solidFill>
            <a:prstDash val="solid"/>
          </a:ln>
        </p:spPr>
      </p:sp>
      <p:pic>
        <p:nvPicPr>
          <p:cNvPr id="153" name="Image 13" descr="preencoded.png">    </p:cNvPr>
          <p:cNvPicPr>
            <a:picLocks noChangeAspect="1"/>
          </p:cNvPicPr>
          <p:nvPr/>
        </p:nvPicPr>
        <p:blipFill>
          <a:blip r:embed="rId14"/>
          <a:stretch>
            <a:fillRect/>
          </a:stretch>
        </p:blipFill>
        <p:spPr>
          <a:xfrm>
            <a:off x="2764231" y="4769510"/>
            <a:ext cx="167335" cy="167335"/>
          </a:xfrm>
          <a:prstGeom prst="rect">
            <a:avLst/>
          </a:prstGeom>
        </p:spPr>
      </p:pic>
      <p:sp>
        <p:nvSpPr>
          <p:cNvPr id="154" name="Text 138"/>
          <p:cNvSpPr/>
          <p:nvPr/>
        </p:nvSpPr>
        <p:spPr>
          <a:xfrm>
            <a:off x="2954426" y="469178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RPM bulkheads 120 Std / 600 Ent</a:t>
            </a:r>
            <a:endParaRPr lang="en-US" sz="490" dirty="0"/>
          </a:p>
        </p:txBody>
      </p:sp>
      <p:sp>
        <p:nvSpPr>
          <p:cNvPr id="155" name="Shape 139"/>
          <p:cNvSpPr/>
          <p:nvPr/>
        </p:nvSpPr>
        <p:spPr>
          <a:xfrm>
            <a:off x="1566367" y="4205326"/>
            <a:ext cx="895198" cy="312725"/>
          </a:xfrm>
          <a:prstGeom prst="roundRect">
            <a:avLst>
              <a:gd name="adj" fmla="val 11696"/>
            </a:avLst>
          </a:prstGeom>
          <a:solidFill>
            <a:srgbClr val="FFFFFF"/>
          </a:solidFill>
          <a:ln w="10795">
            <a:solidFill>
              <a:srgbClr val="DADCE0"/>
            </a:solidFill>
            <a:prstDash val="solid"/>
          </a:ln>
        </p:spPr>
      </p:sp>
      <p:pic>
        <p:nvPicPr>
          <p:cNvPr id="156" name="Image 14" descr="preencoded.png">    </p:cNvPr>
          <p:cNvPicPr>
            <a:picLocks noChangeAspect="1"/>
          </p:cNvPicPr>
          <p:nvPr/>
        </p:nvPicPr>
        <p:blipFill>
          <a:blip r:embed="rId15"/>
          <a:stretch>
            <a:fillRect/>
          </a:stretch>
        </p:blipFill>
        <p:spPr>
          <a:xfrm>
            <a:off x="1607515" y="4280306"/>
            <a:ext cx="162763" cy="162763"/>
          </a:xfrm>
          <a:prstGeom prst="rect">
            <a:avLst/>
          </a:prstGeom>
        </p:spPr>
      </p:pic>
      <p:sp>
        <p:nvSpPr>
          <p:cNvPr id="157" name="Text 140"/>
          <p:cNvSpPr/>
          <p:nvPr/>
        </p:nvSpPr>
        <p:spPr>
          <a:xfrm>
            <a:off x="1793138" y="420532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Per-tenant templates: FINRA / PCI</a:t>
            </a:r>
            <a:endParaRPr lang="en-US" sz="490" dirty="0"/>
          </a:p>
        </p:txBody>
      </p:sp>
      <p:sp>
        <p:nvSpPr>
          <p:cNvPr id="158" name="Shape 141"/>
          <p:cNvSpPr/>
          <p:nvPr/>
        </p:nvSpPr>
        <p:spPr>
          <a:xfrm>
            <a:off x="1566367" y="4691786"/>
            <a:ext cx="895198" cy="312725"/>
          </a:xfrm>
          <a:prstGeom prst="roundRect">
            <a:avLst>
              <a:gd name="adj" fmla="val 11696"/>
            </a:avLst>
          </a:prstGeom>
          <a:solidFill>
            <a:srgbClr val="FFFFFF"/>
          </a:solidFill>
          <a:ln w="10795">
            <a:solidFill>
              <a:srgbClr val="DADCE0"/>
            </a:solidFill>
            <a:prstDash val="solid"/>
          </a:ln>
        </p:spPr>
      </p:sp>
      <p:pic>
        <p:nvPicPr>
          <p:cNvPr id="159" name="Image 15" descr="preencoded.png">    </p:cNvPr>
          <p:cNvPicPr>
            <a:picLocks noChangeAspect="1"/>
          </p:cNvPicPr>
          <p:nvPr/>
        </p:nvPicPr>
        <p:blipFill>
          <a:blip r:embed="rId16"/>
          <a:stretch>
            <a:fillRect/>
          </a:stretch>
        </p:blipFill>
        <p:spPr>
          <a:xfrm>
            <a:off x="1607515" y="4766767"/>
            <a:ext cx="162763" cy="162763"/>
          </a:xfrm>
          <a:prstGeom prst="rect">
            <a:avLst/>
          </a:prstGeom>
        </p:spPr>
      </p:pic>
      <p:sp>
        <p:nvSpPr>
          <p:cNvPr id="160" name="Text 142"/>
          <p:cNvSpPr/>
          <p:nvPr/>
        </p:nvSpPr>
        <p:spPr>
          <a:xfrm>
            <a:off x="1793138" y="469178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Shared 32k prefix • 4k / 8k caps</a:t>
            </a:r>
            <a:endParaRPr lang="en-US" sz="490" dirty="0"/>
          </a:p>
        </p:txBody>
      </p:sp>
      <p:sp>
        <p:nvSpPr>
          <p:cNvPr id="161" name="Shape 14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3" name="Text 14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ADK Callback Gate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before_agent_callback Prune</a:t>
            </a:r>
            <a:endParaRPr lang="en-US" sz="490" dirty="0"/>
          </a:p>
        </p:txBody>
      </p:sp>
      <p:sp>
        <p:nvSpPr>
          <p:cNvPr id="164" name="Shape 145"/>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5"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6" name="Text 146"/>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67" name="Shape 147"/>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8"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9" name="Text 148"/>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Discovery Engine PDP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Catalog Filter (403 Alpha)</a:t>
            </a:r>
            <a:endParaRPr lang="en-US" sz="490" dirty="0"/>
          </a:p>
        </p:txBody>
      </p:sp>
      <p:sp>
        <p:nvSpPr>
          <p:cNvPr id="170" name="Shape 149"/>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1"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2" name="Text 150"/>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 + OBO Broker</a:t>
            </a:r>
            <a:endParaRPr lang="en-US" sz="490" dirty="0"/>
          </a:p>
          <a:p>
            <a:pPr algn="l" indent="0" marL="0">
              <a:lnSpc>
                <a:spcPct val="100000"/>
              </a:lnSpc>
              <a:buNone/>
            </a:pPr>
            <a:r>
              <a:rPr lang="en-US" sz="389" dirty="0">
                <a:solidFill>
                  <a:srgbClr val="3C4043"/>
                </a:solidFill>
                <a:latin typeface="Arial" pitchFamily="34" charset="0"/>
                <a:ea typeface="Arial" pitchFamily="34" charset="-122"/>
                <a:cs typeface="Arial" pitchFamily="34" charset="-120"/>
              </a:rPr>
              <a:t>OBO + DPoP + adk-agent-signing-key</a:t>
            </a:r>
            <a:endParaRPr lang="en-US" sz="490" dirty="0"/>
          </a:p>
        </p:txBody>
      </p:sp>
      <p:sp>
        <p:nvSpPr>
          <p:cNvPr id="173" name="Shape 151"/>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4" name="Text 152"/>
          <p:cNvSpPr/>
          <p:nvPr/>
        </p:nvSpPr>
        <p:spPr>
          <a:xfrm>
            <a:off x="3936492" y="4726534"/>
            <a:ext cx="1901952" cy="121615"/>
          </a:xfrm>
          <a:prstGeom prst="rect">
            <a:avLst/>
          </a:prstGeom>
          <a:noFill/>
          <a:ln/>
        </p:spPr>
        <p:txBody>
          <a:bodyPr wrap="none" lIns="0" tIns="0" rIns="0" bIns="0" rtlCol="0" anchor="ctr"/>
          <a:lstStyle/>
          <a:p>
            <a:pPr algn="ctr" indent="0" marL="0">
              <a:lnSpc>
                <a:spcPct val="100000"/>
              </a:lnSpc>
              <a:buNone/>
            </a:pPr>
            <a:r>
              <a:rPr lang="en-US" sz="349"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349" dirty="0"/>
          </a:p>
        </p:txBody>
      </p:sp>
      <p:sp>
        <p:nvSpPr>
          <p:cNvPr id="175" name="Shape 153"/>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6" name="Text 154"/>
          <p:cNvSpPr/>
          <p:nvPr/>
        </p:nvSpPr>
        <p:spPr>
          <a:xfrm>
            <a:off x="3936492" y="4535424"/>
            <a:ext cx="902513" cy="138989"/>
          </a:xfrm>
          <a:prstGeom prst="rect">
            <a:avLst/>
          </a:prstGeom>
          <a:noFill/>
          <a:ln/>
        </p:spPr>
        <p:txBody>
          <a:bodyPr wrap="none" lIns="0" tIns="0" rIns="0" bIns="0" rtlCol="0" anchor="ctr"/>
          <a:lstStyle/>
          <a:p>
            <a:pPr algn="ctr" indent="0" marL="0">
              <a:lnSpc>
                <a:spcPct val="100000"/>
              </a:lnSpc>
              <a:buNone/>
            </a:pPr>
            <a:r>
              <a:rPr lang="en-US" sz="400" b="1" dirty="0">
                <a:solidFill>
                  <a:srgbClr val="174EA6"/>
                </a:solidFill>
                <a:latin typeface="Arial" pitchFamily="34" charset="0"/>
                <a:ea typeface="Arial" pitchFamily="34" charset="-122"/>
                <a:cs typeface="Arial" pitchFamily="34" charset="-120"/>
              </a:rPr>
              <a:t>tenant_id = 'finvault' • 2 rows</a:t>
            </a:r>
            <a:endParaRPr lang="en-US" sz="400" dirty="0"/>
          </a:p>
        </p:txBody>
      </p:sp>
      <p:sp>
        <p:nvSpPr>
          <p:cNvPr id="177" name="Shape 155"/>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8" name="Text 156"/>
          <p:cNvSpPr/>
          <p:nvPr/>
        </p:nvSpPr>
        <p:spPr>
          <a:xfrm>
            <a:off x="4935931" y="4535424"/>
            <a:ext cx="902513" cy="138989"/>
          </a:xfrm>
          <a:prstGeom prst="rect">
            <a:avLst/>
          </a:prstGeom>
          <a:noFill/>
          <a:ln/>
        </p:spPr>
        <p:txBody>
          <a:bodyPr wrap="none" lIns="0" tIns="0" rIns="0" bIns="0" rtlCol="0" anchor="ctr"/>
          <a:lstStyle/>
          <a:p>
            <a:pPr algn="ctr" indent="0" marL="0">
              <a:lnSpc>
                <a:spcPct val="100000"/>
              </a:lnSpc>
              <a:buNone/>
            </a:pPr>
            <a:r>
              <a:rPr lang="en-US" sz="383" b="1" dirty="0">
                <a:solidFill>
                  <a:srgbClr val="C5221F"/>
                </a:solidFill>
                <a:latin typeface="Arial" pitchFamily="34" charset="0"/>
                <a:ea typeface="Arial" pitchFamily="34" charset="-122"/>
                <a:cs typeface="Arial" pitchFamily="34" charset="-120"/>
              </a:rPr>
              <a:t>tenant_id = 'retailstream' • 2 rows</a:t>
            </a:r>
            <a:endParaRPr lang="en-US" sz="383" dirty="0"/>
          </a:p>
        </p:txBody>
      </p:sp>
      <p:sp>
        <p:nvSpPr>
          <p:cNvPr id="179" name="Shape 157"/>
          <p:cNvSpPr/>
          <p:nvPr/>
        </p:nvSpPr>
        <p:spPr>
          <a:xfrm>
            <a:off x="1627632" y="5517490"/>
            <a:ext cx="634594" cy="130759"/>
          </a:xfrm>
          <a:prstGeom prst="roundRect">
            <a:avLst>
              <a:gd name="adj" fmla="val 27972"/>
            </a:avLst>
          </a:prstGeom>
          <a:solidFill>
            <a:srgbClr val="E8F0FE"/>
          </a:solidFill>
          <a:ln w="10795">
            <a:solidFill>
              <a:srgbClr val="174EA6"/>
            </a:solidFill>
            <a:prstDash val="solid"/>
          </a:ln>
        </p:spPr>
      </p:sp>
      <p:sp>
        <p:nvSpPr>
          <p:cNvPr id="180" name="Text 158"/>
          <p:cNvSpPr/>
          <p:nvPr/>
        </p:nvSpPr>
        <p:spPr>
          <a:xfrm>
            <a:off x="1641348" y="5517490"/>
            <a:ext cx="607162" cy="130759"/>
          </a:xfrm>
          <a:prstGeom prst="rect">
            <a:avLst/>
          </a:prstGeom>
          <a:noFill/>
          <a:ln/>
        </p:spPr>
        <p:txBody>
          <a:bodyPr wrap="none" lIns="0" tIns="0" rIns="0" bIns="0" rtlCol="0" anchor="ctr"/>
          <a:lstStyle/>
          <a:p>
            <a:pPr algn="ctr" indent="0" marL="0">
              <a:lnSpc>
                <a:spcPct val="100000"/>
              </a:lnSpc>
              <a:buNone/>
            </a:pPr>
            <a:r>
              <a:rPr lang="en-US" sz="361" b="1" dirty="0">
                <a:solidFill>
                  <a:srgbClr val="174EA6"/>
                </a:solidFill>
                <a:latin typeface="Arial" pitchFamily="34" charset="0"/>
                <a:ea typeface="Arial" pitchFamily="34" charset="-122"/>
                <a:cs typeface="Arial" pitchFamily="34" charset="-120"/>
              </a:rPr>
              <a:t>finvault:{user}:{session}</a:t>
            </a:r>
            <a:endParaRPr lang="en-US" sz="361" dirty="0"/>
          </a:p>
        </p:txBody>
      </p:sp>
      <p:sp>
        <p:nvSpPr>
          <p:cNvPr id="181" name="Shape 159"/>
          <p:cNvSpPr/>
          <p:nvPr/>
        </p:nvSpPr>
        <p:spPr>
          <a:xfrm>
            <a:off x="2301545" y="5517490"/>
            <a:ext cx="634594" cy="130759"/>
          </a:xfrm>
          <a:prstGeom prst="roundRect">
            <a:avLst>
              <a:gd name="adj" fmla="val 27972"/>
            </a:avLst>
          </a:prstGeom>
          <a:solidFill>
            <a:srgbClr val="FCE8E6"/>
          </a:solidFill>
          <a:ln w="10795">
            <a:solidFill>
              <a:srgbClr val="C5221F"/>
            </a:solidFill>
            <a:prstDash val="solid"/>
          </a:ln>
        </p:spPr>
      </p:sp>
      <p:sp>
        <p:nvSpPr>
          <p:cNvPr id="182" name="Text 160"/>
          <p:cNvSpPr/>
          <p:nvPr/>
        </p:nvSpPr>
        <p:spPr>
          <a:xfrm>
            <a:off x="2315261" y="5517490"/>
            <a:ext cx="607162" cy="130759"/>
          </a:xfrm>
          <a:prstGeom prst="rect">
            <a:avLst/>
          </a:prstGeom>
          <a:noFill/>
          <a:ln/>
        </p:spPr>
        <p:txBody>
          <a:bodyPr wrap="none" lIns="0" tIns="0" rIns="0" bIns="0" rtlCol="0" anchor="ctr"/>
          <a:lstStyle/>
          <a:p>
            <a:pPr algn="ctr" indent="0" marL="0">
              <a:lnSpc>
                <a:spcPct val="100000"/>
              </a:lnSpc>
              <a:buNone/>
            </a:pPr>
            <a:r>
              <a:rPr lang="en-US" sz="311" dirty="0">
                <a:solidFill>
                  <a:srgbClr val="C5221F"/>
                </a:solidFill>
                <a:latin typeface="Arial" pitchFamily="34" charset="0"/>
                <a:ea typeface="Arial" pitchFamily="34" charset="-122"/>
                <a:cs typeface="Arial" pitchFamily="34" charset="-120"/>
              </a:rPr>
              <a:t>retailstream:{user}:{session}</a:t>
            </a:r>
            <a:endParaRPr lang="en-US" sz="311" dirty="0"/>
          </a:p>
        </p:txBody>
      </p:sp>
      <p:sp>
        <p:nvSpPr>
          <p:cNvPr id="183" name="Shape 161"/>
          <p:cNvSpPr/>
          <p:nvPr/>
        </p:nvSpPr>
        <p:spPr>
          <a:xfrm>
            <a:off x="2974543" y="5517490"/>
            <a:ext cx="634594" cy="130759"/>
          </a:xfrm>
          <a:prstGeom prst="roundRect">
            <a:avLst>
              <a:gd name="adj" fmla="val 27972"/>
            </a:avLst>
          </a:prstGeom>
          <a:solidFill>
            <a:srgbClr val="E6F4EA"/>
          </a:solidFill>
          <a:ln w="10795">
            <a:solidFill>
              <a:srgbClr val="137333"/>
            </a:solidFill>
            <a:prstDash val="solid"/>
          </a:ln>
        </p:spPr>
      </p:sp>
      <p:sp>
        <p:nvSpPr>
          <p:cNvPr id="184" name="Text 162"/>
          <p:cNvSpPr/>
          <p:nvPr/>
        </p:nvSpPr>
        <p:spPr>
          <a:xfrm>
            <a:off x="2988259" y="5517490"/>
            <a:ext cx="607162" cy="130759"/>
          </a:xfrm>
          <a:prstGeom prst="rect">
            <a:avLst/>
          </a:prstGeom>
          <a:noFill/>
          <a:ln/>
        </p:spPr>
        <p:txBody>
          <a:bodyPr wrap="none" lIns="0" tIns="0" rIns="0" bIns="0" rtlCol="0" anchor="ctr"/>
          <a:lstStyle/>
          <a:p>
            <a:pPr algn="ctr" indent="0" marL="0">
              <a:lnSpc>
                <a:spcPct val="100000"/>
              </a:lnSpc>
              <a:buNone/>
            </a:pPr>
            <a:r>
              <a:rPr lang="en-US" sz="322" dirty="0">
                <a:solidFill>
                  <a:srgbClr val="137333"/>
                </a:solidFill>
                <a:latin typeface="Arial" pitchFamily="34" charset="0"/>
                <a:ea typeface="Arial" pitchFamily="34" charset="-122"/>
                <a:cs typeface="Arial" pitchFamily="34" charset="-120"/>
              </a:rPr>
              <a:t>L1 shared prefix (read-only)</a:t>
            </a:r>
            <a:endParaRPr lang="en-US" sz="322"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674620" y="3400654"/>
            <a:ext cx="148133" cy="148133"/>
          </a:xfrm>
          <a:prstGeom prst="ellipse">
            <a:avLst/>
          </a:prstGeom>
          <a:solidFill>
            <a:srgbClr val="174EA6"/>
          </a:solidFill>
          <a:ln w="10795">
            <a:solidFill>
              <a:srgbClr val="174EA6"/>
            </a:solidFill>
            <a:prstDash val="solid"/>
          </a:ln>
        </p:spPr>
      </p:sp>
      <p:sp>
        <p:nvSpPr>
          <p:cNvPr id="194" name="Text 172"/>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1579169" y="4530852"/>
            <a:ext cx="148133" cy="148133"/>
          </a:xfrm>
          <a:prstGeom prst="ellipse">
            <a:avLst/>
          </a:prstGeom>
          <a:solidFill>
            <a:srgbClr val="174EA6"/>
          </a:solidFill>
          <a:ln w="10795">
            <a:solidFill>
              <a:srgbClr val="174EA6"/>
            </a:solidFill>
            <a:prstDash val="solid"/>
          </a:ln>
        </p:spPr>
      </p:sp>
      <p:sp>
        <p:nvSpPr>
          <p:cNvPr id="196" name="Text 174"/>
          <p:cNvSpPr/>
          <p:nvPr/>
        </p:nvSpPr>
        <p:spPr>
          <a:xfrm>
            <a:off x="1579169" y="4530852"/>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7" name="Shape 175"/>
          <p:cNvSpPr/>
          <p:nvPr/>
        </p:nvSpPr>
        <p:spPr>
          <a:xfrm>
            <a:off x="1579169" y="503468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503468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9" name="Shape 177"/>
          <p:cNvSpPr/>
          <p:nvPr/>
        </p:nvSpPr>
        <p:spPr>
          <a:xfrm>
            <a:off x="3692347" y="4252874"/>
            <a:ext cx="148133" cy="148133"/>
          </a:xfrm>
          <a:prstGeom prst="ellipse">
            <a:avLst/>
          </a:prstGeom>
          <a:solidFill>
            <a:srgbClr val="174EA6"/>
          </a:solidFill>
          <a:ln w="10795">
            <a:solidFill>
              <a:srgbClr val="174EA6"/>
            </a:solidFill>
            <a:prstDash val="solid"/>
          </a:ln>
        </p:spPr>
      </p:sp>
      <p:sp>
        <p:nvSpPr>
          <p:cNvPr id="200" name="Text 178"/>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5212994" y="3566160"/>
            <a:ext cx="148133" cy="148133"/>
          </a:xfrm>
          <a:prstGeom prst="ellipse">
            <a:avLst/>
          </a:prstGeom>
          <a:solidFill>
            <a:srgbClr val="174EA6"/>
          </a:solidFill>
          <a:ln w="10795">
            <a:solidFill>
              <a:srgbClr val="174EA6"/>
            </a:solidFill>
            <a:prstDash val="solid"/>
          </a:ln>
        </p:spPr>
      </p:sp>
      <p:sp>
        <p:nvSpPr>
          <p:cNvPr id="202" name="Text 180"/>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Text 181"/>
          <p:cNvSpPr/>
          <p:nvPr/>
        </p:nvSpPr>
        <p:spPr>
          <a:xfrm>
            <a:off x="1618488" y="5682996"/>
            <a:ext cx="1999793" cy="235001"/>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00" dirty="0"/>
          </a:p>
          <a:p>
            <a:pPr algn="l" indent="0" marL="0">
              <a:lnSpc>
                <a:spcPct val="104000"/>
              </a:lnSpc>
              <a:buNone/>
            </a:pPr>
            <a:r>
              <a:rPr lang="en-US" sz="39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00" dirty="0"/>
          </a:p>
        </p:txBody>
      </p:sp>
      <p:sp>
        <p:nvSpPr>
          <p:cNvPr id="204" name="Text 182"/>
          <p:cNvSpPr/>
          <p:nvPr/>
        </p:nvSpPr>
        <p:spPr>
          <a:xfrm>
            <a:off x="3913632" y="4874666"/>
            <a:ext cx="1947672" cy="138989"/>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00" dirty="0"/>
          </a:p>
        </p:txBody>
      </p:sp>
      <p:sp>
        <p:nvSpPr>
          <p:cNvPr id="205" name="Shape 183"/>
          <p:cNvSpPr/>
          <p:nvPr/>
        </p:nvSpPr>
        <p:spPr>
          <a:xfrm>
            <a:off x="3770071" y="3561588"/>
            <a:ext cx="1243584" cy="138989"/>
          </a:xfrm>
          <a:prstGeom prst="roundRect">
            <a:avLst>
              <a:gd name="adj" fmla="val 32895"/>
            </a:avLst>
          </a:prstGeom>
          <a:solidFill>
            <a:srgbClr val="FFFFFF"/>
          </a:solidFill>
          <a:ln w="5715">
            <a:solidFill>
              <a:srgbClr val="DADCE0"/>
            </a:solidFill>
            <a:prstDash val="solid"/>
          </a:ln>
        </p:spPr>
      </p:sp>
      <p:sp>
        <p:nvSpPr>
          <p:cNvPr id="206" name="Text 184"/>
          <p:cNvSpPr/>
          <p:nvPr/>
        </p:nvSpPr>
        <p:spPr>
          <a:xfrm>
            <a:off x="3790188" y="3570732"/>
            <a:ext cx="1203350"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Cache hits • RPM • per-tenant span cost → BigQuery</a:t>
            </a:r>
            <a:endParaRPr lang="en-US" sz="410" dirty="0"/>
          </a:p>
        </p:txBody>
      </p:sp>
      <p:sp>
        <p:nvSpPr>
          <p:cNvPr id="207" name="Shape 185"/>
          <p:cNvSpPr/>
          <p:nvPr/>
        </p:nvSpPr>
        <p:spPr>
          <a:xfrm>
            <a:off x="2844698" y="3362249"/>
            <a:ext cx="738835" cy="208483"/>
          </a:xfrm>
          <a:prstGeom prst="roundRect">
            <a:avLst>
              <a:gd name="adj" fmla="val 21930"/>
            </a:avLst>
          </a:prstGeom>
          <a:solidFill>
            <a:srgbClr val="FFFFFF"/>
          </a:solidFill>
          <a:ln w="5715">
            <a:solidFill>
              <a:srgbClr val="DADCE0"/>
            </a:solidFill>
            <a:prstDash val="solid"/>
          </a:ln>
        </p:spPr>
      </p:sp>
      <p:sp>
        <p:nvSpPr>
          <p:cNvPr id="208" name="Text 186"/>
          <p:cNvSpPr/>
          <p:nvPr/>
        </p:nvSpPr>
        <p:spPr>
          <a:xfrm>
            <a:off x="2864815" y="3371393"/>
            <a:ext cx="698602"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Allocate gVisor sandbox</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 Valkey quota check</a:t>
            </a:r>
            <a:endParaRPr lang="en-US" sz="410" dirty="0"/>
          </a:p>
        </p:txBody>
      </p:sp>
      <p:sp>
        <p:nvSpPr>
          <p:cNvPr id="209" name="Shape 187"/>
          <p:cNvSpPr/>
          <p:nvPr/>
        </p:nvSpPr>
        <p:spPr>
          <a:xfrm>
            <a:off x="1757477" y="4459529"/>
            <a:ext cx="708660" cy="208483"/>
          </a:xfrm>
          <a:prstGeom prst="roundRect">
            <a:avLst>
              <a:gd name="adj" fmla="val 21930"/>
            </a:avLst>
          </a:prstGeom>
          <a:solidFill>
            <a:srgbClr val="FFFFFF"/>
          </a:solidFill>
          <a:ln w="5715">
            <a:solidFill>
              <a:srgbClr val="DADCE0"/>
            </a:solidFill>
            <a:prstDash val="solid"/>
          </a:ln>
        </p:spPr>
      </p:sp>
      <p:sp>
        <p:nvSpPr>
          <p:cNvPr id="210" name="Text 188"/>
          <p:cNvSpPr/>
          <p:nvPr/>
        </p:nvSpPr>
        <p:spPr>
          <a:xfrm>
            <a:off x="1777594" y="4468673"/>
            <a:ext cx="668426"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Screen prompt with</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tenant's Armor template</a:t>
            </a:r>
            <a:endParaRPr lang="en-US" sz="410" dirty="0"/>
          </a:p>
        </p:txBody>
      </p:sp>
      <p:sp>
        <p:nvSpPr>
          <p:cNvPr id="211" name="Shape 189"/>
          <p:cNvSpPr/>
          <p:nvPr/>
        </p:nvSpPr>
        <p:spPr>
          <a:xfrm>
            <a:off x="1757477" y="5018227"/>
            <a:ext cx="672084" cy="208483"/>
          </a:xfrm>
          <a:prstGeom prst="roundRect">
            <a:avLst>
              <a:gd name="adj" fmla="val 21930"/>
            </a:avLst>
          </a:prstGeom>
          <a:solidFill>
            <a:srgbClr val="FFFFFF"/>
          </a:solidFill>
          <a:ln w="5715">
            <a:solidFill>
              <a:srgbClr val="DADCE0"/>
            </a:solidFill>
            <a:prstDash val="solid"/>
          </a:ln>
        </p:spPr>
      </p:sp>
      <p:sp>
        <p:nvSpPr>
          <p:cNvPr id="212" name="Text 190"/>
          <p:cNvSpPr/>
          <p:nvPr/>
        </p:nvSpPr>
        <p:spPr>
          <a:xfrm>
            <a:off x="1777594" y="5027371"/>
            <a:ext cx="63185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90% cached prefix +</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namespaced memory</a:t>
            </a:r>
            <a:endParaRPr lang="en-US" sz="410" dirty="0"/>
          </a:p>
        </p:txBody>
      </p:sp>
      <p:sp>
        <p:nvSpPr>
          <p:cNvPr id="213" name="Shape 191"/>
          <p:cNvSpPr/>
          <p:nvPr/>
        </p:nvSpPr>
        <p:spPr>
          <a:xfrm>
            <a:off x="2548433" y="2871216"/>
            <a:ext cx="507492" cy="208483"/>
          </a:xfrm>
          <a:prstGeom prst="roundRect">
            <a:avLst>
              <a:gd name="adj" fmla="val 21930"/>
            </a:avLst>
          </a:prstGeom>
          <a:solidFill>
            <a:srgbClr val="FFFFFF"/>
          </a:solidFill>
          <a:ln w="5715">
            <a:solidFill>
              <a:srgbClr val="DADCE0"/>
            </a:solidFill>
            <a:prstDash val="solid"/>
          </a:ln>
        </p:spPr>
      </p:sp>
      <p:sp>
        <p:nvSpPr>
          <p:cNvPr id="214" name="Text 192"/>
          <p:cNvSpPr/>
          <p:nvPr/>
        </p:nvSpPr>
        <p:spPr>
          <a:xfrm>
            <a:off x="2568550" y="2880360"/>
            <a:ext cx="467258"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Mint OBO +</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KMS P-256 sig</a:t>
            </a:r>
            <a:endParaRPr lang="en-US" sz="410" dirty="0"/>
          </a:p>
        </p:txBody>
      </p:sp>
      <p:sp>
        <p:nvSpPr>
          <p:cNvPr id="215" name="Shape 193"/>
          <p:cNvSpPr/>
          <p:nvPr/>
        </p:nvSpPr>
        <p:spPr>
          <a:xfrm>
            <a:off x="5383073" y="3531413"/>
            <a:ext cx="653796" cy="208483"/>
          </a:xfrm>
          <a:prstGeom prst="roundRect">
            <a:avLst>
              <a:gd name="adj" fmla="val 21930"/>
            </a:avLst>
          </a:prstGeom>
          <a:solidFill>
            <a:srgbClr val="FFFFFF"/>
          </a:solidFill>
          <a:ln w="5715">
            <a:solidFill>
              <a:srgbClr val="DADCE0"/>
            </a:solidFill>
            <a:prstDash val="solid"/>
          </a:ln>
        </p:spPr>
      </p:sp>
      <p:sp>
        <p:nvSpPr>
          <p:cNvPr id="216" name="Text 194"/>
          <p:cNvSpPr/>
          <p:nvPr/>
        </p:nvSpPr>
        <p:spPr>
          <a:xfrm>
            <a:off x="5403190" y="3540557"/>
            <a:ext cx="613562"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SDP-redacted response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 per-turn OTel span</a:t>
            </a:r>
            <a:endParaRPr lang="en-US" sz="410" dirty="0"/>
          </a:p>
        </p:txBody>
      </p:sp>
      <p:sp>
        <p:nvSpPr>
          <p:cNvPr id="217" name="Shape 195"/>
          <p:cNvSpPr/>
          <p:nvPr/>
        </p:nvSpPr>
        <p:spPr>
          <a:xfrm>
            <a:off x="2443277" y="2080260"/>
            <a:ext cx="480060" cy="208483"/>
          </a:xfrm>
          <a:prstGeom prst="roundRect">
            <a:avLst>
              <a:gd name="adj" fmla="val 21930"/>
            </a:avLst>
          </a:prstGeom>
          <a:solidFill>
            <a:srgbClr val="FFFFFF"/>
          </a:solidFill>
          <a:ln w="5715">
            <a:solidFill>
              <a:srgbClr val="DADCE0"/>
            </a:solidFill>
            <a:prstDash val="solid"/>
          </a:ln>
        </p:spPr>
      </p:sp>
      <p:sp>
        <p:nvSpPr>
          <p:cNvPr id="218" name="Text 196"/>
          <p:cNvSpPr/>
          <p:nvPr/>
        </p:nvSpPr>
        <p:spPr>
          <a:xfrm>
            <a:off x="2463394" y="2089404"/>
            <a:ext cx="439826"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Strip header</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X-Tenant-ID</a:t>
            </a:r>
            <a:endParaRPr lang="en-US" sz="410" dirty="0"/>
          </a:p>
        </p:txBody>
      </p:sp>
      <p:sp>
        <p:nvSpPr>
          <p:cNvPr id="219" name="Shape 197"/>
          <p:cNvSpPr/>
          <p:nvPr/>
        </p:nvSpPr>
        <p:spPr>
          <a:xfrm>
            <a:off x="2443277" y="2625242"/>
            <a:ext cx="480060" cy="208483"/>
          </a:xfrm>
          <a:prstGeom prst="roundRect">
            <a:avLst>
              <a:gd name="adj" fmla="val 21930"/>
            </a:avLst>
          </a:prstGeom>
          <a:solidFill>
            <a:srgbClr val="FFFFFF"/>
          </a:solidFill>
          <a:ln w="5715">
            <a:solidFill>
              <a:srgbClr val="DADCE0"/>
            </a:solidFill>
            <a:prstDash val="solid"/>
          </a:ln>
        </p:spPr>
      </p:sp>
      <p:sp>
        <p:nvSpPr>
          <p:cNvPr id="220" name="Text 198"/>
          <p:cNvSpPr/>
          <p:nvPr/>
        </p:nvSpPr>
        <p:spPr>
          <a:xfrm>
            <a:off x="2463394" y="2634386"/>
            <a:ext cx="439826"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Filter Agent</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Catalog</a:t>
            </a:r>
            <a:endParaRPr lang="en-US" sz="410" dirty="0"/>
          </a:p>
        </p:txBody>
      </p:sp>
      <p:sp>
        <p:nvSpPr>
          <p:cNvPr id="221" name="Shape 199"/>
          <p:cNvSpPr/>
          <p:nvPr/>
        </p:nvSpPr>
        <p:spPr>
          <a:xfrm>
            <a:off x="5443423" y="5006340"/>
            <a:ext cx="452628" cy="138989"/>
          </a:xfrm>
          <a:prstGeom prst="roundRect">
            <a:avLst>
              <a:gd name="adj" fmla="val 32895"/>
            </a:avLst>
          </a:prstGeom>
          <a:solidFill>
            <a:srgbClr val="FFFFFF"/>
          </a:solidFill>
          <a:ln w="5715">
            <a:solidFill>
              <a:srgbClr val="DADCE0"/>
            </a:solidFill>
            <a:prstDash val="solid"/>
          </a:ln>
        </p:spPr>
      </p:sp>
      <p:sp>
        <p:nvSpPr>
          <p:cNvPr id="222" name="Text 200"/>
          <p:cNvSpPr/>
          <p:nvPr/>
        </p:nvSpPr>
        <p:spPr>
          <a:xfrm>
            <a:off x="5463540" y="5015484"/>
            <a:ext cx="412394"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3LO consent</a:t>
            </a:r>
            <a:endParaRPr lang="en-US" sz="410" dirty="0"/>
          </a:p>
        </p:txBody>
      </p:sp>
      <p:sp>
        <p:nvSpPr>
          <p:cNvPr id="223" name="Shape 201"/>
          <p:cNvSpPr/>
          <p:nvPr/>
        </p:nvSpPr>
        <p:spPr>
          <a:xfrm>
            <a:off x="3888029" y="1144829"/>
            <a:ext cx="370332" cy="138989"/>
          </a:xfrm>
          <a:prstGeom prst="roundRect">
            <a:avLst>
              <a:gd name="adj" fmla="val 32895"/>
            </a:avLst>
          </a:prstGeom>
          <a:solidFill>
            <a:srgbClr val="FFFFFF"/>
          </a:solidFill>
          <a:ln w="5715">
            <a:solidFill>
              <a:srgbClr val="DADCE0"/>
            </a:solidFill>
            <a:prstDash val="solid"/>
          </a:ln>
        </p:spPr>
      </p:sp>
      <p:sp>
        <p:nvSpPr>
          <p:cNvPr id="224" name="Text 202"/>
          <p:cNvSpPr/>
          <p:nvPr/>
        </p:nvSpPr>
        <p:spPr>
          <a:xfrm>
            <a:off x="3908146" y="1153973"/>
            <a:ext cx="330098"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Response</a:t>
            </a:r>
            <a:endParaRPr lang="en-US" sz="410" dirty="0"/>
          </a:p>
        </p:txBody>
      </p:sp>
      <p:sp>
        <p:nvSpPr>
          <p:cNvPr id="225" name="Shape 203"/>
          <p:cNvSpPr/>
          <p:nvPr/>
        </p:nvSpPr>
        <p:spPr>
          <a:xfrm>
            <a:off x="3888029" y="2723083"/>
            <a:ext cx="370332" cy="138989"/>
          </a:xfrm>
          <a:prstGeom prst="roundRect">
            <a:avLst>
              <a:gd name="adj" fmla="val 32895"/>
            </a:avLst>
          </a:prstGeom>
          <a:solidFill>
            <a:srgbClr val="FFFFFF"/>
          </a:solidFill>
          <a:ln w="5715">
            <a:solidFill>
              <a:srgbClr val="DADCE0"/>
            </a:solidFill>
            <a:prstDash val="solid"/>
          </a:ln>
        </p:spPr>
      </p:sp>
      <p:sp>
        <p:nvSpPr>
          <p:cNvPr id="226" name="Text 204"/>
          <p:cNvSpPr/>
          <p:nvPr/>
        </p:nvSpPr>
        <p:spPr>
          <a:xfrm>
            <a:off x="3908146" y="2732227"/>
            <a:ext cx="330098"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Response</a:t>
            </a:r>
            <a:endParaRPr lang="en-US" sz="410" dirty="0"/>
          </a:p>
        </p:txBody>
      </p:sp>
      <p:sp>
        <p:nvSpPr>
          <p:cNvPr id="227" name="Shape 205"/>
          <p:cNvSpPr/>
          <p:nvPr/>
        </p:nvSpPr>
        <p:spPr>
          <a:xfrm>
            <a:off x="3144622" y="1144829"/>
            <a:ext cx="342900" cy="138989"/>
          </a:xfrm>
          <a:prstGeom prst="roundRect">
            <a:avLst>
              <a:gd name="adj" fmla="val 32895"/>
            </a:avLst>
          </a:prstGeom>
          <a:solidFill>
            <a:srgbClr val="FFFFFF"/>
          </a:solidFill>
          <a:ln w="5715">
            <a:solidFill>
              <a:srgbClr val="DADCE0"/>
            </a:solidFill>
            <a:prstDash val="solid"/>
          </a:ln>
        </p:spPr>
      </p:sp>
      <p:sp>
        <p:nvSpPr>
          <p:cNvPr id="228" name="Text 206"/>
          <p:cNvSpPr/>
          <p:nvPr/>
        </p:nvSpPr>
        <p:spPr>
          <a:xfrm>
            <a:off x="3164738" y="1153973"/>
            <a:ext cx="30266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Request</a:t>
            </a:r>
            <a:endParaRPr lang="en-US" sz="410" dirty="0"/>
          </a:p>
        </p:txBody>
      </p:sp>
      <p:sp>
        <p:nvSpPr>
          <p:cNvPr id="229" name="Shape 207"/>
          <p:cNvSpPr/>
          <p:nvPr/>
        </p:nvSpPr>
        <p:spPr>
          <a:xfrm>
            <a:off x="3144622" y="2723083"/>
            <a:ext cx="342900" cy="138989"/>
          </a:xfrm>
          <a:prstGeom prst="roundRect">
            <a:avLst>
              <a:gd name="adj" fmla="val 32895"/>
            </a:avLst>
          </a:prstGeom>
          <a:solidFill>
            <a:srgbClr val="FFFFFF"/>
          </a:solidFill>
          <a:ln w="5715">
            <a:solidFill>
              <a:srgbClr val="DADCE0"/>
            </a:solidFill>
            <a:prstDash val="solid"/>
          </a:ln>
        </p:spPr>
      </p:sp>
      <p:sp>
        <p:nvSpPr>
          <p:cNvPr id="230" name="Text 208"/>
          <p:cNvSpPr/>
          <p:nvPr/>
        </p:nvSpPr>
        <p:spPr>
          <a:xfrm>
            <a:off x="3164738" y="2732227"/>
            <a:ext cx="30266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Request</a:t>
            </a:r>
            <a:endParaRPr lang="en-US" sz="410" dirty="0"/>
          </a:p>
        </p:txBody>
      </p:sp>
      <p:sp>
        <p:nvSpPr>
          <p:cNvPr id="231" name="Shape 209"/>
          <p:cNvSpPr/>
          <p:nvPr/>
        </p:nvSpPr>
        <p:spPr>
          <a:xfrm>
            <a:off x="3279038" y="5061204"/>
            <a:ext cx="397764" cy="138989"/>
          </a:xfrm>
          <a:prstGeom prst="roundRect">
            <a:avLst>
              <a:gd name="adj" fmla="val 32895"/>
            </a:avLst>
          </a:prstGeom>
          <a:solidFill>
            <a:srgbClr val="FFFFFF"/>
          </a:solidFill>
          <a:ln w="5715">
            <a:solidFill>
              <a:srgbClr val="DADCE0"/>
            </a:solidFill>
            <a:prstDash val="solid"/>
          </a:ln>
        </p:spPr>
      </p:sp>
      <p:sp>
        <p:nvSpPr>
          <p:cNvPr id="232" name="Text 210"/>
          <p:cNvSpPr/>
          <p:nvPr/>
        </p:nvSpPr>
        <p:spPr>
          <a:xfrm>
            <a:off x="3299155" y="5070348"/>
            <a:ext cx="357530"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namespace</a:t>
            </a:r>
            <a:endParaRPr lang="en-US" sz="410" dirty="0"/>
          </a:p>
        </p:txBody>
      </p:sp>
      <p:sp>
        <p:nvSpPr>
          <p:cNvPr id="233" name="Text 21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WS3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Multi-Project Sovereign Topology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Central mTLS Routing &amp; Governance 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Text 73"/>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A Silo (FinVault Bank)</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finvault-silo-cmek</a:t>
            </a:r>
            <a:endParaRPr lang="en-US" sz="470" dirty="0"/>
          </a:p>
        </p:txBody>
      </p:sp>
      <p:sp>
        <p:nvSpPr>
          <p:cNvPr id="76" name="Shape 74"/>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7" name="Text 75"/>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B Silo (RetailStream Corp)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retailstream-silo-cmek</a:t>
            </a:r>
            <a:endParaRPr lang="en-US" sz="47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Central mTLS &amp; SPIFFE Routing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Client certificate pinning (HTTP 401 on SAN mismatch)</a:t>
            </a:r>
            <a:endParaRPr lang="en-US" sz="47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Cloud KMS CMEK &amp; Sovereign Security Hub</a:t>
            </a:r>
            <a:endParaRPr lang="en-US" sz="430" dirty="0"/>
          </a:p>
        </p:txBody>
      </p:sp>
      <p:pic>
        <p:nvPicPr>
          <p:cNvPr id="82"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3" name="Shape 80"/>
          <p:cNvSpPr/>
          <p:nvPr/>
        </p:nvSpPr>
        <p:spPr>
          <a:xfrm>
            <a:off x="3591763" y="1032358"/>
            <a:ext cx="0" cy="1269187"/>
          </a:xfrm>
          <a:prstGeom prst="line">
            <a:avLst/>
          </a:prstGeom>
          <a:noFill/>
          <a:ln w="12700">
            <a:solidFill>
              <a:srgbClr val="5F6368"/>
            </a:solidFill>
            <a:prstDash val="solid"/>
            <a:tailEnd type="triangle" w="sm" len="sm"/>
          </a:ln>
        </p:spPr>
      </p:sp>
      <p:sp>
        <p:nvSpPr>
          <p:cNvPr id="84" name="Shape 81"/>
          <p:cNvSpPr/>
          <p:nvPr/>
        </p:nvSpPr>
        <p:spPr>
          <a:xfrm flipV="1">
            <a:off x="3792017" y="1040587"/>
            <a:ext cx="0" cy="1269187"/>
          </a:xfrm>
          <a:prstGeom prst="line">
            <a:avLst/>
          </a:prstGeom>
          <a:noFill/>
          <a:ln w="12700">
            <a:solidFill>
              <a:srgbClr val="5F6368"/>
            </a:solidFill>
            <a:prstDash val="solid"/>
            <a:tailEnd type="triangle" w="sm" len="sm"/>
          </a:ln>
        </p:spPr>
      </p:sp>
      <p:sp>
        <p:nvSpPr>
          <p:cNvPr id="85" name="Shape 82"/>
          <p:cNvSpPr/>
          <p:nvPr/>
        </p:nvSpPr>
        <p:spPr>
          <a:xfrm flipH="1">
            <a:off x="2948940" y="2414016"/>
            <a:ext cx="148133" cy="0"/>
          </a:xfrm>
          <a:prstGeom prst="line">
            <a:avLst/>
          </a:prstGeom>
          <a:noFill/>
          <a:ln w="12700">
            <a:solidFill>
              <a:srgbClr val="5F6368"/>
            </a:solidFill>
            <a:prstDash val="solid"/>
            <a:headEnd type="triangle" w="sm" len="sm"/>
          </a:ln>
        </p:spPr>
      </p:sp>
      <p:sp>
        <p:nvSpPr>
          <p:cNvPr id="86" name="Shape 83"/>
          <p:cNvSpPr/>
          <p:nvPr/>
        </p:nvSpPr>
        <p:spPr>
          <a:xfrm flipV="1">
            <a:off x="2948940" y="2306117"/>
            <a:ext cx="0" cy="107899"/>
          </a:xfrm>
          <a:prstGeom prst="line">
            <a:avLst/>
          </a:prstGeom>
          <a:noFill/>
          <a:ln w="12700">
            <a:solidFill>
              <a:srgbClr val="5F6368"/>
            </a:solidFill>
            <a:prstDash val="solid"/>
          </a:ln>
        </p:spPr>
      </p:sp>
      <p:sp>
        <p:nvSpPr>
          <p:cNvPr id="87" name="Shape 84"/>
          <p:cNvSpPr/>
          <p:nvPr/>
        </p:nvSpPr>
        <p:spPr>
          <a:xfrm flipH="1">
            <a:off x="2401214" y="2306117"/>
            <a:ext cx="547726" cy="0"/>
          </a:xfrm>
          <a:prstGeom prst="line">
            <a:avLst/>
          </a:prstGeom>
          <a:noFill/>
          <a:ln w="12700">
            <a:solidFill>
              <a:srgbClr val="5F6368"/>
            </a:solidFill>
            <a:prstDash val="solid"/>
            <a:tailEnd type="triangle" w="sm" len="sm"/>
          </a:ln>
        </p:spPr>
      </p:sp>
      <p:sp>
        <p:nvSpPr>
          <p:cNvPr id="88" name="Shape 85"/>
          <p:cNvSpPr/>
          <p:nvPr/>
        </p:nvSpPr>
        <p:spPr>
          <a:xfrm flipH="1">
            <a:off x="2948940" y="2535631"/>
            <a:ext cx="148133" cy="0"/>
          </a:xfrm>
          <a:prstGeom prst="line">
            <a:avLst/>
          </a:prstGeom>
          <a:noFill/>
          <a:ln w="12700">
            <a:solidFill>
              <a:srgbClr val="5F6368"/>
            </a:solidFill>
            <a:prstDash val="solid"/>
            <a:headEnd type="triangle" w="sm" len="sm"/>
          </a:ln>
        </p:spPr>
      </p:sp>
      <p:sp>
        <p:nvSpPr>
          <p:cNvPr id="89" name="Shape 86"/>
          <p:cNvSpPr/>
          <p:nvPr/>
        </p:nvSpPr>
        <p:spPr>
          <a:xfrm>
            <a:off x="2948940" y="2535631"/>
            <a:ext cx="0" cy="135331"/>
          </a:xfrm>
          <a:prstGeom prst="line">
            <a:avLst/>
          </a:prstGeom>
          <a:noFill/>
          <a:ln w="12700">
            <a:solidFill>
              <a:srgbClr val="5F6368"/>
            </a:solidFill>
            <a:prstDash val="solid"/>
          </a:ln>
        </p:spPr>
      </p:sp>
      <p:sp>
        <p:nvSpPr>
          <p:cNvPr id="90" name="Shape 87"/>
          <p:cNvSpPr/>
          <p:nvPr/>
        </p:nvSpPr>
        <p:spPr>
          <a:xfrm flipH="1">
            <a:off x="2401214" y="2670962"/>
            <a:ext cx="547726" cy="0"/>
          </a:xfrm>
          <a:prstGeom prst="line">
            <a:avLst/>
          </a:prstGeom>
          <a:noFill/>
          <a:ln w="12700">
            <a:solidFill>
              <a:srgbClr val="5F6368"/>
            </a:solidFill>
            <a:prstDash val="solid"/>
            <a:tailEnd type="triangle" w="sm" len="sm"/>
          </a:ln>
        </p:spPr>
      </p:sp>
      <p:sp>
        <p:nvSpPr>
          <p:cNvPr id="91" name="Shape 88"/>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2" name="Shape 89"/>
          <p:cNvSpPr/>
          <p:nvPr/>
        </p:nvSpPr>
        <p:spPr>
          <a:xfrm>
            <a:off x="3591763" y="2640787"/>
            <a:ext cx="0" cy="312725"/>
          </a:xfrm>
          <a:prstGeom prst="line">
            <a:avLst/>
          </a:prstGeom>
          <a:noFill/>
          <a:ln w="12700">
            <a:solidFill>
              <a:srgbClr val="5F6368"/>
            </a:solidFill>
            <a:prstDash val="solid"/>
            <a:tailEnd type="triangle" w="sm" len="sm"/>
          </a:ln>
        </p:spPr>
      </p:sp>
      <p:sp>
        <p:nvSpPr>
          <p:cNvPr id="93" name="Shape 90"/>
          <p:cNvSpPr/>
          <p:nvPr/>
        </p:nvSpPr>
        <p:spPr>
          <a:xfrm flipV="1">
            <a:off x="3792017" y="2640787"/>
            <a:ext cx="0" cy="312725"/>
          </a:xfrm>
          <a:prstGeom prst="line">
            <a:avLst/>
          </a:prstGeom>
          <a:noFill/>
          <a:ln w="12700">
            <a:solidFill>
              <a:srgbClr val="5F6368"/>
            </a:solidFill>
            <a:prstDash val="solid"/>
            <a:tailEnd type="triangle" w="sm" len="sm"/>
          </a:ln>
        </p:spPr>
      </p:sp>
      <p:sp>
        <p:nvSpPr>
          <p:cNvPr id="94" name="Shape 91"/>
          <p:cNvSpPr/>
          <p:nvPr/>
        </p:nvSpPr>
        <p:spPr>
          <a:xfrm flipV="1">
            <a:off x="3083357" y="3665830"/>
            <a:ext cx="0" cy="782726"/>
          </a:xfrm>
          <a:prstGeom prst="line">
            <a:avLst/>
          </a:prstGeom>
          <a:noFill/>
          <a:ln w="12700">
            <a:solidFill>
              <a:srgbClr val="5F6368"/>
            </a:solidFill>
            <a:prstDash val="solid"/>
          </a:ln>
        </p:spPr>
      </p:sp>
      <p:sp>
        <p:nvSpPr>
          <p:cNvPr id="95" name="Shape 92"/>
          <p:cNvSpPr/>
          <p:nvPr/>
        </p:nvSpPr>
        <p:spPr>
          <a:xfrm>
            <a:off x="3083357" y="3665830"/>
            <a:ext cx="595274" cy="0"/>
          </a:xfrm>
          <a:prstGeom prst="line">
            <a:avLst/>
          </a:prstGeom>
          <a:noFill/>
          <a:ln w="12700">
            <a:solidFill>
              <a:srgbClr val="5F6368"/>
            </a:solidFill>
            <a:prstDash val="solid"/>
          </a:ln>
        </p:spPr>
      </p:sp>
      <p:sp>
        <p:nvSpPr>
          <p:cNvPr id="96" name="Shape 93"/>
          <p:cNvSpPr/>
          <p:nvPr/>
        </p:nvSpPr>
        <p:spPr>
          <a:xfrm flipV="1">
            <a:off x="3678631" y="3239719"/>
            <a:ext cx="0" cy="426110"/>
          </a:xfrm>
          <a:prstGeom prst="line">
            <a:avLst/>
          </a:prstGeom>
          <a:noFill/>
          <a:ln w="12700">
            <a:solidFill>
              <a:srgbClr val="5F6368"/>
            </a:solidFill>
            <a:prstDash val="solid"/>
            <a:tailEnd type="triangle" w="sm" len="sm"/>
          </a:ln>
        </p:spPr>
      </p:sp>
      <p:sp>
        <p:nvSpPr>
          <p:cNvPr id="97" name="Shape 94"/>
          <p:cNvSpPr/>
          <p:nvPr/>
        </p:nvSpPr>
        <p:spPr>
          <a:xfrm flipV="1">
            <a:off x="3083357" y="3665830"/>
            <a:ext cx="0" cy="782726"/>
          </a:xfrm>
          <a:prstGeom prst="line">
            <a:avLst/>
          </a:prstGeom>
          <a:noFill/>
          <a:ln w="12700">
            <a:solidFill>
              <a:srgbClr val="5F6368"/>
            </a:solidFill>
            <a:prstDash val="solid"/>
            <a:headEnd type="triangle" w="sm" len="sm"/>
          </a:ln>
        </p:spPr>
      </p:sp>
      <p:sp>
        <p:nvSpPr>
          <p:cNvPr id="98" name="Shape 95"/>
          <p:cNvSpPr/>
          <p:nvPr/>
        </p:nvSpPr>
        <p:spPr>
          <a:xfrm>
            <a:off x="3083357" y="3665830"/>
            <a:ext cx="2364638" cy="0"/>
          </a:xfrm>
          <a:prstGeom prst="line">
            <a:avLst/>
          </a:prstGeom>
          <a:noFill/>
          <a:ln w="12700">
            <a:solidFill>
              <a:srgbClr val="5F6368"/>
            </a:solidFill>
            <a:prstDash val="solid"/>
          </a:ln>
        </p:spPr>
      </p:sp>
      <p:sp>
        <p:nvSpPr>
          <p:cNvPr id="99" name="Shape 96"/>
          <p:cNvSpPr/>
          <p:nvPr/>
        </p:nvSpPr>
        <p:spPr>
          <a:xfrm>
            <a:off x="5447995" y="3665830"/>
            <a:ext cx="0" cy="782726"/>
          </a:xfrm>
          <a:prstGeom prst="line">
            <a:avLst/>
          </a:prstGeom>
          <a:noFill/>
          <a:ln w="12700">
            <a:solidFill>
              <a:srgbClr val="5F6368"/>
            </a:solidFill>
            <a:prstDash val="solid"/>
            <a:tailEnd type="triangle" w="sm" len="sm"/>
          </a:ln>
        </p:spPr>
      </p:sp>
      <p:sp>
        <p:nvSpPr>
          <p:cNvPr id="100" name="Shape 97"/>
          <p:cNvSpPr/>
          <p:nvPr/>
        </p:nvSpPr>
        <p:spPr>
          <a:xfrm flipV="1">
            <a:off x="2557577" y="3605479"/>
            <a:ext cx="0" cy="181966"/>
          </a:xfrm>
          <a:prstGeom prst="line">
            <a:avLst/>
          </a:prstGeom>
          <a:noFill/>
          <a:ln w="12700">
            <a:solidFill>
              <a:srgbClr val="5F6368"/>
            </a:solidFill>
            <a:prstDash val="dash"/>
            <a:headEnd type="triangle" w="sm" len="sm"/>
          </a:ln>
        </p:spPr>
      </p:sp>
      <p:sp>
        <p:nvSpPr>
          <p:cNvPr id="101" name="Shape 98"/>
          <p:cNvSpPr/>
          <p:nvPr/>
        </p:nvSpPr>
        <p:spPr>
          <a:xfrm>
            <a:off x="2557577" y="3605479"/>
            <a:ext cx="2756002" cy="0"/>
          </a:xfrm>
          <a:prstGeom prst="line">
            <a:avLst/>
          </a:prstGeom>
          <a:noFill/>
          <a:ln w="12700">
            <a:solidFill>
              <a:srgbClr val="5F6368"/>
            </a:solidFill>
            <a:prstDash val="dash"/>
          </a:ln>
        </p:spPr>
      </p:sp>
      <p:sp>
        <p:nvSpPr>
          <p:cNvPr id="102" name="Shape 99"/>
          <p:cNvSpPr/>
          <p:nvPr/>
        </p:nvSpPr>
        <p:spPr>
          <a:xfrm flipV="1">
            <a:off x="5313578" y="3327502"/>
            <a:ext cx="0" cy="277978"/>
          </a:xfrm>
          <a:prstGeom prst="line">
            <a:avLst/>
          </a:prstGeom>
          <a:noFill/>
          <a:ln w="12700">
            <a:solidFill>
              <a:srgbClr val="5F6368"/>
            </a:solidFill>
            <a:prstDash val="dash"/>
            <a:tailEnd type="triangle" w="sm" len="sm"/>
          </a:ln>
        </p:spPr>
      </p:sp>
      <p:sp>
        <p:nvSpPr>
          <p:cNvPr id="103" name="Shape 100"/>
          <p:cNvSpPr/>
          <p:nvPr/>
        </p:nvSpPr>
        <p:spPr>
          <a:xfrm>
            <a:off x="5313578" y="3327502"/>
            <a:ext cx="0" cy="277978"/>
          </a:xfrm>
          <a:prstGeom prst="line">
            <a:avLst/>
          </a:prstGeom>
          <a:noFill/>
          <a:ln w="12700">
            <a:solidFill>
              <a:srgbClr val="5F6368"/>
            </a:solidFill>
            <a:prstDash val="dash"/>
          </a:ln>
        </p:spPr>
      </p:sp>
      <p:sp>
        <p:nvSpPr>
          <p:cNvPr id="104" name="Shape 101"/>
          <p:cNvSpPr/>
          <p:nvPr/>
        </p:nvSpPr>
        <p:spPr>
          <a:xfrm flipH="1">
            <a:off x="4922215" y="3605479"/>
            <a:ext cx="391363" cy="0"/>
          </a:xfrm>
          <a:prstGeom prst="line">
            <a:avLst/>
          </a:prstGeom>
          <a:noFill/>
          <a:ln w="12700">
            <a:solidFill>
              <a:srgbClr val="5F6368"/>
            </a:solidFill>
            <a:prstDash val="dash"/>
          </a:ln>
        </p:spPr>
      </p:sp>
      <p:sp>
        <p:nvSpPr>
          <p:cNvPr id="105" name="Shape 102"/>
          <p:cNvSpPr/>
          <p:nvPr/>
        </p:nvSpPr>
        <p:spPr>
          <a:xfrm>
            <a:off x="4922215" y="3605479"/>
            <a:ext cx="0" cy="181966"/>
          </a:xfrm>
          <a:prstGeom prst="line">
            <a:avLst/>
          </a:prstGeom>
          <a:noFill/>
          <a:ln w="12700">
            <a:solidFill>
              <a:srgbClr val="5F6368"/>
            </a:solidFill>
            <a:prstDash val="dash"/>
            <a:tailEnd type="triangle" w="sm" len="sm"/>
          </a:ln>
        </p:spPr>
      </p:sp>
      <p:sp>
        <p:nvSpPr>
          <p:cNvPr id="106" name="Shape 103"/>
          <p:cNvSpPr/>
          <p:nvPr/>
        </p:nvSpPr>
        <p:spPr>
          <a:xfrm>
            <a:off x="2392070" y="4387291"/>
            <a:ext cx="96012" cy="0"/>
          </a:xfrm>
          <a:prstGeom prst="line">
            <a:avLst/>
          </a:prstGeom>
          <a:noFill/>
          <a:ln w="12700">
            <a:solidFill>
              <a:srgbClr val="5F6368"/>
            </a:solidFill>
            <a:prstDash val="solid"/>
            <a:headEnd type="triangle" w="sm" len="sm"/>
          </a:ln>
        </p:spPr>
      </p:sp>
      <p:sp>
        <p:nvSpPr>
          <p:cNvPr id="107" name="Shape 104"/>
          <p:cNvSpPr/>
          <p:nvPr/>
        </p:nvSpPr>
        <p:spPr>
          <a:xfrm>
            <a:off x="2488082" y="4387291"/>
            <a:ext cx="0" cy="148133"/>
          </a:xfrm>
          <a:prstGeom prst="line">
            <a:avLst/>
          </a:prstGeom>
          <a:noFill/>
          <a:ln w="12700">
            <a:solidFill>
              <a:srgbClr val="5F6368"/>
            </a:solidFill>
            <a:prstDash val="solid"/>
          </a:ln>
        </p:spPr>
      </p:sp>
      <p:sp>
        <p:nvSpPr>
          <p:cNvPr id="108" name="Shape 105"/>
          <p:cNvSpPr/>
          <p:nvPr/>
        </p:nvSpPr>
        <p:spPr>
          <a:xfrm>
            <a:off x="2488082" y="4535424"/>
            <a:ext cx="130759" cy="0"/>
          </a:xfrm>
          <a:prstGeom prst="line">
            <a:avLst/>
          </a:prstGeom>
          <a:noFill/>
          <a:ln w="12700">
            <a:solidFill>
              <a:srgbClr val="5F6368"/>
            </a:solidFill>
            <a:prstDash val="solid"/>
            <a:tailEnd type="triangle" w="sm" len="sm"/>
          </a:ln>
        </p:spPr>
      </p:sp>
      <p:sp>
        <p:nvSpPr>
          <p:cNvPr id="109" name="Shape 106"/>
          <p:cNvSpPr/>
          <p:nvPr/>
        </p:nvSpPr>
        <p:spPr>
          <a:xfrm>
            <a:off x="2392070" y="5413248"/>
            <a:ext cx="130759" cy="0"/>
          </a:xfrm>
          <a:prstGeom prst="line">
            <a:avLst/>
          </a:prstGeom>
          <a:noFill/>
          <a:ln w="12700">
            <a:solidFill>
              <a:srgbClr val="5F6368"/>
            </a:solidFill>
            <a:prstDash val="solid"/>
            <a:headEnd type="triangle" w="sm" len="sm"/>
          </a:ln>
        </p:spPr>
      </p:sp>
      <p:sp>
        <p:nvSpPr>
          <p:cNvPr id="110" name="Shape 107"/>
          <p:cNvSpPr/>
          <p:nvPr/>
        </p:nvSpPr>
        <p:spPr>
          <a:xfrm flipV="1">
            <a:off x="2522830" y="4674413"/>
            <a:ext cx="0" cy="738835"/>
          </a:xfrm>
          <a:prstGeom prst="line">
            <a:avLst/>
          </a:prstGeom>
          <a:noFill/>
          <a:ln w="12700">
            <a:solidFill>
              <a:srgbClr val="5F6368"/>
            </a:solidFill>
            <a:prstDash val="solid"/>
          </a:ln>
        </p:spPr>
      </p:sp>
      <p:sp>
        <p:nvSpPr>
          <p:cNvPr id="111" name="Shape 108"/>
          <p:cNvSpPr/>
          <p:nvPr/>
        </p:nvSpPr>
        <p:spPr>
          <a:xfrm>
            <a:off x="2522830" y="4674413"/>
            <a:ext cx="96012" cy="0"/>
          </a:xfrm>
          <a:prstGeom prst="line">
            <a:avLst/>
          </a:prstGeom>
          <a:noFill/>
          <a:ln w="12700">
            <a:solidFill>
              <a:srgbClr val="5F6368"/>
            </a:solidFill>
            <a:prstDash val="solid"/>
            <a:tailEnd type="triangle" w="sm" len="sm"/>
          </a:ln>
        </p:spPr>
      </p:sp>
      <p:sp>
        <p:nvSpPr>
          <p:cNvPr id="112" name="Shape 109"/>
          <p:cNvSpPr/>
          <p:nvPr/>
        </p:nvSpPr>
        <p:spPr>
          <a:xfrm flipV="1">
            <a:off x="3083357" y="5013655"/>
            <a:ext cx="0" cy="60350"/>
          </a:xfrm>
          <a:prstGeom prst="line">
            <a:avLst/>
          </a:prstGeom>
          <a:noFill/>
          <a:ln w="12700">
            <a:solidFill>
              <a:srgbClr val="5F6368"/>
            </a:solidFill>
            <a:prstDash val="solid"/>
            <a:headEnd type="triangle" w="sm" len="sm"/>
          </a:ln>
        </p:spPr>
      </p:sp>
      <p:sp>
        <p:nvSpPr>
          <p:cNvPr id="113" name="Shape 110"/>
          <p:cNvSpPr/>
          <p:nvPr/>
        </p:nvSpPr>
        <p:spPr>
          <a:xfrm flipV="1">
            <a:off x="3083357" y="4778654"/>
            <a:ext cx="0" cy="61265"/>
          </a:xfrm>
          <a:prstGeom prst="line">
            <a:avLst/>
          </a:prstGeom>
          <a:noFill/>
          <a:ln w="12700">
            <a:solidFill>
              <a:srgbClr val="5F6368"/>
            </a:solidFill>
            <a:prstDash val="solid"/>
            <a:tailEnd type="triangle" w="sm" len="sm"/>
          </a:ln>
        </p:spPr>
      </p:sp>
      <p:sp>
        <p:nvSpPr>
          <p:cNvPr id="114" name="Shape 111"/>
          <p:cNvSpPr/>
          <p:nvPr/>
        </p:nvSpPr>
        <p:spPr>
          <a:xfrm flipV="1">
            <a:off x="3083357" y="5665622"/>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5405018"/>
            <a:ext cx="0" cy="60350"/>
          </a:xfrm>
          <a:prstGeom prst="line">
            <a:avLst/>
          </a:prstGeom>
          <a:noFill/>
          <a:ln w="12700">
            <a:solidFill>
              <a:srgbClr val="5F6368"/>
            </a:solidFill>
            <a:prstDash val="solid"/>
            <a:tailEnd type="triangle" w="sm" len="sm"/>
          </a:ln>
        </p:spPr>
      </p:sp>
      <p:sp>
        <p:nvSpPr>
          <p:cNvPr id="116" name="Shape 113"/>
          <p:cNvSpPr/>
          <p:nvPr/>
        </p:nvSpPr>
        <p:spPr>
          <a:xfrm>
            <a:off x="4756709" y="4387291"/>
            <a:ext cx="96012" cy="0"/>
          </a:xfrm>
          <a:prstGeom prst="line">
            <a:avLst/>
          </a:prstGeom>
          <a:noFill/>
          <a:ln w="12700">
            <a:solidFill>
              <a:srgbClr val="5F6368"/>
            </a:solidFill>
            <a:prstDash val="solid"/>
            <a:headEnd type="triangle" w="sm" len="sm"/>
          </a:ln>
        </p:spPr>
      </p:sp>
      <p:sp>
        <p:nvSpPr>
          <p:cNvPr id="117" name="Shape 114"/>
          <p:cNvSpPr/>
          <p:nvPr/>
        </p:nvSpPr>
        <p:spPr>
          <a:xfrm>
            <a:off x="4852721" y="4387291"/>
            <a:ext cx="0" cy="148133"/>
          </a:xfrm>
          <a:prstGeom prst="line">
            <a:avLst/>
          </a:prstGeom>
          <a:noFill/>
          <a:ln w="12700">
            <a:solidFill>
              <a:srgbClr val="5F6368"/>
            </a:solidFill>
            <a:prstDash val="solid"/>
          </a:ln>
        </p:spPr>
      </p:sp>
      <p:sp>
        <p:nvSpPr>
          <p:cNvPr id="118" name="Shape 115"/>
          <p:cNvSpPr/>
          <p:nvPr/>
        </p:nvSpPr>
        <p:spPr>
          <a:xfrm>
            <a:off x="4852721" y="4535424"/>
            <a:ext cx="129845" cy="0"/>
          </a:xfrm>
          <a:prstGeom prst="line">
            <a:avLst/>
          </a:prstGeom>
          <a:noFill/>
          <a:ln w="12700">
            <a:solidFill>
              <a:srgbClr val="5F6368"/>
            </a:solidFill>
            <a:prstDash val="solid"/>
            <a:tailEnd type="triangle" w="sm" len="sm"/>
          </a:ln>
        </p:spPr>
      </p:sp>
      <p:sp>
        <p:nvSpPr>
          <p:cNvPr id="119" name="Shape 116"/>
          <p:cNvSpPr/>
          <p:nvPr/>
        </p:nvSpPr>
        <p:spPr>
          <a:xfrm>
            <a:off x="4756709" y="4830775"/>
            <a:ext cx="130759" cy="0"/>
          </a:xfrm>
          <a:prstGeom prst="line">
            <a:avLst/>
          </a:prstGeom>
          <a:noFill/>
          <a:ln w="12700">
            <a:solidFill>
              <a:srgbClr val="5F6368"/>
            </a:solidFill>
            <a:prstDash val="solid"/>
            <a:headEnd type="triangle" w="sm" len="sm"/>
          </a:ln>
        </p:spPr>
      </p:sp>
      <p:sp>
        <p:nvSpPr>
          <p:cNvPr id="120" name="Shape 117"/>
          <p:cNvSpPr/>
          <p:nvPr/>
        </p:nvSpPr>
        <p:spPr>
          <a:xfrm flipV="1">
            <a:off x="4887468" y="4674413"/>
            <a:ext cx="0" cy="156362"/>
          </a:xfrm>
          <a:prstGeom prst="line">
            <a:avLst/>
          </a:prstGeom>
          <a:noFill/>
          <a:ln w="12700">
            <a:solidFill>
              <a:srgbClr val="5F6368"/>
            </a:solidFill>
            <a:prstDash val="solid"/>
          </a:ln>
        </p:spPr>
      </p:sp>
      <p:sp>
        <p:nvSpPr>
          <p:cNvPr id="121" name="Shape 118"/>
          <p:cNvSpPr/>
          <p:nvPr/>
        </p:nvSpPr>
        <p:spPr>
          <a:xfrm>
            <a:off x="4887468" y="4674413"/>
            <a:ext cx="95098" cy="0"/>
          </a:xfrm>
          <a:prstGeom prst="line">
            <a:avLst/>
          </a:prstGeom>
          <a:noFill/>
          <a:ln w="12700">
            <a:solidFill>
              <a:srgbClr val="5F6368"/>
            </a:solidFill>
            <a:prstDash val="solid"/>
            <a:tailEnd type="triangle" w="sm" len="sm"/>
          </a:ln>
        </p:spPr>
      </p:sp>
      <p:sp>
        <p:nvSpPr>
          <p:cNvPr id="122" name="Shape 119"/>
          <p:cNvSpPr/>
          <p:nvPr/>
        </p:nvSpPr>
        <p:spPr>
          <a:xfrm flipV="1">
            <a:off x="5447995" y="5013655"/>
            <a:ext cx="0" cy="60350"/>
          </a:xfrm>
          <a:prstGeom prst="line">
            <a:avLst/>
          </a:prstGeom>
          <a:noFill/>
          <a:ln w="12700">
            <a:solidFill>
              <a:srgbClr val="5F6368"/>
            </a:solidFill>
            <a:prstDash val="solid"/>
            <a:headEnd type="triangle" w="sm" len="sm"/>
          </a:ln>
        </p:spPr>
      </p:sp>
      <p:sp>
        <p:nvSpPr>
          <p:cNvPr id="123" name="Shape 120"/>
          <p:cNvSpPr/>
          <p:nvPr/>
        </p:nvSpPr>
        <p:spPr>
          <a:xfrm flipV="1">
            <a:off x="5447995" y="4778654"/>
            <a:ext cx="0" cy="61265"/>
          </a:xfrm>
          <a:prstGeom prst="line">
            <a:avLst/>
          </a:prstGeom>
          <a:noFill/>
          <a:ln w="12700">
            <a:solidFill>
              <a:srgbClr val="5F6368"/>
            </a:solidFill>
            <a:prstDash val="solid"/>
            <a:tailEnd type="triangle" w="sm" len="sm"/>
          </a:ln>
        </p:spPr>
      </p:sp>
      <p:sp>
        <p:nvSpPr>
          <p:cNvPr id="124" name="Shape 121"/>
          <p:cNvSpPr/>
          <p:nvPr/>
        </p:nvSpPr>
        <p:spPr>
          <a:xfrm flipV="1">
            <a:off x="5447995" y="5665622"/>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5405018"/>
            <a:ext cx="0" cy="60350"/>
          </a:xfrm>
          <a:prstGeom prst="line">
            <a:avLst/>
          </a:prstGeom>
          <a:noFill/>
          <a:ln w="12700">
            <a:solidFill>
              <a:srgbClr val="5F6368"/>
            </a:solidFill>
            <a:prstDash val="solid"/>
            <a:tailEnd type="triangle" w="sm" len="sm"/>
          </a:ln>
        </p:spPr>
      </p:sp>
      <p:sp>
        <p:nvSpPr>
          <p:cNvPr id="126" name="Shape 123"/>
          <p:cNvSpPr/>
          <p:nvPr/>
        </p:nvSpPr>
        <p:spPr>
          <a:xfrm>
            <a:off x="1473098" y="3802075"/>
            <a:ext cx="944575" cy="113386"/>
          </a:xfrm>
          <a:prstGeom prst="rect">
            <a:avLst/>
          </a:prstGeom>
          <a:solidFill>
            <a:srgbClr val="FFFFFF"/>
          </a:solidFill>
          <a:ln/>
        </p:spPr>
      </p:sp>
      <p:sp>
        <p:nvSpPr>
          <p:cNvPr id="127" name="Text 124"/>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Alpha</a:t>
            </a:r>
            <a:endParaRPr lang="en-US" sz="430" dirty="0"/>
          </a:p>
        </p:txBody>
      </p:sp>
      <p:sp>
        <p:nvSpPr>
          <p:cNvPr id="128" name="Shape 125"/>
          <p:cNvSpPr/>
          <p:nvPr/>
        </p:nvSpPr>
        <p:spPr>
          <a:xfrm>
            <a:off x="3837737" y="3802075"/>
            <a:ext cx="913486" cy="113386"/>
          </a:xfrm>
          <a:prstGeom prst="rect">
            <a:avLst/>
          </a:prstGeom>
          <a:solidFill>
            <a:srgbClr val="FFFFFF"/>
          </a:solidFill>
          <a:ln/>
        </p:spPr>
      </p:sp>
      <p:sp>
        <p:nvSpPr>
          <p:cNvPr id="129" name="Text 126"/>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Beta</a:t>
            </a:r>
            <a:endParaRPr lang="en-US" sz="430" dirty="0"/>
          </a:p>
        </p:txBody>
      </p:sp>
      <p:sp>
        <p:nvSpPr>
          <p:cNvPr id="130" name="Shape 127"/>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1"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2" name="Text 128"/>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mTLS SPIFFE Clients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&amp; RetailStream</a:t>
            </a:r>
            <a:endParaRPr lang="en-US" sz="480" dirty="0"/>
          </a:p>
        </p:txBody>
      </p:sp>
      <p:sp>
        <p:nvSpPr>
          <p:cNvPr id="133" name="Shape 129"/>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4"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5" name="Text 130"/>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SNI Silo Routing</a:t>
            </a:r>
            <a:endParaRPr lang="en-US" sz="490" dirty="0"/>
          </a:p>
        </p:txBody>
      </p:sp>
      <p:sp>
        <p:nvSpPr>
          <p:cNvPr id="136" name="Shape 131"/>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7"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8" name="Text 132"/>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VPC-SC &amp; PAB Violation Feed</a:t>
            </a:r>
            <a:endParaRPr lang="en-US" sz="490" dirty="0"/>
          </a:p>
        </p:txBody>
      </p:sp>
      <p:sp>
        <p:nvSpPr>
          <p:cNvPr id="139" name="Shape 133"/>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0"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1" name="Text 134"/>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Per-silo audit sink (CMEK state, VPC-SC denials)</a:t>
            </a:r>
            <a:endParaRPr lang="en-US" sz="490" dirty="0"/>
          </a:p>
        </p:txBody>
      </p:sp>
      <p:sp>
        <p:nvSpPr>
          <p:cNvPr id="142" name="Shape 135"/>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3"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4" name="Text 136"/>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 KeyRing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cymbal-multi-tenant-kr (423 Lock)</a:t>
            </a:r>
            <a:endParaRPr lang="en-US" sz="490" dirty="0"/>
          </a:p>
        </p:txBody>
      </p:sp>
      <p:sp>
        <p:nvSpPr>
          <p:cNvPr id="145" name="Shape 137"/>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6"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7" name="Text 138"/>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48" name="Shape 139"/>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9"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0" name="Text 140"/>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Workspace &amp; Jira (0 Egress)</a:t>
            </a:r>
            <a:endParaRPr lang="en-US" sz="490" dirty="0"/>
          </a:p>
        </p:txBody>
      </p:sp>
      <p:sp>
        <p:nvSpPr>
          <p:cNvPr id="151" name="Shape 141"/>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2"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3" name="Text 142"/>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pattern_b_silo_finvault_cmek_vault</a:t>
            </a:r>
            <a:endParaRPr lang="en-US" sz="490" dirty="0"/>
          </a:p>
        </p:txBody>
      </p:sp>
      <p:sp>
        <p:nvSpPr>
          <p:cNvPr id="154" name="Shape 143"/>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5"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6" name="Text 144"/>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RetailStream Silo</a:t>
            </a:r>
            <a:endParaRPr lang="en-US" sz="490" dirty="0"/>
          </a:p>
        </p:txBody>
      </p:sp>
      <p:sp>
        <p:nvSpPr>
          <p:cNvPr id="157" name="Shape 145"/>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8"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9" name="Text 146"/>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Entra SharePoint &amp; SNOW</a:t>
            </a:r>
            <a:endParaRPr lang="en-US" sz="490" dirty="0"/>
          </a:p>
        </p:txBody>
      </p:sp>
      <p:sp>
        <p:nvSpPr>
          <p:cNvPr id="160" name="Shape 147"/>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1"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2" name="Text 148"/>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(medcore test)</a:t>
            </a:r>
            <a:endParaRPr lang="en-US" sz="490" dirty="0"/>
          </a:p>
        </p:txBody>
      </p:sp>
      <p:sp>
        <p:nvSpPr>
          <p:cNvPr id="163" name="Shape 149"/>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4"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5" name="Text 150"/>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Sovereign Hub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Routes to Dedicated Silo</a:t>
            </a:r>
            <a:endParaRPr lang="en-US" sz="490" dirty="0"/>
          </a:p>
        </p:txBody>
      </p:sp>
      <p:sp>
        <p:nvSpPr>
          <p:cNvPr id="166" name="Shape 151"/>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7"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8" name="Text 152"/>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FinVault Perimeter</a:t>
            </a:r>
            <a:endParaRPr lang="en-US" sz="490" dirty="0"/>
          </a:p>
        </p:txBody>
      </p:sp>
      <p:sp>
        <p:nvSpPr>
          <p:cNvPr id="169" name="Shape 153"/>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0"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1" name="Text 154"/>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Gemma 3 (27B) GKE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vLLM + Dedicated PT</a:t>
            </a:r>
            <a:endParaRPr lang="en-US" sz="490" dirty="0"/>
          </a:p>
        </p:txBody>
      </p:sp>
      <p:sp>
        <p:nvSpPr>
          <p:cNvPr id="172" name="Shape 155"/>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3"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4" name="Text 156"/>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 PCI Perimeter</a:t>
            </a:r>
            <a:endParaRPr lang="en-US" sz="490" dirty="0"/>
          </a:p>
        </p:txBody>
      </p:sp>
      <p:sp>
        <p:nvSpPr>
          <p:cNvPr id="175" name="Shape 157"/>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6"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7" name="Text 158"/>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Provisioned Quota</a:t>
            </a:r>
            <a:endParaRPr lang="en-US" sz="490" dirty="0"/>
          </a:p>
        </p:txBody>
      </p:sp>
      <p:sp>
        <p:nvSpPr>
          <p:cNvPr id="178" name="Shape 15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0" name="Text 16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mTLS • SPIFFE Cert Pinning</a:t>
            </a:r>
            <a:endParaRPr lang="en-US" sz="490" dirty="0"/>
          </a:p>
        </p:txBody>
      </p:sp>
      <p:sp>
        <p:nvSpPr>
          <p:cNvPr id="181" name="Shape 16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3" name="Text 16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 Prompt &amp; DDoS Filter</a:t>
            </a:r>
            <a:endParaRPr lang="en-US" sz="490" dirty="0"/>
          </a:p>
        </p:txBody>
      </p:sp>
      <p:sp>
        <p:nvSpPr>
          <p:cNvPr id="184" name="Shape 16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6" name="Text 16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IAM PAB Verifier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HTTP 403 Cross-Project Block</a:t>
            </a:r>
            <a:endParaRPr lang="en-US" sz="490" dirty="0"/>
          </a:p>
        </p:txBody>
      </p:sp>
      <p:sp>
        <p:nvSpPr>
          <p:cNvPr id="187" name="Shape 165"/>
          <p:cNvSpPr/>
          <p:nvPr/>
        </p:nvSpPr>
        <p:spPr>
          <a:xfrm>
            <a:off x="3517697"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9" name="Shape 167"/>
          <p:cNvSpPr/>
          <p:nvPr/>
        </p:nvSpPr>
        <p:spPr>
          <a:xfrm>
            <a:off x="3717950"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1" name="Shape 169"/>
          <p:cNvSpPr/>
          <p:nvPr/>
        </p:nvSpPr>
        <p:spPr>
          <a:xfrm>
            <a:off x="3517697"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3" name="Shape 171"/>
          <p:cNvSpPr/>
          <p:nvPr/>
        </p:nvSpPr>
        <p:spPr>
          <a:xfrm>
            <a:off x="3717950"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2813609"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7" name="Shape 175"/>
          <p:cNvSpPr/>
          <p:nvPr/>
        </p:nvSpPr>
        <p:spPr>
          <a:xfrm>
            <a:off x="3735324" y="3392424"/>
            <a:ext cx="148133" cy="148133"/>
          </a:xfrm>
          <a:prstGeom prst="ellipse">
            <a:avLst/>
          </a:prstGeom>
          <a:solidFill>
            <a:srgbClr val="174EA6"/>
          </a:solidFill>
          <a:ln w="10795">
            <a:solidFill>
              <a:srgbClr val="174EA6"/>
            </a:solidFill>
            <a:prstDash val="solid"/>
          </a:ln>
        </p:spPr>
      </p:sp>
      <p:sp>
        <p:nvSpPr>
          <p:cNvPr id="198" name="Text 176"/>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1579169" y="4600346"/>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4808830"/>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3" name="Shape 181"/>
          <p:cNvSpPr/>
          <p:nvPr/>
        </p:nvSpPr>
        <p:spPr>
          <a:xfrm>
            <a:off x="1579169" y="5634533"/>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5" name="Shape 183"/>
          <p:cNvSpPr/>
          <p:nvPr/>
        </p:nvSpPr>
        <p:spPr>
          <a:xfrm>
            <a:off x="5339182" y="3353105"/>
            <a:ext cx="672084" cy="217627"/>
          </a:xfrm>
          <a:prstGeom prst="roundRect">
            <a:avLst>
              <a:gd name="adj" fmla="val 21008"/>
            </a:avLst>
          </a:prstGeom>
          <a:solidFill>
            <a:srgbClr val="FFFFFF"/>
          </a:solidFill>
          <a:ln w="5715">
            <a:solidFill>
              <a:srgbClr val="DADCE0"/>
            </a:solidFill>
            <a:prstDash val="solid"/>
          </a:ln>
        </p:spPr>
      </p:sp>
      <p:sp>
        <p:nvSpPr>
          <p:cNvPr id="206" name="Text 184"/>
          <p:cNvSpPr/>
          <p:nvPr/>
        </p:nvSpPr>
        <p:spPr>
          <a:xfrm>
            <a:off x="5359298" y="3362249"/>
            <a:ext cx="631850" cy="199339"/>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CMEK state &amp; VPC-SC</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audit monitoring</a:t>
            </a:r>
            <a:endParaRPr lang="en-US" sz="410" dirty="0"/>
          </a:p>
        </p:txBody>
      </p:sp>
      <p:sp>
        <p:nvSpPr>
          <p:cNvPr id="207" name="Shape 185"/>
          <p:cNvSpPr/>
          <p:nvPr/>
        </p:nvSpPr>
        <p:spPr>
          <a:xfrm>
            <a:off x="2856586" y="4817974"/>
            <a:ext cx="452628" cy="208483"/>
          </a:xfrm>
          <a:prstGeom prst="roundRect">
            <a:avLst>
              <a:gd name="adj" fmla="val 21930"/>
            </a:avLst>
          </a:prstGeom>
          <a:solidFill>
            <a:srgbClr val="FFFFFF"/>
          </a:solidFill>
          <a:ln w="5715">
            <a:solidFill>
              <a:srgbClr val="DADCE0"/>
            </a:solidFill>
            <a:prstDash val="solid"/>
          </a:ln>
        </p:spPr>
      </p:sp>
      <p:sp>
        <p:nvSpPr>
          <p:cNvPr id="208" name="Text 186"/>
          <p:cNvSpPr/>
          <p:nvPr/>
        </p:nvSpPr>
        <p:spPr>
          <a:xfrm>
            <a:off x="2876702" y="4827118"/>
            <a:ext cx="41239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Private GKE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Zero Egress</a:t>
            </a:r>
            <a:endParaRPr lang="en-US" sz="410" dirty="0"/>
          </a:p>
        </p:txBody>
      </p:sp>
      <p:sp>
        <p:nvSpPr>
          <p:cNvPr id="209" name="Shape 187"/>
          <p:cNvSpPr/>
          <p:nvPr/>
        </p:nvSpPr>
        <p:spPr>
          <a:xfrm>
            <a:off x="2760574" y="5452567"/>
            <a:ext cx="644652" cy="208483"/>
          </a:xfrm>
          <a:prstGeom prst="roundRect">
            <a:avLst>
              <a:gd name="adj" fmla="val 21930"/>
            </a:avLst>
          </a:prstGeom>
          <a:solidFill>
            <a:srgbClr val="FFFFFF"/>
          </a:solidFill>
          <a:ln w="5715">
            <a:solidFill>
              <a:srgbClr val="DADCE0"/>
            </a:solidFill>
            <a:prstDash val="solid"/>
          </a:ln>
        </p:spPr>
      </p:sp>
      <p:sp>
        <p:nvSpPr>
          <p:cNvPr id="210" name="Text 188"/>
          <p:cNvSpPr/>
          <p:nvPr/>
        </p:nvSpPr>
        <p:spPr>
          <a:xfrm>
            <a:off x="2780690" y="5461711"/>
            <a:ext cx="604418"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finvault-silo-cmek</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HTTP 423 Ready</a:t>
            </a:r>
            <a:endParaRPr lang="en-US" sz="410" dirty="0"/>
          </a:p>
        </p:txBody>
      </p:sp>
      <p:sp>
        <p:nvSpPr>
          <p:cNvPr id="211" name="Shape 189"/>
          <p:cNvSpPr/>
          <p:nvPr/>
        </p:nvSpPr>
        <p:spPr>
          <a:xfrm>
            <a:off x="5208422" y="4817974"/>
            <a:ext cx="480060" cy="208483"/>
          </a:xfrm>
          <a:prstGeom prst="roundRect">
            <a:avLst>
              <a:gd name="adj" fmla="val 21930"/>
            </a:avLst>
          </a:prstGeom>
          <a:solidFill>
            <a:srgbClr val="FFFFFF"/>
          </a:solidFill>
          <a:ln w="5715">
            <a:solidFill>
              <a:srgbClr val="DADCE0"/>
            </a:solidFill>
            <a:prstDash val="solid"/>
          </a:ln>
        </p:spPr>
      </p:sp>
      <p:sp>
        <p:nvSpPr>
          <p:cNvPr id="212" name="Text 190"/>
          <p:cNvSpPr/>
          <p:nvPr/>
        </p:nvSpPr>
        <p:spPr>
          <a:xfrm>
            <a:off x="5228539" y="4827118"/>
            <a:ext cx="439826"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VPC-SC Bound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Secure RAG</a:t>
            </a:r>
            <a:endParaRPr lang="en-US" sz="410" dirty="0"/>
          </a:p>
        </p:txBody>
      </p:sp>
      <p:sp>
        <p:nvSpPr>
          <p:cNvPr id="213" name="Shape 191"/>
          <p:cNvSpPr/>
          <p:nvPr/>
        </p:nvSpPr>
        <p:spPr>
          <a:xfrm>
            <a:off x="5138928" y="5452567"/>
            <a:ext cx="617220" cy="208483"/>
          </a:xfrm>
          <a:prstGeom prst="roundRect">
            <a:avLst>
              <a:gd name="adj" fmla="val 21930"/>
            </a:avLst>
          </a:prstGeom>
          <a:solidFill>
            <a:srgbClr val="FFFFFF"/>
          </a:solidFill>
          <a:ln w="5715">
            <a:solidFill>
              <a:srgbClr val="DADCE0"/>
            </a:solidFill>
            <a:prstDash val="solid"/>
          </a:ln>
        </p:spPr>
      </p:sp>
      <p:sp>
        <p:nvSpPr>
          <p:cNvPr id="214" name="Text 192"/>
          <p:cNvSpPr/>
          <p:nvPr/>
        </p:nvSpPr>
        <p:spPr>
          <a:xfrm>
            <a:off x="5159045" y="5461711"/>
            <a:ext cx="576986"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CMEK Kill-Switch</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HTTP 423 Verified</a:t>
            </a:r>
            <a:endParaRPr lang="en-US" sz="410" dirty="0"/>
          </a:p>
        </p:txBody>
      </p:sp>
      <p:sp>
        <p:nvSpPr>
          <p:cNvPr id="215" name="Shape 193"/>
          <p:cNvSpPr/>
          <p:nvPr/>
        </p:nvSpPr>
        <p:spPr>
          <a:xfrm>
            <a:off x="1757477" y="5604358"/>
            <a:ext cx="425196" cy="208483"/>
          </a:xfrm>
          <a:prstGeom prst="roundRect">
            <a:avLst>
              <a:gd name="adj" fmla="val 21930"/>
            </a:avLst>
          </a:prstGeom>
          <a:solidFill>
            <a:srgbClr val="FFFFFF"/>
          </a:solidFill>
          <a:ln w="5715">
            <a:solidFill>
              <a:srgbClr val="DADCE0"/>
            </a:solidFill>
            <a:prstDash val="solid"/>
          </a:ln>
        </p:spPr>
      </p:sp>
      <p:sp>
        <p:nvSpPr>
          <p:cNvPr id="216" name="Text 194"/>
          <p:cNvSpPr/>
          <p:nvPr/>
        </p:nvSpPr>
        <p:spPr>
          <a:xfrm>
            <a:off x="1777594" y="5613502"/>
            <a:ext cx="384962"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Air-gapped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inference</a:t>
            </a:r>
            <a:endParaRPr lang="en-US" sz="410" dirty="0"/>
          </a:p>
        </p:txBody>
      </p:sp>
      <p:sp>
        <p:nvSpPr>
          <p:cNvPr id="217" name="Shape 195"/>
          <p:cNvSpPr/>
          <p:nvPr/>
        </p:nvSpPr>
        <p:spPr>
          <a:xfrm>
            <a:off x="3905402" y="3354019"/>
            <a:ext cx="699516" cy="208483"/>
          </a:xfrm>
          <a:prstGeom prst="roundRect">
            <a:avLst>
              <a:gd name="adj" fmla="val 21930"/>
            </a:avLst>
          </a:prstGeom>
          <a:solidFill>
            <a:srgbClr val="FFFFFF"/>
          </a:solidFill>
          <a:ln w="5715">
            <a:solidFill>
              <a:srgbClr val="DADCE0"/>
            </a:solidFill>
            <a:prstDash val="solid"/>
          </a:ln>
        </p:spPr>
      </p:sp>
      <p:sp>
        <p:nvSpPr>
          <p:cNvPr id="218" name="Text 196"/>
          <p:cNvSpPr/>
          <p:nvPr/>
        </p:nvSpPr>
        <p:spPr>
          <a:xfrm>
            <a:off x="3925519" y="3363163"/>
            <a:ext cx="659282"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Sovereign response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(or HTTP 423 Locked)</a:t>
            </a:r>
            <a:endParaRPr lang="en-US" sz="410" dirty="0"/>
          </a:p>
        </p:txBody>
      </p:sp>
      <p:sp>
        <p:nvSpPr>
          <p:cNvPr id="219" name="Shape 197"/>
          <p:cNvSpPr/>
          <p:nvPr/>
        </p:nvSpPr>
        <p:spPr>
          <a:xfrm>
            <a:off x="2983687" y="3354019"/>
            <a:ext cx="669341" cy="208483"/>
          </a:xfrm>
          <a:prstGeom prst="roundRect">
            <a:avLst>
              <a:gd name="adj" fmla="val 21930"/>
            </a:avLst>
          </a:prstGeom>
          <a:solidFill>
            <a:srgbClr val="FFFFFF"/>
          </a:solidFill>
          <a:ln w="5715">
            <a:solidFill>
              <a:srgbClr val="DADCE0"/>
            </a:solidFill>
            <a:prstDash val="solid"/>
          </a:ln>
        </p:spPr>
      </p:sp>
      <p:sp>
        <p:nvSpPr>
          <p:cNvPr id="220" name="Text 198"/>
          <p:cNvSpPr/>
          <p:nvPr/>
        </p:nvSpPr>
        <p:spPr>
          <a:xfrm>
            <a:off x="3003804" y="3363163"/>
            <a:ext cx="629107"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Route to isolated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VPC-SC tenant project</a:t>
            </a:r>
            <a:endParaRPr lang="en-US" sz="410" dirty="0"/>
          </a:p>
        </p:txBody>
      </p:sp>
      <p:sp>
        <p:nvSpPr>
          <p:cNvPr id="221" name="Shape 199"/>
          <p:cNvSpPr/>
          <p:nvPr/>
        </p:nvSpPr>
        <p:spPr>
          <a:xfrm>
            <a:off x="2575865" y="2871216"/>
            <a:ext cx="452628" cy="208483"/>
          </a:xfrm>
          <a:prstGeom prst="roundRect">
            <a:avLst>
              <a:gd name="adj" fmla="val 21930"/>
            </a:avLst>
          </a:prstGeom>
          <a:solidFill>
            <a:srgbClr val="FFFFFF"/>
          </a:solidFill>
          <a:ln w="5715">
            <a:solidFill>
              <a:srgbClr val="DADCE0"/>
            </a:solidFill>
            <a:prstDash val="solid"/>
          </a:ln>
        </p:spPr>
      </p:sp>
      <p:sp>
        <p:nvSpPr>
          <p:cNvPr id="222" name="Text 200"/>
          <p:cNvSpPr/>
          <p:nvPr/>
        </p:nvSpPr>
        <p:spPr>
          <a:xfrm>
            <a:off x="2595982" y="2880360"/>
            <a:ext cx="41239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Enforce org</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PAB policy</a:t>
            </a:r>
            <a:endParaRPr lang="en-US" sz="410" dirty="0"/>
          </a:p>
        </p:txBody>
      </p:sp>
      <p:sp>
        <p:nvSpPr>
          <p:cNvPr id="223" name="Shape 201"/>
          <p:cNvSpPr/>
          <p:nvPr/>
        </p:nvSpPr>
        <p:spPr>
          <a:xfrm>
            <a:off x="1757477" y="4605833"/>
            <a:ext cx="589788" cy="138989"/>
          </a:xfrm>
          <a:prstGeom prst="roundRect">
            <a:avLst>
              <a:gd name="adj" fmla="val 32895"/>
            </a:avLst>
          </a:prstGeom>
          <a:solidFill>
            <a:srgbClr val="FFFFFF"/>
          </a:solidFill>
          <a:ln w="5715">
            <a:solidFill>
              <a:srgbClr val="DADCE0"/>
            </a:solidFill>
            <a:prstDash val="solid"/>
          </a:ln>
        </p:spPr>
      </p:sp>
      <p:sp>
        <p:nvSpPr>
          <p:cNvPr id="224" name="Text 202"/>
          <p:cNvSpPr/>
          <p:nvPr/>
        </p:nvSpPr>
        <p:spPr>
          <a:xfrm>
            <a:off x="1777594" y="4614977"/>
            <a:ext cx="549554"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 request</a:t>
            </a:r>
            <a:endParaRPr lang="en-US" sz="410" dirty="0"/>
          </a:p>
        </p:txBody>
      </p:sp>
      <p:sp>
        <p:nvSpPr>
          <p:cNvPr id="225" name="Shape 203"/>
          <p:cNvSpPr/>
          <p:nvPr/>
        </p:nvSpPr>
        <p:spPr>
          <a:xfrm>
            <a:off x="1757477" y="4814316"/>
            <a:ext cx="617220" cy="138989"/>
          </a:xfrm>
          <a:prstGeom prst="roundRect">
            <a:avLst>
              <a:gd name="adj" fmla="val 32895"/>
            </a:avLst>
          </a:prstGeom>
          <a:solidFill>
            <a:srgbClr val="FFFFFF"/>
          </a:solidFill>
          <a:ln w="5715">
            <a:solidFill>
              <a:srgbClr val="DADCE0"/>
            </a:solidFill>
            <a:prstDash val="solid"/>
          </a:ln>
        </p:spPr>
      </p:sp>
      <p:sp>
        <p:nvSpPr>
          <p:cNvPr id="226" name="Text 204"/>
          <p:cNvSpPr/>
          <p:nvPr/>
        </p:nvSpPr>
        <p:spPr>
          <a:xfrm>
            <a:off x="1777594" y="4823460"/>
            <a:ext cx="57698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 response</a:t>
            </a:r>
            <a:endParaRPr lang="en-US" sz="410" dirty="0"/>
          </a:p>
        </p:txBody>
      </p:sp>
      <p:sp>
        <p:nvSpPr>
          <p:cNvPr id="227" name="Shape 205"/>
          <p:cNvSpPr/>
          <p:nvPr/>
        </p:nvSpPr>
        <p:spPr>
          <a:xfrm>
            <a:off x="2435962" y="2080260"/>
            <a:ext cx="495605" cy="208483"/>
          </a:xfrm>
          <a:prstGeom prst="roundRect">
            <a:avLst>
              <a:gd name="adj" fmla="val 21930"/>
            </a:avLst>
          </a:prstGeom>
          <a:solidFill>
            <a:srgbClr val="FFFFFF"/>
          </a:solidFill>
          <a:ln w="5715">
            <a:solidFill>
              <a:srgbClr val="DADCE0"/>
            </a:solidFill>
            <a:prstDash val="solid"/>
          </a:ln>
        </p:spPr>
      </p:sp>
      <p:sp>
        <p:nvSpPr>
          <p:cNvPr id="228" name="Text 206"/>
          <p:cNvSpPr/>
          <p:nvPr/>
        </p:nvSpPr>
        <p:spPr>
          <a:xfrm>
            <a:off x="2456078" y="2089404"/>
            <a:ext cx="455371"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Verify client</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SPIFFE SAN</a:t>
            </a:r>
            <a:endParaRPr lang="en-US" sz="410" dirty="0"/>
          </a:p>
        </p:txBody>
      </p:sp>
      <p:sp>
        <p:nvSpPr>
          <p:cNvPr id="229" name="Shape 207"/>
          <p:cNvSpPr/>
          <p:nvPr/>
        </p:nvSpPr>
        <p:spPr>
          <a:xfrm>
            <a:off x="2498141" y="2625242"/>
            <a:ext cx="370332" cy="208483"/>
          </a:xfrm>
          <a:prstGeom prst="roundRect">
            <a:avLst>
              <a:gd name="adj" fmla="val 21930"/>
            </a:avLst>
          </a:prstGeom>
          <a:solidFill>
            <a:srgbClr val="FFFFFF"/>
          </a:solidFill>
          <a:ln w="5715">
            <a:solidFill>
              <a:srgbClr val="DADCE0"/>
            </a:solidFill>
            <a:prstDash val="solid"/>
          </a:ln>
        </p:spPr>
      </p:sp>
      <p:sp>
        <p:nvSpPr>
          <p:cNvPr id="230" name="Text 208"/>
          <p:cNvSpPr/>
          <p:nvPr/>
        </p:nvSpPr>
        <p:spPr>
          <a:xfrm>
            <a:off x="2518258" y="2634386"/>
            <a:ext cx="330098"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prompt</a:t>
            </a:r>
            <a:endParaRPr lang="en-US" sz="410" dirty="0"/>
          </a:p>
        </p:txBody>
      </p:sp>
      <p:sp>
        <p:nvSpPr>
          <p:cNvPr id="231" name="Shape 209"/>
          <p:cNvSpPr/>
          <p:nvPr/>
        </p:nvSpPr>
        <p:spPr>
          <a:xfrm>
            <a:off x="3888029" y="1144829"/>
            <a:ext cx="443484" cy="138989"/>
          </a:xfrm>
          <a:prstGeom prst="roundRect">
            <a:avLst>
              <a:gd name="adj" fmla="val 32895"/>
            </a:avLst>
          </a:prstGeom>
          <a:solidFill>
            <a:srgbClr val="FFFFFF"/>
          </a:solidFill>
          <a:ln w="5715">
            <a:solidFill>
              <a:srgbClr val="DADCE0"/>
            </a:solidFill>
            <a:prstDash val="solid"/>
          </a:ln>
        </p:spPr>
      </p:sp>
      <p:sp>
        <p:nvSpPr>
          <p:cNvPr id="232" name="Text 210"/>
          <p:cNvSpPr/>
          <p:nvPr/>
        </p:nvSpPr>
        <p:spPr>
          <a:xfrm>
            <a:off x="3908146" y="1153973"/>
            <a:ext cx="403250"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Silo Response</a:t>
            </a:r>
            <a:endParaRPr lang="en-US" sz="410" dirty="0"/>
          </a:p>
        </p:txBody>
      </p:sp>
      <p:sp>
        <p:nvSpPr>
          <p:cNvPr id="233" name="Shape 211"/>
          <p:cNvSpPr/>
          <p:nvPr/>
        </p:nvSpPr>
        <p:spPr>
          <a:xfrm>
            <a:off x="3888029" y="2723083"/>
            <a:ext cx="397764" cy="138989"/>
          </a:xfrm>
          <a:prstGeom prst="roundRect">
            <a:avLst>
              <a:gd name="adj" fmla="val 32895"/>
            </a:avLst>
          </a:prstGeom>
          <a:solidFill>
            <a:srgbClr val="FFFFFF"/>
          </a:solidFill>
          <a:ln w="5715">
            <a:solidFill>
              <a:srgbClr val="DADCE0"/>
            </a:solidFill>
            <a:prstDash val="solid"/>
          </a:ln>
        </p:spPr>
      </p:sp>
      <p:sp>
        <p:nvSpPr>
          <p:cNvPr id="234" name="Text 212"/>
          <p:cNvSpPr/>
          <p:nvPr/>
        </p:nvSpPr>
        <p:spPr>
          <a:xfrm>
            <a:off x="3908146" y="2732227"/>
            <a:ext cx="357530"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200 / 423</a:t>
            </a:r>
            <a:endParaRPr lang="en-US" sz="410" dirty="0"/>
          </a:p>
        </p:txBody>
      </p:sp>
      <p:sp>
        <p:nvSpPr>
          <p:cNvPr id="235" name="Shape 213"/>
          <p:cNvSpPr/>
          <p:nvPr/>
        </p:nvSpPr>
        <p:spPr>
          <a:xfrm>
            <a:off x="3080614" y="1144829"/>
            <a:ext cx="406908" cy="138989"/>
          </a:xfrm>
          <a:prstGeom prst="roundRect">
            <a:avLst>
              <a:gd name="adj" fmla="val 32895"/>
            </a:avLst>
          </a:prstGeom>
          <a:solidFill>
            <a:srgbClr val="FFFFFF"/>
          </a:solidFill>
          <a:ln w="5715">
            <a:solidFill>
              <a:srgbClr val="DADCE0"/>
            </a:solidFill>
            <a:prstDash val="solid"/>
          </a:ln>
        </p:spPr>
      </p:sp>
      <p:sp>
        <p:nvSpPr>
          <p:cNvPr id="236" name="Text 214"/>
          <p:cNvSpPr/>
          <p:nvPr/>
        </p:nvSpPr>
        <p:spPr>
          <a:xfrm>
            <a:off x="3100730" y="1153973"/>
            <a:ext cx="366674"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mTLS Request</a:t>
            </a:r>
            <a:endParaRPr lang="en-US" sz="410" dirty="0"/>
          </a:p>
        </p:txBody>
      </p:sp>
      <p:sp>
        <p:nvSpPr>
          <p:cNvPr id="237" name="Shape 215"/>
          <p:cNvSpPr/>
          <p:nvPr/>
        </p:nvSpPr>
        <p:spPr>
          <a:xfrm>
            <a:off x="3087929" y="2723083"/>
            <a:ext cx="399593" cy="138989"/>
          </a:xfrm>
          <a:prstGeom prst="roundRect">
            <a:avLst>
              <a:gd name="adj" fmla="val 32895"/>
            </a:avLst>
          </a:prstGeom>
          <a:solidFill>
            <a:srgbClr val="FFFFFF"/>
          </a:solidFill>
          <a:ln w="5715">
            <a:solidFill>
              <a:srgbClr val="DADCE0"/>
            </a:solidFill>
            <a:prstDash val="solid"/>
          </a:ln>
        </p:spPr>
      </p:sp>
      <p:sp>
        <p:nvSpPr>
          <p:cNvPr id="238" name="Text 216"/>
          <p:cNvSpPr/>
          <p:nvPr/>
        </p:nvSpPr>
        <p:spPr>
          <a:xfrm>
            <a:off x="3108046" y="2732227"/>
            <a:ext cx="359359"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mTLS Valid</a:t>
            </a:r>
            <a:endParaRPr lang="en-US" sz="410" dirty="0"/>
          </a:p>
        </p:txBody>
      </p:sp>
      <p:sp>
        <p:nvSpPr>
          <p:cNvPr id="239" name="Text 217"/>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Purge L1</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Purges in-memory L1</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session cache &amp; halts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AlloyDB / Memory I/O</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Purge L1 &amp; Halt I/O</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WS4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3-Phase Zero-Downtime Migration Engine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2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Unified Hybrid Control Hub</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Text 73"/>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Shared Pooled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pool://cymbal-shared-pooled-v2 (90% Cache Savings)</a:t>
            </a:r>
            <a:endParaRPr lang="en-US" sz="470" dirty="0"/>
          </a:p>
        </p:txBody>
      </p:sp>
      <p:sp>
        <p:nvSpPr>
          <p:cNvPr id="76" name="Shape 74"/>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7" name="Text 75"/>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Enterprise PSC Spokes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cymbal-psc-nat-us-west1 (/28) -&gt; psc://10.10.0.50 &amp; .51</a:t>
            </a:r>
            <a:endParaRPr lang="en-US" sz="47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Unified Control Plane &amp; Intelligent Router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Firestore live routing table + pattern_c_psc_endpoints_registry</a:t>
            </a:r>
            <a:endParaRPr lang="en-US" sz="47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Tier Routing &amp; Live Migration Control Plane</a:t>
            </a:r>
            <a:endParaRPr lang="en-US" sz="430" dirty="0"/>
          </a:p>
        </p:txBody>
      </p:sp>
      <p:pic>
        <p:nvPicPr>
          <p:cNvPr id="82"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3" name="Shape 80"/>
          <p:cNvSpPr/>
          <p:nvPr/>
        </p:nvSpPr>
        <p:spPr>
          <a:xfrm>
            <a:off x="3591763" y="1032358"/>
            <a:ext cx="0" cy="1269187"/>
          </a:xfrm>
          <a:prstGeom prst="line">
            <a:avLst/>
          </a:prstGeom>
          <a:noFill/>
          <a:ln w="12700">
            <a:solidFill>
              <a:srgbClr val="5F6368"/>
            </a:solidFill>
            <a:prstDash val="solid"/>
            <a:tailEnd type="triangle" w="sm" len="sm"/>
          </a:ln>
        </p:spPr>
      </p:sp>
      <p:sp>
        <p:nvSpPr>
          <p:cNvPr id="84" name="Shape 81"/>
          <p:cNvSpPr/>
          <p:nvPr/>
        </p:nvSpPr>
        <p:spPr>
          <a:xfrm flipV="1">
            <a:off x="3792017" y="1040587"/>
            <a:ext cx="0" cy="1269187"/>
          </a:xfrm>
          <a:prstGeom prst="line">
            <a:avLst/>
          </a:prstGeom>
          <a:noFill/>
          <a:ln w="12700">
            <a:solidFill>
              <a:srgbClr val="5F6368"/>
            </a:solidFill>
            <a:prstDash val="solid"/>
            <a:tailEnd type="triangle" w="sm" len="sm"/>
          </a:ln>
        </p:spPr>
      </p:sp>
      <p:sp>
        <p:nvSpPr>
          <p:cNvPr id="85" name="Shape 82"/>
          <p:cNvSpPr/>
          <p:nvPr/>
        </p:nvSpPr>
        <p:spPr>
          <a:xfrm flipH="1">
            <a:off x="2948940" y="2414016"/>
            <a:ext cx="148133" cy="0"/>
          </a:xfrm>
          <a:prstGeom prst="line">
            <a:avLst/>
          </a:prstGeom>
          <a:noFill/>
          <a:ln w="12700">
            <a:solidFill>
              <a:srgbClr val="5F6368"/>
            </a:solidFill>
            <a:prstDash val="solid"/>
            <a:headEnd type="triangle" w="sm" len="sm"/>
          </a:ln>
        </p:spPr>
      </p:sp>
      <p:sp>
        <p:nvSpPr>
          <p:cNvPr id="86" name="Shape 83"/>
          <p:cNvSpPr/>
          <p:nvPr/>
        </p:nvSpPr>
        <p:spPr>
          <a:xfrm flipV="1">
            <a:off x="2948940" y="2306117"/>
            <a:ext cx="0" cy="107899"/>
          </a:xfrm>
          <a:prstGeom prst="line">
            <a:avLst/>
          </a:prstGeom>
          <a:noFill/>
          <a:ln w="12700">
            <a:solidFill>
              <a:srgbClr val="5F6368"/>
            </a:solidFill>
            <a:prstDash val="solid"/>
          </a:ln>
        </p:spPr>
      </p:sp>
      <p:sp>
        <p:nvSpPr>
          <p:cNvPr id="87" name="Shape 84"/>
          <p:cNvSpPr/>
          <p:nvPr/>
        </p:nvSpPr>
        <p:spPr>
          <a:xfrm flipH="1">
            <a:off x="2401214" y="2306117"/>
            <a:ext cx="547726" cy="0"/>
          </a:xfrm>
          <a:prstGeom prst="line">
            <a:avLst/>
          </a:prstGeom>
          <a:noFill/>
          <a:ln w="12700">
            <a:solidFill>
              <a:srgbClr val="5F6368"/>
            </a:solidFill>
            <a:prstDash val="solid"/>
            <a:tailEnd type="triangle" w="sm" len="sm"/>
          </a:ln>
        </p:spPr>
      </p:sp>
      <p:sp>
        <p:nvSpPr>
          <p:cNvPr id="88" name="Shape 85"/>
          <p:cNvSpPr/>
          <p:nvPr/>
        </p:nvSpPr>
        <p:spPr>
          <a:xfrm flipH="1">
            <a:off x="2948940" y="2535631"/>
            <a:ext cx="148133" cy="0"/>
          </a:xfrm>
          <a:prstGeom prst="line">
            <a:avLst/>
          </a:prstGeom>
          <a:noFill/>
          <a:ln w="12700">
            <a:solidFill>
              <a:srgbClr val="5F6368"/>
            </a:solidFill>
            <a:prstDash val="solid"/>
            <a:headEnd type="triangle" w="sm" len="sm"/>
          </a:ln>
        </p:spPr>
      </p:sp>
      <p:sp>
        <p:nvSpPr>
          <p:cNvPr id="89" name="Shape 86"/>
          <p:cNvSpPr/>
          <p:nvPr/>
        </p:nvSpPr>
        <p:spPr>
          <a:xfrm>
            <a:off x="2948940" y="2535631"/>
            <a:ext cx="0" cy="135331"/>
          </a:xfrm>
          <a:prstGeom prst="line">
            <a:avLst/>
          </a:prstGeom>
          <a:noFill/>
          <a:ln w="12700">
            <a:solidFill>
              <a:srgbClr val="5F6368"/>
            </a:solidFill>
            <a:prstDash val="solid"/>
          </a:ln>
        </p:spPr>
      </p:sp>
      <p:sp>
        <p:nvSpPr>
          <p:cNvPr id="90" name="Shape 87"/>
          <p:cNvSpPr/>
          <p:nvPr/>
        </p:nvSpPr>
        <p:spPr>
          <a:xfrm flipH="1">
            <a:off x="2401214" y="2670962"/>
            <a:ext cx="547726" cy="0"/>
          </a:xfrm>
          <a:prstGeom prst="line">
            <a:avLst/>
          </a:prstGeom>
          <a:noFill/>
          <a:ln w="12700">
            <a:solidFill>
              <a:srgbClr val="5F6368"/>
            </a:solidFill>
            <a:prstDash val="solid"/>
            <a:tailEnd type="triangle" w="sm" len="sm"/>
          </a:ln>
        </p:spPr>
      </p:sp>
      <p:sp>
        <p:nvSpPr>
          <p:cNvPr id="91" name="Shape 88"/>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2" name="Shape 89"/>
          <p:cNvSpPr/>
          <p:nvPr/>
        </p:nvSpPr>
        <p:spPr>
          <a:xfrm>
            <a:off x="3591763" y="2640787"/>
            <a:ext cx="0" cy="312725"/>
          </a:xfrm>
          <a:prstGeom prst="line">
            <a:avLst/>
          </a:prstGeom>
          <a:noFill/>
          <a:ln w="12700">
            <a:solidFill>
              <a:srgbClr val="5F6368"/>
            </a:solidFill>
            <a:prstDash val="solid"/>
            <a:tailEnd type="triangle" w="sm" len="sm"/>
          </a:ln>
        </p:spPr>
      </p:sp>
      <p:sp>
        <p:nvSpPr>
          <p:cNvPr id="93" name="Shape 90"/>
          <p:cNvSpPr/>
          <p:nvPr/>
        </p:nvSpPr>
        <p:spPr>
          <a:xfrm flipV="1">
            <a:off x="3792017" y="2640787"/>
            <a:ext cx="0" cy="312725"/>
          </a:xfrm>
          <a:prstGeom prst="line">
            <a:avLst/>
          </a:prstGeom>
          <a:noFill/>
          <a:ln w="12700">
            <a:solidFill>
              <a:srgbClr val="5F6368"/>
            </a:solidFill>
            <a:prstDash val="solid"/>
            <a:tailEnd type="triangle" w="sm" len="sm"/>
          </a:ln>
        </p:spPr>
      </p:sp>
      <p:sp>
        <p:nvSpPr>
          <p:cNvPr id="94" name="Shape 91"/>
          <p:cNvSpPr/>
          <p:nvPr/>
        </p:nvSpPr>
        <p:spPr>
          <a:xfrm flipV="1">
            <a:off x="3083357" y="3665830"/>
            <a:ext cx="0" cy="782726"/>
          </a:xfrm>
          <a:prstGeom prst="line">
            <a:avLst/>
          </a:prstGeom>
          <a:noFill/>
          <a:ln w="12700">
            <a:solidFill>
              <a:srgbClr val="5F6368"/>
            </a:solidFill>
            <a:prstDash val="solid"/>
          </a:ln>
        </p:spPr>
      </p:sp>
      <p:sp>
        <p:nvSpPr>
          <p:cNvPr id="95" name="Shape 92"/>
          <p:cNvSpPr/>
          <p:nvPr/>
        </p:nvSpPr>
        <p:spPr>
          <a:xfrm>
            <a:off x="3083357" y="3665830"/>
            <a:ext cx="595274" cy="0"/>
          </a:xfrm>
          <a:prstGeom prst="line">
            <a:avLst/>
          </a:prstGeom>
          <a:noFill/>
          <a:ln w="12700">
            <a:solidFill>
              <a:srgbClr val="5F6368"/>
            </a:solidFill>
            <a:prstDash val="solid"/>
          </a:ln>
        </p:spPr>
      </p:sp>
      <p:sp>
        <p:nvSpPr>
          <p:cNvPr id="96" name="Shape 93"/>
          <p:cNvSpPr/>
          <p:nvPr/>
        </p:nvSpPr>
        <p:spPr>
          <a:xfrm flipV="1">
            <a:off x="3678631" y="3239719"/>
            <a:ext cx="0" cy="426110"/>
          </a:xfrm>
          <a:prstGeom prst="line">
            <a:avLst/>
          </a:prstGeom>
          <a:noFill/>
          <a:ln w="12700">
            <a:solidFill>
              <a:srgbClr val="5F6368"/>
            </a:solidFill>
            <a:prstDash val="solid"/>
            <a:tailEnd type="triangle" w="sm" len="sm"/>
          </a:ln>
        </p:spPr>
      </p:sp>
      <p:sp>
        <p:nvSpPr>
          <p:cNvPr id="97" name="Shape 94"/>
          <p:cNvSpPr/>
          <p:nvPr/>
        </p:nvSpPr>
        <p:spPr>
          <a:xfrm flipV="1">
            <a:off x="3083357" y="3665830"/>
            <a:ext cx="0" cy="782726"/>
          </a:xfrm>
          <a:prstGeom prst="line">
            <a:avLst/>
          </a:prstGeom>
          <a:noFill/>
          <a:ln w="12700">
            <a:solidFill>
              <a:srgbClr val="5F6368"/>
            </a:solidFill>
            <a:prstDash val="solid"/>
            <a:headEnd type="triangle" w="sm" len="sm"/>
          </a:ln>
        </p:spPr>
      </p:sp>
      <p:sp>
        <p:nvSpPr>
          <p:cNvPr id="98" name="Shape 95"/>
          <p:cNvSpPr/>
          <p:nvPr/>
        </p:nvSpPr>
        <p:spPr>
          <a:xfrm>
            <a:off x="3083357" y="3665830"/>
            <a:ext cx="2364638" cy="0"/>
          </a:xfrm>
          <a:prstGeom prst="line">
            <a:avLst/>
          </a:prstGeom>
          <a:noFill/>
          <a:ln w="12700">
            <a:solidFill>
              <a:srgbClr val="5F6368"/>
            </a:solidFill>
            <a:prstDash val="solid"/>
          </a:ln>
        </p:spPr>
      </p:sp>
      <p:sp>
        <p:nvSpPr>
          <p:cNvPr id="99" name="Shape 96"/>
          <p:cNvSpPr/>
          <p:nvPr/>
        </p:nvSpPr>
        <p:spPr>
          <a:xfrm>
            <a:off x="5447995" y="3665830"/>
            <a:ext cx="0" cy="782726"/>
          </a:xfrm>
          <a:prstGeom prst="line">
            <a:avLst/>
          </a:prstGeom>
          <a:noFill/>
          <a:ln w="12700">
            <a:solidFill>
              <a:srgbClr val="5F6368"/>
            </a:solidFill>
            <a:prstDash val="solid"/>
            <a:tailEnd type="triangle" w="sm" len="sm"/>
          </a:ln>
        </p:spPr>
      </p:sp>
      <p:sp>
        <p:nvSpPr>
          <p:cNvPr id="100" name="Shape 97"/>
          <p:cNvSpPr/>
          <p:nvPr/>
        </p:nvSpPr>
        <p:spPr>
          <a:xfrm flipV="1">
            <a:off x="2557577" y="3605479"/>
            <a:ext cx="0" cy="181966"/>
          </a:xfrm>
          <a:prstGeom prst="line">
            <a:avLst/>
          </a:prstGeom>
          <a:noFill/>
          <a:ln w="12700">
            <a:solidFill>
              <a:srgbClr val="5F6368"/>
            </a:solidFill>
            <a:prstDash val="dash"/>
            <a:headEnd type="triangle" w="sm" len="sm"/>
          </a:ln>
        </p:spPr>
      </p:sp>
      <p:sp>
        <p:nvSpPr>
          <p:cNvPr id="101" name="Shape 98"/>
          <p:cNvSpPr/>
          <p:nvPr/>
        </p:nvSpPr>
        <p:spPr>
          <a:xfrm>
            <a:off x="2557577" y="3605479"/>
            <a:ext cx="2756002" cy="0"/>
          </a:xfrm>
          <a:prstGeom prst="line">
            <a:avLst/>
          </a:prstGeom>
          <a:noFill/>
          <a:ln w="12700">
            <a:solidFill>
              <a:srgbClr val="5F6368"/>
            </a:solidFill>
            <a:prstDash val="dash"/>
          </a:ln>
        </p:spPr>
      </p:sp>
      <p:sp>
        <p:nvSpPr>
          <p:cNvPr id="102" name="Shape 99"/>
          <p:cNvSpPr/>
          <p:nvPr/>
        </p:nvSpPr>
        <p:spPr>
          <a:xfrm flipV="1">
            <a:off x="5313578" y="3327502"/>
            <a:ext cx="0" cy="277978"/>
          </a:xfrm>
          <a:prstGeom prst="line">
            <a:avLst/>
          </a:prstGeom>
          <a:noFill/>
          <a:ln w="12700">
            <a:solidFill>
              <a:srgbClr val="5F6368"/>
            </a:solidFill>
            <a:prstDash val="dash"/>
            <a:tailEnd type="triangle" w="sm" len="sm"/>
          </a:ln>
        </p:spPr>
      </p:sp>
      <p:sp>
        <p:nvSpPr>
          <p:cNvPr id="103" name="Shape 100"/>
          <p:cNvSpPr/>
          <p:nvPr/>
        </p:nvSpPr>
        <p:spPr>
          <a:xfrm>
            <a:off x="5313578" y="3327502"/>
            <a:ext cx="0" cy="277978"/>
          </a:xfrm>
          <a:prstGeom prst="line">
            <a:avLst/>
          </a:prstGeom>
          <a:noFill/>
          <a:ln w="12700">
            <a:solidFill>
              <a:srgbClr val="5F6368"/>
            </a:solidFill>
            <a:prstDash val="dash"/>
          </a:ln>
        </p:spPr>
      </p:sp>
      <p:sp>
        <p:nvSpPr>
          <p:cNvPr id="104" name="Shape 101"/>
          <p:cNvSpPr/>
          <p:nvPr/>
        </p:nvSpPr>
        <p:spPr>
          <a:xfrm flipH="1">
            <a:off x="4922215" y="3605479"/>
            <a:ext cx="391363" cy="0"/>
          </a:xfrm>
          <a:prstGeom prst="line">
            <a:avLst/>
          </a:prstGeom>
          <a:noFill/>
          <a:ln w="12700">
            <a:solidFill>
              <a:srgbClr val="5F6368"/>
            </a:solidFill>
            <a:prstDash val="dash"/>
          </a:ln>
        </p:spPr>
      </p:sp>
      <p:sp>
        <p:nvSpPr>
          <p:cNvPr id="105" name="Shape 102"/>
          <p:cNvSpPr/>
          <p:nvPr/>
        </p:nvSpPr>
        <p:spPr>
          <a:xfrm>
            <a:off x="4922215" y="3605479"/>
            <a:ext cx="0" cy="181966"/>
          </a:xfrm>
          <a:prstGeom prst="line">
            <a:avLst/>
          </a:prstGeom>
          <a:noFill/>
          <a:ln w="12700">
            <a:solidFill>
              <a:srgbClr val="5F6368"/>
            </a:solidFill>
            <a:prstDash val="dash"/>
            <a:tailEnd type="triangle" w="sm" len="sm"/>
          </a:ln>
        </p:spPr>
      </p:sp>
      <p:sp>
        <p:nvSpPr>
          <p:cNvPr id="106" name="Shape 103"/>
          <p:cNvSpPr/>
          <p:nvPr/>
        </p:nvSpPr>
        <p:spPr>
          <a:xfrm>
            <a:off x="2392070" y="4387291"/>
            <a:ext cx="96012" cy="0"/>
          </a:xfrm>
          <a:prstGeom prst="line">
            <a:avLst/>
          </a:prstGeom>
          <a:noFill/>
          <a:ln w="12700">
            <a:solidFill>
              <a:srgbClr val="5F6368"/>
            </a:solidFill>
            <a:prstDash val="solid"/>
            <a:headEnd type="triangle" w="sm" len="sm"/>
          </a:ln>
        </p:spPr>
      </p:sp>
      <p:sp>
        <p:nvSpPr>
          <p:cNvPr id="107" name="Shape 104"/>
          <p:cNvSpPr/>
          <p:nvPr/>
        </p:nvSpPr>
        <p:spPr>
          <a:xfrm>
            <a:off x="2488082" y="4387291"/>
            <a:ext cx="0" cy="148133"/>
          </a:xfrm>
          <a:prstGeom prst="line">
            <a:avLst/>
          </a:prstGeom>
          <a:noFill/>
          <a:ln w="12700">
            <a:solidFill>
              <a:srgbClr val="5F6368"/>
            </a:solidFill>
            <a:prstDash val="solid"/>
          </a:ln>
        </p:spPr>
      </p:sp>
      <p:sp>
        <p:nvSpPr>
          <p:cNvPr id="108" name="Shape 105"/>
          <p:cNvSpPr/>
          <p:nvPr/>
        </p:nvSpPr>
        <p:spPr>
          <a:xfrm>
            <a:off x="2488082" y="4535424"/>
            <a:ext cx="130759" cy="0"/>
          </a:xfrm>
          <a:prstGeom prst="line">
            <a:avLst/>
          </a:prstGeom>
          <a:noFill/>
          <a:ln w="12700">
            <a:solidFill>
              <a:srgbClr val="5F6368"/>
            </a:solidFill>
            <a:prstDash val="solid"/>
            <a:tailEnd type="triangle" w="sm" len="sm"/>
          </a:ln>
        </p:spPr>
      </p:sp>
      <p:sp>
        <p:nvSpPr>
          <p:cNvPr id="109" name="Shape 106"/>
          <p:cNvSpPr/>
          <p:nvPr/>
        </p:nvSpPr>
        <p:spPr>
          <a:xfrm>
            <a:off x="2392070" y="5413248"/>
            <a:ext cx="130759" cy="0"/>
          </a:xfrm>
          <a:prstGeom prst="line">
            <a:avLst/>
          </a:prstGeom>
          <a:noFill/>
          <a:ln w="12700">
            <a:solidFill>
              <a:srgbClr val="5F6368"/>
            </a:solidFill>
            <a:prstDash val="solid"/>
            <a:headEnd type="triangle" w="sm" len="sm"/>
          </a:ln>
        </p:spPr>
      </p:sp>
      <p:sp>
        <p:nvSpPr>
          <p:cNvPr id="110" name="Shape 107"/>
          <p:cNvSpPr/>
          <p:nvPr/>
        </p:nvSpPr>
        <p:spPr>
          <a:xfrm flipV="1">
            <a:off x="2522830" y="4674413"/>
            <a:ext cx="0" cy="738835"/>
          </a:xfrm>
          <a:prstGeom prst="line">
            <a:avLst/>
          </a:prstGeom>
          <a:noFill/>
          <a:ln w="12700">
            <a:solidFill>
              <a:srgbClr val="5F6368"/>
            </a:solidFill>
            <a:prstDash val="solid"/>
          </a:ln>
        </p:spPr>
      </p:sp>
      <p:sp>
        <p:nvSpPr>
          <p:cNvPr id="111" name="Shape 108"/>
          <p:cNvSpPr/>
          <p:nvPr/>
        </p:nvSpPr>
        <p:spPr>
          <a:xfrm>
            <a:off x="2522830" y="4674413"/>
            <a:ext cx="96012" cy="0"/>
          </a:xfrm>
          <a:prstGeom prst="line">
            <a:avLst/>
          </a:prstGeom>
          <a:noFill/>
          <a:ln w="12700">
            <a:solidFill>
              <a:srgbClr val="5F6368"/>
            </a:solidFill>
            <a:prstDash val="solid"/>
            <a:tailEnd type="triangle" w="sm" len="sm"/>
          </a:ln>
        </p:spPr>
      </p:sp>
      <p:sp>
        <p:nvSpPr>
          <p:cNvPr id="112" name="Shape 109"/>
          <p:cNvSpPr/>
          <p:nvPr/>
        </p:nvSpPr>
        <p:spPr>
          <a:xfrm flipV="1">
            <a:off x="3083357" y="5013655"/>
            <a:ext cx="0" cy="60350"/>
          </a:xfrm>
          <a:prstGeom prst="line">
            <a:avLst/>
          </a:prstGeom>
          <a:noFill/>
          <a:ln w="12700">
            <a:solidFill>
              <a:srgbClr val="5F6368"/>
            </a:solidFill>
            <a:prstDash val="solid"/>
            <a:headEnd type="triangle" w="sm" len="sm"/>
          </a:ln>
        </p:spPr>
      </p:sp>
      <p:sp>
        <p:nvSpPr>
          <p:cNvPr id="113" name="Shape 110"/>
          <p:cNvSpPr/>
          <p:nvPr/>
        </p:nvSpPr>
        <p:spPr>
          <a:xfrm flipV="1">
            <a:off x="3083357" y="4778654"/>
            <a:ext cx="0" cy="61265"/>
          </a:xfrm>
          <a:prstGeom prst="line">
            <a:avLst/>
          </a:prstGeom>
          <a:noFill/>
          <a:ln w="12700">
            <a:solidFill>
              <a:srgbClr val="5F6368"/>
            </a:solidFill>
            <a:prstDash val="solid"/>
            <a:tailEnd type="triangle" w="sm" len="sm"/>
          </a:ln>
        </p:spPr>
      </p:sp>
      <p:sp>
        <p:nvSpPr>
          <p:cNvPr id="114" name="Shape 111"/>
          <p:cNvSpPr/>
          <p:nvPr/>
        </p:nvSpPr>
        <p:spPr>
          <a:xfrm flipV="1">
            <a:off x="3083357" y="5665622"/>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5405018"/>
            <a:ext cx="0" cy="60350"/>
          </a:xfrm>
          <a:prstGeom prst="line">
            <a:avLst/>
          </a:prstGeom>
          <a:noFill/>
          <a:ln w="12700">
            <a:solidFill>
              <a:srgbClr val="5F6368"/>
            </a:solidFill>
            <a:prstDash val="solid"/>
            <a:tailEnd type="triangle" w="sm" len="sm"/>
          </a:ln>
        </p:spPr>
      </p:sp>
      <p:sp>
        <p:nvSpPr>
          <p:cNvPr id="116" name="Shape 113"/>
          <p:cNvSpPr/>
          <p:nvPr/>
        </p:nvSpPr>
        <p:spPr>
          <a:xfrm>
            <a:off x="4756709" y="4387291"/>
            <a:ext cx="96012" cy="0"/>
          </a:xfrm>
          <a:prstGeom prst="line">
            <a:avLst/>
          </a:prstGeom>
          <a:noFill/>
          <a:ln w="12700">
            <a:solidFill>
              <a:srgbClr val="5F6368"/>
            </a:solidFill>
            <a:prstDash val="solid"/>
            <a:headEnd type="triangle" w="sm" len="sm"/>
          </a:ln>
        </p:spPr>
      </p:sp>
      <p:sp>
        <p:nvSpPr>
          <p:cNvPr id="117" name="Shape 114"/>
          <p:cNvSpPr/>
          <p:nvPr/>
        </p:nvSpPr>
        <p:spPr>
          <a:xfrm>
            <a:off x="4852721" y="4387291"/>
            <a:ext cx="0" cy="148133"/>
          </a:xfrm>
          <a:prstGeom prst="line">
            <a:avLst/>
          </a:prstGeom>
          <a:noFill/>
          <a:ln w="12700">
            <a:solidFill>
              <a:srgbClr val="5F6368"/>
            </a:solidFill>
            <a:prstDash val="solid"/>
          </a:ln>
        </p:spPr>
      </p:sp>
      <p:sp>
        <p:nvSpPr>
          <p:cNvPr id="118" name="Shape 115"/>
          <p:cNvSpPr/>
          <p:nvPr/>
        </p:nvSpPr>
        <p:spPr>
          <a:xfrm>
            <a:off x="4852721" y="4535424"/>
            <a:ext cx="129845" cy="0"/>
          </a:xfrm>
          <a:prstGeom prst="line">
            <a:avLst/>
          </a:prstGeom>
          <a:noFill/>
          <a:ln w="12700">
            <a:solidFill>
              <a:srgbClr val="5F6368"/>
            </a:solidFill>
            <a:prstDash val="solid"/>
            <a:tailEnd type="triangle" w="sm" len="sm"/>
          </a:ln>
        </p:spPr>
      </p:sp>
      <p:sp>
        <p:nvSpPr>
          <p:cNvPr id="119" name="Shape 116"/>
          <p:cNvSpPr/>
          <p:nvPr/>
        </p:nvSpPr>
        <p:spPr>
          <a:xfrm>
            <a:off x="4756709" y="4830775"/>
            <a:ext cx="130759" cy="0"/>
          </a:xfrm>
          <a:prstGeom prst="line">
            <a:avLst/>
          </a:prstGeom>
          <a:noFill/>
          <a:ln w="12700">
            <a:solidFill>
              <a:srgbClr val="5F6368"/>
            </a:solidFill>
            <a:prstDash val="solid"/>
            <a:headEnd type="triangle" w="sm" len="sm"/>
          </a:ln>
        </p:spPr>
      </p:sp>
      <p:sp>
        <p:nvSpPr>
          <p:cNvPr id="120" name="Shape 117"/>
          <p:cNvSpPr/>
          <p:nvPr/>
        </p:nvSpPr>
        <p:spPr>
          <a:xfrm flipV="1">
            <a:off x="4887468" y="4674413"/>
            <a:ext cx="0" cy="156362"/>
          </a:xfrm>
          <a:prstGeom prst="line">
            <a:avLst/>
          </a:prstGeom>
          <a:noFill/>
          <a:ln w="12700">
            <a:solidFill>
              <a:srgbClr val="5F6368"/>
            </a:solidFill>
            <a:prstDash val="solid"/>
          </a:ln>
        </p:spPr>
      </p:sp>
      <p:sp>
        <p:nvSpPr>
          <p:cNvPr id="121" name="Shape 118"/>
          <p:cNvSpPr/>
          <p:nvPr/>
        </p:nvSpPr>
        <p:spPr>
          <a:xfrm>
            <a:off x="4887468" y="4674413"/>
            <a:ext cx="95098" cy="0"/>
          </a:xfrm>
          <a:prstGeom prst="line">
            <a:avLst/>
          </a:prstGeom>
          <a:noFill/>
          <a:ln w="12700">
            <a:solidFill>
              <a:srgbClr val="5F6368"/>
            </a:solidFill>
            <a:prstDash val="solid"/>
            <a:tailEnd type="triangle" w="sm" len="sm"/>
          </a:ln>
        </p:spPr>
      </p:sp>
      <p:sp>
        <p:nvSpPr>
          <p:cNvPr id="122" name="Shape 119"/>
          <p:cNvSpPr/>
          <p:nvPr/>
        </p:nvSpPr>
        <p:spPr>
          <a:xfrm flipV="1">
            <a:off x="5447995" y="5013655"/>
            <a:ext cx="0" cy="60350"/>
          </a:xfrm>
          <a:prstGeom prst="line">
            <a:avLst/>
          </a:prstGeom>
          <a:noFill/>
          <a:ln w="12700">
            <a:solidFill>
              <a:srgbClr val="5F6368"/>
            </a:solidFill>
            <a:prstDash val="solid"/>
            <a:headEnd type="triangle" w="sm" len="sm"/>
          </a:ln>
        </p:spPr>
      </p:sp>
      <p:sp>
        <p:nvSpPr>
          <p:cNvPr id="123" name="Shape 120"/>
          <p:cNvSpPr/>
          <p:nvPr/>
        </p:nvSpPr>
        <p:spPr>
          <a:xfrm flipV="1">
            <a:off x="5447995" y="4778654"/>
            <a:ext cx="0" cy="61265"/>
          </a:xfrm>
          <a:prstGeom prst="line">
            <a:avLst/>
          </a:prstGeom>
          <a:noFill/>
          <a:ln w="12700">
            <a:solidFill>
              <a:srgbClr val="5F6368"/>
            </a:solidFill>
            <a:prstDash val="solid"/>
            <a:tailEnd type="triangle" w="sm" len="sm"/>
          </a:ln>
        </p:spPr>
      </p:sp>
      <p:sp>
        <p:nvSpPr>
          <p:cNvPr id="124" name="Shape 121"/>
          <p:cNvSpPr/>
          <p:nvPr/>
        </p:nvSpPr>
        <p:spPr>
          <a:xfrm flipV="1">
            <a:off x="5447995" y="5665622"/>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5405018"/>
            <a:ext cx="0" cy="60350"/>
          </a:xfrm>
          <a:prstGeom prst="line">
            <a:avLst/>
          </a:prstGeom>
          <a:noFill/>
          <a:ln w="12700">
            <a:solidFill>
              <a:srgbClr val="5F6368"/>
            </a:solidFill>
            <a:prstDash val="solid"/>
            <a:tailEnd type="triangle" w="sm" len="sm"/>
          </a:ln>
        </p:spPr>
      </p:sp>
      <p:sp>
        <p:nvSpPr>
          <p:cNvPr id="126" name="Shape 123"/>
          <p:cNvSpPr/>
          <p:nvPr/>
        </p:nvSpPr>
        <p:spPr>
          <a:xfrm>
            <a:off x="1473098" y="3802075"/>
            <a:ext cx="1897380" cy="113386"/>
          </a:xfrm>
          <a:prstGeom prst="rect">
            <a:avLst/>
          </a:prstGeom>
          <a:solidFill>
            <a:srgbClr val="FFFFFF"/>
          </a:solidFill>
          <a:ln/>
        </p:spPr>
      </p:sp>
      <p:sp>
        <p:nvSpPr>
          <p:cNvPr id="127" name="Text 124"/>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00" dirty="0"/>
          </a:p>
        </p:txBody>
      </p:sp>
      <p:sp>
        <p:nvSpPr>
          <p:cNvPr id="128" name="Shape 125"/>
          <p:cNvSpPr/>
          <p:nvPr/>
        </p:nvSpPr>
        <p:spPr>
          <a:xfrm>
            <a:off x="3837737" y="3802075"/>
            <a:ext cx="1607515" cy="113386"/>
          </a:xfrm>
          <a:prstGeom prst="rect">
            <a:avLst/>
          </a:prstGeom>
          <a:solidFill>
            <a:srgbClr val="FFFFFF"/>
          </a:solidFill>
          <a:ln/>
        </p:spPr>
      </p:sp>
      <p:sp>
        <p:nvSpPr>
          <p:cNvPr id="129" name="Text 126"/>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Enterprise Tier: Private Service Connect (PSC) Spokes</a:t>
            </a:r>
            <a:endParaRPr lang="en-US" sz="400" dirty="0"/>
          </a:p>
        </p:txBody>
      </p:sp>
      <p:sp>
        <p:nvSpPr>
          <p:cNvPr id="130" name="Shape 127"/>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1"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2" name="Text 128"/>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Standard &amp; Enterprise</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Single Unified SaaS URL</a:t>
            </a:r>
            <a:endParaRPr lang="en-US" sz="480" dirty="0"/>
          </a:p>
        </p:txBody>
      </p:sp>
      <p:sp>
        <p:nvSpPr>
          <p:cNvPr id="133" name="Shape 129"/>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4"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5" name="Text 130"/>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36" name="Shape 131"/>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7"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8" name="Text 132"/>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 (atomic tier pointer)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 pool | psc://10.10.0.5x</a:t>
            </a:r>
            <a:endParaRPr lang="en-US" sz="490" dirty="0"/>
          </a:p>
        </p:txBody>
      </p:sp>
      <p:sp>
        <p:nvSpPr>
          <p:cNvPr id="139" name="Shape 133"/>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0"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1" name="Text 134"/>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tenant_promotion_migrations • routing_plane</a:t>
            </a:r>
            <a:endParaRPr lang="en-US" sz="490" dirty="0"/>
          </a:p>
        </p:txBody>
      </p:sp>
      <p:sp>
        <p:nvSpPr>
          <p:cNvPr id="142" name="Shape 135"/>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3"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4" name="Text 136"/>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Migration Coordinator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45" name="Shape 137"/>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6"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7" name="Text 138"/>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Serves Standard SaaS Tier</a:t>
            </a:r>
            <a:endParaRPr lang="en-US" sz="490" dirty="0"/>
          </a:p>
        </p:txBody>
      </p:sp>
      <p:sp>
        <p:nvSpPr>
          <p:cNvPr id="148" name="Shape 139"/>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9"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0" name="Text 140"/>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Pooled MCP Hub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Delegated 3LO Tools</a:t>
            </a:r>
            <a:endParaRPr lang="en-US" sz="490" dirty="0"/>
          </a:p>
        </p:txBody>
      </p:sp>
      <p:sp>
        <p:nvSpPr>
          <p:cNvPr id="151" name="Shape 141"/>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2"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3" name="Text 142"/>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&amp; BQ RLS</a:t>
            </a:r>
            <a:endParaRPr lang="en-US" sz="490" dirty="0"/>
          </a:p>
          <a:p>
            <a:pPr algn="l" indent="0" marL="0">
              <a:lnSpc>
                <a:spcPct val="100000"/>
              </a:lnSpc>
              <a:buNone/>
            </a:pPr>
            <a:r>
              <a:rPr lang="en-US" sz="309" dirty="0">
                <a:solidFill>
                  <a:srgbClr val="3C4043"/>
                </a:solidFill>
                <a:latin typeface="Arial" pitchFamily="34" charset="0"/>
                <a:ea typeface="Arial" pitchFamily="34" charset="-122"/>
                <a:cs typeface="Arial" pitchFamily="34" charset="-120"/>
              </a:rPr>
              <a:t>pattern_a_pooled_rls_entities</a:t>
            </a:r>
            <a:endParaRPr lang="en-US" sz="490" dirty="0"/>
          </a:p>
        </p:txBody>
      </p:sp>
      <p:sp>
        <p:nvSpPr>
          <p:cNvPr id="154" name="Shape 143"/>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5"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6" name="Text 144"/>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Spoke Agent Engine via PSC</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ServiceAttachment ← /28 consumer endpoint</a:t>
            </a:r>
            <a:endParaRPr lang="en-US" sz="490" dirty="0"/>
          </a:p>
        </p:txBody>
      </p:sp>
      <p:sp>
        <p:nvSpPr>
          <p:cNvPr id="157" name="Shape 145"/>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8"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9" name="Text 146"/>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Dedicated Spoke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Isolated Inside VPC-SC Spoke</a:t>
            </a:r>
            <a:endParaRPr lang="en-US" sz="490" dirty="0"/>
          </a:p>
        </p:txBody>
      </p:sp>
      <p:sp>
        <p:nvSpPr>
          <p:cNvPr id="160" name="Shape 147"/>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1"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2" name="Text 148"/>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Spoke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KMS Lock</a:t>
            </a:r>
            <a:endParaRPr lang="en-US" sz="490" dirty="0"/>
          </a:p>
        </p:txBody>
      </p:sp>
      <p:sp>
        <p:nvSpPr>
          <p:cNvPr id="163" name="Shape 149"/>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4"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5" name="Text 150"/>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Tier Router &amp; Live Migrator</a:t>
            </a:r>
            <a:endParaRPr lang="en-US" sz="490" dirty="0"/>
          </a:p>
        </p:txBody>
      </p:sp>
      <p:sp>
        <p:nvSpPr>
          <p:cNvPr id="166" name="Shape 151"/>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7"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8" name="Text 152"/>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Multi-Tenant Prompt &amp; SDP</a:t>
            </a:r>
            <a:endParaRPr lang="en-US" sz="490" dirty="0"/>
          </a:p>
        </p:txBody>
      </p:sp>
      <p:sp>
        <p:nvSpPr>
          <p:cNvPr id="169" name="Shape 153"/>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0"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1" name="Text 154"/>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4,000 Thinking Cap + Cache</a:t>
            </a:r>
            <a:endParaRPr lang="en-US" sz="490" dirty="0"/>
          </a:p>
        </p:txBody>
      </p:sp>
      <p:sp>
        <p:nvSpPr>
          <p:cNvPr id="172" name="Shape 155"/>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3"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4" name="Text 156"/>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Enterprise prompt screen + SDP</a:t>
            </a:r>
            <a:endParaRPr lang="en-US" sz="490" dirty="0"/>
          </a:p>
        </p:txBody>
      </p:sp>
      <p:sp>
        <p:nvSpPr>
          <p:cNvPr id="175" name="Shape 157"/>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6"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7" name="Text 158"/>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Upgraded 8,000 Thinking Cap</a:t>
            </a:r>
            <a:endParaRPr lang="en-US" sz="490" dirty="0"/>
          </a:p>
        </p:txBody>
      </p:sp>
      <p:sp>
        <p:nvSpPr>
          <p:cNvPr id="178" name="Shape 15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0" name="Text 16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IAP • Single SaaS URL</a:t>
            </a:r>
            <a:endParaRPr lang="en-US" sz="490" dirty="0"/>
          </a:p>
        </p:txBody>
      </p:sp>
      <p:sp>
        <p:nvSpPr>
          <p:cNvPr id="181" name="Shape 16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3" name="Text 16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Cross-Project Catalog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Federated Agent Catalog</a:t>
            </a:r>
            <a:endParaRPr lang="en-US" sz="490" dirty="0"/>
          </a:p>
        </p:txBody>
      </p:sp>
      <p:sp>
        <p:nvSpPr>
          <p:cNvPr id="184" name="Shape 16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6" name="Text 16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pattern_c_psc_endpoints_registry</a:t>
            </a:r>
            <a:endParaRPr lang="en-US" sz="490" dirty="0"/>
          </a:p>
        </p:txBody>
      </p:sp>
      <p:sp>
        <p:nvSpPr>
          <p:cNvPr id="187" name="Shape 165"/>
          <p:cNvSpPr/>
          <p:nvPr/>
        </p:nvSpPr>
        <p:spPr>
          <a:xfrm>
            <a:off x="3517697"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9" name="Shape 167"/>
          <p:cNvSpPr/>
          <p:nvPr/>
        </p:nvSpPr>
        <p:spPr>
          <a:xfrm>
            <a:off x="3717950"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1" name="Shape 169"/>
          <p:cNvSpPr/>
          <p:nvPr/>
        </p:nvSpPr>
        <p:spPr>
          <a:xfrm>
            <a:off x="3517697"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3" name="Shape 171"/>
          <p:cNvSpPr/>
          <p:nvPr/>
        </p:nvSpPr>
        <p:spPr>
          <a:xfrm>
            <a:off x="3717950"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2813609"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7" name="Shape 175"/>
          <p:cNvSpPr/>
          <p:nvPr/>
        </p:nvSpPr>
        <p:spPr>
          <a:xfrm>
            <a:off x="3735324" y="3392424"/>
            <a:ext cx="148133" cy="148133"/>
          </a:xfrm>
          <a:prstGeom prst="ellipse">
            <a:avLst/>
          </a:prstGeom>
          <a:solidFill>
            <a:srgbClr val="174EA6"/>
          </a:solidFill>
          <a:ln w="10795">
            <a:solidFill>
              <a:srgbClr val="174EA6"/>
            </a:solidFill>
            <a:prstDash val="solid"/>
          </a:ln>
        </p:spPr>
      </p:sp>
      <p:sp>
        <p:nvSpPr>
          <p:cNvPr id="198" name="Text 176"/>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1579169" y="4600346"/>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4808830"/>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3" name="Shape 181"/>
          <p:cNvSpPr/>
          <p:nvPr/>
        </p:nvSpPr>
        <p:spPr>
          <a:xfrm>
            <a:off x="1579169" y="5634533"/>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5" name="Shape 183"/>
          <p:cNvSpPr/>
          <p:nvPr/>
        </p:nvSpPr>
        <p:spPr>
          <a:xfrm>
            <a:off x="5339182" y="3353105"/>
            <a:ext cx="617220" cy="217627"/>
          </a:xfrm>
          <a:prstGeom prst="roundRect">
            <a:avLst>
              <a:gd name="adj" fmla="val 21008"/>
            </a:avLst>
          </a:prstGeom>
          <a:solidFill>
            <a:srgbClr val="FFFFFF"/>
          </a:solidFill>
          <a:ln w="5715">
            <a:solidFill>
              <a:srgbClr val="DADCE0"/>
            </a:solidFill>
            <a:prstDash val="solid"/>
          </a:ln>
        </p:spPr>
      </p:sp>
      <p:sp>
        <p:nvSpPr>
          <p:cNvPr id="206" name="Text 184"/>
          <p:cNvSpPr/>
          <p:nvPr/>
        </p:nvSpPr>
        <p:spPr>
          <a:xfrm>
            <a:off x="5359298" y="3362249"/>
            <a:ext cx="576986" cy="199339"/>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Live promotion:</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Pool -&gt; PSC Spoke</a:t>
            </a:r>
            <a:endParaRPr lang="en-US" sz="410" dirty="0"/>
          </a:p>
        </p:txBody>
      </p:sp>
      <p:sp>
        <p:nvSpPr>
          <p:cNvPr id="207" name="Shape 185"/>
          <p:cNvSpPr/>
          <p:nvPr/>
        </p:nvSpPr>
        <p:spPr>
          <a:xfrm>
            <a:off x="2856586" y="4817974"/>
            <a:ext cx="452628" cy="208483"/>
          </a:xfrm>
          <a:prstGeom prst="roundRect">
            <a:avLst>
              <a:gd name="adj" fmla="val 21930"/>
            </a:avLst>
          </a:prstGeom>
          <a:solidFill>
            <a:srgbClr val="FFFFFF"/>
          </a:solidFill>
          <a:ln w="5715">
            <a:solidFill>
              <a:srgbClr val="DADCE0"/>
            </a:solidFill>
            <a:prstDash val="solid"/>
          </a:ln>
        </p:spPr>
      </p:sp>
      <p:sp>
        <p:nvSpPr>
          <p:cNvPr id="208" name="Text 186"/>
          <p:cNvSpPr/>
          <p:nvPr/>
        </p:nvSpPr>
        <p:spPr>
          <a:xfrm>
            <a:off x="2876702" y="4827118"/>
            <a:ext cx="41239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Shared Pool</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RAG</a:t>
            </a:r>
            <a:endParaRPr lang="en-US" sz="410" dirty="0"/>
          </a:p>
        </p:txBody>
      </p:sp>
      <p:sp>
        <p:nvSpPr>
          <p:cNvPr id="209" name="Shape 187"/>
          <p:cNvSpPr/>
          <p:nvPr/>
        </p:nvSpPr>
        <p:spPr>
          <a:xfrm>
            <a:off x="2788920" y="5452567"/>
            <a:ext cx="589788" cy="208483"/>
          </a:xfrm>
          <a:prstGeom prst="roundRect">
            <a:avLst>
              <a:gd name="adj" fmla="val 21930"/>
            </a:avLst>
          </a:prstGeom>
          <a:solidFill>
            <a:srgbClr val="FFFFFF"/>
          </a:solidFill>
          <a:ln w="5715">
            <a:solidFill>
              <a:srgbClr val="DADCE0"/>
            </a:solidFill>
            <a:prstDash val="solid"/>
          </a:ln>
        </p:spPr>
      </p:sp>
      <p:sp>
        <p:nvSpPr>
          <p:cNvPr id="210" name="Text 188"/>
          <p:cNvSpPr/>
          <p:nvPr/>
        </p:nvSpPr>
        <p:spPr>
          <a:xfrm>
            <a:off x="2809037" y="5461711"/>
            <a:ext cx="54955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Streams State to</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PSC Spoke</a:t>
            </a:r>
            <a:endParaRPr lang="en-US" sz="410" dirty="0"/>
          </a:p>
        </p:txBody>
      </p:sp>
      <p:sp>
        <p:nvSpPr>
          <p:cNvPr id="211" name="Shape 189"/>
          <p:cNvSpPr/>
          <p:nvPr/>
        </p:nvSpPr>
        <p:spPr>
          <a:xfrm>
            <a:off x="5180076" y="4817974"/>
            <a:ext cx="534924" cy="208483"/>
          </a:xfrm>
          <a:prstGeom prst="roundRect">
            <a:avLst>
              <a:gd name="adj" fmla="val 21930"/>
            </a:avLst>
          </a:prstGeom>
          <a:solidFill>
            <a:srgbClr val="FFFFFF"/>
          </a:solidFill>
          <a:ln w="5715">
            <a:solidFill>
              <a:srgbClr val="DADCE0"/>
            </a:solidFill>
            <a:prstDash val="solid"/>
          </a:ln>
        </p:spPr>
      </p:sp>
      <p:sp>
        <p:nvSpPr>
          <p:cNvPr id="212" name="Text 190"/>
          <p:cNvSpPr/>
          <p:nvPr/>
        </p:nvSpPr>
        <p:spPr>
          <a:xfrm>
            <a:off x="5200193" y="4827118"/>
            <a:ext cx="49469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Unidirectional</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PSC Bridge</a:t>
            </a:r>
            <a:endParaRPr lang="en-US" sz="410" dirty="0"/>
          </a:p>
        </p:txBody>
      </p:sp>
      <p:sp>
        <p:nvSpPr>
          <p:cNvPr id="213" name="Shape 191"/>
          <p:cNvSpPr/>
          <p:nvPr/>
        </p:nvSpPr>
        <p:spPr>
          <a:xfrm>
            <a:off x="5180076" y="5452567"/>
            <a:ext cx="534924" cy="208483"/>
          </a:xfrm>
          <a:prstGeom prst="roundRect">
            <a:avLst>
              <a:gd name="adj" fmla="val 21930"/>
            </a:avLst>
          </a:prstGeom>
          <a:solidFill>
            <a:srgbClr val="FFFFFF"/>
          </a:solidFill>
          <a:ln w="5715">
            <a:solidFill>
              <a:srgbClr val="DADCE0"/>
            </a:solidFill>
            <a:prstDash val="solid"/>
          </a:ln>
        </p:spPr>
      </p:sp>
      <p:sp>
        <p:nvSpPr>
          <p:cNvPr id="214" name="Text 192"/>
          <p:cNvSpPr/>
          <p:nvPr/>
        </p:nvSpPr>
        <p:spPr>
          <a:xfrm>
            <a:off x="5200193" y="5461711"/>
            <a:ext cx="49469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CMEK-Encrypted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Spoke Storage</a:t>
            </a:r>
            <a:endParaRPr lang="en-US" sz="410" dirty="0"/>
          </a:p>
        </p:txBody>
      </p:sp>
      <p:sp>
        <p:nvSpPr>
          <p:cNvPr id="215" name="Shape 193"/>
          <p:cNvSpPr/>
          <p:nvPr/>
        </p:nvSpPr>
        <p:spPr>
          <a:xfrm>
            <a:off x="1757477" y="5604358"/>
            <a:ext cx="397764" cy="208483"/>
          </a:xfrm>
          <a:prstGeom prst="roundRect">
            <a:avLst>
              <a:gd name="adj" fmla="val 21930"/>
            </a:avLst>
          </a:prstGeom>
          <a:solidFill>
            <a:srgbClr val="FFFFFF"/>
          </a:solidFill>
          <a:ln w="5715">
            <a:solidFill>
              <a:srgbClr val="DADCE0"/>
            </a:solidFill>
            <a:prstDash val="solid"/>
          </a:ln>
        </p:spPr>
      </p:sp>
      <p:sp>
        <p:nvSpPr>
          <p:cNvPr id="216" name="Text 194"/>
          <p:cNvSpPr/>
          <p:nvPr/>
        </p:nvSpPr>
        <p:spPr>
          <a:xfrm>
            <a:off x="1777594" y="5613502"/>
            <a:ext cx="35753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Pooled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inference</a:t>
            </a:r>
            <a:endParaRPr lang="en-US" sz="410" dirty="0"/>
          </a:p>
        </p:txBody>
      </p:sp>
      <p:sp>
        <p:nvSpPr>
          <p:cNvPr id="217" name="Shape 195"/>
          <p:cNvSpPr/>
          <p:nvPr/>
        </p:nvSpPr>
        <p:spPr>
          <a:xfrm>
            <a:off x="3905402" y="3354019"/>
            <a:ext cx="699516" cy="208483"/>
          </a:xfrm>
          <a:prstGeom prst="roundRect">
            <a:avLst>
              <a:gd name="adj" fmla="val 21930"/>
            </a:avLst>
          </a:prstGeom>
          <a:solidFill>
            <a:srgbClr val="FFFFFF"/>
          </a:solidFill>
          <a:ln w="5715">
            <a:solidFill>
              <a:srgbClr val="DADCE0"/>
            </a:solidFill>
            <a:prstDash val="solid"/>
          </a:ln>
        </p:spPr>
      </p:sp>
      <p:sp>
        <p:nvSpPr>
          <p:cNvPr id="218" name="Text 196"/>
          <p:cNvSpPr/>
          <p:nvPr/>
        </p:nvSpPr>
        <p:spPr>
          <a:xfrm>
            <a:off x="3925519" y="3363163"/>
            <a:ext cx="659282"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Seamless response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(0 dropped sessions)</a:t>
            </a:r>
            <a:endParaRPr lang="en-US" sz="410" dirty="0"/>
          </a:p>
        </p:txBody>
      </p:sp>
      <p:sp>
        <p:nvSpPr>
          <p:cNvPr id="219" name="Shape 197"/>
          <p:cNvSpPr/>
          <p:nvPr/>
        </p:nvSpPr>
        <p:spPr>
          <a:xfrm>
            <a:off x="2983687" y="3354019"/>
            <a:ext cx="681228" cy="208483"/>
          </a:xfrm>
          <a:prstGeom prst="roundRect">
            <a:avLst>
              <a:gd name="adj" fmla="val 21930"/>
            </a:avLst>
          </a:prstGeom>
          <a:solidFill>
            <a:srgbClr val="FFFFFF"/>
          </a:solidFill>
          <a:ln w="5715">
            <a:solidFill>
              <a:srgbClr val="DADCE0"/>
            </a:solidFill>
            <a:prstDash val="solid"/>
          </a:ln>
        </p:spPr>
      </p:sp>
      <p:sp>
        <p:nvSpPr>
          <p:cNvPr id="220" name="Text 198"/>
          <p:cNvSpPr/>
          <p:nvPr/>
        </p:nvSpPr>
        <p:spPr>
          <a:xfrm>
            <a:off x="3003804" y="3363163"/>
            <a:ext cx="64099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Route Standard to Pool</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or Enterprise via PSC</a:t>
            </a:r>
            <a:endParaRPr lang="en-US" sz="410" dirty="0"/>
          </a:p>
        </p:txBody>
      </p:sp>
      <p:sp>
        <p:nvSpPr>
          <p:cNvPr id="221" name="Shape 199"/>
          <p:cNvSpPr/>
          <p:nvPr/>
        </p:nvSpPr>
        <p:spPr>
          <a:xfrm>
            <a:off x="2561234" y="2871216"/>
            <a:ext cx="480060" cy="208483"/>
          </a:xfrm>
          <a:prstGeom prst="roundRect">
            <a:avLst>
              <a:gd name="adj" fmla="val 21930"/>
            </a:avLst>
          </a:prstGeom>
          <a:solidFill>
            <a:srgbClr val="FFFFFF"/>
          </a:solidFill>
          <a:ln w="5715">
            <a:solidFill>
              <a:srgbClr val="DADCE0"/>
            </a:solidFill>
            <a:prstDash val="solid"/>
          </a:ln>
        </p:spPr>
      </p:sp>
      <p:sp>
        <p:nvSpPr>
          <p:cNvPr id="222" name="Text 200"/>
          <p:cNvSpPr/>
          <p:nvPr/>
        </p:nvSpPr>
        <p:spPr>
          <a:xfrm>
            <a:off x="2581351" y="2880360"/>
            <a:ext cx="439826"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Atomic route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lookup</a:t>
            </a:r>
            <a:endParaRPr lang="en-US" sz="410" dirty="0"/>
          </a:p>
        </p:txBody>
      </p:sp>
      <p:sp>
        <p:nvSpPr>
          <p:cNvPr id="223" name="Shape 201"/>
          <p:cNvSpPr/>
          <p:nvPr/>
        </p:nvSpPr>
        <p:spPr>
          <a:xfrm>
            <a:off x="1757477" y="4605833"/>
            <a:ext cx="589788" cy="138989"/>
          </a:xfrm>
          <a:prstGeom prst="roundRect">
            <a:avLst>
              <a:gd name="adj" fmla="val 32895"/>
            </a:avLst>
          </a:prstGeom>
          <a:solidFill>
            <a:srgbClr val="FFFFFF"/>
          </a:solidFill>
          <a:ln w="5715">
            <a:solidFill>
              <a:srgbClr val="DADCE0"/>
            </a:solidFill>
            <a:prstDash val="solid"/>
          </a:ln>
        </p:spPr>
      </p:sp>
      <p:sp>
        <p:nvSpPr>
          <p:cNvPr id="224" name="Text 202"/>
          <p:cNvSpPr/>
          <p:nvPr/>
        </p:nvSpPr>
        <p:spPr>
          <a:xfrm>
            <a:off x="1777594" y="4614977"/>
            <a:ext cx="549554"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 request</a:t>
            </a:r>
            <a:endParaRPr lang="en-US" sz="410" dirty="0"/>
          </a:p>
        </p:txBody>
      </p:sp>
      <p:sp>
        <p:nvSpPr>
          <p:cNvPr id="225" name="Shape 203"/>
          <p:cNvSpPr/>
          <p:nvPr/>
        </p:nvSpPr>
        <p:spPr>
          <a:xfrm>
            <a:off x="1757477" y="4814316"/>
            <a:ext cx="617220" cy="138989"/>
          </a:xfrm>
          <a:prstGeom prst="roundRect">
            <a:avLst>
              <a:gd name="adj" fmla="val 32895"/>
            </a:avLst>
          </a:prstGeom>
          <a:solidFill>
            <a:srgbClr val="FFFFFF"/>
          </a:solidFill>
          <a:ln w="5715">
            <a:solidFill>
              <a:srgbClr val="DADCE0"/>
            </a:solidFill>
            <a:prstDash val="solid"/>
          </a:ln>
        </p:spPr>
      </p:sp>
      <p:sp>
        <p:nvSpPr>
          <p:cNvPr id="226" name="Text 204"/>
          <p:cNvSpPr/>
          <p:nvPr/>
        </p:nvSpPr>
        <p:spPr>
          <a:xfrm>
            <a:off x="1777594" y="4823460"/>
            <a:ext cx="57698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 response</a:t>
            </a:r>
            <a:endParaRPr lang="en-US" sz="410" dirty="0"/>
          </a:p>
        </p:txBody>
      </p:sp>
      <p:sp>
        <p:nvSpPr>
          <p:cNvPr id="227" name="Shape 205"/>
          <p:cNvSpPr/>
          <p:nvPr/>
        </p:nvSpPr>
        <p:spPr>
          <a:xfrm>
            <a:off x="2498141" y="2080260"/>
            <a:ext cx="370332" cy="208483"/>
          </a:xfrm>
          <a:prstGeom prst="roundRect">
            <a:avLst>
              <a:gd name="adj" fmla="val 21930"/>
            </a:avLst>
          </a:prstGeom>
          <a:solidFill>
            <a:srgbClr val="FFFFFF"/>
          </a:solidFill>
          <a:ln w="5715">
            <a:solidFill>
              <a:srgbClr val="DADCE0"/>
            </a:solidFill>
            <a:prstDash val="solid"/>
          </a:ln>
        </p:spPr>
      </p:sp>
      <p:sp>
        <p:nvSpPr>
          <p:cNvPr id="228" name="Text 206"/>
          <p:cNvSpPr/>
          <p:nvPr/>
        </p:nvSpPr>
        <p:spPr>
          <a:xfrm>
            <a:off x="2518258" y="2089404"/>
            <a:ext cx="330098"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Security</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policies</a:t>
            </a:r>
            <a:endParaRPr lang="en-US" sz="410" dirty="0"/>
          </a:p>
        </p:txBody>
      </p:sp>
      <p:sp>
        <p:nvSpPr>
          <p:cNvPr id="229" name="Shape 207"/>
          <p:cNvSpPr/>
          <p:nvPr/>
        </p:nvSpPr>
        <p:spPr>
          <a:xfrm>
            <a:off x="2457907" y="2625242"/>
            <a:ext cx="452628" cy="208483"/>
          </a:xfrm>
          <a:prstGeom prst="roundRect">
            <a:avLst>
              <a:gd name="adj" fmla="val 21930"/>
            </a:avLst>
          </a:prstGeom>
          <a:solidFill>
            <a:srgbClr val="FFFFFF"/>
          </a:solidFill>
          <a:ln w="5715">
            <a:solidFill>
              <a:srgbClr val="DADCE0"/>
            </a:solidFill>
            <a:prstDash val="solid"/>
          </a:ln>
        </p:spPr>
      </p:sp>
      <p:sp>
        <p:nvSpPr>
          <p:cNvPr id="230" name="Text 208"/>
          <p:cNvSpPr/>
          <p:nvPr/>
        </p:nvSpPr>
        <p:spPr>
          <a:xfrm>
            <a:off x="2478024" y="2634386"/>
            <a:ext cx="41239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Resolve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agent route</a:t>
            </a:r>
            <a:endParaRPr lang="en-US" sz="410" dirty="0"/>
          </a:p>
        </p:txBody>
      </p:sp>
      <p:sp>
        <p:nvSpPr>
          <p:cNvPr id="231" name="Shape 209"/>
          <p:cNvSpPr/>
          <p:nvPr/>
        </p:nvSpPr>
        <p:spPr>
          <a:xfrm>
            <a:off x="3888029" y="1144829"/>
            <a:ext cx="370332" cy="138989"/>
          </a:xfrm>
          <a:prstGeom prst="roundRect">
            <a:avLst>
              <a:gd name="adj" fmla="val 32895"/>
            </a:avLst>
          </a:prstGeom>
          <a:solidFill>
            <a:srgbClr val="FFFFFF"/>
          </a:solidFill>
          <a:ln w="5715">
            <a:solidFill>
              <a:srgbClr val="DADCE0"/>
            </a:solidFill>
            <a:prstDash val="solid"/>
          </a:ln>
        </p:spPr>
      </p:sp>
      <p:sp>
        <p:nvSpPr>
          <p:cNvPr id="232" name="Text 210"/>
          <p:cNvSpPr/>
          <p:nvPr/>
        </p:nvSpPr>
        <p:spPr>
          <a:xfrm>
            <a:off x="3908146" y="1153973"/>
            <a:ext cx="330098"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Response</a:t>
            </a:r>
            <a:endParaRPr lang="en-US" sz="410" dirty="0"/>
          </a:p>
        </p:txBody>
      </p:sp>
      <p:sp>
        <p:nvSpPr>
          <p:cNvPr id="233" name="Shape 211"/>
          <p:cNvSpPr/>
          <p:nvPr/>
        </p:nvSpPr>
        <p:spPr>
          <a:xfrm>
            <a:off x="3888029" y="2723083"/>
            <a:ext cx="370332" cy="138989"/>
          </a:xfrm>
          <a:prstGeom prst="roundRect">
            <a:avLst>
              <a:gd name="adj" fmla="val 32895"/>
            </a:avLst>
          </a:prstGeom>
          <a:solidFill>
            <a:srgbClr val="FFFFFF"/>
          </a:solidFill>
          <a:ln w="5715">
            <a:solidFill>
              <a:srgbClr val="DADCE0"/>
            </a:solidFill>
            <a:prstDash val="solid"/>
          </a:ln>
        </p:spPr>
      </p:sp>
      <p:sp>
        <p:nvSpPr>
          <p:cNvPr id="234" name="Text 212"/>
          <p:cNvSpPr/>
          <p:nvPr/>
        </p:nvSpPr>
        <p:spPr>
          <a:xfrm>
            <a:off x="3908146" y="2732227"/>
            <a:ext cx="330098"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Response</a:t>
            </a:r>
            <a:endParaRPr lang="en-US" sz="410" dirty="0"/>
          </a:p>
        </p:txBody>
      </p:sp>
      <p:sp>
        <p:nvSpPr>
          <p:cNvPr id="235" name="Shape 213"/>
          <p:cNvSpPr/>
          <p:nvPr/>
        </p:nvSpPr>
        <p:spPr>
          <a:xfrm>
            <a:off x="3144622" y="1144829"/>
            <a:ext cx="342900" cy="138989"/>
          </a:xfrm>
          <a:prstGeom prst="roundRect">
            <a:avLst>
              <a:gd name="adj" fmla="val 32895"/>
            </a:avLst>
          </a:prstGeom>
          <a:solidFill>
            <a:srgbClr val="FFFFFF"/>
          </a:solidFill>
          <a:ln w="5715">
            <a:solidFill>
              <a:srgbClr val="DADCE0"/>
            </a:solidFill>
            <a:prstDash val="solid"/>
          </a:ln>
        </p:spPr>
      </p:sp>
      <p:sp>
        <p:nvSpPr>
          <p:cNvPr id="236" name="Text 214"/>
          <p:cNvSpPr/>
          <p:nvPr/>
        </p:nvSpPr>
        <p:spPr>
          <a:xfrm>
            <a:off x="3164738" y="1153973"/>
            <a:ext cx="30266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Request</a:t>
            </a:r>
            <a:endParaRPr lang="en-US" sz="410" dirty="0"/>
          </a:p>
        </p:txBody>
      </p:sp>
      <p:sp>
        <p:nvSpPr>
          <p:cNvPr id="237" name="Shape 215"/>
          <p:cNvSpPr/>
          <p:nvPr/>
        </p:nvSpPr>
        <p:spPr>
          <a:xfrm>
            <a:off x="3144622" y="2723083"/>
            <a:ext cx="342900" cy="138989"/>
          </a:xfrm>
          <a:prstGeom prst="roundRect">
            <a:avLst>
              <a:gd name="adj" fmla="val 32895"/>
            </a:avLst>
          </a:prstGeom>
          <a:solidFill>
            <a:srgbClr val="FFFFFF"/>
          </a:solidFill>
          <a:ln w="5715">
            <a:solidFill>
              <a:srgbClr val="DADCE0"/>
            </a:solidFill>
            <a:prstDash val="solid"/>
          </a:ln>
        </p:spPr>
      </p:sp>
      <p:sp>
        <p:nvSpPr>
          <p:cNvPr id="238" name="Text 216"/>
          <p:cNvSpPr/>
          <p:nvPr/>
        </p:nvSpPr>
        <p:spPr>
          <a:xfrm>
            <a:off x="3164738" y="2732227"/>
            <a:ext cx="30266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Request</a:t>
            </a:r>
            <a:endParaRPr lang="en-US" sz="410" dirty="0"/>
          </a:p>
        </p:txBody>
      </p:sp>
      <p:sp>
        <p:nvSpPr>
          <p:cNvPr id="239" name="Text 217"/>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WS5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59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The Agentic Triad (80% reusable core)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59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EA4335"/>
          </a:solidFill>
          <a:ln/>
        </p:spPr>
      </p:sp>
      <p:sp>
        <p:nvSpPr>
          <p:cNvPr id="38" name="Shape 36"/>
          <p:cNvSpPr/>
          <p:nvPr/>
        </p:nvSpPr>
        <p:spPr>
          <a:xfrm>
            <a:off x="7552944" y="3026664"/>
            <a:ext cx="804672" cy="155448"/>
          </a:xfrm>
          <a:prstGeom prst="roundRect">
            <a:avLst>
              <a:gd name="adj" fmla="val 23529"/>
            </a:avLst>
          </a:prstGeom>
          <a:solidFill>
            <a:srgbClr val="FCE8E6"/>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COLUMN</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B — Sovereign Silos • Tier 3 • Terraform module 3.6</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FBBC04"/>
          </a:solidFill>
          <a:ln/>
        </p:spPr>
      </p:sp>
      <p:sp>
        <p:nvSpPr>
          <p:cNvPr id="44" name="Shape 42"/>
          <p:cNvSpPr/>
          <p:nvPr/>
        </p:nvSpPr>
        <p:spPr>
          <a:xfrm>
            <a:off x="7552944" y="3666744"/>
            <a:ext cx="804672" cy="155448"/>
          </a:xfrm>
          <a:prstGeom prst="roundRect">
            <a:avLst>
              <a:gd name="adj" fmla="val 23529"/>
            </a:avLst>
          </a:prstGeom>
          <a:solidFill>
            <a:srgbClr val="FEF7E0"/>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 SLATE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A — Pooled (Tier 1) &amp; Pattern C — Hybrid PSC (Tier 2)</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B Outcome Column (Q1 = YES -&gt; Step 4): Provisions Per-Tenant Project &amp; VPC-SC (IAM PAB + KMS CMEK 423) and Dedicated Agent &amp; Gemma 3 (600 RPM • 8k budget • 6/6 tests).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A Outcome Column (Q2 = NO -&gt; Step 5): Provisions Shared Agent Engine Pool (120 RPM • 4k cap • 90% cache) and Shared AlloyDB &amp; BigQuery RLS (FORCE RLS • 10/10 breach tests).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46 Shapes • 19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Executive Topology Selector: 2 questions → 3 outcomes</a:t>
            </a:r>
            <a:endParaRPr lang="en-US" sz="44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1. The 2-Question Executive Topology Selector</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Answer in order — Q1 settles compliance, Q2 settles tier mix</a:t>
            </a:r>
            <a:endParaRPr lang="en-US" sz="470" dirty="0"/>
          </a:p>
        </p:txBody>
      </p:sp>
      <p:sp>
        <p:nvSpPr>
          <p:cNvPr id="72" name="Shape 70"/>
          <p:cNvSpPr/>
          <p:nvPr/>
        </p:nvSpPr>
        <p:spPr>
          <a:xfrm>
            <a:off x="1436522" y="3900830"/>
            <a:ext cx="1477670" cy="2320747"/>
          </a:xfrm>
          <a:prstGeom prst="roundRect">
            <a:avLst>
              <a:gd name="adj" fmla="val 1856"/>
            </a:avLst>
          </a:prstGeom>
          <a:solidFill>
            <a:srgbClr val="FFFFFF"/>
          </a:solidFill>
          <a:ln w="10795">
            <a:solidFill>
              <a:srgbClr val="9AA0A6"/>
            </a:solidFill>
            <a:prstDash val="solid"/>
          </a:ln>
        </p:spPr>
      </p:sp>
      <p:sp>
        <p:nvSpPr>
          <p:cNvPr id="73" name="Shape 71"/>
          <p:cNvSpPr/>
          <p:nvPr/>
        </p:nvSpPr>
        <p:spPr>
          <a:xfrm>
            <a:off x="3001061" y="3900830"/>
            <a:ext cx="1477670" cy="2320747"/>
          </a:xfrm>
          <a:prstGeom prst="roundRect">
            <a:avLst>
              <a:gd name="adj" fmla="val 1856"/>
            </a:avLst>
          </a:prstGeom>
          <a:solidFill>
            <a:srgbClr val="FFFFFF"/>
          </a:solidFill>
          <a:ln w="10795">
            <a:solidFill>
              <a:srgbClr val="9AA0A6"/>
            </a:solidFill>
            <a:prstDash val="solid"/>
          </a:ln>
        </p:spPr>
      </p:sp>
      <p:sp>
        <p:nvSpPr>
          <p:cNvPr id="74" name="Shape 72"/>
          <p:cNvSpPr/>
          <p:nvPr/>
        </p:nvSpPr>
        <p:spPr>
          <a:xfrm>
            <a:off x="4565599" y="3900830"/>
            <a:ext cx="1477670" cy="2320747"/>
          </a:xfrm>
          <a:prstGeom prst="roundRect">
            <a:avLst>
              <a:gd name="adj" fmla="val 1856"/>
            </a:avLst>
          </a:prstGeom>
          <a:solidFill>
            <a:srgbClr val="FFFFFF"/>
          </a:solidFill>
          <a:ln w="10795">
            <a:solidFill>
              <a:srgbClr val="9AA0A6"/>
            </a:solidFill>
            <a:prstDash val="solid"/>
          </a:ln>
        </p:spPr>
      </p:sp>
      <p:sp>
        <p:nvSpPr>
          <p:cNvPr id="75" name="Shape 73"/>
          <p:cNvSpPr/>
          <p:nvPr/>
        </p:nvSpPr>
        <p:spPr>
          <a:xfrm>
            <a:off x="1506017" y="4048963"/>
            <a:ext cx="1338682" cy="2104034"/>
          </a:xfrm>
          <a:prstGeom prst="roundRect">
            <a:avLst>
              <a:gd name="adj" fmla="val 2049"/>
            </a:avLst>
          </a:prstGeom>
          <a:solidFill>
            <a:srgbClr val="FAD2CF"/>
          </a:solidFill>
          <a:ln w="10795">
            <a:solidFill>
              <a:srgbClr val="9AA0A6"/>
            </a:solidFill>
            <a:prstDash val="solid"/>
          </a:ln>
        </p:spPr>
      </p:sp>
      <p:sp>
        <p:nvSpPr>
          <p:cNvPr id="76" name="Text 74"/>
          <p:cNvSpPr/>
          <p:nvPr/>
        </p:nvSpPr>
        <p:spPr>
          <a:xfrm>
            <a:off x="1560881"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dedicated project per tenant</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Zero blast radius • customer holds the key</a:t>
            </a:r>
            <a:endParaRPr lang="en-US" sz="430" dirty="0"/>
          </a:p>
        </p:txBody>
      </p:sp>
      <p:sp>
        <p:nvSpPr>
          <p:cNvPr id="77" name="Shape 75"/>
          <p:cNvSpPr/>
          <p:nvPr/>
        </p:nvSpPr>
        <p:spPr>
          <a:xfrm>
            <a:off x="3070555" y="4048963"/>
            <a:ext cx="1338682" cy="2104034"/>
          </a:xfrm>
          <a:prstGeom prst="roundRect">
            <a:avLst>
              <a:gd name="adj" fmla="val 2049"/>
            </a:avLst>
          </a:prstGeom>
          <a:solidFill>
            <a:srgbClr val="FEEFC3"/>
          </a:solidFill>
          <a:ln w="10795">
            <a:solidFill>
              <a:srgbClr val="9AA0A6"/>
            </a:solidFill>
            <a:prstDash val="solid"/>
          </a:ln>
        </p:spPr>
      </p:sp>
      <p:sp>
        <p:nvSpPr>
          <p:cNvPr id="78" name="Text 76"/>
          <p:cNvSpPr/>
          <p:nvPr/>
        </p:nvSpPr>
        <p:spPr>
          <a:xfrm>
            <a:off x="3125419"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shared plane for all tenants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Lowest COGS • logical isolation only</a:t>
            </a:r>
            <a:endParaRPr lang="en-US" sz="430" dirty="0"/>
          </a:p>
        </p:txBody>
      </p:sp>
      <p:sp>
        <p:nvSpPr>
          <p:cNvPr id="79" name="Shape 77"/>
          <p:cNvSpPr/>
          <p:nvPr/>
        </p:nvSpPr>
        <p:spPr>
          <a:xfrm>
            <a:off x="4635094" y="4048963"/>
            <a:ext cx="1338682" cy="2104034"/>
          </a:xfrm>
          <a:prstGeom prst="roundRect">
            <a:avLst>
              <a:gd name="adj" fmla="val 2049"/>
            </a:avLst>
          </a:prstGeom>
          <a:solidFill>
            <a:srgbClr val="E8D9F7"/>
          </a:solidFill>
          <a:ln w="10795">
            <a:solidFill>
              <a:srgbClr val="9AA0A6"/>
            </a:solidFill>
            <a:prstDash val="solid"/>
          </a:ln>
        </p:spPr>
      </p:sp>
      <p:sp>
        <p:nvSpPr>
          <p:cNvPr id="80" name="Text 78"/>
          <p:cNvSpPr/>
          <p:nvPr/>
        </p:nvSpPr>
        <p:spPr>
          <a:xfrm>
            <a:off x="4689958"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Shared pool + private spokes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Standard pooled, Enterprise over PSC</a:t>
            </a:r>
            <a:endParaRPr lang="en-US" sz="430" dirty="0"/>
          </a:p>
        </p:txBody>
      </p:sp>
      <p:sp>
        <p:nvSpPr>
          <p:cNvPr id="81" name="Shape 79"/>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2" name="Text 8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2. The Agentic Triad (80% reusable core)</a:t>
            </a:r>
            <a:endParaRPr lang="en-US" sz="430" dirty="0"/>
          </a:p>
        </p:txBody>
      </p:sp>
      <p:pic>
        <p:nvPicPr>
          <p:cNvPr id="83"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4" name="Shape 81"/>
          <p:cNvSpPr/>
          <p:nvPr/>
        </p:nvSpPr>
        <p:spPr>
          <a:xfrm>
            <a:off x="1697126" y="4552798"/>
            <a:ext cx="0" cy="61265"/>
          </a:xfrm>
          <a:prstGeom prst="line">
            <a:avLst/>
          </a:prstGeom>
          <a:noFill/>
          <a:ln w="12700">
            <a:solidFill>
              <a:srgbClr val="5F6368"/>
            </a:solidFill>
            <a:prstDash val="solid"/>
            <a:tailEnd type="triangle" w="sm" len="sm"/>
          </a:ln>
        </p:spPr>
      </p:sp>
      <p:sp>
        <p:nvSpPr>
          <p:cNvPr id="85" name="Shape 82"/>
          <p:cNvSpPr/>
          <p:nvPr/>
        </p:nvSpPr>
        <p:spPr>
          <a:xfrm>
            <a:off x="1697126" y="4909414"/>
            <a:ext cx="0" cy="60350"/>
          </a:xfrm>
          <a:prstGeom prst="line">
            <a:avLst/>
          </a:prstGeom>
          <a:noFill/>
          <a:ln w="12700">
            <a:solidFill>
              <a:srgbClr val="5F6368"/>
            </a:solidFill>
            <a:prstDash val="solid"/>
            <a:tailEnd type="triangle" w="sm" len="sm"/>
          </a:ln>
        </p:spPr>
      </p:sp>
      <p:sp>
        <p:nvSpPr>
          <p:cNvPr id="86" name="Shape 83"/>
          <p:cNvSpPr/>
          <p:nvPr/>
        </p:nvSpPr>
        <p:spPr>
          <a:xfrm>
            <a:off x="1697126" y="5266030"/>
            <a:ext cx="0" cy="60350"/>
          </a:xfrm>
          <a:prstGeom prst="line">
            <a:avLst/>
          </a:prstGeom>
          <a:noFill/>
          <a:ln w="12700">
            <a:solidFill>
              <a:srgbClr val="5F6368"/>
            </a:solidFill>
            <a:prstDash val="solid"/>
            <a:tailEnd type="triangle" w="sm" len="sm"/>
          </a:ln>
        </p:spPr>
      </p:sp>
      <p:sp>
        <p:nvSpPr>
          <p:cNvPr id="87" name="Shape 84"/>
          <p:cNvSpPr/>
          <p:nvPr/>
        </p:nvSpPr>
        <p:spPr>
          <a:xfrm>
            <a:off x="2175358" y="3700577"/>
            <a:ext cx="0" cy="200254"/>
          </a:xfrm>
          <a:prstGeom prst="line">
            <a:avLst/>
          </a:prstGeom>
          <a:noFill/>
          <a:ln w="12700">
            <a:solidFill>
              <a:srgbClr val="5F6368"/>
            </a:solidFill>
            <a:prstDash val="solid"/>
            <a:tailEnd type="triangle" w="sm" len="sm"/>
          </a:ln>
        </p:spPr>
      </p:sp>
      <p:sp>
        <p:nvSpPr>
          <p:cNvPr id="88" name="Shape 85"/>
          <p:cNvSpPr/>
          <p:nvPr/>
        </p:nvSpPr>
        <p:spPr>
          <a:xfrm>
            <a:off x="3261665" y="4552798"/>
            <a:ext cx="0" cy="61265"/>
          </a:xfrm>
          <a:prstGeom prst="line">
            <a:avLst/>
          </a:prstGeom>
          <a:noFill/>
          <a:ln w="12700">
            <a:solidFill>
              <a:srgbClr val="5F6368"/>
            </a:solidFill>
            <a:prstDash val="solid"/>
            <a:tailEnd type="triangle" w="sm" len="sm"/>
          </a:ln>
        </p:spPr>
      </p:sp>
      <p:sp>
        <p:nvSpPr>
          <p:cNvPr id="89" name="Shape 86"/>
          <p:cNvSpPr/>
          <p:nvPr/>
        </p:nvSpPr>
        <p:spPr>
          <a:xfrm>
            <a:off x="3261665" y="4909414"/>
            <a:ext cx="0" cy="60350"/>
          </a:xfrm>
          <a:prstGeom prst="line">
            <a:avLst/>
          </a:prstGeom>
          <a:noFill/>
          <a:ln w="12700">
            <a:solidFill>
              <a:srgbClr val="5F6368"/>
            </a:solidFill>
            <a:prstDash val="solid"/>
            <a:tailEnd type="triangle" w="sm" len="sm"/>
          </a:ln>
        </p:spPr>
      </p:sp>
      <p:sp>
        <p:nvSpPr>
          <p:cNvPr id="90" name="Shape 87"/>
          <p:cNvSpPr/>
          <p:nvPr/>
        </p:nvSpPr>
        <p:spPr>
          <a:xfrm>
            <a:off x="3261665" y="5266030"/>
            <a:ext cx="0" cy="60350"/>
          </a:xfrm>
          <a:prstGeom prst="line">
            <a:avLst/>
          </a:prstGeom>
          <a:noFill/>
          <a:ln w="12700">
            <a:solidFill>
              <a:srgbClr val="5F6368"/>
            </a:solidFill>
            <a:prstDash val="solid"/>
            <a:tailEnd type="triangle" w="sm" len="sm"/>
          </a:ln>
        </p:spPr>
      </p:sp>
      <p:sp>
        <p:nvSpPr>
          <p:cNvPr id="91" name="Shape 88"/>
          <p:cNvSpPr/>
          <p:nvPr/>
        </p:nvSpPr>
        <p:spPr>
          <a:xfrm>
            <a:off x="3739896" y="3700577"/>
            <a:ext cx="0" cy="200254"/>
          </a:xfrm>
          <a:prstGeom prst="line">
            <a:avLst/>
          </a:prstGeom>
          <a:noFill/>
          <a:ln w="12700">
            <a:solidFill>
              <a:srgbClr val="5F6368"/>
            </a:solidFill>
            <a:prstDash val="solid"/>
            <a:tailEnd type="triangle" w="sm" len="sm"/>
          </a:ln>
        </p:spPr>
      </p:sp>
      <p:sp>
        <p:nvSpPr>
          <p:cNvPr id="92" name="Shape 89"/>
          <p:cNvSpPr/>
          <p:nvPr/>
        </p:nvSpPr>
        <p:spPr>
          <a:xfrm>
            <a:off x="4826203" y="4552798"/>
            <a:ext cx="0" cy="61265"/>
          </a:xfrm>
          <a:prstGeom prst="line">
            <a:avLst/>
          </a:prstGeom>
          <a:noFill/>
          <a:ln w="12700">
            <a:solidFill>
              <a:srgbClr val="5F6368"/>
            </a:solidFill>
            <a:prstDash val="solid"/>
            <a:tailEnd type="triangle" w="sm" len="sm"/>
          </a:ln>
        </p:spPr>
      </p:sp>
      <p:sp>
        <p:nvSpPr>
          <p:cNvPr id="93" name="Shape 90"/>
          <p:cNvSpPr/>
          <p:nvPr/>
        </p:nvSpPr>
        <p:spPr>
          <a:xfrm>
            <a:off x="4826203" y="4909414"/>
            <a:ext cx="0" cy="60350"/>
          </a:xfrm>
          <a:prstGeom prst="line">
            <a:avLst/>
          </a:prstGeom>
          <a:noFill/>
          <a:ln w="12700">
            <a:solidFill>
              <a:srgbClr val="5F6368"/>
            </a:solidFill>
            <a:prstDash val="solid"/>
            <a:tailEnd type="triangle" w="sm" len="sm"/>
          </a:ln>
        </p:spPr>
      </p:sp>
      <p:sp>
        <p:nvSpPr>
          <p:cNvPr id="94" name="Shape 91"/>
          <p:cNvSpPr/>
          <p:nvPr/>
        </p:nvSpPr>
        <p:spPr>
          <a:xfrm>
            <a:off x="4826203" y="5266030"/>
            <a:ext cx="0" cy="60350"/>
          </a:xfrm>
          <a:prstGeom prst="line">
            <a:avLst/>
          </a:prstGeom>
          <a:noFill/>
          <a:ln w="12700">
            <a:solidFill>
              <a:srgbClr val="5F6368"/>
            </a:solidFill>
            <a:prstDash val="solid"/>
            <a:tailEnd type="triangle" w="sm" len="sm"/>
          </a:ln>
        </p:spPr>
      </p:sp>
      <p:sp>
        <p:nvSpPr>
          <p:cNvPr id="95" name="Shape 92"/>
          <p:cNvSpPr/>
          <p:nvPr/>
        </p:nvSpPr>
        <p:spPr>
          <a:xfrm>
            <a:off x="5304434" y="3700577"/>
            <a:ext cx="0" cy="200254"/>
          </a:xfrm>
          <a:prstGeom prst="line">
            <a:avLst/>
          </a:prstGeom>
          <a:noFill/>
          <a:ln w="12700">
            <a:solidFill>
              <a:srgbClr val="5F6368"/>
            </a:solidFill>
            <a:prstDash val="solid"/>
            <a:tailEnd type="triangle" w="sm" len="sm"/>
          </a:ln>
        </p:spPr>
      </p:sp>
      <p:sp>
        <p:nvSpPr>
          <p:cNvPr id="96" name="Shape 93"/>
          <p:cNvSpPr/>
          <p:nvPr/>
        </p:nvSpPr>
        <p:spPr>
          <a:xfrm>
            <a:off x="3696005" y="1032358"/>
            <a:ext cx="0" cy="1086307"/>
          </a:xfrm>
          <a:prstGeom prst="line">
            <a:avLst/>
          </a:prstGeom>
          <a:noFill/>
          <a:ln w="12700">
            <a:solidFill>
              <a:srgbClr val="5F6368"/>
            </a:solidFill>
            <a:prstDash val="solid"/>
            <a:tailEnd type="triangle" w="sm" len="sm"/>
          </a:ln>
        </p:spPr>
      </p:sp>
      <p:sp>
        <p:nvSpPr>
          <p:cNvPr id="97" name="Shape 94"/>
          <p:cNvSpPr/>
          <p:nvPr/>
        </p:nvSpPr>
        <p:spPr>
          <a:xfrm>
            <a:off x="2175358" y="2371039"/>
            <a:ext cx="0" cy="121615"/>
          </a:xfrm>
          <a:prstGeom prst="line">
            <a:avLst/>
          </a:prstGeom>
          <a:noFill/>
          <a:ln w="12700">
            <a:solidFill>
              <a:srgbClr val="5F6368"/>
            </a:solidFill>
            <a:prstDash val="solid"/>
            <a:tailEnd type="triangle" w="sm" len="sm"/>
          </a:ln>
        </p:spPr>
      </p:sp>
      <p:sp>
        <p:nvSpPr>
          <p:cNvPr id="98" name="Shape 95"/>
          <p:cNvSpPr/>
          <p:nvPr/>
        </p:nvSpPr>
        <p:spPr>
          <a:xfrm>
            <a:off x="2740457" y="2710282"/>
            <a:ext cx="243230" cy="0"/>
          </a:xfrm>
          <a:prstGeom prst="line">
            <a:avLst/>
          </a:prstGeom>
          <a:noFill/>
          <a:ln w="12700">
            <a:solidFill>
              <a:srgbClr val="5F6368"/>
            </a:solidFill>
            <a:prstDash val="solid"/>
            <a:tailEnd type="triangle" w="sm" len="sm"/>
          </a:ln>
        </p:spPr>
      </p:sp>
      <p:sp>
        <p:nvSpPr>
          <p:cNvPr id="99" name="Shape 96"/>
          <p:cNvSpPr/>
          <p:nvPr/>
        </p:nvSpPr>
        <p:spPr>
          <a:xfrm>
            <a:off x="2175358" y="2926994"/>
            <a:ext cx="0" cy="651967"/>
          </a:xfrm>
          <a:prstGeom prst="line">
            <a:avLst/>
          </a:prstGeom>
          <a:noFill/>
          <a:ln w="12700">
            <a:solidFill>
              <a:srgbClr val="5F6368"/>
            </a:solidFill>
            <a:prstDash val="solid"/>
            <a:tailEnd type="triangle" w="sm" len="sm"/>
          </a:ln>
        </p:spPr>
      </p:sp>
      <p:sp>
        <p:nvSpPr>
          <p:cNvPr id="100" name="Shape 97"/>
          <p:cNvSpPr/>
          <p:nvPr/>
        </p:nvSpPr>
        <p:spPr>
          <a:xfrm>
            <a:off x="3288182" y="2926994"/>
            <a:ext cx="0" cy="651967"/>
          </a:xfrm>
          <a:prstGeom prst="line">
            <a:avLst/>
          </a:prstGeom>
          <a:noFill/>
          <a:ln w="12700">
            <a:solidFill>
              <a:srgbClr val="5F6368"/>
            </a:solidFill>
            <a:prstDash val="solid"/>
            <a:tailEnd type="triangle" w="sm" len="sm"/>
          </a:ln>
        </p:spPr>
      </p:sp>
      <p:sp>
        <p:nvSpPr>
          <p:cNvPr id="101" name="Shape 98"/>
          <p:cNvSpPr/>
          <p:nvPr/>
        </p:nvSpPr>
        <p:spPr>
          <a:xfrm>
            <a:off x="4113886" y="2926994"/>
            <a:ext cx="0" cy="556870"/>
          </a:xfrm>
          <a:prstGeom prst="line">
            <a:avLst/>
          </a:prstGeom>
          <a:noFill/>
          <a:ln w="12700">
            <a:solidFill>
              <a:srgbClr val="5F6368"/>
            </a:solidFill>
            <a:prstDash val="solid"/>
          </a:ln>
        </p:spPr>
      </p:sp>
      <p:sp>
        <p:nvSpPr>
          <p:cNvPr id="102" name="Shape 99"/>
          <p:cNvSpPr/>
          <p:nvPr/>
        </p:nvSpPr>
        <p:spPr>
          <a:xfrm>
            <a:off x="4113886" y="3483864"/>
            <a:ext cx="1364285" cy="0"/>
          </a:xfrm>
          <a:prstGeom prst="line">
            <a:avLst/>
          </a:prstGeom>
          <a:noFill/>
          <a:ln w="12700">
            <a:solidFill>
              <a:srgbClr val="5F6368"/>
            </a:solidFill>
            <a:prstDash val="solid"/>
          </a:ln>
        </p:spPr>
      </p:sp>
      <p:sp>
        <p:nvSpPr>
          <p:cNvPr id="103" name="Shape 100"/>
          <p:cNvSpPr/>
          <p:nvPr/>
        </p:nvSpPr>
        <p:spPr>
          <a:xfrm>
            <a:off x="5478170" y="3483864"/>
            <a:ext cx="914" cy="95098"/>
          </a:xfrm>
          <a:prstGeom prst="line">
            <a:avLst/>
          </a:prstGeom>
          <a:noFill/>
          <a:ln w="12700">
            <a:solidFill>
              <a:srgbClr val="5F6368"/>
            </a:solidFill>
            <a:prstDash val="solid"/>
            <a:tailEnd type="triangle" w="sm" len="sm"/>
          </a:ln>
        </p:spPr>
      </p:sp>
      <p:sp>
        <p:nvSpPr>
          <p:cNvPr id="104" name="Shape 101"/>
          <p:cNvSpPr/>
          <p:nvPr/>
        </p:nvSpPr>
        <p:spPr>
          <a:xfrm>
            <a:off x="5869534" y="3327502"/>
            <a:ext cx="0" cy="251460"/>
          </a:xfrm>
          <a:prstGeom prst="line">
            <a:avLst/>
          </a:prstGeom>
          <a:noFill/>
          <a:ln w="12700">
            <a:solidFill>
              <a:srgbClr val="5F6368"/>
            </a:solidFill>
            <a:prstDash val="dash"/>
            <a:tailEnd type="triangle" w="sm" len="sm"/>
          </a:ln>
        </p:spPr>
      </p:sp>
      <p:sp>
        <p:nvSpPr>
          <p:cNvPr id="105" name="Shape 102"/>
          <p:cNvSpPr/>
          <p:nvPr/>
        </p:nvSpPr>
        <p:spPr>
          <a:xfrm>
            <a:off x="1473098" y="3915461"/>
            <a:ext cx="1063447" cy="113386"/>
          </a:xfrm>
          <a:prstGeom prst="rect">
            <a:avLst/>
          </a:prstGeom>
          <a:solidFill>
            <a:srgbClr val="FFFFFF"/>
          </a:solidFill>
          <a:ln/>
        </p:spPr>
      </p:sp>
      <p:sp>
        <p:nvSpPr>
          <p:cNvPr id="106" name="Text 103"/>
          <p:cNvSpPr/>
          <p:nvPr/>
        </p:nvSpPr>
        <p:spPr>
          <a:xfrm>
            <a:off x="1491386"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B — Sovereign Silos • Tier 3</a:t>
            </a:r>
            <a:endParaRPr lang="en-US" sz="380" dirty="0"/>
          </a:p>
        </p:txBody>
      </p:sp>
      <p:sp>
        <p:nvSpPr>
          <p:cNvPr id="107" name="Shape 104"/>
          <p:cNvSpPr/>
          <p:nvPr/>
        </p:nvSpPr>
        <p:spPr>
          <a:xfrm>
            <a:off x="3037637" y="3915461"/>
            <a:ext cx="815645" cy="113386"/>
          </a:xfrm>
          <a:prstGeom prst="rect">
            <a:avLst/>
          </a:prstGeom>
          <a:solidFill>
            <a:srgbClr val="FFFFFF"/>
          </a:solidFill>
          <a:ln/>
        </p:spPr>
      </p:sp>
      <p:sp>
        <p:nvSpPr>
          <p:cNvPr id="108" name="Text 105"/>
          <p:cNvSpPr/>
          <p:nvPr/>
        </p:nvSpPr>
        <p:spPr>
          <a:xfrm>
            <a:off x="3055925"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A — Pooled • Tier 1</a:t>
            </a:r>
            <a:endParaRPr lang="en-US" sz="380" dirty="0"/>
          </a:p>
        </p:txBody>
      </p:sp>
      <p:sp>
        <p:nvSpPr>
          <p:cNvPr id="109" name="Shape 106"/>
          <p:cNvSpPr/>
          <p:nvPr/>
        </p:nvSpPr>
        <p:spPr>
          <a:xfrm>
            <a:off x="4602175" y="3915461"/>
            <a:ext cx="926287" cy="113386"/>
          </a:xfrm>
          <a:prstGeom prst="rect">
            <a:avLst/>
          </a:prstGeom>
          <a:solidFill>
            <a:srgbClr val="FFFFFF"/>
          </a:solidFill>
          <a:ln/>
        </p:spPr>
      </p:sp>
      <p:sp>
        <p:nvSpPr>
          <p:cNvPr id="110" name="Text 107"/>
          <p:cNvSpPr/>
          <p:nvPr/>
        </p:nvSpPr>
        <p:spPr>
          <a:xfrm>
            <a:off x="4620463"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C — Hybrid PSC • Tier 2</a:t>
            </a:r>
            <a:endParaRPr lang="en-US" sz="380" dirty="0"/>
          </a:p>
        </p:txBody>
      </p:sp>
      <p:sp>
        <p:nvSpPr>
          <p:cNvPr id="111" name="Shape 108"/>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12"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3" name="Text 109"/>
          <p:cNvSpPr/>
          <p:nvPr/>
        </p:nvSpPr>
        <p:spPr>
          <a:xfrm>
            <a:off x="1796796" y="2118665"/>
            <a:ext cx="2350008" cy="252374"/>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Decision inputs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490" dirty="0"/>
          </a:p>
        </p:txBody>
      </p:sp>
      <p:sp>
        <p:nvSpPr>
          <p:cNvPr id="114" name="Shape 110"/>
          <p:cNvSpPr/>
          <p:nvPr/>
        </p:nvSpPr>
        <p:spPr>
          <a:xfrm>
            <a:off x="1436522" y="3578962"/>
            <a:ext cx="4607662" cy="121615"/>
          </a:xfrm>
          <a:prstGeom prst="roundRect">
            <a:avLst>
              <a:gd name="adj" fmla="val 30075"/>
            </a:avLst>
          </a:prstGeom>
          <a:solidFill>
            <a:srgbClr val="E6F4EA"/>
          </a:solidFill>
          <a:ln w="10795">
            <a:solidFill>
              <a:srgbClr val="137333"/>
            </a:solidFill>
            <a:prstDash val="dash"/>
          </a:ln>
        </p:spPr>
      </p:sp>
      <p:sp>
        <p:nvSpPr>
          <p:cNvPr id="115" name="Text 111"/>
          <p:cNvSpPr/>
          <p:nvPr/>
        </p:nvSpPr>
        <p:spPr>
          <a:xfrm>
            <a:off x="1450238" y="3578962"/>
            <a:ext cx="4580230" cy="121615"/>
          </a:xfrm>
          <a:prstGeom prst="rect">
            <a:avLst/>
          </a:prstGeom>
          <a:noFill/>
          <a:ln/>
        </p:spPr>
        <p:txBody>
          <a:bodyPr wrap="none" lIns="0" tIns="0" rIns="0" bIns="0" rtlCol="0" anchor="ctr"/>
          <a:lstStyle/>
          <a:p>
            <a:pPr algn="ctr" indent="0" marL="0">
              <a:lnSpc>
                <a:spcPct val="100000"/>
              </a:lnSpc>
              <a:buNone/>
            </a:pPr>
            <a:r>
              <a:rPr lang="en-US" sz="400"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00" dirty="0"/>
          </a:p>
        </p:txBody>
      </p:sp>
      <p:sp>
        <p:nvSpPr>
          <p:cNvPr id="116" name="Shape 112"/>
          <p:cNvSpPr/>
          <p:nvPr/>
        </p:nvSpPr>
        <p:spPr>
          <a:xfrm>
            <a:off x="2983687" y="2492654"/>
            <a:ext cx="1207922" cy="434340"/>
          </a:xfrm>
          <a:prstGeom prst="roundRect">
            <a:avLst>
              <a:gd name="adj" fmla="val 8421"/>
            </a:avLst>
          </a:prstGeom>
          <a:solidFill>
            <a:srgbClr val="FFFFFF"/>
          </a:solidFill>
          <a:ln w="10795">
            <a:solidFill>
              <a:srgbClr val="DADCE0"/>
            </a:solidFill>
            <a:prstDash val="solid"/>
          </a:ln>
        </p:spPr>
      </p:sp>
      <p:sp>
        <p:nvSpPr>
          <p:cNvPr id="117" name="Text 113"/>
          <p:cNvSpPr/>
          <p:nvPr/>
        </p:nvSpPr>
        <p:spPr>
          <a:xfrm>
            <a:off x="3020263" y="2492654"/>
            <a:ext cx="1134770"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Q2 · Tier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20" dirty="0"/>
          </a:p>
        </p:txBody>
      </p:sp>
      <p:sp>
        <p:nvSpPr>
          <p:cNvPr id="118" name="Shape 114"/>
          <p:cNvSpPr/>
          <p:nvPr/>
        </p:nvSpPr>
        <p:spPr>
          <a:xfrm>
            <a:off x="1583741" y="2492654"/>
            <a:ext cx="1155802" cy="434340"/>
          </a:xfrm>
          <a:prstGeom prst="roundRect">
            <a:avLst>
              <a:gd name="adj" fmla="val 8421"/>
            </a:avLst>
          </a:prstGeom>
          <a:solidFill>
            <a:srgbClr val="FFFFFF"/>
          </a:solidFill>
          <a:ln w="10795">
            <a:solidFill>
              <a:srgbClr val="DADCE0"/>
            </a:solidFill>
            <a:prstDash val="solid"/>
          </a:ln>
        </p:spPr>
      </p:sp>
      <p:sp>
        <p:nvSpPr>
          <p:cNvPr id="119" name="Text 115"/>
          <p:cNvSpPr/>
          <p:nvPr/>
        </p:nvSpPr>
        <p:spPr>
          <a:xfrm>
            <a:off x="1620317" y="2492654"/>
            <a:ext cx="1082650"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Q1 · Compliance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20" dirty="0"/>
          </a:p>
        </p:txBody>
      </p:sp>
      <p:sp>
        <p:nvSpPr>
          <p:cNvPr id="120"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1"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22" name="Text 117"/>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Chief Architect • CISO • CFO</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1,000 tenants • 950 Standard + 50 Enterprise</a:t>
            </a:r>
            <a:endParaRPr lang="en-US" sz="480" dirty="0"/>
          </a:p>
        </p:txBody>
      </p:sp>
      <p:sp>
        <p:nvSpPr>
          <p:cNvPr id="123" name="Shape 118"/>
          <p:cNvSpPr/>
          <p:nvPr/>
        </p:nvSpPr>
        <p:spPr>
          <a:xfrm>
            <a:off x="1523390" y="4257446"/>
            <a:ext cx="1303934" cy="295351"/>
          </a:xfrm>
          <a:prstGeom prst="roundRect">
            <a:avLst>
              <a:gd name="adj" fmla="val 12384"/>
            </a:avLst>
          </a:prstGeom>
          <a:solidFill>
            <a:srgbClr val="FFFFFF"/>
          </a:solidFill>
          <a:ln w="10795">
            <a:solidFill>
              <a:srgbClr val="DADCE0"/>
            </a:solidFill>
            <a:prstDash val="solid"/>
          </a:ln>
        </p:spPr>
      </p:sp>
      <p:pic>
        <p:nvPicPr>
          <p:cNvPr id="124" name="Image 3" descr="preencoded.png">    </p:cNvPr>
          <p:cNvPicPr>
            <a:picLocks noChangeAspect="1"/>
          </p:cNvPicPr>
          <p:nvPr/>
        </p:nvPicPr>
        <p:blipFill>
          <a:blip r:embed="rId4"/>
          <a:stretch>
            <a:fillRect/>
          </a:stretch>
        </p:blipFill>
        <p:spPr>
          <a:xfrm>
            <a:off x="1564538" y="4327855"/>
            <a:ext cx="153619" cy="153619"/>
          </a:xfrm>
          <a:prstGeom prst="rect">
            <a:avLst/>
          </a:prstGeom>
        </p:spPr>
      </p:pic>
      <p:sp>
        <p:nvSpPr>
          <p:cNvPr id="125" name="Text 119"/>
          <p:cNvSpPr/>
          <p:nvPr/>
        </p:nvSpPr>
        <p:spPr>
          <a:xfrm>
            <a:off x="1741018"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Perimeter + IAM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project • 0 cross-perimeter egress</a:t>
            </a:r>
            <a:endParaRPr lang="en-US" sz="490" dirty="0"/>
          </a:p>
        </p:txBody>
      </p:sp>
      <p:sp>
        <p:nvSpPr>
          <p:cNvPr id="126" name="Shape 120"/>
          <p:cNvSpPr/>
          <p:nvPr/>
        </p:nvSpPr>
        <p:spPr>
          <a:xfrm>
            <a:off x="1523390" y="4614062"/>
            <a:ext cx="1303934" cy="295351"/>
          </a:xfrm>
          <a:prstGeom prst="roundRect">
            <a:avLst>
              <a:gd name="adj" fmla="val 12384"/>
            </a:avLst>
          </a:prstGeom>
          <a:solidFill>
            <a:srgbClr val="FFFFFF"/>
          </a:solidFill>
          <a:ln w="10795">
            <a:solidFill>
              <a:srgbClr val="DADCE0"/>
            </a:solidFill>
            <a:prstDash val="solid"/>
          </a:ln>
        </p:spPr>
      </p:sp>
      <p:pic>
        <p:nvPicPr>
          <p:cNvPr id="127" name="Image 4" descr="preencoded.png">    </p:cNvPr>
          <p:cNvPicPr>
            <a:picLocks noChangeAspect="1"/>
          </p:cNvPicPr>
          <p:nvPr/>
        </p:nvPicPr>
        <p:blipFill>
          <a:blip r:embed="rId5"/>
          <a:stretch>
            <a:fillRect/>
          </a:stretch>
        </p:blipFill>
        <p:spPr>
          <a:xfrm>
            <a:off x="1564538" y="4684471"/>
            <a:ext cx="153619" cy="153619"/>
          </a:xfrm>
          <a:prstGeom prst="rect">
            <a:avLst/>
          </a:prstGeom>
        </p:spPr>
      </p:pic>
      <p:sp>
        <p:nvSpPr>
          <p:cNvPr id="128" name="Text 121"/>
          <p:cNvSpPr/>
          <p:nvPr/>
        </p:nvSpPr>
        <p:spPr>
          <a:xfrm>
            <a:off x="1741018"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Customer CMEK Kill-Switch</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in &lt;60s</a:t>
            </a:r>
            <a:endParaRPr lang="en-US" sz="490" dirty="0"/>
          </a:p>
        </p:txBody>
      </p:sp>
      <p:sp>
        <p:nvSpPr>
          <p:cNvPr id="129" name="Shape 122"/>
          <p:cNvSpPr/>
          <p:nvPr/>
        </p:nvSpPr>
        <p:spPr>
          <a:xfrm>
            <a:off x="1523390" y="4969764"/>
            <a:ext cx="1303934" cy="295351"/>
          </a:xfrm>
          <a:prstGeom prst="roundRect">
            <a:avLst>
              <a:gd name="adj" fmla="val 12384"/>
            </a:avLst>
          </a:prstGeom>
          <a:solidFill>
            <a:srgbClr val="FFFFFF"/>
          </a:solidFill>
          <a:ln w="10795">
            <a:solidFill>
              <a:srgbClr val="DADCE0"/>
            </a:solidFill>
            <a:prstDash val="solid"/>
          </a:ln>
        </p:spPr>
      </p:sp>
      <p:pic>
        <p:nvPicPr>
          <p:cNvPr id="130" name="Image 5" descr="preencoded.png">    </p:cNvPr>
          <p:cNvPicPr>
            <a:picLocks noChangeAspect="1"/>
          </p:cNvPicPr>
          <p:nvPr/>
        </p:nvPicPr>
        <p:blipFill>
          <a:blip r:embed="rId6"/>
          <a:stretch>
            <a:fillRect/>
          </a:stretch>
        </p:blipFill>
        <p:spPr>
          <a:xfrm>
            <a:off x="1564538" y="5040173"/>
            <a:ext cx="153619" cy="153619"/>
          </a:xfrm>
          <a:prstGeom prst="rect">
            <a:avLst/>
          </a:prstGeom>
        </p:spPr>
      </p:pic>
      <p:sp>
        <p:nvSpPr>
          <p:cNvPr id="131" name="Text 123"/>
          <p:cNvSpPr/>
          <p:nvPr/>
        </p:nvSpPr>
        <p:spPr>
          <a:xfrm>
            <a:off x="1741018"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Private GKE Gemma 3 27B / Dedicated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inference, no shared cache</a:t>
            </a:r>
            <a:endParaRPr lang="en-US" sz="490" dirty="0"/>
          </a:p>
        </p:txBody>
      </p:sp>
      <p:sp>
        <p:nvSpPr>
          <p:cNvPr id="132" name="Shape 124"/>
          <p:cNvSpPr/>
          <p:nvPr/>
        </p:nvSpPr>
        <p:spPr>
          <a:xfrm>
            <a:off x="1523390" y="5326380"/>
            <a:ext cx="1303934" cy="295351"/>
          </a:xfrm>
          <a:prstGeom prst="roundRect">
            <a:avLst>
              <a:gd name="adj" fmla="val 12384"/>
            </a:avLst>
          </a:prstGeom>
          <a:solidFill>
            <a:srgbClr val="FFFFFF"/>
          </a:solidFill>
          <a:ln w="10795">
            <a:solidFill>
              <a:srgbClr val="DADCE0"/>
            </a:solidFill>
            <a:prstDash val="solid"/>
          </a:ln>
        </p:spPr>
      </p:sp>
      <p:pic>
        <p:nvPicPr>
          <p:cNvPr id="133" name="Image 6" descr="preencoded.png">    </p:cNvPr>
          <p:cNvPicPr>
            <a:picLocks noChangeAspect="1"/>
          </p:cNvPicPr>
          <p:nvPr/>
        </p:nvPicPr>
        <p:blipFill>
          <a:blip r:embed="rId7"/>
          <a:stretch>
            <a:fillRect/>
          </a:stretch>
        </p:blipFill>
        <p:spPr>
          <a:xfrm>
            <a:off x="1564538" y="5396789"/>
            <a:ext cx="153619" cy="153619"/>
          </a:xfrm>
          <a:prstGeom prst="rect">
            <a:avLst/>
          </a:prstGeom>
        </p:spPr>
      </p:pic>
      <p:sp>
        <p:nvSpPr>
          <p:cNvPr id="134" name="Text 125"/>
          <p:cNvSpPr/>
          <p:nvPr/>
        </p:nvSpPr>
        <p:spPr>
          <a:xfrm>
            <a:off x="1741018"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 + AlloyDB CMEK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Tools &amp; state never leave the perimeter</a:t>
            </a:r>
            <a:endParaRPr lang="en-US" sz="490" dirty="0"/>
          </a:p>
        </p:txBody>
      </p:sp>
      <p:sp>
        <p:nvSpPr>
          <p:cNvPr id="135" name="Shape 126"/>
          <p:cNvSpPr/>
          <p:nvPr/>
        </p:nvSpPr>
        <p:spPr>
          <a:xfrm>
            <a:off x="3087929" y="4257446"/>
            <a:ext cx="1303934" cy="295351"/>
          </a:xfrm>
          <a:prstGeom prst="roundRect">
            <a:avLst>
              <a:gd name="adj" fmla="val 12384"/>
            </a:avLst>
          </a:prstGeom>
          <a:solidFill>
            <a:srgbClr val="FFFFFF"/>
          </a:solidFill>
          <a:ln w="10795">
            <a:solidFill>
              <a:srgbClr val="DADCE0"/>
            </a:solidFill>
            <a:prstDash val="solid"/>
          </a:ln>
        </p:spPr>
      </p:sp>
      <p:pic>
        <p:nvPicPr>
          <p:cNvPr id="136" name="Image 7" descr="preencoded.png">    </p:cNvPr>
          <p:cNvPicPr>
            <a:picLocks noChangeAspect="1"/>
          </p:cNvPicPr>
          <p:nvPr/>
        </p:nvPicPr>
        <p:blipFill>
          <a:blip r:embed="rId8"/>
          <a:stretch>
            <a:fillRect/>
          </a:stretch>
        </p:blipFill>
        <p:spPr>
          <a:xfrm>
            <a:off x="3129077" y="4327855"/>
            <a:ext cx="153619" cy="153619"/>
          </a:xfrm>
          <a:prstGeom prst="rect">
            <a:avLst/>
          </a:prstGeom>
        </p:spPr>
      </p:pic>
      <p:sp>
        <p:nvSpPr>
          <p:cNvPr id="137" name="Text 127"/>
          <p:cNvSpPr/>
          <p:nvPr/>
        </p:nvSpPr>
        <p:spPr>
          <a:xfrm>
            <a:off x="3305556"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Agent Engine gVisor Pool</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temp:tenant_id bound per request</a:t>
            </a:r>
            <a:endParaRPr lang="en-US" sz="490" dirty="0"/>
          </a:p>
        </p:txBody>
      </p:sp>
      <p:sp>
        <p:nvSpPr>
          <p:cNvPr id="138" name="Shape 128"/>
          <p:cNvSpPr/>
          <p:nvPr/>
        </p:nvSpPr>
        <p:spPr>
          <a:xfrm>
            <a:off x="3087929" y="4614062"/>
            <a:ext cx="1303934" cy="295351"/>
          </a:xfrm>
          <a:prstGeom prst="roundRect">
            <a:avLst>
              <a:gd name="adj" fmla="val 12384"/>
            </a:avLst>
          </a:prstGeom>
          <a:solidFill>
            <a:srgbClr val="FFFFFF"/>
          </a:solidFill>
          <a:ln w="10795">
            <a:solidFill>
              <a:srgbClr val="DADCE0"/>
            </a:solidFill>
            <a:prstDash val="solid"/>
          </a:ln>
        </p:spPr>
      </p:sp>
      <p:pic>
        <p:nvPicPr>
          <p:cNvPr id="139" name="Image 8" descr="preencoded.png">    </p:cNvPr>
          <p:cNvPicPr>
            <a:picLocks noChangeAspect="1"/>
          </p:cNvPicPr>
          <p:nvPr/>
        </p:nvPicPr>
        <p:blipFill>
          <a:blip r:embed="rId9"/>
          <a:stretch>
            <a:fillRect/>
          </a:stretch>
        </p:blipFill>
        <p:spPr>
          <a:xfrm>
            <a:off x="3129077" y="4684471"/>
            <a:ext cx="153619" cy="153619"/>
          </a:xfrm>
          <a:prstGeom prst="rect">
            <a:avLst/>
          </a:prstGeom>
        </p:spPr>
      </p:pic>
      <p:sp>
        <p:nvSpPr>
          <p:cNvPr id="140" name="Text 129"/>
          <p:cNvSpPr/>
          <p:nvPr/>
        </p:nvSpPr>
        <p:spPr>
          <a:xfrm>
            <a:off x="3305556"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 BigQuery FORCE RLS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tenant_id rows • 0 cross-tenant rows</a:t>
            </a:r>
            <a:endParaRPr lang="en-US" sz="490" dirty="0"/>
          </a:p>
        </p:txBody>
      </p:sp>
      <p:sp>
        <p:nvSpPr>
          <p:cNvPr id="141" name="Shape 130"/>
          <p:cNvSpPr/>
          <p:nvPr/>
        </p:nvSpPr>
        <p:spPr>
          <a:xfrm>
            <a:off x="3087929" y="4969764"/>
            <a:ext cx="1303934" cy="295351"/>
          </a:xfrm>
          <a:prstGeom prst="roundRect">
            <a:avLst>
              <a:gd name="adj" fmla="val 12384"/>
            </a:avLst>
          </a:prstGeom>
          <a:solidFill>
            <a:srgbClr val="FFFFFF"/>
          </a:solidFill>
          <a:ln w="10795">
            <a:solidFill>
              <a:srgbClr val="DADCE0"/>
            </a:solidFill>
            <a:prstDash val="solid"/>
          </a:ln>
        </p:spPr>
      </p:sp>
      <p:pic>
        <p:nvPicPr>
          <p:cNvPr id="142" name="Image 9" descr="preencoded.png">    </p:cNvPr>
          <p:cNvPicPr>
            <a:picLocks noChangeAspect="1"/>
          </p:cNvPicPr>
          <p:nvPr/>
        </p:nvPicPr>
        <p:blipFill>
          <a:blip r:embed="rId10"/>
          <a:stretch>
            <a:fillRect/>
          </a:stretch>
        </p:blipFill>
        <p:spPr>
          <a:xfrm>
            <a:off x="3129077" y="5040173"/>
            <a:ext cx="153619" cy="153619"/>
          </a:xfrm>
          <a:prstGeom prst="rect">
            <a:avLst/>
          </a:prstGeom>
        </p:spPr>
      </p:pic>
      <p:sp>
        <p:nvSpPr>
          <p:cNvPr id="143" name="Text 131"/>
          <p:cNvSpPr/>
          <p:nvPr/>
        </p:nvSpPr>
        <p:spPr>
          <a:xfrm>
            <a:off x="3305556"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Namespaced Memory + 90% ContextCache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prefix • 84.7% input token savings</a:t>
            </a:r>
            <a:endParaRPr lang="en-US" sz="490" dirty="0"/>
          </a:p>
        </p:txBody>
      </p:sp>
      <p:sp>
        <p:nvSpPr>
          <p:cNvPr id="144" name="Shape 132"/>
          <p:cNvSpPr/>
          <p:nvPr/>
        </p:nvSpPr>
        <p:spPr>
          <a:xfrm>
            <a:off x="3087929" y="5326380"/>
            <a:ext cx="1303934" cy="295351"/>
          </a:xfrm>
          <a:prstGeom prst="roundRect">
            <a:avLst>
              <a:gd name="adj" fmla="val 12384"/>
            </a:avLst>
          </a:prstGeom>
          <a:solidFill>
            <a:srgbClr val="FFFFFF"/>
          </a:solidFill>
          <a:ln w="10795">
            <a:solidFill>
              <a:srgbClr val="DADCE0"/>
            </a:solidFill>
            <a:prstDash val="solid"/>
          </a:ln>
        </p:spPr>
      </p:sp>
      <p:pic>
        <p:nvPicPr>
          <p:cNvPr id="145" name="Image 10" descr="preencoded.png">    </p:cNvPr>
          <p:cNvPicPr>
            <a:picLocks noChangeAspect="1"/>
          </p:cNvPicPr>
          <p:nvPr/>
        </p:nvPicPr>
        <p:blipFill>
          <a:blip r:embed="rId11"/>
          <a:stretch>
            <a:fillRect/>
          </a:stretch>
        </p:blipFill>
        <p:spPr>
          <a:xfrm>
            <a:off x="3129077" y="5396789"/>
            <a:ext cx="153619" cy="153619"/>
          </a:xfrm>
          <a:prstGeom prst="rect">
            <a:avLst/>
          </a:prstGeom>
        </p:spPr>
      </p:pic>
      <p:sp>
        <p:nvSpPr>
          <p:cNvPr id="146" name="Text 133"/>
          <p:cNvSpPr/>
          <p:nvPr/>
        </p:nvSpPr>
        <p:spPr>
          <a:xfrm>
            <a:off x="3305556"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Valkey Bulkheads + Thinking Caps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120 / 600 RPM • 4k / 8k tokens</a:t>
            </a:r>
            <a:endParaRPr lang="en-US" sz="490" dirty="0"/>
          </a:p>
        </p:txBody>
      </p:sp>
      <p:sp>
        <p:nvSpPr>
          <p:cNvPr id="147" name="Shape 134"/>
          <p:cNvSpPr/>
          <p:nvPr/>
        </p:nvSpPr>
        <p:spPr>
          <a:xfrm>
            <a:off x="4652467" y="4257446"/>
            <a:ext cx="1303934" cy="295351"/>
          </a:xfrm>
          <a:prstGeom prst="roundRect">
            <a:avLst>
              <a:gd name="adj" fmla="val 12384"/>
            </a:avLst>
          </a:prstGeom>
          <a:solidFill>
            <a:srgbClr val="FFFFFF"/>
          </a:solidFill>
          <a:ln w="10795">
            <a:solidFill>
              <a:srgbClr val="DADCE0"/>
            </a:solidFill>
            <a:prstDash val="solid"/>
          </a:ln>
        </p:spPr>
      </p:sp>
      <p:pic>
        <p:nvPicPr>
          <p:cNvPr id="148" name="Image 11" descr="preencoded.png">    </p:cNvPr>
          <p:cNvPicPr>
            <a:picLocks noChangeAspect="1"/>
          </p:cNvPicPr>
          <p:nvPr/>
        </p:nvPicPr>
        <p:blipFill>
          <a:blip r:embed="rId12"/>
          <a:stretch>
            <a:fillRect/>
          </a:stretch>
        </p:blipFill>
        <p:spPr>
          <a:xfrm>
            <a:off x="4693615" y="4327855"/>
            <a:ext cx="153619" cy="153619"/>
          </a:xfrm>
          <a:prstGeom prst="rect">
            <a:avLst/>
          </a:prstGeom>
        </p:spPr>
      </p:pic>
      <p:sp>
        <p:nvSpPr>
          <p:cNvPr id="149" name="Text 135"/>
          <p:cNvSpPr/>
          <p:nvPr/>
        </p:nvSpPr>
        <p:spPr>
          <a:xfrm>
            <a:off x="4870094"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Hub Tier Router + Firestore Route Table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Atomic tier pointer per tenant</a:t>
            </a:r>
            <a:endParaRPr lang="en-US" sz="490" dirty="0"/>
          </a:p>
        </p:txBody>
      </p:sp>
      <p:sp>
        <p:nvSpPr>
          <p:cNvPr id="150" name="Shape 136"/>
          <p:cNvSpPr/>
          <p:nvPr/>
        </p:nvSpPr>
        <p:spPr>
          <a:xfrm>
            <a:off x="4652467" y="4614062"/>
            <a:ext cx="1303934" cy="295351"/>
          </a:xfrm>
          <a:prstGeom prst="roundRect">
            <a:avLst>
              <a:gd name="adj" fmla="val 12384"/>
            </a:avLst>
          </a:prstGeom>
          <a:solidFill>
            <a:srgbClr val="FFFFFF"/>
          </a:solidFill>
          <a:ln w="10795">
            <a:solidFill>
              <a:srgbClr val="DADCE0"/>
            </a:solidFill>
            <a:prstDash val="solid"/>
          </a:ln>
        </p:spPr>
      </p:sp>
      <p:pic>
        <p:nvPicPr>
          <p:cNvPr id="151" name="Image 12" descr="preencoded.png">    </p:cNvPr>
          <p:cNvPicPr>
            <a:picLocks noChangeAspect="1"/>
          </p:cNvPicPr>
          <p:nvPr/>
        </p:nvPicPr>
        <p:blipFill>
          <a:blip r:embed="rId13"/>
          <a:stretch>
            <a:fillRect/>
          </a:stretch>
        </p:blipFill>
        <p:spPr>
          <a:xfrm>
            <a:off x="4693615" y="4684471"/>
            <a:ext cx="153619" cy="153619"/>
          </a:xfrm>
          <a:prstGeom prst="rect">
            <a:avLst/>
          </a:prstGeom>
        </p:spPr>
      </p:pic>
      <p:sp>
        <p:nvSpPr>
          <p:cNvPr id="152" name="Text 137"/>
          <p:cNvSpPr/>
          <p:nvPr/>
        </p:nvSpPr>
        <p:spPr>
          <a:xfrm>
            <a:off x="4870094"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Standard → Shared Pool (Pattern A plane)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950 tenants • 120 RPM pooled path</a:t>
            </a:r>
            <a:endParaRPr lang="en-US" sz="490" dirty="0"/>
          </a:p>
        </p:txBody>
      </p:sp>
      <p:sp>
        <p:nvSpPr>
          <p:cNvPr id="153" name="Shape 138"/>
          <p:cNvSpPr/>
          <p:nvPr/>
        </p:nvSpPr>
        <p:spPr>
          <a:xfrm>
            <a:off x="4652467" y="4969764"/>
            <a:ext cx="1303934" cy="295351"/>
          </a:xfrm>
          <a:prstGeom prst="roundRect">
            <a:avLst>
              <a:gd name="adj" fmla="val 12384"/>
            </a:avLst>
          </a:prstGeom>
          <a:solidFill>
            <a:srgbClr val="FFFFFF"/>
          </a:solidFill>
          <a:ln w="10795">
            <a:solidFill>
              <a:srgbClr val="DADCE0"/>
            </a:solidFill>
            <a:prstDash val="solid"/>
          </a:ln>
        </p:spPr>
      </p:sp>
      <p:pic>
        <p:nvPicPr>
          <p:cNvPr id="154" name="Image 13" descr="preencoded.png">    </p:cNvPr>
          <p:cNvPicPr>
            <a:picLocks noChangeAspect="1"/>
          </p:cNvPicPr>
          <p:nvPr/>
        </p:nvPicPr>
        <p:blipFill>
          <a:blip r:embed="rId14"/>
          <a:stretch>
            <a:fillRect/>
          </a:stretch>
        </p:blipFill>
        <p:spPr>
          <a:xfrm>
            <a:off x="4693615" y="5040173"/>
            <a:ext cx="153619" cy="153619"/>
          </a:xfrm>
          <a:prstGeom prst="rect">
            <a:avLst/>
          </a:prstGeom>
        </p:spPr>
      </p:pic>
      <p:sp>
        <p:nvSpPr>
          <p:cNvPr id="155" name="Text 139"/>
          <p:cNvSpPr/>
          <p:nvPr/>
        </p:nvSpPr>
        <p:spPr>
          <a:xfrm>
            <a:off x="4870094"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Enterprise → PSC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Consumer /28 endpoint → ServiceAttachment</a:t>
            </a:r>
            <a:endParaRPr lang="en-US" sz="490" dirty="0"/>
          </a:p>
        </p:txBody>
      </p:sp>
      <p:sp>
        <p:nvSpPr>
          <p:cNvPr id="156" name="Shape 140"/>
          <p:cNvSpPr/>
          <p:nvPr/>
        </p:nvSpPr>
        <p:spPr>
          <a:xfrm>
            <a:off x="4652467" y="5326380"/>
            <a:ext cx="1303934" cy="295351"/>
          </a:xfrm>
          <a:prstGeom prst="roundRect">
            <a:avLst>
              <a:gd name="adj" fmla="val 12384"/>
            </a:avLst>
          </a:prstGeom>
          <a:solidFill>
            <a:srgbClr val="FFFFFF"/>
          </a:solidFill>
          <a:ln w="10795">
            <a:solidFill>
              <a:srgbClr val="DADCE0"/>
            </a:solidFill>
            <a:prstDash val="solid"/>
          </a:ln>
        </p:spPr>
      </p:sp>
      <p:pic>
        <p:nvPicPr>
          <p:cNvPr id="157" name="Image 14" descr="preencoded.png">    </p:cNvPr>
          <p:cNvPicPr>
            <a:picLocks noChangeAspect="1"/>
          </p:cNvPicPr>
          <p:nvPr/>
        </p:nvPicPr>
        <p:blipFill>
          <a:blip r:embed="rId15"/>
          <a:stretch>
            <a:fillRect/>
          </a:stretch>
        </p:blipFill>
        <p:spPr>
          <a:xfrm>
            <a:off x="4693615" y="5396789"/>
            <a:ext cx="153619" cy="153619"/>
          </a:xfrm>
          <a:prstGeom prst="rect">
            <a:avLst/>
          </a:prstGeom>
        </p:spPr>
      </p:pic>
      <p:sp>
        <p:nvSpPr>
          <p:cNvPr id="158" name="Text 141"/>
          <p:cNvSpPr/>
          <p:nvPr/>
        </p:nvSpPr>
        <p:spPr>
          <a:xfrm>
            <a:off x="4870094"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Zero-Downtime Promotion</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59" name="Shape 142"/>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60"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61" name="Text 143"/>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1 • Zero-Trust 5-Hop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Hops 1, 2 &amp; 4: OBO/DPoP • Catalog PDP • Model Armor</a:t>
            </a:r>
            <a:endParaRPr lang="en-US" sz="490" dirty="0"/>
          </a:p>
        </p:txBody>
      </p:sp>
      <p:sp>
        <p:nvSpPr>
          <p:cNvPr id="162" name="Shape 144"/>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3"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4" name="Text 145"/>
          <p:cNvSpPr/>
          <p:nvPr/>
        </p:nvSpPr>
        <p:spPr>
          <a:xfrm>
            <a:off x="4940503" y="257037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2 • Predictable FinOps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ContextCache 90% • Valkey • thinking caps</a:t>
            </a:r>
            <a:endParaRPr lang="en-US" sz="490" dirty="0"/>
          </a:p>
        </p:txBody>
      </p:sp>
      <p:sp>
        <p:nvSpPr>
          <p:cNvPr id="165" name="Shape 146"/>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6"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7" name="Text 147"/>
          <p:cNvSpPr/>
          <p:nvPr/>
        </p:nvSpPr>
        <p:spPr>
          <a:xfrm>
            <a:off x="4940503" y="294436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3 • Zero-PII OTel Chargeback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 • Even / Proportional / Tiered</a:t>
            </a:r>
            <a:endParaRPr lang="en-US" sz="490" dirty="0"/>
          </a:p>
        </p:txBody>
      </p:sp>
      <p:sp>
        <p:nvSpPr>
          <p:cNvPr id="168" name="Shape 148"/>
          <p:cNvSpPr/>
          <p:nvPr/>
        </p:nvSpPr>
        <p:spPr>
          <a:xfrm>
            <a:off x="1523390" y="5717743"/>
            <a:ext cx="1303934" cy="277978"/>
          </a:xfrm>
          <a:prstGeom prst="roundRect">
            <a:avLst>
              <a:gd name="adj" fmla="val 13158"/>
            </a:avLst>
          </a:prstGeom>
          <a:solidFill>
            <a:srgbClr val="FFFFFF"/>
          </a:solidFill>
          <a:ln w="10795">
            <a:solidFill>
              <a:srgbClr val="C5221F"/>
            </a:solidFill>
            <a:prstDash val="solid"/>
          </a:ln>
        </p:spPr>
      </p:sp>
      <p:sp>
        <p:nvSpPr>
          <p:cNvPr id="169" name="Text 149"/>
          <p:cNvSpPr/>
          <p:nvPr/>
        </p:nvSpPr>
        <p:spPr>
          <a:xfrm>
            <a:off x="1559966"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C5221F"/>
                </a:solidFill>
                <a:latin typeface="Arial" pitchFamily="34" charset="0"/>
                <a:ea typeface="Arial" pitchFamily="34" charset="-122"/>
                <a:cs typeface="Arial" pitchFamily="34" charset="-120"/>
              </a:rPr>
              <a:t>Choose when regulators mandate isolation</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6/6 sovereign tests PASS • highest unit cost</a:t>
            </a:r>
            <a:endParaRPr lang="en-US" sz="480" dirty="0"/>
          </a:p>
        </p:txBody>
      </p:sp>
      <p:sp>
        <p:nvSpPr>
          <p:cNvPr id="170" name="Shape 150"/>
          <p:cNvSpPr/>
          <p:nvPr/>
        </p:nvSpPr>
        <p:spPr>
          <a:xfrm>
            <a:off x="3087929" y="5717743"/>
            <a:ext cx="1303934" cy="277978"/>
          </a:xfrm>
          <a:prstGeom prst="roundRect">
            <a:avLst>
              <a:gd name="adj" fmla="val 13158"/>
            </a:avLst>
          </a:prstGeom>
          <a:solidFill>
            <a:srgbClr val="FFFFFF"/>
          </a:solidFill>
          <a:ln w="10795">
            <a:solidFill>
              <a:srgbClr val="B06000"/>
            </a:solidFill>
            <a:prstDash val="solid"/>
          </a:ln>
        </p:spPr>
      </p:sp>
      <p:sp>
        <p:nvSpPr>
          <p:cNvPr id="171" name="Text 151"/>
          <p:cNvSpPr/>
          <p:nvPr/>
        </p:nvSpPr>
        <p:spPr>
          <a:xfrm>
            <a:off x="3124505"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B06000"/>
                </a:solidFill>
                <a:latin typeface="Arial" pitchFamily="34" charset="0"/>
                <a:ea typeface="Arial" pitchFamily="34" charset="-122"/>
                <a:cs typeface="Arial" pitchFamily="34" charset="-120"/>
              </a:rPr>
              <a:t>Choose when one commercial tier is enough</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10/10 breach vectors blocked • lowest unit cost</a:t>
            </a:r>
            <a:endParaRPr lang="en-US" sz="480" dirty="0"/>
          </a:p>
        </p:txBody>
      </p:sp>
      <p:sp>
        <p:nvSpPr>
          <p:cNvPr id="172" name="Shape 152"/>
          <p:cNvSpPr/>
          <p:nvPr/>
        </p:nvSpPr>
        <p:spPr>
          <a:xfrm>
            <a:off x="4652467" y="5717743"/>
            <a:ext cx="1303934" cy="277978"/>
          </a:xfrm>
          <a:prstGeom prst="roundRect">
            <a:avLst>
              <a:gd name="adj" fmla="val 13158"/>
            </a:avLst>
          </a:prstGeom>
          <a:solidFill>
            <a:srgbClr val="FFFFFF"/>
          </a:solidFill>
          <a:ln w="10795">
            <a:solidFill>
              <a:srgbClr val="6A1B9A"/>
            </a:solidFill>
            <a:prstDash val="solid"/>
          </a:ln>
        </p:spPr>
      </p:sp>
      <p:sp>
        <p:nvSpPr>
          <p:cNvPr id="173" name="Text 153"/>
          <p:cNvSpPr/>
          <p:nvPr/>
        </p:nvSpPr>
        <p:spPr>
          <a:xfrm>
            <a:off x="4689043"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6A1B9A"/>
                </a:solidFill>
                <a:latin typeface="Arial" pitchFamily="34" charset="0"/>
                <a:ea typeface="Arial" pitchFamily="34" charset="-122"/>
                <a:cs typeface="Arial" pitchFamily="34" charset="-120"/>
              </a:rPr>
              <a:t>Choose when tiers must coexist and promote live</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4/4 migration tests PASS • 74% TCO vs all-dedicated</a:t>
            </a:r>
            <a:endParaRPr lang="en-US" sz="480" dirty="0"/>
          </a:p>
        </p:txBody>
      </p:sp>
      <p:sp>
        <p:nvSpPr>
          <p:cNvPr id="174" name="Shape 154"/>
          <p:cNvSpPr/>
          <p:nvPr/>
        </p:nvSpPr>
        <p:spPr>
          <a:xfrm>
            <a:off x="2101291" y="3709721"/>
            <a:ext cx="148133" cy="148133"/>
          </a:xfrm>
          <a:prstGeom prst="ellipse">
            <a:avLst/>
          </a:prstGeom>
          <a:solidFill>
            <a:srgbClr val="174EA6"/>
          </a:solidFill>
          <a:ln w="10795">
            <a:solidFill>
              <a:srgbClr val="174EA6"/>
            </a:solidFill>
            <a:prstDash val="solid"/>
          </a:ln>
        </p:spPr>
      </p:sp>
      <p:sp>
        <p:nvSpPr>
          <p:cNvPr id="175" name="Text 155"/>
          <p:cNvSpPr/>
          <p:nvPr/>
        </p:nvSpPr>
        <p:spPr>
          <a:xfrm>
            <a:off x="2101291"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6" name="Shape 156"/>
          <p:cNvSpPr/>
          <p:nvPr/>
        </p:nvSpPr>
        <p:spPr>
          <a:xfrm>
            <a:off x="3665830" y="3709721"/>
            <a:ext cx="148133" cy="148133"/>
          </a:xfrm>
          <a:prstGeom prst="ellipse">
            <a:avLst/>
          </a:prstGeom>
          <a:solidFill>
            <a:srgbClr val="174EA6"/>
          </a:solidFill>
          <a:ln w="10795">
            <a:solidFill>
              <a:srgbClr val="174EA6"/>
            </a:solidFill>
            <a:prstDash val="solid"/>
          </a:ln>
        </p:spPr>
      </p:sp>
      <p:sp>
        <p:nvSpPr>
          <p:cNvPr id="177" name="Text 157"/>
          <p:cNvSpPr/>
          <p:nvPr/>
        </p:nvSpPr>
        <p:spPr>
          <a:xfrm>
            <a:off x="3665830"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8" name="Shape 158"/>
          <p:cNvSpPr/>
          <p:nvPr/>
        </p:nvSpPr>
        <p:spPr>
          <a:xfrm>
            <a:off x="5230368" y="3709721"/>
            <a:ext cx="148133" cy="148133"/>
          </a:xfrm>
          <a:prstGeom prst="ellipse">
            <a:avLst/>
          </a:prstGeom>
          <a:solidFill>
            <a:srgbClr val="174EA6"/>
          </a:solidFill>
          <a:ln w="10795">
            <a:solidFill>
              <a:srgbClr val="174EA6"/>
            </a:solidFill>
            <a:prstDash val="solid"/>
          </a:ln>
        </p:spPr>
      </p:sp>
      <p:sp>
        <p:nvSpPr>
          <p:cNvPr id="179" name="Text 159"/>
          <p:cNvSpPr/>
          <p:nvPr/>
        </p:nvSpPr>
        <p:spPr>
          <a:xfrm>
            <a:off x="5230368"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80" name="Shape 160"/>
          <p:cNvSpPr/>
          <p:nvPr/>
        </p:nvSpPr>
        <p:spPr>
          <a:xfrm>
            <a:off x="3500323" y="1140257"/>
            <a:ext cx="148133" cy="148133"/>
          </a:xfrm>
          <a:prstGeom prst="ellipse">
            <a:avLst/>
          </a:prstGeom>
          <a:solidFill>
            <a:srgbClr val="174EA6"/>
          </a:solidFill>
          <a:ln w="10795">
            <a:solidFill>
              <a:srgbClr val="174EA6"/>
            </a:solidFill>
            <a:prstDash val="solid"/>
          </a:ln>
        </p:spPr>
      </p:sp>
      <p:sp>
        <p:nvSpPr>
          <p:cNvPr id="181" name="Text 161"/>
          <p:cNvSpPr/>
          <p:nvPr/>
        </p:nvSpPr>
        <p:spPr>
          <a:xfrm>
            <a:off x="3500323"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2" name="Shape 162"/>
          <p:cNvSpPr/>
          <p:nvPr/>
        </p:nvSpPr>
        <p:spPr>
          <a:xfrm>
            <a:off x="1440180" y="2636215"/>
            <a:ext cx="148133" cy="148133"/>
          </a:xfrm>
          <a:prstGeom prst="ellipse">
            <a:avLst/>
          </a:prstGeom>
          <a:solidFill>
            <a:srgbClr val="174EA6"/>
          </a:solidFill>
          <a:ln w="10795">
            <a:solidFill>
              <a:srgbClr val="174EA6"/>
            </a:solidFill>
            <a:prstDash val="solid"/>
          </a:ln>
        </p:spPr>
      </p:sp>
      <p:sp>
        <p:nvSpPr>
          <p:cNvPr id="183" name="Text 163"/>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4" name="Shape 164"/>
          <p:cNvSpPr/>
          <p:nvPr/>
        </p:nvSpPr>
        <p:spPr>
          <a:xfrm>
            <a:off x="4169664" y="2636215"/>
            <a:ext cx="148133" cy="148133"/>
          </a:xfrm>
          <a:prstGeom prst="ellipse">
            <a:avLst/>
          </a:prstGeom>
          <a:solidFill>
            <a:srgbClr val="174EA6"/>
          </a:solidFill>
          <a:ln w="10795">
            <a:solidFill>
              <a:srgbClr val="174EA6"/>
            </a:solidFill>
            <a:prstDash val="solid"/>
          </a:ln>
        </p:spPr>
      </p:sp>
      <p:sp>
        <p:nvSpPr>
          <p:cNvPr id="185" name="Text 165"/>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6" name="Shape 166"/>
          <p:cNvSpPr/>
          <p:nvPr/>
        </p:nvSpPr>
        <p:spPr>
          <a:xfrm>
            <a:off x="4717390" y="3310128"/>
            <a:ext cx="726948" cy="208483"/>
          </a:xfrm>
          <a:prstGeom prst="roundRect">
            <a:avLst>
              <a:gd name="adj" fmla="val 21930"/>
            </a:avLst>
          </a:prstGeom>
          <a:solidFill>
            <a:srgbClr val="FFFFFF"/>
          </a:solidFill>
          <a:ln w="5715">
            <a:solidFill>
              <a:srgbClr val="DADCE0"/>
            </a:solidFill>
            <a:prstDash val="solid"/>
          </a:ln>
        </p:spPr>
      </p:sp>
      <p:sp>
        <p:nvSpPr>
          <p:cNvPr id="187" name="Text 167"/>
          <p:cNvSpPr/>
          <p:nvPr/>
        </p:nvSpPr>
        <p:spPr>
          <a:xfrm>
            <a:off x="4737506" y="3319272"/>
            <a:ext cx="68671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Standard + Enterprise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 Pattern C (hybrid)</a:t>
            </a:r>
            <a:endParaRPr lang="en-US" sz="410" dirty="0"/>
          </a:p>
        </p:txBody>
      </p:sp>
      <p:sp>
        <p:nvSpPr>
          <p:cNvPr id="188" name="Shape 168"/>
          <p:cNvSpPr/>
          <p:nvPr/>
        </p:nvSpPr>
        <p:spPr>
          <a:xfrm>
            <a:off x="3340303" y="2997403"/>
            <a:ext cx="678485" cy="208483"/>
          </a:xfrm>
          <a:prstGeom prst="roundRect">
            <a:avLst>
              <a:gd name="adj" fmla="val 21930"/>
            </a:avLst>
          </a:prstGeom>
          <a:solidFill>
            <a:srgbClr val="FFFFFF"/>
          </a:solidFill>
          <a:ln w="5715">
            <a:solidFill>
              <a:srgbClr val="DADCE0"/>
            </a:solidFill>
            <a:prstDash val="solid"/>
          </a:ln>
        </p:spPr>
      </p:sp>
      <p:sp>
        <p:nvSpPr>
          <p:cNvPr id="189" name="Text 169"/>
          <p:cNvSpPr/>
          <p:nvPr/>
        </p:nvSpPr>
        <p:spPr>
          <a:xfrm>
            <a:off x="3360420" y="3006547"/>
            <a:ext cx="638251"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Single shared tier →</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Pattern A (pooled)</a:t>
            </a:r>
            <a:endParaRPr lang="en-US" sz="410" dirty="0"/>
          </a:p>
        </p:txBody>
      </p:sp>
      <p:sp>
        <p:nvSpPr>
          <p:cNvPr id="190" name="Shape 170"/>
          <p:cNvSpPr/>
          <p:nvPr/>
        </p:nvSpPr>
        <p:spPr>
          <a:xfrm>
            <a:off x="2218334" y="2997403"/>
            <a:ext cx="681228" cy="208483"/>
          </a:xfrm>
          <a:prstGeom prst="roundRect">
            <a:avLst>
              <a:gd name="adj" fmla="val 21930"/>
            </a:avLst>
          </a:prstGeom>
          <a:solidFill>
            <a:srgbClr val="FFFFFF"/>
          </a:solidFill>
          <a:ln w="5715">
            <a:solidFill>
              <a:srgbClr val="DADCE0"/>
            </a:solidFill>
            <a:prstDash val="solid"/>
          </a:ln>
        </p:spPr>
      </p:sp>
      <p:sp>
        <p:nvSpPr>
          <p:cNvPr id="191" name="Text 171"/>
          <p:cNvSpPr/>
          <p:nvPr/>
        </p:nvSpPr>
        <p:spPr>
          <a:xfrm>
            <a:off x="2238451" y="3006547"/>
            <a:ext cx="64099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YES → Pattern B</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every tenant sovereign</a:t>
            </a:r>
            <a:endParaRPr lang="en-US" sz="410" dirty="0"/>
          </a:p>
        </p:txBody>
      </p:sp>
      <p:sp>
        <p:nvSpPr>
          <p:cNvPr id="192" name="Shape 172"/>
          <p:cNvSpPr/>
          <p:nvPr/>
        </p:nvSpPr>
        <p:spPr>
          <a:xfrm>
            <a:off x="3749040" y="1144829"/>
            <a:ext cx="555955" cy="138989"/>
          </a:xfrm>
          <a:prstGeom prst="roundRect">
            <a:avLst>
              <a:gd name="adj" fmla="val 32895"/>
            </a:avLst>
          </a:prstGeom>
          <a:solidFill>
            <a:srgbClr val="FFFFFF"/>
          </a:solidFill>
          <a:ln w="5715">
            <a:solidFill>
              <a:srgbClr val="DADCE0"/>
            </a:solidFill>
            <a:prstDash val="solid"/>
          </a:ln>
        </p:spPr>
      </p:sp>
      <p:sp>
        <p:nvSpPr>
          <p:cNvPr id="193" name="Text 173"/>
          <p:cNvSpPr/>
          <p:nvPr/>
        </p:nvSpPr>
        <p:spPr>
          <a:xfrm>
            <a:off x="3769157" y="1153973"/>
            <a:ext cx="515722"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Decision inputs</a:t>
            </a:r>
            <a:endParaRPr lang="en-US" sz="410" dirty="0"/>
          </a:p>
        </p:txBody>
      </p:sp>
      <p:sp>
        <p:nvSpPr>
          <p:cNvPr id="194" name="Shape 174"/>
          <p:cNvSpPr/>
          <p:nvPr/>
        </p:nvSpPr>
        <p:spPr>
          <a:xfrm>
            <a:off x="2779776" y="2566721"/>
            <a:ext cx="164592" cy="138989"/>
          </a:xfrm>
          <a:prstGeom prst="roundRect">
            <a:avLst>
              <a:gd name="adj" fmla="val 32895"/>
            </a:avLst>
          </a:prstGeom>
          <a:solidFill>
            <a:srgbClr val="FFFFFF"/>
          </a:solidFill>
          <a:ln w="5715">
            <a:solidFill>
              <a:srgbClr val="DADCE0"/>
            </a:solidFill>
            <a:prstDash val="solid"/>
          </a:ln>
        </p:spPr>
      </p:sp>
      <p:sp>
        <p:nvSpPr>
          <p:cNvPr id="195" name="Text 175"/>
          <p:cNvSpPr/>
          <p:nvPr/>
        </p:nvSpPr>
        <p:spPr>
          <a:xfrm>
            <a:off x="2793492" y="2575865"/>
            <a:ext cx="137160"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NO</a:t>
            </a:r>
            <a:endParaRPr lang="en-US" sz="410" dirty="0"/>
          </a:p>
        </p:txBody>
      </p:sp>
      <p:sp>
        <p:nvSpPr>
          <p:cNvPr id="196" name="Text 176"/>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PROGRAM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PROGRAM VERIFICATION 01 • LIVE GCP (#248990048888 / #48439189383) &amp; 10-SAAS AWS AGENTCORE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Unified 5-Hop ADK runtime certified across Pattern A Pool, Pattern B Sovereign Silo &amp; Pattern C Hybrid PSC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Cloud: GCP #248990048888 &amp; #48439189383 • AWS #393036065405</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20/20 GCP Simulations (10 Pool + 6 Silo + 4 PSC)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30/30 10-SaaS AWS AgentCore MCP Flows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PROGRAM VERIFICATION 02 • 20 BEFORE/AFTER 3RD-PARTY SAAS RETINA UI PROOFS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Metabase, Grafana, Redmine, NocoDB, Gitea, Trino, ClickHouse, Directus, Datalust Seq &amp; HashiCorp Vault 2880×1800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3P UIs: 20 Before/After Retina Captures (10 SaaS Platforms)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Multi-Cloud: 43 Total Retina Captures (23 Baseline + 20 B/A)</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13/13 PASS • 10/10 Unit Tests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scripts/capture_genuine_3p_before_after_uis.mjs</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PROGRAM 01 • WS1–WS2 POOLED &amp; EDGE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OBO/DPoP Identity, 90% Cache &amp; 10/10 Breach PASS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&lt;0.15ms JWKS, AlloyDB FORCE RLS, Metabase BI v0.50.26, Trino SQL v440 &amp; Redmine ITSM v5.1 Before/After UIs.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PROGRAM 02 • WS3 SOVEREIGN SILOS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VPC-SC, &lt;60s CMEK Kill-Switch &amp; Gemma 3 27B</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6/6 sovereign perimeter tests plus NocoDB GxP 21 CFR Part 11 &amp; HashiCorp Vault &lt;60s HTTP 423 CMEK lock UIs.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PROGRAM 03 • WS4 HYBRID PSC UPGRADE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Unidirectional /28 PSC NAT &amp; 0ms Tier Cutover</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4/4 live promotion tests (0 dropped turns, 74% lower TCO) plus Grafana Enterprise &amp; Gitea live PSC UIs.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PROGRAM 04 • WS5 CAPSTONE &amp; 13/13 GATES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27-File Workbench, 15 Decks &amp; 60/60 SaaS Assertions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Unifies Terraform 2.6/3.6/4.6, zero-PII BigQuery OTel FinOps, Directus + Seq proofs, and 13/13 forensic gates.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Complete 5-Workstream Program • Dual-Plane GCP, 10-SaaS MCP &amp; 20 Before/After 3P UIs  •  Act III Forensic Verification Audit: Grounded Google Cloud CLI &amp; Telemetry…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3675888"/>
        </p:xfrm>
        <a:graphic>
          <a:graphicData uri="http://schemas.openxmlformats.org/drawingml/2006/table">
            <a:tbl>
              <a:tblPr/>
              <a:tblGrid>
                <a:gridCol w="2788920"/>
                <a:gridCol w="2788920"/>
                <a:gridCol w="3200400"/>
                <a:gridCol w="2590495"/>
              </a:tblGrid>
              <a:tr h="347472">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Architecture Blueprint (#78 Hub &amp; Spoke)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Architectural Question Answered</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Core Google Cloud Stack</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1.1 BLUEPRINT — Multi-Tenant Agentic AI Taxonomy: Pooled (Pattern A), Sovereign Silos (Pattern B) &amp; Hybrid (Pattern C)</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B2B SaaS platforms and large enterprises serve thousands of tenants across Pooled (Pattern A), Sovereign Silo (Pattern B), and Dynamic Hybrid (Pattern C) isolation models using one 80% reusable agentic codebase?</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Unified Hub-and-Spoke Control Plane Across Three Tenant Isolation Tiers.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Application Load Balancer • Cloud Armor • Identity-Aware Proxy (IAP) • Cloud Run • Vertex AI Agent Engine (ADK) • Model Armor • AlloyDB &amp;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1.3 DOC PR BLUEPRINT — Cloud Architecture Center: Multi-Tenant Agentic AI System with 5-Hop Cryptographic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extend the official Google Cloud Architecture Center multi-tenant hub-and-spoke blueprint with a 5-Hop Cryptographic Context Chain that prevents confused-deputy tool calls, cache bleed, and noisy neighbors?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Five Sequential Policy Enforcement Points (Hops 1–5) Eliminate Cross-Tenant Bleed.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 Identity-Aware Proxy • Cloud KMS • Discovery Engine Agent Catalog • Vertex AI Agent Engine • Model Armor • AlloyDB RLS •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2.1 — Pattern A: High-Density Pooled Multi-Tenant Architecture &amp; Shared Runtime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host thousands of Standard and commercial SaaS tenants inside a single shared Google Cloud project at a 120 RPM Pooled unit cost footprint while guaranteeing cryptographic and row-level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High-Density SaaS Unit Economics (120 RPM Pool) with Cryptographic 5-Hop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ALB • Cloud Armor • Identity-Aware Proxy • Cloud Run Gen2 • Memorystore for Valkey • Vertex AI Model Armor • Gemini 2.5 Pro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2.5 — Pattern A: 10-Point Cross-Tenant Breach Simulation &amp; Cryptographic Defense Matrix</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the 5-Hop Cryptographic Context Chain deterministically block all 10 adversarial cross-tenant attack vectors?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10/10 Red-Team Cross-Tenant Attack Vectors Deterministically Blocked.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WAF • Identity-Aware Proxy • Cloud KMS • Discovery Engine Catalog • Memorystore for Valkey • Model Armor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2.2 — Pattern A Demo Environment &amp; 3P Auth Sandbox: Pooled Project, Federated IdPs, OAuth 2LO/3LO Apps, Valkey &amp; Firestore Tenant Config</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Zero-Shadow-Account Federation &amp; Scoped 2LO/3LO MCP Tool Execution.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Identity-Aware Proxy • Workforce Identity Federation • Secret Manager • Cloud KMS • Vertex AI Agent Engine • Memorystore for Valkey • Firestore</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2.6 — Pattern A 1-Click Terraform Starter: Provider → Google Cloud Armor → Cloud Run v2 Agent Gateway → Valkey / KMS CMEK → BigQuery OTel Resource Graph</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platform engineering teams declaratively provision the entire Pattern A pooled multi-tenant stack?</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Declarative 1-Click Terraform DAG Provisions Pattern A in Under 4 Minutes.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Terraform Google Provider • Cloud Armor WAF • Cloud KMS (90-Day Rotation) • Memorystore for Valkey • Cloud Run v2 • AlloyDB &amp; BigQuery OTel</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4956048"/>
            <a:ext cx="2718511" cy="1408176"/>
          </a:xfrm>
          <a:prstGeom prst="roundRect">
            <a:avLst>
              <a:gd name="adj" fmla="val 5195"/>
            </a:avLst>
          </a:prstGeom>
          <a:solidFill>
            <a:srgbClr val="F8F9FA"/>
          </a:solidFill>
          <a:ln w="12700">
            <a:solidFill>
              <a:srgbClr val="DADCE0"/>
            </a:solidFill>
            <a:prstDash val="solid"/>
          </a:ln>
        </p:spPr>
      </p:sp>
      <p:sp>
        <p:nvSpPr>
          <p:cNvPr id="20" name="Shape 17"/>
          <p:cNvSpPr/>
          <p:nvPr/>
        </p:nvSpPr>
        <p:spPr>
          <a:xfrm>
            <a:off x="411480" y="4956048"/>
            <a:ext cx="2718511" cy="54864"/>
          </a:xfrm>
          <a:prstGeom prst="rect">
            <a:avLst/>
          </a:prstGeom>
          <a:solidFill>
            <a:srgbClr val="4285F4"/>
          </a:solidFill>
          <a:ln/>
        </p:spPr>
      </p:sp>
      <p:sp>
        <p:nvSpPr>
          <p:cNvPr id="21" name="Text 18"/>
          <p:cNvSpPr/>
          <p:nvPr/>
        </p:nvSpPr>
        <p:spPr>
          <a:xfrm>
            <a:off x="521208"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1. 3-Act Executive Deck Structure</a:t>
            </a:r>
            <a:endParaRPr lang="en-US" sz="920" dirty="0"/>
          </a:p>
        </p:txBody>
      </p:sp>
      <p:sp>
        <p:nvSpPr>
          <p:cNvPr id="22" name="Text 19"/>
          <p:cNvSpPr/>
          <p:nvPr/>
        </p:nvSpPr>
        <p:spPr>
          <a:xfrm>
            <a:off x="521208"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deck weaves Act I (Thesis &amp; #78 Blueprint), Act II (3-Zone, Payload, UML &amp; State Loops), and Act III (Matrices, Live Proof &amp; Roadmap).</a:t>
            </a:r>
            <a:endParaRPr lang="en-US" sz="780" dirty="0"/>
          </a:p>
        </p:txBody>
      </p:sp>
      <p:sp>
        <p:nvSpPr>
          <p:cNvPr id="23" name="Shape 20"/>
          <p:cNvSpPr/>
          <p:nvPr/>
        </p:nvSpPr>
        <p:spPr>
          <a:xfrm>
            <a:off x="539496" y="6099048"/>
            <a:ext cx="2462479" cy="192024"/>
          </a:xfrm>
          <a:prstGeom prst="roundRect">
            <a:avLst>
              <a:gd name="adj" fmla="val 23810"/>
            </a:avLst>
          </a:prstGeom>
          <a:solidFill>
            <a:srgbClr val="E8F0FE"/>
          </a:solidFill>
          <a:ln/>
        </p:spPr>
      </p:sp>
      <p:sp>
        <p:nvSpPr>
          <p:cNvPr id="24" name="Text 21"/>
          <p:cNvSpPr/>
          <p:nvPr/>
        </p:nvSpPr>
        <p:spPr>
          <a:xfrm>
            <a:off x="594360" y="6099048"/>
            <a:ext cx="2352751"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3294583" y="4956048"/>
            <a:ext cx="2718511" cy="1408176"/>
          </a:xfrm>
          <a:prstGeom prst="roundRect">
            <a:avLst>
              <a:gd name="adj" fmla="val 5195"/>
            </a:avLst>
          </a:prstGeom>
          <a:solidFill>
            <a:srgbClr val="F8F9FA"/>
          </a:solidFill>
          <a:ln w="12700">
            <a:solidFill>
              <a:srgbClr val="DADCE0"/>
            </a:solidFill>
            <a:prstDash val="solid"/>
          </a:ln>
        </p:spPr>
      </p:sp>
      <p:sp>
        <p:nvSpPr>
          <p:cNvPr id="26" name="Shape 23"/>
          <p:cNvSpPr/>
          <p:nvPr/>
        </p:nvSpPr>
        <p:spPr>
          <a:xfrm>
            <a:off x="3294583" y="4956048"/>
            <a:ext cx="2718511" cy="54864"/>
          </a:xfrm>
          <a:prstGeom prst="rect">
            <a:avLst/>
          </a:prstGeom>
          <a:solidFill>
            <a:srgbClr val="EA4335"/>
          </a:solidFill>
          <a:ln/>
        </p:spPr>
      </p:sp>
      <p:sp>
        <p:nvSpPr>
          <p:cNvPr id="27" name="Text 24"/>
          <p:cNvSpPr/>
          <p:nvPr/>
        </p:nvSpPr>
        <p:spPr>
          <a:xfrm>
            <a:off x="3404311"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2. Automated Security &amp; FinOps Proof</a:t>
            </a:r>
            <a:endParaRPr lang="en-US" sz="920" dirty="0"/>
          </a:p>
        </p:txBody>
      </p:sp>
      <p:sp>
        <p:nvSpPr>
          <p:cNvPr id="28" name="Text 25"/>
          <p:cNvSpPr/>
          <p:nvPr/>
        </p:nvSpPr>
        <p:spPr>
          <a:xfrm>
            <a:off x="3404311"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All patterns are certified by 13 forensic checks and 20 simulation assertions—proving zero cross-tenant data bleed and 90% shared prefix caching.</a:t>
            </a:r>
            <a:endParaRPr lang="en-US" sz="780" dirty="0"/>
          </a:p>
        </p:txBody>
      </p:sp>
      <p:sp>
        <p:nvSpPr>
          <p:cNvPr id="29" name="Shape 26"/>
          <p:cNvSpPr/>
          <p:nvPr/>
        </p:nvSpPr>
        <p:spPr>
          <a:xfrm>
            <a:off x="3422599" y="6099048"/>
            <a:ext cx="2462479" cy="192024"/>
          </a:xfrm>
          <a:prstGeom prst="roundRect">
            <a:avLst>
              <a:gd name="adj" fmla="val 23810"/>
            </a:avLst>
          </a:prstGeom>
          <a:solidFill>
            <a:srgbClr val="FCE8E6"/>
          </a:solidFill>
          <a:ln/>
        </p:spPr>
      </p:sp>
      <p:sp>
        <p:nvSpPr>
          <p:cNvPr id="30" name="Text 27"/>
          <p:cNvSpPr/>
          <p:nvPr/>
        </p:nvSpPr>
        <p:spPr>
          <a:xfrm>
            <a:off x="3477463" y="6099048"/>
            <a:ext cx="2352751"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13/13 Forensic Gates • 20/20 Simulations PASS</a:t>
            </a:r>
            <a:endParaRPr lang="en-US" sz="740" dirty="0"/>
          </a:p>
        </p:txBody>
      </p:sp>
      <p:sp>
        <p:nvSpPr>
          <p:cNvPr id="31" name="Shape 28"/>
          <p:cNvSpPr/>
          <p:nvPr/>
        </p:nvSpPr>
        <p:spPr>
          <a:xfrm>
            <a:off x="6178601" y="4956048"/>
            <a:ext cx="2718511" cy="1408176"/>
          </a:xfrm>
          <a:prstGeom prst="roundRect">
            <a:avLst>
              <a:gd name="adj" fmla="val 5195"/>
            </a:avLst>
          </a:prstGeom>
          <a:solidFill>
            <a:srgbClr val="F8F9FA"/>
          </a:solidFill>
          <a:ln w="12700">
            <a:solidFill>
              <a:srgbClr val="DADCE0"/>
            </a:solidFill>
            <a:prstDash val="solid"/>
          </a:ln>
        </p:spPr>
      </p:sp>
      <p:sp>
        <p:nvSpPr>
          <p:cNvPr id="32" name="Shape 29"/>
          <p:cNvSpPr/>
          <p:nvPr/>
        </p:nvSpPr>
        <p:spPr>
          <a:xfrm>
            <a:off x="6178601" y="4956048"/>
            <a:ext cx="2718511" cy="54864"/>
          </a:xfrm>
          <a:prstGeom prst="rect">
            <a:avLst/>
          </a:prstGeom>
          <a:solidFill>
            <a:srgbClr val="FBBC04"/>
          </a:solidFill>
          <a:ln/>
        </p:spPr>
      </p:sp>
      <p:sp>
        <p:nvSpPr>
          <p:cNvPr id="33" name="Text 30"/>
          <p:cNvSpPr/>
          <p:nvPr/>
        </p:nvSpPr>
        <p:spPr>
          <a:xfrm>
            <a:off x="6288329"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3. Official Architecture Center (#78)</a:t>
            </a:r>
            <a:endParaRPr lang="en-US" sz="920" dirty="0"/>
          </a:p>
        </p:txBody>
      </p:sp>
      <p:sp>
        <p:nvSpPr>
          <p:cNvPr id="34" name="Text 31"/>
          <p:cNvSpPr/>
          <p:nvPr/>
        </p:nvSpPr>
        <p:spPr>
          <a:xfrm>
            <a:off x="6288329"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for Pooled, Siloed, and Hybrid SaaS.</a:t>
            </a:r>
            <a:endParaRPr lang="en-US" sz="780" dirty="0"/>
          </a:p>
        </p:txBody>
      </p:sp>
      <p:sp>
        <p:nvSpPr>
          <p:cNvPr id="35" name="Shape 32"/>
          <p:cNvSpPr/>
          <p:nvPr/>
        </p:nvSpPr>
        <p:spPr>
          <a:xfrm>
            <a:off x="6306617" y="6099048"/>
            <a:ext cx="2462479" cy="192024"/>
          </a:xfrm>
          <a:prstGeom prst="roundRect">
            <a:avLst>
              <a:gd name="adj" fmla="val 23810"/>
            </a:avLst>
          </a:prstGeom>
          <a:solidFill>
            <a:srgbClr val="FEF7E0"/>
          </a:solidFill>
          <a:ln/>
        </p:spPr>
      </p:sp>
      <p:sp>
        <p:nvSpPr>
          <p:cNvPr id="36" name="Text 33"/>
          <p:cNvSpPr/>
          <p:nvPr/>
        </p:nvSpPr>
        <p:spPr>
          <a:xfrm>
            <a:off x="6361481" y="6099048"/>
            <a:ext cx="2352751"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Shape 34"/>
          <p:cNvSpPr/>
          <p:nvPr/>
        </p:nvSpPr>
        <p:spPr>
          <a:xfrm>
            <a:off x="9061704" y="4956048"/>
            <a:ext cx="2718511" cy="1408176"/>
          </a:xfrm>
          <a:prstGeom prst="roundRect">
            <a:avLst>
              <a:gd name="adj" fmla="val 5195"/>
            </a:avLst>
          </a:prstGeom>
          <a:solidFill>
            <a:srgbClr val="F8F9FA"/>
          </a:solidFill>
          <a:ln w="12700">
            <a:solidFill>
              <a:srgbClr val="DADCE0"/>
            </a:solidFill>
            <a:prstDash val="solid"/>
          </a:ln>
        </p:spPr>
      </p:sp>
      <p:sp>
        <p:nvSpPr>
          <p:cNvPr id="38" name="Shape 35"/>
          <p:cNvSpPr/>
          <p:nvPr/>
        </p:nvSpPr>
        <p:spPr>
          <a:xfrm>
            <a:off x="9061704" y="4956048"/>
            <a:ext cx="2718511" cy="54864"/>
          </a:xfrm>
          <a:prstGeom prst="rect">
            <a:avLst/>
          </a:prstGeom>
          <a:solidFill>
            <a:srgbClr val="34A853"/>
          </a:solidFill>
          <a:ln/>
        </p:spPr>
      </p:sp>
      <p:sp>
        <p:nvSpPr>
          <p:cNvPr id="39" name="Text 36"/>
          <p:cNvSpPr/>
          <p:nvPr/>
        </p:nvSpPr>
        <p:spPr>
          <a:xfrm>
            <a:off x="9171432"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4. Grounded Multi-Cloud &amp; 3P SaaS Proof</a:t>
            </a:r>
            <a:endParaRPr lang="en-US" sz="920" dirty="0"/>
          </a:p>
        </p:txBody>
      </p:sp>
      <p:sp>
        <p:nvSpPr>
          <p:cNvPr id="40" name="Text 37"/>
          <p:cNvSpPr/>
          <p:nvPr/>
        </p:nvSpPr>
        <p:spPr>
          <a:xfrm>
            <a:off x="9171432"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Pairs 100% native editable vector shapes with authentic Google Cloud Console, AWS AgentCore, and Before/After 3rd-Party SaaS UI captures.</a:t>
            </a:r>
            <a:endParaRPr lang="en-US" sz="780" dirty="0"/>
          </a:p>
        </p:txBody>
      </p:sp>
      <p:sp>
        <p:nvSpPr>
          <p:cNvPr id="41" name="Shape 38"/>
          <p:cNvSpPr/>
          <p:nvPr/>
        </p:nvSpPr>
        <p:spPr>
          <a:xfrm>
            <a:off x="9189720" y="6099048"/>
            <a:ext cx="2462479" cy="192024"/>
          </a:xfrm>
          <a:prstGeom prst="roundRect">
            <a:avLst>
              <a:gd name="adj" fmla="val 23810"/>
            </a:avLst>
          </a:prstGeom>
          <a:solidFill>
            <a:srgbClr val="E6F4EA"/>
          </a:solidFill>
          <a:ln/>
        </p:spPr>
      </p:sp>
      <p:sp>
        <p:nvSpPr>
          <p:cNvPr id="42" name="Text 39"/>
          <p:cNvSpPr/>
          <p:nvPr/>
        </p:nvSpPr>
        <p:spPr>
          <a:xfrm>
            <a:off x="9244584" y="6099048"/>
            <a:ext cx="2352751" cy="192024"/>
          </a:xfrm>
          <a:prstGeom prst="rect">
            <a:avLst/>
          </a:prstGeom>
          <a:noFill/>
          <a:ln/>
        </p:spPr>
        <p:txBody>
          <a:bodyPr wrap="square" rtlCol="0" anchor="ctr"/>
          <a:lstStyle/>
          <a:p>
            <a:pPr indent="0" marL="0">
              <a:buNone/>
            </a:pPr>
            <a:r>
              <a:rPr lang="en-US" sz="740" b="1" dirty="0">
                <a:solidFill>
                  <a:srgbClr val="0D652D"/>
                </a:solidFill>
                <a:latin typeface="Google Sans" pitchFamily="34" charset="0"/>
                <a:ea typeface="Google Sans" pitchFamily="34" charset="-122"/>
                <a:cs typeface="Google Sans" pitchFamily="34" charset="-120"/>
              </a:rPr>
              <a:t>23 Multi-Cloud Retina Captures • 27 Workbench Files</a:t>
            </a:r>
            <a:endParaRPr lang="en-US" sz="740" dirty="0"/>
          </a:p>
        </p:txBody>
      </p:sp>
      <p:sp>
        <p:nvSpPr>
          <p:cNvPr id="43" name="Text 40"/>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Complete 5-Workstream Google Cloud Architecture Center Program Deck — 100% Native Editable Shapes &amp; Verified Live Telemetry.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2026-10-30T19:09:24Z</dcterms:created>
  <dcterms:modified xsi:type="dcterms:W3CDTF">2026-10-30T19:09:24Z</dcterms:modified>
</cp:coreProperties>
</file>