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Dual-Plane visual evidence captured directly from our Google Cloud and AWS environments—proving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20/20 Intra-Cloud Google Cloud breach, sovereign kill-switch, and zero-downtime tier migration tests plus all 30/30 Inter-Cloud 10-SaaS AWS Bedrock AgentCore MCP target flows (60/60 assertions) pass with zero cross-tenant data leakage.</a:t>
            </a:r>
            <a:endParaRPr lang="en-US" dirty="0"/>
          </a:p>
          <a:p>
            <a:r>
              <a:rPr lang="en-US" dirty="0"/>
              <a:t>With live Dual-Plane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twenty-seven-file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1 Reference Taxonomy</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Defines Pooled (Pattern A), Siloed (Pattern B), and Hybrid (Pattern C) on an 80% shared 5-hop ADK core.</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2 Pattern A Pooled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Hosts commercial tenants in one shared GCP project with 90% prefix cache savings and 10/10 attacks blocked.</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3 Pattern B Sovereign Silos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Isolates regulated tenants in dedicated GCP projects with VPC-SC, IAM PAB, and &lt;60s CMEK kill-switches.</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4 Pattern C Dynamic Hybrid</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Bridges a shared pool and PSC enterprise spokes with zero-downtime live tier upgrades (4/4 PASS).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 Figure 1 → Deep-Dive →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Pooled (Pattern A), Siloed (Pattern B), and Hybrid (Pattern C) on an 80% shared 5-hop ADK core.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core-cymbal-agent/runtime_pipeline.py • Cloud Armor • IAP OBO/DPoP • KMS JWKS
</a:t>
            </a:r>
            <a:pPr indent="0" marL="0">
              <a:buNone/>
            </a:pPr>
            <a:r>
              <a:rPr lang="en-US" sz="730" dirty="0">
                <a:solidFill>
                  <a:srgbClr val="5F6368"/>
                </a:solidFill>
                <a:latin typeface="Roboto" pitchFamily="34" charset="0"/>
                <a:ea typeface="Roboto" pitchFamily="34" charset="-122"/>
                <a:cs typeface="Roboto" pitchFamily="34" charset="-120"/>
              </a:rPr>
              <a:t>Target &amp; SLA: ~42ms p95 5-Hop Overhead • &lt;0.15ms Cached JWKS • ~3ms Valkey JTI Revoke</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WS1 • Foundation &amp; 5-Hop Baseline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Hosts commercial tenants in one shared GCP project with 90% prefix cache savings and 10/10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2.6 • Cloud Run gVisor • ContextCacheConfig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84.7% Input Token Savings • 120/600 RPM Bulkheads • 10/10 Breach Vectors PASS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WS2 • Pattern A High-Density Pool</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Isolates regulated tenants in dedicated GCP projects with VPC-SC, IAM PAB, and &lt;60s CMEK kill-switches.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3.6 • VPC-SC • IAM PAB • Cloud KMS CMEK • Private GKE Gemma 3 27B
</a:t>
            </a:r>
            <a:pPr indent="0" marL="0">
              <a:buNone/>
            </a:pPr>
            <a:r>
              <a:rPr lang="en-US" sz="730" dirty="0">
                <a:solidFill>
                  <a:srgbClr val="5F6368"/>
                </a:solidFill>
                <a:latin typeface="Roboto" pitchFamily="34" charset="0"/>
                <a:ea typeface="Roboto" pitchFamily="34" charset="-122"/>
                <a:cs typeface="Roboto" pitchFamily="34" charset="-120"/>
              </a:rPr>
              <a:t>Target &amp; SLA: &lt;60s HTTP 423 CMEK Kill-Switch • &lt;5s Valkey SCAN+UNLINK • 6/6 Silo Tests PASS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WS3 • 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Bridges a shared pool and PSC enterprise spokes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4.6 • Firestore Router • /28 PSC NAT • DMS CDC Shadow-Sync
</a:t>
            </a:r>
            <a:pPr indent="0" marL="0">
              <a:buNone/>
            </a:pPr>
            <a:r>
              <a:rPr lang="en-US" sz="730" dirty="0">
                <a:solidFill>
                  <a:srgbClr val="5F6368"/>
                </a:solidFill>
                <a:latin typeface="Roboto" pitchFamily="34" charset="0"/>
                <a:ea typeface="Roboto" pitchFamily="34" charset="-122"/>
                <a:cs typeface="Roboto" pitchFamily="34" charset="-120"/>
              </a:rPr>
              <a:t>Target &amp; SLA: 0ms Atomic Cutover • 0 Dropped Turns • 74% Lower 1,000-Tenant TCO • 4/4 PASS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WS4 • Pattern C Hybrid PSC Bridge</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Unifies a 2-question topology selector, 1,000-tenant FinOps TCO model, and 13/13 forensic gates.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2-Question Selector • BigQuery OTel FinOps • 10-SaaS AWS AgentCore MCP
</a:t>
            </a:r>
            <a:pPr indent="0" marL="0">
              <a:buNone/>
            </a:pPr>
            <a:r>
              <a:rPr lang="en-US" sz="730" dirty="0">
                <a:solidFill>
                  <a:srgbClr val="5F6368"/>
                </a:solidFill>
                <a:latin typeface="Roboto" pitchFamily="34" charset="0"/>
                <a:ea typeface="Roboto" pitchFamily="34" charset="-122"/>
                <a:cs typeface="Roboto" pitchFamily="34" charset="-120"/>
              </a:rPr>
              <a:t>Target &amp; SLA: 20/20 GCP + 30/30 SaaS Flows + 20 Before/After 3P UIs • 13/13 Forensic Gates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WS5 • Decision Guide &amp; Agentic Triad</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Routing Hub (Ingress &amp; Identity PEP)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&amp; Security Hub</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Pattern A: Pooled Shared Runtime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Control Plane (cymbal-pooled-prod)</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 &amp; 5-Hop Cryptographic Context Chain</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926641"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00" dirty="0"/>
          </a:p>
        </p:txBody>
      </p:sp>
      <p:sp>
        <p:nvSpPr>
          <p:cNvPr id="124" name="Shape 121"/>
          <p:cNvSpPr/>
          <p:nvPr/>
        </p:nvSpPr>
        <p:spPr>
          <a:xfrm>
            <a:off x="3842309" y="3802075"/>
            <a:ext cx="163677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Dedicated Spoke: Pattern B Silo or Pattern C PSC Spoke</a:t>
            </a:r>
            <a:endParaRPr lang="en-US" sz="40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Pool (Shared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FinVault (8k Cap) &amp; RetailStream (4k Cap)</a:t>
            </a:r>
            <a:endParaRPr lang="en-US" sz="470" dirty="0"/>
          </a:p>
        </p:txBody>
      </p:sp>
      <p:sp>
        <p:nvSpPr>
          <p:cNvPr id="128" name="Shape 125"/>
          <p:cNvSpPr/>
          <p:nvPr/>
        </p:nvSpPr>
        <p:spPr>
          <a:xfrm>
            <a:off x="3911803" y="3964838"/>
            <a:ext cx="1296619"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Sovereign Tenant Silo</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VPC-SC + IAM PAB + finvault-silo-cmek + PSC</a:t>
            </a:r>
            <a:endParaRPr lang="en-US" sz="470" dirty="0"/>
          </a:p>
        </p:txBody>
      </p:sp>
      <p:sp>
        <p:nvSpPr>
          <p:cNvPr id="130" name="Shape 127"/>
          <p:cNvSpPr/>
          <p:nvPr/>
        </p:nvSpPr>
        <p:spPr>
          <a:xfrm>
            <a:off x="1468526" y="1921154"/>
            <a:ext cx="1901952"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Routing hub (Hop 1 &amp; Hop 2 PEP/PDP)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Central governance and FinOps observability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Competing B2B Tenants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(OIDC) &amp; RetailStream (Entra)</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security_breach_audit_log</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Central IAM &amp;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Identity (2LO/3LO)</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gVisor + temp:tenant_id</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+ 3LO OIDC/Entra</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AlloyDB &amp; BQ RLS</a:t>
            </a:r>
            <a:endParaRPr lang="en-US" sz="490" dirty="0"/>
          </a:p>
          <a:p>
            <a:pPr algn="l" indent="0" marL="0">
              <a:lnSpc>
                <a:spcPct val="100000"/>
              </a:lnSpc>
              <a:buNone/>
            </a:pPr>
            <a:r>
              <a:rPr lang="en-US" sz="373" dirty="0">
                <a:solidFill>
                  <a:srgbClr val="3C4043"/>
                </a:solidFill>
                <a:latin typeface="Arial" pitchFamily="34" charset="0"/>
                <a:ea typeface="Arial" pitchFamily="34" charset="-122"/>
                <a:cs typeface="Arial" pitchFamily="34" charset="-120"/>
              </a:rPr>
              <a:t>tenant_pooled_rls_policy</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Local Silo 3LO Connectors</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423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Rai Filters &amp; SDP PII</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90% Prefix Cache Savings</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Sovereign Silo Guardrails</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 Gemma 3</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PT or Private GKE</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Ingress Prompt Screen</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RFC 8693 OBO + DPoP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KMS ECDSA P-256 Sign</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736092"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69951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 OTel &amp; FinOps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chargeback telemetry</a:t>
            </a:r>
            <a:endParaRPr lang="en-US" sz="385" dirty="0"/>
          </a:p>
        </p:txBody>
      </p:sp>
      <p:sp>
        <p:nvSpPr>
          <p:cNvPr id="211" name="Shape 189"/>
          <p:cNvSpPr/>
          <p:nvPr/>
        </p:nvSpPr>
        <p:spPr>
          <a:xfrm>
            <a:off x="2896819" y="4850892"/>
            <a:ext cx="372161"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915107" y="4856378"/>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Scoped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MCP &amp; RAG</a:t>
            </a:r>
            <a:endParaRPr lang="en-US" sz="385" dirty="0"/>
          </a:p>
        </p:txBody>
      </p:sp>
      <p:sp>
        <p:nvSpPr>
          <p:cNvPr id="213" name="Shape 191"/>
          <p:cNvSpPr/>
          <p:nvPr/>
        </p:nvSpPr>
        <p:spPr>
          <a:xfrm>
            <a:off x="2831897" y="5485486"/>
            <a:ext cx="50200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50185"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SET LOCAL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current_tenant</a:t>
            </a:r>
            <a:endParaRPr lang="en-US" sz="385" dirty="0"/>
          </a:p>
        </p:txBody>
      </p:sp>
      <p:sp>
        <p:nvSpPr>
          <p:cNvPr id="215" name="Shape 193"/>
          <p:cNvSpPr/>
          <p:nvPr/>
        </p:nvSpPr>
        <p:spPr>
          <a:xfrm>
            <a:off x="5248656" y="4850892"/>
            <a:ext cx="397764"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66944" y="4856378"/>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Silo RAG</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State &amp; Tools</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Generates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response</a:t>
            </a:r>
            <a:endParaRPr lang="en-US" sz="385" dirty="0"/>
          </a:p>
        </p:txBody>
      </p:sp>
      <p:sp>
        <p:nvSpPr>
          <p:cNvPr id="221" name="Shape 199"/>
          <p:cNvSpPr/>
          <p:nvPr/>
        </p:nvSpPr>
        <p:spPr>
          <a:xfrm>
            <a:off x="3905402" y="3389681"/>
            <a:ext cx="606247"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6967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with SDP redaction</a:t>
            </a:r>
            <a:endParaRPr lang="en-US" sz="385" dirty="0"/>
          </a:p>
        </p:txBody>
      </p:sp>
      <p:sp>
        <p:nvSpPr>
          <p:cNvPr id="223" name="Shape 201"/>
          <p:cNvSpPr/>
          <p:nvPr/>
        </p:nvSpPr>
        <p:spPr>
          <a:xfrm>
            <a:off x="2983687" y="3389681"/>
            <a:ext cx="658368"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by tenant tier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Silo or PSC)</a:t>
            </a:r>
            <a:endParaRPr lang="en-US" sz="385" dirty="0"/>
          </a:p>
        </p:txBody>
      </p:sp>
      <p:sp>
        <p:nvSpPr>
          <p:cNvPr id="225" name="Shape 203"/>
          <p:cNvSpPr/>
          <p:nvPr/>
        </p:nvSpPr>
        <p:spPr>
          <a:xfrm>
            <a:off x="2603297" y="2908706"/>
            <a:ext cx="397764"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21585" y="2914193"/>
            <a:ext cx="36118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OBO + KMS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ECDSA sign</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Header &amp; WAF</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Slides 8–9)  •  ~42ms p95 5-Hop Control Plane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60 Shapes • 20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GCP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VPC</a:t>
            </a:r>
            <a:endParaRPr lang="en-US" sz="44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Shape 71"/>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4" name="Shape 72"/>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5" name="Shape 73"/>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6" name="Shape 74"/>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77" name="Shape 75"/>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607515" y="5247742"/>
            <a:ext cx="164592" cy="164592"/>
          </a:xfrm>
          <a:prstGeom prst="rect">
            <a:avLst/>
          </a:prstGeom>
        </p:spPr>
      </p:pic>
      <p:sp>
        <p:nvSpPr>
          <p:cNvPr id="79" name="Text 76"/>
          <p:cNvSpPr/>
          <p:nvPr/>
        </p:nvSpPr>
        <p:spPr>
          <a:xfrm>
            <a:off x="1840687" y="5247742"/>
            <a:ext cx="177485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5-Level Memory Bank (ONE bank)</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Namespaced per tenant — same service, disjoint keys</a:t>
            </a:r>
            <a:endParaRPr lang="en-US" sz="480" dirty="0"/>
          </a:p>
        </p:txBody>
      </p:sp>
      <p:sp>
        <p:nvSpPr>
          <p:cNvPr id="80" name="Shape 77"/>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1" name="Image 1" descr="preencoded.png">    </p:cNvPr>
          <p:cNvPicPr>
            <a:picLocks noChangeAspect="1"/>
          </p:cNvPicPr>
          <p:nvPr/>
        </p:nvPicPr>
        <p:blipFill>
          <a:blip r:embed="rId2"/>
          <a:stretch>
            <a:fillRect/>
          </a:stretch>
        </p:blipFill>
        <p:spPr>
          <a:xfrm>
            <a:off x="3902659" y="4256532"/>
            <a:ext cx="164592" cy="164592"/>
          </a:xfrm>
          <a:prstGeom prst="rect">
            <a:avLst/>
          </a:prstGeom>
        </p:spPr>
      </p:pic>
      <p:sp>
        <p:nvSpPr>
          <p:cNvPr id="82" name="Text 78"/>
          <p:cNvSpPr/>
          <p:nvPr/>
        </p:nvSpPr>
        <p:spPr>
          <a:xfrm>
            <a:off x="4135831" y="4256532"/>
            <a:ext cx="172273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AlloyDB (ONE schema) + BigQuery (ONE dataset)</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pattern_a_pooled_rls_entities • FORCE ROW LEVEL SECURITY</a:t>
            </a:r>
            <a:endParaRPr lang="en-US" sz="480" dirty="0"/>
          </a:p>
        </p:txBody>
      </p:sp>
      <p:pic>
        <p:nvPicPr>
          <p:cNvPr id="83"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4" name="Shape 79"/>
          <p:cNvSpPr/>
          <p:nvPr/>
        </p:nvSpPr>
        <p:spPr>
          <a:xfrm>
            <a:off x="3591763" y="1032358"/>
            <a:ext cx="0" cy="1269187"/>
          </a:xfrm>
          <a:prstGeom prst="line">
            <a:avLst/>
          </a:prstGeom>
          <a:noFill/>
          <a:ln w="12700">
            <a:solidFill>
              <a:srgbClr val="5F6368"/>
            </a:solidFill>
            <a:prstDash val="solid"/>
            <a:tailEnd type="triangle" w="sm" len="sm"/>
          </a:ln>
        </p:spPr>
      </p:sp>
      <p:sp>
        <p:nvSpPr>
          <p:cNvPr id="85" name="Shape 80"/>
          <p:cNvSpPr/>
          <p:nvPr/>
        </p:nvSpPr>
        <p:spPr>
          <a:xfrm flipV="1">
            <a:off x="3792017" y="1040587"/>
            <a:ext cx="0" cy="1269187"/>
          </a:xfrm>
          <a:prstGeom prst="line">
            <a:avLst/>
          </a:prstGeom>
          <a:noFill/>
          <a:ln w="12700">
            <a:solidFill>
              <a:srgbClr val="5F6368"/>
            </a:solidFill>
            <a:prstDash val="solid"/>
            <a:tailEnd type="triangle" w="sm" len="sm"/>
          </a:ln>
        </p:spPr>
      </p:sp>
      <p:sp>
        <p:nvSpPr>
          <p:cNvPr id="86" name="Shape 81"/>
          <p:cNvSpPr/>
          <p:nvPr/>
        </p:nvSpPr>
        <p:spPr>
          <a:xfrm flipH="1">
            <a:off x="2948940" y="2414016"/>
            <a:ext cx="148133" cy="0"/>
          </a:xfrm>
          <a:prstGeom prst="line">
            <a:avLst/>
          </a:prstGeom>
          <a:noFill/>
          <a:ln w="12700">
            <a:solidFill>
              <a:srgbClr val="5F6368"/>
            </a:solidFill>
            <a:prstDash val="solid"/>
            <a:headEnd type="triangle" w="sm" len="sm"/>
          </a:ln>
        </p:spPr>
      </p:sp>
      <p:sp>
        <p:nvSpPr>
          <p:cNvPr id="87" name="Shape 82"/>
          <p:cNvSpPr/>
          <p:nvPr/>
        </p:nvSpPr>
        <p:spPr>
          <a:xfrm flipV="1">
            <a:off x="2948940" y="2306117"/>
            <a:ext cx="0" cy="107899"/>
          </a:xfrm>
          <a:prstGeom prst="line">
            <a:avLst/>
          </a:prstGeom>
          <a:noFill/>
          <a:ln w="12700">
            <a:solidFill>
              <a:srgbClr val="5F6368"/>
            </a:solidFill>
            <a:prstDash val="solid"/>
          </a:ln>
        </p:spPr>
      </p:sp>
      <p:sp>
        <p:nvSpPr>
          <p:cNvPr id="88" name="Shape 83"/>
          <p:cNvSpPr/>
          <p:nvPr/>
        </p:nvSpPr>
        <p:spPr>
          <a:xfrm flipH="1">
            <a:off x="2401214" y="2306117"/>
            <a:ext cx="547726" cy="0"/>
          </a:xfrm>
          <a:prstGeom prst="line">
            <a:avLst/>
          </a:prstGeom>
          <a:noFill/>
          <a:ln w="12700">
            <a:solidFill>
              <a:srgbClr val="5F6368"/>
            </a:solidFill>
            <a:prstDash val="solid"/>
            <a:tailEnd type="triangle" w="sm" len="sm"/>
          </a:ln>
        </p:spPr>
      </p:sp>
      <p:sp>
        <p:nvSpPr>
          <p:cNvPr id="89" name="Shape 84"/>
          <p:cNvSpPr/>
          <p:nvPr/>
        </p:nvSpPr>
        <p:spPr>
          <a:xfrm flipH="1">
            <a:off x="2948940" y="2535631"/>
            <a:ext cx="148133" cy="0"/>
          </a:xfrm>
          <a:prstGeom prst="line">
            <a:avLst/>
          </a:prstGeom>
          <a:noFill/>
          <a:ln w="12700">
            <a:solidFill>
              <a:srgbClr val="5F6368"/>
            </a:solidFill>
            <a:prstDash val="solid"/>
            <a:headEnd type="triangle" w="sm" len="sm"/>
          </a:ln>
        </p:spPr>
      </p:sp>
      <p:sp>
        <p:nvSpPr>
          <p:cNvPr id="90" name="Shape 85"/>
          <p:cNvSpPr/>
          <p:nvPr/>
        </p:nvSpPr>
        <p:spPr>
          <a:xfrm>
            <a:off x="2948940" y="2535631"/>
            <a:ext cx="0" cy="135331"/>
          </a:xfrm>
          <a:prstGeom prst="line">
            <a:avLst/>
          </a:prstGeom>
          <a:noFill/>
          <a:ln w="12700">
            <a:solidFill>
              <a:srgbClr val="5F6368"/>
            </a:solidFill>
            <a:prstDash val="solid"/>
          </a:ln>
        </p:spPr>
      </p:sp>
      <p:sp>
        <p:nvSpPr>
          <p:cNvPr id="91" name="Shape 86"/>
          <p:cNvSpPr/>
          <p:nvPr/>
        </p:nvSpPr>
        <p:spPr>
          <a:xfrm flipH="1">
            <a:off x="2401214" y="2670962"/>
            <a:ext cx="547726" cy="0"/>
          </a:xfrm>
          <a:prstGeom prst="line">
            <a:avLst/>
          </a:prstGeom>
          <a:noFill/>
          <a:ln w="12700">
            <a:solidFill>
              <a:srgbClr val="5F6368"/>
            </a:solidFill>
            <a:prstDash val="solid"/>
            <a:tailEnd type="triangle" w="sm" len="sm"/>
          </a:ln>
        </p:spPr>
      </p:sp>
      <p:sp>
        <p:nvSpPr>
          <p:cNvPr id="92" name="Shape 87"/>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3" name="Shape 88"/>
          <p:cNvSpPr/>
          <p:nvPr/>
        </p:nvSpPr>
        <p:spPr>
          <a:xfrm>
            <a:off x="3591763" y="2640787"/>
            <a:ext cx="0" cy="312725"/>
          </a:xfrm>
          <a:prstGeom prst="line">
            <a:avLst/>
          </a:prstGeom>
          <a:noFill/>
          <a:ln w="12700">
            <a:solidFill>
              <a:srgbClr val="5F6368"/>
            </a:solidFill>
            <a:prstDash val="solid"/>
            <a:tailEnd type="triangle" w="sm" len="sm"/>
          </a:ln>
        </p:spPr>
      </p:sp>
      <p:sp>
        <p:nvSpPr>
          <p:cNvPr id="94" name="Shape 89"/>
          <p:cNvSpPr/>
          <p:nvPr/>
        </p:nvSpPr>
        <p:spPr>
          <a:xfrm flipV="1">
            <a:off x="3792017" y="2640787"/>
            <a:ext cx="0" cy="312725"/>
          </a:xfrm>
          <a:prstGeom prst="line">
            <a:avLst/>
          </a:prstGeom>
          <a:noFill/>
          <a:ln w="12700">
            <a:solidFill>
              <a:srgbClr val="5F6368"/>
            </a:solidFill>
            <a:prstDash val="solid"/>
            <a:tailEnd type="triangle" w="sm" len="sm"/>
          </a:ln>
        </p:spPr>
      </p:sp>
      <p:sp>
        <p:nvSpPr>
          <p:cNvPr id="95" name="Shape 90"/>
          <p:cNvSpPr/>
          <p:nvPr/>
        </p:nvSpPr>
        <p:spPr>
          <a:xfrm>
            <a:off x="3678631" y="3239719"/>
            <a:ext cx="0" cy="408737"/>
          </a:xfrm>
          <a:prstGeom prst="line">
            <a:avLst/>
          </a:prstGeom>
          <a:noFill/>
          <a:ln w="12700">
            <a:solidFill>
              <a:srgbClr val="5F6368"/>
            </a:solidFill>
            <a:prstDash val="solid"/>
          </a:ln>
        </p:spPr>
      </p:sp>
      <p:sp>
        <p:nvSpPr>
          <p:cNvPr id="96" name="Shape 91"/>
          <p:cNvSpPr/>
          <p:nvPr/>
        </p:nvSpPr>
        <p:spPr>
          <a:xfrm flipH="1">
            <a:off x="3196742" y="3648456"/>
            <a:ext cx="481889" cy="0"/>
          </a:xfrm>
          <a:prstGeom prst="line">
            <a:avLst/>
          </a:prstGeom>
          <a:noFill/>
          <a:ln w="12700">
            <a:solidFill>
              <a:srgbClr val="5F6368"/>
            </a:solidFill>
            <a:prstDash val="solid"/>
          </a:ln>
        </p:spPr>
      </p:sp>
      <p:sp>
        <p:nvSpPr>
          <p:cNvPr id="97" name="Shape 92"/>
          <p:cNvSpPr/>
          <p:nvPr/>
        </p:nvSpPr>
        <p:spPr>
          <a:xfrm>
            <a:off x="3196742" y="3648456"/>
            <a:ext cx="0" cy="547726"/>
          </a:xfrm>
          <a:prstGeom prst="line">
            <a:avLst/>
          </a:prstGeom>
          <a:noFill/>
          <a:ln w="12700">
            <a:solidFill>
              <a:srgbClr val="5F6368"/>
            </a:solidFill>
            <a:prstDash val="solid"/>
            <a:tailEnd type="triangle" w="sm" len="sm"/>
          </a:ln>
        </p:spPr>
      </p:sp>
      <p:sp>
        <p:nvSpPr>
          <p:cNvPr id="98" name="Shape 93"/>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99" name="Shape 94"/>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0" name="Shape 95"/>
          <p:cNvSpPr/>
          <p:nvPr/>
        </p:nvSpPr>
        <p:spPr>
          <a:xfrm>
            <a:off x="3196742" y="4526280"/>
            <a:ext cx="0" cy="157277"/>
          </a:xfrm>
          <a:prstGeom prst="line">
            <a:avLst/>
          </a:prstGeom>
          <a:noFill/>
          <a:ln w="12700">
            <a:solidFill>
              <a:srgbClr val="5F6368"/>
            </a:solidFill>
            <a:prstDash val="solid"/>
            <a:tailEnd type="triangle" w="sm" len="sm"/>
          </a:ln>
        </p:spPr>
      </p:sp>
      <p:sp>
        <p:nvSpPr>
          <p:cNvPr id="101" name="Shape 96"/>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2" name="Shape 97"/>
          <p:cNvSpPr/>
          <p:nvPr/>
        </p:nvSpPr>
        <p:spPr>
          <a:xfrm>
            <a:off x="3670402" y="4326941"/>
            <a:ext cx="191110" cy="0"/>
          </a:xfrm>
          <a:prstGeom prst="line">
            <a:avLst/>
          </a:prstGeom>
          <a:noFill/>
          <a:ln w="12700">
            <a:solidFill>
              <a:srgbClr val="5F6368"/>
            </a:solidFill>
            <a:prstDash val="solid"/>
            <a:tailEnd type="triangle" w="sm" len="sm"/>
          </a:ln>
        </p:spPr>
      </p:sp>
      <p:sp>
        <p:nvSpPr>
          <p:cNvPr id="103" name="Shape 98"/>
          <p:cNvSpPr/>
          <p:nvPr/>
        </p:nvSpPr>
        <p:spPr>
          <a:xfrm>
            <a:off x="4347972" y="5056632"/>
            <a:ext cx="0" cy="139903"/>
          </a:xfrm>
          <a:prstGeom prst="line">
            <a:avLst/>
          </a:prstGeom>
          <a:noFill/>
          <a:ln w="12700">
            <a:solidFill>
              <a:srgbClr val="5F6368"/>
            </a:solidFill>
            <a:prstDash val="solid"/>
            <a:tailEnd type="triangle" w="sm" len="sm"/>
          </a:ln>
        </p:spPr>
      </p:sp>
      <p:sp>
        <p:nvSpPr>
          <p:cNvPr id="104" name="Shape 99"/>
          <p:cNvSpPr/>
          <p:nvPr/>
        </p:nvSpPr>
        <p:spPr>
          <a:xfrm flipV="1">
            <a:off x="5426050" y="5056632"/>
            <a:ext cx="0" cy="139903"/>
          </a:xfrm>
          <a:prstGeom prst="line">
            <a:avLst/>
          </a:prstGeom>
          <a:noFill/>
          <a:ln w="12700">
            <a:solidFill>
              <a:srgbClr val="5F6368"/>
            </a:solidFill>
            <a:prstDash val="solid"/>
            <a:headEnd type="triangle" w="sm" len="sm"/>
          </a:ln>
        </p:spPr>
      </p:sp>
      <p:sp>
        <p:nvSpPr>
          <p:cNvPr id="105" name="Shape 100"/>
          <p:cNvSpPr/>
          <p:nvPr/>
        </p:nvSpPr>
        <p:spPr>
          <a:xfrm>
            <a:off x="4347972" y="5517490"/>
            <a:ext cx="0" cy="130759"/>
          </a:xfrm>
          <a:prstGeom prst="line">
            <a:avLst/>
          </a:prstGeom>
          <a:noFill/>
          <a:ln w="12700">
            <a:solidFill>
              <a:srgbClr val="5F6368"/>
            </a:solidFill>
            <a:prstDash val="solid"/>
            <a:tailEnd type="triangle" w="sm" len="sm"/>
          </a:ln>
        </p:spPr>
      </p:sp>
      <p:sp>
        <p:nvSpPr>
          <p:cNvPr id="106" name="Shape 101"/>
          <p:cNvSpPr/>
          <p:nvPr/>
        </p:nvSpPr>
        <p:spPr>
          <a:xfrm>
            <a:off x="5426050" y="5517490"/>
            <a:ext cx="0" cy="130759"/>
          </a:xfrm>
          <a:prstGeom prst="line">
            <a:avLst/>
          </a:prstGeom>
          <a:noFill/>
          <a:ln w="12700">
            <a:solidFill>
              <a:srgbClr val="5F6368"/>
            </a:solidFill>
            <a:prstDash val="solid"/>
            <a:tailEnd type="triangle" w="sm" len="sm"/>
          </a:ln>
        </p:spPr>
      </p:sp>
      <p:sp>
        <p:nvSpPr>
          <p:cNvPr id="107" name="Shape 102"/>
          <p:cNvSpPr/>
          <p:nvPr/>
        </p:nvSpPr>
        <p:spPr>
          <a:xfrm>
            <a:off x="4347972" y="5970118"/>
            <a:ext cx="0" cy="95098"/>
          </a:xfrm>
          <a:prstGeom prst="line">
            <a:avLst/>
          </a:prstGeom>
          <a:noFill/>
          <a:ln w="12700">
            <a:solidFill>
              <a:srgbClr val="5F6368"/>
            </a:solidFill>
            <a:prstDash val="solid"/>
          </a:ln>
        </p:spPr>
      </p:sp>
      <p:sp>
        <p:nvSpPr>
          <p:cNvPr id="108" name="Shape 103"/>
          <p:cNvSpPr/>
          <p:nvPr/>
        </p:nvSpPr>
        <p:spPr>
          <a:xfrm>
            <a:off x="4347972" y="6065215"/>
            <a:ext cx="1660550" cy="0"/>
          </a:xfrm>
          <a:prstGeom prst="line">
            <a:avLst/>
          </a:prstGeom>
          <a:noFill/>
          <a:ln w="12700">
            <a:solidFill>
              <a:srgbClr val="5F6368"/>
            </a:solidFill>
            <a:prstDash val="solid"/>
          </a:ln>
        </p:spPr>
      </p:sp>
      <p:sp>
        <p:nvSpPr>
          <p:cNvPr id="109" name="Shape 104"/>
          <p:cNvSpPr/>
          <p:nvPr/>
        </p:nvSpPr>
        <p:spPr>
          <a:xfrm flipV="1">
            <a:off x="6008522" y="3509467"/>
            <a:ext cx="0" cy="2555748"/>
          </a:xfrm>
          <a:prstGeom prst="line">
            <a:avLst/>
          </a:prstGeom>
          <a:noFill/>
          <a:ln w="12700">
            <a:solidFill>
              <a:srgbClr val="5F6368"/>
            </a:solidFill>
            <a:prstDash val="solid"/>
          </a:ln>
        </p:spPr>
      </p:sp>
      <p:sp>
        <p:nvSpPr>
          <p:cNvPr id="110" name="Shape 105"/>
          <p:cNvSpPr/>
          <p:nvPr/>
        </p:nvSpPr>
        <p:spPr>
          <a:xfrm flipH="1">
            <a:off x="4069994" y="3509467"/>
            <a:ext cx="1938528" cy="0"/>
          </a:xfrm>
          <a:prstGeom prst="line">
            <a:avLst/>
          </a:prstGeom>
          <a:noFill/>
          <a:ln w="12700">
            <a:solidFill>
              <a:srgbClr val="5F6368"/>
            </a:solidFill>
            <a:prstDash val="solid"/>
          </a:ln>
        </p:spPr>
      </p:sp>
      <p:sp>
        <p:nvSpPr>
          <p:cNvPr id="111" name="Shape 106"/>
          <p:cNvSpPr/>
          <p:nvPr/>
        </p:nvSpPr>
        <p:spPr>
          <a:xfrm flipV="1">
            <a:off x="4069994" y="3239719"/>
            <a:ext cx="0" cy="269748"/>
          </a:xfrm>
          <a:prstGeom prst="line">
            <a:avLst/>
          </a:prstGeom>
          <a:noFill/>
          <a:ln w="12700">
            <a:solidFill>
              <a:srgbClr val="5F6368"/>
            </a:solidFill>
            <a:prstDash val="solid"/>
            <a:tailEnd type="triangle" w="sm" len="sm"/>
          </a:ln>
        </p:spPr>
      </p:sp>
      <p:sp>
        <p:nvSpPr>
          <p:cNvPr id="112" name="Shape 107"/>
          <p:cNvSpPr/>
          <p:nvPr/>
        </p:nvSpPr>
        <p:spPr>
          <a:xfrm>
            <a:off x="5182819" y="3335731"/>
            <a:ext cx="0" cy="364846"/>
          </a:xfrm>
          <a:prstGeom prst="line">
            <a:avLst/>
          </a:prstGeom>
          <a:noFill/>
          <a:ln w="12700">
            <a:solidFill>
              <a:srgbClr val="5F6368"/>
            </a:solidFill>
            <a:prstDash val="dash"/>
          </a:ln>
        </p:spPr>
      </p:sp>
      <p:sp>
        <p:nvSpPr>
          <p:cNvPr id="113" name="Shape 108"/>
          <p:cNvSpPr/>
          <p:nvPr/>
        </p:nvSpPr>
        <p:spPr>
          <a:xfrm flipH="1">
            <a:off x="2609698" y="3700577"/>
            <a:ext cx="2573122" cy="0"/>
          </a:xfrm>
          <a:prstGeom prst="line">
            <a:avLst/>
          </a:prstGeom>
          <a:noFill/>
          <a:ln w="12700">
            <a:solidFill>
              <a:srgbClr val="5F6368"/>
            </a:solidFill>
            <a:prstDash val="dash"/>
          </a:ln>
        </p:spPr>
      </p:sp>
      <p:sp>
        <p:nvSpPr>
          <p:cNvPr id="114" name="Shape 109"/>
          <p:cNvSpPr/>
          <p:nvPr/>
        </p:nvSpPr>
        <p:spPr>
          <a:xfrm>
            <a:off x="2609698" y="3700577"/>
            <a:ext cx="0" cy="235001"/>
          </a:xfrm>
          <a:prstGeom prst="line">
            <a:avLst/>
          </a:prstGeom>
          <a:noFill/>
          <a:ln w="12700">
            <a:solidFill>
              <a:srgbClr val="5F6368"/>
            </a:solidFill>
            <a:prstDash val="dash"/>
            <a:tailEnd type="triangle" w="sm" len="sm"/>
          </a:ln>
        </p:spPr>
      </p:sp>
      <p:sp>
        <p:nvSpPr>
          <p:cNvPr id="115" name="Shape 110"/>
          <p:cNvSpPr/>
          <p:nvPr/>
        </p:nvSpPr>
        <p:spPr>
          <a:xfrm>
            <a:off x="5182819" y="3700577"/>
            <a:ext cx="0" cy="235001"/>
          </a:xfrm>
          <a:prstGeom prst="line">
            <a:avLst/>
          </a:prstGeom>
          <a:noFill/>
          <a:ln w="12700">
            <a:solidFill>
              <a:srgbClr val="5F6368"/>
            </a:solidFill>
            <a:prstDash val="dash"/>
            <a:tailEnd type="triangle" w="sm" len="sm"/>
          </a:ln>
        </p:spPr>
      </p:sp>
      <p:sp>
        <p:nvSpPr>
          <p:cNvPr id="116" name="Shape 111"/>
          <p:cNvSpPr/>
          <p:nvPr/>
        </p:nvSpPr>
        <p:spPr>
          <a:xfrm>
            <a:off x="1477670" y="3802075"/>
            <a:ext cx="4242816" cy="113386"/>
          </a:xfrm>
          <a:prstGeom prst="rect">
            <a:avLst/>
          </a:prstGeom>
          <a:solidFill>
            <a:srgbClr val="FFFFFF"/>
          </a:solidFill>
          <a:ln/>
        </p:spPr>
      </p:sp>
      <p:sp>
        <p:nvSpPr>
          <p:cNvPr id="117" name="Text 112"/>
          <p:cNvSpPr/>
          <p:nvPr/>
        </p:nvSpPr>
        <p:spPr>
          <a:xfrm>
            <a:off x="1491386" y="3803904"/>
            <a:ext cx="4497934"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00" dirty="0"/>
          </a:p>
        </p:txBody>
      </p:sp>
      <p:sp>
        <p:nvSpPr>
          <p:cNvPr id="118" name="Shape 113"/>
          <p:cNvSpPr/>
          <p:nvPr/>
        </p:nvSpPr>
        <p:spPr>
          <a:xfrm>
            <a:off x="1547165" y="3964838"/>
            <a:ext cx="2064715" cy="196596"/>
          </a:xfrm>
          <a:prstGeom prst="rect">
            <a:avLst/>
          </a:prstGeom>
          <a:solidFill>
            <a:srgbClr val="FEEFC3"/>
          </a:solidFill>
          <a:ln/>
        </p:spPr>
      </p:sp>
      <p:sp>
        <p:nvSpPr>
          <p:cNvPr id="119" name="Text 114"/>
          <p:cNvSpPr/>
          <p:nvPr/>
        </p:nvSpPr>
        <p:spPr>
          <a:xfrm>
            <a:off x="1560881" y="3970325"/>
            <a:ext cx="211592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3. Pooled Agent Runtime (shared by all tenants)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70" dirty="0"/>
          </a:p>
        </p:txBody>
      </p:sp>
      <p:sp>
        <p:nvSpPr>
          <p:cNvPr id="120" name="Shape 115"/>
          <p:cNvSpPr/>
          <p:nvPr/>
        </p:nvSpPr>
        <p:spPr>
          <a:xfrm>
            <a:off x="3842309" y="3964838"/>
            <a:ext cx="2063801" cy="196596"/>
          </a:xfrm>
          <a:prstGeom prst="rect">
            <a:avLst/>
          </a:prstGeom>
          <a:solidFill>
            <a:srgbClr val="FAD2CF"/>
          </a:solidFill>
          <a:ln/>
        </p:spPr>
      </p:sp>
      <p:sp>
        <p:nvSpPr>
          <p:cNvPr id="121" name="Text 116"/>
          <p:cNvSpPr/>
          <p:nvPr/>
        </p:nvSpPr>
        <p:spPr>
          <a:xfrm>
            <a:off x="3856025" y="3970325"/>
            <a:ext cx="2063801"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4. Shared Data &amp; Tool Plane (RLS-partitioned)</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70" dirty="0"/>
          </a:p>
        </p:txBody>
      </p:sp>
      <p:sp>
        <p:nvSpPr>
          <p:cNvPr id="122" name="Shape 117"/>
          <p:cNvSpPr/>
          <p:nvPr/>
        </p:nvSpPr>
        <p:spPr>
          <a:xfrm>
            <a:off x="1468526" y="1921154"/>
            <a:ext cx="1901952" cy="196596"/>
          </a:xfrm>
          <a:prstGeom prst="rect">
            <a:avLst/>
          </a:prstGeom>
          <a:solidFill>
            <a:srgbClr val="AECBFA"/>
          </a:solidFill>
          <a:ln/>
        </p:spPr>
      </p:sp>
      <p:sp>
        <p:nvSpPr>
          <p:cNvPr id="123" name="Text 11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Edge PEP &amp; Agent Catalog 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70" dirty="0"/>
          </a:p>
        </p:txBody>
      </p:sp>
      <p:sp>
        <p:nvSpPr>
          <p:cNvPr id="124" name="Shape 119"/>
          <p:cNvSpPr/>
          <p:nvPr/>
        </p:nvSpPr>
        <p:spPr>
          <a:xfrm>
            <a:off x="4641494" y="1955902"/>
            <a:ext cx="1315822" cy="118872"/>
          </a:xfrm>
          <a:prstGeom prst="rect">
            <a:avLst/>
          </a:prstGeom>
          <a:solidFill>
            <a:srgbClr val="CEEAD6"/>
          </a:solidFill>
          <a:ln/>
        </p:spPr>
      </p:sp>
      <p:sp>
        <p:nvSpPr>
          <p:cNvPr id="125" name="Text 12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Shared FinOps, Cache &amp; OTel Hub</a:t>
            </a:r>
            <a:endParaRPr lang="en-US" sz="430" dirty="0"/>
          </a:p>
        </p:txBody>
      </p:sp>
      <p:sp>
        <p:nvSpPr>
          <p:cNvPr id="126"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7"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8"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FinVault &amp; RetailStream</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Competing SaaS Tenants</a:t>
            </a:r>
            <a:endParaRPr lang="en-US" sz="480" dirty="0"/>
          </a:p>
        </p:txBody>
      </p:sp>
      <p:sp>
        <p:nvSpPr>
          <p:cNvPr id="129" name="Shape 12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0"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31" name="Text 12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2" name="Shape 12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3"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34" name="Text 12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ContextCacheConfig (90% COGS Save)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Operator Prefix</a:t>
            </a:r>
            <a:endParaRPr lang="en-US" sz="490" dirty="0"/>
          </a:p>
        </p:txBody>
      </p:sp>
      <p:sp>
        <p:nvSpPr>
          <p:cNvPr id="135" name="Shape 12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6"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7" name="Text 12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38" name="Shape 12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9"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40" name="Text 13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4k Standard vs 8k Enterprise</a:t>
            </a:r>
            <a:endParaRPr lang="en-US" sz="490" dirty="0"/>
          </a:p>
        </p:txBody>
      </p:sp>
      <p:sp>
        <p:nvSpPr>
          <p:cNvPr id="141" name="Shape 131"/>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42"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43" name="Text 132"/>
          <p:cNvSpPr/>
          <p:nvPr/>
        </p:nvSpPr>
        <p:spPr>
          <a:xfrm>
            <a:off x="4092854"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ROW ACCESS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SESSION_USER tenant filter</a:t>
            </a:r>
            <a:endParaRPr lang="en-US" sz="490" dirty="0"/>
          </a:p>
        </p:txBody>
      </p:sp>
      <p:sp>
        <p:nvSpPr>
          <p:cNvPr id="144" name="Shape 133"/>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5"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6" name="Text 134"/>
          <p:cNvSpPr/>
          <p:nvPr/>
        </p:nvSpPr>
        <p:spPr>
          <a:xfrm>
            <a:off x="5170932"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Hub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service + per-tenant 3LO consent</a:t>
            </a:r>
            <a:endParaRPr lang="en-US" sz="490" dirty="0"/>
          </a:p>
        </p:txBody>
      </p:sp>
      <p:sp>
        <p:nvSpPr>
          <p:cNvPr id="147" name="Shape 135"/>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8"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9" name="Text 136"/>
          <p:cNvSpPr/>
          <p:nvPr/>
        </p:nvSpPr>
        <p:spPr>
          <a:xfrm>
            <a:off x="4092854"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SDP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IBAN / SWIFT / PAN masking</a:t>
            </a:r>
            <a:endParaRPr lang="en-US" sz="490" dirty="0"/>
          </a:p>
        </p:txBody>
      </p:sp>
      <p:sp>
        <p:nvSpPr>
          <p:cNvPr id="150" name="Shape 137"/>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51"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52" name="Text 138"/>
          <p:cNvSpPr/>
          <p:nvPr/>
        </p:nvSpPr>
        <p:spPr>
          <a:xfrm>
            <a:off x="5170932"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adk-agent-signing-key • per-tenant claims</a:t>
            </a:r>
            <a:endParaRPr lang="en-US" sz="490" dirty="0"/>
          </a:p>
        </p:txBody>
      </p:sp>
      <p:sp>
        <p:nvSpPr>
          <p:cNvPr id="153" name="Shape 139"/>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54"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5" name="Text 140"/>
          <p:cNvSpPr/>
          <p:nvPr/>
        </p:nvSpPr>
        <p:spPr>
          <a:xfrm>
            <a:off x="2954426" y="420532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ONE gVisor pool • temp:tenant_id</a:t>
            </a:r>
            <a:endParaRPr lang="en-US" sz="490" dirty="0"/>
          </a:p>
        </p:txBody>
      </p:sp>
      <p:sp>
        <p:nvSpPr>
          <p:cNvPr id="156" name="Shape 141"/>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7"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8" name="Text 142"/>
          <p:cNvSpPr/>
          <p:nvPr/>
        </p:nvSpPr>
        <p:spPr>
          <a:xfrm>
            <a:off x="2954426" y="469178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RPM bulkheads 120 Std / 600 Ent</a:t>
            </a:r>
            <a:endParaRPr lang="en-US" sz="490" dirty="0"/>
          </a:p>
        </p:txBody>
      </p:sp>
      <p:sp>
        <p:nvSpPr>
          <p:cNvPr id="159" name="Shape 143"/>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60"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61" name="Text 144"/>
          <p:cNvSpPr/>
          <p:nvPr/>
        </p:nvSpPr>
        <p:spPr>
          <a:xfrm>
            <a:off x="1793138" y="420532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templates: FINRA / PCI</a:t>
            </a:r>
            <a:endParaRPr lang="en-US" sz="490" dirty="0"/>
          </a:p>
        </p:txBody>
      </p:sp>
      <p:sp>
        <p:nvSpPr>
          <p:cNvPr id="162" name="Shape 145"/>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63"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64" name="Text 146"/>
          <p:cNvSpPr/>
          <p:nvPr/>
        </p:nvSpPr>
        <p:spPr>
          <a:xfrm>
            <a:off x="1793138" y="469178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Shared 32k prefix • 4k / 8k caps</a:t>
            </a:r>
            <a:endParaRPr lang="en-US" sz="490" dirty="0"/>
          </a:p>
        </p:txBody>
      </p:sp>
      <p:sp>
        <p:nvSpPr>
          <p:cNvPr id="165"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6"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7" name="Text 148"/>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ADK Callback Gate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before_agent_callback Prune</a:t>
            </a:r>
            <a:endParaRPr lang="en-US" sz="490" dirty="0"/>
          </a:p>
        </p:txBody>
      </p:sp>
      <p:sp>
        <p:nvSpPr>
          <p:cNvPr id="168" name="Shape 14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0" name="Text 15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71" name="Shape 15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7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73" name="Text 15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Discovery Engine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Catalog Filter (403 Alpha)</a:t>
            </a:r>
            <a:endParaRPr lang="en-US" sz="490" dirty="0"/>
          </a:p>
        </p:txBody>
      </p:sp>
      <p:sp>
        <p:nvSpPr>
          <p:cNvPr id="174" name="Shape 15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6" name="Text 15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 + OBO Broker</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77" name="Shape 155"/>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8" name="Text 156"/>
          <p:cNvSpPr/>
          <p:nvPr/>
        </p:nvSpPr>
        <p:spPr>
          <a:xfrm>
            <a:off x="3936492" y="4726534"/>
            <a:ext cx="1901952" cy="121615"/>
          </a:xfrm>
          <a:prstGeom prst="rect">
            <a:avLst/>
          </a:prstGeom>
          <a:noFill/>
          <a:ln/>
        </p:spPr>
        <p:txBody>
          <a:bodyPr wrap="none" lIns="0" tIns="0" rIns="0" bIns="0" rtlCol="0" anchor="ctr"/>
          <a:lstStyle/>
          <a:p>
            <a:pPr algn="ctr" indent="0" marL="0">
              <a:lnSpc>
                <a:spcPct val="100000"/>
              </a:lnSpc>
              <a:buNone/>
            </a:pPr>
            <a:r>
              <a:rPr lang="en-US" sz="349"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349" dirty="0"/>
          </a:p>
        </p:txBody>
      </p:sp>
      <p:sp>
        <p:nvSpPr>
          <p:cNvPr id="179" name="Shape 157"/>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80" name="Text 158"/>
          <p:cNvSpPr/>
          <p:nvPr/>
        </p:nvSpPr>
        <p:spPr>
          <a:xfrm>
            <a:off x="3936492" y="4535424"/>
            <a:ext cx="902513" cy="138989"/>
          </a:xfrm>
          <a:prstGeom prst="rect">
            <a:avLst/>
          </a:prstGeom>
          <a:noFill/>
          <a:ln/>
        </p:spPr>
        <p:txBody>
          <a:bodyPr wrap="none" lIns="0" tIns="0" rIns="0" bIns="0" rtlCol="0" anchor="ctr"/>
          <a:lstStyle/>
          <a:p>
            <a:pPr algn="ctr" indent="0" marL="0">
              <a:lnSpc>
                <a:spcPct val="100000"/>
              </a:lnSpc>
              <a:buNone/>
            </a:pPr>
            <a:r>
              <a:rPr lang="en-US" sz="400" b="1" dirty="0">
                <a:solidFill>
                  <a:srgbClr val="174EA6"/>
                </a:solidFill>
                <a:latin typeface="Arial" pitchFamily="34" charset="0"/>
                <a:ea typeface="Arial" pitchFamily="34" charset="-122"/>
                <a:cs typeface="Arial" pitchFamily="34" charset="-120"/>
              </a:rPr>
              <a:t>tenant_id = 'finvault' • 2 rows</a:t>
            </a:r>
            <a:endParaRPr lang="en-US" sz="400" dirty="0"/>
          </a:p>
        </p:txBody>
      </p:sp>
      <p:sp>
        <p:nvSpPr>
          <p:cNvPr id="181" name="Shape 159"/>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82" name="Text 160"/>
          <p:cNvSpPr/>
          <p:nvPr/>
        </p:nvSpPr>
        <p:spPr>
          <a:xfrm>
            <a:off x="4935931" y="4535424"/>
            <a:ext cx="902513" cy="138989"/>
          </a:xfrm>
          <a:prstGeom prst="rect">
            <a:avLst/>
          </a:prstGeom>
          <a:noFill/>
          <a:ln/>
        </p:spPr>
        <p:txBody>
          <a:bodyPr wrap="none" lIns="0" tIns="0" rIns="0" bIns="0" rtlCol="0" anchor="ctr"/>
          <a:lstStyle/>
          <a:p>
            <a:pPr algn="ctr" indent="0" marL="0">
              <a:lnSpc>
                <a:spcPct val="100000"/>
              </a:lnSpc>
              <a:buNone/>
            </a:pPr>
            <a:r>
              <a:rPr lang="en-US" sz="383" b="1" dirty="0">
                <a:solidFill>
                  <a:srgbClr val="C5221F"/>
                </a:solidFill>
                <a:latin typeface="Arial" pitchFamily="34" charset="0"/>
                <a:ea typeface="Arial" pitchFamily="34" charset="-122"/>
                <a:cs typeface="Arial" pitchFamily="34" charset="-120"/>
              </a:rPr>
              <a:t>tenant_id = 'retailstream' • 2 rows</a:t>
            </a:r>
            <a:endParaRPr lang="en-US" sz="383" dirty="0"/>
          </a:p>
        </p:txBody>
      </p:sp>
      <p:sp>
        <p:nvSpPr>
          <p:cNvPr id="183" name="Shape 161"/>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84" name="Text 162"/>
          <p:cNvSpPr/>
          <p:nvPr/>
        </p:nvSpPr>
        <p:spPr>
          <a:xfrm>
            <a:off x="1641348" y="5517490"/>
            <a:ext cx="607162" cy="130759"/>
          </a:xfrm>
          <a:prstGeom prst="rect">
            <a:avLst/>
          </a:prstGeom>
          <a:noFill/>
          <a:ln/>
        </p:spPr>
        <p:txBody>
          <a:bodyPr wrap="none" lIns="0" tIns="0" rIns="0" bIns="0" rtlCol="0" anchor="ctr"/>
          <a:lstStyle/>
          <a:p>
            <a:pPr algn="ctr" indent="0" marL="0">
              <a:lnSpc>
                <a:spcPct val="100000"/>
              </a:lnSpc>
              <a:buNone/>
            </a:pPr>
            <a:r>
              <a:rPr lang="en-US" sz="361" b="1" dirty="0">
                <a:solidFill>
                  <a:srgbClr val="174EA6"/>
                </a:solidFill>
                <a:latin typeface="Arial" pitchFamily="34" charset="0"/>
                <a:ea typeface="Arial" pitchFamily="34" charset="-122"/>
                <a:cs typeface="Arial" pitchFamily="34" charset="-120"/>
              </a:rPr>
              <a:t>finvault:{user}:{session}</a:t>
            </a:r>
            <a:endParaRPr lang="en-US" sz="361" dirty="0"/>
          </a:p>
        </p:txBody>
      </p:sp>
      <p:sp>
        <p:nvSpPr>
          <p:cNvPr id="185" name="Shape 163"/>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6" name="Text 164"/>
          <p:cNvSpPr/>
          <p:nvPr/>
        </p:nvSpPr>
        <p:spPr>
          <a:xfrm>
            <a:off x="2315261" y="5517490"/>
            <a:ext cx="607162" cy="130759"/>
          </a:xfrm>
          <a:prstGeom prst="rect">
            <a:avLst/>
          </a:prstGeom>
          <a:noFill/>
          <a:ln/>
        </p:spPr>
        <p:txBody>
          <a:bodyPr wrap="none" lIns="0" tIns="0" rIns="0" bIns="0" rtlCol="0" anchor="ctr"/>
          <a:lstStyle/>
          <a:p>
            <a:pPr algn="ctr" indent="0" marL="0">
              <a:lnSpc>
                <a:spcPct val="100000"/>
              </a:lnSpc>
              <a:buNone/>
            </a:pPr>
            <a:r>
              <a:rPr lang="en-US" sz="311" dirty="0">
                <a:solidFill>
                  <a:srgbClr val="C5221F"/>
                </a:solidFill>
                <a:latin typeface="Arial" pitchFamily="34" charset="0"/>
                <a:ea typeface="Arial" pitchFamily="34" charset="-122"/>
                <a:cs typeface="Arial" pitchFamily="34" charset="-120"/>
              </a:rPr>
              <a:t>retailstream:{user}:{session}</a:t>
            </a:r>
            <a:endParaRPr lang="en-US" sz="311" dirty="0"/>
          </a:p>
        </p:txBody>
      </p:sp>
      <p:sp>
        <p:nvSpPr>
          <p:cNvPr id="187" name="Shape 165"/>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8" name="Text 166"/>
          <p:cNvSpPr/>
          <p:nvPr/>
        </p:nvSpPr>
        <p:spPr>
          <a:xfrm>
            <a:off x="2988259" y="5517490"/>
            <a:ext cx="607162" cy="130759"/>
          </a:xfrm>
          <a:prstGeom prst="rect">
            <a:avLst/>
          </a:prstGeom>
          <a:noFill/>
          <a:ln/>
        </p:spPr>
        <p:txBody>
          <a:bodyPr wrap="none" lIns="0" tIns="0" rIns="0" bIns="0" rtlCol="0" anchor="ctr"/>
          <a:lstStyle/>
          <a:p>
            <a:pPr algn="ctr" indent="0" marL="0">
              <a:lnSpc>
                <a:spcPct val="100000"/>
              </a:lnSpc>
              <a:buNone/>
            </a:pPr>
            <a:r>
              <a:rPr lang="en-US" sz="322" dirty="0">
                <a:solidFill>
                  <a:srgbClr val="137333"/>
                </a:solidFill>
                <a:latin typeface="Arial" pitchFamily="34" charset="0"/>
                <a:ea typeface="Arial" pitchFamily="34" charset="-122"/>
                <a:cs typeface="Arial" pitchFamily="34" charset="-120"/>
              </a:rPr>
              <a:t>L1 shared prefix (read-only)</a:t>
            </a:r>
            <a:endParaRPr lang="en-US" sz="322" dirty="0"/>
          </a:p>
        </p:txBody>
      </p:sp>
      <p:sp>
        <p:nvSpPr>
          <p:cNvPr id="189" name="Shape 167"/>
          <p:cNvSpPr/>
          <p:nvPr/>
        </p:nvSpPr>
        <p:spPr>
          <a:xfrm>
            <a:off x="3517697"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1" name="Shape 169"/>
          <p:cNvSpPr/>
          <p:nvPr/>
        </p:nvSpPr>
        <p:spPr>
          <a:xfrm>
            <a:off x="3717950"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3517697"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5" name="Shape 173"/>
          <p:cNvSpPr/>
          <p:nvPr/>
        </p:nvSpPr>
        <p:spPr>
          <a:xfrm>
            <a:off x="3717950"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2674620" y="3400654"/>
            <a:ext cx="148133" cy="148133"/>
          </a:xfrm>
          <a:prstGeom prst="ellipse">
            <a:avLst/>
          </a:prstGeom>
          <a:solidFill>
            <a:srgbClr val="174EA6"/>
          </a:solidFill>
          <a:ln w="10795">
            <a:solidFill>
              <a:srgbClr val="174EA6"/>
            </a:solidFill>
            <a:prstDash val="solid"/>
          </a:ln>
        </p:spPr>
      </p:sp>
      <p:sp>
        <p:nvSpPr>
          <p:cNvPr id="198" name="Text 176"/>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9" name="Shape 177"/>
          <p:cNvSpPr/>
          <p:nvPr/>
        </p:nvSpPr>
        <p:spPr>
          <a:xfrm>
            <a:off x="1579169" y="4530852"/>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5034686"/>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3692347" y="4252874"/>
            <a:ext cx="148133" cy="148133"/>
          </a:xfrm>
          <a:prstGeom prst="ellipse">
            <a:avLst/>
          </a:prstGeom>
          <a:solidFill>
            <a:srgbClr val="174EA6"/>
          </a:solidFill>
          <a:ln w="10795">
            <a:solidFill>
              <a:srgbClr val="174EA6"/>
            </a:solidFill>
            <a:prstDash val="solid"/>
          </a:ln>
        </p:spPr>
      </p:sp>
      <p:sp>
        <p:nvSpPr>
          <p:cNvPr id="204" name="Text 182"/>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5" name="Shape 183"/>
          <p:cNvSpPr/>
          <p:nvPr/>
        </p:nvSpPr>
        <p:spPr>
          <a:xfrm>
            <a:off x="5212994" y="3566160"/>
            <a:ext cx="148133" cy="148133"/>
          </a:xfrm>
          <a:prstGeom prst="ellipse">
            <a:avLst/>
          </a:prstGeom>
          <a:solidFill>
            <a:srgbClr val="174EA6"/>
          </a:solidFill>
          <a:ln w="10795">
            <a:solidFill>
              <a:srgbClr val="174EA6"/>
            </a:solidFill>
            <a:prstDash val="solid"/>
          </a:ln>
        </p:spPr>
      </p:sp>
      <p:sp>
        <p:nvSpPr>
          <p:cNvPr id="206" name="Text 184"/>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7" name="Text 185"/>
          <p:cNvSpPr/>
          <p:nvPr/>
        </p:nvSpPr>
        <p:spPr>
          <a:xfrm>
            <a:off x="1618488" y="5682996"/>
            <a:ext cx="1999793" cy="235001"/>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00" dirty="0"/>
          </a:p>
          <a:p>
            <a:pPr algn="l" indent="0" marL="0">
              <a:lnSpc>
                <a:spcPct val="104000"/>
              </a:lnSpc>
              <a:buNone/>
            </a:pPr>
            <a:r>
              <a:rPr lang="en-US" sz="39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00" dirty="0"/>
          </a:p>
        </p:txBody>
      </p:sp>
      <p:sp>
        <p:nvSpPr>
          <p:cNvPr id="208" name="Text 186"/>
          <p:cNvSpPr/>
          <p:nvPr/>
        </p:nvSpPr>
        <p:spPr>
          <a:xfrm>
            <a:off x="3913632" y="4874666"/>
            <a:ext cx="1947672" cy="138989"/>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00" dirty="0"/>
          </a:p>
        </p:txBody>
      </p:sp>
      <p:sp>
        <p:nvSpPr>
          <p:cNvPr id="209" name="Shape 187"/>
          <p:cNvSpPr/>
          <p:nvPr/>
        </p:nvSpPr>
        <p:spPr>
          <a:xfrm>
            <a:off x="3770071" y="3581705"/>
            <a:ext cx="1243584" cy="98755"/>
          </a:xfrm>
          <a:prstGeom prst="roundRect">
            <a:avLst>
              <a:gd name="adj" fmla="val 41667"/>
            </a:avLst>
          </a:prstGeom>
          <a:solidFill>
            <a:srgbClr val="FFFFFF"/>
          </a:solidFill>
          <a:ln w="5715">
            <a:solidFill>
              <a:srgbClr val="DADCE0"/>
            </a:solidFill>
            <a:prstDash val="solid"/>
          </a:ln>
        </p:spPr>
      </p:sp>
      <p:sp>
        <p:nvSpPr>
          <p:cNvPr id="210" name="Text 188"/>
          <p:cNvSpPr/>
          <p:nvPr/>
        </p:nvSpPr>
        <p:spPr>
          <a:xfrm>
            <a:off x="3788359" y="3587191"/>
            <a:ext cx="1207008"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Cache hits • RPM • per-tenant span cost → BigQuery</a:t>
            </a:r>
            <a:endParaRPr lang="en-US" sz="385" dirty="0"/>
          </a:p>
        </p:txBody>
      </p:sp>
      <p:sp>
        <p:nvSpPr>
          <p:cNvPr id="211" name="Shape 189"/>
          <p:cNvSpPr/>
          <p:nvPr/>
        </p:nvSpPr>
        <p:spPr>
          <a:xfrm>
            <a:off x="2844698" y="3397910"/>
            <a:ext cx="736092" cy="137160"/>
          </a:xfrm>
          <a:prstGeom prst="roundRect">
            <a:avLst>
              <a:gd name="adj" fmla="val 30000"/>
            </a:avLst>
          </a:prstGeom>
          <a:solidFill>
            <a:srgbClr val="FFFFFF"/>
          </a:solidFill>
          <a:ln w="5715">
            <a:solidFill>
              <a:srgbClr val="DADCE0"/>
            </a:solidFill>
            <a:prstDash val="solid"/>
          </a:ln>
        </p:spPr>
      </p:sp>
      <p:sp>
        <p:nvSpPr>
          <p:cNvPr id="212" name="Text 190"/>
          <p:cNvSpPr/>
          <p:nvPr/>
        </p:nvSpPr>
        <p:spPr>
          <a:xfrm>
            <a:off x="2862986" y="3403397"/>
            <a:ext cx="699516"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Allocate gVisor sandbox</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Valkey quota check</a:t>
            </a:r>
            <a:endParaRPr lang="en-US" sz="385" dirty="0"/>
          </a:p>
        </p:txBody>
      </p:sp>
      <p:sp>
        <p:nvSpPr>
          <p:cNvPr id="213" name="Shape 191"/>
          <p:cNvSpPr/>
          <p:nvPr/>
        </p:nvSpPr>
        <p:spPr>
          <a:xfrm>
            <a:off x="1757477" y="4551883"/>
            <a:ext cx="686714" cy="133502"/>
          </a:xfrm>
          <a:prstGeom prst="roundRect">
            <a:avLst>
              <a:gd name="adj" fmla="val 30822"/>
            </a:avLst>
          </a:prstGeom>
          <a:solidFill>
            <a:srgbClr val="FFFFFF"/>
          </a:solidFill>
          <a:ln w="5715">
            <a:solidFill>
              <a:srgbClr val="DADCE0"/>
            </a:solidFill>
            <a:prstDash val="solid"/>
          </a:ln>
        </p:spPr>
      </p:sp>
      <p:sp>
        <p:nvSpPr>
          <p:cNvPr id="214" name="Text 192"/>
          <p:cNvSpPr/>
          <p:nvPr/>
        </p:nvSpPr>
        <p:spPr>
          <a:xfrm>
            <a:off x="1775765" y="4557370"/>
            <a:ext cx="65013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Screen prompt with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tenant's Armor template</a:t>
            </a:r>
            <a:endParaRPr lang="en-US" sz="385" dirty="0"/>
          </a:p>
        </p:txBody>
      </p:sp>
      <p:sp>
        <p:nvSpPr>
          <p:cNvPr id="215" name="Shape 193"/>
          <p:cNvSpPr/>
          <p:nvPr/>
        </p:nvSpPr>
        <p:spPr>
          <a:xfrm>
            <a:off x="1757477" y="5055718"/>
            <a:ext cx="632765" cy="133502"/>
          </a:xfrm>
          <a:prstGeom prst="roundRect">
            <a:avLst>
              <a:gd name="adj" fmla="val 30822"/>
            </a:avLst>
          </a:prstGeom>
          <a:solidFill>
            <a:srgbClr val="FFFFFF"/>
          </a:solidFill>
          <a:ln w="5715">
            <a:solidFill>
              <a:srgbClr val="DADCE0"/>
            </a:solidFill>
            <a:prstDash val="solid"/>
          </a:ln>
        </p:spPr>
      </p:sp>
      <p:sp>
        <p:nvSpPr>
          <p:cNvPr id="216" name="Text 194"/>
          <p:cNvSpPr/>
          <p:nvPr/>
        </p:nvSpPr>
        <p:spPr>
          <a:xfrm>
            <a:off x="1775765" y="5061204"/>
            <a:ext cx="59618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90% cached prefix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namespaced memory</a:t>
            </a:r>
            <a:endParaRPr lang="en-US" sz="385" dirty="0"/>
          </a:p>
        </p:txBody>
      </p:sp>
      <p:sp>
        <p:nvSpPr>
          <p:cNvPr id="217" name="Shape 195"/>
          <p:cNvSpPr/>
          <p:nvPr/>
        </p:nvSpPr>
        <p:spPr>
          <a:xfrm>
            <a:off x="2563978" y="2908706"/>
            <a:ext cx="475488" cy="133502"/>
          </a:xfrm>
          <a:prstGeom prst="roundRect">
            <a:avLst>
              <a:gd name="adj" fmla="val 30822"/>
            </a:avLst>
          </a:prstGeom>
          <a:solidFill>
            <a:srgbClr val="FFFFFF"/>
          </a:solidFill>
          <a:ln w="5715">
            <a:solidFill>
              <a:srgbClr val="DADCE0"/>
            </a:solidFill>
            <a:prstDash val="solid"/>
          </a:ln>
        </p:spPr>
      </p:sp>
      <p:sp>
        <p:nvSpPr>
          <p:cNvPr id="218" name="Text 196"/>
          <p:cNvSpPr/>
          <p:nvPr/>
        </p:nvSpPr>
        <p:spPr>
          <a:xfrm>
            <a:off x="2582266" y="2914193"/>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Mint OBO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KMS P-256 sig</a:t>
            </a:r>
            <a:endParaRPr lang="en-US" sz="385" dirty="0"/>
          </a:p>
        </p:txBody>
      </p:sp>
      <p:sp>
        <p:nvSpPr>
          <p:cNvPr id="219" name="Shape 197"/>
          <p:cNvSpPr/>
          <p:nvPr/>
        </p:nvSpPr>
        <p:spPr>
          <a:xfrm>
            <a:off x="5383073" y="3568903"/>
            <a:ext cx="619963" cy="133502"/>
          </a:xfrm>
          <a:prstGeom prst="roundRect">
            <a:avLst>
              <a:gd name="adj" fmla="val 30822"/>
            </a:avLst>
          </a:prstGeom>
          <a:solidFill>
            <a:srgbClr val="FFFFFF"/>
          </a:solidFill>
          <a:ln w="5715">
            <a:solidFill>
              <a:srgbClr val="DADCE0"/>
            </a:solidFill>
            <a:prstDash val="solid"/>
          </a:ln>
        </p:spPr>
      </p:sp>
      <p:sp>
        <p:nvSpPr>
          <p:cNvPr id="220" name="Text 198"/>
          <p:cNvSpPr/>
          <p:nvPr/>
        </p:nvSpPr>
        <p:spPr>
          <a:xfrm>
            <a:off x="5401361" y="3574390"/>
            <a:ext cx="58338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SDP-redacted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per-turn OTel span</a:t>
            </a:r>
            <a:endParaRPr lang="en-US" sz="385" dirty="0"/>
          </a:p>
        </p:txBody>
      </p:sp>
      <p:sp>
        <p:nvSpPr>
          <p:cNvPr id="221" name="Shape 19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22" name="Text 20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Strip header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X-Tenant-ID</a:t>
            </a:r>
            <a:endParaRPr lang="en-US" sz="385" dirty="0"/>
          </a:p>
        </p:txBody>
      </p:sp>
      <p:sp>
        <p:nvSpPr>
          <p:cNvPr id="223" name="Shape 201"/>
          <p:cNvSpPr/>
          <p:nvPr/>
        </p:nvSpPr>
        <p:spPr>
          <a:xfrm>
            <a:off x="2458822" y="2717597"/>
            <a:ext cx="449885" cy="133502"/>
          </a:xfrm>
          <a:prstGeom prst="roundRect">
            <a:avLst>
              <a:gd name="adj" fmla="val 30822"/>
            </a:avLst>
          </a:prstGeom>
          <a:solidFill>
            <a:srgbClr val="FFFFFF"/>
          </a:solidFill>
          <a:ln w="5715">
            <a:solidFill>
              <a:srgbClr val="DADCE0"/>
            </a:solidFill>
            <a:prstDash val="solid"/>
          </a:ln>
        </p:spPr>
      </p:sp>
      <p:sp>
        <p:nvSpPr>
          <p:cNvPr id="224" name="Text 202"/>
          <p:cNvSpPr/>
          <p:nvPr/>
        </p:nvSpPr>
        <p:spPr>
          <a:xfrm>
            <a:off x="2477110" y="272308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Filter Agent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Catalog</a:t>
            </a:r>
            <a:endParaRPr lang="en-US" sz="385" dirty="0"/>
          </a:p>
        </p:txBody>
      </p:sp>
      <p:sp>
        <p:nvSpPr>
          <p:cNvPr id="225" name="Shape 203"/>
          <p:cNvSpPr/>
          <p:nvPr/>
        </p:nvSpPr>
        <p:spPr>
          <a:xfrm>
            <a:off x="5443423" y="5081321"/>
            <a:ext cx="424282" cy="98755"/>
          </a:xfrm>
          <a:prstGeom prst="roundRect">
            <a:avLst>
              <a:gd name="adj" fmla="val 41667"/>
            </a:avLst>
          </a:prstGeom>
          <a:solidFill>
            <a:srgbClr val="FFFFFF"/>
          </a:solidFill>
          <a:ln w="5715">
            <a:solidFill>
              <a:srgbClr val="DADCE0"/>
            </a:solidFill>
            <a:prstDash val="solid"/>
          </a:ln>
        </p:spPr>
      </p:sp>
      <p:sp>
        <p:nvSpPr>
          <p:cNvPr id="226" name="Text 204"/>
          <p:cNvSpPr/>
          <p:nvPr/>
        </p:nvSpPr>
        <p:spPr>
          <a:xfrm>
            <a:off x="5461711" y="5086807"/>
            <a:ext cx="387706"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3LO consent</a:t>
            </a:r>
            <a:endParaRPr lang="en-US" sz="385" dirty="0"/>
          </a:p>
        </p:txBody>
      </p:sp>
      <p:sp>
        <p:nvSpPr>
          <p:cNvPr id="227" name="Shape 205"/>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29" name="Shape 207"/>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1" name="Shape 209"/>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32" name="Text 210"/>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3" name="Shape 211"/>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34" name="Text 212"/>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5" name="Shape 213"/>
          <p:cNvSpPr/>
          <p:nvPr/>
        </p:nvSpPr>
        <p:spPr>
          <a:xfrm>
            <a:off x="3279038" y="5081321"/>
            <a:ext cx="372161" cy="98755"/>
          </a:xfrm>
          <a:prstGeom prst="roundRect">
            <a:avLst>
              <a:gd name="adj" fmla="val 41667"/>
            </a:avLst>
          </a:prstGeom>
          <a:solidFill>
            <a:srgbClr val="FFFFFF"/>
          </a:solidFill>
          <a:ln w="5715">
            <a:solidFill>
              <a:srgbClr val="DADCE0"/>
            </a:solidFill>
            <a:prstDash val="solid"/>
          </a:ln>
        </p:spPr>
      </p:sp>
      <p:sp>
        <p:nvSpPr>
          <p:cNvPr id="236" name="Text 214"/>
          <p:cNvSpPr/>
          <p:nvPr/>
        </p:nvSpPr>
        <p:spPr>
          <a:xfrm>
            <a:off x="3297326" y="5086807"/>
            <a:ext cx="335585"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namespace</a:t>
            </a:r>
            <a:endParaRPr lang="en-US" sz="385" dirty="0"/>
          </a:p>
        </p:txBody>
      </p:sp>
      <p:sp>
        <p:nvSpPr>
          <p:cNvPr id="237" name="Text 215"/>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Multi-Project Sovereign Topology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Central mTLS Routing &amp; Governance 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944575"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Alpha</a:t>
            </a:r>
            <a:endParaRPr lang="en-US" sz="430" dirty="0"/>
          </a:p>
        </p:txBody>
      </p:sp>
      <p:sp>
        <p:nvSpPr>
          <p:cNvPr id="124" name="Shape 121"/>
          <p:cNvSpPr/>
          <p:nvPr/>
        </p:nvSpPr>
        <p:spPr>
          <a:xfrm>
            <a:off x="3842309" y="3802075"/>
            <a:ext cx="91348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Beta</a:t>
            </a:r>
            <a:endParaRPr lang="en-US" sz="43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Silo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finvault-silo-cmek</a:t>
            </a:r>
            <a:endParaRPr lang="en-US" sz="470" dirty="0"/>
          </a:p>
        </p:txBody>
      </p:sp>
      <p:sp>
        <p:nvSpPr>
          <p:cNvPr id="128" name="Shape 125"/>
          <p:cNvSpPr/>
          <p:nvPr/>
        </p:nvSpPr>
        <p:spPr>
          <a:xfrm>
            <a:off x="3911803" y="3964838"/>
            <a:ext cx="1353312"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Silo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retailstream-silo-cmek</a:t>
            </a:r>
            <a:endParaRPr lang="en-US" sz="470" dirty="0"/>
          </a:p>
        </p:txBody>
      </p:sp>
      <p:sp>
        <p:nvSpPr>
          <p:cNvPr id="130" name="Shape 127"/>
          <p:cNvSpPr/>
          <p:nvPr/>
        </p:nvSpPr>
        <p:spPr>
          <a:xfrm>
            <a:off x="1468526" y="1921154"/>
            <a:ext cx="1580998"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Central mTLS &amp; SPIFFE Routing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Client certificate pinning (HTTP 401 on SAN mismatch)</a:t>
            </a:r>
            <a:endParaRPr lang="en-US" sz="470" dirty="0"/>
          </a:p>
        </p:txBody>
      </p:sp>
      <p:sp>
        <p:nvSpPr>
          <p:cNvPr id="132" name="Shape 129"/>
          <p:cNvSpPr/>
          <p:nvPr/>
        </p:nvSpPr>
        <p:spPr>
          <a:xfrm>
            <a:off x="4641494" y="1955902"/>
            <a:ext cx="1287475"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Cloud KMS CMEK &amp; Sovereign Security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mTLS SPIFFE Clients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&amp; RetailStream</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SNI Silo Routing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VPC-SC &amp; PAB Violation Feed</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Per-silo audit sink (CMEK state, VPC-SC denials)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 KeyRing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 (423 Lock)</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Workspace &amp; Jira (0 Egress)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pattern_b_silo_finvault_cmek_vault</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RetailStream Silo</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Entra SharePoint &amp; SNOW</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(medcore test)</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Sovereign Hub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Routes to Dedicated Silo</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FinVault Perimeter</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Gemma 3 (27B) GKE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vLLM + Dedicated PT</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 PCI Perimeter</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Provisioned Quota</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mTLS • SPIFFE Cert Pinning</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&amp; DDoS Filter</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IAM PAB Verifier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HTTP 403 Cross-Project Block</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632765"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9618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state &amp; VPC-SC</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audit monitoring</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Private GKE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Zero Egress</a:t>
            </a:r>
            <a:endParaRPr lang="en-US" sz="385" dirty="0"/>
          </a:p>
        </p:txBody>
      </p:sp>
      <p:sp>
        <p:nvSpPr>
          <p:cNvPr id="213" name="Shape 191"/>
          <p:cNvSpPr/>
          <p:nvPr/>
        </p:nvSpPr>
        <p:spPr>
          <a:xfrm>
            <a:off x="2779776" y="5485486"/>
            <a:ext cx="606247"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798064" y="5490972"/>
            <a:ext cx="569671"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finvault-silo-cmek</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Ready</a:t>
            </a:r>
            <a:endParaRPr lang="en-US" sz="385" dirty="0"/>
          </a:p>
        </p:txBody>
      </p:sp>
      <p:sp>
        <p:nvSpPr>
          <p:cNvPr id="215" name="Shape 193"/>
          <p:cNvSpPr/>
          <p:nvPr/>
        </p:nvSpPr>
        <p:spPr>
          <a:xfrm>
            <a:off x="5223053" y="4850892"/>
            <a:ext cx="449885"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41341" y="4856378"/>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VPC-SC Bound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Secure RAG</a:t>
            </a:r>
            <a:endParaRPr lang="en-US" sz="385" dirty="0"/>
          </a:p>
        </p:txBody>
      </p:sp>
      <p:sp>
        <p:nvSpPr>
          <p:cNvPr id="217" name="Shape 195"/>
          <p:cNvSpPr/>
          <p:nvPr/>
        </p:nvSpPr>
        <p:spPr>
          <a:xfrm>
            <a:off x="5158130" y="5485486"/>
            <a:ext cx="580644"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176418" y="549097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Kill-Switch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Verified</a:t>
            </a:r>
            <a:endParaRPr lang="en-US" sz="385" dirty="0"/>
          </a:p>
        </p:txBody>
      </p:sp>
      <p:sp>
        <p:nvSpPr>
          <p:cNvPr id="219" name="Shape 197"/>
          <p:cNvSpPr/>
          <p:nvPr/>
        </p:nvSpPr>
        <p:spPr>
          <a:xfrm>
            <a:off x="1757477" y="5637276"/>
            <a:ext cx="397764"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Sovereign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HTTP 423 Locked)</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to isolated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VPC-SC tenant project</a:t>
            </a:r>
            <a:endParaRPr lang="en-US" sz="385" dirty="0"/>
          </a:p>
        </p:txBody>
      </p:sp>
      <p:sp>
        <p:nvSpPr>
          <p:cNvPr id="225" name="Shape 203"/>
          <p:cNvSpPr/>
          <p:nvPr/>
        </p:nvSpPr>
        <p:spPr>
          <a:xfrm>
            <a:off x="2589581" y="2908706"/>
            <a:ext cx="424282"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07869" y="291419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Enforce org</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PAB policy</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46020" y="2117750"/>
            <a:ext cx="475488"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64308" y="2123237"/>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Verify client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SPIFFE SAN</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443484"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40690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Silo Response</a:t>
            </a:r>
            <a:endParaRPr lang="en-US" sz="385" dirty="0"/>
          </a:p>
        </p:txBody>
      </p:sp>
      <p:sp>
        <p:nvSpPr>
          <p:cNvPr id="237" name="Shape 215"/>
          <p:cNvSpPr/>
          <p:nvPr/>
        </p:nvSpPr>
        <p:spPr>
          <a:xfrm>
            <a:off x="3888029" y="2740457"/>
            <a:ext cx="372161"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35585"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200 / 423</a:t>
            </a:r>
            <a:endParaRPr lang="en-US" sz="385" dirty="0"/>
          </a:p>
        </p:txBody>
      </p:sp>
      <p:sp>
        <p:nvSpPr>
          <p:cNvPr id="239" name="Shape 217"/>
          <p:cNvSpPr/>
          <p:nvPr/>
        </p:nvSpPr>
        <p:spPr>
          <a:xfrm>
            <a:off x="3087929" y="1163117"/>
            <a:ext cx="399593"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06217" y="1168603"/>
            <a:ext cx="36301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Request</a:t>
            </a:r>
            <a:endParaRPr lang="en-US" sz="385" dirty="0"/>
          </a:p>
        </p:txBody>
      </p:sp>
      <p:sp>
        <p:nvSpPr>
          <p:cNvPr id="241" name="Shape 219"/>
          <p:cNvSpPr/>
          <p:nvPr/>
        </p:nvSpPr>
        <p:spPr>
          <a:xfrm>
            <a:off x="3089758" y="2740457"/>
            <a:ext cx="397764"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08046" y="2745943"/>
            <a:ext cx="36118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Valid</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Unified Hybrid Control Hub</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897380"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00" dirty="0"/>
          </a:p>
        </p:txBody>
      </p:sp>
      <p:sp>
        <p:nvSpPr>
          <p:cNvPr id="124" name="Shape 121"/>
          <p:cNvSpPr/>
          <p:nvPr/>
        </p:nvSpPr>
        <p:spPr>
          <a:xfrm>
            <a:off x="3842309" y="3802075"/>
            <a:ext cx="1607515"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Enterprise Tier: Private Service Connect (PSC) Spokes</a:t>
            </a:r>
            <a:endParaRPr lang="en-US" sz="400" dirty="0"/>
          </a:p>
        </p:txBody>
      </p:sp>
      <p:sp>
        <p:nvSpPr>
          <p:cNvPr id="126" name="Shape 123"/>
          <p:cNvSpPr/>
          <p:nvPr/>
        </p:nvSpPr>
        <p:spPr>
          <a:xfrm>
            <a:off x="1547165" y="3964838"/>
            <a:ext cx="1495958"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Shared Pooled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pool://cymbal-shared-pooled-v2 (90% Cache Savings)</a:t>
            </a:r>
            <a:endParaRPr lang="en-US" sz="470" dirty="0"/>
          </a:p>
        </p:txBody>
      </p:sp>
      <p:sp>
        <p:nvSpPr>
          <p:cNvPr id="128" name="Shape 125"/>
          <p:cNvSpPr/>
          <p:nvPr/>
        </p:nvSpPr>
        <p:spPr>
          <a:xfrm>
            <a:off x="3911803" y="3964838"/>
            <a:ext cx="1637690"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Enterprise PSC Spokes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cymbal-psc-nat-us-west1 (/28) -&gt; psc://10.10.0.50 &amp; .51</a:t>
            </a:r>
            <a:endParaRPr lang="en-US" sz="470" dirty="0"/>
          </a:p>
        </p:txBody>
      </p:sp>
      <p:sp>
        <p:nvSpPr>
          <p:cNvPr id="130" name="Shape 127"/>
          <p:cNvSpPr/>
          <p:nvPr/>
        </p:nvSpPr>
        <p:spPr>
          <a:xfrm>
            <a:off x="1468526" y="1921154"/>
            <a:ext cx="1865376"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Unified Control Plane &amp; Intelligent Router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Firestore live routing table + pattern_c_psc_endpoints_registry</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Tier Routing &amp; Live Migration Control Plane</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Standard &amp; Enterprise</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Single Unified SaaS URL</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 (atomic tier pointer)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 pool | psc://10.10.0.5x</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tenant_promotion_migrations • routing_plane</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Migration Coordinator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Serves Standard SaaS Tier</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Pooled MCP Hub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Delegated 3LO Tools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&amp; BQ RLS</a:t>
            </a:r>
            <a:endParaRPr lang="en-US" sz="490" dirty="0"/>
          </a:p>
          <a:p>
            <a:pPr algn="l" indent="0" marL="0">
              <a:lnSpc>
                <a:spcPct val="100000"/>
              </a:lnSpc>
              <a:buNone/>
            </a:pPr>
            <a:r>
              <a:rPr lang="en-US" sz="309" dirty="0">
                <a:solidFill>
                  <a:srgbClr val="3C4043"/>
                </a:solidFill>
                <a:latin typeface="Arial" pitchFamily="34" charset="0"/>
                <a:ea typeface="Arial" pitchFamily="34" charset="-122"/>
                <a:cs typeface="Arial" pitchFamily="34" charset="-120"/>
              </a:rPr>
              <a:t>pattern_a_pooled_rls_entities</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Spoke Agent Engine via PSC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ServiceAttachment ← /28 consumer endpoint</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Dedicated Spoke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Isolated Inside VPC-SC Spoke</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Spoke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KMS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Router &amp; Live Migrator</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Multi-Tenant Prompt &amp; SDP</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4,000 Thinking Cap + Cache</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Enterprise prompt screen + SDP</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Upgraded 8,000 Thinking Cap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IAP • Single SaaS URL</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Cross-Project Catalog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Federated Agent Catalog</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pattern_c_psc_endpoints_registry</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580644"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Live promotion:</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-&gt; PSC Spoke</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Shared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3" name="Shape 191"/>
          <p:cNvSpPr/>
          <p:nvPr/>
        </p:nvSpPr>
        <p:spPr>
          <a:xfrm>
            <a:off x="2806294" y="5485486"/>
            <a:ext cx="55412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24582" y="5490972"/>
            <a:ext cx="51755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Streams State to</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Spoke</a:t>
            </a:r>
            <a:endParaRPr lang="en-US" sz="385" dirty="0"/>
          </a:p>
        </p:txBody>
      </p:sp>
      <p:sp>
        <p:nvSpPr>
          <p:cNvPr id="215" name="Shape 193"/>
          <p:cNvSpPr/>
          <p:nvPr/>
        </p:nvSpPr>
        <p:spPr>
          <a:xfrm>
            <a:off x="5197450" y="4850892"/>
            <a:ext cx="502006"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15738" y="4856378"/>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Unidirectional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Bridge</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Spoke Storage</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Pooled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Seamless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(0 dropped sessions)</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Standard to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Enterprise via PSC</a:t>
            </a:r>
            <a:endParaRPr lang="en-US" sz="385" dirty="0"/>
          </a:p>
        </p:txBody>
      </p:sp>
      <p:sp>
        <p:nvSpPr>
          <p:cNvPr id="225" name="Shape 203"/>
          <p:cNvSpPr/>
          <p:nvPr/>
        </p:nvSpPr>
        <p:spPr>
          <a:xfrm>
            <a:off x="2576779" y="2908706"/>
            <a:ext cx="449885"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95067" y="291419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Atomic route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lookup</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510942" y="2117750"/>
            <a:ext cx="345643"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29230" y="2123237"/>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471623" y="2717597"/>
            <a:ext cx="424282"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489911" y="272308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Resolve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agent route</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COLUMN</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Tier 3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 SLATE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(Tier 1) &amp; Pattern C — Hybrid PSC (Tier 2)</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46 Shapes • 19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Executive Topology Selector: 2 questions → 3 outcomes</a:t>
            </a:r>
            <a:endParaRPr lang="en-US" sz="44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Shape 69"/>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2" name="Shape 70"/>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3" name="Shape 71"/>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4" name="Shape 72"/>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5" name="Shape 73"/>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76" name="Shape 74"/>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1697126" y="4552798"/>
            <a:ext cx="0" cy="61265"/>
          </a:xfrm>
          <a:prstGeom prst="line">
            <a:avLst/>
          </a:prstGeom>
          <a:noFill/>
          <a:ln w="12700">
            <a:solidFill>
              <a:srgbClr val="5F6368"/>
            </a:solidFill>
            <a:prstDash val="solid"/>
            <a:tailEnd type="triangle" w="sm" len="sm"/>
          </a:ln>
        </p:spPr>
      </p:sp>
      <p:sp>
        <p:nvSpPr>
          <p:cNvPr id="80" name="Shape 77"/>
          <p:cNvSpPr/>
          <p:nvPr/>
        </p:nvSpPr>
        <p:spPr>
          <a:xfrm>
            <a:off x="1697126" y="4909414"/>
            <a:ext cx="0" cy="60350"/>
          </a:xfrm>
          <a:prstGeom prst="line">
            <a:avLst/>
          </a:prstGeom>
          <a:noFill/>
          <a:ln w="12700">
            <a:solidFill>
              <a:srgbClr val="5F6368"/>
            </a:solidFill>
            <a:prstDash val="solid"/>
            <a:tailEnd type="triangle" w="sm" len="sm"/>
          </a:ln>
        </p:spPr>
      </p:sp>
      <p:sp>
        <p:nvSpPr>
          <p:cNvPr id="81" name="Shape 78"/>
          <p:cNvSpPr/>
          <p:nvPr/>
        </p:nvSpPr>
        <p:spPr>
          <a:xfrm>
            <a:off x="1697126" y="5266030"/>
            <a:ext cx="0" cy="60350"/>
          </a:xfrm>
          <a:prstGeom prst="line">
            <a:avLst/>
          </a:prstGeom>
          <a:noFill/>
          <a:ln w="12700">
            <a:solidFill>
              <a:srgbClr val="5F6368"/>
            </a:solidFill>
            <a:prstDash val="solid"/>
            <a:tailEnd type="triangle" w="sm" len="sm"/>
          </a:ln>
        </p:spPr>
      </p:sp>
      <p:sp>
        <p:nvSpPr>
          <p:cNvPr id="82" name="Shape 79"/>
          <p:cNvSpPr/>
          <p:nvPr/>
        </p:nvSpPr>
        <p:spPr>
          <a:xfrm>
            <a:off x="2175358" y="3700577"/>
            <a:ext cx="0" cy="200254"/>
          </a:xfrm>
          <a:prstGeom prst="line">
            <a:avLst/>
          </a:prstGeom>
          <a:noFill/>
          <a:ln w="12700">
            <a:solidFill>
              <a:srgbClr val="5F6368"/>
            </a:solidFill>
            <a:prstDash val="solid"/>
            <a:tailEnd type="triangle" w="sm" len="sm"/>
          </a:ln>
        </p:spPr>
      </p:sp>
      <p:sp>
        <p:nvSpPr>
          <p:cNvPr id="83" name="Shape 80"/>
          <p:cNvSpPr/>
          <p:nvPr/>
        </p:nvSpPr>
        <p:spPr>
          <a:xfrm>
            <a:off x="3261665" y="4552798"/>
            <a:ext cx="0" cy="61265"/>
          </a:xfrm>
          <a:prstGeom prst="line">
            <a:avLst/>
          </a:prstGeom>
          <a:noFill/>
          <a:ln w="12700">
            <a:solidFill>
              <a:srgbClr val="5F6368"/>
            </a:solidFill>
            <a:prstDash val="solid"/>
            <a:tailEnd type="triangle" w="sm" len="sm"/>
          </a:ln>
        </p:spPr>
      </p:sp>
      <p:sp>
        <p:nvSpPr>
          <p:cNvPr id="84" name="Shape 81"/>
          <p:cNvSpPr/>
          <p:nvPr/>
        </p:nvSpPr>
        <p:spPr>
          <a:xfrm>
            <a:off x="3261665" y="4909414"/>
            <a:ext cx="0" cy="60350"/>
          </a:xfrm>
          <a:prstGeom prst="line">
            <a:avLst/>
          </a:prstGeom>
          <a:noFill/>
          <a:ln w="12700">
            <a:solidFill>
              <a:srgbClr val="5F6368"/>
            </a:solidFill>
            <a:prstDash val="solid"/>
            <a:tailEnd type="triangle" w="sm" len="sm"/>
          </a:ln>
        </p:spPr>
      </p:sp>
      <p:sp>
        <p:nvSpPr>
          <p:cNvPr id="85" name="Shape 82"/>
          <p:cNvSpPr/>
          <p:nvPr/>
        </p:nvSpPr>
        <p:spPr>
          <a:xfrm>
            <a:off x="3261665" y="5266030"/>
            <a:ext cx="0" cy="60350"/>
          </a:xfrm>
          <a:prstGeom prst="line">
            <a:avLst/>
          </a:prstGeom>
          <a:noFill/>
          <a:ln w="12700">
            <a:solidFill>
              <a:srgbClr val="5F6368"/>
            </a:solidFill>
            <a:prstDash val="solid"/>
            <a:tailEnd type="triangle" w="sm" len="sm"/>
          </a:ln>
        </p:spPr>
      </p:sp>
      <p:sp>
        <p:nvSpPr>
          <p:cNvPr id="86" name="Shape 83"/>
          <p:cNvSpPr/>
          <p:nvPr/>
        </p:nvSpPr>
        <p:spPr>
          <a:xfrm>
            <a:off x="3739896" y="3700577"/>
            <a:ext cx="0" cy="200254"/>
          </a:xfrm>
          <a:prstGeom prst="line">
            <a:avLst/>
          </a:prstGeom>
          <a:noFill/>
          <a:ln w="12700">
            <a:solidFill>
              <a:srgbClr val="5F6368"/>
            </a:solidFill>
            <a:prstDash val="solid"/>
            <a:tailEnd type="triangle" w="sm" len="sm"/>
          </a:ln>
        </p:spPr>
      </p:sp>
      <p:sp>
        <p:nvSpPr>
          <p:cNvPr id="87" name="Shape 84"/>
          <p:cNvSpPr/>
          <p:nvPr/>
        </p:nvSpPr>
        <p:spPr>
          <a:xfrm>
            <a:off x="4826203" y="4552798"/>
            <a:ext cx="0" cy="61265"/>
          </a:xfrm>
          <a:prstGeom prst="line">
            <a:avLst/>
          </a:prstGeom>
          <a:noFill/>
          <a:ln w="12700">
            <a:solidFill>
              <a:srgbClr val="5F6368"/>
            </a:solidFill>
            <a:prstDash val="solid"/>
            <a:tailEnd type="triangle" w="sm" len="sm"/>
          </a:ln>
        </p:spPr>
      </p:sp>
      <p:sp>
        <p:nvSpPr>
          <p:cNvPr id="88" name="Shape 85"/>
          <p:cNvSpPr/>
          <p:nvPr/>
        </p:nvSpPr>
        <p:spPr>
          <a:xfrm>
            <a:off x="4826203" y="4909414"/>
            <a:ext cx="0" cy="60350"/>
          </a:xfrm>
          <a:prstGeom prst="line">
            <a:avLst/>
          </a:prstGeom>
          <a:noFill/>
          <a:ln w="12700">
            <a:solidFill>
              <a:srgbClr val="5F6368"/>
            </a:solidFill>
            <a:prstDash val="solid"/>
            <a:tailEnd type="triangle" w="sm" len="sm"/>
          </a:ln>
        </p:spPr>
      </p:sp>
      <p:sp>
        <p:nvSpPr>
          <p:cNvPr id="89" name="Shape 86"/>
          <p:cNvSpPr/>
          <p:nvPr/>
        </p:nvSpPr>
        <p:spPr>
          <a:xfrm>
            <a:off x="4826203" y="5266030"/>
            <a:ext cx="0" cy="60350"/>
          </a:xfrm>
          <a:prstGeom prst="line">
            <a:avLst/>
          </a:prstGeom>
          <a:noFill/>
          <a:ln w="12700">
            <a:solidFill>
              <a:srgbClr val="5F6368"/>
            </a:solidFill>
            <a:prstDash val="solid"/>
            <a:tailEnd type="triangle" w="sm" len="sm"/>
          </a:ln>
        </p:spPr>
      </p:sp>
      <p:sp>
        <p:nvSpPr>
          <p:cNvPr id="90" name="Shape 87"/>
          <p:cNvSpPr/>
          <p:nvPr/>
        </p:nvSpPr>
        <p:spPr>
          <a:xfrm>
            <a:off x="5304434" y="3700577"/>
            <a:ext cx="0" cy="200254"/>
          </a:xfrm>
          <a:prstGeom prst="line">
            <a:avLst/>
          </a:prstGeom>
          <a:noFill/>
          <a:ln w="12700">
            <a:solidFill>
              <a:srgbClr val="5F6368"/>
            </a:solidFill>
            <a:prstDash val="solid"/>
            <a:tailEnd type="triangle" w="sm" len="sm"/>
          </a:ln>
        </p:spPr>
      </p:sp>
      <p:sp>
        <p:nvSpPr>
          <p:cNvPr id="91" name="Shape 88"/>
          <p:cNvSpPr/>
          <p:nvPr/>
        </p:nvSpPr>
        <p:spPr>
          <a:xfrm>
            <a:off x="3696005" y="1032358"/>
            <a:ext cx="0" cy="1086307"/>
          </a:xfrm>
          <a:prstGeom prst="line">
            <a:avLst/>
          </a:prstGeom>
          <a:noFill/>
          <a:ln w="12700">
            <a:solidFill>
              <a:srgbClr val="5F6368"/>
            </a:solidFill>
            <a:prstDash val="solid"/>
            <a:tailEnd type="triangle" w="sm" len="sm"/>
          </a:ln>
        </p:spPr>
      </p:sp>
      <p:sp>
        <p:nvSpPr>
          <p:cNvPr id="92" name="Shape 89"/>
          <p:cNvSpPr/>
          <p:nvPr/>
        </p:nvSpPr>
        <p:spPr>
          <a:xfrm>
            <a:off x="2175358" y="2371039"/>
            <a:ext cx="0" cy="121615"/>
          </a:xfrm>
          <a:prstGeom prst="line">
            <a:avLst/>
          </a:prstGeom>
          <a:noFill/>
          <a:ln w="12700">
            <a:solidFill>
              <a:srgbClr val="5F6368"/>
            </a:solidFill>
            <a:prstDash val="solid"/>
            <a:tailEnd type="triangle" w="sm" len="sm"/>
          </a:ln>
        </p:spPr>
      </p:sp>
      <p:sp>
        <p:nvSpPr>
          <p:cNvPr id="93" name="Shape 90"/>
          <p:cNvSpPr/>
          <p:nvPr/>
        </p:nvSpPr>
        <p:spPr>
          <a:xfrm>
            <a:off x="2740457" y="2710282"/>
            <a:ext cx="243230" cy="0"/>
          </a:xfrm>
          <a:prstGeom prst="line">
            <a:avLst/>
          </a:prstGeom>
          <a:noFill/>
          <a:ln w="12700">
            <a:solidFill>
              <a:srgbClr val="5F6368"/>
            </a:solidFill>
            <a:prstDash val="solid"/>
            <a:tailEnd type="triangle" w="sm" len="sm"/>
          </a:ln>
        </p:spPr>
      </p:sp>
      <p:sp>
        <p:nvSpPr>
          <p:cNvPr id="94" name="Shape 91"/>
          <p:cNvSpPr/>
          <p:nvPr/>
        </p:nvSpPr>
        <p:spPr>
          <a:xfrm>
            <a:off x="2175358" y="2926994"/>
            <a:ext cx="0" cy="651967"/>
          </a:xfrm>
          <a:prstGeom prst="line">
            <a:avLst/>
          </a:prstGeom>
          <a:noFill/>
          <a:ln w="12700">
            <a:solidFill>
              <a:srgbClr val="5F6368"/>
            </a:solidFill>
            <a:prstDash val="solid"/>
            <a:tailEnd type="triangle" w="sm" len="sm"/>
          </a:ln>
        </p:spPr>
      </p:sp>
      <p:sp>
        <p:nvSpPr>
          <p:cNvPr id="95" name="Shape 92"/>
          <p:cNvSpPr/>
          <p:nvPr/>
        </p:nvSpPr>
        <p:spPr>
          <a:xfrm>
            <a:off x="3288182" y="2926994"/>
            <a:ext cx="0" cy="651967"/>
          </a:xfrm>
          <a:prstGeom prst="line">
            <a:avLst/>
          </a:prstGeom>
          <a:noFill/>
          <a:ln w="12700">
            <a:solidFill>
              <a:srgbClr val="5F6368"/>
            </a:solidFill>
            <a:prstDash val="solid"/>
            <a:tailEnd type="triangle" w="sm" len="sm"/>
          </a:ln>
        </p:spPr>
      </p:sp>
      <p:sp>
        <p:nvSpPr>
          <p:cNvPr id="96" name="Shape 93"/>
          <p:cNvSpPr/>
          <p:nvPr/>
        </p:nvSpPr>
        <p:spPr>
          <a:xfrm>
            <a:off x="4052621" y="2926994"/>
            <a:ext cx="0" cy="582473"/>
          </a:xfrm>
          <a:prstGeom prst="line">
            <a:avLst/>
          </a:prstGeom>
          <a:noFill/>
          <a:ln w="12700">
            <a:solidFill>
              <a:srgbClr val="5F6368"/>
            </a:solidFill>
            <a:prstDash val="solid"/>
          </a:ln>
        </p:spPr>
      </p:sp>
      <p:sp>
        <p:nvSpPr>
          <p:cNvPr id="97" name="Shape 94"/>
          <p:cNvSpPr/>
          <p:nvPr/>
        </p:nvSpPr>
        <p:spPr>
          <a:xfrm>
            <a:off x="4052621" y="3509467"/>
            <a:ext cx="1425550" cy="0"/>
          </a:xfrm>
          <a:prstGeom prst="line">
            <a:avLst/>
          </a:prstGeom>
          <a:noFill/>
          <a:ln w="12700">
            <a:solidFill>
              <a:srgbClr val="5F6368"/>
            </a:solidFill>
            <a:prstDash val="solid"/>
          </a:ln>
        </p:spPr>
      </p:sp>
      <p:sp>
        <p:nvSpPr>
          <p:cNvPr id="98" name="Shape 95"/>
          <p:cNvSpPr/>
          <p:nvPr/>
        </p:nvSpPr>
        <p:spPr>
          <a:xfrm>
            <a:off x="5478170" y="3509467"/>
            <a:ext cx="914" cy="69494"/>
          </a:xfrm>
          <a:prstGeom prst="line">
            <a:avLst/>
          </a:prstGeom>
          <a:noFill/>
          <a:ln w="12700">
            <a:solidFill>
              <a:srgbClr val="5F6368"/>
            </a:solidFill>
            <a:prstDash val="solid"/>
            <a:tailEnd type="triangle" w="sm" len="sm"/>
          </a:ln>
        </p:spPr>
      </p:sp>
      <p:sp>
        <p:nvSpPr>
          <p:cNvPr id="99" name="Shape 96"/>
          <p:cNvSpPr/>
          <p:nvPr/>
        </p:nvSpPr>
        <p:spPr>
          <a:xfrm>
            <a:off x="5869534" y="3327502"/>
            <a:ext cx="0" cy="251460"/>
          </a:xfrm>
          <a:prstGeom prst="line">
            <a:avLst/>
          </a:prstGeom>
          <a:noFill/>
          <a:ln w="12700">
            <a:solidFill>
              <a:srgbClr val="5F6368"/>
            </a:solidFill>
            <a:prstDash val="dash"/>
            <a:tailEnd type="triangle" w="sm" len="sm"/>
          </a:ln>
        </p:spPr>
      </p:sp>
      <p:sp>
        <p:nvSpPr>
          <p:cNvPr id="100" name="Shape 97"/>
          <p:cNvSpPr/>
          <p:nvPr/>
        </p:nvSpPr>
        <p:spPr>
          <a:xfrm>
            <a:off x="1468526" y="1921154"/>
            <a:ext cx="1780337" cy="196596"/>
          </a:xfrm>
          <a:prstGeom prst="rect">
            <a:avLst/>
          </a:prstGeom>
          <a:solidFill>
            <a:srgbClr val="AECBFA"/>
          </a:solidFill>
          <a:ln/>
        </p:spPr>
      </p:sp>
      <p:sp>
        <p:nvSpPr>
          <p:cNvPr id="101" name="Text 9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1. The 2-Question Executive Topology Selector</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Answer in order — Q1 settles compliance, Q2 settles tier mix</a:t>
            </a:r>
            <a:endParaRPr lang="en-US" sz="470" dirty="0"/>
          </a:p>
        </p:txBody>
      </p:sp>
      <p:sp>
        <p:nvSpPr>
          <p:cNvPr id="102" name="Shape 99"/>
          <p:cNvSpPr/>
          <p:nvPr/>
        </p:nvSpPr>
        <p:spPr>
          <a:xfrm>
            <a:off x="1477670" y="3915461"/>
            <a:ext cx="1063447" cy="113386"/>
          </a:xfrm>
          <a:prstGeom prst="rect">
            <a:avLst/>
          </a:prstGeom>
          <a:solidFill>
            <a:srgbClr val="FFFFFF"/>
          </a:solidFill>
          <a:ln/>
        </p:spPr>
      </p:sp>
      <p:sp>
        <p:nvSpPr>
          <p:cNvPr id="103" name="Text 100"/>
          <p:cNvSpPr/>
          <p:nvPr/>
        </p:nvSpPr>
        <p:spPr>
          <a:xfrm>
            <a:off x="1491386"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B — Sovereign Silos • Tier 3</a:t>
            </a:r>
            <a:endParaRPr lang="en-US" sz="380" dirty="0"/>
          </a:p>
        </p:txBody>
      </p:sp>
      <p:sp>
        <p:nvSpPr>
          <p:cNvPr id="104" name="Shape 101"/>
          <p:cNvSpPr/>
          <p:nvPr/>
        </p:nvSpPr>
        <p:spPr>
          <a:xfrm>
            <a:off x="3042209" y="3915461"/>
            <a:ext cx="815645" cy="113386"/>
          </a:xfrm>
          <a:prstGeom prst="rect">
            <a:avLst/>
          </a:prstGeom>
          <a:solidFill>
            <a:srgbClr val="FFFFFF"/>
          </a:solidFill>
          <a:ln/>
        </p:spPr>
      </p:sp>
      <p:sp>
        <p:nvSpPr>
          <p:cNvPr id="105" name="Text 102"/>
          <p:cNvSpPr/>
          <p:nvPr/>
        </p:nvSpPr>
        <p:spPr>
          <a:xfrm>
            <a:off x="3055925"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A — Pooled • Tier 1</a:t>
            </a:r>
            <a:endParaRPr lang="en-US" sz="380" dirty="0"/>
          </a:p>
        </p:txBody>
      </p:sp>
      <p:sp>
        <p:nvSpPr>
          <p:cNvPr id="106" name="Shape 103"/>
          <p:cNvSpPr/>
          <p:nvPr/>
        </p:nvSpPr>
        <p:spPr>
          <a:xfrm>
            <a:off x="4606747" y="3915461"/>
            <a:ext cx="926287" cy="113386"/>
          </a:xfrm>
          <a:prstGeom prst="rect">
            <a:avLst/>
          </a:prstGeom>
          <a:solidFill>
            <a:srgbClr val="FFFFFF"/>
          </a:solidFill>
          <a:ln/>
        </p:spPr>
      </p:sp>
      <p:sp>
        <p:nvSpPr>
          <p:cNvPr id="107" name="Text 104"/>
          <p:cNvSpPr/>
          <p:nvPr/>
        </p:nvSpPr>
        <p:spPr>
          <a:xfrm>
            <a:off x="4620463"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C — Hybrid PSC • Tier 2</a:t>
            </a:r>
            <a:endParaRPr lang="en-US" sz="380" dirty="0"/>
          </a:p>
        </p:txBody>
      </p:sp>
      <p:sp>
        <p:nvSpPr>
          <p:cNvPr id="108" name="Shape 105"/>
          <p:cNvSpPr/>
          <p:nvPr/>
        </p:nvSpPr>
        <p:spPr>
          <a:xfrm>
            <a:off x="1547165" y="4069080"/>
            <a:ext cx="1228954" cy="196596"/>
          </a:xfrm>
          <a:prstGeom prst="rect">
            <a:avLst/>
          </a:prstGeom>
          <a:solidFill>
            <a:srgbClr val="FAD2CF"/>
          </a:solidFill>
          <a:ln/>
        </p:spPr>
      </p:sp>
      <p:sp>
        <p:nvSpPr>
          <p:cNvPr id="109" name="Text 106"/>
          <p:cNvSpPr/>
          <p:nvPr/>
        </p:nvSpPr>
        <p:spPr>
          <a:xfrm>
            <a:off x="1560881"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dedicated project per tenant</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Zero blast radius • customer holds the key</a:t>
            </a:r>
            <a:endParaRPr lang="en-US" sz="430" dirty="0"/>
          </a:p>
        </p:txBody>
      </p:sp>
      <p:sp>
        <p:nvSpPr>
          <p:cNvPr id="110" name="Shape 107"/>
          <p:cNvSpPr/>
          <p:nvPr/>
        </p:nvSpPr>
        <p:spPr>
          <a:xfrm>
            <a:off x="3111703" y="4069080"/>
            <a:ext cx="1097280" cy="196596"/>
          </a:xfrm>
          <a:prstGeom prst="rect">
            <a:avLst/>
          </a:prstGeom>
          <a:solidFill>
            <a:srgbClr val="FEEFC3"/>
          </a:solidFill>
          <a:ln/>
        </p:spPr>
      </p:sp>
      <p:sp>
        <p:nvSpPr>
          <p:cNvPr id="111" name="Text 108"/>
          <p:cNvSpPr/>
          <p:nvPr/>
        </p:nvSpPr>
        <p:spPr>
          <a:xfrm>
            <a:off x="3125419"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shared plane for all tenants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Lowest COGS • logical isolation only</a:t>
            </a:r>
            <a:endParaRPr lang="en-US" sz="430" dirty="0"/>
          </a:p>
        </p:txBody>
      </p:sp>
      <p:sp>
        <p:nvSpPr>
          <p:cNvPr id="112" name="Shape 109"/>
          <p:cNvSpPr/>
          <p:nvPr/>
        </p:nvSpPr>
        <p:spPr>
          <a:xfrm>
            <a:off x="4676242" y="4069080"/>
            <a:ext cx="1097280" cy="196596"/>
          </a:xfrm>
          <a:prstGeom prst="rect">
            <a:avLst/>
          </a:prstGeom>
          <a:solidFill>
            <a:srgbClr val="E8D9F7"/>
          </a:solidFill>
          <a:ln/>
        </p:spPr>
      </p:sp>
      <p:sp>
        <p:nvSpPr>
          <p:cNvPr id="113" name="Text 110"/>
          <p:cNvSpPr/>
          <p:nvPr/>
        </p:nvSpPr>
        <p:spPr>
          <a:xfrm>
            <a:off x="4689958"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Shared pool + private spokes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Standard pooled, Enterprise over PSC</a:t>
            </a:r>
            <a:endParaRPr lang="en-US" sz="430" dirty="0"/>
          </a:p>
        </p:txBody>
      </p:sp>
      <p:sp>
        <p:nvSpPr>
          <p:cNvPr id="114" name="Shape 111"/>
          <p:cNvSpPr/>
          <p:nvPr/>
        </p:nvSpPr>
        <p:spPr>
          <a:xfrm>
            <a:off x="4641494" y="1955902"/>
            <a:ext cx="1315822" cy="118872"/>
          </a:xfrm>
          <a:prstGeom prst="rect">
            <a:avLst/>
          </a:prstGeom>
          <a:solidFill>
            <a:srgbClr val="CEEAD6"/>
          </a:solidFill>
          <a:ln/>
        </p:spPr>
      </p:sp>
      <p:sp>
        <p:nvSpPr>
          <p:cNvPr id="115" name="Text 112"/>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2. The Agentic Triad (80% reusable core)</a:t>
            </a:r>
            <a:endParaRPr lang="en-US" sz="430" dirty="0"/>
          </a:p>
        </p:txBody>
      </p:sp>
      <p:sp>
        <p:nvSpPr>
          <p:cNvPr id="116" name="Shape 113"/>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17"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8" name="Text 114"/>
          <p:cNvSpPr/>
          <p:nvPr/>
        </p:nvSpPr>
        <p:spPr>
          <a:xfrm>
            <a:off x="1796796" y="2118665"/>
            <a:ext cx="2350008" cy="252374"/>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Decision inputs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490" dirty="0"/>
          </a:p>
        </p:txBody>
      </p:sp>
      <p:sp>
        <p:nvSpPr>
          <p:cNvPr id="119" name="Shape 115"/>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20" name="Text 116"/>
          <p:cNvSpPr/>
          <p:nvPr/>
        </p:nvSpPr>
        <p:spPr>
          <a:xfrm>
            <a:off x="1450238" y="3578962"/>
            <a:ext cx="4580230" cy="121615"/>
          </a:xfrm>
          <a:prstGeom prst="rect">
            <a:avLst/>
          </a:prstGeom>
          <a:noFill/>
          <a:ln/>
        </p:spPr>
        <p:txBody>
          <a:bodyPr wrap="none" lIns="0" tIns="0" rIns="0" bIns="0" rtlCol="0" anchor="ctr"/>
          <a:lstStyle/>
          <a:p>
            <a:pPr algn="ctr" indent="0" marL="0">
              <a:lnSpc>
                <a:spcPct val="100000"/>
              </a:lnSpc>
              <a:buNone/>
            </a:pPr>
            <a:r>
              <a:rPr lang="en-US" sz="400"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00" dirty="0"/>
          </a:p>
        </p:txBody>
      </p:sp>
      <p:sp>
        <p:nvSpPr>
          <p:cNvPr id="121" name="Shape 117"/>
          <p:cNvSpPr/>
          <p:nvPr/>
        </p:nvSpPr>
        <p:spPr>
          <a:xfrm>
            <a:off x="2983687" y="2492654"/>
            <a:ext cx="1130198" cy="434340"/>
          </a:xfrm>
          <a:prstGeom prst="roundRect">
            <a:avLst>
              <a:gd name="adj" fmla="val 8421"/>
            </a:avLst>
          </a:prstGeom>
          <a:solidFill>
            <a:srgbClr val="FFFFFF"/>
          </a:solidFill>
          <a:ln w="10795">
            <a:solidFill>
              <a:srgbClr val="DADCE0"/>
            </a:solidFill>
            <a:prstDash val="solid"/>
          </a:ln>
        </p:spPr>
      </p:sp>
      <p:sp>
        <p:nvSpPr>
          <p:cNvPr id="122" name="Text 118"/>
          <p:cNvSpPr/>
          <p:nvPr/>
        </p:nvSpPr>
        <p:spPr>
          <a:xfrm>
            <a:off x="3020263" y="2492654"/>
            <a:ext cx="1057046"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Q2 · Tier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20" dirty="0"/>
          </a:p>
        </p:txBody>
      </p:sp>
      <p:sp>
        <p:nvSpPr>
          <p:cNvPr id="123" name="Shape 119"/>
          <p:cNvSpPr/>
          <p:nvPr/>
        </p:nvSpPr>
        <p:spPr>
          <a:xfrm>
            <a:off x="1618488" y="2492654"/>
            <a:ext cx="1121054" cy="434340"/>
          </a:xfrm>
          <a:prstGeom prst="roundRect">
            <a:avLst>
              <a:gd name="adj" fmla="val 8421"/>
            </a:avLst>
          </a:prstGeom>
          <a:solidFill>
            <a:srgbClr val="FFFFFF"/>
          </a:solidFill>
          <a:ln w="10795">
            <a:solidFill>
              <a:srgbClr val="DADCE0"/>
            </a:solidFill>
            <a:prstDash val="solid"/>
          </a:ln>
        </p:spPr>
      </p:sp>
      <p:sp>
        <p:nvSpPr>
          <p:cNvPr id="124" name="Text 120"/>
          <p:cNvSpPr/>
          <p:nvPr/>
        </p:nvSpPr>
        <p:spPr>
          <a:xfrm>
            <a:off x="1655064" y="2492654"/>
            <a:ext cx="1047902"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Q1 · Compliance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20" dirty="0"/>
          </a:p>
        </p:txBody>
      </p:sp>
      <p:sp>
        <p:nvSpPr>
          <p:cNvPr id="125"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6"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27"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Chief Architect • CISO • CFO</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1,000 tenants • 950 Standard + 50 Enterprise</a:t>
            </a:r>
            <a:endParaRPr lang="en-US" sz="480" dirty="0"/>
          </a:p>
        </p:txBody>
      </p:sp>
      <p:sp>
        <p:nvSpPr>
          <p:cNvPr id="128" name="Shape 123"/>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9"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30" name="Text 124"/>
          <p:cNvSpPr/>
          <p:nvPr/>
        </p:nvSpPr>
        <p:spPr>
          <a:xfrm>
            <a:off x="1741018"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Perimeter + IAM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project • 0 cross-perimeter egress</a:t>
            </a:r>
            <a:endParaRPr lang="en-US" sz="490" dirty="0"/>
          </a:p>
        </p:txBody>
      </p:sp>
      <p:sp>
        <p:nvSpPr>
          <p:cNvPr id="131" name="Shape 125"/>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32"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33" name="Text 126"/>
          <p:cNvSpPr/>
          <p:nvPr/>
        </p:nvSpPr>
        <p:spPr>
          <a:xfrm>
            <a:off x="1741018"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Customer CMEK Kill-Switch</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in &lt;60s</a:t>
            </a:r>
            <a:endParaRPr lang="en-US" sz="490" dirty="0"/>
          </a:p>
        </p:txBody>
      </p:sp>
      <p:sp>
        <p:nvSpPr>
          <p:cNvPr id="134" name="Shape 127"/>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35"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36" name="Text 128"/>
          <p:cNvSpPr/>
          <p:nvPr/>
        </p:nvSpPr>
        <p:spPr>
          <a:xfrm>
            <a:off x="1741018"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Private GKE Gemma 3 27B / Dedicated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inference, no shared cache</a:t>
            </a:r>
            <a:endParaRPr lang="en-US" sz="490" dirty="0"/>
          </a:p>
        </p:txBody>
      </p:sp>
      <p:sp>
        <p:nvSpPr>
          <p:cNvPr id="137" name="Shape 129"/>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8"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9" name="Text 130"/>
          <p:cNvSpPr/>
          <p:nvPr/>
        </p:nvSpPr>
        <p:spPr>
          <a:xfrm>
            <a:off x="1741018"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 + AlloyDB CMEK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Tools &amp; state never leave the perimeter</a:t>
            </a:r>
            <a:endParaRPr lang="en-US" sz="490" dirty="0"/>
          </a:p>
        </p:txBody>
      </p:sp>
      <p:sp>
        <p:nvSpPr>
          <p:cNvPr id="140" name="Shape 131"/>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41"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42" name="Text 132"/>
          <p:cNvSpPr/>
          <p:nvPr/>
        </p:nvSpPr>
        <p:spPr>
          <a:xfrm>
            <a:off x="3305556"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Agent Engine gVisor Pool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temp:tenant_id bound per request</a:t>
            </a:r>
            <a:endParaRPr lang="en-US" sz="490" dirty="0"/>
          </a:p>
        </p:txBody>
      </p:sp>
      <p:sp>
        <p:nvSpPr>
          <p:cNvPr id="143" name="Shape 133"/>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44"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45" name="Text 134"/>
          <p:cNvSpPr/>
          <p:nvPr/>
        </p:nvSpPr>
        <p:spPr>
          <a:xfrm>
            <a:off x="3305556"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 BigQuery FORCE RLS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tenant_id rows • 0 cross-tenant rows</a:t>
            </a:r>
            <a:endParaRPr lang="en-US" sz="490" dirty="0"/>
          </a:p>
        </p:txBody>
      </p:sp>
      <p:sp>
        <p:nvSpPr>
          <p:cNvPr id="146" name="Shape 135"/>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47"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8" name="Text 136"/>
          <p:cNvSpPr/>
          <p:nvPr/>
        </p:nvSpPr>
        <p:spPr>
          <a:xfrm>
            <a:off x="3305556"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Namespaced Memory + 90% ContextCache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prefix • 84.7% input token savings</a:t>
            </a:r>
            <a:endParaRPr lang="en-US" sz="490" dirty="0"/>
          </a:p>
        </p:txBody>
      </p:sp>
      <p:sp>
        <p:nvSpPr>
          <p:cNvPr id="149" name="Shape 137"/>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50"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51" name="Text 138"/>
          <p:cNvSpPr/>
          <p:nvPr/>
        </p:nvSpPr>
        <p:spPr>
          <a:xfrm>
            <a:off x="3305556"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Valkey Bulkheads + Thinking Caps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120 / 600 RPM • 4k / 8k tokens</a:t>
            </a:r>
            <a:endParaRPr lang="en-US" sz="490" dirty="0"/>
          </a:p>
        </p:txBody>
      </p:sp>
      <p:sp>
        <p:nvSpPr>
          <p:cNvPr id="152" name="Shape 139"/>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53"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54" name="Text 140"/>
          <p:cNvSpPr/>
          <p:nvPr/>
        </p:nvSpPr>
        <p:spPr>
          <a:xfrm>
            <a:off x="4870094"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Hub Tier Router + Firestore Route Table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Atomic tier pointer per tenant</a:t>
            </a:r>
            <a:endParaRPr lang="en-US" sz="490" dirty="0"/>
          </a:p>
        </p:txBody>
      </p:sp>
      <p:sp>
        <p:nvSpPr>
          <p:cNvPr id="155" name="Shape 141"/>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56"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57" name="Text 142"/>
          <p:cNvSpPr/>
          <p:nvPr/>
        </p:nvSpPr>
        <p:spPr>
          <a:xfrm>
            <a:off x="4870094"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Standard → Shared Pool (Pattern A plane)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950 tenants • 120 RPM pooled path</a:t>
            </a:r>
            <a:endParaRPr lang="en-US" sz="490" dirty="0"/>
          </a:p>
        </p:txBody>
      </p:sp>
      <p:sp>
        <p:nvSpPr>
          <p:cNvPr id="158" name="Shape 143"/>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9"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60" name="Text 144"/>
          <p:cNvSpPr/>
          <p:nvPr/>
        </p:nvSpPr>
        <p:spPr>
          <a:xfrm>
            <a:off x="4870094"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Enterprise → PSC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Consumer /28 endpoint → ServiceAttachment</a:t>
            </a:r>
            <a:endParaRPr lang="en-US" sz="490" dirty="0"/>
          </a:p>
        </p:txBody>
      </p:sp>
      <p:sp>
        <p:nvSpPr>
          <p:cNvPr id="161" name="Shape 145"/>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62"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63" name="Text 146"/>
          <p:cNvSpPr/>
          <p:nvPr/>
        </p:nvSpPr>
        <p:spPr>
          <a:xfrm>
            <a:off x="4870094"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Zero-Downtime Promotion</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64" name="Shape 147"/>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65"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66" name="Text 148"/>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1 • Zero-Trust 5-Hop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Hops 1, 2 &amp; 4: OBO/DPoP • Catalog PDP • Model Armor</a:t>
            </a:r>
            <a:endParaRPr lang="en-US" sz="490" dirty="0"/>
          </a:p>
        </p:txBody>
      </p:sp>
      <p:sp>
        <p:nvSpPr>
          <p:cNvPr id="167" name="Shape 149"/>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8"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9" name="Text 150"/>
          <p:cNvSpPr/>
          <p:nvPr/>
        </p:nvSpPr>
        <p:spPr>
          <a:xfrm>
            <a:off x="4940503" y="257037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2 • Predictable FinOps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ContextCache 90% • Valkey • thinking caps</a:t>
            </a:r>
            <a:endParaRPr lang="en-US" sz="490" dirty="0"/>
          </a:p>
        </p:txBody>
      </p:sp>
      <p:sp>
        <p:nvSpPr>
          <p:cNvPr id="170" name="Shape 151"/>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71"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72" name="Text 152"/>
          <p:cNvSpPr/>
          <p:nvPr/>
        </p:nvSpPr>
        <p:spPr>
          <a:xfrm>
            <a:off x="4940503" y="294436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3 • Zero-PII OTel Chargeback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 • Even / Proportional / Tiered</a:t>
            </a:r>
            <a:endParaRPr lang="en-US" sz="490" dirty="0"/>
          </a:p>
        </p:txBody>
      </p:sp>
      <p:sp>
        <p:nvSpPr>
          <p:cNvPr id="173" name="Shape 153"/>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74" name="Text 154"/>
          <p:cNvSpPr/>
          <p:nvPr/>
        </p:nvSpPr>
        <p:spPr>
          <a:xfrm>
            <a:off x="1559966"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C5221F"/>
                </a:solidFill>
                <a:latin typeface="Arial" pitchFamily="34" charset="0"/>
                <a:ea typeface="Arial" pitchFamily="34" charset="-122"/>
                <a:cs typeface="Arial" pitchFamily="34" charset="-120"/>
              </a:rPr>
              <a:t>Choose when regulators mandate isolation</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6/6 sovereign tests PASS • highest unit cost</a:t>
            </a:r>
            <a:endParaRPr lang="en-US" sz="480" dirty="0"/>
          </a:p>
        </p:txBody>
      </p:sp>
      <p:sp>
        <p:nvSpPr>
          <p:cNvPr id="175" name="Shape 155"/>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76" name="Text 156"/>
          <p:cNvSpPr/>
          <p:nvPr/>
        </p:nvSpPr>
        <p:spPr>
          <a:xfrm>
            <a:off x="3124505"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B06000"/>
                </a:solidFill>
                <a:latin typeface="Arial" pitchFamily="34" charset="0"/>
                <a:ea typeface="Arial" pitchFamily="34" charset="-122"/>
                <a:cs typeface="Arial" pitchFamily="34" charset="-120"/>
              </a:rPr>
              <a:t>Choose when one commercial tier is enough</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10/10 breach vectors blocked • lowest unit cost</a:t>
            </a:r>
            <a:endParaRPr lang="en-US" sz="480" dirty="0"/>
          </a:p>
        </p:txBody>
      </p:sp>
      <p:sp>
        <p:nvSpPr>
          <p:cNvPr id="177" name="Shape 157"/>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8" name="Text 158"/>
          <p:cNvSpPr/>
          <p:nvPr/>
        </p:nvSpPr>
        <p:spPr>
          <a:xfrm>
            <a:off x="4689043"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6A1B9A"/>
                </a:solidFill>
                <a:latin typeface="Arial" pitchFamily="34" charset="0"/>
                <a:ea typeface="Arial" pitchFamily="34" charset="-122"/>
                <a:cs typeface="Arial" pitchFamily="34" charset="-120"/>
              </a:rPr>
              <a:t>Choose when tiers must coexist and promote live</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4/4 migration tests PASS • 74% TCO vs all-dedicated</a:t>
            </a:r>
            <a:endParaRPr lang="en-US" sz="480" dirty="0"/>
          </a:p>
        </p:txBody>
      </p:sp>
      <p:sp>
        <p:nvSpPr>
          <p:cNvPr id="179" name="Shape 159"/>
          <p:cNvSpPr/>
          <p:nvPr/>
        </p:nvSpPr>
        <p:spPr>
          <a:xfrm>
            <a:off x="2101291" y="3709721"/>
            <a:ext cx="148133" cy="148133"/>
          </a:xfrm>
          <a:prstGeom prst="ellipse">
            <a:avLst/>
          </a:prstGeom>
          <a:solidFill>
            <a:srgbClr val="174EA6"/>
          </a:solidFill>
          <a:ln w="10795">
            <a:solidFill>
              <a:srgbClr val="174EA6"/>
            </a:solidFill>
            <a:prstDash val="solid"/>
          </a:ln>
        </p:spPr>
      </p:sp>
      <p:sp>
        <p:nvSpPr>
          <p:cNvPr id="180" name="Text 160"/>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81" name="Shape 161"/>
          <p:cNvSpPr/>
          <p:nvPr/>
        </p:nvSpPr>
        <p:spPr>
          <a:xfrm>
            <a:off x="3665830" y="3709721"/>
            <a:ext cx="148133" cy="148133"/>
          </a:xfrm>
          <a:prstGeom prst="ellipse">
            <a:avLst/>
          </a:prstGeom>
          <a:solidFill>
            <a:srgbClr val="174EA6"/>
          </a:solidFill>
          <a:ln w="10795">
            <a:solidFill>
              <a:srgbClr val="174EA6"/>
            </a:solidFill>
            <a:prstDash val="solid"/>
          </a:ln>
        </p:spPr>
      </p:sp>
      <p:sp>
        <p:nvSpPr>
          <p:cNvPr id="182" name="Text 162"/>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83" name="Shape 163"/>
          <p:cNvSpPr/>
          <p:nvPr/>
        </p:nvSpPr>
        <p:spPr>
          <a:xfrm>
            <a:off x="5230368" y="3709721"/>
            <a:ext cx="148133" cy="148133"/>
          </a:xfrm>
          <a:prstGeom prst="ellipse">
            <a:avLst/>
          </a:prstGeom>
          <a:solidFill>
            <a:srgbClr val="174EA6"/>
          </a:solidFill>
          <a:ln w="10795">
            <a:solidFill>
              <a:srgbClr val="174EA6"/>
            </a:solidFill>
            <a:prstDash val="solid"/>
          </a:ln>
        </p:spPr>
      </p:sp>
      <p:sp>
        <p:nvSpPr>
          <p:cNvPr id="184" name="Text 164"/>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85" name="Shape 165"/>
          <p:cNvSpPr/>
          <p:nvPr/>
        </p:nvSpPr>
        <p:spPr>
          <a:xfrm>
            <a:off x="3500323" y="1140257"/>
            <a:ext cx="148133" cy="148133"/>
          </a:xfrm>
          <a:prstGeom prst="ellipse">
            <a:avLst/>
          </a:prstGeom>
          <a:solidFill>
            <a:srgbClr val="174EA6"/>
          </a:solidFill>
          <a:ln w="10795">
            <a:solidFill>
              <a:srgbClr val="174EA6"/>
            </a:solidFill>
            <a:prstDash val="solid"/>
          </a:ln>
        </p:spPr>
      </p:sp>
      <p:sp>
        <p:nvSpPr>
          <p:cNvPr id="186" name="Text 166"/>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7"/>
          <p:cNvSpPr/>
          <p:nvPr/>
        </p:nvSpPr>
        <p:spPr>
          <a:xfrm>
            <a:off x="1444752" y="2636215"/>
            <a:ext cx="148133" cy="148133"/>
          </a:xfrm>
          <a:prstGeom prst="ellipse">
            <a:avLst/>
          </a:prstGeom>
          <a:solidFill>
            <a:srgbClr val="174EA6"/>
          </a:solidFill>
          <a:ln w="10795">
            <a:solidFill>
              <a:srgbClr val="174EA6"/>
            </a:solidFill>
            <a:prstDash val="solid"/>
          </a:ln>
        </p:spPr>
      </p:sp>
      <p:sp>
        <p:nvSpPr>
          <p:cNvPr id="188" name="Text 168"/>
          <p:cNvSpPr/>
          <p:nvPr/>
        </p:nvSpPr>
        <p:spPr>
          <a:xfrm>
            <a:off x="1444752"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9" name="Shape 169"/>
          <p:cNvSpPr/>
          <p:nvPr/>
        </p:nvSpPr>
        <p:spPr>
          <a:xfrm>
            <a:off x="4144061" y="2636215"/>
            <a:ext cx="148133" cy="148133"/>
          </a:xfrm>
          <a:prstGeom prst="ellipse">
            <a:avLst/>
          </a:prstGeom>
          <a:solidFill>
            <a:srgbClr val="174EA6"/>
          </a:solidFill>
          <a:ln w="10795">
            <a:solidFill>
              <a:srgbClr val="174EA6"/>
            </a:solidFill>
            <a:prstDash val="solid"/>
          </a:ln>
        </p:spPr>
      </p:sp>
      <p:sp>
        <p:nvSpPr>
          <p:cNvPr id="190" name="Text 170"/>
          <p:cNvSpPr/>
          <p:nvPr/>
        </p:nvSpPr>
        <p:spPr>
          <a:xfrm>
            <a:off x="4144061"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1" name="Shape 171"/>
          <p:cNvSpPr/>
          <p:nvPr/>
        </p:nvSpPr>
        <p:spPr>
          <a:xfrm>
            <a:off x="4760366" y="3360420"/>
            <a:ext cx="683971" cy="133502"/>
          </a:xfrm>
          <a:prstGeom prst="roundRect">
            <a:avLst>
              <a:gd name="adj" fmla="val 30822"/>
            </a:avLst>
          </a:prstGeom>
          <a:solidFill>
            <a:srgbClr val="FFFFFF"/>
          </a:solidFill>
          <a:ln w="5715">
            <a:solidFill>
              <a:srgbClr val="DADCE0"/>
            </a:solidFill>
            <a:prstDash val="solid"/>
          </a:ln>
        </p:spPr>
      </p:sp>
      <p:sp>
        <p:nvSpPr>
          <p:cNvPr id="192" name="Text 172"/>
          <p:cNvSpPr/>
          <p:nvPr/>
        </p:nvSpPr>
        <p:spPr>
          <a:xfrm>
            <a:off x="4778654" y="3365906"/>
            <a:ext cx="647395"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Standard + Enterprise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Pattern C (hybrid)</a:t>
            </a:r>
            <a:endParaRPr lang="en-US" sz="385" dirty="0"/>
          </a:p>
        </p:txBody>
      </p:sp>
      <p:sp>
        <p:nvSpPr>
          <p:cNvPr id="193" name="Shape 173"/>
          <p:cNvSpPr/>
          <p:nvPr/>
        </p:nvSpPr>
        <p:spPr>
          <a:xfrm>
            <a:off x="3340303" y="3033065"/>
            <a:ext cx="658368" cy="137160"/>
          </a:xfrm>
          <a:prstGeom prst="roundRect">
            <a:avLst>
              <a:gd name="adj" fmla="val 30000"/>
            </a:avLst>
          </a:prstGeom>
          <a:solidFill>
            <a:srgbClr val="FFFFFF"/>
          </a:solidFill>
          <a:ln w="5715">
            <a:solidFill>
              <a:srgbClr val="DADCE0"/>
            </a:solidFill>
            <a:prstDash val="solid"/>
          </a:ln>
        </p:spPr>
      </p:sp>
      <p:sp>
        <p:nvSpPr>
          <p:cNvPr id="194" name="Text 174"/>
          <p:cNvSpPr/>
          <p:nvPr/>
        </p:nvSpPr>
        <p:spPr>
          <a:xfrm>
            <a:off x="3358591" y="3038551"/>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Single shared tier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Pattern A (pooled)</a:t>
            </a:r>
            <a:endParaRPr lang="en-US" sz="385" dirty="0"/>
          </a:p>
        </p:txBody>
      </p:sp>
      <p:sp>
        <p:nvSpPr>
          <p:cNvPr id="195" name="Shape 175"/>
          <p:cNvSpPr/>
          <p:nvPr/>
        </p:nvSpPr>
        <p:spPr>
          <a:xfrm>
            <a:off x="2218334" y="3033065"/>
            <a:ext cx="651967" cy="137160"/>
          </a:xfrm>
          <a:prstGeom prst="roundRect">
            <a:avLst>
              <a:gd name="adj" fmla="val 30000"/>
            </a:avLst>
          </a:prstGeom>
          <a:solidFill>
            <a:srgbClr val="FFFFFF"/>
          </a:solidFill>
          <a:ln w="5715">
            <a:solidFill>
              <a:srgbClr val="DADCE0"/>
            </a:solidFill>
            <a:prstDash val="solid"/>
          </a:ln>
        </p:spPr>
      </p:sp>
      <p:sp>
        <p:nvSpPr>
          <p:cNvPr id="196" name="Text 176"/>
          <p:cNvSpPr/>
          <p:nvPr/>
        </p:nvSpPr>
        <p:spPr>
          <a:xfrm>
            <a:off x="2236622" y="3038551"/>
            <a:ext cx="61539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YES → Pattern B</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every tenant sovereign</a:t>
            </a:r>
            <a:endParaRPr lang="en-US" sz="385" dirty="0"/>
          </a:p>
        </p:txBody>
      </p:sp>
      <p:sp>
        <p:nvSpPr>
          <p:cNvPr id="197" name="Shape 177"/>
          <p:cNvSpPr/>
          <p:nvPr/>
        </p:nvSpPr>
        <p:spPr>
          <a:xfrm>
            <a:off x="3749040" y="1163117"/>
            <a:ext cx="527609" cy="103327"/>
          </a:xfrm>
          <a:prstGeom prst="roundRect">
            <a:avLst>
              <a:gd name="adj" fmla="val 39823"/>
            </a:avLst>
          </a:prstGeom>
          <a:solidFill>
            <a:srgbClr val="FFFFFF"/>
          </a:solidFill>
          <a:ln w="5715">
            <a:solidFill>
              <a:srgbClr val="DADCE0"/>
            </a:solidFill>
            <a:prstDash val="solid"/>
          </a:ln>
        </p:spPr>
      </p:sp>
      <p:sp>
        <p:nvSpPr>
          <p:cNvPr id="198" name="Text 178"/>
          <p:cNvSpPr/>
          <p:nvPr/>
        </p:nvSpPr>
        <p:spPr>
          <a:xfrm>
            <a:off x="3767328" y="1168603"/>
            <a:ext cx="491033"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Decision inputs</a:t>
            </a:r>
            <a:endParaRPr lang="en-US" sz="385" dirty="0"/>
          </a:p>
        </p:txBody>
      </p:sp>
      <p:sp>
        <p:nvSpPr>
          <p:cNvPr id="199" name="Shape 179"/>
          <p:cNvSpPr/>
          <p:nvPr/>
        </p:nvSpPr>
        <p:spPr>
          <a:xfrm>
            <a:off x="2779776" y="2586838"/>
            <a:ext cx="164592" cy="98755"/>
          </a:xfrm>
          <a:prstGeom prst="roundRect">
            <a:avLst>
              <a:gd name="adj" fmla="val 41667"/>
            </a:avLst>
          </a:prstGeom>
          <a:solidFill>
            <a:srgbClr val="FFFFFF"/>
          </a:solidFill>
          <a:ln w="5715">
            <a:solidFill>
              <a:srgbClr val="DADCE0"/>
            </a:solidFill>
            <a:prstDash val="solid"/>
          </a:ln>
        </p:spPr>
      </p:sp>
      <p:sp>
        <p:nvSpPr>
          <p:cNvPr id="200" name="Text 180"/>
          <p:cNvSpPr/>
          <p:nvPr/>
        </p:nvSpPr>
        <p:spPr>
          <a:xfrm>
            <a:off x="2792578" y="2592324"/>
            <a:ext cx="138989"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NO</a:t>
            </a:r>
            <a:endParaRPr lang="en-US" sz="385" dirty="0"/>
          </a:p>
        </p:txBody>
      </p:sp>
      <p:sp>
        <p:nvSpPr>
          <p:cNvPr id="201" name="Text 18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PROGRAM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PROGRAM VERIFICATION 01 • LIVE GCP (#248990048888 / #48439189383) &amp; 10-SAAS AWS AGENTCORE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Unified 5-Hop ADK runtime certified across Pattern A Pool, Pattern B Sovereign Silo &amp; Pattern C Hybrid PSC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Cloud: GCP #248990048888 &amp; #48439189383 • AWS #393036065405</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20/20 GCP Simulations (10 Pool + 6 Silo + 4 PSC)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30/30 10-SaaS AWS AgentCore MCP Flows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PROGRAM VERIFICATION 02 • 20 BEFORE/AFTER 3RD-PARTY SAAS RETINA UI PROOFS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Metabase, Grafana, Redmine, NocoDB, Gitea, Trino, ClickHouse, Directus, Datalust Seq &amp; HashiCorp Vault 2880×1800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3P UIs: 20 Before/After Retina Captures (10 SaaS Platforms)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Multi-Cloud: 43 Total Retina Captures (23 Baseline + 20 B/A)</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13/13 PASS • 10/10 Unit Tests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scripts/capture_genuine_3p_before_after_uis.mjs</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PROGRAM 01 • WS1–WS2 POOLED &amp; EDGE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OBO/DPoP Identity, 90% Cache &amp; 10/10 Breach PASS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&lt;0.15ms JWKS, AlloyDB FORCE RLS, Metabase BI v0.50.26, Trino SQL v440 &amp; Redmine ITSM v5.1 Before/After UIs.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PROGRAM 02 • WS3 SOVEREIGN SILOS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VPC-SC, &lt;60s CMEK Kill-Switch &amp; Gemma 3 27B</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6/6 sovereign perimeter tests plus NocoDB GxP 21 CFR Part 11 &amp; HashiCorp Vault &lt;60s HTTP 423 CMEK lock UIs.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PROGRAM 03 • WS4 HYBRID PSC UPGRADE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Unidirectional /28 PSC NAT &amp; 0ms Tier Cutover</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4/4 live promotion tests (0 dropped turns, 74% lower TCO) plus Grafana Enterprise &amp; Gitea live PSC UIs.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PROGRAM 04 • WS5 CAPSTONE &amp; 13/13 GATES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27-File Workbench, 15 Decks &amp; 60/60 SaaS Assertions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Unifies Terraform 2.6/3.6/4.6, zero-PII BigQuery OTel FinOps, Directus + Seq proofs, and 13/13 forensic gates.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Complete 5-Workstream Program • Dual-Plane GCP, 10-SaaS MCP &amp; 20 Before/After 3P UIs  •  Act III Forensic Verification Audit: Grounded Google Cloud CLI &amp; Telemetry…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13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13/13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Multi-Cloud &amp; 3P SaaS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AWS AgentCore, and Before/After 3rd-Party SaaS UI captures.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23 Multi-Cloud Retina Captures • 27 Workbench Files</a:t>
            </a:r>
            <a:endParaRPr lang="en-US" sz="740" dirty="0"/>
          </a:p>
        </p:txBody>
      </p:sp>
      <p:sp>
        <p:nvSpPr>
          <p:cNvPr id="43" name="Text 40"/>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2026-10-30T22:06:29Z</dcterms:created>
  <dcterms:modified xsi:type="dcterms:W3CDTF">2026-10-30T22:06:29Z</dcterms:modified>
</cp:coreProperties>
</file>