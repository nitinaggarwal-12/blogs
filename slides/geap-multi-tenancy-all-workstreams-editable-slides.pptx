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Cloud Multi-Tenant Agentic AI: Pooled, Sovereign Silos &amp; Hybrid — Complete Program Deck
Cohesive 5-Workstream Executive Program Deck: Reference Taxonomy (WS1), Pooled Pattern A (WS2), Sovereign Silos Pattern B (WS3), Hybrid PSC Pattern C (WS4) &amp; Decision Guide (WS5)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Map • Workstreams 1–5 Cohesive Architecture Progression
• Workstream 1 Reference Taxonomy: Defines Pattern A (Pooled), Pattern B (Sovereign Silos), and Pattern C (Dynamic Hybrid) built on one 80% reusable 5-hop ADK 2.0 security codebase.
• Workstream 2 Pattern A Pooled: Serves hundreds of commercial tenants inside one shared Google Cloud project with 90% shared prefix cache savings and 10/10 red-team attacks blocked.
• Workstream 3 Pattern B Sovereign Silos: Gives regulated banking and healthcare enterprises a dedicated GCP project, VPC Service Controls perimeter, IAM PAB, and &lt;60s CMEK kill-switch.
• Workstream 4 Pattern C Dynamic Hybrid: Routes Standard tenants to the shared pool and Enterprise tenants over Private Service Connect with zero-downtime live tier upgrades (4/4 PASS).
• Workstream 5 Executive Decision Guide: Provides a 2-question topology selector, Well-Architected comparison matrix, 1,000-tenant FinOps TCO model, and 10-week rollout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Pattern A Pooled Architecture vs. Naive Multi-Tenancy vs. Dedicated Silos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Sovereign Silo Architecture &amp; Model Hosting Comparison (Pattern B Options)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ACT III: UNIDIRECTIONAL PRIVATE SERVICE CONNECT &amp; LIVE CUTOVER LOOP: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Cross-Project Connectivity &amp; Live Tier Migration Comparison (Pattern C vs. Legacy)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3-stage elastic tenant tier lifecycle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ACT III: 3-STAGE UNIFIED 80/20 ARCHITECTURE &amp; AGENTIC TRIAD PIPELINE: Workstream 5 Solution Synthesis  •  Stage 1 80/20 Shared ADK Core → Stage 2 Multi-Tenant Agentic Triad → Stage 3 20/20 Automated Verification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Multi-Tenant Topology Comparison Matrix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ACT III: 80/20 CODE REUSE, AGENTIC TRIAD &amp;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Complete 5-Workstream Google Cloud Architecture Center Program Deck — 100% Native Editable Shapes &amp; Verified Live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image" Target="../media/image-14-17.png"/><Relationship Id="rId18" Type="http://schemas.openxmlformats.org/officeDocument/2006/relationships/image" Target="../media/image-14-18.png"/><Relationship Id="rId19" Type="http://schemas.openxmlformats.org/officeDocument/2006/relationships/image" Target="../media/image-14-19.png"/><Relationship Id="rId20" Type="http://schemas.openxmlformats.org/officeDocument/2006/relationships/image" Target="../media/image-14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image" Target="../media/image-18-17.png"/><Relationship Id="rId18" Type="http://schemas.openxmlformats.org/officeDocument/2006/relationships/image" Target="../media/image-18-18.png"/><Relationship Id="rId19" Type="http://schemas.openxmlformats.org/officeDocument/2006/relationships/image" Target="../media/image-18-19.png"/><Relationship Id="rId20" Type="http://schemas.openxmlformats.org/officeDocument/2006/relationships/image" Target="../media/image-1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image" Target="../media/image-22-9.png"/><Relationship Id="rId10" Type="http://schemas.openxmlformats.org/officeDocument/2006/relationships/image" Target="../media/image-22-10.pn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pn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pn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png"/><Relationship Id="rId17" Type="http://schemas.openxmlformats.org/officeDocument/2006/relationships/image" Target="../media/image-22-17.png"/><Relationship Id="rId18" Type="http://schemas.openxmlformats.org/officeDocument/2006/relationships/image" Target="../media/image-22-18.png"/><Relationship Id="rId19" Type="http://schemas.openxmlformats.org/officeDocument/2006/relationships/image" Target="../media/image-22-19.png"/><Relationship Id="rId20" Type="http://schemas.openxmlformats.org/officeDocument/2006/relationships/image" Target="../media/image-2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PROGRAM DECK • WORKSTREAMS 1–5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Multi-Tenant Agentic AI: Pooled, Sovereign Silos &amp; Hybrid — Complete Program Deck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Cohesive 5-Workstream Executive Program Deck: Reference Taxonomy (WS1), Pooled Pattern A (WS2), Sovereign Silos Pattern B (WS3), Hybrid PSC Pattern C (WS4) &amp; Decision Guide (WS5)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SOLUTION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Evolution, Well-Architected Pillars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3-stage tenant tier evolution (Pool -&gt; 0ms PSC Cutover -&gt; Silo), Google Cloud Well-Architected guarantees, and Workstream 1–5 deliverables.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5-WORKSTREAM PROGRAM ARCHITECTURE PROGRESSION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OVERVIEW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 Map • Workstreams 1–5 Cohesive Architecture Progression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Per-Tenant GCP Project • VPC-SC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Vault • &lt;60s HTTP 423 Kill-Switch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ALB • Firestore Tier Router •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0ms Lag Live Tier Migration • 0 Dropped Active Sessions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Executive Decision Guide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a 2-question topology selector, Well-Architected comparison matrix, 1,000-tenant FinOps TCO model, and 10-week rollout roadmap.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Registry • ARD Visibility Proxy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Cross-Tenant Agent &amp; MCP Discovery (HTTP 403)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2: Agent Registry Filter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201107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19395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54834" y="2885846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73122" y="2894990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When to Choose Pattern A ($42/mo)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commercial B2B SaaS tiers requiring 90% shared 32k prefix cache savings and transactional AlloyDB FORCE ROW LEVEL SECURITY.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When to Choose Pattern B ($1,850/mo)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banking, healthcare &amp; public-sector tenants mandating a 1:1 GCP project, VPC Service Controls, IAM PAB &amp; &lt;60s CMEK kill-switch.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When to Choose Pattern C (74% Savings)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Multi-tier SaaS portfolios co-hosting 85–95% Standard tenants in the pool and 5–15% Enterprise tenants in PSC spokes with 0ms live upgrades.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80/20 Unified Codebase Invariant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Python ADK 2.0 5-hop pipeline (runtime_pipeline.py), parameterizing only 20% Terraform modules (2.6/3.6/4.6).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cymbal-build-sandbox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728570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746858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84348" y="5468112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802636" y="5477256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093208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11496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87391" y="5468112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205679" y="5477256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39235" y="3368650"/>
            <a:ext cx="67208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57523" y="3377794"/>
            <a:ext cx="6355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3001061" y="3368650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19349" y="3377794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Pooled Architecture vs. Naive Multi-Tenancy vs. Dedicated Silos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17520"/>
                <a:gridCol w="320040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Naive Shared Multi-Tenancy (Anti-Pattern)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Cryptographic Pooled (WS2 Target)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Dedicated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Ingress &amp; identity binding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Trusts client-supplied X-Tenant-Id HTTP header or shared API key in application code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strips X-Tenant-Id; IAP + STS mints RFC 8693 OBO &amp; RFC 9449 DPoP context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per-project IAM Principal Access Boundary (PAB)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Tool catalog &amp; memory state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Global MCP tool list &amp; shared vector collection accessible to any prompt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 ARD visibility filter (HTTP 403) + mem://{tenant_id}/L1..L5 namespace isolation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Physical per-project Agent Engine Registry &amp; CMEK-encrypted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Rate limits &amp; reasoning quotas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Regional Vertex AI RPM/TPM shared first-come, first-served (noisy-neighbor outages)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Memorystore for Valkey RPM buckets (120/600 RPM, HTTP 429) + 4k/8k thinking clamps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quota &amp; dedicated Provisioned Throughput / GKE GPUs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Prompt caching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34k prompt billed in full every turn ($0.0425/turn) or unsafe cross-tenant cache bleed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32k immutable prefix in Gemini 2.5 Pro ContextCacheConfig (90% discount -&gt; 84.7% savings)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Per-silo prefix cache or dedicated air-gapped GKE Gemma 3 (27B)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Relational data &amp; PII guardrails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Application-layer WHERE tenant_id = ? query (vulnerable to SQLi &amp; prompt injection)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AlloyDB FORCE ROW LEVEL SECURITY (SET LOCAL) + Model Armor (400/422) &amp; Cloud DLP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 AlloyDB instance + &lt;60s HTTP 423 Locked customer key kill-switch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Unit economics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High breach risk • Fails enterprise CISO security &amp; compliance review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663440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Why Naive Shared SaaS Fails Audits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Ambient IAM service accounts, client-trusted X-Tenant-Id headers, and unpartitioned vector/SQL stores fail every red-team isolation test.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663440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Why Pattern A Wins on Unit Economics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a $42/mo baseline per tenant and 90% shared 32k prefix cache savings (84.7% turn COGS reduction) inside one GCP project.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663440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Cryptographic Equivalence in a Pool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+ DPoP (Hop 1), Catalog PDP (Hop 2), Valkey bulkheads (Hop 3), Model Armor + SDP (Hop 4), and AlloyDB FORCE RLS (Hop 5).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663440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Clear Graduation Trigger to Pattern B / C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Promote a tenant out of the shared pool only when contracts mandate a dedicated GCP project, VPC-SC perimeter, or air-gapped Gemma 3 GPUs.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Probe Failed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691994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10282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68189" y="4833518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86477" y="4842662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74920" y="5468112"/>
            <a:ext cx="74706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93208" y="5477256"/>
            <a:ext cx="71048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41118" y="2885846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59406" y="2894990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Architecture &amp; Model Hosting Comparison (Pattern B Options)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971800"/>
                <a:gridCol w="320040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Logical Pool ($42/mo Baseline)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B1: VPC-SC + Vertex AI Dedicated PT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B2: VPC-SC + Air-Gapped GKE Gemma 3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project &amp; blast radius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software isolation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(cymbal-{tenant}-silo-prod); zero shared compute or DB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+ air-gapped VPC (10.30.0.0/20, 0.0.0.0/0 egress blocked)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perimeter walls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RFC 8693 OBO &amp; RFC 9449 DPoP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PAB + VPC Service Controls (Restricted VIP)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+ IAM PAB + VPC-SC + private GKE control plane (172.16.0.2/28)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Foundation model hosting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Gemini 2.5 Pro pay-as-you-go with 90% ContextCacheConfig prefix cache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Gemini 2.5 Pro Provisioned Throughput inside 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Self-hosted open-weight Gemma 3 (27B IT) on private GKE L4/A100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CMEK encryption &amp;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Envelope KMS encryption per Memory Bank namespace (mem://{tenant_id}/L1..L5)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Ubiquitous tenant Cloud KMS CMEK across Vertex AI, AlloyDB, GCS &amp; BigQuery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Ubiquitous Cloud KMS CMEK + GKE boot/etcd disks (&lt;60s HTTP 423 Locked + L1 purge)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Provisioning &amp; Terraform IaC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Instant Firestore tenant profile insert (&lt;50ms commercial self-service)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4-stage automated silo factory (3.6-terraform-silo-blueprint, &lt;12 min stamp-out)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4-stage silo factory + private GKE GPU cluster &amp; local Artifact Registry mirror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Unit economics &amp; target workload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OCC/FFIEC banking, HIPAA healthcare &amp; EU DORA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$2,450 / tenant / month • Sovereign defense, core ledger &amp; strict open-weight mandates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663440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Why Logical Pool Is Insufficient Here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OCC/FDIC banking, HIPAA, EU DORA, and defense contracts legally mandate physical project boundaries and customer-held KMS kill-switches.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663440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Option B1: Vertex AI PT + VPC-SC + CMEK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GPU operational overhead with Gemini 2.5 Pro Provisioned Throughput locked inside the tenant VPC-SC perimeter and Cloud KMS key ring.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663440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Option B2: Air-Gapped Gemma 3 (27B) on GKE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100% inside private GKE GPU subnets (0.0.0.0/0 egress blocked) with model weights mirrored in CMEK-encrypted Artifact Registry.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663440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Unchanged 80% Reusable 5-Hop Core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Both Pattern B options run the identical core-cymbal-agent/ Python governance pipeline wrapped by the Terraform 3.6 Sovereign Shell.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UNIDIRECTIONAL PRIVATE SERVICE CONNECT &amp; LIVE CUTOVER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(/28 NAT) &amp;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46497" y="3365906"/>
            <a:ext cx="747065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64785" y="3375050"/>
            <a:ext cx="7104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28570" y="5468112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46858" y="5477256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30698" y="4833518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48986" y="4842662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21915" y="2885846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40203" y="2894990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6876" y="2094890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5164" y="2104034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Cross-Project Connectivity &amp; Live Tier Migration Comparison (Pattern C vs. Legacy)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971800"/>
                <a:gridCol w="3154680"/>
                <a:gridCol w="32762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Hybrid Connectivity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Dual Disconnected Products (Pool + Silo Fork)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Legacy VPC Network Peering Hub-and-Spoke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Private Service Connect (PSC) + Live Migrator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SaaS front door &amp; API surface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Two separate URLs &amp; codebases (app.cymbal.cloud vs. {tenant}.cymbal.cloud)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Hub ALB, but flat Layer-3 routed network across tenant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SaaS URL (agents.cymbal.cloud) + Hop 1 Firestore cryptographic tier router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network topology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Public internet egress or manual per-customer IPsec VPN tunnels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Bidirectional VPC Peering (hard 25-peer quota limit per Hub VPC)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PSC Consumer (10.10.0.50) -&gt; Spoke ServiceAttachment (1,000+ spokes)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IP address &amp; CIDR management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Manual non-overlapping CIDR spreadsheet per enterprise customer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Every spoke requires globally unique RFC 1918 subnets (CIDR exhaustion)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Zero CIDR overlap: /24 PSC NAT allows all spokes to reuse identical 10.40.0.0/20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Lateral movement blast radius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shared control plane can reach external endpoints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Bidirectional L3 routes allow spoke-to-hub packet initiation if spoke is breached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Strictly unidirectional Hub -&gt; Spoke NAT (ACCEPT_MANUAL, hub project allowlist)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Standard -&gt; Enterprise upgrade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Offline DB dump/restore window; new URL, new API keys &amp; OAuth 3LO re-consent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Manual DB migration + DNS cutover; active user chat sessions dropped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3-phase live migrator (SHADOW_SYNC -&gt; ATOMIC_CUTOVER -&gt; 0 dropped sessions)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1,000-tenant portfolio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2x engineering maintenance overhead + high customer churn on upgrade friction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Hard scaling ceiling at 25 Enterprise tenants per Hub VPC network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74% lower TCO ($132.4k/mo vs. $1.85M/mo all-silo) + 4/4 migration tests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663440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Why Legacy VPC Peering Hits a Wall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Traditional VPC peering caps at 25 spokes per hub, requires globally non-overlapping CIDRs, and opens bi-directional L3 blast radius.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663440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Why Private Service Connect (PSC) Scales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NAT (ServiceAttachment) scales to 100s of enterprise spokes while letting every spoke reuse the identical 10.40.0.0/20 CIDR.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663440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Promotion vs. Cold Cutover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Replaces 4–8 hr maintenance blackouts with SHADOW_SYNC -&gt; ATOMIC_CUTOVER -&gt; DRAIN_AND_VERIFY (&lt;10ms Firestore pointer flip, 0 dropped turns).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663440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74% Blended Portfolio TCO Advantage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Co-hosts 85–95% Standard tenants in the $42/mo pool and 5–15% Enterprise tenants in $1,850/mo PSC spokes behind one unified SaaS hostname.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3-stage elastic tenant tier lifecycle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3-STAGE UNIFIED 80/20 ARCHITECTURE &amp; AGENTIC TRIAD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3-Stage Solution Synthesis: 80/20 Shared ADK Core → Agentic Triad → 20/20 Gates</a:t>
            </a:r>
            <a:endParaRPr lang="en-US" sz="202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1: 80/20 Core &amp; IaC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Python ADK 2.0 Engine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3 Terraform Topologies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7665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core-cymbal-agent/ + Terraform 2.6/3.6/4.6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Reuses 80% Identical 5-Hop Application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Code Across Pooled, Silo &amp; Hybrid Tiers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2: Agentic Triad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+ Private Agents,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Skills &amp; 2LO/3LO MCP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451713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GCS Skills • OIDC/Entra 3LO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Shared Diagnostic Agent with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FinVault Private Agent Alpha &amp; Scoped MCP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3: 20/20 Verification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Breach, Silo &amp;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Gate Certification</a:t>
            </a:r>
            <a:endParaRPr lang="en-US" sz="1850" dirty="0"/>
          </a:p>
        </p:txBody>
      </p:sp>
      <p:sp>
        <p:nvSpPr>
          <p:cNvPr id="39" name="Text 37"/>
          <p:cNvSpPr/>
          <p:nvPr/>
        </p:nvSpPr>
        <p:spPr>
          <a:xfrm>
            <a:off x="835761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 Pattern A + 6 Pattern B + 4 Pattern C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100% Fail-Closed Isolation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74% Portfolio TCO Savings in Production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Solution Synthesis  •  Stage 1 80/20 Shared ADK Core → Stage 2 Multi-Tenant Agentic Triad → Stage 3 20/20 Automated Verification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90595"/>
            <a:ext cx="760781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99739"/>
            <a:ext cx="72420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87391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05679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839773" y="4608576"/>
            <a:ext cx="522122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858061" y="4617720"/>
            <a:ext cx="4855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853489" y="4817059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871777" y="4826203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713025"/>
            <a:ext cx="495605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722169"/>
            <a:ext cx="45902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Topology Comparison Matrix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Evaluation Criterion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 Isolation &amp; Network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Logical isolation in 1 shared GCP project via signed OBO/DPoP JWTs &amp; AlloyDB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Physical isolation in dedicated per-tenant GCP projects with VPC-SC &amp; IAM PAB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+ Shared Pool (Std) + Unidirectional PSC Spokes (Ent)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Hosting &amp; Prefix Caching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Gemini 2.5 Pro with 90% ContextCacheConfig discount (4k/8k token caps)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Gemini 2.5 Pro PT or air-gapped Gemma 3 (27B) on private GKE GPUs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90% shared prefix cache for Standard pool; dedicated PT / Gemma 3 in Enterprise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Encryption Sovereignty &amp;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Project/envelope KMS encryption + L1–L5 Memory Bank namespace separation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tenant Cloud KMS CMEK with &lt;60s HTTP 423 kill-switch across all stores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dedicated CMEK kill-switch + 0ms live upgrade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1,000-Tenant Portfolio Monthly TCO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$42,000 / mo (1,000 Pooled tenants @ $42/mo;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$1,850,000 / mo (1,000 Dedicated Silo projects @ $1,850/mo sovereign floor)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$132,400 / mo (950 Pooled + 50 PSC Spokes -&gt; 74% lower TCO vs. all-siloed)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Automated Verification Gate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PASS (run_breach_simulations.py — header spoof, ARD, NLC, DLP, RLS)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6/6 PASS (run_silo_security_tests.py — mTLS, PAB, VPC-SC, HTTP 423 CMEK)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4/4 PASS (run_tier_migration_suite.py — 0ms CDC lag, 0 dropped sessions)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When to Choose Pattern A ($42/mo)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commercial B2B SaaS tiers requiring 90% shared 32k prefix cache savings and transactional AlloyDB FORCE ROW LEVEL SECURITY.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When to Choose Pattern B ($1,850/mo)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banking, healthcare &amp; public-sector tenants mandating a 1:1 GCP project, VPC Service Controls, IAM PAB &amp; &lt;60s CMEK kill-switch.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When to Choose Pattern C (74% Savings)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Multi-tier SaaS portfolios co-hosting 85–95% Standard tenants in the pool and 5–15% Enterprise tenants in PSC spokes with 0ms live upgrades.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80/20 Unified Codebase Invariant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Python ADK 2.0 5-hop pipeline (runtime_pipeline.py), parameterizing only 20% Terraform modules (2.6/3.6/4.6).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80/20 CODE REUSE, AGENTIC TRIAD &amp;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Day-2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cymbal-pooled-prod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cymbal-pooled-prod (#638420508320) &amp; cymbal-build-sandbox (#887605034827).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Blueprint Summary &amp; Reference Lineage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LINEAGE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At-a-Glance Blueprint Index: Architectural Questions, Verified Outcomes &amp; Google Cloud Services</a:t>
            </a:r>
            <a:endParaRPr lang="en-US" sz="16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113687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697480"/>
                <a:gridCol w="329184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Architecture Blueprint (#78 Hub &amp; Spoke)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Question Answered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 Google Cloud Stack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1.1 BLUEPRINT — Multi-Tenant Agentic AI Taxonomy: Pooled (Pattern A), Sovereign Silos (Pattern B) &amp; Hybrid (Pattern C)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B2B SaaS platforms and large enterprises serve thousands of tenants across Pooled (Pattern A), Sovereign Silo (Pattern B), and Dynamic Hybrid (Pattern C) isolation models using one 80% reusable agentic codebase?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Hub-and-Spoke Control Plane Across Three Tenant Isolation Tiers.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Application Load Balancer • Cloud Armor • Identity-Aware Proxy (IAP) • Cloud Run • Vertex AI Agent Engine (ADK 2.0) • Model Armor • AlloyDB &amp;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1.3 DOC PR BLUEPRINT — Cloud Architecture Center: Multi-Tenant Agentic AI System with 5-Hop Cryptographic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extend the official Google Cloud Architecture Center multi-tenant hub-and-spoke blueprint with a 5-Hop Cryptographic Context Chain that prevents confused-deputy tool calls, cache bleed, and noisy neighbors?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Five Sequential Policy Enforcement Points (Hops 1–5) Eliminate Cross-Tenant Bleed.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• Identity-Aware Proxy • Cloud KMS • Discovery Engine Agent Catalog • Vertex AI Agent Engine • Model Armor • AlloyDB RLS •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2.1 • PATTERN A BLUEPRINT — Pattern A: High-Density Pooled Multi-Tenant Architecture &amp; Shared Runtime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host thousands of Standard and commercial SaaS tenants inside a single shared Google Cloud project at a $42/month unit cost footprint while guaranteeing cryptographic and row-level isolation?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High-Density SaaS Unit Economics ($42/mo) with Cryptographic 5-Hop Isolation.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ALB • Cloud Armor • Identity-Aware Proxy • Cloud Run Gen2 • Memorystore for Valkey • Vertex AI Model Armor • Gemini 2.5 Pro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2.5 • BREACH SUITE BLUEPRINT — Pattern A: 10-Point Cross-Tenant Breach Simulation &amp; Cryptographic Defense Matrix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the 5-Hop Cryptographic Context Chain deterministically block all 10 adversarial cross-tenant attack vectors—from forged headers and confused-deputy tool calls to SQL RLS bypasses and noisy-neighbor floods?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Red-Team Cross-Tenant Attack Vectors Deterministically Blocked.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WAF • Identity-Aware Proxy • Cloud KMS • Discovery Engine Catalog • Memorystore for Valkey • Model Armor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2.2 • DEMO ENV &amp; 3P AUTH SANDBOX — Pattern A Demo Environment &amp; 3P Auth Sandbox: Pooled Project, Federated IdPs, OAuth 2LO/3LO Apps, Valkey &amp; Firestore Tenant Config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a single pooled Google Cloud project federate heterogeneous corporate identity providers (Google Workspace OIDC and Microsoft Entra ID) and broker tenant-scoped 2LO and 3LO OAuth tokens to external MCP tools without confused-deputy risks?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Zero-Shadow-Account Federation &amp; Scoped 2LO/3LO MCP Tool Execution.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Identity-Aware Proxy • Workforce Identity Federation • Secret Manager • Cloud KMS • Vertex AI Agent Engine • Memorystore for Valkey • Firestore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2.6 • TERRAFORM STARTER RESOURCE GRAPH — Pattern A 1-Click Terraform Starter: Provider → Google Cloud Armor → Cloud Run v2 Agent Gateway → Valkey / KMS CMEK → BigQuery OTel Resource Graph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platform engineering teams declaratively provision the entire Pattern A pooled multi-tenant stack—WAF, KMS signing keys, Valkey bulkheads, Cloud Run Gen2 runtime, and RLS-locked databases—with zero manual console drift?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Declarative 1-Click Terraform DAG Provisions Pattern A in Under 4 Minutes.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Terraform Google Provider • Cloud Armor WAF • Cloud KMS (90-Day Rotation) • Memorystore for Valkey • Cloud Run v2 • AlloyDB &amp; BigQuery OTel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11480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4590288"/>
            <a:ext cx="2718511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21208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3-Act Executive Deck Structure</a:t>
            </a:r>
            <a:endParaRPr lang="en-US" sz="920" dirty="0"/>
          </a:p>
        </p:txBody>
      </p:sp>
      <p:sp>
        <p:nvSpPr>
          <p:cNvPr id="22" name="Text 19"/>
          <p:cNvSpPr/>
          <p:nvPr/>
        </p:nvSpPr>
        <p:spPr>
          <a:xfrm>
            <a:off x="521208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workstream deck weaves Act I (Thesis &amp; #78 Blueprint), Act II (3-Zone, Payload, UML &amp; State Loops), and Act III (Matrices, Live Proof &amp; Roadmap).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539496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8F0FE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3294583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94583" y="4590288"/>
            <a:ext cx="2718511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3404311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Automated Security &amp; FinOps Proof</a:t>
            </a:r>
            <a:endParaRPr lang="en-US" sz="920" dirty="0"/>
          </a:p>
        </p:txBody>
      </p:sp>
      <p:sp>
        <p:nvSpPr>
          <p:cNvPr id="28" name="Text 25"/>
          <p:cNvSpPr/>
          <p:nvPr/>
        </p:nvSpPr>
        <p:spPr>
          <a:xfrm>
            <a:off x="3404311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patterns are certified by 12 forensic checks and 20 simulation assertions—proving zero cross-tenant data bleed and 90% shared prefix caching.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3422599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CE8E6"/>
          </a:solidFill>
          <a:ln/>
        </p:spPr>
      </p:sp>
      <p:sp>
        <p:nvSpPr>
          <p:cNvPr id="30" name="Text 27"/>
          <p:cNvSpPr/>
          <p:nvPr/>
        </p:nvSpPr>
        <p:spPr>
          <a:xfrm>
            <a:off x="3477463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6178601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78601" y="4590288"/>
            <a:ext cx="2718511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3" name="Text 30"/>
          <p:cNvSpPr/>
          <p:nvPr/>
        </p:nvSpPr>
        <p:spPr>
          <a:xfrm>
            <a:off x="6288329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Official Architecture Center (#78)</a:t>
            </a:r>
            <a:endParaRPr lang="en-US" sz="920" dirty="0"/>
          </a:p>
        </p:txBody>
      </p:sp>
      <p:sp>
        <p:nvSpPr>
          <p:cNvPr id="34" name="Text 31"/>
          <p:cNvSpPr/>
          <p:nvPr/>
        </p:nvSpPr>
        <p:spPr>
          <a:xfrm>
            <a:off x="6288329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official Google Cloud Architecture Center multi-tenant agentic AI blueprint (#78) with production-ready code for Pooled, Siloed, and Hybrid SaaS.</a:t>
            </a:r>
            <a:endParaRPr lang="en-US" sz="780" dirty="0"/>
          </a:p>
        </p:txBody>
      </p:sp>
      <p:sp>
        <p:nvSpPr>
          <p:cNvPr id="35" name="Shape 32"/>
          <p:cNvSpPr/>
          <p:nvPr/>
        </p:nvSpPr>
        <p:spPr>
          <a:xfrm>
            <a:off x="6306617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361481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9061704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061704" y="4590288"/>
            <a:ext cx="2718511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9" name="Text 36"/>
          <p:cNvSpPr/>
          <p:nvPr/>
        </p:nvSpPr>
        <p:spPr>
          <a:xfrm>
            <a:off x="9171432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Grounded Live Cloud Console Proof</a:t>
            </a:r>
            <a:endParaRPr lang="en-US" sz="920" dirty="0"/>
          </a:p>
        </p:txBody>
      </p:sp>
      <p:sp>
        <p:nvSpPr>
          <p:cNvPr id="40" name="Text 37"/>
          <p:cNvSpPr/>
          <p:nvPr/>
        </p:nvSpPr>
        <p:spPr>
          <a:xfrm>
            <a:off x="9171432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Pairs 100% native editable vector shapes with authentic Google Cloud Console &amp; Pantheon verification captures across 3 live GCP projects.</a:t>
            </a:r>
            <a:endParaRPr lang="en-US" sz="780" dirty="0"/>
          </a:p>
        </p:txBody>
      </p:sp>
      <p:sp>
        <p:nvSpPr>
          <p:cNvPr id="41" name="Shape 38"/>
          <p:cNvSpPr/>
          <p:nvPr/>
        </p:nvSpPr>
        <p:spPr>
          <a:xfrm>
            <a:off x="9189720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6F4EA"/>
          </a:solidFill>
          <a:ln/>
        </p:spPr>
      </p:sp>
      <p:sp>
        <p:nvSpPr>
          <p:cNvPr id="42" name="Text 39"/>
          <p:cNvSpPr/>
          <p:nvPr/>
        </p:nvSpPr>
        <p:spPr>
          <a:xfrm>
            <a:off x="9244584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Verified Cloud Console Captures • 24 Code Files</a:t>
            </a:r>
            <a:endParaRPr lang="en-US" sz="740" dirty="0"/>
          </a:p>
        </p:txBody>
      </p:sp>
      <p:sp>
        <p:nvSpPr>
          <p:cNvPr id="43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Cloud Multi-Tenant Agentic AI: Pooled, Sovereign Silos &amp; Hybrid — Complete Program Deck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2026-10-19T07:29:06Z</dcterms:created>
  <dcterms:modified xsi:type="dcterms:W3CDTF">2026-10-19T07:29:06Z</dcterms:modified>
</cp:coreProperties>
</file>