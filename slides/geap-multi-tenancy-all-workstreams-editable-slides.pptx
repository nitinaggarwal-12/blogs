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Cloud Multi-Tenant Agentic AI: Pooled, Sovereign Silos &amp; Hybrid — Complete Program Deck
Cohesive 5-Workstream Executive Program Deck: Reference Taxonomy (WS1), Pooled Pattern A (WS2), Sovereign Silos Pattern B (WS3), Hybrid PSC Pattern C (WS4) &amp; Decision Guide (WS5)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Map • Workstreams 1–5 Cohesive Architecture Progression
• Workstream 1 Reference Taxonomy: Defines Pattern A (Pooled), Pattern B (Sovereign Silos), and Pattern C (Dynamic Hybrid) built on one 80% reusable 5-hop ADK 2.0 security codebase.
• Workstream 2 Pattern A Pooled: Serves hundreds of commercial tenants inside one shared Google Cloud project with 90% shared prefix cache savings and 10/10 red-team attacks blocked.
• Workstream 3 Pattern B Sovereign Silos: Gives regulated banking and healthcare enterprises a dedicated GCP project, VPC Service Controls perimeter, IAM PAB, and &lt;60s CMEK kill-switch.
• Workstream 4 Pattern C Dynamic Hybrid: Routes Standard tenants to the shared pool and Enterprise tenants over Private Service Connect with zero-downtime live tier upgrades (4/4 PASS).
• Workstream 5 Executive Decision Guide: Provides a 2-question topology selector, Well-Architected comparison matrix, 1,000-tenant FinOps TCO model, and 10-week rollout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Gemini 2.5 Pro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ACT II: UNIDIRECTIONAL PRIVATE SERVICE CONNECT &amp; LIVE CUTOVER LOOP: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• Phase 1 (`SHADOW_SYNC`): Provisions the target Enterprise spoke project, Cloud KMS key, and PSC attachment while streaming AlloyDB RLS rows and L1–L5 Memory Bank state to 0ms replication lag.
• Phase 2 (`ATOMIC_CUTOVER`): Executes a single atomic Firestore transaction flipping the tenant’s route from `pool://` to `psc://`, unlocking the 8,000-token budget and CMEK binding simultaneously.
• Phase 3 (`DRAIN_AND_VERIFY`): Drains any in-flight pooled turn without interruption and routes the very next message in the same active `session_id` into the dedicated PSC spoke (`0` dropped sessions).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Gemini 2.5 Pro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ACT III: 10-WEEK ENTERPRISE MULTI-TENANT ROLLOUT ROADMAP: Workstream 5 Program Roadmap  •  Weeks 1–3 (Pattern A MVP) → Weeks 4–6 (FinOps &amp; OTel) → Weeks 7–10 (Silos &amp; PSC)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ACT III: 80/20 CODE REUSE, AGENTIC TRIAD &amp;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Complete 5-Workstream Google Cloud Architecture Center Program Deck — 100% Native Editable Shapes &amp; Verified Live Telemetry.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image" Target="../media/image-17-17.png"/><Relationship Id="rId18" Type="http://schemas.openxmlformats.org/officeDocument/2006/relationships/image" Target="../media/image-17-18.png"/><Relationship Id="rId19" Type="http://schemas.openxmlformats.org/officeDocument/2006/relationships/image" Target="../media/image-17-19.png"/><Relationship Id="rId20" Type="http://schemas.openxmlformats.org/officeDocument/2006/relationships/image" Target="../media/image-1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png"/><Relationship Id="rId17" Type="http://schemas.openxmlformats.org/officeDocument/2006/relationships/image" Target="../media/image-21-17.png"/><Relationship Id="rId18" Type="http://schemas.openxmlformats.org/officeDocument/2006/relationships/image" Target="../media/image-21-18.png"/><Relationship Id="rId19" Type="http://schemas.openxmlformats.org/officeDocument/2006/relationships/image" Target="../media/image-21-19.png"/><Relationship Id="rId20" Type="http://schemas.openxmlformats.org/officeDocument/2006/relationships/image" Target="../media/image-2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PROGRAM DECK • WORKSTREAMS 1–5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Google Cloud Multi-Tenant Agentic AI: Pooled, Sovereign Silos &amp; Hybrid — Complete Program Deck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Cohesive 5-Workstream Executive Program Deck: Reference Taxonomy (WS1), Pooled Pattern A (WS2), Sovereign Silos Pattern B (WS3), Hybrid PSC Pattern C (WS4) &amp; Decision Guide (WS5)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Master Blueprint (#78) &amp; SLO Scorecard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Decomposes Figure 1 into 56 editable vector shapes + 23 connectors, quantified unit economics ($42 vs. $1,850/mo) &amp; GCP stack.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3-Zone Boundaries, UML &amp; Fail-Closed Loops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Walks through 3-zone physical/logical boundaries, Hop 1 OBO+DPoP wire transformation, 5-Actor UML sequence &amp; HTTP 401–429 circuit breakers.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9–12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A/B/C Matrix, GAP-01..05 &amp; Live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Compares Pooled, Siloed &amp; Hybrid PSC trade-offs, closes 5 EAP product gaps, embeds 16:9 Cloud Console captures &amp; 6-week rollout.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13–14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Day-2 RACI Operating Model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Assigns Security, SRE &amp; FinOps ownership SLAs and maps runnable deliverables across Workstreams 1–5 (24 files + 20/20 gates).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5-WORKSTREAM PROGRAM ARCHITECTURE PROGRESSION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OVERVIEW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 Map • Workstreams 1–5 Cohesive Architecture Progression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Per-Tenant GCP Project • VPC-SC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Dedicated Vault • &lt;60s HTTP 423 Kill-Switch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ALB • Firestore Tier Router • Private Service Connect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0ms Lag Live Tier Migration • 0 Dropped Active Sessions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Executive Decision Guide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Provides a 2-question topology selector, Well-Architected comparison matrix, 1,000-tenant FinOps TCO model, and 10-week rollout roadmap.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Registry • ARD Visibility Proxy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Cross-Tenant Agent &amp; MCP Discovery (HTTP 403)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2: Agent Registry Filter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201107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19395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54834" y="2885846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73122" y="2894990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TRADE-OFF &amp; ISOLATION SELECTION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When to Choose Pattern A ($42/mo)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commercial B2B SaaS tiers requiring 90% shared 32k prefix cache savings and transactional AlloyDB FORCE ROW LEVEL SECURITY.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When to Choose Pattern B ($1,850/mo)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banking, healthcare &amp; public-sector tenants mandating a 1:1 GCP project, VPC Service Controls, IAM PAB &amp; &lt;60s CMEK kill-switch.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When to Choose Pattern C (74% Savings)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Multi-tier SaaS portfolios co-hosting 85–95% Standard tenants in the pool and 5–15% Enterprise tenants in PSC spokes with 0ms live upgrades.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80/20 Unified Codebase Invariant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Python ADK 2.0 5-hop pipeline (runtime_pipeline.py), parameterizing only 20% Terraform modules (2.6/3.6/4.6).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cymbal-build-sandbox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728570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746858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cymbal-skills-fv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84348" y="5468112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802636" y="5477256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093208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11496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cymbal-skills-rs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87391" y="5468112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205679" y="5477256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39235" y="3368650"/>
            <a:ext cx="67208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57523" y="3377794"/>
            <a:ext cx="6355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3001061" y="3368650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19349" y="3377794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TRADE-OFF &amp; ISOLATION SELECTION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Edge &amp; Catalog Defense (Tests 1–2)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spoofed X-Tenant-Id headers (HTTP 401) while Hop 2 ARD blocks cross-tenant private Agent Alpha discovery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Memory &amp; Prompt Guardrails (Tests 3–5, 8)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/tenants/{id}/* Memory Bank namespaces, blocks prompt injection (400) &amp; NLC breaches (422), and masks IBAN/PAN via Cloud SDP.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Fair-Share Rate &amp; Budget Caps (Tests 6–7)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throttles 500-RPM floods at 120 RPM (HTTP 429) while clamping Standard thinking budgets to 4,000 tokens.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Data RLS &amp; 3LO Step-Up (Tests 9–10)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FORCE RLS returns 0 cross-tenant rows and 3LO Broker enforces -32042 OAuth step-up consent before invoking ServiceNow/Workspace.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Gemini 2.5 Pro (Dedicated PT)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Dedicated PT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691994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10282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68189" y="4833518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86477" y="4842662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74920" y="5468112"/>
            <a:ext cx="74706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93208" y="5477256"/>
            <a:ext cx="71048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41118" y="2885846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59406" y="2894990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 → Emit KMS Audit Revocation Event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• Liveness Probe Failed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enters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hard cryptographic lock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within &lt;60 seconds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&lt;60s Cryptographic Kill-Switch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0 Cached Tokens Served Post-Revoke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Immutable SCC Compliance Log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423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TRADE-OFF &amp; ISOLATION SELECTION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VPC-SC Perimeter &amp; PAB (Tests 1–3)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cross-perimeter bucket exfiltration, unapproved internet egress, and cross-project principal impersonation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&lt;60s CMEK Kill-Switch (Tests 4A–4B)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AlloyDB and Memory Bank reads within 18.4s (&lt;60s SLA) with deterministic HTTP 423 Locked.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L1 In-Memory Cache Purge (Test 5)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revocation immediately invalidates active L1 session caches so zero cached tokens are served post-revocation.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Asymmetric P-256 A2A Signing (Test 6)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every intra-silo agent-to-agent delegation using Cloud KMS asymmetric ECDSA P-256 keys with immutable SCC audit logs.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46497" y="3365906"/>
            <a:ext cx="747065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64785" y="3375050"/>
            <a:ext cx="7104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28570" y="5468112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46858" y="5477256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30698" y="4833518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48986" y="4842662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21915" y="2885846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40203" y="2894990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6876" y="2094890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5164" y="2104034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II: UNIDIRECTIONAL PRIVATE SERVICE CONNECT &amp; LIVE CUTOVER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(/28 NAT) &amp; Zero-Downtime State Synchronization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TRADE-OFF &amp; ISOLATION SELECTION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Phase 1: SHADOW_SYNC Backfill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Provisions dedicated PSC spoke via Terraform 4.6 and dual-writes live Memory Bank and AlloyDB state without pausing active turns.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Phase 2: CMEK Re-Key &amp; Checksum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Re-encrypts tenant records under customer-managed Cloud KMS CMEK and verifies 100% SHA-256 row &amp; vector checksum parity.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Phase 3: 0ms Atomic Firestore Flip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Flips the Hub tier-routing pointer atomically to the spoke Private Service Connect endpoint (10.10.0.50) with 0 dropped sessions.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Phase 4: Shared Pool Tombstone Purge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Drains in-flight pooled connections and executes cryptographic tombstone deletion of legacy rows in the shared Pattern A database.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Zero-PII OTel &amp; FinOps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Gemini 2.5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90595"/>
            <a:ext cx="760781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99739"/>
            <a:ext cx="72420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87391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05679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56632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74920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839773" y="4608576"/>
            <a:ext cx="522122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858061" y="4617720"/>
            <a:ext cx="4855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853489" y="4817059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871777" y="4826203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713025"/>
            <a:ext cx="495605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722169"/>
            <a:ext cx="45902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10-WEEK ENTERPRISE MULTI-TENANT ROLLOUT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10-Week Phased Production Rollout Across Patterns A, B &amp; C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Pooled MVP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Core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Pipeline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1–3)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Commercial Tenants at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$42/mo with 10/10 Breach Gate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Safety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Valkey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BigQuery OTel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4–6)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Activate 90% Prefix Cache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Zero-PII Chargeback Ledger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Sovereign &amp; PSC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Silos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PSC Spokes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7–10)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Regulated Tenants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0ms Live Tier Upgrades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Roadmap  •  Weeks 1–3 (Pattern A MVP) → Weeks 4–6 (FinOps &amp; OTel) → Weeks 7–10 (Silos &amp; PSC)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TRADE-OFF &amp; ISOLATION SELECTION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Q1: Regulatory Blast-Radius Gate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customer contracts mandate dedicated GCP projects, VPC-SC, or &lt;60s CMEK kill-switches, route to Pattern B or Pattern C Spoke.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Q2: Portfolio Mobility &amp; Upsell Gate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operating a multi-tier SaaS platform with self-service Standard-to-Enterprise upgrades, deploy Pattern C Dynamic Hybrid PSC.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74% Blended Portfolio TCO Savings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850–950 Standard tenants in Pattern A ($42/mo) and 50–150 Enterprise spokes saves $1.53M/mo vs. an all-silo footprint.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Continuous 12/12 + 20/20 CI/CD Gate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pull request executes 12 forensic checks and 20 live security/migration assertions before promoting revisions to Cloud Run.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80/20 CODE REUSE, AGENTIC TRIAD &amp;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Day-2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cymbal-pooled-prod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cymbal-pooled-prod (#638420508320) &amp; cymbal-build-sandbox (#887605034827).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Blueprint Summary &amp; Reference Lineage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LINEAGE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At-a-Glance Blueprint Index: Architectural Questions, Verified Outcomes &amp; Google Cloud Services</a:t>
            </a:r>
            <a:endParaRPr lang="en-US" sz="16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33856"/>
          <a:ext cx="113687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697480"/>
                <a:gridCol w="329184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Architecture Blueprint (#78 Hub &amp; Spoke)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Question Answered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 Google Cloud Stack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1.1 BLUEPRINT — Multi-Tenant Agentic AI Taxonomy: Pooled (Pattern A), Sovereign Silos (Pattern B) &amp; Hybrid (Pattern C)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B2B SaaS platforms and large enterprises serve thousands of tenants across Pooled (Pattern A), Sovereign Silo (Pattern B), and Dynamic Hybrid (Pattern C) isolation models using one 80% reusable agentic codebase?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Hub-and-Spoke Control Plane Across Three Tenant Isolation Tiers.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Application Load Balancer • Cloud Armor • Identity-Aware Proxy (IAP) • Cloud Run • Vertex AI Agent Engine (ADK 2.0) • Model Armor • AlloyDB &amp;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1.3 DOC PR BLUEPRINT — Cloud Architecture Center: Multi-Tenant Agentic AI System with 5-Hop Cryptographic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extend the official Google Cloud Architecture Center multi-tenant hub-and-spoke blueprint with a 5-Hop Cryptographic Context Chain that prevents confused-deputy tool calls, cache bleed, and noisy neighbors?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Five Sequential Policy Enforcement Points (Hops 1–5) Eliminate Cross-Tenant Bleed.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• Identity-Aware Proxy • Cloud KMS • Discovery Engine Agent Catalog • Vertex AI Agent Engine • Model Armor • AlloyDB RLS •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2.1 • PATTERN A BLUEPRINT — Pattern A: High-Density Pooled Multi-Tenant Architecture &amp; Shared Runtime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host thousands of Standard and commercial SaaS tenants inside a single shared Google Cloud project at a $42/month unit cost footprint while guaranteeing cryptographic and row-level isolation?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High-Density SaaS Unit Economics ($42/mo) with Cryptographic 5-Hop Isolation.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ALB • Cloud Armor • Identity-Aware Proxy • Cloud Run Gen2 • Memorystore for Valkey • Vertex AI Model Armor • Gemini 2.5 Pro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2.5 • BREACH SUITE BLUEPRINT — Pattern A: 10-Point Cross-Tenant Breach Simulation &amp; Cryptographic Defense Matrix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the 5-Hop Cryptographic Context Chain deterministically block all 10 adversarial cross-tenant attack vectors—from forged headers and confused-deputy tool calls to SQL RLS bypasses and noisy-neighbor floods?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Red-Team Cross-Tenant Attack Vectors Deterministically Blocked.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WAF • Identity-Aware Proxy • Cloud KMS • Discovery Engine Catalog • Memorystore for Valkey • Model Armor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2.2 • DEMO ENV &amp; 3P AUTH SANDBOX — Pattern A Demo Environment &amp; 3P Auth Sandbox: Pooled Project, Federated IdPs, OAuth 2LO/3LO Apps, Valkey &amp; Firestore Tenant Config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a single pooled Google Cloud project federate heterogeneous corporate identity providers (Google Workspace OIDC and Microsoft Entra ID) and broker tenant-scoped 2LO and 3LO OAuth tokens to external MCP tools without confused-deputy risks?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Zero-Shadow-Account Federation &amp; Scoped 2LO/3LO MCP Tool Execution.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Identity-Aware Proxy • Workforce Identity Federation • Secret Manager • Cloud KMS • Vertex AI Agent Engine • Memorystore for Valkey • Firestore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2.6 • TERRAFORM STARTER RESOURCE GRAPH — Pattern A 1-Click Terraform Starter: Provider → Google Cloud Armor → Cloud Run v2 Agent Gateway → Valkey / KMS CMEK → BigQuery OTel Resource Graph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platform engineering teams declaratively provision the entire Pattern A pooled multi-tenant stack—WAF, KMS signing keys, Valkey bulkheads, Cloud Run Gen2 runtime, and RLS-locked databases—with zero manual console drift?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Declarative 1-Click Terraform DAG Provisions Pattern A in Under 4 Minutes.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Terraform Google Provider • Cloud Armor WAF • Cloud KMS (90-Day Rotation) • Memorystore for Valkey • Cloud Run v2 • AlloyDB &amp; BigQuery OTel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11480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1480" y="4590288"/>
            <a:ext cx="2718511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21208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3-Act Executive Deck Structure</a:t>
            </a:r>
            <a:endParaRPr lang="en-US" sz="920" dirty="0"/>
          </a:p>
        </p:txBody>
      </p:sp>
      <p:sp>
        <p:nvSpPr>
          <p:cNvPr id="22" name="Text 19"/>
          <p:cNvSpPr/>
          <p:nvPr/>
        </p:nvSpPr>
        <p:spPr>
          <a:xfrm>
            <a:off x="521208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workstream deck weaves Act I (Thesis &amp; #78 Blueprint), Act II (3-Zone, Payload, UML &amp; State Loops), and Act III (Matrices, Live Proof &amp; Roadmap).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539496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E8F0FE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5" name="Shape 22"/>
          <p:cNvSpPr/>
          <p:nvPr/>
        </p:nvSpPr>
        <p:spPr>
          <a:xfrm>
            <a:off x="3294583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94583" y="4590288"/>
            <a:ext cx="2718511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3404311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Automated Security &amp; FinOps Proof</a:t>
            </a:r>
            <a:endParaRPr lang="en-US" sz="920" dirty="0"/>
          </a:p>
        </p:txBody>
      </p:sp>
      <p:sp>
        <p:nvSpPr>
          <p:cNvPr id="28" name="Text 25"/>
          <p:cNvSpPr/>
          <p:nvPr/>
        </p:nvSpPr>
        <p:spPr>
          <a:xfrm>
            <a:off x="3404311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patterns are certified by 12 forensic checks and 20 simulation assertions—proving zero cross-tenant data bleed and 90% shared prefix caching.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3422599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FCE8E6"/>
          </a:solidFill>
          <a:ln/>
        </p:spPr>
      </p:sp>
      <p:sp>
        <p:nvSpPr>
          <p:cNvPr id="30" name="Text 27"/>
          <p:cNvSpPr/>
          <p:nvPr/>
        </p:nvSpPr>
        <p:spPr>
          <a:xfrm>
            <a:off x="3477463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1" name="Shape 28"/>
          <p:cNvSpPr/>
          <p:nvPr/>
        </p:nvSpPr>
        <p:spPr>
          <a:xfrm>
            <a:off x="6178601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178601" y="4590288"/>
            <a:ext cx="2718511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3" name="Text 30"/>
          <p:cNvSpPr/>
          <p:nvPr/>
        </p:nvSpPr>
        <p:spPr>
          <a:xfrm>
            <a:off x="6288329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Official Architecture Center (#78)</a:t>
            </a:r>
            <a:endParaRPr lang="en-US" sz="920" dirty="0"/>
          </a:p>
        </p:txBody>
      </p:sp>
      <p:sp>
        <p:nvSpPr>
          <p:cNvPr id="34" name="Text 31"/>
          <p:cNvSpPr/>
          <p:nvPr/>
        </p:nvSpPr>
        <p:spPr>
          <a:xfrm>
            <a:off x="6288329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Extends the official Google Cloud Architecture Center multi-tenant agentic AI blueprint (#78) with production-ready code for Pooled, Siloed, and Hybrid SaaS.</a:t>
            </a:r>
            <a:endParaRPr lang="en-US" sz="780" dirty="0"/>
          </a:p>
        </p:txBody>
      </p:sp>
      <p:sp>
        <p:nvSpPr>
          <p:cNvPr id="35" name="Shape 32"/>
          <p:cNvSpPr/>
          <p:nvPr/>
        </p:nvSpPr>
        <p:spPr>
          <a:xfrm>
            <a:off x="6306617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361481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9061704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061704" y="4590288"/>
            <a:ext cx="2718511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9" name="Text 36"/>
          <p:cNvSpPr/>
          <p:nvPr/>
        </p:nvSpPr>
        <p:spPr>
          <a:xfrm>
            <a:off x="9171432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Grounded Live Cloud Console Proof</a:t>
            </a:r>
            <a:endParaRPr lang="en-US" sz="920" dirty="0"/>
          </a:p>
        </p:txBody>
      </p:sp>
      <p:sp>
        <p:nvSpPr>
          <p:cNvPr id="40" name="Text 37"/>
          <p:cNvSpPr/>
          <p:nvPr/>
        </p:nvSpPr>
        <p:spPr>
          <a:xfrm>
            <a:off x="9171432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Pairs 100% native editable vector shapes with authentic Google Cloud Console &amp; Pantheon verification captures across 3 live GCP projects.</a:t>
            </a:r>
            <a:endParaRPr lang="en-US" sz="780" dirty="0"/>
          </a:p>
        </p:txBody>
      </p:sp>
      <p:sp>
        <p:nvSpPr>
          <p:cNvPr id="41" name="Shape 38"/>
          <p:cNvSpPr/>
          <p:nvPr/>
        </p:nvSpPr>
        <p:spPr>
          <a:xfrm>
            <a:off x="9189720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E6F4EA"/>
          </a:solidFill>
          <a:ln/>
        </p:spPr>
      </p:sp>
      <p:sp>
        <p:nvSpPr>
          <p:cNvPr id="42" name="Text 39"/>
          <p:cNvSpPr/>
          <p:nvPr/>
        </p:nvSpPr>
        <p:spPr>
          <a:xfrm>
            <a:off x="9244584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 Verified Cloud Console Captures • 24 Code Files</a:t>
            </a:r>
            <a:endParaRPr lang="en-US" sz="740" dirty="0"/>
          </a:p>
        </p:txBody>
      </p:sp>
      <p:sp>
        <p:nvSpPr>
          <p:cNvPr id="43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Cloud Multi-Tenant Agentic AI: Pooled, Sovereign Silos &amp; Hybrid — Complete Program Deck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2026-10-19T06:31:35Z</dcterms:created>
  <dcterms:modified xsi:type="dcterms:W3CDTF">2026-10-19T06:31:35Z</dcterms:modified>
</cp:coreProperties>
</file>