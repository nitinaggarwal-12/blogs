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695" cy="7315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695" y="0"/>
            <a:ext cx="3047695" cy="73152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305" y="0"/>
            <a:ext cx="3047695" cy="73152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0"/>
            <a:ext cx="3047695" cy="73152"/>
          </a:xfrm>
          <a:prstGeom prst="rect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411480"/>
            <a:ext cx="5989320" cy="5897880"/>
          </a:xfrm>
          <a:prstGeom prst="roundRect">
            <a:avLst>
              <a:gd name="adj" fmla="val 21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713232"/>
            <a:ext cx="2834640" cy="292608"/>
          </a:xfrm>
          <a:prstGeom prst="roundRect">
            <a:avLst>
              <a:gd name="adj" fmla="val 1875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71323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3E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BLOG 1 • EXECUTIVE ARCHITECTURE BRIEFING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1170432"/>
            <a:ext cx="54406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Multi-Tenant Agentic AI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on Google Cloud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77240" y="2697480"/>
            <a:ext cx="5440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How to serve commercial SaaS customers and regulated banks from one shared AI codebase—with 5-hop cryptographic isolation, sub-5s key revocation, and 74% lower infrastructure cost.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3977640"/>
            <a:ext cx="1719072" cy="1572768"/>
          </a:xfrm>
          <a:prstGeom prst="roundRect">
            <a:avLst>
              <a:gd name="adj" fmla="val 5814"/>
            </a:avLst>
          </a:prstGeom>
          <a:solidFill>
            <a:srgbClr val="E8F0FE"/>
          </a:solidFill>
          <a:ln w="15875">
            <a:solidFill>
              <a:srgbClr val="1A7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4114800"/>
            <a:ext cx="14996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73E8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80 / 20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86968" y="4773168"/>
            <a:ext cx="14996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Shared AI Core vs.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Tenant Perimeter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24328" y="3977640"/>
            <a:ext cx="1719072" cy="1572768"/>
          </a:xfrm>
          <a:prstGeom prst="roundRect">
            <a:avLst>
              <a:gd name="adj" fmla="val 5814"/>
            </a:avLst>
          </a:prstGeom>
          <a:solidFill>
            <a:srgbClr val="E6F4EA"/>
          </a:solidFill>
          <a:ln w="15875">
            <a:solidFill>
              <a:srgbClr val="1E8E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34056" y="4114800"/>
            <a:ext cx="14996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8E3E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74%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734056" y="4773168"/>
            <a:ext cx="14996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Portfolio TCO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Cost Reduction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71416" y="3977640"/>
            <a:ext cx="1719072" cy="1572768"/>
          </a:xfrm>
          <a:prstGeom prst="roundRect">
            <a:avLst>
              <a:gd name="adj" fmla="val 5814"/>
            </a:avLst>
          </a:prstGeom>
          <a:solidFill>
            <a:srgbClr val="FCE8E6"/>
          </a:solidFill>
          <a:ln w="15875">
            <a:solidFill>
              <a:srgbClr val="D930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81144" y="4114800"/>
            <a:ext cx="14996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3025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0 Rows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581144" y="4773168"/>
            <a:ext cx="14996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Cross-Tenant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Data Leakage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5779008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Google Cloud FDE &amp; AI Platform Architecture Team • Vertex AI Agent Engine &amp; ADK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75120" y="411480"/>
            <a:ext cx="5010912" cy="5897880"/>
          </a:xfrm>
          <a:prstGeom prst="roundRect">
            <a:avLst>
              <a:gd name="adj" fmla="val 25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6583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VISUAL ARCHITECTURE STORYBOARD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03720" y="1097280"/>
            <a:ext cx="4553712" cy="987552"/>
          </a:xfrm>
          <a:prstGeom prst="roundRect">
            <a:avLst>
              <a:gd name="adj" fmla="val 925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59168" y="1298448"/>
            <a:ext cx="585216" cy="585216"/>
          </a:xfrm>
          <a:prstGeom prst="roundRect">
            <a:avLst>
              <a:gd name="adj" fmla="val 12500"/>
            </a:avLst>
          </a:prstGeom>
          <a:solidFill>
            <a:srgbClr val="E8F0FE"/>
          </a:solidFill>
          <a:ln w="15875">
            <a:solidFill>
              <a:srgbClr val="1A73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59168" y="129844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01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0" y="126187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The Problem &amp; 80/20 Concept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772400" y="159105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Why shared pools leak &amp; silos bankrupt margins (Slides 2–3)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51776" y="2084832"/>
            <a:ext cx="0" cy="246888"/>
          </a:xfrm>
          <a:prstGeom prst="line">
            <a:avLst/>
          </a:prstGeom>
          <a:noFill/>
          <a:ln w="22225">
            <a:solidFill>
              <a:srgbClr val="1A73E8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6903720" y="2331720"/>
            <a:ext cx="4553712" cy="987552"/>
          </a:xfrm>
          <a:prstGeom prst="roundRect">
            <a:avLst>
              <a:gd name="adj" fmla="val 925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59168" y="2532888"/>
            <a:ext cx="585216" cy="585216"/>
          </a:xfrm>
          <a:prstGeom prst="roundRect">
            <a:avLst>
              <a:gd name="adj" fmla="val 12500"/>
            </a:avLst>
          </a:prstGeom>
          <a:solidFill>
            <a:srgbClr val="E6F4EA"/>
          </a:solidFill>
          <a:ln w="15875">
            <a:solidFill>
              <a:srgbClr val="1E8E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59168" y="253288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E3E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02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0" y="249631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5-Hop Zero-Trust Process &amp; Logic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772400" y="282549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~42ms security pipeline &amp; 3-tier isolation selector (Slides 4–6)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351776" y="3319272"/>
            <a:ext cx="0" cy="246888"/>
          </a:xfrm>
          <a:prstGeom prst="line">
            <a:avLst/>
          </a:prstGeom>
          <a:noFill/>
          <a:ln w="22225">
            <a:solidFill>
              <a:srgbClr val="1E8E3E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6903720" y="3566160"/>
            <a:ext cx="4553712" cy="987552"/>
          </a:xfrm>
          <a:prstGeom prst="roundRect">
            <a:avLst>
              <a:gd name="adj" fmla="val 925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59168" y="3767328"/>
            <a:ext cx="585216" cy="585216"/>
          </a:xfrm>
          <a:prstGeom prst="roundRect">
            <a:avLst>
              <a:gd name="adj" fmla="val 12500"/>
            </a:avLst>
          </a:prstGeom>
          <a:solidFill>
            <a:srgbClr val="FEF7E0"/>
          </a:solidFill>
          <a:ln w="15875">
            <a:solidFill>
              <a:srgbClr val="B06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59168" y="376732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6000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03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772400" y="373075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Technical Blueprints &amp; Sequence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772400" y="405993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Hub-and-spoke VPC-SC &amp; &lt;5s key revocation (Slides 7–9)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351776" y="4553712"/>
            <a:ext cx="0" cy="246888"/>
          </a:xfrm>
          <a:prstGeom prst="line">
            <a:avLst/>
          </a:prstGeom>
          <a:noFill/>
          <a:ln w="22225">
            <a:solidFill>
              <a:srgbClr val="B06000"/>
            </a:solidFill>
            <a:prstDash val="solid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6903720" y="4800600"/>
            <a:ext cx="4553712" cy="987552"/>
          </a:xfrm>
          <a:prstGeom prst="roundRect">
            <a:avLst>
              <a:gd name="adj" fmla="val 925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59168" y="5001768"/>
            <a:ext cx="585216" cy="585216"/>
          </a:xfrm>
          <a:prstGeom prst="roundRect">
            <a:avLst>
              <a:gd name="adj" fmla="val 12500"/>
            </a:avLst>
          </a:prstGeom>
          <a:solidFill>
            <a:srgbClr val="FCE8E6"/>
          </a:solidFill>
          <a:ln w="15875">
            <a:solidFill>
              <a:srgbClr val="D9302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59168" y="500176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3025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04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772400" y="496519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Live Proofs, ROI &amp; 90-Day Plan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7772400" y="52943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107/107 tests, Before/After UIs &amp; 30-60-90 CTA (Slides 10–12)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305" y="0"/>
            <a:ext cx="3047695" cy="54864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0"/>
            <a:ext cx="3047695" cy="54864"/>
          </a:xfrm>
          <a:prstGeom prst="rect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01168"/>
            <a:ext cx="2148840" cy="237744"/>
          </a:xfrm>
          <a:prstGeom prst="roundRect">
            <a:avLst>
              <a:gd name="adj" fmla="val 19231"/>
            </a:avLst>
          </a:prstGeom>
          <a:solidFill>
            <a:srgbClr val="FCE8E6"/>
          </a:solidFill>
          <a:ln w="12700">
            <a:solidFill>
              <a:srgbClr val="FCE8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116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302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THE REAL PROBLEM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732520" y="182880"/>
            <a:ext cx="2148840" cy="292608"/>
          </a:xfrm>
          <a:prstGeom prst="roundRect">
            <a:avLst>
              <a:gd name="adj" fmla="val 18750"/>
            </a:avLst>
          </a:prstGeom>
          <a:solidFill>
            <a:srgbClr val="FCE8E6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18288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3025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2 Failure Extremes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991088" y="182880"/>
            <a:ext cx="694944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91088" y="182880"/>
            <a:ext cx="694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02 / 12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493776"/>
            <a:ext cx="111831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Naive Shared Pools Leak Private AI Tools; Dedicated Silos Destroy SaaS Margins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502920" y="950976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47104"/>
            <a:ext cx="11183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Google Cloud Architecture Center • Blog 1: Multi-Tenant Agentic AI Reference Architecture &amp; 5-Hop Governance • Verified on GCP &amp; AWS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1115568"/>
            <a:ext cx="5440680" cy="52120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9050">
            <a:solidFill>
              <a:srgbClr val="D9302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1115568"/>
            <a:ext cx="5440680" cy="402336"/>
          </a:xfrm>
          <a:prstGeom prst="rect">
            <a:avLst/>
          </a:prstGeom>
          <a:solidFill>
            <a:srgbClr val="FCE8E6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1115568"/>
            <a:ext cx="5074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302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FAILURE MODE A • NAIVE SHARED POOL (HIGH BREACH RISK)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7240" y="1719072"/>
            <a:ext cx="2240280" cy="658368"/>
          </a:xfrm>
          <a:prstGeom prst="roundRect">
            <a:avLst>
              <a:gd name="adj" fmla="val 11111"/>
            </a:avLst>
          </a:prstGeom>
          <a:solidFill>
            <a:srgbClr val="E8F0FE"/>
          </a:solidFill>
          <a:ln w="15240">
            <a:solidFill>
              <a:srgbClr val="1A73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171907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FinVault Bank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(600 RPM • Regulated)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29000" y="1719072"/>
            <a:ext cx="2240280" cy="658368"/>
          </a:xfrm>
          <a:prstGeom prst="roundRect">
            <a:avLst>
              <a:gd name="adj" fmla="val 11111"/>
            </a:avLst>
          </a:prstGeom>
          <a:solidFill>
            <a:srgbClr val="E6F4EA"/>
          </a:solidFill>
          <a:ln w="15240">
            <a:solidFill>
              <a:srgbClr val="1E8E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171907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RetailStream Corp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(120 RPM • Commercial)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92808" y="2377440"/>
            <a:ext cx="0" cy="502920"/>
          </a:xfrm>
          <a:prstGeom prst="line">
            <a:avLst/>
          </a:prstGeom>
          <a:noFill/>
          <a:ln w="25400">
            <a:solidFill>
              <a:srgbClr val="D93025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4544568" y="2377440"/>
            <a:ext cx="0" cy="502920"/>
          </a:xfrm>
          <a:prstGeom prst="line">
            <a:avLst/>
          </a:prstGeom>
          <a:noFill/>
          <a:ln w="25400">
            <a:solidFill>
              <a:srgbClr val="D93025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777240" y="2880360"/>
            <a:ext cx="4892040" cy="1417320"/>
          </a:xfrm>
          <a:prstGeom prst="roundRect">
            <a:avLst>
              <a:gd name="adj" fmla="val 6452"/>
            </a:avLst>
          </a:prstGeom>
          <a:solidFill>
            <a:srgbClr val="FCE8E6"/>
          </a:solidFill>
          <a:ln w="19050">
            <a:solidFill>
              <a:srgbClr val="D93025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914400" y="2971800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Unisolated Shared Agent Runtime &amp; Memory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32688" y="3364992"/>
            <a:ext cx="1463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3364992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Confused Deputy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Wrong OAuth Token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87168" y="3364992"/>
            <a:ext cx="1463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87168" y="3364992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Schema Bleed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Private Tools Exposed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041648" y="3364992"/>
            <a:ext cx="14630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41648" y="3364992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Quota Starvation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1 Burst Blocks All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77240" y="4617720"/>
            <a:ext cx="4892040" cy="1481328"/>
          </a:xfrm>
          <a:prstGeom prst="roundRect">
            <a:avLst>
              <a:gd name="adj" fmla="val 61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4736592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RESULT: FAIL COMPLIANCE AUDIT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60120" y="5065776"/>
            <a:ext cx="4526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• Regulated banks reject shared pools without cryptographic isolation.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• One tenant burst exhausts regional Vertex AI token quotas for everyone.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45352" y="1115568"/>
            <a:ext cx="5440680" cy="52120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9050">
            <a:solidFill>
              <a:srgbClr val="B06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45352" y="1115568"/>
            <a:ext cx="5440680" cy="402336"/>
          </a:xfrm>
          <a:prstGeom prst="rect">
            <a:avLst/>
          </a:prstGeom>
          <a:solidFill>
            <a:srgbClr val="FEF7E0"/>
          </a:solidFill>
          <a:ln w="12700">
            <a:solidFill>
              <a:srgbClr val="B06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28232" y="1115568"/>
            <a:ext cx="5074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6000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FAILURE MODE B • SILOS FOR EVERY TENANT (MARGIN COLLAPSE)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510528" y="1719072"/>
            <a:ext cx="1536192" cy="2578608"/>
          </a:xfrm>
          <a:prstGeom prst="roundRect">
            <a:avLst>
              <a:gd name="adj" fmla="val 4762"/>
            </a:avLst>
          </a:prstGeom>
          <a:solidFill>
            <a:srgbClr val="FEF7E0"/>
          </a:solidFill>
          <a:ln w="15240">
            <a:solidFill>
              <a:srgbClr val="B06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10528" y="1810512"/>
            <a:ext cx="1536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06000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Tenant 1 Stack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638544" y="2176272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38544" y="217627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Own VPC-SC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638544" y="2670048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38544" y="267004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Own KMS Key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638544" y="3163824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38544" y="316382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Own AlloyDB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638544" y="3657600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38544" y="365760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Cold AI Cache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202168" y="1719072"/>
            <a:ext cx="1536192" cy="2578608"/>
          </a:xfrm>
          <a:prstGeom prst="roundRect">
            <a:avLst>
              <a:gd name="adj" fmla="val 4762"/>
            </a:avLst>
          </a:prstGeom>
          <a:solidFill>
            <a:srgbClr val="FEF7E0"/>
          </a:solidFill>
          <a:ln w="15240">
            <a:solidFill>
              <a:srgbClr val="B06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02168" y="1810512"/>
            <a:ext cx="1536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06000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Tenant 2 Stack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330184" y="2176272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30184" y="217627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Own VPC-SC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330184" y="2670048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30184" y="267004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Own KMS Key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330184" y="3163824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30184" y="316382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Own AlloyDB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330184" y="3657600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330184" y="365760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Cold AI Cache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9893808" y="1719072"/>
            <a:ext cx="1536192" cy="2578608"/>
          </a:xfrm>
          <a:prstGeom prst="roundRect">
            <a:avLst>
              <a:gd name="adj" fmla="val 4762"/>
            </a:avLst>
          </a:prstGeom>
          <a:solidFill>
            <a:srgbClr val="FEF7E0"/>
          </a:solidFill>
          <a:ln w="15240">
            <a:solidFill>
              <a:srgbClr val="B06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893808" y="1810512"/>
            <a:ext cx="1536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06000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Tenant 500 Stack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10021824" y="2176272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021824" y="217627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Own VPC-SC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0021824" y="2670048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021824" y="267004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Own KMS Key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10021824" y="3163824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021824" y="316382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Own AlloyDB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10021824" y="3657600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021824" y="365760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Cold AI Cache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510528" y="4617720"/>
            <a:ext cx="4919472" cy="1481328"/>
          </a:xfrm>
          <a:prstGeom prst="roundRect">
            <a:avLst>
              <a:gd name="adj" fmla="val 61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93408" y="4736592"/>
            <a:ext cx="4553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6000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RESULT: 3.8x COST &amp; 6-WEEK ONBOARDING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693408" y="5065776"/>
            <a:ext cx="45537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• 500 tenants = 500 VPC-SC perimeters, 500 KMS keys &amp; 500 AlloyDB clusters.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• Zero prompt-cache sharing means every tenant pays full cold-prompt token cost.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305" y="0"/>
            <a:ext cx="3047695" cy="54864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0"/>
            <a:ext cx="3047695" cy="54864"/>
          </a:xfrm>
          <a:prstGeom prst="rect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01168"/>
            <a:ext cx="2148840" cy="237744"/>
          </a:xfrm>
          <a:prstGeom prst="roundRect">
            <a:avLst>
              <a:gd name="adj" fmla="val 19231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116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CONCEPTUAL DIAGRAM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732520" y="182880"/>
            <a:ext cx="2148840" cy="292608"/>
          </a:xfrm>
          <a:prstGeom prst="roundRect">
            <a:avLst>
              <a:gd name="adj" fmla="val 18750"/>
            </a:avLst>
          </a:prstGeom>
          <a:solidFill>
            <a:srgbClr val="E8F0FE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18288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73E8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80% Shared Core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991088" y="182880"/>
            <a:ext cx="694944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91088" y="182880"/>
            <a:ext cx="694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03 / 12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493776"/>
            <a:ext cx="111831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Decoupling One 80% Reusable AI Core from 20% Per-Tenant Security Perimeters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502920" y="950976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47104"/>
            <a:ext cx="11183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Google Cloud Architecture Center • Blog 1: Multi-Tenant Agentic AI Reference Architecture &amp; 5-Hop Governance • Verified on GCP &amp; AWS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1097280"/>
            <a:ext cx="11183112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1170432"/>
            <a:ext cx="10744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TIER 1 • FEDERATED ENTERPRISE CALLERS (ZERO-TRUST IDENTITY PROOF)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77240" y="1499616"/>
            <a:ext cx="3429000" cy="530352"/>
          </a:xfrm>
          <a:prstGeom prst="roundRect">
            <a:avLst>
              <a:gd name="adj" fmla="val 13793"/>
            </a:avLst>
          </a:prstGeom>
          <a:solidFill>
            <a:srgbClr val="FCE8E6"/>
          </a:solidFill>
          <a:ln w="15875">
            <a:solidFill>
              <a:srgbClr val="D930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1499616"/>
            <a:ext cx="3429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FinVault Bank (Google OIDC + DPoP • 600 RPM)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4370832" y="1499616"/>
            <a:ext cx="3429000" cy="530352"/>
          </a:xfrm>
          <a:prstGeom prst="roundRect">
            <a:avLst>
              <a:gd name="adj" fmla="val 13793"/>
            </a:avLst>
          </a:prstGeom>
          <a:solidFill>
            <a:srgbClr val="FEF7E0"/>
          </a:solidFill>
          <a:ln w="15875">
            <a:solidFill>
              <a:srgbClr val="B06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70832" y="1499616"/>
            <a:ext cx="3429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RetailStream Corp (Entra ID + DPoP • 120 RPM)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7964424" y="1499616"/>
            <a:ext cx="3429000" cy="530352"/>
          </a:xfrm>
          <a:prstGeom prst="roundRect">
            <a:avLst>
              <a:gd name="adj" fmla="val 13793"/>
            </a:avLst>
          </a:prstGeom>
          <a:solidFill>
            <a:srgbClr val="E6F4EA"/>
          </a:solidFill>
          <a:ln w="15875">
            <a:solidFill>
              <a:srgbClr val="1E8E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64424" y="1499616"/>
            <a:ext cx="3429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Enterprise SaaS Fleet (950+ Federated Tenants)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2487168" y="2176272"/>
            <a:ext cx="0" cy="365760"/>
          </a:xfrm>
          <a:prstGeom prst="line">
            <a:avLst/>
          </a:prstGeom>
          <a:noFill/>
          <a:ln w="27940">
            <a:solidFill>
              <a:srgbClr val="1A73E8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6080760" y="2176272"/>
            <a:ext cx="0" cy="365760"/>
          </a:xfrm>
          <a:prstGeom prst="line">
            <a:avLst/>
          </a:prstGeom>
          <a:noFill/>
          <a:ln w="27940">
            <a:solidFill>
              <a:srgbClr val="1A73E8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9674352" y="2176272"/>
            <a:ext cx="0" cy="365760"/>
          </a:xfrm>
          <a:prstGeom prst="line">
            <a:avLst/>
          </a:prstGeom>
          <a:noFill/>
          <a:ln w="27940">
            <a:solidFill>
              <a:srgbClr val="1A73E8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502920" y="2542032"/>
            <a:ext cx="11183112" cy="1965960"/>
          </a:xfrm>
          <a:prstGeom prst="roundRect">
            <a:avLst>
              <a:gd name="adj" fmla="val 5581"/>
            </a:avLst>
          </a:prstGeom>
          <a:solidFill>
            <a:srgbClr val="E8F0FE"/>
          </a:solidFill>
          <a:ln w="25400">
            <a:solidFill>
              <a:srgbClr val="1A73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263347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3E8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TIER 2 • 80% REUSABLE 5-HOP AGENTIC CORE (ONE PYTHON ADK CODEBASE • ~42ms P95)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49808" y="301752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1A73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309067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HOP 1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49808" y="331012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Edge Auth &amp; STS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9808" y="362102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&lt;0.15ms JWKS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15768" y="3493008"/>
            <a:ext cx="210312" cy="0"/>
          </a:xfrm>
          <a:prstGeom prst="line">
            <a:avLst/>
          </a:prstGeom>
          <a:noFill/>
          <a:ln w="22225">
            <a:solidFill>
              <a:srgbClr val="1A73E8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2926080" y="301752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1A73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0" y="309067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HOP 2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926080" y="331012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Agent Catalog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926080" y="362102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Tenant Tool Filter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92040" y="3493008"/>
            <a:ext cx="210312" cy="0"/>
          </a:xfrm>
          <a:prstGeom prst="line">
            <a:avLst/>
          </a:prstGeom>
          <a:noFill/>
          <a:ln w="22225">
            <a:solidFill>
              <a:srgbClr val="1A73E8"/>
            </a:solidFill>
            <a:prstDash val="solid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5102352" y="301752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1A73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02352" y="309067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HOP 3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102352" y="331012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Valkey Guard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02352" y="362102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&lt;5s Key Eviction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068312" y="3493008"/>
            <a:ext cx="210312" cy="0"/>
          </a:xfrm>
          <a:prstGeom prst="line">
            <a:avLst/>
          </a:prstGeom>
          <a:noFill/>
          <a:ln w="22225">
            <a:solidFill>
              <a:srgbClr val="1A73E8"/>
            </a:solidFill>
            <a:prstDash val="solid"/>
            <a:tailEnd type="arrow"/>
          </a:ln>
        </p:spPr>
      </p:sp>
      <p:sp>
        <p:nvSpPr>
          <p:cNvPr id="44" name="Shape 42"/>
          <p:cNvSpPr/>
          <p:nvPr/>
        </p:nvSpPr>
        <p:spPr>
          <a:xfrm>
            <a:off x="7278624" y="301752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1A73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78624" y="309067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HOP 4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278624" y="331012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Model Armor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278624" y="362102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~22ms DLP Screen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244584" y="3493008"/>
            <a:ext cx="210312" cy="0"/>
          </a:xfrm>
          <a:prstGeom prst="line">
            <a:avLst/>
          </a:prstGeom>
          <a:noFill/>
          <a:ln w="22225">
            <a:solidFill>
              <a:srgbClr val="1A73E8"/>
            </a:solidFill>
            <a:prstDash val="solid"/>
            <a:tailEnd type="arrow"/>
          </a:ln>
        </p:spPr>
      </p:sp>
      <p:sp>
        <p:nvSpPr>
          <p:cNvPr id="49" name="Shape 47"/>
          <p:cNvSpPr/>
          <p:nvPr/>
        </p:nvSpPr>
        <p:spPr>
          <a:xfrm>
            <a:off x="9454896" y="301752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1A73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454896" y="309067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HOP 5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454896" y="331012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AlloyDB &amp; OTel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454896" y="362102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Row-Level Lock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49808" y="4078224"/>
            <a:ext cx="1068933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78224"/>
            <a:ext cx="106893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8E3E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Feature-Flagged Native GCP Adapters (GAP-01..05) • Zero Application Rewrite When Early-Access Features Reach GA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286000" y="4507992"/>
            <a:ext cx="0" cy="356616"/>
          </a:xfrm>
          <a:prstGeom prst="line">
            <a:avLst/>
          </a:prstGeom>
          <a:noFill/>
          <a:ln w="27940">
            <a:solidFill>
              <a:srgbClr val="1E8E3E"/>
            </a:solidFill>
            <a:prstDash val="solid"/>
            <a:tailEnd type="arrow"/>
          </a:ln>
        </p:spPr>
      </p:sp>
      <p:sp>
        <p:nvSpPr>
          <p:cNvPr id="56" name="Shape 54"/>
          <p:cNvSpPr/>
          <p:nvPr/>
        </p:nvSpPr>
        <p:spPr>
          <a:xfrm>
            <a:off x="6080760" y="4507992"/>
            <a:ext cx="0" cy="356616"/>
          </a:xfrm>
          <a:prstGeom prst="line">
            <a:avLst/>
          </a:prstGeom>
          <a:noFill/>
          <a:ln w="27940">
            <a:solidFill>
              <a:srgbClr val="1E8E3E"/>
            </a:solidFill>
            <a:prstDash val="solid"/>
            <a:tailEnd type="arrow"/>
          </a:ln>
        </p:spPr>
      </p:sp>
      <p:sp>
        <p:nvSpPr>
          <p:cNvPr id="57" name="Shape 55"/>
          <p:cNvSpPr/>
          <p:nvPr/>
        </p:nvSpPr>
        <p:spPr>
          <a:xfrm>
            <a:off x="9875520" y="4507992"/>
            <a:ext cx="0" cy="356616"/>
          </a:xfrm>
          <a:prstGeom prst="line">
            <a:avLst/>
          </a:prstGeom>
          <a:noFill/>
          <a:ln w="27940">
            <a:solidFill>
              <a:srgbClr val="1E8E3E"/>
            </a:solidFill>
            <a:prstDash val="solid"/>
            <a:tailEnd type="arrow"/>
          </a:ln>
        </p:spPr>
      </p:sp>
      <p:sp>
        <p:nvSpPr>
          <p:cNvPr id="58" name="Shape 56"/>
          <p:cNvSpPr/>
          <p:nvPr/>
        </p:nvSpPr>
        <p:spPr>
          <a:xfrm>
            <a:off x="502920" y="4864608"/>
            <a:ext cx="35935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9050">
            <a:solidFill>
              <a:srgbClr val="B06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02920" y="4864608"/>
            <a:ext cx="3593592" cy="329184"/>
          </a:xfrm>
          <a:prstGeom prst="rect">
            <a:avLst/>
          </a:prstGeom>
          <a:solidFill>
            <a:srgbClr val="FEF7E0"/>
          </a:solidFill>
          <a:ln w="12700">
            <a:solidFill>
              <a:srgbClr val="B06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2648" y="4864608"/>
            <a:ext cx="3374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B06000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PATTERN A • SHARED POOL (950 TENANTS)</a:t>
            </a:r>
            <a:endParaRPr lang="en-US" sz="880" dirty="0"/>
          </a:p>
        </p:txBody>
      </p:sp>
      <p:sp>
        <p:nvSpPr>
          <p:cNvPr id="61" name="Text 59"/>
          <p:cNvSpPr/>
          <p:nvPr/>
        </p:nvSpPr>
        <p:spPr>
          <a:xfrm>
            <a:off x="649224" y="526694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84.7% Token Cost Savings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49224" y="5614416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Shared Cloud Run + AlloyDB Row-Level Security + 32k shared prompt cache.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297680" y="4864608"/>
            <a:ext cx="35935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9050">
            <a:solidFill>
              <a:srgbClr val="D9302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97680" y="4864608"/>
            <a:ext cx="3593592" cy="329184"/>
          </a:xfrm>
          <a:prstGeom prst="rect">
            <a:avLst/>
          </a:prstGeom>
          <a:solidFill>
            <a:srgbClr val="FCE8E6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407408" y="4864608"/>
            <a:ext cx="3374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D9302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PATTERN B • SOVEREIGN SILOS (50 TENANTS)</a:t>
            </a:r>
            <a:endParaRPr lang="en-US" sz="880" dirty="0"/>
          </a:p>
        </p:txBody>
      </p:sp>
      <p:sp>
        <p:nvSpPr>
          <p:cNvPr id="66" name="Text 64"/>
          <p:cNvSpPr/>
          <p:nvPr/>
        </p:nvSpPr>
        <p:spPr>
          <a:xfrm>
            <a:off x="4443984" y="526694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&lt;60s Customer Key Kill-Switch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443984" y="5614416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Dedicated VPC-SC perimeter, Customer-Managed KMS keys &amp; Vertex PT / GKE.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8092440" y="4864608"/>
            <a:ext cx="35935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9050">
            <a:solidFill>
              <a:srgbClr val="1E8E3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092440" y="4864608"/>
            <a:ext cx="3593592" cy="329184"/>
          </a:xfrm>
          <a:prstGeom prst="rect">
            <a:avLst/>
          </a:prstGeom>
          <a:solidFill>
            <a:srgbClr val="E6F4EA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202168" y="4864608"/>
            <a:ext cx="3374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8E3E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PATTERN C • HYBRID PSC BRIDGE (MIXED)</a:t>
            </a:r>
            <a:endParaRPr lang="en-US" sz="880" dirty="0"/>
          </a:p>
        </p:txBody>
      </p:sp>
      <p:sp>
        <p:nvSpPr>
          <p:cNvPr id="71" name="Text 69"/>
          <p:cNvSpPr/>
          <p:nvPr/>
        </p:nvSpPr>
        <p:spPr>
          <a:xfrm>
            <a:off x="8238744" y="526694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0ms Live Tier Upgrade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8238744" y="5614416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Central shared hub + Private Service Connect spoke for instant enterprise promotion.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305" y="0"/>
            <a:ext cx="3047695" cy="54864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0"/>
            <a:ext cx="3047695" cy="54864"/>
          </a:xfrm>
          <a:prstGeom prst="rect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01168"/>
            <a:ext cx="2148840" cy="237744"/>
          </a:xfrm>
          <a:prstGeom prst="roundRect">
            <a:avLst>
              <a:gd name="adj" fmla="val 19231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116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8E3E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PROCESS DIAGRAM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732520" y="182880"/>
            <a:ext cx="2148840" cy="292608"/>
          </a:xfrm>
          <a:prstGeom prst="roundRect">
            <a:avLst>
              <a:gd name="adj" fmla="val 18750"/>
            </a:avLst>
          </a:prstGeom>
          <a:solidFill>
            <a:srgbClr val="E6F4EA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18288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8E3E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~42ms Total p95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991088" y="182880"/>
            <a:ext cx="694944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91088" y="182880"/>
            <a:ext cx="694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04 / 12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493776"/>
            <a:ext cx="111831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Every Request Traverses 5 Synchronous Security Gates in ~42ms (or Fails Closed)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502920" y="950976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47104"/>
            <a:ext cx="11183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Google Cloud Architecture Center • Blog 1: Multi-Tenant Agentic AI Reference Architecture &amp; 5-Hop Governance • Verified on GCP &amp; AWS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1207008"/>
            <a:ext cx="1719072" cy="269748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9050">
            <a:solidFill>
              <a:srgbClr val="1A73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1207008"/>
            <a:ext cx="1719072" cy="329184"/>
          </a:xfrm>
          <a:prstGeom prst="rect">
            <a:avLst/>
          </a:prstGeom>
          <a:solidFill>
            <a:srgbClr val="E8F0FE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1207008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A73E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HOP 1 • ~8ms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594360" y="1627632"/>
            <a:ext cx="1536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Edge Identity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&amp; Token Mint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2304288"/>
            <a:ext cx="153619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Strip spoofed headers;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verify OIDC + DPoP;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sign KMS P-256 JWT.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2221992" y="2542032"/>
            <a:ext cx="164592" cy="0"/>
          </a:xfrm>
          <a:prstGeom prst="line">
            <a:avLst/>
          </a:prstGeom>
          <a:noFill/>
          <a:ln w="25400">
            <a:solidFill>
              <a:srgbClr val="1A73E8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2386584" y="1207008"/>
            <a:ext cx="1719072" cy="269748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9050">
            <a:solidFill>
              <a:srgbClr val="1A73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86584" y="1207008"/>
            <a:ext cx="1719072" cy="329184"/>
          </a:xfrm>
          <a:prstGeom prst="rect">
            <a:avLst/>
          </a:prstGeom>
          <a:solidFill>
            <a:srgbClr val="E8F0FE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86584" y="1207008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A73E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HOP 2 • ~4ms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2478024" y="1627632"/>
            <a:ext cx="1536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Agent Catalog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&amp; OAuth Scope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78024" y="2304288"/>
            <a:ext cx="153619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Filter private tools;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bind {tenant}:{user}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3LO token vault.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4105656" y="2542032"/>
            <a:ext cx="164592" cy="0"/>
          </a:xfrm>
          <a:prstGeom prst="line">
            <a:avLst/>
          </a:prstGeom>
          <a:noFill/>
          <a:ln w="25400">
            <a:solidFill>
              <a:srgbClr val="1A73E8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4270248" y="1207008"/>
            <a:ext cx="1719072" cy="269748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9050">
            <a:solidFill>
              <a:srgbClr val="1E8E3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70248" y="1207008"/>
            <a:ext cx="1719072" cy="329184"/>
          </a:xfrm>
          <a:prstGeom prst="rect">
            <a:avLst/>
          </a:prstGeom>
          <a:solidFill>
            <a:srgbClr val="E6F4EA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70248" y="1207008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E8E3E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HOP 3 • ~3ms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4361688" y="1627632"/>
            <a:ext cx="1536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Valkey Memory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&amp; Quota Guard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61688" y="2304288"/>
            <a:ext cx="153619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Check key deny-list &amp;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120/600 RPM bucket;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&lt;5s cache purge.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5989320" y="2542032"/>
            <a:ext cx="164592" cy="0"/>
          </a:xfrm>
          <a:prstGeom prst="line">
            <a:avLst/>
          </a:prstGeom>
          <a:noFill/>
          <a:ln w="25400">
            <a:solidFill>
              <a:srgbClr val="1E8E3E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6153912" y="1207008"/>
            <a:ext cx="1719072" cy="269748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9050">
            <a:solidFill>
              <a:srgbClr val="B06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53912" y="1207008"/>
            <a:ext cx="1719072" cy="329184"/>
          </a:xfrm>
          <a:prstGeom prst="rect">
            <a:avLst/>
          </a:prstGeom>
          <a:solidFill>
            <a:srgbClr val="FEF7E0"/>
          </a:solidFill>
          <a:ln w="12700">
            <a:solidFill>
              <a:srgbClr val="B06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53912" y="1207008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B06000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HOP 4 • ~22ms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6245352" y="1627632"/>
            <a:ext cx="1536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Model Armor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DLP &amp; Policy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45352" y="2304288"/>
            <a:ext cx="153619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Block prompt injection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&amp; redact PII/PHI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before LLM call.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7872984" y="2542032"/>
            <a:ext cx="164592" cy="0"/>
          </a:xfrm>
          <a:prstGeom prst="line">
            <a:avLst/>
          </a:prstGeom>
          <a:noFill/>
          <a:ln w="25400">
            <a:solidFill>
              <a:srgbClr val="B06000"/>
            </a:solidFill>
            <a:prstDash val="solid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8037576" y="1207008"/>
            <a:ext cx="1719072" cy="269748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9050">
            <a:solidFill>
              <a:srgbClr val="D9302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37576" y="1207008"/>
            <a:ext cx="1719072" cy="329184"/>
          </a:xfrm>
          <a:prstGeom prst="rect">
            <a:avLst/>
          </a:prstGeom>
          <a:solidFill>
            <a:srgbClr val="FCE8E6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37576" y="1207008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9302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HOP 5 • ~5ms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8129016" y="1627632"/>
            <a:ext cx="1536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AlloyDB Lock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&amp; AI Inference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129016" y="2304288"/>
            <a:ext cx="153619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SET LOCAL tenant_id;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invoke Gemini 2.5 Pro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or Gemma 3 27B.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9756648" y="2542032"/>
            <a:ext cx="164592" cy="0"/>
          </a:xfrm>
          <a:prstGeom prst="line">
            <a:avLst/>
          </a:prstGeom>
          <a:noFill/>
          <a:ln w="25400">
            <a:solidFill>
              <a:srgbClr val="D93025"/>
            </a:solidFill>
            <a:prstDash val="solid"/>
            <a:tailEnd type="arrow"/>
          </a:ln>
        </p:spPr>
      </p:sp>
      <p:sp>
        <p:nvSpPr>
          <p:cNvPr id="46" name="Shape 44"/>
          <p:cNvSpPr/>
          <p:nvPr/>
        </p:nvSpPr>
        <p:spPr>
          <a:xfrm>
            <a:off x="9921240" y="1207008"/>
            <a:ext cx="1719072" cy="269748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9050">
            <a:solidFill>
              <a:srgbClr val="1E8E3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921240" y="1207008"/>
            <a:ext cx="1719072" cy="329184"/>
          </a:xfrm>
          <a:prstGeom prst="rect">
            <a:avLst/>
          </a:prstGeom>
          <a:solidFill>
            <a:srgbClr val="E6F4EA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921240" y="1207008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E8E3E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ASYNC • 0ms</a:t>
            </a:r>
            <a:endParaRPr lang="en-US" sz="880" dirty="0"/>
          </a:p>
        </p:txBody>
      </p:sp>
      <p:sp>
        <p:nvSpPr>
          <p:cNvPr id="49" name="Text 47"/>
          <p:cNvSpPr/>
          <p:nvPr/>
        </p:nvSpPr>
        <p:spPr>
          <a:xfrm>
            <a:off x="10012680" y="1627632"/>
            <a:ext cx="1536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OTel FinOps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Chargeback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012680" y="2304288"/>
            <a:ext cx="153619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Stream SHA-256 hash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&amp; token counters to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BigQuery ledger.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1362456" y="3904488"/>
            <a:ext cx="0" cy="502920"/>
          </a:xfrm>
          <a:prstGeom prst="line">
            <a:avLst/>
          </a:prstGeom>
          <a:noFill/>
          <a:ln w="22225">
            <a:solidFill>
              <a:srgbClr val="D93025"/>
            </a:solidFill>
            <a:prstDash val="solid"/>
            <a:tailEnd type="arrow"/>
          </a:ln>
        </p:spPr>
      </p:sp>
      <p:sp>
        <p:nvSpPr>
          <p:cNvPr id="52" name="Shape 50"/>
          <p:cNvSpPr/>
          <p:nvPr/>
        </p:nvSpPr>
        <p:spPr>
          <a:xfrm>
            <a:off x="5129784" y="3904488"/>
            <a:ext cx="0" cy="502920"/>
          </a:xfrm>
          <a:prstGeom prst="line">
            <a:avLst/>
          </a:prstGeom>
          <a:noFill/>
          <a:ln w="22225">
            <a:solidFill>
              <a:srgbClr val="D93025"/>
            </a:solidFill>
            <a:prstDash val="solid"/>
            <a:tailEnd type="arrow"/>
          </a:ln>
        </p:spPr>
      </p:sp>
      <p:sp>
        <p:nvSpPr>
          <p:cNvPr id="53" name="Shape 51"/>
          <p:cNvSpPr/>
          <p:nvPr/>
        </p:nvSpPr>
        <p:spPr>
          <a:xfrm>
            <a:off x="7013448" y="3904488"/>
            <a:ext cx="0" cy="502920"/>
          </a:xfrm>
          <a:prstGeom prst="line">
            <a:avLst/>
          </a:prstGeom>
          <a:noFill/>
          <a:ln w="22225">
            <a:solidFill>
              <a:srgbClr val="D93025"/>
            </a:solidFill>
            <a:prstDash val="solid"/>
            <a:tailEnd type="arrow"/>
          </a:ln>
        </p:spPr>
      </p:sp>
      <p:sp>
        <p:nvSpPr>
          <p:cNvPr id="54" name="Shape 52"/>
          <p:cNvSpPr/>
          <p:nvPr/>
        </p:nvSpPr>
        <p:spPr>
          <a:xfrm>
            <a:off x="8897112" y="3904488"/>
            <a:ext cx="0" cy="502920"/>
          </a:xfrm>
          <a:prstGeom prst="line">
            <a:avLst/>
          </a:prstGeom>
          <a:noFill/>
          <a:ln w="22225">
            <a:solidFill>
              <a:srgbClr val="D93025"/>
            </a:solidFill>
            <a:prstDash val="solid"/>
            <a:tailEnd type="arrow"/>
          </a:ln>
        </p:spPr>
      </p:sp>
      <p:sp>
        <p:nvSpPr>
          <p:cNvPr id="55" name="Shape 53"/>
          <p:cNvSpPr/>
          <p:nvPr/>
        </p:nvSpPr>
        <p:spPr>
          <a:xfrm>
            <a:off x="502920" y="4407408"/>
            <a:ext cx="11183112" cy="1920240"/>
          </a:xfrm>
          <a:prstGeom prst="roundRect">
            <a:avLst>
              <a:gd name="adj" fmla="val 5714"/>
            </a:avLst>
          </a:prstGeom>
          <a:solidFill>
            <a:srgbClr val="FCE8E6"/>
          </a:solidFill>
          <a:ln w="19050">
            <a:solidFill>
              <a:srgbClr val="D9302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1520" y="4517136"/>
            <a:ext cx="10725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3025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DETERMINISTIC FAIL-CLOSED CIRCUIT BREAKERS (ZERO CROSS-TENANT FALLBACK)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31520" y="4901184"/>
            <a:ext cx="25603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3970">
            <a:solidFill>
              <a:srgbClr val="D9302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59536" y="4974336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3025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HTTP 401 / 403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859536" y="5266944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Hop 1 &amp; 2 • Identity / Scope</a:t>
            </a:r>
            <a:endParaRPr lang="en-US" sz="880" dirty="0"/>
          </a:p>
        </p:txBody>
      </p:sp>
      <p:sp>
        <p:nvSpPr>
          <p:cNvPr id="60" name="Text 58"/>
          <p:cNvSpPr/>
          <p:nvPr/>
        </p:nvSpPr>
        <p:spPr>
          <a:xfrm>
            <a:off x="859536" y="5504688"/>
            <a:ext cx="23042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Spoofed X-Tenant-Id header, DPoP mismatch, or unauthorized private agent tool call.</a:t>
            </a:r>
            <a:endParaRPr lang="en-US" sz="880" dirty="0"/>
          </a:p>
        </p:txBody>
      </p:sp>
      <p:sp>
        <p:nvSpPr>
          <p:cNvPr id="61" name="Shape 59"/>
          <p:cNvSpPr/>
          <p:nvPr/>
        </p:nvSpPr>
        <p:spPr>
          <a:xfrm>
            <a:off x="3456432" y="4901184"/>
            <a:ext cx="25603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3970">
            <a:solidFill>
              <a:srgbClr val="D9302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584448" y="4974336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3025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HTTP 429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3584448" y="5266944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Hop 3 • Quota Protection</a:t>
            </a:r>
            <a:endParaRPr lang="en-US" sz="880" dirty="0"/>
          </a:p>
        </p:txBody>
      </p:sp>
      <p:sp>
        <p:nvSpPr>
          <p:cNvPr id="64" name="Text 62"/>
          <p:cNvSpPr/>
          <p:nvPr/>
        </p:nvSpPr>
        <p:spPr>
          <a:xfrm>
            <a:off x="3584448" y="5504688"/>
            <a:ext cx="23042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Tenant exceeds 120 RPM (Commercial) or 600 RPM (Enterprise) token bucket.</a:t>
            </a:r>
            <a:endParaRPr lang="en-US" sz="880" dirty="0"/>
          </a:p>
        </p:txBody>
      </p:sp>
      <p:sp>
        <p:nvSpPr>
          <p:cNvPr id="65" name="Shape 63"/>
          <p:cNvSpPr/>
          <p:nvPr/>
        </p:nvSpPr>
        <p:spPr>
          <a:xfrm>
            <a:off x="6181344" y="4901184"/>
            <a:ext cx="25603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3970">
            <a:solidFill>
              <a:srgbClr val="D9302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09360" y="4974336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3025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HTTP 422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309360" y="5266944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Hop 4 • Prompt &amp; Data Safety</a:t>
            </a:r>
            <a:endParaRPr lang="en-US" sz="880" dirty="0"/>
          </a:p>
        </p:txBody>
      </p:sp>
      <p:sp>
        <p:nvSpPr>
          <p:cNvPr id="68" name="Text 66"/>
          <p:cNvSpPr/>
          <p:nvPr/>
        </p:nvSpPr>
        <p:spPr>
          <a:xfrm>
            <a:off x="6309360" y="5504688"/>
            <a:ext cx="23042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Model Armor detects prompt injection, PII/PHI leakage, or regulatory policy breach.</a:t>
            </a:r>
            <a:endParaRPr lang="en-US" sz="880" dirty="0"/>
          </a:p>
        </p:txBody>
      </p:sp>
      <p:sp>
        <p:nvSpPr>
          <p:cNvPr id="69" name="Shape 67"/>
          <p:cNvSpPr/>
          <p:nvPr/>
        </p:nvSpPr>
        <p:spPr>
          <a:xfrm>
            <a:off x="8906256" y="4901184"/>
            <a:ext cx="25603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3970">
            <a:solidFill>
              <a:srgbClr val="D9302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034272" y="4974336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3025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HTTP 423 Locked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9034272" y="5266944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Hop 3 &amp; 5 • Key Kill-Switch</a:t>
            </a:r>
            <a:endParaRPr lang="en-US" sz="880" dirty="0"/>
          </a:p>
        </p:txBody>
      </p:sp>
      <p:sp>
        <p:nvSpPr>
          <p:cNvPr id="72" name="Text 70"/>
          <p:cNvSpPr/>
          <p:nvPr/>
        </p:nvSpPr>
        <p:spPr>
          <a:xfrm>
            <a:off x="9034272" y="5504688"/>
            <a:ext cx="23042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Customer disables KMS encryption key -&gt; &lt;5s Valkey cache purge &amp; instant lock.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305" y="0"/>
            <a:ext cx="3047695" cy="54864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0"/>
            <a:ext cx="3047695" cy="54864"/>
          </a:xfrm>
          <a:prstGeom prst="rect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01168"/>
            <a:ext cx="2148840" cy="237744"/>
          </a:xfrm>
          <a:prstGeom prst="roundRect">
            <a:avLst>
              <a:gd name="adj" fmla="val 19231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116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LOGICAL ARCHITECTURE (L1)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732520" y="182880"/>
            <a:ext cx="2148840" cy="292608"/>
          </a:xfrm>
          <a:prstGeom prst="roundRect">
            <a:avLst>
              <a:gd name="adj" fmla="val 18750"/>
            </a:avLst>
          </a:prstGeom>
          <a:solidFill>
            <a:srgbClr val="E8F0FE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18288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73E8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&lt;0.15ms Token Verify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991088" y="182880"/>
            <a:ext cx="694944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91088" y="182880"/>
            <a:ext cx="694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05 / 12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493776"/>
            <a:ext cx="111831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Three Logical Trust Boundaries Isolate Untrusted Callers from Tenant Data Planes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502920" y="950976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47104"/>
            <a:ext cx="11183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Google Cloud Architecture Center • Blog 1: Multi-Tenant Agentic AI Reference Architecture &amp; 5-Hop Governance • Verified on GCP &amp; AWS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1133856"/>
            <a:ext cx="3337560" cy="5193792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22225">
            <a:solidFill>
              <a:srgbClr val="1A73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1133856"/>
            <a:ext cx="3337560" cy="530352"/>
          </a:xfrm>
          <a:prstGeom prst="rect">
            <a:avLst/>
          </a:prstGeom>
          <a:solidFill>
            <a:srgbClr val="E8F0FE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1170432"/>
            <a:ext cx="3044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3E8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ZONE 1 • UNTRUSTED EDGE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9224" y="1408176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External Callers -&gt; Verified Identity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685800" y="1847088"/>
            <a:ext cx="2971800" cy="859536"/>
          </a:xfrm>
          <a:prstGeom prst="roundRect">
            <a:avLst>
              <a:gd name="adj" fmla="val 85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1956816"/>
            <a:ext cx="2715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Cloud Armor L7 WAF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13816" y="2267712"/>
            <a:ext cx="2715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Strips spoofed X-Tenant-Id headers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85800" y="2926080"/>
            <a:ext cx="2971800" cy="859536"/>
          </a:xfrm>
          <a:prstGeom prst="roundRect">
            <a:avLst>
              <a:gd name="adj" fmla="val 85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" y="3035808"/>
            <a:ext cx="2715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IAP OIDC + Entra ID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816" y="3346704"/>
            <a:ext cx="2715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Federated enterprise SSO login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85800" y="4005072"/>
            <a:ext cx="2971800" cy="859536"/>
          </a:xfrm>
          <a:prstGeom prst="roundRect">
            <a:avLst>
              <a:gd name="adj" fmla="val 85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" y="4114800"/>
            <a:ext cx="2715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RFC 8693 + DPoP Proof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13816" y="4425696"/>
            <a:ext cx="2715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Cryptographic sender-constrained token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685800" y="5084064"/>
            <a:ext cx="2971800" cy="859536"/>
          </a:xfrm>
          <a:prstGeom prst="roundRect">
            <a:avLst>
              <a:gd name="adj" fmla="val 85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3816" y="5193792"/>
            <a:ext cx="2715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KMS ECDSA P-256 Signer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13816" y="5504688"/>
            <a:ext cx="2715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Mints 5-min TenantContext JWT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4133088" y="1234440"/>
            <a:ext cx="0" cy="4983480"/>
          </a:xfrm>
          <a:prstGeom prst="line">
            <a:avLst/>
          </a:prstGeom>
          <a:noFill/>
          <a:ln w="15875">
            <a:solidFill>
              <a:srgbClr val="D93025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3840480" y="3703320"/>
            <a:ext cx="585216" cy="0"/>
          </a:xfrm>
          <a:prstGeom prst="line">
            <a:avLst/>
          </a:prstGeom>
          <a:noFill/>
          <a:ln w="31750">
            <a:solidFill>
              <a:srgbClr val="1A73E8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4425696" y="1133856"/>
            <a:ext cx="3337560" cy="5193792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22225">
            <a:solidFill>
              <a:srgbClr val="1E8E3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25696" y="1133856"/>
            <a:ext cx="3337560" cy="530352"/>
          </a:xfrm>
          <a:prstGeom prst="rect">
            <a:avLst/>
          </a:prstGeom>
          <a:solidFill>
            <a:srgbClr val="E6F4EA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1170432"/>
            <a:ext cx="3044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8E3E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ZONE 2 • 5-HOP CONTROL PLANE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0" y="1408176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Shared 80% ADK Governance Core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4608576" y="1847088"/>
            <a:ext cx="2971800" cy="859536"/>
          </a:xfrm>
          <a:prstGeom prst="roundRect">
            <a:avLst>
              <a:gd name="adj" fmla="val 85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36592" y="1956816"/>
            <a:ext cx="2715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Hop 2: ARD Catalog Filter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736592" y="2267712"/>
            <a:ext cx="2715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Chrooted agent/{tenant}/* visibility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4608576" y="2926080"/>
            <a:ext cx="2971800" cy="859536"/>
          </a:xfrm>
          <a:prstGeom prst="roundRect">
            <a:avLst>
              <a:gd name="adj" fmla="val 85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36592" y="3035808"/>
            <a:ext cx="2715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Hop 3: Valkey Memory Guard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736592" y="3346704"/>
            <a:ext cx="2715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~3ms JTI check &amp; RPM rate buckets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4608576" y="4005072"/>
            <a:ext cx="2971800" cy="859536"/>
          </a:xfrm>
          <a:prstGeom prst="roundRect">
            <a:avLst>
              <a:gd name="adj" fmla="val 85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36592" y="4114800"/>
            <a:ext cx="2715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Hop 4: Model Armor DLP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736592" y="4425696"/>
            <a:ext cx="2715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~22ms inline PII/PHI &amp; NLC guardrails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4608576" y="5084064"/>
            <a:ext cx="2971800" cy="859536"/>
          </a:xfrm>
          <a:prstGeom prst="roundRect">
            <a:avLst>
              <a:gd name="adj" fmla="val 85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36592" y="5193792"/>
            <a:ext cx="2715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32k Shared Prompt Cache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736592" y="5504688"/>
            <a:ext cx="2715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84.7% token savings across tenants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8055864" y="1234440"/>
            <a:ext cx="0" cy="4983480"/>
          </a:xfrm>
          <a:prstGeom prst="line">
            <a:avLst/>
          </a:prstGeom>
          <a:noFill/>
          <a:ln w="15875">
            <a:solidFill>
              <a:srgbClr val="D93025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7763256" y="3703320"/>
            <a:ext cx="585216" cy="0"/>
          </a:xfrm>
          <a:prstGeom prst="line">
            <a:avLst/>
          </a:prstGeom>
          <a:noFill/>
          <a:ln w="31750">
            <a:solidFill>
              <a:srgbClr val="1E8E3E"/>
            </a:solidFill>
            <a:prstDash val="solid"/>
            <a:tailEnd type="arrow"/>
          </a:ln>
        </p:spPr>
      </p:sp>
      <p:sp>
        <p:nvSpPr>
          <p:cNvPr id="52" name="Shape 50"/>
          <p:cNvSpPr/>
          <p:nvPr/>
        </p:nvSpPr>
        <p:spPr>
          <a:xfrm>
            <a:off x="8348472" y="1133856"/>
            <a:ext cx="3337560" cy="5193792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22225">
            <a:solidFill>
              <a:srgbClr val="D9302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348472" y="1133856"/>
            <a:ext cx="3337560" cy="530352"/>
          </a:xfrm>
          <a:prstGeom prst="rect">
            <a:avLst/>
          </a:prstGeom>
          <a:solidFill>
            <a:srgbClr val="FCE8E6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94776" y="1170432"/>
            <a:ext cx="3044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3025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ZONE 3 • ISOLATED DATA PLANES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8494776" y="1408176"/>
            <a:ext cx="3044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Maps to 4 Physical VPC-SC Perimeters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8531352" y="1847088"/>
            <a:ext cx="2971800" cy="859536"/>
          </a:xfrm>
          <a:prstGeom prst="roundRect">
            <a:avLst>
              <a:gd name="adj" fmla="val 85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59368" y="1956816"/>
            <a:ext cx="2715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Pattern A: AlloyDB RLS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8659368" y="2267712"/>
            <a:ext cx="2715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FORCE ROW LEVEL SECURITY (0 leaks)</a:t>
            </a:r>
            <a:endParaRPr lang="en-US" sz="920" dirty="0"/>
          </a:p>
        </p:txBody>
      </p:sp>
      <p:sp>
        <p:nvSpPr>
          <p:cNvPr id="59" name="Shape 57"/>
          <p:cNvSpPr/>
          <p:nvPr/>
        </p:nvSpPr>
        <p:spPr>
          <a:xfrm>
            <a:off x="8531352" y="2926080"/>
            <a:ext cx="2971800" cy="859536"/>
          </a:xfrm>
          <a:prstGeom prst="roundRect">
            <a:avLst>
              <a:gd name="adj" fmla="val 85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59368" y="3035808"/>
            <a:ext cx="2715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Pattern B: Sovereign Silo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659368" y="3346704"/>
            <a:ext cx="2715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Dedicated VPC-SC, KMS &amp; Vertex PT</a:t>
            </a:r>
            <a:endParaRPr lang="en-US" sz="920" dirty="0"/>
          </a:p>
        </p:txBody>
      </p:sp>
      <p:sp>
        <p:nvSpPr>
          <p:cNvPr id="62" name="Shape 60"/>
          <p:cNvSpPr/>
          <p:nvPr/>
        </p:nvSpPr>
        <p:spPr>
          <a:xfrm>
            <a:off x="8531352" y="4005072"/>
            <a:ext cx="2971800" cy="859536"/>
          </a:xfrm>
          <a:prstGeom prst="roundRect">
            <a:avLst>
              <a:gd name="adj" fmla="val 85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659368" y="4114800"/>
            <a:ext cx="2715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Pattern C: Hybrid PSC Spoke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8659368" y="4425696"/>
            <a:ext cx="2715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Unidirectional /28 NAT spoke</a:t>
            </a:r>
            <a:endParaRPr lang="en-US" sz="920" dirty="0"/>
          </a:p>
        </p:txBody>
      </p:sp>
      <p:sp>
        <p:nvSpPr>
          <p:cNvPr id="65" name="Shape 63"/>
          <p:cNvSpPr/>
          <p:nvPr/>
        </p:nvSpPr>
        <p:spPr>
          <a:xfrm>
            <a:off x="8531352" y="5084064"/>
            <a:ext cx="2971800" cy="859536"/>
          </a:xfrm>
          <a:prstGeom prst="roundRect">
            <a:avLst>
              <a:gd name="adj" fmla="val 85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659368" y="5193792"/>
            <a:ext cx="2715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BigQuery OTel Ledger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8659368" y="5504688"/>
            <a:ext cx="2715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Zero-PII SHA-256 FinOps chargeback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305" y="0"/>
            <a:ext cx="3047695" cy="54864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0"/>
            <a:ext cx="3047695" cy="54864"/>
          </a:xfrm>
          <a:prstGeom prst="rect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01168"/>
            <a:ext cx="2148840" cy="237744"/>
          </a:xfrm>
          <a:prstGeom prst="roundRect">
            <a:avLst>
              <a:gd name="adj" fmla="val 19231"/>
            </a:avLst>
          </a:prstGeom>
          <a:solidFill>
            <a:srgbClr val="FEF7E0"/>
          </a:solidFill>
          <a:ln w="12700">
            <a:solidFill>
              <a:srgbClr val="FEF7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116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06000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DECISION FLOWCHART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732520" y="182880"/>
            <a:ext cx="2148840" cy="292608"/>
          </a:xfrm>
          <a:prstGeom prst="roundRect">
            <a:avLst>
              <a:gd name="adj" fmla="val 18750"/>
            </a:avLst>
          </a:prstGeom>
          <a:solidFill>
            <a:srgbClr val="FEF7E0"/>
          </a:solidFill>
          <a:ln w="12700">
            <a:solidFill>
              <a:srgbClr val="B06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18288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06000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950 Pool / 50 Silos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991088" y="182880"/>
            <a:ext cx="694944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91088" y="182880"/>
            <a:ext cx="694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06 / 12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493776"/>
            <a:ext cx="111831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Per-Tenant Configuration (Not Code Forks) Routes Each Customer to Pattern A, B, or C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502920" y="950976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47104"/>
            <a:ext cx="11183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Google Cloud Architecture Center • Blog 1: Multi-Tenant Agentic AI Reference Architecture &amp; 5-Hop Governance • Verified on GCP &amp; AWS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1115568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E8F0FE"/>
          </a:solidFill>
          <a:ln w="19050">
            <a:solidFill>
              <a:srgbClr val="1A73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115568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73E8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START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73E8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New Enterprise Tenant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73E8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Onboarding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651760" y="1645920"/>
            <a:ext cx="502920" cy="0"/>
          </a:xfrm>
          <a:prstGeom prst="line">
            <a:avLst/>
          </a:prstGeom>
          <a:noFill/>
          <a:ln w="27940">
            <a:solidFill>
              <a:srgbClr val="1A73E8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3154680" y="1115568"/>
            <a:ext cx="2834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1115568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GATE 1: COMPLIANCE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Requires Dedicated VPC-SC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Customer-Held KMS Key?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89320" y="1645920"/>
            <a:ext cx="731520" cy="0"/>
          </a:xfrm>
          <a:prstGeom prst="line">
            <a:avLst/>
          </a:prstGeom>
          <a:noFill/>
          <a:ln w="27940">
            <a:solidFill>
              <a:srgbClr val="B06000"/>
            </a:solidFill>
            <a:prstDash val="solid"/>
            <a:tailEnd type="arrow"/>
          </a:ln>
        </p:spPr>
      </p:sp>
      <p:sp>
        <p:nvSpPr>
          <p:cNvPr id="22" name="Text 20"/>
          <p:cNvSpPr/>
          <p:nvPr/>
        </p:nvSpPr>
        <p:spPr>
          <a:xfrm>
            <a:off x="5989320" y="135331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06000"/>
                </a:solidFill>
              </a:rPr>
              <a:t>NO (95% SaaS)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20840" y="1115568"/>
            <a:ext cx="2834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1115568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GATE 2: GROWTH PATH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Needs Live Zero-Downtime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Upgrade to Enterprise Tier?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2167128"/>
            <a:ext cx="0" cy="530352"/>
          </a:xfrm>
          <a:prstGeom prst="line">
            <a:avLst/>
          </a:prstGeom>
          <a:noFill/>
          <a:ln w="27940">
            <a:solidFill>
              <a:srgbClr val="D93025"/>
            </a:solidFill>
            <a:prstDash val="solid"/>
            <a:tailEnd type="arrow"/>
          </a:ln>
        </p:spPr>
      </p:sp>
      <p:sp>
        <p:nvSpPr>
          <p:cNvPr id="26" name="Text 24"/>
          <p:cNvSpPr/>
          <p:nvPr/>
        </p:nvSpPr>
        <p:spPr>
          <a:xfrm>
            <a:off x="4645152" y="22860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3025"/>
                </a:solidFill>
              </a:rPr>
              <a:t>YES (5% Regulated)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498080" y="2167128"/>
            <a:ext cx="0" cy="530352"/>
          </a:xfrm>
          <a:prstGeom prst="line">
            <a:avLst/>
          </a:prstGeom>
          <a:noFill/>
          <a:ln w="27940">
            <a:solidFill>
              <a:srgbClr val="B06000"/>
            </a:solidFill>
            <a:prstDash val="solid"/>
            <a:tailEnd type="arrow"/>
          </a:ln>
        </p:spPr>
      </p:sp>
      <p:sp>
        <p:nvSpPr>
          <p:cNvPr id="28" name="Text 26"/>
          <p:cNvSpPr/>
          <p:nvPr/>
        </p:nvSpPr>
        <p:spPr>
          <a:xfrm>
            <a:off x="6629400" y="22860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06000"/>
                </a:solidFill>
              </a:rPr>
              <a:t>NO (Standard)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555480" y="1645920"/>
            <a:ext cx="685800" cy="0"/>
          </a:xfrm>
          <a:prstGeom prst="line">
            <a:avLst/>
          </a:prstGeom>
          <a:noFill/>
          <a:ln w="27940">
            <a:solidFill>
              <a:srgbClr val="1E8E3E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10241280" y="1645920"/>
            <a:ext cx="0" cy="1051560"/>
          </a:xfrm>
          <a:prstGeom prst="line">
            <a:avLst/>
          </a:prstGeom>
          <a:noFill/>
          <a:ln w="27940">
            <a:solidFill>
              <a:srgbClr val="1E8E3E"/>
            </a:solidFill>
            <a:prstDash val="solid"/>
            <a:tailEnd type="arrow"/>
          </a:ln>
        </p:spPr>
      </p:sp>
      <p:sp>
        <p:nvSpPr>
          <p:cNvPr id="31" name="Text 29"/>
          <p:cNvSpPr/>
          <p:nvPr/>
        </p:nvSpPr>
        <p:spPr>
          <a:xfrm>
            <a:off x="9555480" y="1353312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8E3E"/>
                </a:solidFill>
              </a:rPr>
              <a:t>YES (Hybrid)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02920" y="2697480"/>
            <a:ext cx="3593592" cy="3639312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22225">
            <a:solidFill>
              <a:srgbClr val="D9302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2697480"/>
            <a:ext cx="3593592" cy="365760"/>
          </a:xfrm>
          <a:prstGeom prst="rect">
            <a:avLst/>
          </a:prstGeom>
          <a:solidFill>
            <a:srgbClr val="FCE8E6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2697480"/>
            <a:ext cx="3593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D9302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PATTERN B • SOVEREIGN SILOS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667512" y="3154680"/>
            <a:ext cx="3264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&lt;60s KMS Key Kill-Switch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67512" y="3639312"/>
            <a:ext cx="3264408" cy="493776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3639312"/>
            <a:ext cx="30449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Target: Banking / Federal (600 RPM)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67512" y="4261104"/>
            <a:ext cx="3264408" cy="493776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4261104"/>
            <a:ext cx="30449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Compute: Dedicated Vertex PT / GKE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67512" y="4882896"/>
            <a:ext cx="3264408" cy="493776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4882896"/>
            <a:ext cx="30449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Data: Dedicated AlloyDB + VPC-SC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67512" y="5504688"/>
            <a:ext cx="3264408" cy="493776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5504688"/>
            <a:ext cx="30449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Footprint: 1 dedicated project / bank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297680" y="2697480"/>
            <a:ext cx="3593592" cy="3639312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22225">
            <a:solidFill>
              <a:srgbClr val="B06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97680" y="2697480"/>
            <a:ext cx="3593592" cy="365760"/>
          </a:xfrm>
          <a:prstGeom prst="rect">
            <a:avLst/>
          </a:prstGeom>
          <a:solidFill>
            <a:srgbClr val="FEF7E0"/>
          </a:solidFill>
          <a:ln w="12700">
            <a:solidFill>
              <a:srgbClr val="B06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97680" y="2697480"/>
            <a:ext cx="3593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B06000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PATTERN A • HIGH-DENSITY POOL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4462272" y="3154680"/>
            <a:ext cx="3264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84.7% Token Cost Savings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462272" y="3639312"/>
            <a:ext cx="3264408" cy="493776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0" y="3639312"/>
            <a:ext cx="30449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Target: Commercial SaaS (120 RPM)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462272" y="4261104"/>
            <a:ext cx="3264408" cy="493776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0" y="4261104"/>
            <a:ext cx="30449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Compute: Shared Cloud Run + gVisor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462272" y="4882896"/>
            <a:ext cx="3264408" cy="493776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0" y="4882896"/>
            <a:ext cx="30449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Data: AlloyDB FORCE ROW SECURITY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462272" y="5504688"/>
            <a:ext cx="3264408" cy="493776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0" y="5504688"/>
            <a:ext cx="30449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Footprint: 1 shared GCP project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092440" y="2697480"/>
            <a:ext cx="3593592" cy="3639312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22225">
            <a:solidFill>
              <a:srgbClr val="1E8E3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092440" y="2697480"/>
            <a:ext cx="3593592" cy="365760"/>
          </a:xfrm>
          <a:prstGeom prst="rect">
            <a:avLst/>
          </a:prstGeom>
          <a:solidFill>
            <a:srgbClr val="E6F4EA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092440" y="2697480"/>
            <a:ext cx="3593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E8E3E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PATTERN C • HYBRID PSC BRIDGE</a:t>
            </a:r>
            <a:endParaRPr lang="en-US" sz="920" dirty="0"/>
          </a:p>
        </p:txBody>
      </p:sp>
      <p:sp>
        <p:nvSpPr>
          <p:cNvPr id="59" name="Text 57"/>
          <p:cNvSpPr/>
          <p:nvPr/>
        </p:nvSpPr>
        <p:spPr>
          <a:xfrm>
            <a:off x="8257032" y="3154680"/>
            <a:ext cx="3264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0ms Live Tier Promotion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8257032" y="3639312"/>
            <a:ext cx="3264408" cy="493776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366760" y="3639312"/>
            <a:ext cx="30449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Target: Mixed SaaS + Enterprise Fleet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8257032" y="4261104"/>
            <a:ext cx="3264408" cy="493776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66760" y="4261104"/>
            <a:ext cx="30449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Compute: Shared Hub + PSC Spoke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8257032" y="4882896"/>
            <a:ext cx="3264408" cy="493776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366760" y="4882896"/>
            <a:ext cx="30449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Data: Dual-key vault + 3-phase cutover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8257032" y="5504688"/>
            <a:ext cx="3264408" cy="493776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143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366760" y="5504688"/>
            <a:ext cx="30449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Footprint: Hub + 50 spokes (74% TCO)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305" y="0"/>
            <a:ext cx="3047695" cy="54864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0"/>
            <a:ext cx="3047695" cy="54864"/>
          </a:xfrm>
          <a:prstGeom prst="rect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01168"/>
            <a:ext cx="2148840" cy="237744"/>
          </a:xfrm>
          <a:prstGeom prst="roundRect">
            <a:avLst>
              <a:gd name="adj" fmla="val 19231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116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TECHNICAL BLUEPRINT 1 (L2)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732520" y="182880"/>
            <a:ext cx="2148840" cy="292608"/>
          </a:xfrm>
          <a:prstGeom prst="roundRect">
            <a:avLst>
              <a:gd name="adj" fmla="val 18750"/>
            </a:avLst>
          </a:prstGeom>
          <a:solidFill>
            <a:srgbClr val="E8F0FE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18288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73E8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56 Shapes • 23 Edges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991088" y="182880"/>
            <a:ext cx="694944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91088" y="182880"/>
            <a:ext cx="694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07 / 12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493776"/>
            <a:ext cx="111831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4-Zone Hub-and-Spoke Topology Isolates Routing, Governance, Shared Pool &amp; Silos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502920" y="950976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47104"/>
            <a:ext cx="11183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Google Cloud Architecture Center • Blog 1: Multi-Tenant Agentic AI Reference Architecture &amp; 5-Hop Governance • Verified on GCP &amp; AWS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1078992"/>
            <a:ext cx="8366760" cy="5285232"/>
          </a:xfrm>
          <a:prstGeom prst="roundRect">
            <a:avLst>
              <a:gd name="adj" fmla="val 173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pic>
        <p:nvPicPr>
          <p:cNvPr id="17" name="Image 0" descr="/usr/local/google/home/nitinagga/Documents/blogs/diagrams/ws1-multi-tenant-taxonomy-overview.draw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9970" y="1152144"/>
            <a:ext cx="4373575" cy="513892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9034272" y="1078992"/>
            <a:ext cx="265176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7780">
            <a:solidFill>
              <a:srgbClr val="1A73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34272" y="1078992"/>
            <a:ext cx="2651760" cy="310896"/>
          </a:xfrm>
          <a:prstGeom prst="rect">
            <a:avLst/>
          </a:prstGeom>
          <a:solidFill>
            <a:srgbClr val="E8F0FE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62288" y="1078992"/>
            <a:ext cx="2395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3E8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Blue Routing Hub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9162288" y="1463040"/>
            <a:ext cx="23957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Cloud Armor WAF, External ALB &amp; IAP STS token exchange (Hops 1–2).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034272" y="2432304"/>
            <a:ext cx="265176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7780">
            <a:solidFill>
              <a:srgbClr val="1E8E3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034272" y="2432304"/>
            <a:ext cx="2651760" cy="310896"/>
          </a:xfrm>
          <a:prstGeom prst="rect">
            <a:avLst/>
          </a:prstGeom>
          <a:solidFill>
            <a:srgbClr val="E6F4EA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162288" y="2432304"/>
            <a:ext cx="2395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3E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Green Security Hub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9162288" y="2816352"/>
            <a:ext cx="23957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Central Cloud KMS, IAM PAB &amp; BigQuery OTel FinOps telemetry.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9034272" y="3785616"/>
            <a:ext cx="265176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7780">
            <a:solidFill>
              <a:srgbClr val="B0600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034272" y="3785616"/>
            <a:ext cx="2651760" cy="310896"/>
          </a:xfrm>
          <a:prstGeom prst="rect">
            <a:avLst/>
          </a:prstGeom>
          <a:solidFill>
            <a:srgbClr val="FEF7E0"/>
          </a:solidFill>
          <a:ln w="12700">
            <a:solidFill>
              <a:srgbClr val="B060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62288" y="3785616"/>
            <a:ext cx="2395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6000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Yellow Shared Spoke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9162288" y="4169664"/>
            <a:ext cx="23957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Pattern A: gVisor sandboxes, 32k prefix cache &amp; AlloyDB RLS.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9034272" y="5138928"/>
            <a:ext cx="265176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7780">
            <a:solidFill>
              <a:srgbClr val="D9302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034272" y="5138928"/>
            <a:ext cx="2651760" cy="310896"/>
          </a:xfrm>
          <a:prstGeom prst="rect">
            <a:avLst/>
          </a:prstGeom>
          <a:solidFill>
            <a:srgbClr val="FCE8E6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162288" y="5138928"/>
            <a:ext cx="2395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3025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Red Sovereign Spoke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9162288" y="5522976"/>
            <a:ext cx="23957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Pattern B/C: Dedicated VPC-SC, customer KMS &amp; Vertex PT / GKE.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305" y="0"/>
            <a:ext cx="3047695" cy="54864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0"/>
            <a:ext cx="3047695" cy="54864"/>
          </a:xfrm>
          <a:prstGeom prst="rect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01168"/>
            <a:ext cx="2148840" cy="237744"/>
          </a:xfrm>
          <a:prstGeom prst="roundRect">
            <a:avLst>
              <a:gd name="adj" fmla="val 19231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116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8E3E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TECHNICAL BLUEPRINT 2 (L2)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732520" y="182880"/>
            <a:ext cx="2148840" cy="292608"/>
          </a:xfrm>
          <a:prstGeom prst="roundRect">
            <a:avLst>
              <a:gd name="adj" fmla="val 18750"/>
            </a:avLst>
          </a:prstGeom>
          <a:solidFill>
            <a:srgbClr val="E6F4EA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18288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8E3E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5 Zero-Trust Hops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991088" y="182880"/>
            <a:ext cx="694944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91088" y="182880"/>
            <a:ext cx="694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08 / 12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493776"/>
            <a:ext cx="111831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Cryptographic Context Chain Carries Verified Tenant Identity Across Every Spoke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502920" y="950976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47104"/>
            <a:ext cx="11183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Google Cloud Architecture Center • Blog 1: Multi-Tenant Agentic AI Reference Architecture &amp; 5-Hop Governance • Verified on GCP &amp; AWS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1078992"/>
            <a:ext cx="8366760" cy="5285232"/>
          </a:xfrm>
          <a:prstGeom prst="roundRect">
            <a:avLst>
              <a:gd name="adj" fmla="val 1730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pic>
        <p:nvPicPr>
          <p:cNvPr id="17" name="Image 0" descr="/usr/local/google/home/nitinagga/Documents/blogs/diagrams/ws1-cloud-arch-center-5hop-baseline.draw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9970" y="1152144"/>
            <a:ext cx="4373575" cy="513892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9034272" y="1078992"/>
            <a:ext cx="265176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7780">
            <a:solidFill>
              <a:srgbClr val="1A73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34272" y="1078992"/>
            <a:ext cx="2651760" cy="310896"/>
          </a:xfrm>
          <a:prstGeom prst="rect">
            <a:avLst/>
          </a:prstGeom>
          <a:solidFill>
            <a:srgbClr val="E8F0FE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62288" y="1078992"/>
            <a:ext cx="2395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3E8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1. Signed JWT Identity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9162288" y="1463040"/>
            <a:ext cx="23957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KMS ECDSA P-256 token verified locally in &lt;0.15ms per hop.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034272" y="2432304"/>
            <a:ext cx="265176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7780">
            <a:solidFill>
              <a:srgbClr val="1E8E3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034272" y="2432304"/>
            <a:ext cx="2651760" cy="310896"/>
          </a:xfrm>
          <a:prstGeom prst="rect">
            <a:avLst/>
          </a:prstGeom>
          <a:solidFill>
            <a:srgbClr val="E6F4EA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162288" y="2432304"/>
            <a:ext cx="2395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3E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2. gVisor Kernel Sandbox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9162288" y="2816352"/>
            <a:ext cx="23957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Each tenant turn executes inside an isolated user-space kernel.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9034272" y="3785616"/>
            <a:ext cx="265176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7780">
            <a:solidFill>
              <a:srgbClr val="B0600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034272" y="3785616"/>
            <a:ext cx="2651760" cy="310896"/>
          </a:xfrm>
          <a:prstGeom prst="rect">
            <a:avLst/>
          </a:prstGeom>
          <a:solidFill>
            <a:srgbClr val="FEF7E0"/>
          </a:solidFill>
          <a:ln w="12700">
            <a:solidFill>
              <a:srgbClr val="B060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62288" y="3785616"/>
            <a:ext cx="2395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6000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3. Composite Memory Keys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9162288" y="4169664"/>
            <a:ext cx="23957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{tenant}:{user}:{session} blocks cross-tenant memory reads.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9034272" y="5138928"/>
            <a:ext cx="265176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7780">
            <a:solidFill>
              <a:srgbClr val="D9302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034272" y="5138928"/>
            <a:ext cx="2651760" cy="310896"/>
          </a:xfrm>
          <a:prstGeom prst="rect">
            <a:avLst/>
          </a:prstGeom>
          <a:solidFill>
            <a:srgbClr val="FCE8E6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162288" y="5138928"/>
            <a:ext cx="2395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3025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4. Scoped MCP Connectors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9162288" y="5522976"/>
            <a:ext cx="23957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2LO telemetry &amp; 3LO OAuth vaults prevent Confused Deputy replay.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305" y="0"/>
            <a:ext cx="3047695" cy="54864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0"/>
            <a:ext cx="3047695" cy="54864"/>
          </a:xfrm>
          <a:prstGeom prst="rect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01168"/>
            <a:ext cx="2148840" cy="237744"/>
          </a:xfrm>
          <a:prstGeom prst="roundRect">
            <a:avLst>
              <a:gd name="adj" fmla="val 19231"/>
            </a:avLst>
          </a:prstGeom>
          <a:solidFill>
            <a:srgbClr val="FCE8E6"/>
          </a:solidFill>
          <a:ln w="12700">
            <a:solidFill>
              <a:srgbClr val="FCE8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116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302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SEQUENCE DIAGRAM (L3)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732520" y="182880"/>
            <a:ext cx="2148840" cy="292608"/>
          </a:xfrm>
          <a:prstGeom prst="roundRect">
            <a:avLst>
              <a:gd name="adj" fmla="val 18750"/>
            </a:avLst>
          </a:prstGeom>
          <a:solidFill>
            <a:srgbClr val="FCE8E6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18288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3025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&lt;5 sec Key Eviction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991088" y="182880"/>
            <a:ext cx="694944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91088" y="182880"/>
            <a:ext cx="694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09 / 12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493776"/>
            <a:ext cx="111831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Sub-5s Cache Eviction &amp; Single-Flight Locking Protect Both Security and Database Load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502920" y="950976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47104"/>
            <a:ext cx="11183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Google Cloud Architecture Center • Blog 1: Multi-Tenant Agentic AI Reference Architecture &amp; 5-Hop Governance • Verified on GCP &amp; AWS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4360" y="1133856"/>
            <a:ext cx="1938528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1A73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1133856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Tenant Caller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1563624" y="1572768"/>
            <a:ext cx="0" cy="3246120"/>
          </a:xfrm>
          <a:prstGeom prst="line">
            <a:avLst/>
          </a:prstGeom>
          <a:noFill/>
          <a:ln w="15875">
            <a:solidFill>
              <a:srgbClr val="CBD5E1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2862072" y="1133856"/>
            <a:ext cx="1938528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1A73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62072" y="1133856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Hop 1: Edge STS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3831336" y="1572768"/>
            <a:ext cx="0" cy="3246120"/>
          </a:xfrm>
          <a:prstGeom prst="line">
            <a:avLst/>
          </a:prstGeom>
          <a:noFill/>
          <a:ln w="15875">
            <a:solidFill>
              <a:srgbClr val="CBD5E1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129784" y="1133856"/>
            <a:ext cx="1938528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1A73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9784" y="1133856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Hops 2–3: ARD / Valkey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099048" y="1572768"/>
            <a:ext cx="0" cy="3246120"/>
          </a:xfrm>
          <a:prstGeom prst="line">
            <a:avLst/>
          </a:prstGeom>
          <a:noFill/>
          <a:ln w="15875">
            <a:solidFill>
              <a:srgbClr val="CBD5E1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397496" y="1133856"/>
            <a:ext cx="1938528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1A73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97496" y="1133856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Hop 4: Model Armor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8366760" y="1572768"/>
            <a:ext cx="0" cy="3246120"/>
          </a:xfrm>
          <a:prstGeom prst="line">
            <a:avLst/>
          </a:prstGeom>
          <a:noFill/>
          <a:ln w="15875">
            <a:solidFill>
              <a:srgbClr val="CBD5E1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9665208" y="1133856"/>
            <a:ext cx="1938528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1A73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65208" y="1133856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Hop 5: AlloyDB RLS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10634472" y="1572768"/>
            <a:ext cx="0" cy="3246120"/>
          </a:xfrm>
          <a:prstGeom prst="line">
            <a:avLst/>
          </a:prstGeom>
          <a:noFill/>
          <a:ln w="15875">
            <a:solidFill>
              <a:srgbClr val="CBD5E1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1563624" y="1938528"/>
            <a:ext cx="2267712" cy="0"/>
          </a:xfrm>
          <a:prstGeom prst="line">
            <a:avLst/>
          </a:prstGeom>
          <a:noFill/>
          <a:ln w="27940">
            <a:solidFill>
              <a:srgbClr val="1A73E8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1636776" y="1627632"/>
            <a:ext cx="2121408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36776" y="1627632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1. OIDC JWT + DPoP Proof (~8ms)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3831336" y="2505456"/>
            <a:ext cx="2267712" cy="0"/>
          </a:xfrm>
          <a:prstGeom prst="line">
            <a:avLst/>
          </a:prstGeom>
          <a:noFill/>
          <a:ln w="27940">
            <a:solidFill>
              <a:srgbClr val="1A73E8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3904488" y="2194560"/>
            <a:ext cx="2121408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04488" y="2194560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2. KMS P-256 JWT + Catalog Filter (~4ms)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6099048" y="3072384"/>
            <a:ext cx="2267712" cy="0"/>
          </a:xfrm>
          <a:prstGeom prst="line">
            <a:avLst/>
          </a:prstGeom>
          <a:noFill/>
          <a:ln w="27940">
            <a:solidFill>
              <a:srgbClr val="1E8E3E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6172200" y="2761488"/>
            <a:ext cx="2121408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2200" y="2761488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3. ~3ms Key Check + RPM Quota Pass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8366760" y="3639312"/>
            <a:ext cx="2267712" cy="0"/>
          </a:xfrm>
          <a:prstGeom prst="line">
            <a:avLst/>
          </a:prstGeom>
          <a:noFill/>
          <a:ln w="27940">
            <a:solidFill>
              <a:srgbClr val="B06000"/>
            </a:solidFill>
            <a:prstDash val="solid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8439912" y="3328416"/>
            <a:ext cx="2121408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B06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39912" y="3328416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4. ~22ms Inline DLP + 90% Prefix Cache Hit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1563624" y="4315968"/>
            <a:ext cx="9070848" cy="0"/>
          </a:xfrm>
          <a:prstGeom prst="line">
            <a:avLst/>
          </a:prstGeom>
          <a:noFill/>
          <a:ln w="27940">
            <a:solidFill>
              <a:srgbClr val="1E8E3E"/>
            </a:solidFill>
            <a:prstDash val="solid"/>
            <a:headEnd type="arrow"/>
          </a:ln>
        </p:spPr>
      </p:sp>
      <p:sp>
        <p:nvSpPr>
          <p:cNvPr id="44" name="Shape 42"/>
          <p:cNvSpPr/>
          <p:nvPr/>
        </p:nvSpPr>
        <p:spPr>
          <a:xfrm>
            <a:off x="3264408" y="4005072"/>
            <a:ext cx="566928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64408" y="4005072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5. SET LOCAL tenant_id -&gt; 0 Foreign Rows + OTel Span (HTTP 200)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502920" y="4956048"/>
            <a:ext cx="5440680" cy="1389888"/>
          </a:xfrm>
          <a:prstGeom prst="roundRect">
            <a:avLst>
              <a:gd name="adj" fmla="val 6579"/>
            </a:avLst>
          </a:prstGeom>
          <a:solidFill>
            <a:srgbClr val="FCE8E6"/>
          </a:solidFill>
          <a:ln w="17780">
            <a:solidFill>
              <a:srgbClr val="D9302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3232" y="506577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3025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1. INSTANT KEY REVOCATION (&lt;5 SEC KILL-SWITCH)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13232" y="53949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When a bank disables its Cloud KMS key, Hop 3 immediately purges cache:{tenant}:* in Valkey (&lt;5s) and returns HTTP 423 Locked—eliminating the 60s storage propagation window.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45352" y="4956048"/>
            <a:ext cx="5440680" cy="1389888"/>
          </a:xfrm>
          <a:prstGeom prst="roundRect">
            <a:avLst>
              <a:gd name="adj" fmla="val 6579"/>
            </a:avLst>
          </a:prstGeom>
          <a:solidFill>
            <a:srgbClr val="E6F4EA"/>
          </a:solidFill>
          <a:ln w="17780">
            <a:solidFill>
              <a:srgbClr val="1E8E3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55664" y="506577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8E3E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2. SINGLE-FLIGHT STAMPEDE RECOVERY (ZERO DB SPIKE)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455664" y="53949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When the key is restored, the first worker acquires a SET NX PX 5000 lock, re-hydrates from AlloyDB RLS once, and broadcasts to waiting callers with zero database stampede.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305" y="0"/>
            <a:ext cx="3047695" cy="54864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0"/>
            <a:ext cx="3047695" cy="54864"/>
          </a:xfrm>
          <a:prstGeom prst="rect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01168"/>
            <a:ext cx="2148840" cy="237744"/>
          </a:xfrm>
          <a:prstGeom prst="roundRect">
            <a:avLst>
              <a:gd name="adj" fmla="val 19231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116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SOLUTION APPROACH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732520" y="182880"/>
            <a:ext cx="2148840" cy="292608"/>
          </a:xfrm>
          <a:prstGeom prst="roundRect">
            <a:avLst>
              <a:gd name="adj" fmla="val 18750"/>
            </a:avLst>
          </a:prstGeom>
          <a:solidFill>
            <a:srgbClr val="E8F0FE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18288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73E8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5 / 5 Gaps Closed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991088" y="182880"/>
            <a:ext cx="694944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91088" y="182880"/>
            <a:ext cx="694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10 / 12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493776"/>
            <a:ext cx="111831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Five Feature-Flagged Adapters Close Today’s Platform Gaps with Zero-Rewrite GA Sunset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502920" y="950976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47104"/>
            <a:ext cx="11183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Google Cloud Architecture Center • Blog 1: Multi-Tenant Agentic AI Reference Architecture &amp; 5-Hop Governance • Verified on GCP &amp; AWS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1097280"/>
            <a:ext cx="3108960" cy="365760"/>
          </a:xfrm>
          <a:prstGeom prst="roundRect">
            <a:avLst>
              <a:gd name="adj" fmla="val 15000"/>
            </a:avLst>
          </a:prstGeom>
          <a:solidFill>
            <a:srgbClr val="FCE8E6"/>
          </a:solidFill>
          <a:ln w="15240">
            <a:solidFill>
              <a:srgbClr val="D930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097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3025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1. PLATFORM BOUNDARY GAP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069080" y="1097280"/>
            <a:ext cx="3931920" cy="365760"/>
          </a:xfrm>
          <a:prstGeom prst="roundRect">
            <a:avLst>
              <a:gd name="adj" fmla="val 15000"/>
            </a:avLst>
          </a:prstGeom>
          <a:solidFill>
            <a:srgbClr val="E8F0FE"/>
          </a:solidFill>
          <a:ln w="15240">
            <a:solidFill>
              <a:srgbClr val="1A7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6908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73E8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2. PRODUCTION ADAPTER (TODAY)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458200" y="1097280"/>
            <a:ext cx="3227832" cy="365760"/>
          </a:xfrm>
          <a:prstGeom prst="roundRect">
            <a:avLst>
              <a:gd name="adj" fmla="val 15000"/>
            </a:avLst>
          </a:prstGeom>
          <a:solidFill>
            <a:srgbClr val="E6F4EA"/>
          </a:solidFill>
          <a:ln w="15240">
            <a:solidFill>
              <a:srgbClr val="1E8E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1097280"/>
            <a:ext cx="3227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8E3E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3. 1-CLICK NATIVE GA SWITCH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1591056"/>
            <a:ext cx="31089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D930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1591056"/>
            <a:ext cx="279806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GAP-01 • Shared Agent Catalog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11880" y="1984248"/>
            <a:ext cx="457200" cy="0"/>
          </a:xfrm>
          <a:prstGeom prst="line">
            <a:avLst/>
          </a:prstGeom>
          <a:noFill/>
          <a:ln w="25400">
            <a:solidFill>
              <a:srgbClr val="1A73E8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4069080" y="1591056"/>
            <a:ext cx="39319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1A73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24528" y="1591056"/>
            <a:ext cx="362102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Hop 2 Registry PDP filters ListAgents by signed JWT tenant_id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8001000" y="1984248"/>
            <a:ext cx="457200" cy="0"/>
          </a:xfrm>
          <a:prstGeom prst="line">
            <a:avLst/>
          </a:prstGeom>
          <a:noFill/>
          <a:ln w="25400">
            <a:solidFill>
              <a:srgbClr val="1E8E3E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8458200" y="1591056"/>
            <a:ext cx="3227832" cy="786384"/>
          </a:xfrm>
          <a:prstGeom prst="roundRect">
            <a:avLst>
              <a:gd name="adj" fmla="val 9302"/>
            </a:avLst>
          </a:prstGeom>
          <a:solidFill>
            <a:srgbClr val="E6F4EA"/>
          </a:solidFill>
          <a:ln w="15240">
            <a:solidFill>
              <a:srgbClr val="1E8E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49640" y="1591056"/>
            <a:ext cx="304495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E8E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CYMBAL_NATIVE_ARD_GA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502920" y="2542032"/>
            <a:ext cx="31089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D9302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542032"/>
            <a:ext cx="279806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GAP-02 • Per-Tenant Memory Keys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11880" y="2935224"/>
            <a:ext cx="457200" cy="0"/>
          </a:xfrm>
          <a:prstGeom prst="line">
            <a:avLst/>
          </a:prstGeom>
          <a:noFill/>
          <a:ln w="25400">
            <a:solidFill>
              <a:srgbClr val="1A73E8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4069080" y="2542032"/>
            <a:ext cx="39319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1A73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24528" y="2542032"/>
            <a:ext cx="362102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Envelope encryption + &lt;5s Valkey purge on KMS key disable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8001000" y="2935224"/>
            <a:ext cx="457200" cy="0"/>
          </a:xfrm>
          <a:prstGeom prst="line">
            <a:avLst/>
          </a:prstGeom>
          <a:noFill/>
          <a:ln w="25400">
            <a:solidFill>
              <a:srgbClr val="1E8E3E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8458200" y="2542032"/>
            <a:ext cx="3227832" cy="786384"/>
          </a:xfrm>
          <a:prstGeom prst="roundRect">
            <a:avLst>
              <a:gd name="adj" fmla="val 9302"/>
            </a:avLst>
          </a:prstGeom>
          <a:solidFill>
            <a:srgbClr val="E6F4EA"/>
          </a:solidFill>
          <a:ln w="15240">
            <a:solidFill>
              <a:srgbClr val="1E8E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49640" y="2542032"/>
            <a:ext cx="304495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E8E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CYMBAL_NATIVE_KMS_PROBE_GA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502920" y="3493008"/>
            <a:ext cx="31089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D9302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" y="3493008"/>
            <a:ext cx="279806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GAP-03 • Sub-Project Quota Fairness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11880" y="3886200"/>
            <a:ext cx="457200" cy="0"/>
          </a:xfrm>
          <a:prstGeom prst="line">
            <a:avLst/>
          </a:prstGeom>
          <a:noFill/>
          <a:ln w="25400">
            <a:solidFill>
              <a:srgbClr val="1A73E8"/>
            </a:solidFill>
            <a:prstDash val="solid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4069080" y="3493008"/>
            <a:ext cx="39319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1A73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24528" y="3493008"/>
            <a:ext cx="362102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Atomic Valkey Lua token buckets (120 vs. 600 RPM)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8001000" y="3886200"/>
            <a:ext cx="457200" cy="0"/>
          </a:xfrm>
          <a:prstGeom prst="line">
            <a:avLst/>
          </a:prstGeom>
          <a:noFill/>
          <a:ln w="25400">
            <a:solidFill>
              <a:srgbClr val="1E8E3E"/>
            </a:solidFill>
            <a:prstDash val="solid"/>
            <a:tailEnd type="arrow"/>
          </a:ln>
        </p:spPr>
      </p:sp>
      <p:sp>
        <p:nvSpPr>
          <p:cNvPr id="44" name="Shape 42"/>
          <p:cNvSpPr/>
          <p:nvPr/>
        </p:nvSpPr>
        <p:spPr>
          <a:xfrm>
            <a:off x="8458200" y="3493008"/>
            <a:ext cx="3227832" cy="786384"/>
          </a:xfrm>
          <a:prstGeom prst="roundRect">
            <a:avLst>
              <a:gd name="adj" fmla="val 9302"/>
            </a:avLst>
          </a:prstGeom>
          <a:solidFill>
            <a:srgbClr val="E6F4EA"/>
          </a:solidFill>
          <a:ln w="15240">
            <a:solidFill>
              <a:srgbClr val="1E8E3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49640" y="3493008"/>
            <a:ext cx="304495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E8E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CYMBAL_NATIVE_MEM_TTL_GA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502920" y="4443984"/>
            <a:ext cx="31089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D9302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" y="4443984"/>
            <a:ext cx="279806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GAP-04 • Multi-IdP 3LO Token Vault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11880" y="4837176"/>
            <a:ext cx="457200" cy="0"/>
          </a:xfrm>
          <a:prstGeom prst="line">
            <a:avLst/>
          </a:prstGeom>
          <a:noFill/>
          <a:ln w="25400">
            <a:solidFill>
              <a:srgbClr val="1A73E8"/>
            </a:solidFill>
            <a:prstDash val="solid"/>
            <a:tailEnd type="arrow"/>
          </a:ln>
        </p:spPr>
      </p:sp>
      <p:sp>
        <p:nvSpPr>
          <p:cNvPr id="49" name="Shape 47"/>
          <p:cNvSpPr/>
          <p:nvPr/>
        </p:nvSpPr>
        <p:spPr>
          <a:xfrm>
            <a:off x="4069080" y="4443984"/>
            <a:ext cx="39319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1A73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24528" y="4443984"/>
            <a:ext cx="362102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DPoP-bound {tenant}:{user} vault + step-up consent</a:t>
            </a:r>
            <a:endParaRPr lang="en-US" sz="980" dirty="0"/>
          </a:p>
        </p:txBody>
      </p:sp>
      <p:sp>
        <p:nvSpPr>
          <p:cNvPr id="51" name="Shape 49"/>
          <p:cNvSpPr/>
          <p:nvPr/>
        </p:nvSpPr>
        <p:spPr>
          <a:xfrm>
            <a:off x="8001000" y="4837176"/>
            <a:ext cx="457200" cy="0"/>
          </a:xfrm>
          <a:prstGeom prst="line">
            <a:avLst/>
          </a:prstGeom>
          <a:noFill/>
          <a:ln w="25400">
            <a:solidFill>
              <a:srgbClr val="1E8E3E"/>
            </a:solidFill>
            <a:prstDash val="solid"/>
            <a:tailEnd type="arrow"/>
          </a:ln>
        </p:spPr>
      </p:sp>
      <p:sp>
        <p:nvSpPr>
          <p:cNvPr id="52" name="Shape 50"/>
          <p:cNvSpPr/>
          <p:nvPr/>
        </p:nvSpPr>
        <p:spPr>
          <a:xfrm>
            <a:off x="8458200" y="4443984"/>
            <a:ext cx="3227832" cy="786384"/>
          </a:xfrm>
          <a:prstGeom prst="roundRect">
            <a:avLst>
              <a:gd name="adj" fmla="val 9302"/>
            </a:avLst>
          </a:prstGeom>
          <a:solidFill>
            <a:srgbClr val="E6F4EA"/>
          </a:solidFill>
          <a:ln w="15240">
            <a:solidFill>
              <a:srgbClr val="1E8E3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49640" y="4443984"/>
            <a:ext cx="304495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E8E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CYMBAL_NATIVE_PSC_CUTOVER_GA</a:t>
            </a:r>
            <a:endParaRPr lang="en-US" sz="920" dirty="0"/>
          </a:p>
        </p:txBody>
      </p:sp>
      <p:sp>
        <p:nvSpPr>
          <p:cNvPr id="54" name="Shape 52"/>
          <p:cNvSpPr/>
          <p:nvPr/>
        </p:nvSpPr>
        <p:spPr>
          <a:xfrm>
            <a:off x="502920" y="5394960"/>
            <a:ext cx="31089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D9302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8368" y="5394960"/>
            <a:ext cx="279806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GAP-05 • Zero-PII Token Chargeback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611880" y="5788152"/>
            <a:ext cx="457200" cy="0"/>
          </a:xfrm>
          <a:prstGeom prst="line">
            <a:avLst/>
          </a:prstGeom>
          <a:noFill/>
          <a:ln w="25400">
            <a:solidFill>
              <a:srgbClr val="1A73E8"/>
            </a:solidFill>
            <a:prstDash val="solid"/>
            <a:tailEnd type="arrow"/>
          </a:ln>
        </p:spPr>
      </p:sp>
      <p:sp>
        <p:nvSpPr>
          <p:cNvPr id="57" name="Shape 55"/>
          <p:cNvSpPr/>
          <p:nvPr/>
        </p:nvSpPr>
        <p:spPr>
          <a:xfrm>
            <a:off x="4069080" y="5394960"/>
            <a:ext cx="39319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1A73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224528" y="5394960"/>
            <a:ext cx="362102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SHA-256 prompt hashes + OTel spans to BigQuery FinOps</a:t>
            </a:r>
            <a:endParaRPr lang="en-US" sz="980" dirty="0"/>
          </a:p>
        </p:txBody>
      </p:sp>
      <p:sp>
        <p:nvSpPr>
          <p:cNvPr id="59" name="Shape 57"/>
          <p:cNvSpPr/>
          <p:nvPr/>
        </p:nvSpPr>
        <p:spPr>
          <a:xfrm>
            <a:off x="8001000" y="5788152"/>
            <a:ext cx="457200" cy="0"/>
          </a:xfrm>
          <a:prstGeom prst="line">
            <a:avLst/>
          </a:prstGeom>
          <a:noFill/>
          <a:ln w="25400">
            <a:solidFill>
              <a:srgbClr val="1E8E3E"/>
            </a:solidFill>
            <a:prstDash val="solid"/>
            <a:tailEnd type="arrow"/>
          </a:ln>
        </p:spPr>
      </p:sp>
      <p:sp>
        <p:nvSpPr>
          <p:cNvPr id="60" name="Shape 58"/>
          <p:cNvSpPr/>
          <p:nvPr/>
        </p:nvSpPr>
        <p:spPr>
          <a:xfrm>
            <a:off x="8458200" y="5394960"/>
            <a:ext cx="3227832" cy="786384"/>
          </a:xfrm>
          <a:prstGeom prst="roundRect">
            <a:avLst>
              <a:gd name="adj" fmla="val 9302"/>
            </a:avLst>
          </a:prstGeom>
          <a:solidFill>
            <a:srgbClr val="E6F4EA"/>
          </a:solidFill>
          <a:ln w="15240">
            <a:solidFill>
              <a:srgbClr val="1E8E3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549640" y="5394960"/>
            <a:ext cx="304495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E8E3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CYMBAL_NATIVE_OTEL_FINOPS_GA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305" y="0"/>
            <a:ext cx="3047695" cy="54864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0"/>
            <a:ext cx="3047695" cy="54864"/>
          </a:xfrm>
          <a:prstGeom prst="rect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01168"/>
            <a:ext cx="2148840" cy="237744"/>
          </a:xfrm>
          <a:prstGeom prst="roundRect">
            <a:avLst>
              <a:gd name="adj" fmla="val 19231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116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8E3E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VERIFICATION PROOF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732520" y="182880"/>
            <a:ext cx="2148840" cy="292608"/>
          </a:xfrm>
          <a:prstGeom prst="roundRect">
            <a:avLst>
              <a:gd name="adj" fmla="val 18750"/>
            </a:avLst>
          </a:prstGeom>
          <a:solidFill>
            <a:srgbClr val="E6F4EA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18288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8E3E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107 / 107 PASS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991088" y="182880"/>
            <a:ext cx="694944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91088" y="182880"/>
            <a:ext cx="694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11 / 12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493776"/>
            <a:ext cx="111831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Verified on Live GCP &amp; AWS Infrastructure: 107/107 Assertions &amp; Zero Leaked UI Rows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502920" y="950976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47104"/>
            <a:ext cx="11183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Google Cloud Architecture Center • Blog 1: Multi-Tenant Agentic AI Reference Architecture &amp; 5-Hop Governance • Verified on GCP &amp; AWS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1078992"/>
            <a:ext cx="263347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6510">
            <a:solidFill>
              <a:srgbClr val="1A73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" y="1207008"/>
            <a:ext cx="1051560" cy="694944"/>
          </a:xfrm>
          <a:prstGeom prst="roundRect">
            <a:avLst>
              <a:gd name="adj" fmla="val 9211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1207008"/>
            <a:ext cx="1051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73E8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20 / 20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64792" y="1207008"/>
            <a:ext cx="126187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Live GCP Runtime Suites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55848" y="1078992"/>
            <a:ext cx="263347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6510">
            <a:solidFill>
              <a:srgbClr val="1E8E3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83864" y="1207008"/>
            <a:ext cx="1051560" cy="694944"/>
          </a:xfrm>
          <a:prstGeom prst="roundRect">
            <a:avLst>
              <a:gd name="adj" fmla="val 9211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83864" y="1207008"/>
            <a:ext cx="1051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8E3E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30 / 30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17720" y="1207008"/>
            <a:ext cx="126187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10-SaaS AWS AgentCore MCP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08776" y="1078992"/>
            <a:ext cx="263347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6510">
            <a:solidFill>
              <a:srgbClr val="B06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36792" y="1207008"/>
            <a:ext cx="1051560" cy="694944"/>
          </a:xfrm>
          <a:prstGeom prst="roundRect">
            <a:avLst>
              <a:gd name="adj" fmla="val 9211"/>
            </a:avLst>
          </a:prstGeom>
          <a:solidFill>
            <a:srgbClr val="FEF7E0"/>
          </a:solidFill>
          <a:ln w="12700">
            <a:solidFill>
              <a:srgbClr val="FEF7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6792" y="1207008"/>
            <a:ext cx="1051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6000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13 / 13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70648" y="1207008"/>
            <a:ext cx="126187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Deep Forensic Audit Gates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061704" y="1078992"/>
            <a:ext cx="263347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6510">
            <a:solidFill>
              <a:srgbClr val="D9302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89720" y="1207008"/>
            <a:ext cx="1051560" cy="694944"/>
          </a:xfrm>
          <a:prstGeom prst="roundRect">
            <a:avLst>
              <a:gd name="adj" fmla="val 9211"/>
            </a:avLst>
          </a:prstGeom>
          <a:solidFill>
            <a:srgbClr val="FCE8E6"/>
          </a:solidFill>
          <a:ln w="12700">
            <a:solidFill>
              <a:srgbClr val="FCE8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89720" y="1207008"/>
            <a:ext cx="1051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3025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43 / 43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323576" y="1207008"/>
            <a:ext cx="126187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2880x1800 Retina UI Proofs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2920" y="2212848"/>
            <a:ext cx="5440680" cy="4133088"/>
          </a:xfrm>
          <a:prstGeom prst="roundRect">
            <a:avLst>
              <a:gd name="adj" fmla="val 221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2304288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3E8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Metabase Enterprise BI v0.50.26 • Live Before vs. After 5-Hop RLS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85800" y="2596896"/>
            <a:ext cx="5074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3025"/>
                </a:solidFill>
              </a:rPr>
              <a:t>BEFORE: All Tenants Exposed</a:t>
            </a:r>
            <a:endParaRPr lang="en-US" sz="850" dirty="0"/>
          </a:p>
        </p:txBody>
      </p:sp>
      <p:pic>
        <p:nvPicPr>
          <p:cNvPr id="35" name="Image 0" descr="/usr/local/google/home/nitinagga/Documents/blogs/screenshots/genuine-multicloud-3p-uis/before-after/before_01_metabase_b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046" y="2816352"/>
            <a:ext cx="2516429" cy="1572768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3218688" y="4407408"/>
            <a:ext cx="0" cy="201168"/>
          </a:xfrm>
          <a:prstGeom prst="line">
            <a:avLst/>
          </a:prstGeom>
          <a:noFill/>
          <a:ln w="27940">
            <a:solidFill>
              <a:srgbClr val="1E8E3E"/>
            </a:solidFill>
            <a:prstDash val="solid"/>
            <a:tailEnd type="arrow"/>
          </a:ln>
        </p:spPr>
      </p:sp>
      <p:sp>
        <p:nvSpPr>
          <p:cNvPr id="37" name="Text 34"/>
          <p:cNvSpPr/>
          <p:nvPr/>
        </p:nvSpPr>
        <p:spPr>
          <a:xfrm>
            <a:off x="685800" y="4608576"/>
            <a:ext cx="5074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8E3E"/>
                </a:solidFill>
              </a:rPr>
              <a:t>AFTER: FinVault Only (0 Leaks)</a:t>
            </a:r>
            <a:endParaRPr lang="en-US" sz="850" dirty="0"/>
          </a:p>
        </p:txBody>
      </p:sp>
      <p:pic>
        <p:nvPicPr>
          <p:cNvPr id="38" name="Image 1" descr="/usr/local/google/home/nitinagga/Documents/blogs/screenshots/genuine-multicloud-3p-uis/before-after/after_01_metabase_b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458" y="4828032"/>
            <a:ext cx="2311603" cy="1444752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6245352" y="2212848"/>
            <a:ext cx="5440680" cy="4133088"/>
          </a:xfrm>
          <a:prstGeom prst="roundRect">
            <a:avLst>
              <a:gd name="adj" fmla="val 221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428232" y="2304288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3E8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Trino Distributed SQL v440 • Live Before vs. After Catalog Guard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6428232" y="2596896"/>
            <a:ext cx="5074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3025"/>
                </a:solidFill>
              </a:rPr>
              <a:t>BEFORE: Cross-Tenant Enumeration</a:t>
            </a:r>
            <a:endParaRPr lang="en-US" sz="850" dirty="0"/>
          </a:p>
        </p:txBody>
      </p:sp>
      <p:pic>
        <p:nvPicPr>
          <p:cNvPr id="42" name="Image 2" descr="/usr/local/google/home/nitinagga/Documents/blogs/screenshots/genuine-multicloud-3p-uis/before-after/before_06_trino_sq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7478" y="2816352"/>
            <a:ext cx="2516429" cy="1572768"/>
          </a:xfrm>
          <a:prstGeom prst="rect">
            <a:avLst/>
          </a:prstGeom>
        </p:spPr>
      </p:pic>
      <p:sp>
        <p:nvSpPr>
          <p:cNvPr id="43" name="Shape 38"/>
          <p:cNvSpPr/>
          <p:nvPr/>
        </p:nvSpPr>
        <p:spPr>
          <a:xfrm>
            <a:off x="8961120" y="4407408"/>
            <a:ext cx="0" cy="201168"/>
          </a:xfrm>
          <a:prstGeom prst="line">
            <a:avLst/>
          </a:prstGeom>
          <a:noFill/>
          <a:ln w="27940">
            <a:solidFill>
              <a:srgbClr val="1E8E3E"/>
            </a:solidFill>
            <a:prstDash val="solid"/>
            <a:tailEnd type="arrow"/>
          </a:ln>
        </p:spPr>
      </p:sp>
      <p:sp>
        <p:nvSpPr>
          <p:cNvPr id="44" name="Text 39"/>
          <p:cNvSpPr/>
          <p:nvPr/>
        </p:nvSpPr>
        <p:spPr>
          <a:xfrm>
            <a:off x="6428232" y="4608576"/>
            <a:ext cx="5074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8E3E"/>
                </a:solidFill>
              </a:rPr>
              <a:t>AFTER: Scoped Query (0 Leaks)</a:t>
            </a:r>
            <a:endParaRPr lang="en-US" sz="850" dirty="0"/>
          </a:p>
        </p:txBody>
      </p:sp>
      <p:pic>
        <p:nvPicPr>
          <p:cNvPr id="45" name="Image 3" descr="/usr/local/google/home/nitinagga/Documents/blogs/screenshots/genuine-multicloud-3p-uis/before-after/after_06_trino_sq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9890" y="4828032"/>
            <a:ext cx="2311603" cy="14447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305" y="0"/>
            <a:ext cx="3047695" cy="54864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0"/>
            <a:ext cx="3047695" cy="54864"/>
          </a:xfrm>
          <a:prstGeom prst="rect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01168"/>
            <a:ext cx="2148840" cy="237744"/>
          </a:xfrm>
          <a:prstGeom prst="roundRect">
            <a:avLst>
              <a:gd name="adj" fmla="val 19231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116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8E3E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BENEFITS &amp; CALL TO ACTION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732520" y="182880"/>
            <a:ext cx="2148840" cy="292608"/>
          </a:xfrm>
          <a:prstGeom prst="roundRect">
            <a:avLst>
              <a:gd name="adj" fmla="val 18750"/>
            </a:avLst>
          </a:prstGeom>
          <a:solidFill>
            <a:srgbClr val="E6F4EA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18288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8E3E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&lt;30 sec HA RTO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991088" y="182880"/>
            <a:ext cx="694944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91088" y="182880"/>
            <a:ext cx="694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12 / 12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493776"/>
            <a:ext cx="111831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Deploy the 27-File Reference Workbench in 90 Days to Cut TCO by 74%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502920" y="950976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47104"/>
            <a:ext cx="11183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Google Cloud Architecture Center • Blog 1: Multi-Tenant Agentic AI Reference Architecture &amp; 5-Hop Governance • Verified on GCP &amp; AWS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1115568"/>
            <a:ext cx="263347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1A73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1115568"/>
            <a:ext cx="2633472" cy="914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1316736"/>
            <a:ext cx="23042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73E8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84.7%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67512" y="1965960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Token Cost Savings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7512" y="2286000"/>
            <a:ext cx="23042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90% hit rate on shared 32k system prompt cache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3355848" y="1115568"/>
            <a:ext cx="263347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1E8E3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55848" y="1115568"/>
            <a:ext cx="2633472" cy="91440"/>
          </a:xfrm>
          <a:prstGeom prst="rect">
            <a:avLst/>
          </a:prstGeom>
          <a:solidFill>
            <a:srgbClr val="1E8E3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1316736"/>
            <a:ext cx="23042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8E3E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74%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520440" y="1965960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Portfolio TCO Savings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520440" y="2286000"/>
            <a:ext cx="23042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950 pooled tenants + 50 PSC spokes vs. 1,000 silos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208776" y="1115568"/>
            <a:ext cx="263347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B06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08776" y="1115568"/>
            <a:ext cx="2633472" cy="91440"/>
          </a:xfrm>
          <a:prstGeom prst="rect">
            <a:avLst/>
          </a:prstGeom>
          <a:solidFill>
            <a:srgbClr val="B06000"/>
          </a:solidFill>
          <a:ln w="12700">
            <a:solidFill>
              <a:srgbClr val="B06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73368" y="1316736"/>
            <a:ext cx="23042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06000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~42ms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373368" y="1965960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5-Hop Governance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373368" y="2286000"/>
            <a:ext cx="23042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&lt;0.15ms local JWKS verify + ~22ms Model Armor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61704" y="1115568"/>
            <a:ext cx="263347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D9302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61704" y="1115568"/>
            <a:ext cx="2633472" cy="91440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26296" y="1316736"/>
            <a:ext cx="23042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3025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&lt;5 sec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9226296" y="1965960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Key Kill-Switch SLA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226296" y="2286000"/>
            <a:ext cx="23042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Targeted Valkey cache purge + HTTP 423 lock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502920" y="3182112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30-60-90 DAY ENTERPRISE ROLLOUT ROADMAP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2920" y="3547872"/>
            <a:ext cx="3538728" cy="2779776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1A73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" y="3547872"/>
            <a:ext cx="3538728" cy="384048"/>
          </a:xfrm>
          <a:prstGeom prst="rect">
            <a:avLst/>
          </a:prstGeom>
          <a:solidFill>
            <a:srgbClr val="E8F0FE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" y="3547872"/>
            <a:ext cx="3209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3E8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DAYS 1–30 • FOUNDATION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67512" y="4041648"/>
            <a:ext cx="3209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Deploy 5-Hop Core &amp; Shared Pool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67512" y="4572000"/>
            <a:ext cx="320954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• Clone core-cymbal-agent/ &amp; Terraform 2.6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• Enable &lt;0.15ms STS JWT + DPoP binding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• Pass 10/10 red-team isolation tests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4041648" y="4937760"/>
            <a:ext cx="283464" cy="0"/>
          </a:xfrm>
          <a:prstGeom prst="line">
            <a:avLst/>
          </a:prstGeom>
          <a:noFill/>
          <a:ln w="31750">
            <a:solidFill>
              <a:srgbClr val="1A73E8"/>
            </a:solidFill>
            <a:prstDash val="solid"/>
            <a:tailEnd type="arrow"/>
          </a:ln>
        </p:spPr>
      </p:sp>
      <p:sp>
        <p:nvSpPr>
          <p:cNvPr id="43" name="Shape 41"/>
          <p:cNvSpPr/>
          <p:nvPr/>
        </p:nvSpPr>
        <p:spPr>
          <a:xfrm>
            <a:off x="4325112" y="3547872"/>
            <a:ext cx="3538728" cy="2779776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D9302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25112" y="3547872"/>
            <a:ext cx="3538728" cy="384048"/>
          </a:xfrm>
          <a:prstGeom prst="rect">
            <a:avLst/>
          </a:prstGeom>
          <a:solidFill>
            <a:srgbClr val="FCE8E6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89704" y="3547872"/>
            <a:ext cx="3209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302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DAYS 31–60 • SOVEREIGNTY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489704" y="4041648"/>
            <a:ext cx="3209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Add Dedicated Silos &amp; Key Kill-Switch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4489704" y="4572000"/>
            <a:ext cx="320954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• Apply Terraform 3.6 for regulated banks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• Certify &lt;60s KMS HTTP 423 + &lt;5s Valkey purge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• Verify single-flight stampede recovery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7863840" y="4937760"/>
            <a:ext cx="283464" cy="0"/>
          </a:xfrm>
          <a:prstGeom prst="line">
            <a:avLst/>
          </a:prstGeom>
          <a:noFill/>
          <a:ln w="31750">
            <a:solidFill>
              <a:srgbClr val="D93025"/>
            </a:solidFill>
            <a:prstDash val="solid"/>
            <a:tailEnd type="arrow"/>
          </a:ln>
        </p:spPr>
      </p:sp>
      <p:sp>
        <p:nvSpPr>
          <p:cNvPr id="49" name="Shape 47"/>
          <p:cNvSpPr/>
          <p:nvPr/>
        </p:nvSpPr>
        <p:spPr>
          <a:xfrm>
            <a:off x="8147304" y="3547872"/>
            <a:ext cx="3538728" cy="2779776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1E8E3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47304" y="3547872"/>
            <a:ext cx="3538728" cy="384048"/>
          </a:xfrm>
          <a:prstGeom prst="rect">
            <a:avLst/>
          </a:prstGeom>
          <a:solidFill>
            <a:srgbClr val="E6F4EA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11896" y="3547872"/>
            <a:ext cx="3209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3E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DAYS 61–90 • SCALE &amp; FINOPS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311896" y="4041648"/>
            <a:ext cx="3209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Launch Hybrid PSC &amp; Automated CI/CD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8311896" y="4572000"/>
            <a:ext cx="320954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• Apply Terraform 4.6 for 0ms tier upgrades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• Enable BigQuery OTel FinOps chargeback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Google Sans Text" pitchFamily="34" charset="0"/>
                <a:ea typeface="Google Sans Text" pitchFamily="34" charset="-122"/>
                <a:cs typeface="Google Sans Text" pitchFamily="34" charset="-120"/>
              </a:rPr>
              <a:t>• Gate releases on 13/13 Forensic CI/CD audit</a:t>
            </a:r>
            <a:endParaRPr lang="en-US" sz="9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Blog 1 — Multi-Tenant Agentic AI on Google Cloud (Executive Visual Edition)</dc:title>
  <dc:subject>Multi-Tenant Agentic AI on Google Cloud — Executive Visual Architecture</dc:subject>
  <dc:creator>Google Cloud FDE &amp; AI Platform Architecture Team</dc:creator>
  <cp:lastModifiedBy>Google Cloud FDE &amp; AI Platform Architecture Team</cp:lastModifiedBy>
  <cp:revision>1</cp:revision>
  <dcterms:created xsi:type="dcterms:W3CDTF">2026-10-30T21:52:53Z</dcterms:created>
  <dcterms:modified xsi:type="dcterms:W3CDTF">2026-10-30T21:52:53Z</dcterms:modified>
</cp:coreProperties>
</file>