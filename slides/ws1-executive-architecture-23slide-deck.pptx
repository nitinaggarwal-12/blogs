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In this presentation for Blog 1 of our 5-part Google Cloud Multi-Tenant Agentic AI series, I am going to walk through the real engineering and economic problem facing every B2B AI platform team today—and the production architecture we verified to solve it. Rather than choosing between an unsafe shared agent pool or margin-destroying project sprawl, we decouple an immutable 80% 5-Hop cryptographic governance core from three pluggable 20% cloud perimeters, sustaining ~42 milliseconds of p95 overhead and zero cross-tenant leaks across 107 live GCP and AWS verification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real technical reason existing B2B SaaS multi-tenancy breaks down for agentic AI. On the left, yesterday's stateless REST microservice erased memory after 50 milliseconds and followed fixed code paths, so filtering database rows by tenant_id was essentially the entire job. On the right, a multi-turn AI agent holds state across five live surfaces at once: a 32k shared prompt prefix cache, a dynamic MCP tool catalog, episodic and vector memory, delegated user OAuth tokens, and elastic reasoning-token budgets. If you drop a naive auth proxy in front of an LLM, four of those five surfaces remain wide open to cross-tenant leakage or quota starvation.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visualizes the exact business and architectural dilemma every SaaS platform lead hits. If you push every customer into Trap A—a naive shared agent pool—your infrastructure bill looks great, but your first bank or healthcare CISO immediately vetoes the deal over shared tool schemas and unrevokable caches. If you swing to Trap B—spinning up a dedicated GCP project per customer—you end up babysitting a thousand Terraform states and paying roughly 418 thousand dollars a month in idle database and endpoint floors. Our goal in Blog 1 is reaching the top-right green quadrant: combining cloud unit economics with auditable isolation on one codebase.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keep our design completely grounded, we test everything against two realistic enterprise customers converging on the same Cymbal SaaS platform. On the left, FinVault Bank signs in with Google OIDC, owns a secret M&amp;A valuation agent called Agent Alpha, pays for 600 RPM and 8k reasoning budgets, and requires a sub-60-second customer-revocable KMS kill switch. On the right, RetailStream authenticates via Microsoft Entra ID, connects SharePoint and ServiceNow via 3LO OAuth, caps turns at 120 RPM and 4k thinking tokens, and requires multi-tenant SaaS pricing. Look down the middle column: those five exact points of tension are why our pipeline has five cryptographic hops.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core solution design that resolves that dilemma cleanly. On the left, instead of inventing fragile prompt-level rules, we map our three acronyms directly to battle-tested operating-system primitives: ADK acts as our deterministic syscall scheduler, ARD acts as a chrooted virtual file system hiding private agent schemas, and MCP provides capability-scoped device drivers. On the right, we package all five hops into one immutable Python module—core-cymbal-agent—which makes up 80% of the system. The remaining 20% is purely infrastructure adapters for Pattern A, Pattern B, and Pattern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decouple that 80% governance core, picking the right pattern for any customer comes down to two objective questions. Question one: does a regulator or contract require a sub-60-second customer-revocable KMS key or a dedicated VPC Service Controls perimeter? If yes, you assign either a full Pattern B Sovereign Silo or—if the customer wants to keep data inside their own VPC while sharing our SaaS routing edge—Pattern C over Private Service Connect. If no, you onboard them directly into Pattern A at roughly 25 to 40 dollars per tenant per month, knowing you can promote them live to Pattern C later with zero downtime by updating a single routing map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look at Slide 7, which acts as the explicit logical Rosetta Stone right before our physical GCP network diagrams on Slides 8 and 9. On the left, Layer 1 normalizes three distinct enterprise identity providers—Google Cloud Identity for FinVault, Microsoft Entra ID for RetailStream, and SAML partners—through Cloud Armor and IAP with hardware DPoP proof. In the middle, Layer 2 executes our shared 80% ADK control plane across STS, ARD, and DLP in ~42 milliseconds p95 while checking the ~3-millisecond Valkey JTI revocation bus. On the right, Layer 3 maps those verified 5-minute STS JWTs directly onto our four physical VPC Service Controls perimeters plus zero-latency async BigQuery OpenTelemetry chargeback—leading directly into Figure 1 on Slide 8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on Slide 8 is our first official Cloud Architecture Center reference diagram—Figure 1—now maximized to full slide height with strictly zero aspect distortion and rendered as 100% natively editable Draw.io shapes and connectors right inside the slide. Notice how the four zones from Slide 7 appear physically here: every customer enters the blue routing hub at the top where Cloud Armor, Model Armor, and KMS-signed token exchange execute. At Step 3, Cloud Run reads the verified tier claim and dispatches commercial traffic down-left into the yellow Pattern A pooled runtime, or sovereign traffic down-right into the coral Pattern B silo or Pattern C PSC spoke.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showcases our second official Architecture Center blueprint—Figure 2—also maximized at full isotropic unstretched scale on the right stage as 100% natively editable Draw.io shapes, paired with our FinVault versus RetailStream trace on the left. Steps 1 through 3 traverse the exact same routing hub. Then IAM Principal Access Boundaries isolate each tenant spoke across Steps 4, 5, and 6 before converging on Step 7 for response delivery and BigQuery FinOps chargeback. Next on Slide 10, let's measure exactly how many milliseconds those five hops cost at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answers the first question runtime architects ask: do five cryptographic hops make an agent feel sluggish? Look at the proportional waterfall bar across the top: Hops 1 through 5 total just 42 milliseconds at p95—half of which is regional gRPC Model Armor and DLP screening at 22 milliseconds—amounting to less than 2.5% of a typical multi-turn response while streaming FinOps telemetry asynchronously at zero hot-path cost. Better yet, look along the bottom row: every single hop fails closed with an explicit HTTP status code before spending downstream model tokens. Next on Slide 11, let's trace the exact 5-actor UML sequence swimlane across those hops.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directly on Slide 10's ~42-millisecond latency waterfall, Slide 11 unfolds those stages across five chronological UML actor lifelines. Follow the colored activation bars from top-left to bottom-right: Actor 1 presents an OIDC JWT and DPoP proof; Hop 1 strips spoofed headers, checks the ~3ms JTI deny-list, and mints our 5-minute STS JWT; Hops 2 and 3 enforce ARD ACLs, the 120 or 600 RPM quota, and thinking clamps; Hop 4 runs inline DLP alongside our 90% 32k shared prefix cache achieving 84.7% net token savings; and Hop 5 executes SET LOCAL tenant_id on AlloyDB before streaming a zero-PII OTel span. At the bottom left, the dashed red [Alt] frame captures every fail-closed return path—leading right into our live Day-2 KMS revocation and anti-stampede isolation mechanics on Slide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drills into the Day-2 incident lifecycle behind Slide 11's circuit breakers without repeating the swimlane. On the left, when FinVault's SOC disables its Cloud KMS key at T equals zero, Cloud Audit Logs and Pub/Sub flip FinVault's state in Valkey within five seconds and run non-blocking cursor SCAN plus UNLINK—so FinVault locks cleanly with HTTP 423 in under 60 seconds while peer tenant RetailStream keeps serving in 42 milliseconds with zero pause. On the right, when FinVault re-enables its key and 500 queued retries arrive at once, a Valkey SET NX single-flight mutex elects strictly one leader worker to query AlloyDB RLS while 499 followers read the freshly warmed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zoom down from Level-3 sequence lifelines into Level-4 wire packets across Slides 13 and 14. Slide 13 shows the exact three-stage transformation at Hop 1. On the left, a hostile RetailStream client attempts privilege escalation by injecting X-Tenant-Id: finvault and an override header alongside its bearer token. Inside our teal security gate in the center, Stage 01 strips those client headers at Cloud Armor, Stage 02 performs RFC 8693 OBO exchange and verifies the DPoP hardware thumbprint, and Stage 03 signs the authoritative TenantContext JWT with Cloud KMS ECDSA P-256. On the right, the sanitized token carries retailstream, its DPoP JKT, memory namespace, and RLS tag—verified locally in under 150 microseconds on every downstream hop, which brings us directly to Slide 14's downstream credential and memory defenses.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Picking up right where Slide 13's signed TenantContext JWT exits Hop 1, Slide 14 shows how downstream Hops 2, 3, and 5 enforce stateful isolation without repeating the edge packet flow. On the left, see why standard per-user OAuth caching breaks in B2B SaaS: an external M&amp;A contractor working across two customers carries the same email, so keying tokens purely by user email replays FinVault's Jira token inside a RetailStream session. Partitioning secrets under vault colon tenant_id colon sub colon tool turns that into an immediate 403 step-up consent challenge. On the right, three layered state guards assert session ownership, bind tenant_id as Tink AEAD associated data, and lock every AlloyDB transaction with FORCE ROW LEVEL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architectural credibility comes from stating platform constraints honestly up front. Today, five capabilities in managed multi-tenant agent platforms—per-agent registry IAM, pooled session CMEK, native per-tenant Vertex RPM quotas, external Entra ID 3LO brokerage, and tenant-level token billing—still operate at project granularity. Instead of hand-waving those gaps, Slide 15 shows the exact compensating control shipped inside core-cymbal-agent for each gap, paired on the right with a single environment flag so you can retire each shim cleanly as native GA controls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diagrams only matter if they survive hostile traffic against real cloud infrastructure. Slide 16 summarizes our live dual-plane telemetry across GCP projects ramp-portal-dev and bbar-138hf0 plus federated AWS account 393036065405. All 20 GCP isolation assertions passed—blocking header spoofing, Agent Alpha discovery, SQL OR 1 equals 1 bypasses, and 500-RPM floods while executing zero-drop Pattern A to Pattern C cutovers. Across the next five slides, let's inspect the genuine before-and-after browser UIs captured across all ten third-party SaaS platforms.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kicks off our five-slide visual audit across all ten live third-party SaaS containers, starting with BI and analytics. In Row 1, Metabase v0.50.26 initially renders three rows including RetailStream's 48.9-million-USD settlement; after Hop 5 invokes query_thoughtspot_liveboard_rls, strictly FinVault's two desks totaling 527 million USD remain. In Row 2, Grafana Enterprise v11.2.0 goes from a single baseline panel to rendering a newly appended second panel proving live HTTP 403 cross-org spoof rejection and S3 audit attestation.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covers distributed SQL engines and cloud data warehouses. On top, Trino v440's live Cluster Overview transitions from two prior queries to recording our newly executed third query explicitly attributed to geap-hop5-agent at finvault dot com. On the bottom row, ClickHouse v24.8's native Play UI proves row-level security from both sides: when finvault_user attempts to select RetailStream's tenant ID, ClickHouse returns an empty zero-row result, whereas the authorized FinVault query returns both CMEK-tagged settlement rows in two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demonstrates safe write-path automation across ITSM and engineering escalation systems. In Row 1, Redmine v5.1 starts with two baseline tickets and updates live to three tickets as our MCP tool files P1 change attestation CHG0049299. In Row 2, Gitea v1.22.3 starts with zero replies on escalation Issue 1; after Hop 4 Cloud SDP redacts sensitive IBAN and SWIFT identifiers, the agent posts a complete, audit-linked RCA comment with raw_pii_leaked verified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examines regulated GxP compliance and human-capital records. Notice how authentic these unmodified open-source container captures are: in Row 1, NocoDB v0.255.2 grows from three compliance records to four as our tool appends AWS-GXP-104 signed live by Cloud KMS ECDSA P-256. In Row 2, Directus v11.1.0 updates from two compensation items to three items after Hop 4 masks raw US Social Security Numbers prior to inserting the audited FinVault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21 completes our ten-of-ten SaaS visual tour with observability and zero-trust secret management. On top, Datalust Seq v2024.3 expands the freshly ingested OpenTelemetry CLEF trace confirming zero prompt injection and zero PII leakage for tenant FinVault. On the bottom, HashiCorp Vault v1.13.3 advances live from Version 1 to Version 2 only after verifying the caller's RFC 9449 hardware-bound DPoP thumbprint—closing all twenty before-and-after proofs without a single mocked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pull those engineering proofs into bottom-line business benefits on Slide 23. First, sharing a 32k Gemini 2.5 Pro prefix cache safely inside Pattern A drops net input token spend per turn by 84.7%. Second, looking at the bar chart on the left, keeping 950 commercial tenants in Pattern A while assigning 50 regulated customers to Pattern B or C cuts portfolio infrastructure spend from 4.0x down to 1.04x—a 74% TCO reduction. And third, your CISO, CFO, and VP of Engineering finally share one coherent operating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on Slide 24, here is a concrete 14-day path your team can execute starting Monday morning: Day 1, classify your customer list through the two-question decision tree; Day 2, run the 27-file ADK workbench locally to verify JWT minting and ARD pruning; Week 1, apply the Terraform modules for Cloud Armor, Valkey token buckets, AlloyDB FORCE RLS, and BigQuery OpenTelemetry chargeback; and Week 2, run the 20-test FinVault and RetailStream red-team canary before cutting over live traffic. From here, Blogs 2, 3, and 4 dive into the full code and Terraform for Patterns A, B, and C.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image" Target="../media/image-8-19.png"/><Relationship Id="rId20" Type="http://schemas.openxmlformats.org/officeDocument/2006/relationships/image" Target="../media/image-8-20.png"/><Relationship Id="rId21" Type="http://schemas.openxmlformats.org/officeDocument/2006/relationships/slideLayout" Target="../slideLayouts/slideLayout1.xml"/><Relationship Id="rId2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image" Target="../media/image-9-16.png"/><Relationship Id="rId17" Type="http://schemas.openxmlformats.org/officeDocument/2006/relationships/image" Target="../media/image-9-17.png"/><Relationship Id="rId18" Type="http://schemas.openxmlformats.org/officeDocument/2006/relationships/image" Target="../media/image-9-18.png"/><Relationship Id="rId19" Type="http://schemas.openxmlformats.org/officeDocument/2006/relationships/image" Target="../media/image-9-19.png"/><Relationship Id="rId20" Type="http://schemas.openxmlformats.org/officeDocument/2006/relationships/image" Target="../media/image-9-20.png"/><Relationship Id="rId21" Type="http://schemas.openxmlformats.org/officeDocument/2006/relationships/slideLayout" Target="../slideLayouts/slideLayout1.xml"/><Relationship Id="rId2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D4ED8"/>
          </a:solidFill>
          <a:ln/>
        </p:spPr>
      </p:sp>
      <p:sp>
        <p:nvSpPr>
          <p:cNvPr id="3" name="Shape 1"/>
          <p:cNvSpPr/>
          <p:nvPr/>
        </p:nvSpPr>
        <p:spPr>
          <a:xfrm>
            <a:off x="7360920" y="0"/>
            <a:ext cx="4830775" cy="6858000"/>
          </a:xfrm>
          <a:prstGeom prst="rect">
            <a:avLst/>
          </a:prstGeom>
          <a:solidFill>
            <a:srgbClr val="F1F5F9"/>
          </a:solidFill>
          <a:ln/>
        </p:spPr>
      </p:sp>
      <p:sp>
        <p:nvSpPr>
          <p:cNvPr id="4" name="Shape 2"/>
          <p:cNvSpPr/>
          <p:nvPr/>
        </p:nvSpPr>
        <p:spPr>
          <a:xfrm>
            <a:off x="7360920" y="0"/>
            <a:ext cx="0" cy="6858000"/>
          </a:xfrm>
          <a:prstGeom prst="line">
            <a:avLst/>
          </a:prstGeom>
          <a:noFill/>
          <a:ln w="12700">
            <a:solidFill>
              <a:srgbClr val="CBD5E1"/>
            </a:solidFill>
            <a:prstDash val="solid"/>
          </a:ln>
        </p:spPr>
      </p:sp>
      <p:sp>
        <p:nvSpPr>
          <p:cNvPr id="5" name="Shape 3"/>
          <p:cNvSpPr/>
          <p:nvPr/>
        </p:nvSpPr>
        <p:spPr>
          <a:xfrm>
            <a:off x="566928" y="512064"/>
            <a:ext cx="3977640" cy="256032"/>
          </a:xfrm>
          <a:prstGeom prst="roundRect">
            <a:avLst>
              <a:gd name="adj" fmla="val 28571"/>
            </a:avLst>
          </a:prstGeom>
          <a:solidFill>
            <a:srgbClr val="EFF6FF"/>
          </a:solidFill>
          <a:ln w="9525">
            <a:solidFill>
              <a:srgbClr val="BFDBFE"/>
            </a:solidFill>
            <a:prstDash val="solid"/>
          </a:ln>
        </p:spPr>
      </p:sp>
      <p:sp>
        <p:nvSpPr>
          <p:cNvPr id="6" name="Text 4"/>
          <p:cNvSpPr/>
          <p:nvPr/>
        </p:nvSpPr>
        <p:spPr>
          <a:xfrm>
            <a:off x="566928" y="512064"/>
            <a:ext cx="3977640" cy="256032"/>
          </a:xfrm>
          <a:prstGeom prst="rect">
            <a:avLst/>
          </a:prstGeom>
          <a:noFill/>
          <a:ln/>
        </p:spPr>
        <p:txBody>
          <a:bodyPr wrap="square" lIns="0" tIns="0" rIns="0" bIns="0" rtlCol="0" anchor="ctr"/>
          <a:lstStyle/>
          <a:p>
            <a:pPr algn="ctr" indent="0" marL="0">
              <a:lnSpc>
                <a:spcPct val="105000"/>
              </a:lnSpc>
              <a:buNone/>
            </a:pPr>
            <a:r>
              <a:rPr lang="en-US" sz="750" b="1" dirty="0">
                <a:solidFill>
                  <a:srgbClr val="1D4ED8"/>
                </a:solidFill>
                <a:latin typeface="Arial" pitchFamily="34" charset="0"/>
                <a:ea typeface="Arial" pitchFamily="34" charset="-122"/>
                <a:cs typeface="Arial" pitchFamily="34" charset="-120"/>
              </a:rPr>
              <a:t>GOOGLE CLOUD AI ARCHITECTURE  •  BLOG 1 OF 5</a:t>
            </a:r>
            <a:endParaRPr lang="en-US" sz="750" dirty="0"/>
          </a:p>
        </p:txBody>
      </p:sp>
      <p:sp>
        <p:nvSpPr>
          <p:cNvPr id="7" name="Text 5"/>
          <p:cNvSpPr/>
          <p:nvPr/>
        </p:nvSpPr>
        <p:spPr>
          <a:xfrm>
            <a:off x="566928" y="950976"/>
            <a:ext cx="6446520" cy="1261872"/>
          </a:xfrm>
          <a:prstGeom prst="rect">
            <a:avLst/>
          </a:prstGeom>
          <a:noFill/>
          <a:ln/>
        </p:spPr>
        <p:txBody>
          <a:bodyPr wrap="square" lIns="0" tIns="0" rIns="0" bIns="0" rtlCol="0" anchor="t"/>
          <a:lstStyle/>
          <a:p>
            <a:pPr algn="l" indent="0" marL="0">
              <a:lnSpc>
                <a:spcPct val="108000"/>
              </a:lnSpc>
              <a:buNone/>
            </a:pPr>
            <a:r>
              <a:rPr lang="en-US" sz="2650" b="1" dirty="0">
                <a:solidFill>
                  <a:srgbClr val="0F172A"/>
                </a:solidFill>
                <a:latin typeface="Arial" pitchFamily="34" charset="0"/>
                <a:ea typeface="Arial" pitchFamily="34" charset="-122"/>
                <a:cs typeface="Arial" pitchFamily="34" charset="-120"/>
              </a:rPr>
              <a:t>Multi-Tenant Agentic AI Without</a:t>
            </a:r>
            <a:endParaRPr lang="en-US" sz="2650" dirty="0"/>
          </a:p>
          <a:p>
            <a:pPr algn="l" indent="0" marL="0">
              <a:lnSpc>
                <a:spcPct val="108000"/>
              </a:lnSpc>
              <a:buNone/>
            </a:pPr>
            <a:r>
              <a:rPr lang="en-US" sz="2650" b="1" dirty="0">
                <a:solidFill>
                  <a:srgbClr val="0F172A"/>
                </a:solidFill>
                <a:latin typeface="Arial" pitchFamily="34" charset="0"/>
                <a:ea typeface="Arial" pitchFamily="34" charset="-122"/>
                <a:cs typeface="Arial" pitchFamily="34" charset="-120"/>
              </a:rPr>
              <a:t>the Margin-vs.-Security Trade-Off</a:t>
            </a:r>
            <a:endParaRPr lang="en-US" sz="2650" dirty="0"/>
          </a:p>
        </p:txBody>
      </p:sp>
      <p:sp>
        <p:nvSpPr>
          <p:cNvPr id="8" name="Text 6"/>
          <p:cNvSpPr/>
          <p:nvPr/>
        </p:nvSpPr>
        <p:spPr>
          <a:xfrm>
            <a:off x="566928" y="2304288"/>
            <a:ext cx="6355080" cy="713232"/>
          </a:xfrm>
          <a:prstGeom prst="rect">
            <a:avLst/>
          </a:prstGeom>
          <a:noFill/>
          <a:ln/>
        </p:spPr>
        <p:txBody>
          <a:bodyPr wrap="square" lIns="0" tIns="0" rIns="0" bIns="0" rtlCol="0" anchor="t"/>
          <a:lstStyle/>
          <a:p>
            <a:pPr algn="l" indent="0" marL="0">
              <a:lnSpc>
                <a:spcPct val="115000"/>
              </a:lnSpc>
              <a:buNone/>
            </a:pPr>
            <a:r>
              <a:rPr lang="en-US" sz="1120" dirty="0">
                <a:solidFill>
                  <a:srgbClr val="334155"/>
                </a:solidFill>
                <a:latin typeface="Arial" pitchFamily="34" charset="0"/>
                <a:ea typeface="Arial" pitchFamily="34" charset="-122"/>
                <a:cs typeface="Arial" pitchFamily="34" charset="-120"/>
              </a:rPr>
              <a:t>A practical reference taxonomy and 5-Hop cryptographic governance baseline for running Pooled (Pattern A), Sovereign Silo (Pattern B), and Dynamic Hybrid PSC (Pattern C) AI agents from one 80%-shared codebase.</a:t>
            </a:r>
            <a:endParaRPr lang="en-US" sz="1120" dirty="0"/>
          </a:p>
        </p:txBody>
      </p:sp>
      <p:sp>
        <p:nvSpPr>
          <p:cNvPr id="9" name="Shape 7"/>
          <p:cNvSpPr/>
          <p:nvPr/>
        </p:nvSpPr>
        <p:spPr>
          <a:xfrm>
            <a:off x="589788" y="3207715"/>
            <a:ext cx="6355080" cy="1078992"/>
          </a:xfrm>
          <a:prstGeom prst="roundRect">
            <a:avLst>
              <a:gd name="adj" fmla="val 5932"/>
            </a:avLst>
          </a:prstGeom>
          <a:solidFill>
            <a:srgbClr val="E2E8F0"/>
          </a:solidFill>
          <a:ln/>
        </p:spPr>
      </p:sp>
      <p:sp>
        <p:nvSpPr>
          <p:cNvPr id="10" name="Shape 8"/>
          <p:cNvSpPr/>
          <p:nvPr/>
        </p:nvSpPr>
        <p:spPr>
          <a:xfrm>
            <a:off x="566928" y="3182112"/>
            <a:ext cx="6355080" cy="1078992"/>
          </a:xfrm>
          <a:prstGeom prst="roundRect">
            <a:avLst>
              <a:gd name="adj" fmla="val 5932"/>
            </a:avLst>
          </a:prstGeom>
          <a:solidFill>
            <a:srgbClr val="FFFFFF"/>
          </a:solidFill>
          <a:ln w="10795">
            <a:solidFill>
              <a:srgbClr val="BFDBFE"/>
            </a:solidFill>
            <a:prstDash val="solid"/>
          </a:ln>
        </p:spPr>
      </p:sp>
      <p:sp>
        <p:nvSpPr>
          <p:cNvPr id="11" name="Shape 9"/>
          <p:cNvSpPr/>
          <p:nvPr/>
        </p:nvSpPr>
        <p:spPr>
          <a:xfrm>
            <a:off x="566928" y="3182112"/>
            <a:ext cx="54864" cy="1078992"/>
          </a:xfrm>
          <a:prstGeom prst="roundRect">
            <a:avLst>
              <a:gd name="adj" fmla="val 33333"/>
            </a:avLst>
          </a:prstGeom>
          <a:solidFill>
            <a:srgbClr val="1D4ED8"/>
          </a:solidFill>
          <a:ln/>
        </p:spPr>
      </p:sp>
      <p:sp>
        <p:nvSpPr>
          <p:cNvPr id="12" name="Text 10"/>
          <p:cNvSpPr/>
          <p:nvPr/>
        </p:nvSpPr>
        <p:spPr>
          <a:xfrm>
            <a:off x="768096" y="3291840"/>
            <a:ext cx="5943600" cy="182880"/>
          </a:xfrm>
          <a:prstGeom prst="rect">
            <a:avLst/>
          </a:prstGeom>
          <a:noFill/>
          <a:ln/>
        </p:spPr>
        <p:txBody>
          <a:bodyPr wrap="square" lIns="0" tIns="0" rIns="0" bIns="0" rtlCol="0" anchor="ctr"/>
          <a:lstStyle/>
          <a:p>
            <a:pPr indent="0" marL="0">
              <a:lnSpc>
                <a:spcPct val="105000"/>
              </a:lnSpc>
              <a:buNone/>
            </a:pPr>
            <a:r>
              <a:rPr lang="en-US" sz="750" b="1" spc="90" kern="0" dirty="0">
                <a:solidFill>
                  <a:srgbClr val="1D4ED8"/>
                </a:solidFill>
                <a:latin typeface="Arial" pitchFamily="34" charset="0"/>
                <a:ea typeface="Arial" pitchFamily="34" charset="-122"/>
                <a:cs typeface="Arial" pitchFamily="34" charset="-120"/>
              </a:rPr>
              <a:t>CORE ARCHITECTURAL THESIS</a:t>
            </a:r>
            <a:endParaRPr lang="en-US" sz="750" dirty="0"/>
          </a:p>
        </p:txBody>
      </p:sp>
      <p:sp>
        <p:nvSpPr>
          <p:cNvPr id="13" name="Text 11"/>
          <p:cNvSpPr/>
          <p:nvPr/>
        </p:nvSpPr>
        <p:spPr>
          <a:xfrm>
            <a:off x="768096" y="3511296"/>
            <a:ext cx="5989320" cy="658368"/>
          </a:xfrm>
          <a:prstGeom prst="rect">
            <a:avLst/>
          </a:prstGeom>
          <a:noFill/>
          <a:ln/>
        </p:spPr>
        <p:txBody>
          <a:bodyPr wrap="square" lIns="0" tIns="0" rIns="0" bIns="0" rtlCol="0" anchor="ctr"/>
          <a:lstStyle/>
          <a:p>
            <a:pPr indent="0" marL="0">
              <a:lnSpc>
                <a:spcPct val="112000"/>
              </a:lnSpc>
              <a:buNone/>
            </a:pPr>
            <a:r>
              <a:rPr lang="en-US" sz="920" dirty="0">
                <a:solidFill>
                  <a:srgbClr val="0F172A"/>
                </a:solidFill>
                <a:latin typeface="Arial" pitchFamily="34" charset="0"/>
                <a:ea typeface="Arial" pitchFamily="34" charset="-122"/>
                <a:cs typeface="Arial" pitchFamily="34" charset="-120"/>
              </a:rPr>
              <a:t>Tenant isolation is a per-customer business decision, not a single platform-wide compromise. Decouple identity, catalog pruning, quota enforcement, and DLP into an immutable 5-Hop Context Chain so commercial and regulated tenants share one engineering pipeline.</a:t>
            </a:r>
            <a:endParaRPr lang="en-US" sz="920" dirty="0"/>
          </a:p>
        </p:txBody>
      </p:sp>
      <p:sp>
        <p:nvSpPr>
          <p:cNvPr id="14" name="Shape 12"/>
          <p:cNvSpPr/>
          <p:nvPr/>
        </p:nvSpPr>
        <p:spPr>
          <a:xfrm>
            <a:off x="589788" y="4487875"/>
            <a:ext cx="2029968" cy="1207008"/>
          </a:xfrm>
          <a:prstGeom prst="roundRect">
            <a:avLst>
              <a:gd name="adj" fmla="val 5303"/>
            </a:avLst>
          </a:prstGeom>
          <a:solidFill>
            <a:srgbClr val="E2E8F0"/>
          </a:solidFill>
          <a:ln/>
        </p:spPr>
      </p:sp>
      <p:sp>
        <p:nvSpPr>
          <p:cNvPr id="15" name="Shape 13"/>
          <p:cNvSpPr/>
          <p:nvPr/>
        </p:nvSpPr>
        <p:spPr>
          <a:xfrm>
            <a:off x="566928" y="4462272"/>
            <a:ext cx="2029968" cy="1207008"/>
          </a:xfrm>
          <a:prstGeom prst="roundRect">
            <a:avLst>
              <a:gd name="adj" fmla="val 5303"/>
            </a:avLst>
          </a:prstGeom>
          <a:solidFill>
            <a:srgbClr val="FFFFFF"/>
          </a:solidFill>
          <a:ln w="10795">
            <a:solidFill>
              <a:srgbClr val="CBD5E1"/>
            </a:solidFill>
            <a:prstDash val="solid"/>
          </a:ln>
        </p:spPr>
      </p:sp>
      <p:sp>
        <p:nvSpPr>
          <p:cNvPr id="16" name="Shape 14"/>
          <p:cNvSpPr/>
          <p:nvPr/>
        </p:nvSpPr>
        <p:spPr>
          <a:xfrm>
            <a:off x="566928" y="4462272"/>
            <a:ext cx="2029968" cy="50292"/>
          </a:xfrm>
          <a:prstGeom prst="roundRect">
            <a:avLst>
              <a:gd name="adj" fmla="val 36364"/>
            </a:avLst>
          </a:prstGeom>
          <a:solidFill>
            <a:srgbClr val="4338CA"/>
          </a:solidFill>
          <a:ln/>
        </p:spPr>
      </p:sp>
      <p:sp>
        <p:nvSpPr>
          <p:cNvPr id="17" name="Text 15"/>
          <p:cNvSpPr/>
          <p:nvPr/>
        </p:nvSpPr>
        <p:spPr>
          <a:xfrm>
            <a:off x="694944" y="4590288"/>
            <a:ext cx="1773936" cy="402336"/>
          </a:xfrm>
          <a:prstGeom prst="rect">
            <a:avLst/>
          </a:prstGeom>
          <a:noFill/>
          <a:ln/>
        </p:spPr>
        <p:txBody>
          <a:bodyPr wrap="square" lIns="0" tIns="0" rIns="0" bIns="0" rtlCol="0" anchor="ctr"/>
          <a:lstStyle/>
          <a:p>
            <a:pPr indent="0" marL="0">
              <a:lnSpc>
                <a:spcPct val="105000"/>
              </a:lnSpc>
              <a:buNone/>
            </a:pPr>
            <a:r>
              <a:rPr lang="en-US" sz="2000" b="1" dirty="0">
                <a:solidFill>
                  <a:srgbClr val="4338CA"/>
                </a:solidFill>
                <a:latin typeface="Arial" pitchFamily="34" charset="0"/>
                <a:ea typeface="Arial" pitchFamily="34" charset="-122"/>
                <a:cs typeface="Arial" pitchFamily="34" charset="-120"/>
              </a:rPr>
              <a:t>80%</a:t>
            </a:r>
            <a:endParaRPr lang="en-US" sz="2000" dirty="0"/>
          </a:p>
        </p:txBody>
      </p:sp>
      <p:sp>
        <p:nvSpPr>
          <p:cNvPr id="18" name="Text 16"/>
          <p:cNvSpPr/>
          <p:nvPr/>
        </p:nvSpPr>
        <p:spPr>
          <a:xfrm>
            <a:off x="694944" y="5010912"/>
            <a:ext cx="1773936" cy="219456"/>
          </a:xfrm>
          <a:prstGeom prst="rect">
            <a:avLst/>
          </a:prstGeom>
          <a:noFill/>
          <a:ln/>
        </p:spPr>
        <p:txBody>
          <a:bodyPr wrap="square" lIns="0" tIns="0" rIns="0" bIns="0" rtlCol="0" anchor="ctr"/>
          <a:lstStyle/>
          <a:p>
            <a:pPr indent="0" marL="0">
              <a:lnSpc>
                <a:spcPct val="105000"/>
              </a:lnSpc>
              <a:buNone/>
            </a:pPr>
            <a:r>
              <a:rPr lang="en-US" sz="860" b="1" dirty="0">
                <a:solidFill>
                  <a:srgbClr val="0F172A"/>
                </a:solidFill>
                <a:latin typeface="Arial" pitchFamily="34" charset="0"/>
                <a:ea typeface="Arial" pitchFamily="34" charset="-122"/>
                <a:cs typeface="Arial" pitchFamily="34" charset="-120"/>
              </a:rPr>
              <a:t>Shared Python ADK Core</a:t>
            </a:r>
            <a:endParaRPr lang="en-US" sz="860" dirty="0"/>
          </a:p>
        </p:txBody>
      </p:sp>
      <p:sp>
        <p:nvSpPr>
          <p:cNvPr id="19" name="Text 17"/>
          <p:cNvSpPr/>
          <p:nvPr/>
        </p:nvSpPr>
        <p:spPr>
          <a:xfrm>
            <a:off x="694944" y="5248656"/>
            <a:ext cx="1773936" cy="292608"/>
          </a:xfrm>
          <a:prstGeom prst="rect">
            <a:avLst/>
          </a:prstGeom>
          <a:noFill/>
          <a:ln/>
        </p:spPr>
        <p:txBody>
          <a:bodyPr wrap="square" lIns="0" tIns="0" rIns="0" bIns="0" rtlCol="0" anchor="ctr"/>
          <a:lstStyle/>
          <a:p>
            <a:pPr indent="0" marL="0">
              <a:lnSpc>
                <a:spcPct val="108000"/>
              </a:lnSpc>
              <a:buNone/>
            </a:pPr>
            <a:r>
              <a:rPr lang="en-US" sz="760" dirty="0">
                <a:solidFill>
                  <a:srgbClr val="64748B"/>
                </a:solidFill>
                <a:latin typeface="Arial" pitchFamily="34" charset="0"/>
                <a:ea typeface="Arial" pitchFamily="34" charset="-122"/>
                <a:cs typeface="Arial" pitchFamily="34" charset="-120"/>
              </a:rPr>
              <a:t>20% Cloud Perimeter Delta</a:t>
            </a:r>
            <a:endParaRPr lang="en-US" sz="760" dirty="0"/>
          </a:p>
        </p:txBody>
      </p:sp>
      <p:sp>
        <p:nvSpPr>
          <p:cNvPr id="20" name="Shape 18"/>
          <p:cNvSpPr/>
          <p:nvPr/>
        </p:nvSpPr>
        <p:spPr>
          <a:xfrm>
            <a:off x="2747772" y="4487875"/>
            <a:ext cx="2029968" cy="1207008"/>
          </a:xfrm>
          <a:prstGeom prst="roundRect">
            <a:avLst>
              <a:gd name="adj" fmla="val 5303"/>
            </a:avLst>
          </a:prstGeom>
          <a:solidFill>
            <a:srgbClr val="E2E8F0"/>
          </a:solidFill>
          <a:ln/>
        </p:spPr>
      </p:sp>
      <p:sp>
        <p:nvSpPr>
          <p:cNvPr id="21" name="Shape 19"/>
          <p:cNvSpPr/>
          <p:nvPr/>
        </p:nvSpPr>
        <p:spPr>
          <a:xfrm>
            <a:off x="2724912" y="4462272"/>
            <a:ext cx="2029968" cy="1207008"/>
          </a:xfrm>
          <a:prstGeom prst="roundRect">
            <a:avLst>
              <a:gd name="adj" fmla="val 5303"/>
            </a:avLst>
          </a:prstGeom>
          <a:solidFill>
            <a:srgbClr val="FFFFFF"/>
          </a:solidFill>
          <a:ln w="10795">
            <a:solidFill>
              <a:srgbClr val="CBD5E1"/>
            </a:solidFill>
            <a:prstDash val="solid"/>
          </a:ln>
        </p:spPr>
      </p:sp>
      <p:sp>
        <p:nvSpPr>
          <p:cNvPr id="22" name="Shape 20"/>
          <p:cNvSpPr/>
          <p:nvPr/>
        </p:nvSpPr>
        <p:spPr>
          <a:xfrm>
            <a:off x="2724912" y="4462272"/>
            <a:ext cx="2029968" cy="50292"/>
          </a:xfrm>
          <a:prstGeom prst="roundRect">
            <a:avLst>
              <a:gd name="adj" fmla="val 36364"/>
            </a:avLst>
          </a:prstGeom>
          <a:solidFill>
            <a:srgbClr val="0F766E"/>
          </a:solidFill>
          <a:ln/>
        </p:spPr>
      </p:sp>
      <p:sp>
        <p:nvSpPr>
          <p:cNvPr id="23" name="Text 21"/>
          <p:cNvSpPr/>
          <p:nvPr/>
        </p:nvSpPr>
        <p:spPr>
          <a:xfrm>
            <a:off x="2852928" y="4590288"/>
            <a:ext cx="1773936" cy="402336"/>
          </a:xfrm>
          <a:prstGeom prst="rect">
            <a:avLst/>
          </a:prstGeom>
          <a:noFill/>
          <a:ln/>
        </p:spPr>
        <p:txBody>
          <a:bodyPr wrap="square" lIns="0" tIns="0" rIns="0" bIns="0" rtlCol="0" anchor="ctr"/>
          <a:lstStyle/>
          <a:p>
            <a:pPr indent="0" marL="0">
              <a:lnSpc>
                <a:spcPct val="105000"/>
              </a:lnSpc>
              <a:buNone/>
            </a:pPr>
            <a:r>
              <a:rPr lang="en-US" sz="2000" b="1" dirty="0">
                <a:solidFill>
                  <a:srgbClr val="0F766E"/>
                </a:solidFill>
                <a:latin typeface="Arial" pitchFamily="34" charset="0"/>
                <a:ea typeface="Arial" pitchFamily="34" charset="-122"/>
                <a:cs typeface="Arial" pitchFamily="34" charset="-120"/>
              </a:rPr>
              <a:t>~42ms</a:t>
            </a:r>
            <a:endParaRPr lang="en-US" sz="2000" dirty="0"/>
          </a:p>
        </p:txBody>
      </p:sp>
      <p:sp>
        <p:nvSpPr>
          <p:cNvPr id="24" name="Text 22"/>
          <p:cNvSpPr/>
          <p:nvPr/>
        </p:nvSpPr>
        <p:spPr>
          <a:xfrm>
            <a:off x="2852928" y="5010912"/>
            <a:ext cx="1773936" cy="219456"/>
          </a:xfrm>
          <a:prstGeom prst="rect">
            <a:avLst/>
          </a:prstGeom>
          <a:noFill/>
          <a:ln/>
        </p:spPr>
        <p:txBody>
          <a:bodyPr wrap="square" lIns="0" tIns="0" rIns="0" bIns="0" rtlCol="0" anchor="ctr"/>
          <a:lstStyle/>
          <a:p>
            <a:pPr indent="0" marL="0">
              <a:lnSpc>
                <a:spcPct val="105000"/>
              </a:lnSpc>
              <a:buNone/>
            </a:pPr>
            <a:r>
              <a:rPr lang="en-US" sz="860" b="1" dirty="0">
                <a:solidFill>
                  <a:srgbClr val="0F172A"/>
                </a:solidFill>
                <a:latin typeface="Arial" pitchFamily="34" charset="0"/>
                <a:ea typeface="Arial" pitchFamily="34" charset="-122"/>
                <a:cs typeface="Arial" pitchFamily="34" charset="-120"/>
              </a:rPr>
              <a:t>p95 5-Hop Governance</a:t>
            </a:r>
            <a:endParaRPr lang="en-US" sz="860" dirty="0"/>
          </a:p>
        </p:txBody>
      </p:sp>
      <p:sp>
        <p:nvSpPr>
          <p:cNvPr id="25" name="Text 23"/>
          <p:cNvSpPr/>
          <p:nvPr/>
        </p:nvSpPr>
        <p:spPr>
          <a:xfrm>
            <a:off x="2852928" y="5248656"/>
            <a:ext cx="1773936" cy="292608"/>
          </a:xfrm>
          <a:prstGeom prst="rect">
            <a:avLst/>
          </a:prstGeom>
          <a:noFill/>
          <a:ln/>
        </p:spPr>
        <p:txBody>
          <a:bodyPr wrap="square" lIns="0" tIns="0" rIns="0" bIns="0" rtlCol="0" anchor="ctr"/>
          <a:lstStyle/>
          <a:p>
            <a:pPr indent="0" marL="0">
              <a:lnSpc>
                <a:spcPct val="108000"/>
              </a:lnSpc>
              <a:buNone/>
            </a:pPr>
            <a:r>
              <a:rPr lang="en-US" sz="760" dirty="0">
                <a:solidFill>
                  <a:srgbClr val="64748B"/>
                </a:solidFill>
                <a:latin typeface="Arial" pitchFamily="34" charset="0"/>
                <a:ea typeface="Arial" pitchFamily="34" charset="-122"/>
                <a:cs typeface="Arial" pitchFamily="34" charset="-120"/>
              </a:rPr>
              <a:t>&lt;2.5% of Agent Turn TTFT</a:t>
            </a:r>
            <a:endParaRPr lang="en-US" sz="760" dirty="0"/>
          </a:p>
        </p:txBody>
      </p:sp>
      <p:sp>
        <p:nvSpPr>
          <p:cNvPr id="26" name="Shape 24"/>
          <p:cNvSpPr/>
          <p:nvPr/>
        </p:nvSpPr>
        <p:spPr>
          <a:xfrm>
            <a:off x="4905756" y="4487875"/>
            <a:ext cx="2029968" cy="1207008"/>
          </a:xfrm>
          <a:prstGeom prst="roundRect">
            <a:avLst>
              <a:gd name="adj" fmla="val 5303"/>
            </a:avLst>
          </a:prstGeom>
          <a:solidFill>
            <a:srgbClr val="E2E8F0"/>
          </a:solidFill>
          <a:ln/>
        </p:spPr>
      </p:sp>
      <p:sp>
        <p:nvSpPr>
          <p:cNvPr id="27" name="Shape 25"/>
          <p:cNvSpPr/>
          <p:nvPr/>
        </p:nvSpPr>
        <p:spPr>
          <a:xfrm>
            <a:off x="4882896" y="4462272"/>
            <a:ext cx="2029968" cy="1207008"/>
          </a:xfrm>
          <a:prstGeom prst="roundRect">
            <a:avLst>
              <a:gd name="adj" fmla="val 5303"/>
            </a:avLst>
          </a:prstGeom>
          <a:solidFill>
            <a:srgbClr val="FFFFFF"/>
          </a:solidFill>
          <a:ln w="10795">
            <a:solidFill>
              <a:srgbClr val="CBD5E1"/>
            </a:solidFill>
            <a:prstDash val="solid"/>
          </a:ln>
        </p:spPr>
      </p:sp>
      <p:sp>
        <p:nvSpPr>
          <p:cNvPr id="28" name="Shape 26"/>
          <p:cNvSpPr/>
          <p:nvPr/>
        </p:nvSpPr>
        <p:spPr>
          <a:xfrm>
            <a:off x="4882896" y="4462272"/>
            <a:ext cx="2029968" cy="50292"/>
          </a:xfrm>
          <a:prstGeom prst="roundRect">
            <a:avLst>
              <a:gd name="adj" fmla="val 36364"/>
            </a:avLst>
          </a:prstGeom>
          <a:solidFill>
            <a:srgbClr val="047857"/>
          </a:solidFill>
          <a:ln/>
        </p:spPr>
      </p:sp>
      <p:sp>
        <p:nvSpPr>
          <p:cNvPr id="29" name="Text 27"/>
          <p:cNvSpPr/>
          <p:nvPr/>
        </p:nvSpPr>
        <p:spPr>
          <a:xfrm>
            <a:off x="5010912" y="4590288"/>
            <a:ext cx="1773936" cy="402336"/>
          </a:xfrm>
          <a:prstGeom prst="rect">
            <a:avLst/>
          </a:prstGeom>
          <a:noFill/>
          <a:ln/>
        </p:spPr>
        <p:txBody>
          <a:bodyPr wrap="square" lIns="0" tIns="0" rIns="0" bIns="0" rtlCol="0" anchor="ctr"/>
          <a:lstStyle/>
          <a:p>
            <a:pPr indent="0" marL="0">
              <a:lnSpc>
                <a:spcPct val="105000"/>
              </a:lnSpc>
              <a:buNone/>
            </a:pPr>
            <a:r>
              <a:rPr lang="en-US" sz="2000" b="1" dirty="0">
                <a:solidFill>
                  <a:srgbClr val="047857"/>
                </a:solidFill>
                <a:latin typeface="Arial" pitchFamily="34" charset="0"/>
                <a:ea typeface="Arial" pitchFamily="34" charset="-122"/>
                <a:cs typeface="Arial" pitchFamily="34" charset="-120"/>
              </a:rPr>
              <a:t>0 Leaks</a:t>
            </a:r>
            <a:endParaRPr lang="en-US" sz="2000" dirty="0"/>
          </a:p>
        </p:txBody>
      </p:sp>
      <p:sp>
        <p:nvSpPr>
          <p:cNvPr id="30" name="Text 28"/>
          <p:cNvSpPr/>
          <p:nvPr/>
        </p:nvSpPr>
        <p:spPr>
          <a:xfrm>
            <a:off x="5010912" y="5010912"/>
            <a:ext cx="1773936" cy="219456"/>
          </a:xfrm>
          <a:prstGeom prst="rect">
            <a:avLst/>
          </a:prstGeom>
          <a:noFill/>
          <a:ln/>
        </p:spPr>
        <p:txBody>
          <a:bodyPr wrap="square" lIns="0" tIns="0" rIns="0" bIns="0" rtlCol="0" anchor="ctr"/>
          <a:lstStyle/>
          <a:p>
            <a:pPr indent="0" marL="0">
              <a:lnSpc>
                <a:spcPct val="105000"/>
              </a:lnSpc>
              <a:buNone/>
            </a:pPr>
            <a:r>
              <a:rPr lang="en-US" sz="860" b="1" dirty="0">
                <a:solidFill>
                  <a:srgbClr val="0F172A"/>
                </a:solidFill>
                <a:latin typeface="Arial" pitchFamily="34" charset="0"/>
                <a:ea typeface="Arial" pitchFamily="34" charset="-122"/>
                <a:cs typeface="Arial" pitchFamily="34" charset="-120"/>
              </a:rPr>
              <a:t>20/20 GCP + 30/30 AWS PASS</a:t>
            </a:r>
            <a:endParaRPr lang="en-US" sz="860" dirty="0"/>
          </a:p>
        </p:txBody>
      </p:sp>
      <p:sp>
        <p:nvSpPr>
          <p:cNvPr id="31" name="Text 29"/>
          <p:cNvSpPr/>
          <p:nvPr/>
        </p:nvSpPr>
        <p:spPr>
          <a:xfrm>
            <a:off x="5010912" y="5248656"/>
            <a:ext cx="1773936" cy="292608"/>
          </a:xfrm>
          <a:prstGeom prst="rect">
            <a:avLst/>
          </a:prstGeom>
          <a:noFill/>
          <a:ln/>
        </p:spPr>
        <p:txBody>
          <a:bodyPr wrap="square" lIns="0" tIns="0" rIns="0" bIns="0" rtlCol="0" anchor="ctr"/>
          <a:lstStyle/>
          <a:p>
            <a:pPr indent="0" marL="0">
              <a:lnSpc>
                <a:spcPct val="108000"/>
              </a:lnSpc>
              <a:buNone/>
            </a:pPr>
            <a:r>
              <a:rPr lang="en-US" sz="760" dirty="0">
                <a:solidFill>
                  <a:srgbClr val="64748B"/>
                </a:solidFill>
                <a:latin typeface="Arial" pitchFamily="34" charset="0"/>
                <a:ea typeface="Arial" pitchFamily="34" charset="-122"/>
                <a:cs typeface="Arial" pitchFamily="34" charset="-120"/>
              </a:rPr>
              <a:t>13/13 Forensic Gates Verified</a:t>
            </a:r>
            <a:endParaRPr lang="en-US" sz="760" dirty="0"/>
          </a:p>
        </p:txBody>
      </p:sp>
      <p:sp>
        <p:nvSpPr>
          <p:cNvPr id="32" name="Text 30"/>
          <p:cNvSpPr/>
          <p:nvPr/>
        </p:nvSpPr>
        <p:spPr>
          <a:xfrm>
            <a:off x="566928" y="6254496"/>
            <a:ext cx="6492240" cy="219456"/>
          </a:xfrm>
          <a:prstGeom prst="rect">
            <a:avLst/>
          </a:prstGeom>
          <a:noFill/>
          <a:ln/>
        </p:spPr>
        <p:txBody>
          <a:bodyPr wrap="square" lIns="0" tIns="0" rIns="0" bIns="0" rtlCol="0" anchor="ctr"/>
          <a:lstStyle/>
          <a:p>
            <a:pPr indent="0" marL="0">
              <a:lnSpc>
                <a:spcPct val="105000"/>
              </a:lnSpc>
              <a:buNone/>
            </a:pPr>
            <a:r>
              <a:rPr lang="en-US" sz="750" b="1" dirty="0">
                <a:solidFill>
                  <a:srgbClr val="64748B"/>
                </a:solidFill>
                <a:latin typeface="Arial" pitchFamily="34" charset="0"/>
                <a:ea typeface="Arial" pitchFamily="34" charset="-122"/>
                <a:cs typeface="Arial" pitchFamily="34" charset="-120"/>
              </a:rPr>
              <a:t>Cloud Architecture Center Guide (DOC-MT-01)  •  Vertex AI Agent Engine, ADK, MCP &amp; Gemini Enterprise  •  October 2026</a:t>
            </a:r>
            <a:endParaRPr lang="en-US" sz="750" dirty="0"/>
          </a:p>
        </p:txBody>
      </p:sp>
      <p:sp>
        <p:nvSpPr>
          <p:cNvPr id="33" name="Text 31"/>
          <p:cNvSpPr/>
          <p:nvPr/>
        </p:nvSpPr>
        <p:spPr>
          <a:xfrm>
            <a:off x="7699248" y="512064"/>
            <a:ext cx="4023360" cy="201168"/>
          </a:xfrm>
          <a:prstGeom prst="rect">
            <a:avLst/>
          </a:prstGeom>
          <a:noFill/>
          <a:ln/>
        </p:spPr>
        <p:txBody>
          <a:bodyPr wrap="square" lIns="0" tIns="0" rIns="0" bIns="0" rtlCol="0" anchor="ctr"/>
          <a:lstStyle/>
          <a:p>
            <a:pPr indent="0" marL="0">
              <a:lnSpc>
                <a:spcPct val="105000"/>
              </a:lnSpc>
              <a:buNone/>
            </a:pPr>
            <a:r>
              <a:rPr lang="en-US" sz="820" b="1" spc="100" kern="0" dirty="0">
                <a:solidFill>
                  <a:srgbClr val="64748B"/>
                </a:solidFill>
                <a:latin typeface="Arial" pitchFamily="34" charset="0"/>
                <a:ea typeface="Arial" pitchFamily="34" charset="-122"/>
                <a:cs typeface="Arial" pitchFamily="34" charset="-120"/>
              </a:rPr>
              <a:t>END-TO-END PRESENTATION FLOW</a:t>
            </a:r>
            <a:endParaRPr lang="en-US" sz="820" dirty="0"/>
          </a:p>
        </p:txBody>
      </p:sp>
      <p:sp>
        <p:nvSpPr>
          <p:cNvPr id="34" name="Shape 32"/>
          <p:cNvSpPr/>
          <p:nvPr/>
        </p:nvSpPr>
        <p:spPr>
          <a:xfrm>
            <a:off x="7936992" y="1133856"/>
            <a:ext cx="0" cy="4709160"/>
          </a:xfrm>
          <a:prstGeom prst="line">
            <a:avLst/>
          </a:prstGeom>
          <a:noFill/>
          <a:ln w="19050">
            <a:solidFill>
              <a:srgbClr val="94A3B8"/>
            </a:solidFill>
            <a:prstDash val="solid"/>
          </a:ln>
        </p:spPr>
      </p:sp>
      <p:sp>
        <p:nvSpPr>
          <p:cNvPr id="35" name="Shape 33"/>
          <p:cNvSpPr/>
          <p:nvPr/>
        </p:nvSpPr>
        <p:spPr>
          <a:xfrm>
            <a:off x="7754112" y="1060704"/>
            <a:ext cx="365760" cy="365760"/>
          </a:xfrm>
          <a:prstGeom prst="ellipse">
            <a:avLst/>
          </a:prstGeom>
          <a:solidFill>
            <a:srgbClr val="B91C1C"/>
          </a:solidFill>
          <a:ln/>
        </p:spPr>
      </p:sp>
      <p:sp>
        <p:nvSpPr>
          <p:cNvPr id="36" name="Text 34"/>
          <p:cNvSpPr/>
          <p:nvPr/>
        </p:nvSpPr>
        <p:spPr>
          <a:xfrm>
            <a:off x="7754112" y="1060704"/>
            <a:ext cx="365760" cy="365760"/>
          </a:xfrm>
          <a:prstGeom prst="rect">
            <a:avLst/>
          </a:prstGeom>
          <a:noFill/>
          <a:ln/>
        </p:spPr>
        <p:txBody>
          <a:bodyPr wrap="square" lIns="0" tIns="0" rIns="0" bIns="0" rtlCol="0" anchor="ctr"/>
          <a:lstStyle/>
          <a:p>
            <a:pPr algn="ctr" indent="0" marL="0">
              <a:lnSpc>
                <a:spcPct val="100000"/>
              </a:lnSpc>
              <a:buNone/>
            </a:pPr>
            <a:r>
              <a:rPr lang="en-US" sz="900" b="1" dirty="0">
                <a:solidFill>
                  <a:srgbClr val="FFFFFF"/>
                </a:solidFill>
                <a:latin typeface="Arial" pitchFamily="34" charset="0"/>
                <a:ea typeface="Arial" pitchFamily="34" charset="-122"/>
                <a:cs typeface="Arial" pitchFamily="34" charset="-120"/>
              </a:rPr>
              <a:t>01</a:t>
            </a:r>
            <a:endParaRPr lang="en-US" sz="900" dirty="0"/>
          </a:p>
        </p:txBody>
      </p:sp>
      <p:sp>
        <p:nvSpPr>
          <p:cNvPr id="37" name="Shape 35"/>
          <p:cNvSpPr/>
          <p:nvPr/>
        </p:nvSpPr>
        <p:spPr>
          <a:xfrm>
            <a:off x="8266176" y="841248"/>
            <a:ext cx="3493008" cy="877824"/>
          </a:xfrm>
          <a:prstGeom prst="roundRect">
            <a:avLst>
              <a:gd name="adj" fmla="val 7292"/>
            </a:avLst>
          </a:prstGeom>
          <a:solidFill>
            <a:srgbClr val="FFFFFF"/>
          </a:solidFill>
          <a:ln w="10795">
            <a:solidFill>
              <a:srgbClr val="CBD5E1"/>
            </a:solidFill>
            <a:prstDash val="solid"/>
          </a:ln>
        </p:spPr>
      </p:sp>
      <p:sp>
        <p:nvSpPr>
          <p:cNvPr id="38" name="Shape 36"/>
          <p:cNvSpPr/>
          <p:nvPr/>
        </p:nvSpPr>
        <p:spPr>
          <a:xfrm>
            <a:off x="8266176" y="841248"/>
            <a:ext cx="54864" cy="877824"/>
          </a:xfrm>
          <a:prstGeom prst="roundRect">
            <a:avLst>
              <a:gd name="adj" fmla="val 33333"/>
            </a:avLst>
          </a:prstGeom>
          <a:solidFill>
            <a:srgbClr val="B91C1C"/>
          </a:solidFill>
          <a:ln/>
        </p:spPr>
      </p:sp>
      <p:sp>
        <p:nvSpPr>
          <p:cNvPr id="39" name="Text 37"/>
          <p:cNvSpPr/>
          <p:nvPr/>
        </p:nvSpPr>
        <p:spPr>
          <a:xfrm>
            <a:off x="8412480" y="914400"/>
            <a:ext cx="1371600" cy="146304"/>
          </a:xfrm>
          <a:prstGeom prst="rect">
            <a:avLst/>
          </a:prstGeom>
          <a:noFill/>
          <a:ln/>
        </p:spPr>
        <p:txBody>
          <a:bodyPr wrap="square" lIns="0" tIns="0" rIns="0" bIns="0" rtlCol="0" anchor="ctr"/>
          <a:lstStyle/>
          <a:p>
            <a:pPr indent="0" marL="0">
              <a:lnSpc>
                <a:spcPct val="105000"/>
              </a:lnSpc>
              <a:buNone/>
            </a:pPr>
            <a:r>
              <a:rPr lang="en-US" sz="650" b="1" spc="60" kern="0" dirty="0">
                <a:solidFill>
                  <a:srgbClr val="B91C1C"/>
                </a:solidFill>
                <a:latin typeface="Arial" pitchFamily="34" charset="0"/>
                <a:ea typeface="Arial" pitchFamily="34" charset="-122"/>
                <a:cs typeface="Arial" pitchFamily="34" charset="-120"/>
              </a:rPr>
              <a:t>SLIDES 02–04</a:t>
            </a:r>
            <a:endParaRPr lang="en-US" sz="650" dirty="0"/>
          </a:p>
        </p:txBody>
      </p:sp>
      <p:sp>
        <p:nvSpPr>
          <p:cNvPr id="40" name="Text 38"/>
          <p:cNvSpPr/>
          <p:nvPr/>
        </p:nvSpPr>
        <p:spPr>
          <a:xfrm>
            <a:off x="8412480" y="1069848"/>
            <a:ext cx="3218688" cy="201168"/>
          </a:xfrm>
          <a:prstGeom prst="rect">
            <a:avLst/>
          </a:prstGeom>
          <a:noFill/>
          <a:ln/>
        </p:spPr>
        <p:txBody>
          <a:bodyPr wrap="square" lIns="0" tIns="0" rIns="0" bIns="0" rtlCol="0" anchor="ctr"/>
          <a:lstStyle/>
          <a:p>
            <a:pPr indent="0" marL="0">
              <a:lnSpc>
                <a:spcPct val="105000"/>
              </a:lnSpc>
              <a:buNone/>
            </a:pPr>
            <a:r>
              <a:rPr lang="en-US" sz="920" b="1" dirty="0">
                <a:solidFill>
                  <a:srgbClr val="0F172A"/>
                </a:solidFill>
                <a:latin typeface="Arial" pitchFamily="34" charset="0"/>
                <a:ea typeface="Arial" pitchFamily="34" charset="-122"/>
                <a:cs typeface="Arial" pitchFamily="34" charset="-120"/>
              </a:rPr>
              <a:t>The Real Problem &amp; Tenant Conflict</a:t>
            </a:r>
            <a:endParaRPr lang="en-US" sz="920" dirty="0"/>
          </a:p>
        </p:txBody>
      </p:sp>
      <p:sp>
        <p:nvSpPr>
          <p:cNvPr id="41" name="Text 39"/>
          <p:cNvSpPr/>
          <p:nvPr/>
        </p:nvSpPr>
        <p:spPr>
          <a:xfrm>
            <a:off x="8412480" y="1280160"/>
            <a:ext cx="3218688" cy="384048"/>
          </a:xfrm>
          <a:prstGeom prst="rect">
            <a:avLst/>
          </a:prstGeom>
          <a:noFill/>
          <a:ln/>
        </p:spPr>
        <p:txBody>
          <a:bodyPr wrap="square" lIns="0" tIns="0" rIns="0" bIns="0" rtlCol="0" anchor="ctr"/>
          <a:lstStyle/>
          <a:p>
            <a:pPr indent="0" marL="0">
              <a:lnSpc>
                <a:spcPct val="108000"/>
              </a:lnSpc>
              <a:buNone/>
            </a:pPr>
            <a:r>
              <a:rPr lang="en-US" sz="740" dirty="0">
                <a:solidFill>
                  <a:srgbClr val="334155"/>
                </a:solidFill>
                <a:latin typeface="Arial" pitchFamily="34" charset="0"/>
                <a:ea typeface="Arial" pitchFamily="34" charset="-122"/>
                <a:cs typeface="Arial" pitchFamily="34" charset="-120"/>
              </a:rPr>
              <a:t>Why stateless CRUD isolation fails on stateful AI agents; the margin-vs.-CISO fork; FinVault vs. RetailStream.</a:t>
            </a:r>
            <a:endParaRPr lang="en-US" sz="740" dirty="0"/>
          </a:p>
        </p:txBody>
      </p:sp>
      <p:sp>
        <p:nvSpPr>
          <p:cNvPr id="42" name="Shape 40"/>
          <p:cNvSpPr/>
          <p:nvPr/>
        </p:nvSpPr>
        <p:spPr>
          <a:xfrm>
            <a:off x="7754112" y="2121408"/>
            <a:ext cx="365760" cy="365760"/>
          </a:xfrm>
          <a:prstGeom prst="ellipse">
            <a:avLst/>
          </a:prstGeom>
          <a:solidFill>
            <a:srgbClr val="4338CA"/>
          </a:solidFill>
          <a:ln/>
        </p:spPr>
      </p:sp>
      <p:sp>
        <p:nvSpPr>
          <p:cNvPr id="43" name="Text 41"/>
          <p:cNvSpPr/>
          <p:nvPr/>
        </p:nvSpPr>
        <p:spPr>
          <a:xfrm>
            <a:off x="7754112" y="2121408"/>
            <a:ext cx="365760" cy="365760"/>
          </a:xfrm>
          <a:prstGeom prst="rect">
            <a:avLst/>
          </a:prstGeom>
          <a:noFill/>
          <a:ln/>
        </p:spPr>
        <p:txBody>
          <a:bodyPr wrap="square" lIns="0" tIns="0" rIns="0" bIns="0" rtlCol="0" anchor="ctr"/>
          <a:lstStyle/>
          <a:p>
            <a:pPr algn="ctr" indent="0" marL="0">
              <a:lnSpc>
                <a:spcPct val="100000"/>
              </a:lnSpc>
              <a:buNone/>
            </a:pPr>
            <a:r>
              <a:rPr lang="en-US" sz="900" b="1" dirty="0">
                <a:solidFill>
                  <a:srgbClr val="FFFFFF"/>
                </a:solidFill>
                <a:latin typeface="Arial" pitchFamily="34" charset="0"/>
                <a:ea typeface="Arial" pitchFamily="34" charset="-122"/>
                <a:cs typeface="Arial" pitchFamily="34" charset="-120"/>
              </a:rPr>
              <a:t>02</a:t>
            </a:r>
            <a:endParaRPr lang="en-US" sz="900" dirty="0"/>
          </a:p>
        </p:txBody>
      </p:sp>
      <p:sp>
        <p:nvSpPr>
          <p:cNvPr id="44" name="Shape 42"/>
          <p:cNvSpPr/>
          <p:nvPr/>
        </p:nvSpPr>
        <p:spPr>
          <a:xfrm>
            <a:off x="8266176" y="1901952"/>
            <a:ext cx="3493008" cy="877824"/>
          </a:xfrm>
          <a:prstGeom prst="roundRect">
            <a:avLst>
              <a:gd name="adj" fmla="val 7292"/>
            </a:avLst>
          </a:prstGeom>
          <a:solidFill>
            <a:srgbClr val="FFFFFF"/>
          </a:solidFill>
          <a:ln w="10795">
            <a:solidFill>
              <a:srgbClr val="CBD5E1"/>
            </a:solidFill>
            <a:prstDash val="solid"/>
          </a:ln>
        </p:spPr>
      </p:sp>
      <p:sp>
        <p:nvSpPr>
          <p:cNvPr id="45" name="Shape 43"/>
          <p:cNvSpPr/>
          <p:nvPr/>
        </p:nvSpPr>
        <p:spPr>
          <a:xfrm>
            <a:off x="8266176" y="1901952"/>
            <a:ext cx="54864" cy="877824"/>
          </a:xfrm>
          <a:prstGeom prst="roundRect">
            <a:avLst>
              <a:gd name="adj" fmla="val 33333"/>
            </a:avLst>
          </a:prstGeom>
          <a:solidFill>
            <a:srgbClr val="4338CA"/>
          </a:solidFill>
          <a:ln/>
        </p:spPr>
      </p:sp>
      <p:sp>
        <p:nvSpPr>
          <p:cNvPr id="46" name="Text 44"/>
          <p:cNvSpPr/>
          <p:nvPr/>
        </p:nvSpPr>
        <p:spPr>
          <a:xfrm>
            <a:off x="8412480" y="1975104"/>
            <a:ext cx="1371600" cy="146304"/>
          </a:xfrm>
          <a:prstGeom prst="rect">
            <a:avLst/>
          </a:prstGeom>
          <a:noFill/>
          <a:ln/>
        </p:spPr>
        <p:txBody>
          <a:bodyPr wrap="square" lIns="0" tIns="0" rIns="0" bIns="0" rtlCol="0" anchor="ctr"/>
          <a:lstStyle/>
          <a:p>
            <a:pPr indent="0" marL="0">
              <a:lnSpc>
                <a:spcPct val="105000"/>
              </a:lnSpc>
              <a:buNone/>
            </a:pPr>
            <a:r>
              <a:rPr lang="en-US" sz="650" b="1" spc="60" kern="0" dirty="0">
                <a:solidFill>
                  <a:srgbClr val="4338CA"/>
                </a:solidFill>
                <a:latin typeface="Arial" pitchFamily="34" charset="0"/>
                <a:ea typeface="Arial" pitchFamily="34" charset="-122"/>
                <a:cs typeface="Arial" pitchFamily="34" charset="-120"/>
              </a:rPr>
              <a:t>SLIDES 05–06</a:t>
            </a:r>
            <a:endParaRPr lang="en-US" sz="650" dirty="0"/>
          </a:p>
        </p:txBody>
      </p:sp>
      <p:sp>
        <p:nvSpPr>
          <p:cNvPr id="47" name="Text 45"/>
          <p:cNvSpPr/>
          <p:nvPr/>
        </p:nvSpPr>
        <p:spPr>
          <a:xfrm>
            <a:off x="8412480" y="2130552"/>
            <a:ext cx="3218688" cy="201168"/>
          </a:xfrm>
          <a:prstGeom prst="rect">
            <a:avLst/>
          </a:prstGeom>
          <a:noFill/>
          <a:ln/>
        </p:spPr>
        <p:txBody>
          <a:bodyPr wrap="square" lIns="0" tIns="0" rIns="0" bIns="0" rtlCol="0" anchor="ctr"/>
          <a:lstStyle/>
          <a:p>
            <a:pPr indent="0" marL="0">
              <a:lnSpc>
                <a:spcPct val="105000"/>
              </a:lnSpc>
              <a:buNone/>
            </a:pPr>
            <a:r>
              <a:rPr lang="en-US" sz="920" b="1" dirty="0">
                <a:solidFill>
                  <a:srgbClr val="0F172A"/>
                </a:solidFill>
                <a:latin typeface="Arial" pitchFamily="34" charset="0"/>
                <a:ea typeface="Arial" pitchFamily="34" charset="-122"/>
                <a:cs typeface="Arial" pitchFamily="34" charset="-120"/>
              </a:rPr>
              <a:t>Genuine Solution &amp; Decision Tree</a:t>
            </a:r>
            <a:endParaRPr lang="en-US" sz="920" dirty="0"/>
          </a:p>
        </p:txBody>
      </p:sp>
      <p:sp>
        <p:nvSpPr>
          <p:cNvPr id="48" name="Text 46"/>
          <p:cNvSpPr/>
          <p:nvPr/>
        </p:nvSpPr>
        <p:spPr>
          <a:xfrm>
            <a:off x="8412480" y="2340864"/>
            <a:ext cx="3218688" cy="384048"/>
          </a:xfrm>
          <a:prstGeom prst="rect">
            <a:avLst/>
          </a:prstGeom>
          <a:noFill/>
          <a:ln/>
        </p:spPr>
        <p:txBody>
          <a:bodyPr wrap="square" lIns="0" tIns="0" rIns="0" bIns="0" rtlCol="0" anchor="ctr"/>
          <a:lstStyle/>
          <a:p>
            <a:pPr indent="0" marL="0">
              <a:lnSpc>
                <a:spcPct val="108000"/>
              </a:lnSpc>
              <a:buNone/>
            </a:pPr>
            <a:r>
              <a:rPr lang="en-US" sz="740" dirty="0">
                <a:solidFill>
                  <a:srgbClr val="334155"/>
                </a:solidFill>
                <a:latin typeface="Arial" pitchFamily="34" charset="0"/>
                <a:ea typeface="Arial" pitchFamily="34" charset="-122"/>
                <a:cs typeface="Arial" pitchFamily="34" charset="-120"/>
              </a:rPr>
              <a:t>Mapping ADK, ARD &amp; MCP to OS kernel primitives; 80/20 plug-in core; 2-question Pattern A/B/C selector.</a:t>
            </a:r>
            <a:endParaRPr lang="en-US" sz="740" dirty="0"/>
          </a:p>
        </p:txBody>
      </p:sp>
      <p:sp>
        <p:nvSpPr>
          <p:cNvPr id="49" name="Shape 47"/>
          <p:cNvSpPr/>
          <p:nvPr/>
        </p:nvSpPr>
        <p:spPr>
          <a:xfrm>
            <a:off x="7754112" y="3182112"/>
            <a:ext cx="365760" cy="365760"/>
          </a:xfrm>
          <a:prstGeom prst="ellipse">
            <a:avLst/>
          </a:prstGeom>
          <a:solidFill>
            <a:srgbClr val="1D4ED8"/>
          </a:solidFill>
          <a:ln/>
        </p:spPr>
      </p:sp>
      <p:sp>
        <p:nvSpPr>
          <p:cNvPr id="50" name="Text 48"/>
          <p:cNvSpPr/>
          <p:nvPr/>
        </p:nvSpPr>
        <p:spPr>
          <a:xfrm>
            <a:off x="7754112" y="3182112"/>
            <a:ext cx="365760" cy="365760"/>
          </a:xfrm>
          <a:prstGeom prst="rect">
            <a:avLst/>
          </a:prstGeom>
          <a:noFill/>
          <a:ln/>
        </p:spPr>
        <p:txBody>
          <a:bodyPr wrap="square" lIns="0" tIns="0" rIns="0" bIns="0" rtlCol="0" anchor="ctr"/>
          <a:lstStyle/>
          <a:p>
            <a:pPr algn="ctr" indent="0" marL="0">
              <a:lnSpc>
                <a:spcPct val="100000"/>
              </a:lnSpc>
              <a:buNone/>
            </a:pPr>
            <a:r>
              <a:rPr lang="en-US" sz="900" b="1" dirty="0">
                <a:solidFill>
                  <a:srgbClr val="FFFFFF"/>
                </a:solidFill>
                <a:latin typeface="Arial" pitchFamily="34" charset="0"/>
                <a:ea typeface="Arial" pitchFamily="34" charset="-122"/>
                <a:cs typeface="Arial" pitchFamily="34" charset="-120"/>
              </a:rPr>
              <a:t>03</a:t>
            </a:r>
            <a:endParaRPr lang="en-US" sz="900" dirty="0"/>
          </a:p>
        </p:txBody>
      </p:sp>
      <p:sp>
        <p:nvSpPr>
          <p:cNvPr id="51" name="Shape 49"/>
          <p:cNvSpPr/>
          <p:nvPr/>
        </p:nvSpPr>
        <p:spPr>
          <a:xfrm>
            <a:off x="8266176" y="2962656"/>
            <a:ext cx="3493008" cy="877824"/>
          </a:xfrm>
          <a:prstGeom prst="roundRect">
            <a:avLst>
              <a:gd name="adj" fmla="val 7292"/>
            </a:avLst>
          </a:prstGeom>
          <a:solidFill>
            <a:srgbClr val="FFFFFF"/>
          </a:solidFill>
          <a:ln w="10795">
            <a:solidFill>
              <a:srgbClr val="CBD5E1"/>
            </a:solidFill>
            <a:prstDash val="solid"/>
          </a:ln>
        </p:spPr>
      </p:sp>
      <p:sp>
        <p:nvSpPr>
          <p:cNvPr id="52" name="Shape 50"/>
          <p:cNvSpPr/>
          <p:nvPr/>
        </p:nvSpPr>
        <p:spPr>
          <a:xfrm>
            <a:off x="8266176" y="2962656"/>
            <a:ext cx="54864" cy="877824"/>
          </a:xfrm>
          <a:prstGeom prst="roundRect">
            <a:avLst>
              <a:gd name="adj" fmla="val 33333"/>
            </a:avLst>
          </a:prstGeom>
          <a:solidFill>
            <a:srgbClr val="1D4ED8"/>
          </a:solidFill>
          <a:ln/>
        </p:spPr>
      </p:sp>
      <p:sp>
        <p:nvSpPr>
          <p:cNvPr id="53" name="Text 51"/>
          <p:cNvSpPr/>
          <p:nvPr/>
        </p:nvSpPr>
        <p:spPr>
          <a:xfrm>
            <a:off x="8412480" y="3035808"/>
            <a:ext cx="1371600" cy="146304"/>
          </a:xfrm>
          <a:prstGeom prst="rect">
            <a:avLst/>
          </a:prstGeom>
          <a:noFill/>
          <a:ln/>
        </p:spPr>
        <p:txBody>
          <a:bodyPr wrap="square" lIns="0" tIns="0" rIns="0" bIns="0" rtlCol="0" anchor="ctr"/>
          <a:lstStyle/>
          <a:p>
            <a:pPr indent="0" marL="0">
              <a:lnSpc>
                <a:spcPct val="105000"/>
              </a:lnSpc>
              <a:buNone/>
            </a:pPr>
            <a:r>
              <a:rPr lang="en-US" sz="650" b="1" spc="60" kern="0" dirty="0">
                <a:solidFill>
                  <a:srgbClr val="1D4ED8"/>
                </a:solidFill>
                <a:latin typeface="Arial" pitchFamily="34" charset="0"/>
                <a:ea typeface="Arial" pitchFamily="34" charset="-122"/>
                <a:cs typeface="Arial" pitchFamily="34" charset="-120"/>
              </a:rPr>
              <a:t>SLIDES 07–09</a:t>
            </a:r>
            <a:endParaRPr lang="en-US" sz="650" dirty="0"/>
          </a:p>
        </p:txBody>
      </p:sp>
      <p:sp>
        <p:nvSpPr>
          <p:cNvPr id="54" name="Text 52"/>
          <p:cNvSpPr/>
          <p:nvPr/>
        </p:nvSpPr>
        <p:spPr>
          <a:xfrm>
            <a:off x="8412480" y="3191256"/>
            <a:ext cx="3218688" cy="201168"/>
          </a:xfrm>
          <a:prstGeom prst="rect">
            <a:avLst/>
          </a:prstGeom>
          <a:noFill/>
          <a:ln/>
        </p:spPr>
        <p:txBody>
          <a:bodyPr wrap="square" lIns="0" tIns="0" rIns="0" bIns="0" rtlCol="0" anchor="ctr"/>
          <a:lstStyle/>
          <a:p>
            <a:pPr indent="0" marL="0">
              <a:lnSpc>
                <a:spcPct val="105000"/>
              </a:lnSpc>
              <a:buNone/>
            </a:pPr>
            <a:r>
              <a:rPr lang="en-US" sz="920" b="1" dirty="0">
                <a:solidFill>
                  <a:srgbClr val="0F172A"/>
                </a:solidFill>
                <a:latin typeface="Arial" pitchFamily="34" charset="0"/>
                <a:ea typeface="Arial" pitchFamily="34" charset="-122"/>
                <a:cs typeface="Arial" pitchFamily="34" charset="-120"/>
              </a:rPr>
              <a:t>L1 Zone Taxonomy &amp; Editable #78 Blueprints</a:t>
            </a:r>
            <a:endParaRPr lang="en-US" sz="920" dirty="0"/>
          </a:p>
        </p:txBody>
      </p:sp>
      <p:sp>
        <p:nvSpPr>
          <p:cNvPr id="55" name="Text 53"/>
          <p:cNvSpPr/>
          <p:nvPr/>
        </p:nvSpPr>
        <p:spPr>
          <a:xfrm>
            <a:off x="8412480" y="3401568"/>
            <a:ext cx="3218688" cy="384048"/>
          </a:xfrm>
          <a:prstGeom prst="rect">
            <a:avLst/>
          </a:prstGeom>
          <a:noFill/>
          <a:ln/>
        </p:spPr>
        <p:txBody>
          <a:bodyPr wrap="square" lIns="0" tIns="0" rIns="0" bIns="0" rtlCol="0" anchor="ctr"/>
          <a:lstStyle/>
          <a:p>
            <a:pPr indent="0" marL="0">
              <a:lnSpc>
                <a:spcPct val="108000"/>
              </a:lnSpc>
              <a:buNone/>
            </a:pPr>
            <a:r>
              <a:rPr lang="en-US" sz="740" dirty="0">
                <a:solidFill>
                  <a:srgbClr val="334155"/>
                </a:solidFill>
                <a:latin typeface="Arial" pitchFamily="34" charset="0"/>
                <a:ea typeface="Arial" pitchFamily="34" charset="-122"/>
                <a:cs typeface="Arial" pitchFamily="34" charset="-120"/>
              </a:rPr>
              <a:t>3-layer security taxonomy → 4 VPC-SC perimeters + full-height editable Draw.io Figures 1 &amp; 2 (Slides 08–09).</a:t>
            </a:r>
            <a:endParaRPr lang="en-US" sz="740" dirty="0"/>
          </a:p>
        </p:txBody>
      </p:sp>
      <p:sp>
        <p:nvSpPr>
          <p:cNvPr id="56" name="Shape 54"/>
          <p:cNvSpPr/>
          <p:nvPr/>
        </p:nvSpPr>
        <p:spPr>
          <a:xfrm>
            <a:off x="7754112" y="4242816"/>
            <a:ext cx="365760" cy="365760"/>
          </a:xfrm>
          <a:prstGeom prst="ellipse">
            <a:avLst/>
          </a:prstGeom>
          <a:solidFill>
            <a:srgbClr val="B45309"/>
          </a:solidFill>
          <a:ln/>
        </p:spPr>
      </p:sp>
      <p:sp>
        <p:nvSpPr>
          <p:cNvPr id="57" name="Text 55"/>
          <p:cNvSpPr/>
          <p:nvPr/>
        </p:nvSpPr>
        <p:spPr>
          <a:xfrm>
            <a:off x="7754112" y="4242816"/>
            <a:ext cx="365760" cy="365760"/>
          </a:xfrm>
          <a:prstGeom prst="rect">
            <a:avLst/>
          </a:prstGeom>
          <a:noFill/>
          <a:ln/>
        </p:spPr>
        <p:txBody>
          <a:bodyPr wrap="square" lIns="0" tIns="0" rIns="0" bIns="0" rtlCol="0" anchor="ctr"/>
          <a:lstStyle/>
          <a:p>
            <a:pPr algn="ctr" indent="0" marL="0">
              <a:lnSpc>
                <a:spcPct val="100000"/>
              </a:lnSpc>
              <a:buNone/>
            </a:pPr>
            <a:r>
              <a:rPr lang="en-US" sz="900" b="1" dirty="0">
                <a:solidFill>
                  <a:srgbClr val="FFFFFF"/>
                </a:solidFill>
                <a:latin typeface="Arial" pitchFamily="34" charset="0"/>
                <a:ea typeface="Arial" pitchFamily="34" charset="-122"/>
                <a:cs typeface="Arial" pitchFamily="34" charset="-120"/>
              </a:rPr>
              <a:t>04</a:t>
            </a:r>
            <a:endParaRPr lang="en-US" sz="900" dirty="0"/>
          </a:p>
        </p:txBody>
      </p:sp>
      <p:sp>
        <p:nvSpPr>
          <p:cNvPr id="58" name="Shape 56"/>
          <p:cNvSpPr/>
          <p:nvPr/>
        </p:nvSpPr>
        <p:spPr>
          <a:xfrm>
            <a:off x="8266176" y="4023360"/>
            <a:ext cx="3493008" cy="877824"/>
          </a:xfrm>
          <a:prstGeom prst="roundRect">
            <a:avLst>
              <a:gd name="adj" fmla="val 7292"/>
            </a:avLst>
          </a:prstGeom>
          <a:solidFill>
            <a:srgbClr val="FFFFFF"/>
          </a:solidFill>
          <a:ln w="10795">
            <a:solidFill>
              <a:srgbClr val="CBD5E1"/>
            </a:solidFill>
            <a:prstDash val="solid"/>
          </a:ln>
        </p:spPr>
      </p:sp>
      <p:sp>
        <p:nvSpPr>
          <p:cNvPr id="59" name="Shape 57"/>
          <p:cNvSpPr/>
          <p:nvPr/>
        </p:nvSpPr>
        <p:spPr>
          <a:xfrm>
            <a:off x="8266176" y="4023360"/>
            <a:ext cx="54864" cy="877824"/>
          </a:xfrm>
          <a:prstGeom prst="roundRect">
            <a:avLst>
              <a:gd name="adj" fmla="val 33333"/>
            </a:avLst>
          </a:prstGeom>
          <a:solidFill>
            <a:srgbClr val="B45309"/>
          </a:solidFill>
          <a:ln/>
        </p:spPr>
      </p:sp>
      <p:sp>
        <p:nvSpPr>
          <p:cNvPr id="60" name="Text 58"/>
          <p:cNvSpPr/>
          <p:nvPr/>
        </p:nvSpPr>
        <p:spPr>
          <a:xfrm>
            <a:off x="8412480" y="4096512"/>
            <a:ext cx="1371600" cy="146304"/>
          </a:xfrm>
          <a:prstGeom prst="rect">
            <a:avLst/>
          </a:prstGeom>
          <a:noFill/>
          <a:ln/>
        </p:spPr>
        <p:txBody>
          <a:bodyPr wrap="square" lIns="0" tIns="0" rIns="0" bIns="0" rtlCol="0" anchor="ctr"/>
          <a:lstStyle/>
          <a:p>
            <a:pPr indent="0" marL="0">
              <a:lnSpc>
                <a:spcPct val="105000"/>
              </a:lnSpc>
              <a:buNone/>
            </a:pPr>
            <a:r>
              <a:rPr lang="en-US" sz="650" b="1" spc="60" kern="0" dirty="0">
                <a:solidFill>
                  <a:srgbClr val="B45309"/>
                </a:solidFill>
                <a:latin typeface="Arial" pitchFamily="34" charset="0"/>
                <a:ea typeface="Arial" pitchFamily="34" charset="-122"/>
                <a:cs typeface="Arial" pitchFamily="34" charset="-120"/>
              </a:rPr>
              <a:t>SLIDES 10–15</a:t>
            </a:r>
            <a:endParaRPr lang="en-US" sz="650" dirty="0"/>
          </a:p>
        </p:txBody>
      </p:sp>
      <p:sp>
        <p:nvSpPr>
          <p:cNvPr id="61" name="Text 59"/>
          <p:cNvSpPr/>
          <p:nvPr/>
        </p:nvSpPr>
        <p:spPr>
          <a:xfrm>
            <a:off x="8412480" y="4251960"/>
            <a:ext cx="3218688" cy="201168"/>
          </a:xfrm>
          <a:prstGeom prst="rect">
            <a:avLst/>
          </a:prstGeom>
          <a:noFill/>
          <a:ln/>
        </p:spPr>
        <p:txBody>
          <a:bodyPr wrap="square" lIns="0" tIns="0" rIns="0" bIns="0" rtlCol="0" anchor="ctr"/>
          <a:lstStyle/>
          <a:p>
            <a:pPr indent="0" marL="0">
              <a:lnSpc>
                <a:spcPct val="105000"/>
              </a:lnSpc>
              <a:buNone/>
            </a:pPr>
            <a:r>
              <a:rPr lang="en-US" sz="920" b="1" dirty="0">
                <a:solidFill>
                  <a:srgbClr val="0F172A"/>
                </a:solidFill>
                <a:latin typeface="Arial" pitchFamily="34" charset="0"/>
                <a:ea typeface="Arial" pitchFamily="34" charset="-122"/>
                <a:cs typeface="Arial" pitchFamily="34" charset="-120"/>
              </a:rPr>
              <a:t>Process Flow, Day-2 Lock, Wire JWT &amp; 3LO</a:t>
            </a:r>
            <a:endParaRPr lang="en-US" sz="920" dirty="0"/>
          </a:p>
        </p:txBody>
      </p:sp>
      <p:sp>
        <p:nvSpPr>
          <p:cNvPr id="62" name="Text 60"/>
          <p:cNvSpPr/>
          <p:nvPr/>
        </p:nvSpPr>
        <p:spPr>
          <a:xfrm>
            <a:off x="8412480" y="4462272"/>
            <a:ext cx="3218688" cy="384048"/>
          </a:xfrm>
          <a:prstGeom prst="rect">
            <a:avLst/>
          </a:prstGeom>
          <a:noFill/>
          <a:ln/>
        </p:spPr>
        <p:txBody>
          <a:bodyPr wrap="square" lIns="0" tIns="0" rIns="0" bIns="0" rtlCol="0" anchor="ctr"/>
          <a:lstStyle/>
          <a:p>
            <a:pPr indent="0" marL="0">
              <a:lnSpc>
                <a:spcPct val="108000"/>
              </a:lnSpc>
              <a:buNone/>
            </a:pPr>
            <a:r>
              <a:rPr lang="en-US" sz="740" dirty="0">
                <a:solidFill>
                  <a:srgbClr val="334155"/>
                </a:solidFill>
                <a:latin typeface="Arial" pitchFamily="34" charset="0"/>
                <a:ea typeface="Arial" pitchFamily="34" charset="-122"/>
                <a:cs typeface="Arial" pitchFamily="34" charset="-120"/>
              </a:rPr>
              <a:t>~42ms waterfall, 5-actor UML swimlane, KMS kill-switch &amp; single-flight, Hop 1 JWT, 3LO vault &amp; GAP-01..05.</a:t>
            </a:r>
            <a:endParaRPr lang="en-US" sz="740" dirty="0"/>
          </a:p>
        </p:txBody>
      </p:sp>
      <p:sp>
        <p:nvSpPr>
          <p:cNvPr id="63" name="Shape 61"/>
          <p:cNvSpPr/>
          <p:nvPr/>
        </p:nvSpPr>
        <p:spPr>
          <a:xfrm>
            <a:off x="7754112" y="5303520"/>
            <a:ext cx="365760" cy="365760"/>
          </a:xfrm>
          <a:prstGeom prst="ellipse">
            <a:avLst/>
          </a:prstGeom>
          <a:solidFill>
            <a:srgbClr val="047857"/>
          </a:solidFill>
          <a:ln/>
        </p:spPr>
      </p:sp>
      <p:sp>
        <p:nvSpPr>
          <p:cNvPr id="64" name="Text 62"/>
          <p:cNvSpPr/>
          <p:nvPr/>
        </p:nvSpPr>
        <p:spPr>
          <a:xfrm>
            <a:off x="7754112" y="5303520"/>
            <a:ext cx="365760" cy="365760"/>
          </a:xfrm>
          <a:prstGeom prst="rect">
            <a:avLst/>
          </a:prstGeom>
          <a:noFill/>
          <a:ln/>
        </p:spPr>
        <p:txBody>
          <a:bodyPr wrap="square" lIns="0" tIns="0" rIns="0" bIns="0" rtlCol="0" anchor="ctr"/>
          <a:lstStyle/>
          <a:p>
            <a:pPr algn="ctr" indent="0" marL="0">
              <a:lnSpc>
                <a:spcPct val="100000"/>
              </a:lnSpc>
              <a:buNone/>
            </a:pPr>
            <a:r>
              <a:rPr lang="en-US" sz="900" b="1" dirty="0">
                <a:solidFill>
                  <a:srgbClr val="FFFFFF"/>
                </a:solidFill>
                <a:latin typeface="Arial" pitchFamily="34" charset="0"/>
                <a:ea typeface="Arial" pitchFamily="34" charset="-122"/>
                <a:cs typeface="Arial" pitchFamily="34" charset="-120"/>
              </a:rPr>
              <a:t>05</a:t>
            </a:r>
            <a:endParaRPr lang="en-US" sz="900" dirty="0"/>
          </a:p>
        </p:txBody>
      </p:sp>
      <p:sp>
        <p:nvSpPr>
          <p:cNvPr id="65" name="Shape 63"/>
          <p:cNvSpPr/>
          <p:nvPr/>
        </p:nvSpPr>
        <p:spPr>
          <a:xfrm>
            <a:off x="8266176" y="5084064"/>
            <a:ext cx="3493008" cy="877824"/>
          </a:xfrm>
          <a:prstGeom prst="roundRect">
            <a:avLst>
              <a:gd name="adj" fmla="val 7292"/>
            </a:avLst>
          </a:prstGeom>
          <a:solidFill>
            <a:srgbClr val="FFFFFF"/>
          </a:solidFill>
          <a:ln w="10795">
            <a:solidFill>
              <a:srgbClr val="CBD5E1"/>
            </a:solidFill>
            <a:prstDash val="solid"/>
          </a:ln>
        </p:spPr>
      </p:sp>
      <p:sp>
        <p:nvSpPr>
          <p:cNvPr id="66" name="Shape 64"/>
          <p:cNvSpPr/>
          <p:nvPr/>
        </p:nvSpPr>
        <p:spPr>
          <a:xfrm>
            <a:off x="8266176" y="5084064"/>
            <a:ext cx="54864" cy="877824"/>
          </a:xfrm>
          <a:prstGeom prst="roundRect">
            <a:avLst>
              <a:gd name="adj" fmla="val 33333"/>
            </a:avLst>
          </a:prstGeom>
          <a:solidFill>
            <a:srgbClr val="047857"/>
          </a:solidFill>
          <a:ln/>
        </p:spPr>
      </p:sp>
      <p:sp>
        <p:nvSpPr>
          <p:cNvPr id="67" name="Text 65"/>
          <p:cNvSpPr/>
          <p:nvPr/>
        </p:nvSpPr>
        <p:spPr>
          <a:xfrm>
            <a:off x="8412480" y="5157216"/>
            <a:ext cx="1371600" cy="146304"/>
          </a:xfrm>
          <a:prstGeom prst="rect">
            <a:avLst/>
          </a:prstGeom>
          <a:noFill/>
          <a:ln/>
        </p:spPr>
        <p:txBody>
          <a:bodyPr wrap="square" lIns="0" tIns="0" rIns="0" bIns="0" rtlCol="0" anchor="ctr"/>
          <a:lstStyle/>
          <a:p>
            <a:pPr indent="0" marL="0">
              <a:lnSpc>
                <a:spcPct val="105000"/>
              </a:lnSpc>
              <a:buNone/>
            </a:pPr>
            <a:r>
              <a:rPr lang="en-US" sz="650" b="1" spc="60" kern="0" dirty="0">
                <a:solidFill>
                  <a:srgbClr val="047857"/>
                </a:solidFill>
                <a:latin typeface="Arial" pitchFamily="34" charset="0"/>
                <a:ea typeface="Arial" pitchFamily="34" charset="-122"/>
                <a:cs typeface="Arial" pitchFamily="34" charset="-120"/>
              </a:rPr>
              <a:t>SLIDES 16–23</a:t>
            </a:r>
            <a:endParaRPr lang="en-US" sz="650" dirty="0"/>
          </a:p>
        </p:txBody>
      </p:sp>
      <p:sp>
        <p:nvSpPr>
          <p:cNvPr id="68" name="Text 66"/>
          <p:cNvSpPr/>
          <p:nvPr/>
        </p:nvSpPr>
        <p:spPr>
          <a:xfrm>
            <a:off x="8412480" y="5312664"/>
            <a:ext cx="3218688" cy="201168"/>
          </a:xfrm>
          <a:prstGeom prst="rect">
            <a:avLst/>
          </a:prstGeom>
          <a:noFill/>
          <a:ln/>
        </p:spPr>
        <p:txBody>
          <a:bodyPr wrap="square" lIns="0" tIns="0" rIns="0" bIns="0" rtlCol="0" anchor="ctr"/>
          <a:lstStyle/>
          <a:p>
            <a:pPr indent="0" marL="0">
              <a:lnSpc>
                <a:spcPct val="105000"/>
              </a:lnSpc>
              <a:buNone/>
            </a:pPr>
            <a:r>
              <a:rPr lang="en-US" sz="920" b="1" dirty="0">
                <a:solidFill>
                  <a:srgbClr val="0F172A"/>
                </a:solidFill>
                <a:latin typeface="Arial" pitchFamily="34" charset="0"/>
                <a:ea typeface="Arial" pitchFamily="34" charset="-122"/>
                <a:cs typeface="Arial" pitchFamily="34" charset="-120"/>
              </a:rPr>
              <a:t>Live Proofs (10 SaaS UIs), ROI &amp; CTA</a:t>
            </a:r>
            <a:endParaRPr lang="en-US" sz="920" dirty="0"/>
          </a:p>
        </p:txBody>
      </p:sp>
      <p:sp>
        <p:nvSpPr>
          <p:cNvPr id="69" name="Text 67"/>
          <p:cNvSpPr/>
          <p:nvPr/>
        </p:nvSpPr>
        <p:spPr>
          <a:xfrm>
            <a:off x="8412480" y="5522976"/>
            <a:ext cx="3218688" cy="384048"/>
          </a:xfrm>
          <a:prstGeom prst="rect">
            <a:avLst/>
          </a:prstGeom>
          <a:noFill/>
          <a:ln/>
        </p:spPr>
        <p:txBody>
          <a:bodyPr wrap="square" lIns="0" tIns="0" rIns="0" bIns="0" rtlCol="0" anchor="ctr"/>
          <a:lstStyle/>
          <a:p>
            <a:pPr indent="0" marL="0">
              <a:lnSpc>
                <a:spcPct val="108000"/>
              </a:lnSpc>
              <a:buNone/>
            </a:pPr>
            <a:r>
              <a:rPr lang="en-US" sz="740" dirty="0">
                <a:solidFill>
                  <a:srgbClr val="334155"/>
                </a:solidFill>
                <a:latin typeface="Arial" pitchFamily="34" charset="0"/>
                <a:ea typeface="Arial" pitchFamily="34" charset="-122"/>
                <a:cs typeface="Arial" pitchFamily="34" charset="-120"/>
              </a:rPr>
              <a:t>GCP+AWS red-team telemetry, all 10 genuine Before→After SaaS UIs, 84.7% token savings, and 14-day rollout.</a:t>
            </a:r>
            <a:endParaRPr lang="en-US" sz="74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1148"/>
          </a:xfrm>
          <a:prstGeom prst="rect">
            <a:avLst/>
          </a:prstGeom>
          <a:solidFill>
            <a:srgbClr val="B91C1C"/>
          </a:solidFill>
          <a:ln/>
        </p:spPr>
      </p:sp>
      <p:sp>
        <p:nvSpPr>
          <p:cNvPr id="3" name="Shape 1"/>
          <p:cNvSpPr/>
          <p:nvPr/>
        </p:nvSpPr>
        <p:spPr>
          <a:xfrm>
            <a:off x="438912" y="192024"/>
            <a:ext cx="59436" cy="621792"/>
          </a:xfrm>
          <a:prstGeom prst="roundRect">
            <a:avLst>
              <a:gd name="adj" fmla="val 46154"/>
            </a:avLst>
          </a:prstGeom>
          <a:solidFill>
            <a:srgbClr val="B91C1C"/>
          </a:solidFill>
          <a:ln/>
        </p:spPr>
      </p:sp>
      <p:sp>
        <p:nvSpPr>
          <p:cNvPr id="4" name="Text 2"/>
          <p:cNvSpPr/>
          <p:nvPr/>
        </p:nvSpPr>
        <p:spPr>
          <a:xfrm>
            <a:off x="576072" y="173736"/>
            <a:ext cx="4389120" cy="146304"/>
          </a:xfrm>
          <a:prstGeom prst="rect">
            <a:avLst/>
          </a:prstGeom>
          <a:noFill/>
          <a:ln/>
        </p:spPr>
        <p:txBody>
          <a:bodyPr wrap="square" lIns="0" tIns="0" rIns="0" bIns="0" rtlCol="0" anchor="ctr"/>
          <a:lstStyle/>
          <a:p>
            <a:pPr algn="l" indent="0" marL="0">
              <a:lnSpc>
                <a:spcPct val="105000"/>
              </a:lnSpc>
              <a:buNone/>
            </a:pPr>
            <a:r>
              <a:rPr lang="en-US" sz="750" b="1" spc="110" kern="0" dirty="0">
                <a:solidFill>
                  <a:srgbClr val="B91C1C"/>
                </a:solidFill>
                <a:latin typeface="Arial" pitchFamily="34" charset="0"/>
                <a:ea typeface="Arial" pitchFamily="34" charset="-122"/>
                <a:cs typeface="Arial" pitchFamily="34" charset="-120"/>
              </a:rPr>
              <a:t>01 / REAL PROBLEM</a:t>
            </a:r>
            <a:endParaRPr lang="en-US" sz="750" dirty="0"/>
          </a:p>
        </p:txBody>
      </p:sp>
      <p:sp>
        <p:nvSpPr>
          <p:cNvPr id="5" name="Shape 3"/>
          <p:cNvSpPr/>
          <p:nvPr/>
        </p:nvSpPr>
        <p:spPr>
          <a:xfrm>
            <a:off x="8183880" y="219456"/>
            <a:ext cx="228600" cy="59436"/>
          </a:xfrm>
          <a:prstGeom prst="roundRect">
            <a:avLst>
              <a:gd name="adj" fmla="val 46154"/>
            </a:avLst>
          </a:prstGeom>
          <a:solidFill>
            <a:srgbClr val="B91C1C"/>
          </a:solidFill>
          <a:ln/>
        </p:spPr>
      </p:sp>
      <p:sp>
        <p:nvSpPr>
          <p:cNvPr id="6" name="Shape 4"/>
          <p:cNvSpPr/>
          <p:nvPr/>
        </p:nvSpPr>
        <p:spPr>
          <a:xfrm>
            <a:off x="8453628" y="219456"/>
            <a:ext cx="228600" cy="59436"/>
          </a:xfrm>
          <a:prstGeom prst="roundRect">
            <a:avLst>
              <a:gd name="adj" fmla="val 46154"/>
            </a:avLst>
          </a:prstGeom>
          <a:solidFill>
            <a:srgbClr val="E2E8F0"/>
          </a:solidFill>
          <a:ln/>
        </p:spPr>
      </p:sp>
      <p:sp>
        <p:nvSpPr>
          <p:cNvPr id="7" name="Shape 5"/>
          <p:cNvSpPr/>
          <p:nvPr/>
        </p:nvSpPr>
        <p:spPr>
          <a:xfrm>
            <a:off x="8723376" y="219456"/>
            <a:ext cx="228600" cy="59436"/>
          </a:xfrm>
          <a:prstGeom prst="roundRect">
            <a:avLst>
              <a:gd name="adj" fmla="val 46154"/>
            </a:avLst>
          </a:prstGeom>
          <a:solidFill>
            <a:srgbClr val="E2E8F0"/>
          </a:solidFill>
          <a:ln/>
        </p:spPr>
      </p:sp>
      <p:sp>
        <p:nvSpPr>
          <p:cNvPr id="8" name="Shape 6"/>
          <p:cNvSpPr/>
          <p:nvPr/>
        </p:nvSpPr>
        <p:spPr>
          <a:xfrm>
            <a:off x="8993124" y="219456"/>
            <a:ext cx="228600" cy="59436"/>
          </a:xfrm>
          <a:prstGeom prst="roundRect">
            <a:avLst>
              <a:gd name="adj" fmla="val 46154"/>
            </a:avLst>
          </a:prstGeom>
          <a:solidFill>
            <a:srgbClr val="E2E8F0"/>
          </a:solidFill>
          <a:ln/>
        </p:spPr>
      </p:sp>
      <p:sp>
        <p:nvSpPr>
          <p:cNvPr id="9" name="Shape 7"/>
          <p:cNvSpPr/>
          <p:nvPr/>
        </p:nvSpPr>
        <p:spPr>
          <a:xfrm>
            <a:off x="9262872" y="219456"/>
            <a:ext cx="228600" cy="59436"/>
          </a:xfrm>
          <a:prstGeom prst="roundRect">
            <a:avLst>
              <a:gd name="adj" fmla="val 46154"/>
            </a:avLst>
          </a:prstGeom>
          <a:solidFill>
            <a:srgbClr val="E2E8F0"/>
          </a:solidFill>
          <a:ln/>
        </p:spPr>
      </p:sp>
      <p:sp>
        <p:nvSpPr>
          <p:cNvPr id="10" name="Shape 8"/>
          <p:cNvSpPr/>
          <p:nvPr/>
        </p:nvSpPr>
        <p:spPr>
          <a:xfrm>
            <a:off x="9532620" y="219456"/>
            <a:ext cx="228600" cy="59436"/>
          </a:xfrm>
          <a:prstGeom prst="roundRect">
            <a:avLst>
              <a:gd name="adj" fmla="val 46154"/>
            </a:avLst>
          </a:prstGeom>
          <a:solidFill>
            <a:srgbClr val="E2E8F0"/>
          </a:solidFill>
          <a:ln/>
        </p:spPr>
      </p:sp>
      <p:sp>
        <p:nvSpPr>
          <p:cNvPr id="11" name="Shape 9"/>
          <p:cNvSpPr/>
          <p:nvPr/>
        </p:nvSpPr>
        <p:spPr>
          <a:xfrm>
            <a:off x="9802368" y="219456"/>
            <a:ext cx="228600" cy="59436"/>
          </a:xfrm>
          <a:prstGeom prst="roundRect">
            <a:avLst>
              <a:gd name="adj" fmla="val 46154"/>
            </a:avLst>
          </a:prstGeom>
          <a:solidFill>
            <a:srgbClr val="E2E8F0"/>
          </a:solidFill>
          <a:ln/>
        </p:spPr>
      </p:sp>
      <p:sp>
        <p:nvSpPr>
          <p:cNvPr id="12" name="Shape 10"/>
          <p:cNvSpPr/>
          <p:nvPr/>
        </p:nvSpPr>
        <p:spPr>
          <a:xfrm>
            <a:off x="10131552" y="146304"/>
            <a:ext cx="1621231" cy="192024"/>
          </a:xfrm>
          <a:prstGeom prst="roundRect">
            <a:avLst>
              <a:gd name="adj" fmla="val 23810"/>
            </a:avLst>
          </a:prstGeom>
          <a:solidFill>
            <a:srgbClr val="FFFFFF"/>
          </a:solidFill>
          <a:ln w="9525">
            <a:solidFill>
              <a:srgbClr val="CBD5E1"/>
            </a:solidFill>
            <a:prstDash val="solid"/>
          </a:ln>
        </p:spPr>
      </p:sp>
      <p:sp>
        <p:nvSpPr>
          <p:cNvPr id="13" name="Text 11"/>
          <p:cNvSpPr/>
          <p:nvPr/>
        </p:nvSpPr>
        <p:spPr>
          <a:xfrm>
            <a:off x="10131552" y="146304"/>
            <a:ext cx="1621231" cy="192024"/>
          </a:xfrm>
          <a:prstGeom prst="rect">
            <a:avLst/>
          </a:prstGeom>
          <a:noFill/>
          <a:ln/>
        </p:spPr>
        <p:txBody>
          <a:bodyPr wrap="square" lIns="0" tIns="0" rIns="0" bIns="0" rtlCol="0" anchor="ctr"/>
          <a:lstStyle/>
          <a:p>
            <a:pPr algn="ctr" indent="0" marL="0">
              <a:lnSpc>
                <a:spcPct val="105000"/>
              </a:lnSpc>
              <a:buNone/>
            </a:pPr>
            <a:r>
              <a:rPr lang="en-US" sz="680" b="1" spc="60" kern="0" dirty="0">
                <a:solidFill>
                  <a:srgbClr val="B91C1C"/>
                </a:solidFill>
                <a:latin typeface="Arial" pitchFamily="34" charset="0"/>
                <a:ea typeface="Arial" pitchFamily="34" charset="-122"/>
                <a:cs typeface="Arial" pitchFamily="34" charset="-120"/>
              </a:rPr>
              <a:t>CONCEPTUAL DIAGRAM</a:t>
            </a:r>
            <a:endParaRPr lang="en-US" sz="680" dirty="0"/>
          </a:p>
        </p:txBody>
      </p:sp>
      <p:sp>
        <p:nvSpPr>
          <p:cNvPr id="14" name="Text 12"/>
          <p:cNvSpPr/>
          <p:nvPr/>
        </p:nvSpPr>
        <p:spPr>
          <a:xfrm>
            <a:off x="576072" y="338328"/>
            <a:ext cx="11176711" cy="310896"/>
          </a:xfrm>
          <a:prstGeom prst="rect">
            <a:avLst/>
          </a:prstGeom>
          <a:noFill/>
          <a:ln/>
        </p:spPr>
        <p:txBody>
          <a:bodyPr wrap="square" lIns="0" tIns="0" rIns="0" bIns="0" rtlCol="0" anchor="ctr"/>
          <a:lstStyle/>
          <a:p>
            <a:pPr algn="l" indent="0" marL="0">
              <a:lnSpc>
                <a:spcPct val="104000"/>
              </a:lnSpc>
              <a:buNone/>
            </a:pPr>
            <a:r>
              <a:rPr lang="en-US" sz="1750" b="1" dirty="0">
                <a:solidFill>
                  <a:srgbClr val="0F172A"/>
                </a:solidFill>
                <a:latin typeface="Arial" pitchFamily="34" charset="0"/>
                <a:ea typeface="Arial" pitchFamily="34" charset="-122"/>
                <a:cs typeface="Arial" pitchFamily="34" charset="-120"/>
              </a:rPr>
              <a:t>Why Classic SaaS Multi-Tenancy Breaks the Moment You Deploy AI Agents</a:t>
            </a:r>
            <a:endParaRPr lang="en-US" sz="1750" dirty="0"/>
          </a:p>
        </p:txBody>
      </p:sp>
      <p:sp>
        <p:nvSpPr>
          <p:cNvPr id="15" name="Text 13"/>
          <p:cNvSpPr/>
          <p:nvPr/>
        </p:nvSpPr>
        <p:spPr>
          <a:xfrm>
            <a:off x="576072" y="658368"/>
            <a:ext cx="11176711" cy="192024"/>
          </a:xfrm>
          <a:prstGeom prst="rect">
            <a:avLst/>
          </a:prstGeom>
          <a:noFill/>
          <a:ln/>
        </p:spPr>
        <p:txBody>
          <a:bodyPr wrap="square" lIns="0" tIns="0" rIns="0" bIns="0" rtlCol="0" anchor="ctr"/>
          <a:lstStyle/>
          <a:p>
            <a:pPr algn="l" indent="0" marL="0">
              <a:lnSpc>
                <a:spcPct val="104000"/>
              </a:lnSpc>
              <a:buNone/>
            </a:pPr>
            <a:r>
              <a:rPr lang="en-US" sz="900" dirty="0">
                <a:solidFill>
                  <a:srgbClr val="64748B"/>
                </a:solidFill>
                <a:latin typeface="Arial" pitchFamily="34" charset="0"/>
                <a:ea typeface="Arial" pitchFamily="34" charset="-122"/>
                <a:cs typeface="Arial" pitchFamily="34" charset="-120"/>
              </a:rPr>
              <a:t>A traditional REST API only isolates database rows; a multi-turn AI agent introduces five stateful cross-tenant blast surfaces simultaneously.</a:t>
            </a:r>
            <a:endParaRPr lang="en-US" sz="900" dirty="0"/>
          </a:p>
        </p:txBody>
      </p:sp>
      <p:sp>
        <p:nvSpPr>
          <p:cNvPr id="16" name="Shape 14"/>
          <p:cNvSpPr/>
          <p:nvPr/>
        </p:nvSpPr>
        <p:spPr>
          <a:xfrm>
            <a:off x="438912" y="914400"/>
            <a:ext cx="11313871" cy="0"/>
          </a:xfrm>
          <a:prstGeom prst="line">
            <a:avLst/>
          </a:prstGeom>
          <a:noFill/>
          <a:ln w="10795">
            <a:solidFill>
              <a:srgbClr val="E2E8F0"/>
            </a:solidFill>
            <a:prstDash val="solid"/>
          </a:ln>
        </p:spPr>
      </p:sp>
      <p:sp>
        <p:nvSpPr>
          <p:cNvPr id="17" name="Shape 15"/>
          <p:cNvSpPr/>
          <p:nvPr/>
        </p:nvSpPr>
        <p:spPr>
          <a:xfrm>
            <a:off x="438912" y="6455664"/>
            <a:ext cx="11313871" cy="0"/>
          </a:xfrm>
          <a:prstGeom prst="line">
            <a:avLst/>
          </a:prstGeom>
          <a:noFill/>
          <a:ln w="9525">
            <a:solidFill>
              <a:srgbClr val="E2E8F0"/>
            </a:solidFill>
            <a:prstDash val="solid"/>
          </a:ln>
        </p:spPr>
      </p:sp>
      <p:sp>
        <p:nvSpPr>
          <p:cNvPr id="18" name="Text 16"/>
          <p:cNvSpPr/>
          <p:nvPr/>
        </p:nvSpPr>
        <p:spPr>
          <a:xfrm>
            <a:off x="438912" y="6501384"/>
            <a:ext cx="5852160" cy="192024"/>
          </a:xfrm>
          <a:prstGeom prst="rect">
            <a:avLst/>
          </a:prstGeom>
          <a:noFill/>
          <a:ln/>
        </p:spPr>
        <p:txBody>
          <a:bodyPr wrap="square" lIns="0" tIns="0" rIns="0" bIns="0" rtlCol="0" anchor="ctr"/>
          <a:lstStyle/>
          <a:p>
            <a:pPr algn="l" indent="0" marL="0">
              <a:lnSpc>
                <a:spcPct val="105000"/>
              </a:lnSpc>
              <a:buNone/>
            </a:pPr>
            <a:r>
              <a:rPr lang="en-US" sz="680" b="1" spc="40" kern="0" dirty="0">
                <a:solidFill>
                  <a:srgbClr val="64748B"/>
                </a:solidFill>
                <a:latin typeface="Arial" pitchFamily="34" charset="0"/>
                <a:ea typeface="Arial" pitchFamily="34" charset="-122"/>
                <a:cs typeface="Arial" pitchFamily="34" charset="-120"/>
              </a:rPr>
              <a:t>GOOGLE CLOUD AI ARCHITECTURE  •  BLOG 1: MULTI-TENANT AGENTIC AI TAXONOMY &amp; 5-HOP BASELINE</a:t>
            </a:r>
            <a:endParaRPr lang="en-US" sz="680" dirty="0"/>
          </a:p>
        </p:txBody>
      </p:sp>
      <p:sp>
        <p:nvSpPr>
          <p:cNvPr id="19" name="Text 17"/>
          <p:cNvSpPr/>
          <p:nvPr/>
        </p:nvSpPr>
        <p:spPr>
          <a:xfrm>
            <a:off x="6355080" y="6501384"/>
            <a:ext cx="4206240" cy="192024"/>
          </a:xfrm>
          <a:prstGeom prst="rect">
            <a:avLst/>
          </a:prstGeom>
          <a:noFill/>
          <a:ln/>
        </p:spPr>
        <p:txBody>
          <a:bodyPr wrap="square" lIns="0" tIns="0" rIns="0" bIns="0" rtlCol="0" anchor="ctr"/>
          <a:lstStyle/>
          <a:p>
            <a:pPr algn="r" indent="0" marL="0">
              <a:lnSpc>
                <a:spcPct val="105000"/>
              </a:lnSpc>
              <a:buNone/>
            </a:pPr>
            <a:r>
              <a:rPr lang="en-US" sz="680" dirty="0">
                <a:solidFill>
                  <a:srgbClr val="64748B"/>
                </a:solidFill>
                <a:latin typeface="Arial" pitchFamily="34" charset="0"/>
                <a:ea typeface="Arial" pitchFamily="34" charset="-122"/>
                <a:cs typeface="Arial" pitchFamily="34" charset="-120"/>
              </a:rPr>
              <a:t>Conceptual Root-Cause Anatomy  •  Stateless CRUD vs. Stateful Agent Runtime</a:t>
            </a:r>
            <a:endParaRPr lang="en-US" sz="680" dirty="0"/>
          </a:p>
        </p:txBody>
      </p:sp>
      <p:sp>
        <p:nvSpPr>
          <p:cNvPr id="20" name="Shape 18"/>
          <p:cNvSpPr/>
          <p:nvPr/>
        </p:nvSpPr>
        <p:spPr>
          <a:xfrm>
            <a:off x="11002975" y="6501384"/>
            <a:ext cx="749808" cy="192024"/>
          </a:xfrm>
          <a:prstGeom prst="roundRect">
            <a:avLst>
              <a:gd name="adj" fmla="val 19048"/>
            </a:avLst>
          </a:prstGeom>
          <a:solidFill>
            <a:srgbClr val="F1F5F9"/>
          </a:solidFill>
          <a:ln w="7620">
            <a:solidFill>
              <a:srgbClr val="E2E8F0"/>
            </a:solidFill>
            <a:prstDash val="solid"/>
          </a:ln>
        </p:spPr>
      </p:sp>
      <p:sp>
        <p:nvSpPr>
          <p:cNvPr id="21" name="Text 19"/>
          <p:cNvSpPr/>
          <p:nvPr/>
        </p:nvSpPr>
        <p:spPr>
          <a:xfrm>
            <a:off x="11002975" y="6501384"/>
            <a:ext cx="749808" cy="192024"/>
          </a:xfrm>
          <a:prstGeom prst="rect">
            <a:avLst/>
          </a:prstGeom>
          <a:noFill/>
          <a:ln/>
        </p:spPr>
        <p:txBody>
          <a:bodyPr wrap="square" lIns="0" tIns="0" rIns="0" bIns="0" rtlCol="0" anchor="ctr"/>
          <a:lstStyle/>
          <a:p>
            <a:pPr algn="ctr" indent="0" marL="0">
              <a:lnSpc>
                <a:spcPct val="105000"/>
              </a:lnSpc>
              <a:buNone/>
            </a:pPr>
            <a:r>
              <a:rPr lang="en-US" sz="700" b="1" dirty="0">
                <a:solidFill>
                  <a:srgbClr val="334155"/>
                </a:solidFill>
                <a:latin typeface="Arial" pitchFamily="34" charset="0"/>
                <a:ea typeface="Arial" pitchFamily="34" charset="-122"/>
                <a:cs typeface="Arial" pitchFamily="34" charset="-120"/>
              </a:rPr>
              <a:t>02 / 23</a:t>
            </a:r>
            <a:endParaRPr lang="en-US" sz="700" dirty="0"/>
          </a:p>
        </p:txBody>
      </p:sp>
      <p:sp>
        <p:nvSpPr>
          <p:cNvPr id="22" name="Shape 20"/>
          <p:cNvSpPr/>
          <p:nvPr/>
        </p:nvSpPr>
        <p:spPr>
          <a:xfrm>
            <a:off x="461772" y="1068019"/>
            <a:ext cx="3794760" cy="4754880"/>
          </a:xfrm>
          <a:prstGeom prst="roundRect">
            <a:avLst>
              <a:gd name="adj" fmla="val 1687"/>
            </a:avLst>
          </a:prstGeom>
          <a:solidFill>
            <a:srgbClr val="E2E8F0"/>
          </a:solidFill>
          <a:ln/>
        </p:spPr>
      </p:sp>
      <p:sp>
        <p:nvSpPr>
          <p:cNvPr id="23" name="Shape 21"/>
          <p:cNvSpPr/>
          <p:nvPr/>
        </p:nvSpPr>
        <p:spPr>
          <a:xfrm>
            <a:off x="438912" y="1042416"/>
            <a:ext cx="3794760" cy="4754880"/>
          </a:xfrm>
          <a:prstGeom prst="roundRect">
            <a:avLst>
              <a:gd name="adj" fmla="val 1687"/>
            </a:avLst>
          </a:prstGeom>
          <a:solidFill>
            <a:srgbClr val="FFFFFF"/>
          </a:solidFill>
          <a:ln w="10795">
            <a:solidFill>
              <a:srgbClr val="CBD5E1"/>
            </a:solidFill>
            <a:prstDash val="solid"/>
          </a:ln>
        </p:spPr>
      </p:sp>
      <p:sp>
        <p:nvSpPr>
          <p:cNvPr id="24" name="Shape 22"/>
          <p:cNvSpPr/>
          <p:nvPr/>
        </p:nvSpPr>
        <p:spPr>
          <a:xfrm>
            <a:off x="438912" y="1042416"/>
            <a:ext cx="3794760" cy="50292"/>
          </a:xfrm>
          <a:prstGeom prst="roundRect">
            <a:avLst>
              <a:gd name="adj" fmla="val 36364"/>
            </a:avLst>
          </a:prstGeom>
          <a:solidFill>
            <a:srgbClr val="475569"/>
          </a:solidFill>
          <a:ln/>
        </p:spPr>
      </p:sp>
      <p:sp>
        <p:nvSpPr>
          <p:cNvPr id="25" name="Shape 23"/>
          <p:cNvSpPr/>
          <p:nvPr/>
        </p:nvSpPr>
        <p:spPr>
          <a:xfrm>
            <a:off x="603504" y="1188720"/>
            <a:ext cx="2148840" cy="219456"/>
          </a:xfrm>
          <a:prstGeom prst="roundRect">
            <a:avLst>
              <a:gd name="adj" fmla="val 33333"/>
            </a:avLst>
          </a:prstGeom>
          <a:solidFill>
            <a:srgbClr val="F1F5F9"/>
          </a:solidFill>
          <a:ln w="9525">
            <a:solidFill>
              <a:srgbClr val="CBD5E1"/>
            </a:solidFill>
            <a:prstDash val="solid"/>
          </a:ln>
        </p:spPr>
      </p:sp>
      <p:sp>
        <p:nvSpPr>
          <p:cNvPr id="26" name="Text 24"/>
          <p:cNvSpPr/>
          <p:nvPr/>
        </p:nvSpPr>
        <p:spPr>
          <a:xfrm>
            <a:off x="603504" y="1188720"/>
            <a:ext cx="2148840" cy="219456"/>
          </a:xfrm>
          <a:prstGeom prst="rect">
            <a:avLst/>
          </a:prstGeom>
          <a:noFill/>
          <a:ln/>
        </p:spPr>
        <p:txBody>
          <a:bodyPr wrap="square" lIns="0" tIns="0" rIns="0" bIns="0" rtlCol="0" anchor="ctr"/>
          <a:lstStyle/>
          <a:p>
            <a:pPr algn="ctr" indent="0" marL="0">
              <a:lnSpc>
                <a:spcPct val="105000"/>
              </a:lnSpc>
              <a:buNone/>
            </a:pPr>
            <a:r>
              <a:rPr lang="en-US" sz="700" b="1" dirty="0">
                <a:solidFill>
                  <a:srgbClr val="475569"/>
                </a:solidFill>
                <a:latin typeface="Arial" pitchFamily="34" charset="0"/>
                <a:ea typeface="Arial" pitchFamily="34" charset="-122"/>
                <a:cs typeface="Arial" pitchFamily="34" charset="-120"/>
              </a:rPr>
              <a:t>YESTERDAY: STATELESS REST / CRUD</a:t>
            </a:r>
            <a:endParaRPr lang="en-US" sz="700" dirty="0"/>
          </a:p>
        </p:txBody>
      </p:sp>
      <p:sp>
        <p:nvSpPr>
          <p:cNvPr id="27" name="Text 25"/>
          <p:cNvSpPr/>
          <p:nvPr/>
        </p:nvSpPr>
        <p:spPr>
          <a:xfrm>
            <a:off x="603504" y="1481328"/>
            <a:ext cx="3474720" cy="237744"/>
          </a:xfrm>
          <a:prstGeom prst="rect">
            <a:avLst/>
          </a:prstGeom>
          <a:noFill/>
          <a:ln/>
        </p:spPr>
        <p:txBody>
          <a:bodyPr wrap="square" lIns="0" tIns="0" rIns="0" bIns="0" rtlCol="0" anchor="ctr"/>
          <a:lstStyle/>
          <a:p>
            <a:pPr indent="0" marL="0">
              <a:lnSpc>
                <a:spcPct val="105000"/>
              </a:lnSpc>
              <a:buNone/>
            </a:pPr>
            <a:r>
              <a:rPr lang="en-US" sz="1250" b="1" dirty="0">
                <a:solidFill>
                  <a:srgbClr val="0F172A"/>
                </a:solidFill>
                <a:latin typeface="Arial" pitchFamily="34" charset="0"/>
                <a:ea typeface="Arial" pitchFamily="34" charset="-122"/>
                <a:cs typeface="Arial" pitchFamily="34" charset="-120"/>
              </a:rPr>
              <a:t>Single Isolation Boundary</a:t>
            </a:r>
            <a:endParaRPr lang="en-US" sz="1250" dirty="0"/>
          </a:p>
        </p:txBody>
      </p:sp>
      <p:sp>
        <p:nvSpPr>
          <p:cNvPr id="28" name="Shape 26"/>
          <p:cNvSpPr/>
          <p:nvPr/>
        </p:nvSpPr>
        <p:spPr>
          <a:xfrm>
            <a:off x="914400" y="1901952"/>
            <a:ext cx="2834640" cy="713232"/>
          </a:xfrm>
          <a:prstGeom prst="roundRect">
            <a:avLst>
              <a:gd name="adj" fmla="val 8974"/>
            </a:avLst>
          </a:prstGeom>
          <a:solidFill>
            <a:srgbClr val="F1F5F9"/>
          </a:solidFill>
          <a:ln w="10795">
            <a:solidFill>
              <a:srgbClr val="CBD5E1"/>
            </a:solidFill>
            <a:prstDash val="solid"/>
          </a:ln>
        </p:spPr>
      </p:sp>
      <p:sp>
        <p:nvSpPr>
          <p:cNvPr id="29" name="Text 27"/>
          <p:cNvSpPr/>
          <p:nvPr/>
        </p:nvSpPr>
        <p:spPr>
          <a:xfrm>
            <a:off x="1042416" y="1993392"/>
            <a:ext cx="2578608" cy="201168"/>
          </a:xfrm>
          <a:prstGeom prst="rect">
            <a:avLst/>
          </a:prstGeom>
          <a:noFill/>
          <a:ln/>
        </p:spPr>
        <p:txBody>
          <a:bodyPr wrap="square" lIns="0" tIns="0" rIns="0" bIns="0" rtlCol="0" anchor="ctr"/>
          <a:lstStyle/>
          <a:p>
            <a:pPr algn="ctr" indent="0" marL="0">
              <a:lnSpc>
                <a:spcPct val="105000"/>
              </a:lnSpc>
              <a:buNone/>
            </a:pPr>
            <a:r>
              <a:rPr lang="en-US" sz="900" b="1" dirty="0">
                <a:solidFill>
                  <a:srgbClr val="0F172A"/>
                </a:solidFill>
                <a:latin typeface="Arial" pitchFamily="34" charset="0"/>
                <a:ea typeface="Arial" pitchFamily="34" charset="-122"/>
                <a:cs typeface="Arial" pitchFamily="34" charset="-120"/>
              </a:rPr>
              <a:t>1. HTTP Request + Bearer JWT</a:t>
            </a:r>
            <a:endParaRPr lang="en-US" sz="900" dirty="0"/>
          </a:p>
        </p:txBody>
      </p:sp>
      <p:sp>
        <p:nvSpPr>
          <p:cNvPr id="30" name="Text 28"/>
          <p:cNvSpPr/>
          <p:nvPr/>
        </p:nvSpPr>
        <p:spPr>
          <a:xfrm>
            <a:off x="1042416" y="2212848"/>
            <a:ext cx="2578608" cy="329184"/>
          </a:xfrm>
          <a:prstGeom prst="rect">
            <a:avLst/>
          </a:prstGeom>
          <a:noFill/>
          <a:ln/>
        </p:spPr>
        <p:txBody>
          <a:bodyPr wrap="square" lIns="0" tIns="0" rIns="0" bIns="0" rtlCol="0" anchor="ctr"/>
          <a:lstStyle/>
          <a:p>
            <a:pPr algn="ctr" indent="0" marL="0">
              <a:lnSpc>
                <a:spcPct val="108000"/>
              </a:lnSpc>
              <a:buNone/>
            </a:pPr>
            <a:r>
              <a:rPr lang="en-US" sz="760" dirty="0">
                <a:solidFill>
                  <a:srgbClr val="334155"/>
                </a:solidFill>
                <a:latin typeface="Arial" pitchFamily="34" charset="0"/>
                <a:ea typeface="Arial" pitchFamily="34" charset="-122"/>
                <a:cs typeface="Arial" pitchFamily="34" charset="-120"/>
              </a:rPr>
              <a:t>Predictable deterministic route (/api/v1/orders)</a:t>
            </a:r>
            <a:endParaRPr lang="en-US" sz="760" dirty="0"/>
          </a:p>
        </p:txBody>
      </p:sp>
      <p:sp>
        <p:nvSpPr>
          <p:cNvPr id="31" name="Shape 29"/>
          <p:cNvSpPr/>
          <p:nvPr/>
        </p:nvSpPr>
        <p:spPr>
          <a:xfrm>
            <a:off x="2331720" y="2615184"/>
            <a:ext cx="0" cy="329184"/>
          </a:xfrm>
          <a:prstGeom prst="line">
            <a:avLst/>
          </a:prstGeom>
          <a:noFill/>
          <a:ln w="16510">
            <a:solidFill>
              <a:srgbClr val="475569"/>
            </a:solidFill>
            <a:prstDash val="solid"/>
            <a:tailEnd type="triangle" w="sm" len="sm"/>
          </a:ln>
        </p:spPr>
      </p:sp>
      <p:sp>
        <p:nvSpPr>
          <p:cNvPr id="32" name="Shape 30"/>
          <p:cNvSpPr/>
          <p:nvPr/>
        </p:nvSpPr>
        <p:spPr>
          <a:xfrm>
            <a:off x="914400" y="2944368"/>
            <a:ext cx="2834640" cy="713232"/>
          </a:xfrm>
          <a:prstGeom prst="roundRect">
            <a:avLst>
              <a:gd name="adj" fmla="val 8974"/>
            </a:avLst>
          </a:prstGeom>
          <a:solidFill>
            <a:srgbClr val="F1F5F9"/>
          </a:solidFill>
          <a:ln w="10795">
            <a:solidFill>
              <a:srgbClr val="CBD5E1"/>
            </a:solidFill>
            <a:prstDash val="solid"/>
          </a:ln>
        </p:spPr>
      </p:sp>
      <p:sp>
        <p:nvSpPr>
          <p:cNvPr id="33" name="Text 31"/>
          <p:cNvSpPr/>
          <p:nvPr/>
        </p:nvSpPr>
        <p:spPr>
          <a:xfrm>
            <a:off x="1042416" y="3035808"/>
            <a:ext cx="2578608" cy="201168"/>
          </a:xfrm>
          <a:prstGeom prst="rect">
            <a:avLst/>
          </a:prstGeom>
          <a:noFill/>
          <a:ln/>
        </p:spPr>
        <p:txBody>
          <a:bodyPr wrap="square" lIns="0" tIns="0" rIns="0" bIns="0" rtlCol="0" anchor="ctr"/>
          <a:lstStyle/>
          <a:p>
            <a:pPr algn="ctr" indent="0" marL="0">
              <a:lnSpc>
                <a:spcPct val="105000"/>
              </a:lnSpc>
              <a:buNone/>
            </a:pPr>
            <a:r>
              <a:rPr lang="en-US" sz="900" b="1" dirty="0">
                <a:solidFill>
                  <a:srgbClr val="0F172A"/>
                </a:solidFill>
                <a:latin typeface="Arial" pitchFamily="34" charset="0"/>
                <a:ea typeface="Arial" pitchFamily="34" charset="-122"/>
                <a:cs typeface="Arial" pitchFamily="34" charset="-120"/>
              </a:rPr>
              <a:t>2. Ephemeral Stateless Worker</a:t>
            </a:r>
            <a:endParaRPr lang="en-US" sz="900" dirty="0"/>
          </a:p>
        </p:txBody>
      </p:sp>
      <p:sp>
        <p:nvSpPr>
          <p:cNvPr id="34" name="Text 32"/>
          <p:cNvSpPr/>
          <p:nvPr/>
        </p:nvSpPr>
        <p:spPr>
          <a:xfrm>
            <a:off x="1042416" y="3255264"/>
            <a:ext cx="2578608" cy="329184"/>
          </a:xfrm>
          <a:prstGeom prst="rect">
            <a:avLst/>
          </a:prstGeom>
          <a:noFill/>
          <a:ln/>
        </p:spPr>
        <p:txBody>
          <a:bodyPr wrap="square" lIns="0" tIns="0" rIns="0" bIns="0" rtlCol="0" anchor="ctr"/>
          <a:lstStyle/>
          <a:p>
            <a:pPr algn="ctr" indent="0" marL="0">
              <a:lnSpc>
                <a:spcPct val="108000"/>
              </a:lnSpc>
              <a:buNone/>
            </a:pPr>
            <a:r>
              <a:rPr lang="en-US" sz="760" dirty="0">
                <a:solidFill>
                  <a:srgbClr val="334155"/>
                </a:solidFill>
                <a:latin typeface="Arial" pitchFamily="34" charset="0"/>
                <a:ea typeface="Arial" pitchFamily="34" charset="-122"/>
                <a:cs typeface="Arial" pitchFamily="34" charset="-120"/>
              </a:rPr>
              <a:t>RAM freed in ~50ms • Zero cross-request prompt cache • Fixed code paths</a:t>
            </a:r>
            <a:endParaRPr lang="en-US" sz="760" dirty="0"/>
          </a:p>
        </p:txBody>
      </p:sp>
      <p:sp>
        <p:nvSpPr>
          <p:cNvPr id="35" name="Shape 33"/>
          <p:cNvSpPr/>
          <p:nvPr/>
        </p:nvSpPr>
        <p:spPr>
          <a:xfrm>
            <a:off x="2331720" y="3657600"/>
            <a:ext cx="0" cy="347472"/>
          </a:xfrm>
          <a:prstGeom prst="line">
            <a:avLst/>
          </a:prstGeom>
          <a:noFill/>
          <a:ln w="16510">
            <a:solidFill>
              <a:srgbClr val="475569"/>
            </a:solidFill>
            <a:prstDash val="solid"/>
            <a:tailEnd type="triangle" w="sm" len="sm"/>
          </a:ln>
        </p:spPr>
      </p:sp>
      <p:sp>
        <p:nvSpPr>
          <p:cNvPr id="36" name="Shape 34"/>
          <p:cNvSpPr/>
          <p:nvPr/>
        </p:nvSpPr>
        <p:spPr>
          <a:xfrm>
            <a:off x="914400" y="4005072"/>
            <a:ext cx="2834640" cy="713232"/>
          </a:xfrm>
          <a:prstGeom prst="roundRect">
            <a:avLst>
              <a:gd name="adj" fmla="val 8974"/>
            </a:avLst>
          </a:prstGeom>
          <a:solidFill>
            <a:srgbClr val="ECFDF5"/>
          </a:solidFill>
          <a:ln w="10795">
            <a:solidFill>
              <a:srgbClr val="A7F3D0"/>
            </a:solidFill>
            <a:prstDash val="solid"/>
          </a:ln>
        </p:spPr>
      </p:sp>
      <p:sp>
        <p:nvSpPr>
          <p:cNvPr id="37" name="Text 35"/>
          <p:cNvSpPr/>
          <p:nvPr/>
        </p:nvSpPr>
        <p:spPr>
          <a:xfrm>
            <a:off x="1042416" y="4096512"/>
            <a:ext cx="2578608" cy="201168"/>
          </a:xfrm>
          <a:prstGeom prst="rect">
            <a:avLst/>
          </a:prstGeom>
          <a:noFill/>
          <a:ln/>
        </p:spPr>
        <p:txBody>
          <a:bodyPr wrap="square" lIns="0" tIns="0" rIns="0" bIns="0" rtlCol="0" anchor="ctr"/>
          <a:lstStyle/>
          <a:p>
            <a:pPr algn="ctr" indent="0" marL="0">
              <a:lnSpc>
                <a:spcPct val="105000"/>
              </a:lnSpc>
              <a:buNone/>
            </a:pPr>
            <a:r>
              <a:rPr lang="en-US" sz="900" b="1" dirty="0">
                <a:solidFill>
                  <a:srgbClr val="0F172A"/>
                </a:solidFill>
                <a:latin typeface="Arial" pitchFamily="34" charset="0"/>
                <a:ea typeface="Arial" pitchFamily="34" charset="-122"/>
                <a:cs typeface="Arial" pitchFamily="34" charset="-120"/>
              </a:rPr>
              <a:t>3. Relational Row Filter Only</a:t>
            </a:r>
            <a:endParaRPr lang="en-US" sz="900" dirty="0"/>
          </a:p>
        </p:txBody>
      </p:sp>
      <p:sp>
        <p:nvSpPr>
          <p:cNvPr id="38" name="Text 36"/>
          <p:cNvSpPr/>
          <p:nvPr/>
        </p:nvSpPr>
        <p:spPr>
          <a:xfrm>
            <a:off x="1042416" y="4315968"/>
            <a:ext cx="2578608" cy="329184"/>
          </a:xfrm>
          <a:prstGeom prst="rect">
            <a:avLst/>
          </a:prstGeom>
          <a:noFill/>
          <a:ln/>
        </p:spPr>
        <p:txBody>
          <a:bodyPr wrap="square" lIns="0" tIns="0" rIns="0" bIns="0" rtlCol="0" anchor="ctr"/>
          <a:lstStyle/>
          <a:p>
            <a:pPr algn="ctr" indent="0" marL="0">
              <a:lnSpc>
                <a:spcPct val="108000"/>
              </a:lnSpc>
              <a:buNone/>
            </a:pPr>
            <a:r>
              <a:rPr lang="en-US" sz="760" dirty="0">
                <a:solidFill>
                  <a:srgbClr val="334155"/>
                </a:solidFill>
                <a:latin typeface="Arial" pitchFamily="34" charset="0"/>
                <a:ea typeface="Arial" pitchFamily="34" charset="-122"/>
                <a:cs typeface="Arial" pitchFamily="34" charset="-120"/>
              </a:rPr>
              <a:t>SELECT * FROM orders WHERE tenant_id = :tid (1 boundary to audit)</a:t>
            </a:r>
            <a:endParaRPr lang="en-US" sz="760" dirty="0"/>
          </a:p>
        </p:txBody>
      </p:sp>
      <p:sp>
        <p:nvSpPr>
          <p:cNvPr id="39" name="Text 37"/>
          <p:cNvSpPr/>
          <p:nvPr/>
        </p:nvSpPr>
        <p:spPr>
          <a:xfrm>
            <a:off x="640080" y="5047488"/>
            <a:ext cx="3383280" cy="512064"/>
          </a:xfrm>
          <a:prstGeom prst="rect">
            <a:avLst/>
          </a:prstGeom>
          <a:noFill/>
          <a:ln/>
        </p:spPr>
        <p:txBody>
          <a:bodyPr wrap="square" lIns="0" tIns="0" rIns="0" bIns="0" rtlCol="0" anchor="ctr"/>
          <a:lstStyle/>
          <a:p>
            <a:pPr algn="ctr" indent="0" marL="0">
              <a:lnSpc>
                <a:spcPct val="110000"/>
              </a:lnSpc>
              <a:buNone/>
            </a:pPr>
            <a:r>
              <a:rPr lang="en-US" sz="840" b="1" dirty="0">
                <a:solidFill>
                  <a:srgbClr val="475569"/>
                </a:solidFill>
                <a:latin typeface="Arial" pitchFamily="34" charset="0"/>
                <a:ea typeface="Arial" pitchFamily="34" charset="-122"/>
                <a:cs typeface="Arial" pitchFamily="34" charset="-120"/>
              </a:rPr>
              <a:t>Result: Standard auth middleware + DB WHERE clause was enough.</a:t>
            </a:r>
            <a:endParaRPr lang="en-US" sz="840" dirty="0"/>
          </a:p>
        </p:txBody>
      </p:sp>
      <p:sp>
        <p:nvSpPr>
          <p:cNvPr id="40" name="Shape 38"/>
          <p:cNvSpPr/>
          <p:nvPr/>
        </p:nvSpPr>
        <p:spPr>
          <a:xfrm>
            <a:off x="4297680" y="3218688"/>
            <a:ext cx="402336" cy="402336"/>
          </a:xfrm>
          <a:prstGeom prst="ellipse">
            <a:avLst/>
          </a:prstGeom>
          <a:solidFill>
            <a:srgbClr val="1E293B"/>
          </a:solidFill>
          <a:ln/>
        </p:spPr>
      </p:sp>
      <p:sp>
        <p:nvSpPr>
          <p:cNvPr id="41" name="Text 39"/>
          <p:cNvSpPr/>
          <p:nvPr/>
        </p:nvSpPr>
        <p:spPr>
          <a:xfrm>
            <a:off x="4297680" y="3218688"/>
            <a:ext cx="402336" cy="402336"/>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Arial" pitchFamily="34" charset="0"/>
                <a:ea typeface="Arial" pitchFamily="34" charset="-122"/>
                <a:cs typeface="Arial" pitchFamily="34" charset="-120"/>
              </a:rPr>
              <a:t>VS</a:t>
            </a:r>
            <a:endParaRPr lang="en-US" sz="950" dirty="0"/>
          </a:p>
        </p:txBody>
      </p:sp>
      <p:sp>
        <p:nvSpPr>
          <p:cNvPr id="42" name="Shape 40"/>
          <p:cNvSpPr/>
          <p:nvPr/>
        </p:nvSpPr>
        <p:spPr>
          <a:xfrm>
            <a:off x="4796028" y="1068019"/>
            <a:ext cx="6979615" cy="4754880"/>
          </a:xfrm>
          <a:prstGeom prst="roundRect">
            <a:avLst>
              <a:gd name="adj" fmla="val 1346"/>
            </a:avLst>
          </a:prstGeom>
          <a:solidFill>
            <a:srgbClr val="E2E8F0"/>
          </a:solidFill>
          <a:ln/>
        </p:spPr>
      </p:sp>
      <p:sp>
        <p:nvSpPr>
          <p:cNvPr id="43" name="Shape 41"/>
          <p:cNvSpPr/>
          <p:nvPr/>
        </p:nvSpPr>
        <p:spPr>
          <a:xfrm>
            <a:off x="4773168" y="1042416"/>
            <a:ext cx="6979615" cy="4754880"/>
          </a:xfrm>
          <a:prstGeom prst="roundRect">
            <a:avLst>
              <a:gd name="adj" fmla="val 1346"/>
            </a:avLst>
          </a:prstGeom>
          <a:solidFill>
            <a:srgbClr val="FFFFFF"/>
          </a:solidFill>
          <a:ln w="10795">
            <a:solidFill>
              <a:srgbClr val="FECACA"/>
            </a:solidFill>
            <a:prstDash val="solid"/>
          </a:ln>
        </p:spPr>
      </p:sp>
      <p:sp>
        <p:nvSpPr>
          <p:cNvPr id="44" name="Shape 42"/>
          <p:cNvSpPr/>
          <p:nvPr/>
        </p:nvSpPr>
        <p:spPr>
          <a:xfrm>
            <a:off x="4773168" y="1042416"/>
            <a:ext cx="6979615" cy="50292"/>
          </a:xfrm>
          <a:prstGeom prst="roundRect">
            <a:avLst>
              <a:gd name="adj" fmla="val 36364"/>
            </a:avLst>
          </a:prstGeom>
          <a:solidFill>
            <a:srgbClr val="B91C1C"/>
          </a:solidFill>
          <a:ln/>
        </p:spPr>
      </p:sp>
      <p:sp>
        <p:nvSpPr>
          <p:cNvPr id="45" name="Shape 43"/>
          <p:cNvSpPr/>
          <p:nvPr/>
        </p:nvSpPr>
        <p:spPr>
          <a:xfrm>
            <a:off x="4956048" y="1188720"/>
            <a:ext cx="2697480" cy="219456"/>
          </a:xfrm>
          <a:prstGeom prst="roundRect">
            <a:avLst>
              <a:gd name="adj" fmla="val 33333"/>
            </a:avLst>
          </a:prstGeom>
          <a:solidFill>
            <a:srgbClr val="FEF2F2"/>
          </a:solidFill>
          <a:ln w="9525">
            <a:solidFill>
              <a:srgbClr val="FECACA"/>
            </a:solidFill>
            <a:prstDash val="solid"/>
          </a:ln>
        </p:spPr>
      </p:sp>
      <p:sp>
        <p:nvSpPr>
          <p:cNvPr id="46" name="Text 44"/>
          <p:cNvSpPr/>
          <p:nvPr/>
        </p:nvSpPr>
        <p:spPr>
          <a:xfrm>
            <a:off x="4956048" y="1188720"/>
            <a:ext cx="2697480" cy="219456"/>
          </a:xfrm>
          <a:prstGeom prst="rect">
            <a:avLst/>
          </a:prstGeom>
          <a:noFill/>
          <a:ln/>
        </p:spPr>
        <p:txBody>
          <a:bodyPr wrap="square" lIns="0" tIns="0" rIns="0" bIns="0" rtlCol="0" anchor="ctr"/>
          <a:lstStyle/>
          <a:p>
            <a:pPr algn="ctr" indent="0" marL="0">
              <a:lnSpc>
                <a:spcPct val="105000"/>
              </a:lnSpc>
              <a:buNone/>
            </a:pPr>
            <a:r>
              <a:rPr lang="en-US" sz="700" b="1" dirty="0">
                <a:solidFill>
                  <a:srgbClr val="B91C1C"/>
                </a:solidFill>
                <a:latin typeface="Arial" pitchFamily="34" charset="0"/>
                <a:ea typeface="Arial" pitchFamily="34" charset="-122"/>
                <a:cs typeface="Arial" pitchFamily="34" charset="-120"/>
              </a:rPr>
              <a:t>TODAY: STATEFUL MULTI-TURN AI AGENT</a:t>
            </a:r>
            <a:endParaRPr lang="en-US" sz="700" dirty="0"/>
          </a:p>
        </p:txBody>
      </p:sp>
      <p:sp>
        <p:nvSpPr>
          <p:cNvPr id="47" name="Text 45"/>
          <p:cNvSpPr/>
          <p:nvPr/>
        </p:nvSpPr>
        <p:spPr>
          <a:xfrm>
            <a:off x="4956048" y="1481328"/>
            <a:ext cx="5120640" cy="237744"/>
          </a:xfrm>
          <a:prstGeom prst="rect">
            <a:avLst/>
          </a:prstGeom>
          <a:noFill/>
          <a:ln/>
        </p:spPr>
        <p:txBody>
          <a:bodyPr wrap="square" lIns="0" tIns="0" rIns="0" bIns="0" rtlCol="0" anchor="ctr"/>
          <a:lstStyle/>
          <a:p>
            <a:pPr indent="0" marL="0">
              <a:lnSpc>
                <a:spcPct val="105000"/>
              </a:lnSpc>
              <a:buNone/>
            </a:pPr>
            <a:r>
              <a:rPr lang="en-US" sz="1250" b="1" dirty="0">
                <a:solidFill>
                  <a:srgbClr val="B91C1C"/>
                </a:solidFill>
                <a:latin typeface="Arial" pitchFamily="34" charset="0"/>
                <a:ea typeface="Arial" pitchFamily="34" charset="-122"/>
                <a:cs typeface="Arial" pitchFamily="34" charset="-120"/>
              </a:rPr>
              <a:t>Five Simultaneous Cross-Tenant Blast Surfaces</a:t>
            </a:r>
            <a:endParaRPr lang="en-US" sz="1250" dirty="0"/>
          </a:p>
        </p:txBody>
      </p:sp>
      <p:sp>
        <p:nvSpPr>
          <p:cNvPr id="48" name="Shape 46"/>
          <p:cNvSpPr/>
          <p:nvPr/>
        </p:nvSpPr>
        <p:spPr>
          <a:xfrm>
            <a:off x="7050024" y="3529584"/>
            <a:ext cx="237744" cy="0"/>
          </a:xfrm>
          <a:prstGeom prst="line">
            <a:avLst/>
          </a:prstGeom>
          <a:noFill/>
          <a:ln w="14605">
            <a:solidFill>
              <a:srgbClr val="DC2626"/>
            </a:solidFill>
            <a:prstDash val="solid"/>
          </a:ln>
        </p:spPr>
      </p:sp>
      <p:sp>
        <p:nvSpPr>
          <p:cNvPr id="49" name="Shape 47"/>
          <p:cNvSpPr/>
          <p:nvPr/>
        </p:nvSpPr>
        <p:spPr>
          <a:xfrm flipV="1">
            <a:off x="7287768" y="2176272"/>
            <a:ext cx="0" cy="1353312"/>
          </a:xfrm>
          <a:prstGeom prst="line">
            <a:avLst/>
          </a:prstGeom>
          <a:noFill/>
          <a:ln w="14605">
            <a:solidFill>
              <a:srgbClr val="DC2626"/>
            </a:solidFill>
            <a:prstDash val="solid"/>
          </a:ln>
        </p:spPr>
      </p:sp>
      <p:sp>
        <p:nvSpPr>
          <p:cNvPr id="50" name="Shape 48"/>
          <p:cNvSpPr/>
          <p:nvPr/>
        </p:nvSpPr>
        <p:spPr>
          <a:xfrm>
            <a:off x="7287768" y="2176272"/>
            <a:ext cx="274320" cy="0"/>
          </a:xfrm>
          <a:prstGeom prst="line">
            <a:avLst/>
          </a:prstGeom>
          <a:noFill/>
          <a:ln w="14605">
            <a:solidFill>
              <a:srgbClr val="DC2626"/>
            </a:solidFill>
            <a:prstDash val="solid"/>
            <a:tailEnd type="triangle" w="sm" len="sm"/>
          </a:ln>
        </p:spPr>
      </p:sp>
      <p:sp>
        <p:nvSpPr>
          <p:cNvPr id="51" name="Shape 49"/>
          <p:cNvSpPr/>
          <p:nvPr/>
        </p:nvSpPr>
        <p:spPr>
          <a:xfrm>
            <a:off x="7050024" y="3529584"/>
            <a:ext cx="237744" cy="0"/>
          </a:xfrm>
          <a:prstGeom prst="line">
            <a:avLst/>
          </a:prstGeom>
          <a:noFill/>
          <a:ln w="14605">
            <a:solidFill>
              <a:srgbClr val="DC2626"/>
            </a:solidFill>
            <a:prstDash val="solid"/>
          </a:ln>
        </p:spPr>
      </p:sp>
      <p:sp>
        <p:nvSpPr>
          <p:cNvPr id="52" name="Shape 50"/>
          <p:cNvSpPr/>
          <p:nvPr/>
        </p:nvSpPr>
        <p:spPr>
          <a:xfrm flipV="1">
            <a:off x="7287768" y="2944368"/>
            <a:ext cx="0" cy="585216"/>
          </a:xfrm>
          <a:prstGeom prst="line">
            <a:avLst/>
          </a:prstGeom>
          <a:noFill/>
          <a:ln w="14605">
            <a:solidFill>
              <a:srgbClr val="DC2626"/>
            </a:solidFill>
            <a:prstDash val="solid"/>
          </a:ln>
        </p:spPr>
      </p:sp>
      <p:sp>
        <p:nvSpPr>
          <p:cNvPr id="53" name="Shape 51"/>
          <p:cNvSpPr/>
          <p:nvPr/>
        </p:nvSpPr>
        <p:spPr>
          <a:xfrm>
            <a:off x="7287768" y="2944368"/>
            <a:ext cx="274320" cy="0"/>
          </a:xfrm>
          <a:prstGeom prst="line">
            <a:avLst/>
          </a:prstGeom>
          <a:noFill/>
          <a:ln w="14605">
            <a:solidFill>
              <a:srgbClr val="DC2626"/>
            </a:solidFill>
            <a:prstDash val="solid"/>
            <a:tailEnd type="triangle" w="sm" len="sm"/>
          </a:ln>
        </p:spPr>
      </p:sp>
      <p:sp>
        <p:nvSpPr>
          <p:cNvPr id="54" name="Shape 52"/>
          <p:cNvSpPr/>
          <p:nvPr/>
        </p:nvSpPr>
        <p:spPr>
          <a:xfrm>
            <a:off x="7050024" y="3529584"/>
            <a:ext cx="237744" cy="0"/>
          </a:xfrm>
          <a:prstGeom prst="line">
            <a:avLst/>
          </a:prstGeom>
          <a:noFill/>
          <a:ln w="14605">
            <a:solidFill>
              <a:srgbClr val="DC2626"/>
            </a:solidFill>
            <a:prstDash val="solid"/>
          </a:ln>
        </p:spPr>
      </p:sp>
      <p:sp>
        <p:nvSpPr>
          <p:cNvPr id="55" name="Shape 53"/>
          <p:cNvSpPr/>
          <p:nvPr/>
        </p:nvSpPr>
        <p:spPr>
          <a:xfrm>
            <a:off x="7287768" y="3529584"/>
            <a:ext cx="0" cy="182880"/>
          </a:xfrm>
          <a:prstGeom prst="line">
            <a:avLst/>
          </a:prstGeom>
          <a:noFill/>
          <a:ln w="14605">
            <a:solidFill>
              <a:srgbClr val="DC2626"/>
            </a:solidFill>
            <a:prstDash val="solid"/>
          </a:ln>
        </p:spPr>
      </p:sp>
      <p:sp>
        <p:nvSpPr>
          <p:cNvPr id="56" name="Shape 54"/>
          <p:cNvSpPr/>
          <p:nvPr/>
        </p:nvSpPr>
        <p:spPr>
          <a:xfrm>
            <a:off x="7287768" y="3712464"/>
            <a:ext cx="274320" cy="0"/>
          </a:xfrm>
          <a:prstGeom prst="line">
            <a:avLst/>
          </a:prstGeom>
          <a:noFill/>
          <a:ln w="14605">
            <a:solidFill>
              <a:srgbClr val="DC2626"/>
            </a:solidFill>
            <a:prstDash val="solid"/>
            <a:tailEnd type="triangle" w="sm" len="sm"/>
          </a:ln>
        </p:spPr>
      </p:sp>
      <p:sp>
        <p:nvSpPr>
          <p:cNvPr id="57" name="Shape 55"/>
          <p:cNvSpPr/>
          <p:nvPr/>
        </p:nvSpPr>
        <p:spPr>
          <a:xfrm>
            <a:off x="7050024" y="3529584"/>
            <a:ext cx="237744" cy="0"/>
          </a:xfrm>
          <a:prstGeom prst="line">
            <a:avLst/>
          </a:prstGeom>
          <a:noFill/>
          <a:ln w="14605">
            <a:solidFill>
              <a:srgbClr val="DC2626"/>
            </a:solidFill>
            <a:prstDash val="solid"/>
          </a:ln>
        </p:spPr>
      </p:sp>
      <p:sp>
        <p:nvSpPr>
          <p:cNvPr id="58" name="Shape 56"/>
          <p:cNvSpPr/>
          <p:nvPr/>
        </p:nvSpPr>
        <p:spPr>
          <a:xfrm>
            <a:off x="7287768" y="3529584"/>
            <a:ext cx="0" cy="950976"/>
          </a:xfrm>
          <a:prstGeom prst="line">
            <a:avLst/>
          </a:prstGeom>
          <a:noFill/>
          <a:ln w="14605">
            <a:solidFill>
              <a:srgbClr val="DC2626"/>
            </a:solidFill>
            <a:prstDash val="solid"/>
          </a:ln>
        </p:spPr>
      </p:sp>
      <p:sp>
        <p:nvSpPr>
          <p:cNvPr id="59" name="Shape 57"/>
          <p:cNvSpPr/>
          <p:nvPr/>
        </p:nvSpPr>
        <p:spPr>
          <a:xfrm>
            <a:off x="7287768" y="4480560"/>
            <a:ext cx="274320" cy="0"/>
          </a:xfrm>
          <a:prstGeom prst="line">
            <a:avLst/>
          </a:prstGeom>
          <a:noFill/>
          <a:ln w="14605">
            <a:solidFill>
              <a:srgbClr val="DC2626"/>
            </a:solidFill>
            <a:prstDash val="solid"/>
            <a:tailEnd type="triangle" w="sm" len="sm"/>
          </a:ln>
        </p:spPr>
      </p:sp>
      <p:sp>
        <p:nvSpPr>
          <p:cNvPr id="60" name="Shape 58"/>
          <p:cNvSpPr/>
          <p:nvPr/>
        </p:nvSpPr>
        <p:spPr>
          <a:xfrm>
            <a:off x="7050024" y="3529584"/>
            <a:ext cx="237744" cy="0"/>
          </a:xfrm>
          <a:prstGeom prst="line">
            <a:avLst/>
          </a:prstGeom>
          <a:noFill/>
          <a:ln w="14605">
            <a:solidFill>
              <a:srgbClr val="DC2626"/>
            </a:solidFill>
            <a:prstDash val="solid"/>
          </a:ln>
        </p:spPr>
      </p:sp>
      <p:sp>
        <p:nvSpPr>
          <p:cNvPr id="61" name="Shape 59"/>
          <p:cNvSpPr/>
          <p:nvPr/>
        </p:nvSpPr>
        <p:spPr>
          <a:xfrm>
            <a:off x="7287768" y="3529584"/>
            <a:ext cx="0" cy="1719072"/>
          </a:xfrm>
          <a:prstGeom prst="line">
            <a:avLst/>
          </a:prstGeom>
          <a:noFill/>
          <a:ln w="14605">
            <a:solidFill>
              <a:srgbClr val="DC2626"/>
            </a:solidFill>
            <a:prstDash val="solid"/>
          </a:ln>
        </p:spPr>
      </p:sp>
      <p:sp>
        <p:nvSpPr>
          <p:cNvPr id="62" name="Shape 60"/>
          <p:cNvSpPr/>
          <p:nvPr/>
        </p:nvSpPr>
        <p:spPr>
          <a:xfrm>
            <a:off x="7287768" y="5248656"/>
            <a:ext cx="274320" cy="0"/>
          </a:xfrm>
          <a:prstGeom prst="line">
            <a:avLst/>
          </a:prstGeom>
          <a:noFill/>
          <a:ln w="14605">
            <a:solidFill>
              <a:srgbClr val="DC2626"/>
            </a:solidFill>
            <a:prstDash val="solid"/>
            <a:tailEnd type="triangle" w="sm" len="sm"/>
          </a:ln>
        </p:spPr>
      </p:sp>
      <p:sp>
        <p:nvSpPr>
          <p:cNvPr id="63" name="Shape 61"/>
          <p:cNvSpPr/>
          <p:nvPr/>
        </p:nvSpPr>
        <p:spPr>
          <a:xfrm>
            <a:off x="5106924" y="2878531"/>
            <a:ext cx="1965960" cy="1353312"/>
          </a:xfrm>
          <a:prstGeom prst="roundRect">
            <a:avLst>
              <a:gd name="adj" fmla="val 4730"/>
            </a:avLst>
          </a:prstGeom>
          <a:solidFill>
            <a:srgbClr val="E2E8F0"/>
          </a:solidFill>
          <a:ln/>
        </p:spPr>
      </p:sp>
      <p:sp>
        <p:nvSpPr>
          <p:cNvPr id="64" name="Shape 62"/>
          <p:cNvSpPr/>
          <p:nvPr/>
        </p:nvSpPr>
        <p:spPr>
          <a:xfrm>
            <a:off x="5084064" y="2852928"/>
            <a:ext cx="1965960" cy="1353312"/>
          </a:xfrm>
          <a:prstGeom prst="roundRect">
            <a:avLst>
              <a:gd name="adj" fmla="val 4730"/>
            </a:avLst>
          </a:prstGeom>
          <a:solidFill>
            <a:srgbClr val="1E293B"/>
          </a:solidFill>
          <a:ln w="17780">
            <a:solidFill>
              <a:srgbClr val="B91C1C"/>
            </a:solidFill>
            <a:prstDash val="solid"/>
          </a:ln>
        </p:spPr>
      </p:sp>
      <p:sp>
        <p:nvSpPr>
          <p:cNvPr id="65" name="Text 63"/>
          <p:cNvSpPr/>
          <p:nvPr/>
        </p:nvSpPr>
        <p:spPr>
          <a:xfrm>
            <a:off x="5193792" y="3017520"/>
            <a:ext cx="1746504" cy="420624"/>
          </a:xfrm>
          <a:prstGeom prst="rect">
            <a:avLst/>
          </a:prstGeom>
          <a:noFill/>
          <a:ln/>
        </p:spPr>
        <p:txBody>
          <a:bodyPr wrap="square" lIns="0" tIns="0" rIns="0" bIns="0" rtlCol="0" anchor="ctr"/>
          <a:lstStyle/>
          <a:p>
            <a:pPr algn="ctr" indent="0" marL="0">
              <a:lnSpc>
                <a:spcPct val="108000"/>
              </a:lnSpc>
              <a:buNone/>
            </a:pPr>
            <a:r>
              <a:rPr lang="en-US" sz="1020" b="1" dirty="0">
                <a:solidFill>
                  <a:srgbClr val="FFFFFF"/>
                </a:solidFill>
                <a:latin typeface="Arial" pitchFamily="34" charset="0"/>
                <a:ea typeface="Arial" pitchFamily="34" charset="-122"/>
                <a:cs typeface="Arial" pitchFamily="34" charset="-120"/>
              </a:rPr>
              <a:t>SHARED AGENT</a:t>
            </a:r>
            <a:endParaRPr lang="en-US" sz="1020" dirty="0"/>
          </a:p>
          <a:p>
            <a:pPr algn="ctr" indent="0" marL="0">
              <a:lnSpc>
                <a:spcPct val="108000"/>
              </a:lnSpc>
              <a:buNone/>
            </a:pPr>
            <a:r>
              <a:rPr lang="en-US" sz="1020" b="1" dirty="0">
                <a:solidFill>
                  <a:srgbClr val="FFFFFF"/>
                </a:solidFill>
                <a:latin typeface="Arial" pitchFamily="34" charset="0"/>
                <a:ea typeface="Arial" pitchFamily="34" charset="-122"/>
                <a:cs typeface="Arial" pitchFamily="34" charset="-120"/>
              </a:rPr>
              <a:t>RUNTIME POD</a:t>
            </a:r>
            <a:endParaRPr lang="en-US" sz="1020" dirty="0"/>
          </a:p>
        </p:txBody>
      </p:sp>
      <p:sp>
        <p:nvSpPr>
          <p:cNvPr id="66" name="Text 64"/>
          <p:cNvSpPr/>
          <p:nvPr/>
        </p:nvSpPr>
        <p:spPr>
          <a:xfrm>
            <a:off x="5193792" y="3474720"/>
            <a:ext cx="1746504" cy="621792"/>
          </a:xfrm>
          <a:prstGeom prst="rect">
            <a:avLst/>
          </a:prstGeom>
          <a:noFill/>
          <a:ln/>
        </p:spPr>
        <p:txBody>
          <a:bodyPr wrap="square" lIns="0" tIns="0" rIns="0" bIns="0" rtlCol="0" anchor="ctr"/>
          <a:lstStyle/>
          <a:p>
            <a:pPr algn="ctr" indent="0" marL="0">
              <a:lnSpc>
                <a:spcPct val="112000"/>
              </a:lnSpc>
              <a:buNone/>
            </a:pPr>
            <a:r>
              <a:rPr lang="en-US" sz="740" dirty="0">
                <a:solidFill>
                  <a:srgbClr val="E2E8F0"/>
                </a:solidFill>
                <a:latin typeface="Arial" pitchFamily="34" charset="0"/>
                <a:ea typeface="Arial" pitchFamily="34" charset="-122"/>
                <a:cs typeface="Arial" pitchFamily="34" charset="-120"/>
              </a:rPr>
              <a:t>Dynamic planning loop</a:t>
            </a:r>
            <a:endParaRPr lang="en-US" sz="740" dirty="0"/>
          </a:p>
          <a:p>
            <a:pPr algn="ctr" indent="0" marL="0">
              <a:lnSpc>
                <a:spcPct val="112000"/>
              </a:lnSpc>
              <a:buNone/>
            </a:pPr>
            <a:r>
              <a:rPr lang="en-US" sz="740" dirty="0">
                <a:solidFill>
                  <a:srgbClr val="E2E8F0"/>
                </a:solidFill>
                <a:latin typeface="Arial" pitchFamily="34" charset="0"/>
                <a:ea typeface="Arial" pitchFamily="34" charset="-122"/>
                <a:cs typeface="Arial" pitchFamily="34" charset="-120"/>
              </a:rPr>
              <a:t>Long-lived session state</a:t>
            </a:r>
            <a:endParaRPr lang="en-US" sz="740" dirty="0"/>
          </a:p>
          <a:p>
            <a:pPr algn="ctr" indent="0" marL="0">
              <a:lnSpc>
                <a:spcPct val="112000"/>
              </a:lnSpc>
              <a:buNone/>
            </a:pPr>
            <a:r>
              <a:rPr lang="en-US" sz="740" dirty="0">
                <a:solidFill>
                  <a:srgbClr val="E2E8F0"/>
                </a:solidFill>
                <a:latin typeface="Arial" pitchFamily="34" charset="0"/>
                <a:ea typeface="Arial" pitchFamily="34" charset="-122"/>
                <a:cs typeface="Arial" pitchFamily="34" charset="-120"/>
              </a:rPr>
              <a:t>Non-deterministic tool calls</a:t>
            </a:r>
            <a:endParaRPr lang="en-US" sz="740" dirty="0"/>
          </a:p>
          <a:p>
            <a:pPr algn="ctr" indent="0" marL="0">
              <a:lnSpc>
                <a:spcPct val="112000"/>
              </a:lnSpc>
              <a:buNone/>
            </a:pPr>
            <a:r>
              <a:rPr lang="en-US" sz="740" dirty="0">
                <a:solidFill>
                  <a:srgbClr val="E2E8F0"/>
                </a:solidFill>
                <a:latin typeface="Arial" pitchFamily="34" charset="0"/>
                <a:ea typeface="Arial" pitchFamily="34" charset="-122"/>
                <a:cs typeface="Arial" pitchFamily="34" charset="-120"/>
              </a:rPr>
              <a:t>Shared LLM credentials</a:t>
            </a:r>
            <a:endParaRPr lang="en-US" sz="740" dirty="0"/>
          </a:p>
        </p:txBody>
      </p:sp>
      <p:sp>
        <p:nvSpPr>
          <p:cNvPr id="67" name="Shape 65"/>
          <p:cNvSpPr/>
          <p:nvPr/>
        </p:nvSpPr>
        <p:spPr>
          <a:xfrm>
            <a:off x="7562088" y="1847088"/>
            <a:ext cx="4007815" cy="658368"/>
          </a:xfrm>
          <a:prstGeom prst="roundRect">
            <a:avLst>
              <a:gd name="adj" fmla="val 9722"/>
            </a:avLst>
          </a:prstGeom>
          <a:solidFill>
            <a:srgbClr val="FEF2F2"/>
          </a:solidFill>
          <a:ln w="10795">
            <a:solidFill>
              <a:srgbClr val="FECACA"/>
            </a:solidFill>
            <a:prstDash val="solid"/>
          </a:ln>
        </p:spPr>
      </p:sp>
      <p:sp>
        <p:nvSpPr>
          <p:cNvPr id="68" name="Shape 66"/>
          <p:cNvSpPr/>
          <p:nvPr/>
        </p:nvSpPr>
        <p:spPr>
          <a:xfrm>
            <a:off x="7653528" y="2048256"/>
            <a:ext cx="256032" cy="256032"/>
          </a:xfrm>
          <a:prstGeom prst="ellipse">
            <a:avLst/>
          </a:prstGeom>
          <a:solidFill>
            <a:srgbClr val="B91C1C"/>
          </a:solidFill>
          <a:ln/>
        </p:spPr>
      </p:sp>
      <p:sp>
        <p:nvSpPr>
          <p:cNvPr id="69" name="Text 67"/>
          <p:cNvSpPr/>
          <p:nvPr/>
        </p:nvSpPr>
        <p:spPr>
          <a:xfrm>
            <a:off x="7653528" y="2048256"/>
            <a:ext cx="256032" cy="256032"/>
          </a:xfrm>
          <a:prstGeom prst="rect">
            <a:avLst/>
          </a:prstGeom>
          <a:noFill/>
          <a:ln/>
        </p:spPr>
        <p:txBody>
          <a:bodyPr wrap="square" lIns="0" tIns="0" rIns="0" bIns="0" rtlCol="0" anchor="ctr"/>
          <a:lstStyle/>
          <a:p>
            <a:pPr algn="ctr" indent="0" marL="0">
              <a:lnSpc>
                <a:spcPct val="100000"/>
              </a:lnSpc>
              <a:buNone/>
            </a:pPr>
            <a:r>
              <a:rPr lang="en-US" sz="800" b="1" dirty="0">
                <a:solidFill>
                  <a:srgbClr val="FFFFFF"/>
                </a:solidFill>
                <a:latin typeface="Arial" pitchFamily="34" charset="0"/>
                <a:ea typeface="Arial" pitchFamily="34" charset="-122"/>
                <a:cs typeface="Arial" pitchFamily="34" charset="-120"/>
              </a:rPr>
              <a:t>1</a:t>
            </a:r>
            <a:endParaRPr lang="en-US" sz="800" dirty="0"/>
          </a:p>
        </p:txBody>
      </p:sp>
      <p:sp>
        <p:nvSpPr>
          <p:cNvPr id="70" name="Text 68"/>
          <p:cNvSpPr/>
          <p:nvPr/>
        </p:nvSpPr>
        <p:spPr>
          <a:xfrm>
            <a:off x="7982712" y="1911096"/>
            <a:ext cx="3477463" cy="201168"/>
          </a:xfrm>
          <a:prstGeom prst="rect">
            <a:avLst/>
          </a:prstGeom>
          <a:noFill/>
          <a:ln/>
        </p:spPr>
        <p:txBody>
          <a:bodyPr wrap="square" lIns="0" tIns="0" rIns="0" bIns="0" rtlCol="0" anchor="ctr"/>
          <a:lstStyle/>
          <a:p>
            <a:pPr indent="0" marL="0">
              <a:lnSpc>
                <a:spcPct val="105000"/>
              </a:lnSpc>
              <a:buNone/>
            </a:pPr>
            <a:r>
              <a:rPr lang="en-US" sz="880" b="1" dirty="0">
                <a:solidFill>
                  <a:srgbClr val="0F172A"/>
                </a:solidFill>
                <a:latin typeface="Arial" pitchFamily="34" charset="0"/>
                <a:ea typeface="Arial" pitchFamily="34" charset="-122"/>
                <a:cs typeface="Arial" pitchFamily="34" charset="-120"/>
              </a:rPr>
              <a:t>32k Shared Prompt Prefix Cache</a:t>
            </a:r>
            <a:endParaRPr lang="en-US" sz="880" dirty="0"/>
          </a:p>
        </p:txBody>
      </p:sp>
      <p:sp>
        <p:nvSpPr>
          <p:cNvPr id="71" name="Text 69"/>
          <p:cNvSpPr/>
          <p:nvPr/>
        </p:nvSpPr>
        <p:spPr>
          <a:xfrm>
            <a:off x="7982712" y="2121408"/>
            <a:ext cx="3477463" cy="329184"/>
          </a:xfrm>
          <a:prstGeom prst="rect">
            <a:avLst/>
          </a:prstGeom>
          <a:noFill/>
          <a:ln/>
        </p:spPr>
        <p:txBody>
          <a:bodyPr wrap="square" lIns="0" tIns="0" rIns="0" bIns="0" rtlCol="0" anchor="ctr"/>
          <a:lstStyle/>
          <a:p>
            <a:pPr indent="0" marL="0">
              <a:lnSpc>
                <a:spcPct val="106000"/>
              </a:lnSpc>
              <a:buNone/>
            </a:pPr>
            <a:r>
              <a:rPr lang="en-US" sz="730" dirty="0">
                <a:solidFill>
                  <a:srgbClr val="B91C1C"/>
                </a:solidFill>
                <a:latin typeface="Arial" pitchFamily="34" charset="0"/>
                <a:ea typeface="Arial" pitchFamily="34" charset="-122"/>
                <a:cs typeface="Arial" pitchFamily="34" charset="-120"/>
              </a:rPr>
              <a:t>BREACH RISK: Tenant A system instructions or injected context leaks into Tenant B cached KV blocks.</a:t>
            </a:r>
            <a:endParaRPr lang="en-US" sz="730" dirty="0"/>
          </a:p>
        </p:txBody>
      </p:sp>
      <p:sp>
        <p:nvSpPr>
          <p:cNvPr id="72" name="Shape 70"/>
          <p:cNvSpPr/>
          <p:nvPr/>
        </p:nvSpPr>
        <p:spPr>
          <a:xfrm>
            <a:off x="7562088" y="2615184"/>
            <a:ext cx="4007815" cy="658368"/>
          </a:xfrm>
          <a:prstGeom prst="roundRect">
            <a:avLst>
              <a:gd name="adj" fmla="val 9722"/>
            </a:avLst>
          </a:prstGeom>
          <a:solidFill>
            <a:srgbClr val="FEF2F2"/>
          </a:solidFill>
          <a:ln w="10795">
            <a:solidFill>
              <a:srgbClr val="FECACA"/>
            </a:solidFill>
            <a:prstDash val="solid"/>
          </a:ln>
        </p:spPr>
      </p:sp>
      <p:sp>
        <p:nvSpPr>
          <p:cNvPr id="73" name="Shape 71"/>
          <p:cNvSpPr/>
          <p:nvPr/>
        </p:nvSpPr>
        <p:spPr>
          <a:xfrm>
            <a:off x="7653528" y="2816352"/>
            <a:ext cx="256032" cy="256032"/>
          </a:xfrm>
          <a:prstGeom prst="ellipse">
            <a:avLst/>
          </a:prstGeom>
          <a:solidFill>
            <a:srgbClr val="B91C1C"/>
          </a:solidFill>
          <a:ln/>
        </p:spPr>
      </p:sp>
      <p:sp>
        <p:nvSpPr>
          <p:cNvPr id="74" name="Text 72"/>
          <p:cNvSpPr/>
          <p:nvPr/>
        </p:nvSpPr>
        <p:spPr>
          <a:xfrm>
            <a:off x="7653528" y="2816352"/>
            <a:ext cx="256032" cy="256032"/>
          </a:xfrm>
          <a:prstGeom prst="rect">
            <a:avLst/>
          </a:prstGeom>
          <a:noFill/>
          <a:ln/>
        </p:spPr>
        <p:txBody>
          <a:bodyPr wrap="square" lIns="0" tIns="0" rIns="0" bIns="0" rtlCol="0" anchor="ctr"/>
          <a:lstStyle/>
          <a:p>
            <a:pPr algn="ctr" indent="0" marL="0">
              <a:lnSpc>
                <a:spcPct val="100000"/>
              </a:lnSpc>
              <a:buNone/>
            </a:pPr>
            <a:r>
              <a:rPr lang="en-US" sz="800" b="1" dirty="0">
                <a:solidFill>
                  <a:srgbClr val="FFFFFF"/>
                </a:solidFill>
                <a:latin typeface="Arial" pitchFamily="34" charset="0"/>
                <a:ea typeface="Arial" pitchFamily="34" charset="-122"/>
                <a:cs typeface="Arial" pitchFamily="34" charset="-120"/>
              </a:rPr>
              <a:t>2</a:t>
            </a:r>
            <a:endParaRPr lang="en-US" sz="800" dirty="0"/>
          </a:p>
        </p:txBody>
      </p:sp>
      <p:sp>
        <p:nvSpPr>
          <p:cNvPr id="75" name="Text 73"/>
          <p:cNvSpPr/>
          <p:nvPr/>
        </p:nvSpPr>
        <p:spPr>
          <a:xfrm>
            <a:off x="7982712" y="2679192"/>
            <a:ext cx="3477463" cy="201168"/>
          </a:xfrm>
          <a:prstGeom prst="rect">
            <a:avLst/>
          </a:prstGeom>
          <a:noFill/>
          <a:ln/>
        </p:spPr>
        <p:txBody>
          <a:bodyPr wrap="square" lIns="0" tIns="0" rIns="0" bIns="0" rtlCol="0" anchor="ctr"/>
          <a:lstStyle/>
          <a:p>
            <a:pPr indent="0" marL="0">
              <a:lnSpc>
                <a:spcPct val="105000"/>
              </a:lnSpc>
              <a:buNone/>
            </a:pPr>
            <a:r>
              <a:rPr lang="en-US" sz="880" b="1" dirty="0">
                <a:solidFill>
                  <a:srgbClr val="0F172A"/>
                </a:solidFill>
                <a:latin typeface="Arial" pitchFamily="34" charset="0"/>
                <a:ea typeface="Arial" pitchFamily="34" charset="-122"/>
                <a:cs typeface="Arial" pitchFamily="34" charset="-120"/>
              </a:rPr>
              <a:t>Dynamic MCP Tool &amp; Agent Catalog</a:t>
            </a:r>
            <a:endParaRPr lang="en-US" sz="880" dirty="0"/>
          </a:p>
        </p:txBody>
      </p:sp>
      <p:sp>
        <p:nvSpPr>
          <p:cNvPr id="76" name="Text 74"/>
          <p:cNvSpPr/>
          <p:nvPr/>
        </p:nvSpPr>
        <p:spPr>
          <a:xfrm>
            <a:off x="7982712" y="2889504"/>
            <a:ext cx="3477463" cy="329184"/>
          </a:xfrm>
          <a:prstGeom prst="rect">
            <a:avLst/>
          </a:prstGeom>
          <a:noFill/>
          <a:ln/>
        </p:spPr>
        <p:txBody>
          <a:bodyPr wrap="square" lIns="0" tIns="0" rIns="0" bIns="0" rtlCol="0" anchor="ctr"/>
          <a:lstStyle/>
          <a:p>
            <a:pPr indent="0" marL="0">
              <a:lnSpc>
                <a:spcPct val="106000"/>
              </a:lnSpc>
              <a:buNone/>
            </a:pPr>
            <a:r>
              <a:rPr lang="en-US" sz="730" dirty="0">
                <a:solidFill>
                  <a:srgbClr val="B91C1C"/>
                </a:solidFill>
                <a:latin typeface="Arial" pitchFamily="34" charset="0"/>
                <a:ea typeface="Arial" pitchFamily="34" charset="-122"/>
                <a:cs typeface="Arial" pitchFamily="34" charset="-120"/>
              </a:rPr>
              <a:t>BREACH RISK: LLM discovers FinVault proprietary M&amp;A "Agent Alpha" schema during a RetailStream turn.</a:t>
            </a:r>
            <a:endParaRPr lang="en-US" sz="730" dirty="0"/>
          </a:p>
        </p:txBody>
      </p:sp>
      <p:sp>
        <p:nvSpPr>
          <p:cNvPr id="77" name="Shape 75"/>
          <p:cNvSpPr/>
          <p:nvPr/>
        </p:nvSpPr>
        <p:spPr>
          <a:xfrm>
            <a:off x="7562088" y="3383280"/>
            <a:ext cx="4007815" cy="658368"/>
          </a:xfrm>
          <a:prstGeom prst="roundRect">
            <a:avLst>
              <a:gd name="adj" fmla="val 9722"/>
            </a:avLst>
          </a:prstGeom>
          <a:solidFill>
            <a:srgbClr val="FEF2F2"/>
          </a:solidFill>
          <a:ln w="10795">
            <a:solidFill>
              <a:srgbClr val="FECACA"/>
            </a:solidFill>
            <a:prstDash val="solid"/>
          </a:ln>
        </p:spPr>
      </p:sp>
      <p:sp>
        <p:nvSpPr>
          <p:cNvPr id="78" name="Shape 76"/>
          <p:cNvSpPr/>
          <p:nvPr/>
        </p:nvSpPr>
        <p:spPr>
          <a:xfrm>
            <a:off x="7653528" y="3584448"/>
            <a:ext cx="256032" cy="256032"/>
          </a:xfrm>
          <a:prstGeom prst="ellipse">
            <a:avLst/>
          </a:prstGeom>
          <a:solidFill>
            <a:srgbClr val="B91C1C"/>
          </a:solidFill>
          <a:ln/>
        </p:spPr>
      </p:sp>
      <p:sp>
        <p:nvSpPr>
          <p:cNvPr id="79" name="Text 77"/>
          <p:cNvSpPr/>
          <p:nvPr/>
        </p:nvSpPr>
        <p:spPr>
          <a:xfrm>
            <a:off x="7653528" y="3584448"/>
            <a:ext cx="256032" cy="256032"/>
          </a:xfrm>
          <a:prstGeom prst="rect">
            <a:avLst/>
          </a:prstGeom>
          <a:noFill/>
          <a:ln/>
        </p:spPr>
        <p:txBody>
          <a:bodyPr wrap="square" lIns="0" tIns="0" rIns="0" bIns="0" rtlCol="0" anchor="ctr"/>
          <a:lstStyle/>
          <a:p>
            <a:pPr algn="ctr" indent="0" marL="0">
              <a:lnSpc>
                <a:spcPct val="100000"/>
              </a:lnSpc>
              <a:buNone/>
            </a:pPr>
            <a:r>
              <a:rPr lang="en-US" sz="800" b="1" dirty="0">
                <a:solidFill>
                  <a:srgbClr val="FFFFFF"/>
                </a:solidFill>
                <a:latin typeface="Arial" pitchFamily="34" charset="0"/>
                <a:ea typeface="Arial" pitchFamily="34" charset="-122"/>
                <a:cs typeface="Arial" pitchFamily="34" charset="-120"/>
              </a:rPr>
              <a:t>3</a:t>
            </a:r>
            <a:endParaRPr lang="en-US" sz="800" dirty="0"/>
          </a:p>
        </p:txBody>
      </p:sp>
      <p:sp>
        <p:nvSpPr>
          <p:cNvPr id="80" name="Text 78"/>
          <p:cNvSpPr/>
          <p:nvPr/>
        </p:nvSpPr>
        <p:spPr>
          <a:xfrm>
            <a:off x="7982712" y="3447288"/>
            <a:ext cx="3477463" cy="201168"/>
          </a:xfrm>
          <a:prstGeom prst="rect">
            <a:avLst/>
          </a:prstGeom>
          <a:noFill/>
          <a:ln/>
        </p:spPr>
        <p:txBody>
          <a:bodyPr wrap="square" lIns="0" tIns="0" rIns="0" bIns="0" rtlCol="0" anchor="ctr"/>
          <a:lstStyle/>
          <a:p>
            <a:pPr indent="0" marL="0">
              <a:lnSpc>
                <a:spcPct val="105000"/>
              </a:lnSpc>
              <a:buNone/>
            </a:pPr>
            <a:r>
              <a:rPr lang="en-US" sz="880" b="1" dirty="0">
                <a:solidFill>
                  <a:srgbClr val="0F172A"/>
                </a:solidFill>
                <a:latin typeface="Arial" pitchFamily="34" charset="0"/>
                <a:ea typeface="Arial" pitchFamily="34" charset="-122"/>
                <a:cs typeface="Arial" pitchFamily="34" charset="-120"/>
              </a:rPr>
              <a:t>L1–L5 Episodic &amp; Vector Memory</a:t>
            </a:r>
            <a:endParaRPr lang="en-US" sz="880" dirty="0"/>
          </a:p>
        </p:txBody>
      </p:sp>
      <p:sp>
        <p:nvSpPr>
          <p:cNvPr id="81" name="Text 79"/>
          <p:cNvSpPr/>
          <p:nvPr/>
        </p:nvSpPr>
        <p:spPr>
          <a:xfrm>
            <a:off x="7982712" y="3657600"/>
            <a:ext cx="3477463" cy="329184"/>
          </a:xfrm>
          <a:prstGeom prst="rect">
            <a:avLst/>
          </a:prstGeom>
          <a:noFill/>
          <a:ln/>
        </p:spPr>
        <p:txBody>
          <a:bodyPr wrap="square" lIns="0" tIns="0" rIns="0" bIns="0" rtlCol="0" anchor="ctr"/>
          <a:lstStyle/>
          <a:p>
            <a:pPr indent="0" marL="0">
              <a:lnSpc>
                <a:spcPct val="106000"/>
              </a:lnSpc>
              <a:buNone/>
            </a:pPr>
            <a:r>
              <a:rPr lang="en-US" sz="730" dirty="0">
                <a:solidFill>
                  <a:srgbClr val="B91C1C"/>
                </a:solidFill>
                <a:latin typeface="Arial" pitchFamily="34" charset="0"/>
                <a:ea typeface="Arial" pitchFamily="34" charset="-122"/>
                <a:cs typeface="Arial" pitchFamily="34" charset="-120"/>
              </a:rPr>
              <a:t>BREACH RISK: Semantic top-k RAG retrieves another tenant’s prior conversation summary or embeddings.</a:t>
            </a:r>
            <a:endParaRPr lang="en-US" sz="730" dirty="0"/>
          </a:p>
        </p:txBody>
      </p:sp>
      <p:sp>
        <p:nvSpPr>
          <p:cNvPr id="82" name="Shape 80"/>
          <p:cNvSpPr/>
          <p:nvPr/>
        </p:nvSpPr>
        <p:spPr>
          <a:xfrm>
            <a:off x="7562088" y="4151376"/>
            <a:ext cx="4007815" cy="658368"/>
          </a:xfrm>
          <a:prstGeom prst="roundRect">
            <a:avLst>
              <a:gd name="adj" fmla="val 9722"/>
            </a:avLst>
          </a:prstGeom>
          <a:solidFill>
            <a:srgbClr val="FEF2F2"/>
          </a:solidFill>
          <a:ln w="10795">
            <a:solidFill>
              <a:srgbClr val="FECACA"/>
            </a:solidFill>
            <a:prstDash val="solid"/>
          </a:ln>
        </p:spPr>
      </p:sp>
      <p:sp>
        <p:nvSpPr>
          <p:cNvPr id="83" name="Shape 81"/>
          <p:cNvSpPr/>
          <p:nvPr/>
        </p:nvSpPr>
        <p:spPr>
          <a:xfrm>
            <a:off x="7653528" y="4352544"/>
            <a:ext cx="256032" cy="256032"/>
          </a:xfrm>
          <a:prstGeom prst="ellipse">
            <a:avLst/>
          </a:prstGeom>
          <a:solidFill>
            <a:srgbClr val="B91C1C"/>
          </a:solidFill>
          <a:ln/>
        </p:spPr>
      </p:sp>
      <p:sp>
        <p:nvSpPr>
          <p:cNvPr id="84" name="Text 82"/>
          <p:cNvSpPr/>
          <p:nvPr/>
        </p:nvSpPr>
        <p:spPr>
          <a:xfrm>
            <a:off x="7653528" y="4352544"/>
            <a:ext cx="256032" cy="256032"/>
          </a:xfrm>
          <a:prstGeom prst="rect">
            <a:avLst/>
          </a:prstGeom>
          <a:noFill/>
          <a:ln/>
        </p:spPr>
        <p:txBody>
          <a:bodyPr wrap="square" lIns="0" tIns="0" rIns="0" bIns="0" rtlCol="0" anchor="ctr"/>
          <a:lstStyle/>
          <a:p>
            <a:pPr algn="ctr" indent="0" marL="0">
              <a:lnSpc>
                <a:spcPct val="100000"/>
              </a:lnSpc>
              <a:buNone/>
            </a:pPr>
            <a:r>
              <a:rPr lang="en-US" sz="800" b="1" dirty="0">
                <a:solidFill>
                  <a:srgbClr val="FFFFFF"/>
                </a:solidFill>
                <a:latin typeface="Arial" pitchFamily="34" charset="0"/>
                <a:ea typeface="Arial" pitchFamily="34" charset="-122"/>
                <a:cs typeface="Arial" pitchFamily="34" charset="-120"/>
              </a:rPr>
              <a:t>4</a:t>
            </a:r>
            <a:endParaRPr lang="en-US" sz="800" dirty="0"/>
          </a:p>
        </p:txBody>
      </p:sp>
      <p:sp>
        <p:nvSpPr>
          <p:cNvPr id="85" name="Text 83"/>
          <p:cNvSpPr/>
          <p:nvPr/>
        </p:nvSpPr>
        <p:spPr>
          <a:xfrm>
            <a:off x="7982712" y="4215384"/>
            <a:ext cx="3477463" cy="201168"/>
          </a:xfrm>
          <a:prstGeom prst="rect">
            <a:avLst/>
          </a:prstGeom>
          <a:noFill/>
          <a:ln/>
        </p:spPr>
        <p:txBody>
          <a:bodyPr wrap="square" lIns="0" tIns="0" rIns="0" bIns="0" rtlCol="0" anchor="ctr"/>
          <a:lstStyle/>
          <a:p>
            <a:pPr indent="0" marL="0">
              <a:lnSpc>
                <a:spcPct val="105000"/>
              </a:lnSpc>
              <a:buNone/>
            </a:pPr>
            <a:r>
              <a:rPr lang="en-US" sz="880" b="1" dirty="0">
                <a:solidFill>
                  <a:srgbClr val="0F172A"/>
                </a:solidFill>
                <a:latin typeface="Arial" pitchFamily="34" charset="0"/>
                <a:ea typeface="Arial" pitchFamily="34" charset="-122"/>
                <a:cs typeface="Arial" pitchFamily="34" charset="-120"/>
              </a:rPr>
              <a:t>Delegated 3LO User OAuth Tokens</a:t>
            </a:r>
            <a:endParaRPr lang="en-US" sz="880" dirty="0"/>
          </a:p>
        </p:txBody>
      </p:sp>
      <p:sp>
        <p:nvSpPr>
          <p:cNvPr id="86" name="Text 84"/>
          <p:cNvSpPr/>
          <p:nvPr/>
        </p:nvSpPr>
        <p:spPr>
          <a:xfrm>
            <a:off x="7982712" y="4425696"/>
            <a:ext cx="3477463" cy="329184"/>
          </a:xfrm>
          <a:prstGeom prst="rect">
            <a:avLst/>
          </a:prstGeom>
          <a:noFill/>
          <a:ln/>
        </p:spPr>
        <p:txBody>
          <a:bodyPr wrap="square" lIns="0" tIns="0" rIns="0" bIns="0" rtlCol="0" anchor="ctr"/>
          <a:lstStyle/>
          <a:p>
            <a:pPr indent="0" marL="0">
              <a:lnSpc>
                <a:spcPct val="106000"/>
              </a:lnSpc>
              <a:buNone/>
            </a:pPr>
            <a:r>
              <a:rPr lang="en-US" sz="730" dirty="0">
                <a:solidFill>
                  <a:srgbClr val="B91C1C"/>
                </a:solidFill>
                <a:latin typeface="Arial" pitchFamily="34" charset="0"/>
                <a:ea typeface="Arial" pitchFamily="34" charset="-122"/>
                <a:cs typeface="Arial" pitchFamily="34" charset="-120"/>
              </a:rPr>
              <a:t>BREACH RISK: Confused-Deputy agent replays cached Jira / ServiceNow token across pooled sessions.</a:t>
            </a:r>
            <a:endParaRPr lang="en-US" sz="730" dirty="0"/>
          </a:p>
        </p:txBody>
      </p:sp>
      <p:sp>
        <p:nvSpPr>
          <p:cNvPr id="87" name="Shape 85"/>
          <p:cNvSpPr/>
          <p:nvPr/>
        </p:nvSpPr>
        <p:spPr>
          <a:xfrm>
            <a:off x="7562088" y="4919472"/>
            <a:ext cx="4007815" cy="658368"/>
          </a:xfrm>
          <a:prstGeom prst="roundRect">
            <a:avLst>
              <a:gd name="adj" fmla="val 9722"/>
            </a:avLst>
          </a:prstGeom>
          <a:solidFill>
            <a:srgbClr val="FEF2F2"/>
          </a:solidFill>
          <a:ln w="10795">
            <a:solidFill>
              <a:srgbClr val="FECACA"/>
            </a:solidFill>
            <a:prstDash val="solid"/>
          </a:ln>
        </p:spPr>
      </p:sp>
      <p:sp>
        <p:nvSpPr>
          <p:cNvPr id="88" name="Shape 86"/>
          <p:cNvSpPr/>
          <p:nvPr/>
        </p:nvSpPr>
        <p:spPr>
          <a:xfrm>
            <a:off x="7653528" y="5120640"/>
            <a:ext cx="256032" cy="256032"/>
          </a:xfrm>
          <a:prstGeom prst="ellipse">
            <a:avLst/>
          </a:prstGeom>
          <a:solidFill>
            <a:srgbClr val="B91C1C"/>
          </a:solidFill>
          <a:ln/>
        </p:spPr>
      </p:sp>
      <p:sp>
        <p:nvSpPr>
          <p:cNvPr id="89" name="Text 87"/>
          <p:cNvSpPr/>
          <p:nvPr/>
        </p:nvSpPr>
        <p:spPr>
          <a:xfrm>
            <a:off x="7653528" y="5120640"/>
            <a:ext cx="256032" cy="256032"/>
          </a:xfrm>
          <a:prstGeom prst="rect">
            <a:avLst/>
          </a:prstGeom>
          <a:noFill/>
          <a:ln/>
        </p:spPr>
        <p:txBody>
          <a:bodyPr wrap="square" lIns="0" tIns="0" rIns="0" bIns="0" rtlCol="0" anchor="ctr"/>
          <a:lstStyle/>
          <a:p>
            <a:pPr algn="ctr" indent="0" marL="0">
              <a:lnSpc>
                <a:spcPct val="100000"/>
              </a:lnSpc>
              <a:buNone/>
            </a:pPr>
            <a:r>
              <a:rPr lang="en-US" sz="800" b="1" dirty="0">
                <a:solidFill>
                  <a:srgbClr val="FFFFFF"/>
                </a:solidFill>
                <a:latin typeface="Arial" pitchFamily="34" charset="0"/>
                <a:ea typeface="Arial" pitchFamily="34" charset="-122"/>
                <a:cs typeface="Arial" pitchFamily="34" charset="-120"/>
              </a:rPr>
              <a:t>5</a:t>
            </a:r>
            <a:endParaRPr lang="en-US" sz="800" dirty="0"/>
          </a:p>
        </p:txBody>
      </p:sp>
      <p:sp>
        <p:nvSpPr>
          <p:cNvPr id="90" name="Text 88"/>
          <p:cNvSpPr/>
          <p:nvPr/>
        </p:nvSpPr>
        <p:spPr>
          <a:xfrm>
            <a:off x="7982712" y="4983480"/>
            <a:ext cx="3477463" cy="201168"/>
          </a:xfrm>
          <a:prstGeom prst="rect">
            <a:avLst/>
          </a:prstGeom>
          <a:noFill/>
          <a:ln/>
        </p:spPr>
        <p:txBody>
          <a:bodyPr wrap="square" lIns="0" tIns="0" rIns="0" bIns="0" rtlCol="0" anchor="ctr"/>
          <a:lstStyle/>
          <a:p>
            <a:pPr indent="0" marL="0">
              <a:lnSpc>
                <a:spcPct val="105000"/>
              </a:lnSpc>
              <a:buNone/>
            </a:pPr>
            <a:r>
              <a:rPr lang="en-US" sz="880" b="1" dirty="0">
                <a:solidFill>
                  <a:srgbClr val="0F172A"/>
                </a:solidFill>
                <a:latin typeface="Arial" pitchFamily="34" charset="0"/>
                <a:ea typeface="Arial" pitchFamily="34" charset="-122"/>
                <a:cs typeface="Arial" pitchFamily="34" charset="-120"/>
              </a:rPr>
              <a:t>Thinking &amp; RPM Quota Budgets</a:t>
            </a:r>
            <a:endParaRPr lang="en-US" sz="880" dirty="0"/>
          </a:p>
        </p:txBody>
      </p:sp>
      <p:sp>
        <p:nvSpPr>
          <p:cNvPr id="91" name="Text 89"/>
          <p:cNvSpPr/>
          <p:nvPr/>
        </p:nvSpPr>
        <p:spPr>
          <a:xfrm>
            <a:off x="7982712" y="5193792"/>
            <a:ext cx="3477463" cy="329184"/>
          </a:xfrm>
          <a:prstGeom prst="rect">
            <a:avLst/>
          </a:prstGeom>
          <a:noFill/>
          <a:ln/>
        </p:spPr>
        <p:txBody>
          <a:bodyPr wrap="square" lIns="0" tIns="0" rIns="0" bIns="0" rtlCol="0" anchor="ctr"/>
          <a:lstStyle/>
          <a:p>
            <a:pPr indent="0" marL="0">
              <a:lnSpc>
                <a:spcPct val="106000"/>
              </a:lnSpc>
              <a:buNone/>
            </a:pPr>
            <a:r>
              <a:rPr lang="en-US" sz="730" dirty="0">
                <a:solidFill>
                  <a:srgbClr val="B91C1C"/>
                </a:solidFill>
                <a:latin typeface="Arial" pitchFamily="34" charset="0"/>
                <a:ea typeface="Arial" pitchFamily="34" charset="-122"/>
                <a:cs typeface="Arial" pitchFamily="34" charset="-120"/>
              </a:rPr>
              <a:t>STARVATION RISK: One runaway 8,192-token reasoning loop drains the entire 500 RPM shared project quota.</a:t>
            </a:r>
            <a:endParaRPr lang="en-US" sz="730" dirty="0"/>
          </a:p>
        </p:txBody>
      </p:sp>
      <p:sp>
        <p:nvSpPr>
          <p:cNvPr id="92" name="Shape 90"/>
          <p:cNvSpPr/>
          <p:nvPr/>
        </p:nvSpPr>
        <p:spPr>
          <a:xfrm>
            <a:off x="438912" y="5943600"/>
            <a:ext cx="11313871" cy="420624"/>
          </a:xfrm>
          <a:prstGeom prst="roundRect">
            <a:avLst>
              <a:gd name="adj" fmla="val 13043"/>
            </a:avLst>
          </a:prstGeom>
          <a:solidFill>
            <a:srgbClr val="FEF2F2"/>
          </a:solidFill>
          <a:ln w="11430">
            <a:solidFill>
              <a:srgbClr val="FECACA"/>
            </a:solidFill>
            <a:prstDash val="solid"/>
          </a:ln>
        </p:spPr>
      </p:sp>
      <p:sp>
        <p:nvSpPr>
          <p:cNvPr id="93" name="Shape 91"/>
          <p:cNvSpPr/>
          <p:nvPr/>
        </p:nvSpPr>
        <p:spPr>
          <a:xfrm>
            <a:off x="530352" y="6025896"/>
            <a:ext cx="1353312" cy="256032"/>
          </a:xfrm>
          <a:prstGeom prst="roundRect">
            <a:avLst>
              <a:gd name="adj" fmla="val 17857"/>
            </a:avLst>
          </a:prstGeom>
          <a:solidFill>
            <a:srgbClr val="B91C1C"/>
          </a:solidFill>
          <a:ln/>
        </p:spPr>
      </p:sp>
      <p:sp>
        <p:nvSpPr>
          <p:cNvPr id="94" name="Text 92"/>
          <p:cNvSpPr/>
          <p:nvPr/>
        </p:nvSpPr>
        <p:spPr>
          <a:xfrm>
            <a:off x="530352" y="6025896"/>
            <a:ext cx="1353312" cy="256032"/>
          </a:xfrm>
          <a:prstGeom prst="rect">
            <a:avLst/>
          </a:prstGeom>
          <a:noFill/>
          <a:ln/>
        </p:spPr>
        <p:txBody>
          <a:bodyPr wrap="square" lIns="0" tIns="0" rIns="0" bIns="0" rtlCol="0" anchor="ctr"/>
          <a:lstStyle/>
          <a:p>
            <a:pPr algn="ctr" indent="0" marL="0">
              <a:lnSpc>
                <a:spcPct val="105000"/>
              </a:lnSpc>
              <a:buNone/>
            </a:pPr>
            <a:r>
              <a:rPr lang="en-US" sz="650" b="1" dirty="0">
                <a:solidFill>
                  <a:srgbClr val="FFFFFF"/>
                </a:solidFill>
                <a:latin typeface="Arial" pitchFamily="34" charset="0"/>
                <a:ea typeface="Arial" pitchFamily="34" charset="-122"/>
                <a:cs typeface="Arial" pitchFamily="34" charset="-120"/>
              </a:rPr>
              <a:t>ROOT PROBLEM</a:t>
            </a:r>
            <a:endParaRPr lang="en-US" sz="650" dirty="0"/>
          </a:p>
        </p:txBody>
      </p:sp>
      <p:sp>
        <p:nvSpPr>
          <p:cNvPr id="95" name="Text 93"/>
          <p:cNvSpPr/>
          <p:nvPr/>
        </p:nvSpPr>
        <p:spPr>
          <a:xfrm>
            <a:off x="1993392" y="5980176"/>
            <a:ext cx="7555687" cy="347472"/>
          </a:xfrm>
          <a:prstGeom prst="rect">
            <a:avLst/>
          </a:prstGeom>
          <a:noFill/>
          <a:ln/>
        </p:spPr>
        <p:txBody>
          <a:bodyPr wrap="square" lIns="0" tIns="0" rIns="0" bIns="0" rtlCol="0" anchor="ctr"/>
          <a:lstStyle/>
          <a:p>
            <a:pPr algn="l" indent="0" marL="0">
              <a:lnSpc>
                <a:spcPct val="108000"/>
              </a:lnSpc>
              <a:buNone/>
            </a:pPr>
            <a:r>
              <a:rPr lang="en-US" sz="860" b="1" dirty="0">
                <a:solidFill>
                  <a:srgbClr val="0F172A"/>
                </a:solidFill>
                <a:latin typeface="Arial" pitchFamily="34" charset="0"/>
                <a:ea typeface="Arial" pitchFamily="34" charset="-122"/>
                <a:cs typeface="Arial" pitchFamily="34" charset="-120"/>
              </a:rPr>
              <a:t>Database RLS alone protects only Surface #3/#4 storage rows—leaving prompt caches, tool schemas, delegated OAuth tokens, and reasoning quotas completely exposed.</a:t>
            </a:r>
            <a:endParaRPr lang="en-US" sz="860" dirty="0"/>
          </a:p>
        </p:txBody>
      </p:sp>
      <p:sp>
        <p:nvSpPr>
          <p:cNvPr id="96" name="Shape 94"/>
          <p:cNvSpPr/>
          <p:nvPr/>
        </p:nvSpPr>
        <p:spPr>
          <a:xfrm>
            <a:off x="9695383" y="6025896"/>
            <a:ext cx="1965960" cy="256032"/>
          </a:xfrm>
          <a:prstGeom prst="roundRect">
            <a:avLst>
              <a:gd name="adj" fmla="val 17857"/>
            </a:avLst>
          </a:prstGeom>
          <a:solidFill>
            <a:srgbClr val="FFFFFF"/>
          </a:solidFill>
          <a:ln w="10795">
            <a:solidFill>
              <a:srgbClr val="B91C1C"/>
            </a:solidFill>
            <a:prstDash val="solid"/>
          </a:ln>
        </p:spPr>
      </p:sp>
      <p:sp>
        <p:nvSpPr>
          <p:cNvPr id="97" name="Text 95"/>
          <p:cNvSpPr/>
          <p:nvPr/>
        </p:nvSpPr>
        <p:spPr>
          <a:xfrm>
            <a:off x="9695383" y="6025896"/>
            <a:ext cx="1965960" cy="256032"/>
          </a:xfrm>
          <a:prstGeom prst="rect">
            <a:avLst/>
          </a:prstGeom>
          <a:noFill/>
          <a:ln/>
        </p:spPr>
        <p:txBody>
          <a:bodyPr wrap="square" lIns="0" tIns="0" rIns="0" bIns="0" rtlCol="0" anchor="ctr"/>
          <a:lstStyle/>
          <a:p>
            <a:pPr algn="ctr" indent="0" marL="0">
              <a:lnSpc>
                <a:spcPct val="105000"/>
              </a:lnSpc>
              <a:buNone/>
            </a:pPr>
            <a:r>
              <a:rPr lang="en-US" sz="740" b="1" dirty="0">
                <a:solidFill>
                  <a:srgbClr val="B91C1C"/>
                </a:solidFill>
                <a:latin typeface="Arial" pitchFamily="34" charset="0"/>
                <a:ea typeface="Arial" pitchFamily="34" charset="-122"/>
                <a:cs typeface="Arial" pitchFamily="34" charset="-120"/>
              </a:rPr>
              <a:t>5 Stateful Surfaces to Govern</a:t>
            </a:r>
            <a:endParaRPr lang="en-US" sz="7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1148"/>
          </a:xfrm>
          <a:prstGeom prst="rect">
            <a:avLst/>
          </a:prstGeom>
          <a:solidFill>
            <a:srgbClr val="B91C1C"/>
          </a:solidFill>
          <a:ln/>
        </p:spPr>
      </p:sp>
      <p:sp>
        <p:nvSpPr>
          <p:cNvPr id="3" name="Shape 1"/>
          <p:cNvSpPr/>
          <p:nvPr/>
        </p:nvSpPr>
        <p:spPr>
          <a:xfrm>
            <a:off x="438912" y="192024"/>
            <a:ext cx="59436" cy="621792"/>
          </a:xfrm>
          <a:prstGeom prst="roundRect">
            <a:avLst>
              <a:gd name="adj" fmla="val 46154"/>
            </a:avLst>
          </a:prstGeom>
          <a:solidFill>
            <a:srgbClr val="B91C1C"/>
          </a:solidFill>
          <a:ln/>
        </p:spPr>
      </p:sp>
      <p:sp>
        <p:nvSpPr>
          <p:cNvPr id="4" name="Text 2"/>
          <p:cNvSpPr/>
          <p:nvPr/>
        </p:nvSpPr>
        <p:spPr>
          <a:xfrm>
            <a:off x="576072" y="173736"/>
            <a:ext cx="4389120" cy="146304"/>
          </a:xfrm>
          <a:prstGeom prst="rect">
            <a:avLst/>
          </a:prstGeom>
          <a:noFill/>
          <a:ln/>
        </p:spPr>
        <p:txBody>
          <a:bodyPr wrap="square" lIns="0" tIns="0" rIns="0" bIns="0" rtlCol="0" anchor="ctr"/>
          <a:lstStyle/>
          <a:p>
            <a:pPr algn="l" indent="0" marL="0">
              <a:lnSpc>
                <a:spcPct val="105000"/>
              </a:lnSpc>
              <a:buNone/>
            </a:pPr>
            <a:r>
              <a:rPr lang="en-US" sz="750" b="1" spc="110" kern="0" dirty="0">
                <a:solidFill>
                  <a:srgbClr val="B91C1C"/>
                </a:solidFill>
                <a:latin typeface="Arial" pitchFamily="34" charset="0"/>
                <a:ea typeface="Arial" pitchFamily="34" charset="-122"/>
                <a:cs typeface="Arial" pitchFamily="34" charset="-120"/>
              </a:rPr>
              <a:t>01 / REAL PROBLEM</a:t>
            </a:r>
            <a:endParaRPr lang="en-US" sz="750" dirty="0"/>
          </a:p>
        </p:txBody>
      </p:sp>
      <p:sp>
        <p:nvSpPr>
          <p:cNvPr id="5" name="Shape 3"/>
          <p:cNvSpPr/>
          <p:nvPr/>
        </p:nvSpPr>
        <p:spPr>
          <a:xfrm>
            <a:off x="8183880" y="219456"/>
            <a:ext cx="228600" cy="59436"/>
          </a:xfrm>
          <a:prstGeom prst="roundRect">
            <a:avLst>
              <a:gd name="adj" fmla="val 46154"/>
            </a:avLst>
          </a:prstGeom>
          <a:solidFill>
            <a:srgbClr val="B91C1C"/>
          </a:solidFill>
          <a:ln/>
        </p:spPr>
      </p:sp>
      <p:sp>
        <p:nvSpPr>
          <p:cNvPr id="6" name="Shape 4"/>
          <p:cNvSpPr/>
          <p:nvPr/>
        </p:nvSpPr>
        <p:spPr>
          <a:xfrm>
            <a:off x="8453628" y="219456"/>
            <a:ext cx="228600" cy="59436"/>
          </a:xfrm>
          <a:prstGeom prst="roundRect">
            <a:avLst>
              <a:gd name="adj" fmla="val 46154"/>
            </a:avLst>
          </a:prstGeom>
          <a:solidFill>
            <a:srgbClr val="E2E8F0"/>
          </a:solidFill>
          <a:ln/>
        </p:spPr>
      </p:sp>
      <p:sp>
        <p:nvSpPr>
          <p:cNvPr id="7" name="Shape 5"/>
          <p:cNvSpPr/>
          <p:nvPr/>
        </p:nvSpPr>
        <p:spPr>
          <a:xfrm>
            <a:off x="8723376" y="219456"/>
            <a:ext cx="228600" cy="59436"/>
          </a:xfrm>
          <a:prstGeom prst="roundRect">
            <a:avLst>
              <a:gd name="adj" fmla="val 46154"/>
            </a:avLst>
          </a:prstGeom>
          <a:solidFill>
            <a:srgbClr val="E2E8F0"/>
          </a:solidFill>
          <a:ln/>
        </p:spPr>
      </p:sp>
      <p:sp>
        <p:nvSpPr>
          <p:cNvPr id="8" name="Shape 6"/>
          <p:cNvSpPr/>
          <p:nvPr/>
        </p:nvSpPr>
        <p:spPr>
          <a:xfrm>
            <a:off x="8993124" y="219456"/>
            <a:ext cx="228600" cy="59436"/>
          </a:xfrm>
          <a:prstGeom prst="roundRect">
            <a:avLst>
              <a:gd name="adj" fmla="val 46154"/>
            </a:avLst>
          </a:prstGeom>
          <a:solidFill>
            <a:srgbClr val="E2E8F0"/>
          </a:solidFill>
          <a:ln/>
        </p:spPr>
      </p:sp>
      <p:sp>
        <p:nvSpPr>
          <p:cNvPr id="9" name="Shape 7"/>
          <p:cNvSpPr/>
          <p:nvPr/>
        </p:nvSpPr>
        <p:spPr>
          <a:xfrm>
            <a:off x="9262872" y="219456"/>
            <a:ext cx="228600" cy="59436"/>
          </a:xfrm>
          <a:prstGeom prst="roundRect">
            <a:avLst>
              <a:gd name="adj" fmla="val 46154"/>
            </a:avLst>
          </a:prstGeom>
          <a:solidFill>
            <a:srgbClr val="E2E8F0"/>
          </a:solidFill>
          <a:ln/>
        </p:spPr>
      </p:sp>
      <p:sp>
        <p:nvSpPr>
          <p:cNvPr id="10" name="Shape 8"/>
          <p:cNvSpPr/>
          <p:nvPr/>
        </p:nvSpPr>
        <p:spPr>
          <a:xfrm>
            <a:off x="9532620" y="219456"/>
            <a:ext cx="228600" cy="59436"/>
          </a:xfrm>
          <a:prstGeom prst="roundRect">
            <a:avLst>
              <a:gd name="adj" fmla="val 46154"/>
            </a:avLst>
          </a:prstGeom>
          <a:solidFill>
            <a:srgbClr val="E2E8F0"/>
          </a:solidFill>
          <a:ln/>
        </p:spPr>
      </p:sp>
      <p:sp>
        <p:nvSpPr>
          <p:cNvPr id="11" name="Shape 9"/>
          <p:cNvSpPr/>
          <p:nvPr/>
        </p:nvSpPr>
        <p:spPr>
          <a:xfrm>
            <a:off x="9802368" y="219456"/>
            <a:ext cx="228600" cy="59436"/>
          </a:xfrm>
          <a:prstGeom prst="roundRect">
            <a:avLst>
              <a:gd name="adj" fmla="val 46154"/>
            </a:avLst>
          </a:prstGeom>
          <a:solidFill>
            <a:srgbClr val="E2E8F0"/>
          </a:solidFill>
          <a:ln/>
        </p:spPr>
      </p:sp>
      <p:sp>
        <p:nvSpPr>
          <p:cNvPr id="12" name="Shape 10"/>
          <p:cNvSpPr/>
          <p:nvPr/>
        </p:nvSpPr>
        <p:spPr>
          <a:xfrm>
            <a:off x="10131552" y="146304"/>
            <a:ext cx="1621231" cy="192024"/>
          </a:xfrm>
          <a:prstGeom prst="roundRect">
            <a:avLst>
              <a:gd name="adj" fmla="val 23810"/>
            </a:avLst>
          </a:prstGeom>
          <a:solidFill>
            <a:srgbClr val="FFFFFF"/>
          </a:solidFill>
          <a:ln w="9525">
            <a:solidFill>
              <a:srgbClr val="CBD5E1"/>
            </a:solidFill>
            <a:prstDash val="solid"/>
          </a:ln>
        </p:spPr>
      </p:sp>
      <p:sp>
        <p:nvSpPr>
          <p:cNvPr id="13" name="Text 11"/>
          <p:cNvSpPr/>
          <p:nvPr/>
        </p:nvSpPr>
        <p:spPr>
          <a:xfrm>
            <a:off x="10131552" y="146304"/>
            <a:ext cx="1621231" cy="192024"/>
          </a:xfrm>
          <a:prstGeom prst="rect">
            <a:avLst/>
          </a:prstGeom>
          <a:noFill/>
          <a:ln/>
        </p:spPr>
        <p:txBody>
          <a:bodyPr wrap="square" lIns="0" tIns="0" rIns="0" bIns="0" rtlCol="0" anchor="ctr"/>
          <a:lstStyle/>
          <a:p>
            <a:pPr algn="ctr" indent="0" marL="0">
              <a:lnSpc>
                <a:spcPct val="105000"/>
              </a:lnSpc>
              <a:buNone/>
            </a:pPr>
            <a:r>
              <a:rPr lang="en-US" sz="680" b="1" spc="60" kern="0" dirty="0">
                <a:solidFill>
                  <a:srgbClr val="B91C1C"/>
                </a:solidFill>
                <a:latin typeface="Arial" pitchFamily="34" charset="0"/>
                <a:ea typeface="Arial" pitchFamily="34" charset="-122"/>
                <a:cs typeface="Arial" pitchFamily="34" charset="-120"/>
              </a:rPr>
              <a:t>CONCEPTUAL TRADE-OFF</a:t>
            </a:r>
            <a:endParaRPr lang="en-US" sz="680" dirty="0"/>
          </a:p>
        </p:txBody>
      </p:sp>
      <p:sp>
        <p:nvSpPr>
          <p:cNvPr id="14" name="Text 12"/>
          <p:cNvSpPr/>
          <p:nvPr/>
        </p:nvSpPr>
        <p:spPr>
          <a:xfrm>
            <a:off x="576072" y="338328"/>
            <a:ext cx="11176711" cy="310896"/>
          </a:xfrm>
          <a:prstGeom prst="rect">
            <a:avLst/>
          </a:prstGeom>
          <a:noFill/>
          <a:ln/>
        </p:spPr>
        <p:txBody>
          <a:bodyPr wrap="square" lIns="0" tIns="0" rIns="0" bIns="0" rtlCol="0" anchor="ctr"/>
          <a:lstStyle/>
          <a:p>
            <a:pPr algn="l" indent="0" marL="0">
              <a:lnSpc>
                <a:spcPct val="104000"/>
              </a:lnSpc>
              <a:buNone/>
            </a:pPr>
            <a:r>
              <a:rPr lang="en-US" sz="1750" b="1" dirty="0">
                <a:solidFill>
                  <a:srgbClr val="0F172A"/>
                </a:solidFill>
                <a:latin typeface="Arial" pitchFamily="34" charset="0"/>
                <a:ea typeface="Arial" pitchFamily="34" charset="-122"/>
                <a:cs typeface="Arial" pitchFamily="34" charset="-120"/>
              </a:rPr>
              <a:t>The SaaS AI Architect’s Dilemma: Security Veto vs. Gross-Margin Collapse</a:t>
            </a:r>
            <a:endParaRPr lang="en-US" sz="1750" dirty="0"/>
          </a:p>
        </p:txBody>
      </p:sp>
      <p:sp>
        <p:nvSpPr>
          <p:cNvPr id="15" name="Text 13"/>
          <p:cNvSpPr/>
          <p:nvPr/>
        </p:nvSpPr>
        <p:spPr>
          <a:xfrm>
            <a:off x="576072" y="658368"/>
            <a:ext cx="11176711" cy="192024"/>
          </a:xfrm>
          <a:prstGeom prst="rect">
            <a:avLst/>
          </a:prstGeom>
          <a:noFill/>
          <a:ln/>
        </p:spPr>
        <p:txBody>
          <a:bodyPr wrap="square" lIns="0" tIns="0" rIns="0" bIns="0" rtlCol="0" anchor="ctr"/>
          <a:lstStyle/>
          <a:p>
            <a:pPr algn="l" indent="0" marL="0">
              <a:lnSpc>
                <a:spcPct val="104000"/>
              </a:lnSpc>
              <a:buNone/>
            </a:pPr>
            <a:r>
              <a:rPr lang="en-US" sz="900" dirty="0">
                <a:solidFill>
                  <a:srgbClr val="64748B"/>
                </a:solidFill>
                <a:latin typeface="Arial" pitchFamily="34" charset="0"/>
                <a:ea typeface="Arial" pitchFamily="34" charset="-122"/>
                <a:cs typeface="Arial" pitchFamily="34" charset="-120"/>
              </a:rPr>
              <a:t>When teams try to fix those 5 blast surfaces with an all-or-nothing architecture, both conventional paths fail in production.</a:t>
            </a:r>
            <a:endParaRPr lang="en-US" sz="900" dirty="0"/>
          </a:p>
        </p:txBody>
      </p:sp>
      <p:sp>
        <p:nvSpPr>
          <p:cNvPr id="16" name="Shape 14"/>
          <p:cNvSpPr/>
          <p:nvPr/>
        </p:nvSpPr>
        <p:spPr>
          <a:xfrm>
            <a:off x="438912" y="914400"/>
            <a:ext cx="11313871" cy="0"/>
          </a:xfrm>
          <a:prstGeom prst="line">
            <a:avLst/>
          </a:prstGeom>
          <a:noFill/>
          <a:ln w="10795">
            <a:solidFill>
              <a:srgbClr val="E2E8F0"/>
            </a:solidFill>
            <a:prstDash val="solid"/>
          </a:ln>
        </p:spPr>
      </p:sp>
      <p:sp>
        <p:nvSpPr>
          <p:cNvPr id="17" name="Shape 15"/>
          <p:cNvSpPr/>
          <p:nvPr/>
        </p:nvSpPr>
        <p:spPr>
          <a:xfrm>
            <a:off x="438912" y="6455664"/>
            <a:ext cx="11313871" cy="0"/>
          </a:xfrm>
          <a:prstGeom prst="line">
            <a:avLst/>
          </a:prstGeom>
          <a:noFill/>
          <a:ln w="9525">
            <a:solidFill>
              <a:srgbClr val="E2E8F0"/>
            </a:solidFill>
            <a:prstDash val="solid"/>
          </a:ln>
        </p:spPr>
      </p:sp>
      <p:sp>
        <p:nvSpPr>
          <p:cNvPr id="18" name="Text 16"/>
          <p:cNvSpPr/>
          <p:nvPr/>
        </p:nvSpPr>
        <p:spPr>
          <a:xfrm>
            <a:off x="438912" y="6501384"/>
            <a:ext cx="5852160" cy="192024"/>
          </a:xfrm>
          <a:prstGeom prst="rect">
            <a:avLst/>
          </a:prstGeom>
          <a:noFill/>
          <a:ln/>
        </p:spPr>
        <p:txBody>
          <a:bodyPr wrap="square" lIns="0" tIns="0" rIns="0" bIns="0" rtlCol="0" anchor="ctr"/>
          <a:lstStyle/>
          <a:p>
            <a:pPr algn="l" indent="0" marL="0">
              <a:lnSpc>
                <a:spcPct val="105000"/>
              </a:lnSpc>
              <a:buNone/>
            </a:pPr>
            <a:r>
              <a:rPr lang="en-US" sz="680" b="1" spc="40" kern="0" dirty="0">
                <a:solidFill>
                  <a:srgbClr val="64748B"/>
                </a:solidFill>
                <a:latin typeface="Arial" pitchFamily="34" charset="0"/>
                <a:ea typeface="Arial" pitchFamily="34" charset="-122"/>
                <a:cs typeface="Arial" pitchFamily="34" charset="-120"/>
              </a:rPr>
              <a:t>GOOGLE CLOUD AI ARCHITECTURE  •  BLOG 1: MULTI-TENANT AGENTIC AI TAXONOMY &amp; 5-HOP BASELINE</a:t>
            </a:r>
            <a:endParaRPr lang="en-US" sz="680" dirty="0"/>
          </a:p>
        </p:txBody>
      </p:sp>
      <p:sp>
        <p:nvSpPr>
          <p:cNvPr id="19" name="Text 17"/>
          <p:cNvSpPr/>
          <p:nvPr/>
        </p:nvSpPr>
        <p:spPr>
          <a:xfrm>
            <a:off x="6355080" y="6501384"/>
            <a:ext cx="4206240" cy="192024"/>
          </a:xfrm>
          <a:prstGeom prst="rect">
            <a:avLst/>
          </a:prstGeom>
          <a:noFill/>
          <a:ln/>
        </p:spPr>
        <p:txBody>
          <a:bodyPr wrap="square" lIns="0" tIns="0" rIns="0" bIns="0" rtlCol="0" anchor="ctr"/>
          <a:lstStyle/>
          <a:p>
            <a:pPr algn="r" indent="0" marL="0">
              <a:lnSpc>
                <a:spcPct val="105000"/>
              </a:lnSpc>
              <a:buNone/>
            </a:pPr>
            <a:r>
              <a:rPr lang="en-US" sz="680" dirty="0">
                <a:solidFill>
                  <a:srgbClr val="64748B"/>
                </a:solidFill>
                <a:latin typeface="Arial" pitchFamily="34" charset="0"/>
                <a:ea typeface="Arial" pitchFamily="34" charset="-122"/>
                <a:cs typeface="Arial" pitchFamily="34" charset="-120"/>
              </a:rPr>
              <a:t>Strategic Problem Framing  •  Breaking the False Binary Trap</a:t>
            </a:r>
            <a:endParaRPr lang="en-US" sz="680" dirty="0"/>
          </a:p>
        </p:txBody>
      </p:sp>
      <p:sp>
        <p:nvSpPr>
          <p:cNvPr id="20" name="Shape 18"/>
          <p:cNvSpPr/>
          <p:nvPr/>
        </p:nvSpPr>
        <p:spPr>
          <a:xfrm>
            <a:off x="11002975" y="6501384"/>
            <a:ext cx="749808" cy="192024"/>
          </a:xfrm>
          <a:prstGeom prst="roundRect">
            <a:avLst>
              <a:gd name="adj" fmla="val 19048"/>
            </a:avLst>
          </a:prstGeom>
          <a:solidFill>
            <a:srgbClr val="F1F5F9"/>
          </a:solidFill>
          <a:ln w="7620">
            <a:solidFill>
              <a:srgbClr val="E2E8F0"/>
            </a:solidFill>
            <a:prstDash val="solid"/>
          </a:ln>
        </p:spPr>
      </p:sp>
      <p:sp>
        <p:nvSpPr>
          <p:cNvPr id="21" name="Text 19"/>
          <p:cNvSpPr/>
          <p:nvPr/>
        </p:nvSpPr>
        <p:spPr>
          <a:xfrm>
            <a:off x="11002975" y="6501384"/>
            <a:ext cx="749808" cy="192024"/>
          </a:xfrm>
          <a:prstGeom prst="rect">
            <a:avLst/>
          </a:prstGeom>
          <a:noFill/>
          <a:ln/>
        </p:spPr>
        <p:txBody>
          <a:bodyPr wrap="square" lIns="0" tIns="0" rIns="0" bIns="0" rtlCol="0" anchor="ctr"/>
          <a:lstStyle/>
          <a:p>
            <a:pPr algn="ctr" indent="0" marL="0">
              <a:lnSpc>
                <a:spcPct val="105000"/>
              </a:lnSpc>
              <a:buNone/>
            </a:pPr>
            <a:r>
              <a:rPr lang="en-US" sz="700" b="1" dirty="0">
                <a:solidFill>
                  <a:srgbClr val="334155"/>
                </a:solidFill>
                <a:latin typeface="Arial" pitchFamily="34" charset="0"/>
                <a:ea typeface="Arial" pitchFamily="34" charset="-122"/>
                <a:cs typeface="Arial" pitchFamily="34" charset="-120"/>
              </a:rPr>
              <a:t>03 / 23</a:t>
            </a:r>
            <a:endParaRPr lang="en-US" sz="700" dirty="0"/>
          </a:p>
        </p:txBody>
      </p:sp>
      <p:sp>
        <p:nvSpPr>
          <p:cNvPr id="22" name="Shape 20"/>
          <p:cNvSpPr/>
          <p:nvPr/>
        </p:nvSpPr>
        <p:spPr>
          <a:xfrm>
            <a:off x="461772" y="1068019"/>
            <a:ext cx="6172200" cy="4754880"/>
          </a:xfrm>
          <a:prstGeom prst="roundRect">
            <a:avLst>
              <a:gd name="adj" fmla="val 1346"/>
            </a:avLst>
          </a:prstGeom>
          <a:solidFill>
            <a:srgbClr val="E2E8F0"/>
          </a:solidFill>
          <a:ln/>
        </p:spPr>
      </p:sp>
      <p:sp>
        <p:nvSpPr>
          <p:cNvPr id="23" name="Shape 21"/>
          <p:cNvSpPr/>
          <p:nvPr/>
        </p:nvSpPr>
        <p:spPr>
          <a:xfrm>
            <a:off x="438912" y="1042416"/>
            <a:ext cx="6172200" cy="4754880"/>
          </a:xfrm>
          <a:prstGeom prst="roundRect">
            <a:avLst>
              <a:gd name="adj" fmla="val 1346"/>
            </a:avLst>
          </a:prstGeom>
          <a:solidFill>
            <a:srgbClr val="FFFFFF"/>
          </a:solidFill>
          <a:ln w="10795">
            <a:solidFill>
              <a:srgbClr val="CBD5E1"/>
            </a:solidFill>
            <a:prstDash val="solid"/>
          </a:ln>
        </p:spPr>
      </p:sp>
      <p:sp>
        <p:nvSpPr>
          <p:cNvPr id="24" name="Shape 22"/>
          <p:cNvSpPr/>
          <p:nvPr/>
        </p:nvSpPr>
        <p:spPr>
          <a:xfrm>
            <a:off x="438912" y="1042416"/>
            <a:ext cx="6172200" cy="50292"/>
          </a:xfrm>
          <a:prstGeom prst="roundRect">
            <a:avLst>
              <a:gd name="adj" fmla="val 36364"/>
            </a:avLst>
          </a:prstGeom>
          <a:solidFill>
            <a:srgbClr val="B45309"/>
          </a:solidFill>
          <a:ln/>
        </p:spPr>
      </p:sp>
      <p:sp>
        <p:nvSpPr>
          <p:cNvPr id="25" name="Text 23"/>
          <p:cNvSpPr/>
          <p:nvPr/>
        </p:nvSpPr>
        <p:spPr>
          <a:xfrm>
            <a:off x="621792" y="1170432"/>
            <a:ext cx="5303520" cy="182880"/>
          </a:xfrm>
          <a:prstGeom prst="rect">
            <a:avLst/>
          </a:prstGeom>
          <a:noFill/>
          <a:ln/>
        </p:spPr>
        <p:txBody>
          <a:bodyPr wrap="square" lIns="0" tIns="0" rIns="0" bIns="0" rtlCol="0" anchor="ctr"/>
          <a:lstStyle/>
          <a:p>
            <a:pPr indent="0" marL="0">
              <a:lnSpc>
                <a:spcPct val="105000"/>
              </a:lnSpc>
              <a:buNone/>
            </a:pPr>
            <a:r>
              <a:rPr lang="en-US" sz="750" b="1" spc="80" kern="0" dirty="0">
                <a:solidFill>
                  <a:srgbClr val="B45309"/>
                </a:solidFill>
                <a:latin typeface="Arial" pitchFamily="34" charset="0"/>
                <a:ea typeface="Arial" pitchFamily="34" charset="-122"/>
                <a:cs typeface="Arial" pitchFamily="34" charset="-120"/>
              </a:rPr>
              <a:t>WHY ONE-SIZE-FITS-ALL ARCHITECTURES DEAD-END</a:t>
            </a:r>
            <a:endParaRPr lang="en-US" sz="750" dirty="0"/>
          </a:p>
        </p:txBody>
      </p:sp>
      <p:sp>
        <p:nvSpPr>
          <p:cNvPr id="26" name="Shape 24"/>
          <p:cNvSpPr/>
          <p:nvPr/>
        </p:nvSpPr>
        <p:spPr>
          <a:xfrm>
            <a:off x="1993392" y="3465576"/>
            <a:ext cx="219456" cy="0"/>
          </a:xfrm>
          <a:prstGeom prst="line">
            <a:avLst/>
          </a:prstGeom>
          <a:noFill/>
          <a:ln w="15875">
            <a:solidFill>
              <a:srgbClr val="B91C1C"/>
            </a:solidFill>
            <a:prstDash val="solid"/>
          </a:ln>
        </p:spPr>
      </p:sp>
      <p:sp>
        <p:nvSpPr>
          <p:cNvPr id="27" name="Shape 25"/>
          <p:cNvSpPr/>
          <p:nvPr/>
        </p:nvSpPr>
        <p:spPr>
          <a:xfrm flipV="1">
            <a:off x="2212848" y="2029968"/>
            <a:ext cx="0" cy="1435608"/>
          </a:xfrm>
          <a:prstGeom prst="line">
            <a:avLst/>
          </a:prstGeom>
          <a:noFill/>
          <a:ln w="15875">
            <a:solidFill>
              <a:srgbClr val="B91C1C"/>
            </a:solidFill>
            <a:prstDash val="solid"/>
          </a:ln>
        </p:spPr>
      </p:sp>
      <p:sp>
        <p:nvSpPr>
          <p:cNvPr id="28" name="Shape 26"/>
          <p:cNvSpPr/>
          <p:nvPr/>
        </p:nvSpPr>
        <p:spPr>
          <a:xfrm>
            <a:off x="2212848" y="2029968"/>
            <a:ext cx="256032" cy="0"/>
          </a:xfrm>
          <a:prstGeom prst="line">
            <a:avLst/>
          </a:prstGeom>
          <a:noFill/>
          <a:ln w="15875">
            <a:solidFill>
              <a:srgbClr val="B91C1C"/>
            </a:solidFill>
            <a:prstDash val="solid"/>
            <a:tailEnd type="triangle" w="sm" len="sm"/>
          </a:ln>
        </p:spPr>
      </p:sp>
      <p:sp>
        <p:nvSpPr>
          <p:cNvPr id="29" name="Shape 27"/>
          <p:cNvSpPr/>
          <p:nvPr/>
        </p:nvSpPr>
        <p:spPr>
          <a:xfrm>
            <a:off x="1993392" y="3465576"/>
            <a:ext cx="219456" cy="0"/>
          </a:xfrm>
          <a:prstGeom prst="line">
            <a:avLst/>
          </a:prstGeom>
          <a:noFill/>
          <a:ln w="15875">
            <a:solidFill>
              <a:srgbClr val="D97706"/>
            </a:solidFill>
            <a:prstDash val="solid"/>
          </a:ln>
        </p:spPr>
      </p:sp>
      <p:sp>
        <p:nvSpPr>
          <p:cNvPr id="30" name="Shape 28"/>
          <p:cNvSpPr/>
          <p:nvPr/>
        </p:nvSpPr>
        <p:spPr>
          <a:xfrm>
            <a:off x="2212848" y="3465576"/>
            <a:ext cx="0" cy="0"/>
          </a:xfrm>
          <a:prstGeom prst="line">
            <a:avLst/>
          </a:prstGeom>
          <a:noFill/>
          <a:ln w="15875">
            <a:solidFill>
              <a:srgbClr val="D97706"/>
            </a:solidFill>
            <a:prstDash val="solid"/>
          </a:ln>
        </p:spPr>
      </p:sp>
      <p:sp>
        <p:nvSpPr>
          <p:cNvPr id="31" name="Shape 29"/>
          <p:cNvSpPr/>
          <p:nvPr/>
        </p:nvSpPr>
        <p:spPr>
          <a:xfrm>
            <a:off x="2212848" y="3465576"/>
            <a:ext cx="256032" cy="0"/>
          </a:xfrm>
          <a:prstGeom prst="line">
            <a:avLst/>
          </a:prstGeom>
          <a:noFill/>
          <a:ln w="15875">
            <a:solidFill>
              <a:srgbClr val="D97706"/>
            </a:solidFill>
            <a:prstDash val="solid"/>
            <a:tailEnd type="triangle" w="sm" len="sm"/>
          </a:ln>
        </p:spPr>
      </p:sp>
      <p:sp>
        <p:nvSpPr>
          <p:cNvPr id="32" name="Shape 30"/>
          <p:cNvSpPr/>
          <p:nvPr/>
        </p:nvSpPr>
        <p:spPr>
          <a:xfrm>
            <a:off x="1993392" y="3465576"/>
            <a:ext cx="219456" cy="0"/>
          </a:xfrm>
          <a:prstGeom prst="line">
            <a:avLst/>
          </a:prstGeom>
          <a:noFill/>
          <a:ln w="22860">
            <a:solidFill>
              <a:srgbClr val="047857"/>
            </a:solidFill>
            <a:prstDash val="solid"/>
          </a:ln>
        </p:spPr>
      </p:sp>
      <p:sp>
        <p:nvSpPr>
          <p:cNvPr id="33" name="Shape 31"/>
          <p:cNvSpPr/>
          <p:nvPr/>
        </p:nvSpPr>
        <p:spPr>
          <a:xfrm>
            <a:off x="2212848" y="3465576"/>
            <a:ext cx="0" cy="1435608"/>
          </a:xfrm>
          <a:prstGeom prst="line">
            <a:avLst/>
          </a:prstGeom>
          <a:noFill/>
          <a:ln w="22860">
            <a:solidFill>
              <a:srgbClr val="047857"/>
            </a:solidFill>
            <a:prstDash val="solid"/>
          </a:ln>
        </p:spPr>
      </p:sp>
      <p:sp>
        <p:nvSpPr>
          <p:cNvPr id="34" name="Shape 32"/>
          <p:cNvSpPr/>
          <p:nvPr/>
        </p:nvSpPr>
        <p:spPr>
          <a:xfrm>
            <a:off x="2212848" y="4901184"/>
            <a:ext cx="256032" cy="0"/>
          </a:xfrm>
          <a:prstGeom prst="line">
            <a:avLst/>
          </a:prstGeom>
          <a:noFill/>
          <a:ln w="22860">
            <a:solidFill>
              <a:srgbClr val="047857"/>
            </a:solidFill>
            <a:prstDash val="solid"/>
            <a:tailEnd type="triangle" w="sm" len="sm"/>
          </a:ln>
        </p:spPr>
      </p:sp>
      <p:sp>
        <p:nvSpPr>
          <p:cNvPr id="35" name="Shape 33"/>
          <p:cNvSpPr/>
          <p:nvPr/>
        </p:nvSpPr>
        <p:spPr>
          <a:xfrm>
            <a:off x="640080" y="2962656"/>
            <a:ext cx="1353312" cy="1005840"/>
          </a:xfrm>
          <a:prstGeom prst="roundRect">
            <a:avLst>
              <a:gd name="adj" fmla="val 6364"/>
            </a:avLst>
          </a:prstGeom>
          <a:solidFill>
            <a:srgbClr val="1E293B"/>
          </a:solidFill>
          <a:ln w="10795">
            <a:solidFill>
              <a:srgbClr val="475569"/>
            </a:solidFill>
            <a:prstDash val="solid"/>
          </a:ln>
        </p:spPr>
      </p:sp>
      <p:sp>
        <p:nvSpPr>
          <p:cNvPr id="36" name="Text 34"/>
          <p:cNvSpPr/>
          <p:nvPr/>
        </p:nvSpPr>
        <p:spPr>
          <a:xfrm>
            <a:off x="713232" y="3090672"/>
            <a:ext cx="1207008" cy="512064"/>
          </a:xfrm>
          <a:prstGeom prst="rect">
            <a:avLst/>
          </a:prstGeom>
          <a:noFill/>
          <a:ln/>
        </p:spPr>
        <p:txBody>
          <a:bodyPr wrap="square" lIns="0" tIns="0" rIns="0" bIns="0" rtlCol="0" anchor="ctr"/>
          <a:lstStyle/>
          <a:p>
            <a:pPr algn="ctr" indent="0" marL="0">
              <a:lnSpc>
                <a:spcPct val="108000"/>
              </a:lnSpc>
              <a:buNone/>
            </a:pPr>
            <a:r>
              <a:rPr lang="en-US" sz="920" b="1" dirty="0">
                <a:solidFill>
                  <a:srgbClr val="FFFFFF"/>
                </a:solidFill>
                <a:latin typeface="Arial" pitchFamily="34" charset="0"/>
                <a:ea typeface="Arial" pitchFamily="34" charset="-122"/>
                <a:cs typeface="Arial" pitchFamily="34" charset="-120"/>
              </a:rPr>
              <a:t>B2B SaaS</a:t>
            </a:r>
            <a:endParaRPr lang="en-US" sz="920" dirty="0"/>
          </a:p>
          <a:p>
            <a:pPr algn="ctr" indent="0" marL="0">
              <a:lnSpc>
                <a:spcPct val="108000"/>
              </a:lnSpc>
              <a:buNone/>
            </a:pPr>
            <a:r>
              <a:rPr lang="en-US" sz="920" b="1" dirty="0">
                <a:solidFill>
                  <a:srgbClr val="FFFFFF"/>
                </a:solidFill>
                <a:latin typeface="Arial" pitchFamily="34" charset="0"/>
                <a:ea typeface="Arial" pitchFamily="34" charset="-122"/>
                <a:cs typeface="Arial" pitchFamily="34" charset="-120"/>
              </a:rPr>
              <a:t>AI Platform</a:t>
            </a:r>
            <a:endParaRPr lang="en-US" sz="920" dirty="0"/>
          </a:p>
          <a:p>
            <a:pPr algn="ctr" indent="0" marL="0">
              <a:lnSpc>
                <a:spcPct val="108000"/>
              </a:lnSpc>
              <a:buNone/>
            </a:pPr>
            <a:r>
              <a:rPr lang="en-US" sz="920" b="1" dirty="0">
                <a:solidFill>
                  <a:srgbClr val="FFFFFF"/>
                </a:solidFill>
                <a:latin typeface="Arial" pitchFamily="34" charset="0"/>
                <a:ea typeface="Arial" pitchFamily="34" charset="-122"/>
                <a:cs typeface="Arial" pitchFamily="34" charset="-120"/>
              </a:rPr>
              <a:t>Scale-Up</a:t>
            </a:r>
            <a:endParaRPr lang="en-US" sz="920" dirty="0"/>
          </a:p>
        </p:txBody>
      </p:sp>
      <p:sp>
        <p:nvSpPr>
          <p:cNvPr id="37" name="Text 35"/>
          <p:cNvSpPr/>
          <p:nvPr/>
        </p:nvSpPr>
        <p:spPr>
          <a:xfrm>
            <a:off x="713232" y="3621024"/>
            <a:ext cx="1207008" cy="274320"/>
          </a:xfrm>
          <a:prstGeom prst="rect">
            <a:avLst/>
          </a:prstGeom>
          <a:noFill/>
          <a:ln/>
        </p:spPr>
        <p:txBody>
          <a:bodyPr wrap="square" lIns="0" tIns="0" rIns="0" bIns="0" rtlCol="0" anchor="ctr"/>
          <a:lstStyle/>
          <a:p>
            <a:pPr algn="ctr" indent="0" marL="0">
              <a:lnSpc>
                <a:spcPct val="105000"/>
              </a:lnSpc>
              <a:buNone/>
            </a:pPr>
            <a:r>
              <a:rPr lang="en-US" sz="740" dirty="0">
                <a:solidFill>
                  <a:srgbClr val="E2E8F0"/>
                </a:solidFill>
                <a:latin typeface="Arial" pitchFamily="34" charset="0"/>
                <a:ea typeface="Arial" pitchFamily="34" charset="-122"/>
                <a:cs typeface="Arial" pitchFamily="34" charset="-120"/>
              </a:rPr>
              <a:t>100 to 1,000+</a:t>
            </a:r>
            <a:endParaRPr lang="en-US" sz="740" dirty="0"/>
          </a:p>
          <a:p>
            <a:pPr algn="ctr" indent="0" marL="0">
              <a:lnSpc>
                <a:spcPct val="105000"/>
              </a:lnSpc>
              <a:buNone/>
            </a:pPr>
            <a:r>
              <a:rPr lang="en-US" sz="740" dirty="0">
                <a:solidFill>
                  <a:srgbClr val="E2E8F0"/>
                </a:solidFill>
                <a:latin typeface="Arial" pitchFamily="34" charset="0"/>
                <a:ea typeface="Arial" pitchFamily="34" charset="-122"/>
                <a:cs typeface="Arial" pitchFamily="34" charset="-120"/>
              </a:rPr>
              <a:t>Tenants</a:t>
            </a:r>
            <a:endParaRPr lang="en-US" sz="740" dirty="0"/>
          </a:p>
        </p:txBody>
      </p:sp>
      <p:sp>
        <p:nvSpPr>
          <p:cNvPr id="38" name="Shape 36"/>
          <p:cNvSpPr/>
          <p:nvPr/>
        </p:nvSpPr>
        <p:spPr>
          <a:xfrm>
            <a:off x="2468880" y="1481328"/>
            <a:ext cx="3931920" cy="1133856"/>
          </a:xfrm>
          <a:prstGeom prst="roundRect">
            <a:avLst>
              <a:gd name="adj" fmla="val 5645"/>
            </a:avLst>
          </a:prstGeom>
          <a:solidFill>
            <a:srgbClr val="FEF2F2"/>
          </a:solidFill>
          <a:ln w="10795">
            <a:solidFill>
              <a:srgbClr val="FECACA"/>
            </a:solidFill>
            <a:prstDash val="solid"/>
          </a:ln>
        </p:spPr>
      </p:sp>
      <p:sp>
        <p:nvSpPr>
          <p:cNvPr id="39" name="Shape 37"/>
          <p:cNvSpPr/>
          <p:nvPr/>
        </p:nvSpPr>
        <p:spPr>
          <a:xfrm>
            <a:off x="2468880" y="1481328"/>
            <a:ext cx="54864" cy="1133856"/>
          </a:xfrm>
          <a:prstGeom prst="roundRect">
            <a:avLst>
              <a:gd name="adj" fmla="val 33333"/>
            </a:avLst>
          </a:prstGeom>
          <a:solidFill>
            <a:srgbClr val="B91C1C"/>
          </a:solidFill>
          <a:ln/>
        </p:spPr>
      </p:sp>
      <p:sp>
        <p:nvSpPr>
          <p:cNvPr id="40" name="Shape 38"/>
          <p:cNvSpPr/>
          <p:nvPr/>
        </p:nvSpPr>
        <p:spPr>
          <a:xfrm>
            <a:off x="2615184" y="1572768"/>
            <a:ext cx="786384" cy="192024"/>
          </a:xfrm>
          <a:prstGeom prst="roundRect">
            <a:avLst>
              <a:gd name="adj" fmla="val 38095"/>
            </a:avLst>
          </a:prstGeom>
          <a:solidFill>
            <a:srgbClr val="B91C1C"/>
          </a:solidFill>
          <a:ln/>
        </p:spPr>
      </p:sp>
      <p:sp>
        <p:nvSpPr>
          <p:cNvPr id="41" name="Text 39"/>
          <p:cNvSpPr/>
          <p:nvPr/>
        </p:nvSpPr>
        <p:spPr>
          <a:xfrm>
            <a:off x="2615184" y="1572768"/>
            <a:ext cx="786384" cy="192024"/>
          </a:xfrm>
          <a:prstGeom prst="rect">
            <a:avLst/>
          </a:prstGeom>
          <a:noFill/>
          <a:ln/>
        </p:spPr>
        <p:txBody>
          <a:bodyPr wrap="square" lIns="0" tIns="0" rIns="0" bIns="0" rtlCol="0" anchor="ctr"/>
          <a:lstStyle/>
          <a:p>
            <a:pPr algn="ctr" indent="0" marL="0">
              <a:lnSpc>
                <a:spcPct val="105000"/>
              </a:lnSpc>
              <a:buNone/>
            </a:pPr>
            <a:r>
              <a:rPr lang="en-US" sz="650" b="1" dirty="0">
                <a:solidFill>
                  <a:srgbClr val="FFFFFF"/>
                </a:solidFill>
                <a:latin typeface="Arial" pitchFamily="34" charset="0"/>
                <a:ea typeface="Arial" pitchFamily="34" charset="-122"/>
                <a:cs typeface="Arial" pitchFamily="34" charset="-120"/>
              </a:rPr>
              <a:t>TRAP A</a:t>
            </a:r>
            <a:endParaRPr lang="en-US" sz="650" dirty="0"/>
          </a:p>
        </p:txBody>
      </p:sp>
      <p:sp>
        <p:nvSpPr>
          <p:cNvPr id="42" name="Text 40"/>
          <p:cNvSpPr/>
          <p:nvPr/>
        </p:nvSpPr>
        <p:spPr>
          <a:xfrm>
            <a:off x="3474720" y="1563624"/>
            <a:ext cx="2816352" cy="210312"/>
          </a:xfrm>
          <a:prstGeom prst="rect">
            <a:avLst/>
          </a:prstGeom>
          <a:noFill/>
          <a:ln/>
        </p:spPr>
        <p:txBody>
          <a:bodyPr wrap="square" lIns="0" tIns="0" rIns="0" bIns="0" rtlCol="0" anchor="ctr"/>
          <a:lstStyle/>
          <a:p>
            <a:pPr indent="0" marL="0">
              <a:lnSpc>
                <a:spcPct val="105000"/>
              </a:lnSpc>
              <a:buNone/>
            </a:pPr>
            <a:r>
              <a:rPr lang="en-US" sz="920" b="1" dirty="0">
                <a:solidFill>
                  <a:srgbClr val="0F172A"/>
                </a:solidFill>
                <a:latin typeface="Arial" pitchFamily="34" charset="0"/>
                <a:ea typeface="Arial" pitchFamily="34" charset="-122"/>
                <a:cs typeface="Arial" pitchFamily="34" charset="-120"/>
              </a:rPr>
              <a:t>Naive Single Shared Agent Pool</a:t>
            </a:r>
            <a:endParaRPr lang="en-US" sz="920" dirty="0"/>
          </a:p>
        </p:txBody>
      </p:sp>
      <p:sp>
        <p:nvSpPr>
          <p:cNvPr id="43" name="Text 41"/>
          <p:cNvSpPr/>
          <p:nvPr/>
        </p:nvSpPr>
        <p:spPr>
          <a:xfrm>
            <a:off x="2615184" y="1819656"/>
            <a:ext cx="3657600" cy="438912"/>
          </a:xfrm>
          <a:prstGeom prst="rect">
            <a:avLst/>
          </a:prstGeom>
          <a:noFill/>
          <a:ln/>
        </p:spPr>
        <p:txBody>
          <a:bodyPr wrap="square" lIns="0" tIns="0" rIns="0" bIns="0" rtlCol="0" anchor="ctr"/>
          <a:lstStyle/>
          <a:p>
            <a:pPr indent="0" marL="0">
              <a:lnSpc>
                <a:spcPct val="108000"/>
              </a:lnSpc>
              <a:buNone/>
            </a:pPr>
            <a:r>
              <a:rPr lang="en-US" sz="750" dirty="0">
                <a:solidFill>
                  <a:srgbClr val="334155"/>
                </a:solidFill>
                <a:latin typeface="Arial" pitchFamily="34" charset="0"/>
                <a:ea typeface="Arial" pitchFamily="34" charset="-122"/>
                <a:cs typeface="Arial" pitchFamily="34" charset="-120"/>
              </a:rPr>
              <a:t>All customers share one Vertex Agent Engine, one global MCP tool list, and one 500 RPM bucket without cryptographic tenant context.</a:t>
            </a:r>
            <a:endParaRPr lang="en-US" sz="750" dirty="0"/>
          </a:p>
        </p:txBody>
      </p:sp>
      <p:sp>
        <p:nvSpPr>
          <p:cNvPr id="44" name="Text 42"/>
          <p:cNvSpPr/>
          <p:nvPr/>
        </p:nvSpPr>
        <p:spPr>
          <a:xfrm>
            <a:off x="2615184" y="2286000"/>
            <a:ext cx="3657600" cy="256032"/>
          </a:xfrm>
          <a:prstGeom prst="rect">
            <a:avLst/>
          </a:prstGeom>
          <a:noFill/>
          <a:ln/>
        </p:spPr>
        <p:txBody>
          <a:bodyPr wrap="square" lIns="0" tIns="0" rIns="0" bIns="0" rtlCol="0" anchor="ctr"/>
          <a:lstStyle/>
          <a:p>
            <a:pPr indent="0" marL="0">
              <a:lnSpc>
                <a:spcPct val="105000"/>
              </a:lnSpc>
              <a:buNone/>
            </a:pPr>
            <a:r>
              <a:rPr lang="en-US" sz="740" b="1" dirty="0">
                <a:solidFill>
                  <a:srgbClr val="B91C1C"/>
                </a:solidFill>
                <a:latin typeface="Arial" pitchFamily="34" charset="0"/>
                <a:ea typeface="Arial" pitchFamily="34" charset="-122"/>
                <a:cs typeface="Arial" pitchFamily="34" charset="-120"/>
              </a:rPr>
              <a:t>OUTCOME: Blocked by bank/healthcare CISOs; fails OCC, HIPAA &amp; SOC2 audits.</a:t>
            </a:r>
            <a:endParaRPr lang="en-US" sz="740" dirty="0"/>
          </a:p>
        </p:txBody>
      </p:sp>
      <p:sp>
        <p:nvSpPr>
          <p:cNvPr id="45" name="Shape 43"/>
          <p:cNvSpPr/>
          <p:nvPr/>
        </p:nvSpPr>
        <p:spPr>
          <a:xfrm>
            <a:off x="2468880" y="2889504"/>
            <a:ext cx="3931920" cy="1170432"/>
          </a:xfrm>
          <a:prstGeom prst="roundRect">
            <a:avLst>
              <a:gd name="adj" fmla="val 5469"/>
            </a:avLst>
          </a:prstGeom>
          <a:solidFill>
            <a:srgbClr val="FFFBEB"/>
          </a:solidFill>
          <a:ln w="10795">
            <a:solidFill>
              <a:srgbClr val="FDE68A"/>
            </a:solidFill>
            <a:prstDash val="solid"/>
          </a:ln>
        </p:spPr>
      </p:sp>
      <p:sp>
        <p:nvSpPr>
          <p:cNvPr id="46" name="Shape 44"/>
          <p:cNvSpPr/>
          <p:nvPr/>
        </p:nvSpPr>
        <p:spPr>
          <a:xfrm>
            <a:off x="2468880" y="2889504"/>
            <a:ext cx="54864" cy="1170432"/>
          </a:xfrm>
          <a:prstGeom prst="roundRect">
            <a:avLst>
              <a:gd name="adj" fmla="val 33333"/>
            </a:avLst>
          </a:prstGeom>
          <a:solidFill>
            <a:srgbClr val="B45309"/>
          </a:solidFill>
          <a:ln/>
        </p:spPr>
      </p:sp>
      <p:sp>
        <p:nvSpPr>
          <p:cNvPr id="47" name="Shape 45"/>
          <p:cNvSpPr/>
          <p:nvPr/>
        </p:nvSpPr>
        <p:spPr>
          <a:xfrm>
            <a:off x="2615184" y="2980944"/>
            <a:ext cx="786384" cy="192024"/>
          </a:xfrm>
          <a:prstGeom prst="roundRect">
            <a:avLst>
              <a:gd name="adj" fmla="val 38095"/>
            </a:avLst>
          </a:prstGeom>
          <a:solidFill>
            <a:srgbClr val="B45309"/>
          </a:solidFill>
          <a:ln/>
        </p:spPr>
      </p:sp>
      <p:sp>
        <p:nvSpPr>
          <p:cNvPr id="48" name="Text 46"/>
          <p:cNvSpPr/>
          <p:nvPr/>
        </p:nvSpPr>
        <p:spPr>
          <a:xfrm>
            <a:off x="2615184" y="2980944"/>
            <a:ext cx="786384" cy="192024"/>
          </a:xfrm>
          <a:prstGeom prst="rect">
            <a:avLst/>
          </a:prstGeom>
          <a:noFill/>
          <a:ln/>
        </p:spPr>
        <p:txBody>
          <a:bodyPr wrap="square" lIns="0" tIns="0" rIns="0" bIns="0" rtlCol="0" anchor="ctr"/>
          <a:lstStyle/>
          <a:p>
            <a:pPr algn="ctr" indent="0" marL="0">
              <a:lnSpc>
                <a:spcPct val="105000"/>
              </a:lnSpc>
              <a:buNone/>
            </a:pPr>
            <a:r>
              <a:rPr lang="en-US" sz="650" b="1" dirty="0">
                <a:solidFill>
                  <a:srgbClr val="FFFFFF"/>
                </a:solidFill>
                <a:latin typeface="Arial" pitchFamily="34" charset="0"/>
                <a:ea typeface="Arial" pitchFamily="34" charset="-122"/>
                <a:cs typeface="Arial" pitchFamily="34" charset="-120"/>
              </a:rPr>
              <a:t>TRAP B</a:t>
            </a:r>
            <a:endParaRPr lang="en-US" sz="650" dirty="0"/>
          </a:p>
        </p:txBody>
      </p:sp>
      <p:sp>
        <p:nvSpPr>
          <p:cNvPr id="49" name="Text 47"/>
          <p:cNvSpPr/>
          <p:nvPr/>
        </p:nvSpPr>
        <p:spPr>
          <a:xfrm>
            <a:off x="3474720" y="2971800"/>
            <a:ext cx="2816352" cy="210312"/>
          </a:xfrm>
          <a:prstGeom prst="rect">
            <a:avLst/>
          </a:prstGeom>
          <a:noFill/>
          <a:ln/>
        </p:spPr>
        <p:txBody>
          <a:bodyPr wrap="square" lIns="0" tIns="0" rIns="0" bIns="0" rtlCol="0" anchor="ctr"/>
          <a:lstStyle/>
          <a:p>
            <a:pPr indent="0" marL="0">
              <a:lnSpc>
                <a:spcPct val="105000"/>
              </a:lnSpc>
              <a:buNone/>
            </a:pPr>
            <a:r>
              <a:rPr lang="en-US" sz="920" b="1" dirty="0">
                <a:solidFill>
                  <a:srgbClr val="0F172A"/>
                </a:solidFill>
                <a:latin typeface="Arial" pitchFamily="34" charset="0"/>
                <a:ea typeface="Arial" pitchFamily="34" charset="-122"/>
                <a:cs typeface="Arial" pitchFamily="34" charset="-120"/>
              </a:rPr>
              <a:t>Dedicated GCP Project Per Tenant (500+ Silos)</a:t>
            </a:r>
            <a:endParaRPr lang="en-US" sz="920" dirty="0"/>
          </a:p>
        </p:txBody>
      </p:sp>
      <p:sp>
        <p:nvSpPr>
          <p:cNvPr id="50" name="Text 48"/>
          <p:cNvSpPr/>
          <p:nvPr/>
        </p:nvSpPr>
        <p:spPr>
          <a:xfrm>
            <a:off x="2615184" y="3227832"/>
            <a:ext cx="3657600" cy="438912"/>
          </a:xfrm>
          <a:prstGeom prst="rect">
            <a:avLst/>
          </a:prstGeom>
          <a:noFill/>
          <a:ln/>
        </p:spPr>
        <p:txBody>
          <a:bodyPr wrap="square" lIns="0" tIns="0" rIns="0" bIns="0" rtlCol="0" anchor="ctr"/>
          <a:lstStyle/>
          <a:p>
            <a:pPr indent="0" marL="0">
              <a:lnSpc>
                <a:spcPct val="108000"/>
              </a:lnSpc>
              <a:buNone/>
            </a:pPr>
            <a:r>
              <a:rPr lang="en-US" sz="750" dirty="0">
                <a:solidFill>
                  <a:srgbClr val="334155"/>
                </a:solidFill>
                <a:latin typeface="Arial" pitchFamily="34" charset="0"/>
                <a:ea typeface="Arial" pitchFamily="34" charset="-122"/>
                <a:cs typeface="Arial" pitchFamily="34" charset="-120"/>
              </a:rPr>
              <a:t>Hard VPC-SC per customer, but duplicates idle AlloyDB clusters, regional endpoints, KMS rings, and 500 drifting Terraform states.</a:t>
            </a:r>
            <a:endParaRPr lang="en-US" sz="750" dirty="0"/>
          </a:p>
        </p:txBody>
      </p:sp>
      <p:sp>
        <p:nvSpPr>
          <p:cNvPr id="51" name="Text 49"/>
          <p:cNvSpPr/>
          <p:nvPr/>
        </p:nvSpPr>
        <p:spPr>
          <a:xfrm>
            <a:off x="2615184" y="3730752"/>
            <a:ext cx="3657600" cy="256032"/>
          </a:xfrm>
          <a:prstGeom prst="rect">
            <a:avLst/>
          </a:prstGeom>
          <a:noFill/>
          <a:ln/>
        </p:spPr>
        <p:txBody>
          <a:bodyPr wrap="square" lIns="0" tIns="0" rIns="0" bIns="0" rtlCol="0" anchor="ctr"/>
          <a:lstStyle/>
          <a:p>
            <a:pPr indent="0" marL="0">
              <a:lnSpc>
                <a:spcPct val="105000"/>
              </a:lnSpc>
              <a:buNone/>
            </a:pPr>
            <a:r>
              <a:rPr lang="en-US" sz="740" b="1" dirty="0">
                <a:solidFill>
                  <a:srgbClr val="B45309"/>
                </a:solidFill>
                <a:latin typeface="Arial" pitchFamily="34" charset="0"/>
                <a:ea typeface="Arial" pitchFamily="34" charset="-122"/>
                <a:cs typeface="Arial" pitchFamily="34" charset="-120"/>
              </a:rPr>
              <a:t>OUTCOME: 70%+ SaaS gross-margin erosion; release velocity grinds to a halt.</a:t>
            </a:r>
            <a:endParaRPr lang="en-US" sz="740" dirty="0"/>
          </a:p>
        </p:txBody>
      </p:sp>
      <p:sp>
        <p:nvSpPr>
          <p:cNvPr id="52" name="Shape 50"/>
          <p:cNvSpPr/>
          <p:nvPr/>
        </p:nvSpPr>
        <p:spPr>
          <a:xfrm>
            <a:off x="2468880" y="4334256"/>
            <a:ext cx="3931920" cy="1207008"/>
          </a:xfrm>
          <a:prstGeom prst="roundRect">
            <a:avLst>
              <a:gd name="adj" fmla="val 5303"/>
            </a:avLst>
          </a:prstGeom>
          <a:solidFill>
            <a:srgbClr val="ECFDF5"/>
          </a:solidFill>
          <a:ln w="10795">
            <a:solidFill>
              <a:srgbClr val="A7F3D0"/>
            </a:solidFill>
            <a:prstDash val="solid"/>
          </a:ln>
        </p:spPr>
      </p:sp>
      <p:sp>
        <p:nvSpPr>
          <p:cNvPr id="53" name="Shape 51"/>
          <p:cNvSpPr/>
          <p:nvPr/>
        </p:nvSpPr>
        <p:spPr>
          <a:xfrm>
            <a:off x="2468880" y="4334256"/>
            <a:ext cx="54864" cy="1207008"/>
          </a:xfrm>
          <a:prstGeom prst="roundRect">
            <a:avLst>
              <a:gd name="adj" fmla="val 33333"/>
            </a:avLst>
          </a:prstGeom>
          <a:solidFill>
            <a:srgbClr val="047857"/>
          </a:solidFill>
          <a:ln/>
        </p:spPr>
      </p:sp>
      <p:sp>
        <p:nvSpPr>
          <p:cNvPr id="54" name="Shape 52"/>
          <p:cNvSpPr/>
          <p:nvPr/>
        </p:nvSpPr>
        <p:spPr>
          <a:xfrm>
            <a:off x="2615184" y="4425696"/>
            <a:ext cx="786384" cy="192024"/>
          </a:xfrm>
          <a:prstGeom prst="roundRect">
            <a:avLst>
              <a:gd name="adj" fmla="val 38095"/>
            </a:avLst>
          </a:prstGeom>
          <a:solidFill>
            <a:srgbClr val="047857"/>
          </a:solidFill>
          <a:ln/>
        </p:spPr>
      </p:sp>
      <p:sp>
        <p:nvSpPr>
          <p:cNvPr id="55" name="Text 53"/>
          <p:cNvSpPr/>
          <p:nvPr/>
        </p:nvSpPr>
        <p:spPr>
          <a:xfrm>
            <a:off x="2615184" y="4425696"/>
            <a:ext cx="786384" cy="192024"/>
          </a:xfrm>
          <a:prstGeom prst="rect">
            <a:avLst/>
          </a:prstGeom>
          <a:noFill/>
          <a:ln/>
        </p:spPr>
        <p:txBody>
          <a:bodyPr wrap="square" lIns="0" tIns="0" rIns="0" bIns="0" rtlCol="0" anchor="ctr"/>
          <a:lstStyle/>
          <a:p>
            <a:pPr algn="ctr" indent="0" marL="0">
              <a:lnSpc>
                <a:spcPct val="105000"/>
              </a:lnSpc>
              <a:buNone/>
            </a:pPr>
            <a:r>
              <a:rPr lang="en-US" sz="650" b="1" dirty="0">
                <a:solidFill>
                  <a:srgbClr val="FFFFFF"/>
                </a:solidFill>
                <a:latin typeface="Arial" pitchFamily="34" charset="0"/>
                <a:ea typeface="Arial" pitchFamily="34" charset="-122"/>
                <a:cs typeface="Arial" pitchFamily="34" charset="-120"/>
              </a:rPr>
              <a:t>SOLUTION</a:t>
            </a:r>
            <a:endParaRPr lang="en-US" sz="650" dirty="0"/>
          </a:p>
        </p:txBody>
      </p:sp>
      <p:sp>
        <p:nvSpPr>
          <p:cNvPr id="56" name="Text 54"/>
          <p:cNvSpPr/>
          <p:nvPr/>
        </p:nvSpPr>
        <p:spPr>
          <a:xfrm>
            <a:off x="3474720" y="4416552"/>
            <a:ext cx="2816352" cy="210312"/>
          </a:xfrm>
          <a:prstGeom prst="rect">
            <a:avLst/>
          </a:prstGeom>
          <a:noFill/>
          <a:ln/>
        </p:spPr>
        <p:txBody>
          <a:bodyPr wrap="square" lIns="0" tIns="0" rIns="0" bIns="0" rtlCol="0" anchor="ctr"/>
          <a:lstStyle/>
          <a:p>
            <a:pPr indent="0" marL="0">
              <a:lnSpc>
                <a:spcPct val="105000"/>
              </a:lnSpc>
              <a:buNone/>
            </a:pPr>
            <a:r>
              <a:rPr lang="en-US" sz="920" b="1" dirty="0">
                <a:solidFill>
                  <a:srgbClr val="0F172A"/>
                </a:solidFill>
                <a:latin typeface="Arial" pitchFamily="34" charset="0"/>
                <a:ea typeface="Arial" pitchFamily="34" charset="-122"/>
                <a:cs typeface="Arial" pitchFamily="34" charset="-120"/>
              </a:rPr>
              <a:t>Per-Tenant Tiering + Immutable 5-Hop Core</a:t>
            </a:r>
            <a:endParaRPr lang="en-US" sz="920" dirty="0"/>
          </a:p>
        </p:txBody>
      </p:sp>
      <p:sp>
        <p:nvSpPr>
          <p:cNvPr id="57" name="Text 55"/>
          <p:cNvSpPr/>
          <p:nvPr/>
        </p:nvSpPr>
        <p:spPr>
          <a:xfrm>
            <a:off x="2615184" y="4672584"/>
            <a:ext cx="3657600" cy="438912"/>
          </a:xfrm>
          <a:prstGeom prst="rect">
            <a:avLst/>
          </a:prstGeom>
          <a:noFill/>
          <a:ln/>
        </p:spPr>
        <p:txBody>
          <a:bodyPr wrap="square" lIns="0" tIns="0" rIns="0" bIns="0" rtlCol="0" anchor="ctr"/>
          <a:lstStyle/>
          <a:p>
            <a:pPr indent="0" marL="0">
              <a:lnSpc>
                <a:spcPct val="108000"/>
              </a:lnSpc>
              <a:buNone/>
            </a:pPr>
            <a:r>
              <a:rPr lang="en-US" sz="750" dirty="0">
                <a:solidFill>
                  <a:srgbClr val="334155"/>
                </a:solidFill>
                <a:latin typeface="Arial" pitchFamily="34" charset="0"/>
                <a:ea typeface="Arial" pitchFamily="34" charset="-122"/>
                <a:cs typeface="Arial" pitchFamily="34" charset="-120"/>
              </a:rPr>
              <a:t>Write governance ONCE in core-cymbal-agent/ (80%). Run 95% commercial tenants safely in Pooled Pattern A; route regulated 5% to Silo B or PSC C.</a:t>
            </a:r>
            <a:endParaRPr lang="en-US" sz="750" dirty="0"/>
          </a:p>
        </p:txBody>
      </p:sp>
      <p:sp>
        <p:nvSpPr>
          <p:cNvPr id="58" name="Text 56"/>
          <p:cNvSpPr/>
          <p:nvPr/>
        </p:nvSpPr>
        <p:spPr>
          <a:xfrm>
            <a:off x="2615184" y="5212080"/>
            <a:ext cx="3657600" cy="256032"/>
          </a:xfrm>
          <a:prstGeom prst="rect">
            <a:avLst/>
          </a:prstGeom>
          <a:noFill/>
          <a:ln/>
        </p:spPr>
        <p:txBody>
          <a:bodyPr wrap="square" lIns="0" tIns="0" rIns="0" bIns="0" rtlCol="0" anchor="ctr"/>
          <a:lstStyle/>
          <a:p>
            <a:pPr indent="0" marL="0">
              <a:lnSpc>
                <a:spcPct val="105000"/>
              </a:lnSpc>
              <a:buNone/>
            </a:pPr>
            <a:r>
              <a:rPr lang="en-US" sz="740" b="1" dirty="0">
                <a:solidFill>
                  <a:srgbClr val="047857"/>
                </a:solidFill>
                <a:latin typeface="Arial" pitchFamily="34" charset="0"/>
                <a:ea typeface="Arial" pitchFamily="34" charset="-122"/>
                <a:cs typeface="Arial" pitchFamily="34" charset="-120"/>
              </a:rPr>
              <a:t>OUTCOME: Cloud economics + cryptographic sovereign compliance simultaneously.</a:t>
            </a:r>
            <a:endParaRPr lang="en-US" sz="740" dirty="0"/>
          </a:p>
        </p:txBody>
      </p:sp>
      <p:sp>
        <p:nvSpPr>
          <p:cNvPr id="59" name="Shape 57"/>
          <p:cNvSpPr/>
          <p:nvPr/>
        </p:nvSpPr>
        <p:spPr>
          <a:xfrm>
            <a:off x="6816852" y="1068019"/>
            <a:ext cx="4958791" cy="4754880"/>
          </a:xfrm>
          <a:prstGeom prst="roundRect">
            <a:avLst>
              <a:gd name="adj" fmla="val 1346"/>
            </a:avLst>
          </a:prstGeom>
          <a:solidFill>
            <a:srgbClr val="E2E8F0"/>
          </a:solidFill>
          <a:ln/>
        </p:spPr>
      </p:sp>
      <p:sp>
        <p:nvSpPr>
          <p:cNvPr id="60" name="Shape 58"/>
          <p:cNvSpPr/>
          <p:nvPr/>
        </p:nvSpPr>
        <p:spPr>
          <a:xfrm>
            <a:off x="6793992" y="1042416"/>
            <a:ext cx="4958791" cy="4754880"/>
          </a:xfrm>
          <a:prstGeom prst="roundRect">
            <a:avLst>
              <a:gd name="adj" fmla="val 1346"/>
            </a:avLst>
          </a:prstGeom>
          <a:solidFill>
            <a:srgbClr val="FFFFFF"/>
          </a:solidFill>
          <a:ln w="10795">
            <a:solidFill>
              <a:srgbClr val="CBD5E1"/>
            </a:solidFill>
            <a:prstDash val="solid"/>
          </a:ln>
        </p:spPr>
      </p:sp>
      <p:sp>
        <p:nvSpPr>
          <p:cNvPr id="61" name="Shape 59"/>
          <p:cNvSpPr/>
          <p:nvPr/>
        </p:nvSpPr>
        <p:spPr>
          <a:xfrm>
            <a:off x="6793992" y="1042416"/>
            <a:ext cx="4958791" cy="50292"/>
          </a:xfrm>
          <a:prstGeom prst="roundRect">
            <a:avLst>
              <a:gd name="adj" fmla="val 36364"/>
            </a:avLst>
          </a:prstGeom>
          <a:solidFill>
            <a:srgbClr val="1D4ED8"/>
          </a:solidFill>
          <a:ln/>
        </p:spPr>
      </p:sp>
      <p:sp>
        <p:nvSpPr>
          <p:cNvPr id="62" name="Text 60"/>
          <p:cNvSpPr/>
          <p:nvPr/>
        </p:nvSpPr>
        <p:spPr>
          <a:xfrm>
            <a:off x="6976872" y="1170432"/>
            <a:ext cx="4593031" cy="182880"/>
          </a:xfrm>
          <a:prstGeom prst="rect">
            <a:avLst/>
          </a:prstGeom>
          <a:noFill/>
          <a:ln/>
        </p:spPr>
        <p:txBody>
          <a:bodyPr wrap="square" lIns="0" tIns="0" rIns="0" bIns="0" rtlCol="0" anchor="ctr"/>
          <a:lstStyle/>
          <a:p>
            <a:pPr indent="0" marL="0">
              <a:lnSpc>
                <a:spcPct val="105000"/>
              </a:lnSpc>
              <a:buNone/>
            </a:pPr>
            <a:r>
              <a:rPr lang="en-US" sz="740" b="1" spc="60" kern="0" dirty="0">
                <a:solidFill>
                  <a:srgbClr val="1D4ED8"/>
                </a:solidFill>
                <a:latin typeface="Arial" pitchFamily="34" charset="0"/>
                <a:ea typeface="Arial" pitchFamily="34" charset="-122"/>
                <a:cs typeface="Arial" pitchFamily="34" charset="-120"/>
              </a:rPr>
              <a:t>ECONOMICS vs. ISOLATION FRONTIER (1,000-TENANT PORTFOLIO)</a:t>
            </a:r>
            <a:endParaRPr lang="en-US" sz="740" dirty="0"/>
          </a:p>
        </p:txBody>
      </p:sp>
      <p:sp>
        <p:nvSpPr>
          <p:cNvPr id="63" name="Shape 61"/>
          <p:cNvSpPr/>
          <p:nvPr/>
        </p:nvSpPr>
        <p:spPr>
          <a:xfrm>
            <a:off x="7397496" y="1572768"/>
            <a:ext cx="4080967" cy="3547872"/>
          </a:xfrm>
          <a:prstGeom prst="rect">
            <a:avLst/>
          </a:prstGeom>
          <a:solidFill>
            <a:srgbClr val="F8FAFC"/>
          </a:solidFill>
          <a:ln w="9525">
            <a:solidFill>
              <a:srgbClr val="E2E8F0"/>
            </a:solidFill>
            <a:prstDash val="solid"/>
          </a:ln>
        </p:spPr>
      </p:sp>
      <p:sp>
        <p:nvSpPr>
          <p:cNvPr id="64" name="Shape 62"/>
          <p:cNvSpPr/>
          <p:nvPr/>
        </p:nvSpPr>
        <p:spPr>
          <a:xfrm>
            <a:off x="9438437" y="1572768"/>
            <a:ext cx="2040026" cy="1773936"/>
          </a:xfrm>
          <a:prstGeom prst="rect">
            <a:avLst/>
          </a:prstGeom>
          <a:solidFill>
            <a:srgbClr val="ECFDF5"/>
          </a:solidFill>
          <a:ln w="10795">
            <a:solidFill>
              <a:srgbClr val="A7F3D0"/>
            </a:solidFill>
            <a:prstDash val="dash"/>
          </a:ln>
        </p:spPr>
      </p:sp>
      <p:sp>
        <p:nvSpPr>
          <p:cNvPr id="65" name="Shape 63"/>
          <p:cNvSpPr/>
          <p:nvPr/>
        </p:nvSpPr>
        <p:spPr>
          <a:xfrm>
            <a:off x="9438437" y="1572768"/>
            <a:ext cx="0" cy="3547872"/>
          </a:xfrm>
          <a:prstGeom prst="line">
            <a:avLst/>
          </a:prstGeom>
          <a:noFill/>
          <a:ln w="10160">
            <a:solidFill>
              <a:srgbClr val="CBD5E1"/>
            </a:solidFill>
            <a:prstDash val="dash"/>
          </a:ln>
        </p:spPr>
      </p:sp>
      <p:sp>
        <p:nvSpPr>
          <p:cNvPr id="66" name="Shape 64"/>
          <p:cNvSpPr/>
          <p:nvPr/>
        </p:nvSpPr>
        <p:spPr>
          <a:xfrm>
            <a:off x="7397496" y="3346704"/>
            <a:ext cx="4080967" cy="0"/>
          </a:xfrm>
          <a:prstGeom prst="line">
            <a:avLst/>
          </a:prstGeom>
          <a:noFill/>
          <a:ln w="10160">
            <a:solidFill>
              <a:srgbClr val="CBD5E1"/>
            </a:solidFill>
            <a:prstDash val="dash"/>
          </a:ln>
        </p:spPr>
      </p:sp>
      <p:sp>
        <p:nvSpPr>
          <p:cNvPr id="67" name="Shape 65"/>
          <p:cNvSpPr/>
          <p:nvPr/>
        </p:nvSpPr>
        <p:spPr>
          <a:xfrm flipV="1">
            <a:off x="7397496" y="1499616"/>
            <a:ext cx="0" cy="3621024"/>
          </a:xfrm>
          <a:prstGeom prst="line">
            <a:avLst/>
          </a:prstGeom>
          <a:noFill/>
          <a:ln w="19050">
            <a:solidFill>
              <a:srgbClr val="1E293B"/>
            </a:solidFill>
            <a:prstDash val="solid"/>
            <a:tailEnd type="triangle" w="sm" len="sm"/>
          </a:ln>
        </p:spPr>
      </p:sp>
      <p:sp>
        <p:nvSpPr>
          <p:cNvPr id="68" name="Shape 66"/>
          <p:cNvSpPr/>
          <p:nvPr/>
        </p:nvSpPr>
        <p:spPr>
          <a:xfrm>
            <a:off x="7397496" y="5120640"/>
            <a:ext cx="4154119" cy="0"/>
          </a:xfrm>
          <a:prstGeom prst="line">
            <a:avLst/>
          </a:prstGeom>
          <a:noFill/>
          <a:ln w="19050">
            <a:solidFill>
              <a:srgbClr val="1E293B"/>
            </a:solidFill>
            <a:prstDash val="solid"/>
            <a:tailEnd type="triangle" w="sm" len="sm"/>
          </a:ln>
        </p:spPr>
      </p:sp>
      <p:sp>
        <p:nvSpPr>
          <p:cNvPr id="69" name="Text 67"/>
          <p:cNvSpPr/>
          <p:nvPr/>
        </p:nvSpPr>
        <p:spPr>
          <a:xfrm>
            <a:off x="6848856" y="1755648"/>
            <a:ext cx="512064" cy="1005840"/>
          </a:xfrm>
          <a:prstGeom prst="rect">
            <a:avLst/>
          </a:prstGeom>
          <a:noFill/>
          <a:ln/>
        </p:spPr>
        <p:txBody>
          <a:bodyPr wrap="square" lIns="0" tIns="0" rIns="0" bIns="0" rtlCol="0" anchor="ctr"/>
          <a:lstStyle/>
          <a:p>
            <a:pPr algn="ctr" indent="0" marL="0">
              <a:lnSpc>
                <a:spcPct val="105000"/>
              </a:lnSpc>
              <a:buNone/>
            </a:pPr>
            <a:r>
              <a:rPr lang="en-US" sz="680" b="1" dirty="0">
                <a:solidFill>
                  <a:srgbClr val="334155"/>
                </a:solidFill>
                <a:latin typeface="Arial" pitchFamily="34" charset="0"/>
                <a:ea typeface="Arial" pitchFamily="34" charset="-122"/>
                <a:cs typeface="Arial" pitchFamily="34" charset="-120"/>
              </a:rPr>
              <a:t>SaaS Gross</a:t>
            </a:r>
            <a:endParaRPr lang="en-US" sz="680" dirty="0"/>
          </a:p>
          <a:p>
            <a:pPr algn="ctr" indent="0" marL="0">
              <a:lnSpc>
                <a:spcPct val="105000"/>
              </a:lnSpc>
              <a:buNone/>
            </a:pPr>
            <a:r>
              <a:rPr lang="en-US" sz="680" b="1" dirty="0">
                <a:solidFill>
                  <a:srgbClr val="334155"/>
                </a:solidFill>
                <a:latin typeface="Arial" pitchFamily="34" charset="0"/>
                <a:ea typeface="Arial" pitchFamily="34" charset="-122"/>
                <a:cs typeface="Arial" pitchFamily="34" charset="-120"/>
              </a:rPr>
              <a:t>Margin &amp;</a:t>
            </a:r>
            <a:endParaRPr lang="en-US" sz="680" dirty="0"/>
          </a:p>
          <a:p>
            <a:pPr algn="ctr" indent="0" marL="0">
              <a:lnSpc>
                <a:spcPct val="105000"/>
              </a:lnSpc>
              <a:buNone/>
            </a:pPr>
            <a:r>
              <a:rPr lang="en-US" sz="680" b="1" dirty="0">
                <a:solidFill>
                  <a:srgbClr val="334155"/>
                </a:solidFill>
                <a:latin typeface="Arial" pitchFamily="34" charset="0"/>
                <a:ea typeface="Arial" pitchFamily="34" charset="-122"/>
                <a:cs typeface="Arial" pitchFamily="34" charset="-120"/>
              </a:rPr>
              <a:t>Dev Velocity</a:t>
            </a:r>
            <a:endParaRPr lang="en-US" sz="680" dirty="0"/>
          </a:p>
          <a:p>
            <a:pPr algn="ctr" indent="0" marL="0">
              <a:lnSpc>
                <a:spcPct val="105000"/>
              </a:lnSpc>
              <a:buNone/>
            </a:pPr>
            <a:r>
              <a:rPr lang="en-US" sz="680" b="1" dirty="0">
                <a:solidFill>
                  <a:srgbClr val="334155"/>
                </a:solidFill>
                <a:latin typeface="Arial" pitchFamily="34" charset="0"/>
                <a:ea typeface="Arial" pitchFamily="34" charset="-122"/>
                <a:cs typeface="Arial" pitchFamily="34" charset="-120"/>
              </a:rPr>
              <a:t>(High ↑)</a:t>
            </a:r>
            <a:endParaRPr lang="en-US" sz="680" dirty="0"/>
          </a:p>
        </p:txBody>
      </p:sp>
      <p:sp>
        <p:nvSpPr>
          <p:cNvPr id="70" name="Text 68"/>
          <p:cNvSpPr/>
          <p:nvPr/>
        </p:nvSpPr>
        <p:spPr>
          <a:xfrm>
            <a:off x="6848856" y="4736592"/>
            <a:ext cx="512064" cy="329184"/>
          </a:xfrm>
          <a:prstGeom prst="rect">
            <a:avLst/>
          </a:prstGeom>
          <a:noFill/>
          <a:ln/>
        </p:spPr>
        <p:txBody>
          <a:bodyPr wrap="square" lIns="0" tIns="0" rIns="0" bIns="0" rtlCol="0" anchor="ctr"/>
          <a:lstStyle/>
          <a:p>
            <a:pPr algn="ctr" indent="0" marL="0">
              <a:lnSpc>
                <a:spcPct val="105000"/>
              </a:lnSpc>
              <a:buNone/>
            </a:pPr>
            <a:r>
              <a:rPr lang="en-US" sz="660" dirty="0">
                <a:solidFill>
                  <a:srgbClr val="64748B"/>
                </a:solidFill>
                <a:latin typeface="Arial" pitchFamily="34" charset="0"/>
                <a:ea typeface="Arial" pitchFamily="34" charset="-122"/>
                <a:cs typeface="Arial" pitchFamily="34" charset="-120"/>
              </a:rPr>
              <a:t>Low</a:t>
            </a:r>
            <a:endParaRPr lang="en-US" sz="660" dirty="0"/>
          </a:p>
          <a:p>
            <a:pPr algn="ctr" indent="0" marL="0">
              <a:lnSpc>
                <a:spcPct val="105000"/>
              </a:lnSpc>
              <a:buNone/>
            </a:pPr>
            <a:r>
              <a:rPr lang="en-US" sz="660" dirty="0">
                <a:solidFill>
                  <a:srgbClr val="64748B"/>
                </a:solidFill>
                <a:latin typeface="Arial" pitchFamily="34" charset="0"/>
                <a:ea typeface="Arial" pitchFamily="34" charset="-122"/>
                <a:cs typeface="Arial" pitchFamily="34" charset="-120"/>
              </a:rPr>
              <a:t>Margin</a:t>
            </a:r>
            <a:endParaRPr lang="en-US" sz="660" dirty="0"/>
          </a:p>
        </p:txBody>
      </p:sp>
      <p:sp>
        <p:nvSpPr>
          <p:cNvPr id="71" name="Text 69"/>
          <p:cNvSpPr/>
          <p:nvPr/>
        </p:nvSpPr>
        <p:spPr>
          <a:xfrm>
            <a:off x="7580376" y="5230368"/>
            <a:ext cx="3898087" cy="201168"/>
          </a:xfrm>
          <a:prstGeom prst="rect">
            <a:avLst/>
          </a:prstGeom>
          <a:noFill/>
          <a:ln/>
        </p:spPr>
        <p:txBody>
          <a:bodyPr wrap="square" lIns="0" tIns="0" rIns="0" bIns="0" rtlCol="0" anchor="ctr"/>
          <a:lstStyle/>
          <a:p>
            <a:pPr algn="ctr" indent="0" marL="0">
              <a:lnSpc>
                <a:spcPct val="105000"/>
              </a:lnSpc>
              <a:buNone/>
            </a:pPr>
            <a:r>
              <a:rPr lang="en-US" sz="750" b="1" dirty="0">
                <a:solidFill>
                  <a:srgbClr val="334155"/>
                </a:solidFill>
                <a:latin typeface="Arial" pitchFamily="34" charset="0"/>
                <a:ea typeface="Arial" pitchFamily="34" charset="-122"/>
                <a:cs typeface="Arial" pitchFamily="34" charset="-120"/>
              </a:rPr>
              <a:t>Cryptographic &amp; Blast-Radius Isolation Rigor (Stronger →)</a:t>
            </a:r>
            <a:endParaRPr lang="en-US" sz="750" dirty="0"/>
          </a:p>
        </p:txBody>
      </p:sp>
      <p:sp>
        <p:nvSpPr>
          <p:cNvPr id="72" name="Shape 70"/>
          <p:cNvSpPr/>
          <p:nvPr/>
        </p:nvSpPr>
        <p:spPr>
          <a:xfrm>
            <a:off x="8933688" y="2304288"/>
            <a:ext cx="770839" cy="0"/>
          </a:xfrm>
          <a:prstGeom prst="line">
            <a:avLst/>
          </a:prstGeom>
          <a:noFill/>
          <a:ln w="17780">
            <a:solidFill>
              <a:srgbClr val="047857"/>
            </a:solidFill>
            <a:prstDash val="dash"/>
            <a:tailEnd type="triangle" w="sm" len="sm"/>
          </a:ln>
        </p:spPr>
      </p:sp>
      <p:sp>
        <p:nvSpPr>
          <p:cNvPr id="73" name="Shape 71"/>
          <p:cNvSpPr/>
          <p:nvPr/>
        </p:nvSpPr>
        <p:spPr>
          <a:xfrm>
            <a:off x="8902598" y="2208276"/>
            <a:ext cx="832104" cy="192024"/>
          </a:xfrm>
          <a:prstGeom prst="roundRect">
            <a:avLst>
              <a:gd name="adj" fmla="val 38095"/>
            </a:avLst>
          </a:prstGeom>
          <a:solidFill>
            <a:srgbClr val="FFFFFF"/>
          </a:solidFill>
          <a:ln w="9525">
            <a:solidFill>
              <a:srgbClr val="A7F3D0"/>
            </a:solidFill>
            <a:prstDash val="solid"/>
          </a:ln>
        </p:spPr>
      </p:sp>
      <p:sp>
        <p:nvSpPr>
          <p:cNvPr id="74" name="Text 72"/>
          <p:cNvSpPr/>
          <p:nvPr/>
        </p:nvSpPr>
        <p:spPr>
          <a:xfrm>
            <a:off x="8902598" y="2208276"/>
            <a:ext cx="832104" cy="192024"/>
          </a:xfrm>
          <a:prstGeom prst="rect">
            <a:avLst/>
          </a:prstGeom>
          <a:noFill/>
          <a:ln/>
        </p:spPr>
        <p:txBody>
          <a:bodyPr wrap="square" lIns="0" tIns="0" rIns="0" bIns="0" rtlCol="0" anchor="ctr"/>
          <a:lstStyle/>
          <a:p>
            <a:pPr algn="ctr" indent="0" marL="0">
              <a:lnSpc>
                <a:spcPct val="105000"/>
              </a:lnSpc>
              <a:buNone/>
            </a:pPr>
            <a:r>
              <a:rPr lang="en-US" sz="630" b="1" dirty="0">
                <a:solidFill>
                  <a:srgbClr val="047857"/>
                </a:solidFill>
                <a:latin typeface="Arial" pitchFamily="34" charset="0"/>
                <a:ea typeface="Arial" pitchFamily="34" charset="-122"/>
                <a:cs typeface="Arial" pitchFamily="34" charset="-120"/>
              </a:rPr>
              <a:t>+5-Hop Context</a:t>
            </a:r>
            <a:endParaRPr lang="en-US" sz="630" dirty="0"/>
          </a:p>
        </p:txBody>
      </p:sp>
      <p:sp>
        <p:nvSpPr>
          <p:cNvPr id="75" name="Shape 73"/>
          <p:cNvSpPr/>
          <p:nvPr/>
        </p:nvSpPr>
        <p:spPr>
          <a:xfrm flipV="1">
            <a:off x="10545775" y="2798064"/>
            <a:ext cx="0" cy="1261872"/>
          </a:xfrm>
          <a:prstGeom prst="line">
            <a:avLst/>
          </a:prstGeom>
          <a:noFill/>
          <a:ln w="17780">
            <a:solidFill>
              <a:srgbClr val="047857"/>
            </a:solidFill>
            <a:prstDash val="dash"/>
            <a:tailEnd type="triangle" w="sm" len="sm"/>
          </a:ln>
        </p:spPr>
      </p:sp>
      <p:sp>
        <p:nvSpPr>
          <p:cNvPr id="76" name="Shape 74"/>
          <p:cNvSpPr/>
          <p:nvPr/>
        </p:nvSpPr>
        <p:spPr>
          <a:xfrm>
            <a:off x="10080346" y="3332988"/>
            <a:ext cx="929945" cy="192024"/>
          </a:xfrm>
          <a:prstGeom prst="roundRect">
            <a:avLst>
              <a:gd name="adj" fmla="val 38095"/>
            </a:avLst>
          </a:prstGeom>
          <a:solidFill>
            <a:srgbClr val="FFFFFF"/>
          </a:solidFill>
          <a:ln w="9525">
            <a:solidFill>
              <a:srgbClr val="A7F3D0"/>
            </a:solidFill>
            <a:prstDash val="solid"/>
          </a:ln>
        </p:spPr>
      </p:sp>
      <p:sp>
        <p:nvSpPr>
          <p:cNvPr id="77" name="Text 75"/>
          <p:cNvSpPr/>
          <p:nvPr/>
        </p:nvSpPr>
        <p:spPr>
          <a:xfrm>
            <a:off x="10080346" y="3332988"/>
            <a:ext cx="929945" cy="192024"/>
          </a:xfrm>
          <a:prstGeom prst="rect">
            <a:avLst/>
          </a:prstGeom>
          <a:noFill/>
          <a:ln/>
        </p:spPr>
        <p:txBody>
          <a:bodyPr wrap="square" lIns="0" tIns="0" rIns="0" bIns="0" rtlCol="0" anchor="ctr"/>
          <a:lstStyle/>
          <a:p>
            <a:pPr algn="ctr" indent="0" marL="0">
              <a:lnSpc>
                <a:spcPct val="105000"/>
              </a:lnSpc>
              <a:buNone/>
            </a:pPr>
            <a:r>
              <a:rPr lang="en-US" sz="630" b="1" dirty="0">
                <a:solidFill>
                  <a:srgbClr val="047857"/>
                </a:solidFill>
                <a:latin typeface="Arial" pitchFamily="34" charset="0"/>
                <a:ea typeface="Arial" pitchFamily="34" charset="-122"/>
                <a:cs typeface="Arial" pitchFamily="34" charset="-120"/>
              </a:rPr>
              <a:t>+95% Pooled Tier</a:t>
            </a:r>
            <a:endParaRPr lang="en-US" sz="630" dirty="0"/>
          </a:p>
        </p:txBody>
      </p:sp>
      <p:sp>
        <p:nvSpPr>
          <p:cNvPr id="78" name="Shape 76"/>
          <p:cNvSpPr/>
          <p:nvPr/>
        </p:nvSpPr>
        <p:spPr>
          <a:xfrm>
            <a:off x="7543800" y="1956816"/>
            <a:ext cx="1371600" cy="713232"/>
          </a:xfrm>
          <a:prstGeom prst="roundRect">
            <a:avLst>
              <a:gd name="adj" fmla="val 8974"/>
            </a:avLst>
          </a:prstGeom>
          <a:solidFill>
            <a:srgbClr val="FEF2F2"/>
          </a:solidFill>
          <a:ln w="10795">
            <a:solidFill>
              <a:srgbClr val="B91C1C"/>
            </a:solidFill>
            <a:prstDash val="solid"/>
          </a:ln>
        </p:spPr>
      </p:sp>
      <p:sp>
        <p:nvSpPr>
          <p:cNvPr id="79" name="Text 77"/>
          <p:cNvSpPr/>
          <p:nvPr/>
        </p:nvSpPr>
        <p:spPr>
          <a:xfrm>
            <a:off x="7598664" y="2011680"/>
            <a:ext cx="1261872" cy="603504"/>
          </a:xfrm>
          <a:prstGeom prst="rect">
            <a:avLst/>
          </a:prstGeom>
          <a:noFill/>
          <a:ln/>
        </p:spPr>
        <p:txBody>
          <a:bodyPr wrap="square" lIns="0" tIns="0" rIns="0" bIns="0" rtlCol="0" anchor="ctr"/>
          <a:lstStyle/>
          <a:p>
            <a:pPr algn="ctr" indent="0" marL="0">
              <a:lnSpc>
                <a:spcPct val="108000"/>
              </a:lnSpc>
              <a:buNone/>
            </a:pPr>
            <a:r>
              <a:rPr lang="en-US" sz="700" b="1" dirty="0">
                <a:solidFill>
                  <a:srgbClr val="B91C1C"/>
                </a:solidFill>
                <a:latin typeface="Arial" pitchFamily="34" charset="0"/>
                <a:ea typeface="Arial" pitchFamily="34" charset="-122"/>
                <a:cs typeface="Arial" pitchFamily="34" charset="-120"/>
              </a:rPr>
              <a:t>TRAP A: Shared Pool</a:t>
            </a:r>
            <a:endParaRPr lang="en-US" sz="700" dirty="0"/>
          </a:p>
          <a:p>
            <a:pPr algn="ctr" indent="0" marL="0">
              <a:lnSpc>
                <a:spcPct val="108000"/>
              </a:lnSpc>
              <a:buNone/>
            </a:pPr>
            <a:r>
              <a:rPr lang="en-US" sz="700" b="1" dirty="0">
                <a:solidFill>
                  <a:srgbClr val="B91C1C"/>
                </a:solidFill>
                <a:latin typeface="Arial" pitchFamily="34" charset="0"/>
                <a:ea typeface="Arial" pitchFamily="34" charset="-122"/>
                <a:cs typeface="Arial" pitchFamily="34" charset="-120"/>
              </a:rPr>
              <a:t>High Margin, Unsafe</a:t>
            </a:r>
            <a:endParaRPr lang="en-US" sz="700" dirty="0"/>
          </a:p>
          <a:p>
            <a:pPr algn="ctr" indent="0" marL="0">
              <a:lnSpc>
                <a:spcPct val="108000"/>
              </a:lnSpc>
              <a:buNone/>
            </a:pPr>
            <a:r>
              <a:rPr lang="en-US" sz="700" b="1" dirty="0">
                <a:solidFill>
                  <a:srgbClr val="B91C1C"/>
                </a:solidFill>
                <a:latin typeface="Arial" pitchFamily="34" charset="0"/>
                <a:ea typeface="Arial" pitchFamily="34" charset="-122"/>
                <a:cs typeface="Arial" pitchFamily="34" charset="-120"/>
              </a:rPr>
              <a:t>(CISO Veto)</a:t>
            </a:r>
            <a:endParaRPr lang="en-US" sz="700" dirty="0"/>
          </a:p>
        </p:txBody>
      </p:sp>
      <p:sp>
        <p:nvSpPr>
          <p:cNvPr id="80" name="Shape 78"/>
          <p:cNvSpPr/>
          <p:nvPr/>
        </p:nvSpPr>
        <p:spPr>
          <a:xfrm>
            <a:off x="9777679" y="4096512"/>
            <a:ext cx="1536192" cy="713232"/>
          </a:xfrm>
          <a:prstGeom prst="roundRect">
            <a:avLst>
              <a:gd name="adj" fmla="val 8974"/>
            </a:avLst>
          </a:prstGeom>
          <a:solidFill>
            <a:srgbClr val="FFFBEB"/>
          </a:solidFill>
          <a:ln w="10795">
            <a:solidFill>
              <a:srgbClr val="D97706"/>
            </a:solidFill>
            <a:prstDash val="solid"/>
          </a:ln>
        </p:spPr>
      </p:sp>
      <p:sp>
        <p:nvSpPr>
          <p:cNvPr id="81" name="Text 79"/>
          <p:cNvSpPr/>
          <p:nvPr/>
        </p:nvSpPr>
        <p:spPr>
          <a:xfrm>
            <a:off x="9832543" y="4151376"/>
            <a:ext cx="1426464" cy="603504"/>
          </a:xfrm>
          <a:prstGeom prst="rect">
            <a:avLst/>
          </a:prstGeom>
          <a:noFill/>
          <a:ln/>
        </p:spPr>
        <p:txBody>
          <a:bodyPr wrap="square" lIns="0" tIns="0" rIns="0" bIns="0" rtlCol="0" anchor="ctr"/>
          <a:lstStyle/>
          <a:p>
            <a:pPr algn="ctr" indent="0" marL="0">
              <a:lnSpc>
                <a:spcPct val="108000"/>
              </a:lnSpc>
              <a:buNone/>
            </a:pPr>
            <a:r>
              <a:rPr lang="en-US" sz="700" b="1" dirty="0">
                <a:solidFill>
                  <a:srgbClr val="B45309"/>
                </a:solidFill>
                <a:latin typeface="Arial" pitchFamily="34" charset="0"/>
                <a:ea typeface="Arial" pitchFamily="34" charset="-122"/>
                <a:cs typeface="Arial" pitchFamily="34" charset="-120"/>
              </a:rPr>
              <a:t>TRAP B: 1,000 Silos</a:t>
            </a:r>
            <a:endParaRPr lang="en-US" sz="700" dirty="0"/>
          </a:p>
          <a:p>
            <a:pPr algn="ctr" indent="0" marL="0">
              <a:lnSpc>
                <a:spcPct val="108000"/>
              </a:lnSpc>
              <a:buNone/>
            </a:pPr>
            <a:r>
              <a:rPr lang="en-US" sz="700" b="1" dirty="0">
                <a:solidFill>
                  <a:srgbClr val="B45309"/>
                </a:solidFill>
                <a:latin typeface="Arial" pitchFamily="34" charset="0"/>
                <a:ea typeface="Arial" pitchFamily="34" charset="-122"/>
                <a:cs typeface="Arial" pitchFamily="34" charset="-120"/>
              </a:rPr>
              <a:t>Hard Isolation, 4.0x Infra Cost</a:t>
            </a:r>
            <a:endParaRPr lang="en-US" sz="700" dirty="0"/>
          </a:p>
          <a:p>
            <a:pPr algn="ctr" indent="0" marL="0">
              <a:lnSpc>
                <a:spcPct val="108000"/>
              </a:lnSpc>
              <a:buNone/>
            </a:pPr>
            <a:r>
              <a:rPr lang="en-US" sz="700" b="1" dirty="0">
                <a:solidFill>
                  <a:srgbClr val="B45309"/>
                </a:solidFill>
                <a:latin typeface="Arial" pitchFamily="34" charset="0"/>
                <a:ea typeface="Arial" pitchFamily="34" charset="-122"/>
                <a:cs typeface="Arial" pitchFamily="34" charset="-120"/>
              </a:rPr>
              <a:t>(Margin Destroyed)</a:t>
            </a:r>
            <a:endParaRPr lang="en-US" sz="700" dirty="0"/>
          </a:p>
        </p:txBody>
      </p:sp>
      <p:sp>
        <p:nvSpPr>
          <p:cNvPr id="82" name="Shape 80"/>
          <p:cNvSpPr/>
          <p:nvPr/>
        </p:nvSpPr>
        <p:spPr>
          <a:xfrm>
            <a:off x="9745675" y="1909267"/>
            <a:ext cx="1682496" cy="877824"/>
          </a:xfrm>
          <a:prstGeom prst="roundRect">
            <a:avLst>
              <a:gd name="adj" fmla="val 7292"/>
            </a:avLst>
          </a:prstGeom>
          <a:solidFill>
            <a:srgbClr val="E2E8F0"/>
          </a:solidFill>
          <a:ln/>
        </p:spPr>
      </p:sp>
      <p:sp>
        <p:nvSpPr>
          <p:cNvPr id="83" name="Shape 81"/>
          <p:cNvSpPr/>
          <p:nvPr/>
        </p:nvSpPr>
        <p:spPr>
          <a:xfrm>
            <a:off x="9722815" y="1883664"/>
            <a:ext cx="1682496" cy="877824"/>
          </a:xfrm>
          <a:prstGeom prst="roundRect">
            <a:avLst>
              <a:gd name="adj" fmla="val 7292"/>
            </a:avLst>
          </a:prstGeom>
          <a:solidFill>
            <a:srgbClr val="FFFFFF"/>
          </a:solidFill>
          <a:ln w="20320">
            <a:solidFill>
              <a:srgbClr val="047857"/>
            </a:solidFill>
            <a:prstDash val="solid"/>
          </a:ln>
        </p:spPr>
      </p:sp>
      <p:sp>
        <p:nvSpPr>
          <p:cNvPr id="84" name="Shape 82"/>
          <p:cNvSpPr/>
          <p:nvPr/>
        </p:nvSpPr>
        <p:spPr>
          <a:xfrm>
            <a:off x="9722815" y="1883664"/>
            <a:ext cx="1682496" cy="50292"/>
          </a:xfrm>
          <a:prstGeom prst="roundRect">
            <a:avLst>
              <a:gd name="adj" fmla="val 36364"/>
            </a:avLst>
          </a:prstGeom>
          <a:solidFill>
            <a:srgbClr val="047857"/>
          </a:solidFill>
          <a:ln/>
        </p:spPr>
      </p:sp>
      <p:sp>
        <p:nvSpPr>
          <p:cNvPr id="85" name="Text 83"/>
          <p:cNvSpPr/>
          <p:nvPr/>
        </p:nvSpPr>
        <p:spPr>
          <a:xfrm>
            <a:off x="9795967" y="1993392"/>
            <a:ext cx="1536192" cy="713232"/>
          </a:xfrm>
          <a:prstGeom prst="rect">
            <a:avLst/>
          </a:prstGeom>
          <a:noFill/>
          <a:ln/>
        </p:spPr>
        <p:txBody>
          <a:bodyPr wrap="square" lIns="0" tIns="0" rIns="0" bIns="0" rtlCol="0" anchor="ctr"/>
          <a:lstStyle/>
          <a:p>
            <a:pPr algn="ctr" indent="0" marL="0">
              <a:lnSpc>
                <a:spcPct val="108000"/>
              </a:lnSpc>
              <a:buNone/>
            </a:pPr>
            <a:r>
              <a:rPr lang="en-US" sz="710" b="1" dirty="0">
                <a:solidFill>
                  <a:srgbClr val="047857"/>
                </a:solidFill>
                <a:latin typeface="Arial" pitchFamily="34" charset="0"/>
                <a:ea typeface="Arial" pitchFamily="34" charset="-122"/>
                <a:cs typeface="Arial" pitchFamily="34" charset="-120"/>
              </a:rPr>
              <a:t>TARGET ARCHITECTURE</a:t>
            </a:r>
            <a:endParaRPr lang="en-US" sz="710" dirty="0"/>
          </a:p>
          <a:p>
            <a:pPr algn="ctr" indent="0" marL="0">
              <a:lnSpc>
                <a:spcPct val="108000"/>
              </a:lnSpc>
              <a:buNone/>
            </a:pPr>
            <a:r>
              <a:rPr lang="en-US" sz="710" b="1" dirty="0">
                <a:solidFill>
                  <a:srgbClr val="047857"/>
                </a:solidFill>
                <a:latin typeface="Arial" pitchFamily="34" charset="0"/>
                <a:ea typeface="Arial" pitchFamily="34" charset="-122"/>
                <a:cs typeface="Arial" pitchFamily="34" charset="-120"/>
              </a:rPr>
              <a:t>Tiered A + B + C Portfolio</a:t>
            </a:r>
            <a:endParaRPr lang="en-US" sz="710" dirty="0"/>
          </a:p>
          <a:p>
            <a:pPr algn="ctr" indent="0" marL="0">
              <a:lnSpc>
                <a:spcPct val="108000"/>
              </a:lnSpc>
              <a:buNone/>
            </a:pPr>
            <a:r>
              <a:rPr lang="en-US" sz="710" b="1" dirty="0">
                <a:solidFill>
                  <a:srgbClr val="047857"/>
                </a:solidFill>
                <a:latin typeface="Arial" pitchFamily="34" charset="0"/>
                <a:ea typeface="Arial" pitchFamily="34" charset="-122"/>
                <a:cs typeface="Arial" pitchFamily="34" charset="-120"/>
              </a:rPr>
              <a:t>~74% Lower Portfolio TCO</a:t>
            </a:r>
            <a:endParaRPr lang="en-US" sz="710" dirty="0"/>
          </a:p>
          <a:p>
            <a:pPr algn="ctr" indent="0" marL="0">
              <a:lnSpc>
                <a:spcPct val="108000"/>
              </a:lnSpc>
              <a:buNone/>
            </a:pPr>
            <a:r>
              <a:rPr lang="en-US" sz="710" b="1" dirty="0">
                <a:solidFill>
                  <a:srgbClr val="047857"/>
                </a:solidFill>
                <a:latin typeface="Arial" pitchFamily="34" charset="0"/>
                <a:ea typeface="Arial" pitchFamily="34" charset="-122"/>
                <a:cs typeface="Arial" pitchFamily="34" charset="-120"/>
              </a:rPr>
              <a:t>+ Zero Cross-Tenant Leaks</a:t>
            </a:r>
            <a:endParaRPr lang="en-US" sz="710" dirty="0"/>
          </a:p>
        </p:txBody>
      </p:sp>
      <p:sp>
        <p:nvSpPr>
          <p:cNvPr id="86" name="Shape 84"/>
          <p:cNvSpPr/>
          <p:nvPr/>
        </p:nvSpPr>
        <p:spPr>
          <a:xfrm>
            <a:off x="438912" y="5943600"/>
            <a:ext cx="11313871" cy="420624"/>
          </a:xfrm>
          <a:prstGeom prst="roundRect">
            <a:avLst>
              <a:gd name="adj" fmla="val 13043"/>
            </a:avLst>
          </a:prstGeom>
          <a:solidFill>
            <a:srgbClr val="FFFBEB"/>
          </a:solidFill>
          <a:ln w="11430">
            <a:solidFill>
              <a:srgbClr val="FDE68A"/>
            </a:solidFill>
            <a:prstDash val="solid"/>
          </a:ln>
        </p:spPr>
      </p:sp>
      <p:sp>
        <p:nvSpPr>
          <p:cNvPr id="87" name="Shape 85"/>
          <p:cNvSpPr/>
          <p:nvPr/>
        </p:nvSpPr>
        <p:spPr>
          <a:xfrm>
            <a:off x="530352" y="6025896"/>
            <a:ext cx="1353312" cy="256032"/>
          </a:xfrm>
          <a:prstGeom prst="roundRect">
            <a:avLst>
              <a:gd name="adj" fmla="val 17857"/>
            </a:avLst>
          </a:prstGeom>
          <a:solidFill>
            <a:srgbClr val="B45309"/>
          </a:solidFill>
          <a:ln/>
        </p:spPr>
      </p:sp>
      <p:sp>
        <p:nvSpPr>
          <p:cNvPr id="88" name="Text 86"/>
          <p:cNvSpPr/>
          <p:nvPr/>
        </p:nvSpPr>
        <p:spPr>
          <a:xfrm>
            <a:off x="530352" y="6025896"/>
            <a:ext cx="1353312" cy="256032"/>
          </a:xfrm>
          <a:prstGeom prst="rect">
            <a:avLst/>
          </a:prstGeom>
          <a:noFill/>
          <a:ln/>
        </p:spPr>
        <p:txBody>
          <a:bodyPr wrap="square" lIns="0" tIns="0" rIns="0" bIns="0" rtlCol="0" anchor="ctr"/>
          <a:lstStyle/>
          <a:p>
            <a:pPr algn="ctr" indent="0" marL="0">
              <a:lnSpc>
                <a:spcPct val="105000"/>
              </a:lnSpc>
              <a:buNone/>
            </a:pPr>
            <a:r>
              <a:rPr lang="en-US" sz="650" b="1" dirty="0">
                <a:solidFill>
                  <a:srgbClr val="FFFFFF"/>
                </a:solidFill>
                <a:latin typeface="Arial" pitchFamily="34" charset="0"/>
                <a:ea typeface="Arial" pitchFamily="34" charset="-122"/>
                <a:cs typeface="Arial" pitchFamily="34" charset="-120"/>
              </a:rPr>
              <a:t>STRATEGIC INSIGHT</a:t>
            </a:r>
            <a:endParaRPr lang="en-US" sz="650" dirty="0"/>
          </a:p>
        </p:txBody>
      </p:sp>
      <p:sp>
        <p:nvSpPr>
          <p:cNvPr id="89" name="Text 87"/>
          <p:cNvSpPr/>
          <p:nvPr/>
        </p:nvSpPr>
        <p:spPr>
          <a:xfrm>
            <a:off x="1993392" y="5980176"/>
            <a:ext cx="7555687" cy="347472"/>
          </a:xfrm>
          <a:prstGeom prst="rect">
            <a:avLst/>
          </a:prstGeom>
          <a:noFill/>
          <a:ln/>
        </p:spPr>
        <p:txBody>
          <a:bodyPr wrap="square" lIns="0" tIns="0" rIns="0" bIns="0" rtlCol="0" anchor="ctr"/>
          <a:lstStyle/>
          <a:p>
            <a:pPr algn="l" indent="0" marL="0">
              <a:lnSpc>
                <a:spcPct val="108000"/>
              </a:lnSpc>
              <a:buNone/>
            </a:pPr>
            <a:r>
              <a:rPr lang="en-US" sz="860" b="1" dirty="0">
                <a:solidFill>
                  <a:srgbClr val="0F172A"/>
                </a:solidFill>
                <a:latin typeface="Arial" pitchFamily="34" charset="0"/>
                <a:ea typeface="Arial" pitchFamily="34" charset="-122"/>
                <a:cs typeface="Arial" pitchFamily="34" charset="-120"/>
              </a:rPr>
              <a:t>Winning B2B AI platforms shift to the Top-Right Quadrant: enforce cryptographic 5-Hop isolation inside Pattern A for commercial density, and price dedicated Pattern B/C silos as premium SKUs.</a:t>
            </a:r>
            <a:endParaRPr lang="en-US" sz="860" dirty="0"/>
          </a:p>
        </p:txBody>
      </p:sp>
      <p:sp>
        <p:nvSpPr>
          <p:cNvPr id="90" name="Shape 88"/>
          <p:cNvSpPr/>
          <p:nvPr/>
        </p:nvSpPr>
        <p:spPr>
          <a:xfrm>
            <a:off x="9695383" y="6025896"/>
            <a:ext cx="1965960" cy="256032"/>
          </a:xfrm>
          <a:prstGeom prst="roundRect">
            <a:avLst>
              <a:gd name="adj" fmla="val 17857"/>
            </a:avLst>
          </a:prstGeom>
          <a:solidFill>
            <a:srgbClr val="FFFFFF"/>
          </a:solidFill>
          <a:ln w="10795">
            <a:solidFill>
              <a:srgbClr val="B45309"/>
            </a:solidFill>
            <a:prstDash val="solid"/>
          </a:ln>
        </p:spPr>
      </p:sp>
      <p:sp>
        <p:nvSpPr>
          <p:cNvPr id="91" name="Text 89"/>
          <p:cNvSpPr/>
          <p:nvPr/>
        </p:nvSpPr>
        <p:spPr>
          <a:xfrm>
            <a:off x="9695383" y="6025896"/>
            <a:ext cx="1965960" cy="256032"/>
          </a:xfrm>
          <a:prstGeom prst="rect">
            <a:avLst/>
          </a:prstGeom>
          <a:noFill/>
          <a:ln/>
        </p:spPr>
        <p:txBody>
          <a:bodyPr wrap="square" lIns="0" tIns="0" rIns="0" bIns="0" rtlCol="0" anchor="ctr"/>
          <a:lstStyle/>
          <a:p>
            <a:pPr algn="ctr" indent="0" marL="0">
              <a:lnSpc>
                <a:spcPct val="105000"/>
              </a:lnSpc>
              <a:buNone/>
            </a:pPr>
            <a:r>
              <a:rPr lang="en-US" sz="740" b="1" dirty="0">
                <a:solidFill>
                  <a:srgbClr val="B45309"/>
                </a:solidFill>
                <a:latin typeface="Arial" pitchFamily="34" charset="0"/>
                <a:ea typeface="Arial" pitchFamily="34" charset="-122"/>
                <a:cs typeface="Arial" pitchFamily="34" charset="-120"/>
              </a:rPr>
              <a:t>~74% Lower Portfolio TCO</a:t>
            </a:r>
            <a:endParaRPr lang="en-US" sz="7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1148"/>
          </a:xfrm>
          <a:prstGeom prst="rect">
            <a:avLst/>
          </a:prstGeom>
          <a:solidFill>
            <a:srgbClr val="B91C1C"/>
          </a:solidFill>
          <a:ln/>
        </p:spPr>
      </p:sp>
      <p:sp>
        <p:nvSpPr>
          <p:cNvPr id="3" name="Shape 1"/>
          <p:cNvSpPr/>
          <p:nvPr/>
        </p:nvSpPr>
        <p:spPr>
          <a:xfrm>
            <a:off x="438912" y="192024"/>
            <a:ext cx="59436" cy="621792"/>
          </a:xfrm>
          <a:prstGeom prst="roundRect">
            <a:avLst>
              <a:gd name="adj" fmla="val 46154"/>
            </a:avLst>
          </a:prstGeom>
          <a:solidFill>
            <a:srgbClr val="B91C1C"/>
          </a:solidFill>
          <a:ln/>
        </p:spPr>
      </p:sp>
      <p:sp>
        <p:nvSpPr>
          <p:cNvPr id="4" name="Text 2"/>
          <p:cNvSpPr/>
          <p:nvPr/>
        </p:nvSpPr>
        <p:spPr>
          <a:xfrm>
            <a:off x="576072" y="173736"/>
            <a:ext cx="4389120" cy="146304"/>
          </a:xfrm>
          <a:prstGeom prst="rect">
            <a:avLst/>
          </a:prstGeom>
          <a:noFill/>
          <a:ln/>
        </p:spPr>
        <p:txBody>
          <a:bodyPr wrap="square" lIns="0" tIns="0" rIns="0" bIns="0" rtlCol="0" anchor="ctr"/>
          <a:lstStyle/>
          <a:p>
            <a:pPr algn="l" indent="0" marL="0">
              <a:lnSpc>
                <a:spcPct val="105000"/>
              </a:lnSpc>
              <a:buNone/>
            </a:pPr>
            <a:r>
              <a:rPr lang="en-US" sz="750" b="1" spc="110" kern="0" dirty="0">
                <a:solidFill>
                  <a:srgbClr val="B91C1C"/>
                </a:solidFill>
                <a:latin typeface="Arial" pitchFamily="34" charset="0"/>
                <a:ea typeface="Arial" pitchFamily="34" charset="-122"/>
                <a:cs typeface="Arial" pitchFamily="34" charset="-120"/>
              </a:rPr>
              <a:t>01 / REAL PROBLEM</a:t>
            </a:r>
            <a:endParaRPr lang="en-US" sz="750" dirty="0"/>
          </a:p>
        </p:txBody>
      </p:sp>
      <p:sp>
        <p:nvSpPr>
          <p:cNvPr id="5" name="Shape 3"/>
          <p:cNvSpPr/>
          <p:nvPr/>
        </p:nvSpPr>
        <p:spPr>
          <a:xfrm>
            <a:off x="8183880" y="219456"/>
            <a:ext cx="228600" cy="59436"/>
          </a:xfrm>
          <a:prstGeom prst="roundRect">
            <a:avLst>
              <a:gd name="adj" fmla="val 46154"/>
            </a:avLst>
          </a:prstGeom>
          <a:solidFill>
            <a:srgbClr val="B91C1C"/>
          </a:solidFill>
          <a:ln/>
        </p:spPr>
      </p:sp>
      <p:sp>
        <p:nvSpPr>
          <p:cNvPr id="6" name="Shape 4"/>
          <p:cNvSpPr/>
          <p:nvPr/>
        </p:nvSpPr>
        <p:spPr>
          <a:xfrm>
            <a:off x="8453628" y="219456"/>
            <a:ext cx="228600" cy="59436"/>
          </a:xfrm>
          <a:prstGeom prst="roundRect">
            <a:avLst>
              <a:gd name="adj" fmla="val 46154"/>
            </a:avLst>
          </a:prstGeom>
          <a:solidFill>
            <a:srgbClr val="E2E8F0"/>
          </a:solidFill>
          <a:ln/>
        </p:spPr>
      </p:sp>
      <p:sp>
        <p:nvSpPr>
          <p:cNvPr id="7" name="Shape 5"/>
          <p:cNvSpPr/>
          <p:nvPr/>
        </p:nvSpPr>
        <p:spPr>
          <a:xfrm>
            <a:off x="8723376" y="219456"/>
            <a:ext cx="228600" cy="59436"/>
          </a:xfrm>
          <a:prstGeom prst="roundRect">
            <a:avLst>
              <a:gd name="adj" fmla="val 46154"/>
            </a:avLst>
          </a:prstGeom>
          <a:solidFill>
            <a:srgbClr val="E2E8F0"/>
          </a:solidFill>
          <a:ln/>
        </p:spPr>
      </p:sp>
      <p:sp>
        <p:nvSpPr>
          <p:cNvPr id="8" name="Shape 6"/>
          <p:cNvSpPr/>
          <p:nvPr/>
        </p:nvSpPr>
        <p:spPr>
          <a:xfrm>
            <a:off x="8993124" y="219456"/>
            <a:ext cx="228600" cy="59436"/>
          </a:xfrm>
          <a:prstGeom prst="roundRect">
            <a:avLst>
              <a:gd name="adj" fmla="val 46154"/>
            </a:avLst>
          </a:prstGeom>
          <a:solidFill>
            <a:srgbClr val="E2E8F0"/>
          </a:solidFill>
          <a:ln/>
        </p:spPr>
      </p:sp>
      <p:sp>
        <p:nvSpPr>
          <p:cNvPr id="9" name="Shape 7"/>
          <p:cNvSpPr/>
          <p:nvPr/>
        </p:nvSpPr>
        <p:spPr>
          <a:xfrm>
            <a:off x="9262872" y="219456"/>
            <a:ext cx="228600" cy="59436"/>
          </a:xfrm>
          <a:prstGeom prst="roundRect">
            <a:avLst>
              <a:gd name="adj" fmla="val 46154"/>
            </a:avLst>
          </a:prstGeom>
          <a:solidFill>
            <a:srgbClr val="E2E8F0"/>
          </a:solidFill>
          <a:ln/>
        </p:spPr>
      </p:sp>
      <p:sp>
        <p:nvSpPr>
          <p:cNvPr id="10" name="Shape 8"/>
          <p:cNvSpPr/>
          <p:nvPr/>
        </p:nvSpPr>
        <p:spPr>
          <a:xfrm>
            <a:off x="9532620" y="219456"/>
            <a:ext cx="228600" cy="59436"/>
          </a:xfrm>
          <a:prstGeom prst="roundRect">
            <a:avLst>
              <a:gd name="adj" fmla="val 46154"/>
            </a:avLst>
          </a:prstGeom>
          <a:solidFill>
            <a:srgbClr val="E2E8F0"/>
          </a:solidFill>
          <a:ln/>
        </p:spPr>
      </p:sp>
      <p:sp>
        <p:nvSpPr>
          <p:cNvPr id="11" name="Shape 9"/>
          <p:cNvSpPr/>
          <p:nvPr/>
        </p:nvSpPr>
        <p:spPr>
          <a:xfrm>
            <a:off x="9802368" y="219456"/>
            <a:ext cx="228600" cy="59436"/>
          </a:xfrm>
          <a:prstGeom prst="roundRect">
            <a:avLst>
              <a:gd name="adj" fmla="val 46154"/>
            </a:avLst>
          </a:prstGeom>
          <a:solidFill>
            <a:srgbClr val="E2E8F0"/>
          </a:solidFill>
          <a:ln/>
        </p:spPr>
      </p:sp>
      <p:sp>
        <p:nvSpPr>
          <p:cNvPr id="12" name="Shape 10"/>
          <p:cNvSpPr/>
          <p:nvPr/>
        </p:nvSpPr>
        <p:spPr>
          <a:xfrm>
            <a:off x="10131552" y="146304"/>
            <a:ext cx="1621231" cy="192024"/>
          </a:xfrm>
          <a:prstGeom prst="roundRect">
            <a:avLst>
              <a:gd name="adj" fmla="val 23810"/>
            </a:avLst>
          </a:prstGeom>
          <a:solidFill>
            <a:srgbClr val="FFFFFF"/>
          </a:solidFill>
          <a:ln w="9525">
            <a:solidFill>
              <a:srgbClr val="CBD5E1"/>
            </a:solidFill>
            <a:prstDash val="solid"/>
          </a:ln>
        </p:spPr>
      </p:sp>
      <p:sp>
        <p:nvSpPr>
          <p:cNvPr id="13" name="Text 11"/>
          <p:cNvSpPr/>
          <p:nvPr/>
        </p:nvSpPr>
        <p:spPr>
          <a:xfrm>
            <a:off x="10131552" y="146304"/>
            <a:ext cx="1621231" cy="192024"/>
          </a:xfrm>
          <a:prstGeom prst="rect">
            <a:avLst/>
          </a:prstGeom>
          <a:noFill/>
          <a:ln/>
        </p:spPr>
        <p:txBody>
          <a:bodyPr wrap="square" lIns="0" tIns="0" rIns="0" bIns="0" rtlCol="0" anchor="ctr"/>
          <a:lstStyle/>
          <a:p>
            <a:pPr algn="ctr" indent="0" marL="0">
              <a:lnSpc>
                <a:spcPct val="105000"/>
              </a:lnSpc>
              <a:buNone/>
            </a:pPr>
            <a:r>
              <a:rPr lang="en-US" sz="680" b="1" spc="60" kern="0" dirty="0">
                <a:solidFill>
                  <a:srgbClr val="B91C1C"/>
                </a:solidFill>
                <a:latin typeface="Arial" pitchFamily="34" charset="0"/>
                <a:ea typeface="Arial" pitchFamily="34" charset="-122"/>
                <a:cs typeface="Arial" pitchFamily="34" charset="-120"/>
              </a:rPr>
              <a:t>PERSONA TENSION MODEL</a:t>
            </a:r>
            <a:endParaRPr lang="en-US" sz="680" dirty="0"/>
          </a:p>
        </p:txBody>
      </p:sp>
      <p:sp>
        <p:nvSpPr>
          <p:cNvPr id="14" name="Text 12"/>
          <p:cNvSpPr/>
          <p:nvPr/>
        </p:nvSpPr>
        <p:spPr>
          <a:xfrm>
            <a:off x="576072" y="338328"/>
            <a:ext cx="11176711" cy="310896"/>
          </a:xfrm>
          <a:prstGeom prst="rect">
            <a:avLst/>
          </a:prstGeom>
          <a:noFill/>
          <a:ln/>
        </p:spPr>
        <p:txBody>
          <a:bodyPr wrap="square" lIns="0" tIns="0" rIns="0" bIns="0" rtlCol="0" anchor="ctr"/>
          <a:lstStyle/>
          <a:p>
            <a:pPr algn="l" indent="0" marL="0">
              <a:lnSpc>
                <a:spcPct val="104000"/>
              </a:lnSpc>
              <a:buNone/>
            </a:pPr>
            <a:r>
              <a:rPr lang="en-US" sz="1750" b="1" dirty="0">
                <a:solidFill>
                  <a:srgbClr val="0F172A"/>
                </a:solidFill>
                <a:latin typeface="Arial" pitchFamily="34" charset="0"/>
                <a:ea typeface="Arial" pitchFamily="34" charset="-122"/>
                <a:cs typeface="Arial" pitchFamily="34" charset="-120"/>
              </a:rPr>
              <a:t>Concrete Design Test: Two Competing Enterprise Tenants on One AI Platform</a:t>
            </a:r>
            <a:endParaRPr lang="en-US" sz="1750" dirty="0"/>
          </a:p>
        </p:txBody>
      </p:sp>
      <p:sp>
        <p:nvSpPr>
          <p:cNvPr id="15" name="Text 13"/>
          <p:cNvSpPr/>
          <p:nvPr/>
        </p:nvSpPr>
        <p:spPr>
          <a:xfrm>
            <a:off x="576072" y="658368"/>
            <a:ext cx="11176711" cy="192024"/>
          </a:xfrm>
          <a:prstGeom prst="rect">
            <a:avLst/>
          </a:prstGeom>
          <a:noFill/>
          <a:ln/>
        </p:spPr>
        <p:txBody>
          <a:bodyPr wrap="square" lIns="0" tIns="0" rIns="0" bIns="0" rtlCol="0" anchor="ctr"/>
          <a:lstStyle/>
          <a:p>
            <a:pPr algn="l" indent="0" marL="0">
              <a:lnSpc>
                <a:spcPct val="104000"/>
              </a:lnSpc>
              <a:buNone/>
            </a:pPr>
            <a:r>
              <a:rPr lang="en-US" sz="900" dirty="0">
                <a:solidFill>
                  <a:srgbClr val="64748B"/>
                </a:solidFill>
                <a:latin typeface="Arial" pitchFamily="34" charset="0"/>
                <a:ea typeface="Arial" pitchFamily="34" charset="-122"/>
                <a:cs typeface="Arial" pitchFamily="34" charset="-120"/>
              </a:rPr>
              <a:t>Throughout this series, every architectural claim is stress-tested live against two tenants with diametrically opposed compliance and cost needs.</a:t>
            </a:r>
            <a:endParaRPr lang="en-US" sz="900" dirty="0"/>
          </a:p>
        </p:txBody>
      </p:sp>
      <p:sp>
        <p:nvSpPr>
          <p:cNvPr id="16" name="Shape 14"/>
          <p:cNvSpPr/>
          <p:nvPr/>
        </p:nvSpPr>
        <p:spPr>
          <a:xfrm>
            <a:off x="438912" y="914400"/>
            <a:ext cx="11313871" cy="0"/>
          </a:xfrm>
          <a:prstGeom prst="line">
            <a:avLst/>
          </a:prstGeom>
          <a:noFill/>
          <a:ln w="10795">
            <a:solidFill>
              <a:srgbClr val="E2E8F0"/>
            </a:solidFill>
            <a:prstDash val="solid"/>
          </a:ln>
        </p:spPr>
      </p:sp>
      <p:sp>
        <p:nvSpPr>
          <p:cNvPr id="17" name="Shape 15"/>
          <p:cNvSpPr/>
          <p:nvPr/>
        </p:nvSpPr>
        <p:spPr>
          <a:xfrm>
            <a:off x="438912" y="6455664"/>
            <a:ext cx="11313871" cy="0"/>
          </a:xfrm>
          <a:prstGeom prst="line">
            <a:avLst/>
          </a:prstGeom>
          <a:noFill/>
          <a:ln w="9525">
            <a:solidFill>
              <a:srgbClr val="E2E8F0"/>
            </a:solidFill>
            <a:prstDash val="solid"/>
          </a:ln>
        </p:spPr>
      </p:sp>
      <p:sp>
        <p:nvSpPr>
          <p:cNvPr id="18" name="Text 16"/>
          <p:cNvSpPr/>
          <p:nvPr/>
        </p:nvSpPr>
        <p:spPr>
          <a:xfrm>
            <a:off x="438912" y="6501384"/>
            <a:ext cx="5852160" cy="192024"/>
          </a:xfrm>
          <a:prstGeom prst="rect">
            <a:avLst/>
          </a:prstGeom>
          <a:noFill/>
          <a:ln/>
        </p:spPr>
        <p:txBody>
          <a:bodyPr wrap="square" lIns="0" tIns="0" rIns="0" bIns="0" rtlCol="0" anchor="ctr"/>
          <a:lstStyle/>
          <a:p>
            <a:pPr algn="l" indent="0" marL="0">
              <a:lnSpc>
                <a:spcPct val="105000"/>
              </a:lnSpc>
              <a:buNone/>
            </a:pPr>
            <a:r>
              <a:rPr lang="en-US" sz="680" b="1" spc="40" kern="0" dirty="0">
                <a:solidFill>
                  <a:srgbClr val="64748B"/>
                </a:solidFill>
                <a:latin typeface="Arial" pitchFamily="34" charset="0"/>
                <a:ea typeface="Arial" pitchFamily="34" charset="-122"/>
                <a:cs typeface="Arial" pitchFamily="34" charset="-120"/>
              </a:rPr>
              <a:t>GOOGLE CLOUD AI ARCHITECTURE  •  BLOG 1: MULTI-TENANT AGENTIC AI TAXONOMY &amp; 5-HOP BASELINE</a:t>
            </a:r>
            <a:endParaRPr lang="en-US" sz="680" dirty="0"/>
          </a:p>
        </p:txBody>
      </p:sp>
      <p:sp>
        <p:nvSpPr>
          <p:cNvPr id="19" name="Text 17"/>
          <p:cNvSpPr/>
          <p:nvPr/>
        </p:nvSpPr>
        <p:spPr>
          <a:xfrm>
            <a:off x="6355080" y="6501384"/>
            <a:ext cx="4206240" cy="192024"/>
          </a:xfrm>
          <a:prstGeom prst="rect">
            <a:avLst/>
          </a:prstGeom>
          <a:noFill/>
          <a:ln/>
        </p:spPr>
        <p:txBody>
          <a:bodyPr wrap="square" lIns="0" tIns="0" rIns="0" bIns="0" rtlCol="0" anchor="ctr"/>
          <a:lstStyle/>
          <a:p>
            <a:pPr algn="r" indent="0" marL="0">
              <a:lnSpc>
                <a:spcPct val="105000"/>
              </a:lnSpc>
              <a:buNone/>
            </a:pPr>
            <a:r>
              <a:rPr lang="en-US" sz="680" dirty="0">
                <a:solidFill>
                  <a:srgbClr val="64748B"/>
                </a:solidFill>
                <a:latin typeface="Arial" pitchFamily="34" charset="0"/>
                <a:ea typeface="Arial" pitchFamily="34" charset="-122"/>
                <a:cs typeface="Arial" pitchFamily="34" charset="-120"/>
              </a:rPr>
              <a:t>Canonical Validation Personas  •  FinVault Bank vs. RetailStream Corp</a:t>
            </a:r>
            <a:endParaRPr lang="en-US" sz="680" dirty="0"/>
          </a:p>
        </p:txBody>
      </p:sp>
      <p:sp>
        <p:nvSpPr>
          <p:cNvPr id="20" name="Shape 18"/>
          <p:cNvSpPr/>
          <p:nvPr/>
        </p:nvSpPr>
        <p:spPr>
          <a:xfrm>
            <a:off x="11002975" y="6501384"/>
            <a:ext cx="749808" cy="192024"/>
          </a:xfrm>
          <a:prstGeom prst="roundRect">
            <a:avLst>
              <a:gd name="adj" fmla="val 19048"/>
            </a:avLst>
          </a:prstGeom>
          <a:solidFill>
            <a:srgbClr val="F1F5F9"/>
          </a:solidFill>
          <a:ln w="7620">
            <a:solidFill>
              <a:srgbClr val="E2E8F0"/>
            </a:solidFill>
            <a:prstDash val="solid"/>
          </a:ln>
        </p:spPr>
      </p:sp>
      <p:sp>
        <p:nvSpPr>
          <p:cNvPr id="21" name="Text 19"/>
          <p:cNvSpPr/>
          <p:nvPr/>
        </p:nvSpPr>
        <p:spPr>
          <a:xfrm>
            <a:off x="11002975" y="6501384"/>
            <a:ext cx="749808" cy="192024"/>
          </a:xfrm>
          <a:prstGeom prst="rect">
            <a:avLst/>
          </a:prstGeom>
          <a:noFill/>
          <a:ln/>
        </p:spPr>
        <p:txBody>
          <a:bodyPr wrap="square" lIns="0" tIns="0" rIns="0" bIns="0" rtlCol="0" anchor="ctr"/>
          <a:lstStyle/>
          <a:p>
            <a:pPr algn="ctr" indent="0" marL="0">
              <a:lnSpc>
                <a:spcPct val="105000"/>
              </a:lnSpc>
              <a:buNone/>
            </a:pPr>
            <a:r>
              <a:rPr lang="en-US" sz="700" b="1" dirty="0">
                <a:solidFill>
                  <a:srgbClr val="334155"/>
                </a:solidFill>
                <a:latin typeface="Arial" pitchFamily="34" charset="0"/>
                <a:ea typeface="Arial" pitchFamily="34" charset="-122"/>
                <a:cs typeface="Arial" pitchFamily="34" charset="-120"/>
              </a:rPr>
              <a:t>04 / 23</a:t>
            </a:r>
            <a:endParaRPr lang="en-US" sz="700" dirty="0"/>
          </a:p>
        </p:txBody>
      </p:sp>
      <p:sp>
        <p:nvSpPr>
          <p:cNvPr id="22" name="Shape 20"/>
          <p:cNvSpPr/>
          <p:nvPr/>
        </p:nvSpPr>
        <p:spPr>
          <a:xfrm>
            <a:off x="461772" y="1068019"/>
            <a:ext cx="3822192" cy="4754880"/>
          </a:xfrm>
          <a:prstGeom prst="roundRect">
            <a:avLst>
              <a:gd name="adj" fmla="val 1675"/>
            </a:avLst>
          </a:prstGeom>
          <a:solidFill>
            <a:srgbClr val="E2E8F0"/>
          </a:solidFill>
          <a:ln/>
        </p:spPr>
      </p:sp>
      <p:sp>
        <p:nvSpPr>
          <p:cNvPr id="23" name="Shape 21"/>
          <p:cNvSpPr/>
          <p:nvPr/>
        </p:nvSpPr>
        <p:spPr>
          <a:xfrm>
            <a:off x="438912" y="1042416"/>
            <a:ext cx="3822192" cy="4754880"/>
          </a:xfrm>
          <a:prstGeom prst="roundRect">
            <a:avLst>
              <a:gd name="adj" fmla="val 1675"/>
            </a:avLst>
          </a:prstGeom>
          <a:solidFill>
            <a:srgbClr val="FFFFFF"/>
          </a:solidFill>
          <a:ln w="10795">
            <a:solidFill>
              <a:srgbClr val="FDE68A"/>
            </a:solidFill>
            <a:prstDash val="solid"/>
          </a:ln>
        </p:spPr>
      </p:sp>
      <p:sp>
        <p:nvSpPr>
          <p:cNvPr id="24" name="Shape 22"/>
          <p:cNvSpPr/>
          <p:nvPr/>
        </p:nvSpPr>
        <p:spPr>
          <a:xfrm>
            <a:off x="438912" y="1042416"/>
            <a:ext cx="3822192" cy="50292"/>
          </a:xfrm>
          <a:prstGeom prst="roundRect">
            <a:avLst>
              <a:gd name="adj" fmla="val 36364"/>
            </a:avLst>
          </a:prstGeom>
          <a:solidFill>
            <a:srgbClr val="D97706"/>
          </a:solidFill>
          <a:ln/>
        </p:spPr>
      </p:sp>
      <p:sp>
        <p:nvSpPr>
          <p:cNvPr id="25" name="Shape 23"/>
          <p:cNvSpPr/>
          <p:nvPr/>
        </p:nvSpPr>
        <p:spPr>
          <a:xfrm>
            <a:off x="603504" y="1188720"/>
            <a:ext cx="2148840" cy="219456"/>
          </a:xfrm>
          <a:prstGeom prst="roundRect">
            <a:avLst>
              <a:gd name="adj" fmla="val 33333"/>
            </a:avLst>
          </a:prstGeom>
          <a:solidFill>
            <a:srgbClr val="FEEFC3"/>
          </a:solidFill>
          <a:ln/>
        </p:spPr>
      </p:sp>
      <p:sp>
        <p:nvSpPr>
          <p:cNvPr id="26" name="Text 24"/>
          <p:cNvSpPr/>
          <p:nvPr/>
        </p:nvSpPr>
        <p:spPr>
          <a:xfrm>
            <a:off x="603504" y="1188720"/>
            <a:ext cx="2148840" cy="219456"/>
          </a:xfrm>
          <a:prstGeom prst="rect">
            <a:avLst/>
          </a:prstGeom>
          <a:noFill/>
          <a:ln/>
        </p:spPr>
        <p:txBody>
          <a:bodyPr wrap="square" lIns="0" tIns="0" rIns="0" bIns="0" rtlCol="0" anchor="ctr"/>
          <a:lstStyle/>
          <a:p>
            <a:pPr algn="ctr" indent="0" marL="0">
              <a:lnSpc>
                <a:spcPct val="105000"/>
              </a:lnSpc>
              <a:buNone/>
            </a:pPr>
            <a:r>
              <a:rPr lang="en-US" sz="680" b="1" dirty="0">
                <a:solidFill>
                  <a:srgbClr val="B06000"/>
                </a:solidFill>
                <a:latin typeface="Arial" pitchFamily="34" charset="0"/>
                <a:ea typeface="Arial" pitchFamily="34" charset="-122"/>
                <a:cs typeface="Arial" pitchFamily="34" charset="-120"/>
              </a:rPr>
              <a:t>TENANT ALPHA  •  SOVEREIGN TIER</a:t>
            </a:r>
            <a:endParaRPr lang="en-US" sz="680" dirty="0"/>
          </a:p>
        </p:txBody>
      </p:sp>
      <p:sp>
        <p:nvSpPr>
          <p:cNvPr id="27" name="Text 25"/>
          <p:cNvSpPr/>
          <p:nvPr/>
        </p:nvSpPr>
        <p:spPr>
          <a:xfrm>
            <a:off x="603504" y="1481328"/>
            <a:ext cx="3474720" cy="274320"/>
          </a:xfrm>
          <a:prstGeom prst="rect">
            <a:avLst/>
          </a:prstGeom>
          <a:noFill/>
          <a:ln/>
        </p:spPr>
        <p:txBody>
          <a:bodyPr wrap="square" lIns="0" tIns="0" rIns="0" bIns="0" rtlCol="0" anchor="ctr"/>
          <a:lstStyle/>
          <a:p>
            <a:pPr indent="0" marL="0">
              <a:lnSpc>
                <a:spcPct val="105000"/>
              </a:lnSpc>
              <a:buNone/>
            </a:pPr>
            <a:r>
              <a:rPr lang="en-US" sz="1500" b="1" dirty="0">
                <a:solidFill>
                  <a:srgbClr val="0F172A"/>
                </a:solidFill>
                <a:latin typeface="Arial" pitchFamily="34" charset="0"/>
                <a:ea typeface="Arial" pitchFamily="34" charset="-122"/>
                <a:cs typeface="Arial" pitchFamily="34" charset="-120"/>
              </a:rPr>
              <a:t>FinVault Bank</a:t>
            </a:r>
            <a:endParaRPr lang="en-US" sz="1500" dirty="0"/>
          </a:p>
        </p:txBody>
      </p:sp>
      <p:sp>
        <p:nvSpPr>
          <p:cNvPr id="28" name="Text 26"/>
          <p:cNvSpPr/>
          <p:nvPr/>
        </p:nvSpPr>
        <p:spPr>
          <a:xfrm>
            <a:off x="603504" y="1773936"/>
            <a:ext cx="3474720" cy="182880"/>
          </a:xfrm>
          <a:prstGeom prst="rect">
            <a:avLst/>
          </a:prstGeom>
          <a:noFill/>
          <a:ln/>
        </p:spPr>
        <p:txBody>
          <a:bodyPr wrap="square" lIns="0" tIns="0" rIns="0" bIns="0" rtlCol="0" anchor="ctr"/>
          <a:lstStyle/>
          <a:p>
            <a:pPr indent="0" marL="0">
              <a:lnSpc>
                <a:spcPct val="105000"/>
              </a:lnSpc>
              <a:buNone/>
            </a:pPr>
            <a:r>
              <a:rPr lang="en-US" sz="800" b="1" dirty="0">
                <a:solidFill>
                  <a:srgbClr val="B45309"/>
                </a:solidFill>
                <a:latin typeface="Arial" pitchFamily="34" charset="0"/>
                <a:ea typeface="Arial" pitchFamily="34" charset="-122"/>
                <a:cs typeface="Arial" pitchFamily="34" charset="-120"/>
              </a:rPr>
              <a:t>Global Tier-1 Investment Bank  •  OCC, GLBA &amp; FINRA Regulated</a:t>
            </a:r>
            <a:endParaRPr lang="en-US" sz="800" dirty="0"/>
          </a:p>
        </p:txBody>
      </p:sp>
      <p:sp>
        <p:nvSpPr>
          <p:cNvPr id="29" name="Shape 27"/>
          <p:cNvSpPr/>
          <p:nvPr/>
        </p:nvSpPr>
        <p:spPr>
          <a:xfrm>
            <a:off x="585216" y="2066544"/>
            <a:ext cx="3529584" cy="630936"/>
          </a:xfrm>
          <a:prstGeom prst="roundRect">
            <a:avLst>
              <a:gd name="adj" fmla="val 10145"/>
            </a:avLst>
          </a:prstGeom>
          <a:solidFill>
            <a:srgbClr val="FFFBEB"/>
          </a:solidFill>
          <a:ln w="10795">
            <a:solidFill>
              <a:srgbClr val="FDE68A"/>
            </a:solidFill>
            <a:prstDash val="solid"/>
          </a:ln>
        </p:spPr>
      </p:sp>
      <p:sp>
        <p:nvSpPr>
          <p:cNvPr id="30" name="Text 28"/>
          <p:cNvSpPr/>
          <p:nvPr/>
        </p:nvSpPr>
        <p:spPr>
          <a:xfrm>
            <a:off x="694944" y="2130552"/>
            <a:ext cx="3310128" cy="164592"/>
          </a:xfrm>
          <a:prstGeom prst="rect">
            <a:avLst/>
          </a:prstGeom>
          <a:noFill/>
          <a:ln/>
        </p:spPr>
        <p:txBody>
          <a:bodyPr wrap="square" lIns="0" tIns="0" rIns="0" bIns="0" rtlCol="0" anchor="ctr"/>
          <a:lstStyle/>
          <a:p>
            <a:pPr indent="0" marL="0">
              <a:lnSpc>
                <a:spcPct val="105000"/>
              </a:lnSpc>
              <a:buNone/>
            </a:pPr>
            <a:r>
              <a:rPr lang="en-US" sz="680" b="1" dirty="0">
                <a:solidFill>
                  <a:srgbClr val="B45309"/>
                </a:solidFill>
                <a:latin typeface="Arial" pitchFamily="34" charset="0"/>
                <a:ea typeface="Arial" pitchFamily="34" charset="-122"/>
                <a:cs typeface="Arial" pitchFamily="34" charset="-120"/>
              </a:rPr>
              <a:t>IDENTITY &amp; 3LO VAULT</a:t>
            </a:r>
            <a:endParaRPr lang="en-US" sz="680" dirty="0"/>
          </a:p>
        </p:txBody>
      </p:sp>
      <p:sp>
        <p:nvSpPr>
          <p:cNvPr id="31" name="Text 29"/>
          <p:cNvSpPr/>
          <p:nvPr/>
        </p:nvSpPr>
        <p:spPr>
          <a:xfrm>
            <a:off x="694944" y="2304288"/>
            <a:ext cx="3310128" cy="329184"/>
          </a:xfrm>
          <a:prstGeom prst="rect">
            <a:avLst/>
          </a:prstGeom>
          <a:noFill/>
          <a:ln/>
        </p:spPr>
        <p:txBody>
          <a:bodyPr wrap="square" lIns="0" tIns="0" rIns="0" bIns="0" rtlCol="0" anchor="ctr"/>
          <a:lstStyle/>
          <a:p>
            <a:pPr indent="0" marL="0">
              <a:lnSpc>
                <a:spcPct val="106000"/>
              </a:lnSpc>
              <a:buNone/>
            </a:pPr>
            <a:r>
              <a:rPr lang="en-US" sz="770" dirty="0">
                <a:solidFill>
                  <a:srgbClr val="0F172A"/>
                </a:solidFill>
                <a:latin typeface="Arial" pitchFamily="34" charset="0"/>
                <a:ea typeface="Arial" pitchFamily="34" charset="-122"/>
                <a:cs typeface="Arial" pitchFamily="34" charset="-120"/>
              </a:rPr>
              <a:t>Google Cloud OIDC + Hardware DPoP; Workspace &amp; Jira M&amp;A OAuth.</a:t>
            </a:r>
            <a:endParaRPr lang="en-US" sz="770" dirty="0"/>
          </a:p>
        </p:txBody>
      </p:sp>
      <p:sp>
        <p:nvSpPr>
          <p:cNvPr id="32" name="Shape 30"/>
          <p:cNvSpPr/>
          <p:nvPr/>
        </p:nvSpPr>
        <p:spPr>
          <a:xfrm>
            <a:off x="585216" y="2788920"/>
            <a:ext cx="3529584" cy="630936"/>
          </a:xfrm>
          <a:prstGeom prst="roundRect">
            <a:avLst>
              <a:gd name="adj" fmla="val 10145"/>
            </a:avLst>
          </a:prstGeom>
          <a:solidFill>
            <a:srgbClr val="FFFBEB"/>
          </a:solidFill>
          <a:ln w="10795">
            <a:solidFill>
              <a:srgbClr val="FDE68A"/>
            </a:solidFill>
            <a:prstDash val="solid"/>
          </a:ln>
        </p:spPr>
      </p:sp>
      <p:sp>
        <p:nvSpPr>
          <p:cNvPr id="33" name="Text 31"/>
          <p:cNvSpPr/>
          <p:nvPr/>
        </p:nvSpPr>
        <p:spPr>
          <a:xfrm>
            <a:off x="694944" y="2852928"/>
            <a:ext cx="3310128" cy="164592"/>
          </a:xfrm>
          <a:prstGeom prst="rect">
            <a:avLst/>
          </a:prstGeom>
          <a:noFill/>
          <a:ln/>
        </p:spPr>
        <p:txBody>
          <a:bodyPr wrap="square" lIns="0" tIns="0" rIns="0" bIns="0" rtlCol="0" anchor="ctr"/>
          <a:lstStyle/>
          <a:p>
            <a:pPr indent="0" marL="0">
              <a:lnSpc>
                <a:spcPct val="105000"/>
              </a:lnSpc>
              <a:buNone/>
            </a:pPr>
            <a:r>
              <a:rPr lang="en-US" sz="680" b="1" dirty="0">
                <a:solidFill>
                  <a:srgbClr val="B45309"/>
                </a:solidFill>
                <a:latin typeface="Arial" pitchFamily="34" charset="0"/>
                <a:ea typeface="Arial" pitchFamily="34" charset="-122"/>
                <a:cs typeface="Arial" pitchFamily="34" charset="-120"/>
              </a:rPr>
              <a:t>PRIVATE AGENT IP</a:t>
            </a:r>
            <a:endParaRPr lang="en-US" sz="680" dirty="0"/>
          </a:p>
        </p:txBody>
      </p:sp>
      <p:sp>
        <p:nvSpPr>
          <p:cNvPr id="34" name="Text 32"/>
          <p:cNvSpPr/>
          <p:nvPr/>
        </p:nvSpPr>
        <p:spPr>
          <a:xfrm>
            <a:off x="694944" y="3026664"/>
            <a:ext cx="3310128" cy="329184"/>
          </a:xfrm>
          <a:prstGeom prst="rect">
            <a:avLst/>
          </a:prstGeom>
          <a:noFill/>
          <a:ln/>
        </p:spPr>
        <p:txBody>
          <a:bodyPr wrap="square" lIns="0" tIns="0" rIns="0" bIns="0" rtlCol="0" anchor="ctr"/>
          <a:lstStyle/>
          <a:p>
            <a:pPr indent="0" marL="0">
              <a:lnSpc>
                <a:spcPct val="106000"/>
              </a:lnSpc>
              <a:buNone/>
            </a:pPr>
            <a:r>
              <a:rPr lang="en-US" sz="770" dirty="0">
                <a:solidFill>
                  <a:srgbClr val="0F172A"/>
                </a:solidFill>
                <a:latin typeface="Arial" pitchFamily="34" charset="0"/>
                <a:ea typeface="Arial" pitchFamily="34" charset="-122"/>
                <a:cs typeface="Arial" pitchFamily="34" charset="-120"/>
              </a:rPr>
              <a:t>Proprietary M&amp;A valuation "Agent Alpha"—even its schema is secret.</a:t>
            </a:r>
            <a:endParaRPr lang="en-US" sz="770" dirty="0"/>
          </a:p>
        </p:txBody>
      </p:sp>
      <p:sp>
        <p:nvSpPr>
          <p:cNvPr id="35" name="Shape 33"/>
          <p:cNvSpPr/>
          <p:nvPr/>
        </p:nvSpPr>
        <p:spPr>
          <a:xfrm>
            <a:off x="585216" y="3511296"/>
            <a:ext cx="3529584" cy="630936"/>
          </a:xfrm>
          <a:prstGeom prst="roundRect">
            <a:avLst>
              <a:gd name="adj" fmla="val 10145"/>
            </a:avLst>
          </a:prstGeom>
          <a:solidFill>
            <a:srgbClr val="FFFBEB"/>
          </a:solidFill>
          <a:ln w="10795">
            <a:solidFill>
              <a:srgbClr val="FDE68A"/>
            </a:solidFill>
            <a:prstDash val="solid"/>
          </a:ln>
        </p:spPr>
      </p:sp>
      <p:sp>
        <p:nvSpPr>
          <p:cNvPr id="36" name="Text 34"/>
          <p:cNvSpPr/>
          <p:nvPr/>
        </p:nvSpPr>
        <p:spPr>
          <a:xfrm>
            <a:off x="694944" y="3575304"/>
            <a:ext cx="3310128" cy="164592"/>
          </a:xfrm>
          <a:prstGeom prst="rect">
            <a:avLst/>
          </a:prstGeom>
          <a:noFill/>
          <a:ln/>
        </p:spPr>
        <p:txBody>
          <a:bodyPr wrap="square" lIns="0" tIns="0" rIns="0" bIns="0" rtlCol="0" anchor="ctr"/>
          <a:lstStyle/>
          <a:p>
            <a:pPr indent="0" marL="0">
              <a:lnSpc>
                <a:spcPct val="105000"/>
              </a:lnSpc>
              <a:buNone/>
            </a:pPr>
            <a:r>
              <a:rPr lang="en-US" sz="680" b="1" dirty="0">
                <a:solidFill>
                  <a:srgbClr val="B45309"/>
                </a:solidFill>
                <a:latin typeface="Arial" pitchFamily="34" charset="0"/>
                <a:ea typeface="Arial" pitchFamily="34" charset="-122"/>
                <a:cs typeface="Arial" pitchFamily="34" charset="-120"/>
              </a:rPr>
              <a:t>QUOTA &amp; REASONING SLA</a:t>
            </a:r>
            <a:endParaRPr lang="en-US" sz="680" dirty="0"/>
          </a:p>
        </p:txBody>
      </p:sp>
      <p:sp>
        <p:nvSpPr>
          <p:cNvPr id="37" name="Text 35"/>
          <p:cNvSpPr/>
          <p:nvPr/>
        </p:nvSpPr>
        <p:spPr>
          <a:xfrm>
            <a:off x="694944" y="3749040"/>
            <a:ext cx="3310128" cy="329184"/>
          </a:xfrm>
          <a:prstGeom prst="rect">
            <a:avLst/>
          </a:prstGeom>
          <a:noFill/>
          <a:ln/>
        </p:spPr>
        <p:txBody>
          <a:bodyPr wrap="square" lIns="0" tIns="0" rIns="0" bIns="0" rtlCol="0" anchor="ctr"/>
          <a:lstStyle/>
          <a:p>
            <a:pPr indent="0" marL="0">
              <a:lnSpc>
                <a:spcPct val="106000"/>
              </a:lnSpc>
              <a:buNone/>
            </a:pPr>
            <a:r>
              <a:rPr lang="en-US" sz="770" dirty="0">
                <a:solidFill>
                  <a:srgbClr val="0F172A"/>
                </a:solidFill>
                <a:latin typeface="Arial" pitchFamily="34" charset="0"/>
                <a:ea typeface="Arial" pitchFamily="34" charset="-122"/>
                <a:cs typeface="Arial" pitchFamily="34" charset="-120"/>
              </a:rPr>
              <a:t>600 RPM guaranteed burst + deep 8,192-token thinking budget.</a:t>
            </a:r>
            <a:endParaRPr lang="en-US" sz="770" dirty="0"/>
          </a:p>
        </p:txBody>
      </p:sp>
      <p:sp>
        <p:nvSpPr>
          <p:cNvPr id="38" name="Shape 36"/>
          <p:cNvSpPr/>
          <p:nvPr/>
        </p:nvSpPr>
        <p:spPr>
          <a:xfrm>
            <a:off x="585216" y="4233672"/>
            <a:ext cx="3529584" cy="630936"/>
          </a:xfrm>
          <a:prstGeom prst="roundRect">
            <a:avLst>
              <a:gd name="adj" fmla="val 10145"/>
            </a:avLst>
          </a:prstGeom>
          <a:solidFill>
            <a:srgbClr val="FFFBEB"/>
          </a:solidFill>
          <a:ln w="10795">
            <a:solidFill>
              <a:srgbClr val="FDE68A"/>
            </a:solidFill>
            <a:prstDash val="solid"/>
          </a:ln>
        </p:spPr>
      </p:sp>
      <p:sp>
        <p:nvSpPr>
          <p:cNvPr id="39" name="Text 37"/>
          <p:cNvSpPr/>
          <p:nvPr/>
        </p:nvSpPr>
        <p:spPr>
          <a:xfrm>
            <a:off x="694944" y="4297680"/>
            <a:ext cx="3310128" cy="164592"/>
          </a:xfrm>
          <a:prstGeom prst="rect">
            <a:avLst/>
          </a:prstGeom>
          <a:noFill/>
          <a:ln/>
        </p:spPr>
        <p:txBody>
          <a:bodyPr wrap="square" lIns="0" tIns="0" rIns="0" bIns="0" rtlCol="0" anchor="ctr"/>
          <a:lstStyle/>
          <a:p>
            <a:pPr indent="0" marL="0">
              <a:lnSpc>
                <a:spcPct val="105000"/>
              </a:lnSpc>
              <a:buNone/>
            </a:pPr>
            <a:r>
              <a:rPr lang="en-US" sz="680" b="1" dirty="0">
                <a:solidFill>
                  <a:srgbClr val="B45309"/>
                </a:solidFill>
                <a:latin typeface="Arial" pitchFamily="34" charset="0"/>
                <a:ea typeface="Arial" pitchFamily="34" charset="-122"/>
                <a:cs typeface="Arial" pitchFamily="34" charset="-120"/>
              </a:rPr>
              <a:t>DATA &amp; RESIDENCY GATE</a:t>
            </a:r>
            <a:endParaRPr lang="en-US" sz="680" dirty="0"/>
          </a:p>
        </p:txBody>
      </p:sp>
      <p:sp>
        <p:nvSpPr>
          <p:cNvPr id="40" name="Text 38"/>
          <p:cNvSpPr/>
          <p:nvPr/>
        </p:nvSpPr>
        <p:spPr>
          <a:xfrm>
            <a:off x="694944" y="4471416"/>
            <a:ext cx="3310128" cy="329184"/>
          </a:xfrm>
          <a:prstGeom prst="rect">
            <a:avLst/>
          </a:prstGeom>
          <a:noFill/>
          <a:ln/>
        </p:spPr>
        <p:txBody>
          <a:bodyPr wrap="square" lIns="0" tIns="0" rIns="0" bIns="0" rtlCol="0" anchor="ctr"/>
          <a:lstStyle/>
          <a:p>
            <a:pPr indent="0" marL="0">
              <a:lnSpc>
                <a:spcPct val="106000"/>
              </a:lnSpc>
              <a:buNone/>
            </a:pPr>
            <a:r>
              <a:rPr lang="en-US" sz="770" dirty="0">
                <a:solidFill>
                  <a:srgbClr val="0F172A"/>
                </a:solidFill>
                <a:latin typeface="Arial" pitchFamily="34" charset="0"/>
                <a:ea typeface="Arial" pitchFamily="34" charset="-122"/>
                <a:cs typeface="Arial" pitchFamily="34" charset="-120"/>
              </a:rPr>
              <a:t>Strict US-only VPC-SC; deterministic SSN/account DLP blocking.</a:t>
            </a:r>
            <a:endParaRPr lang="en-US" sz="770" dirty="0"/>
          </a:p>
        </p:txBody>
      </p:sp>
      <p:sp>
        <p:nvSpPr>
          <p:cNvPr id="41" name="Shape 39"/>
          <p:cNvSpPr/>
          <p:nvPr/>
        </p:nvSpPr>
        <p:spPr>
          <a:xfrm>
            <a:off x="585216" y="4956048"/>
            <a:ext cx="3529584" cy="630936"/>
          </a:xfrm>
          <a:prstGeom prst="roundRect">
            <a:avLst>
              <a:gd name="adj" fmla="val 10145"/>
            </a:avLst>
          </a:prstGeom>
          <a:solidFill>
            <a:srgbClr val="FFFBEB"/>
          </a:solidFill>
          <a:ln w="10795">
            <a:solidFill>
              <a:srgbClr val="FDE68A"/>
            </a:solidFill>
            <a:prstDash val="solid"/>
          </a:ln>
        </p:spPr>
      </p:sp>
      <p:sp>
        <p:nvSpPr>
          <p:cNvPr id="42" name="Text 40"/>
          <p:cNvSpPr/>
          <p:nvPr/>
        </p:nvSpPr>
        <p:spPr>
          <a:xfrm>
            <a:off x="694944" y="5020056"/>
            <a:ext cx="3310128" cy="164592"/>
          </a:xfrm>
          <a:prstGeom prst="rect">
            <a:avLst/>
          </a:prstGeom>
          <a:noFill/>
          <a:ln/>
        </p:spPr>
        <p:txBody>
          <a:bodyPr wrap="square" lIns="0" tIns="0" rIns="0" bIns="0" rtlCol="0" anchor="ctr"/>
          <a:lstStyle/>
          <a:p>
            <a:pPr indent="0" marL="0">
              <a:lnSpc>
                <a:spcPct val="105000"/>
              </a:lnSpc>
              <a:buNone/>
            </a:pPr>
            <a:r>
              <a:rPr lang="en-US" sz="680" b="1" dirty="0">
                <a:solidFill>
                  <a:srgbClr val="B45309"/>
                </a:solidFill>
                <a:latin typeface="Arial" pitchFamily="34" charset="0"/>
                <a:ea typeface="Arial" pitchFamily="34" charset="-122"/>
                <a:cs typeface="Arial" pitchFamily="34" charset="-120"/>
              </a:rPr>
              <a:t>REVOCATION NON-NEGOTIABLE</a:t>
            </a:r>
            <a:endParaRPr lang="en-US" sz="680" dirty="0"/>
          </a:p>
        </p:txBody>
      </p:sp>
      <p:sp>
        <p:nvSpPr>
          <p:cNvPr id="43" name="Text 41"/>
          <p:cNvSpPr/>
          <p:nvPr/>
        </p:nvSpPr>
        <p:spPr>
          <a:xfrm>
            <a:off x="694944" y="5193792"/>
            <a:ext cx="3310128" cy="329184"/>
          </a:xfrm>
          <a:prstGeom prst="rect">
            <a:avLst/>
          </a:prstGeom>
          <a:noFill/>
          <a:ln/>
        </p:spPr>
        <p:txBody>
          <a:bodyPr wrap="square" lIns="0" tIns="0" rIns="0" bIns="0" rtlCol="0" anchor="ctr"/>
          <a:lstStyle/>
          <a:p>
            <a:pPr indent="0" marL="0">
              <a:lnSpc>
                <a:spcPct val="106000"/>
              </a:lnSpc>
              <a:buNone/>
            </a:pPr>
            <a:r>
              <a:rPr lang="en-US" sz="770" dirty="0">
                <a:solidFill>
                  <a:srgbClr val="0F172A"/>
                </a:solidFill>
                <a:latin typeface="Arial" pitchFamily="34" charset="0"/>
                <a:ea typeface="Arial" pitchFamily="34" charset="-122"/>
                <a:cs typeface="Arial" pitchFamily="34" charset="-120"/>
              </a:rPr>
              <a:t>Customer-held Cloud KMS CMEK with &lt;60s HTTP 423 kill-switch.</a:t>
            </a:r>
            <a:endParaRPr lang="en-US" sz="770" dirty="0"/>
          </a:p>
        </p:txBody>
      </p:sp>
      <p:sp>
        <p:nvSpPr>
          <p:cNvPr id="44" name="Shape 42"/>
          <p:cNvSpPr/>
          <p:nvPr/>
        </p:nvSpPr>
        <p:spPr>
          <a:xfrm>
            <a:off x="7950708" y="1068019"/>
            <a:ext cx="3822192" cy="4754880"/>
          </a:xfrm>
          <a:prstGeom prst="roundRect">
            <a:avLst>
              <a:gd name="adj" fmla="val 1675"/>
            </a:avLst>
          </a:prstGeom>
          <a:solidFill>
            <a:srgbClr val="E2E8F0"/>
          </a:solidFill>
          <a:ln/>
        </p:spPr>
      </p:sp>
      <p:sp>
        <p:nvSpPr>
          <p:cNvPr id="45" name="Shape 43"/>
          <p:cNvSpPr/>
          <p:nvPr/>
        </p:nvSpPr>
        <p:spPr>
          <a:xfrm>
            <a:off x="7927848" y="1042416"/>
            <a:ext cx="3822192" cy="4754880"/>
          </a:xfrm>
          <a:prstGeom prst="roundRect">
            <a:avLst>
              <a:gd name="adj" fmla="val 1675"/>
            </a:avLst>
          </a:prstGeom>
          <a:solidFill>
            <a:srgbClr val="FFFFFF"/>
          </a:solidFill>
          <a:ln w="10795">
            <a:solidFill>
              <a:srgbClr val="FECACA"/>
            </a:solidFill>
            <a:prstDash val="solid"/>
          </a:ln>
        </p:spPr>
      </p:sp>
      <p:sp>
        <p:nvSpPr>
          <p:cNvPr id="46" name="Shape 44"/>
          <p:cNvSpPr/>
          <p:nvPr/>
        </p:nvSpPr>
        <p:spPr>
          <a:xfrm>
            <a:off x="7927848" y="1042416"/>
            <a:ext cx="3822192" cy="50292"/>
          </a:xfrm>
          <a:prstGeom prst="roundRect">
            <a:avLst>
              <a:gd name="adj" fmla="val 36364"/>
            </a:avLst>
          </a:prstGeom>
          <a:solidFill>
            <a:srgbClr val="2563EB"/>
          </a:solidFill>
          <a:ln/>
        </p:spPr>
      </p:sp>
      <p:sp>
        <p:nvSpPr>
          <p:cNvPr id="47" name="Shape 45"/>
          <p:cNvSpPr/>
          <p:nvPr/>
        </p:nvSpPr>
        <p:spPr>
          <a:xfrm>
            <a:off x="8092440" y="1188720"/>
            <a:ext cx="2240280" cy="219456"/>
          </a:xfrm>
          <a:prstGeom prst="roundRect">
            <a:avLst>
              <a:gd name="adj" fmla="val 33333"/>
            </a:avLst>
          </a:prstGeom>
          <a:solidFill>
            <a:srgbClr val="EFF6FF"/>
          </a:solidFill>
          <a:ln/>
        </p:spPr>
      </p:sp>
      <p:sp>
        <p:nvSpPr>
          <p:cNvPr id="48" name="Text 46"/>
          <p:cNvSpPr/>
          <p:nvPr/>
        </p:nvSpPr>
        <p:spPr>
          <a:xfrm>
            <a:off x="8092440" y="1188720"/>
            <a:ext cx="2240280" cy="219456"/>
          </a:xfrm>
          <a:prstGeom prst="rect">
            <a:avLst/>
          </a:prstGeom>
          <a:noFill/>
          <a:ln/>
        </p:spPr>
        <p:txBody>
          <a:bodyPr wrap="square" lIns="0" tIns="0" rIns="0" bIns="0" rtlCol="0" anchor="ctr"/>
          <a:lstStyle/>
          <a:p>
            <a:pPr algn="ctr" indent="0" marL="0">
              <a:lnSpc>
                <a:spcPct val="105000"/>
              </a:lnSpc>
              <a:buNone/>
            </a:pPr>
            <a:r>
              <a:rPr lang="en-US" sz="680" b="1" dirty="0">
                <a:solidFill>
                  <a:srgbClr val="1D4ED8"/>
                </a:solidFill>
                <a:latin typeface="Arial" pitchFamily="34" charset="0"/>
                <a:ea typeface="Arial" pitchFamily="34" charset="-122"/>
                <a:cs typeface="Arial" pitchFamily="34" charset="-120"/>
              </a:rPr>
              <a:t>TENANT BETA  •  COMMERCIAL TIER</a:t>
            </a:r>
            <a:endParaRPr lang="en-US" sz="680" dirty="0"/>
          </a:p>
        </p:txBody>
      </p:sp>
      <p:sp>
        <p:nvSpPr>
          <p:cNvPr id="49" name="Text 47"/>
          <p:cNvSpPr/>
          <p:nvPr/>
        </p:nvSpPr>
        <p:spPr>
          <a:xfrm>
            <a:off x="8092440" y="1481328"/>
            <a:ext cx="3474720" cy="274320"/>
          </a:xfrm>
          <a:prstGeom prst="rect">
            <a:avLst/>
          </a:prstGeom>
          <a:noFill/>
          <a:ln/>
        </p:spPr>
        <p:txBody>
          <a:bodyPr wrap="square" lIns="0" tIns="0" rIns="0" bIns="0" rtlCol="0" anchor="ctr"/>
          <a:lstStyle/>
          <a:p>
            <a:pPr indent="0" marL="0">
              <a:lnSpc>
                <a:spcPct val="105000"/>
              </a:lnSpc>
              <a:buNone/>
            </a:pPr>
            <a:r>
              <a:rPr lang="en-US" sz="1500" b="1" dirty="0">
                <a:solidFill>
                  <a:srgbClr val="0F172A"/>
                </a:solidFill>
                <a:latin typeface="Arial" pitchFamily="34" charset="0"/>
                <a:ea typeface="Arial" pitchFamily="34" charset="-122"/>
                <a:cs typeface="Arial" pitchFamily="34" charset="-120"/>
              </a:rPr>
              <a:t>RetailStream Corp</a:t>
            </a:r>
            <a:endParaRPr lang="en-US" sz="1500" dirty="0"/>
          </a:p>
        </p:txBody>
      </p:sp>
      <p:sp>
        <p:nvSpPr>
          <p:cNvPr id="50" name="Text 48"/>
          <p:cNvSpPr/>
          <p:nvPr/>
        </p:nvSpPr>
        <p:spPr>
          <a:xfrm>
            <a:off x="8092440" y="1773936"/>
            <a:ext cx="3474720" cy="182880"/>
          </a:xfrm>
          <a:prstGeom prst="rect">
            <a:avLst/>
          </a:prstGeom>
          <a:noFill/>
          <a:ln/>
        </p:spPr>
        <p:txBody>
          <a:bodyPr wrap="square" lIns="0" tIns="0" rIns="0" bIns="0" rtlCol="0" anchor="ctr"/>
          <a:lstStyle/>
          <a:p>
            <a:pPr indent="0" marL="0">
              <a:lnSpc>
                <a:spcPct val="105000"/>
              </a:lnSpc>
              <a:buNone/>
            </a:pPr>
            <a:r>
              <a:rPr lang="en-US" sz="800" b="1" dirty="0">
                <a:solidFill>
                  <a:srgbClr val="1D4ED8"/>
                </a:solidFill>
                <a:latin typeface="Arial" pitchFamily="34" charset="0"/>
                <a:ea typeface="Arial" pitchFamily="34" charset="-122"/>
                <a:cs typeface="Arial" pitchFamily="34" charset="-120"/>
              </a:rPr>
              <a:t>Omnichannel E-Commerce Leader  •  PCI-DSS &amp; Cost-Sensitive SaaS</a:t>
            </a:r>
            <a:endParaRPr lang="en-US" sz="800" dirty="0"/>
          </a:p>
        </p:txBody>
      </p:sp>
      <p:sp>
        <p:nvSpPr>
          <p:cNvPr id="51" name="Shape 49"/>
          <p:cNvSpPr/>
          <p:nvPr/>
        </p:nvSpPr>
        <p:spPr>
          <a:xfrm>
            <a:off x="8074152" y="2066544"/>
            <a:ext cx="3529584" cy="630936"/>
          </a:xfrm>
          <a:prstGeom prst="roundRect">
            <a:avLst>
              <a:gd name="adj" fmla="val 10145"/>
            </a:avLst>
          </a:prstGeom>
          <a:solidFill>
            <a:srgbClr val="EFF6FF"/>
          </a:solidFill>
          <a:ln w="10795">
            <a:solidFill>
              <a:srgbClr val="BFDBFE"/>
            </a:solidFill>
            <a:prstDash val="solid"/>
          </a:ln>
        </p:spPr>
      </p:sp>
      <p:sp>
        <p:nvSpPr>
          <p:cNvPr id="52" name="Text 50"/>
          <p:cNvSpPr/>
          <p:nvPr/>
        </p:nvSpPr>
        <p:spPr>
          <a:xfrm>
            <a:off x="8183880" y="2130552"/>
            <a:ext cx="3310128" cy="164592"/>
          </a:xfrm>
          <a:prstGeom prst="rect">
            <a:avLst/>
          </a:prstGeom>
          <a:noFill/>
          <a:ln/>
        </p:spPr>
        <p:txBody>
          <a:bodyPr wrap="square" lIns="0" tIns="0" rIns="0" bIns="0" rtlCol="0" anchor="ctr"/>
          <a:lstStyle/>
          <a:p>
            <a:pPr indent="0" marL="0">
              <a:lnSpc>
                <a:spcPct val="105000"/>
              </a:lnSpc>
              <a:buNone/>
            </a:pPr>
            <a:r>
              <a:rPr lang="en-US" sz="680" b="1" dirty="0">
                <a:solidFill>
                  <a:srgbClr val="1D4ED8"/>
                </a:solidFill>
                <a:latin typeface="Arial" pitchFamily="34" charset="0"/>
                <a:ea typeface="Arial" pitchFamily="34" charset="-122"/>
                <a:cs typeface="Arial" pitchFamily="34" charset="-120"/>
              </a:rPr>
              <a:t>IDENTITY &amp; 3LO VAULT</a:t>
            </a:r>
            <a:endParaRPr lang="en-US" sz="680" dirty="0"/>
          </a:p>
        </p:txBody>
      </p:sp>
      <p:sp>
        <p:nvSpPr>
          <p:cNvPr id="53" name="Text 51"/>
          <p:cNvSpPr/>
          <p:nvPr/>
        </p:nvSpPr>
        <p:spPr>
          <a:xfrm>
            <a:off x="8183880" y="2304288"/>
            <a:ext cx="3310128" cy="329184"/>
          </a:xfrm>
          <a:prstGeom prst="rect">
            <a:avLst/>
          </a:prstGeom>
          <a:noFill/>
          <a:ln/>
        </p:spPr>
        <p:txBody>
          <a:bodyPr wrap="square" lIns="0" tIns="0" rIns="0" bIns="0" rtlCol="0" anchor="ctr"/>
          <a:lstStyle/>
          <a:p>
            <a:pPr indent="0" marL="0">
              <a:lnSpc>
                <a:spcPct val="106000"/>
              </a:lnSpc>
              <a:buNone/>
            </a:pPr>
            <a:r>
              <a:rPr lang="en-US" sz="770" dirty="0">
                <a:solidFill>
                  <a:srgbClr val="0F172A"/>
                </a:solidFill>
                <a:latin typeface="Arial" pitchFamily="34" charset="0"/>
                <a:ea typeface="Arial" pitchFamily="34" charset="-122"/>
                <a:cs typeface="Arial" pitchFamily="34" charset="-120"/>
              </a:rPr>
              <a:t>External Microsoft Entra ID + SharePoint &amp; ServiceNow 3LO OAuth.</a:t>
            </a:r>
            <a:endParaRPr lang="en-US" sz="770" dirty="0"/>
          </a:p>
        </p:txBody>
      </p:sp>
      <p:sp>
        <p:nvSpPr>
          <p:cNvPr id="54" name="Shape 52"/>
          <p:cNvSpPr/>
          <p:nvPr/>
        </p:nvSpPr>
        <p:spPr>
          <a:xfrm>
            <a:off x="8074152" y="2788920"/>
            <a:ext cx="3529584" cy="630936"/>
          </a:xfrm>
          <a:prstGeom prst="roundRect">
            <a:avLst>
              <a:gd name="adj" fmla="val 10145"/>
            </a:avLst>
          </a:prstGeom>
          <a:solidFill>
            <a:srgbClr val="EFF6FF"/>
          </a:solidFill>
          <a:ln w="10795">
            <a:solidFill>
              <a:srgbClr val="BFDBFE"/>
            </a:solidFill>
            <a:prstDash val="solid"/>
          </a:ln>
        </p:spPr>
      </p:sp>
      <p:sp>
        <p:nvSpPr>
          <p:cNvPr id="55" name="Text 53"/>
          <p:cNvSpPr/>
          <p:nvPr/>
        </p:nvSpPr>
        <p:spPr>
          <a:xfrm>
            <a:off x="8183880" y="2852928"/>
            <a:ext cx="3310128" cy="164592"/>
          </a:xfrm>
          <a:prstGeom prst="rect">
            <a:avLst/>
          </a:prstGeom>
          <a:noFill/>
          <a:ln/>
        </p:spPr>
        <p:txBody>
          <a:bodyPr wrap="square" lIns="0" tIns="0" rIns="0" bIns="0" rtlCol="0" anchor="ctr"/>
          <a:lstStyle/>
          <a:p>
            <a:pPr indent="0" marL="0">
              <a:lnSpc>
                <a:spcPct val="105000"/>
              </a:lnSpc>
              <a:buNone/>
            </a:pPr>
            <a:r>
              <a:rPr lang="en-US" sz="680" b="1" dirty="0">
                <a:solidFill>
                  <a:srgbClr val="1D4ED8"/>
                </a:solidFill>
                <a:latin typeface="Arial" pitchFamily="34" charset="0"/>
                <a:ea typeface="Arial" pitchFamily="34" charset="-122"/>
                <a:cs typeface="Arial" pitchFamily="34" charset="-120"/>
              </a:rPr>
              <a:t>SHARED AGENT CATALOG</a:t>
            </a:r>
            <a:endParaRPr lang="en-US" sz="680" dirty="0"/>
          </a:p>
        </p:txBody>
      </p:sp>
      <p:sp>
        <p:nvSpPr>
          <p:cNvPr id="56" name="Text 54"/>
          <p:cNvSpPr/>
          <p:nvPr/>
        </p:nvSpPr>
        <p:spPr>
          <a:xfrm>
            <a:off x="8183880" y="3026664"/>
            <a:ext cx="3310128" cy="329184"/>
          </a:xfrm>
          <a:prstGeom prst="rect">
            <a:avLst/>
          </a:prstGeom>
          <a:noFill/>
          <a:ln/>
        </p:spPr>
        <p:txBody>
          <a:bodyPr wrap="square" lIns="0" tIns="0" rIns="0" bIns="0" rtlCol="0" anchor="ctr"/>
          <a:lstStyle/>
          <a:p>
            <a:pPr indent="0" marL="0">
              <a:lnSpc>
                <a:spcPct val="106000"/>
              </a:lnSpc>
              <a:buNone/>
            </a:pPr>
            <a:r>
              <a:rPr lang="en-US" sz="770" dirty="0">
                <a:solidFill>
                  <a:srgbClr val="0F172A"/>
                </a:solidFill>
                <a:latin typeface="Arial" pitchFamily="34" charset="0"/>
                <a:ea typeface="Arial" pitchFamily="34" charset="-122"/>
                <a:cs typeface="Arial" pitchFamily="34" charset="-120"/>
              </a:rPr>
              <a:t>Standard Cymbal Diagnostic &amp; Order Triage agents only (no Alpha).</a:t>
            </a:r>
            <a:endParaRPr lang="en-US" sz="770" dirty="0"/>
          </a:p>
        </p:txBody>
      </p:sp>
      <p:sp>
        <p:nvSpPr>
          <p:cNvPr id="57" name="Shape 55"/>
          <p:cNvSpPr/>
          <p:nvPr/>
        </p:nvSpPr>
        <p:spPr>
          <a:xfrm>
            <a:off x="8074152" y="3511296"/>
            <a:ext cx="3529584" cy="630936"/>
          </a:xfrm>
          <a:prstGeom prst="roundRect">
            <a:avLst>
              <a:gd name="adj" fmla="val 10145"/>
            </a:avLst>
          </a:prstGeom>
          <a:solidFill>
            <a:srgbClr val="EFF6FF"/>
          </a:solidFill>
          <a:ln w="10795">
            <a:solidFill>
              <a:srgbClr val="BFDBFE"/>
            </a:solidFill>
            <a:prstDash val="solid"/>
          </a:ln>
        </p:spPr>
      </p:sp>
      <p:sp>
        <p:nvSpPr>
          <p:cNvPr id="58" name="Text 56"/>
          <p:cNvSpPr/>
          <p:nvPr/>
        </p:nvSpPr>
        <p:spPr>
          <a:xfrm>
            <a:off x="8183880" y="3575304"/>
            <a:ext cx="3310128" cy="164592"/>
          </a:xfrm>
          <a:prstGeom prst="rect">
            <a:avLst/>
          </a:prstGeom>
          <a:noFill/>
          <a:ln/>
        </p:spPr>
        <p:txBody>
          <a:bodyPr wrap="square" lIns="0" tIns="0" rIns="0" bIns="0" rtlCol="0" anchor="ctr"/>
          <a:lstStyle/>
          <a:p>
            <a:pPr indent="0" marL="0">
              <a:lnSpc>
                <a:spcPct val="105000"/>
              </a:lnSpc>
              <a:buNone/>
            </a:pPr>
            <a:r>
              <a:rPr lang="en-US" sz="680" b="1" dirty="0">
                <a:solidFill>
                  <a:srgbClr val="1D4ED8"/>
                </a:solidFill>
                <a:latin typeface="Arial" pitchFamily="34" charset="0"/>
                <a:ea typeface="Arial" pitchFamily="34" charset="-122"/>
                <a:cs typeface="Arial" pitchFamily="34" charset="-120"/>
              </a:rPr>
              <a:t>QUOTA &amp; REASONING CAP</a:t>
            </a:r>
            <a:endParaRPr lang="en-US" sz="680" dirty="0"/>
          </a:p>
        </p:txBody>
      </p:sp>
      <p:sp>
        <p:nvSpPr>
          <p:cNvPr id="59" name="Text 57"/>
          <p:cNvSpPr/>
          <p:nvPr/>
        </p:nvSpPr>
        <p:spPr>
          <a:xfrm>
            <a:off x="8183880" y="3749040"/>
            <a:ext cx="3310128" cy="329184"/>
          </a:xfrm>
          <a:prstGeom prst="rect">
            <a:avLst/>
          </a:prstGeom>
          <a:noFill/>
          <a:ln/>
        </p:spPr>
        <p:txBody>
          <a:bodyPr wrap="square" lIns="0" tIns="0" rIns="0" bIns="0" rtlCol="0" anchor="ctr"/>
          <a:lstStyle/>
          <a:p>
            <a:pPr indent="0" marL="0">
              <a:lnSpc>
                <a:spcPct val="106000"/>
              </a:lnSpc>
              <a:buNone/>
            </a:pPr>
            <a:r>
              <a:rPr lang="en-US" sz="770" dirty="0">
                <a:solidFill>
                  <a:srgbClr val="0F172A"/>
                </a:solidFill>
                <a:latin typeface="Arial" pitchFamily="34" charset="0"/>
                <a:ea typeface="Arial" pitchFamily="34" charset="-122"/>
                <a:cs typeface="Arial" pitchFamily="34" charset="-120"/>
              </a:rPr>
              <a:t>120 RPM fair-share bucket + capped 4,096-token thinking limit.</a:t>
            </a:r>
            <a:endParaRPr lang="en-US" sz="770" dirty="0"/>
          </a:p>
        </p:txBody>
      </p:sp>
      <p:sp>
        <p:nvSpPr>
          <p:cNvPr id="60" name="Shape 58"/>
          <p:cNvSpPr/>
          <p:nvPr/>
        </p:nvSpPr>
        <p:spPr>
          <a:xfrm>
            <a:off x="8074152" y="4233672"/>
            <a:ext cx="3529584" cy="630936"/>
          </a:xfrm>
          <a:prstGeom prst="roundRect">
            <a:avLst>
              <a:gd name="adj" fmla="val 10145"/>
            </a:avLst>
          </a:prstGeom>
          <a:solidFill>
            <a:srgbClr val="EFF6FF"/>
          </a:solidFill>
          <a:ln w="10795">
            <a:solidFill>
              <a:srgbClr val="BFDBFE"/>
            </a:solidFill>
            <a:prstDash val="solid"/>
          </a:ln>
        </p:spPr>
      </p:sp>
      <p:sp>
        <p:nvSpPr>
          <p:cNvPr id="61" name="Text 59"/>
          <p:cNvSpPr/>
          <p:nvPr/>
        </p:nvSpPr>
        <p:spPr>
          <a:xfrm>
            <a:off x="8183880" y="4297680"/>
            <a:ext cx="3310128" cy="164592"/>
          </a:xfrm>
          <a:prstGeom prst="rect">
            <a:avLst/>
          </a:prstGeom>
          <a:noFill/>
          <a:ln/>
        </p:spPr>
        <p:txBody>
          <a:bodyPr wrap="square" lIns="0" tIns="0" rIns="0" bIns="0" rtlCol="0" anchor="ctr"/>
          <a:lstStyle/>
          <a:p>
            <a:pPr indent="0" marL="0">
              <a:lnSpc>
                <a:spcPct val="105000"/>
              </a:lnSpc>
              <a:buNone/>
            </a:pPr>
            <a:r>
              <a:rPr lang="en-US" sz="680" b="1" dirty="0">
                <a:solidFill>
                  <a:srgbClr val="1D4ED8"/>
                </a:solidFill>
                <a:latin typeface="Arial" pitchFamily="34" charset="0"/>
                <a:ea typeface="Arial" pitchFamily="34" charset="-122"/>
                <a:cs typeface="Arial" pitchFamily="34" charset="-120"/>
              </a:rPr>
              <a:t>DATA &amp; LATENCY NEED</a:t>
            </a:r>
            <a:endParaRPr lang="en-US" sz="680" dirty="0"/>
          </a:p>
        </p:txBody>
      </p:sp>
      <p:sp>
        <p:nvSpPr>
          <p:cNvPr id="62" name="Text 60"/>
          <p:cNvSpPr/>
          <p:nvPr/>
        </p:nvSpPr>
        <p:spPr>
          <a:xfrm>
            <a:off x="8183880" y="4471416"/>
            <a:ext cx="3310128" cy="329184"/>
          </a:xfrm>
          <a:prstGeom prst="rect">
            <a:avLst/>
          </a:prstGeom>
          <a:noFill/>
          <a:ln/>
        </p:spPr>
        <p:txBody>
          <a:bodyPr wrap="square" lIns="0" tIns="0" rIns="0" bIns="0" rtlCol="0" anchor="ctr"/>
          <a:lstStyle/>
          <a:p>
            <a:pPr indent="0" marL="0">
              <a:lnSpc>
                <a:spcPct val="106000"/>
              </a:lnSpc>
              <a:buNone/>
            </a:pPr>
            <a:r>
              <a:rPr lang="en-US" sz="770" dirty="0">
                <a:solidFill>
                  <a:srgbClr val="0F172A"/>
                </a:solidFill>
                <a:latin typeface="Arial" pitchFamily="34" charset="0"/>
                <a:ea typeface="Arial" pitchFamily="34" charset="-122"/>
                <a:cs typeface="Arial" pitchFamily="34" charset="-120"/>
              </a:rPr>
              <a:t>PCI PAN masking; sub-second warm TTFT via 90% shared prefix cache.</a:t>
            </a:r>
            <a:endParaRPr lang="en-US" sz="770" dirty="0"/>
          </a:p>
        </p:txBody>
      </p:sp>
      <p:sp>
        <p:nvSpPr>
          <p:cNvPr id="63" name="Shape 61"/>
          <p:cNvSpPr/>
          <p:nvPr/>
        </p:nvSpPr>
        <p:spPr>
          <a:xfrm>
            <a:off x="8074152" y="4956048"/>
            <a:ext cx="3529584" cy="630936"/>
          </a:xfrm>
          <a:prstGeom prst="roundRect">
            <a:avLst>
              <a:gd name="adj" fmla="val 10145"/>
            </a:avLst>
          </a:prstGeom>
          <a:solidFill>
            <a:srgbClr val="EFF6FF"/>
          </a:solidFill>
          <a:ln w="10795">
            <a:solidFill>
              <a:srgbClr val="BFDBFE"/>
            </a:solidFill>
            <a:prstDash val="solid"/>
          </a:ln>
        </p:spPr>
      </p:sp>
      <p:sp>
        <p:nvSpPr>
          <p:cNvPr id="64" name="Text 62"/>
          <p:cNvSpPr/>
          <p:nvPr/>
        </p:nvSpPr>
        <p:spPr>
          <a:xfrm>
            <a:off x="8183880" y="5020056"/>
            <a:ext cx="3310128" cy="164592"/>
          </a:xfrm>
          <a:prstGeom prst="rect">
            <a:avLst/>
          </a:prstGeom>
          <a:noFill/>
          <a:ln/>
        </p:spPr>
        <p:txBody>
          <a:bodyPr wrap="square" lIns="0" tIns="0" rIns="0" bIns="0" rtlCol="0" anchor="ctr"/>
          <a:lstStyle/>
          <a:p>
            <a:pPr indent="0" marL="0">
              <a:lnSpc>
                <a:spcPct val="105000"/>
              </a:lnSpc>
              <a:buNone/>
            </a:pPr>
            <a:r>
              <a:rPr lang="en-US" sz="680" b="1" dirty="0">
                <a:solidFill>
                  <a:srgbClr val="1D4ED8"/>
                </a:solidFill>
                <a:latin typeface="Arial" pitchFamily="34" charset="0"/>
                <a:ea typeface="Arial" pitchFamily="34" charset="-122"/>
                <a:cs typeface="Arial" pitchFamily="34" charset="-120"/>
              </a:rPr>
              <a:t>COMMERCIAL UNIT PRICE</a:t>
            </a:r>
            <a:endParaRPr lang="en-US" sz="680" dirty="0"/>
          </a:p>
        </p:txBody>
      </p:sp>
      <p:sp>
        <p:nvSpPr>
          <p:cNvPr id="65" name="Text 63"/>
          <p:cNvSpPr/>
          <p:nvPr/>
        </p:nvSpPr>
        <p:spPr>
          <a:xfrm>
            <a:off x="8183880" y="5193792"/>
            <a:ext cx="3310128" cy="329184"/>
          </a:xfrm>
          <a:prstGeom prst="rect">
            <a:avLst/>
          </a:prstGeom>
          <a:noFill/>
          <a:ln/>
        </p:spPr>
        <p:txBody>
          <a:bodyPr wrap="square" lIns="0" tIns="0" rIns="0" bIns="0" rtlCol="0" anchor="ctr"/>
          <a:lstStyle/>
          <a:p>
            <a:pPr indent="0" marL="0">
              <a:lnSpc>
                <a:spcPct val="106000"/>
              </a:lnSpc>
              <a:buNone/>
            </a:pPr>
            <a:r>
              <a:rPr lang="en-US" sz="770" dirty="0">
                <a:solidFill>
                  <a:srgbClr val="0F172A"/>
                </a:solidFill>
                <a:latin typeface="Arial" pitchFamily="34" charset="0"/>
                <a:ea typeface="Arial" pitchFamily="34" charset="-122"/>
                <a:cs typeface="Arial" pitchFamily="34" charset="-120"/>
              </a:rPr>
              <a:t>Cannot absorb dedicated DB/VPC floor; requires high-density Pooled SaaS.</a:t>
            </a:r>
            <a:endParaRPr lang="en-US" sz="770" dirty="0"/>
          </a:p>
        </p:txBody>
      </p:sp>
      <p:sp>
        <p:nvSpPr>
          <p:cNvPr id="66" name="Shape 64"/>
          <p:cNvSpPr/>
          <p:nvPr/>
        </p:nvSpPr>
        <p:spPr>
          <a:xfrm>
            <a:off x="4471416" y="1042416"/>
            <a:ext cx="3246120" cy="4754880"/>
          </a:xfrm>
          <a:prstGeom prst="roundRect">
            <a:avLst>
              <a:gd name="adj" fmla="val 1972"/>
            </a:avLst>
          </a:prstGeom>
          <a:solidFill>
            <a:srgbClr val="F1F5F9"/>
          </a:solidFill>
          <a:ln w="10795">
            <a:solidFill>
              <a:srgbClr val="94A3B8"/>
            </a:solidFill>
            <a:prstDash val="solid"/>
          </a:ln>
        </p:spPr>
      </p:sp>
      <p:sp>
        <p:nvSpPr>
          <p:cNvPr id="67" name="Shape 65"/>
          <p:cNvSpPr/>
          <p:nvPr/>
        </p:nvSpPr>
        <p:spPr>
          <a:xfrm>
            <a:off x="4471416" y="1042416"/>
            <a:ext cx="3246120" cy="50292"/>
          </a:xfrm>
          <a:prstGeom prst="roundRect">
            <a:avLst>
              <a:gd name="adj" fmla="val 36364"/>
            </a:avLst>
          </a:prstGeom>
          <a:solidFill>
            <a:srgbClr val="1E293B"/>
          </a:solidFill>
          <a:ln/>
        </p:spPr>
      </p:sp>
      <p:sp>
        <p:nvSpPr>
          <p:cNvPr id="68" name="Text 66"/>
          <p:cNvSpPr/>
          <p:nvPr/>
        </p:nvSpPr>
        <p:spPr>
          <a:xfrm>
            <a:off x="4581144" y="1207008"/>
            <a:ext cx="3026664" cy="201168"/>
          </a:xfrm>
          <a:prstGeom prst="rect">
            <a:avLst/>
          </a:prstGeom>
          <a:noFill/>
          <a:ln/>
        </p:spPr>
        <p:txBody>
          <a:bodyPr wrap="square" lIns="0" tIns="0" rIns="0" bIns="0" rtlCol="0" anchor="ctr"/>
          <a:lstStyle/>
          <a:p>
            <a:pPr algn="ctr" indent="0" marL="0">
              <a:lnSpc>
                <a:spcPct val="105000"/>
              </a:lnSpc>
              <a:buNone/>
            </a:pPr>
            <a:r>
              <a:rPr lang="en-US" sz="850" b="1" spc="70" kern="0" dirty="0">
                <a:solidFill>
                  <a:srgbClr val="0F172A"/>
                </a:solidFill>
                <a:latin typeface="Arial" pitchFamily="34" charset="0"/>
                <a:ea typeface="Arial" pitchFamily="34" charset="-122"/>
                <a:cs typeface="Arial" pitchFamily="34" charset="-120"/>
              </a:rPr>
              <a:t>ONE CYMBAL AI PLATFORM</a:t>
            </a:r>
            <a:endParaRPr lang="en-US" sz="850" dirty="0"/>
          </a:p>
        </p:txBody>
      </p:sp>
      <p:sp>
        <p:nvSpPr>
          <p:cNvPr id="69" name="Text 67"/>
          <p:cNvSpPr/>
          <p:nvPr/>
        </p:nvSpPr>
        <p:spPr>
          <a:xfrm>
            <a:off x="4581144" y="1426464"/>
            <a:ext cx="3026664" cy="365760"/>
          </a:xfrm>
          <a:prstGeom prst="rect">
            <a:avLst/>
          </a:prstGeom>
          <a:noFill/>
          <a:ln/>
        </p:spPr>
        <p:txBody>
          <a:bodyPr wrap="square" lIns="0" tIns="0" rIns="0" bIns="0" rtlCol="0" anchor="ctr"/>
          <a:lstStyle/>
          <a:p>
            <a:pPr algn="ctr" indent="0" marL="0">
              <a:lnSpc>
                <a:spcPct val="108000"/>
              </a:lnSpc>
              <a:buNone/>
            </a:pPr>
            <a:r>
              <a:rPr lang="en-US" sz="800" dirty="0">
                <a:solidFill>
                  <a:srgbClr val="64748B"/>
                </a:solidFill>
                <a:latin typeface="Arial" pitchFamily="34" charset="0"/>
                <a:ea typeface="Arial" pitchFamily="34" charset="-122"/>
                <a:cs typeface="Arial" pitchFamily="34" charset="-120"/>
              </a:rPr>
              <a:t>5 Simultaneous Architectural Clashes</a:t>
            </a:r>
            <a:endParaRPr lang="en-US" sz="800" dirty="0"/>
          </a:p>
          <a:p>
            <a:pPr algn="ctr" indent="0" marL="0">
              <a:lnSpc>
                <a:spcPct val="108000"/>
              </a:lnSpc>
              <a:buNone/>
            </a:pPr>
            <a:r>
              <a:rPr lang="en-US" sz="800" dirty="0">
                <a:solidFill>
                  <a:srgbClr val="64748B"/>
                </a:solidFill>
                <a:latin typeface="Arial" pitchFamily="34" charset="0"/>
                <a:ea typeface="Arial" pitchFamily="34" charset="-122"/>
                <a:cs typeface="Arial" pitchFamily="34" charset="-120"/>
              </a:rPr>
              <a:t>Resolved Per Turn</a:t>
            </a:r>
            <a:endParaRPr lang="en-US" sz="800" dirty="0"/>
          </a:p>
        </p:txBody>
      </p:sp>
      <p:sp>
        <p:nvSpPr>
          <p:cNvPr id="70" name="Shape 68"/>
          <p:cNvSpPr/>
          <p:nvPr/>
        </p:nvSpPr>
        <p:spPr>
          <a:xfrm>
            <a:off x="4261104" y="2382012"/>
            <a:ext cx="338328" cy="0"/>
          </a:xfrm>
          <a:prstGeom prst="line">
            <a:avLst/>
          </a:prstGeom>
          <a:noFill/>
          <a:ln w="15240">
            <a:solidFill>
              <a:srgbClr val="D97706"/>
            </a:solidFill>
            <a:prstDash val="solid"/>
            <a:tailEnd type="triangle" w="sm" len="sm"/>
          </a:ln>
        </p:spPr>
      </p:sp>
      <p:sp>
        <p:nvSpPr>
          <p:cNvPr id="71" name="Shape 69"/>
          <p:cNvSpPr/>
          <p:nvPr/>
        </p:nvSpPr>
        <p:spPr>
          <a:xfrm flipH="1">
            <a:off x="7589520" y="2382012"/>
            <a:ext cx="338328" cy="0"/>
          </a:xfrm>
          <a:prstGeom prst="line">
            <a:avLst/>
          </a:prstGeom>
          <a:noFill/>
          <a:ln w="15240">
            <a:solidFill>
              <a:srgbClr val="2563EB"/>
            </a:solidFill>
            <a:prstDash val="solid"/>
            <a:tailEnd type="triangle" w="sm" len="sm"/>
          </a:ln>
        </p:spPr>
      </p:sp>
      <p:sp>
        <p:nvSpPr>
          <p:cNvPr id="72" name="Shape 70"/>
          <p:cNvSpPr/>
          <p:nvPr/>
        </p:nvSpPr>
        <p:spPr>
          <a:xfrm>
            <a:off x="4617720" y="2135124"/>
            <a:ext cx="2953512" cy="493776"/>
          </a:xfrm>
          <a:prstGeom prst="roundRect">
            <a:avLst>
              <a:gd name="adj" fmla="val 12963"/>
            </a:avLst>
          </a:prstGeom>
          <a:solidFill>
            <a:srgbClr val="FFFFFF"/>
          </a:solidFill>
          <a:ln w="10795">
            <a:solidFill>
              <a:srgbClr val="475569"/>
            </a:solidFill>
            <a:prstDash val="solid"/>
          </a:ln>
        </p:spPr>
      </p:sp>
      <p:sp>
        <p:nvSpPr>
          <p:cNvPr id="73" name="Text 71"/>
          <p:cNvSpPr/>
          <p:nvPr/>
        </p:nvSpPr>
        <p:spPr>
          <a:xfrm>
            <a:off x="4690872" y="2171700"/>
            <a:ext cx="2807208" cy="420624"/>
          </a:xfrm>
          <a:prstGeom prst="rect">
            <a:avLst/>
          </a:prstGeom>
          <a:noFill/>
          <a:ln/>
        </p:spPr>
        <p:txBody>
          <a:bodyPr wrap="square" lIns="0" tIns="0" rIns="0" bIns="0" rtlCol="0" anchor="ctr"/>
          <a:lstStyle/>
          <a:p>
            <a:pPr algn="ctr" indent="0" marL="0">
              <a:lnSpc>
                <a:spcPct val="108000"/>
              </a:lnSpc>
              <a:buNone/>
            </a:pPr>
            <a:r>
              <a:rPr lang="en-US" sz="770" b="1" dirty="0">
                <a:solidFill>
                  <a:srgbClr val="0F172A"/>
                </a:solidFill>
                <a:latin typeface="Arial" pitchFamily="34" charset="0"/>
                <a:ea typeface="Arial" pitchFamily="34" charset="-122"/>
                <a:cs typeface="Arial" pitchFamily="34" charset="-120"/>
              </a:rPr>
              <a:t>Hop 1: Heterogeneous IdP Normalization</a:t>
            </a:r>
            <a:endParaRPr lang="en-US" sz="770" dirty="0"/>
          </a:p>
        </p:txBody>
      </p:sp>
      <p:sp>
        <p:nvSpPr>
          <p:cNvPr id="74" name="Shape 72"/>
          <p:cNvSpPr/>
          <p:nvPr/>
        </p:nvSpPr>
        <p:spPr>
          <a:xfrm>
            <a:off x="4261104" y="3104388"/>
            <a:ext cx="338328" cy="0"/>
          </a:xfrm>
          <a:prstGeom prst="line">
            <a:avLst/>
          </a:prstGeom>
          <a:noFill/>
          <a:ln w="15240">
            <a:solidFill>
              <a:srgbClr val="D97706"/>
            </a:solidFill>
            <a:prstDash val="solid"/>
            <a:tailEnd type="triangle" w="sm" len="sm"/>
          </a:ln>
        </p:spPr>
      </p:sp>
      <p:sp>
        <p:nvSpPr>
          <p:cNvPr id="75" name="Shape 73"/>
          <p:cNvSpPr/>
          <p:nvPr/>
        </p:nvSpPr>
        <p:spPr>
          <a:xfrm flipH="1">
            <a:off x="7589520" y="3104388"/>
            <a:ext cx="338328" cy="0"/>
          </a:xfrm>
          <a:prstGeom prst="line">
            <a:avLst/>
          </a:prstGeom>
          <a:noFill/>
          <a:ln w="15240">
            <a:solidFill>
              <a:srgbClr val="2563EB"/>
            </a:solidFill>
            <a:prstDash val="solid"/>
            <a:tailEnd type="triangle" w="sm" len="sm"/>
          </a:ln>
        </p:spPr>
      </p:sp>
      <p:sp>
        <p:nvSpPr>
          <p:cNvPr id="76" name="Shape 74"/>
          <p:cNvSpPr/>
          <p:nvPr/>
        </p:nvSpPr>
        <p:spPr>
          <a:xfrm>
            <a:off x="4617720" y="2857500"/>
            <a:ext cx="2953512" cy="493776"/>
          </a:xfrm>
          <a:prstGeom prst="roundRect">
            <a:avLst>
              <a:gd name="adj" fmla="val 12963"/>
            </a:avLst>
          </a:prstGeom>
          <a:solidFill>
            <a:srgbClr val="FFFFFF"/>
          </a:solidFill>
          <a:ln w="10795">
            <a:solidFill>
              <a:srgbClr val="475569"/>
            </a:solidFill>
            <a:prstDash val="solid"/>
          </a:ln>
        </p:spPr>
      </p:sp>
      <p:sp>
        <p:nvSpPr>
          <p:cNvPr id="77" name="Text 75"/>
          <p:cNvSpPr/>
          <p:nvPr/>
        </p:nvSpPr>
        <p:spPr>
          <a:xfrm>
            <a:off x="4690872" y="2894076"/>
            <a:ext cx="2807208" cy="420624"/>
          </a:xfrm>
          <a:prstGeom prst="rect">
            <a:avLst/>
          </a:prstGeom>
          <a:noFill/>
          <a:ln/>
        </p:spPr>
        <p:txBody>
          <a:bodyPr wrap="square" lIns="0" tIns="0" rIns="0" bIns="0" rtlCol="0" anchor="ctr"/>
          <a:lstStyle/>
          <a:p>
            <a:pPr algn="ctr" indent="0" marL="0">
              <a:lnSpc>
                <a:spcPct val="108000"/>
              </a:lnSpc>
              <a:buNone/>
            </a:pPr>
            <a:r>
              <a:rPr lang="en-US" sz="770" b="1" dirty="0">
                <a:solidFill>
                  <a:srgbClr val="0F172A"/>
                </a:solidFill>
                <a:latin typeface="Arial" pitchFamily="34" charset="0"/>
                <a:ea typeface="Arial" pitchFamily="34" charset="-122"/>
                <a:cs typeface="Arial" pitchFamily="34" charset="-120"/>
              </a:rPr>
              <a:t>Hop 2: Private vs. Shared Catalog Pruning</a:t>
            </a:r>
            <a:endParaRPr lang="en-US" sz="770" dirty="0"/>
          </a:p>
        </p:txBody>
      </p:sp>
      <p:sp>
        <p:nvSpPr>
          <p:cNvPr id="78" name="Shape 76"/>
          <p:cNvSpPr/>
          <p:nvPr/>
        </p:nvSpPr>
        <p:spPr>
          <a:xfrm>
            <a:off x="4261104" y="3826764"/>
            <a:ext cx="338328" cy="0"/>
          </a:xfrm>
          <a:prstGeom prst="line">
            <a:avLst/>
          </a:prstGeom>
          <a:noFill/>
          <a:ln w="15240">
            <a:solidFill>
              <a:srgbClr val="D97706"/>
            </a:solidFill>
            <a:prstDash val="solid"/>
            <a:tailEnd type="triangle" w="sm" len="sm"/>
          </a:ln>
        </p:spPr>
      </p:sp>
      <p:sp>
        <p:nvSpPr>
          <p:cNvPr id="79" name="Shape 77"/>
          <p:cNvSpPr/>
          <p:nvPr/>
        </p:nvSpPr>
        <p:spPr>
          <a:xfrm flipH="1">
            <a:off x="7589520" y="3826764"/>
            <a:ext cx="338328" cy="0"/>
          </a:xfrm>
          <a:prstGeom prst="line">
            <a:avLst/>
          </a:prstGeom>
          <a:noFill/>
          <a:ln w="15240">
            <a:solidFill>
              <a:srgbClr val="2563EB"/>
            </a:solidFill>
            <a:prstDash val="solid"/>
            <a:tailEnd type="triangle" w="sm" len="sm"/>
          </a:ln>
        </p:spPr>
      </p:sp>
      <p:sp>
        <p:nvSpPr>
          <p:cNvPr id="80" name="Shape 78"/>
          <p:cNvSpPr/>
          <p:nvPr/>
        </p:nvSpPr>
        <p:spPr>
          <a:xfrm>
            <a:off x="4617720" y="3579876"/>
            <a:ext cx="2953512" cy="493776"/>
          </a:xfrm>
          <a:prstGeom prst="roundRect">
            <a:avLst>
              <a:gd name="adj" fmla="val 12963"/>
            </a:avLst>
          </a:prstGeom>
          <a:solidFill>
            <a:srgbClr val="FFFFFF"/>
          </a:solidFill>
          <a:ln w="10795">
            <a:solidFill>
              <a:srgbClr val="475569"/>
            </a:solidFill>
            <a:prstDash val="solid"/>
          </a:ln>
        </p:spPr>
      </p:sp>
      <p:sp>
        <p:nvSpPr>
          <p:cNvPr id="81" name="Text 79"/>
          <p:cNvSpPr/>
          <p:nvPr/>
        </p:nvSpPr>
        <p:spPr>
          <a:xfrm>
            <a:off x="4690872" y="3616452"/>
            <a:ext cx="2807208" cy="420624"/>
          </a:xfrm>
          <a:prstGeom prst="rect">
            <a:avLst/>
          </a:prstGeom>
          <a:noFill/>
          <a:ln/>
        </p:spPr>
        <p:txBody>
          <a:bodyPr wrap="square" lIns="0" tIns="0" rIns="0" bIns="0" rtlCol="0" anchor="ctr"/>
          <a:lstStyle/>
          <a:p>
            <a:pPr algn="ctr" indent="0" marL="0">
              <a:lnSpc>
                <a:spcPct val="108000"/>
              </a:lnSpc>
              <a:buNone/>
            </a:pPr>
            <a:r>
              <a:rPr lang="en-US" sz="770" b="1" dirty="0">
                <a:solidFill>
                  <a:srgbClr val="0F172A"/>
                </a:solidFill>
                <a:latin typeface="Arial" pitchFamily="34" charset="0"/>
                <a:ea typeface="Arial" pitchFamily="34" charset="-122"/>
                <a:cs typeface="Arial" pitchFamily="34" charset="-120"/>
              </a:rPr>
              <a:t>Hop 3: 5x Burst &amp; Thinking Asymmetry</a:t>
            </a:r>
            <a:endParaRPr lang="en-US" sz="770" dirty="0"/>
          </a:p>
        </p:txBody>
      </p:sp>
      <p:sp>
        <p:nvSpPr>
          <p:cNvPr id="82" name="Shape 80"/>
          <p:cNvSpPr/>
          <p:nvPr/>
        </p:nvSpPr>
        <p:spPr>
          <a:xfrm>
            <a:off x="4261104" y="4549140"/>
            <a:ext cx="338328" cy="0"/>
          </a:xfrm>
          <a:prstGeom prst="line">
            <a:avLst/>
          </a:prstGeom>
          <a:noFill/>
          <a:ln w="15240">
            <a:solidFill>
              <a:srgbClr val="D97706"/>
            </a:solidFill>
            <a:prstDash val="solid"/>
            <a:tailEnd type="triangle" w="sm" len="sm"/>
          </a:ln>
        </p:spPr>
      </p:sp>
      <p:sp>
        <p:nvSpPr>
          <p:cNvPr id="83" name="Shape 81"/>
          <p:cNvSpPr/>
          <p:nvPr/>
        </p:nvSpPr>
        <p:spPr>
          <a:xfrm flipH="1">
            <a:off x="7589520" y="4549140"/>
            <a:ext cx="338328" cy="0"/>
          </a:xfrm>
          <a:prstGeom prst="line">
            <a:avLst/>
          </a:prstGeom>
          <a:noFill/>
          <a:ln w="15240">
            <a:solidFill>
              <a:srgbClr val="2563EB"/>
            </a:solidFill>
            <a:prstDash val="solid"/>
            <a:tailEnd type="triangle" w="sm" len="sm"/>
          </a:ln>
        </p:spPr>
      </p:sp>
      <p:sp>
        <p:nvSpPr>
          <p:cNvPr id="84" name="Shape 82"/>
          <p:cNvSpPr/>
          <p:nvPr/>
        </p:nvSpPr>
        <p:spPr>
          <a:xfrm>
            <a:off x="4617720" y="4302252"/>
            <a:ext cx="2953512" cy="493776"/>
          </a:xfrm>
          <a:prstGeom prst="roundRect">
            <a:avLst>
              <a:gd name="adj" fmla="val 12963"/>
            </a:avLst>
          </a:prstGeom>
          <a:solidFill>
            <a:srgbClr val="FFFFFF"/>
          </a:solidFill>
          <a:ln w="10795">
            <a:solidFill>
              <a:srgbClr val="475569"/>
            </a:solidFill>
            <a:prstDash val="solid"/>
          </a:ln>
        </p:spPr>
      </p:sp>
      <p:sp>
        <p:nvSpPr>
          <p:cNvPr id="85" name="Text 83"/>
          <p:cNvSpPr/>
          <p:nvPr/>
        </p:nvSpPr>
        <p:spPr>
          <a:xfrm>
            <a:off x="4690872" y="4338828"/>
            <a:ext cx="2807208" cy="420624"/>
          </a:xfrm>
          <a:prstGeom prst="rect">
            <a:avLst/>
          </a:prstGeom>
          <a:noFill/>
          <a:ln/>
        </p:spPr>
        <p:txBody>
          <a:bodyPr wrap="square" lIns="0" tIns="0" rIns="0" bIns="0" rtlCol="0" anchor="ctr"/>
          <a:lstStyle/>
          <a:p>
            <a:pPr algn="ctr" indent="0" marL="0">
              <a:lnSpc>
                <a:spcPct val="108000"/>
              </a:lnSpc>
              <a:buNone/>
            </a:pPr>
            <a:r>
              <a:rPr lang="en-US" sz="770" b="1" dirty="0">
                <a:solidFill>
                  <a:srgbClr val="0F172A"/>
                </a:solidFill>
                <a:latin typeface="Arial" pitchFamily="34" charset="0"/>
                <a:ea typeface="Arial" pitchFamily="34" charset="-122"/>
                <a:cs typeface="Arial" pitchFamily="34" charset="-120"/>
              </a:rPr>
              <a:t>Hop 4: Bank FINRA vs. Retail PCI DLP</a:t>
            </a:r>
            <a:endParaRPr lang="en-US" sz="770" dirty="0"/>
          </a:p>
        </p:txBody>
      </p:sp>
      <p:sp>
        <p:nvSpPr>
          <p:cNvPr id="86" name="Shape 84"/>
          <p:cNvSpPr/>
          <p:nvPr/>
        </p:nvSpPr>
        <p:spPr>
          <a:xfrm>
            <a:off x="4261104" y="5271516"/>
            <a:ext cx="338328" cy="0"/>
          </a:xfrm>
          <a:prstGeom prst="line">
            <a:avLst/>
          </a:prstGeom>
          <a:noFill/>
          <a:ln w="15240">
            <a:solidFill>
              <a:srgbClr val="D97706"/>
            </a:solidFill>
            <a:prstDash val="solid"/>
            <a:tailEnd type="triangle" w="sm" len="sm"/>
          </a:ln>
        </p:spPr>
      </p:sp>
      <p:sp>
        <p:nvSpPr>
          <p:cNvPr id="87" name="Shape 85"/>
          <p:cNvSpPr/>
          <p:nvPr/>
        </p:nvSpPr>
        <p:spPr>
          <a:xfrm flipH="1">
            <a:off x="7589520" y="5271516"/>
            <a:ext cx="338328" cy="0"/>
          </a:xfrm>
          <a:prstGeom prst="line">
            <a:avLst/>
          </a:prstGeom>
          <a:noFill/>
          <a:ln w="15240">
            <a:solidFill>
              <a:srgbClr val="2563EB"/>
            </a:solidFill>
            <a:prstDash val="solid"/>
            <a:tailEnd type="triangle" w="sm" len="sm"/>
          </a:ln>
        </p:spPr>
      </p:sp>
      <p:sp>
        <p:nvSpPr>
          <p:cNvPr id="88" name="Shape 86"/>
          <p:cNvSpPr/>
          <p:nvPr/>
        </p:nvSpPr>
        <p:spPr>
          <a:xfrm>
            <a:off x="4617720" y="5024628"/>
            <a:ext cx="2953512" cy="493776"/>
          </a:xfrm>
          <a:prstGeom prst="roundRect">
            <a:avLst>
              <a:gd name="adj" fmla="val 12963"/>
            </a:avLst>
          </a:prstGeom>
          <a:solidFill>
            <a:srgbClr val="FFFFFF"/>
          </a:solidFill>
          <a:ln w="10795">
            <a:solidFill>
              <a:srgbClr val="475569"/>
            </a:solidFill>
            <a:prstDash val="solid"/>
          </a:ln>
        </p:spPr>
      </p:sp>
      <p:sp>
        <p:nvSpPr>
          <p:cNvPr id="89" name="Text 87"/>
          <p:cNvSpPr/>
          <p:nvPr/>
        </p:nvSpPr>
        <p:spPr>
          <a:xfrm>
            <a:off x="4690872" y="5061204"/>
            <a:ext cx="2807208" cy="420624"/>
          </a:xfrm>
          <a:prstGeom prst="rect">
            <a:avLst/>
          </a:prstGeom>
          <a:noFill/>
          <a:ln/>
        </p:spPr>
        <p:txBody>
          <a:bodyPr wrap="square" lIns="0" tIns="0" rIns="0" bIns="0" rtlCol="0" anchor="ctr"/>
          <a:lstStyle/>
          <a:p>
            <a:pPr algn="ctr" indent="0" marL="0">
              <a:lnSpc>
                <a:spcPct val="108000"/>
              </a:lnSpc>
              <a:buNone/>
            </a:pPr>
            <a:r>
              <a:rPr lang="en-US" sz="770" b="1" dirty="0">
                <a:solidFill>
                  <a:srgbClr val="0F172A"/>
                </a:solidFill>
                <a:latin typeface="Arial" pitchFamily="34" charset="0"/>
                <a:ea typeface="Arial" pitchFamily="34" charset="-122"/>
                <a:cs typeface="Arial" pitchFamily="34" charset="-120"/>
              </a:rPr>
              <a:t>Hop 5: &lt;60s CMEK Lock vs. Pooled RLS</a:t>
            </a:r>
            <a:endParaRPr lang="en-US" sz="770" dirty="0"/>
          </a:p>
        </p:txBody>
      </p:sp>
      <p:sp>
        <p:nvSpPr>
          <p:cNvPr id="90" name="Shape 88"/>
          <p:cNvSpPr/>
          <p:nvPr/>
        </p:nvSpPr>
        <p:spPr>
          <a:xfrm>
            <a:off x="438912" y="5943600"/>
            <a:ext cx="11313871" cy="420624"/>
          </a:xfrm>
          <a:prstGeom prst="roundRect">
            <a:avLst>
              <a:gd name="adj" fmla="val 13043"/>
            </a:avLst>
          </a:prstGeom>
          <a:solidFill>
            <a:srgbClr val="F1F5F9"/>
          </a:solidFill>
          <a:ln w="11430">
            <a:solidFill>
              <a:srgbClr val="CBD5E1"/>
            </a:solidFill>
            <a:prstDash val="solid"/>
          </a:ln>
        </p:spPr>
      </p:sp>
      <p:sp>
        <p:nvSpPr>
          <p:cNvPr id="91" name="Shape 89"/>
          <p:cNvSpPr/>
          <p:nvPr/>
        </p:nvSpPr>
        <p:spPr>
          <a:xfrm>
            <a:off x="530352" y="6025896"/>
            <a:ext cx="1353312" cy="256032"/>
          </a:xfrm>
          <a:prstGeom prst="roundRect">
            <a:avLst>
              <a:gd name="adj" fmla="val 17857"/>
            </a:avLst>
          </a:prstGeom>
          <a:solidFill>
            <a:srgbClr val="1E293B"/>
          </a:solidFill>
          <a:ln/>
        </p:spPr>
      </p:sp>
      <p:sp>
        <p:nvSpPr>
          <p:cNvPr id="92" name="Text 90"/>
          <p:cNvSpPr/>
          <p:nvPr/>
        </p:nvSpPr>
        <p:spPr>
          <a:xfrm>
            <a:off x="530352" y="6025896"/>
            <a:ext cx="1353312" cy="256032"/>
          </a:xfrm>
          <a:prstGeom prst="rect">
            <a:avLst/>
          </a:prstGeom>
          <a:noFill/>
          <a:ln/>
        </p:spPr>
        <p:txBody>
          <a:bodyPr wrap="square" lIns="0" tIns="0" rIns="0" bIns="0" rtlCol="0" anchor="ctr"/>
          <a:lstStyle/>
          <a:p>
            <a:pPr algn="ctr" indent="0" marL="0">
              <a:lnSpc>
                <a:spcPct val="105000"/>
              </a:lnSpc>
              <a:buNone/>
            </a:pPr>
            <a:r>
              <a:rPr lang="en-US" sz="650" b="1" dirty="0">
                <a:solidFill>
                  <a:srgbClr val="FFFFFF"/>
                </a:solidFill>
                <a:latin typeface="Arial" pitchFamily="34" charset="0"/>
                <a:ea typeface="Arial" pitchFamily="34" charset="-122"/>
                <a:cs typeface="Arial" pitchFamily="34" charset="-120"/>
              </a:rPr>
              <a:t>DESIGN MANDATE</a:t>
            </a:r>
            <a:endParaRPr lang="en-US" sz="650" dirty="0"/>
          </a:p>
        </p:txBody>
      </p:sp>
      <p:sp>
        <p:nvSpPr>
          <p:cNvPr id="93" name="Text 91"/>
          <p:cNvSpPr/>
          <p:nvPr/>
        </p:nvSpPr>
        <p:spPr>
          <a:xfrm>
            <a:off x="1993392" y="5980176"/>
            <a:ext cx="7555687" cy="347472"/>
          </a:xfrm>
          <a:prstGeom prst="rect">
            <a:avLst/>
          </a:prstGeom>
          <a:noFill/>
          <a:ln/>
        </p:spPr>
        <p:txBody>
          <a:bodyPr wrap="square" lIns="0" tIns="0" rIns="0" bIns="0" rtlCol="0" anchor="ctr"/>
          <a:lstStyle/>
          <a:p>
            <a:pPr algn="l" indent="0" marL="0">
              <a:lnSpc>
                <a:spcPct val="108000"/>
              </a:lnSpc>
              <a:buNone/>
            </a:pPr>
            <a:r>
              <a:rPr lang="en-US" sz="860" b="1" dirty="0">
                <a:solidFill>
                  <a:srgbClr val="0F172A"/>
                </a:solidFill>
                <a:latin typeface="Arial" pitchFamily="34" charset="0"/>
                <a:ea typeface="Arial" pitchFamily="34" charset="-122"/>
                <a:cs typeface="Arial" pitchFamily="34" charset="-120"/>
              </a:rPr>
              <a:t>Each of those 5 clashes maps 1-to-1 onto a dedicated hop of our 5-Hop Cryptographic Context Chain—so neither tenant compromises the other or forks your codebase.</a:t>
            </a:r>
            <a:endParaRPr lang="en-US" sz="860" dirty="0"/>
          </a:p>
        </p:txBody>
      </p:sp>
      <p:sp>
        <p:nvSpPr>
          <p:cNvPr id="94" name="Shape 92"/>
          <p:cNvSpPr/>
          <p:nvPr/>
        </p:nvSpPr>
        <p:spPr>
          <a:xfrm>
            <a:off x="9695383" y="6025896"/>
            <a:ext cx="1965960" cy="256032"/>
          </a:xfrm>
          <a:prstGeom prst="roundRect">
            <a:avLst>
              <a:gd name="adj" fmla="val 17857"/>
            </a:avLst>
          </a:prstGeom>
          <a:solidFill>
            <a:srgbClr val="FFFFFF"/>
          </a:solidFill>
          <a:ln w="10795">
            <a:solidFill>
              <a:srgbClr val="1E293B"/>
            </a:solidFill>
            <a:prstDash val="solid"/>
          </a:ln>
        </p:spPr>
      </p:sp>
      <p:sp>
        <p:nvSpPr>
          <p:cNvPr id="95" name="Text 93"/>
          <p:cNvSpPr/>
          <p:nvPr/>
        </p:nvSpPr>
        <p:spPr>
          <a:xfrm>
            <a:off x="9695383" y="6025896"/>
            <a:ext cx="1965960" cy="256032"/>
          </a:xfrm>
          <a:prstGeom prst="rect">
            <a:avLst/>
          </a:prstGeom>
          <a:noFill/>
          <a:ln/>
        </p:spPr>
        <p:txBody>
          <a:bodyPr wrap="square" lIns="0" tIns="0" rIns="0" bIns="0" rtlCol="0" anchor="ctr"/>
          <a:lstStyle/>
          <a:p>
            <a:pPr algn="ctr" indent="0" marL="0">
              <a:lnSpc>
                <a:spcPct val="105000"/>
              </a:lnSpc>
              <a:buNone/>
            </a:pPr>
            <a:r>
              <a:rPr lang="en-US" sz="740" b="1" dirty="0">
                <a:solidFill>
                  <a:srgbClr val="1E293B"/>
                </a:solidFill>
                <a:latin typeface="Arial" pitchFamily="34" charset="0"/>
                <a:ea typeface="Arial" pitchFamily="34" charset="-122"/>
                <a:cs typeface="Arial" pitchFamily="34" charset="-120"/>
              </a:rPr>
              <a:t>5 Clashes → 5 Governance Hops</a:t>
            </a:r>
            <a:endParaRPr lang="en-US" sz="7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1148"/>
          </a:xfrm>
          <a:prstGeom prst="rect">
            <a:avLst/>
          </a:prstGeom>
          <a:solidFill>
            <a:srgbClr val="4338CA"/>
          </a:solidFill>
          <a:ln/>
        </p:spPr>
      </p:sp>
      <p:sp>
        <p:nvSpPr>
          <p:cNvPr id="3" name="Shape 1"/>
          <p:cNvSpPr/>
          <p:nvPr/>
        </p:nvSpPr>
        <p:spPr>
          <a:xfrm>
            <a:off x="438912" y="192024"/>
            <a:ext cx="59436" cy="621792"/>
          </a:xfrm>
          <a:prstGeom prst="roundRect">
            <a:avLst>
              <a:gd name="adj" fmla="val 46154"/>
            </a:avLst>
          </a:prstGeom>
          <a:solidFill>
            <a:srgbClr val="4338CA"/>
          </a:solidFill>
          <a:ln/>
        </p:spPr>
      </p:sp>
      <p:sp>
        <p:nvSpPr>
          <p:cNvPr id="4" name="Text 2"/>
          <p:cNvSpPr/>
          <p:nvPr/>
        </p:nvSpPr>
        <p:spPr>
          <a:xfrm>
            <a:off x="576072" y="173736"/>
            <a:ext cx="4389120" cy="146304"/>
          </a:xfrm>
          <a:prstGeom prst="rect">
            <a:avLst/>
          </a:prstGeom>
          <a:noFill/>
          <a:ln/>
        </p:spPr>
        <p:txBody>
          <a:bodyPr wrap="square" lIns="0" tIns="0" rIns="0" bIns="0" rtlCol="0" anchor="ctr"/>
          <a:lstStyle/>
          <a:p>
            <a:pPr algn="l" indent="0" marL="0">
              <a:lnSpc>
                <a:spcPct val="105000"/>
              </a:lnSpc>
              <a:buNone/>
            </a:pPr>
            <a:r>
              <a:rPr lang="en-US" sz="750" b="1" spc="110" kern="0" dirty="0">
                <a:solidFill>
                  <a:srgbClr val="4338CA"/>
                </a:solidFill>
                <a:latin typeface="Arial" pitchFamily="34" charset="0"/>
                <a:ea typeface="Arial" pitchFamily="34" charset="-122"/>
                <a:cs typeface="Arial" pitchFamily="34" charset="-120"/>
              </a:rPr>
              <a:t>02 / CONCEPTUAL MODEL</a:t>
            </a:r>
            <a:endParaRPr lang="en-US" sz="750" dirty="0"/>
          </a:p>
        </p:txBody>
      </p:sp>
      <p:sp>
        <p:nvSpPr>
          <p:cNvPr id="5" name="Shape 3"/>
          <p:cNvSpPr/>
          <p:nvPr/>
        </p:nvSpPr>
        <p:spPr>
          <a:xfrm>
            <a:off x="8183880" y="219456"/>
            <a:ext cx="228600" cy="59436"/>
          </a:xfrm>
          <a:prstGeom prst="roundRect">
            <a:avLst>
              <a:gd name="adj" fmla="val 46154"/>
            </a:avLst>
          </a:prstGeom>
          <a:solidFill>
            <a:srgbClr val="94A3B8"/>
          </a:solidFill>
          <a:ln/>
        </p:spPr>
      </p:sp>
      <p:sp>
        <p:nvSpPr>
          <p:cNvPr id="6" name="Shape 4"/>
          <p:cNvSpPr/>
          <p:nvPr/>
        </p:nvSpPr>
        <p:spPr>
          <a:xfrm>
            <a:off x="8453628" y="219456"/>
            <a:ext cx="228600" cy="59436"/>
          </a:xfrm>
          <a:prstGeom prst="roundRect">
            <a:avLst>
              <a:gd name="adj" fmla="val 46154"/>
            </a:avLst>
          </a:prstGeom>
          <a:solidFill>
            <a:srgbClr val="4338CA"/>
          </a:solidFill>
          <a:ln/>
        </p:spPr>
      </p:sp>
      <p:sp>
        <p:nvSpPr>
          <p:cNvPr id="7" name="Shape 5"/>
          <p:cNvSpPr/>
          <p:nvPr/>
        </p:nvSpPr>
        <p:spPr>
          <a:xfrm>
            <a:off x="8723376" y="219456"/>
            <a:ext cx="228600" cy="59436"/>
          </a:xfrm>
          <a:prstGeom prst="roundRect">
            <a:avLst>
              <a:gd name="adj" fmla="val 46154"/>
            </a:avLst>
          </a:prstGeom>
          <a:solidFill>
            <a:srgbClr val="E2E8F0"/>
          </a:solidFill>
          <a:ln/>
        </p:spPr>
      </p:sp>
      <p:sp>
        <p:nvSpPr>
          <p:cNvPr id="8" name="Shape 6"/>
          <p:cNvSpPr/>
          <p:nvPr/>
        </p:nvSpPr>
        <p:spPr>
          <a:xfrm>
            <a:off x="8993124" y="219456"/>
            <a:ext cx="228600" cy="59436"/>
          </a:xfrm>
          <a:prstGeom prst="roundRect">
            <a:avLst>
              <a:gd name="adj" fmla="val 46154"/>
            </a:avLst>
          </a:prstGeom>
          <a:solidFill>
            <a:srgbClr val="E2E8F0"/>
          </a:solidFill>
          <a:ln/>
        </p:spPr>
      </p:sp>
      <p:sp>
        <p:nvSpPr>
          <p:cNvPr id="9" name="Shape 7"/>
          <p:cNvSpPr/>
          <p:nvPr/>
        </p:nvSpPr>
        <p:spPr>
          <a:xfrm>
            <a:off x="9262872" y="219456"/>
            <a:ext cx="228600" cy="59436"/>
          </a:xfrm>
          <a:prstGeom prst="roundRect">
            <a:avLst>
              <a:gd name="adj" fmla="val 46154"/>
            </a:avLst>
          </a:prstGeom>
          <a:solidFill>
            <a:srgbClr val="E2E8F0"/>
          </a:solidFill>
          <a:ln/>
        </p:spPr>
      </p:sp>
      <p:sp>
        <p:nvSpPr>
          <p:cNvPr id="10" name="Shape 8"/>
          <p:cNvSpPr/>
          <p:nvPr/>
        </p:nvSpPr>
        <p:spPr>
          <a:xfrm>
            <a:off x="9532620" y="219456"/>
            <a:ext cx="228600" cy="59436"/>
          </a:xfrm>
          <a:prstGeom prst="roundRect">
            <a:avLst>
              <a:gd name="adj" fmla="val 46154"/>
            </a:avLst>
          </a:prstGeom>
          <a:solidFill>
            <a:srgbClr val="E2E8F0"/>
          </a:solidFill>
          <a:ln/>
        </p:spPr>
      </p:sp>
      <p:sp>
        <p:nvSpPr>
          <p:cNvPr id="11" name="Shape 9"/>
          <p:cNvSpPr/>
          <p:nvPr/>
        </p:nvSpPr>
        <p:spPr>
          <a:xfrm>
            <a:off x="9802368" y="219456"/>
            <a:ext cx="228600" cy="59436"/>
          </a:xfrm>
          <a:prstGeom prst="roundRect">
            <a:avLst>
              <a:gd name="adj" fmla="val 46154"/>
            </a:avLst>
          </a:prstGeom>
          <a:solidFill>
            <a:srgbClr val="E2E8F0"/>
          </a:solidFill>
          <a:ln/>
        </p:spPr>
      </p:sp>
      <p:sp>
        <p:nvSpPr>
          <p:cNvPr id="12" name="Shape 10"/>
          <p:cNvSpPr/>
          <p:nvPr/>
        </p:nvSpPr>
        <p:spPr>
          <a:xfrm>
            <a:off x="10131552" y="146304"/>
            <a:ext cx="1621231" cy="192024"/>
          </a:xfrm>
          <a:prstGeom prst="roundRect">
            <a:avLst>
              <a:gd name="adj" fmla="val 23810"/>
            </a:avLst>
          </a:prstGeom>
          <a:solidFill>
            <a:srgbClr val="FFFFFF"/>
          </a:solidFill>
          <a:ln w="9525">
            <a:solidFill>
              <a:srgbClr val="CBD5E1"/>
            </a:solidFill>
            <a:prstDash val="solid"/>
          </a:ln>
        </p:spPr>
      </p:sp>
      <p:sp>
        <p:nvSpPr>
          <p:cNvPr id="13" name="Text 11"/>
          <p:cNvSpPr/>
          <p:nvPr/>
        </p:nvSpPr>
        <p:spPr>
          <a:xfrm>
            <a:off x="10131552" y="146304"/>
            <a:ext cx="1621231" cy="192024"/>
          </a:xfrm>
          <a:prstGeom prst="rect">
            <a:avLst/>
          </a:prstGeom>
          <a:noFill/>
          <a:ln/>
        </p:spPr>
        <p:txBody>
          <a:bodyPr wrap="square" lIns="0" tIns="0" rIns="0" bIns="0" rtlCol="0" anchor="ctr"/>
          <a:lstStyle/>
          <a:p>
            <a:pPr algn="ctr" indent="0" marL="0">
              <a:lnSpc>
                <a:spcPct val="105000"/>
              </a:lnSpc>
              <a:buNone/>
            </a:pPr>
            <a:r>
              <a:rPr lang="en-US" sz="680" b="1" spc="60" kern="0" dirty="0">
                <a:solidFill>
                  <a:srgbClr val="4338CA"/>
                </a:solidFill>
                <a:latin typeface="Arial" pitchFamily="34" charset="0"/>
                <a:ea typeface="Arial" pitchFamily="34" charset="-122"/>
                <a:cs typeface="Arial" pitchFamily="34" charset="-120"/>
              </a:rPr>
              <a:t>SOLUTION MENTAL MODEL</a:t>
            </a:r>
            <a:endParaRPr lang="en-US" sz="680" dirty="0"/>
          </a:p>
        </p:txBody>
      </p:sp>
      <p:sp>
        <p:nvSpPr>
          <p:cNvPr id="14" name="Text 12"/>
          <p:cNvSpPr/>
          <p:nvPr/>
        </p:nvSpPr>
        <p:spPr>
          <a:xfrm>
            <a:off x="576072" y="338328"/>
            <a:ext cx="11176711" cy="310896"/>
          </a:xfrm>
          <a:prstGeom prst="rect">
            <a:avLst/>
          </a:prstGeom>
          <a:noFill/>
          <a:ln/>
        </p:spPr>
        <p:txBody>
          <a:bodyPr wrap="square" lIns="0" tIns="0" rIns="0" bIns="0" rtlCol="0" anchor="ctr"/>
          <a:lstStyle/>
          <a:p>
            <a:pPr algn="l" indent="0" marL="0">
              <a:lnSpc>
                <a:spcPct val="104000"/>
              </a:lnSpc>
              <a:buNone/>
            </a:pPr>
            <a:r>
              <a:rPr lang="en-US" sz="1750" b="1" dirty="0">
                <a:solidFill>
                  <a:srgbClr val="0F172A"/>
                </a:solidFill>
                <a:latin typeface="Arial" pitchFamily="34" charset="0"/>
                <a:ea typeface="Arial" pitchFamily="34" charset="-122"/>
                <a:cs typeface="Arial" pitchFamily="34" charset="-120"/>
              </a:rPr>
              <a:t>Genuine Solution Approach: OS-Kernel Primitives + An 80/20 Plug-In Core</a:t>
            </a:r>
            <a:endParaRPr lang="en-US" sz="1750" dirty="0"/>
          </a:p>
        </p:txBody>
      </p:sp>
      <p:sp>
        <p:nvSpPr>
          <p:cNvPr id="15" name="Text 13"/>
          <p:cNvSpPr/>
          <p:nvPr/>
        </p:nvSpPr>
        <p:spPr>
          <a:xfrm>
            <a:off x="576072" y="658368"/>
            <a:ext cx="11176711" cy="192024"/>
          </a:xfrm>
          <a:prstGeom prst="rect">
            <a:avLst/>
          </a:prstGeom>
          <a:noFill/>
          <a:ln/>
        </p:spPr>
        <p:txBody>
          <a:bodyPr wrap="square" lIns="0" tIns="0" rIns="0" bIns="0" rtlCol="0" anchor="ctr"/>
          <a:lstStyle/>
          <a:p>
            <a:pPr algn="l" indent="0" marL="0">
              <a:lnSpc>
                <a:spcPct val="104000"/>
              </a:lnSpc>
              <a:buNone/>
            </a:pPr>
            <a:r>
              <a:rPr lang="en-US" sz="900" dirty="0">
                <a:solidFill>
                  <a:srgbClr val="64748B"/>
                </a:solidFill>
                <a:latin typeface="Arial" pitchFamily="34" charset="0"/>
                <a:ea typeface="Arial" pitchFamily="34" charset="-122"/>
                <a:cs typeface="Arial" pitchFamily="34" charset="-120"/>
              </a:rPr>
              <a:t>Strip away AI buzzwords by treating agent governance like a classic multi-user OS kernel—then reuse 80% of that kernel across 3 cloud perimeters.</a:t>
            </a:r>
            <a:endParaRPr lang="en-US" sz="900" dirty="0"/>
          </a:p>
        </p:txBody>
      </p:sp>
      <p:sp>
        <p:nvSpPr>
          <p:cNvPr id="16" name="Shape 14"/>
          <p:cNvSpPr/>
          <p:nvPr/>
        </p:nvSpPr>
        <p:spPr>
          <a:xfrm>
            <a:off x="438912" y="914400"/>
            <a:ext cx="11313871" cy="0"/>
          </a:xfrm>
          <a:prstGeom prst="line">
            <a:avLst/>
          </a:prstGeom>
          <a:noFill/>
          <a:ln w="10795">
            <a:solidFill>
              <a:srgbClr val="E2E8F0"/>
            </a:solidFill>
            <a:prstDash val="solid"/>
          </a:ln>
        </p:spPr>
      </p:sp>
      <p:sp>
        <p:nvSpPr>
          <p:cNvPr id="17" name="Shape 15"/>
          <p:cNvSpPr/>
          <p:nvPr/>
        </p:nvSpPr>
        <p:spPr>
          <a:xfrm>
            <a:off x="438912" y="6455664"/>
            <a:ext cx="11313871" cy="0"/>
          </a:xfrm>
          <a:prstGeom prst="line">
            <a:avLst/>
          </a:prstGeom>
          <a:noFill/>
          <a:ln w="9525">
            <a:solidFill>
              <a:srgbClr val="E2E8F0"/>
            </a:solidFill>
            <a:prstDash val="solid"/>
          </a:ln>
        </p:spPr>
      </p:sp>
      <p:sp>
        <p:nvSpPr>
          <p:cNvPr id="18" name="Text 16"/>
          <p:cNvSpPr/>
          <p:nvPr/>
        </p:nvSpPr>
        <p:spPr>
          <a:xfrm>
            <a:off x="438912" y="6501384"/>
            <a:ext cx="5852160" cy="192024"/>
          </a:xfrm>
          <a:prstGeom prst="rect">
            <a:avLst/>
          </a:prstGeom>
          <a:noFill/>
          <a:ln/>
        </p:spPr>
        <p:txBody>
          <a:bodyPr wrap="square" lIns="0" tIns="0" rIns="0" bIns="0" rtlCol="0" anchor="ctr"/>
          <a:lstStyle/>
          <a:p>
            <a:pPr algn="l" indent="0" marL="0">
              <a:lnSpc>
                <a:spcPct val="105000"/>
              </a:lnSpc>
              <a:buNone/>
            </a:pPr>
            <a:r>
              <a:rPr lang="en-US" sz="680" b="1" spc="40" kern="0" dirty="0">
                <a:solidFill>
                  <a:srgbClr val="64748B"/>
                </a:solidFill>
                <a:latin typeface="Arial" pitchFamily="34" charset="0"/>
                <a:ea typeface="Arial" pitchFamily="34" charset="-122"/>
                <a:cs typeface="Arial" pitchFamily="34" charset="-120"/>
              </a:rPr>
              <a:t>GOOGLE CLOUD AI ARCHITECTURE  •  BLOG 1: MULTI-TENANT AGENTIC AI TAXONOMY &amp; 5-HOP BASELINE</a:t>
            </a:r>
            <a:endParaRPr lang="en-US" sz="680" dirty="0"/>
          </a:p>
        </p:txBody>
      </p:sp>
      <p:sp>
        <p:nvSpPr>
          <p:cNvPr id="19" name="Text 17"/>
          <p:cNvSpPr/>
          <p:nvPr/>
        </p:nvSpPr>
        <p:spPr>
          <a:xfrm>
            <a:off x="6355080" y="6501384"/>
            <a:ext cx="4206240" cy="192024"/>
          </a:xfrm>
          <a:prstGeom prst="rect">
            <a:avLst/>
          </a:prstGeom>
          <a:noFill/>
          <a:ln/>
        </p:spPr>
        <p:txBody>
          <a:bodyPr wrap="square" lIns="0" tIns="0" rIns="0" bIns="0" rtlCol="0" anchor="ctr"/>
          <a:lstStyle/>
          <a:p>
            <a:pPr algn="r" indent="0" marL="0">
              <a:lnSpc>
                <a:spcPct val="105000"/>
              </a:lnSpc>
              <a:buNone/>
            </a:pPr>
            <a:r>
              <a:rPr lang="en-US" sz="680" dirty="0">
                <a:solidFill>
                  <a:srgbClr val="64748B"/>
                </a:solidFill>
                <a:latin typeface="Arial" pitchFamily="34" charset="0"/>
                <a:ea typeface="Arial" pitchFamily="34" charset="-122"/>
                <a:cs typeface="Arial" pitchFamily="34" charset="-120"/>
              </a:rPr>
              <a:t>Conceptual Solution Architecture  •  ADK + ARD + MCP Modular Chassis</a:t>
            </a:r>
            <a:endParaRPr lang="en-US" sz="680" dirty="0"/>
          </a:p>
        </p:txBody>
      </p:sp>
      <p:sp>
        <p:nvSpPr>
          <p:cNvPr id="20" name="Shape 18"/>
          <p:cNvSpPr/>
          <p:nvPr/>
        </p:nvSpPr>
        <p:spPr>
          <a:xfrm>
            <a:off x="11002975" y="6501384"/>
            <a:ext cx="749808" cy="192024"/>
          </a:xfrm>
          <a:prstGeom prst="roundRect">
            <a:avLst>
              <a:gd name="adj" fmla="val 19048"/>
            </a:avLst>
          </a:prstGeom>
          <a:solidFill>
            <a:srgbClr val="F1F5F9"/>
          </a:solidFill>
          <a:ln w="7620">
            <a:solidFill>
              <a:srgbClr val="E2E8F0"/>
            </a:solidFill>
            <a:prstDash val="solid"/>
          </a:ln>
        </p:spPr>
      </p:sp>
      <p:sp>
        <p:nvSpPr>
          <p:cNvPr id="21" name="Text 19"/>
          <p:cNvSpPr/>
          <p:nvPr/>
        </p:nvSpPr>
        <p:spPr>
          <a:xfrm>
            <a:off x="11002975" y="6501384"/>
            <a:ext cx="749808" cy="192024"/>
          </a:xfrm>
          <a:prstGeom prst="rect">
            <a:avLst/>
          </a:prstGeom>
          <a:noFill/>
          <a:ln/>
        </p:spPr>
        <p:txBody>
          <a:bodyPr wrap="square" lIns="0" tIns="0" rIns="0" bIns="0" rtlCol="0" anchor="ctr"/>
          <a:lstStyle/>
          <a:p>
            <a:pPr algn="ctr" indent="0" marL="0">
              <a:lnSpc>
                <a:spcPct val="105000"/>
              </a:lnSpc>
              <a:buNone/>
            </a:pPr>
            <a:r>
              <a:rPr lang="en-US" sz="700" b="1" dirty="0">
                <a:solidFill>
                  <a:srgbClr val="334155"/>
                </a:solidFill>
                <a:latin typeface="Arial" pitchFamily="34" charset="0"/>
                <a:ea typeface="Arial" pitchFamily="34" charset="-122"/>
                <a:cs typeface="Arial" pitchFamily="34" charset="-120"/>
              </a:rPr>
              <a:t>05 / 23</a:t>
            </a:r>
            <a:endParaRPr lang="en-US" sz="700" dirty="0"/>
          </a:p>
        </p:txBody>
      </p:sp>
      <p:sp>
        <p:nvSpPr>
          <p:cNvPr id="22" name="Shape 20"/>
          <p:cNvSpPr/>
          <p:nvPr/>
        </p:nvSpPr>
        <p:spPr>
          <a:xfrm>
            <a:off x="461772" y="1068019"/>
            <a:ext cx="5074920" cy="4754880"/>
          </a:xfrm>
          <a:prstGeom prst="roundRect">
            <a:avLst>
              <a:gd name="adj" fmla="val 1346"/>
            </a:avLst>
          </a:prstGeom>
          <a:solidFill>
            <a:srgbClr val="E2E8F0"/>
          </a:solidFill>
          <a:ln/>
        </p:spPr>
      </p:sp>
      <p:sp>
        <p:nvSpPr>
          <p:cNvPr id="23" name="Shape 21"/>
          <p:cNvSpPr/>
          <p:nvPr/>
        </p:nvSpPr>
        <p:spPr>
          <a:xfrm>
            <a:off x="438912" y="1042416"/>
            <a:ext cx="5074920" cy="4754880"/>
          </a:xfrm>
          <a:prstGeom prst="roundRect">
            <a:avLst>
              <a:gd name="adj" fmla="val 1346"/>
            </a:avLst>
          </a:prstGeom>
          <a:solidFill>
            <a:srgbClr val="FFFFFF"/>
          </a:solidFill>
          <a:ln w="10795">
            <a:solidFill>
              <a:srgbClr val="C7D2FE"/>
            </a:solidFill>
            <a:prstDash val="solid"/>
          </a:ln>
        </p:spPr>
      </p:sp>
      <p:sp>
        <p:nvSpPr>
          <p:cNvPr id="24" name="Shape 22"/>
          <p:cNvSpPr/>
          <p:nvPr/>
        </p:nvSpPr>
        <p:spPr>
          <a:xfrm>
            <a:off x="438912" y="1042416"/>
            <a:ext cx="5074920" cy="50292"/>
          </a:xfrm>
          <a:prstGeom prst="roundRect">
            <a:avLst>
              <a:gd name="adj" fmla="val 36364"/>
            </a:avLst>
          </a:prstGeom>
          <a:solidFill>
            <a:srgbClr val="4338CA"/>
          </a:solidFill>
          <a:ln/>
        </p:spPr>
      </p:sp>
      <p:sp>
        <p:nvSpPr>
          <p:cNvPr id="25" name="Shape 23"/>
          <p:cNvSpPr/>
          <p:nvPr/>
        </p:nvSpPr>
        <p:spPr>
          <a:xfrm>
            <a:off x="603504" y="1188720"/>
            <a:ext cx="2880360" cy="219456"/>
          </a:xfrm>
          <a:prstGeom prst="roundRect">
            <a:avLst>
              <a:gd name="adj" fmla="val 33333"/>
            </a:avLst>
          </a:prstGeom>
          <a:solidFill>
            <a:srgbClr val="EEF2FF"/>
          </a:solidFill>
          <a:ln w="9525">
            <a:solidFill>
              <a:srgbClr val="C7D2FE"/>
            </a:solidFill>
            <a:prstDash val="solid"/>
          </a:ln>
        </p:spPr>
      </p:sp>
      <p:sp>
        <p:nvSpPr>
          <p:cNvPr id="26" name="Text 24"/>
          <p:cNvSpPr/>
          <p:nvPr/>
        </p:nvSpPr>
        <p:spPr>
          <a:xfrm>
            <a:off x="603504" y="1188720"/>
            <a:ext cx="2880360" cy="219456"/>
          </a:xfrm>
          <a:prstGeom prst="rect">
            <a:avLst/>
          </a:prstGeom>
          <a:noFill/>
          <a:ln/>
        </p:spPr>
        <p:txBody>
          <a:bodyPr wrap="square" lIns="0" tIns="0" rIns="0" bIns="0" rtlCol="0" anchor="ctr"/>
          <a:lstStyle/>
          <a:p>
            <a:pPr algn="ctr" indent="0" marL="0">
              <a:lnSpc>
                <a:spcPct val="105000"/>
              </a:lnSpc>
              <a:buNone/>
            </a:pPr>
            <a:r>
              <a:rPr lang="en-US" sz="680" b="1" dirty="0">
                <a:solidFill>
                  <a:srgbClr val="4338CA"/>
                </a:solidFill>
                <a:latin typeface="Arial" pitchFamily="34" charset="0"/>
                <a:ea typeface="Arial" pitchFamily="34" charset="-122"/>
                <a:cs typeface="Arial" pitchFamily="34" charset="-120"/>
              </a:rPr>
              <a:t>PART 1  •  ACRONYMS AS OS KERNEL PRIMITIVES</a:t>
            </a:r>
            <a:endParaRPr lang="en-US" sz="680" dirty="0"/>
          </a:p>
        </p:txBody>
      </p:sp>
      <p:sp>
        <p:nvSpPr>
          <p:cNvPr id="27" name="Text 25"/>
          <p:cNvSpPr/>
          <p:nvPr/>
        </p:nvSpPr>
        <p:spPr>
          <a:xfrm>
            <a:off x="603504" y="1481328"/>
            <a:ext cx="4745736" cy="237744"/>
          </a:xfrm>
          <a:prstGeom prst="rect">
            <a:avLst/>
          </a:prstGeom>
          <a:noFill/>
          <a:ln/>
        </p:spPr>
        <p:txBody>
          <a:bodyPr wrap="square" lIns="0" tIns="0" rIns="0" bIns="0" rtlCol="0" anchor="ctr"/>
          <a:lstStyle/>
          <a:p>
            <a:pPr indent="0" marL="0">
              <a:lnSpc>
                <a:spcPct val="105000"/>
              </a:lnSpc>
              <a:buNone/>
            </a:pPr>
            <a:r>
              <a:rPr lang="en-US" sz="1200" b="1" dirty="0">
                <a:solidFill>
                  <a:srgbClr val="0F172A"/>
                </a:solidFill>
                <a:latin typeface="Arial" pitchFamily="34" charset="0"/>
                <a:ea typeface="Arial" pitchFamily="34" charset="-122"/>
                <a:cs typeface="Arial" pitchFamily="34" charset="-120"/>
              </a:rPr>
              <a:t>How the Governance Kernel Isolates Every Turn</a:t>
            </a:r>
            <a:endParaRPr lang="en-US" sz="1200" dirty="0"/>
          </a:p>
        </p:txBody>
      </p:sp>
      <p:sp>
        <p:nvSpPr>
          <p:cNvPr id="28" name="Shape 26"/>
          <p:cNvSpPr/>
          <p:nvPr/>
        </p:nvSpPr>
        <p:spPr>
          <a:xfrm>
            <a:off x="621792" y="1865376"/>
            <a:ext cx="4709160" cy="1060704"/>
          </a:xfrm>
          <a:prstGeom prst="roundRect">
            <a:avLst>
              <a:gd name="adj" fmla="val 6034"/>
            </a:avLst>
          </a:prstGeom>
          <a:solidFill>
            <a:srgbClr val="EEF2FF"/>
          </a:solidFill>
          <a:ln w="10795">
            <a:solidFill>
              <a:srgbClr val="C7D2FE"/>
            </a:solidFill>
            <a:prstDash val="solid"/>
          </a:ln>
        </p:spPr>
      </p:sp>
      <p:sp>
        <p:nvSpPr>
          <p:cNvPr id="29" name="Shape 27"/>
          <p:cNvSpPr/>
          <p:nvPr/>
        </p:nvSpPr>
        <p:spPr>
          <a:xfrm>
            <a:off x="621792" y="1865376"/>
            <a:ext cx="54864" cy="1060704"/>
          </a:xfrm>
          <a:prstGeom prst="roundRect">
            <a:avLst>
              <a:gd name="adj" fmla="val 33333"/>
            </a:avLst>
          </a:prstGeom>
          <a:solidFill>
            <a:srgbClr val="4338CA"/>
          </a:solidFill>
          <a:ln/>
        </p:spPr>
      </p:sp>
      <p:sp>
        <p:nvSpPr>
          <p:cNvPr id="30" name="Shape 28"/>
          <p:cNvSpPr/>
          <p:nvPr/>
        </p:nvSpPr>
        <p:spPr>
          <a:xfrm>
            <a:off x="768096" y="1975104"/>
            <a:ext cx="621792" cy="219456"/>
          </a:xfrm>
          <a:prstGeom prst="roundRect">
            <a:avLst>
              <a:gd name="adj" fmla="val 33333"/>
            </a:avLst>
          </a:prstGeom>
          <a:solidFill>
            <a:srgbClr val="4338CA"/>
          </a:solidFill>
          <a:ln/>
        </p:spPr>
      </p:sp>
      <p:sp>
        <p:nvSpPr>
          <p:cNvPr id="31" name="Text 29"/>
          <p:cNvSpPr/>
          <p:nvPr/>
        </p:nvSpPr>
        <p:spPr>
          <a:xfrm>
            <a:off x="768096" y="1975104"/>
            <a:ext cx="621792" cy="219456"/>
          </a:xfrm>
          <a:prstGeom prst="rect">
            <a:avLst/>
          </a:prstGeom>
          <a:noFill/>
          <a:ln/>
        </p:spPr>
        <p:txBody>
          <a:bodyPr wrap="square" lIns="0" tIns="0" rIns="0" bIns="0" rtlCol="0" anchor="ctr"/>
          <a:lstStyle/>
          <a:p>
            <a:pPr algn="ctr" indent="0" marL="0">
              <a:lnSpc>
                <a:spcPct val="105000"/>
              </a:lnSpc>
              <a:buNone/>
            </a:pPr>
            <a:r>
              <a:rPr lang="en-US" sz="750" b="1" dirty="0">
                <a:solidFill>
                  <a:srgbClr val="FFFFFF"/>
                </a:solidFill>
                <a:latin typeface="Arial" pitchFamily="34" charset="0"/>
                <a:ea typeface="Arial" pitchFamily="34" charset="-122"/>
                <a:cs typeface="Arial" pitchFamily="34" charset="-120"/>
              </a:rPr>
              <a:t>ADK</a:t>
            </a:r>
            <a:endParaRPr lang="en-US" sz="750" dirty="0"/>
          </a:p>
        </p:txBody>
      </p:sp>
      <p:sp>
        <p:nvSpPr>
          <p:cNvPr id="32" name="Text 30"/>
          <p:cNvSpPr/>
          <p:nvPr/>
        </p:nvSpPr>
        <p:spPr>
          <a:xfrm>
            <a:off x="1463040" y="1975104"/>
            <a:ext cx="3721608" cy="219456"/>
          </a:xfrm>
          <a:prstGeom prst="rect">
            <a:avLst/>
          </a:prstGeom>
          <a:noFill/>
          <a:ln/>
        </p:spPr>
        <p:txBody>
          <a:bodyPr wrap="square" lIns="0" tIns="0" rIns="0" bIns="0" rtlCol="0" anchor="ctr"/>
          <a:lstStyle/>
          <a:p>
            <a:pPr indent="0" marL="0">
              <a:lnSpc>
                <a:spcPct val="105000"/>
              </a:lnSpc>
              <a:buNone/>
            </a:pPr>
            <a:r>
              <a:rPr lang="en-US" sz="900" b="1" dirty="0">
                <a:solidFill>
                  <a:srgbClr val="0F172A"/>
                </a:solidFill>
                <a:latin typeface="Arial" pitchFamily="34" charset="0"/>
                <a:ea typeface="Arial" pitchFamily="34" charset="-122"/>
                <a:cs typeface="Arial" pitchFamily="34" charset="-120"/>
              </a:rPr>
              <a:t>Agent Development Kit  = OS Syscall Scheduler</a:t>
            </a:r>
            <a:endParaRPr lang="en-US" sz="900" dirty="0"/>
          </a:p>
        </p:txBody>
      </p:sp>
      <p:sp>
        <p:nvSpPr>
          <p:cNvPr id="33" name="Text 31"/>
          <p:cNvSpPr/>
          <p:nvPr/>
        </p:nvSpPr>
        <p:spPr>
          <a:xfrm>
            <a:off x="768096" y="2267712"/>
            <a:ext cx="4416552" cy="566928"/>
          </a:xfrm>
          <a:prstGeom prst="rect">
            <a:avLst/>
          </a:prstGeom>
          <a:noFill/>
          <a:ln/>
        </p:spPr>
        <p:txBody>
          <a:bodyPr wrap="square" lIns="0" tIns="0" rIns="0" bIns="0" rtlCol="0" anchor="ctr"/>
          <a:lstStyle/>
          <a:p>
            <a:pPr indent="0" marL="0">
              <a:lnSpc>
                <a:spcPct val="110000"/>
              </a:lnSpc>
              <a:buNone/>
            </a:pPr>
            <a:r>
              <a:rPr lang="en-US" sz="780" dirty="0">
                <a:solidFill>
                  <a:srgbClr val="334155"/>
                </a:solidFill>
                <a:latin typeface="Arial" pitchFamily="34" charset="0"/>
                <a:ea typeface="Arial" pitchFamily="34" charset="-122"/>
                <a:cs typeface="Arial" pitchFamily="34" charset="-120"/>
              </a:rPr>
              <a:t>Intercepts EVERY transition via deterministic Python hooks (before_agent, before_model, before_tool) before the LLM can act.</a:t>
            </a:r>
            <a:endParaRPr lang="en-US" sz="780" dirty="0"/>
          </a:p>
        </p:txBody>
      </p:sp>
      <p:sp>
        <p:nvSpPr>
          <p:cNvPr id="34" name="Shape 32"/>
          <p:cNvSpPr/>
          <p:nvPr/>
        </p:nvSpPr>
        <p:spPr>
          <a:xfrm>
            <a:off x="2976372" y="2926080"/>
            <a:ext cx="0" cy="201168"/>
          </a:xfrm>
          <a:prstGeom prst="line">
            <a:avLst/>
          </a:prstGeom>
          <a:noFill/>
          <a:ln w="16510">
            <a:solidFill>
              <a:srgbClr val="475569"/>
            </a:solidFill>
            <a:prstDash val="solid"/>
            <a:tailEnd type="triangle" w="sm" len="sm"/>
          </a:ln>
        </p:spPr>
      </p:sp>
      <p:sp>
        <p:nvSpPr>
          <p:cNvPr id="35" name="Shape 33"/>
          <p:cNvSpPr/>
          <p:nvPr/>
        </p:nvSpPr>
        <p:spPr>
          <a:xfrm>
            <a:off x="621792" y="3127248"/>
            <a:ext cx="4709160" cy="1060704"/>
          </a:xfrm>
          <a:prstGeom prst="roundRect">
            <a:avLst>
              <a:gd name="adj" fmla="val 6034"/>
            </a:avLst>
          </a:prstGeom>
          <a:solidFill>
            <a:srgbClr val="EFF6FF"/>
          </a:solidFill>
          <a:ln w="10795">
            <a:solidFill>
              <a:srgbClr val="BFDBFE"/>
            </a:solidFill>
            <a:prstDash val="solid"/>
          </a:ln>
        </p:spPr>
      </p:sp>
      <p:sp>
        <p:nvSpPr>
          <p:cNvPr id="36" name="Shape 34"/>
          <p:cNvSpPr/>
          <p:nvPr/>
        </p:nvSpPr>
        <p:spPr>
          <a:xfrm>
            <a:off x="621792" y="3127248"/>
            <a:ext cx="54864" cy="1060704"/>
          </a:xfrm>
          <a:prstGeom prst="roundRect">
            <a:avLst>
              <a:gd name="adj" fmla="val 33333"/>
            </a:avLst>
          </a:prstGeom>
          <a:solidFill>
            <a:srgbClr val="1D4ED8"/>
          </a:solidFill>
          <a:ln/>
        </p:spPr>
      </p:sp>
      <p:sp>
        <p:nvSpPr>
          <p:cNvPr id="37" name="Shape 35"/>
          <p:cNvSpPr/>
          <p:nvPr/>
        </p:nvSpPr>
        <p:spPr>
          <a:xfrm>
            <a:off x="768096" y="3236976"/>
            <a:ext cx="621792" cy="219456"/>
          </a:xfrm>
          <a:prstGeom prst="roundRect">
            <a:avLst>
              <a:gd name="adj" fmla="val 33333"/>
            </a:avLst>
          </a:prstGeom>
          <a:solidFill>
            <a:srgbClr val="1D4ED8"/>
          </a:solidFill>
          <a:ln/>
        </p:spPr>
      </p:sp>
      <p:sp>
        <p:nvSpPr>
          <p:cNvPr id="38" name="Text 36"/>
          <p:cNvSpPr/>
          <p:nvPr/>
        </p:nvSpPr>
        <p:spPr>
          <a:xfrm>
            <a:off x="768096" y="3236976"/>
            <a:ext cx="621792" cy="219456"/>
          </a:xfrm>
          <a:prstGeom prst="rect">
            <a:avLst/>
          </a:prstGeom>
          <a:noFill/>
          <a:ln/>
        </p:spPr>
        <p:txBody>
          <a:bodyPr wrap="square" lIns="0" tIns="0" rIns="0" bIns="0" rtlCol="0" anchor="ctr"/>
          <a:lstStyle/>
          <a:p>
            <a:pPr algn="ctr" indent="0" marL="0">
              <a:lnSpc>
                <a:spcPct val="105000"/>
              </a:lnSpc>
              <a:buNone/>
            </a:pPr>
            <a:r>
              <a:rPr lang="en-US" sz="750" b="1" dirty="0">
                <a:solidFill>
                  <a:srgbClr val="FFFFFF"/>
                </a:solidFill>
                <a:latin typeface="Arial" pitchFamily="34" charset="0"/>
                <a:ea typeface="Arial" pitchFamily="34" charset="-122"/>
                <a:cs typeface="Arial" pitchFamily="34" charset="-120"/>
              </a:rPr>
              <a:t>ARD</a:t>
            </a:r>
            <a:endParaRPr lang="en-US" sz="750" dirty="0"/>
          </a:p>
        </p:txBody>
      </p:sp>
      <p:sp>
        <p:nvSpPr>
          <p:cNvPr id="39" name="Text 37"/>
          <p:cNvSpPr/>
          <p:nvPr/>
        </p:nvSpPr>
        <p:spPr>
          <a:xfrm>
            <a:off x="1463040" y="3236976"/>
            <a:ext cx="3721608" cy="219456"/>
          </a:xfrm>
          <a:prstGeom prst="rect">
            <a:avLst/>
          </a:prstGeom>
          <a:noFill/>
          <a:ln/>
        </p:spPr>
        <p:txBody>
          <a:bodyPr wrap="square" lIns="0" tIns="0" rIns="0" bIns="0" rtlCol="0" anchor="ctr"/>
          <a:lstStyle/>
          <a:p>
            <a:pPr indent="0" marL="0">
              <a:lnSpc>
                <a:spcPct val="105000"/>
              </a:lnSpc>
              <a:buNone/>
            </a:pPr>
            <a:r>
              <a:rPr lang="en-US" sz="900" b="1" dirty="0">
                <a:solidFill>
                  <a:srgbClr val="0F172A"/>
                </a:solidFill>
                <a:latin typeface="Arial" pitchFamily="34" charset="0"/>
                <a:ea typeface="Arial" pitchFamily="34" charset="-122"/>
                <a:cs typeface="Arial" pitchFamily="34" charset="-120"/>
              </a:rPr>
              <a:t>Agent Registry &amp; Discovery  = Chrooted Virtual File System</a:t>
            </a:r>
            <a:endParaRPr lang="en-US" sz="900" dirty="0"/>
          </a:p>
        </p:txBody>
      </p:sp>
      <p:sp>
        <p:nvSpPr>
          <p:cNvPr id="40" name="Text 38"/>
          <p:cNvSpPr/>
          <p:nvPr/>
        </p:nvSpPr>
        <p:spPr>
          <a:xfrm>
            <a:off x="768096" y="3529584"/>
            <a:ext cx="4416552" cy="566928"/>
          </a:xfrm>
          <a:prstGeom prst="rect">
            <a:avLst/>
          </a:prstGeom>
          <a:noFill/>
          <a:ln/>
        </p:spPr>
        <p:txBody>
          <a:bodyPr wrap="square" lIns="0" tIns="0" rIns="0" bIns="0" rtlCol="0" anchor="ctr"/>
          <a:lstStyle/>
          <a:p>
            <a:pPr indent="0" marL="0">
              <a:lnSpc>
                <a:spcPct val="110000"/>
              </a:lnSpc>
              <a:buNone/>
            </a:pPr>
            <a:r>
              <a:rPr lang="en-US" sz="780" dirty="0">
                <a:solidFill>
                  <a:srgbClr val="334155"/>
                </a:solidFill>
                <a:latin typeface="Arial" pitchFamily="34" charset="0"/>
                <a:ea typeface="Arial" pitchFamily="34" charset="-122"/>
                <a:cs typeface="Arial" pitchFamily="34" charset="-120"/>
              </a:rPr>
              <a:t>Mounts only agent://{tenant_id}/* and shared agents into the turn context. FinVault Agent Alpha literally does not exist in RetailStream’s VFS.</a:t>
            </a:r>
            <a:endParaRPr lang="en-US" sz="780" dirty="0"/>
          </a:p>
        </p:txBody>
      </p:sp>
      <p:sp>
        <p:nvSpPr>
          <p:cNvPr id="41" name="Shape 39"/>
          <p:cNvSpPr/>
          <p:nvPr/>
        </p:nvSpPr>
        <p:spPr>
          <a:xfrm>
            <a:off x="2976372" y="4187952"/>
            <a:ext cx="0" cy="201168"/>
          </a:xfrm>
          <a:prstGeom prst="line">
            <a:avLst/>
          </a:prstGeom>
          <a:noFill/>
          <a:ln w="16510">
            <a:solidFill>
              <a:srgbClr val="475569"/>
            </a:solidFill>
            <a:prstDash val="solid"/>
            <a:tailEnd type="triangle" w="sm" len="sm"/>
          </a:ln>
        </p:spPr>
      </p:sp>
      <p:sp>
        <p:nvSpPr>
          <p:cNvPr id="42" name="Shape 40"/>
          <p:cNvSpPr/>
          <p:nvPr/>
        </p:nvSpPr>
        <p:spPr>
          <a:xfrm>
            <a:off x="621792" y="4389120"/>
            <a:ext cx="4709160" cy="1060704"/>
          </a:xfrm>
          <a:prstGeom prst="roundRect">
            <a:avLst>
              <a:gd name="adj" fmla="val 6034"/>
            </a:avLst>
          </a:prstGeom>
          <a:solidFill>
            <a:srgbClr val="F0FDFA"/>
          </a:solidFill>
          <a:ln w="10795">
            <a:solidFill>
              <a:srgbClr val="99F6E4"/>
            </a:solidFill>
            <a:prstDash val="solid"/>
          </a:ln>
        </p:spPr>
      </p:sp>
      <p:sp>
        <p:nvSpPr>
          <p:cNvPr id="43" name="Shape 41"/>
          <p:cNvSpPr/>
          <p:nvPr/>
        </p:nvSpPr>
        <p:spPr>
          <a:xfrm>
            <a:off x="621792" y="4389120"/>
            <a:ext cx="54864" cy="1060704"/>
          </a:xfrm>
          <a:prstGeom prst="roundRect">
            <a:avLst>
              <a:gd name="adj" fmla="val 33333"/>
            </a:avLst>
          </a:prstGeom>
          <a:solidFill>
            <a:srgbClr val="0F766E"/>
          </a:solidFill>
          <a:ln/>
        </p:spPr>
      </p:sp>
      <p:sp>
        <p:nvSpPr>
          <p:cNvPr id="44" name="Shape 42"/>
          <p:cNvSpPr/>
          <p:nvPr/>
        </p:nvSpPr>
        <p:spPr>
          <a:xfrm>
            <a:off x="768096" y="4498848"/>
            <a:ext cx="621792" cy="219456"/>
          </a:xfrm>
          <a:prstGeom prst="roundRect">
            <a:avLst>
              <a:gd name="adj" fmla="val 33333"/>
            </a:avLst>
          </a:prstGeom>
          <a:solidFill>
            <a:srgbClr val="0F766E"/>
          </a:solidFill>
          <a:ln/>
        </p:spPr>
      </p:sp>
      <p:sp>
        <p:nvSpPr>
          <p:cNvPr id="45" name="Text 43"/>
          <p:cNvSpPr/>
          <p:nvPr/>
        </p:nvSpPr>
        <p:spPr>
          <a:xfrm>
            <a:off x="768096" y="4498848"/>
            <a:ext cx="621792" cy="219456"/>
          </a:xfrm>
          <a:prstGeom prst="rect">
            <a:avLst/>
          </a:prstGeom>
          <a:noFill/>
          <a:ln/>
        </p:spPr>
        <p:txBody>
          <a:bodyPr wrap="square" lIns="0" tIns="0" rIns="0" bIns="0" rtlCol="0" anchor="ctr"/>
          <a:lstStyle/>
          <a:p>
            <a:pPr algn="ctr" indent="0" marL="0">
              <a:lnSpc>
                <a:spcPct val="105000"/>
              </a:lnSpc>
              <a:buNone/>
            </a:pPr>
            <a:r>
              <a:rPr lang="en-US" sz="750" b="1" dirty="0">
                <a:solidFill>
                  <a:srgbClr val="FFFFFF"/>
                </a:solidFill>
                <a:latin typeface="Arial" pitchFamily="34" charset="0"/>
                <a:ea typeface="Arial" pitchFamily="34" charset="-122"/>
                <a:cs typeface="Arial" pitchFamily="34" charset="-120"/>
              </a:rPr>
              <a:t>MCP</a:t>
            </a:r>
            <a:endParaRPr lang="en-US" sz="750" dirty="0"/>
          </a:p>
        </p:txBody>
      </p:sp>
      <p:sp>
        <p:nvSpPr>
          <p:cNvPr id="46" name="Text 44"/>
          <p:cNvSpPr/>
          <p:nvPr/>
        </p:nvSpPr>
        <p:spPr>
          <a:xfrm>
            <a:off x="1463040" y="4498848"/>
            <a:ext cx="3721608" cy="219456"/>
          </a:xfrm>
          <a:prstGeom prst="rect">
            <a:avLst/>
          </a:prstGeom>
          <a:noFill/>
          <a:ln/>
        </p:spPr>
        <p:txBody>
          <a:bodyPr wrap="square" lIns="0" tIns="0" rIns="0" bIns="0" rtlCol="0" anchor="ctr"/>
          <a:lstStyle/>
          <a:p>
            <a:pPr indent="0" marL="0">
              <a:lnSpc>
                <a:spcPct val="105000"/>
              </a:lnSpc>
              <a:buNone/>
            </a:pPr>
            <a:r>
              <a:rPr lang="en-US" sz="900" b="1" dirty="0">
                <a:solidFill>
                  <a:srgbClr val="0F172A"/>
                </a:solidFill>
                <a:latin typeface="Arial" pitchFamily="34" charset="0"/>
                <a:ea typeface="Arial" pitchFamily="34" charset="-122"/>
                <a:cs typeface="Arial" pitchFamily="34" charset="-120"/>
              </a:rPr>
              <a:t>Model Context Protocol  = Capability-Scoped Driver ABI</a:t>
            </a:r>
            <a:endParaRPr lang="en-US" sz="900" dirty="0"/>
          </a:p>
        </p:txBody>
      </p:sp>
      <p:sp>
        <p:nvSpPr>
          <p:cNvPr id="47" name="Text 45"/>
          <p:cNvSpPr/>
          <p:nvPr/>
        </p:nvSpPr>
        <p:spPr>
          <a:xfrm>
            <a:off x="768096" y="4791456"/>
            <a:ext cx="4416552" cy="566928"/>
          </a:xfrm>
          <a:prstGeom prst="rect">
            <a:avLst/>
          </a:prstGeom>
          <a:noFill/>
          <a:ln/>
        </p:spPr>
        <p:txBody>
          <a:bodyPr wrap="square" lIns="0" tIns="0" rIns="0" bIns="0" rtlCol="0" anchor="ctr"/>
          <a:lstStyle/>
          <a:p>
            <a:pPr indent="0" marL="0">
              <a:lnSpc>
                <a:spcPct val="110000"/>
              </a:lnSpc>
              <a:buNone/>
            </a:pPr>
            <a:r>
              <a:rPr lang="en-US" sz="780" dirty="0">
                <a:solidFill>
                  <a:srgbClr val="334155"/>
                </a:solidFill>
                <a:latin typeface="Arial" pitchFamily="34" charset="0"/>
                <a:ea typeface="Arial" pitchFamily="34" charset="-122"/>
                <a:cs typeface="Arial" pitchFamily="34" charset="-120"/>
              </a:rPr>
              <a:t>Standard JSON-RPC 2.0 device drivers enforcing 2LO service identity and composite vault:{tenant}:{user} 3LO OAuth tokens.</a:t>
            </a:r>
            <a:endParaRPr lang="en-US" sz="780" dirty="0"/>
          </a:p>
        </p:txBody>
      </p:sp>
      <p:sp>
        <p:nvSpPr>
          <p:cNvPr id="48" name="Shape 46"/>
          <p:cNvSpPr/>
          <p:nvPr/>
        </p:nvSpPr>
        <p:spPr>
          <a:xfrm>
            <a:off x="5756148" y="1068019"/>
            <a:ext cx="6019495" cy="4754880"/>
          </a:xfrm>
          <a:prstGeom prst="roundRect">
            <a:avLst>
              <a:gd name="adj" fmla="val 1346"/>
            </a:avLst>
          </a:prstGeom>
          <a:solidFill>
            <a:srgbClr val="E2E8F0"/>
          </a:solidFill>
          <a:ln/>
        </p:spPr>
      </p:sp>
      <p:sp>
        <p:nvSpPr>
          <p:cNvPr id="49" name="Shape 47"/>
          <p:cNvSpPr/>
          <p:nvPr/>
        </p:nvSpPr>
        <p:spPr>
          <a:xfrm>
            <a:off x="5733288" y="1042416"/>
            <a:ext cx="6019495" cy="4754880"/>
          </a:xfrm>
          <a:prstGeom prst="roundRect">
            <a:avLst>
              <a:gd name="adj" fmla="val 1346"/>
            </a:avLst>
          </a:prstGeom>
          <a:solidFill>
            <a:srgbClr val="FFFFFF"/>
          </a:solidFill>
          <a:ln w="10795">
            <a:solidFill>
              <a:srgbClr val="BFDBFE"/>
            </a:solidFill>
            <a:prstDash val="solid"/>
          </a:ln>
        </p:spPr>
      </p:sp>
      <p:sp>
        <p:nvSpPr>
          <p:cNvPr id="50" name="Shape 48"/>
          <p:cNvSpPr/>
          <p:nvPr/>
        </p:nvSpPr>
        <p:spPr>
          <a:xfrm>
            <a:off x="5733288" y="1042416"/>
            <a:ext cx="6019495" cy="50292"/>
          </a:xfrm>
          <a:prstGeom prst="roundRect">
            <a:avLst>
              <a:gd name="adj" fmla="val 36364"/>
            </a:avLst>
          </a:prstGeom>
          <a:solidFill>
            <a:srgbClr val="1D4ED8"/>
          </a:solidFill>
          <a:ln/>
        </p:spPr>
      </p:sp>
      <p:sp>
        <p:nvSpPr>
          <p:cNvPr id="51" name="Shape 49"/>
          <p:cNvSpPr/>
          <p:nvPr/>
        </p:nvSpPr>
        <p:spPr>
          <a:xfrm>
            <a:off x="5916168" y="1188720"/>
            <a:ext cx="3063240" cy="219456"/>
          </a:xfrm>
          <a:prstGeom prst="roundRect">
            <a:avLst>
              <a:gd name="adj" fmla="val 33333"/>
            </a:avLst>
          </a:prstGeom>
          <a:solidFill>
            <a:srgbClr val="EFF6FF"/>
          </a:solidFill>
          <a:ln w="9525">
            <a:solidFill>
              <a:srgbClr val="BFDBFE"/>
            </a:solidFill>
            <a:prstDash val="solid"/>
          </a:ln>
        </p:spPr>
      </p:sp>
      <p:sp>
        <p:nvSpPr>
          <p:cNvPr id="52" name="Text 50"/>
          <p:cNvSpPr/>
          <p:nvPr/>
        </p:nvSpPr>
        <p:spPr>
          <a:xfrm>
            <a:off x="5916168" y="1188720"/>
            <a:ext cx="3063240" cy="219456"/>
          </a:xfrm>
          <a:prstGeom prst="rect">
            <a:avLst/>
          </a:prstGeom>
          <a:noFill/>
          <a:ln/>
        </p:spPr>
        <p:txBody>
          <a:bodyPr wrap="square" lIns="0" tIns="0" rIns="0" bIns="0" rtlCol="0" anchor="ctr"/>
          <a:lstStyle/>
          <a:p>
            <a:pPr algn="ctr" indent="0" marL="0">
              <a:lnSpc>
                <a:spcPct val="105000"/>
              </a:lnSpc>
              <a:buNone/>
            </a:pPr>
            <a:r>
              <a:rPr lang="en-US" sz="680" b="1" dirty="0">
                <a:solidFill>
                  <a:srgbClr val="1D4ED8"/>
                </a:solidFill>
                <a:latin typeface="Arial" pitchFamily="34" charset="0"/>
                <a:ea typeface="Arial" pitchFamily="34" charset="-122"/>
                <a:cs typeface="Arial" pitchFamily="34" charset="-120"/>
              </a:rPr>
              <a:t>PART 2  •  80% SHARED CORE + 20% TOPOLOGY ADAPTERS</a:t>
            </a:r>
            <a:endParaRPr lang="en-US" sz="680" dirty="0"/>
          </a:p>
        </p:txBody>
      </p:sp>
      <p:sp>
        <p:nvSpPr>
          <p:cNvPr id="53" name="Text 51"/>
          <p:cNvSpPr/>
          <p:nvPr/>
        </p:nvSpPr>
        <p:spPr>
          <a:xfrm>
            <a:off x="5916168" y="1481328"/>
            <a:ext cx="5653735" cy="237744"/>
          </a:xfrm>
          <a:prstGeom prst="rect">
            <a:avLst/>
          </a:prstGeom>
          <a:noFill/>
          <a:ln/>
        </p:spPr>
        <p:txBody>
          <a:bodyPr wrap="square" lIns="0" tIns="0" rIns="0" bIns="0" rtlCol="0" anchor="ctr"/>
          <a:lstStyle/>
          <a:p>
            <a:pPr indent="0" marL="0">
              <a:lnSpc>
                <a:spcPct val="105000"/>
              </a:lnSpc>
              <a:buNone/>
            </a:pPr>
            <a:r>
              <a:rPr lang="en-US" sz="1200" b="1" dirty="0">
                <a:solidFill>
                  <a:srgbClr val="0F172A"/>
                </a:solidFill>
                <a:latin typeface="Arial" pitchFamily="34" charset="0"/>
                <a:ea typeface="Arial" pitchFamily="34" charset="-122"/>
                <a:cs typeface="Arial" pitchFamily="34" charset="-120"/>
              </a:rPr>
              <a:t>Write Governance Once — Deploy Across All 3 Tiers</a:t>
            </a:r>
            <a:endParaRPr lang="en-US" sz="1200" dirty="0"/>
          </a:p>
        </p:txBody>
      </p:sp>
      <p:sp>
        <p:nvSpPr>
          <p:cNvPr id="54" name="Shape 52"/>
          <p:cNvSpPr/>
          <p:nvPr/>
        </p:nvSpPr>
        <p:spPr>
          <a:xfrm>
            <a:off x="6834226" y="3401568"/>
            <a:ext cx="0" cy="512064"/>
          </a:xfrm>
          <a:prstGeom prst="line">
            <a:avLst/>
          </a:prstGeom>
          <a:noFill/>
          <a:ln w="19050">
            <a:solidFill>
              <a:srgbClr val="1D4ED8"/>
            </a:solidFill>
            <a:prstDash val="solid"/>
            <a:tailEnd type="triangle" w="sm" len="sm"/>
          </a:ln>
        </p:spPr>
      </p:sp>
      <p:sp>
        <p:nvSpPr>
          <p:cNvPr id="55" name="Shape 53"/>
          <p:cNvSpPr/>
          <p:nvPr/>
        </p:nvSpPr>
        <p:spPr>
          <a:xfrm>
            <a:off x="6520586" y="3561588"/>
            <a:ext cx="628193" cy="192024"/>
          </a:xfrm>
          <a:prstGeom prst="roundRect">
            <a:avLst>
              <a:gd name="adj" fmla="val 38095"/>
            </a:avLst>
          </a:prstGeom>
          <a:solidFill>
            <a:srgbClr val="FFFFFF"/>
          </a:solidFill>
          <a:ln w="9525">
            <a:solidFill>
              <a:srgbClr val="BFDBFE"/>
            </a:solidFill>
            <a:prstDash val="solid"/>
          </a:ln>
        </p:spPr>
      </p:sp>
      <p:sp>
        <p:nvSpPr>
          <p:cNvPr id="56" name="Text 54"/>
          <p:cNvSpPr/>
          <p:nvPr/>
        </p:nvSpPr>
        <p:spPr>
          <a:xfrm>
            <a:off x="6520586" y="3561588"/>
            <a:ext cx="628193" cy="192024"/>
          </a:xfrm>
          <a:prstGeom prst="rect">
            <a:avLst/>
          </a:prstGeom>
          <a:noFill/>
          <a:ln/>
        </p:spPr>
        <p:txBody>
          <a:bodyPr wrap="square" lIns="0" tIns="0" rIns="0" bIns="0" rtlCol="0" anchor="ctr"/>
          <a:lstStyle/>
          <a:p>
            <a:pPr algn="ctr" indent="0" marL="0">
              <a:lnSpc>
                <a:spcPct val="105000"/>
              </a:lnSpc>
              <a:buNone/>
            </a:pPr>
            <a:r>
              <a:rPr lang="en-US" sz="620" b="1" dirty="0">
                <a:solidFill>
                  <a:srgbClr val="1D4ED8"/>
                </a:solidFill>
                <a:latin typeface="Arial" pitchFamily="34" charset="0"/>
                <a:ea typeface="Arial" pitchFamily="34" charset="-122"/>
                <a:cs typeface="Arial" pitchFamily="34" charset="-120"/>
              </a:rPr>
              <a:t>Signed JWT</a:t>
            </a:r>
            <a:endParaRPr lang="en-US" sz="620" dirty="0"/>
          </a:p>
        </p:txBody>
      </p:sp>
      <p:sp>
        <p:nvSpPr>
          <p:cNvPr id="57" name="Shape 55"/>
          <p:cNvSpPr/>
          <p:nvPr/>
        </p:nvSpPr>
        <p:spPr>
          <a:xfrm>
            <a:off x="8743493" y="3401568"/>
            <a:ext cx="0" cy="512064"/>
          </a:xfrm>
          <a:prstGeom prst="line">
            <a:avLst/>
          </a:prstGeom>
          <a:noFill/>
          <a:ln w="19050">
            <a:solidFill>
              <a:srgbClr val="B45309"/>
            </a:solidFill>
            <a:prstDash val="solid"/>
            <a:tailEnd type="triangle" w="sm" len="sm"/>
          </a:ln>
        </p:spPr>
      </p:sp>
      <p:sp>
        <p:nvSpPr>
          <p:cNvPr id="58" name="Shape 56"/>
          <p:cNvSpPr/>
          <p:nvPr/>
        </p:nvSpPr>
        <p:spPr>
          <a:xfrm>
            <a:off x="8428939" y="3561588"/>
            <a:ext cx="628193" cy="192024"/>
          </a:xfrm>
          <a:prstGeom prst="roundRect">
            <a:avLst>
              <a:gd name="adj" fmla="val 38095"/>
            </a:avLst>
          </a:prstGeom>
          <a:solidFill>
            <a:srgbClr val="FFFFFF"/>
          </a:solidFill>
          <a:ln w="9525">
            <a:solidFill>
              <a:srgbClr val="FDE68A"/>
            </a:solidFill>
            <a:prstDash val="solid"/>
          </a:ln>
        </p:spPr>
      </p:sp>
      <p:sp>
        <p:nvSpPr>
          <p:cNvPr id="59" name="Text 57"/>
          <p:cNvSpPr/>
          <p:nvPr/>
        </p:nvSpPr>
        <p:spPr>
          <a:xfrm>
            <a:off x="8428939" y="3561588"/>
            <a:ext cx="628193" cy="192024"/>
          </a:xfrm>
          <a:prstGeom prst="rect">
            <a:avLst/>
          </a:prstGeom>
          <a:noFill/>
          <a:ln/>
        </p:spPr>
        <p:txBody>
          <a:bodyPr wrap="square" lIns="0" tIns="0" rIns="0" bIns="0" rtlCol="0" anchor="ctr"/>
          <a:lstStyle/>
          <a:p>
            <a:pPr algn="ctr" indent="0" marL="0">
              <a:lnSpc>
                <a:spcPct val="105000"/>
              </a:lnSpc>
              <a:buNone/>
            </a:pPr>
            <a:r>
              <a:rPr lang="en-US" sz="620" b="1" dirty="0">
                <a:solidFill>
                  <a:srgbClr val="B45309"/>
                </a:solidFill>
                <a:latin typeface="Arial" pitchFamily="34" charset="0"/>
                <a:ea typeface="Arial" pitchFamily="34" charset="-122"/>
                <a:cs typeface="Arial" pitchFamily="34" charset="-120"/>
              </a:rPr>
              <a:t>Signed JWT</a:t>
            </a:r>
            <a:endParaRPr lang="en-US" sz="620" dirty="0"/>
          </a:p>
        </p:txBody>
      </p:sp>
      <p:sp>
        <p:nvSpPr>
          <p:cNvPr id="60" name="Shape 58"/>
          <p:cNvSpPr/>
          <p:nvPr/>
        </p:nvSpPr>
        <p:spPr>
          <a:xfrm>
            <a:off x="10652760" y="3401568"/>
            <a:ext cx="0" cy="512064"/>
          </a:xfrm>
          <a:prstGeom prst="line">
            <a:avLst/>
          </a:prstGeom>
          <a:noFill/>
          <a:ln w="19050">
            <a:solidFill>
              <a:srgbClr val="0F766E"/>
            </a:solidFill>
            <a:prstDash val="solid"/>
            <a:tailEnd type="triangle" w="sm" len="sm"/>
          </a:ln>
        </p:spPr>
      </p:sp>
      <p:sp>
        <p:nvSpPr>
          <p:cNvPr id="61" name="Shape 59"/>
          <p:cNvSpPr/>
          <p:nvPr/>
        </p:nvSpPr>
        <p:spPr>
          <a:xfrm>
            <a:off x="10338206" y="3561588"/>
            <a:ext cx="628193" cy="192024"/>
          </a:xfrm>
          <a:prstGeom prst="roundRect">
            <a:avLst>
              <a:gd name="adj" fmla="val 38095"/>
            </a:avLst>
          </a:prstGeom>
          <a:solidFill>
            <a:srgbClr val="FFFFFF"/>
          </a:solidFill>
          <a:ln w="9525">
            <a:solidFill>
              <a:srgbClr val="99F6E4"/>
            </a:solidFill>
            <a:prstDash val="solid"/>
          </a:ln>
        </p:spPr>
      </p:sp>
      <p:sp>
        <p:nvSpPr>
          <p:cNvPr id="62" name="Text 60"/>
          <p:cNvSpPr/>
          <p:nvPr/>
        </p:nvSpPr>
        <p:spPr>
          <a:xfrm>
            <a:off x="10338206" y="3561588"/>
            <a:ext cx="628193" cy="192024"/>
          </a:xfrm>
          <a:prstGeom prst="rect">
            <a:avLst/>
          </a:prstGeom>
          <a:noFill/>
          <a:ln/>
        </p:spPr>
        <p:txBody>
          <a:bodyPr wrap="square" lIns="0" tIns="0" rIns="0" bIns="0" rtlCol="0" anchor="ctr"/>
          <a:lstStyle/>
          <a:p>
            <a:pPr algn="ctr" indent="0" marL="0">
              <a:lnSpc>
                <a:spcPct val="105000"/>
              </a:lnSpc>
              <a:buNone/>
            </a:pPr>
            <a:r>
              <a:rPr lang="en-US" sz="620" b="1" dirty="0">
                <a:solidFill>
                  <a:srgbClr val="0F766E"/>
                </a:solidFill>
                <a:latin typeface="Arial" pitchFamily="34" charset="0"/>
                <a:ea typeface="Arial" pitchFamily="34" charset="-122"/>
                <a:cs typeface="Arial" pitchFamily="34" charset="-120"/>
              </a:rPr>
              <a:t>Signed JWT</a:t>
            </a:r>
            <a:endParaRPr lang="en-US" sz="620" dirty="0"/>
          </a:p>
        </p:txBody>
      </p:sp>
      <p:sp>
        <p:nvSpPr>
          <p:cNvPr id="63" name="Shape 61"/>
          <p:cNvSpPr/>
          <p:nvPr/>
        </p:nvSpPr>
        <p:spPr>
          <a:xfrm>
            <a:off x="5975604" y="1890979"/>
            <a:ext cx="5580583" cy="1536192"/>
          </a:xfrm>
          <a:prstGeom prst="roundRect">
            <a:avLst>
              <a:gd name="adj" fmla="val 4167"/>
            </a:avLst>
          </a:prstGeom>
          <a:solidFill>
            <a:srgbClr val="E2E8F0"/>
          </a:solidFill>
          <a:ln/>
        </p:spPr>
      </p:sp>
      <p:sp>
        <p:nvSpPr>
          <p:cNvPr id="64" name="Shape 62"/>
          <p:cNvSpPr/>
          <p:nvPr/>
        </p:nvSpPr>
        <p:spPr>
          <a:xfrm>
            <a:off x="5952744" y="1865376"/>
            <a:ext cx="5580583" cy="1536192"/>
          </a:xfrm>
          <a:prstGeom prst="roundRect">
            <a:avLst>
              <a:gd name="adj" fmla="val 4167"/>
            </a:avLst>
          </a:prstGeom>
          <a:solidFill>
            <a:srgbClr val="1E293B"/>
          </a:solidFill>
          <a:ln w="17780">
            <a:solidFill>
              <a:srgbClr val="4338CA"/>
            </a:solidFill>
            <a:prstDash val="solid"/>
          </a:ln>
        </p:spPr>
      </p:sp>
      <p:sp>
        <p:nvSpPr>
          <p:cNvPr id="65" name="Shape 63"/>
          <p:cNvSpPr/>
          <p:nvPr/>
        </p:nvSpPr>
        <p:spPr>
          <a:xfrm>
            <a:off x="6117336" y="1993392"/>
            <a:ext cx="2176272" cy="219456"/>
          </a:xfrm>
          <a:prstGeom prst="roundRect">
            <a:avLst>
              <a:gd name="adj" fmla="val 33333"/>
            </a:avLst>
          </a:prstGeom>
          <a:solidFill>
            <a:srgbClr val="4338CA"/>
          </a:solidFill>
          <a:ln/>
        </p:spPr>
      </p:sp>
      <p:sp>
        <p:nvSpPr>
          <p:cNvPr id="66" name="Text 64"/>
          <p:cNvSpPr/>
          <p:nvPr/>
        </p:nvSpPr>
        <p:spPr>
          <a:xfrm>
            <a:off x="6117336" y="1993392"/>
            <a:ext cx="2176272" cy="219456"/>
          </a:xfrm>
          <a:prstGeom prst="rect">
            <a:avLst/>
          </a:prstGeom>
          <a:noFill/>
          <a:ln/>
        </p:spPr>
        <p:txBody>
          <a:bodyPr wrap="square" lIns="0" tIns="0" rIns="0" bIns="0" rtlCol="0" anchor="ctr"/>
          <a:lstStyle/>
          <a:p>
            <a:pPr algn="ctr" indent="0" marL="0">
              <a:lnSpc>
                <a:spcPct val="105000"/>
              </a:lnSpc>
              <a:buNone/>
            </a:pPr>
            <a:r>
              <a:rPr lang="en-US" sz="660" b="1" dirty="0">
                <a:solidFill>
                  <a:srgbClr val="FFFFFF"/>
                </a:solidFill>
                <a:latin typeface="Arial" pitchFamily="34" charset="0"/>
                <a:ea typeface="Arial" pitchFamily="34" charset="-122"/>
                <a:cs typeface="Arial" pitchFamily="34" charset="-120"/>
              </a:rPr>
              <a:t>80% IDENTICAL CODE  •  core-cymbal-agent/</a:t>
            </a:r>
            <a:endParaRPr lang="en-US" sz="660" dirty="0"/>
          </a:p>
        </p:txBody>
      </p:sp>
      <p:sp>
        <p:nvSpPr>
          <p:cNvPr id="67" name="Text 65"/>
          <p:cNvSpPr/>
          <p:nvPr/>
        </p:nvSpPr>
        <p:spPr>
          <a:xfrm>
            <a:off x="6117336" y="2267712"/>
            <a:ext cx="5251399" cy="237744"/>
          </a:xfrm>
          <a:prstGeom prst="rect">
            <a:avLst/>
          </a:prstGeom>
          <a:noFill/>
          <a:ln/>
        </p:spPr>
        <p:txBody>
          <a:bodyPr wrap="square" lIns="0" tIns="0" rIns="0" bIns="0" rtlCol="0" anchor="ctr"/>
          <a:lstStyle/>
          <a:p>
            <a:pPr indent="0" marL="0">
              <a:lnSpc>
                <a:spcPct val="105000"/>
              </a:lnSpc>
              <a:buNone/>
            </a:pPr>
            <a:r>
              <a:rPr lang="en-US" sz="1120" b="1" dirty="0">
                <a:solidFill>
                  <a:srgbClr val="FFFFFF"/>
                </a:solidFill>
                <a:latin typeface="Arial" pitchFamily="34" charset="0"/>
                <a:ea typeface="Arial" pitchFamily="34" charset="-122"/>
                <a:cs typeface="Arial" pitchFamily="34" charset="-120"/>
              </a:rPr>
              <a:t>Immutable 5-Hop Cryptographic Governance Core</a:t>
            </a:r>
            <a:endParaRPr lang="en-US" sz="1120" dirty="0"/>
          </a:p>
        </p:txBody>
      </p:sp>
      <p:sp>
        <p:nvSpPr>
          <p:cNvPr id="68" name="Shape 66"/>
          <p:cNvSpPr/>
          <p:nvPr/>
        </p:nvSpPr>
        <p:spPr>
          <a:xfrm>
            <a:off x="6117336" y="2596896"/>
            <a:ext cx="992124" cy="274320"/>
          </a:xfrm>
          <a:prstGeom prst="roundRect">
            <a:avLst>
              <a:gd name="adj" fmla="val 26667"/>
            </a:avLst>
          </a:prstGeom>
          <a:solidFill>
            <a:srgbClr val="475569"/>
          </a:solidFill>
          <a:ln w="9525">
            <a:solidFill>
              <a:srgbClr val="94A3B8"/>
            </a:solidFill>
            <a:prstDash val="solid"/>
          </a:ln>
        </p:spPr>
      </p:sp>
      <p:sp>
        <p:nvSpPr>
          <p:cNvPr id="69" name="Text 67"/>
          <p:cNvSpPr/>
          <p:nvPr/>
        </p:nvSpPr>
        <p:spPr>
          <a:xfrm>
            <a:off x="6117336" y="2596896"/>
            <a:ext cx="992124" cy="274320"/>
          </a:xfrm>
          <a:prstGeom prst="rect">
            <a:avLst/>
          </a:prstGeom>
          <a:noFill/>
          <a:ln/>
        </p:spPr>
        <p:txBody>
          <a:bodyPr wrap="square" lIns="0" tIns="0" rIns="0" bIns="0" rtlCol="0" anchor="ctr"/>
          <a:lstStyle/>
          <a:p>
            <a:pPr algn="ctr" indent="0" marL="0">
              <a:lnSpc>
                <a:spcPct val="105000"/>
              </a:lnSpc>
              <a:buNone/>
            </a:pPr>
            <a:r>
              <a:rPr lang="en-US" sz="670" b="1" dirty="0">
                <a:solidFill>
                  <a:srgbClr val="FFFFFF"/>
                </a:solidFill>
                <a:latin typeface="Arial" pitchFamily="34" charset="0"/>
                <a:ea typeface="Arial" pitchFamily="34" charset="-122"/>
                <a:cs typeface="Arial" pitchFamily="34" charset="-120"/>
              </a:rPr>
              <a:t>1. OBO+DPoP</a:t>
            </a:r>
            <a:endParaRPr lang="en-US" sz="670" dirty="0"/>
          </a:p>
        </p:txBody>
      </p:sp>
      <p:sp>
        <p:nvSpPr>
          <p:cNvPr id="70" name="Shape 68"/>
          <p:cNvSpPr/>
          <p:nvPr/>
        </p:nvSpPr>
        <p:spPr>
          <a:xfrm>
            <a:off x="7182612" y="2596896"/>
            <a:ext cx="992124" cy="274320"/>
          </a:xfrm>
          <a:prstGeom prst="roundRect">
            <a:avLst>
              <a:gd name="adj" fmla="val 26667"/>
            </a:avLst>
          </a:prstGeom>
          <a:solidFill>
            <a:srgbClr val="475569"/>
          </a:solidFill>
          <a:ln w="9525">
            <a:solidFill>
              <a:srgbClr val="94A3B8"/>
            </a:solidFill>
            <a:prstDash val="solid"/>
          </a:ln>
        </p:spPr>
      </p:sp>
      <p:sp>
        <p:nvSpPr>
          <p:cNvPr id="71" name="Text 69"/>
          <p:cNvSpPr/>
          <p:nvPr/>
        </p:nvSpPr>
        <p:spPr>
          <a:xfrm>
            <a:off x="7182612" y="2596896"/>
            <a:ext cx="992124" cy="274320"/>
          </a:xfrm>
          <a:prstGeom prst="rect">
            <a:avLst/>
          </a:prstGeom>
          <a:noFill/>
          <a:ln/>
        </p:spPr>
        <p:txBody>
          <a:bodyPr wrap="square" lIns="0" tIns="0" rIns="0" bIns="0" rtlCol="0" anchor="ctr"/>
          <a:lstStyle/>
          <a:p>
            <a:pPr algn="ctr" indent="0" marL="0">
              <a:lnSpc>
                <a:spcPct val="105000"/>
              </a:lnSpc>
              <a:buNone/>
            </a:pPr>
            <a:r>
              <a:rPr lang="en-US" sz="670" b="1" dirty="0">
                <a:solidFill>
                  <a:srgbClr val="FFFFFF"/>
                </a:solidFill>
                <a:latin typeface="Arial" pitchFamily="34" charset="0"/>
                <a:ea typeface="Arial" pitchFamily="34" charset="-122"/>
                <a:cs typeface="Arial" pitchFamily="34" charset="-120"/>
              </a:rPr>
              <a:t>2. ARD Scope</a:t>
            </a:r>
            <a:endParaRPr lang="en-US" sz="670" dirty="0"/>
          </a:p>
        </p:txBody>
      </p:sp>
      <p:sp>
        <p:nvSpPr>
          <p:cNvPr id="72" name="Shape 70"/>
          <p:cNvSpPr/>
          <p:nvPr/>
        </p:nvSpPr>
        <p:spPr>
          <a:xfrm>
            <a:off x="8247888" y="2596896"/>
            <a:ext cx="992124" cy="274320"/>
          </a:xfrm>
          <a:prstGeom prst="roundRect">
            <a:avLst>
              <a:gd name="adj" fmla="val 26667"/>
            </a:avLst>
          </a:prstGeom>
          <a:solidFill>
            <a:srgbClr val="475569"/>
          </a:solidFill>
          <a:ln w="9525">
            <a:solidFill>
              <a:srgbClr val="94A3B8"/>
            </a:solidFill>
            <a:prstDash val="solid"/>
          </a:ln>
        </p:spPr>
      </p:sp>
      <p:sp>
        <p:nvSpPr>
          <p:cNvPr id="73" name="Text 71"/>
          <p:cNvSpPr/>
          <p:nvPr/>
        </p:nvSpPr>
        <p:spPr>
          <a:xfrm>
            <a:off x="8247888" y="2596896"/>
            <a:ext cx="992124" cy="274320"/>
          </a:xfrm>
          <a:prstGeom prst="rect">
            <a:avLst/>
          </a:prstGeom>
          <a:noFill/>
          <a:ln/>
        </p:spPr>
        <p:txBody>
          <a:bodyPr wrap="square" lIns="0" tIns="0" rIns="0" bIns="0" rtlCol="0" anchor="ctr"/>
          <a:lstStyle/>
          <a:p>
            <a:pPr algn="ctr" indent="0" marL="0">
              <a:lnSpc>
                <a:spcPct val="105000"/>
              </a:lnSpc>
              <a:buNone/>
            </a:pPr>
            <a:r>
              <a:rPr lang="en-US" sz="670" b="1" dirty="0">
                <a:solidFill>
                  <a:srgbClr val="FFFFFF"/>
                </a:solidFill>
                <a:latin typeface="Arial" pitchFamily="34" charset="0"/>
                <a:ea typeface="Arial" pitchFamily="34" charset="-122"/>
                <a:cs typeface="Arial" pitchFamily="34" charset="-120"/>
              </a:rPr>
              <a:t>3. Valkey RPM</a:t>
            </a:r>
            <a:endParaRPr lang="en-US" sz="670" dirty="0"/>
          </a:p>
        </p:txBody>
      </p:sp>
      <p:sp>
        <p:nvSpPr>
          <p:cNvPr id="74" name="Shape 72"/>
          <p:cNvSpPr/>
          <p:nvPr/>
        </p:nvSpPr>
        <p:spPr>
          <a:xfrm>
            <a:off x="9313164" y="2596896"/>
            <a:ext cx="992124" cy="274320"/>
          </a:xfrm>
          <a:prstGeom prst="roundRect">
            <a:avLst>
              <a:gd name="adj" fmla="val 26667"/>
            </a:avLst>
          </a:prstGeom>
          <a:solidFill>
            <a:srgbClr val="475569"/>
          </a:solidFill>
          <a:ln w="9525">
            <a:solidFill>
              <a:srgbClr val="94A3B8"/>
            </a:solidFill>
            <a:prstDash val="solid"/>
          </a:ln>
        </p:spPr>
      </p:sp>
      <p:sp>
        <p:nvSpPr>
          <p:cNvPr id="75" name="Text 73"/>
          <p:cNvSpPr/>
          <p:nvPr/>
        </p:nvSpPr>
        <p:spPr>
          <a:xfrm>
            <a:off x="9313164" y="2596896"/>
            <a:ext cx="992124" cy="274320"/>
          </a:xfrm>
          <a:prstGeom prst="rect">
            <a:avLst/>
          </a:prstGeom>
          <a:noFill/>
          <a:ln/>
        </p:spPr>
        <p:txBody>
          <a:bodyPr wrap="square" lIns="0" tIns="0" rIns="0" bIns="0" rtlCol="0" anchor="ctr"/>
          <a:lstStyle/>
          <a:p>
            <a:pPr algn="ctr" indent="0" marL="0">
              <a:lnSpc>
                <a:spcPct val="105000"/>
              </a:lnSpc>
              <a:buNone/>
            </a:pPr>
            <a:r>
              <a:rPr lang="en-US" sz="670" b="1" dirty="0">
                <a:solidFill>
                  <a:srgbClr val="FFFFFF"/>
                </a:solidFill>
                <a:latin typeface="Arial" pitchFamily="34" charset="0"/>
                <a:ea typeface="Arial" pitchFamily="34" charset="-122"/>
                <a:cs typeface="Arial" pitchFamily="34" charset="-120"/>
              </a:rPr>
              <a:t>4. Model Armor</a:t>
            </a:r>
            <a:endParaRPr lang="en-US" sz="670" dirty="0"/>
          </a:p>
        </p:txBody>
      </p:sp>
      <p:sp>
        <p:nvSpPr>
          <p:cNvPr id="76" name="Shape 74"/>
          <p:cNvSpPr/>
          <p:nvPr/>
        </p:nvSpPr>
        <p:spPr>
          <a:xfrm>
            <a:off x="10378440" y="2596896"/>
            <a:ext cx="992124" cy="274320"/>
          </a:xfrm>
          <a:prstGeom prst="roundRect">
            <a:avLst>
              <a:gd name="adj" fmla="val 26667"/>
            </a:avLst>
          </a:prstGeom>
          <a:solidFill>
            <a:srgbClr val="475569"/>
          </a:solidFill>
          <a:ln w="9525">
            <a:solidFill>
              <a:srgbClr val="94A3B8"/>
            </a:solidFill>
            <a:prstDash val="solid"/>
          </a:ln>
        </p:spPr>
      </p:sp>
      <p:sp>
        <p:nvSpPr>
          <p:cNvPr id="77" name="Text 75"/>
          <p:cNvSpPr/>
          <p:nvPr/>
        </p:nvSpPr>
        <p:spPr>
          <a:xfrm>
            <a:off x="10378440" y="2596896"/>
            <a:ext cx="992124" cy="274320"/>
          </a:xfrm>
          <a:prstGeom prst="rect">
            <a:avLst/>
          </a:prstGeom>
          <a:noFill/>
          <a:ln/>
        </p:spPr>
        <p:txBody>
          <a:bodyPr wrap="square" lIns="0" tIns="0" rIns="0" bIns="0" rtlCol="0" anchor="ctr"/>
          <a:lstStyle/>
          <a:p>
            <a:pPr algn="ctr" indent="0" marL="0">
              <a:lnSpc>
                <a:spcPct val="105000"/>
              </a:lnSpc>
              <a:buNone/>
            </a:pPr>
            <a:r>
              <a:rPr lang="en-US" sz="670" b="1" dirty="0">
                <a:solidFill>
                  <a:srgbClr val="FFFFFF"/>
                </a:solidFill>
                <a:latin typeface="Arial" pitchFamily="34" charset="0"/>
                <a:ea typeface="Arial" pitchFamily="34" charset="-122"/>
                <a:cs typeface="Arial" pitchFamily="34" charset="-120"/>
              </a:rPr>
              <a:t>5. RLS Context</a:t>
            </a:r>
            <a:endParaRPr lang="en-US" sz="670" dirty="0"/>
          </a:p>
        </p:txBody>
      </p:sp>
      <p:sp>
        <p:nvSpPr>
          <p:cNvPr id="78" name="Text 76"/>
          <p:cNvSpPr/>
          <p:nvPr/>
        </p:nvSpPr>
        <p:spPr>
          <a:xfrm>
            <a:off x="6117336" y="2944368"/>
            <a:ext cx="5251399" cy="365760"/>
          </a:xfrm>
          <a:prstGeom prst="rect">
            <a:avLst/>
          </a:prstGeom>
          <a:noFill/>
          <a:ln/>
        </p:spPr>
        <p:txBody>
          <a:bodyPr wrap="square" lIns="0" tIns="0" rIns="0" bIns="0" rtlCol="0" anchor="ctr"/>
          <a:lstStyle/>
          <a:p>
            <a:pPr indent="0" marL="0">
              <a:lnSpc>
                <a:spcPct val="108000"/>
              </a:lnSpc>
              <a:buNone/>
            </a:pPr>
            <a:r>
              <a:rPr lang="en-US" sz="740" dirty="0">
                <a:solidFill>
                  <a:srgbClr val="E2E8F0"/>
                </a:solidFill>
                <a:latin typeface="Arial" pitchFamily="34" charset="0"/>
                <a:ea typeface="Arial" pitchFamily="34" charset="-122"/>
                <a:cs typeface="Arial" pitchFamily="34" charset="-120"/>
              </a:rPr>
              <a:t>Zero topology hardcoding inside agent code: tenant tier, endpoint URI, and KMS key live strictly in signed TenantContext claims + Infrastructure-as-Code.</a:t>
            </a:r>
            <a:endParaRPr lang="en-US" sz="740" dirty="0"/>
          </a:p>
        </p:txBody>
      </p:sp>
      <p:sp>
        <p:nvSpPr>
          <p:cNvPr id="79" name="Shape 77"/>
          <p:cNvSpPr/>
          <p:nvPr/>
        </p:nvSpPr>
        <p:spPr>
          <a:xfrm>
            <a:off x="5952744" y="3913632"/>
            <a:ext cx="1762963" cy="1682496"/>
          </a:xfrm>
          <a:prstGeom prst="roundRect">
            <a:avLst>
              <a:gd name="adj" fmla="val 3804"/>
            </a:avLst>
          </a:prstGeom>
          <a:solidFill>
            <a:srgbClr val="EFF6FF"/>
          </a:solidFill>
          <a:ln w="10795">
            <a:solidFill>
              <a:srgbClr val="BFDBFE"/>
            </a:solidFill>
            <a:prstDash val="solid"/>
          </a:ln>
        </p:spPr>
      </p:sp>
      <p:sp>
        <p:nvSpPr>
          <p:cNvPr id="80" name="Shape 78"/>
          <p:cNvSpPr/>
          <p:nvPr/>
        </p:nvSpPr>
        <p:spPr>
          <a:xfrm>
            <a:off x="5952744" y="3913632"/>
            <a:ext cx="1762963" cy="50292"/>
          </a:xfrm>
          <a:prstGeom prst="roundRect">
            <a:avLst>
              <a:gd name="adj" fmla="val 36364"/>
            </a:avLst>
          </a:prstGeom>
          <a:solidFill>
            <a:srgbClr val="1D4ED8"/>
          </a:solidFill>
          <a:ln/>
        </p:spPr>
      </p:sp>
      <p:sp>
        <p:nvSpPr>
          <p:cNvPr id="81" name="Shape 79"/>
          <p:cNvSpPr/>
          <p:nvPr/>
        </p:nvSpPr>
        <p:spPr>
          <a:xfrm>
            <a:off x="6062472" y="4041648"/>
            <a:ext cx="1543507" cy="201168"/>
          </a:xfrm>
          <a:prstGeom prst="roundRect">
            <a:avLst>
              <a:gd name="adj" fmla="val 36364"/>
            </a:avLst>
          </a:prstGeom>
          <a:solidFill>
            <a:srgbClr val="1D4ED8"/>
          </a:solidFill>
          <a:ln/>
        </p:spPr>
      </p:sp>
      <p:sp>
        <p:nvSpPr>
          <p:cNvPr id="82" name="Text 80"/>
          <p:cNvSpPr/>
          <p:nvPr/>
        </p:nvSpPr>
        <p:spPr>
          <a:xfrm>
            <a:off x="6062472" y="4041648"/>
            <a:ext cx="1543507" cy="201168"/>
          </a:xfrm>
          <a:prstGeom prst="rect">
            <a:avLst/>
          </a:prstGeom>
          <a:noFill/>
          <a:ln/>
        </p:spPr>
        <p:txBody>
          <a:bodyPr wrap="square" lIns="0" tIns="0" rIns="0" bIns="0" rtlCol="0" anchor="ctr"/>
          <a:lstStyle/>
          <a:p>
            <a:pPr algn="ctr" indent="0" marL="0">
              <a:lnSpc>
                <a:spcPct val="105000"/>
              </a:lnSpc>
              <a:buNone/>
            </a:pPr>
            <a:r>
              <a:rPr lang="en-US" sz="640" b="1" dirty="0">
                <a:solidFill>
                  <a:srgbClr val="FFFFFF"/>
                </a:solidFill>
                <a:latin typeface="Arial" pitchFamily="34" charset="0"/>
                <a:ea typeface="Arial" pitchFamily="34" charset="-122"/>
                <a:cs typeface="Arial" pitchFamily="34" charset="-120"/>
              </a:rPr>
              <a:t>ADAPTER A (20%)</a:t>
            </a:r>
            <a:endParaRPr lang="en-US" sz="640" dirty="0"/>
          </a:p>
        </p:txBody>
      </p:sp>
      <p:sp>
        <p:nvSpPr>
          <p:cNvPr id="83" name="Text 81"/>
          <p:cNvSpPr/>
          <p:nvPr/>
        </p:nvSpPr>
        <p:spPr>
          <a:xfrm>
            <a:off x="6062472" y="4297680"/>
            <a:ext cx="1543507" cy="310896"/>
          </a:xfrm>
          <a:prstGeom prst="rect">
            <a:avLst/>
          </a:prstGeom>
          <a:noFill/>
          <a:ln/>
        </p:spPr>
        <p:txBody>
          <a:bodyPr wrap="square" lIns="0" tIns="0" rIns="0" bIns="0" rtlCol="0" anchor="ctr"/>
          <a:lstStyle/>
          <a:p>
            <a:pPr algn="ctr" indent="0" marL="0">
              <a:lnSpc>
                <a:spcPct val="105000"/>
              </a:lnSpc>
              <a:buNone/>
            </a:pPr>
            <a:r>
              <a:rPr lang="en-US" sz="860" b="1" dirty="0">
                <a:solidFill>
                  <a:srgbClr val="0F172A"/>
                </a:solidFill>
                <a:latin typeface="Arial" pitchFamily="34" charset="0"/>
                <a:ea typeface="Arial" pitchFamily="34" charset="-122"/>
                <a:cs typeface="Arial" pitchFamily="34" charset="-120"/>
              </a:rPr>
              <a:t>Pooled Shared Runtime</a:t>
            </a:r>
            <a:endParaRPr lang="en-US" sz="860" dirty="0"/>
          </a:p>
        </p:txBody>
      </p:sp>
      <p:sp>
        <p:nvSpPr>
          <p:cNvPr id="84" name="Text 82"/>
          <p:cNvSpPr/>
          <p:nvPr/>
        </p:nvSpPr>
        <p:spPr>
          <a:xfrm>
            <a:off x="6062472" y="4645152"/>
            <a:ext cx="1543507" cy="621792"/>
          </a:xfrm>
          <a:prstGeom prst="rect">
            <a:avLst/>
          </a:prstGeom>
          <a:noFill/>
          <a:ln/>
        </p:spPr>
        <p:txBody>
          <a:bodyPr wrap="square" lIns="0" tIns="0" rIns="0" bIns="0" rtlCol="0" anchor="ctr"/>
          <a:lstStyle/>
          <a:p>
            <a:pPr algn="ctr" indent="0" marL="0">
              <a:lnSpc>
                <a:spcPct val="108000"/>
              </a:lnSpc>
              <a:buNone/>
            </a:pPr>
            <a:r>
              <a:rPr lang="en-US" sz="720" dirty="0">
                <a:solidFill>
                  <a:srgbClr val="334155"/>
                </a:solidFill>
                <a:latin typeface="Arial" pitchFamily="34" charset="0"/>
                <a:ea typeface="Arial" pitchFamily="34" charset="-122"/>
                <a:cs typeface="Arial" pitchFamily="34" charset="-120"/>
              </a:rPr>
              <a:t>Shared Cloud Run / Agent Engine + Gemini 2.5 Pro 90% prefix cache + AlloyDB FORCE RLS.</a:t>
            </a:r>
            <a:endParaRPr lang="en-US" sz="720" dirty="0"/>
          </a:p>
        </p:txBody>
      </p:sp>
      <p:sp>
        <p:nvSpPr>
          <p:cNvPr id="85" name="Text 83"/>
          <p:cNvSpPr/>
          <p:nvPr/>
        </p:nvSpPr>
        <p:spPr>
          <a:xfrm>
            <a:off x="6044184" y="5303520"/>
            <a:ext cx="1580083" cy="219456"/>
          </a:xfrm>
          <a:prstGeom prst="rect">
            <a:avLst/>
          </a:prstGeom>
          <a:noFill/>
          <a:ln/>
        </p:spPr>
        <p:txBody>
          <a:bodyPr wrap="square" lIns="0" tIns="0" rIns="0" bIns="0" rtlCol="0" anchor="ctr"/>
          <a:lstStyle/>
          <a:p>
            <a:pPr algn="ctr" indent="0" marL="0">
              <a:lnSpc>
                <a:spcPct val="105000"/>
              </a:lnSpc>
              <a:buNone/>
            </a:pPr>
            <a:r>
              <a:rPr lang="en-US" sz="700" b="1" dirty="0">
                <a:solidFill>
                  <a:srgbClr val="1D4ED8"/>
                </a:solidFill>
                <a:latin typeface="Arial" pitchFamily="34" charset="0"/>
                <a:ea typeface="Arial" pitchFamily="34" charset="-122"/>
                <a:cs typeface="Arial" pitchFamily="34" charset="-120"/>
              </a:rPr>
              <a:t>Commercial SaaS (RetailStream)</a:t>
            </a:r>
            <a:endParaRPr lang="en-US" sz="700" dirty="0"/>
          </a:p>
        </p:txBody>
      </p:sp>
      <p:sp>
        <p:nvSpPr>
          <p:cNvPr id="86" name="Shape 84"/>
          <p:cNvSpPr/>
          <p:nvPr/>
        </p:nvSpPr>
        <p:spPr>
          <a:xfrm>
            <a:off x="7862011" y="3913632"/>
            <a:ext cx="1762963" cy="1682496"/>
          </a:xfrm>
          <a:prstGeom prst="roundRect">
            <a:avLst>
              <a:gd name="adj" fmla="val 3804"/>
            </a:avLst>
          </a:prstGeom>
          <a:solidFill>
            <a:srgbClr val="FFFBEB"/>
          </a:solidFill>
          <a:ln w="10795">
            <a:solidFill>
              <a:srgbClr val="FDE68A"/>
            </a:solidFill>
            <a:prstDash val="solid"/>
          </a:ln>
        </p:spPr>
      </p:sp>
      <p:sp>
        <p:nvSpPr>
          <p:cNvPr id="87" name="Shape 85"/>
          <p:cNvSpPr/>
          <p:nvPr/>
        </p:nvSpPr>
        <p:spPr>
          <a:xfrm>
            <a:off x="7862011" y="3913632"/>
            <a:ext cx="1762963" cy="50292"/>
          </a:xfrm>
          <a:prstGeom prst="roundRect">
            <a:avLst>
              <a:gd name="adj" fmla="val 36364"/>
            </a:avLst>
          </a:prstGeom>
          <a:solidFill>
            <a:srgbClr val="B45309"/>
          </a:solidFill>
          <a:ln/>
        </p:spPr>
      </p:sp>
      <p:sp>
        <p:nvSpPr>
          <p:cNvPr id="88" name="Shape 86"/>
          <p:cNvSpPr/>
          <p:nvPr/>
        </p:nvSpPr>
        <p:spPr>
          <a:xfrm>
            <a:off x="7971739" y="4041648"/>
            <a:ext cx="1543507" cy="201168"/>
          </a:xfrm>
          <a:prstGeom prst="roundRect">
            <a:avLst>
              <a:gd name="adj" fmla="val 36364"/>
            </a:avLst>
          </a:prstGeom>
          <a:solidFill>
            <a:srgbClr val="B45309"/>
          </a:solidFill>
          <a:ln/>
        </p:spPr>
      </p:sp>
      <p:sp>
        <p:nvSpPr>
          <p:cNvPr id="89" name="Text 87"/>
          <p:cNvSpPr/>
          <p:nvPr/>
        </p:nvSpPr>
        <p:spPr>
          <a:xfrm>
            <a:off x="7971739" y="4041648"/>
            <a:ext cx="1543507" cy="201168"/>
          </a:xfrm>
          <a:prstGeom prst="rect">
            <a:avLst/>
          </a:prstGeom>
          <a:noFill/>
          <a:ln/>
        </p:spPr>
        <p:txBody>
          <a:bodyPr wrap="square" lIns="0" tIns="0" rIns="0" bIns="0" rtlCol="0" anchor="ctr"/>
          <a:lstStyle/>
          <a:p>
            <a:pPr algn="ctr" indent="0" marL="0">
              <a:lnSpc>
                <a:spcPct val="105000"/>
              </a:lnSpc>
              <a:buNone/>
            </a:pPr>
            <a:r>
              <a:rPr lang="en-US" sz="640" b="1" dirty="0">
                <a:solidFill>
                  <a:srgbClr val="FFFFFF"/>
                </a:solidFill>
                <a:latin typeface="Arial" pitchFamily="34" charset="0"/>
                <a:ea typeface="Arial" pitchFamily="34" charset="-122"/>
                <a:cs typeface="Arial" pitchFamily="34" charset="-120"/>
              </a:rPr>
              <a:t>ADAPTER B (20%)</a:t>
            </a:r>
            <a:endParaRPr lang="en-US" sz="640" dirty="0"/>
          </a:p>
        </p:txBody>
      </p:sp>
      <p:sp>
        <p:nvSpPr>
          <p:cNvPr id="90" name="Text 88"/>
          <p:cNvSpPr/>
          <p:nvPr/>
        </p:nvSpPr>
        <p:spPr>
          <a:xfrm>
            <a:off x="7971739" y="4297680"/>
            <a:ext cx="1543507" cy="310896"/>
          </a:xfrm>
          <a:prstGeom prst="rect">
            <a:avLst/>
          </a:prstGeom>
          <a:noFill/>
          <a:ln/>
        </p:spPr>
        <p:txBody>
          <a:bodyPr wrap="square" lIns="0" tIns="0" rIns="0" bIns="0" rtlCol="0" anchor="ctr"/>
          <a:lstStyle/>
          <a:p>
            <a:pPr algn="ctr" indent="0" marL="0">
              <a:lnSpc>
                <a:spcPct val="105000"/>
              </a:lnSpc>
              <a:buNone/>
            </a:pPr>
            <a:r>
              <a:rPr lang="en-US" sz="860" b="1" dirty="0">
                <a:solidFill>
                  <a:srgbClr val="0F172A"/>
                </a:solidFill>
                <a:latin typeface="Arial" pitchFamily="34" charset="0"/>
                <a:ea typeface="Arial" pitchFamily="34" charset="-122"/>
                <a:cs typeface="Arial" pitchFamily="34" charset="-120"/>
              </a:rPr>
              <a:t>Sovereign Silo Project</a:t>
            </a:r>
            <a:endParaRPr lang="en-US" sz="860" dirty="0"/>
          </a:p>
        </p:txBody>
      </p:sp>
      <p:sp>
        <p:nvSpPr>
          <p:cNvPr id="91" name="Text 89"/>
          <p:cNvSpPr/>
          <p:nvPr/>
        </p:nvSpPr>
        <p:spPr>
          <a:xfrm>
            <a:off x="7971739" y="4645152"/>
            <a:ext cx="1543507" cy="621792"/>
          </a:xfrm>
          <a:prstGeom prst="rect">
            <a:avLst/>
          </a:prstGeom>
          <a:noFill/>
          <a:ln/>
        </p:spPr>
        <p:txBody>
          <a:bodyPr wrap="square" lIns="0" tIns="0" rIns="0" bIns="0" rtlCol="0" anchor="ctr"/>
          <a:lstStyle/>
          <a:p>
            <a:pPr algn="ctr" indent="0" marL="0">
              <a:lnSpc>
                <a:spcPct val="108000"/>
              </a:lnSpc>
              <a:buNone/>
            </a:pPr>
            <a:r>
              <a:rPr lang="en-US" sz="720" dirty="0">
                <a:solidFill>
                  <a:srgbClr val="334155"/>
                </a:solidFill>
                <a:latin typeface="Arial" pitchFamily="34" charset="0"/>
                <a:ea typeface="Arial" pitchFamily="34" charset="-122"/>
                <a:cs typeface="Arial" pitchFamily="34" charset="-120"/>
              </a:rPr>
              <a:t>Per-tenant VPC-SC + IAM PAB + Dedicated PT or GKE Gemma 3 27B + &lt;60s CMEK lock.</a:t>
            </a:r>
            <a:endParaRPr lang="en-US" sz="720" dirty="0"/>
          </a:p>
        </p:txBody>
      </p:sp>
      <p:sp>
        <p:nvSpPr>
          <p:cNvPr id="92" name="Text 90"/>
          <p:cNvSpPr/>
          <p:nvPr/>
        </p:nvSpPr>
        <p:spPr>
          <a:xfrm>
            <a:off x="7953451" y="5303520"/>
            <a:ext cx="1580083" cy="219456"/>
          </a:xfrm>
          <a:prstGeom prst="rect">
            <a:avLst/>
          </a:prstGeom>
          <a:noFill/>
          <a:ln/>
        </p:spPr>
        <p:txBody>
          <a:bodyPr wrap="square" lIns="0" tIns="0" rIns="0" bIns="0" rtlCol="0" anchor="ctr"/>
          <a:lstStyle/>
          <a:p>
            <a:pPr algn="ctr" indent="0" marL="0">
              <a:lnSpc>
                <a:spcPct val="105000"/>
              </a:lnSpc>
              <a:buNone/>
            </a:pPr>
            <a:r>
              <a:rPr lang="en-US" sz="700" b="1" dirty="0">
                <a:solidFill>
                  <a:srgbClr val="B45309"/>
                </a:solidFill>
                <a:latin typeface="Arial" pitchFamily="34" charset="0"/>
                <a:ea typeface="Arial" pitchFamily="34" charset="-122"/>
                <a:cs typeface="Arial" pitchFamily="34" charset="-120"/>
              </a:rPr>
              <a:t>Regulated Banks (FinVault)</a:t>
            </a:r>
            <a:endParaRPr lang="en-US" sz="700" dirty="0"/>
          </a:p>
        </p:txBody>
      </p:sp>
      <p:sp>
        <p:nvSpPr>
          <p:cNvPr id="93" name="Shape 91"/>
          <p:cNvSpPr/>
          <p:nvPr/>
        </p:nvSpPr>
        <p:spPr>
          <a:xfrm>
            <a:off x="9771278" y="3913632"/>
            <a:ext cx="1762963" cy="1682496"/>
          </a:xfrm>
          <a:prstGeom prst="roundRect">
            <a:avLst>
              <a:gd name="adj" fmla="val 3804"/>
            </a:avLst>
          </a:prstGeom>
          <a:solidFill>
            <a:srgbClr val="F0FDFA"/>
          </a:solidFill>
          <a:ln w="10795">
            <a:solidFill>
              <a:srgbClr val="99F6E4"/>
            </a:solidFill>
            <a:prstDash val="solid"/>
          </a:ln>
        </p:spPr>
      </p:sp>
      <p:sp>
        <p:nvSpPr>
          <p:cNvPr id="94" name="Shape 92"/>
          <p:cNvSpPr/>
          <p:nvPr/>
        </p:nvSpPr>
        <p:spPr>
          <a:xfrm>
            <a:off x="9771278" y="3913632"/>
            <a:ext cx="1762963" cy="50292"/>
          </a:xfrm>
          <a:prstGeom prst="roundRect">
            <a:avLst>
              <a:gd name="adj" fmla="val 36364"/>
            </a:avLst>
          </a:prstGeom>
          <a:solidFill>
            <a:srgbClr val="0F766E"/>
          </a:solidFill>
          <a:ln/>
        </p:spPr>
      </p:sp>
      <p:sp>
        <p:nvSpPr>
          <p:cNvPr id="95" name="Shape 93"/>
          <p:cNvSpPr/>
          <p:nvPr/>
        </p:nvSpPr>
        <p:spPr>
          <a:xfrm>
            <a:off x="9881006" y="4041648"/>
            <a:ext cx="1543507" cy="201168"/>
          </a:xfrm>
          <a:prstGeom prst="roundRect">
            <a:avLst>
              <a:gd name="adj" fmla="val 36364"/>
            </a:avLst>
          </a:prstGeom>
          <a:solidFill>
            <a:srgbClr val="0F766E"/>
          </a:solidFill>
          <a:ln/>
        </p:spPr>
      </p:sp>
      <p:sp>
        <p:nvSpPr>
          <p:cNvPr id="96" name="Text 94"/>
          <p:cNvSpPr/>
          <p:nvPr/>
        </p:nvSpPr>
        <p:spPr>
          <a:xfrm>
            <a:off x="9881006" y="4041648"/>
            <a:ext cx="1543507" cy="201168"/>
          </a:xfrm>
          <a:prstGeom prst="rect">
            <a:avLst/>
          </a:prstGeom>
          <a:noFill/>
          <a:ln/>
        </p:spPr>
        <p:txBody>
          <a:bodyPr wrap="square" lIns="0" tIns="0" rIns="0" bIns="0" rtlCol="0" anchor="ctr"/>
          <a:lstStyle/>
          <a:p>
            <a:pPr algn="ctr" indent="0" marL="0">
              <a:lnSpc>
                <a:spcPct val="105000"/>
              </a:lnSpc>
              <a:buNone/>
            </a:pPr>
            <a:r>
              <a:rPr lang="en-US" sz="640" b="1" dirty="0">
                <a:solidFill>
                  <a:srgbClr val="FFFFFF"/>
                </a:solidFill>
                <a:latin typeface="Arial" pitchFamily="34" charset="0"/>
                <a:ea typeface="Arial" pitchFamily="34" charset="-122"/>
                <a:cs typeface="Arial" pitchFamily="34" charset="-120"/>
              </a:rPr>
              <a:t>ADAPTER C (20%)</a:t>
            </a:r>
            <a:endParaRPr lang="en-US" sz="640" dirty="0"/>
          </a:p>
        </p:txBody>
      </p:sp>
      <p:sp>
        <p:nvSpPr>
          <p:cNvPr id="97" name="Text 95"/>
          <p:cNvSpPr/>
          <p:nvPr/>
        </p:nvSpPr>
        <p:spPr>
          <a:xfrm>
            <a:off x="9881006" y="4297680"/>
            <a:ext cx="1543507" cy="310896"/>
          </a:xfrm>
          <a:prstGeom prst="rect">
            <a:avLst/>
          </a:prstGeom>
          <a:noFill/>
          <a:ln/>
        </p:spPr>
        <p:txBody>
          <a:bodyPr wrap="square" lIns="0" tIns="0" rIns="0" bIns="0" rtlCol="0" anchor="ctr"/>
          <a:lstStyle/>
          <a:p>
            <a:pPr algn="ctr" indent="0" marL="0">
              <a:lnSpc>
                <a:spcPct val="105000"/>
              </a:lnSpc>
              <a:buNone/>
            </a:pPr>
            <a:r>
              <a:rPr lang="en-US" sz="860" b="1" dirty="0">
                <a:solidFill>
                  <a:srgbClr val="0F172A"/>
                </a:solidFill>
                <a:latin typeface="Arial" pitchFamily="34" charset="0"/>
                <a:ea typeface="Arial" pitchFamily="34" charset="-122"/>
                <a:cs typeface="Arial" pitchFamily="34" charset="-120"/>
              </a:rPr>
              <a:t>Dynamic Hybrid PSC</a:t>
            </a:r>
            <a:endParaRPr lang="en-US" sz="860" dirty="0"/>
          </a:p>
        </p:txBody>
      </p:sp>
      <p:sp>
        <p:nvSpPr>
          <p:cNvPr id="98" name="Text 96"/>
          <p:cNvSpPr/>
          <p:nvPr/>
        </p:nvSpPr>
        <p:spPr>
          <a:xfrm>
            <a:off x="9881006" y="4645152"/>
            <a:ext cx="1543507" cy="621792"/>
          </a:xfrm>
          <a:prstGeom prst="rect">
            <a:avLst/>
          </a:prstGeom>
          <a:noFill/>
          <a:ln/>
        </p:spPr>
        <p:txBody>
          <a:bodyPr wrap="square" lIns="0" tIns="0" rIns="0" bIns="0" rtlCol="0" anchor="ctr"/>
          <a:lstStyle/>
          <a:p>
            <a:pPr algn="ctr" indent="0" marL="0">
              <a:lnSpc>
                <a:spcPct val="108000"/>
              </a:lnSpc>
              <a:buNone/>
            </a:pPr>
            <a:r>
              <a:rPr lang="en-US" sz="720" dirty="0">
                <a:solidFill>
                  <a:srgbClr val="334155"/>
                </a:solidFill>
                <a:latin typeface="Arial" pitchFamily="34" charset="0"/>
                <a:ea typeface="Arial" pitchFamily="34" charset="-122"/>
                <a:cs typeface="Arial" pitchFamily="34" charset="-120"/>
              </a:rPr>
              <a:t>Pooled Hub routes dynamically via Private Service Connect (/28 NAT) to tenant VPC spokes.</a:t>
            </a:r>
            <a:endParaRPr lang="en-US" sz="720" dirty="0"/>
          </a:p>
        </p:txBody>
      </p:sp>
      <p:sp>
        <p:nvSpPr>
          <p:cNvPr id="99" name="Text 97"/>
          <p:cNvSpPr/>
          <p:nvPr/>
        </p:nvSpPr>
        <p:spPr>
          <a:xfrm>
            <a:off x="9862718" y="5303520"/>
            <a:ext cx="1580083" cy="219456"/>
          </a:xfrm>
          <a:prstGeom prst="rect">
            <a:avLst/>
          </a:prstGeom>
          <a:noFill/>
          <a:ln/>
        </p:spPr>
        <p:txBody>
          <a:bodyPr wrap="square" lIns="0" tIns="0" rIns="0" bIns="0" rtlCol="0" anchor="ctr"/>
          <a:lstStyle/>
          <a:p>
            <a:pPr algn="ctr" indent="0" marL="0">
              <a:lnSpc>
                <a:spcPct val="105000"/>
              </a:lnSpc>
              <a:buNone/>
            </a:pPr>
            <a:r>
              <a:rPr lang="en-US" sz="700" b="1" dirty="0">
                <a:solidFill>
                  <a:srgbClr val="0F766E"/>
                </a:solidFill>
                <a:latin typeface="Arial" pitchFamily="34" charset="0"/>
                <a:ea typeface="Arial" pitchFamily="34" charset="-122"/>
                <a:cs typeface="Arial" pitchFamily="34" charset="-120"/>
              </a:rPr>
              <a:t>0ms Enterprise Upgrades</a:t>
            </a:r>
            <a:endParaRPr lang="en-US" sz="700" dirty="0"/>
          </a:p>
        </p:txBody>
      </p:sp>
      <p:sp>
        <p:nvSpPr>
          <p:cNvPr id="100" name="Shape 98"/>
          <p:cNvSpPr/>
          <p:nvPr/>
        </p:nvSpPr>
        <p:spPr>
          <a:xfrm>
            <a:off x="438912" y="5943600"/>
            <a:ext cx="11313871" cy="420624"/>
          </a:xfrm>
          <a:prstGeom prst="roundRect">
            <a:avLst>
              <a:gd name="adj" fmla="val 13043"/>
            </a:avLst>
          </a:prstGeom>
          <a:solidFill>
            <a:srgbClr val="EEF2FF"/>
          </a:solidFill>
          <a:ln w="11430">
            <a:solidFill>
              <a:srgbClr val="C7D2FE"/>
            </a:solidFill>
            <a:prstDash val="solid"/>
          </a:ln>
        </p:spPr>
      </p:sp>
      <p:sp>
        <p:nvSpPr>
          <p:cNvPr id="101" name="Shape 99"/>
          <p:cNvSpPr/>
          <p:nvPr/>
        </p:nvSpPr>
        <p:spPr>
          <a:xfrm>
            <a:off x="530352" y="6025896"/>
            <a:ext cx="1353312" cy="256032"/>
          </a:xfrm>
          <a:prstGeom prst="roundRect">
            <a:avLst>
              <a:gd name="adj" fmla="val 17857"/>
            </a:avLst>
          </a:prstGeom>
          <a:solidFill>
            <a:srgbClr val="4338CA"/>
          </a:solidFill>
          <a:ln/>
        </p:spPr>
      </p:sp>
      <p:sp>
        <p:nvSpPr>
          <p:cNvPr id="102" name="Text 100"/>
          <p:cNvSpPr/>
          <p:nvPr/>
        </p:nvSpPr>
        <p:spPr>
          <a:xfrm>
            <a:off x="530352" y="6025896"/>
            <a:ext cx="1353312" cy="256032"/>
          </a:xfrm>
          <a:prstGeom prst="rect">
            <a:avLst/>
          </a:prstGeom>
          <a:noFill/>
          <a:ln/>
        </p:spPr>
        <p:txBody>
          <a:bodyPr wrap="square" lIns="0" tIns="0" rIns="0" bIns="0" rtlCol="0" anchor="ctr"/>
          <a:lstStyle/>
          <a:p>
            <a:pPr algn="ctr" indent="0" marL="0">
              <a:lnSpc>
                <a:spcPct val="105000"/>
              </a:lnSpc>
              <a:buNone/>
            </a:pPr>
            <a:r>
              <a:rPr lang="en-US" sz="650" b="1" dirty="0">
                <a:solidFill>
                  <a:srgbClr val="FFFFFF"/>
                </a:solidFill>
                <a:latin typeface="Arial" pitchFamily="34" charset="0"/>
                <a:ea typeface="Arial" pitchFamily="34" charset="-122"/>
                <a:cs typeface="Arial" pitchFamily="34" charset="-120"/>
              </a:rPr>
              <a:t>GENUINE SOLUTION</a:t>
            </a:r>
            <a:endParaRPr lang="en-US" sz="650" dirty="0"/>
          </a:p>
        </p:txBody>
      </p:sp>
      <p:sp>
        <p:nvSpPr>
          <p:cNvPr id="103" name="Text 101"/>
          <p:cNvSpPr/>
          <p:nvPr/>
        </p:nvSpPr>
        <p:spPr>
          <a:xfrm>
            <a:off x="1993392" y="5980176"/>
            <a:ext cx="7555687" cy="347472"/>
          </a:xfrm>
          <a:prstGeom prst="rect">
            <a:avLst/>
          </a:prstGeom>
          <a:noFill/>
          <a:ln/>
        </p:spPr>
        <p:txBody>
          <a:bodyPr wrap="square" lIns="0" tIns="0" rIns="0" bIns="0" rtlCol="0" anchor="ctr"/>
          <a:lstStyle/>
          <a:p>
            <a:pPr algn="l" indent="0" marL="0">
              <a:lnSpc>
                <a:spcPct val="108000"/>
              </a:lnSpc>
              <a:buNone/>
            </a:pPr>
            <a:r>
              <a:rPr lang="en-US" sz="860" b="1" dirty="0">
                <a:solidFill>
                  <a:srgbClr val="0F172A"/>
                </a:solidFill>
                <a:latin typeface="Arial" pitchFamily="34" charset="0"/>
                <a:ea typeface="Arial" pitchFamily="34" charset="-122"/>
                <a:cs typeface="Arial" pitchFamily="34" charset="-120"/>
              </a:rPr>
              <a:t>Promoting a customer from Pooled SaaS (Pattern A) to Hybrid Enterprise (Pattern C) or Sovereign Silo (Pattern B) requires ZERO changes to Python ADK prompts, tools, or guardrail hooks.</a:t>
            </a:r>
            <a:endParaRPr lang="en-US" sz="860" dirty="0"/>
          </a:p>
        </p:txBody>
      </p:sp>
      <p:sp>
        <p:nvSpPr>
          <p:cNvPr id="104" name="Shape 102"/>
          <p:cNvSpPr/>
          <p:nvPr/>
        </p:nvSpPr>
        <p:spPr>
          <a:xfrm>
            <a:off x="9695383" y="6025896"/>
            <a:ext cx="1965960" cy="256032"/>
          </a:xfrm>
          <a:prstGeom prst="roundRect">
            <a:avLst>
              <a:gd name="adj" fmla="val 17857"/>
            </a:avLst>
          </a:prstGeom>
          <a:solidFill>
            <a:srgbClr val="FFFFFF"/>
          </a:solidFill>
          <a:ln w="10795">
            <a:solidFill>
              <a:srgbClr val="4338CA"/>
            </a:solidFill>
            <a:prstDash val="solid"/>
          </a:ln>
        </p:spPr>
      </p:sp>
      <p:sp>
        <p:nvSpPr>
          <p:cNvPr id="105" name="Text 103"/>
          <p:cNvSpPr/>
          <p:nvPr/>
        </p:nvSpPr>
        <p:spPr>
          <a:xfrm>
            <a:off x="9695383" y="6025896"/>
            <a:ext cx="1965960" cy="256032"/>
          </a:xfrm>
          <a:prstGeom prst="rect">
            <a:avLst/>
          </a:prstGeom>
          <a:noFill/>
          <a:ln/>
        </p:spPr>
        <p:txBody>
          <a:bodyPr wrap="square" lIns="0" tIns="0" rIns="0" bIns="0" rtlCol="0" anchor="ctr"/>
          <a:lstStyle/>
          <a:p>
            <a:pPr algn="ctr" indent="0" marL="0">
              <a:lnSpc>
                <a:spcPct val="105000"/>
              </a:lnSpc>
              <a:buNone/>
            </a:pPr>
            <a:r>
              <a:rPr lang="en-US" sz="740" b="1" dirty="0">
                <a:solidFill>
                  <a:srgbClr val="4338CA"/>
                </a:solidFill>
                <a:latin typeface="Arial" pitchFamily="34" charset="0"/>
                <a:ea typeface="Arial" pitchFamily="34" charset="-122"/>
                <a:cs typeface="Arial" pitchFamily="34" charset="-120"/>
              </a:rPr>
              <a:t>80% Code Reuse / 0 Forks</a:t>
            </a:r>
            <a:endParaRPr lang="en-US" sz="7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1148"/>
          </a:xfrm>
          <a:prstGeom prst="rect">
            <a:avLst/>
          </a:prstGeom>
          <a:solidFill>
            <a:srgbClr val="0F766E"/>
          </a:solidFill>
          <a:ln/>
        </p:spPr>
      </p:sp>
      <p:sp>
        <p:nvSpPr>
          <p:cNvPr id="3" name="Shape 1"/>
          <p:cNvSpPr/>
          <p:nvPr/>
        </p:nvSpPr>
        <p:spPr>
          <a:xfrm>
            <a:off x="438912" y="192024"/>
            <a:ext cx="59436" cy="621792"/>
          </a:xfrm>
          <a:prstGeom prst="roundRect">
            <a:avLst>
              <a:gd name="adj" fmla="val 46154"/>
            </a:avLst>
          </a:prstGeom>
          <a:solidFill>
            <a:srgbClr val="0F766E"/>
          </a:solidFill>
          <a:ln/>
        </p:spPr>
      </p:sp>
      <p:sp>
        <p:nvSpPr>
          <p:cNvPr id="4" name="Text 2"/>
          <p:cNvSpPr/>
          <p:nvPr/>
        </p:nvSpPr>
        <p:spPr>
          <a:xfrm>
            <a:off x="576072" y="173736"/>
            <a:ext cx="4389120" cy="146304"/>
          </a:xfrm>
          <a:prstGeom prst="rect">
            <a:avLst/>
          </a:prstGeom>
          <a:noFill/>
          <a:ln/>
        </p:spPr>
        <p:txBody>
          <a:bodyPr wrap="square" lIns="0" tIns="0" rIns="0" bIns="0" rtlCol="0" anchor="ctr"/>
          <a:lstStyle/>
          <a:p>
            <a:pPr algn="l" indent="0" marL="0">
              <a:lnSpc>
                <a:spcPct val="105000"/>
              </a:lnSpc>
              <a:buNone/>
            </a:pPr>
            <a:r>
              <a:rPr lang="en-US" sz="750" b="1" spc="110" kern="0" dirty="0">
                <a:solidFill>
                  <a:srgbClr val="0F766E"/>
                </a:solidFill>
                <a:latin typeface="Arial" pitchFamily="34" charset="0"/>
                <a:ea typeface="Arial" pitchFamily="34" charset="-122"/>
                <a:cs typeface="Arial" pitchFamily="34" charset="-120"/>
              </a:rPr>
              <a:t>03 / ARCHITECTURE CHOICE</a:t>
            </a:r>
            <a:endParaRPr lang="en-US" sz="750" dirty="0"/>
          </a:p>
        </p:txBody>
      </p:sp>
      <p:sp>
        <p:nvSpPr>
          <p:cNvPr id="5" name="Shape 3"/>
          <p:cNvSpPr/>
          <p:nvPr/>
        </p:nvSpPr>
        <p:spPr>
          <a:xfrm>
            <a:off x="8183880" y="219456"/>
            <a:ext cx="228600" cy="59436"/>
          </a:xfrm>
          <a:prstGeom prst="roundRect">
            <a:avLst>
              <a:gd name="adj" fmla="val 46154"/>
            </a:avLst>
          </a:prstGeom>
          <a:solidFill>
            <a:srgbClr val="94A3B8"/>
          </a:solidFill>
          <a:ln/>
        </p:spPr>
      </p:sp>
      <p:sp>
        <p:nvSpPr>
          <p:cNvPr id="6" name="Shape 4"/>
          <p:cNvSpPr/>
          <p:nvPr/>
        </p:nvSpPr>
        <p:spPr>
          <a:xfrm>
            <a:off x="8453628" y="219456"/>
            <a:ext cx="228600" cy="59436"/>
          </a:xfrm>
          <a:prstGeom prst="roundRect">
            <a:avLst>
              <a:gd name="adj" fmla="val 46154"/>
            </a:avLst>
          </a:prstGeom>
          <a:solidFill>
            <a:srgbClr val="94A3B8"/>
          </a:solidFill>
          <a:ln/>
        </p:spPr>
      </p:sp>
      <p:sp>
        <p:nvSpPr>
          <p:cNvPr id="7" name="Shape 5"/>
          <p:cNvSpPr/>
          <p:nvPr/>
        </p:nvSpPr>
        <p:spPr>
          <a:xfrm>
            <a:off x="8723376" y="219456"/>
            <a:ext cx="228600" cy="59436"/>
          </a:xfrm>
          <a:prstGeom prst="roundRect">
            <a:avLst>
              <a:gd name="adj" fmla="val 46154"/>
            </a:avLst>
          </a:prstGeom>
          <a:solidFill>
            <a:srgbClr val="0F766E"/>
          </a:solidFill>
          <a:ln/>
        </p:spPr>
      </p:sp>
      <p:sp>
        <p:nvSpPr>
          <p:cNvPr id="8" name="Shape 6"/>
          <p:cNvSpPr/>
          <p:nvPr/>
        </p:nvSpPr>
        <p:spPr>
          <a:xfrm>
            <a:off x="8993124" y="219456"/>
            <a:ext cx="228600" cy="59436"/>
          </a:xfrm>
          <a:prstGeom prst="roundRect">
            <a:avLst>
              <a:gd name="adj" fmla="val 46154"/>
            </a:avLst>
          </a:prstGeom>
          <a:solidFill>
            <a:srgbClr val="E2E8F0"/>
          </a:solidFill>
          <a:ln/>
        </p:spPr>
      </p:sp>
      <p:sp>
        <p:nvSpPr>
          <p:cNvPr id="9" name="Shape 7"/>
          <p:cNvSpPr/>
          <p:nvPr/>
        </p:nvSpPr>
        <p:spPr>
          <a:xfrm>
            <a:off x="9262872" y="219456"/>
            <a:ext cx="228600" cy="59436"/>
          </a:xfrm>
          <a:prstGeom prst="roundRect">
            <a:avLst>
              <a:gd name="adj" fmla="val 46154"/>
            </a:avLst>
          </a:prstGeom>
          <a:solidFill>
            <a:srgbClr val="E2E8F0"/>
          </a:solidFill>
          <a:ln/>
        </p:spPr>
      </p:sp>
      <p:sp>
        <p:nvSpPr>
          <p:cNvPr id="10" name="Shape 8"/>
          <p:cNvSpPr/>
          <p:nvPr/>
        </p:nvSpPr>
        <p:spPr>
          <a:xfrm>
            <a:off x="9532620" y="219456"/>
            <a:ext cx="228600" cy="59436"/>
          </a:xfrm>
          <a:prstGeom prst="roundRect">
            <a:avLst>
              <a:gd name="adj" fmla="val 46154"/>
            </a:avLst>
          </a:prstGeom>
          <a:solidFill>
            <a:srgbClr val="E2E8F0"/>
          </a:solidFill>
          <a:ln/>
        </p:spPr>
      </p:sp>
      <p:sp>
        <p:nvSpPr>
          <p:cNvPr id="11" name="Shape 9"/>
          <p:cNvSpPr/>
          <p:nvPr/>
        </p:nvSpPr>
        <p:spPr>
          <a:xfrm>
            <a:off x="9802368" y="219456"/>
            <a:ext cx="228600" cy="59436"/>
          </a:xfrm>
          <a:prstGeom prst="roundRect">
            <a:avLst>
              <a:gd name="adj" fmla="val 46154"/>
            </a:avLst>
          </a:prstGeom>
          <a:solidFill>
            <a:srgbClr val="E2E8F0"/>
          </a:solidFill>
          <a:ln/>
        </p:spPr>
      </p:sp>
      <p:sp>
        <p:nvSpPr>
          <p:cNvPr id="12" name="Shape 10"/>
          <p:cNvSpPr/>
          <p:nvPr/>
        </p:nvSpPr>
        <p:spPr>
          <a:xfrm>
            <a:off x="10131552" y="146304"/>
            <a:ext cx="1621231" cy="192024"/>
          </a:xfrm>
          <a:prstGeom prst="roundRect">
            <a:avLst>
              <a:gd name="adj" fmla="val 23810"/>
            </a:avLst>
          </a:prstGeom>
          <a:solidFill>
            <a:srgbClr val="FFFFFF"/>
          </a:solidFill>
          <a:ln w="9525">
            <a:solidFill>
              <a:srgbClr val="CBD5E1"/>
            </a:solidFill>
            <a:prstDash val="solid"/>
          </a:ln>
        </p:spPr>
      </p:sp>
      <p:sp>
        <p:nvSpPr>
          <p:cNvPr id="13" name="Text 11"/>
          <p:cNvSpPr/>
          <p:nvPr/>
        </p:nvSpPr>
        <p:spPr>
          <a:xfrm>
            <a:off x="10131552" y="146304"/>
            <a:ext cx="1621231" cy="192024"/>
          </a:xfrm>
          <a:prstGeom prst="rect">
            <a:avLst/>
          </a:prstGeom>
          <a:noFill/>
          <a:ln/>
        </p:spPr>
        <p:txBody>
          <a:bodyPr wrap="square" lIns="0" tIns="0" rIns="0" bIns="0" rtlCol="0" anchor="ctr"/>
          <a:lstStyle/>
          <a:p>
            <a:pPr algn="ctr" indent="0" marL="0">
              <a:lnSpc>
                <a:spcPct val="105000"/>
              </a:lnSpc>
              <a:buNone/>
            </a:pPr>
            <a:r>
              <a:rPr lang="en-US" sz="680" b="1" spc="60" kern="0" dirty="0">
                <a:solidFill>
                  <a:srgbClr val="0F766E"/>
                </a:solidFill>
                <a:latin typeface="Arial" pitchFamily="34" charset="0"/>
                <a:ea typeface="Arial" pitchFamily="34" charset="-122"/>
                <a:cs typeface="Arial" pitchFamily="34" charset="-120"/>
              </a:rPr>
              <a:t>DECISION FLOWCHART</a:t>
            </a:r>
            <a:endParaRPr lang="en-US" sz="680" dirty="0"/>
          </a:p>
        </p:txBody>
      </p:sp>
      <p:sp>
        <p:nvSpPr>
          <p:cNvPr id="14" name="Text 12"/>
          <p:cNvSpPr/>
          <p:nvPr/>
        </p:nvSpPr>
        <p:spPr>
          <a:xfrm>
            <a:off x="576072" y="338328"/>
            <a:ext cx="11176711" cy="310896"/>
          </a:xfrm>
          <a:prstGeom prst="rect">
            <a:avLst/>
          </a:prstGeom>
          <a:noFill/>
          <a:ln/>
        </p:spPr>
        <p:txBody>
          <a:bodyPr wrap="square" lIns="0" tIns="0" rIns="0" bIns="0" rtlCol="0" anchor="ctr"/>
          <a:lstStyle/>
          <a:p>
            <a:pPr algn="l" indent="0" marL="0">
              <a:lnSpc>
                <a:spcPct val="104000"/>
              </a:lnSpc>
              <a:buNone/>
            </a:pPr>
            <a:r>
              <a:rPr lang="en-US" sz="1750" b="1" dirty="0">
                <a:solidFill>
                  <a:srgbClr val="0F172A"/>
                </a:solidFill>
                <a:latin typeface="Arial" pitchFamily="34" charset="0"/>
                <a:ea typeface="Arial" pitchFamily="34" charset="-122"/>
                <a:cs typeface="Arial" pitchFamily="34" charset="-120"/>
              </a:rPr>
              <a:t>Two Architectural Questions Assign Every Tenant to the Right Isolation Tier</a:t>
            </a:r>
            <a:endParaRPr lang="en-US" sz="1750" dirty="0"/>
          </a:p>
        </p:txBody>
      </p:sp>
      <p:sp>
        <p:nvSpPr>
          <p:cNvPr id="15" name="Text 13"/>
          <p:cNvSpPr/>
          <p:nvPr/>
        </p:nvSpPr>
        <p:spPr>
          <a:xfrm>
            <a:off x="576072" y="658368"/>
            <a:ext cx="11176711" cy="192024"/>
          </a:xfrm>
          <a:prstGeom prst="rect">
            <a:avLst/>
          </a:prstGeom>
          <a:noFill/>
          <a:ln/>
        </p:spPr>
        <p:txBody>
          <a:bodyPr wrap="square" lIns="0" tIns="0" rIns="0" bIns="0" rtlCol="0" anchor="ctr"/>
          <a:lstStyle/>
          <a:p>
            <a:pPr algn="l" indent="0" marL="0">
              <a:lnSpc>
                <a:spcPct val="104000"/>
              </a:lnSpc>
              <a:buNone/>
            </a:pPr>
            <a:r>
              <a:rPr lang="en-US" sz="900" dirty="0">
                <a:solidFill>
                  <a:srgbClr val="64748B"/>
                </a:solidFill>
                <a:latin typeface="Arial" pitchFamily="34" charset="0"/>
                <a:ea typeface="Arial" pitchFamily="34" charset="-122"/>
                <a:cs typeface="Arial" pitchFamily="34" charset="-120"/>
              </a:rPr>
              <a:t>Start with the lightest pattern that satisfies the tenant’s legal encryption and network mandate—and promote live via routing config when they grow.</a:t>
            </a:r>
            <a:endParaRPr lang="en-US" sz="900" dirty="0"/>
          </a:p>
        </p:txBody>
      </p:sp>
      <p:sp>
        <p:nvSpPr>
          <p:cNvPr id="16" name="Shape 14"/>
          <p:cNvSpPr/>
          <p:nvPr/>
        </p:nvSpPr>
        <p:spPr>
          <a:xfrm>
            <a:off x="438912" y="914400"/>
            <a:ext cx="11313871" cy="0"/>
          </a:xfrm>
          <a:prstGeom prst="line">
            <a:avLst/>
          </a:prstGeom>
          <a:noFill/>
          <a:ln w="10795">
            <a:solidFill>
              <a:srgbClr val="E2E8F0"/>
            </a:solidFill>
            <a:prstDash val="solid"/>
          </a:ln>
        </p:spPr>
      </p:sp>
      <p:sp>
        <p:nvSpPr>
          <p:cNvPr id="17" name="Shape 15"/>
          <p:cNvSpPr/>
          <p:nvPr/>
        </p:nvSpPr>
        <p:spPr>
          <a:xfrm>
            <a:off x="438912" y="6455664"/>
            <a:ext cx="11313871" cy="0"/>
          </a:xfrm>
          <a:prstGeom prst="line">
            <a:avLst/>
          </a:prstGeom>
          <a:noFill/>
          <a:ln w="9525">
            <a:solidFill>
              <a:srgbClr val="E2E8F0"/>
            </a:solidFill>
            <a:prstDash val="solid"/>
          </a:ln>
        </p:spPr>
      </p:sp>
      <p:sp>
        <p:nvSpPr>
          <p:cNvPr id="18" name="Text 16"/>
          <p:cNvSpPr/>
          <p:nvPr/>
        </p:nvSpPr>
        <p:spPr>
          <a:xfrm>
            <a:off x="438912" y="6501384"/>
            <a:ext cx="5852160" cy="192024"/>
          </a:xfrm>
          <a:prstGeom prst="rect">
            <a:avLst/>
          </a:prstGeom>
          <a:noFill/>
          <a:ln/>
        </p:spPr>
        <p:txBody>
          <a:bodyPr wrap="square" lIns="0" tIns="0" rIns="0" bIns="0" rtlCol="0" anchor="ctr"/>
          <a:lstStyle/>
          <a:p>
            <a:pPr algn="l" indent="0" marL="0">
              <a:lnSpc>
                <a:spcPct val="105000"/>
              </a:lnSpc>
              <a:buNone/>
            </a:pPr>
            <a:r>
              <a:rPr lang="en-US" sz="680" b="1" spc="40" kern="0" dirty="0">
                <a:solidFill>
                  <a:srgbClr val="64748B"/>
                </a:solidFill>
                <a:latin typeface="Arial" pitchFamily="34" charset="0"/>
                <a:ea typeface="Arial" pitchFamily="34" charset="-122"/>
                <a:cs typeface="Arial" pitchFamily="34" charset="-120"/>
              </a:rPr>
              <a:t>GOOGLE CLOUD AI ARCHITECTURE  •  BLOG 1: MULTI-TENANT AGENTIC AI TAXONOMY &amp; 5-HOP BASELINE</a:t>
            </a:r>
            <a:endParaRPr lang="en-US" sz="680" dirty="0"/>
          </a:p>
        </p:txBody>
      </p:sp>
      <p:sp>
        <p:nvSpPr>
          <p:cNvPr id="19" name="Text 17"/>
          <p:cNvSpPr/>
          <p:nvPr/>
        </p:nvSpPr>
        <p:spPr>
          <a:xfrm>
            <a:off x="6355080" y="6501384"/>
            <a:ext cx="4206240" cy="192024"/>
          </a:xfrm>
          <a:prstGeom prst="rect">
            <a:avLst/>
          </a:prstGeom>
          <a:noFill/>
          <a:ln/>
        </p:spPr>
        <p:txBody>
          <a:bodyPr wrap="square" lIns="0" tIns="0" rIns="0" bIns="0" rtlCol="0" anchor="ctr"/>
          <a:lstStyle/>
          <a:p>
            <a:pPr algn="r" indent="0" marL="0">
              <a:lnSpc>
                <a:spcPct val="105000"/>
              </a:lnSpc>
              <a:buNone/>
            </a:pPr>
            <a:r>
              <a:rPr lang="en-US" sz="680" dirty="0">
                <a:solidFill>
                  <a:srgbClr val="64748B"/>
                </a:solidFill>
                <a:latin typeface="Arial" pitchFamily="34" charset="0"/>
                <a:ea typeface="Arial" pitchFamily="34" charset="-122"/>
                <a:cs typeface="Arial" pitchFamily="34" charset="-120"/>
              </a:rPr>
              <a:t>Decision Framework  •  Pattern A (WS2) vs. Pattern B (WS3) vs. Pattern C (WS4)</a:t>
            </a:r>
            <a:endParaRPr lang="en-US" sz="680" dirty="0"/>
          </a:p>
        </p:txBody>
      </p:sp>
      <p:sp>
        <p:nvSpPr>
          <p:cNvPr id="20" name="Shape 18"/>
          <p:cNvSpPr/>
          <p:nvPr/>
        </p:nvSpPr>
        <p:spPr>
          <a:xfrm>
            <a:off x="11002975" y="6501384"/>
            <a:ext cx="749808" cy="192024"/>
          </a:xfrm>
          <a:prstGeom prst="roundRect">
            <a:avLst>
              <a:gd name="adj" fmla="val 19048"/>
            </a:avLst>
          </a:prstGeom>
          <a:solidFill>
            <a:srgbClr val="F1F5F9"/>
          </a:solidFill>
          <a:ln w="7620">
            <a:solidFill>
              <a:srgbClr val="E2E8F0"/>
            </a:solidFill>
            <a:prstDash val="solid"/>
          </a:ln>
        </p:spPr>
      </p:sp>
      <p:sp>
        <p:nvSpPr>
          <p:cNvPr id="21" name="Text 19"/>
          <p:cNvSpPr/>
          <p:nvPr/>
        </p:nvSpPr>
        <p:spPr>
          <a:xfrm>
            <a:off x="11002975" y="6501384"/>
            <a:ext cx="749808" cy="192024"/>
          </a:xfrm>
          <a:prstGeom prst="rect">
            <a:avLst/>
          </a:prstGeom>
          <a:noFill/>
          <a:ln/>
        </p:spPr>
        <p:txBody>
          <a:bodyPr wrap="square" lIns="0" tIns="0" rIns="0" bIns="0" rtlCol="0" anchor="ctr"/>
          <a:lstStyle/>
          <a:p>
            <a:pPr algn="ctr" indent="0" marL="0">
              <a:lnSpc>
                <a:spcPct val="105000"/>
              </a:lnSpc>
              <a:buNone/>
            </a:pPr>
            <a:r>
              <a:rPr lang="en-US" sz="700" b="1" dirty="0">
                <a:solidFill>
                  <a:srgbClr val="334155"/>
                </a:solidFill>
                <a:latin typeface="Arial" pitchFamily="34" charset="0"/>
                <a:ea typeface="Arial" pitchFamily="34" charset="-122"/>
                <a:cs typeface="Arial" pitchFamily="34" charset="-120"/>
              </a:rPr>
              <a:t>06 / 23</a:t>
            </a:r>
            <a:endParaRPr lang="en-US" sz="700" dirty="0"/>
          </a:p>
        </p:txBody>
      </p:sp>
      <p:sp>
        <p:nvSpPr>
          <p:cNvPr id="22" name="Shape 20"/>
          <p:cNvSpPr/>
          <p:nvPr/>
        </p:nvSpPr>
        <p:spPr>
          <a:xfrm>
            <a:off x="461772" y="1049731"/>
            <a:ext cx="11313871" cy="2432304"/>
          </a:xfrm>
          <a:prstGeom prst="roundRect">
            <a:avLst>
              <a:gd name="adj" fmla="val 2632"/>
            </a:avLst>
          </a:prstGeom>
          <a:solidFill>
            <a:srgbClr val="E2E8F0"/>
          </a:solidFill>
          <a:ln/>
        </p:spPr>
      </p:sp>
      <p:sp>
        <p:nvSpPr>
          <p:cNvPr id="23" name="Shape 21"/>
          <p:cNvSpPr/>
          <p:nvPr/>
        </p:nvSpPr>
        <p:spPr>
          <a:xfrm>
            <a:off x="438912" y="1024128"/>
            <a:ext cx="11313871" cy="2432304"/>
          </a:xfrm>
          <a:prstGeom prst="roundRect">
            <a:avLst>
              <a:gd name="adj" fmla="val 2632"/>
            </a:avLst>
          </a:prstGeom>
          <a:solidFill>
            <a:srgbClr val="FFFFFF"/>
          </a:solidFill>
          <a:ln w="10795">
            <a:solidFill>
              <a:srgbClr val="CBD5E1"/>
            </a:solidFill>
            <a:prstDash val="solid"/>
          </a:ln>
        </p:spPr>
      </p:sp>
      <p:sp>
        <p:nvSpPr>
          <p:cNvPr id="24" name="Shape 22"/>
          <p:cNvSpPr/>
          <p:nvPr/>
        </p:nvSpPr>
        <p:spPr>
          <a:xfrm>
            <a:off x="438912" y="1024128"/>
            <a:ext cx="11313871" cy="50292"/>
          </a:xfrm>
          <a:prstGeom prst="roundRect">
            <a:avLst>
              <a:gd name="adj" fmla="val 36364"/>
            </a:avLst>
          </a:prstGeom>
          <a:solidFill>
            <a:srgbClr val="0F766E"/>
          </a:solidFill>
          <a:ln/>
        </p:spPr>
      </p:sp>
      <p:sp>
        <p:nvSpPr>
          <p:cNvPr id="25" name="Text 23"/>
          <p:cNvSpPr/>
          <p:nvPr/>
        </p:nvSpPr>
        <p:spPr>
          <a:xfrm>
            <a:off x="603504" y="1133856"/>
            <a:ext cx="4114800" cy="164592"/>
          </a:xfrm>
          <a:prstGeom prst="rect">
            <a:avLst/>
          </a:prstGeom>
          <a:noFill/>
          <a:ln/>
        </p:spPr>
        <p:txBody>
          <a:bodyPr wrap="square" lIns="0" tIns="0" rIns="0" bIns="0" rtlCol="0" anchor="ctr"/>
          <a:lstStyle/>
          <a:p>
            <a:pPr indent="0" marL="0">
              <a:lnSpc>
                <a:spcPct val="105000"/>
              </a:lnSpc>
              <a:buNone/>
            </a:pPr>
            <a:r>
              <a:rPr lang="en-US" sz="740" b="1" spc="80" kern="0" dirty="0">
                <a:solidFill>
                  <a:srgbClr val="0F766E"/>
                </a:solidFill>
                <a:latin typeface="Arial" pitchFamily="34" charset="0"/>
                <a:ea typeface="Arial" pitchFamily="34" charset="-122"/>
                <a:cs typeface="Arial" pitchFamily="34" charset="-120"/>
              </a:rPr>
              <a:t>ARCHITECTURE SELECTION DECISION TREE</a:t>
            </a:r>
            <a:endParaRPr lang="en-US" sz="740" dirty="0"/>
          </a:p>
        </p:txBody>
      </p:sp>
      <p:sp>
        <p:nvSpPr>
          <p:cNvPr id="26" name="Shape 24"/>
          <p:cNvSpPr/>
          <p:nvPr/>
        </p:nvSpPr>
        <p:spPr>
          <a:xfrm flipV="1">
            <a:off x="1993392" y="2258568"/>
            <a:ext cx="475488" cy="0"/>
          </a:xfrm>
          <a:prstGeom prst="line">
            <a:avLst/>
          </a:prstGeom>
          <a:noFill/>
          <a:ln w="17780">
            <a:solidFill>
              <a:srgbClr val="1E293B"/>
            </a:solidFill>
            <a:prstDash val="solid"/>
            <a:tailEnd type="triangle" w="sm" len="sm"/>
          </a:ln>
        </p:spPr>
      </p:sp>
      <p:sp>
        <p:nvSpPr>
          <p:cNvPr id="27" name="Shape 25"/>
          <p:cNvSpPr/>
          <p:nvPr/>
        </p:nvSpPr>
        <p:spPr>
          <a:xfrm>
            <a:off x="4892040" y="2029968"/>
            <a:ext cx="384048" cy="0"/>
          </a:xfrm>
          <a:prstGeom prst="line">
            <a:avLst/>
          </a:prstGeom>
          <a:noFill/>
          <a:ln w="17780">
            <a:solidFill>
              <a:srgbClr val="D97706"/>
            </a:solidFill>
            <a:prstDash val="solid"/>
          </a:ln>
        </p:spPr>
      </p:sp>
      <p:sp>
        <p:nvSpPr>
          <p:cNvPr id="28" name="Shape 26"/>
          <p:cNvSpPr/>
          <p:nvPr/>
        </p:nvSpPr>
        <p:spPr>
          <a:xfrm flipV="1">
            <a:off x="5276088" y="1700784"/>
            <a:ext cx="0" cy="329184"/>
          </a:xfrm>
          <a:prstGeom prst="line">
            <a:avLst/>
          </a:prstGeom>
          <a:noFill/>
          <a:ln w="17780">
            <a:solidFill>
              <a:srgbClr val="D97706"/>
            </a:solidFill>
            <a:prstDash val="solid"/>
          </a:ln>
        </p:spPr>
      </p:sp>
      <p:sp>
        <p:nvSpPr>
          <p:cNvPr id="29" name="Shape 27"/>
          <p:cNvSpPr/>
          <p:nvPr/>
        </p:nvSpPr>
        <p:spPr>
          <a:xfrm>
            <a:off x="5276088" y="1700784"/>
            <a:ext cx="420624" cy="0"/>
          </a:xfrm>
          <a:prstGeom prst="line">
            <a:avLst/>
          </a:prstGeom>
          <a:noFill/>
          <a:ln w="17780">
            <a:solidFill>
              <a:srgbClr val="D97706"/>
            </a:solidFill>
            <a:prstDash val="solid"/>
            <a:tailEnd type="triangle" w="sm" len="sm"/>
          </a:ln>
        </p:spPr>
      </p:sp>
      <p:sp>
        <p:nvSpPr>
          <p:cNvPr id="30" name="Shape 28"/>
          <p:cNvSpPr/>
          <p:nvPr/>
        </p:nvSpPr>
        <p:spPr>
          <a:xfrm>
            <a:off x="5020056" y="1600200"/>
            <a:ext cx="493776" cy="192024"/>
          </a:xfrm>
          <a:prstGeom prst="roundRect">
            <a:avLst>
              <a:gd name="adj" fmla="val 38095"/>
            </a:avLst>
          </a:prstGeom>
          <a:solidFill>
            <a:srgbClr val="FFFBEB"/>
          </a:solidFill>
          <a:ln w="9525">
            <a:solidFill>
              <a:srgbClr val="FDE68A"/>
            </a:solidFill>
            <a:prstDash val="solid"/>
          </a:ln>
        </p:spPr>
      </p:sp>
      <p:sp>
        <p:nvSpPr>
          <p:cNvPr id="31" name="Text 29"/>
          <p:cNvSpPr/>
          <p:nvPr/>
        </p:nvSpPr>
        <p:spPr>
          <a:xfrm>
            <a:off x="5020056" y="1600200"/>
            <a:ext cx="493776" cy="192024"/>
          </a:xfrm>
          <a:prstGeom prst="rect">
            <a:avLst/>
          </a:prstGeom>
          <a:noFill/>
          <a:ln/>
        </p:spPr>
        <p:txBody>
          <a:bodyPr wrap="square" lIns="0" tIns="0" rIns="0" bIns="0" rtlCol="0" anchor="ctr"/>
          <a:lstStyle/>
          <a:p>
            <a:pPr algn="ctr" indent="0" marL="0">
              <a:lnSpc>
                <a:spcPct val="105000"/>
              </a:lnSpc>
              <a:buNone/>
            </a:pPr>
            <a:r>
              <a:rPr lang="en-US" sz="650" b="1" dirty="0">
                <a:solidFill>
                  <a:srgbClr val="B45309"/>
                </a:solidFill>
                <a:latin typeface="Arial" pitchFamily="34" charset="0"/>
                <a:ea typeface="Arial" pitchFamily="34" charset="-122"/>
                <a:cs typeface="Arial" pitchFamily="34" charset="-120"/>
              </a:rPr>
              <a:t>YES</a:t>
            </a:r>
            <a:endParaRPr lang="en-US" sz="650" dirty="0"/>
          </a:p>
        </p:txBody>
      </p:sp>
      <p:sp>
        <p:nvSpPr>
          <p:cNvPr id="32" name="Shape 30"/>
          <p:cNvSpPr/>
          <p:nvPr/>
        </p:nvSpPr>
        <p:spPr>
          <a:xfrm>
            <a:off x="4892040" y="2487168"/>
            <a:ext cx="384048" cy="0"/>
          </a:xfrm>
          <a:prstGeom prst="line">
            <a:avLst/>
          </a:prstGeom>
          <a:noFill/>
          <a:ln w="17780">
            <a:solidFill>
              <a:srgbClr val="2563EB"/>
            </a:solidFill>
            <a:prstDash val="solid"/>
          </a:ln>
        </p:spPr>
      </p:sp>
      <p:sp>
        <p:nvSpPr>
          <p:cNvPr id="33" name="Shape 31"/>
          <p:cNvSpPr/>
          <p:nvPr/>
        </p:nvSpPr>
        <p:spPr>
          <a:xfrm>
            <a:off x="5276088" y="2487168"/>
            <a:ext cx="0" cy="365760"/>
          </a:xfrm>
          <a:prstGeom prst="line">
            <a:avLst/>
          </a:prstGeom>
          <a:noFill/>
          <a:ln w="17780">
            <a:solidFill>
              <a:srgbClr val="2563EB"/>
            </a:solidFill>
            <a:prstDash val="solid"/>
          </a:ln>
        </p:spPr>
      </p:sp>
      <p:sp>
        <p:nvSpPr>
          <p:cNvPr id="34" name="Shape 32"/>
          <p:cNvSpPr/>
          <p:nvPr/>
        </p:nvSpPr>
        <p:spPr>
          <a:xfrm>
            <a:off x="5276088" y="2852928"/>
            <a:ext cx="420624" cy="0"/>
          </a:xfrm>
          <a:prstGeom prst="line">
            <a:avLst/>
          </a:prstGeom>
          <a:noFill/>
          <a:ln w="17780">
            <a:solidFill>
              <a:srgbClr val="2563EB"/>
            </a:solidFill>
            <a:prstDash val="solid"/>
            <a:tailEnd type="triangle" w="sm" len="sm"/>
          </a:ln>
        </p:spPr>
      </p:sp>
      <p:sp>
        <p:nvSpPr>
          <p:cNvPr id="35" name="Shape 33"/>
          <p:cNvSpPr/>
          <p:nvPr/>
        </p:nvSpPr>
        <p:spPr>
          <a:xfrm>
            <a:off x="5020056" y="2752344"/>
            <a:ext cx="493776" cy="192024"/>
          </a:xfrm>
          <a:prstGeom prst="roundRect">
            <a:avLst>
              <a:gd name="adj" fmla="val 38095"/>
            </a:avLst>
          </a:prstGeom>
          <a:solidFill>
            <a:srgbClr val="EFF6FF"/>
          </a:solidFill>
          <a:ln w="9525">
            <a:solidFill>
              <a:srgbClr val="BFDBFE"/>
            </a:solidFill>
            <a:prstDash val="solid"/>
          </a:ln>
        </p:spPr>
      </p:sp>
      <p:sp>
        <p:nvSpPr>
          <p:cNvPr id="36" name="Text 34"/>
          <p:cNvSpPr/>
          <p:nvPr/>
        </p:nvSpPr>
        <p:spPr>
          <a:xfrm>
            <a:off x="5020056" y="2752344"/>
            <a:ext cx="493776" cy="192024"/>
          </a:xfrm>
          <a:prstGeom prst="rect">
            <a:avLst/>
          </a:prstGeom>
          <a:noFill/>
          <a:ln/>
        </p:spPr>
        <p:txBody>
          <a:bodyPr wrap="square" lIns="0" tIns="0" rIns="0" bIns="0" rtlCol="0" anchor="ctr"/>
          <a:lstStyle/>
          <a:p>
            <a:pPr algn="ctr" indent="0" marL="0">
              <a:lnSpc>
                <a:spcPct val="105000"/>
              </a:lnSpc>
              <a:buNone/>
            </a:pPr>
            <a:r>
              <a:rPr lang="en-US" sz="650" b="1" dirty="0">
                <a:solidFill>
                  <a:srgbClr val="1D4ED8"/>
                </a:solidFill>
                <a:latin typeface="Arial" pitchFamily="34" charset="0"/>
                <a:ea typeface="Arial" pitchFamily="34" charset="-122"/>
                <a:cs typeface="Arial" pitchFamily="34" charset="-120"/>
              </a:rPr>
              <a:t>NO</a:t>
            </a:r>
            <a:endParaRPr lang="en-US" sz="650" dirty="0"/>
          </a:p>
        </p:txBody>
      </p:sp>
      <p:sp>
        <p:nvSpPr>
          <p:cNvPr id="37" name="Shape 35"/>
          <p:cNvSpPr/>
          <p:nvPr/>
        </p:nvSpPr>
        <p:spPr>
          <a:xfrm>
            <a:off x="8211312" y="1517904"/>
            <a:ext cx="804672" cy="0"/>
          </a:xfrm>
          <a:prstGeom prst="line">
            <a:avLst/>
          </a:prstGeom>
          <a:noFill/>
          <a:ln w="16510">
            <a:solidFill>
              <a:srgbClr val="B45309"/>
            </a:solidFill>
            <a:prstDash val="solid"/>
            <a:tailEnd type="triangle" w="sm" len="sm"/>
          </a:ln>
        </p:spPr>
      </p:sp>
      <p:sp>
        <p:nvSpPr>
          <p:cNvPr id="38" name="Shape 36"/>
          <p:cNvSpPr/>
          <p:nvPr/>
        </p:nvSpPr>
        <p:spPr>
          <a:xfrm>
            <a:off x="8321040" y="1426464"/>
            <a:ext cx="566928" cy="182880"/>
          </a:xfrm>
          <a:prstGeom prst="roundRect">
            <a:avLst>
              <a:gd name="adj" fmla="val 40000"/>
            </a:avLst>
          </a:prstGeom>
          <a:solidFill>
            <a:srgbClr val="FFFBEB"/>
          </a:solidFill>
          <a:ln w="9525">
            <a:solidFill>
              <a:srgbClr val="FDE68A"/>
            </a:solidFill>
            <a:prstDash val="solid"/>
          </a:ln>
        </p:spPr>
      </p:sp>
      <p:sp>
        <p:nvSpPr>
          <p:cNvPr id="39" name="Text 37"/>
          <p:cNvSpPr/>
          <p:nvPr/>
        </p:nvSpPr>
        <p:spPr>
          <a:xfrm>
            <a:off x="8321040" y="1426464"/>
            <a:ext cx="566928" cy="182880"/>
          </a:xfrm>
          <a:prstGeom prst="rect">
            <a:avLst/>
          </a:prstGeom>
          <a:noFill/>
          <a:ln/>
        </p:spPr>
        <p:txBody>
          <a:bodyPr wrap="square" lIns="0" tIns="0" rIns="0" bIns="0" rtlCol="0" anchor="ctr"/>
          <a:lstStyle/>
          <a:p>
            <a:pPr algn="ctr" indent="0" marL="0">
              <a:lnSpc>
                <a:spcPct val="105000"/>
              </a:lnSpc>
              <a:buNone/>
            </a:pPr>
            <a:r>
              <a:rPr lang="en-US" sz="580" b="1" dirty="0">
                <a:solidFill>
                  <a:srgbClr val="B45309"/>
                </a:solidFill>
                <a:latin typeface="Arial" pitchFamily="34" charset="0"/>
                <a:ea typeface="Arial" pitchFamily="34" charset="-122"/>
                <a:cs typeface="Arial" pitchFamily="34" charset="-120"/>
              </a:rPr>
              <a:t>NO (SILO)</a:t>
            </a:r>
            <a:endParaRPr lang="en-US" sz="580" dirty="0"/>
          </a:p>
        </p:txBody>
      </p:sp>
      <p:sp>
        <p:nvSpPr>
          <p:cNvPr id="40" name="Shape 38"/>
          <p:cNvSpPr/>
          <p:nvPr/>
        </p:nvSpPr>
        <p:spPr>
          <a:xfrm>
            <a:off x="8211312" y="1938528"/>
            <a:ext cx="512064" cy="0"/>
          </a:xfrm>
          <a:prstGeom prst="line">
            <a:avLst/>
          </a:prstGeom>
          <a:noFill/>
          <a:ln w="16510">
            <a:solidFill>
              <a:srgbClr val="0F766E"/>
            </a:solidFill>
            <a:prstDash val="solid"/>
          </a:ln>
        </p:spPr>
      </p:sp>
      <p:sp>
        <p:nvSpPr>
          <p:cNvPr id="41" name="Shape 39"/>
          <p:cNvSpPr/>
          <p:nvPr/>
        </p:nvSpPr>
        <p:spPr>
          <a:xfrm>
            <a:off x="8723376" y="1938528"/>
            <a:ext cx="0" cy="219456"/>
          </a:xfrm>
          <a:prstGeom prst="line">
            <a:avLst/>
          </a:prstGeom>
          <a:noFill/>
          <a:ln w="16510">
            <a:solidFill>
              <a:srgbClr val="0F766E"/>
            </a:solidFill>
            <a:prstDash val="solid"/>
          </a:ln>
        </p:spPr>
      </p:sp>
      <p:sp>
        <p:nvSpPr>
          <p:cNvPr id="42" name="Shape 40"/>
          <p:cNvSpPr/>
          <p:nvPr/>
        </p:nvSpPr>
        <p:spPr>
          <a:xfrm>
            <a:off x="8723376" y="2157984"/>
            <a:ext cx="292608" cy="0"/>
          </a:xfrm>
          <a:prstGeom prst="line">
            <a:avLst/>
          </a:prstGeom>
          <a:noFill/>
          <a:ln w="16510">
            <a:solidFill>
              <a:srgbClr val="0F766E"/>
            </a:solidFill>
            <a:prstDash val="solid"/>
            <a:tailEnd type="triangle" w="sm" len="sm"/>
          </a:ln>
        </p:spPr>
      </p:sp>
      <p:sp>
        <p:nvSpPr>
          <p:cNvPr id="43" name="Shape 41"/>
          <p:cNvSpPr/>
          <p:nvPr/>
        </p:nvSpPr>
        <p:spPr>
          <a:xfrm>
            <a:off x="8321040" y="1847088"/>
            <a:ext cx="329184" cy="173736"/>
          </a:xfrm>
          <a:prstGeom prst="roundRect">
            <a:avLst>
              <a:gd name="adj" fmla="val 42105"/>
            </a:avLst>
          </a:prstGeom>
          <a:solidFill>
            <a:srgbClr val="F0FDFA"/>
          </a:solidFill>
          <a:ln w="9525">
            <a:solidFill>
              <a:srgbClr val="99F6E4"/>
            </a:solidFill>
            <a:prstDash val="solid"/>
          </a:ln>
        </p:spPr>
      </p:sp>
      <p:sp>
        <p:nvSpPr>
          <p:cNvPr id="44" name="Text 42"/>
          <p:cNvSpPr/>
          <p:nvPr/>
        </p:nvSpPr>
        <p:spPr>
          <a:xfrm>
            <a:off x="8321040" y="1847088"/>
            <a:ext cx="329184" cy="173736"/>
          </a:xfrm>
          <a:prstGeom prst="rect">
            <a:avLst/>
          </a:prstGeom>
          <a:noFill/>
          <a:ln/>
        </p:spPr>
        <p:txBody>
          <a:bodyPr wrap="square" lIns="0" tIns="0" rIns="0" bIns="0" rtlCol="0" anchor="ctr"/>
          <a:lstStyle/>
          <a:p>
            <a:pPr algn="ctr" indent="0" marL="0">
              <a:lnSpc>
                <a:spcPct val="105000"/>
              </a:lnSpc>
              <a:buNone/>
            </a:pPr>
            <a:r>
              <a:rPr lang="en-US" sz="580" b="1" dirty="0">
                <a:solidFill>
                  <a:srgbClr val="0F766E"/>
                </a:solidFill>
                <a:latin typeface="Arial" pitchFamily="34" charset="0"/>
                <a:ea typeface="Arial" pitchFamily="34" charset="-122"/>
                <a:cs typeface="Arial" pitchFamily="34" charset="-120"/>
              </a:rPr>
              <a:t>YES</a:t>
            </a:r>
            <a:endParaRPr lang="en-US" sz="580" dirty="0"/>
          </a:p>
        </p:txBody>
      </p:sp>
      <p:sp>
        <p:nvSpPr>
          <p:cNvPr id="45" name="Shape 43"/>
          <p:cNvSpPr/>
          <p:nvPr/>
        </p:nvSpPr>
        <p:spPr>
          <a:xfrm>
            <a:off x="8211312" y="2615184"/>
            <a:ext cx="512064" cy="0"/>
          </a:xfrm>
          <a:prstGeom prst="line">
            <a:avLst/>
          </a:prstGeom>
          <a:noFill/>
          <a:ln w="16510">
            <a:solidFill>
              <a:srgbClr val="0F766E"/>
            </a:solidFill>
            <a:prstDash val="dash"/>
          </a:ln>
        </p:spPr>
      </p:sp>
      <p:sp>
        <p:nvSpPr>
          <p:cNvPr id="46" name="Shape 44"/>
          <p:cNvSpPr/>
          <p:nvPr/>
        </p:nvSpPr>
        <p:spPr>
          <a:xfrm flipV="1">
            <a:off x="8723376" y="2395728"/>
            <a:ext cx="0" cy="219456"/>
          </a:xfrm>
          <a:prstGeom prst="line">
            <a:avLst/>
          </a:prstGeom>
          <a:noFill/>
          <a:ln w="16510">
            <a:solidFill>
              <a:srgbClr val="0F766E"/>
            </a:solidFill>
            <a:prstDash val="dash"/>
          </a:ln>
        </p:spPr>
      </p:sp>
      <p:sp>
        <p:nvSpPr>
          <p:cNvPr id="47" name="Shape 45"/>
          <p:cNvSpPr/>
          <p:nvPr/>
        </p:nvSpPr>
        <p:spPr>
          <a:xfrm>
            <a:off x="8723376" y="2395728"/>
            <a:ext cx="292608" cy="0"/>
          </a:xfrm>
          <a:prstGeom prst="line">
            <a:avLst/>
          </a:prstGeom>
          <a:noFill/>
          <a:ln w="16510">
            <a:solidFill>
              <a:srgbClr val="0F766E"/>
            </a:solidFill>
            <a:prstDash val="dash"/>
            <a:tailEnd type="triangle" w="sm" len="sm"/>
          </a:ln>
        </p:spPr>
      </p:sp>
      <p:sp>
        <p:nvSpPr>
          <p:cNvPr id="48" name="Shape 46"/>
          <p:cNvSpPr/>
          <p:nvPr/>
        </p:nvSpPr>
        <p:spPr>
          <a:xfrm>
            <a:off x="8321040" y="2523744"/>
            <a:ext cx="329184" cy="173736"/>
          </a:xfrm>
          <a:prstGeom prst="roundRect">
            <a:avLst>
              <a:gd name="adj" fmla="val 42105"/>
            </a:avLst>
          </a:prstGeom>
          <a:solidFill>
            <a:srgbClr val="F0FDFA"/>
          </a:solidFill>
          <a:ln w="9525">
            <a:solidFill>
              <a:srgbClr val="99F6E4"/>
            </a:solidFill>
            <a:prstDash val="solid"/>
          </a:ln>
        </p:spPr>
      </p:sp>
      <p:sp>
        <p:nvSpPr>
          <p:cNvPr id="49" name="Text 47"/>
          <p:cNvSpPr/>
          <p:nvPr/>
        </p:nvSpPr>
        <p:spPr>
          <a:xfrm>
            <a:off x="8321040" y="2523744"/>
            <a:ext cx="329184" cy="173736"/>
          </a:xfrm>
          <a:prstGeom prst="rect">
            <a:avLst/>
          </a:prstGeom>
          <a:noFill/>
          <a:ln/>
        </p:spPr>
        <p:txBody>
          <a:bodyPr wrap="square" lIns="0" tIns="0" rIns="0" bIns="0" rtlCol="0" anchor="ctr"/>
          <a:lstStyle/>
          <a:p>
            <a:pPr algn="ctr" indent="0" marL="0">
              <a:lnSpc>
                <a:spcPct val="105000"/>
              </a:lnSpc>
              <a:buNone/>
            </a:pPr>
            <a:r>
              <a:rPr lang="en-US" sz="580" b="1" dirty="0">
                <a:solidFill>
                  <a:srgbClr val="0F766E"/>
                </a:solidFill>
                <a:latin typeface="Arial" pitchFamily="34" charset="0"/>
                <a:ea typeface="Arial" pitchFamily="34" charset="-122"/>
                <a:cs typeface="Arial" pitchFamily="34" charset="-120"/>
              </a:rPr>
              <a:t>YES</a:t>
            </a:r>
            <a:endParaRPr lang="en-US" sz="580" dirty="0"/>
          </a:p>
        </p:txBody>
      </p:sp>
      <p:sp>
        <p:nvSpPr>
          <p:cNvPr id="50" name="Shape 48"/>
          <p:cNvSpPr/>
          <p:nvPr/>
        </p:nvSpPr>
        <p:spPr>
          <a:xfrm>
            <a:off x="8211312" y="3017520"/>
            <a:ext cx="804672" cy="0"/>
          </a:xfrm>
          <a:prstGeom prst="line">
            <a:avLst/>
          </a:prstGeom>
          <a:noFill/>
          <a:ln w="17780">
            <a:solidFill>
              <a:srgbClr val="1D4ED8"/>
            </a:solidFill>
            <a:prstDash val="solid"/>
            <a:tailEnd type="triangle" w="sm" len="sm"/>
          </a:ln>
        </p:spPr>
      </p:sp>
      <p:sp>
        <p:nvSpPr>
          <p:cNvPr id="51" name="Shape 49"/>
          <p:cNvSpPr/>
          <p:nvPr/>
        </p:nvSpPr>
        <p:spPr>
          <a:xfrm>
            <a:off x="8321040" y="2926080"/>
            <a:ext cx="566928" cy="182880"/>
          </a:xfrm>
          <a:prstGeom prst="roundRect">
            <a:avLst>
              <a:gd name="adj" fmla="val 40000"/>
            </a:avLst>
          </a:prstGeom>
          <a:solidFill>
            <a:srgbClr val="EFF6FF"/>
          </a:solidFill>
          <a:ln w="9525">
            <a:solidFill>
              <a:srgbClr val="BFDBFE"/>
            </a:solidFill>
            <a:prstDash val="solid"/>
          </a:ln>
        </p:spPr>
      </p:sp>
      <p:sp>
        <p:nvSpPr>
          <p:cNvPr id="52" name="Text 50"/>
          <p:cNvSpPr/>
          <p:nvPr/>
        </p:nvSpPr>
        <p:spPr>
          <a:xfrm>
            <a:off x="8321040" y="2926080"/>
            <a:ext cx="566928" cy="182880"/>
          </a:xfrm>
          <a:prstGeom prst="rect">
            <a:avLst/>
          </a:prstGeom>
          <a:noFill/>
          <a:ln/>
        </p:spPr>
        <p:txBody>
          <a:bodyPr wrap="square" lIns="0" tIns="0" rIns="0" bIns="0" rtlCol="0" anchor="ctr"/>
          <a:lstStyle/>
          <a:p>
            <a:pPr algn="ctr" indent="0" marL="0">
              <a:lnSpc>
                <a:spcPct val="105000"/>
              </a:lnSpc>
              <a:buNone/>
            </a:pPr>
            <a:r>
              <a:rPr lang="en-US" sz="580" b="1" dirty="0">
                <a:solidFill>
                  <a:srgbClr val="1D4ED8"/>
                </a:solidFill>
                <a:latin typeface="Arial" pitchFamily="34" charset="0"/>
                <a:ea typeface="Arial" pitchFamily="34" charset="-122"/>
                <a:cs typeface="Arial" pitchFamily="34" charset="-120"/>
              </a:rPr>
              <a:t>NO (POOL)</a:t>
            </a:r>
            <a:endParaRPr lang="en-US" sz="580" dirty="0"/>
          </a:p>
        </p:txBody>
      </p:sp>
      <p:sp>
        <p:nvSpPr>
          <p:cNvPr id="53" name="Shape 51"/>
          <p:cNvSpPr/>
          <p:nvPr/>
        </p:nvSpPr>
        <p:spPr>
          <a:xfrm>
            <a:off x="640080" y="1901952"/>
            <a:ext cx="1353312" cy="713232"/>
          </a:xfrm>
          <a:prstGeom prst="roundRect">
            <a:avLst>
              <a:gd name="adj" fmla="val 8974"/>
            </a:avLst>
          </a:prstGeom>
          <a:solidFill>
            <a:srgbClr val="1E293B"/>
          </a:solidFill>
          <a:ln w="10795">
            <a:solidFill>
              <a:srgbClr val="475569"/>
            </a:solidFill>
            <a:prstDash val="solid"/>
          </a:ln>
        </p:spPr>
      </p:sp>
      <p:sp>
        <p:nvSpPr>
          <p:cNvPr id="54" name="Text 52"/>
          <p:cNvSpPr/>
          <p:nvPr/>
        </p:nvSpPr>
        <p:spPr>
          <a:xfrm>
            <a:off x="713232" y="1975104"/>
            <a:ext cx="1207008" cy="566928"/>
          </a:xfrm>
          <a:prstGeom prst="rect">
            <a:avLst/>
          </a:prstGeom>
          <a:noFill/>
          <a:ln/>
        </p:spPr>
        <p:txBody>
          <a:bodyPr wrap="square" lIns="0" tIns="0" rIns="0" bIns="0" rtlCol="0" anchor="ctr"/>
          <a:lstStyle/>
          <a:p>
            <a:pPr algn="ctr" indent="0" marL="0">
              <a:lnSpc>
                <a:spcPct val="108000"/>
              </a:lnSpc>
              <a:buNone/>
            </a:pPr>
            <a:r>
              <a:rPr lang="en-US" sz="800" b="1" dirty="0">
                <a:solidFill>
                  <a:srgbClr val="FFFFFF"/>
                </a:solidFill>
                <a:latin typeface="Arial" pitchFamily="34" charset="0"/>
                <a:ea typeface="Arial" pitchFamily="34" charset="-122"/>
                <a:cs typeface="Arial" pitchFamily="34" charset="-120"/>
              </a:rPr>
              <a:t>New Enterprise</a:t>
            </a:r>
            <a:endParaRPr lang="en-US" sz="800" dirty="0"/>
          </a:p>
          <a:p>
            <a:pPr algn="ctr" indent="0" marL="0">
              <a:lnSpc>
                <a:spcPct val="108000"/>
              </a:lnSpc>
              <a:buNone/>
            </a:pPr>
            <a:r>
              <a:rPr lang="en-US" sz="800" b="1" dirty="0">
                <a:solidFill>
                  <a:srgbClr val="FFFFFF"/>
                </a:solidFill>
                <a:latin typeface="Arial" pitchFamily="34" charset="0"/>
                <a:ea typeface="Arial" pitchFamily="34" charset="-122"/>
                <a:cs typeface="Arial" pitchFamily="34" charset="-120"/>
              </a:rPr>
              <a:t>or SaaS Tenant</a:t>
            </a:r>
            <a:endParaRPr lang="en-US" sz="800" dirty="0"/>
          </a:p>
          <a:p>
            <a:pPr algn="ctr" indent="0" marL="0">
              <a:lnSpc>
                <a:spcPct val="108000"/>
              </a:lnSpc>
              <a:buNone/>
            </a:pPr>
            <a:r>
              <a:rPr lang="en-US" sz="800" b="1" dirty="0">
                <a:solidFill>
                  <a:srgbClr val="FFFFFF"/>
                </a:solidFill>
                <a:latin typeface="Arial" pitchFamily="34" charset="0"/>
                <a:ea typeface="Arial" pitchFamily="34" charset="-122"/>
                <a:cs typeface="Arial" pitchFamily="34" charset="-120"/>
              </a:rPr>
              <a:t>Onboarding</a:t>
            </a:r>
            <a:endParaRPr lang="en-US" sz="800" dirty="0"/>
          </a:p>
        </p:txBody>
      </p:sp>
      <p:sp>
        <p:nvSpPr>
          <p:cNvPr id="55" name="Shape 53"/>
          <p:cNvSpPr/>
          <p:nvPr/>
        </p:nvSpPr>
        <p:spPr>
          <a:xfrm>
            <a:off x="2468880" y="1755648"/>
            <a:ext cx="2423160" cy="1005840"/>
          </a:xfrm>
          <a:prstGeom prst="roundRect">
            <a:avLst>
              <a:gd name="adj" fmla="val 6364"/>
            </a:avLst>
          </a:prstGeom>
          <a:solidFill>
            <a:srgbClr val="F1F5F9"/>
          </a:solidFill>
          <a:ln w="15240">
            <a:solidFill>
              <a:srgbClr val="1E293B"/>
            </a:solidFill>
            <a:prstDash val="solid"/>
          </a:ln>
        </p:spPr>
      </p:sp>
      <p:sp>
        <p:nvSpPr>
          <p:cNvPr id="56" name="Shape 54"/>
          <p:cNvSpPr/>
          <p:nvPr/>
        </p:nvSpPr>
        <p:spPr>
          <a:xfrm>
            <a:off x="2468880" y="1755648"/>
            <a:ext cx="54864" cy="1005840"/>
          </a:xfrm>
          <a:prstGeom prst="roundRect">
            <a:avLst>
              <a:gd name="adj" fmla="val 33333"/>
            </a:avLst>
          </a:prstGeom>
          <a:solidFill>
            <a:srgbClr val="0F766E"/>
          </a:solidFill>
          <a:ln/>
        </p:spPr>
      </p:sp>
      <p:sp>
        <p:nvSpPr>
          <p:cNvPr id="57" name="Text 55"/>
          <p:cNvSpPr/>
          <p:nvPr/>
        </p:nvSpPr>
        <p:spPr>
          <a:xfrm>
            <a:off x="2615184" y="1847088"/>
            <a:ext cx="2167128" cy="164592"/>
          </a:xfrm>
          <a:prstGeom prst="rect">
            <a:avLst/>
          </a:prstGeom>
          <a:noFill/>
          <a:ln/>
        </p:spPr>
        <p:txBody>
          <a:bodyPr wrap="square" lIns="0" tIns="0" rIns="0" bIns="0" rtlCol="0" anchor="ctr"/>
          <a:lstStyle/>
          <a:p>
            <a:pPr indent="0" marL="0">
              <a:lnSpc>
                <a:spcPct val="105000"/>
              </a:lnSpc>
              <a:buNone/>
            </a:pPr>
            <a:r>
              <a:rPr lang="en-US" sz="680" b="1" dirty="0">
                <a:solidFill>
                  <a:srgbClr val="0F766E"/>
                </a:solidFill>
                <a:latin typeface="Arial" pitchFamily="34" charset="0"/>
                <a:ea typeface="Arial" pitchFamily="34" charset="-122"/>
                <a:cs typeface="Arial" pitchFamily="34" charset="-120"/>
              </a:rPr>
              <a:t>QUESTION 1: REGULATORY GATE</a:t>
            </a:r>
            <a:endParaRPr lang="en-US" sz="680" dirty="0"/>
          </a:p>
        </p:txBody>
      </p:sp>
      <p:sp>
        <p:nvSpPr>
          <p:cNvPr id="58" name="Text 56"/>
          <p:cNvSpPr/>
          <p:nvPr/>
        </p:nvSpPr>
        <p:spPr>
          <a:xfrm>
            <a:off x="2615184" y="2048256"/>
            <a:ext cx="2167128" cy="621792"/>
          </a:xfrm>
          <a:prstGeom prst="rect">
            <a:avLst/>
          </a:prstGeom>
          <a:noFill/>
          <a:ln/>
        </p:spPr>
        <p:txBody>
          <a:bodyPr wrap="square" lIns="0" tIns="0" rIns="0" bIns="0" rtlCol="0" anchor="ctr"/>
          <a:lstStyle/>
          <a:p>
            <a:pPr indent="0" marL="0">
              <a:lnSpc>
                <a:spcPct val="108000"/>
              </a:lnSpc>
              <a:buNone/>
            </a:pPr>
            <a:r>
              <a:rPr lang="en-US" sz="800" b="1" dirty="0">
                <a:solidFill>
                  <a:srgbClr val="0F172A"/>
                </a:solidFill>
                <a:latin typeface="Arial" pitchFamily="34" charset="0"/>
                <a:ea typeface="Arial" pitchFamily="34" charset="-122"/>
                <a:cs typeface="Arial" pitchFamily="34" charset="-120"/>
              </a:rPr>
              <a:t>Does contract mandate customer-held CMEK (&lt;60s kill-switch) or dedicated VPC-SC perimeter?</a:t>
            </a:r>
            <a:endParaRPr lang="en-US" sz="800" dirty="0"/>
          </a:p>
        </p:txBody>
      </p:sp>
      <p:sp>
        <p:nvSpPr>
          <p:cNvPr id="59" name="Shape 57"/>
          <p:cNvSpPr/>
          <p:nvPr/>
        </p:nvSpPr>
        <p:spPr>
          <a:xfrm>
            <a:off x="5696712" y="1298448"/>
            <a:ext cx="2514600" cy="804672"/>
          </a:xfrm>
          <a:prstGeom prst="roundRect">
            <a:avLst>
              <a:gd name="adj" fmla="val 7955"/>
            </a:avLst>
          </a:prstGeom>
          <a:solidFill>
            <a:srgbClr val="FFFBEB"/>
          </a:solidFill>
          <a:ln w="10795">
            <a:solidFill>
              <a:srgbClr val="FDE68A"/>
            </a:solidFill>
            <a:prstDash val="solid"/>
          </a:ln>
        </p:spPr>
      </p:sp>
      <p:sp>
        <p:nvSpPr>
          <p:cNvPr id="60" name="Shape 58"/>
          <p:cNvSpPr/>
          <p:nvPr/>
        </p:nvSpPr>
        <p:spPr>
          <a:xfrm>
            <a:off x="5696712" y="1298448"/>
            <a:ext cx="54864" cy="804672"/>
          </a:xfrm>
          <a:prstGeom prst="roundRect">
            <a:avLst>
              <a:gd name="adj" fmla="val 33333"/>
            </a:avLst>
          </a:prstGeom>
          <a:solidFill>
            <a:srgbClr val="B45309"/>
          </a:solidFill>
          <a:ln/>
        </p:spPr>
      </p:sp>
      <p:sp>
        <p:nvSpPr>
          <p:cNvPr id="61" name="Text 59"/>
          <p:cNvSpPr/>
          <p:nvPr/>
        </p:nvSpPr>
        <p:spPr>
          <a:xfrm>
            <a:off x="5843016" y="1389888"/>
            <a:ext cx="2276856" cy="621792"/>
          </a:xfrm>
          <a:prstGeom prst="rect">
            <a:avLst/>
          </a:prstGeom>
          <a:noFill/>
          <a:ln/>
        </p:spPr>
        <p:txBody>
          <a:bodyPr wrap="square" lIns="0" tIns="0" rIns="0" bIns="0" rtlCol="0" anchor="ctr"/>
          <a:lstStyle/>
          <a:p>
            <a:pPr indent="0" marL="0">
              <a:lnSpc>
                <a:spcPct val="108000"/>
              </a:lnSpc>
              <a:buNone/>
            </a:pPr>
            <a:r>
              <a:rPr lang="en-US" sz="780" b="1" dirty="0">
                <a:solidFill>
                  <a:srgbClr val="0F172A"/>
                </a:solidFill>
                <a:latin typeface="Arial" pitchFamily="34" charset="0"/>
                <a:ea typeface="Arial" pitchFamily="34" charset="-122"/>
                <a:cs typeface="Arial" pitchFamily="34" charset="-120"/>
              </a:rPr>
              <a:t>Q2A: Can tenant use the shared SaaS Hub via unidirectional PSC?</a:t>
            </a:r>
            <a:endParaRPr lang="en-US" sz="780" dirty="0"/>
          </a:p>
        </p:txBody>
      </p:sp>
      <p:sp>
        <p:nvSpPr>
          <p:cNvPr id="62" name="Shape 60"/>
          <p:cNvSpPr/>
          <p:nvPr/>
        </p:nvSpPr>
        <p:spPr>
          <a:xfrm>
            <a:off x="5696712" y="2450592"/>
            <a:ext cx="2514600" cy="804672"/>
          </a:xfrm>
          <a:prstGeom prst="roundRect">
            <a:avLst>
              <a:gd name="adj" fmla="val 7955"/>
            </a:avLst>
          </a:prstGeom>
          <a:solidFill>
            <a:srgbClr val="EFF6FF"/>
          </a:solidFill>
          <a:ln w="10795">
            <a:solidFill>
              <a:srgbClr val="BFDBFE"/>
            </a:solidFill>
            <a:prstDash val="solid"/>
          </a:ln>
        </p:spPr>
      </p:sp>
      <p:sp>
        <p:nvSpPr>
          <p:cNvPr id="63" name="Shape 61"/>
          <p:cNvSpPr/>
          <p:nvPr/>
        </p:nvSpPr>
        <p:spPr>
          <a:xfrm>
            <a:off x="5696712" y="2450592"/>
            <a:ext cx="54864" cy="804672"/>
          </a:xfrm>
          <a:prstGeom prst="roundRect">
            <a:avLst>
              <a:gd name="adj" fmla="val 33333"/>
            </a:avLst>
          </a:prstGeom>
          <a:solidFill>
            <a:srgbClr val="1D4ED8"/>
          </a:solidFill>
          <a:ln/>
        </p:spPr>
      </p:sp>
      <p:sp>
        <p:nvSpPr>
          <p:cNvPr id="64" name="Text 62"/>
          <p:cNvSpPr/>
          <p:nvPr/>
        </p:nvSpPr>
        <p:spPr>
          <a:xfrm>
            <a:off x="5843016" y="2542032"/>
            <a:ext cx="2276856" cy="621792"/>
          </a:xfrm>
          <a:prstGeom prst="rect">
            <a:avLst/>
          </a:prstGeom>
          <a:noFill/>
          <a:ln/>
        </p:spPr>
        <p:txBody>
          <a:bodyPr wrap="square" lIns="0" tIns="0" rIns="0" bIns="0" rtlCol="0" anchor="ctr"/>
          <a:lstStyle/>
          <a:p>
            <a:pPr indent="0" marL="0">
              <a:lnSpc>
                <a:spcPct val="108000"/>
              </a:lnSpc>
              <a:buNone/>
            </a:pPr>
            <a:r>
              <a:rPr lang="en-US" sz="780" b="1" dirty="0">
                <a:solidFill>
                  <a:srgbClr val="0F172A"/>
                </a:solidFill>
                <a:latin typeface="Arial" pitchFamily="34" charset="0"/>
                <a:ea typeface="Arial" pitchFamily="34" charset="-122"/>
                <a:cs typeface="Arial" pitchFamily="34" charset="-120"/>
              </a:rPr>
              <a:t>Q2B: Will tenant later graduate to private data spokes without downtime?</a:t>
            </a:r>
            <a:endParaRPr lang="en-US" sz="780" dirty="0"/>
          </a:p>
        </p:txBody>
      </p:sp>
      <p:sp>
        <p:nvSpPr>
          <p:cNvPr id="65" name="Shape 63"/>
          <p:cNvSpPr/>
          <p:nvPr/>
        </p:nvSpPr>
        <p:spPr>
          <a:xfrm>
            <a:off x="9015984" y="1207008"/>
            <a:ext cx="2535631" cy="621792"/>
          </a:xfrm>
          <a:prstGeom prst="roundRect">
            <a:avLst>
              <a:gd name="adj" fmla="val 10294"/>
            </a:avLst>
          </a:prstGeom>
          <a:solidFill>
            <a:srgbClr val="FFFBEB"/>
          </a:solidFill>
          <a:ln w="16510">
            <a:solidFill>
              <a:srgbClr val="B45309"/>
            </a:solidFill>
            <a:prstDash val="solid"/>
          </a:ln>
        </p:spPr>
      </p:sp>
      <p:sp>
        <p:nvSpPr>
          <p:cNvPr id="66" name="Shape 64"/>
          <p:cNvSpPr/>
          <p:nvPr/>
        </p:nvSpPr>
        <p:spPr>
          <a:xfrm>
            <a:off x="9015984" y="1207008"/>
            <a:ext cx="54864" cy="621792"/>
          </a:xfrm>
          <a:prstGeom prst="roundRect">
            <a:avLst>
              <a:gd name="adj" fmla="val 33333"/>
            </a:avLst>
          </a:prstGeom>
          <a:solidFill>
            <a:srgbClr val="B45309"/>
          </a:solidFill>
          <a:ln/>
        </p:spPr>
      </p:sp>
      <p:sp>
        <p:nvSpPr>
          <p:cNvPr id="67" name="Text 65"/>
          <p:cNvSpPr/>
          <p:nvPr/>
        </p:nvSpPr>
        <p:spPr>
          <a:xfrm>
            <a:off x="9144000" y="1298448"/>
            <a:ext cx="2316175" cy="219456"/>
          </a:xfrm>
          <a:prstGeom prst="rect">
            <a:avLst/>
          </a:prstGeom>
          <a:noFill/>
          <a:ln/>
        </p:spPr>
        <p:txBody>
          <a:bodyPr wrap="square" lIns="0" tIns="0" rIns="0" bIns="0" rtlCol="0" anchor="ctr"/>
          <a:lstStyle/>
          <a:p>
            <a:pPr indent="0" marL="0">
              <a:lnSpc>
                <a:spcPct val="105000"/>
              </a:lnSpc>
              <a:buNone/>
            </a:pPr>
            <a:r>
              <a:rPr lang="en-US" sz="850" b="1" dirty="0">
                <a:solidFill>
                  <a:srgbClr val="B45309"/>
                </a:solidFill>
                <a:latin typeface="Arial" pitchFamily="34" charset="0"/>
                <a:ea typeface="Arial" pitchFamily="34" charset="-122"/>
                <a:cs typeface="Arial" pitchFamily="34" charset="-120"/>
              </a:rPr>
              <a:t>PATTERN B: Sovereign Silo</a:t>
            </a:r>
            <a:endParaRPr lang="en-US" sz="850" dirty="0"/>
          </a:p>
        </p:txBody>
      </p:sp>
      <p:sp>
        <p:nvSpPr>
          <p:cNvPr id="68" name="Text 66"/>
          <p:cNvSpPr/>
          <p:nvPr/>
        </p:nvSpPr>
        <p:spPr>
          <a:xfrm>
            <a:off x="9144000" y="1536192"/>
            <a:ext cx="2316175" cy="201168"/>
          </a:xfrm>
          <a:prstGeom prst="rect">
            <a:avLst/>
          </a:prstGeom>
          <a:noFill/>
          <a:ln/>
        </p:spPr>
        <p:txBody>
          <a:bodyPr wrap="square" lIns="0" tIns="0" rIns="0" bIns="0" rtlCol="0" anchor="ctr"/>
          <a:lstStyle/>
          <a:p>
            <a:pPr indent="0" marL="0">
              <a:lnSpc>
                <a:spcPct val="105000"/>
              </a:lnSpc>
              <a:buNone/>
            </a:pPr>
            <a:r>
              <a:rPr lang="en-US" sz="720" b="1" dirty="0">
                <a:solidFill>
                  <a:srgbClr val="334155"/>
                </a:solidFill>
                <a:latin typeface="Arial" pitchFamily="34" charset="0"/>
                <a:ea typeface="Arial" pitchFamily="34" charset="-122"/>
                <a:cs typeface="Arial" pitchFamily="34" charset="-120"/>
              </a:rPr>
              <a:t>1 Project / Tenant • WS3 Deep Dive</a:t>
            </a:r>
            <a:endParaRPr lang="en-US" sz="720" dirty="0"/>
          </a:p>
        </p:txBody>
      </p:sp>
      <p:sp>
        <p:nvSpPr>
          <p:cNvPr id="69" name="Shape 67"/>
          <p:cNvSpPr/>
          <p:nvPr/>
        </p:nvSpPr>
        <p:spPr>
          <a:xfrm>
            <a:off x="9015984" y="1956816"/>
            <a:ext cx="2535631" cy="621792"/>
          </a:xfrm>
          <a:prstGeom prst="roundRect">
            <a:avLst>
              <a:gd name="adj" fmla="val 10294"/>
            </a:avLst>
          </a:prstGeom>
          <a:solidFill>
            <a:srgbClr val="F0FDFA"/>
          </a:solidFill>
          <a:ln w="16510">
            <a:solidFill>
              <a:srgbClr val="0F766E"/>
            </a:solidFill>
            <a:prstDash val="solid"/>
          </a:ln>
        </p:spPr>
      </p:sp>
      <p:sp>
        <p:nvSpPr>
          <p:cNvPr id="70" name="Shape 68"/>
          <p:cNvSpPr/>
          <p:nvPr/>
        </p:nvSpPr>
        <p:spPr>
          <a:xfrm>
            <a:off x="9015984" y="1956816"/>
            <a:ext cx="54864" cy="621792"/>
          </a:xfrm>
          <a:prstGeom prst="roundRect">
            <a:avLst>
              <a:gd name="adj" fmla="val 33333"/>
            </a:avLst>
          </a:prstGeom>
          <a:solidFill>
            <a:srgbClr val="0F766E"/>
          </a:solidFill>
          <a:ln/>
        </p:spPr>
      </p:sp>
      <p:sp>
        <p:nvSpPr>
          <p:cNvPr id="71" name="Text 69"/>
          <p:cNvSpPr/>
          <p:nvPr/>
        </p:nvSpPr>
        <p:spPr>
          <a:xfrm>
            <a:off x="9144000" y="2048256"/>
            <a:ext cx="2316175" cy="219456"/>
          </a:xfrm>
          <a:prstGeom prst="rect">
            <a:avLst/>
          </a:prstGeom>
          <a:noFill/>
          <a:ln/>
        </p:spPr>
        <p:txBody>
          <a:bodyPr wrap="square" lIns="0" tIns="0" rIns="0" bIns="0" rtlCol="0" anchor="ctr"/>
          <a:lstStyle/>
          <a:p>
            <a:pPr indent="0" marL="0">
              <a:lnSpc>
                <a:spcPct val="105000"/>
              </a:lnSpc>
              <a:buNone/>
            </a:pPr>
            <a:r>
              <a:rPr lang="en-US" sz="850" b="1" dirty="0">
                <a:solidFill>
                  <a:srgbClr val="0F766E"/>
                </a:solidFill>
                <a:latin typeface="Arial" pitchFamily="34" charset="0"/>
                <a:ea typeface="Arial" pitchFamily="34" charset="-122"/>
                <a:cs typeface="Arial" pitchFamily="34" charset="-120"/>
              </a:rPr>
              <a:t>PATTERN C: Dynamic Hybrid PSC</a:t>
            </a:r>
            <a:endParaRPr lang="en-US" sz="850" dirty="0"/>
          </a:p>
        </p:txBody>
      </p:sp>
      <p:sp>
        <p:nvSpPr>
          <p:cNvPr id="72" name="Text 70"/>
          <p:cNvSpPr/>
          <p:nvPr/>
        </p:nvSpPr>
        <p:spPr>
          <a:xfrm>
            <a:off x="9144000" y="2286000"/>
            <a:ext cx="2316175" cy="201168"/>
          </a:xfrm>
          <a:prstGeom prst="rect">
            <a:avLst/>
          </a:prstGeom>
          <a:noFill/>
          <a:ln/>
        </p:spPr>
        <p:txBody>
          <a:bodyPr wrap="square" lIns="0" tIns="0" rIns="0" bIns="0" rtlCol="0" anchor="ctr"/>
          <a:lstStyle/>
          <a:p>
            <a:pPr indent="0" marL="0">
              <a:lnSpc>
                <a:spcPct val="105000"/>
              </a:lnSpc>
              <a:buNone/>
            </a:pPr>
            <a:r>
              <a:rPr lang="en-US" sz="720" b="1" dirty="0">
                <a:solidFill>
                  <a:srgbClr val="334155"/>
                </a:solidFill>
                <a:latin typeface="Arial" pitchFamily="34" charset="0"/>
                <a:ea typeface="Arial" pitchFamily="34" charset="-122"/>
                <a:cs typeface="Arial" pitchFamily="34" charset="-120"/>
              </a:rPr>
              <a:t>Pooled Hub + PSC Spoke • WS4 Deep Dive</a:t>
            </a:r>
            <a:endParaRPr lang="en-US" sz="720" dirty="0"/>
          </a:p>
        </p:txBody>
      </p:sp>
      <p:sp>
        <p:nvSpPr>
          <p:cNvPr id="73" name="Shape 71"/>
          <p:cNvSpPr/>
          <p:nvPr/>
        </p:nvSpPr>
        <p:spPr>
          <a:xfrm>
            <a:off x="9015984" y="2706624"/>
            <a:ext cx="2535631" cy="621792"/>
          </a:xfrm>
          <a:prstGeom prst="roundRect">
            <a:avLst>
              <a:gd name="adj" fmla="val 10294"/>
            </a:avLst>
          </a:prstGeom>
          <a:solidFill>
            <a:srgbClr val="EFF6FF"/>
          </a:solidFill>
          <a:ln w="16510">
            <a:solidFill>
              <a:srgbClr val="1D4ED8"/>
            </a:solidFill>
            <a:prstDash val="solid"/>
          </a:ln>
        </p:spPr>
      </p:sp>
      <p:sp>
        <p:nvSpPr>
          <p:cNvPr id="74" name="Shape 72"/>
          <p:cNvSpPr/>
          <p:nvPr/>
        </p:nvSpPr>
        <p:spPr>
          <a:xfrm>
            <a:off x="9015984" y="2706624"/>
            <a:ext cx="54864" cy="621792"/>
          </a:xfrm>
          <a:prstGeom prst="roundRect">
            <a:avLst>
              <a:gd name="adj" fmla="val 33333"/>
            </a:avLst>
          </a:prstGeom>
          <a:solidFill>
            <a:srgbClr val="1D4ED8"/>
          </a:solidFill>
          <a:ln/>
        </p:spPr>
      </p:sp>
      <p:sp>
        <p:nvSpPr>
          <p:cNvPr id="75" name="Text 73"/>
          <p:cNvSpPr/>
          <p:nvPr/>
        </p:nvSpPr>
        <p:spPr>
          <a:xfrm>
            <a:off x="9144000" y="2798064"/>
            <a:ext cx="2316175" cy="219456"/>
          </a:xfrm>
          <a:prstGeom prst="rect">
            <a:avLst/>
          </a:prstGeom>
          <a:noFill/>
          <a:ln/>
        </p:spPr>
        <p:txBody>
          <a:bodyPr wrap="square" lIns="0" tIns="0" rIns="0" bIns="0" rtlCol="0" anchor="ctr"/>
          <a:lstStyle/>
          <a:p>
            <a:pPr indent="0" marL="0">
              <a:lnSpc>
                <a:spcPct val="105000"/>
              </a:lnSpc>
              <a:buNone/>
            </a:pPr>
            <a:r>
              <a:rPr lang="en-US" sz="850" b="1" dirty="0">
                <a:solidFill>
                  <a:srgbClr val="1D4ED8"/>
                </a:solidFill>
                <a:latin typeface="Arial" pitchFamily="34" charset="0"/>
                <a:ea typeface="Arial" pitchFamily="34" charset="-122"/>
                <a:cs typeface="Arial" pitchFamily="34" charset="-120"/>
              </a:rPr>
              <a:t>PATTERN A: Pooled Runtime</a:t>
            </a:r>
            <a:endParaRPr lang="en-US" sz="850" dirty="0"/>
          </a:p>
        </p:txBody>
      </p:sp>
      <p:sp>
        <p:nvSpPr>
          <p:cNvPr id="76" name="Text 74"/>
          <p:cNvSpPr/>
          <p:nvPr/>
        </p:nvSpPr>
        <p:spPr>
          <a:xfrm>
            <a:off x="9144000" y="3035808"/>
            <a:ext cx="2316175" cy="201168"/>
          </a:xfrm>
          <a:prstGeom prst="rect">
            <a:avLst/>
          </a:prstGeom>
          <a:noFill/>
          <a:ln/>
        </p:spPr>
        <p:txBody>
          <a:bodyPr wrap="square" lIns="0" tIns="0" rIns="0" bIns="0" rtlCol="0" anchor="ctr"/>
          <a:lstStyle/>
          <a:p>
            <a:pPr indent="0" marL="0">
              <a:lnSpc>
                <a:spcPct val="105000"/>
              </a:lnSpc>
              <a:buNone/>
            </a:pPr>
            <a:r>
              <a:rPr lang="en-US" sz="720" b="1" dirty="0">
                <a:solidFill>
                  <a:srgbClr val="334155"/>
                </a:solidFill>
                <a:latin typeface="Arial" pitchFamily="34" charset="0"/>
                <a:ea typeface="Arial" pitchFamily="34" charset="-122"/>
                <a:cs typeface="Arial" pitchFamily="34" charset="-120"/>
              </a:rPr>
              <a:t>Shared Runtime + RLS • WS2 Deep Dive</a:t>
            </a:r>
            <a:endParaRPr lang="en-US" sz="720" dirty="0"/>
          </a:p>
        </p:txBody>
      </p:sp>
      <p:sp>
        <p:nvSpPr>
          <p:cNvPr id="77" name="Shape 75"/>
          <p:cNvSpPr/>
          <p:nvPr/>
        </p:nvSpPr>
        <p:spPr>
          <a:xfrm>
            <a:off x="461772" y="3628339"/>
            <a:ext cx="3649370" cy="2194560"/>
          </a:xfrm>
          <a:prstGeom prst="roundRect">
            <a:avLst>
              <a:gd name="adj" fmla="val 2917"/>
            </a:avLst>
          </a:prstGeom>
          <a:solidFill>
            <a:srgbClr val="E2E8F0"/>
          </a:solidFill>
          <a:ln/>
        </p:spPr>
      </p:sp>
      <p:sp>
        <p:nvSpPr>
          <p:cNvPr id="78" name="Shape 76"/>
          <p:cNvSpPr/>
          <p:nvPr/>
        </p:nvSpPr>
        <p:spPr>
          <a:xfrm>
            <a:off x="438912" y="3602736"/>
            <a:ext cx="3649370" cy="2194560"/>
          </a:xfrm>
          <a:prstGeom prst="roundRect">
            <a:avLst>
              <a:gd name="adj" fmla="val 2917"/>
            </a:avLst>
          </a:prstGeom>
          <a:solidFill>
            <a:srgbClr val="FFFFFF"/>
          </a:solidFill>
          <a:ln w="10795">
            <a:solidFill>
              <a:srgbClr val="BFDBFE"/>
            </a:solidFill>
            <a:prstDash val="solid"/>
          </a:ln>
        </p:spPr>
      </p:sp>
      <p:sp>
        <p:nvSpPr>
          <p:cNvPr id="79" name="Shape 77"/>
          <p:cNvSpPr/>
          <p:nvPr/>
        </p:nvSpPr>
        <p:spPr>
          <a:xfrm>
            <a:off x="438912" y="3602736"/>
            <a:ext cx="3649370" cy="50292"/>
          </a:xfrm>
          <a:prstGeom prst="roundRect">
            <a:avLst>
              <a:gd name="adj" fmla="val 36364"/>
            </a:avLst>
          </a:prstGeom>
          <a:solidFill>
            <a:srgbClr val="1D4ED8"/>
          </a:solidFill>
          <a:ln/>
        </p:spPr>
      </p:sp>
      <p:sp>
        <p:nvSpPr>
          <p:cNvPr id="80" name="Shape 78"/>
          <p:cNvSpPr/>
          <p:nvPr/>
        </p:nvSpPr>
        <p:spPr>
          <a:xfrm>
            <a:off x="585216" y="3730752"/>
            <a:ext cx="3356762" cy="201168"/>
          </a:xfrm>
          <a:prstGeom prst="roundRect">
            <a:avLst>
              <a:gd name="adj" fmla="val 36364"/>
            </a:avLst>
          </a:prstGeom>
          <a:solidFill>
            <a:srgbClr val="EFF6FF"/>
          </a:solidFill>
          <a:ln w="9525">
            <a:solidFill>
              <a:srgbClr val="BFDBFE"/>
            </a:solidFill>
            <a:prstDash val="solid"/>
          </a:ln>
        </p:spPr>
      </p:sp>
      <p:sp>
        <p:nvSpPr>
          <p:cNvPr id="81" name="Text 79"/>
          <p:cNvSpPr/>
          <p:nvPr/>
        </p:nvSpPr>
        <p:spPr>
          <a:xfrm>
            <a:off x="585216" y="3730752"/>
            <a:ext cx="3356762" cy="201168"/>
          </a:xfrm>
          <a:prstGeom prst="rect">
            <a:avLst/>
          </a:prstGeom>
          <a:noFill/>
          <a:ln/>
        </p:spPr>
        <p:txBody>
          <a:bodyPr wrap="square" lIns="0" tIns="0" rIns="0" bIns="0" rtlCol="0" anchor="ctr"/>
          <a:lstStyle/>
          <a:p>
            <a:pPr algn="ctr" indent="0" marL="0">
              <a:lnSpc>
                <a:spcPct val="105000"/>
              </a:lnSpc>
              <a:buNone/>
            </a:pPr>
            <a:r>
              <a:rPr lang="en-US" sz="640" b="1" dirty="0">
                <a:solidFill>
                  <a:srgbClr val="1D4ED8"/>
                </a:solidFill>
                <a:latin typeface="Arial" pitchFamily="34" charset="0"/>
                <a:ea typeface="Arial" pitchFamily="34" charset="-122"/>
                <a:cs typeface="Arial" pitchFamily="34" charset="-120"/>
              </a:rPr>
              <a:t>PATTERN A  •  HIGHEST GROSS MARGIN</a:t>
            </a:r>
            <a:endParaRPr lang="en-US" sz="640" dirty="0"/>
          </a:p>
        </p:txBody>
      </p:sp>
      <p:sp>
        <p:nvSpPr>
          <p:cNvPr id="82" name="Text 80"/>
          <p:cNvSpPr/>
          <p:nvPr/>
        </p:nvSpPr>
        <p:spPr>
          <a:xfrm>
            <a:off x="585216" y="3986784"/>
            <a:ext cx="3356762" cy="237744"/>
          </a:xfrm>
          <a:prstGeom prst="rect">
            <a:avLst/>
          </a:prstGeom>
          <a:noFill/>
          <a:ln/>
        </p:spPr>
        <p:txBody>
          <a:bodyPr wrap="square" lIns="0" tIns="0" rIns="0" bIns="0" rtlCol="0" anchor="ctr"/>
          <a:lstStyle/>
          <a:p>
            <a:pPr indent="0" marL="0">
              <a:lnSpc>
                <a:spcPct val="105000"/>
              </a:lnSpc>
              <a:buNone/>
            </a:pPr>
            <a:r>
              <a:rPr lang="en-US" sz="1050" b="1" dirty="0">
                <a:solidFill>
                  <a:srgbClr val="0F172A"/>
                </a:solidFill>
                <a:latin typeface="Arial" pitchFamily="34" charset="0"/>
                <a:ea typeface="Arial" pitchFamily="34" charset="-122"/>
                <a:cs typeface="Arial" pitchFamily="34" charset="-120"/>
              </a:rPr>
              <a:t>Pooled Shared Runtime</a:t>
            </a:r>
            <a:endParaRPr lang="en-US" sz="1050" dirty="0"/>
          </a:p>
        </p:txBody>
      </p:sp>
      <p:sp>
        <p:nvSpPr>
          <p:cNvPr id="83" name="Text 81"/>
          <p:cNvSpPr/>
          <p:nvPr/>
        </p:nvSpPr>
        <p:spPr>
          <a:xfrm>
            <a:off x="585216" y="4297680"/>
            <a:ext cx="1078992" cy="292608"/>
          </a:xfrm>
          <a:prstGeom prst="rect">
            <a:avLst/>
          </a:prstGeom>
          <a:noFill/>
          <a:ln/>
        </p:spPr>
        <p:txBody>
          <a:bodyPr wrap="square" lIns="0" tIns="0" rIns="0" bIns="0" rtlCol="0" anchor="ctr"/>
          <a:lstStyle/>
          <a:p>
            <a:pPr indent="0" marL="0">
              <a:lnSpc>
                <a:spcPct val="105000"/>
              </a:lnSpc>
              <a:buNone/>
            </a:pPr>
            <a:r>
              <a:rPr lang="en-US" sz="700" b="1" dirty="0">
                <a:solidFill>
                  <a:srgbClr val="1D4ED8"/>
                </a:solidFill>
                <a:latin typeface="Arial" pitchFamily="34" charset="0"/>
                <a:ea typeface="Arial" pitchFamily="34" charset="-122"/>
                <a:cs typeface="Arial" pitchFamily="34" charset="-120"/>
              </a:rPr>
              <a:t>Isolation Anchor</a:t>
            </a:r>
            <a:endParaRPr lang="en-US" sz="700" dirty="0"/>
          </a:p>
        </p:txBody>
      </p:sp>
      <p:sp>
        <p:nvSpPr>
          <p:cNvPr id="84" name="Text 82"/>
          <p:cNvSpPr/>
          <p:nvPr/>
        </p:nvSpPr>
        <p:spPr>
          <a:xfrm>
            <a:off x="1682496" y="4297680"/>
            <a:ext cx="2277770" cy="292608"/>
          </a:xfrm>
          <a:prstGeom prst="rect">
            <a:avLst/>
          </a:prstGeom>
          <a:noFill/>
          <a:ln/>
        </p:spPr>
        <p:txBody>
          <a:bodyPr wrap="square" lIns="0" tIns="0" rIns="0" bIns="0" rtlCol="0" anchor="ctr"/>
          <a:lstStyle/>
          <a:p>
            <a:pPr indent="0" marL="0">
              <a:lnSpc>
                <a:spcPct val="105000"/>
              </a:lnSpc>
              <a:buNone/>
            </a:pPr>
            <a:r>
              <a:rPr lang="en-US" sz="710" dirty="0">
                <a:solidFill>
                  <a:srgbClr val="334155"/>
                </a:solidFill>
                <a:latin typeface="Arial" pitchFamily="34" charset="0"/>
                <a:ea typeface="Arial" pitchFamily="34" charset="-122"/>
                <a:cs typeface="Arial" pitchFamily="34" charset="-120"/>
              </a:rPr>
              <a:t>KMS-signed JWT + ARD + AlloyDB FORCE RLS</a:t>
            </a:r>
            <a:endParaRPr lang="en-US" sz="710" dirty="0"/>
          </a:p>
        </p:txBody>
      </p:sp>
      <p:sp>
        <p:nvSpPr>
          <p:cNvPr id="85" name="Shape 83"/>
          <p:cNvSpPr/>
          <p:nvPr/>
        </p:nvSpPr>
        <p:spPr>
          <a:xfrm>
            <a:off x="585216" y="4626864"/>
            <a:ext cx="3356762" cy="0"/>
          </a:xfrm>
          <a:prstGeom prst="line">
            <a:avLst/>
          </a:prstGeom>
          <a:noFill/>
          <a:ln w="7620">
            <a:solidFill>
              <a:srgbClr val="E2E8F0"/>
            </a:solidFill>
            <a:prstDash val="solid"/>
          </a:ln>
        </p:spPr>
      </p:sp>
      <p:sp>
        <p:nvSpPr>
          <p:cNvPr id="86" name="Text 84"/>
          <p:cNvSpPr/>
          <p:nvPr/>
        </p:nvSpPr>
        <p:spPr>
          <a:xfrm>
            <a:off x="585216" y="4654296"/>
            <a:ext cx="1078992" cy="292608"/>
          </a:xfrm>
          <a:prstGeom prst="rect">
            <a:avLst/>
          </a:prstGeom>
          <a:noFill/>
          <a:ln/>
        </p:spPr>
        <p:txBody>
          <a:bodyPr wrap="square" lIns="0" tIns="0" rIns="0" bIns="0" rtlCol="0" anchor="ctr"/>
          <a:lstStyle/>
          <a:p>
            <a:pPr indent="0" marL="0">
              <a:lnSpc>
                <a:spcPct val="105000"/>
              </a:lnSpc>
              <a:buNone/>
            </a:pPr>
            <a:r>
              <a:rPr lang="en-US" sz="700" b="1" dirty="0">
                <a:solidFill>
                  <a:srgbClr val="1D4ED8"/>
                </a:solidFill>
                <a:latin typeface="Arial" pitchFamily="34" charset="0"/>
                <a:ea typeface="Arial" pitchFamily="34" charset="-122"/>
                <a:cs typeface="Arial" pitchFamily="34" charset="-120"/>
              </a:rPr>
              <a:t>Model &amp; Cache</a:t>
            </a:r>
            <a:endParaRPr lang="en-US" sz="700" dirty="0"/>
          </a:p>
        </p:txBody>
      </p:sp>
      <p:sp>
        <p:nvSpPr>
          <p:cNvPr id="87" name="Text 85"/>
          <p:cNvSpPr/>
          <p:nvPr/>
        </p:nvSpPr>
        <p:spPr>
          <a:xfrm>
            <a:off x="1682496" y="4654296"/>
            <a:ext cx="2277770" cy="292608"/>
          </a:xfrm>
          <a:prstGeom prst="rect">
            <a:avLst/>
          </a:prstGeom>
          <a:noFill/>
          <a:ln/>
        </p:spPr>
        <p:txBody>
          <a:bodyPr wrap="square" lIns="0" tIns="0" rIns="0" bIns="0" rtlCol="0" anchor="ctr"/>
          <a:lstStyle/>
          <a:p>
            <a:pPr indent="0" marL="0">
              <a:lnSpc>
                <a:spcPct val="105000"/>
              </a:lnSpc>
              <a:buNone/>
            </a:pPr>
            <a:r>
              <a:rPr lang="en-US" sz="710" dirty="0">
                <a:solidFill>
                  <a:srgbClr val="334155"/>
                </a:solidFill>
                <a:latin typeface="Arial" pitchFamily="34" charset="0"/>
                <a:ea typeface="Arial" pitchFamily="34" charset="-122"/>
                <a:cs typeface="Arial" pitchFamily="34" charset="-120"/>
              </a:rPr>
              <a:t>Shared Gemini 2.5 Pro (90% prefix cache hit)</a:t>
            </a:r>
            <a:endParaRPr lang="en-US" sz="710" dirty="0"/>
          </a:p>
        </p:txBody>
      </p:sp>
      <p:sp>
        <p:nvSpPr>
          <p:cNvPr id="88" name="Shape 86"/>
          <p:cNvSpPr/>
          <p:nvPr/>
        </p:nvSpPr>
        <p:spPr>
          <a:xfrm>
            <a:off x="585216" y="4983480"/>
            <a:ext cx="3356762" cy="0"/>
          </a:xfrm>
          <a:prstGeom prst="line">
            <a:avLst/>
          </a:prstGeom>
          <a:noFill/>
          <a:ln w="7620">
            <a:solidFill>
              <a:srgbClr val="E2E8F0"/>
            </a:solidFill>
            <a:prstDash val="solid"/>
          </a:ln>
        </p:spPr>
      </p:sp>
      <p:sp>
        <p:nvSpPr>
          <p:cNvPr id="89" name="Text 87"/>
          <p:cNvSpPr/>
          <p:nvPr/>
        </p:nvSpPr>
        <p:spPr>
          <a:xfrm>
            <a:off x="585216" y="5010912"/>
            <a:ext cx="1078992" cy="292608"/>
          </a:xfrm>
          <a:prstGeom prst="rect">
            <a:avLst/>
          </a:prstGeom>
          <a:noFill/>
          <a:ln/>
        </p:spPr>
        <p:txBody>
          <a:bodyPr wrap="square" lIns="0" tIns="0" rIns="0" bIns="0" rtlCol="0" anchor="ctr"/>
          <a:lstStyle/>
          <a:p>
            <a:pPr indent="0" marL="0">
              <a:lnSpc>
                <a:spcPct val="105000"/>
              </a:lnSpc>
              <a:buNone/>
            </a:pPr>
            <a:r>
              <a:rPr lang="en-US" sz="700" b="1" dirty="0">
                <a:solidFill>
                  <a:srgbClr val="1D4ED8"/>
                </a:solidFill>
                <a:latin typeface="Arial" pitchFamily="34" charset="0"/>
                <a:ea typeface="Arial" pitchFamily="34" charset="-122"/>
                <a:cs typeface="Arial" pitchFamily="34" charset="-120"/>
              </a:rPr>
              <a:t>Encryption / Lock</a:t>
            </a:r>
            <a:endParaRPr lang="en-US" sz="700" dirty="0"/>
          </a:p>
        </p:txBody>
      </p:sp>
      <p:sp>
        <p:nvSpPr>
          <p:cNvPr id="90" name="Text 88"/>
          <p:cNvSpPr/>
          <p:nvPr/>
        </p:nvSpPr>
        <p:spPr>
          <a:xfrm>
            <a:off x="1682496" y="5010912"/>
            <a:ext cx="2277770" cy="292608"/>
          </a:xfrm>
          <a:prstGeom prst="rect">
            <a:avLst/>
          </a:prstGeom>
          <a:noFill/>
          <a:ln/>
        </p:spPr>
        <p:txBody>
          <a:bodyPr wrap="square" lIns="0" tIns="0" rIns="0" bIns="0" rtlCol="0" anchor="ctr"/>
          <a:lstStyle/>
          <a:p>
            <a:pPr indent="0" marL="0">
              <a:lnSpc>
                <a:spcPct val="105000"/>
              </a:lnSpc>
              <a:buNone/>
            </a:pPr>
            <a:r>
              <a:rPr lang="en-US" sz="710" dirty="0">
                <a:solidFill>
                  <a:srgbClr val="334155"/>
                </a:solidFill>
                <a:latin typeface="Arial" pitchFamily="34" charset="0"/>
                <a:ea typeface="Arial" pitchFamily="34" charset="-122"/>
                <a:cs typeface="Arial" pitchFamily="34" charset="-120"/>
              </a:rPr>
              <a:t>App Tink AEAD + Valkey &lt;5s JTI eviction</a:t>
            </a:r>
            <a:endParaRPr lang="en-US" sz="710" dirty="0"/>
          </a:p>
        </p:txBody>
      </p:sp>
      <p:sp>
        <p:nvSpPr>
          <p:cNvPr id="91" name="Shape 89"/>
          <p:cNvSpPr/>
          <p:nvPr/>
        </p:nvSpPr>
        <p:spPr>
          <a:xfrm>
            <a:off x="585216" y="5340096"/>
            <a:ext cx="3356762" cy="0"/>
          </a:xfrm>
          <a:prstGeom prst="line">
            <a:avLst/>
          </a:prstGeom>
          <a:noFill/>
          <a:ln w="7620">
            <a:solidFill>
              <a:srgbClr val="E2E8F0"/>
            </a:solidFill>
            <a:prstDash val="solid"/>
          </a:ln>
        </p:spPr>
      </p:sp>
      <p:sp>
        <p:nvSpPr>
          <p:cNvPr id="92" name="Text 90"/>
          <p:cNvSpPr/>
          <p:nvPr/>
        </p:nvSpPr>
        <p:spPr>
          <a:xfrm>
            <a:off x="585216" y="5367528"/>
            <a:ext cx="1078992" cy="292608"/>
          </a:xfrm>
          <a:prstGeom prst="rect">
            <a:avLst/>
          </a:prstGeom>
          <a:noFill/>
          <a:ln/>
        </p:spPr>
        <p:txBody>
          <a:bodyPr wrap="square" lIns="0" tIns="0" rIns="0" bIns="0" rtlCol="0" anchor="ctr"/>
          <a:lstStyle/>
          <a:p>
            <a:pPr indent="0" marL="0">
              <a:lnSpc>
                <a:spcPct val="105000"/>
              </a:lnSpc>
              <a:buNone/>
            </a:pPr>
            <a:r>
              <a:rPr lang="en-US" sz="700" b="1" dirty="0">
                <a:solidFill>
                  <a:srgbClr val="1D4ED8"/>
                </a:solidFill>
                <a:latin typeface="Arial" pitchFamily="34" charset="0"/>
                <a:ea typeface="Arial" pitchFamily="34" charset="-122"/>
                <a:cs typeface="Arial" pitchFamily="34" charset="-120"/>
              </a:rPr>
              <a:t>Relative Infra Cost</a:t>
            </a:r>
            <a:endParaRPr lang="en-US" sz="700" dirty="0"/>
          </a:p>
        </p:txBody>
      </p:sp>
      <p:sp>
        <p:nvSpPr>
          <p:cNvPr id="93" name="Text 91"/>
          <p:cNvSpPr/>
          <p:nvPr/>
        </p:nvSpPr>
        <p:spPr>
          <a:xfrm>
            <a:off x="1682496" y="5367528"/>
            <a:ext cx="2277770" cy="292608"/>
          </a:xfrm>
          <a:prstGeom prst="rect">
            <a:avLst/>
          </a:prstGeom>
          <a:noFill/>
          <a:ln/>
        </p:spPr>
        <p:txBody>
          <a:bodyPr wrap="square" lIns="0" tIns="0" rIns="0" bIns="0" rtlCol="0" anchor="ctr"/>
          <a:lstStyle/>
          <a:p>
            <a:pPr indent="0" marL="0">
              <a:lnSpc>
                <a:spcPct val="105000"/>
              </a:lnSpc>
              <a:buNone/>
            </a:pPr>
            <a:r>
              <a:rPr lang="en-US" sz="710" dirty="0">
                <a:solidFill>
                  <a:srgbClr val="334155"/>
                </a:solidFill>
                <a:latin typeface="Arial" pitchFamily="34" charset="0"/>
                <a:ea typeface="Arial" pitchFamily="34" charset="-122"/>
                <a:cs typeface="Arial" pitchFamily="34" charset="-120"/>
              </a:rPr>
              <a:t>1.0x Baseline (highest amortized SaaS density)</a:t>
            </a:r>
            <a:endParaRPr lang="en-US" sz="710" dirty="0"/>
          </a:p>
        </p:txBody>
      </p:sp>
      <p:sp>
        <p:nvSpPr>
          <p:cNvPr id="94" name="Shape 92"/>
          <p:cNvSpPr/>
          <p:nvPr/>
        </p:nvSpPr>
        <p:spPr>
          <a:xfrm>
            <a:off x="4294022" y="3628339"/>
            <a:ext cx="3649370" cy="2194560"/>
          </a:xfrm>
          <a:prstGeom prst="roundRect">
            <a:avLst>
              <a:gd name="adj" fmla="val 2917"/>
            </a:avLst>
          </a:prstGeom>
          <a:solidFill>
            <a:srgbClr val="E2E8F0"/>
          </a:solidFill>
          <a:ln/>
        </p:spPr>
      </p:sp>
      <p:sp>
        <p:nvSpPr>
          <p:cNvPr id="95" name="Shape 93"/>
          <p:cNvSpPr/>
          <p:nvPr/>
        </p:nvSpPr>
        <p:spPr>
          <a:xfrm>
            <a:off x="4271162" y="3602736"/>
            <a:ext cx="3649370" cy="2194560"/>
          </a:xfrm>
          <a:prstGeom prst="roundRect">
            <a:avLst>
              <a:gd name="adj" fmla="val 2917"/>
            </a:avLst>
          </a:prstGeom>
          <a:solidFill>
            <a:srgbClr val="FFFFFF"/>
          </a:solidFill>
          <a:ln w="10795">
            <a:solidFill>
              <a:srgbClr val="FDE68A"/>
            </a:solidFill>
            <a:prstDash val="solid"/>
          </a:ln>
        </p:spPr>
      </p:sp>
      <p:sp>
        <p:nvSpPr>
          <p:cNvPr id="96" name="Shape 94"/>
          <p:cNvSpPr/>
          <p:nvPr/>
        </p:nvSpPr>
        <p:spPr>
          <a:xfrm>
            <a:off x="4271162" y="3602736"/>
            <a:ext cx="3649370" cy="50292"/>
          </a:xfrm>
          <a:prstGeom prst="roundRect">
            <a:avLst>
              <a:gd name="adj" fmla="val 36364"/>
            </a:avLst>
          </a:prstGeom>
          <a:solidFill>
            <a:srgbClr val="B45309"/>
          </a:solidFill>
          <a:ln/>
        </p:spPr>
      </p:sp>
      <p:sp>
        <p:nvSpPr>
          <p:cNvPr id="97" name="Shape 95"/>
          <p:cNvSpPr/>
          <p:nvPr/>
        </p:nvSpPr>
        <p:spPr>
          <a:xfrm>
            <a:off x="4417466" y="3730752"/>
            <a:ext cx="3356762" cy="201168"/>
          </a:xfrm>
          <a:prstGeom prst="roundRect">
            <a:avLst>
              <a:gd name="adj" fmla="val 36364"/>
            </a:avLst>
          </a:prstGeom>
          <a:solidFill>
            <a:srgbClr val="FFFBEB"/>
          </a:solidFill>
          <a:ln w="9525">
            <a:solidFill>
              <a:srgbClr val="FDE68A"/>
            </a:solidFill>
            <a:prstDash val="solid"/>
          </a:ln>
        </p:spPr>
      </p:sp>
      <p:sp>
        <p:nvSpPr>
          <p:cNvPr id="98" name="Text 96"/>
          <p:cNvSpPr/>
          <p:nvPr/>
        </p:nvSpPr>
        <p:spPr>
          <a:xfrm>
            <a:off x="4417466" y="3730752"/>
            <a:ext cx="3356762" cy="201168"/>
          </a:xfrm>
          <a:prstGeom prst="rect">
            <a:avLst/>
          </a:prstGeom>
          <a:noFill/>
          <a:ln/>
        </p:spPr>
        <p:txBody>
          <a:bodyPr wrap="square" lIns="0" tIns="0" rIns="0" bIns="0" rtlCol="0" anchor="ctr"/>
          <a:lstStyle/>
          <a:p>
            <a:pPr algn="ctr" indent="0" marL="0">
              <a:lnSpc>
                <a:spcPct val="105000"/>
              </a:lnSpc>
              <a:buNone/>
            </a:pPr>
            <a:r>
              <a:rPr lang="en-US" sz="640" b="1" dirty="0">
                <a:solidFill>
                  <a:srgbClr val="B45309"/>
                </a:solidFill>
                <a:latin typeface="Arial" pitchFamily="34" charset="0"/>
                <a:ea typeface="Arial" pitchFamily="34" charset="-122"/>
                <a:cs typeface="Arial" pitchFamily="34" charset="-120"/>
              </a:rPr>
              <a:t>PATTERN B  •  HARDEST BLAST RADIUS</a:t>
            </a:r>
            <a:endParaRPr lang="en-US" sz="640" dirty="0"/>
          </a:p>
        </p:txBody>
      </p:sp>
      <p:sp>
        <p:nvSpPr>
          <p:cNvPr id="99" name="Text 97"/>
          <p:cNvSpPr/>
          <p:nvPr/>
        </p:nvSpPr>
        <p:spPr>
          <a:xfrm>
            <a:off x="4417466" y="3986784"/>
            <a:ext cx="3356762" cy="237744"/>
          </a:xfrm>
          <a:prstGeom prst="rect">
            <a:avLst/>
          </a:prstGeom>
          <a:noFill/>
          <a:ln/>
        </p:spPr>
        <p:txBody>
          <a:bodyPr wrap="square" lIns="0" tIns="0" rIns="0" bIns="0" rtlCol="0" anchor="ctr"/>
          <a:lstStyle/>
          <a:p>
            <a:pPr indent="0" marL="0">
              <a:lnSpc>
                <a:spcPct val="105000"/>
              </a:lnSpc>
              <a:buNone/>
            </a:pPr>
            <a:r>
              <a:rPr lang="en-US" sz="1050" b="1" dirty="0">
                <a:solidFill>
                  <a:srgbClr val="0F172A"/>
                </a:solidFill>
                <a:latin typeface="Arial" pitchFamily="34" charset="0"/>
                <a:ea typeface="Arial" pitchFamily="34" charset="-122"/>
                <a:cs typeface="Arial" pitchFamily="34" charset="-120"/>
              </a:rPr>
              <a:t>Dedicated Sovereign Silo</a:t>
            </a:r>
            <a:endParaRPr lang="en-US" sz="1050" dirty="0"/>
          </a:p>
        </p:txBody>
      </p:sp>
      <p:sp>
        <p:nvSpPr>
          <p:cNvPr id="100" name="Text 98"/>
          <p:cNvSpPr/>
          <p:nvPr/>
        </p:nvSpPr>
        <p:spPr>
          <a:xfrm>
            <a:off x="4417466" y="4297680"/>
            <a:ext cx="1078992" cy="292608"/>
          </a:xfrm>
          <a:prstGeom prst="rect">
            <a:avLst/>
          </a:prstGeom>
          <a:noFill/>
          <a:ln/>
        </p:spPr>
        <p:txBody>
          <a:bodyPr wrap="square" lIns="0" tIns="0" rIns="0" bIns="0" rtlCol="0" anchor="ctr"/>
          <a:lstStyle/>
          <a:p>
            <a:pPr indent="0" marL="0">
              <a:lnSpc>
                <a:spcPct val="105000"/>
              </a:lnSpc>
              <a:buNone/>
            </a:pPr>
            <a:r>
              <a:rPr lang="en-US" sz="700" b="1" dirty="0">
                <a:solidFill>
                  <a:srgbClr val="B45309"/>
                </a:solidFill>
                <a:latin typeface="Arial" pitchFamily="34" charset="0"/>
                <a:ea typeface="Arial" pitchFamily="34" charset="-122"/>
                <a:cs typeface="Arial" pitchFamily="34" charset="-120"/>
              </a:rPr>
              <a:t>Isolation Anchor</a:t>
            </a:r>
            <a:endParaRPr lang="en-US" sz="700" dirty="0"/>
          </a:p>
        </p:txBody>
      </p:sp>
      <p:sp>
        <p:nvSpPr>
          <p:cNvPr id="101" name="Text 99"/>
          <p:cNvSpPr/>
          <p:nvPr/>
        </p:nvSpPr>
        <p:spPr>
          <a:xfrm>
            <a:off x="5514746" y="4297680"/>
            <a:ext cx="2277770" cy="292608"/>
          </a:xfrm>
          <a:prstGeom prst="rect">
            <a:avLst/>
          </a:prstGeom>
          <a:noFill/>
          <a:ln/>
        </p:spPr>
        <p:txBody>
          <a:bodyPr wrap="square" lIns="0" tIns="0" rIns="0" bIns="0" rtlCol="0" anchor="ctr"/>
          <a:lstStyle/>
          <a:p>
            <a:pPr indent="0" marL="0">
              <a:lnSpc>
                <a:spcPct val="105000"/>
              </a:lnSpc>
              <a:buNone/>
            </a:pPr>
            <a:r>
              <a:rPr lang="en-US" sz="710" dirty="0">
                <a:solidFill>
                  <a:srgbClr val="334155"/>
                </a:solidFill>
                <a:latin typeface="Arial" pitchFamily="34" charset="0"/>
                <a:ea typeface="Arial" pitchFamily="34" charset="-122"/>
                <a:cs typeface="Arial" pitchFamily="34" charset="-120"/>
              </a:rPr>
              <a:t>Dedicated GCP Project + VPC-SC + IAM PAB</a:t>
            </a:r>
            <a:endParaRPr lang="en-US" sz="710" dirty="0"/>
          </a:p>
        </p:txBody>
      </p:sp>
      <p:sp>
        <p:nvSpPr>
          <p:cNvPr id="102" name="Shape 100"/>
          <p:cNvSpPr/>
          <p:nvPr/>
        </p:nvSpPr>
        <p:spPr>
          <a:xfrm>
            <a:off x="4417466" y="4626864"/>
            <a:ext cx="3356762" cy="0"/>
          </a:xfrm>
          <a:prstGeom prst="line">
            <a:avLst/>
          </a:prstGeom>
          <a:noFill/>
          <a:ln w="7620">
            <a:solidFill>
              <a:srgbClr val="E2E8F0"/>
            </a:solidFill>
            <a:prstDash val="solid"/>
          </a:ln>
        </p:spPr>
      </p:sp>
      <p:sp>
        <p:nvSpPr>
          <p:cNvPr id="103" name="Text 101"/>
          <p:cNvSpPr/>
          <p:nvPr/>
        </p:nvSpPr>
        <p:spPr>
          <a:xfrm>
            <a:off x="4417466" y="4654296"/>
            <a:ext cx="1078992" cy="292608"/>
          </a:xfrm>
          <a:prstGeom prst="rect">
            <a:avLst/>
          </a:prstGeom>
          <a:noFill/>
          <a:ln/>
        </p:spPr>
        <p:txBody>
          <a:bodyPr wrap="square" lIns="0" tIns="0" rIns="0" bIns="0" rtlCol="0" anchor="ctr"/>
          <a:lstStyle/>
          <a:p>
            <a:pPr indent="0" marL="0">
              <a:lnSpc>
                <a:spcPct val="105000"/>
              </a:lnSpc>
              <a:buNone/>
            </a:pPr>
            <a:r>
              <a:rPr lang="en-US" sz="700" b="1" dirty="0">
                <a:solidFill>
                  <a:srgbClr val="B45309"/>
                </a:solidFill>
                <a:latin typeface="Arial" pitchFamily="34" charset="0"/>
                <a:ea typeface="Arial" pitchFamily="34" charset="-122"/>
                <a:cs typeface="Arial" pitchFamily="34" charset="-120"/>
              </a:rPr>
              <a:t>Model &amp; Cache</a:t>
            </a:r>
            <a:endParaRPr lang="en-US" sz="700" dirty="0"/>
          </a:p>
        </p:txBody>
      </p:sp>
      <p:sp>
        <p:nvSpPr>
          <p:cNvPr id="104" name="Text 102"/>
          <p:cNvSpPr/>
          <p:nvPr/>
        </p:nvSpPr>
        <p:spPr>
          <a:xfrm>
            <a:off x="5514746" y="4654296"/>
            <a:ext cx="2277770" cy="292608"/>
          </a:xfrm>
          <a:prstGeom prst="rect">
            <a:avLst/>
          </a:prstGeom>
          <a:noFill/>
          <a:ln/>
        </p:spPr>
        <p:txBody>
          <a:bodyPr wrap="square" lIns="0" tIns="0" rIns="0" bIns="0" rtlCol="0" anchor="ctr"/>
          <a:lstStyle/>
          <a:p>
            <a:pPr indent="0" marL="0">
              <a:lnSpc>
                <a:spcPct val="105000"/>
              </a:lnSpc>
              <a:buNone/>
            </a:pPr>
            <a:r>
              <a:rPr lang="en-US" sz="710" dirty="0">
                <a:solidFill>
                  <a:srgbClr val="334155"/>
                </a:solidFill>
                <a:latin typeface="Arial" pitchFamily="34" charset="0"/>
                <a:ea typeface="Arial" pitchFamily="34" charset="-122"/>
                <a:cs typeface="Arial" pitchFamily="34" charset="-120"/>
              </a:rPr>
              <a:t>Dedicated Vertex PT or air-gapped GKE Gemma 3</a:t>
            </a:r>
            <a:endParaRPr lang="en-US" sz="710" dirty="0"/>
          </a:p>
        </p:txBody>
      </p:sp>
      <p:sp>
        <p:nvSpPr>
          <p:cNvPr id="105" name="Shape 103"/>
          <p:cNvSpPr/>
          <p:nvPr/>
        </p:nvSpPr>
        <p:spPr>
          <a:xfrm>
            <a:off x="4417466" y="4983480"/>
            <a:ext cx="3356762" cy="0"/>
          </a:xfrm>
          <a:prstGeom prst="line">
            <a:avLst/>
          </a:prstGeom>
          <a:noFill/>
          <a:ln w="7620">
            <a:solidFill>
              <a:srgbClr val="E2E8F0"/>
            </a:solidFill>
            <a:prstDash val="solid"/>
          </a:ln>
        </p:spPr>
      </p:sp>
      <p:sp>
        <p:nvSpPr>
          <p:cNvPr id="106" name="Text 104"/>
          <p:cNvSpPr/>
          <p:nvPr/>
        </p:nvSpPr>
        <p:spPr>
          <a:xfrm>
            <a:off x="4417466" y="5010912"/>
            <a:ext cx="1078992" cy="292608"/>
          </a:xfrm>
          <a:prstGeom prst="rect">
            <a:avLst/>
          </a:prstGeom>
          <a:noFill/>
          <a:ln/>
        </p:spPr>
        <p:txBody>
          <a:bodyPr wrap="square" lIns="0" tIns="0" rIns="0" bIns="0" rtlCol="0" anchor="ctr"/>
          <a:lstStyle/>
          <a:p>
            <a:pPr indent="0" marL="0">
              <a:lnSpc>
                <a:spcPct val="105000"/>
              </a:lnSpc>
              <a:buNone/>
            </a:pPr>
            <a:r>
              <a:rPr lang="en-US" sz="700" b="1" dirty="0">
                <a:solidFill>
                  <a:srgbClr val="B45309"/>
                </a:solidFill>
                <a:latin typeface="Arial" pitchFamily="34" charset="0"/>
                <a:ea typeface="Arial" pitchFamily="34" charset="-122"/>
                <a:cs typeface="Arial" pitchFamily="34" charset="-120"/>
              </a:rPr>
              <a:t>Encryption / Lock</a:t>
            </a:r>
            <a:endParaRPr lang="en-US" sz="700" dirty="0"/>
          </a:p>
        </p:txBody>
      </p:sp>
      <p:sp>
        <p:nvSpPr>
          <p:cNvPr id="107" name="Text 105"/>
          <p:cNvSpPr/>
          <p:nvPr/>
        </p:nvSpPr>
        <p:spPr>
          <a:xfrm>
            <a:off x="5514746" y="5010912"/>
            <a:ext cx="2277770" cy="292608"/>
          </a:xfrm>
          <a:prstGeom prst="rect">
            <a:avLst/>
          </a:prstGeom>
          <a:noFill/>
          <a:ln/>
        </p:spPr>
        <p:txBody>
          <a:bodyPr wrap="square" lIns="0" tIns="0" rIns="0" bIns="0" rtlCol="0" anchor="ctr"/>
          <a:lstStyle/>
          <a:p>
            <a:pPr indent="0" marL="0">
              <a:lnSpc>
                <a:spcPct val="105000"/>
              </a:lnSpc>
              <a:buNone/>
            </a:pPr>
            <a:r>
              <a:rPr lang="en-US" sz="710" dirty="0">
                <a:solidFill>
                  <a:srgbClr val="334155"/>
                </a:solidFill>
                <a:latin typeface="Arial" pitchFamily="34" charset="0"/>
                <a:ea typeface="Arial" pitchFamily="34" charset="-122"/>
                <a:cs typeface="Arial" pitchFamily="34" charset="-120"/>
              </a:rPr>
              <a:t>Customer KMS CMEK (&lt;60s HTTP 423 lock)</a:t>
            </a:r>
            <a:endParaRPr lang="en-US" sz="710" dirty="0"/>
          </a:p>
        </p:txBody>
      </p:sp>
      <p:sp>
        <p:nvSpPr>
          <p:cNvPr id="108" name="Shape 106"/>
          <p:cNvSpPr/>
          <p:nvPr/>
        </p:nvSpPr>
        <p:spPr>
          <a:xfrm>
            <a:off x="4417466" y="5340096"/>
            <a:ext cx="3356762" cy="0"/>
          </a:xfrm>
          <a:prstGeom prst="line">
            <a:avLst/>
          </a:prstGeom>
          <a:noFill/>
          <a:ln w="7620">
            <a:solidFill>
              <a:srgbClr val="E2E8F0"/>
            </a:solidFill>
            <a:prstDash val="solid"/>
          </a:ln>
        </p:spPr>
      </p:sp>
      <p:sp>
        <p:nvSpPr>
          <p:cNvPr id="109" name="Text 107"/>
          <p:cNvSpPr/>
          <p:nvPr/>
        </p:nvSpPr>
        <p:spPr>
          <a:xfrm>
            <a:off x="4417466" y="5367528"/>
            <a:ext cx="1078992" cy="292608"/>
          </a:xfrm>
          <a:prstGeom prst="rect">
            <a:avLst/>
          </a:prstGeom>
          <a:noFill/>
          <a:ln/>
        </p:spPr>
        <p:txBody>
          <a:bodyPr wrap="square" lIns="0" tIns="0" rIns="0" bIns="0" rtlCol="0" anchor="ctr"/>
          <a:lstStyle/>
          <a:p>
            <a:pPr indent="0" marL="0">
              <a:lnSpc>
                <a:spcPct val="105000"/>
              </a:lnSpc>
              <a:buNone/>
            </a:pPr>
            <a:r>
              <a:rPr lang="en-US" sz="700" b="1" dirty="0">
                <a:solidFill>
                  <a:srgbClr val="B45309"/>
                </a:solidFill>
                <a:latin typeface="Arial" pitchFamily="34" charset="0"/>
                <a:ea typeface="Arial" pitchFamily="34" charset="-122"/>
                <a:cs typeface="Arial" pitchFamily="34" charset="-120"/>
              </a:rPr>
              <a:t>Relative Infra Cost</a:t>
            </a:r>
            <a:endParaRPr lang="en-US" sz="700" dirty="0"/>
          </a:p>
        </p:txBody>
      </p:sp>
      <p:sp>
        <p:nvSpPr>
          <p:cNvPr id="110" name="Text 108"/>
          <p:cNvSpPr/>
          <p:nvPr/>
        </p:nvSpPr>
        <p:spPr>
          <a:xfrm>
            <a:off x="5514746" y="5367528"/>
            <a:ext cx="2277770" cy="292608"/>
          </a:xfrm>
          <a:prstGeom prst="rect">
            <a:avLst/>
          </a:prstGeom>
          <a:noFill/>
          <a:ln/>
        </p:spPr>
        <p:txBody>
          <a:bodyPr wrap="square" lIns="0" tIns="0" rIns="0" bIns="0" rtlCol="0" anchor="ctr"/>
          <a:lstStyle/>
          <a:p>
            <a:pPr indent="0" marL="0">
              <a:lnSpc>
                <a:spcPct val="105000"/>
              </a:lnSpc>
              <a:buNone/>
            </a:pPr>
            <a:r>
              <a:rPr lang="en-US" sz="710" dirty="0">
                <a:solidFill>
                  <a:srgbClr val="334155"/>
                </a:solidFill>
                <a:latin typeface="Arial" pitchFamily="34" charset="0"/>
                <a:ea typeface="Arial" pitchFamily="34" charset="-122"/>
                <a:cs typeface="Arial" pitchFamily="34" charset="-120"/>
              </a:rPr>
              <a:t>~12x–40x Baseline (premium regulated SKU)</a:t>
            </a:r>
            <a:endParaRPr lang="en-US" sz="710" dirty="0"/>
          </a:p>
        </p:txBody>
      </p:sp>
      <p:sp>
        <p:nvSpPr>
          <p:cNvPr id="111" name="Shape 109"/>
          <p:cNvSpPr/>
          <p:nvPr/>
        </p:nvSpPr>
        <p:spPr>
          <a:xfrm>
            <a:off x="8126273" y="3628339"/>
            <a:ext cx="3649370" cy="2194560"/>
          </a:xfrm>
          <a:prstGeom prst="roundRect">
            <a:avLst>
              <a:gd name="adj" fmla="val 2917"/>
            </a:avLst>
          </a:prstGeom>
          <a:solidFill>
            <a:srgbClr val="E2E8F0"/>
          </a:solidFill>
          <a:ln/>
        </p:spPr>
      </p:sp>
      <p:sp>
        <p:nvSpPr>
          <p:cNvPr id="112" name="Shape 110"/>
          <p:cNvSpPr/>
          <p:nvPr/>
        </p:nvSpPr>
        <p:spPr>
          <a:xfrm>
            <a:off x="8103413" y="3602736"/>
            <a:ext cx="3649370" cy="2194560"/>
          </a:xfrm>
          <a:prstGeom prst="roundRect">
            <a:avLst>
              <a:gd name="adj" fmla="val 2917"/>
            </a:avLst>
          </a:prstGeom>
          <a:solidFill>
            <a:srgbClr val="FFFFFF"/>
          </a:solidFill>
          <a:ln w="10795">
            <a:solidFill>
              <a:srgbClr val="99F6E4"/>
            </a:solidFill>
            <a:prstDash val="solid"/>
          </a:ln>
        </p:spPr>
      </p:sp>
      <p:sp>
        <p:nvSpPr>
          <p:cNvPr id="113" name="Shape 111"/>
          <p:cNvSpPr/>
          <p:nvPr/>
        </p:nvSpPr>
        <p:spPr>
          <a:xfrm>
            <a:off x="8103413" y="3602736"/>
            <a:ext cx="3649370" cy="50292"/>
          </a:xfrm>
          <a:prstGeom prst="roundRect">
            <a:avLst>
              <a:gd name="adj" fmla="val 36364"/>
            </a:avLst>
          </a:prstGeom>
          <a:solidFill>
            <a:srgbClr val="0F766E"/>
          </a:solidFill>
          <a:ln/>
        </p:spPr>
      </p:sp>
      <p:sp>
        <p:nvSpPr>
          <p:cNvPr id="114" name="Shape 112"/>
          <p:cNvSpPr/>
          <p:nvPr/>
        </p:nvSpPr>
        <p:spPr>
          <a:xfrm>
            <a:off x="8249717" y="3730752"/>
            <a:ext cx="3356762" cy="201168"/>
          </a:xfrm>
          <a:prstGeom prst="roundRect">
            <a:avLst>
              <a:gd name="adj" fmla="val 36364"/>
            </a:avLst>
          </a:prstGeom>
          <a:solidFill>
            <a:srgbClr val="F0FDFA"/>
          </a:solidFill>
          <a:ln w="9525">
            <a:solidFill>
              <a:srgbClr val="99F6E4"/>
            </a:solidFill>
            <a:prstDash val="solid"/>
          </a:ln>
        </p:spPr>
      </p:sp>
      <p:sp>
        <p:nvSpPr>
          <p:cNvPr id="115" name="Text 113"/>
          <p:cNvSpPr/>
          <p:nvPr/>
        </p:nvSpPr>
        <p:spPr>
          <a:xfrm>
            <a:off x="8249717" y="3730752"/>
            <a:ext cx="3356762" cy="201168"/>
          </a:xfrm>
          <a:prstGeom prst="rect">
            <a:avLst/>
          </a:prstGeom>
          <a:noFill/>
          <a:ln/>
        </p:spPr>
        <p:txBody>
          <a:bodyPr wrap="square" lIns="0" tIns="0" rIns="0" bIns="0" rtlCol="0" anchor="ctr"/>
          <a:lstStyle/>
          <a:p>
            <a:pPr algn="ctr" indent="0" marL="0">
              <a:lnSpc>
                <a:spcPct val="105000"/>
              </a:lnSpc>
              <a:buNone/>
            </a:pPr>
            <a:r>
              <a:rPr lang="en-US" sz="640" b="1" dirty="0">
                <a:solidFill>
                  <a:srgbClr val="0F766E"/>
                </a:solidFill>
                <a:latin typeface="Arial" pitchFamily="34" charset="0"/>
                <a:ea typeface="Arial" pitchFamily="34" charset="-122"/>
                <a:cs typeface="Arial" pitchFamily="34" charset="-120"/>
              </a:rPr>
              <a:t>PATTERN C  •  ELASTIC ENTERPRISE BRIDGE</a:t>
            </a:r>
            <a:endParaRPr lang="en-US" sz="640" dirty="0"/>
          </a:p>
        </p:txBody>
      </p:sp>
      <p:sp>
        <p:nvSpPr>
          <p:cNvPr id="116" name="Text 114"/>
          <p:cNvSpPr/>
          <p:nvPr/>
        </p:nvSpPr>
        <p:spPr>
          <a:xfrm>
            <a:off x="8249717" y="3986784"/>
            <a:ext cx="3356762" cy="237744"/>
          </a:xfrm>
          <a:prstGeom prst="rect">
            <a:avLst/>
          </a:prstGeom>
          <a:noFill/>
          <a:ln/>
        </p:spPr>
        <p:txBody>
          <a:bodyPr wrap="square" lIns="0" tIns="0" rIns="0" bIns="0" rtlCol="0" anchor="ctr"/>
          <a:lstStyle/>
          <a:p>
            <a:pPr indent="0" marL="0">
              <a:lnSpc>
                <a:spcPct val="105000"/>
              </a:lnSpc>
              <a:buNone/>
            </a:pPr>
            <a:r>
              <a:rPr lang="en-US" sz="1050" b="1" dirty="0">
                <a:solidFill>
                  <a:srgbClr val="0F172A"/>
                </a:solidFill>
                <a:latin typeface="Arial" pitchFamily="34" charset="0"/>
                <a:ea typeface="Arial" pitchFamily="34" charset="-122"/>
                <a:cs typeface="Arial" pitchFamily="34" charset="-120"/>
              </a:rPr>
              <a:t>Dynamic Hybrid (PSC Spoke)</a:t>
            </a:r>
            <a:endParaRPr lang="en-US" sz="1050" dirty="0"/>
          </a:p>
        </p:txBody>
      </p:sp>
      <p:sp>
        <p:nvSpPr>
          <p:cNvPr id="117" name="Text 115"/>
          <p:cNvSpPr/>
          <p:nvPr/>
        </p:nvSpPr>
        <p:spPr>
          <a:xfrm>
            <a:off x="8249717" y="4297680"/>
            <a:ext cx="1078992" cy="292608"/>
          </a:xfrm>
          <a:prstGeom prst="rect">
            <a:avLst/>
          </a:prstGeom>
          <a:noFill/>
          <a:ln/>
        </p:spPr>
        <p:txBody>
          <a:bodyPr wrap="square" lIns="0" tIns="0" rIns="0" bIns="0" rtlCol="0" anchor="ctr"/>
          <a:lstStyle/>
          <a:p>
            <a:pPr indent="0" marL="0">
              <a:lnSpc>
                <a:spcPct val="105000"/>
              </a:lnSpc>
              <a:buNone/>
            </a:pPr>
            <a:r>
              <a:rPr lang="en-US" sz="700" b="1" dirty="0">
                <a:solidFill>
                  <a:srgbClr val="0F766E"/>
                </a:solidFill>
                <a:latin typeface="Arial" pitchFamily="34" charset="0"/>
                <a:ea typeface="Arial" pitchFamily="34" charset="-122"/>
                <a:cs typeface="Arial" pitchFamily="34" charset="-120"/>
              </a:rPr>
              <a:t>Isolation Anchor</a:t>
            </a:r>
            <a:endParaRPr lang="en-US" sz="700" dirty="0"/>
          </a:p>
        </p:txBody>
      </p:sp>
      <p:sp>
        <p:nvSpPr>
          <p:cNvPr id="118" name="Text 116"/>
          <p:cNvSpPr/>
          <p:nvPr/>
        </p:nvSpPr>
        <p:spPr>
          <a:xfrm>
            <a:off x="9346997" y="4297680"/>
            <a:ext cx="2277770" cy="292608"/>
          </a:xfrm>
          <a:prstGeom prst="rect">
            <a:avLst/>
          </a:prstGeom>
          <a:noFill/>
          <a:ln/>
        </p:spPr>
        <p:txBody>
          <a:bodyPr wrap="square" lIns="0" tIns="0" rIns="0" bIns="0" rtlCol="0" anchor="ctr"/>
          <a:lstStyle/>
          <a:p>
            <a:pPr indent="0" marL="0">
              <a:lnSpc>
                <a:spcPct val="105000"/>
              </a:lnSpc>
              <a:buNone/>
            </a:pPr>
            <a:r>
              <a:rPr lang="en-US" sz="710" dirty="0">
                <a:solidFill>
                  <a:srgbClr val="334155"/>
                </a:solidFill>
                <a:latin typeface="Arial" pitchFamily="34" charset="0"/>
                <a:ea typeface="Arial" pitchFamily="34" charset="-122"/>
                <a:cs typeface="Arial" pitchFamily="34" charset="-120"/>
              </a:rPr>
              <a:t>Pooled Hub + unidirectional PSC (/28 NAT)</a:t>
            </a:r>
            <a:endParaRPr lang="en-US" sz="710" dirty="0"/>
          </a:p>
        </p:txBody>
      </p:sp>
      <p:sp>
        <p:nvSpPr>
          <p:cNvPr id="119" name="Shape 117"/>
          <p:cNvSpPr/>
          <p:nvPr/>
        </p:nvSpPr>
        <p:spPr>
          <a:xfrm>
            <a:off x="8249717" y="4626864"/>
            <a:ext cx="3356762" cy="0"/>
          </a:xfrm>
          <a:prstGeom prst="line">
            <a:avLst/>
          </a:prstGeom>
          <a:noFill/>
          <a:ln w="7620">
            <a:solidFill>
              <a:srgbClr val="E2E8F0"/>
            </a:solidFill>
            <a:prstDash val="solid"/>
          </a:ln>
        </p:spPr>
      </p:sp>
      <p:sp>
        <p:nvSpPr>
          <p:cNvPr id="120" name="Text 118"/>
          <p:cNvSpPr/>
          <p:nvPr/>
        </p:nvSpPr>
        <p:spPr>
          <a:xfrm>
            <a:off x="8249717" y="4654296"/>
            <a:ext cx="1078992" cy="292608"/>
          </a:xfrm>
          <a:prstGeom prst="rect">
            <a:avLst/>
          </a:prstGeom>
          <a:noFill/>
          <a:ln/>
        </p:spPr>
        <p:txBody>
          <a:bodyPr wrap="square" lIns="0" tIns="0" rIns="0" bIns="0" rtlCol="0" anchor="ctr"/>
          <a:lstStyle/>
          <a:p>
            <a:pPr indent="0" marL="0">
              <a:lnSpc>
                <a:spcPct val="105000"/>
              </a:lnSpc>
              <a:buNone/>
            </a:pPr>
            <a:r>
              <a:rPr lang="en-US" sz="700" b="1" dirty="0">
                <a:solidFill>
                  <a:srgbClr val="0F766E"/>
                </a:solidFill>
                <a:latin typeface="Arial" pitchFamily="34" charset="0"/>
                <a:ea typeface="Arial" pitchFamily="34" charset="-122"/>
                <a:cs typeface="Arial" pitchFamily="34" charset="-120"/>
              </a:rPr>
              <a:t>Model &amp; Cache</a:t>
            </a:r>
            <a:endParaRPr lang="en-US" sz="700" dirty="0"/>
          </a:p>
        </p:txBody>
      </p:sp>
      <p:sp>
        <p:nvSpPr>
          <p:cNvPr id="121" name="Text 119"/>
          <p:cNvSpPr/>
          <p:nvPr/>
        </p:nvSpPr>
        <p:spPr>
          <a:xfrm>
            <a:off x="9346997" y="4654296"/>
            <a:ext cx="2277770" cy="292608"/>
          </a:xfrm>
          <a:prstGeom prst="rect">
            <a:avLst/>
          </a:prstGeom>
          <a:noFill/>
          <a:ln/>
        </p:spPr>
        <p:txBody>
          <a:bodyPr wrap="square" lIns="0" tIns="0" rIns="0" bIns="0" rtlCol="0" anchor="ctr"/>
          <a:lstStyle/>
          <a:p>
            <a:pPr indent="0" marL="0">
              <a:lnSpc>
                <a:spcPct val="105000"/>
              </a:lnSpc>
              <a:buNone/>
            </a:pPr>
            <a:r>
              <a:rPr lang="en-US" sz="710" dirty="0">
                <a:solidFill>
                  <a:srgbClr val="334155"/>
                </a:solidFill>
                <a:latin typeface="Arial" pitchFamily="34" charset="0"/>
                <a:ea typeface="Arial" pitchFamily="34" charset="-122"/>
                <a:cs typeface="Arial" pitchFamily="34" charset="-120"/>
              </a:rPr>
              <a:t>Tier-selectable per route (+1.8ms PSC hop)</a:t>
            </a:r>
            <a:endParaRPr lang="en-US" sz="710" dirty="0"/>
          </a:p>
        </p:txBody>
      </p:sp>
      <p:sp>
        <p:nvSpPr>
          <p:cNvPr id="122" name="Shape 120"/>
          <p:cNvSpPr/>
          <p:nvPr/>
        </p:nvSpPr>
        <p:spPr>
          <a:xfrm>
            <a:off x="8249717" y="4983480"/>
            <a:ext cx="3356762" cy="0"/>
          </a:xfrm>
          <a:prstGeom prst="line">
            <a:avLst/>
          </a:prstGeom>
          <a:noFill/>
          <a:ln w="7620">
            <a:solidFill>
              <a:srgbClr val="E2E8F0"/>
            </a:solidFill>
            <a:prstDash val="solid"/>
          </a:ln>
        </p:spPr>
      </p:sp>
      <p:sp>
        <p:nvSpPr>
          <p:cNvPr id="123" name="Text 121"/>
          <p:cNvSpPr/>
          <p:nvPr/>
        </p:nvSpPr>
        <p:spPr>
          <a:xfrm>
            <a:off x="8249717" y="5010912"/>
            <a:ext cx="1078992" cy="292608"/>
          </a:xfrm>
          <a:prstGeom prst="rect">
            <a:avLst/>
          </a:prstGeom>
          <a:noFill/>
          <a:ln/>
        </p:spPr>
        <p:txBody>
          <a:bodyPr wrap="square" lIns="0" tIns="0" rIns="0" bIns="0" rtlCol="0" anchor="ctr"/>
          <a:lstStyle/>
          <a:p>
            <a:pPr indent="0" marL="0">
              <a:lnSpc>
                <a:spcPct val="105000"/>
              </a:lnSpc>
              <a:buNone/>
            </a:pPr>
            <a:r>
              <a:rPr lang="en-US" sz="700" b="1" dirty="0">
                <a:solidFill>
                  <a:srgbClr val="0F766E"/>
                </a:solidFill>
                <a:latin typeface="Arial" pitchFamily="34" charset="0"/>
                <a:ea typeface="Arial" pitchFamily="34" charset="-122"/>
                <a:cs typeface="Arial" pitchFamily="34" charset="-120"/>
              </a:rPr>
              <a:t>Encryption / Lock</a:t>
            </a:r>
            <a:endParaRPr lang="en-US" sz="700" dirty="0"/>
          </a:p>
        </p:txBody>
      </p:sp>
      <p:sp>
        <p:nvSpPr>
          <p:cNvPr id="124" name="Text 122"/>
          <p:cNvSpPr/>
          <p:nvPr/>
        </p:nvSpPr>
        <p:spPr>
          <a:xfrm>
            <a:off x="9346997" y="5010912"/>
            <a:ext cx="2277770" cy="292608"/>
          </a:xfrm>
          <a:prstGeom prst="rect">
            <a:avLst/>
          </a:prstGeom>
          <a:noFill/>
          <a:ln/>
        </p:spPr>
        <p:txBody>
          <a:bodyPr wrap="square" lIns="0" tIns="0" rIns="0" bIns="0" rtlCol="0" anchor="ctr"/>
          <a:lstStyle/>
          <a:p>
            <a:pPr indent="0" marL="0">
              <a:lnSpc>
                <a:spcPct val="105000"/>
              </a:lnSpc>
              <a:buNone/>
            </a:pPr>
            <a:r>
              <a:rPr lang="en-US" sz="710" dirty="0">
                <a:solidFill>
                  <a:srgbClr val="334155"/>
                </a:solidFill>
                <a:latin typeface="Arial" pitchFamily="34" charset="0"/>
                <a:ea typeface="Arial" pitchFamily="34" charset="-122"/>
                <a:cs typeface="Arial" pitchFamily="34" charset="-120"/>
              </a:rPr>
              <a:t>Spoke CMEK lock without hub redeployment</a:t>
            </a:r>
            <a:endParaRPr lang="en-US" sz="710" dirty="0"/>
          </a:p>
        </p:txBody>
      </p:sp>
      <p:sp>
        <p:nvSpPr>
          <p:cNvPr id="125" name="Shape 123"/>
          <p:cNvSpPr/>
          <p:nvPr/>
        </p:nvSpPr>
        <p:spPr>
          <a:xfrm>
            <a:off x="8249717" y="5340096"/>
            <a:ext cx="3356762" cy="0"/>
          </a:xfrm>
          <a:prstGeom prst="line">
            <a:avLst/>
          </a:prstGeom>
          <a:noFill/>
          <a:ln w="7620">
            <a:solidFill>
              <a:srgbClr val="E2E8F0"/>
            </a:solidFill>
            <a:prstDash val="solid"/>
          </a:ln>
        </p:spPr>
      </p:sp>
      <p:sp>
        <p:nvSpPr>
          <p:cNvPr id="126" name="Text 124"/>
          <p:cNvSpPr/>
          <p:nvPr/>
        </p:nvSpPr>
        <p:spPr>
          <a:xfrm>
            <a:off x="8249717" y="5367528"/>
            <a:ext cx="1078992" cy="292608"/>
          </a:xfrm>
          <a:prstGeom prst="rect">
            <a:avLst/>
          </a:prstGeom>
          <a:noFill/>
          <a:ln/>
        </p:spPr>
        <p:txBody>
          <a:bodyPr wrap="square" lIns="0" tIns="0" rIns="0" bIns="0" rtlCol="0" anchor="ctr"/>
          <a:lstStyle/>
          <a:p>
            <a:pPr indent="0" marL="0">
              <a:lnSpc>
                <a:spcPct val="105000"/>
              </a:lnSpc>
              <a:buNone/>
            </a:pPr>
            <a:r>
              <a:rPr lang="en-US" sz="700" b="1" dirty="0">
                <a:solidFill>
                  <a:srgbClr val="0F766E"/>
                </a:solidFill>
                <a:latin typeface="Arial" pitchFamily="34" charset="0"/>
                <a:ea typeface="Arial" pitchFamily="34" charset="-122"/>
                <a:cs typeface="Arial" pitchFamily="34" charset="-120"/>
              </a:rPr>
              <a:t>Live Promotion</a:t>
            </a:r>
            <a:endParaRPr lang="en-US" sz="700" dirty="0"/>
          </a:p>
        </p:txBody>
      </p:sp>
      <p:sp>
        <p:nvSpPr>
          <p:cNvPr id="127" name="Text 125"/>
          <p:cNvSpPr/>
          <p:nvPr/>
        </p:nvSpPr>
        <p:spPr>
          <a:xfrm>
            <a:off x="9346997" y="5367528"/>
            <a:ext cx="2277770" cy="292608"/>
          </a:xfrm>
          <a:prstGeom prst="rect">
            <a:avLst/>
          </a:prstGeom>
          <a:noFill/>
          <a:ln/>
        </p:spPr>
        <p:txBody>
          <a:bodyPr wrap="square" lIns="0" tIns="0" rIns="0" bIns="0" rtlCol="0" anchor="ctr"/>
          <a:lstStyle/>
          <a:p>
            <a:pPr indent="0" marL="0">
              <a:lnSpc>
                <a:spcPct val="105000"/>
              </a:lnSpc>
              <a:buNone/>
            </a:pPr>
            <a:r>
              <a:rPr lang="en-US" sz="710" dirty="0">
                <a:solidFill>
                  <a:srgbClr val="334155"/>
                </a:solidFill>
                <a:latin typeface="Arial" pitchFamily="34" charset="0"/>
                <a:ea typeface="Arial" pitchFamily="34" charset="-122"/>
                <a:cs typeface="Arial" pitchFamily="34" charset="-120"/>
              </a:rPr>
              <a:t>0ms downtime A→C via tenant_routing_map</a:t>
            </a:r>
            <a:endParaRPr lang="en-US" sz="710" dirty="0"/>
          </a:p>
        </p:txBody>
      </p:sp>
      <p:sp>
        <p:nvSpPr>
          <p:cNvPr id="128" name="Shape 126"/>
          <p:cNvSpPr/>
          <p:nvPr/>
        </p:nvSpPr>
        <p:spPr>
          <a:xfrm>
            <a:off x="438912" y="5943600"/>
            <a:ext cx="11313871" cy="420624"/>
          </a:xfrm>
          <a:prstGeom prst="roundRect">
            <a:avLst>
              <a:gd name="adj" fmla="val 13043"/>
            </a:avLst>
          </a:prstGeom>
          <a:solidFill>
            <a:srgbClr val="F0FDFA"/>
          </a:solidFill>
          <a:ln w="11430">
            <a:solidFill>
              <a:srgbClr val="99F6E4"/>
            </a:solidFill>
            <a:prstDash val="solid"/>
          </a:ln>
        </p:spPr>
      </p:sp>
      <p:sp>
        <p:nvSpPr>
          <p:cNvPr id="129" name="Shape 127"/>
          <p:cNvSpPr/>
          <p:nvPr/>
        </p:nvSpPr>
        <p:spPr>
          <a:xfrm>
            <a:off x="530352" y="6025896"/>
            <a:ext cx="1353312" cy="256032"/>
          </a:xfrm>
          <a:prstGeom prst="roundRect">
            <a:avLst>
              <a:gd name="adj" fmla="val 17857"/>
            </a:avLst>
          </a:prstGeom>
          <a:solidFill>
            <a:srgbClr val="0F766E"/>
          </a:solidFill>
          <a:ln/>
        </p:spPr>
      </p:sp>
      <p:sp>
        <p:nvSpPr>
          <p:cNvPr id="130" name="Text 128"/>
          <p:cNvSpPr/>
          <p:nvPr/>
        </p:nvSpPr>
        <p:spPr>
          <a:xfrm>
            <a:off x="530352" y="6025896"/>
            <a:ext cx="1353312" cy="256032"/>
          </a:xfrm>
          <a:prstGeom prst="rect">
            <a:avLst/>
          </a:prstGeom>
          <a:noFill/>
          <a:ln/>
        </p:spPr>
        <p:txBody>
          <a:bodyPr wrap="square" lIns="0" tIns="0" rIns="0" bIns="0" rtlCol="0" anchor="ctr"/>
          <a:lstStyle/>
          <a:p>
            <a:pPr algn="ctr" indent="0" marL="0">
              <a:lnSpc>
                <a:spcPct val="105000"/>
              </a:lnSpc>
              <a:buNone/>
            </a:pPr>
            <a:r>
              <a:rPr lang="en-US" sz="650" b="1" dirty="0">
                <a:solidFill>
                  <a:srgbClr val="FFFFFF"/>
                </a:solidFill>
                <a:latin typeface="Arial" pitchFamily="34" charset="0"/>
                <a:ea typeface="Arial" pitchFamily="34" charset="-122"/>
                <a:cs typeface="Arial" pitchFamily="34" charset="-120"/>
              </a:rPr>
              <a:t>PORTFOLIO RULE</a:t>
            </a:r>
            <a:endParaRPr lang="en-US" sz="650" dirty="0"/>
          </a:p>
        </p:txBody>
      </p:sp>
      <p:sp>
        <p:nvSpPr>
          <p:cNvPr id="131" name="Text 129"/>
          <p:cNvSpPr/>
          <p:nvPr/>
        </p:nvSpPr>
        <p:spPr>
          <a:xfrm>
            <a:off x="1993392" y="5980176"/>
            <a:ext cx="7555687" cy="347472"/>
          </a:xfrm>
          <a:prstGeom prst="rect">
            <a:avLst/>
          </a:prstGeom>
          <a:noFill/>
          <a:ln/>
        </p:spPr>
        <p:txBody>
          <a:bodyPr wrap="square" lIns="0" tIns="0" rIns="0" bIns="0" rtlCol="0" anchor="ctr"/>
          <a:lstStyle/>
          <a:p>
            <a:pPr algn="l" indent="0" marL="0">
              <a:lnSpc>
                <a:spcPct val="108000"/>
              </a:lnSpc>
              <a:buNone/>
            </a:pPr>
            <a:r>
              <a:rPr lang="en-US" sz="860" b="1" dirty="0">
                <a:solidFill>
                  <a:srgbClr val="0F172A"/>
                </a:solidFill>
                <a:latin typeface="Arial" pitchFamily="34" charset="0"/>
                <a:ea typeface="Arial" pitchFamily="34" charset="-122"/>
                <a:cs typeface="Arial" pitchFamily="34" charset="-120"/>
              </a:rPr>
              <a:t>Default commercial signups to Pattern A for 90% prefix-cache savings, promote expanding enterprises live in 0ms to Pattern C over PSC, and reserve Pattern B for strict regulator silos.</a:t>
            </a:r>
            <a:endParaRPr lang="en-US" sz="860" dirty="0"/>
          </a:p>
        </p:txBody>
      </p:sp>
      <p:sp>
        <p:nvSpPr>
          <p:cNvPr id="132" name="Shape 130"/>
          <p:cNvSpPr/>
          <p:nvPr/>
        </p:nvSpPr>
        <p:spPr>
          <a:xfrm>
            <a:off x="9695383" y="6025896"/>
            <a:ext cx="1965960" cy="256032"/>
          </a:xfrm>
          <a:prstGeom prst="roundRect">
            <a:avLst>
              <a:gd name="adj" fmla="val 17857"/>
            </a:avLst>
          </a:prstGeom>
          <a:solidFill>
            <a:srgbClr val="FFFFFF"/>
          </a:solidFill>
          <a:ln w="10795">
            <a:solidFill>
              <a:srgbClr val="0F766E"/>
            </a:solidFill>
            <a:prstDash val="solid"/>
          </a:ln>
        </p:spPr>
      </p:sp>
      <p:sp>
        <p:nvSpPr>
          <p:cNvPr id="133" name="Text 131"/>
          <p:cNvSpPr/>
          <p:nvPr/>
        </p:nvSpPr>
        <p:spPr>
          <a:xfrm>
            <a:off x="9695383" y="6025896"/>
            <a:ext cx="1965960" cy="256032"/>
          </a:xfrm>
          <a:prstGeom prst="rect">
            <a:avLst/>
          </a:prstGeom>
          <a:noFill/>
          <a:ln/>
        </p:spPr>
        <p:txBody>
          <a:bodyPr wrap="square" lIns="0" tIns="0" rIns="0" bIns="0" rtlCol="0" anchor="ctr"/>
          <a:lstStyle/>
          <a:p>
            <a:pPr algn="ctr" indent="0" marL="0">
              <a:lnSpc>
                <a:spcPct val="105000"/>
              </a:lnSpc>
              <a:buNone/>
            </a:pPr>
            <a:r>
              <a:rPr lang="en-US" sz="740" b="1" dirty="0">
                <a:solidFill>
                  <a:srgbClr val="0F766E"/>
                </a:solidFill>
                <a:latin typeface="Arial" pitchFamily="34" charset="0"/>
                <a:ea typeface="Arial" pitchFamily="34" charset="-122"/>
                <a:cs typeface="Arial" pitchFamily="34" charset="-120"/>
              </a:rPr>
              <a:t>0ms Live A → C Upgrade</a:t>
            </a:r>
            <a:endParaRPr lang="en-US" sz="7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1148"/>
          </a:xfrm>
          <a:prstGeom prst="rect">
            <a:avLst/>
          </a:prstGeom>
          <a:solidFill>
            <a:srgbClr val="1D4ED8"/>
          </a:solidFill>
          <a:ln/>
        </p:spPr>
      </p:sp>
      <p:sp>
        <p:nvSpPr>
          <p:cNvPr id="3" name="Shape 1"/>
          <p:cNvSpPr/>
          <p:nvPr/>
        </p:nvSpPr>
        <p:spPr>
          <a:xfrm>
            <a:off x="438912" y="192024"/>
            <a:ext cx="59436" cy="621792"/>
          </a:xfrm>
          <a:prstGeom prst="roundRect">
            <a:avLst>
              <a:gd name="adj" fmla="val 46154"/>
            </a:avLst>
          </a:prstGeom>
          <a:solidFill>
            <a:srgbClr val="1D4ED8"/>
          </a:solidFill>
          <a:ln/>
        </p:spPr>
      </p:sp>
      <p:sp>
        <p:nvSpPr>
          <p:cNvPr id="4" name="Text 2"/>
          <p:cNvSpPr/>
          <p:nvPr/>
        </p:nvSpPr>
        <p:spPr>
          <a:xfrm>
            <a:off x="576072" y="173736"/>
            <a:ext cx="4389120" cy="146304"/>
          </a:xfrm>
          <a:prstGeom prst="rect">
            <a:avLst/>
          </a:prstGeom>
          <a:noFill/>
          <a:ln/>
        </p:spPr>
        <p:txBody>
          <a:bodyPr wrap="square" lIns="0" tIns="0" rIns="0" bIns="0" rtlCol="0" anchor="ctr"/>
          <a:lstStyle/>
          <a:p>
            <a:pPr algn="l" indent="0" marL="0">
              <a:lnSpc>
                <a:spcPct val="105000"/>
              </a:lnSpc>
              <a:buNone/>
            </a:pPr>
            <a:r>
              <a:rPr lang="en-US" sz="750" b="1" spc="110" kern="0" dirty="0">
                <a:solidFill>
                  <a:srgbClr val="1D4ED8"/>
                </a:solidFill>
                <a:latin typeface="Arial" pitchFamily="34" charset="0"/>
                <a:ea typeface="Arial" pitchFamily="34" charset="-122"/>
                <a:cs typeface="Arial" pitchFamily="34" charset="-120"/>
              </a:rPr>
              <a:t>04 / LOGICAL &amp; PHYSICAL</a:t>
            </a:r>
            <a:endParaRPr lang="en-US" sz="750" dirty="0"/>
          </a:p>
        </p:txBody>
      </p:sp>
      <p:sp>
        <p:nvSpPr>
          <p:cNvPr id="5" name="Shape 3"/>
          <p:cNvSpPr/>
          <p:nvPr/>
        </p:nvSpPr>
        <p:spPr>
          <a:xfrm>
            <a:off x="8183880" y="219456"/>
            <a:ext cx="228600" cy="59436"/>
          </a:xfrm>
          <a:prstGeom prst="roundRect">
            <a:avLst>
              <a:gd name="adj" fmla="val 46154"/>
            </a:avLst>
          </a:prstGeom>
          <a:solidFill>
            <a:srgbClr val="94A3B8"/>
          </a:solidFill>
          <a:ln/>
        </p:spPr>
      </p:sp>
      <p:sp>
        <p:nvSpPr>
          <p:cNvPr id="6" name="Shape 4"/>
          <p:cNvSpPr/>
          <p:nvPr/>
        </p:nvSpPr>
        <p:spPr>
          <a:xfrm>
            <a:off x="8453628" y="219456"/>
            <a:ext cx="228600" cy="59436"/>
          </a:xfrm>
          <a:prstGeom prst="roundRect">
            <a:avLst>
              <a:gd name="adj" fmla="val 46154"/>
            </a:avLst>
          </a:prstGeom>
          <a:solidFill>
            <a:srgbClr val="94A3B8"/>
          </a:solidFill>
          <a:ln/>
        </p:spPr>
      </p:sp>
      <p:sp>
        <p:nvSpPr>
          <p:cNvPr id="7" name="Shape 5"/>
          <p:cNvSpPr/>
          <p:nvPr/>
        </p:nvSpPr>
        <p:spPr>
          <a:xfrm>
            <a:off x="8723376" y="219456"/>
            <a:ext cx="228600" cy="59436"/>
          </a:xfrm>
          <a:prstGeom prst="roundRect">
            <a:avLst>
              <a:gd name="adj" fmla="val 46154"/>
            </a:avLst>
          </a:prstGeom>
          <a:solidFill>
            <a:srgbClr val="94A3B8"/>
          </a:solidFill>
          <a:ln/>
        </p:spPr>
      </p:sp>
      <p:sp>
        <p:nvSpPr>
          <p:cNvPr id="8" name="Shape 6"/>
          <p:cNvSpPr/>
          <p:nvPr/>
        </p:nvSpPr>
        <p:spPr>
          <a:xfrm>
            <a:off x="8993124" y="219456"/>
            <a:ext cx="228600" cy="59436"/>
          </a:xfrm>
          <a:prstGeom prst="roundRect">
            <a:avLst>
              <a:gd name="adj" fmla="val 46154"/>
            </a:avLst>
          </a:prstGeom>
          <a:solidFill>
            <a:srgbClr val="1D4ED8"/>
          </a:solidFill>
          <a:ln/>
        </p:spPr>
      </p:sp>
      <p:sp>
        <p:nvSpPr>
          <p:cNvPr id="9" name="Shape 7"/>
          <p:cNvSpPr/>
          <p:nvPr/>
        </p:nvSpPr>
        <p:spPr>
          <a:xfrm>
            <a:off x="9262872" y="219456"/>
            <a:ext cx="228600" cy="59436"/>
          </a:xfrm>
          <a:prstGeom prst="roundRect">
            <a:avLst>
              <a:gd name="adj" fmla="val 46154"/>
            </a:avLst>
          </a:prstGeom>
          <a:solidFill>
            <a:srgbClr val="E2E8F0"/>
          </a:solidFill>
          <a:ln/>
        </p:spPr>
      </p:sp>
      <p:sp>
        <p:nvSpPr>
          <p:cNvPr id="10" name="Shape 8"/>
          <p:cNvSpPr/>
          <p:nvPr/>
        </p:nvSpPr>
        <p:spPr>
          <a:xfrm>
            <a:off x="9532620" y="219456"/>
            <a:ext cx="228600" cy="59436"/>
          </a:xfrm>
          <a:prstGeom prst="roundRect">
            <a:avLst>
              <a:gd name="adj" fmla="val 46154"/>
            </a:avLst>
          </a:prstGeom>
          <a:solidFill>
            <a:srgbClr val="E2E8F0"/>
          </a:solidFill>
          <a:ln/>
        </p:spPr>
      </p:sp>
      <p:sp>
        <p:nvSpPr>
          <p:cNvPr id="11" name="Shape 9"/>
          <p:cNvSpPr/>
          <p:nvPr/>
        </p:nvSpPr>
        <p:spPr>
          <a:xfrm>
            <a:off x="9802368" y="219456"/>
            <a:ext cx="228600" cy="59436"/>
          </a:xfrm>
          <a:prstGeom prst="roundRect">
            <a:avLst>
              <a:gd name="adj" fmla="val 46154"/>
            </a:avLst>
          </a:prstGeom>
          <a:solidFill>
            <a:srgbClr val="E2E8F0"/>
          </a:solidFill>
          <a:ln/>
        </p:spPr>
      </p:sp>
      <p:sp>
        <p:nvSpPr>
          <p:cNvPr id="12" name="Shape 10"/>
          <p:cNvSpPr/>
          <p:nvPr/>
        </p:nvSpPr>
        <p:spPr>
          <a:xfrm>
            <a:off x="10131552" y="146304"/>
            <a:ext cx="1621231" cy="192024"/>
          </a:xfrm>
          <a:prstGeom prst="roundRect">
            <a:avLst>
              <a:gd name="adj" fmla="val 23810"/>
            </a:avLst>
          </a:prstGeom>
          <a:solidFill>
            <a:srgbClr val="FFFFFF"/>
          </a:solidFill>
          <a:ln w="9525">
            <a:solidFill>
              <a:srgbClr val="CBD5E1"/>
            </a:solidFill>
            <a:prstDash val="solid"/>
          </a:ln>
        </p:spPr>
      </p:sp>
      <p:sp>
        <p:nvSpPr>
          <p:cNvPr id="13" name="Text 11"/>
          <p:cNvSpPr/>
          <p:nvPr/>
        </p:nvSpPr>
        <p:spPr>
          <a:xfrm>
            <a:off x="10131552" y="146304"/>
            <a:ext cx="1621231" cy="192024"/>
          </a:xfrm>
          <a:prstGeom prst="rect">
            <a:avLst/>
          </a:prstGeom>
          <a:noFill/>
          <a:ln/>
        </p:spPr>
        <p:txBody>
          <a:bodyPr wrap="square" lIns="0" tIns="0" rIns="0" bIns="0" rtlCol="0" anchor="ctr"/>
          <a:lstStyle/>
          <a:p>
            <a:pPr algn="ctr" indent="0" marL="0">
              <a:lnSpc>
                <a:spcPct val="105000"/>
              </a:lnSpc>
              <a:buNone/>
            </a:pPr>
            <a:r>
              <a:rPr lang="en-US" sz="680" b="1" spc="60" kern="0" dirty="0">
                <a:solidFill>
                  <a:srgbClr val="1D4ED8"/>
                </a:solidFill>
                <a:latin typeface="Arial" pitchFamily="34" charset="0"/>
                <a:ea typeface="Arial" pitchFamily="34" charset="-122"/>
                <a:cs typeface="Arial" pitchFamily="34" charset="-120"/>
              </a:rPr>
              <a:t>ZONE TOPOLOGY (L1)</a:t>
            </a:r>
            <a:endParaRPr lang="en-US" sz="680" dirty="0"/>
          </a:p>
        </p:txBody>
      </p:sp>
      <p:sp>
        <p:nvSpPr>
          <p:cNvPr id="14" name="Text 12"/>
          <p:cNvSpPr/>
          <p:nvPr/>
        </p:nvSpPr>
        <p:spPr>
          <a:xfrm>
            <a:off x="576072" y="338328"/>
            <a:ext cx="11176711" cy="310896"/>
          </a:xfrm>
          <a:prstGeom prst="rect">
            <a:avLst/>
          </a:prstGeom>
          <a:noFill/>
          <a:ln/>
        </p:spPr>
        <p:txBody>
          <a:bodyPr wrap="square" lIns="0" tIns="0" rIns="0" bIns="0" rtlCol="0" anchor="ctr"/>
          <a:lstStyle/>
          <a:p>
            <a:pPr algn="l" indent="0" marL="0">
              <a:lnSpc>
                <a:spcPct val="104000"/>
              </a:lnSpc>
              <a:buNone/>
            </a:pPr>
            <a:r>
              <a:rPr lang="en-US" sz="1750" b="1" dirty="0">
                <a:solidFill>
                  <a:srgbClr val="0F172A"/>
                </a:solidFill>
                <a:latin typeface="Arial" pitchFamily="34" charset="0"/>
                <a:ea typeface="Arial" pitchFamily="34" charset="-122"/>
                <a:cs typeface="Arial" pitchFamily="34" charset="-120"/>
              </a:rPr>
              <a:t>L1 Logical Taxonomy: 3 Logical Security Layers &amp; Signed STS JWT</a:t>
            </a:r>
            <a:endParaRPr lang="en-US" sz="1750" dirty="0"/>
          </a:p>
        </p:txBody>
      </p:sp>
      <p:sp>
        <p:nvSpPr>
          <p:cNvPr id="15" name="Text 13"/>
          <p:cNvSpPr/>
          <p:nvPr/>
        </p:nvSpPr>
        <p:spPr>
          <a:xfrm>
            <a:off x="576072" y="658368"/>
            <a:ext cx="11176711" cy="192024"/>
          </a:xfrm>
          <a:prstGeom prst="rect">
            <a:avLst/>
          </a:prstGeom>
          <a:noFill/>
          <a:ln/>
        </p:spPr>
        <p:txBody>
          <a:bodyPr wrap="square" lIns="0" tIns="0" rIns="0" bIns="0" rtlCol="0" anchor="ctr"/>
          <a:lstStyle/>
          <a:p>
            <a:pPr algn="l" indent="0" marL="0">
              <a:lnSpc>
                <a:spcPct val="104000"/>
              </a:lnSpc>
              <a:buNone/>
            </a:pPr>
            <a:r>
              <a:rPr lang="en-US" sz="900" dirty="0">
                <a:solidFill>
                  <a:srgbClr val="64748B"/>
                </a:solidFill>
                <a:latin typeface="Arial" pitchFamily="34" charset="0"/>
                <a:ea typeface="Arial" pitchFamily="34" charset="-122"/>
                <a:cs typeface="Arial" pitchFamily="34" charset="-120"/>
              </a:rPr>
              <a:t>End-to-end 3-layer logical security taxonomy: Layer 1 (Tenant Identity &amp; Ingress) → Layer 2 (Vertex AI Agent Engine &amp; ~3ms Valkey JTI Deny-List) → Layer 3 (Isolation Data Planes).</a:t>
            </a:r>
            <a:endParaRPr lang="en-US" sz="900" dirty="0"/>
          </a:p>
        </p:txBody>
      </p:sp>
      <p:sp>
        <p:nvSpPr>
          <p:cNvPr id="16" name="Shape 14"/>
          <p:cNvSpPr/>
          <p:nvPr/>
        </p:nvSpPr>
        <p:spPr>
          <a:xfrm>
            <a:off x="438912" y="914400"/>
            <a:ext cx="11313871" cy="0"/>
          </a:xfrm>
          <a:prstGeom prst="line">
            <a:avLst/>
          </a:prstGeom>
          <a:noFill/>
          <a:ln w="10795">
            <a:solidFill>
              <a:srgbClr val="E2E8F0"/>
            </a:solidFill>
            <a:prstDash val="solid"/>
          </a:ln>
        </p:spPr>
      </p:sp>
      <p:sp>
        <p:nvSpPr>
          <p:cNvPr id="17" name="Shape 15"/>
          <p:cNvSpPr/>
          <p:nvPr/>
        </p:nvSpPr>
        <p:spPr>
          <a:xfrm>
            <a:off x="438912" y="6455664"/>
            <a:ext cx="11313871" cy="0"/>
          </a:xfrm>
          <a:prstGeom prst="line">
            <a:avLst/>
          </a:prstGeom>
          <a:noFill/>
          <a:ln w="9525">
            <a:solidFill>
              <a:srgbClr val="E2E8F0"/>
            </a:solidFill>
            <a:prstDash val="solid"/>
          </a:ln>
        </p:spPr>
      </p:sp>
      <p:sp>
        <p:nvSpPr>
          <p:cNvPr id="18" name="Text 16"/>
          <p:cNvSpPr/>
          <p:nvPr/>
        </p:nvSpPr>
        <p:spPr>
          <a:xfrm>
            <a:off x="438912" y="6501384"/>
            <a:ext cx="5852160" cy="192024"/>
          </a:xfrm>
          <a:prstGeom prst="rect">
            <a:avLst/>
          </a:prstGeom>
          <a:noFill/>
          <a:ln/>
        </p:spPr>
        <p:txBody>
          <a:bodyPr wrap="square" lIns="0" tIns="0" rIns="0" bIns="0" rtlCol="0" anchor="ctr"/>
          <a:lstStyle/>
          <a:p>
            <a:pPr algn="l" indent="0" marL="0">
              <a:lnSpc>
                <a:spcPct val="105000"/>
              </a:lnSpc>
              <a:buNone/>
            </a:pPr>
            <a:r>
              <a:rPr lang="en-US" sz="680" b="1" spc="40" kern="0" dirty="0">
                <a:solidFill>
                  <a:srgbClr val="64748B"/>
                </a:solidFill>
                <a:latin typeface="Arial" pitchFamily="34" charset="0"/>
                <a:ea typeface="Arial" pitchFamily="34" charset="-122"/>
                <a:cs typeface="Arial" pitchFamily="34" charset="-120"/>
              </a:rPr>
              <a:t>GOOGLE CLOUD AI ARCHITECTURE  •  BLOG 1: MULTI-TENANT AGENTIC AI TAXONOMY &amp; 5-HOP BASELINE</a:t>
            </a:r>
            <a:endParaRPr lang="en-US" sz="680" dirty="0"/>
          </a:p>
        </p:txBody>
      </p:sp>
      <p:sp>
        <p:nvSpPr>
          <p:cNvPr id="19" name="Text 17"/>
          <p:cNvSpPr/>
          <p:nvPr/>
        </p:nvSpPr>
        <p:spPr>
          <a:xfrm>
            <a:off x="6355080" y="6501384"/>
            <a:ext cx="4206240" cy="192024"/>
          </a:xfrm>
          <a:prstGeom prst="rect">
            <a:avLst/>
          </a:prstGeom>
          <a:noFill/>
          <a:ln/>
        </p:spPr>
        <p:txBody>
          <a:bodyPr wrap="square" lIns="0" tIns="0" rIns="0" bIns="0" rtlCol="0" anchor="ctr"/>
          <a:lstStyle/>
          <a:p>
            <a:pPr algn="r" indent="0" marL="0">
              <a:lnSpc>
                <a:spcPct val="105000"/>
              </a:lnSpc>
              <a:buNone/>
            </a:pPr>
            <a:r>
              <a:rPr lang="en-US" sz="680" dirty="0">
                <a:solidFill>
                  <a:srgbClr val="64748B"/>
                </a:solidFill>
                <a:latin typeface="Arial" pitchFamily="34" charset="0"/>
                <a:ea typeface="Arial" pitchFamily="34" charset="-122"/>
                <a:cs typeface="Arial" pitchFamily="34" charset="-120"/>
              </a:rPr>
              <a:t>L1 Logical-to-Physical Bridge  •  Maps Directly to 4 VPC-SC Perimeters on Slides 08–09</a:t>
            </a:r>
            <a:endParaRPr lang="en-US" sz="680" dirty="0"/>
          </a:p>
        </p:txBody>
      </p:sp>
      <p:sp>
        <p:nvSpPr>
          <p:cNvPr id="20" name="Shape 18"/>
          <p:cNvSpPr/>
          <p:nvPr/>
        </p:nvSpPr>
        <p:spPr>
          <a:xfrm>
            <a:off x="11002975" y="6501384"/>
            <a:ext cx="749808" cy="192024"/>
          </a:xfrm>
          <a:prstGeom prst="roundRect">
            <a:avLst>
              <a:gd name="adj" fmla="val 19048"/>
            </a:avLst>
          </a:prstGeom>
          <a:solidFill>
            <a:srgbClr val="F1F5F9"/>
          </a:solidFill>
          <a:ln w="7620">
            <a:solidFill>
              <a:srgbClr val="E2E8F0"/>
            </a:solidFill>
            <a:prstDash val="solid"/>
          </a:ln>
        </p:spPr>
      </p:sp>
      <p:sp>
        <p:nvSpPr>
          <p:cNvPr id="21" name="Text 19"/>
          <p:cNvSpPr/>
          <p:nvPr/>
        </p:nvSpPr>
        <p:spPr>
          <a:xfrm>
            <a:off x="11002975" y="6501384"/>
            <a:ext cx="749808" cy="192024"/>
          </a:xfrm>
          <a:prstGeom prst="rect">
            <a:avLst/>
          </a:prstGeom>
          <a:noFill/>
          <a:ln/>
        </p:spPr>
        <p:txBody>
          <a:bodyPr wrap="square" lIns="0" tIns="0" rIns="0" bIns="0" rtlCol="0" anchor="ctr"/>
          <a:lstStyle/>
          <a:p>
            <a:pPr algn="ctr" indent="0" marL="0">
              <a:lnSpc>
                <a:spcPct val="105000"/>
              </a:lnSpc>
              <a:buNone/>
            </a:pPr>
            <a:r>
              <a:rPr lang="en-US" sz="700" b="1" dirty="0">
                <a:solidFill>
                  <a:srgbClr val="334155"/>
                </a:solidFill>
                <a:latin typeface="Arial" pitchFamily="34" charset="0"/>
                <a:ea typeface="Arial" pitchFamily="34" charset="-122"/>
                <a:cs typeface="Arial" pitchFamily="34" charset="-120"/>
              </a:rPr>
              <a:t>07 / 23</a:t>
            </a:r>
            <a:endParaRPr lang="en-US" sz="700" dirty="0"/>
          </a:p>
        </p:txBody>
      </p:sp>
      <p:sp>
        <p:nvSpPr>
          <p:cNvPr id="22" name="Shape 20"/>
          <p:cNvSpPr/>
          <p:nvPr/>
        </p:nvSpPr>
        <p:spPr>
          <a:xfrm>
            <a:off x="438912" y="1042416"/>
            <a:ext cx="3236976" cy="4773168"/>
          </a:xfrm>
          <a:prstGeom prst="roundRect">
            <a:avLst>
              <a:gd name="adj" fmla="val 1412"/>
            </a:avLst>
          </a:prstGeom>
          <a:solidFill>
            <a:srgbClr val="F8FAFC"/>
          </a:solidFill>
          <a:ln w="22225">
            <a:solidFill>
              <a:srgbClr val="162B4C"/>
            </a:solidFill>
            <a:prstDash val="solid"/>
          </a:ln>
        </p:spPr>
      </p:sp>
      <p:sp>
        <p:nvSpPr>
          <p:cNvPr id="23" name="Text 21"/>
          <p:cNvSpPr/>
          <p:nvPr/>
        </p:nvSpPr>
        <p:spPr>
          <a:xfrm>
            <a:off x="548640" y="1152144"/>
            <a:ext cx="3017520" cy="438912"/>
          </a:xfrm>
          <a:prstGeom prst="rect">
            <a:avLst/>
          </a:prstGeom>
          <a:noFill/>
          <a:ln/>
        </p:spPr>
        <p:txBody>
          <a:bodyPr wrap="square" lIns="0" tIns="0" rIns="0" bIns="0" rtlCol="0" anchor="ctr"/>
          <a:lstStyle/>
          <a:p>
            <a:pPr algn="ctr" indent="0" marL="0">
              <a:lnSpc>
                <a:spcPct val="106000"/>
              </a:lnSpc>
              <a:buNone/>
            </a:pPr>
            <a:r>
              <a:rPr lang="en-US" sz="1060" b="1" dirty="0">
                <a:solidFill>
                  <a:srgbClr val="162B4C"/>
                </a:solidFill>
                <a:latin typeface="Arial" pitchFamily="34" charset="0"/>
                <a:ea typeface="Arial" pitchFamily="34" charset="-122"/>
                <a:cs typeface="Arial" pitchFamily="34" charset="-120"/>
              </a:rPr>
              <a:t>LAYER 1: TENANT IDENTITY &amp; INGRESS</a:t>
            </a:r>
            <a:endParaRPr lang="en-US" sz="1060" dirty="0"/>
          </a:p>
          <a:p>
            <a:pPr algn="ctr" indent="0" marL="0">
              <a:lnSpc>
                <a:spcPct val="106000"/>
              </a:lnSpc>
              <a:buNone/>
            </a:pPr>
            <a:r>
              <a:rPr lang="en-US" sz="1060" b="1" dirty="0">
                <a:solidFill>
                  <a:srgbClr val="162B4C"/>
                </a:solidFill>
                <a:latin typeface="Arial" pitchFamily="34" charset="0"/>
                <a:ea typeface="Arial" pitchFamily="34" charset="-122"/>
                <a:cs typeface="Arial" pitchFamily="34" charset="-120"/>
              </a:rPr>
              <a:t>(Competing Enterprise Callers)</a:t>
            </a:r>
            <a:endParaRPr lang="en-US" sz="1060" dirty="0"/>
          </a:p>
        </p:txBody>
      </p:sp>
      <p:sp>
        <p:nvSpPr>
          <p:cNvPr id="24" name="Shape 22"/>
          <p:cNvSpPr/>
          <p:nvPr/>
        </p:nvSpPr>
        <p:spPr>
          <a:xfrm>
            <a:off x="987552" y="1792224"/>
            <a:ext cx="1078992" cy="585216"/>
          </a:xfrm>
          <a:prstGeom prst="roundRect">
            <a:avLst>
              <a:gd name="adj" fmla="val 9375"/>
            </a:avLst>
          </a:prstGeom>
          <a:solidFill>
            <a:srgbClr val="162B4C"/>
          </a:solidFill>
          <a:ln w="12700">
            <a:solidFill>
              <a:srgbClr val="162B4C"/>
            </a:solidFill>
            <a:prstDash val="solid"/>
          </a:ln>
        </p:spPr>
      </p:sp>
      <p:sp>
        <p:nvSpPr>
          <p:cNvPr id="25" name="Shape 23"/>
          <p:cNvSpPr/>
          <p:nvPr/>
        </p:nvSpPr>
        <p:spPr>
          <a:xfrm>
            <a:off x="1060704" y="1874520"/>
            <a:ext cx="932688" cy="420624"/>
          </a:xfrm>
          <a:prstGeom prst="roundRect">
            <a:avLst>
              <a:gd name="adj" fmla="val 8696"/>
            </a:avLst>
          </a:prstGeom>
          <a:solidFill>
            <a:srgbClr val="FFFFFF"/>
          </a:solidFill>
          <a:ln/>
        </p:spPr>
      </p:sp>
      <p:sp>
        <p:nvSpPr>
          <p:cNvPr id="26" name="Text 24"/>
          <p:cNvSpPr/>
          <p:nvPr/>
        </p:nvSpPr>
        <p:spPr>
          <a:xfrm>
            <a:off x="1060704" y="1874520"/>
            <a:ext cx="932688" cy="420624"/>
          </a:xfrm>
          <a:prstGeom prst="rect">
            <a:avLst/>
          </a:prstGeom>
          <a:noFill/>
          <a:ln/>
        </p:spPr>
        <p:txBody>
          <a:bodyPr wrap="square" lIns="0" tIns="0" rIns="0" bIns="0" rtlCol="0" anchor="ctr"/>
          <a:lstStyle/>
          <a:p>
            <a:pPr algn="ctr" indent="0" marL="0">
              <a:buNone/>
            </a:pPr>
            <a:r>
              <a:rPr lang="en-US" sz="900" b="1" dirty="0">
                <a:solidFill>
                  <a:srgbClr val="0D7377"/>
                </a:solidFill>
                <a:latin typeface="Arial" pitchFamily="34" charset="0"/>
                <a:ea typeface="Arial" pitchFamily="34" charset="-122"/>
                <a:cs typeface="Arial" pitchFamily="34" charset="-120"/>
              </a:rPr>
              <a:t>FinVault</a:t>
            </a:r>
            <a:endParaRPr lang="en-US" sz="900" dirty="0"/>
          </a:p>
        </p:txBody>
      </p:sp>
      <p:sp>
        <p:nvSpPr>
          <p:cNvPr id="27" name="Text 25"/>
          <p:cNvSpPr/>
          <p:nvPr/>
        </p:nvSpPr>
        <p:spPr>
          <a:xfrm>
            <a:off x="658368" y="2414016"/>
            <a:ext cx="1737360" cy="384048"/>
          </a:xfrm>
          <a:prstGeom prst="rect">
            <a:avLst/>
          </a:prstGeom>
          <a:noFill/>
          <a:ln/>
        </p:spPr>
        <p:txBody>
          <a:bodyPr wrap="square" lIns="0" tIns="0" rIns="0" bIns="0" rtlCol="0" anchor="t"/>
          <a:lstStyle/>
          <a:p>
            <a:pPr algn="ctr" indent="0" marL="0">
              <a:lnSpc>
                <a:spcPct val="105000"/>
              </a:lnSpc>
              <a:buNone/>
            </a:pPr>
            <a:r>
              <a:rPr lang="en-US" sz="880" b="1" dirty="0">
                <a:solidFill>
                  <a:srgbClr val="1E293B"/>
                </a:solidFill>
                <a:latin typeface="Arial" pitchFamily="34" charset="0"/>
                <a:ea typeface="Arial" pitchFamily="34" charset="-122"/>
                <a:cs typeface="Arial" pitchFamily="34" charset="-120"/>
              </a:rPr>
              <a:t>Google Cloud Identity</a:t>
            </a:r>
            <a:endParaRPr lang="en-US" sz="880" dirty="0"/>
          </a:p>
          <a:p>
            <a:pPr algn="ctr" indent="0" marL="0">
              <a:lnSpc>
                <a:spcPct val="105000"/>
              </a:lnSpc>
              <a:buNone/>
            </a:pPr>
            <a:r>
              <a:rPr lang="en-US" sz="880" b="1" dirty="0">
                <a:solidFill>
                  <a:srgbClr val="1E293B"/>
                </a:solidFill>
                <a:latin typeface="Arial" pitchFamily="34" charset="0"/>
                <a:ea typeface="Arial" pitchFamily="34" charset="-122"/>
                <a:cs typeface="Arial" pitchFamily="34" charset="-120"/>
              </a:rPr>
              <a:t>(Enterprise Tier)</a:t>
            </a:r>
            <a:endParaRPr lang="en-US" sz="880" dirty="0"/>
          </a:p>
        </p:txBody>
      </p:sp>
      <p:sp>
        <p:nvSpPr>
          <p:cNvPr id="28" name="Shape 26"/>
          <p:cNvSpPr/>
          <p:nvPr/>
        </p:nvSpPr>
        <p:spPr>
          <a:xfrm>
            <a:off x="2103120" y="2084832"/>
            <a:ext cx="804672" cy="0"/>
          </a:xfrm>
          <a:prstGeom prst="line">
            <a:avLst/>
          </a:prstGeom>
          <a:noFill/>
          <a:ln w="15875">
            <a:solidFill>
              <a:srgbClr val="162B4C"/>
            </a:solidFill>
            <a:prstDash val="solid"/>
          </a:ln>
        </p:spPr>
      </p:sp>
      <p:sp>
        <p:nvSpPr>
          <p:cNvPr id="29" name="Shape 27"/>
          <p:cNvSpPr/>
          <p:nvPr/>
        </p:nvSpPr>
        <p:spPr>
          <a:xfrm>
            <a:off x="987552" y="2999232"/>
            <a:ext cx="1078992" cy="585216"/>
          </a:xfrm>
          <a:prstGeom prst="roundRect">
            <a:avLst>
              <a:gd name="adj" fmla="val 9375"/>
            </a:avLst>
          </a:prstGeom>
          <a:solidFill>
            <a:srgbClr val="475569"/>
          </a:solidFill>
          <a:ln w="12700">
            <a:solidFill>
              <a:srgbClr val="162B4C"/>
            </a:solidFill>
            <a:prstDash val="solid"/>
          </a:ln>
        </p:spPr>
      </p:sp>
      <p:sp>
        <p:nvSpPr>
          <p:cNvPr id="30" name="Shape 28"/>
          <p:cNvSpPr/>
          <p:nvPr/>
        </p:nvSpPr>
        <p:spPr>
          <a:xfrm>
            <a:off x="1060704" y="3081528"/>
            <a:ext cx="932688" cy="420624"/>
          </a:xfrm>
          <a:prstGeom prst="roundRect">
            <a:avLst>
              <a:gd name="adj" fmla="val 8696"/>
            </a:avLst>
          </a:prstGeom>
          <a:solidFill>
            <a:srgbClr val="FFFFFF"/>
          </a:solidFill>
          <a:ln/>
        </p:spPr>
      </p:sp>
      <p:sp>
        <p:nvSpPr>
          <p:cNvPr id="31" name="Text 29"/>
          <p:cNvSpPr/>
          <p:nvPr/>
        </p:nvSpPr>
        <p:spPr>
          <a:xfrm>
            <a:off x="1060704" y="3081528"/>
            <a:ext cx="932688" cy="420624"/>
          </a:xfrm>
          <a:prstGeom prst="rect">
            <a:avLst/>
          </a:prstGeom>
          <a:noFill/>
          <a:ln/>
        </p:spPr>
        <p:txBody>
          <a:bodyPr wrap="square" lIns="0" tIns="0" rIns="0" bIns="0" rtlCol="0" anchor="ctr"/>
          <a:lstStyle/>
          <a:p>
            <a:pPr algn="ctr" indent="0" marL="0">
              <a:buNone/>
            </a:pPr>
            <a:r>
              <a:rPr lang="en-US" sz="900" b="1" dirty="0">
                <a:solidFill>
                  <a:srgbClr val="162B4C"/>
                </a:solidFill>
                <a:latin typeface="Arial" pitchFamily="34" charset="0"/>
                <a:ea typeface="Arial" pitchFamily="34" charset="-122"/>
                <a:cs typeface="Arial" pitchFamily="34" charset="-120"/>
              </a:rPr>
              <a:t>Retail</a:t>
            </a:r>
            <a:endParaRPr lang="en-US" sz="900" dirty="0"/>
          </a:p>
        </p:txBody>
      </p:sp>
      <p:sp>
        <p:nvSpPr>
          <p:cNvPr id="32" name="Text 30"/>
          <p:cNvSpPr/>
          <p:nvPr/>
        </p:nvSpPr>
        <p:spPr>
          <a:xfrm>
            <a:off x="658368" y="3621024"/>
            <a:ext cx="1737360" cy="384048"/>
          </a:xfrm>
          <a:prstGeom prst="rect">
            <a:avLst/>
          </a:prstGeom>
          <a:noFill/>
          <a:ln/>
        </p:spPr>
        <p:txBody>
          <a:bodyPr wrap="square" lIns="0" tIns="0" rIns="0" bIns="0" rtlCol="0" anchor="t"/>
          <a:lstStyle/>
          <a:p>
            <a:pPr algn="ctr" indent="0" marL="0">
              <a:lnSpc>
                <a:spcPct val="105000"/>
              </a:lnSpc>
              <a:buNone/>
            </a:pPr>
            <a:r>
              <a:rPr lang="en-US" sz="880" b="1" dirty="0">
                <a:solidFill>
                  <a:srgbClr val="1E293B"/>
                </a:solidFill>
                <a:latin typeface="Arial" pitchFamily="34" charset="0"/>
                <a:ea typeface="Arial" pitchFamily="34" charset="-122"/>
                <a:cs typeface="Arial" pitchFamily="34" charset="-120"/>
              </a:rPr>
              <a:t>Microsoft Entra ID</a:t>
            </a:r>
            <a:endParaRPr lang="en-US" sz="880" dirty="0"/>
          </a:p>
          <a:p>
            <a:pPr algn="ctr" indent="0" marL="0">
              <a:lnSpc>
                <a:spcPct val="105000"/>
              </a:lnSpc>
              <a:buNone/>
            </a:pPr>
            <a:r>
              <a:rPr lang="en-US" sz="880" b="1" dirty="0">
                <a:solidFill>
                  <a:srgbClr val="1E293B"/>
                </a:solidFill>
                <a:latin typeface="Arial" pitchFamily="34" charset="0"/>
                <a:ea typeface="Arial" pitchFamily="34" charset="-122"/>
                <a:cs typeface="Arial" pitchFamily="34" charset="-120"/>
              </a:rPr>
              <a:t>(Standard Tier)</a:t>
            </a:r>
            <a:endParaRPr lang="en-US" sz="880" dirty="0"/>
          </a:p>
        </p:txBody>
      </p:sp>
      <p:sp>
        <p:nvSpPr>
          <p:cNvPr id="33" name="Shape 31"/>
          <p:cNvSpPr/>
          <p:nvPr/>
        </p:nvSpPr>
        <p:spPr>
          <a:xfrm>
            <a:off x="2103120" y="3291840"/>
            <a:ext cx="804672" cy="0"/>
          </a:xfrm>
          <a:prstGeom prst="line">
            <a:avLst/>
          </a:prstGeom>
          <a:noFill/>
          <a:ln w="15875">
            <a:solidFill>
              <a:srgbClr val="162B4C"/>
            </a:solidFill>
            <a:prstDash val="solid"/>
          </a:ln>
        </p:spPr>
      </p:sp>
      <p:sp>
        <p:nvSpPr>
          <p:cNvPr id="34" name="Shape 32"/>
          <p:cNvSpPr/>
          <p:nvPr/>
        </p:nvSpPr>
        <p:spPr>
          <a:xfrm>
            <a:off x="987552" y="4206240"/>
            <a:ext cx="1078992" cy="585216"/>
          </a:xfrm>
          <a:prstGeom prst="roundRect">
            <a:avLst>
              <a:gd name="adj" fmla="val 9375"/>
            </a:avLst>
          </a:prstGeom>
          <a:solidFill>
            <a:srgbClr val="475569"/>
          </a:solidFill>
          <a:ln w="12700">
            <a:solidFill>
              <a:srgbClr val="162B4C"/>
            </a:solidFill>
            <a:prstDash val="solid"/>
          </a:ln>
        </p:spPr>
      </p:sp>
      <p:sp>
        <p:nvSpPr>
          <p:cNvPr id="35" name="Shape 33"/>
          <p:cNvSpPr/>
          <p:nvPr/>
        </p:nvSpPr>
        <p:spPr>
          <a:xfrm>
            <a:off x="1060704" y="4288536"/>
            <a:ext cx="932688" cy="420624"/>
          </a:xfrm>
          <a:prstGeom prst="roundRect">
            <a:avLst>
              <a:gd name="adj" fmla="val 8696"/>
            </a:avLst>
          </a:prstGeom>
          <a:solidFill>
            <a:srgbClr val="FFFFFF"/>
          </a:solidFill>
          <a:ln/>
        </p:spPr>
      </p:sp>
      <p:sp>
        <p:nvSpPr>
          <p:cNvPr id="36" name="Text 34"/>
          <p:cNvSpPr/>
          <p:nvPr/>
        </p:nvSpPr>
        <p:spPr>
          <a:xfrm>
            <a:off x="1060704" y="4288536"/>
            <a:ext cx="932688" cy="420624"/>
          </a:xfrm>
          <a:prstGeom prst="rect">
            <a:avLst/>
          </a:prstGeom>
          <a:noFill/>
          <a:ln/>
        </p:spPr>
        <p:txBody>
          <a:bodyPr wrap="square" lIns="0" tIns="0" rIns="0" bIns="0" rtlCol="0" anchor="ctr"/>
          <a:lstStyle/>
          <a:p>
            <a:pPr algn="ctr" indent="0" marL="0">
              <a:buNone/>
            </a:pPr>
            <a:r>
              <a:rPr lang="en-US" sz="900" b="1" dirty="0">
                <a:solidFill>
                  <a:srgbClr val="162B4C"/>
                </a:solidFill>
                <a:latin typeface="Arial" pitchFamily="34" charset="0"/>
                <a:ea typeface="Arial" pitchFamily="34" charset="-122"/>
                <a:cs typeface="Arial" pitchFamily="34" charset="-120"/>
              </a:rPr>
              <a:t>Partner</a:t>
            </a:r>
            <a:endParaRPr lang="en-US" sz="900" dirty="0"/>
          </a:p>
        </p:txBody>
      </p:sp>
      <p:sp>
        <p:nvSpPr>
          <p:cNvPr id="37" name="Text 35"/>
          <p:cNvSpPr/>
          <p:nvPr/>
        </p:nvSpPr>
        <p:spPr>
          <a:xfrm>
            <a:off x="658368" y="4828032"/>
            <a:ext cx="1737360" cy="384048"/>
          </a:xfrm>
          <a:prstGeom prst="rect">
            <a:avLst/>
          </a:prstGeom>
          <a:noFill/>
          <a:ln/>
        </p:spPr>
        <p:txBody>
          <a:bodyPr wrap="square" lIns="0" tIns="0" rIns="0" bIns="0" rtlCol="0" anchor="t"/>
          <a:lstStyle/>
          <a:p>
            <a:pPr algn="ctr" indent="0" marL="0">
              <a:lnSpc>
                <a:spcPct val="105000"/>
              </a:lnSpc>
              <a:buNone/>
            </a:pPr>
            <a:r>
              <a:rPr lang="en-US" sz="880" b="1" dirty="0">
                <a:solidFill>
                  <a:srgbClr val="1E293B"/>
                </a:solidFill>
                <a:latin typeface="Arial" pitchFamily="34" charset="0"/>
                <a:ea typeface="Arial" pitchFamily="34" charset="-122"/>
                <a:cs typeface="Arial" pitchFamily="34" charset="-120"/>
              </a:rPr>
              <a:t>Cloud Identity SAML</a:t>
            </a:r>
            <a:endParaRPr lang="en-US" sz="880" dirty="0"/>
          </a:p>
          <a:p>
            <a:pPr algn="ctr" indent="0" marL="0">
              <a:lnSpc>
                <a:spcPct val="105000"/>
              </a:lnSpc>
              <a:buNone/>
            </a:pPr>
            <a:r>
              <a:rPr lang="en-US" sz="880" b="1" dirty="0">
                <a:solidFill>
                  <a:srgbClr val="1E293B"/>
                </a:solidFill>
                <a:latin typeface="Arial" pitchFamily="34" charset="0"/>
                <a:ea typeface="Arial" pitchFamily="34" charset="-122"/>
                <a:cs typeface="Arial" pitchFamily="34" charset="-120"/>
              </a:rPr>
              <a:t>(Federated Caller)</a:t>
            </a:r>
            <a:endParaRPr lang="en-US" sz="880" dirty="0"/>
          </a:p>
        </p:txBody>
      </p:sp>
      <p:sp>
        <p:nvSpPr>
          <p:cNvPr id="38" name="Shape 36"/>
          <p:cNvSpPr/>
          <p:nvPr/>
        </p:nvSpPr>
        <p:spPr>
          <a:xfrm>
            <a:off x="2103120" y="4498848"/>
            <a:ext cx="804672" cy="0"/>
          </a:xfrm>
          <a:prstGeom prst="line">
            <a:avLst/>
          </a:prstGeom>
          <a:noFill/>
          <a:ln w="15875">
            <a:solidFill>
              <a:srgbClr val="162B4C"/>
            </a:solidFill>
            <a:prstDash val="solid"/>
          </a:ln>
        </p:spPr>
      </p:sp>
      <p:sp>
        <p:nvSpPr>
          <p:cNvPr id="39" name="Shape 37"/>
          <p:cNvSpPr/>
          <p:nvPr/>
        </p:nvSpPr>
        <p:spPr>
          <a:xfrm>
            <a:off x="2907792" y="2084832"/>
            <a:ext cx="0" cy="2414016"/>
          </a:xfrm>
          <a:prstGeom prst="line">
            <a:avLst/>
          </a:prstGeom>
          <a:noFill/>
          <a:ln w="15875">
            <a:solidFill>
              <a:srgbClr val="162B4C"/>
            </a:solidFill>
            <a:prstDash val="solid"/>
          </a:ln>
        </p:spPr>
      </p:sp>
      <p:sp>
        <p:nvSpPr>
          <p:cNvPr id="40" name="Shape 38"/>
          <p:cNvSpPr/>
          <p:nvPr/>
        </p:nvSpPr>
        <p:spPr>
          <a:xfrm>
            <a:off x="2907792" y="3291840"/>
            <a:ext cx="1572768" cy="0"/>
          </a:xfrm>
          <a:prstGeom prst="line">
            <a:avLst/>
          </a:prstGeom>
          <a:noFill/>
          <a:ln w="19050">
            <a:solidFill>
              <a:srgbClr val="162B4C"/>
            </a:solidFill>
            <a:prstDash val="solid"/>
            <a:tailEnd type="triangle" w="sm" len="sm"/>
          </a:ln>
        </p:spPr>
      </p:sp>
      <p:sp>
        <p:nvSpPr>
          <p:cNvPr id="41" name="Text 39"/>
          <p:cNvSpPr/>
          <p:nvPr/>
        </p:nvSpPr>
        <p:spPr>
          <a:xfrm>
            <a:off x="3694176" y="2779776"/>
            <a:ext cx="786384" cy="438912"/>
          </a:xfrm>
          <a:prstGeom prst="rect">
            <a:avLst/>
          </a:prstGeom>
          <a:noFill/>
          <a:ln/>
        </p:spPr>
        <p:txBody>
          <a:bodyPr wrap="square" lIns="0" tIns="0" rIns="0" bIns="0" rtlCol="0" anchor="b"/>
          <a:lstStyle/>
          <a:p>
            <a:pPr algn="ctr" indent="0" marL="0">
              <a:lnSpc>
                <a:spcPct val="105000"/>
              </a:lnSpc>
              <a:buNone/>
            </a:pPr>
            <a:r>
              <a:rPr lang="en-US" sz="800" b="1" dirty="0">
                <a:solidFill>
                  <a:srgbClr val="1E293B"/>
                </a:solidFill>
                <a:latin typeface="Arial" pitchFamily="34" charset="0"/>
                <a:ea typeface="Arial" pitchFamily="34" charset="-122"/>
                <a:cs typeface="Arial" pitchFamily="34" charset="-120"/>
              </a:rPr>
              <a:t>OIDC JWT +</a:t>
            </a:r>
            <a:endParaRPr lang="en-US" sz="800" dirty="0"/>
          </a:p>
          <a:p>
            <a:pPr algn="ctr" indent="0" marL="0">
              <a:lnSpc>
                <a:spcPct val="105000"/>
              </a:lnSpc>
              <a:buNone/>
            </a:pPr>
            <a:r>
              <a:rPr lang="en-US" sz="800" b="1" dirty="0">
                <a:solidFill>
                  <a:srgbClr val="1E293B"/>
                </a:solidFill>
                <a:latin typeface="Arial" pitchFamily="34" charset="0"/>
                <a:ea typeface="Arial" pitchFamily="34" charset="-122"/>
                <a:cs typeface="Arial" pitchFamily="34" charset="-120"/>
              </a:rPr>
              <a:t>DPoP Proof</a:t>
            </a:r>
            <a:endParaRPr lang="en-US" sz="800" dirty="0"/>
          </a:p>
        </p:txBody>
      </p:sp>
      <p:sp>
        <p:nvSpPr>
          <p:cNvPr id="42" name="Text 40"/>
          <p:cNvSpPr/>
          <p:nvPr/>
        </p:nvSpPr>
        <p:spPr>
          <a:xfrm>
            <a:off x="3694176" y="3364992"/>
            <a:ext cx="786384" cy="438912"/>
          </a:xfrm>
          <a:prstGeom prst="rect">
            <a:avLst/>
          </a:prstGeom>
          <a:noFill/>
          <a:ln/>
        </p:spPr>
        <p:txBody>
          <a:bodyPr wrap="square" lIns="0" tIns="0" rIns="0" bIns="0" rtlCol="0" anchor="t"/>
          <a:lstStyle/>
          <a:p>
            <a:pPr algn="ctr" indent="0" marL="0">
              <a:lnSpc>
                <a:spcPct val="105000"/>
              </a:lnSpc>
              <a:buNone/>
            </a:pPr>
            <a:r>
              <a:rPr lang="en-US" sz="780" dirty="0">
                <a:solidFill>
                  <a:srgbClr val="475569"/>
                </a:solidFill>
                <a:latin typeface="Arial" pitchFamily="34" charset="0"/>
                <a:ea typeface="Arial" pitchFamily="34" charset="-122"/>
                <a:cs typeface="Arial" pitchFamily="34" charset="-120"/>
              </a:rPr>
              <a:t>Cloud Armor</a:t>
            </a:r>
            <a:endParaRPr lang="en-US" sz="780" dirty="0"/>
          </a:p>
          <a:p>
            <a:pPr algn="ctr" indent="0" marL="0">
              <a:lnSpc>
                <a:spcPct val="105000"/>
              </a:lnSpc>
              <a:buNone/>
            </a:pPr>
            <a:r>
              <a:rPr lang="en-US" sz="780" dirty="0">
                <a:solidFill>
                  <a:srgbClr val="475569"/>
                </a:solidFill>
                <a:latin typeface="Arial" pitchFamily="34" charset="0"/>
                <a:ea typeface="Arial" pitchFamily="34" charset="-122"/>
                <a:cs typeface="Arial" pitchFamily="34" charset="-120"/>
              </a:rPr>
              <a:t>+ IAP Edge</a:t>
            </a:r>
            <a:endParaRPr lang="en-US" sz="780" dirty="0"/>
          </a:p>
        </p:txBody>
      </p:sp>
      <p:sp>
        <p:nvSpPr>
          <p:cNvPr id="43" name="Shape 41"/>
          <p:cNvSpPr/>
          <p:nvPr/>
        </p:nvSpPr>
        <p:spPr>
          <a:xfrm>
            <a:off x="4498848" y="1042416"/>
            <a:ext cx="2962656" cy="4773168"/>
          </a:xfrm>
          <a:prstGeom prst="roundRect">
            <a:avLst>
              <a:gd name="adj" fmla="val 1543"/>
            </a:avLst>
          </a:prstGeom>
          <a:solidFill>
            <a:srgbClr val="F8FAFC"/>
          </a:solidFill>
          <a:ln w="22225">
            <a:solidFill>
              <a:srgbClr val="0D7377"/>
            </a:solidFill>
            <a:prstDash val="solid"/>
          </a:ln>
        </p:spPr>
      </p:sp>
      <p:sp>
        <p:nvSpPr>
          <p:cNvPr id="44" name="Text 42"/>
          <p:cNvSpPr/>
          <p:nvPr/>
        </p:nvSpPr>
        <p:spPr>
          <a:xfrm>
            <a:off x="4572000" y="1152144"/>
            <a:ext cx="2816352" cy="438912"/>
          </a:xfrm>
          <a:prstGeom prst="rect">
            <a:avLst/>
          </a:prstGeom>
          <a:noFill/>
          <a:ln/>
        </p:spPr>
        <p:txBody>
          <a:bodyPr wrap="square" lIns="0" tIns="0" rIns="0" bIns="0" rtlCol="0" anchor="ctr"/>
          <a:lstStyle/>
          <a:p>
            <a:pPr algn="ctr" indent="0" marL="0">
              <a:lnSpc>
                <a:spcPct val="106000"/>
              </a:lnSpc>
              <a:buNone/>
            </a:pPr>
            <a:r>
              <a:rPr lang="en-US" sz="1040" b="1" dirty="0">
                <a:solidFill>
                  <a:srgbClr val="162B4C"/>
                </a:solidFill>
                <a:latin typeface="Arial" pitchFamily="34" charset="0"/>
                <a:ea typeface="Arial" pitchFamily="34" charset="-122"/>
                <a:cs typeface="Arial" pitchFamily="34" charset="-120"/>
              </a:rPr>
              <a:t>LAYER 2: 5-HOP ADK CONTROL PLANE</a:t>
            </a:r>
            <a:endParaRPr lang="en-US" sz="1040" dirty="0"/>
          </a:p>
          <a:p>
            <a:pPr algn="ctr" indent="0" marL="0">
              <a:lnSpc>
                <a:spcPct val="106000"/>
              </a:lnSpc>
              <a:buNone/>
            </a:pPr>
            <a:r>
              <a:rPr lang="en-US" sz="1040" b="1" dirty="0">
                <a:solidFill>
                  <a:srgbClr val="162B4C"/>
                </a:solidFill>
                <a:latin typeface="Arial" pitchFamily="34" charset="0"/>
                <a:ea typeface="Arial" pitchFamily="34" charset="-122"/>
                <a:cs typeface="Arial" pitchFamily="34" charset="-120"/>
              </a:rPr>
              <a:t>(Shared 80% Core • ~42ms p95)</a:t>
            </a:r>
            <a:endParaRPr lang="en-US" sz="1040" dirty="0"/>
          </a:p>
        </p:txBody>
      </p:sp>
      <p:sp>
        <p:nvSpPr>
          <p:cNvPr id="45" name="Shape 43"/>
          <p:cNvSpPr/>
          <p:nvPr/>
        </p:nvSpPr>
        <p:spPr>
          <a:xfrm>
            <a:off x="4645152" y="1645920"/>
            <a:ext cx="2670048" cy="4005072"/>
          </a:xfrm>
          <a:prstGeom prst="roundRect">
            <a:avLst>
              <a:gd name="adj" fmla="val 1712"/>
            </a:avLst>
          </a:prstGeom>
          <a:solidFill>
            <a:srgbClr val="EBEEF2"/>
          </a:solidFill>
          <a:ln w="12700">
            <a:solidFill>
              <a:srgbClr val="CBD5E1"/>
            </a:solidFill>
            <a:prstDash val="solid"/>
          </a:ln>
        </p:spPr>
      </p:sp>
      <p:sp>
        <p:nvSpPr>
          <p:cNvPr id="46" name="Shape 44"/>
          <p:cNvSpPr/>
          <p:nvPr/>
        </p:nvSpPr>
        <p:spPr>
          <a:xfrm>
            <a:off x="4754880" y="1755648"/>
            <a:ext cx="347472" cy="256032"/>
          </a:xfrm>
          <a:prstGeom prst="roundRect">
            <a:avLst>
              <a:gd name="adj" fmla="val 14286"/>
            </a:avLst>
          </a:prstGeom>
          <a:solidFill>
            <a:srgbClr val="4285F4"/>
          </a:solidFill>
          <a:ln/>
        </p:spPr>
      </p:sp>
      <p:sp>
        <p:nvSpPr>
          <p:cNvPr id="47" name="Text 45"/>
          <p:cNvSpPr/>
          <p:nvPr/>
        </p:nvSpPr>
        <p:spPr>
          <a:xfrm>
            <a:off x="4754880" y="1755648"/>
            <a:ext cx="347472" cy="256032"/>
          </a:xfrm>
          <a:prstGeom prst="rect">
            <a:avLst/>
          </a:prstGeom>
          <a:noFill/>
          <a:ln/>
        </p:spPr>
        <p:txBody>
          <a:bodyPr wrap="square" lIns="0" tIns="0" rIns="0" bIns="0" rtlCol="0" anchor="ctr"/>
          <a:lstStyle/>
          <a:p>
            <a:pPr algn="ctr" indent="0" marL="0">
              <a:buNone/>
            </a:pPr>
            <a:r>
              <a:rPr lang="en-US" sz="740" b="1" dirty="0">
                <a:solidFill>
                  <a:srgbClr val="FFFFFF"/>
                </a:solidFill>
                <a:latin typeface="Arial" pitchFamily="34" charset="0"/>
                <a:ea typeface="Arial" pitchFamily="34" charset="-122"/>
                <a:cs typeface="Arial" pitchFamily="34" charset="-120"/>
              </a:rPr>
              <a:t>ADK</a:t>
            </a:r>
            <a:endParaRPr lang="en-US" sz="740" dirty="0"/>
          </a:p>
        </p:txBody>
      </p:sp>
      <p:sp>
        <p:nvSpPr>
          <p:cNvPr id="48" name="Text 46"/>
          <p:cNvSpPr/>
          <p:nvPr/>
        </p:nvSpPr>
        <p:spPr>
          <a:xfrm>
            <a:off x="5157216" y="1719072"/>
            <a:ext cx="2103120" cy="329184"/>
          </a:xfrm>
          <a:prstGeom prst="rect">
            <a:avLst/>
          </a:prstGeom>
          <a:noFill/>
          <a:ln/>
        </p:spPr>
        <p:txBody>
          <a:bodyPr wrap="square" lIns="0" tIns="0" rIns="0" bIns="0" rtlCol="0" anchor="ctr"/>
          <a:lstStyle/>
          <a:p>
            <a:pPr indent="0" marL="0">
              <a:lnSpc>
                <a:spcPct val="104000"/>
              </a:lnSpc>
              <a:buNone/>
            </a:pPr>
            <a:r>
              <a:rPr lang="en-US" sz="860" b="1" dirty="0">
                <a:solidFill>
                  <a:srgbClr val="475569"/>
                </a:solidFill>
                <a:latin typeface="Arial" pitchFamily="34" charset="0"/>
                <a:ea typeface="Arial" pitchFamily="34" charset="-122"/>
                <a:cs typeface="Arial" pitchFamily="34" charset="-120"/>
              </a:rPr>
              <a:t>Vertex AI Agent Engine &amp; ~3ms</a:t>
            </a:r>
            <a:endParaRPr lang="en-US" sz="860" dirty="0"/>
          </a:p>
          <a:p>
            <a:pPr indent="0" marL="0">
              <a:lnSpc>
                <a:spcPct val="104000"/>
              </a:lnSpc>
              <a:buNone/>
            </a:pPr>
            <a:r>
              <a:rPr lang="en-US" sz="860" b="1" dirty="0">
                <a:solidFill>
                  <a:srgbClr val="475569"/>
                </a:solidFill>
                <a:latin typeface="Arial" pitchFamily="34" charset="0"/>
                <a:ea typeface="Arial" pitchFamily="34" charset="-122"/>
                <a:cs typeface="Arial" pitchFamily="34" charset="-120"/>
              </a:rPr>
              <a:t>Valkey JTI Deny-List</a:t>
            </a:r>
            <a:endParaRPr lang="en-US" sz="860" dirty="0"/>
          </a:p>
        </p:txBody>
      </p:sp>
      <p:sp>
        <p:nvSpPr>
          <p:cNvPr id="49" name="Shape 47"/>
          <p:cNvSpPr/>
          <p:nvPr/>
        </p:nvSpPr>
        <p:spPr>
          <a:xfrm>
            <a:off x="5010912" y="2157984"/>
            <a:ext cx="1938528" cy="914400"/>
          </a:xfrm>
          <a:prstGeom prst="roundRect">
            <a:avLst>
              <a:gd name="adj" fmla="val 6000"/>
            </a:avLst>
          </a:prstGeom>
          <a:solidFill>
            <a:srgbClr val="FFFFFF"/>
          </a:solidFill>
          <a:ln w="12700">
            <a:solidFill>
              <a:srgbClr val="CBD5E1"/>
            </a:solidFill>
            <a:prstDash val="solid"/>
          </a:ln>
        </p:spPr>
      </p:sp>
      <p:sp>
        <p:nvSpPr>
          <p:cNvPr id="50" name="Shape 48"/>
          <p:cNvSpPr/>
          <p:nvPr/>
        </p:nvSpPr>
        <p:spPr>
          <a:xfrm>
            <a:off x="5650992" y="2240280"/>
            <a:ext cx="658368" cy="274320"/>
          </a:xfrm>
          <a:prstGeom prst="roundRect">
            <a:avLst>
              <a:gd name="adj" fmla="val 16667"/>
            </a:avLst>
          </a:prstGeom>
          <a:solidFill>
            <a:srgbClr val="E8F0FE"/>
          </a:solidFill>
          <a:ln w="10160">
            <a:solidFill>
              <a:srgbClr val="4285F4"/>
            </a:solidFill>
            <a:prstDash val="solid"/>
          </a:ln>
        </p:spPr>
      </p:sp>
      <p:sp>
        <p:nvSpPr>
          <p:cNvPr id="51" name="Text 49"/>
          <p:cNvSpPr/>
          <p:nvPr/>
        </p:nvSpPr>
        <p:spPr>
          <a:xfrm>
            <a:off x="5650992" y="2240280"/>
            <a:ext cx="658368" cy="274320"/>
          </a:xfrm>
          <a:prstGeom prst="rect">
            <a:avLst/>
          </a:prstGeom>
          <a:noFill/>
          <a:ln/>
        </p:spPr>
        <p:txBody>
          <a:bodyPr wrap="square" lIns="0" tIns="0" rIns="0" bIns="0" rtlCol="0" anchor="ctr"/>
          <a:lstStyle/>
          <a:p>
            <a:pPr algn="ctr" indent="0" marL="0">
              <a:buNone/>
            </a:pPr>
            <a:r>
              <a:rPr lang="en-US" sz="860" b="1" dirty="0">
                <a:solidFill>
                  <a:srgbClr val="174EA6"/>
                </a:solidFill>
                <a:latin typeface="Arial" pitchFamily="34" charset="0"/>
                <a:ea typeface="Arial" pitchFamily="34" charset="-122"/>
                <a:cs typeface="Arial" pitchFamily="34" charset="-120"/>
              </a:rPr>
              <a:t>STS</a:t>
            </a:r>
            <a:endParaRPr lang="en-US" sz="860" dirty="0"/>
          </a:p>
        </p:txBody>
      </p:sp>
      <p:sp>
        <p:nvSpPr>
          <p:cNvPr id="52" name="Text 50"/>
          <p:cNvSpPr/>
          <p:nvPr/>
        </p:nvSpPr>
        <p:spPr>
          <a:xfrm>
            <a:off x="5065776" y="2551176"/>
            <a:ext cx="1828800" cy="457200"/>
          </a:xfrm>
          <a:prstGeom prst="rect">
            <a:avLst/>
          </a:prstGeom>
          <a:noFill/>
          <a:ln/>
        </p:spPr>
        <p:txBody>
          <a:bodyPr wrap="square" lIns="0" tIns="0" rIns="0" bIns="0" rtlCol="0" anchor="ctr"/>
          <a:lstStyle/>
          <a:p>
            <a:pPr algn="ctr" indent="0" marL="0">
              <a:lnSpc>
                <a:spcPct val="105000"/>
              </a:lnSpc>
              <a:buNone/>
            </a:pPr>
            <a:r>
              <a:rPr lang="en-US" sz="880" b="1" dirty="0">
                <a:solidFill>
                  <a:srgbClr val="1E293B"/>
                </a:solidFill>
                <a:latin typeface="Arial" pitchFamily="34" charset="0"/>
                <a:ea typeface="Arial" pitchFamily="34" charset="-122"/>
                <a:cs typeface="Arial" pitchFamily="34" charset="-120"/>
              </a:rPr>
              <a:t>Hop 1: IAM STS OBO,</a:t>
            </a:r>
            <a:endParaRPr lang="en-US" sz="880" dirty="0"/>
          </a:p>
          <a:p>
            <a:pPr algn="ctr" indent="0" marL="0">
              <a:lnSpc>
                <a:spcPct val="105000"/>
              </a:lnSpc>
              <a:buNone/>
            </a:pPr>
            <a:r>
              <a:rPr lang="en-US" sz="880" b="1" dirty="0">
                <a:solidFill>
                  <a:srgbClr val="1E293B"/>
                </a:solidFill>
                <a:latin typeface="Arial" pitchFamily="34" charset="0"/>
                <a:ea typeface="Arial" pitchFamily="34" charset="-122"/>
                <a:cs typeface="Arial" pitchFamily="34" charset="-120"/>
              </a:rPr>
              <a:t>DPoP &amp; JTI Deny-List</a:t>
            </a:r>
            <a:endParaRPr lang="en-US" sz="880" dirty="0"/>
          </a:p>
        </p:txBody>
      </p:sp>
      <p:sp>
        <p:nvSpPr>
          <p:cNvPr id="53" name="Shape 51"/>
          <p:cNvSpPr/>
          <p:nvPr/>
        </p:nvSpPr>
        <p:spPr>
          <a:xfrm>
            <a:off x="5980176" y="3072384"/>
            <a:ext cx="0" cy="237744"/>
          </a:xfrm>
          <a:prstGeom prst="line">
            <a:avLst/>
          </a:prstGeom>
          <a:noFill/>
          <a:ln w="15875">
            <a:solidFill>
              <a:srgbClr val="162B4C"/>
            </a:solidFill>
            <a:prstDash val="solid"/>
            <a:tailEnd type="triangle" w="sm" len="sm"/>
          </a:ln>
        </p:spPr>
      </p:sp>
      <p:sp>
        <p:nvSpPr>
          <p:cNvPr id="54" name="Shape 52"/>
          <p:cNvSpPr/>
          <p:nvPr/>
        </p:nvSpPr>
        <p:spPr>
          <a:xfrm>
            <a:off x="5010912" y="3310128"/>
            <a:ext cx="1938528" cy="914400"/>
          </a:xfrm>
          <a:prstGeom prst="roundRect">
            <a:avLst>
              <a:gd name="adj" fmla="val 6000"/>
            </a:avLst>
          </a:prstGeom>
          <a:solidFill>
            <a:srgbClr val="FFFFFF"/>
          </a:solidFill>
          <a:ln w="12700">
            <a:solidFill>
              <a:srgbClr val="CBD5E1"/>
            </a:solidFill>
            <a:prstDash val="solid"/>
          </a:ln>
        </p:spPr>
      </p:sp>
      <p:sp>
        <p:nvSpPr>
          <p:cNvPr id="55" name="Shape 53"/>
          <p:cNvSpPr/>
          <p:nvPr/>
        </p:nvSpPr>
        <p:spPr>
          <a:xfrm>
            <a:off x="5650992" y="3392424"/>
            <a:ext cx="658368" cy="274320"/>
          </a:xfrm>
          <a:prstGeom prst="roundRect">
            <a:avLst>
              <a:gd name="adj" fmla="val 16667"/>
            </a:avLst>
          </a:prstGeom>
          <a:solidFill>
            <a:srgbClr val="FCE8E6"/>
          </a:solidFill>
          <a:ln w="10160">
            <a:solidFill>
              <a:srgbClr val="EA4335"/>
            </a:solidFill>
            <a:prstDash val="solid"/>
          </a:ln>
        </p:spPr>
      </p:sp>
      <p:sp>
        <p:nvSpPr>
          <p:cNvPr id="56" name="Text 54"/>
          <p:cNvSpPr/>
          <p:nvPr/>
        </p:nvSpPr>
        <p:spPr>
          <a:xfrm>
            <a:off x="5650992" y="3392424"/>
            <a:ext cx="658368" cy="274320"/>
          </a:xfrm>
          <a:prstGeom prst="rect">
            <a:avLst/>
          </a:prstGeom>
          <a:noFill/>
          <a:ln/>
        </p:spPr>
        <p:txBody>
          <a:bodyPr wrap="square" lIns="0" tIns="0" rIns="0" bIns="0" rtlCol="0" anchor="ctr"/>
          <a:lstStyle/>
          <a:p>
            <a:pPr algn="ctr" indent="0" marL="0">
              <a:buNone/>
            </a:pPr>
            <a:r>
              <a:rPr lang="en-US" sz="860" b="1" dirty="0">
                <a:solidFill>
                  <a:srgbClr val="B31412"/>
                </a:solidFill>
                <a:latin typeface="Arial" pitchFamily="34" charset="0"/>
                <a:ea typeface="Arial" pitchFamily="34" charset="-122"/>
                <a:cs typeface="Arial" pitchFamily="34" charset="-120"/>
              </a:rPr>
              <a:t>ARD</a:t>
            </a:r>
            <a:endParaRPr lang="en-US" sz="860" dirty="0"/>
          </a:p>
        </p:txBody>
      </p:sp>
      <p:sp>
        <p:nvSpPr>
          <p:cNvPr id="57" name="Text 55"/>
          <p:cNvSpPr/>
          <p:nvPr/>
        </p:nvSpPr>
        <p:spPr>
          <a:xfrm>
            <a:off x="5065776" y="3703320"/>
            <a:ext cx="1828800" cy="457200"/>
          </a:xfrm>
          <a:prstGeom prst="rect">
            <a:avLst/>
          </a:prstGeom>
          <a:noFill/>
          <a:ln/>
        </p:spPr>
        <p:txBody>
          <a:bodyPr wrap="square" lIns="0" tIns="0" rIns="0" bIns="0" rtlCol="0" anchor="ctr"/>
          <a:lstStyle/>
          <a:p>
            <a:pPr algn="ctr" indent="0" marL="0">
              <a:lnSpc>
                <a:spcPct val="105000"/>
              </a:lnSpc>
              <a:buNone/>
            </a:pPr>
            <a:r>
              <a:rPr lang="en-US" sz="880" b="1" dirty="0">
                <a:solidFill>
                  <a:srgbClr val="1E293B"/>
                </a:solidFill>
                <a:latin typeface="Arial" pitchFamily="34" charset="0"/>
                <a:ea typeface="Arial" pitchFamily="34" charset="-122"/>
                <a:cs typeface="Arial" pitchFamily="34" charset="-120"/>
              </a:rPr>
              <a:t>Hops 2–3: ARD Filter</a:t>
            </a:r>
            <a:endParaRPr lang="en-US" sz="880" dirty="0"/>
          </a:p>
          <a:p>
            <a:pPr algn="ctr" indent="0" marL="0">
              <a:lnSpc>
                <a:spcPct val="105000"/>
              </a:lnSpc>
              <a:buNone/>
            </a:pPr>
            <a:r>
              <a:rPr lang="en-US" sz="880" b="1" dirty="0">
                <a:solidFill>
                  <a:srgbClr val="1E293B"/>
                </a:solidFill>
                <a:latin typeface="Arial" pitchFamily="34" charset="0"/>
                <a:ea typeface="Arial" pitchFamily="34" charset="-122"/>
                <a:cs typeface="Arial" pitchFamily="34" charset="-120"/>
              </a:rPr>
              <a:t>&amp; L1–L5 Memory Scope</a:t>
            </a:r>
            <a:endParaRPr lang="en-US" sz="880" dirty="0"/>
          </a:p>
        </p:txBody>
      </p:sp>
      <p:sp>
        <p:nvSpPr>
          <p:cNvPr id="58" name="Shape 56"/>
          <p:cNvSpPr/>
          <p:nvPr/>
        </p:nvSpPr>
        <p:spPr>
          <a:xfrm>
            <a:off x="5980176" y="4224528"/>
            <a:ext cx="0" cy="237744"/>
          </a:xfrm>
          <a:prstGeom prst="line">
            <a:avLst/>
          </a:prstGeom>
          <a:noFill/>
          <a:ln w="15875">
            <a:solidFill>
              <a:srgbClr val="162B4C"/>
            </a:solidFill>
            <a:prstDash val="solid"/>
            <a:tailEnd type="triangle" w="sm" len="sm"/>
          </a:ln>
        </p:spPr>
      </p:sp>
      <p:sp>
        <p:nvSpPr>
          <p:cNvPr id="59" name="Shape 57"/>
          <p:cNvSpPr/>
          <p:nvPr/>
        </p:nvSpPr>
        <p:spPr>
          <a:xfrm>
            <a:off x="5010912" y="4462272"/>
            <a:ext cx="1938528" cy="914400"/>
          </a:xfrm>
          <a:prstGeom prst="roundRect">
            <a:avLst>
              <a:gd name="adj" fmla="val 6000"/>
            </a:avLst>
          </a:prstGeom>
          <a:solidFill>
            <a:srgbClr val="FFFFFF"/>
          </a:solidFill>
          <a:ln w="12700">
            <a:solidFill>
              <a:srgbClr val="CBD5E1"/>
            </a:solidFill>
            <a:prstDash val="solid"/>
          </a:ln>
        </p:spPr>
      </p:sp>
      <p:sp>
        <p:nvSpPr>
          <p:cNvPr id="60" name="Shape 58"/>
          <p:cNvSpPr/>
          <p:nvPr/>
        </p:nvSpPr>
        <p:spPr>
          <a:xfrm>
            <a:off x="5650992" y="4544568"/>
            <a:ext cx="658368" cy="274320"/>
          </a:xfrm>
          <a:prstGeom prst="roundRect">
            <a:avLst>
              <a:gd name="adj" fmla="val 16667"/>
            </a:avLst>
          </a:prstGeom>
          <a:solidFill>
            <a:srgbClr val="FEF7E0"/>
          </a:solidFill>
          <a:ln w="10160">
            <a:solidFill>
              <a:srgbClr val="FBBC04"/>
            </a:solidFill>
            <a:prstDash val="solid"/>
          </a:ln>
        </p:spPr>
      </p:sp>
      <p:sp>
        <p:nvSpPr>
          <p:cNvPr id="61" name="Text 59"/>
          <p:cNvSpPr/>
          <p:nvPr/>
        </p:nvSpPr>
        <p:spPr>
          <a:xfrm>
            <a:off x="5650992" y="4544568"/>
            <a:ext cx="658368" cy="274320"/>
          </a:xfrm>
          <a:prstGeom prst="rect">
            <a:avLst/>
          </a:prstGeom>
          <a:noFill/>
          <a:ln/>
        </p:spPr>
        <p:txBody>
          <a:bodyPr wrap="square" lIns="0" tIns="0" rIns="0" bIns="0" rtlCol="0" anchor="ctr"/>
          <a:lstStyle/>
          <a:p>
            <a:pPr algn="ctr" indent="0" marL="0">
              <a:buNone/>
            </a:pPr>
            <a:r>
              <a:rPr lang="en-US" sz="860" b="1" dirty="0">
                <a:solidFill>
                  <a:srgbClr val="A35E00"/>
                </a:solidFill>
                <a:latin typeface="Arial" pitchFamily="34" charset="0"/>
                <a:ea typeface="Arial" pitchFamily="34" charset="-122"/>
                <a:cs typeface="Arial" pitchFamily="34" charset="-120"/>
              </a:rPr>
              <a:t>DLP</a:t>
            </a:r>
            <a:endParaRPr lang="en-US" sz="860" dirty="0"/>
          </a:p>
        </p:txBody>
      </p:sp>
      <p:sp>
        <p:nvSpPr>
          <p:cNvPr id="62" name="Text 60"/>
          <p:cNvSpPr/>
          <p:nvPr/>
        </p:nvSpPr>
        <p:spPr>
          <a:xfrm>
            <a:off x="5065776" y="4855464"/>
            <a:ext cx="1828800" cy="457200"/>
          </a:xfrm>
          <a:prstGeom prst="rect">
            <a:avLst/>
          </a:prstGeom>
          <a:noFill/>
          <a:ln/>
        </p:spPr>
        <p:txBody>
          <a:bodyPr wrap="square" lIns="0" tIns="0" rIns="0" bIns="0" rtlCol="0" anchor="ctr"/>
          <a:lstStyle/>
          <a:p>
            <a:pPr algn="ctr" indent="0" marL="0">
              <a:lnSpc>
                <a:spcPct val="105000"/>
              </a:lnSpc>
              <a:buNone/>
            </a:pPr>
            <a:r>
              <a:rPr lang="en-US" sz="880" b="1" dirty="0">
                <a:solidFill>
                  <a:srgbClr val="1E293B"/>
                </a:solidFill>
                <a:latin typeface="Arial" pitchFamily="34" charset="0"/>
                <a:ea typeface="Arial" pitchFamily="34" charset="-122"/>
                <a:cs typeface="Arial" pitchFamily="34" charset="-120"/>
              </a:rPr>
              <a:t>Hop 4: Model Armor &amp;</a:t>
            </a:r>
            <a:endParaRPr lang="en-US" sz="880" dirty="0"/>
          </a:p>
          <a:p>
            <a:pPr algn="ctr" indent="0" marL="0">
              <a:lnSpc>
                <a:spcPct val="105000"/>
              </a:lnSpc>
              <a:buNone/>
            </a:pPr>
            <a:r>
              <a:rPr lang="en-US" sz="880" b="1" dirty="0">
                <a:solidFill>
                  <a:srgbClr val="1E293B"/>
                </a:solidFill>
                <a:latin typeface="Arial" pitchFamily="34" charset="0"/>
                <a:ea typeface="Arial" pitchFamily="34" charset="-122"/>
                <a:cs typeface="Arial" pitchFamily="34" charset="-120"/>
              </a:rPr>
              <a:t>Inline DLP (~22ms p95)</a:t>
            </a:r>
            <a:endParaRPr lang="en-US" sz="880" dirty="0"/>
          </a:p>
        </p:txBody>
      </p:sp>
      <p:sp>
        <p:nvSpPr>
          <p:cNvPr id="63" name="Shape 61"/>
          <p:cNvSpPr/>
          <p:nvPr/>
        </p:nvSpPr>
        <p:spPr>
          <a:xfrm>
            <a:off x="4828032" y="2615184"/>
            <a:ext cx="0" cy="2304288"/>
          </a:xfrm>
          <a:prstGeom prst="line">
            <a:avLst/>
          </a:prstGeom>
          <a:noFill/>
          <a:ln w="15875">
            <a:solidFill>
              <a:srgbClr val="162B4C"/>
            </a:solidFill>
            <a:prstDash val="solid"/>
          </a:ln>
        </p:spPr>
      </p:sp>
      <p:sp>
        <p:nvSpPr>
          <p:cNvPr id="64" name="Shape 62"/>
          <p:cNvSpPr/>
          <p:nvPr/>
        </p:nvSpPr>
        <p:spPr>
          <a:xfrm>
            <a:off x="4828032" y="2615184"/>
            <a:ext cx="182880" cy="0"/>
          </a:xfrm>
          <a:prstGeom prst="line">
            <a:avLst/>
          </a:prstGeom>
          <a:noFill/>
          <a:ln w="15875">
            <a:solidFill>
              <a:srgbClr val="162B4C"/>
            </a:solidFill>
            <a:prstDash val="solid"/>
            <a:tailEnd type="triangle" w="sm" len="sm"/>
          </a:ln>
        </p:spPr>
      </p:sp>
      <p:sp>
        <p:nvSpPr>
          <p:cNvPr id="65" name="Shape 63"/>
          <p:cNvSpPr/>
          <p:nvPr/>
        </p:nvSpPr>
        <p:spPr>
          <a:xfrm>
            <a:off x="4828032" y="3767328"/>
            <a:ext cx="182880" cy="0"/>
          </a:xfrm>
          <a:prstGeom prst="line">
            <a:avLst/>
          </a:prstGeom>
          <a:noFill/>
          <a:ln w="15875">
            <a:solidFill>
              <a:srgbClr val="162B4C"/>
            </a:solidFill>
            <a:prstDash val="solid"/>
            <a:tailEnd type="triangle" w="sm" len="sm"/>
          </a:ln>
        </p:spPr>
      </p:sp>
      <p:sp>
        <p:nvSpPr>
          <p:cNvPr id="66" name="Shape 64"/>
          <p:cNvSpPr/>
          <p:nvPr/>
        </p:nvSpPr>
        <p:spPr>
          <a:xfrm>
            <a:off x="4828032" y="4919472"/>
            <a:ext cx="182880" cy="0"/>
          </a:xfrm>
          <a:prstGeom prst="line">
            <a:avLst/>
          </a:prstGeom>
          <a:noFill/>
          <a:ln w="15875">
            <a:solidFill>
              <a:srgbClr val="162B4C"/>
            </a:solidFill>
            <a:prstDash val="solid"/>
            <a:tailEnd type="triangle" w="sm" len="sm"/>
          </a:ln>
        </p:spPr>
      </p:sp>
      <p:sp>
        <p:nvSpPr>
          <p:cNvPr id="67" name="Shape 65"/>
          <p:cNvSpPr/>
          <p:nvPr/>
        </p:nvSpPr>
        <p:spPr>
          <a:xfrm>
            <a:off x="6949440" y="2615184"/>
            <a:ext cx="201168" cy="0"/>
          </a:xfrm>
          <a:prstGeom prst="line">
            <a:avLst/>
          </a:prstGeom>
          <a:noFill/>
          <a:ln w="15875">
            <a:solidFill>
              <a:srgbClr val="162B4C"/>
            </a:solidFill>
            <a:prstDash val="solid"/>
          </a:ln>
        </p:spPr>
      </p:sp>
      <p:sp>
        <p:nvSpPr>
          <p:cNvPr id="68" name="Shape 66"/>
          <p:cNvSpPr/>
          <p:nvPr/>
        </p:nvSpPr>
        <p:spPr>
          <a:xfrm>
            <a:off x="6949440" y="4919472"/>
            <a:ext cx="201168" cy="0"/>
          </a:xfrm>
          <a:prstGeom prst="line">
            <a:avLst/>
          </a:prstGeom>
          <a:noFill/>
          <a:ln w="15875">
            <a:solidFill>
              <a:srgbClr val="162B4C"/>
            </a:solidFill>
            <a:prstDash val="solid"/>
          </a:ln>
        </p:spPr>
      </p:sp>
      <p:sp>
        <p:nvSpPr>
          <p:cNvPr id="69" name="Shape 67"/>
          <p:cNvSpPr/>
          <p:nvPr/>
        </p:nvSpPr>
        <p:spPr>
          <a:xfrm>
            <a:off x="7150608" y="2615184"/>
            <a:ext cx="0" cy="2304288"/>
          </a:xfrm>
          <a:prstGeom prst="line">
            <a:avLst/>
          </a:prstGeom>
          <a:noFill/>
          <a:ln w="15875">
            <a:solidFill>
              <a:srgbClr val="162B4C"/>
            </a:solidFill>
            <a:prstDash val="solid"/>
          </a:ln>
        </p:spPr>
      </p:sp>
      <p:sp>
        <p:nvSpPr>
          <p:cNvPr id="70" name="Shape 68"/>
          <p:cNvSpPr/>
          <p:nvPr/>
        </p:nvSpPr>
        <p:spPr>
          <a:xfrm>
            <a:off x="7150608" y="3767328"/>
            <a:ext cx="1261872" cy="0"/>
          </a:xfrm>
          <a:prstGeom prst="line">
            <a:avLst/>
          </a:prstGeom>
          <a:noFill/>
          <a:ln w="19050">
            <a:solidFill>
              <a:srgbClr val="162B4C"/>
            </a:solidFill>
            <a:prstDash val="solid"/>
            <a:tailEnd type="triangle" w="sm" len="sm"/>
          </a:ln>
        </p:spPr>
      </p:sp>
      <p:sp>
        <p:nvSpPr>
          <p:cNvPr id="71" name="Text 69"/>
          <p:cNvSpPr/>
          <p:nvPr/>
        </p:nvSpPr>
        <p:spPr>
          <a:xfrm>
            <a:off x="7479792" y="3108960"/>
            <a:ext cx="914400" cy="585216"/>
          </a:xfrm>
          <a:prstGeom prst="rect">
            <a:avLst/>
          </a:prstGeom>
          <a:noFill/>
          <a:ln/>
        </p:spPr>
        <p:txBody>
          <a:bodyPr wrap="square" lIns="0" tIns="0" rIns="0" bIns="0" rtlCol="0" anchor="b"/>
          <a:lstStyle/>
          <a:p>
            <a:pPr algn="ctr" indent="0" marL="0">
              <a:lnSpc>
                <a:spcPct val="104000"/>
              </a:lnSpc>
              <a:buNone/>
            </a:pPr>
            <a:r>
              <a:rPr lang="en-US" sz="780" b="1" dirty="0">
                <a:solidFill>
                  <a:srgbClr val="1E293B"/>
                </a:solidFill>
                <a:latin typeface="Arial" pitchFamily="34" charset="0"/>
                <a:ea typeface="Arial" pitchFamily="34" charset="-122"/>
                <a:cs typeface="Arial" pitchFamily="34" charset="-120"/>
              </a:rPr>
              <a:t>5-Min STS JWT</a:t>
            </a:r>
            <a:endParaRPr lang="en-US" sz="780" dirty="0"/>
          </a:p>
          <a:p>
            <a:pPr algn="ctr" indent="0" marL="0">
              <a:lnSpc>
                <a:spcPct val="104000"/>
              </a:lnSpc>
              <a:buNone/>
            </a:pPr>
            <a:r>
              <a:rPr lang="en-US" sz="780" b="1" dirty="0">
                <a:solidFill>
                  <a:srgbClr val="1E293B"/>
                </a:solidFill>
                <a:latin typeface="Arial" pitchFamily="34" charset="0"/>
                <a:ea typeface="Arial" pitchFamily="34" charset="-122"/>
                <a:cs typeface="Arial" pitchFamily="34" charset="-120"/>
              </a:rPr>
              <a:t>+</a:t>
            </a:r>
            <a:endParaRPr lang="en-US" sz="780" dirty="0"/>
          </a:p>
          <a:p>
            <a:pPr algn="ctr" indent="0" marL="0">
              <a:lnSpc>
                <a:spcPct val="104000"/>
              </a:lnSpc>
              <a:buNone/>
            </a:pPr>
            <a:r>
              <a:rPr lang="en-US" sz="780" b="1" dirty="0">
                <a:solidFill>
                  <a:srgbClr val="1E293B"/>
                </a:solidFill>
                <a:latin typeface="Arial" pitchFamily="34" charset="0"/>
                <a:ea typeface="Arial" pitchFamily="34" charset="-122"/>
                <a:cs typeface="Arial" pitchFamily="34" charset="-120"/>
              </a:rPr>
              <a:t>&lt;0.15ms JWKS</a:t>
            </a:r>
            <a:endParaRPr lang="en-US" sz="780" dirty="0"/>
          </a:p>
          <a:p>
            <a:pPr algn="ctr" indent="0" marL="0">
              <a:lnSpc>
                <a:spcPct val="104000"/>
              </a:lnSpc>
              <a:buNone/>
            </a:pPr>
            <a:r>
              <a:rPr lang="en-US" sz="780" b="1" dirty="0">
                <a:solidFill>
                  <a:srgbClr val="1E293B"/>
                </a:solidFill>
                <a:latin typeface="Arial" pitchFamily="34" charset="0"/>
                <a:ea typeface="Arial" pitchFamily="34" charset="-122"/>
                <a:cs typeface="Arial" pitchFamily="34" charset="-120"/>
              </a:rPr>
              <a:t>Verify</a:t>
            </a:r>
            <a:endParaRPr lang="en-US" sz="780" dirty="0"/>
          </a:p>
        </p:txBody>
      </p:sp>
      <p:sp>
        <p:nvSpPr>
          <p:cNvPr id="72" name="Text 70"/>
          <p:cNvSpPr/>
          <p:nvPr/>
        </p:nvSpPr>
        <p:spPr>
          <a:xfrm>
            <a:off x="7479792" y="3840480"/>
            <a:ext cx="914400" cy="512064"/>
          </a:xfrm>
          <a:prstGeom prst="rect">
            <a:avLst/>
          </a:prstGeom>
          <a:noFill/>
          <a:ln/>
        </p:spPr>
        <p:txBody>
          <a:bodyPr wrap="square" lIns="0" tIns="0" rIns="0" bIns="0" rtlCol="0" anchor="t"/>
          <a:lstStyle/>
          <a:p>
            <a:pPr algn="ctr" indent="0" marL="0">
              <a:lnSpc>
                <a:spcPct val="104000"/>
              </a:lnSpc>
              <a:buNone/>
            </a:pPr>
            <a:r>
              <a:rPr lang="en-US" sz="750" dirty="0">
                <a:solidFill>
                  <a:srgbClr val="475569"/>
                </a:solidFill>
                <a:latin typeface="Arial" pitchFamily="34" charset="0"/>
                <a:ea typeface="Arial" pitchFamily="34" charset="-122"/>
                <a:cs typeface="Arial" pitchFamily="34" charset="-120"/>
              </a:rPr>
              <a:t>Zero Re-Auth +</a:t>
            </a:r>
            <a:endParaRPr lang="en-US" sz="750" dirty="0"/>
          </a:p>
          <a:p>
            <a:pPr algn="ctr" indent="0" marL="0">
              <a:lnSpc>
                <a:spcPct val="104000"/>
              </a:lnSpc>
              <a:buNone/>
            </a:pPr>
            <a:r>
              <a:rPr lang="en-US" sz="750" dirty="0">
                <a:solidFill>
                  <a:srgbClr val="475569"/>
                </a:solidFill>
                <a:latin typeface="Arial" pitchFamily="34" charset="0"/>
                <a:ea typeface="Arial" pitchFamily="34" charset="-122"/>
                <a:cs typeface="Arial" pitchFamily="34" charset="-120"/>
              </a:rPr>
              <a:t>~3ms Valkey JTI</a:t>
            </a:r>
            <a:endParaRPr lang="en-US" sz="750" dirty="0"/>
          </a:p>
          <a:p>
            <a:pPr algn="ctr" indent="0" marL="0">
              <a:lnSpc>
                <a:spcPct val="104000"/>
              </a:lnSpc>
              <a:buNone/>
            </a:pPr>
            <a:r>
              <a:rPr lang="en-US" sz="750" dirty="0">
                <a:solidFill>
                  <a:srgbClr val="475569"/>
                </a:solidFill>
                <a:latin typeface="Arial" pitchFamily="34" charset="0"/>
                <a:ea typeface="Arial" pitchFamily="34" charset="-122"/>
                <a:cs typeface="Arial" pitchFamily="34" charset="-120"/>
              </a:rPr>
              <a:t>Revoke Check</a:t>
            </a:r>
            <a:endParaRPr lang="en-US" sz="750" dirty="0"/>
          </a:p>
        </p:txBody>
      </p:sp>
      <p:sp>
        <p:nvSpPr>
          <p:cNvPr id="73" name="Shape 71"/>
          <p:cNvSpPr/>
          <p:nvPr/>
        </p:nvSpPr>
        <p:spPr>
          <a:xfrm>
            <a:off x="8412480" y="1042416"/>
            <a:ext cx="3340303" cy="4773168"/>
          </a:xfrm>
          <a:prstGeom prst="roundRect">
            <a:avLst>
              <a:gd name="adj" fmla="val 1369"/>
            </a:avLst>
          </a:prstGeom>
          <a:solidFill>
            <a:srgbClr val="F8FAFC"/>
          </a:solidFill>
          <a:ln w="22225">
            <a:solidFill>
              <a:srgbClr val="0D7377"/>
            </a:solidFill>
            <a:prstDash val="solid"/>
          </a:ln>
        </p:spPr>
      </p:sp>
      <p:sp>
        <p:nvSpPr>
          <p:cNvPr id="74" name="Text 72"/>
          <p:cNvSpPr/>
          <p:nvPr/>
        </p:nvSpPr>
        <p:spPr>
          <a:xfrm>
            <a:off x="8485632" y="1152144"/>
            <a:ext cx="3193999" cy="438912"/>
          </a:xfrm>
          <a:prstGeom prst="rect">
            <a:avLst/>
          </a:prstGeom>
          <a:noFill/>
          <a:ln/>
        </p:spPr>
        <p:txBody>
          <a:bodyPr wrap="square" lIns="0" tIns="0" rIns="0" bIns="0" rtlCol="0" anchor="ctr"/>
          <a:lstStyle/>
          <a:p>
            <a:pPr algn="ctr" indent="0" marL="0">
              <a:lnSpc>
                <a:spcPct val="106000"/>
              </a:lnSpc>
              <a:buNone/>
            </a:pPr>
            <a:r>
              <a:rPr lang="en-US" sz="1040" b="1" dirty="0">
                <a:solidFill>
                  <a:srgbClr val="162B4C"/>
                </a:solidFill>
                <a:latin typeface="Arial" pitchFamily="34" charset="0"/>
                <a:ea typeface="Arial" pitchFamily="34" charset="-122"/>
                <a:cs typeface="Arial" pitchFamily="34" charset="-120"/>
              </a:rPr>
              <a:t>LAYER 3: ISOLATION DATA PLANES</a:t>
            </a:r>
            <a:endParaRPr lang="en-US" sz="1040" dirty="0"/>
          </a:p>
          <a:p>
            <a:pPr algn="ctr" indent="0" marL="0">
              <a:lnSpc>
                <a:spcPct val="106000"/>
              </a:lnSpc>
              <a:buNone/>
            </a:pPr>
            <a:r>
              <a:rPr lang="en-US" sz="1040" b="1" dirty="0">
                <a:solidFill>
                  <a:srgbClr val="162B4C"/>
                </a:solidFill>
                <a:latin typeface="Arial" pitchFamily="34" charset="0"/>
                <a:ea typeface="Arial" pitchFamily="34" charset="-122"/>
                <a:cs typeface="Arial" pitchFamily="34" charset="-120"/>
              </a:rPr>
              <a:t>(Maps to 4 Physical VPC-SC Perimeters)</a:t>
            </a:r>
            <a:endParaRPr lang="en-US" sz="1040" dirty="0"/>
          </a:p>
        </p:txBody>
      </p:sp>
      <p:sp>
        <p:nvSpPr>
          <p:cNvPr id="75" name="Shape 73"/>
          <p:cNvSpPr/>
          <p:nvPr/>
        </p:nvSpPr>
        <p:spPr>
          <a:xfrm>
            <a:off x="8558784" y="1645920"/>
            <a:ext cx="3047695" cy="4005072"/>
          </a:xfrm>
          <a:prstGeom prst="roundRect">
            <a:avLst>
              <a:gd name="adj" fmla="val 1500"/>
            </a:avLst>
          </a:prstGeom>
          <a:solidFill>
            <a:srgbClr val="0B1F3A"/>
          </a:solidFill>
          <a:ln w="12700">
            <a:solidFill>
              <a:srgbClr val="162B4C"/>
            </a:solidFill>
            <a:prstDash val="solid"/>
          </a:ln>
        </p:spPr>
      </p:sp>
      <p:sp>
        <p:nvSpPr>
          <p:cNvPr id="76" name="Shape 74"/>
          <p:cNvSpPr/>
          <p:nvPr/>
        </p:nvSpPr>
        <p:spPr>
          <a:xfrm>
            <a:off x="8705088" y="1792224"/>
            <a:ext cx="2755087" cy="987552"/>
          </a:xfrm>
          <a:prstGeom prst="roundRect">
            <a:avLst>
              <a:gd name="adj" fmla="val 5556"/>
            </a:avLst>
          </a:prstGeom>
          <a:solidFill>
            <a:srgbClr val="FFFFFF"/>
          </a:solidFill>
          <a:ln/>
        </p:spPr>
      </p:sp>
      <p:sp>
        <p:nvSpPr>
          <p:cNvPr id="77" name="Shape 75"/>
          <p:cNvSpPr/>
          <p:nvPr/>
        </p:nvSpPr>
        <p:spPr>
          <a:xfrm>
            <a:off x="9670694" y="1883664"/>
            <a:ext cx="822960" cy="329184"/>
          </a:xfrm>
          <a:prstGeom prst="roundRect">
            <a:avLst>
              <a:gd name="adj" fmla="val 13889"/>
            </a:avLst>
          </a:prstGeom>
          <a:solidFill>
            <a:srgbClr val="0D7377"/>
          </a:solidFill>
          <a:ln/>
        </p:spPr>
      </p:sp>
      <p:sp>
        <p:nvSpPr>
          <p:cNvPr id="78" name="Text 76"/>
          <p:cNvSpPr/>
          <p:nvPr/>
        </p:nvSpPr>
        <p:spPr>
          <a:xfrm>
            <a:off x="9670694" y="1883664"/>
            <a:ext cx="822960" cy="329184"/>
          </a:xfrm>
          <a:prstGeom prst="rect">
            <a:avLst/>
          </a:prstGeom>
          <a:noFill/>
          <a:ln/>
        </p:spPr>
        <p:txBody>
          <a:bodyPr wrap="square" lIns="0" tIns="0" rIns="0" bIns="0" rtlCol="0" anchor="ctr"/>
          <a:lstStyle/>
          <a:p>
            <a:pPr algn="ctr" indent="0" marL="0">
              <a:buNone/>
            </a:pPr>
            <a:r>
              <a:rPr lang="en-US" sz="940" b="1" dirty="0">
                <a:solidFill>
                  <a:srgbClr val="FFFFFF"/>
                </a:solidFill>
                <a:latin typeface="Arial" pitchFamily="34" charset="0"/>
                <a:ea typeface="Arial" pitchFamily="34" charset="-122"/>
                <a:cs typeface="Arial" pitchFamily="34" charset="-120"/>
              </a:rPr>
              <a:t>PAT A</a:t>
            </a:r>
            <a:endParaRPr lang="en-US" sz="940" dirty="0"/>
          </a:p>
        </p:txBody>
      </p:sp>
      <p:sp>
        <p:nvSpPr>
          <p:cNvPr id="79" name="Text 77"/>
          <p:cNvSpPr/>
          <p:nvPr/>
        </p:nvSpPr>
        <p:spPr>
          <a:xfrm>
            <a:off x="8778240" y="2267712"/>
            <a:ext cx="2608783" cy="438912"/>
          </a:xfrm>
          <a:prstGeom prst="rect">
            <a:avLst/>
          </a:prstGeom>
          <a:noFill/>
          <a:ln/>
        </p:spPr>
        <p:txBody>
          <a:bodyPr wrap="square" lIns="0" tIns="0" rIns="0" bIns="0" rtlCol="0" anchor="ctr"/>
          <a:lstStyle/>
          <a:p>
            <a:pPr algn="ctr" indent="0" marL="0">
              <a:lnSpc>
                <a:spcPct val="105000"/>
              </a:lnSpc>
              <a:buNone/>
            </a:pPr>
            <a:r>
              <a:rPr lang="en-US" sz="900" b="1" dirty="0">
                <a:solidFill>
                  <a:srgbClr val="1E293B"/>
                </a:solidFill>
                <a:latin typeface="Arial" pitchFamily="34" charset="0"/>
                <a:ea typeface="Arial" pitchFamily="34" charset="-122"/>
                <a:cs typeface="Arial" pitchFamily="34" charset="-120"/>
              </a:rPr>
              <a:t>Pattern A: Shared Pool &amp; AlloyDB RLS</a:t>
            </a:r>
            <a:endParaRPr lang="en-US" sz="900" dirty="0"/>
          </a:p>
          <a:p>
            <a:pPr algn="ctr" indent="0" marL="0">
              <a:lnSpc>
                <a:spcPct val="105000"/>
              </a:lnSpc>
              <a:buNone/>
            </a:pPr>
            <a:r>
              <a:rPr lang="en-US" sz="900" b="1" dirty="0">
                <a:solidFill>
                  <a:srgbClr val="1E293B"/>
                </a:solidFill>
                <a:latin typeface="Arial" pitchFamily="34" charset="0"/>
                <a:ea typeface="Arial" pitchFamily="34" charset="-122"/>
                <a:cs typeface="Arial" pitchFamily="34" charset="-120"/>
              </a:rPr>
              <a:t>(Perimeter 3)</a:t>
            </a:r>
            <a:endParaRPr lang="en-US" sz="900" dirty="0"/>
          </a:p>
        </p:txBody>
      </p:sp>
      <p:sp>
        <p:nvSpPr>
          <p:cNvPr id="80" name="Shape 78"/>
          <p:cNvSpPr/>
          <p:nvPr/>
        </p:nvSpPr>
        <p:spPr>
          <a:xfrm>
            <a:off x="10082174" y="2779776"/>
            <a:ext cx="0" cy="237744"/>
          </a:xfrm>
          <a:prstGeom prst="line">
            <a:avLst/>
          </a:prstGeom>
          <a:noFill/>
          <a:ln w="17780">
            <a:solidFill>
              <a:srgbClr val="FFFFFF"/>
            </a:solidFill>
            <a:prstDash val="solid"/>
            <a:tailEnd type="triangle" w="sm" len="sm"/>
          </a:ln>
        </p:spPr>
      </p:sp>
      <p:sp>
        <p:nvSpPr>
          <p:cNvPr id="81" name="Shape 79"/>
          <p:cNvSpPr/>
          <p:nvPr/>
        </p:nvSpPr>
        <p:spPr>
          <a:xfrm>
            <a:off x="8705088" y="3017520"/>
            <a:ext cx="2755087" cy="1097280"/>
          </a:xfrm>
          <a:prstGeom prst="roundRect">
            <a:avLst>
              <a:gd name="adj" fmla="val 5000"/>
            </a:avLst>
          </a:prstGeom>
          <a:solidFill>
            <a:srgbClr val="FFFFFF"/>
          </a:solidFill>
          <a:ln w="22225">
            <a:solidFill>
              <a:srgbClr val="D93025"/>
            </a:solidFill>
            <a:prstDash val="dash"/>
          </a:ln>
        </p:spPr>
      </p:sp>
      <p:sp>
        <p:nvSpPr>
          <p:cNvPr id="82" name="Shape 80"/>
          <p:cNvSpPr/>
          <p:nvPr/>
        </p:nvSpPr>
        <p:spPr>
          <a:xfrm>
            <a:off x="8851392" y="3127248"/>
            <a:ext cx="1157630" cy="329184"/>
          </a:xfrm>
          <a:prstGeom prst="roundRect">
            <a:avLst>
              <a:gd name="adj" fmla="val 13889"/>
            </a:avLst>
          </a:prstGeom>
          <a:solidFill>
            <a:srgbClr val="E8F0FE"/>
          </a:solidFill>
          <a:ln w="10160">
            <a:solidFill>
              <a:srgbClr val="4285F4"/>
            </a:solidFill>
            <a:prstDash val="solid"/>
          </a:ln>
        </p:spPr>
      </p:sp>
      <p:sp>
        <p:nvSpPr>
          <p:cNvPr id="83" name="Text 81"/>
          <p:cNvSpPr/>
          <p:nvPr/>
        </p:nvSpPr>
        <p:spPr>
          <a:xfrm>
            <a:off x="8851392" y="3127248"/>
            <a:ext cx="1157630" cy="329184"/>
          </a:xfrm>
          <a:prstGeom prst="rect">
            <a:avLst/>
          </a:prstGeom>
          <a:noFill/>
          <a:ln/>
        </p:spPr>
        <p:txBody>
          <a:bodyPr wrap="square" lIns="0" tIns="0" rIns="0" bIns="0" rtlCol="0" anchor="ctr"/>
          <a:lstStyle/>
          <a:p>
            <a:pPr algn="ctr" indent="0" marL="0">
              <a:buNone/>
            </a:pPr>
            <a:r>
              <a:rPr lang="en-US" sz="800" b="1" dirty="0">
                <a:solidFill>
                  <a:srgbClr val="174EA6"/>
                </a:solidFill>
                <a:latin typeface="Arial" pitchFamily="34" charset="0"/>
                <a:ea typeface="Arial" pitchFamily="34" charset="-122"/>
                <a:cs typeface="Arial" pitchFamily="34" charset="-120"/>
              </a:rPr>
              <a:t>PAT B • VPC-SC</a:t>
            </a:r>
            <a:endParaRPr lang="en-US" sz="800" dirty="0"/>
          </a:p>
        </p:txBody>
      </p:sp>
      <p:sp>
        <p:nvSpPr>
          <p:cNvPr id="84" name="Shape 82"/>
          <p:cNvSpPr/>
          <p:nvPr/>
        </p:nvSpPr>
        <p:spPr>
          <a:xfrm>
            <a:off x="10155326" y="3127248"/>
            <a:ext cx="1157630" cy="329184"/>
          </a:xfrm>
          <a:prstGeom prst="roundRect">
            <a:avLst>
              <a:gd name="adj" fmla="val 13889"/>
            </a:avLst>
          </a:prstGeom>
          <a:solidFill>
            <a:srgbClr val="E6F4EA"/>
          </a:solidFill>
          <a:ln w="10160">
            <a:solidFill>
              <a:srgbClr val="1E8E3E"/>
            </a:solidFill>
            <a:prstDash val="solid"/>
          </a:ln>
        </p:spPr>
      </p:sp>
      <p:sp>
        <p:nvSpPr>
          <p:cNvPr id="85" name="Text 83"/>
          <p:cNvSpPr/>
          <p:nvPr/>
        </p:nvSpPr>
        <p:spPr>
          <a:xfrm>
            <a:off x="10155326" y="3127248"/>
            <a:ext cx="1157630" cy="329184"/>
          </a:xfrm>
          <a:prstGeom prst="rect">
            <a:avLst/>
          </a:prstGeom>
          <a:noFill/>
          <a:ln/>
        </p:spPr>
        <p:txBody>
          <a:bodyPr wrap="square" lIns="0" tIns="0" rIns="0" bIns="0" rtlCol="0" anchor="ctr"/>
          <a:lstStyle/>
          <a:p>
            <a:pPr algn="ctr" indent="0" marL="0">
              <a:buNone/>
            </a:pPr>
            <a:r>
              <a:rPr lang="en-US" sz="800" b="1" dirty="0">
                <a:solidFill>
                  <a:srgbClr val="0D652D"/>
                </a:solidFill>
                <a:latin typeface="Arial" pitchFamily="34" charset="0"/>
                <a:ea typeface="Arial" pitchFamily="34" charset="-122"/>
                <a:cs typeface="Arial" pitchFamily="34" charset="-120"/>
              </a:rPr>
              <a:t>PAT C • /28 PSC</a:t>
            </a:r>
            <a:endParaRPr lang="en-US" sz="800" dirty="0"/>
          </a:p>
        </p:txBody>
      </p:sp>
      <p:sp>
        <p:nvSpPr>
          <p:cNvPr id="86" name="Text 84"/>
          <p:cNvSpPr/>
          <p:nvPr/>
        </p:nvSpPr>
        <p:spPr>
          <a:xfrm>
            <a:off x="8778240" y="3529584"/>
            <a:ext cx="2608783" cy="493776"/>
          </a:xfrm>
          <a:prstGeom prst="rect">
            <a:avLst/>
          </a:prstGeom>
          <a:noFill/>
          <a:ln/>
        </p:spPr>
        <p:txBody>
          <a:bodyPr wrap="square" lIns="0" tIns="0" rIns="0" bIns="0" rtlCol="0" anchor="ctr"/>
          <a:lstStyle/>
          <a:p>
            <a:pPr algn="ctr" indent="0" marL="0">
              <a:lnSpc>
                <a:spcPct val="105000"/>
              </a:lnSpc>
              <a:buNone/>
            </a:pPr>
            <a:r>
              <a:rPr lang="en-US" sz="900" b="1" dirty="0">
                <a:solidFill>
                  <a:srgbClr val="1E293B"/>
                </a:solidFill>
                <a:latin typeface="Arial" pitchFamily="34" charset="0"/>
                <a:ea typeface="Arial" pitchFamily="34" charset="-122"/>
                <a:cs typeface="Arial" pitchFamily="34" charset="-120"/>
              </a:rPr>
              <a:t>Sovereign Silo &amp; Hybrid PSC Spokes</a:t>
            </a:r>
            <a:endParaRPr lang="en-US" sz="900" dirty="0"/>
          </a:p>
          <a:p>
            <a:pPr algn="ctr" indent="0" marL="0">
              <a:lnSpc>
                <a:spcPct val="105000"/>
              </a:lnSpc>
              <a:buNone/>
            </a:pPr>
            <a:r>
              <a:rPr lang="en-US" sz="900" b="1" dirty="0">
                <a:solidFill>
                  <a:srgbClr val="1E293B"/>
                </a:solidFill>
                <a:latin typeface="Arial" pitchFamily="34" charset="0"/>
                <a:ea typeface="Arial" pitchFamily="34" charset="-122"/>
                <a:cs typeface="Arial" pitchFamily="34" charset="-120"/>
              </a:rPr>
              <a:t>(Perimeter 4)</a:t>
            </a:r>
            <a:endParaRPr lang="en-US" sz="900" dirty="0"/>
          </a:p>
        </p:txBody>
      </p:sp>
      <p:sp>
        <p:nvSpPr>
          <p:cNvPr id="87" name="Shape 85"/>
          <p:cNvSpPr/>
          <p:nvPr/>
        </p:nvSpPr>
        <p:spPr>
          <a:xfrm>
            <a:off x="9460382" y="4114800"/>
            <a:ext cx="0" cy="256032"/>
          </a:xfrm>
          <a:prstGeom prst="line">
            <a:avLst/>
          </a:prstGeom>
          <a:noFill/>
          <a:ln w="16510">
            <a:solidFill>
              <a:srgbClr val="FFFFFF"/>
            </a:solidFill>
            <a:prstDash val="solid"/>
            <a:headEnd type="triangle" w="sm" len="sm"/>
            <a:tailEnd type="triangle" w="sm" len="sm"/>
          </a:ln>
        </p:spPr>
      </p:sp>
      <p:sp>
        <p:nvSpPr>
          <p:cNvPr id="88" name="Shape 86"/>
          <p:cNvSpPr/>
          <p:nvPr/>
        </p:nvSpPr>
        <p:spPr>
          <a:xfrm>
            <a:off x="10082174" y="4114800"/>
            <a:ext cx="0" cy="256032"/>
          </a:xfrm>
          <a:prstGeom prst="line">
            <a:avLst/>
          </a:prstGeom>
          <a:noFill/>
          <a:ln w="16510">
            <a:solidFill>
              <a:srgbClr val="FFFFFF"/>
            </a:solidFill>
            <a:prstDash val="solid"/>
            <a:headEnd type="triangle" w="sm" len="sm"/>
            <a:tailEnd type="triangle" w="sm" len="sm"/>
          </a:ln>
        </p:spPr>
      </p:sp>
      <p:sp>
        <p:nvSpPr>
          <p:cNvPr id="89" name="Shape 87"/>
          <p:cNvSpPr/>
          <p:nvPr/>
        </p:nvSpPr>
        <p:spPr>
          <a:xfrm>
            <a:off x="10703966" y="4114800"/>
            <a:ext cx="0" cy="256032"/>
          </a:xfrm>
          <a:prstGeom prst="line">
            <a:avLst/>
          </a:prstGeom>
          <a:noFill/>
          <a:ln w="16510">
            <a:solidFill>
              <a:srgbClr val="FFFFFF"/>
            </a:solidFill>
            <a:prstDash val="solid"/>
            <a:headEnd type="triangle" w="sm" len="sm"/>
            <a:tailEnd type="triangle" w="sm" len="sm"/>
          </a:ln>
        </p:spPr>
      </p:sp>
      <p:sp>
        <p:nvSpPr>
          <p:cNvPr id="90" name="Shape 88"/>
          <p:cNvSpPr/>
          <p:nvPr/>
        </p:nvSpPr>
        <p:spPr>
          <a:xfrm>
            <a:off x="8705088" y="4370832"/>
            <a:ext cx="2755087" cy="1133856"/>
          </a:xfrm>
          <a:prstGeom prst="roundRect">
            <a:avLst>
              <a:gd name="adj" fmla="val 4839"/>
            </a:avLst>
          </a:prstGeom>
          <a:solidFill>
            <a:srgbClr val="FFFFFF"/>
          </a:solidFill>
          <a:ln/>
        </p:spPr>
      </p:sp>
      <p:sp>
        <p:nvSpPr>
          <p:cNvPr id="91" name="Shape 89"/>
          <p:cNvSpPr/>
          <p:nvPr/>
        </p:nvSpPr>
        <p:spPr>
          <a:xfrm>
            <a:off x="9670694" y="4480560"/>
            <a:ext cx="822960" cy="329184"/>
          </a:xfrm>
          <a:prstGeom prst="roundRect">
            <a:avLst>
              <a:gd name="adj" fmla="val 13889"/>
            </a:avLst>
          </a:prstGeom>
          <a:solidFill>
            <a:srgbClr val="475569"/>
          </a:solidFill>
          <a:ln/>
        </p:spPr>
      </p:sp>
      <p:sp>
        <p:nvSpPr>
          <p:cNvPr id="92" name="Text 90"/>
          <p:cNvSpPr/>
          <p:nvPr/>
        </p:nvSpPr>
        <p:spPr>
          <a:xfrm>
            <a:off x="9670694" y="4480560"/>
            <a:ext cx="822960"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OTel</a:t>
            </a:r>
            <a:endParaRPr lang="en-US" sz="900" dirty="0"/>
          </a:p>
        </p:txBody>
      </p:sp>
      <p:sp>
        <p:nvSpPr>
          <p:cNvPr id="93" name="Text 91"/>
          <p:cNvSpPr/>
          <p:nvPr/>
        </p:nvSpPr>
        <p:spPr>
          <a:xfrm>
            <a:off x="8778240" y="4864608"/>
            <a:ext cx="2608783" cy="548640"/>
          </a:xfrm>
          <a:prstGeom prst="rect">
            <a:avLst/>
          </a:prstGeom>
          <a:noFill/>
          <a:ln/>
        </p:spPr>
        <p:txBody>
          <a:bodyPr wrap="square" lIns="0" tIns="0" rIns="0" bIns="0" rtlCol="0" anchor="ctr"/>
          <a:lstStyle/>
          <a:p>
            <a:pPr algn="ctr" indent="0" marL="0">
              <a:lnSpc>
                <a:spcPct val="105000"/>
              </a:lnSpc>
              <a:buNone/>
            </a:pPr>
            <a:r>
              <a:rPr lang="en-US" sz="900" b="1" dirty="0">
                <a:solidFill>
                  <a:srgbClr val="1E293B"/>
                </a:solidFill>
                <a:latin typeface="Arial" pitchFamily="34" charset="0"/>
                <a:ea typeface="Arial" pitchFamily="34" charset="-122"/>
                <a:cs typeface="Arial" pitchFamily="34" charset="-120"/>
              </a:rPr>
              <a:t>Hop 5: 2LO/3LO MCP &amp; Governance Hub</a:t>
            </a:r>
            <a:endParaRPr lang="en-US" sz="900" dirty="0"/>
          </a:p>
          <a:p>
            <a:pPr algn="ctr" indent="0" marL="0">
              <a:lnSpc>
                <a:spcPct val="105000"/>
              </a:lnSpc>
              <a:buNone/>
            </a:pPr>
            <a:r>
              <a:rPr lang="en-US" sz="900" b="1" dirty="0">
                <a:solidFill>
                  <a:srgbClr val="1E293B"/>
                </a:solidFill>
                <a:latin typeface="Arial" pitchFamily="34" charset="0"/>
                <a:ea typeface="Arial" pitchFamily="34" charset="-122"/>
                <a:cs typeface="Arial" pitchFamily="34" charset="-120"/>
              </a:rPr>
              <a:t>(Perimeters 1–2)</a:t>
            </a:r>
            <a:endParaRPr lang="en-US" sz="900" dirty="0"/>
          </a:p>
        </p:txBody>
      </p:sp>
      <p:sp>
        <p:nvSpPr>
          <p:cNvPr id="94" name="Shape 92"/>
          <p:cNvSpPr/>
          <p:nvPr/>
        </p:nvSpPr>
        <p:spPr>
          <a:xfrm>
            <a:off x="438912" y="5943600"/>
            <a:ext cx="11313871" cy="420624"/>
          </a:xfrm>
          <a:prstGeom prst="roundRect">
            <a:avLst>
              <a:gd name="adj" fmla="val 13043"/>
            </a:avLst>
          </a:prstGeom>
          <a:solidFill>
            <a:srgbClr val="EFF6FF"/>
          </a:solidFill>
          <a:ln w="11430">
            <a:solidFill>
              <a:srgbClr val="BFDBFE"/>
            </a:solidFill>
            <a:prstDash val="solid"/>
          </a:ln>
        </p:spPr>
      </p:sp>
      <p:sp>
        <p:nvSpPr>
          <p:cNvPr id="95" name="Shape 93"/>
          <p:cNvSpPr/>
          <p:nvPr/>
        </p:nvSpPr>
        <p:spPr>
          <a:xfrm>
            <a:off x="530352" y="6025896"/>
            <a:ext cx="1353312" cy="256032"/>
          </a:xfrm>
          <a:prstGeom prst="roundRect">
            <a:avLst>
              <a:gd name="adj" fmla="val 17857"/>
            </a:avLst>
          </a:prstGeom>
          <a:solidFill>
            <a:srgbClr val="1D4ED8"/>
          </a:solidFill>
          <a:ln/>
        </p:spPr>
      </p:sp>
      <p:sp>
        <p:nvSpPr>
          <p:cNvPr id="96" name="Text 94"/>
          <p:cNvSpPr/>
          <p:nvPr/>
        </p:nvSpPr>
        <p:spPr>
          <a:xfrm>
            <a:off x="530352" y="6025896"/>
            <a:ext cx="1353312" cy="256032"/>
          </a:xfrm>
          <a:prstGeom prst="rect">
            <a:avLst/>
          </a:prstGeom>
          <a:noFill/>
          <a:ln/>
        </p:spPr>
        <p:txBody>
          <a:bodyPr wrap="square" lIns="0" tIns="0" rIns="0" bIns="0" rtlCol="0" anchor="ctr"/>
          <a:lstStyle/>
          <a:p>
            <a:pPr algn="ctr" indent="0" marL="0">
              <a:lnSpc>
                <a:spcPct val="105000"/>
              </a:lnSpc>
              <a:buNone/>
            </a:pPr>
            <a:r>
              <a:rPr lang="en-US" sz="650" b="1" dirty="0">
                <a:solidFill>
                  <a:srgbClr val="FFFFFF"/>
                </a:solidFill>
                <a:latin typeface="Arial" pitchFamily="34" charset="0"/>
                <a:ea typeface="Arial" pitchFamily="34" charset="-122"/>
                <a:cs typeface="Arial" pitchFamily="34" charset="-120"/>
              </a:rPr>
              <a:t>LOGICAL → PHYSICAL</a:t>
            </a:r>
            <a:endParaRPr lang="en-US" sz="650" dirty="0"/>
          </a:p>
        </p:txBody>
      </p:sp>
      <p:sp>
        <p:nvSpPr>
          <p:cNvPr id="97" name="Text 95"/>
          <p:cNvSpPr/>
          <p:nvPr/>
        </p:nvSpPr>
        <p:spPr>
          <a:xfrm>
            <a:off x="1993392" y="5980176"/>
            <a:ext cx="7555687" cy="347472"/>
          </a:xfrm>
          <a:prstGeom prst="rect">
            <a:avLst/>
          </a:prstGeom>
          <a:noFill/>
          <a:ln/>
        </p:spPr>
        <p:txBody>
          <a:bodyPr wrap="square" lIns="0" tIns="0" rIns="0" bIns="0" rtlCol="0" anchor="ctr"/>
          <a:lstStyle/>
          <a:p>
            <a:pPr algn="l" indent="0" marL="0">
              <a:lnSpc>
                <a:spcPct val="108000"/>
              </a:lnSpc>
              <a:buNone/>
            </a:pPr>
            <a:r>
              <a:rPr lang="en-US" sz="860" b="1" dirty="0">
                <a:solidFill>
                  <a:srgbClr val="0F172A"/>
                </a:solidFill>
                <a:latin typeface="Arial" pitchFamily="34" charset="0"/>
                <a:ea typeface="Arial" pitchFamily="34" charset="-122"/>
                <a:cs typeface="Arial" pitchFamily="34" charset="-120"/>
              </a:rPr>
              <a:t>Layer 3 maps every logical pattern onto the exact 4 VPC-SC perimeters (Perimeters 1–2 Hubs, Perimeter 3 Pool, Perimeter 4 Silo/PSC) deployed in Figures 1 &amp; 2 next.</a:t>
            </a:r>
            <a:endParaRPr lang="en-US" sz="860" dirty="0"/>
          </a:p>
        </p:txBody>
      </p:sp>
      <p:sp>
        <p:nvSpPr>
          <p:cNvPr id="98" name="Shape 96"/>
          <p:cNvSpPr/>
          <p:nvPr/>
        </p:nvSpPr>
        <p:spPr>
          <a:xfrm>
            <a:off x="9695383" y="6025896"/>
            <a:ext cx="1965960" cy="256032"/>
          </a:xfrm>
          <a:prstGeom prst="roundRect">
            <a:avLst>
              <a:gd name="adj" fmla="val 17857"/>
            </a:avLst>
          </a:prstGeom>
          <a:solidFill>
            <a:srgbClr val="FFFFFF"/>
          </a:solidFill>
          <a:ln w="10795">
            <a:solidFill>
              <a:srgbClr val="1D4ED8"/>
            </a:solidFill>
            <a:prstDash val="solid"/>
          </a:ln>
        </p:spPr>
      </p:sp>
      <p:sp>
        <p:nvSpPr>
          <p:cNvPr id="99" name="Text 97"/>
          <p:cNvSpPr/>
          <p:nvPr/>
        </p:nvSpPr>
        <p:spPr>
          <a:xfrm>
            <a:off x="9695383" y="6025896"/>
            <a:ext cx="1965960" cy="256032"/>
          </a:xfrm>
          <a:prstGeom prst="rect">
            <a:avLst/>
          </a:prstGeom>
          <a:noFill/>
          <a:ln/>
        </p:spPr>
        <p:txBody>
          <a:bodyPr wrap="square" lIns="0" tIns="0" rIns="0" bIns="0" rtlCol="0" anchor="ctr"/>
          <a:lstStyle/>
          <a:p>
            <a:pPr algn="ctr" indent="0" marL="0">
              <a:lnSpc>
                <a:spcPct val="105000"/>
              </a:lnSpc>
              <a:buNone/>
            </a:pPr>
            <a:r>
              <a:rPr lang="en-US" sz="740" b="1" dirty="0">
                <a:solidFill>
                  <a:srgbClr val="1D4ED8"/>
                </a:solidFill>
                <a:latin typeface="Arial" pitchFamily="34" charset="0"/>
                <a:ea typeface="Arial" pitchFamily="34" charset="-122"/>
                <a:cs typeface="Arial" pitchFamily="34" charset="-120"/>
              </a:rPr>
              <a:t>3 Layers → 4 VPC-SC Perimeters</a:t>
            </a:r>
            <a:endParaRPr lang="en-US" sz="7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1148"/>
          </a:xfrm>
          <a:prstGeom prst="rect">
            <a:avLst/>
          </a:prstGeom>
          <a:solidFill>
            <a:srgbClr val="1D4ED8"/>
          </a:solidFill>
          <a:ln/>
        </p:spPr>
      </p:sp>
      <p:sp>
        <p:nvSpPr>
          <p:cNvPr id="3" name="Shape 1"/>
          <p:cNvSpPr/>
          <p:nvPr/>
        </p:nvSpPr>
        <p:spPr>
          <a:xfrm>
            <a:off x="438912" y="128016"/>
            <a:ext cx="59436" cy="493776"/>
          </a:xfrm>
          <a:prstGeom prst="roundRect">
            <a:avLst>
              <a:gd name="adj" fmla="val 46154"/>
            </a:avLst>
          </a:prstGeom>
          <a:solidFill>
            <a:srgbClr val="1D4ED8"/>
          </a:solidFill>
          <a:ln/>
        </p:spPr>
      </p:sp>
      <p:sp>
        <p:nvSpPr>
          <p:cNvPr id="4" name="Text 2"/>
          <p:cNvSpPr/>
          <p:nvPr/>
        </p:nvSpPr>
        <p:spPr>
          <a:xfrm>
            <a:off x="576072" y="109728"/>
            <a:ext cx="4389120" cy="146304"/>
          </a:xfrm>
          <a:prstGeom prst="rect">
            <a:avLst/>
          </a:prstGeom>
          <a:noFill/>
          <a:ln/>
        </p:spPr>
        <p:txBody>
          <a:bodyPr wrap="square" lIns="0" tIns="0" rIns="0" bIns="0" rtlCol="0" anchor="ctr"/>
          <a:lstStyle/>
          <a:p>
            <a:pPr algn="l" indent="0" marL="0">
              <a:lnSpc>
                <a:spcPct val="105000"/>
              </a:lnSpc>
              <a:buNone/>
            </a:pPr>
            <a:r>
              <a:rPr lang="en-US" sz="750" b="1" spc="110" kern="0" dirty="0">
                <a:solidFill>
                  <a:srgbClr val="1D4ED8"/>
                </a:solidFill>
                <a:latin typeface="Arial" pitchFamily="34" charset="0"/>
                <a:ea typeface="Arial" pitchFamily="34" charset="-122"/>
                <a:cs typeface="Arial" pitchFamily="34" charset="-120"/>
              </a:rPr>
              <a:t>04 / LOGICAL &amp; PHYSICAL</a:t>
            </a:r>
            <a:endParaRPr lang="en-US" sz="750" dirty="0"/>
          </a:p>
        </p:txBody>
      </p:sp>
      <p:sp>
        <p:nvSpPr>
          <p:cNvPr id="5" name="Shape 3"/>
          <p:cNvSpPr/>
          <p:nvPr/>
        </p:nvSpPr>
        <p:spPr>
          <a:xfrm>
            <a:off x="8183880" y="155448"/>
            <a:ext cx="228600" cy="59436"/>
          </a:xfrm>
          <a:prstGeom prst="roundRect">
            <a:avLst>
              <a:gd name="adj" fmla="val 46154"/>
            </a:avLst>
          </a:prstGeom>
          <a:solidFill>
            <a:srgbClr val="94A3B8"/>
          </a:solidFill>
          <a:ln/>
        </p:spPr>
      </p:sp>
      <p:sp>
        <p:nvSpPr>
          <p:cNvPr id="6" name="Shape 4"/>
          <p:cNvSpPr/>
          <p:nvPr/>
        </p:nvSpPr>
        <p:spPr>
          <a:xfrm>
            <a:off x="8453628" y="155448"/>
            <a:ext cx="228600" cy="59436"/>
          </a:xfrm>
          <a:prstGeom prst="roundRect">
            <a:avLst>
              <a:gd name="adj" fmla="val 46154"/>
            </a:avLst>
          </a:prstGeom>
          <a:solidFill>
            <a:srgbClr val="94A3B8"/>
          </a:solidFill>
          <a:ln/>
        </p:spPr>
      </p:sp>
      <p:sp>
        <p:nvSpPr>
          <p:cNvPr id="7" name="Shape 5"/>
          <p:cNvSpPr/>
          <p:nvPr/>
        </p:nvSpPr>
        <p:spPr>
          <a:xfrm>
            <a:off x="8723376" y="155448"/>
            <a:ext cx="228600" cy="59436"/>
          </a:xfrm>
          <a:prstGeom prst="roundRect">
            <a:avLst>
              <a:gd name="adj" fmla="val 46154"/>
            </a:avLst>
          </a:prstGeom>
          <a:solidFill>
            <a:srgbClr val="94A3B8"/>
          </a:solidFill>
          <a:ln/>
        </p:spPr>
      </p:sp>
      <p:sp>
        <p:nvSpPr>
          <p:cNvPr id="8" name="Shape 6"/>
          <p:cNvSpPr/>
          <p:nvPr/>
        </p:nvSpPr>
        <p:spPr>
          <a:xfrm>
            <a:off x="8993124" y="155448"/>
            <a:ext cx="228600" cy="59436"/>
          </a:xfrm>
          <a:prstGeom prst="roundRect">
            <a:avLst>
              <a:gd name="adj" fmla="val 46154"/>
            </a:avLst>
          </a:prstGeom>
          <a:solidFill>
            <a:srgbClr val="1D4ED8"/>
          </a:solidFill>
          <a:ln/>
        </p:spPr>
      </p:sp>
      <p:sp>
        <p:nvSpPr>
          <p:cNvPr id="9" name="Shape 7"/>
          <p:cNvSpPr/>
          <p:nvPr/>
        </p:nvSpPr>
        <p:spPr>
          <a:xfrm>
            <a:off x="9262872" y="155448"/>
            <a:ext cx="228600" cy="59436"/>
          </a:xfrm>
          <a:prstGeom prst="roundRect">
            <a:avLst>
              <a:gd name="adj" fmla="val 46154"/>
            </a:avLst>
          </a:prstGeom>
          <a:solidFill>
            <a:srgbClr val="E2E8F0"/>
          </a:solidFill>
          <a:ln/>
        </p:spPr>
      </p:sp>
      <p:sp>
        <p:nvSpPr>
          <p:cNvPr id="10" name="Shape 8"/>
          <p:cNvSpPr/>
          <p:nvPr/>
        </p:nvSpPr>
        <p:spPr>
          <a:xfrm>
            <a:off x="9532620" y="155448"/>
            <a:ext cx="228600" cy="59436"/>
          </a:xfrm>
          <a:prstGeom prst="roundRect">
            <a:avLst>
              <a:gd name="adj" fmla="val 46154"/>
            </a:avLst>
          </a:prstGeom>
          <a:solidFill>
            <a:srgbClr val="E2E8F0"/>
          </a:solidFill>
          <a:ln/>
        </p:spPr>
      </p:sp>
      <p:sp>
        <p:nvSpPr>
          <p:cNvPr id="11" name="Shape 9"/>
          <p:cNvSpPr/>
          <p:nvPr/>
        </p:nvSpPr>
        <p:spPr>
          <a:xfrm>
            <a:off x="9802368" y="155448"/>
            <a:ext cx="228600" cy="59436"/>
          </a:xfrm>
          <a:prstGeom prst="roundRect">
            <a:avLst>
              <a:gd name="adj" fmla="val 46154"/>
            </a:avLst>
          </a:prstGeom>
          <a:solidFill>
            <a:srgbClr val="E2E8F0"/>
          </a:solidFill>
          <a:ln/>
        </p:spPr>
      </p:sp>
      <p:sp>
        <p:nvSpPr>
          <p:cNvPr id="12" name="Shape 10"/>
          <p:cNvSpPr/>
          <p:nvPr/>
        </p:nvSpPr>
        <p:spPr>
          <a:xfrm>
            <a:off x="10131552" y="91440"/>
            <a:ext cx="1621231" cy="192024"/>
          </a:xfrm>
          <a:prstGeom prst="roundRect">
            <a:avLst>
              <a:gd name="adj" fmla="val 23810"/>
            </a:avLst>
          </a:prstGeom>
          <a:solidFill>
            <a:srgbClr val="FFFFFF"/>
          </a:solidFill>
          <a:ln w="9525">
            <a:solidFill>
              <a:srgbClr val="CBD5E1"/>
            </a:solidFill>
            <a:prstDash val="solid"/>
          </a:ln>
        </p:spPr>
      </p:sp>
      <p:sp>
        <p:nvSpPr>
          <p:cNvPr id="13" name="Text 11"/>
          <p:cNvSpPr/>
          <p:nvPr/>
        </p:nvSpPr>
        <p:spPr>
          <a:xfrm>
            <a:off x="10131552" y="91440"/>
            <a:ext cx="1621231" cy="192024"/>
          </a:xfrm>
          <a:prstGeom prst="rect">
            <a:avLst/>
          </a:prstGeom>
          <a:noFill/>
          <a:ln/>
        </p:spPr>
        <p:txBody>
          <a:bodyPr wrap="square" lIns="0" tIns="0" rIns="0" bIns="0" rtlCol="0" anchor="ctr"/>
          <a:lstStyle/>
          <a:p>
            <a:pPr algn="ctr" indent="0" marL="0">
              <a:lnSpc>
                <a:spcPct val="105000"/>
              </a:lnSpc>
              <a:buNone/>
            </a:pPr>
            <a:r>
              <a:rPr lang="en-US" sz="680" b="1" spc="60" kern="0" dirty="0">
                <a:solidFill>
                  <a:srgbClr val="1D4ED8"/>
                </a:solidFill>
                <a:latin typeface="Arial" pitchFamily="34" charset="0"/>
                <a:ea typeface="Arial" pitchFamily="34" charset="-122"/>
                <a:cs typeface="Arial" pitchFamily="34" charset="-120"/>
              </a:rPr>
              <a:t>EDITABLE DRAW.IO • FIG 1</a:t>
            </a:r>
            <a:endParaRPr lang="en-US" sz="680" dirty="0"/>
          </a:p>
        </p:txBody>
      </p:sp>
      <p:sp>
        <p:nvSpPr>
          <p:cNvPr id="14" name="Text 12"/>
          <p:cNvSpPr/>
          <p:nvPr/>
        </p:nvSpPr>
        <p:spPr>
          <a:xfrm>
            <a:off x="576072" y="256032"/>
            <a:ext cx="11176711" cy="256032"/>
          </a:xfrm>
          <a:prstGeom prst="rect">
            <a:avLst/>
          </a:prstGeom>
          <a:noFill/>
          <a:ln/>
        </p:spPr>
        <p:txBody>
          <a:bodyPr wrap="square" lIns="0" tIns="0" rIns="0" bIns="0" rtlCol="0" anchor="ctr"/>
          <a:lstStyle/>
          <a:p>
            <a:pPr algn="l" indent="0" marL="0">
              <a:lnSpc>
                <a:spcPct val="104000"/>
              </a:lnSpc>
              <a:buNone/>
            </a:pPr>
            <a:r>
              <a:rPr lang="en-US" sz="1600" b="1" dirty="0">
                <a:solidFill>
                  <a:srgbClr val="0F172A"/>
                </a:solidFill>
                <a:latin typeface="Arial" pitchFamily="34" charset="0"/>
                <a:ea typeface="Arial" pitchFamily="34" charset="-122"/>
                <a:cs typeface="Arial" pitchFamily="34" charset="-120"/>
              </a:rPr>
              <a:t>Physical Blueprint 1 (Figure 1): Hub-and-Spoke Multi-Tenant Taxonomy on GCP</a:t>
            </a:r>
            <a:endParaRPr lang="en-US" sz="1600" dirty="0"/>
          </a:p>
        </p:txBody>
      </p:sp>
      <p:sp>
        <p:nvSpPr>
          <p:cNvPr id="15" name="Text 13"/>
          <p:cNvSpPr/>
          <p:nvPr/>
        </p:nvSpPr>
        <p:spPr>
          <a:xfrm>
            <a:off x="576072" y="512064"/>
            <a:ext cx="11176711" cy="164592"/>
          </a:xfrm>
          <a:prstGeom prst="rect">
            <a:avLst/>
          </a:prstGeom>
          <a:noFill/>
          <a:ln/>
        </p:spPr>
        <p:txBody>
          <a:bodyPr wrap="square" lIns="0" tIns="0" rIns="0" bIns="0" rtlCol="0" anchor="ctr"/>
          <a:lstStyle/>
          <a:p>
            <a:pPr algn="l" indent="0" marL="0">
              <a:lnSpc>
                <a:spcPct val="104000"/>
              </a:lnSpc>
              <a:buNone/>
            </a:pPr>
            <a:r>
              <a:rPr lang="en-US" sz="830" dirty="0">
                <a:solidFill>
                  <a:srgbClr val="64748B"/>
                </a:solidFill>
                <a:latin typeface="Arial" pitchFamily="34" charset="0"/>
                <a:ea typeface="Arial" pitchFamily="34" charset="-122"/>
                <a:cs typeface="Arial" pitchFamily="34" charset="-120"/>
              </a:rPr>
              <a:t>Maximized unstretched (1:1 aspect) 100% editable Draw.io (#78) topology mapping our 80% hub into Pooled (Pattern A) and Silo/PSC (Patterns B &amp; C) spokes.</a:t>
            </a:r>
            <a:endParaRPr lang="en-US" sz="830" dirty="0"/>
          </a:p>
        </p:txBody>
      </p:sp>
      <p:sp>
        <p:nvSpPr>
          <p:cNvPr id="16" name="Shape 14"/>
          <p:cNvSpPr/>
          <p:nvPr/>
        </p:nvSpPr>
        <p:spPr>
          <a:xfrm>
            <a:off x="438912" y="713232"/>
            <a:ext cx="11313871" cy="0"/>
          </a:xfrm>
          <a:prstGeom prst="line">
            <a:avLst/>
          </a:prstGeom>
          <a:noFill/>
          <a:ln w="10795">
            <a:solidFill>
              <a:srgbClr val="E2E8F0"/>
            </a:solidFill>
            <a:prstDash val="solid"/>
          </a:ln>
        </p:spPr>
      </p:sp>
      <p:sp>
        <p:nvSpPr>
          <p:cNvPr id="17" name="Shape 15"/>
          <p:cNvSpPr/>
          <p:nvPr/>
        </p:nvSpPr>
        <p:spPr>
          <a:xfrm>
            <a:off x="438912" y="6547104"/>
            <a:ext cx="11313871" cy="0"/>
          </a:xfrm>
          <a:prstGeom prst="line">
            <a:avLst/>
          </a:prstGeom>
          <a:noFill/>
          <a:ln w="9525">
            <a:solidFill>
              <a:srgbClr val="E2E8F0"/>
            </a:solidFill>
            <a:prstDash val="solid"/>
          </a:ln>
        </p:spPr>
      </p:sp>
      <p:sp>
        <p:nvSpPr>
          <p:cNvPr id="18" name="Text 16"/>
          <p:cNvSpPr/>
          <p:nvPr/>
        </p:nvSpPr>
        <p:spPr>
          <a:xfrm>
            <a:off x="438912" y="6574536"/>
            <a:ext cx="5852160" cy="192024"/>
          </a:xfrm>
          <a:prstGeom prst="rect">
            <a:avLst/>
          </a:prstGeom>
          <a:noFill/>
          <a:ln/>
        </p:spPr>
        <p:txBody>
          <a:bodyPr wrap="square" lIns="0" tIns="0" rIns="0" bIns="0" rtlCol="0" anchor="ctr"/>
          <a:lstStyle/>
          <a:p>
            <a:pPr algn="l" indent="0" marL="0">
              <a:lnSpc>
                <a:spcPct val="105000"/>
              </a:lnSpc>
              <a:buNone/>
            </a:pPr>
            <a:r>
              <a:rPr lang="en-US" sz="680" b="1" spc="40" kern="0" dirty="0">
                <a:solidFill>
                  <a:srgbClr val="64748B"/>
                </a:solidFill>
                <a:latin typeface="Arial" pitchFamily="34" charset="0"/>
                <a:ea typeface="Arial" pitchFamily="34" charset="-122"/>
                <a:cs typeface="Arial" pitchFamily="34" charset="-120"/>
              </a:rPr>
              <a:t>GOOGLE CLOUD AI ARCHITECTURE  •  BLOG 1: MULTI-TENANT AGENTIC AI TAXONOMY &amp; 5-HOP BASELINE</a:t>
            </a:r>
            <a:endParaRPr lang="en-US" sz="680" dirty="0"/>
          </a:p>
        </p:txBody>
      </p:sp>
      <p:sp>
        <p:nvSpPr>
          <p:cNvPr id="19" name="Text 17"/>
          <p:cNvSpPr/>
          <p:nvPr/>
        </p:nvSpPr>
        <p:spPr>
          <a:xfrm>
            <a:off x="6355080" y="6574536"/>
            <a:ext cx="4206240" cy="192024"/>
          </a:xfrm>
          <a:prstGeom prst="rect">
            <a:avLst/>
          </a:prstGeom>
          <a:noFill/>
          <a:ln/>
        </p:spPr>
        <p:txBody>
          <a:bodyPr wrap="square" lIns="0" tIns="0" rIns="0" bIns="0" rtlCol="0" anchor="ctr"/>
          <a:lstStyle/>
          <a:p>
            <a:pPr algn="r" indent="0" marL="0">
              <a:lnSpc>
                <a:spcPct val="105000"/>
              </a:lnSpc>
              <a:buNone/>
            </a:pPr>
            <a:r>
              <a:rPr lang="en-US" sz="680" dirty="0">
                <a:solidFill>
                  <a:srgbClr val="64748B"/>
                </a:solidFill>
                <a:latin typeface="Arial" pitchFamily="34" charset="0"/>
                <a:ea typeface="Arial" pitchFamily="34" charset="-122"/>
                <a:cs typeface="Arial" pitchFamily="34" charset="-120"/>
              </a:rPr>
              <a:t>diagrams/ws1-multi-tenant-taxonomy-overview.drawio  •  100% Native Editable Shapes (#78)</a:t>
            </a:r>
            <a:endParaRPr lang="en-US" sz="680" dirty="0"/>
          </a:p>
        </p:txBody>
      </p:sp>
      <p:sp>
        <p:nvSpPr>
          <p:cNvPr id="20" name="Shape 18"/>
          <p:cNvSpPr/>
          <p:nvPr/>
        </p:nvSpPr>
        <p:spPr>
          <a:xfrm>
            <a:off x="11002975" y="6574536"/>
            <a:ext cx="749808" cy="192024"/>
          </a:xfrm>
          <a:prstGeom prst="roundRect">
            <a:avLst>
              <a:gd name="adj" fmla="val 19048"/>
            </a:avLst>
          </a:prstGeom>
          <a:solidFill>
            <a:srgbClr val="F1F5F9"/>
          </a:solidFill>
          <a:ln w="7620">
            <a:solidFill>
              <a:srgbClr val="E2E8F0"/>
            </a:solidFill>
            <a:prstDash val="solid"/>
          </a:ln>
        </p:spPr>
      </p:sp>
      <p:sp>
        <p:nvSpPr>
          <p:cNvPr id="21" name="Text 19"/>
          <p:cNvSpPr/>
          <p:nvPr/>
        </p:nvSpPr>
        <p:spPr>
          <a:xfrm>
            <a:off x="11002975" y="6574536"/>
            <a:ext cx="749808" cy="192024"/>
          </a:xfrm>
          <a:prstGeom prst="rect">
            <a:avLst/>
          </a:prstGeom>
          <a:noFill/>
          <a:ln/>
        </p:spPr>
        <p:txBody>
          <a:bodyPr wrap="square" lIns="0" tIns="0" rIns="0" bIns="0" rtlCol="0" anchor="ctr"/>
          <a:lstStyle/>
          <a:p>
            <a:pPr algn="ctr" indent="0" marL="0">
              <a:lnSpc>
                <a:spcPct val="105000"/>
              </a:lnSpc>
              <a:buNone/>
            </a:pPr>
            <a:r>
              <a:rPr lang="en-US" sz="700" b="1" dirty="0">
                <a:solidFill>
                  <a:srgbClr val="334155"/>
                </a:solidFill>
                <a:latin typeface="Arial" pitchFamily="34" charset="0"/>
                <a:ea typeface="Arial" pitchFamily="34" charset="-122"/>
                <a:cs typeface="Arial" pitchFamily="34" charset="-120"/>
              </a:rPr>
              <a:t>08 / 23</a:t>
            </a:r>
            <a:endParaRPr lang="en-US" sz="700" dirty="0"/>
          </a:p>
        </p:txBody>
      </p:sp>
      <p:sp>
        <p:nvSpPr>
          <p:cNvPr id="22" name="Shape 20"/>
          <p:cNvSpPr/>
          <p:nvPr/>
        </p:nvSpPr>
        <p:spPr>
          <a:xfrm>
            <a:off x="461772" y="793699"/>
            <a:ext cx="5084064" cy="5724144"/>
          </a:xfrm>
          <a:prstGeom prst="roundRect">
            <a:avLst>
              <a:gd name="adj" fmla="val 1259"/>
            </a:avLst>
          </a:prstGeom>
          <a:solidFill>
            <a:srgbClr val="E2E8F0"/>
          </a:solidFill>
          <a:ln/>
        </p:spPr>
      </p:sp>
      <p:sp>
        <p:nvSpPr>
          <p:cNvPr id="23" name="Shape 21"/>
          <p:cNvSpPr/>
          <p:nvPr/>
        </p:nvSpPr>
        <p:spPr>
          <a:xfrm>
            <a:off x="438912" y="768096"/>
            <a:ext cx="5084064" cy="5724144"/>
          </a:xfrm>
          <a:prstGeom prst="roundRect">
            <a:avLst>
              <a:gd name="adj" fmla="val 1259"/>
            </a:avLst>
          </a:prstGeom>
          <a:solidFill>
            <a:srgbClr val="FFFFFF"/>
          </a:solidFill>
          <a:ln w="10795">
            <a:solidFill>
              <a:srgbClr val="BFDBFE"/>
            </a:solidFill>
            <a:prstDash val="solid"/>
          </a:ln>
        </p:spPr>
      </p:sp>
      <p:sp>
        <p:nvSpPr>
          <p:cNvPr id="24" name="Shape 22"/>
          <p:cNvSpPr/>
          <p:nvPr/>
        </p:nvSpPr>
        <p:spPr>
          <a:xfrm>
            <a:off x="531266" y="1506017"/>
            <a:ext cx="4899355" cy="4949647"/>
          </a:xfrm>
          <a:prstGeom prst="roundRect">
            <a:avLst>
              <a:gd name="adj" fmla="val 560"/>
            </a:avLst>
          </a:prstGeom>
          <a:solidFill>
            <a:srgbClr val="1A73E8"/>
          </a:solidFill>
          <a:ln w="15875">
            <a:solidFill>
              <a:srgbClr val="9AA0A6"/>
            </a:solidFill>
            <a:prstDash val="solid"/>
          </a:ln>
        </p:spPr>
      </p:sp>
      <p:sp>
        <p:nvSpPr>
          <p:cNvPr id="25" name="Shape 23"/>
          <p:cNvSpPr/>
          <p:nvPr/>
        </p:nvSpPr>
        <p:spPr>
          <a:xfrm>
            <a:off x="598932" y="1717243"/>
            <a:ext cx="4764024" cy="4662526"/>
          </a:xfrm>
          <a:prstGeom prst="roundRect">
            <a:avLst>
              <a:gd name="adj" fmla="val 588"/>
            </a:avLst>
          </a:prstGeom>
          <a:solidFill>
            <a:srgbClr val="FFFFFF"/>
          </a:solidFill>
          <a:ln w="10795">
            <a:solidFill>
              <a:srgbClr val="9AA0A6"/>
            </a:solidFill>
            <a:prstDash val="solid"/>
          </a:ln>
        </p:spPr>
      </p:sp>
      <p:sp>
        <p:nvSpPr>
          <p:cNvPr id="26" name="Text 24"/>
          <p:cNvSpPr/>
          <p:nvPr/>
        </p:nvSpPr>
        <p:spPr>
          <a:xfrm>
            <a:off x="653796" y="1733702"/>
            <a:ext cx="2668219"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Shared Control Plane (ramp-portal-dev)</a:t>
            </a:r>
            <a:endParaRPr lang="en-US" sz="440" dirty="0"/>
          </a:p>
        </p:txBody>
      </p:sp>
      <p:sp>
        <p:nvSpPr>
          <p:cNvPr id="27" name="Shape 25"/>
          <p:cNvSpPr/>
          <p:nvPr/>
        </p:nvSpPr>
        <p:spPr>
          <a:xfrm>
            <a:off x="666598" y="1869034"/>
            <a:ext cx="4628693" cy="4434840"/>
          </a:xfrm>
          <a:prstGeom prst="roundRect">
            <a:avLst>
              <a:gd name="adj" fmla="val 619"/>
            </a:avLst>
          </a:prstGeom>
          <a:solidFill>
            <a:srgbClr val="FFFFFF"/>
          </a:solidFill>
          <a:ln w="10795">
            <a:solidFill>
              <a:srgbClr val="9AA0A6"/>
            </a:solidFill>
            <a:prstDash val="solid"/>
          </a:ln>
        </p:spPr>
      </p:sp>
      <p:sp>
        <p:nvSpPr>
          <p:cNvPr id="28" name="Text 26"/>
          <p:cNvSpPr/>
          <p:nvPr/>
        </p:nvSpPr>
        <p:spPr>
          <a:xfrm>
            <a:off x="721462" y="1885493"/>
            <a:ext cx="2592324"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VPC &amp; 5-Hop Cryptographic Context Chain</a:t>
            </a:r>
            <a:endParaRPr lang="en-US" sz="440" dirty="0"/>
          </a:p>
        </p:txBody>
      </p:sp>
      <p:sp>
        <p:nvSpPr>
          <p:cNvPr id="29" name="Shape 27"/>
          <p:cNvSpPr/>
          <p:nvPr/>
        </p:nvSpPr>
        <p:spPr>
          <a:xfrm>
            <a:off x="742493" y="3845966"/>
            <a:ext cx="2179015" cy="2365553"/>
          </a:xfrm>
          <a:prstGeom prst="roundRect">
            <a:avLst>
              <a:gd name="adj" fmla="val 1259"/>
            </a:avLst>
          </a:prstGeom>
          <a:solidFill>
            <a:srgbClr val="FFFFFF"/>
          </a:solidFill>
          <a:ln w="10795">
            <a:solidFill>
              <a:srgbClr val="9AA0A6"/>
            </a:solidFill>
            <a:prstDash val="solid"/>
          </a:ln>
        </p:spPr>
      </p:sp>
      <p:sp>
        <p:nvSpPr>
          <p:cNvPr id="30" name="Shape 28"/>
          <p:cNvSpPr/>
          <p:nvPr/>
        </p:nvSpPr>
        <p:spPr>
          <a:xfrm>
            <a:off x="3040380" y="3845966"/>
            <a:ext cx="2179015" cy="2365553"/>
          </a:xfrm>
          <a:prstGeom prst="roundRect">
            <a:avLst>
              <a:gd name="adj" fmla="val 1259"/>
            </a:avLst>
          </a:prstGeom>
          <a:solidFill>
            <a:srgbClr val="FFFFFF"/>
          </a:solidFill>
          <a:ln w="10795">
            <a:solidFill>
              <a:srgbClr val="9AA0A6"/>
            </a:solidFill>
            <a:prstDash val="solid"/>
          </a:ln>
        </p:spPr>
      </p:sp>
      <p:sp>
        <p:nvSpPr>
          <p:cNvPr id="31" name="Shape 29"/>
          <p:cNvSpPr/>
          <p:nvPr/>
        </p:nvSpPr>
        <p:spPr>
          <a:xfrm>
            <a:off x="810158" y="3997757"/>
            <a:ext cx="2044598" cy="2145182"/>
          </a:xfrm>
          <a:prstGeom prst="roundRect">
            <a:avLst>
              <a:gd name="adj" fmla="val 1342"/>
            </a:avLst>
          </a:prstGeom>
          <a:solidFill>
            <a:srgbClr val="FEEFC3"/>
          </a:solidFill>
          <a:ln w="10795">
            <a:solidFill>
              <a:srgbClr val="9AA0A6"/>
            </a:solidFill>
            <a:prstDash val="solid"/>
          </a:ln>
        </p:spPr>
      </p:sp>
      <p:sp>
        <p:nvSpPr>
          <p:cNvPr id="32" name="Shape 30"/>
          <p:cNvSpPr/>
          <p:nvPr/>
        </p:nvSpPr>
        <p:spPr>
          <a:xfrm>
            <a:off x="3108046" y="3997757"/>
            <a:ext cx="2044598" cy="2145182"/>
          </a:xfrm>
          <a:prstGeom prst="roundRect">
            <a:avLst>
              <a:gd name="adj" fmla="val 1342"/>
            </a:avLst>
          </a:prstGeom>
          <a:solidFill>
            <a:srgbClr val="FAD2CF"/>
          </a:solidFill>
          <a:ln w="10795">
            <a:solidFill>
              <a:srgbClr val="9AA0A6"/>
            </a:solidFill>
            <a:prstDash val="solid"/>
          </a:ln>
        </p:spPr>
      </p:sp>
      <p:sp>
        <p:nvSpPr>
          <p:cNvPr id="33" name="Shape 31"/>
          <p:cNvSpPr/>
          <p:nvPr/>
        </p:nvSpPr>
        <p:spPr>
          <a:xfrm>
            <a:off x="734263" y="2012594"/>
            <a:ext cx="2804465" cy="1393546"/>
          </a:xfrm>
          <a:prstGeom prst="roundRect">
            <a:avLst>
              <a:gd name="adj" fmla="val 1969"/>
            </a:avLst>
          </a:prstGeom>
          <a:solidFill>
            <a:srgbClr val="AECBFA"/>
          </a:solidFill>
          <a:ln w="10795">
            <a:solidFill>
              <a:srgbClr val="9AA0A6"/>
            </a:solidFill>
            <a:prstDash val="solid"/>
          </a:ln>
        </p:spPr>
      </p:sp>
      <p:sp>
        <p:nvSpPr>
          <p:cNvPr id="34" name="Shape 32"/>
          <p:cNvSpPr/>
          <p:nvPr/>
        </p:nvSpPr>
        <p:spPr>
          <a:xfrm>
            <a:off x="3817620" y="2046427"/>
            <a:ext cx="1385316" cy="1351483"/>
          </a:xfrm>
          <a:prstGeom prst="roundRect">
            <a:avLst>
              <a:gd name="adj" fmla="val 2030"/>
            </a:avLst>
          </a:prstGeom>
          <a:solidFill>
            <a:srgbClr val="CEEAD6"/>
          </a:solidFill>
          <a:ln w="10795">
            <a:solidFill>
              <a:srgbClr val="9AA0A6"/>
            </a:solidFill>
            <a:prstDash val="solid"/>
          </a:ln>
        </p:spPr>
      </p:sp>
      <p:pic>
        <p:nvPicPr>
          <p:cNvPr id="35" name="Image 0" descr="preencoded.png">    </p:cNvPr>
          <p:cNvPicPr>
            <a:picLocks noChangeAspect="1"/>
          </p:cNvPicPr>
          <p:nvPr/>
        </p:nvPicPr>
        <p:blipFill>
          <a:blip r:embed="rId1"/>
          <a:stretch>
            <a:fillRect/>
          </a:stretch>
        </p:blipFill>
        <p:spPr>
          <a:xfrm>
            <a:off x="598932" y="1554480"/>
            <a:ext cx="633679" cy="113386"/>
          </a:xfrm>
          <a:prstGeom prst="rect">
            <a:avLst/>
          </a:prstGeom>
        </p:spPr>
      </p:pic>
      <p:sp>
        <p:nvSpPr>
          <p:cNvPr id="36" name="Shape 33"/>
          <p:cNvSpPr/>
          <p:nvPr/>
        </p:nvSpPr>
        <p:spPr>
          <a:xfrm>
            <a:off x="2837383" y="1167689"/>
            <a:ext cx="0" cy="1233526"/>
          </a:xfrm>
          <a:prstGeom prst="line">
            <a:avLst/>
          </a:prstGeom>
          <a:noFill/>
          <a:ln w="12700">
            <a:solidFill>
              <a:srgbClr val="5F6368"/>
            </a:solidFill>
            <a:prstDash val="solid"/>
            <a:tailEnd type="triangle" w="sm" len="sm"/>
          </a:ln>
        </p:spPr>
      </p:sp>
      <p:sp>
        <p:nvSpPr>
          <p:cNvPr id="37" name="Shape 34"/>
          <p:cNvSpPr/>
          <p:nvPr/>
        </p:nvSpPr>
        <p:spPr>
          <a:xfrm flipV="1">
            <a:off x="3031236" y="1175918"/>
            <a:ext cx="0" cy="1233526"/>
          </a:xfrm>
          <a:prstGeom prst="line">
            <a:avLst/>
          </a:prstGeom>
          <a:noFill/>
          <a:ln w="12700">
            <a:solidFill>
              <a:srgbClr val="5F6368"/>
            </a:solidFill>
            <a:prstDash val="solid"/>
            <a:tailEnd type="triangle" w="sm" len="sm"/>
          </a:ln>
        </p:spPr>
      </p:sp>
      <p:sp>
        <p:nvSpPr>
          <p:cNvPr id="38" name="Shape 35"/>
          <p:cNvSpPr/>
          <p:nvPr/>
        </p:nvSpPr>
        <p:spPr>
          <a:xfrm flipH="1">
            <a:off x="2211934" y="2510942"/>
            <a:ext cx="143561" cy="0"/>
          </a:xfrm>
          <a:prstGeom prst="line">
            <a:avLst/>
          </a:prstGeom>
          <a:noFill/>
          <a:ln w="12700">
            <a:solidFill>
              <a:srgbClr val="5F6368"/>
            </a:solidFill>
            <a:prstDash val="solid"/>
            <a:headEnd type="triangle" w="sm" len="sm"/>
          </a:ln>
        </p:spPr>
      </p:sp>
      <p:sp>
        <p:nvSpPr>
          <p:cNvPr id="39" name="Shape 36"/>
          <p:cNvSpPr/>
          <p:nvPr/>
        </p:nvSpPr>
        <p:spPr>
          <a:xfrm flipV="1">
            <a:off x="2211934" y="2405786"/>
            <a:ext cx="0" cy="105156"/>
          </a:xfrm>
          <a:prstGeom prst="line">
            <a:avLst/>
          </a:prstGeom>
          <a:noFill/>
          <a:ln w="12700">
            <a:solidFill>
              <a:srgbClr val="5F6368"/>
            </a:solidFill>
            <a:prstDash val="solid"/>
          </a:ln>
        </p:spPr>
      </p:sp>
      <p:sp>
        <p:nvSpPr>
          <p:cNvPr id="40" name="Shape 37"/>
          <p:cNvSpPr/>
          <p:nvPr/>
        </p:nvSpPr>
        <p:spPr>
          <a:xfrm flipH="1">
            <a:off x="1679753" y="2405786"/>
            <a:ext cx="532181" cy="0"/>
          </a:xfrm>
          <a:prstGeom prst="line">
            <a:avLst/>
          </a:prstGeom>
          <a:noFill/>
          <a:ln w="12700">
            <a:solidFill>
              <a:srgbClr val="5F6368"/>
            </a:solidFill>
            <a:prstDash val="solid"/>
            <a:tailEnd type="triangle" w="sm" len="sm"/>
          </a:ln>
        </p:spPr>
      </p:sp>
      <p:sp>
        <p:nvSpPr>
          <p:cNvPr id="41" name="Shape 38"/>
          <p:cNvSpPr/>
          <p:nvPr/>
        </p:nvSpPr>
        <p:spPr>
          <a:xfrm flipH="1">
            <a:off x="2211934" y="2628900"/>
            <a:ext cx="143561" cy="0"/>
          </a:xfrm>
          <a:prstGeom prst="line">
            <a:avLst/>
          </a:prstGeom>
          <a:noFill/>
          <a:ln w="12700">
            <a:solidFill>
              <a:srgbClr val="5F6368"/>
            </a:solidFill>
            <a:prstDash val="solid"/>
            <a:headEnd type="triangle" w="sm" len="sm"/>
          </a:ln>
        </p:spPr>
      </p:sp>
      <p:sp>
        <p:nvSpPr>
          <p:cNvPr id="42" name="Shape 39"/>
          <p:cNvSpPr/>
          <p:nvPr/>
        </p:nvSpPr>
        <p:spPr>
          <a:xfrm>
            <a:off x="2211934" y="2628900"/>
            <a:ext cx="0" cy="131674"/>
          </a:xfrm>
          <a:prstGeom prst="line">
            <a:avLst/>
          </a:prstGeom>
          <a:noFill/>
          <a:ln w="12700">
            <a:solidFill>
              <a:srgbClr val="5F6368"/>
            </a:solidFill>
            <a:prstDash val="solid"/>
          </a:ln>
        </p:spPr>
      </p:sp>
      <p:sp>
        <p:nvSpPr>
          <p:cNvPr id="43" name="Shape 40"/>
          <p:cNvSpPr/>
          <p:nvPr/>
        </p:nvSpPr>
        <p:spPr>
          <a:xfrm flipH="1">
            <a:off x="1679753" y="2760574"/>
            <a:ext cx="532181" cy="0"/>
          </a:xfrm>
          <a:prstGeom prst="line">
            <a:avLst/>
          </a:prstGeom>
          <a:noFill/>
          <a:ln w="12700">
            <a:solidFill>
              <a:srgbClr val="5F6368"/>
            </a:solidFill>
            <a:prstDash val="solid"/>
            <a:tailEnd type="triangle" w="sm" len="sm"/>
          </a:ln>
        </p:spPr>
      </p:sp>
      <p:sp>
        <p:nvSpPr>
          <p:cNvPr id="44" name="Shape 41"/>
          <p:cNvSpPr/>
          <p:nvPr/>
        </p:nvSpPr>
        <p:spPr>
          <a:xfrm>
            <a:off x="1679753" y="3173882"/>
            <a:ext cx="777240" cy="0"/>
          </a:xfrm>
          <a:prstGeom prst="line">
            <a:avLst/>
          </a:prstGeom>
          <a:noFill/>
          <a:ln w="12700">
            <a:solidFill>
              <a:srgbClr val="5F6368"/>
            </a:solidFill>
            <a:prstDash val="solid"/>
            <a:headEnd type="triangle" w="sm" len="sm"/>
            <a:tailEnd type="triangle" w="sm" len="sm"/>
          </a:ln>
        </p:spPr>
      </p:sp>
      <p:sp>
        <p:nvSpPr>
          <p:cNvPr id="45" name="Shape 42"/>
          <p:cNvSpPr/>
          <p:nvPr/>
        </p:nvSpPr>
        <p:spPr>
          <a:xfrm>
            <a:off x="2837383" y="2730398"/>
            <a:ext cx="0" cy="304495"/>
          </a:xfrm>
          <a:prstGeom prst="line">
            <a:avLst/>
          </a:prstGeom>
          <a:noFill/>
          <a:ln w="12700">
            <a:solidFill>
              <a:srgbClr val="5F6368"/>
            </a:solidFill>
            <a:prstDash val="solid"/>
            <a:tailEnd type="triangle" w="sm" len="sm"/>
          </a:ln>
        </p:spPr>
      </p:sp>
      <p:sp>
        <p:nvSpPr>
          <p:cNvPr id="46" name="Shape 43"/>
          <p:cNvSpPr/>
          <p:nvPr/>
        </p:nvSpPr>
        <p:spPr>
          <a:xfrm flipV="1">
            <a:off x="3031236" y="2730398"/>
            <a:ext cx="0" cy="304495"/>
          </a:xfrm>
          <a:prstGeom prst="line">
            <a:avLst/>
          </a:prstGeom>
          <a:noFill/>
          <a:ln w="12700">
            <a:solidFill>
              <a:srgbClr val="5F6368"/>
            </a:solidFill>
            <a:prstDash val="solid"/>
            <a:tailEnd type="triangle" w="sm" len="sm"/>
          </a:ln>
        </p:spPr>
      </p:sp>
      <p:sp>
        <p:nvSpPr>
          <p:cNvPr id="47" name="Shape 44"/>
          <p:cNvSpPr/>
          <p:nvPr/>
        </p:nvSpPr>
        <p:spPr>
          <a:xfrm flipV="1">
            <a:off x="2343607" y="3727094"/>
            <a:ext cx="0" cy="760781"/>
          </a:xfrm>
          <a:prstGeom prst="line">
            <a:avLst/>
          </a:prstGeom>
          <a:noFill/>
          <a:ln w="12700">
            <a:solidFill>
              <a:srgbClr val="5F6368"/>
            </a:solidFill>
            <a:prstDash val="solid"/>
          </a:ln>
        </p:spPr>
      </p:sp>
      <p:sp>
        <p:nvSpPr>
          <p:cNvPr id="48" name="Shape 45"/>
          <p:cNvSpPr/>
          <p:nvPr/>
        </p:nvSpPr>
        <p:spPr>
          <a:xfrm>
            <a:off x="2343607" y="3727094"/>
            <a:ext cx="577901" cy="0"/>
          </a:xfrm>
          <a:prstGeom prst="line">
            <a:avLst/>
          </a:prstGeom>
          <a:noFill/>
          <a:ln w="12700">
            <a:solidFill>
              <a:srgbClr val="5F6368"/>
            </a:solidFill>
            <a:prstDash val="solid"/>
          </a:ln>
        </p:spPr>
      </p:sp>
      <p:sp>
        <p:nvSpPr>
          <p:cNvPr id="49" name="Shape 46"/>
          <p:cNvSpPr/>
          <p:nvPr/>
        </p:nvSpPr>
        <p:spPr>
          <a:xfrm flipV="1">
            <a:off x="2921508" y="3313786"/>
            <a:ext cx="0" cy="413309"/>
          </a:xfrm>
          <a:prstGeom prst="line">
            <a:avLst/>
          </a:prstGeom>
          <a:noFill/>
          <a:ln w="12700">
            <a:solidFill>
              <a:srgbClr val="5F6368"/>
            </a:solidFill>
            <a:prstDash val="solid"/>
            <a:tailEnd type="triangle" w="sm" len="sm"/>
          </a:ln>
        </p:spPr>
      </p:sp>
      <p:sp>
        <p:nvSpPr>
          <p:cNvPr id="50" name="Shape 47"/>
          <p:cNvSpPr/>
          <p:nvPr/>
        </p:nvSpPr>
        <p:spPr>
          <a:xfrm flipV="1">
            <a:off x="2343607" y="3727094"/>
            <a:ext cx="0" cy="760781"/>
          </a:xfrm>
          <a:prstGeom prst="line">
            <a:avLst/>
          </a:prstGeom>
          <a:noFill/>
          <a:ln w="12700">
            <a:solidFill>
              <a:srgbClr val="5F6368"/>
            </a:solidFill>
            <a:prstDash val="solid"/>
            <a:headEnd type="triangle" w="sm" len="sm"/>
          </a:ln>
        </p:spPr>
      </p:sp>
      <p:sp>
        <p:nvSpPr>
          <p:cNvPr id="51" name="Shape 48"/>
          <p:cNvSpPr/>
          <p:nvPr/>
        </p:nvSpPr>
        <p:spPr>
          <a:xfrm>
            <a:off x="2343607" y="3727094"/>
            <a:ext cx="2296973" cy="0"/>
          </a:xfrm>
          <a:prstGeom prst="line">
            <a:avLst/>
          </a:prstGeom>
          <a:noFill/>
          <a:ln w="12700">
            <a:solidFill>
              <a:srgbClr val="5F6368"/>
            </a:solidFill>
            <a:prstDash val="solid"/>
          </a:ln>
        </p:spPr>
      </p:sp>
      <p:sp>
        <p:nvSpPr>
          <p:cNvPr id="52" name="Shape 49"/>
          <p:cNvSpPr/>
          <p:nvPr/>
        </p:nvSpPr>
        <p:spPr>
          <a:xfrm>
            <a:off x="4640580" y="3727094"/>
            <a:ext cx="0" cy="760781"/>
          </a:xfrm>
          <a:prstGeom prst="line">
            <a:avLst/>
          </a:prstGeom>
          <a:noFill/>
          <a:ln w="12700">
            <a:solidFill>
              <a:srgbClr val="5F6368"/>
            </a:solidFill>
            <a:prstDash val="solid"/>
            <a:tailEnd type="triangle" w="sm" len="sm"/>
          </a:ln>
        </p:spPr>
      </p:sp>
      <p:sp>
        <p:nvSpPr>
          <p:cNvPr id="53" name="Shape 50"/>
          <p:cNvSpPr/>
          <p:nvPr/>
        </p:nvSpPr>
        <p:spPr>
          <a:xfrm flipV="1">
            <a:off x="1832458" y="3668573"/>
            <a:ext cx="0" cy="177394"/>
          </a:xfrm>
          <a:prstGeom prst="line">
            <a:avLst/>
          </a:prstGeom>
          <a:noFill/>
          <a:ln w="12700">
            <a:solidFill>
              <a:srgbClr val="5F6368"/>
            </a:solidFill>
            <a:prstDash val="dash"/>
            <a:headEnd type="triangle" w="sm" len="sm"/>
          </a:ln>
        </p:spPr>
      </p:sp>
      <p:sp>
        <p:nvSpPr>
          <p:cNvPr id="54" name="Shape 51"/>
          <p:cNvSpPr/>
          <p:nvPr/>
        </p:nvSpPr>
        <p:spPr>
          <a:xfrm>
            <a:off x="1832458" y="3668573"/>
            <a:ext cx="2677363" cy="0"/>
          </a:xfrm>
          <a:prstGeom prst="line">
            <a:avLst/>
          </a:prstGeom>
          <a:noFill/>
          <a:ln w="12700">
            <a:solidFill>
              <a:srgbClr val="5F6368"/>
            </a:solidFill>
            <a:prstDash val="dash"/>
          </a:ln>
        </p:spPr>
      </p:sp>
      <p:sp>
        <p:nvSpPr>
          <p:cNvPr id="55" name="Shape 52"/>
          <p:cNvSpPr/>
          <p:nvPr/>
        </p:nvSpPr>
        <p:spPr>
          <a:xfrm flipV="1">
            <a:off x="4509821" y="3397910"/>
            <a:ext cx="0" cy="270662"/>
          </a:xfrm>
          <a:prstGeom prst="line">
            <a:avLst/>
          </a:prstGeom>
          <a:noFill/>
          <a:ln w="12700">
            <a:solidFill>
              <a:srgbClr val="5F6368"/>
            </a:solidFill>
            <a:prstDash val="dash"/>
            <a:tailEnd type="triangle" w="sm" len="sm"/>
          </a:ln>
        </p:spPr>
      </p:sp>
      <p:sp>
        <p:nvSpPr>
          <p:cNvPr id="56" name="Shape 53"/>
          <p:cNvSpPr/>
          <p:nvPr/>
        </p:nvSpPr>
        <p:spPr>
          <a:xfrm>
            <a:off x="4509821" y="3397910"/>
            <a:ext cx="0" cy="270662"/>
          </a:xfrm>
          <a:prstGeom prst="line">
            <a:avLst/>
          </a:prstGeom>
          <a:noFill/>
          <a:ln w="12700">
            <a:solidFill>
              <a:srgbClr val="5F6368"/>
            </a:solidFill>
            <a:prstDash val="dash"/>
          </a:ln>
        </p:spPr>
      </p:sp>
      <p:sp>
        <p:nvSpPr>
          <p:cNvPr id="57" name="Shape 54"/>
          <p:cNvSpPr/>
          <p:nvPr/>
        </p:nvSpPr>
        <p:spPr>
          <a:xfrm flipH="1">
            <a:off x="4129430" y="3668573"/>
            <a:ext cx="380390" cy="0"/>
          </a:xfrm>
          <a:prstGeom prst="line">
            <a:avLst/>
          </a:prstGeom>
          <a:noFill/>
          <a:ln w="12700">
            <a:solidFill>
              <a:srgbClr val="5F6368"/>
            </a:solidFill>
            <a:prstDash val="dash"/>
          </a:ln>
        </p:spPr>
      </p:sp>
      <p:sp>
        <p:nvSpPr>
          <p:cNvPr id="58" name="Shape 55"/>
          <p:cNvSpPr/>
          <p:nvPr/>
        </p:nvSpPr>
        <p:spPr>
          <a:xfrm>
            <a:off x="4129430" y="3668573"/>
            <a:ext cx="0" cy="177394"/>
          </a:xfrm>
          <a:prstGeom prst="line">
            <a:avLst/>
          </a:prstGeom>
          <a:noFill/>
          <a:ln w="12700">
            <a:solidFill>
              <a:srgbClr val="5F6368"/>
            </a:solidFill>
            <a:prstDash val="dash"/>
            <a:tailEnd type="triangle" w="sm" len="sm"/>
          </a:ln>
        </p:spPr>
      </p:sp>
      <p:sp>
        <p:nvSpPr>
          <p:cNvPr id="59" name="Shape 56"/>
          <p:cNvSpPr/>
          <p:nvPr/>
        </p:nvSpPr>
        <p:spPr>
          <a:xfrm>
            <a:off x="1671523" y="4428439"/>
            <a:ext cx="93269" cy="0"/>
          </a:xfrm>
          <a:prstGeom prst="line">
            <a:avLst/>
          </a:prstGeom>
          <a:noFill/>
          <a:ln w="12700">
            <a:solidFill>
              <a:srgbClr val="5F6368"/>
            </a:solidFill>
            <a:prstDash val="solid"/>
            <a:headEnd type="triangle" w="sm" len="sm"/>
          </a:ln>
        </p:spPr>
      </p:sp>
      <p:sp>
        <p:nvSpPr>
          <p:cNvPr id="60" name="Shape 57"/>
          <p:cNvSpPr/>
          <p:nvPr/>
        </p:nvSpPr>
        <p:spPr>
          <a:xfrm>
            <a:off x="1764792" y="4428439"/>
            <a:ext cx="0" cy="143561"/>
          </a:xfrm>
          <a:prstGeom prst="line">
            <a:avLst/>
          </a:prstGeom>
          <a:noFill/>
          <a:ln w="12700">
            <a:solidFill>
              <a:srgbClr val="5F6368"/>
            </a:solidFill>
            <a:prstDash val="solid"/>
          </a:ln>
        </p:spPr>
      </p:sp>
      <p:sp>
        <p:nvSpPr>
          <p:cNvPr id="61" name="Shape 58"/>
          <p:cNvSpPr/>
          <p:nvPr/>
        </p:nvSpPr>
        <p:spPr>
          <a:xfrm>
            <a:off x="1764792" y="4572000"/>
            <a:ext cx="126187" cy="0"/>
          </a:xfrm>
          <a:prstGeom prst="line">
            <a:avLst/>
          </a:prstGeom>
          <a:noFill/>
          <a:ln w="12700">
            <a:solidFill>
              <a:srgbClr val="5F6368"/>
            </a:solidFill>
            <a:prstDash val="solid"/>
            <a:tailEnd type="triangle" w="sm" len="sm"/>
          </a:ln>
        </p:spPr>
      </p:sp>
      <p:sp>
        <p:nvSpPr>
          <p:cNvPr id="62" name="Shape 59"/>
          <p:cNvSpPr/>
          <p:nvPr/>
        </p:nvSpPr>
        <p:spPr>
          <a:xfrm>
            <a:off x="1671523" y="5425135"/>
            <a:ext cx="127102" cy="0"/>
          </a:xfrm>
          <a:prstGeom prst="line">
            <a:avLst/>
          </a:prstGeom>
          <a:noFill/>
          <a:ln w="12700">
            <a:solidFill>
              <a:srgbClr val="5F6368"/>
            </a:solidFill>
            <a:prstDash val="solid"/>
            <a:headEnd type="triangle" w="sm" len="sm"/>
          </a:ln>
        </p:spPr>
      </p:sp>
      <p:sp>
        <p:nvSpPr>
          <p:cNvPr id="63" name="Shape 60"/>
          <p:cNvSpPr/>
          <p:nvPr/>
        </p:nvSpPr>
        <p:spPr>
          <a:xfrm flipV="1">
            <a:off x="1798625" y="4707331"/>
            <a:ext cx="0" cy="717804"/>
          </a:xfrm>
          <a:prstGeom prst="line">
            <a:avLst/>
          </a:prstGeom>
          <a:noFill/>
          <a:ln w="12700">
            <a:solidFill>
              <a:srgbClr val="5F6368"/>
            </a:solidFill>
            <a:prstDash val="solid"/>
          </a:ln>
        </p:spPr>
      </p:sp>
      <p:sp>
        <p:nvSpPr>
          <p:cNvPr id="64" name="Shape 61"/>
          <p:cNvSpPr/>
          <p:nvPr/>
        </p:nvSpPr>
        <p:spPr>
          <a:xfrm>
            <a:off x="1798625" y="4707331"/>
            <a:ext cx="92354" cy="0"/>
          </a:xfrm>
          <a:prstGeom prst="line">
            <a:avLst/>
          </a:prstGeom>
          <a:noFill/>
          <a:ln w="12700">
            <a:solidFill>
              <a:srgbClr val="5F6368"/>
            </a:solidFill>
            <a:prstDash val="solid"/>
            <a:tailEnd type="triangle" w="sm" len="sm"/>
          </a:ln>
        </p:spPr>
      </p:sp>
      <p:sp>
        <p:nvSpPr>
          <p:cNvPr id="65" name="Shape 62"/>
          <p:cNvSpPr/>
          <p:nvPr/>
        </p:nvSpPr>
        <p:spPr>
          <a:xfrm flipV="1">
            <a:off x="2343607" y="5036515"/>
            <a:ext cx="0" cy="59436"/>
          </a:xfrm>
          <a:prstGeom prst="line">
            <a:avLst/>
          </a:prstGeom>
          <a:noFill/>
          <a:ln w="12700">
            <a:solidFill>
              <a:srgbClr val="5F6368"/>
            </a:solidFill>
            <a:prstDash val="solid"/>
            <a:headEnd type="triangle" w="sm" len="sm"/>
          </a:ln>
        </p:spPr>
      </p:sp>
      <p:sp>
        <p:nvSpPr>
          <p:cNvPr id="66" name="Shape 63"/>
          <p:cNvSpPr/>
          <p:nvPr/>
        </p:nvSpPr>
        <p:spPr>
          <a:xfrm flipV="1">
            <a:off x="2343607" y="4808830"/>
            <a:ext cx="0" cy="58522"/>
          </a:xfrm>
          <a:prstGeom prst="line">
            <a:avLst/>
          </a:prstGeom>
          <a:noFill/>
          <a:ln w="12700">
            <a:solidFill>
              <a:srgbClr val="5F6368"/>
            </a:solidFill>
            <a:prstDash val="solid"/>
            <a:tailEnd type="triangle" w="sm" len="sm"/>
          </a:ln>
        </p:spPr>
      </p:sp>
      <p:sp>
        <p:nvSpPr>
          <p:cNvPr id="67" name="Shape 64"/>
          <p:cNvSpPr/>
          <p:nvPr/>
        </p:nvSpPr>
        <p:spPr>
          <a:xfrm flipV="1">
            <a:off x="2343607" y="5670194"/>
            <a:ext cx="0" cy="59436"/>
          </a:xfrm>
          <a:prstGeom prst="line">
            <a:avLst/>
          </a:prstGeom>
          <a:noFill/>
          <a:ln w="12700">
            <a:solidFill>
              <a:srgbClr val="5F6368"/>
            </a:solidFill>
            <a:prstDash val="solid"/>
            <a:headEnd type="triangle" w="sm" len="sm"/>
          </a:ln>
        </p:spPr>
      </p:sp>
      <p:sp>
        <p:nvSpPr>
          <p:cNvPr id="68" name="Shape 65"/>
          <p:cNvSpPr/>
          <p:nvPr/>
        </p:nvSpPr>
        <p:spPr>
          <a:xfrm flipV="1">
            <a:off x="2343607" y="5416906"/>
            <a:ext cx="0" cy="58522"/>
          </a:xfrm>
          <a:prstGeom prst="line">
            <a:avLst/>
          </a:prstGeom>
          <a:noFill/>
          <a:ln w="12700">
            <a:solidFill>
              <a:srgbClr val="5F6368"/>
            </a:solidFill>
            <a:prstDash val="solid"/>
            <a:tailEnd type="triangle" w="sm" len="sm"/>
          </a:ln>
        </p:spPr>
      </p:sp>
      <p:sp>
        <p:nvSpPr>
          <p:cNvPr id="69" name="Shape 66"/>
          <p:cNvSpPr/>
          <p:nvPr/>
        </p:nvSpPr>
        <p:spPr>
          <a:xfrm>
            <a:off x="3969410" y="4428439"/>
            <a:ext cx="92354" cy="0"/>
          </a:xfrm>
          <a:prstGeom prst="line">
            <a:avLst/>
          </a:prstGeom>
          <a:noFill/>
          <a:ln w="12700">
            <a:solidFill>
              <a:srgbClr val="5F6368"/>
            </a:solidFill>
            <a:prstDash val="solid"/>
            <a:headEnd type="triangle" w="sm" len="sm"/>
          </a:ln>
        </p:spPr>
      </p:sp>
      <p:sp>
        <p:nvSpPr>
          <p:cNvPr id="70" name="Shape 67"/>
          <p:cNvSpPr/>
          <p:nvPr/>
        </p:nvSpPr>
        <p:spPr>
          <a:xfrm>
            <a:off x="4061765" y="4428439"/>
            <a:ext cx="0" cy="143561"/>
          </a:xfrm>
          <a:prstGeom prst="line">
            <a:avLst/>
          </a:prstGeom>
          <a:noFill/>
          <a:ln w="12700">
            <a:solidFill>
              <a:srgbClr val="5F6368"/>
            </a:solidFill>
            <a:prstDash val="solid"/>
          </a:ln>
        </p:spPr>
      </p:sp>
      <p:sp>
        <p:nvSpPr>
          <p:cNvPr id="71" name="Shape 68"/>
          <p:cNvSpPr/>
          <p:nvPr/>
        </p:nvSpPr>
        <p:spPr>
          <a:xfrm>
            <a:off x="4061765" y="4572000"/>
            <a:ext cx="127102" cy="0"/>
          </a:xfrm>
          <a:prstGeom prst="line">
            <a:avLst/>
          </a:prstGeom>
          <a:noFill/>
          <a:ln w="12700">
            <a:solidFill>
              <a:srgbClr val="5F6368"/>
            </a:solidFill>
            <a:prstDash val="solid"/>
            <a:tailEnd type="triangle" w="sm" len="sm"/>
          </a:ln>
        </p:spPr>
      </p:sp>
      <p:sp>
        <p:nvSpPr>
          <p:cNvPr id="72" name="Shape 69"/>
          <p:cNvSpPr/>
          <p:nvPr/>
        </p:nvSpPr>
        <p:spPr>
          <a:xfrm>
            <a:off x="3969410" y="4859122"/>
            <a:ext cx="126187" cy="0"/>
          </a:xfrm>
          <a:prstGeom prst="line">
            <a:avLst/>
          </a:prstGeom>
          <a:noFill/>
          <a:ln w="12700">
            <a:solidFill>
              <a:srgbClr val="5F6368"/>
            </a:solidFill>
            <a:prstDash val="solid"/>
            <a:headEnd type="triangle" w="sm" len="sm"/>
          </a:ln>
        </p:spPr>
      </p:sp>
      <p:sp>
        <p:nvSpPr>
          <p:cNvPr id="73" name="Shape 70"/>
          <p:cNvSpPr/>
          <p:nvPr/>
        </p:nvSpPr>
        <p:spPr>
          <a:xfrm flipV="1">
            <a:off x="4095598" y="4707331"/>
            <a:ext cx="0" cy="151790"/>
          </a:xfrm>
          <a:prstGeom prst="line">
            <a:avLst/>
          </a:prstGeom>
          <a:noFill/>
          <a:ln w="12700">
            <a:solidFill>
              <a:srgbClr val="5F6368"/>
            </a:solidFill>
            <a:prstDash val="solid"/>
          </a:ln>
        </p:spPr>
      </p:sp>
      <p:sp>
        <p:nvSpPr>
          <p:cNvPr id="74" name="Shape 71"/>
          <p:cNvSpPr/>
          <p:nvPr/>
        </p:nvSpPr>
        <p:spPr>
          <a:xfrm>
            <a:off x="4095598" y="4707331"/>
            <a:ext cx="93269" cy="0"/>
          </a:xfrm>
          <a:prstGeom prst="line">
            <a:avLst/>
          </a:prstGeom>
          <a:noFill/>
          <a:ln w="12700">
            <a:solidFill>
              <a:srgbClr val="5F6368"/>
            </a:solidFill>
            <a:prstDash val="solid"/>
            <a:tailEnd type="triangle" w="sm" len="sm"/>
          </a:ln>
        </p:spPr>
      </p:sp>
      <p:sp>
        <p:nvSpPr>
          <p:cNvPr id="75" name="Shape 72"/>
          <p:cNvSpPr/>
          <p:nvPr/>
        </p:nvSpPr>
        <p:spPr>
          <a:xfrm flipV="1">
            <a:off x="4640580" y="5036515"/>
            <a:ext cx="0" cy="59436"/>
          </a:xfrm>
          <a:prstGeom prst="line">
            <a:avLst/>
          </a:prstGeom>
          <a:noFill/>
          <a:ln w="12700">
            <a:solidFill>
              <a:srgbClr val="5F6368"/>
            </a:solidFill>
            <a:prstDash val="solid"/>
            <a:headEnd type="triangle" w="sm" len="sm"/>
          </a:ln>
        </p:spPr>
      </p:sp>
      <p:sp>
        <p:nvSpPr>
          <p:cNvPr id="76" name="Shape 73"/>
          <p:cNvSpPr/>
          <p:nvPr/>
        </p:nvSpPr>
        <p:spPr>
          <a:xfrm flipV="1">
            <a:off x="4640580" y="4808830"/>
            <a:ext cx="0" cy="58522"/>
          </a:xfrm>
          <a:prstGeom prst="line">
            <a:avLst/>
          </a:prstGeom>
          <a:noFill/>
          <a:ln w="12700">
            <a:solidFill>
              <a:srgbClr val="5F6368"/>
            </a:solidFill>
            <a:prstDash val="solid"/>
            <a:tailEnd type="triangle" w="sm" len="sm"/>
          </a:ln>
        </p:spPr>
      </p:sp>
      <p:sp>
        <p:nvSpPr>
          <p:cNvPr id="77" name="Shape 74"/>
          <p:cNvSpPr/>
          <p:nvPr/>
        </p:nvSpPr>
        <p:spPr>
          <a:xfrm flipV="1">
            <a:off x="4640580" y="5670194"/>
            <a:ext cx="0" cy="59436"/>
          </a:xfrm>
          <a:prstGeom prst="line">
            <a:avLst/>
          </a:prstGeom>
          <a:noFill/>
          <a:ln w="12700">
            <a:solidFill>
              <a:srgbClr val="5F6368"/>
            </a:solidFill>
            <a:prstDash val="solid"/>
            <a:headEnd type="triangle" w="sm" len="sm"/>
          </a:ln>
        </p:spPr>
      </p:sp>
      <p:sp>
        <p:nvSpPr>
          <p:cNvPr id="78" name="Shape 75"/>
          <p:cNvSpPr/>
          <p:nvPr/>
        </p:nvSpPr>
        <p:spPr>
          <a:xfrm flipV="1">
            <a:off x="4640580" y="5416906"/>
            <a:ext cx="0" cy="58522"/>
          </a:xfrm>
          <a:prstGeom prst="line">
            <a:avLst/>
          </a:prstGeom>
          <a:noFill/>
          <a:ln w="12700">
            <a:solidFill>
              <a:srgbClr val="5F6368"/>
            </a:solidFill>
            <a:prstDash val="solid"/>
            <a:tailEnd type="triangle" w="sm" len="sm"/>
          </a:ln>
        </p:spPr>
      </p:sp>
      <p:sp>
        <p:nvSpPr>
          <p:cNvPr id="79" name="Shape 76"/>
          <p:cNvSpPr/>
          <p:nvPr/>
        </p:nvSpPr>
        <p:spPr>
          <a:xfrm>
            <a:off x="783641" y="3860597"/>
            <a:ext cx="1926641" cy="113386"/>
          </a:xfrm>
          <a:prstGeom prst="rect">
            <a:avLst/>
          </a:prstGeom>
          <a:solidFill>
            <a:srgbClr val="FFFFFF"/>
          </a:solidFill>
          <a:ln/>
        </p:spPr>
      </p:sp>
      <p:sp>
        <p:nvSpPr>
          <p:cNvPr id="80" name="Text 77"/>
          <p:cNvSpPr/>
          <p:nvPr/>
        </p:nvSpPr>
        <p:spPr>
          <a:xfrm>
            <a:off x="797357" y="3862426"/>
            <a:ext cx="2069287" cy="111557"/>
          </a:xfrm>
          <a:prstGeom prst="rect">
            <a:avLst/>
          </a:prstGeom>
          <a:noFill/>
          <a:ln/>
        </p:spPr>
        <p:txBody>
          <a:bodyPr wrap="none" lIns="0" tIns="0" rIns="0" bIns="0" rtlCol="0" anchor="ctr"/>
          <a:lstStyle/>
          <a:p>
            <a:pPr algn="l" indent="0" marL="0">
              <a:lnSpc>
                <a:spcPct val="100000"/>
              </a:lnSpc>
              <a:buNone/>
            </a:pPr>
            <a:r>
              <a:rPr lang="en-US" sz="400" b="1" dirty="0">
                <a:solidFill>
                  <a:srgbClr val="202124"/>
                </a:solidFill>
                <a:latin typeface="Arial" pitchFamily="34" charset="0"/>
                <a:ea typeface="Arial" pitchFamily="34" charset="-122"/>
                <a:cs typeface="Arial" pitchFamily="34" charset="-120"/>
              </a:rPr>
              <a:t>Pattern A: Pooled Shared Runtime (pattern_a_pooled_rls_entities)</a:t>
            </a:r>
            <a:endParaRPr lang="en-US" sz="400" dirty="0"/>
          </a:p>
        </p:txBody>
      </p:sp>
      <p:sp>
        <p:nvSpPr>
          <p:cNvPr id="81" name="Shape 78"/>
          <p:cNvSpPr/>
          <p:nvPr/>
        </p:nvSpPr>
        <p:spPr>
          <a:xfrm>
            <a:off x="3081528" y="3860597"/>
            <a:ext cx="1636776" cy="113386"/>
          </a:xfrm>
          <a:prstGeom prst="rect">
            <a:avLst/>
          </a:prstGeom>
          <a:solidFill>
            <a:srgbClr val="FFFFFF"/>
          </a:solidFill>
          <a:ln/>
        </p:spPr>
      </p:sp>
      <p:sp>
        <p:nvSpPr>
          <p:cNvPr id="82" name="Text 79"/>
          <p:cNvSpPr/>
          <p:nvPr/>
        </p:nvSpPr>
        <p:spPr>
          <a:xfrm>
            <a:off x="3095244" y="3862426"/>
            <a:ext cx="2069287" cy="111557"/>
          </a:xfrm>
          <a:prstGeom prst="rect">
            <a:avLst/>
          </a:prstGeom>
          <a:noFill/>
          <a:ln/>
        </p:spPr>
        <p:txBody>
          <a:bodyPr wrap="none" lIns="0" tIns="0" rIns="0" bIns="0" rtlCol="0" anchor="ctr"/>
          <a:lstStyle/>
          <a:p>
            <a:pPr algn="l" indent="0" marL="0">
              <a:lnSpc>
                <a:spcPct val="100000"/>
              </a:lnSpc>
              <a:buNone/>
            </a:pPr>
            <a:r>
              <a:rPr lang="en-US" sz="400" b="1" dirty="0">
                <a:solidFill>
                  <a:srgbClr val="202124"/>
                </a:solidFill>
                <a:latin typeface="Arial" pitchFamily="34" charset="0"/>
                <a:ea typeface="Arial" pitchFamily="34" charset="-122"/>
                <a:cs typeface="Arial" pitchFamily="34" charset="-120"/>
              </a:rPr>
              <a:t>Dedicated Spoke: Pattern B Silo or Pattern C PSC Spoke</a:t>
            </a:r>
            <a:endParaRPr lang="en-US" sz="400" dirty="0"/>
          </a:p>
        </p:txBody>
      </p:sp>
      <p:sp>
        <p:nvSpPr>
          <p:cNvPr id="83" name="Shape 80"/>
          <p:cNvSpPr/>
          <p:nvPr/>
        </p:nvSpPr>
        <p:spPr>
          <a:xfrm>
            <a:off x="851306" y="4017874"/>
            <a:ext cx="1239926" cy="196596"/>
          </a:xfrm>
          <a:prstGeom prst="rect">
            <a:avLst/>
          </a:prstGeom>
          <a:solidFill>
            <a:srgbClr val="FEEFC3"/>
          </a:solidFill>
          <a:ln/>
        </p:spPr>
      </p:sp>
      <p:sp>
        <p:nvSpPr>
          <p:cNvPr id="84" name="Text 81"/>
          <p:cNvSpPr/>
          <p:nvPr/>
        </p:nvSpPr>
        <p:spPr>
          <a:xfrm>
            <a:off x="865022" y="4023360"/>
            <a:ext cx="1934870"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Tenant Pool (Shared Runtime)</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FinVault (8k Cap) &amp; RetailStream (4k Cap)</a:t>
            </a:r>
            <a:endParaRPr lang="en-US" sz="470" dirty="0"/>
          </a:p>
        </p:txBody>
      </p:sp>
      <p:sp>
        <p:nvSpPr>
          <p:cNvPr id="85" name="Shape 82"/>
          <p:cNvSpPr/>
          <p:nvPr/>
        </p:nvSpPr>
        <p:spPr>
          <a:xfrm>
            <a:off x="3149194" y="4017874"/>
            <a:ext cx="1296619" cy="196596"/>
          </a:xfrm>
          <a:prstGeom prst="rect">
            <a:avLst/>
          </a:prstGeom>
          <a:solidFill>
            <a:srgbClr val="FAD2CF"/>
          </a:solidFill>
          <a:ln/>
        </p:spPr>
      </p:sp>
      <p:sp>
        <p:nvSpPr>
          <p:cNvPr id="86" name="Text 83"/>
          <p:cNvSpPr/>
          <p:nvPr/>
        </p:nvSpPr>
        <p:spPr>
          <a:xfrm>
            <a:off x="3162910" y="4023360"/>
            <a:ext cx="1934870"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Dedicated Sovereign Tenant Silo</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VPC-SC + IAM PAB + finvault-silo-cmek + PSC</a:t>
            </a:r>
            <a:endParaRPr lang="en-US" sz="470" dirty="0"/>
          </a:p>
        </p:txBody>
      </p:sp>
      <p:sp>
        <p:nvSpPr>
          <p:cNvPr id="87" name="Shape 84"/>
          <p:cNvSpPr/>
          <p:nvPr/>
        </p:nvSpPr>
        <p:spPr>
          <a:xfrm>
            <a:off x="775411" y="2032711"/>
            <a:ext cx="1911096" cy="196596"/>
          </a:xfrm>
          <a:prstGeom prst="rect">
            <a:avLst/>
          </a:prstGeom>
          <a:solidFill>
            <a:srgbClr val="AECBFA"/>
          </a:solidFill>
          <a:ln/>
        </p:spPr>
      </p:sp>
      <p:sp>
        <p:nvSpPr>
          <p:cNvPr id="88" name="Text 85"/>
          <p:cNvSpPr/>
          <p:nvPr/>
        </p:nvSpPr>
        <p:spPr>
          <a:xfrm>
            <a:off x="789127" y="2038198"/>
            <a:ext cx="2694737"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Routing hub (Hop 1 &amp; Hop 2 PEP/PDP)</a:t>
            </a:r>
            <a:endParaRPr lang="en-US" sz="470" dirty="0"/>
          </a:p>
          <a:p>
            <a:pPr algn="l" indent="0" marL="0">
              <a:lnSpc>
                <a:spcPct val="102000"/>
              </a:lnSpc>
              <a:buNone/>
            </a:pPr>
            <a:r>
              <a:rPr lang="en-US" sz="380" dirty="0">
                <a:solidFill>
                  <a:srgbClr val="202124"/>
                </a:solidFill>
                <a:latin typeface="Arial" pitchFamily="34" charset="0"/>
                <a:ea typeface="Arial" pitchFamily="34" charset="-122"/>
                <a:cs typeface="Arial" pitchFamily="34" charset="-120"/>
              </a:rPr>
              <a:t>Central ingress, OBO+DPoP KMS Sign &amp; Discovery Engine Catalog filter</a:t>
            </a:r>
            <a:endParaRPr lang="en-US" sz="470" dirty="0"/>
          </a:p>
        </p:txBody>
      </p:sp>
      <p:sp>
        <p:nvSpPr>
          <p:cNvPr id="89" name="Shape 86"/>
          <p:cNvSpPr/>
          <p:nvPr/>
        </p:nvSpPr>
        <p:spPr>
          <a:xfrm>
            <a:off x="3858768" y="2066544"/>
            <a:ext cx="1275588" cy="118872"/>
          </a:xfrm>
          <a:prstGeom prst="rect">
            <a:avLst/>
          </a:prstGeom>
          <a:solidFill>
            <a:srgbClr val="CEEAD6"/>
          </a:solidFill>
          <a:ln/>
        </p:spPr>
      </p:sp>
      <p:sp>
        <p:nvSpPr>
          <p:cNvPr id="90" name="Text 87"/>
          <p:cNvSpPr/>
          <p:nvPr/>
        </p:nvSpPr>
        <p:spPr>
          <a:xfrm>
            <a:off x="3872484" y="2072030"/>
            <a:ext cx="1275588" cy="210312"/>
          </a:xfrm>
          <a:prstGeom prst="rect">
            <a:avLst/>
          </a:prstGeom>
          <a:noFill/>
          <a:ln/>
        </p:spPr>
        <p:txBody>
          <a:bodyPr wrap="square" lIns="0" tIns="0" rIns="0" bIns="0" rtlCol="0" anchor="t"/>
          <a:lstStyle/>
          <a:p>
            <a:pPr algn="l" indent="0" marL="0">
              <a:lnSpc>
                <a:spcPct val="102000"/>
              </a:lnSpc>
              <a:buNone/>
            </a:pPr>
            <a:r>
              <a:rPr lang="en-US" sz="430" b="1" dirty="0">
                <a:solidFill>
                  <a:srgbClr val="202124"/>
                </a:solidFill>
                <a:latin typeface="Arial" pitchFamily="34" charset="0"/>
                <a:ea typeface="Arial" pitchFamily="34" charset="-122"/>
                <a:cs typeface="Arial" pitchFamily="34" charset="-120"/>
              </a:rPr>
              <a:t>Central governance and FinOps observability hub</a:t>
            </a:r>
            <a:endParaRPr lang="en-US" sz="430" dirty="0"/>
          </a:p>
        </p:txBody>
      </p:sp>
      <p:sp>
        <p:nvSpPr>
          <p:cNvPr id="91" name="Shape 88"/>
          <p:cNvSpPr/>
          <p:nvPr/>
        </p:nvSpPr>
        <p:spPr>
          <a:xfrm>
            <a:off x="2410358" y="804672"/>
            <a:ext cx="1056132" cy="363017"/>
          </a:xfrm>
          <a:prstGeom prst="roundRect">
            <a:avLst>
              <a:gd name="adj" fmla="val 10076"/>
            </a:avLst>
          </a:prstGeom>
          <a:solidFill>
            <a:srgbClr val="FFFFFF"/>
          </a:solidFill>
          <a:ln w="10795">
            <a:solidFill>
              <a:srgbClr val="DADCE0"/>
            </a:solidFill>
            <a:prstDash val="solid"/>
          </a:ln>
        </p:spPr>
      </p:sp>
      <p:pic>
        <p:nvPicPr>
          <p:cNvPr id="92" name="Image 1" descr="preencoded.png">    </p:cNvPr>
          <p:cNvPicPr>
            <a:picLocks noChangeAspect="1"/>
          </p:cNvPicPr>
          <p:nvPr/>
        </p:nvPicPr>
        <p:blipFill>
          <a:blip r:embed="rId2"/>
          <a:stretch>
            <a:fillRect/>
          </a:stretch>
        </p:blipFill>
        <p:spPr>
          <a:xfrm>
            <a:off x="2451506" y="904342"/>
            <a:ext cx="164592" cy="164592"/>
          </a:xfrm>
          <a:prstGeom prst="rect">
            <a:avLst/>
          </a:prstGeom>
        </p:spPr>
      </p:pic>
      <p:sp>
        <p:nvSpPr>
          <p:cNvPr id="93" name="Text 89"/>
          <p:cNvSpPr/>
          <p:nvPr/>
        </p:nvSpPr>
        <p:spPr>
          <a:xfrm>
            <a:off x="2629814" y="804672"/>
            <a:ext cx="804672" cy="363017"/>
          </a:xfrm>
          <a:prstGeom prst="rect">
            <a:avLst/>
          </a:prstGeom>
          <a:noFill/>
          <a:ln/>
        </p:spPr>
        <p:txBody>
          <a:bodyPr wrap="square" lIns="0" tIns="0" rIns="0" bIns="0" rtlCol="0" anchor="ctr"/>
          <a:lstStyle/>
          <a:p>
            <a:pPr algn="l" indent="0" marL="0">
              <a:lnSpc>
                <a:spcPct val="104000"/>
              </a:lnSpc>
              <a:buNone/>
            </a:pPr>
            <a:r>
              <a:rPr lang="en-US" sz="480" b="1" dirty="0">
                <a:solidFill>
                  <a:srgbClr val="202124"/>
                </a:solidFill>
                <a:latin typeface="Arial" pitchFamily="34" charset="0"/>
                <a:ea typeface="Arial" pitchFamily="34" charset="-122"/>
                <a:cs typeface="Arial" pitchFamily="34" charset="-120"/>
              </a:rPr>
              <a:t>Competing B2B Tenants</a:t>
            </a:r>
            <a:endParaRPr lang="en-US" sz="480" dirty="0"/>
          </a:p>
          <a:p>
            <a:pPr algn="l" indent="0" marL="0">
              <a:lnSpc>
                <a:spcPct val="104000"/>
              </a:lnSpc>
              <a:buNone/>
            </a:pPr>
            <a:r>
              <a:rPr lang="en-US" sz="410" dirty="0">
                <a:solidFill>
                  <a:srgbClr val="3C4043"/>
                </a:solidFill>
                <a:latin typeface="Arial" pitchFamily="34" charset="0"/>
                <a:ea typeface="Arial" pitchFamily="34" charset="-122"/>
                <a:cs typeface="Arial" pitchFamily="34" charset="-120"/>
              </a:rPr>
              <a:t>FinVault (OIDC) &amp; RetailStream (Entra)</a:t>
            </a:r>
            <a:endParaRPr lang="en-US" sz="480" dirty="0"/>
          </a:p>
        </p:txBody>
      </p:sp>
      <p:sp>
        <p:nvSpPr>
          <p:cNvPr id="94" name="Shape 90"/>
          <p:cNvSpPr/>
          <p:nvPr/>
        </p:nvSpPr>
        <p:spPr>
          <a:xfrm>
            <a:off x="2355494" y="2409444"/>
            <a:ext cx="1106424" cy="320954"/>
          </a:xfrm>
          <a:prstGeom prst="roundRect">
            <a:avLst>
              <a:gd name="adj" fmla="val 11396"/>
            </a:avLst>
          </a:prstGeom>
          <a:solidFill>
            <a:srgbClr val="FFFFFF"/>
          </a:solidFill>
          <a:ln w="10795">
            <a:solidFill>
              <a:srgbClr val="DADCE0"/>
            </a:solidFill>
            <a:prstDash val="solid"/>
          </a:ln>
        </p:spPr>
      </p:sp>
      <p:pic>
        <p:nvPicPr>
          <p:cNvPr id="95" name="Image 2" descr="preencoded.png">    </p:cNvPr>
          <p:cNvPicPr>
            <a:picLocks noChangeAspect="1"/>
          </p:cNvPicPr>
          <p:nvPr/>
        </p:nvPicPr>
        <p:blipFill>
          <a:blip r:embed="rId3"/>
          <a:stretch>
            <a:fillRect/>
          </a:stretch>
        </p:blipFill>
        <p:spPr>
          <a:xfrm>
            <a:off x="2396642" y="2486254"/>
            <a:ext cx="167335" cy="167335"/>
          </a:xfrm>
          <a:prstGeom prst="rect">
            <a:avLst/>
          </a:prstGeom>
        </p:spPr>
      </p:pic>
      <p:sp>
        <p:nvSpPr>
          <p:cNvPr id="96" name="Text 91"/>
          <p:cNvSpPr/>
          <p:nvPr/>
        </p:nvSpPr>
        <p:spPr>
          <a:xfrm>
            <a:off x="2586838" y="2409444"/>
            <a:ext cx="847649" cy="320954"/>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External Application Load Balancer</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Cloud Load Balancing</a:t>
            </a:r>
            <a:endParaRPr lang="en-US" sz="460" dirty="0"/>
          </a:p>
        </p:txBody>
      </p:sp>
      <p:sp>
        <p:nvSpPr>
          <p:cNvPr id="97" name="Shape 92"/>
          <p:cNvSpPr/>
          <p:nvPr/>
        </p:nvSpPr>
        <p:spPr>
          <a:xfrm>
            <a:off x="3927348" y="2299716"/>
            <a:ext cx="1165860" cy="304495"/>
          </a:xfrm>
          <a:prstGeom prst="roundRect">
            <a:avLst>
              <a:gd name="adj" fmla="val 12012"/>
            </a:avLst>
          </a:prstGeom>
          <a:solidFill>
            <a:srgbClr val="FFFFFF"/>
          </a:solidFill>
          <a:ln w="10795">
            <a:solidFill>
              <a:srgbClr val="DADCE0"/>
            </a:solidFill>
            <a:prstDash val="solid"/>
          </a:ln>
        </p:spPr>
      </p:sp>
      <p:pic>
        <p:nvPicPr>
          <p:cNvPr id="98" name="Image 3" descr="preencoded.png">    </p:cNvPr>
          <p:cNvPicPr>
            <a:picLocks noChangeAspect="1"/>
          </p:cNvPicPr>
          <p:nvPr/>
        </p:nvPicPr>
        <p:blipFill>
          <a:blip r:embed="rId4"/>
          <a:stretch>
            <a:fillRect/>
          </a:stretch>
        </p:blipFill>
        <p:spPr>
          <a:xfrm>
            <a:off x="3968496" y="2372868"/>
            <a:ext cx="158191" cy="158191"/>
          </a:xfrm>
          <a:prstGeom prst="rect">
            <a:avLst/>
          </a:prstGeom>
        </p:spPr>
      </p:pic>
      <p:sp>
        <p:nvSpPr>
          <p:cNvPr id="99" name="Text 93"/>
          <p:cNvSpPr/>
          <p:nvPr/>
        </p:nvSpPr>
        <p:spPr>
          <a:xfrm>
            <a:off x="4149547" y="2299716"/>
            <a:ext cx="916229" cy="304495"/>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Security Command Center</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security_breach_audit_log</a:t>
            </a:r>
            <a:endParaRPr lang="en-US" sz="460" dirty="0"/>
          </a:p>
        </p:txBody>
      </p:sp>
      <p:sp>
        <p:nvSpPr>
          <p:cNvPr id="100" name="Shape 94"/>
          <p:cNvSpPr/>
          <p:nvPr/>
        </p:nvSpPr>
        <p:spPr>
          <a:xfrm>
            <a:off x="3943807" y="3009290"/>
            <a:ext cx="1132027" cy="287122"/>
          </a:xfrm>
          <a:prstGeom prst="roundRect">
            <a:avLst>
              <a:gd name="adj" fmla="val 12739"/>
            </a:avLst>
          </a:prstGeom>
          <a:solidFill>
            <a:srgbClr val="FFFFFF"/>
          </a:solidFill>
          <a:ln w="10795">
            <a:solidFill>
              <a:srgbClr val="DADCE0"/>
            </a:solidFill>
            <a:prstDash val="solid"/>
          </a:ln>
        </p:spPr>
      </p:sp>
      <p:pic>
        <p:nvPicPr>
          <p:cNvPr id="101" name="Image 4" descr="preencoded.png">    </p:cNvPr>
          <p:cNvPicPr>
            <a:picLocks noChangeAspect="1"/>
          </p:cNvPicPr>
          <p:nvPr/>
        </p:nvPicPr>
        <p:blipFill>
          <a:blip r:embed="rId5"/>
          <a:stretch>
            <a:fillRect/>
          </a:stretch>
        </p:blipFill>
        <p:spPr>
          <a:xfrm>
            <a:off x="3984955" y="3077870"/>
            <a:ext cx="149047" cy="149047"/>
          </a:xfrm>
          <a:prstGeom prst="rect">
            <a:avLst/>
          </a:prstGeom>
        </p:spPr>
      </p:pic>
      <p:sp>
        <p:nvSpPr>
          <p:cNvPr id="102" name="Text 95"/>
          <p:cNvSpPr/>
          <p:nvPr/>
        </p:nvSpPr>
        <p:spPr>
          <a:xfrm>
            <a:off x="4156862" y="3009290"/>
            <a:ext cx="891540" cy="287122"/>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Cloud Logging &amp; BQ</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tenant_telemetry_spans</a:t>
            </a:r>
            <a:endParaRPr lang="en-US" sz="460" dirty="0"/>
          </a:p>
        </p:txBody>
      </p:sp>
      <p:sp>
        <p:nvSpPr>
          <p:cNvPr id="103" name="Shape 96"/>
          <p:cNvSpPr/>
          <p:nvPr/>
        </p:nvSpPr>
        <p:spPr>
          <a:xfrm>
            <a:off x="3952037" y="2662733"/>
            <a:ext cx="1114654" cy="287122"/>
          </a:xfrm>
          <a:prstGeom prst="roundRect">
            <a:avLst>
              <a:gd name="adj" fmla="val 12739"/>
            </a:avLst>
          </a:prstGeom>
          <a:solidFill>
            <a:srgbClr val="FFFFFF"/>
          </a:solidFill>
          <a:ln w="10795">
            <a:solidFill>
              <a:srgbClr val="DADCE0"/>
            </a:solidFill>
            <a:prstDash val="solid"/>
          </a:ln>
        </p:spPr>
      </p:sp>
      <p:pic>
        <p:nvPicPr>
          <p:cNvPr id="104" name="Image 5" descr="preencoded.png">    </p:cNvPr>
          <p:cNvPicPr>
            <a:picLocks noChangeAspect="1"/>
          </p:cNvPicPr>
          <p:nvPr/>
        </p:nvPicPr>
        <p:blipFill>
          <a:blip r:embed="rId6"/>
          <a:stretch>
            <a:fillRect/>
          </a:stretch>
        </p:blipFill>
        <p:spPr>
          <a:xfrm>
            <a:off x="3993185" y="2731313"/>
            <a:ext cx="149047" cy="149047"/>
          </a:xfrm>
          <a:prstGeom prst="rect">
            <a:avLst/>
          </a:prstGeom>
        </p:spPr>
      </p:pic>
      <p:sp>
        <p:nvSpPr>
          <p:cNvPr id="105" name="Text 97"/>
          <p:cNvSpPr/>
          <p:nvPr/>
        </p:nvSpPr>
        <p:spPr>
          <a:xfrm>
            <a:off x="4165092" y="2662733"/>
            <a:ext cx="874166" cy="287122"/>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Central IAM &amp; PAB</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Agent Identity (2LO/3LO)</a:t>
            </a:r>
            <a:endParaRPr lang="en-US" sz="460" dirty="0"/>
          </a:p>
        </p:txBody>
      </p:sp>
      <p:sp>
        <p:nvSpPr>
          <p:cNvPr id="106" name="Shape 98"/>
          <p:cNvSpPr/>
          <p:nvPr/>
        </p:nvSpPr>
        <p:spPr>
          <a:xfrm>
            <a:off x="1890979" y="4487875"/>
            <a:ext cx="903427" cy="312725"/>
          </a:xfrm>
          <a:prstGeom prst="roundRect">
            <a:avLst>
              <a:gd name="adj" fmla="val 11696"/>
            </a:avLst>
          </a:prstGeom>
          <a:solidFill>
            <a:srgbClr val="FFFFFF"/>
          </a:solidFill>
          <a:ln w="10795">
            <a:solidFill>
              <a:srgbClr val="DADCE0"/>
            </a:solidFill>
            <a:prstDash val="solid"/>
          </a:ln>
        </p:spPr>
      </p:sp>
      <p:pic>
        <p:nvPicPr>
          <p:cNvPr id="107" name="Image 6" descr="preencoded.png">    </p:cNvPr>
          <p:cNvPicPr>
            <a:picLocks noChangeAspect="1"/>
          </p:cNvPicPr>
          <p:nvPr/>
        </p:nvPicPr>
        <p:blipFill>
          <a:blip r:embed="rId7"/>
          <a:stretch>
            <a:fillRect/>
          </a:stretch>
        </p:blipFill>
        <p:spPr>
          <a:xfrm>
            <a:off x="1932127" y="4562856"/>
            <a:ext cx="162763" cy="162763"/>
          </a:xfrm>
          <a:prstGeom prst="rect">
            <a:avLst/>
          </a:prstGeom>
        </p:spPr>
      </p:pic>
      <p:sp>
        <p:nvSpPr>
          <p:cNvPr id="108" name="Text 99"/>
          <p:cNvSpPr/>
          <p:nvPr/>
        </p:nvSpPr>
        <p:spPr>
          <a:xfrm>
            <a:off x="2117750" y="4487875"/>
            <a:ext cx="649224" cy="312725"/>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Vertex AI Agent Engine</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gVisor + temp:tenant_id</a:t>
            </a:r>
            <a:endParaRPr lang="en-US" sz="460" dirty="0"/>
          </a:p>
        </p:txBody>
      </p:sp>
      <p:sp>
        <p:nvSpPr>
          <p:cNvPr id="109" name="Shape 100"/>
          <p:cNvSpPr/>
          <p:nvPr/>
        </p:nvSpPr>
        <p:spPr>
          <a:xfrm>
            <a:off x="1890979" y="5095951"/>
            <a:ext cx="903427" cy="312725"/>
          </a:xfrm>
          <a:prstGeom prst="roundRect">
            <a:avLst>
              <a:gd name="adj" fmla="val 11696"/>
            </a:avLst>
          </a:prstGeom>
          <a:solidFill>
            <a:srgbClr val="FFFFFF"/>
          </a:solidFill>
          <a:ln w="10795">
            <a:solidFill>
              <a:srgbClr val="DADCE0"/>
            </a:solidFill>
            <a:prstDash val="solid"/>
          </a:ln>
        </p:spPr>
      </p:sp>
      <p:pic>
        <p:nvPicPr>
          <p:cNvPr id="110" name="Image 7" descr="preencoded.png">    </p:cNvPr>
          <p:cNvPicPr>
            <a:picLocks noChangeAspect="1"/>
          </p:cNvPicPr>
          <p:nvPr/>
        </p:nvPicPr>
        <p:blipFill>
          <a:blip r:embed="rId8"/>
          <a:stretch>
            <a:fillRect/>
          </a:stretch>
        </p:blipFill>
        <p:spPr>
          <a:xfrm>
            <a:off x="1932127" y="5170932"/>
            <a:ext cx="162763" cy="162763"/>
          </a:xfrm>
          <a:prstGeom prst="rect">
            <a:avLst/>
          </a:prstGeom>
        </p:spPr>
      </p:pic>
      <p:sp>
        <p:nvSpPr>
          <p:cNvPr id="111" name="Text 101"/>
          <p:cNvSpPr/>
          <p:nvPr/>
        </p:nvSpPr>
        <p:spPr>
          <a:xfrm>
            <a:off x="2117750" y="5095951"/>
            <a:ext cx="649224" cy="312725"/>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MCP servers</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2LO + 3LO OIDC/Entra</a:t>
            </a:r>
            <a:endParaRPr lang="en-US" sz="460" dirty="0"/>
          </a:p>
        </p:txBody>
      </p:sp>
      <p:sp>
        <p:nvSpPr>
          <p:cNvPr id="112" name="Shape 102"/>
          <p:cNvSpPr/>
          <p:nvPr/>
        </p:nvSpPr>
        <p:spPr>
          <a:xfrm>
            <a:off x="1890979" y="5729630"/>
            <a:ext cx="903427" cy="312725"/>
          </a:xfrm>
          <a:prstGeom prst="roundRect">
            <a:avLst>
              <a:gd name="adj" fmla="val 11696"/>
            </a:avLst>
          </a:prstGeom>
          <a:solidFill>
            <a:srgbClr val="FFFFFF"/>
          </a:solidFill>
          <a:ln w="10795">
            <a:solidFill>
              <a:srgbClr val="DADCE0"/>
            </a:solidFill>
            <a:prstDash val="solid"/>
          </a:ln>
        </p:spPr>
      </p:sp>
      <p:pic>
        <p:nvPicPr>
          <p:cNvPr id="113" name="Image 8" descr="preencoded.png">    </p:cNvPr>
          <p:cNvPicPr>
            <a:picLocks noChangeAspect="1"/>
          </p:cNvPicPr>
          <p:nvPr/>
        </p:nvPicPr>
        <p:blipFill>
          <a:blip r:embed="rId9"/>
          <a:stretch>
            <a:fillRect/>
          </a:stretch>
        </p:blipFill>
        <p:spPr>
          <a:xfrm>
            <a:off x="1932127" y="5804611"/>
            <a:ext cx="162763" cy="162763"/>
          </a:xfrm>
          <a:prstGeom prst="rect">
            <a:avLst/>
          </a:prstGeom>
        </p:spPr>
      </p:pic>
      <p:sp>
        <p:nvSpPr>
          <p:cNvPr id="114" name="Text 103"/>
          <p:cNvSpPr/>
          <p:nvPr/>
        </p:nvSpPr>
        <p:spPr>
          <a:xfrm>
            <a:off x="2117750" y="5729630"/>
            <a:ext cx="649224" cy="312725"/>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AlloyDB &amp; BQ RLS</a:t>
            </a:r>
            <a:endParaRPr lang="en-US" sz="460" dirty="0"/>
          </a:p>
          <a:p>
            <a:pPr algn="l" indent="0" marL="0">
              <a:lnSpc>
                <a:spcPct val="100000"/>
              </a:lnSpc>
              <a:buNone/>
            </a:pPr>
            <a:r>
              <a:rPr lang="en-US" sz="361" dirty="0">
                <a:solidFill>
                  <a:srgbClr val="3C4043"/>
                </a:solidFill>
                <a:latin typeface="Arial" pitchFamily="34" charset="0"/>
                <a:ea typeface="Arial" pitchFamily="34" charset="-122"/>
                <a:cs typeface="Arial" pitchFamily="34" charset="-120"/>
              </a:rPr>
              <a:t>tenant_pooled_rls_policy</a:t>
            </a:r>
            <a:endParaRPr lang="en-US" sz="460" dirty="0"/>
          </a:p>
        </p:txBody>
      </p:sp>
      <p:sp>
        <p:nvSpPr>
          <p:cNvPr id="115" name="Shape 104"/>
          <p:cNvSpPr/>
          <p:nvPr/>
        </p:nvSpPr>
        <p:spPr>
          <a:xfrm>
            <a:off x="4188866" y="4487875"/>
            <a:ext cx="903427" cy="312725"/>
          </a:xfrm>
          <a:prstGeom prst="roundRect">
            <a:avLst>
              <a:gd name="adj" fmla="val 11696"/>
            </a:avLst>
          </a:prstGeom>
          <a:solidFill>
            <a:srgbClr val="FFFFFF"/>
          </a:solidFill>
          <a:ln w="10795">
            <a:solidFill>
              <a:srgbClr val="DADCE0"/>
            </a:solidFill>
            <a:prstDash val="solid"/>
          </a:ln>
        </p:spPr>
      </p:sp>
      <p:pic>
        <p:nvPicPr>
          <p:cNvPr id="116" name="Image 9" descr="preencoded.png">    </p:cNvPr>
          <p:cNvPicPr>
            <a:picLocks noChangeAspect="1"/>
          </p:cNvPicPr>
          <p:nvPr/>
        </p:nvPicPr>
        <p:blipFill>
          <a:blip r:embed="rId10"/>
          <a:stretch>
            <a:fillRect/>
          </a:stretch>
        </p:blipFill>
        <p:spPr>
          <a:xfrm>
            <a:off x="4230014" y="4562856"/>
            <a:ext cx="162763" cy="162763"/>
          </a:xfrm>
          <a:prstGeom prst="rect">
            <a:avLst/>
          </a:prstGeom>
        </p:spPr>
      </p:pic>
      <p:sp>
        <p:nvSpPr>
          <p:cNvPr id="117" name="Text 105"/>
          <p:cNvSpPr/>
          <p:nvPr/>
        </p:nvSpPr>
        <p:spPr>
          <a:xfrm>
            <a:off x="4415638" y="4487875"/>
            <a:ext cx="649224" cy="312725"/>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Vertex AI Agent Engine</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Dedicated Silo + Agent Alpha</a:t>
            </a:r>
            <a:endParaRPr lang="en-US" sz="460" dirty="0"/>
          </a:p>
        </p:txBody>
      </p:sp>
      <p:sp>
        <p:nvSpPr>
          <p:cNvPr id="118" name="Shape 106"/>
          <p:cNvSpPr/>
          <p:nvPr/>
        </p:nvSpPr>
        <p:spPr>
          <a:xfrm>
            <a:off x="4188866" y="5095951"/>
            <a:ext cx="903427" cy="312725"/>
          </a:xfrm>
          <a:prstGeom prst="roundRect">
            <a:avLst>
              <a:gd name="adj" fmla="val 11696"/>
            </a:avLst>
          </a:prstGeom>
          <a:solidFill>
            <a:srgbClr val="FFFFFF"/>
          </a:solidFill>
          <a:ln w="10795">
            <a:solidFill>
              <a:srgbClr val="DADCE0"/>
            </a:solidFill>
            <a:prstDash val="solid"/>
          </a:ln>
        </p:spPr>
      </p:sp>
      <p:pic>
        <p:nvPicPr>
          <p:cNvPr id="119" name="Image 10" descr="preencoded.png">    </p:cNvPr>
          <p:cNvPicPr>
            <a:picLocks noChangeAspect="1"/>
          </p:cNvPicPr>
          <p:nvPr/>
        </p:nvPicPr>
        <p:blipFill>
          <a:blip r:embed="rId11"/>
          <a:stretch>
            <a:fillRect/>
          </a:stretch>
        </p:blipFill>
        <p:spPr>
          <a:xfrm>
            <a:off x="4230014" y="5170932"/>
            <a:ext cx="162763" cy="162763"/>
          </a:xfrm>
          <a:prstGeom prst="rect">
            <a:avLst/>
          </a:prstGeom>
        </p:spPr>
      </p:pic>
      <p:sp>
        <p:nvSpPr>
          <p:cNvPr id="120" name="Text 107"/>
          <p:cNvSpPr/>
          <p:nvPr/>
        </p:nvSpPr>
        <p:spPr>
          <a:xfrm>
            <a:off x="4415638" y="5095951"/>
            <a:ext cx="649224" cy="312725"/>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MCP servers</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Local Silo 3LO Connectors</a:t>
            </a:r>
            <a:endParaRPr lang="en-US" sz="460" dirty="0"/>
          </a:p>
        </p:txBody>
      </p:sp>
      <p:sp>
        <p:nvSpPr>
          <p:cNvPr id="121" name="Shape 108"/>
          <p:cNvSpPr/>
          <p:nvPr/>
        </p:nvSpPr>
        <p:spPr>
          <a:xfrm>
            <a:off x="4188866" y="5729630"/>
            <a:ext cx="903427" cy="312725"/>
          </a:xfrm>
          <a:prstGeom prst="roundRect">
            <a:avLst>
              <a:gd name="adj" fmla="val 11696"/>
            </a:avLst>
          </a:prstGeom>
          <a:solidFill>
            <a:srgbClr val="FFFFFF"/>
          </a:solidFill>
          <a:ln w="10795">
            <a:solidFill>
              <a:srgbClr val="DADCE0"/>
            </a:solidFill>
            <a:prstDash val="solid"/>
          </a:ln>
        </p:spPr>
      </p:sp>
      <p:pic>
        <p:nvPicPr>
          <p:cNvPr id="122" name="Image 11" descr="preencoded.png">    </p:cNvPr>
          <p:cNvPicPr>
            <a:picLocks noChangeAspect="1"/>
          </p:cNvPicPr>
          <p:nvPr/>
        </p:nvPicPr>
        <p:blipFill>
          <a:blip r:embed="rId12"/>
          <a:stretch>
            <a:fillRect/>
          </a:stretch>
        </p:blipFill>
        <p:spPr>
          <a:xfrm>
            <a:off x="4230014" y="5804611"/>
            <a:ext cx="162763" cy="162763"/>
          </a:xfrm>
          <a:prstGeom prst="rect">
            <a:avLst/>
          </a:prstGeom>
        </p:spPr>
      </p:pic>
      <p:sp>
        <p:nvSpPr>
          <p:cNvPr id="123" name="Text 109"/>
          <p:cNvSpPr/>
          <p:nvPr/>
        </p:nvSpPr>
        <p:spPr>
          <a:xfrm>
            <a:off x="4415638" y="5729630"/>
            <a:ext cx="649224" cy="312725"/>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CMEK Datastore</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finvault-silo-cmek &amp; 423 Lock</a:t>
            </a:r>
            <a:endParaRPr lang="en-US" sz="460" dirty="0"/>
          </a:p>
        </p:txBody>
      </p:sp>
      <p:sp>
        <p:nvSpPr>
          <p:cNvPr id="124" name="Shape 110"/>
          <p:cNvSpPr/>
          <p:nvPr/>
        </p:nvSpPr>
        <p:spPr>
          <a:xfrm>
            <a:off x="2456993" y="3034894"/>
            <a:ext cx="946404" cy="278892"/>
          </a:xfrm>
          <a:prstGeom prst="roundRect">
            <a:avLst>
              <a:gd name="adj" fmla="val 13115"/>
            </a:avLst>
          </a:prstGeom>
          <a:solidFill>
            <a:srgbClr val="FFFFFF"/>
          </a:solidFill>
          <a:ln w="10795">
            <a:solidFill>
              <a:srgbClr val="DADCE0"/>
            </a:solidFill>
            <a:prstDash val="solid"/>
          </a:ln>
        </p:spPr>
      </p:sp>
      <p:pic>
        <p:nvPicPr>
          <p:cNvPr id="125" name="Image 12" descr="preencoded.png">    </p:cNvPr>
          <p:cNvPicPr>
            <a:picLocks noChangeAspect="1"/>
          </p:cNvPicPr>
          <p:nvPr/>
        </p:nvPicPr>
        <p:blipFill>
          <a:blip r:embed="rId13"/>
          <a:stretch>
            <a:fillRect/>
          </a:stretch>
        </p:blipFill>
        <p:spPr>
          <a:xfrm>
            <a:off x="2498141" y="3101645"/>
            <a:ext cx="145390" cy="145390"/>
          </a:xfrm>
          <a:prstGeom prst="rect">
            <a:avLst/>
          </a:prstGeom>
        </p:spPr>
      </p:pic>
      <p:sp>
        <p:nvSpPr>
          <p:cNvPr id="126" name="Text 111"/>
          <p:cNvSpPr/>
          <p:nvPr/>
        </p:nvSpPr>
        <p:spPr>
          <a:xfrm>
            <a:off x="2666390" y="3034894"/>
            <a:ext cx="709574" cy="278892"/>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Cloud Run</a:t>
            </a:r>
            <a:endParaRPr lang="en-US" sz="460" dirty="0"/>
          </a:p>
          <a:p>
            <a:pPr algn="l" indent="0" marL="0">
              <a:lnSpc>
                <a:spcPct val="100000"/>
              </a:lnSpc>
              <a:buNone/>
            </a:pPr>
            <a:r>
              <a:rPr lang="en-US" sz="338" dirty="0">
                <a:solidFill>
                  <a:srgbClr val="3C4043"/>
                </a:solidFill>
                <a:latin typeface="Arial" pitchFamily="34" charset="0"/>
                <a:ea typeface="Arial" pitchFamily="34" charset="-122"/>
                <a:cs typeface="Arial" pitchFamily="34" charset="-120"/>
              </a:rPr>
              <a:t>cymbal-multi-tenant-patterns</a:t>
            </a:r>
            <a:endParaRPr lang="en-US" sz="460" dirty="0"/>
          </a:p>
        </p:txBody>
      </p:sp>
      <p:sp>
        <p:nvSpPr>
          <p:cNvPr id="127" name="Shape 112"/>
          <p:cNvSpPr/>
          <p:nvPr/>
        </p:nvSpPr>
        <p:spPr>
          <a:xfrm>
            <a:off x="852221" y="4276649"/>
            <a:ext cx="819302" cy="304495"/>
          </a:xfrm>
          <a:prstGeom prst="roundRect">
            <a:avLst>
              <a:gd name="adj" fmla="val 12012"/>
            </a:avLst>
          </a:prstGeom>
          <a:solidFill>
            <a:srgbClr val="FFFFFF"/>
          </a:solidFill>
          <a:ln w="10795">
            <a:solidFill>
              <a:srgbClr val="DADCE0"/>
            </a:solidFill>
            <a:prstDash val="solid"/>
          </a:ln>
        </p:spPr>
      </p:sp>
      <p:pic>
        <p:nvPicPr>
          <p:cNvPr id="128" name="Image 13" descr="preencoded.png">    </p:cNvPr>
          <p:cNvPicPr>
            <a:picLocks noChangeAspect="1"/>
          </p:cNvPicPr>
          <p:nvPr/>
        </p:nvPicPr>
        <p:blipFill>
          <a:blip r:embed="rId14"/>
          <a:stretch>
            <a:fillRect/>
          </a:stretch>
        </p:blipFill>
        <p:spPr>
          <a:xfrm>
            <a:off x="893369" y="4349801"/>
            <a:ext cx="158191" cy="158191"/>
          </a:xfrm>
          <a:prstGeom prst="rect">
            <a:avLst/>
          </a:prstGeom>
        </p:spPr>
      </p:pic>
      <p:sp>
        <p:nvSpPr>
          <p:cNvPr id="129" name="Text 113"/>
          <p:cNvSpPr/>
          <p:nvPr/>
        </p:nvSpPr>
        <p:spPr>
          <a:xfrm>
            <a:off x="1074420" y="4276649"/>
            <a:ext cx="569671" cy="304495"/>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Model Armor</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Tenant Rai Filters &amp; SDP PII</a:t>
            </a:r>
            <a:endParaRPr lang="en-US" sz="460" dirty="0"/>
          </a:p>
        </p:txBody>
      </p:sp>
      <p:sp>
        <p:nvSpPr>
          <p:cNvPr id="130" name="Shape 114"/>
          <p:cNvSpPr/>
          <p:nvPr/>
        </p:nvSpPr>
        <p:spPr>
          <a:xfrm>
            <a:off x="852221" y="5273345"/>
            <a:ext cx="819302" cy="304495"/>
          </a:xfrm>
          <a:prstGeom prst="roundRect">
            <a:avLst>
              <a:gd name="adj" fmla="val 12012"/>
            </a:avLst>
          </a:prstGeom>
          <a:solidFill>
            <a:srgbClr val="FFFFFF"/>
          </a:solidFill>
          <a:ln w="10795">
            <a:solidFill>
              <a:srgbClr val="DADCE0"/>
            </a:solidFill>
            <a:prstDash val="solid"/>
          </a:ln>
        </p:spPr>
      </p:sp>
      <p:pic>
        <p:nvPicPr>
          <p:cNvPr id="131" name="Image 14" descr="preencoded.png">    </p:cNvPr>
          <p:cNvPicPr>
            <a:picLocks noChangeAspect="1"/>
          </p:cNvPicPr>
          <p:nvPr/>
        </p:nvPicPr>
        <p:blipFill>
          <a:blip r:embed="rId15"/>
          <a:stretch>
            <a:fillRect/>
          </a:stretch>
        </p:blipFill>
        <p:spPr>
          <a:xfrm>
            <a:off x="893369" y="5346497"/>
            <a:ext cx="158191" cy="158191"/>
          </a:xfrm>
          <a:prstGeom prst="rect">
            <a:avLst/>
          </a:prstGeom>
        </p:spPr>
      </p:pic>
      <p:sp>
        <p:nvSpPr>
          <p:cNvPr id="132" name="Text 115"/>
          <p:cNvSpPr/>
          <p:nvPr/>
        </p:nvSpPr>
        <p:spPr>
          <a:xfrm>
            <a:off x="1074420" y="5273345"/>
            <a:ext cx="569671" cy="304495"/>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Gemini 2.5 Pro</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90% Prefix Cache Savings</a:t>
            </a:r>
            <a:endParaRPr lang="en-US" sz="460" dirty="0"/>
          </a:p>
        </p:txBody>
      </p:sp>
      <p:sp>
        <p:nvSpPr>
          <p:cNvPr id="133" name="Shape 116"/>
          <p:cNvSpPr/>
          <p:nvPr/>
        </p:nvSpPr>
        <p:spPr>
          <a:xfrm>
            <a:off x="3150108" y="4276649"/>
            <a:ext cx="819302" cy="304495"/>
          </a:xfrm>
          <a:prstGeom prst="roundRect">
            <a:avLst>
              <a:gd name="adj" fmla="val 12012"/>
            </a:avLst>
          </a:prstGeom>
          <a:solidFill>
            <a:srgbClr val="FFFFFF"/>
          </a:solidFill>
          <a:ln w="10795">
            <a:solidFill>
              <a:srgbClr val="DADCE0"/>
            </a:solidFill>
            <a:prstDash val="solid"/>
          </a:ln>
        </p:spPr>
      </p:sp>
      <p:pic>
        <p:nvPicPr>
          <p:cNvPr id="134" name="Image 15" descr="preencoded.png">    </p:cNvPr>
          <p:cNvPicPr>
            <a:picLocks noChangeAspect="1"/>
          </p:cNvPicPr>
          <p:nvPr/>
        </p:nvPicPr>
        <p:blipFill>
          <a:blip r:embed="rId16"/>
          <a:stretch>
            <a:fillRect/>
          </a:stretch>
        </p:blipFill>
        <p:spPr>
          <a:xfrm>
            <a:off x="3191256" y="4349801"/>
            <a:ext cx="158191" cy="158191"/>
          </a:xfrm>
          <a:prstGeom prst="rect">
            <a:avLst/>
          </a:prstGeom>
        </p:spPr>
      </p:pic>
      <p:sp>
        <p:nvSpPr>
          <p:cNvPr id="135" name="Text 117"/>
          <p:cNvSpPr/>
          <p:nvPr/>
        </p:nvSpPr>
        <p:spPr>
          <a:xfrm>
            <a:off x="3372307" y="4276649"/>
            <a:ext cx="569671" cy="304495"/>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VPC-SC &amp; Model Armor</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Sovereign Silo Guardrails</a:t>
            </a:r>
            <a:endParaRPr lang="en-US" sz="460" dirty="0"/>
          </a:p>
        </p:txBody>
      </p:sp>
      <p:sp>
        <p:nvSpPr>
          <p:cNvPr id="136" name="Shape 118"/>
          <p:cNvSpPr/>
          <p:nvPr/>
        </p:nvSpPr>
        <p:spPr>
          <a:xfrm>
            <a:off x="3150108" y="4707331"/>
            <a:ext cx="819302" cy="304495"/>
          </a:xfrm>
          <a:prstGeom prst="roundRect">
            <a:avLst>
              <a:gd name="adj" fmla="val 12012"/>
            </a:avLst>
          </a:prstGeom>
          <a:solidFill>
            <a:srgbClr val="FFFFFF"/>
          </a:solidFill>
          <a:ln w="10795">
            <a:solidFill>
              <a:srgbClr val="DADCE0"/>
            </a:solidFill>
            <a:prstDash val="solid"/>
          </a:ln>
        </p:spPr>
      </p:sp>
      <p:pic>
        <p:nvPicPr>
          <p:cNvPr id="137" name="Image 16" descr="preencoded.png">    </p:cNvPr>
          <p:cNvPicPr>
            <a:picLocks noChangeAspect="1"/>
          </p:cNvPicPr>
          <p:nvPr/>
        </p:nvPicPr>
        <p:blipFill>
          <a:blip r:embed="rId17"/>
          <a:stretch>
            <a:fillRect/>
          </a:stretch>
        </p:blipFill>
        <p:spPr>
          <a:xfrm>
            <a:off x="3191256" y="4780483"/>
            <a:ext cx="158191" cy="158191"/>
          </a:xfrm>
          <a:prstGeom prst="rect">
            <a:avLst/>
          </a:prstGeom>
        </p:spPr>
      </p:pic>
      <p:sp>
        <p:nvSpPr>
          <p:cNvPr id="138" name="Text 119"/>
          <p:cNvSpPr/>
          <p:nvPr/>
        </p:nvSpPr>
        <p:spPr>
          <a:xfrm>
            <a:off x="3372307" y="4707331"/>
            <a:ext cx="569671" cy="304495"/>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Gemini / Gemma 3</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Dedicated PT or Private GKE</a:t>
            </a:r>
            <a:endParaRPr lang="en-US" sz="460" dirty="0"/>
          </a:p>
        </p:txBody>
      </p:sp>
      <p:sp>
        <p:nvSpPr>
          <p:cNvPr id="139" name="Shape 120"/>
          <p:cNvSpPr/>
          <p:nvPr/>
        </p:nvSpPr>
        <p:spPr>
          <a:xfrm>
            <a:off x="818388" y="2265883"/>
            <a:ext cx="861365" cy="278892"/>
          </a:xfrm>
          <a:prstGeom prst="roundRect">
            <a:avLst>
              <a:gd name="adj" fmla="val 13115"/>
            </a:avLst>
          </a:prstGeom>
          <a:solidFill>
            <a:srgbClr val="FFFFFF"/>
          </a:solidFill>
          <a:ln w="10795">
            <a:solidFill>
              <a:srgbClr val="DADCE0"/>
            </a:solidFill>
            <a:prstDash val="solid"/>
          </a:ln>
        </p:spPr>
      </p:sp>
      <p:pic>
        <p:nvPicPr>
          <p:cNvPr id="140" name="Image 17" descr="preencoded.png">    </p:cNvPr>
          <p:cNvPicPr>
            <a:picLocks noChangeAspect="1"/>
          </p:cNvPicPr>
          <p:nvPr/>
        </p:nvPicPr>
        <p:blipFill>
          <a:blip r:embed="rId18"/>
          <a:stretch>
            <a:fillRect/>
          </a:stretch>
        </p:blipFill>
        <p:spPr>
          <a:xfrm>
            <a:off x="859536" y="2332634"/>
            <a:ext cx="145390" cy="145390"/>
          </a:xfrm>
          <a:prstGeom prst="rect">
            <a:avLst/>
          </a:prstGeom>
        </p:spPr>
      </p:pic>
      <p:sp>
        <p:nvSpPr>
          <p:cNvPr id="141" name="Text 121"/>
          <p:cNvSpPr/>
          <p:nvPr/>
        </p:nvSpPr>
        <p:spPr>
          <a:xfrm>
            <a:off x="1027786" y="2265883"/>
            <a:ext cx="624535" cy="278892"/>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Google Cloud Armor</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WAF &amp; DDoS • Strips X-Tenant-ID</a:t>
            </a:r>
            <a:endParaRPr lang="en-US" sz="460" dirty="0"/>
          </a:p>
        </p:txBody>
      </p:sp>
      <p:sp>
        <p:nvSpPr>
          <p:cNvPr id="142" name="Shape 122"/>
          <p:cNvSpPr/>
          <p:nvPr/>
        </p:nvSpPr>
        <p:spPr>
          <a:xfrm>
            <a:off x="818388" y="2620670"/>
            <a:ext cx="861365" cy="278892"/>
          </a:xfrm>
          <a:prstGeom prst="roundRect">
            <a:avLst>
              <a:gd name="adj" fmla="val 13115"/>
            </a:avLst>
          </a:prstGeom>
          <a:solidFill>
            <a:srgbClr val="FFFFFF"/>
          </a:solidFill>
          <a:ln w="10795">
            <a:solidFill>
              <a:srgbClr val="DADCE0"/>
            </a:solidFill>
            <a:prstDash val="solid"/>
          </a:ln>
        </p:spPr>
      </p:sp>
      <p:pic>
        <p:nvPicPr>
          <p:cNvPr id="143" name="Image 18" descr="preencoded.png">    </p:cNvPr>
          <p:cNvPicPr>
            <a:picLocks noChangeAspect="1"/>
          </p:cNvPicPr>
          <p:nvPr/>
        </p:nvPicPr>
        <p:blipFill>
          <a:blip r:embed="rId19"/>
          <a:stretch>
            <a:fillRect/>
          </a:stretch>
        </p:blipFill>
        <p:spPr>
          <a:xfrm>
            <a:off x="859536" y="2687422"/>
            <a:ext cx="145390" cy="145390"/>
          </a:xfrm>
          <a:prstGeom prst="rect">
            <a:avLst/>
          </a:prstGeom>
        </p:spPr>
      </p:pic>
      <p:sp>
        <p:nvSpPr>
          <p:cNvPr id="144" name="Text 123"/>
          <p:cNvSpPr/>
          <p:nvPr/>
        </p:nvSpPr>
        <p:spPr>
          <a:xfrm>
            <a:off x="1027786" y="2620670"/>
            <a:ext cx="624535" cy="278892"/>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Model Armor</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Ingress Prompt Screen</a:t>
            </a:r>
            <a:endParaRPr lang="en-US" sz="460" dirty="0"/>
          </a:p>
        </p:txBody>
      </p:sp>
      <p:sp>
        <p:nvSpPr>
          <p:cNvPr id="145" name="Shape 124"/>
          <p:cNvSpPr/>
          <p:nvPr/>
        </p:nvSpPr>
        <p:spPr>
          <a:xfrm>
            <a:off x="852221" y="3034894"/>
            <a:ext cx="827532" cy="278892"/>
          </a:xfrm>
          <a:prstGeom prst="roundRect">
            <a:avLst>
              <a:gd name="adj" fmla="val 13115"/>
            </a:avLst>
          </a:prstGeom>
          <a:solidFill>
            <a:srgbClr val="FFFFFF"/>
          </a:solidFill>
          <a:ln w="10795">
            <a:solidFill>
              <a:srgbClr val="DADCE0"/>
            </a:solidFill>
            <a:prstDash val="solid"/>
          </a:ln>
        </p:spPr>
      </p:sp>
      <p:pic>
        <p:nvPicPr>
          <p:cNvPr id="146" name="Image 19" descr="preencoded.png">    </p:cNvPr>
          <p:cNvPicPr>
            <a:picLocks noChangeAspect="1"/>
          </p:cNvPicPr>
          <p:nvPr/>
        </p:nvPicPr>
        <p:blipFill>
          <a:blip r:embed="rId20"/>
          <a:stretch>
            <a:fillRect/>
          </a:stretch>
        </p:blipFill>
        <p:spPr>
          <a:xfrm>
            <a:off x="893369" y="3101645"/>
            <a:ext cx="145390" cy="145390"/>
          </a:xfrm>
          <a:prstGeom prst="rect">
            <a:avLst/>
          </a:prstGeom>
        </p:spPr>
      </p:pic>
      <p:sp>
        <p:nvSpPr>
          <p:cNvPr id="147" name="Text 125"/>
          <p:cNvSpPr/>
          <p:nvPr/>
        </p:nvSpPr>
        <p:spPr>
          <a:xfrm>
            <a:off x="1061618" y="3034894"/>
            <a:ext cx="590702" cy="278892"/>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RFC 8693 OBO + DPoP</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KMS ECDSA P-256 Sign</a:t>
            </a:r>
            <a:endParaRPr lang="en-US" sz="460" dirty="0"/>
          </a:p>
        </p:txBody>
      </p:sp>
      <p:sp>
        <p:nvSpPr>
          <p:cNvPr id="148" name="Shape 126"/>
          <p:cNvSpPr/>
          <p:nvPr/>
        </p:nvSpPr>
        <p:spPr>
          <a:xfrm>
            <a:off x="2766060" y="1273759"/>
            <a:ext cx="143561" cy="143561"/>
          </a:xfrm>
          <a:prstGeom prst="ellipse">
            <a:avLst/>
          </a:prstGeom>
          <a:solidFill>
            <a:srgbClr val="174EA6"/>
          </a:solidFill>
          <a:ln w="10795">
            <a:solidFill>
              <a:srgbClr val="174EA6"/>
            </a:solidFill>
            <a:prstDash val="solid"/>
          </a:ln>
        </p:spPr>
      </p:sp>
      <p:sp>
        <p:nvSpPr>
          <p:cNvPr id="149" name="Text 127"/>
          <p:cNvSpPr/>
          <p:nvPr/>
        </p:nvSpPr>
        <p:spPr>
          <a:xfrm>
            <a:off x="2766060" y="1273759"/>
            <a:ext cx="143561" cy="143561"/>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50" name="Shape 128"/>
          <p:cNvSpPr/>
          <p:nvPr/>
        </p:nvSpPr>
        <p:spPr>
          <a:xfrm>
            <a:off x="2958998" y="1273759"/>
            <a:ext cx="143561" cy="143561"/>
          </a:xfrm>
          <a:prstGeom prst="ellipse">
            <a:avLst/>
          </a:prstGeom>
          <a:solidFill>
            <a:srgbClr val="174EA6"/>
          </a:solidFill>
          <a:ln w="10795">
            <a:solidFill>
              <a:srgbClr val="174EA6"/>
            </a:solidFill>
            <a:prstDash val="solid"/>
          </a:ln>
        </p:spPr>
      </p:sp>
      <p:sp>
        <p:nvSpPr>
          <p:cNvPr id="151" name="Text 129"/>
          <p:cNvSpPr/>
          <p:nvPr/>
        </p:nvSpPr>
        <p:spPr>
          <a:xfrm>
            <a:off x="2958998" y="1273759"/>
            <a:ext cx="143561" cy="143561"/>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52" name="Shape 130"/>
          <p:cNvSpPr/>
          <p:nvPr/>
        </p:nvSpPr>
        <p:spPr>
          <a:xfrm>
            <a:off x="2766060" y="2807208"/>
            <a:ext cx="143561" cy="143561"/>
          </a:xfrm>
          <a:prstGeom prst="ellipse">
            <a:avLst/>
          </a:prstGeom>
          <a:solidFill>
            <a:srgbClr val="174EA6"/>
          </a:solidFill>
          <a:ln w="10795">
            <a:solidFill>
              <a:srgbClr val="174EA6"/>
            </a:solidFill>
            <a:prstDash val="solid"/>
          </a:ln>
        </p:spPr>
      </p:sp>
      <p:sp>
        <p:nvSpPr>
          <p:cNvPr id="153" name="Text 131"/>
          <p:cNvSpPr/>
          <p:nvPr/>
        </p:nvSpPr>
        <p:spPr>
          <a:xfrm>
            <a:off x="2766060" y="2807208"/>
            <a:ext cx="143561" cy="143561"/>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54" name="Shape 132"/>
          <p:cNvSpPr/>
          <p:nvPr/>
        </p:nvSpPr>
        <p:spPr>
          <a:xfrm>
            <a:off x="2958998" y="2807208"/>
            <a:ext cx="143561" cy="143561"/>
          </a:xfrm>
          <a:prstGeom prst="ellipse">
            <a:avLst/>
          </a:prstGeom>
          <a:solidFill>
            <a:srgbClr val="174EA6"/>
          </a:solidFill>
          <a:ln w="10795">
            <a:solidFill>
              <a:srgbClr val="174EA6"/>
            </a:solidFill>
            <a:prstDash val="solid"/>
          </a:ln>
        </p:spPr>
      </p:sp>
      <p:sp>
        <p:nvSpPr>
          <p:cNvPr id="155" name="Text 133"/>
          <p:cNvSpPr/>
          <p:nvPr/>
        </p:nvSpPr>
        <p:spPr>
          <a:xfrm>
            <a:off x="2958998" y="2807208"/>
            <a:ext cx="143561" cy="143561"/>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56" name="Shape 134"/>
          <p:cNvSpPr/>
          <p:nvPr/>
        </p:nvSpPr>
        <p:spPr>
          <a:xfrm>
            <a:off x="2081174" y="3461004"/>
            <a:ext cx="143561" cy="143561"/>
          </a:xfrm>
          <a:prstGeom prst="ellipse">
            <a:avLst/>
          </a:prstGeom>
          <a:solidFill>
            <a:srgbClr val="174EA6"/>
          </a:solidFill>
          <a:ln w="10795">
            <a:solidFill>
              <a:srgbClr val="174EA6"/>
            </a:solidFill>
            <a:prstDash val="solid"/>
          </a:ln>
        </p:spPr>
      </p:sp>
      <p:sp>
        <p:nvSpPr>
          <p:cNvPr id="157" name="Text 135"/>
          <p:cNvSpPr/>
          <p:nvPr/>
        </p:nvSpPr>
        <p:spPr>
          <a:xfrm>
            <a:off x="2081174" y="3461004"/>
            <a:ext cx="143561" cy="143561"/>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158" name="Shape 136"/>
          <p:cNvSpPr/>
          <p:nvPr/>
        </p:nvSpPr>
        <p:spPr>
          <a:xfrm>
            <a:off x="2977286" y="3461004"/>
            <a:ext cx="143561" cy="143561"/>
          </a:xfrm>
          <a:prstGeom prst="ellipse">
            <a:avLst/>
          </a:prstGeom>
          <a:solidFill>
            <a:srgbClr val="174EA6"/>
          </a:solidFill>
          <a:ln w="10795">
            <a:solidFill>
              <a:srgbClr val="174EA6"/>
            </a:solidFill>
            <a:prstDash val="solid"/>
          </a:ln>
        </p:spPr>
      </p:sp>
      <p:sp>
        <p:nvSpPr>
          <p:cNvPr id="159" name="Text 137"/>
          <p:cNvSpPr/>
          <p:nvPr/>
        </p:nvSpPr>
        <p:spPr>
          <a:xfrm>
            <a:off x="2977286" y="3461004"/>
            <a:ext cx="143561" cy="143561"/>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60" name="Shape 138"/>
          <p:cNvSpPr/>
          <p:nvPr/>
        </p:nvSpPr>
        <p:spPr>
          <a:xfrm>
            <a:off x="881482" y="4635094"/>
            <a:ext cx="143561" cy="143561"/>
          </a:xfrm>
          <a:prstGeom prst="ellipse">
            <a:avLst/>
          </a:prstGeom>
          <a:solidFill>
            <a:srgbClr val="174EA6"/>
          </a:solidFill>
          <a:ln w="10795">
            <a:solidFill>
              <a:srgbClr val="174EA6"/>
            </a:solidFill>
            <a:prstDash val="solid"/>
          </a:ln>
        </p:spPr>
      </p:sp>
      <p:sp>
        <p:nvSpPr>
          <p:cNvPr id="161" name="Text 139"/>
          <p:cNvSpPr/>
          <p:nvPr/>
        </p:nvSpPr>
        <p:spPr>
          <a:xfrm>
            <a:off x="881482" y="4635094"/>
            <a:ext cx="143561" cy="143561"/>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162" name="Shape 140"/>
          <p:cNvSpPr/>
          <p:nvPr/>
        </p:nvSpPr>
        <p:spPr>
          <a:xfrm>
            <a:off x="881482" y="4839005"/>
            <a:ext cx="143561" cy="143561"/>
          </a:xfrm>
          <a:prstGeom prst="ellipse">
            <a:avLst/>
          </a:prstGeom>
          <a:solidFill>
            <a:srgbClr val="174EA6"/>
          </a:solidFill>
          <a:ln w="10795">
            <a:solidFill>
              <a:srgbClr val="174EA6"/>
            </a:solidFill>
            <a:prstDash val="solid"/>
          </a:ln>
        </p:spPr>
      </p:sp>
      <p:sp>
        <p:nvSpPr>
          <p:cNvPr id="163" name="Text 141"/>
          <p:cNvSpPr/>
          <p:nvPr/>
        </p:nvSpPr>
        <p:spPr>
          <a:xfrm>
            <a:off x="881482" y="4839005"/>
            <a:ext cx="143561" cy="143561"/>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164" name="Shape 142"/>
          <p:cNvSpPr/>
          <p:nvPr/>
        </p:nvSpPr>
        <p:spPr>
          <a:xfrm>
            <a:off x="881482" y="5640019"/>
            <a:ext cx="143561" cy="143561"/>
          </a:xfrm>
          <a:prstGeom prst="ellipse">
            <a:avLst/>
          </a:prstGeom>
          <a:solidFill>
            <a:srgbClr val="174EA6"/>
          </a:solidFill>
          <a:ln w="10795">
            <a:solidFill>
              <a:srgbClr val="174EA6"/>
            </a:solidFill>
            <a:prstDash val="solid"/>
          </a:ln>
        </p:spPr>
      </p:sp>
      <p:sp>
        <p:nvSpPr>
          <p:cNvPr id="165" name="Text 143"/>
          <p:cNvSpPr/>
          <p:nvPr/>
        </p:nvSpPr>
        <p:spPr>
          <a:xfrm>
            <a:off x="881482" y="5640019"/>
            <a:ext cx="143561" cy="143561"/>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166" name="Shape 144"/>
          <p:cNvSpPr/>
          <p:nvPr/>
        </p:nvSpPr>
        <p:spPr>
          <a:xfrm>
            <a:off x="4365346" y="3458261"/>
            <a:ext cx="736092" cy="142646"/>
          </a:xfrm>
          <a:prstGeom prst="roundRect">
            <a:avLst>
              <a:gd name="adj" fmla="val 28846"/>
            </a:avLst>
          </a:prstGeom>
          <a:solidFill>
            <a:srgbClr val="FFFFFF"/>
          </a:solidFill>
          <a:ln w="5715">
            <a:solidFill>
              <a:srgbClr val="DADCE0"/>
            </a:solidFill>
            <a:prstDash val="solid"/>
          </a:ln>
        </p:spPr>
      </p:sp>
      <p:sp>
        <p:nvSpPr>
          <p:cNvPr id="167" name="Text 145"/>
          <p:cNvSpPr/>
          <p:nvPr/>
        </p:nvSpPr>
        <p:spPr>
          <a:xfrm>
            <a:off x="4383634" y="3463747"/>
            <a:ext cx="699516"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Security, OTel &amp; FinOps</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chargeback telemetry</a:t>
            </a:r>
            <a:endParaRPr lang="en-US" sz="385" dirty="0"/>
          </a:p>
        </p:txBody>
      </p:sp>
      <p:sp>
        <p:nvSpPr>
          <p:cNvPr id="168" name="Shape 146"/>
          <p:cNvSpPr/>
          <p:nvPr/>
        </p:nvSpPr>
        <p:spPr>
          <a:xfrm>
            <a:off x="2157070" y="4877410"/>
            <a:ext cx="372161" cy="141732"/>
          </a:xfrm>
          <a:prstGeom prst="roundRect">
            <a:avLst>
              <a:gd name="adj" fmla="val 29032"/>
            </a:avLst>
          </a:prstGeom>
          <a:solidFill>
            <a:srgbClr val="FFFFFF"/>
          </a:solidFill>
          <a:ln w="5715">
            <a:solidFill>
              <a:srgbClr val="DADCE0"/>
            </a:solidFill>
            <a:prstDash val="solid"/>
          </a:ln>
        </p:spPr>
      </p:sp>
      <p:sp>
        <p:nvSpPr>
          <p:cNvPr id="169" name="Text 147"/>
          <p:cNvSpPr/>
          <p:nvPr/>
        </p:nvSpPr>
        <p:spPr>
          <a:xfrm>
            <a:off x="2175358" y="4882896"/>
            <a:ext cx="335585" cy="130759"/>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Scoped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MCP &amp; RAG</a:t>
            </a:r>
            <a:endParaRPr lang="en-US" sz="385" dirty="0"/>
          </a:p>
        </p:txBody>
      </p:sp>
      <p:sp>
        <p:nvSpPr>
          <p:cNvPr id="170" name="Shape 148"/>
          <p:cNvSpPr/>
          <p:nvPr/>
        </p:nvSpPr>
        <p:spPr>
          <a:xfrm>
            <a:off x="2092147" y="5494630"/>
            <a:ext cx="502006" cy="141732"/>
          </a:xfrm>
          <a:prstGeom prst="roundRect">
            <a:avLst>
              <a:gd name="adj" fmla="val 29032"/>
            </a:avLst>
          </a:prstGeom>
          <a:solidFill>
            <a:srgbClr val="FFFFFF"/>
          </a:solidFill>
          <a:ln w="5715">
            <a:solidFill>
              <a:srgbClr val="DADCE0"/>
            </a:solidFill>
            <a:prstDash val="solid"/>
          </a:ln>
        </p:spPr>
      </p:sp>
      <p:sp>
        <p:nvSpPr>
          <p:cNvPr id="171" name="Text 149"/>
          <p:cNvSpPr/>
          <p:nvPr/>
        </p:nvSpPr>
        <p:spPr>
          <a:xfrm>
            <a:off x="2110435" y="5500116"/>
            <a:ext cx="465430" cy="130759"/>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SET LOCAL</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current_tenant</a:t>
            </a:r>
            <a:endParaRPr lang="en-US" sz="385" dirty="0"/>
          </a:p>
        </p:txBody>
      </p:sp>
      <p:sp>
        <p:nvSpPr>
          <p:cNvPr id="172" name="Shape 150"/>
          <p:cNvSpPr/>
          <p:nvPr/>
        </p:nvSpPr>
        <p:spPr>
          <a:xfrm>
            <a:off x="4442155" y="4877410"/>
            <a:ext cx="397764" cy="141732"/>
          </a:xfrm>
          <a:prstGeom prst="roundRect">
            <a:avLst>
              <a:gd name="adj" fmla="val 29032"/>
            </a:avLst>
          </a:prstGeom>
          <a:solidFill>
            <a:srgbClr val="FFFFFF"/>
          </a:solidFill>
          <a:ln w="5715">
            <a:solidFill>
              <a:srgbClr val="DADCE0"/>
            </a:solidFill>
            <a:prstDash val="solid"/>
          </a:ln>
        </p:spPr>
      </p:sp>
      <p:sp>
        <p:nvSpPr>
          <p:cNvPr id="173" name="Text 151"/>
          <p:cNvSpPr/>
          <p:nvPr/>
        </p:nvSpPr>
        <p:spPr>
          <a:xfrm>
            <a:off x="4460443" y="4882896"/>
            <a:ext cx="361188" cy="130759"/>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Air-Gapped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Silo RAG</a:t>
            </a:r>
            <a:endParaRPr lang="en-US" sz="385" dirty="0"/>
          </a:p>
        </p:txBody>
      </p:sp>
      <p:sp>
        <p:nvSpPr>
          <p:cNvPr id="174" name="Shape 152"/>
          <p:cNvSpPr/>
          <p:nvPr/>
        </p:nvSpPr>
        <p:spPr>
          <a:xfrm>
            <a:off x="4390034" y="5494630"/>
            <a:ext cx="502006" cy="141732"/>
          </a:xfrm>
          <a:prstGeom prst="roundRect">
            <a:avLst>
              <a:gd name="adj" fmla="val 29032"/>
            </a:avLst>
          </a:prstGeom>
          <a:solidFill>
            <a:srgbClr val="FFFFFF"/>
          </a:solidFill>
          <a:ln w="5715">
            <a:solidFill>
              <a:srgbClr val="DADCE0"/>
            </a:solidFill>
            <a:prstDash val="solid"/>
          </a:ln>
        </p:spPr>
      </p:sp>
      <p:sp>
        <p:nvSpPr>
          <p:cNvPr id="175" name="Text 153"/>
          <p:cNvSpPr/>
          <p:nvPr/>
        </p:nvSpPr>
        <p:spPr>
          <a:xfrm>
            <a:off x="4408322" y="5500116"/>
            <a:ext cx="465430" cy="130759"/>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CMEK-Encrypted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State &amp; Tools</a:t>
            </a:r>
            <a:endParaRPr lang="en-US" sz="385" dirty="0"/>
          </a:p>
        </p:txBody>
      </p:sp>
      <p:sp>
        <p:nvSpPr>
          <p:cNvPr id="176" name="Shape 154"/>
          <p:cNvSpPr/>
          <p:nvPr/>
        </p:nvSpPr>
        <p:spPr>
          <a:xfrm>
            <a:off x="1055218" y="5641848"/>
            <a:ext cx="372161" cy="142646"/>
          </a:xfrm>
          <a:prstGeom prst="roundRect">
            <a:avLst>
              <a:gd name="adj" fmla="val 28846"/>
            </a:avLst>
          </a:prstGeom>
          <a:solidFill>
            <a:srgbClr val="FFFFFF"/>
          </a:solidFill>
          <a:ln w="5715">
            <a:solidFill>
              <a:srgbClr val="DADCE0"/>
            </a:solidFill>
            <a:prstDash val="solid"/>
          </a:ln>
        </p:spPr>
      </p:sp>
      <p:sp>
        <p:nvSpPr>
          <p:cNvPr id="177" name="Text 155"/>
          <p:cNvSpPr/>
          <p:nvPr/>
        </p:nvSpPr>
        <p:spPr>
          <a:xfrm>
            <a:off x="1073506" y="5647334"/>
            <a:ext cx="335585"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Generates</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response</a:t>
            </a:r>
            <a:endParaRPr lang="en-US" sz="385" dirty="0"/>
          </a:p>
        </p:txBody>
      </p:sp>
      <p:sp>
        <p:nvSpPr>
          <p:cNvPr id="178" name="Shape 156"/>
          <p:cNvSpPr/>
          <p:nvPr/>
        </p:nvSpPr>
        <p:spPr>
          <a:xfrm>
            <a:off x="3141878" y="3457346"/>
            <a:ext cx="606247" cy="133502"/>
          </a:xfrm>
          <a:prstGeom prst="roundRect">
            <a:avLst>
              <a:gd name="adj" fmla="val 30822"/>
            </a:avLst>
          </a:prstGeom>
          <a:solidFill>
            <a:srgbClr val="FFFFFF"/>
          </a:solidFill>
          <a:ln w="5715">
            <a:solidFill>
              <a:srgbClr val="DADCE0"/>
            </a:solidFill>
            <a:prstDash val="solid"/>
          </a:ln>
        </p:spPr>
      </p:sp>
      <p:sp>
        <p:nvSpPr>
          <p:cNvPr id="179" name="Text 157"/>
          <p:cNvSpPr/>
          <p:nvPr/>
        </p:nvSpPr>
        <p:spPr>
          <a:xfrm>
            <a:off x="3160166" y="3462833"/>
            <a:ext cx="569671"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Sanitized response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with SDP redaction</a:t>
            </a:r>
            <a:endParaRPr lang="en-US" sz="385" dirty="0"/>
          </a:p>
        </p:txBody>
      </p:sp>
      <p:sp>
        <p:nvSpPr>
          <p:cNvPr id="180" name="Shape 158"/>
          <p:cNvSpPr/>
          <p:nvPr/>
        </p:nvSpPr>
        <p:spPr>
          <a:xfrm>
            <a:off x="2245766" y="3457346"/>
            <a:ext cx="650138" cy="133502"/>
          </a:xfrm>
          <a:prstGeom prst="roundRect">
            <a:avLst>
              <a:gd name="adj" fmla="val 30822"/>
            </a:avLst>
          </a:prstGeom>
          <a:solidFill>
            <a:srgbClr val="FFFFFF"/>
          </a:solidFill>
          <a:ln w="5715">
            <a:solidFill>
              <a:srgbClr val="DADCE0"/>
            </a:solidFill>
            <a:prstDash val="solid"/>
          </a:ln>
        </p:spPr>
      </p:sp>
      <p:sp>
        <p:nvSpPr>
          <p:cNvPr id="181" name="Text 159"/>
          <p:cNvSpPr/>
          <p:nvPr/>
        </p:nvSpPr>
        <p:spPr>
          <a:xfrm>
            <a:off x="2264054" y="3462833"/>
            <a:ext cx="613562"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Route by tenant tier</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(Pool, Silo or PSC)</a:t>
            </a:r>
            <a:endParaRPr lang="en-US" sz="385" dirty="0"/>
          </a:p>
        </p:txBody>
      </p:sp>
      <p:sp>
        <p:nvSpPr>
          <p:cNvPr id="182" name="Shape 160"/>
          <p:cNvSpPr/>
          <p:nvPr/>
        </p:nvSpPr>
        <p:spPr>
          <a:xfrm>
            <a:off x="1869948" y="2988259"/>
            <a:ext cx="397764" cy="133502"/>
          </a:xfrm>
          <a:prstGeom prst="roundRect">
            <a:avLst>
              <a:gd name="adj" fmla="val 30822"/>
            </a:avLst>
          </a:prstGeom>
          <a:solidFill>
            <a:srgbClr val="FFFFFF"/>
          </a:solidFill>
          <a:ln w="5715">
            <a:solidFill>
              <a:srgbClr val="DADCE0"/>
            </a:solidFill>
            <a:prstDash val="solid"/>
          </a:ln>
        </p:spPr>
      </p:sp>
      <p:sp>
        <p:nvSpPr>
          <p:cNvPr id="183" name="Text 161"/>
          <p:cNvSpPr/>
          <p:nvPr/>
        </p:nvSpPr>
        <p:spPr>
          <a:xfrm>
            <a:off x="1888236" y="2993746"/>
            <a:ext cx="361188"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OBO + KMS</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ECDSA sign</a:t>
            </a:r>
            <a:endParaRPr lang="en-US" sz="385" dirty="0"/>
          </a:p>
        </p:txBody>
      </p:sp>
      <p:sp>
        <p:nvSpPr>
          <p:cNvPr id="184" name="Shape 162"/>
          <p:cNvSpPr/>
          <p:nvPr/>
        </p:nvSpPr>
        <p:spPr>
          <a:xfrm>
            <a:off x="1055218" y="4657039"/>
            <a:ext cx="554126" cy="100584"/>
          </a:xfrm>
          <a:prstGeom prst="roundRect">
            <a:avLst>
              <a:gd name="adj" fmla="val 40909"/>
            </a:avLst>
          </a:prstGeom>
          <a:solidFill>
            <a:srgbClr val="FFFFFF"/>
          </a:solidFill>
          <a:ln w="5715">
            <a:solidFill>
              <a:srgbClr val="DADCE0"/>
            </a:solidFill>
            <a:prstDash val="solid"/>
          </a:ln>
        </p:spPr>
      </p:sp>
      <p:sp>
        <p:nvSpPr>
          <p:cNvPr id="185" name="Text 163"/>
          <p:cNvSpPr/>
          <p:nvPr/>
        </p:nvSpPr>
        <p:spPr>
          <a:xfrm>
            <a:off x="1073506" y="4662526"/>
            <a:ext cx="517550" cy="89611"/>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 request</a:t>
            </a:r>
            <a:endParaRPr lang="en-US" sz="385" dirty="0"/>
          </a:p>
        </p:txBody>
      </p:sp>
      <p:sp>
        <p:nvSpPr>
          <p:cNvPr id="186" name="Shape 164"/>
          <p:cNvSpPr/>
          <p:nvPr/>
        </p:nvSpPr>
        <p:spPr>
          <a:xfrm>
            <a:off x="1055218" y="4859122"/>
            <a:ext cx="580644" cy="100584"/>
          </a:xfrm>
          <a:prstGeom prst="roundRect">
            <a:avLst>
              <a:gd name="adj" fmla="val 40909"/>
            </a:avLst>
          </a:prstGeom>
          <a:solidFill>
            <a:srgbClr val="FFFFFF"/>
          </a:solidFill>
          <a:ln w="5715">
            <a:solidFill>
              <a:srgbClr val="DADCE0"/>
            </a:solidFill>
            <a:prstDash val="solid"/>
          </a:ln>
        </p:spPr>
      </p:sp>
      <p:sp>
        <p:nvSpPr>
          <p:cNvPr id="187" name="Text 165"/>
          <p:cNvSpPr/>
          <p:nvPr/>
        </p:nvSpPr>
        <p:spPr>
          <a:xfrm>
            <a:off x="1073506" y="4864608"/>
            <a:ext cx="544068" cy="89611"/>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 response</a:t>
            </a:r>
            <a:endParaRPr lang="en-US" sz="385" dirty="0"/>
          </a:p>
        </p:txBody>
      </p:sp>
      <p:sp>
        <p:nvSpPr>
          <p:cNvPr id="188" name="Shape 166"/>
          <p:cNvSpPr/>
          <p:nvPr/>
        </p:nvSpPr>
        <p:spPr>
          <a:xfrm>
            <a:off x="1730045" y="2221078"/>
            <a:ext cx="449885" cy="133502"/>
          </a:xfrm>
          <a:prstGeom prst="roundRect">
            <a:avLst>
              <a:gd name="adj" fmla="val 30822"/>
            </a:avLst>
          </a:prstGeom>
          <a:solidFill>
            <a:srgbClr val="FFFFFF"/>
          </a:solidFill>
          <a:ln w="5715">
            <a:solidFill>
              <a:srgbClr val="DADCE0"/>
            </a:solidFill>
            <a:prstDash val="solid"/>
          </a:ln>
        </p:spPr>
      </p:sp>
      <p:sp>
        <p:nvSpPr>
          <p:cNvPr id="189" name="Text 167"/>
          <p:cNvSpPr/>
          <p:nvPr/>
        </p:nvSpPr>
        <p:spPr>
          <a:xfrm>
            <a:off x="1748333" y="2226564"/>
            <a:ext cx="413309"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Header &amp; WAF</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policies</a:t>
            </a:r>
            <a:endParaRPr lang="en-US" sz="385" dirty="0"/>
          </a:p>
        </p:txBody>
      </p:sp>
      <p:sp>
        <p:nvSpPr>
          <p:cNvPr id="190" name="Shape 168"/>
          <p:cNvSpPr/>
          <p:nvPr/>
        </p:nvSpPr>
        <p:spPr>
          <a:xfrm>
            <a:off x="1782166" y="2803550"/>
            <a:ext cx="345643" cy="133502"/>
          </a:xfrm>
          <a:prstGeom prst="roundRect">
            <a:avLst>
              <a:gd name="adj" fmla="val 30822"/>
            </a:avLst>
          </a:prstGeom>
          <a:solidFill>
            <a:srgbClr val="FFFFFF"/>
          </a:solidFill>
          <a:ln w="5715">
            <a:solidFill>
              <a:srgbClr val="DADCE0"/>
            </a:solidFill>
            <a:prstDash val="solid"/>
          </a:ln>
        </p:spPr>
      </p:sp>
      <p:sp>
        <p:nvSpPr>
          <p:cNvPr id="191" name="Text 169"/>
          <p:cNvSpPr/>
          <p:nvPr/>
        </p:nvSpPr>
        <p:spPr>
          <a:xfrm>
            <a:off x="1800454" y="2809037"/>
            <a:ext cx="309067"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prompt</a:t>
            </a:r>
            <a:endParaRPr lang="en-US" sz="385" dirty="0"/>
          </a:p>
        </p:txBody>
      </p:sp>
      <p:sp>
        <p:nvSpPr>
          <p:cNvPr id="192" name="Shape 170"/>
          <p:cNvSpPr/>
          <p:nvPr/>
        </p:nvSpPr>
        <p:spPr>
          <a:xfrm>
            <a:off x="3124505" y="1295705"/>
            <a:ext cx="345643" cy="100584"/>
          </a:xfrm>
          <a:prstGeom prst="roundRect">
            <a:avLst>
              <a:gd name="adj" fmla="val 40909"/>
            </a:avLst>
          </a:prstGeom>
          <a:solidFill>
            <a:srgbClr val="FFFFFF"/>
          </a:solidFill>
          <a:ln w="5715">
            <a:solidFill>
              <a:srgbClr val="DADCE0"/>
            </a:solidFill>
            <a:prstDash val="solid"/>
          </a:ln>
        </p:spPr>
      </p:sp>
      <p:sp>
        <p:nvSpPr>
          <p:cNvPr id="193" name="Text 171"/>
          <p:cNvSpPr/>
          <p:nvPr/>
        </p:nvSpPr>
        <p:spPr>
          <a:xfrm>
            <a:off x="3142793" y="1301191"/>
            <a:ext cx="309067" cy="89611"/>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Response</a:t>
            </a:r>
            <a:endParaRPr lang="en-US" sz="385" dirty="0"/>
          </a:p>
        </p:txBody>
      </p:sp>
      <p:sp>
        <p:nvSpPr>
          <p:cNvPr id="194" name="Shape 172"/>
          <p:cNvSpPr/>
          <p:nvPr/>
        </p:nvSpPr>
        <p:spPr>
          <a:xfrm>
            <a:off x="3124505" y="2827325"/>
            <a:ext cx="345643" cy="100584"/>
          </a:xfrm>
          <a:prstGeom prst="roundRect">
            <a:avLst>
              <a:gd name="adj" fmla="val 40909"/>
            </a:avLst>
          </a:prstGeom>
          <a:solidFill>
            <a:srgbClr val="FFFFFF"/>
          </a:solidFill>
          <a:ln w="5715">
            <a:solidFill>
              <a:srgbClr val="DADCE0"/>
            </a:solidFill>
            <a:prstDash val="solid"/>
          </a:ln>
        </p:spPr>
      </p:sp>
      <p:sp>
        <p:nvSpPr>
          <p:cNvPr id="195" name="Text 173"/>
          <p:cNvSpPr/>
          <p:nvPr/>
        </p:nvSpPr>
        <p:spPr>
          <a:xfrm>
            <a:off x="3142793" y="2832811"/>
            <a:ext cx="309067" cy="89611"/>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Response</a:t>
            </a:r>
            <a:endParaRPr lang="en-US" sz="385" dirty="0"/>
          </a:p>
        </p:txBody>
      </p:sp>
      <p:sp>
        <p:nvSpPr>
          <p:cNvPr id="196" name="Shape 174"/>
          <p:cNvSpPr/>
          <p:nvPr/>
        </p:nvSpPr>
        <p:spPr>
          <a:xfrm>
            <a:off x="2415845" y="1295705"/>
            <a:ext cx="320040" cy="100584"/>
          </a:xfrm>
          <a:prstGeom prst="roundRect">
            <a:avLst>
              <a:gd name="adj" fmla="val 40909"/>
            </a:avLst>
          </a:prstGeom>
          <a:solidFill>
            <a:srgbClr val="FFFFFF"/>
          </a:solidFill>
          <a:ln w="5715">
            <a:solidFill>
              <a:srgbClr val="DADCE0"/>
            </a:solidFill>
            <a:prstDash val="solid"/>
          </a:ln>
        </p:spPr>
      </p:sp>
      <p:sp>
        <p:nvSpPr>
          <p:cNvPr id="197" name="Text 175"/>
          <p:cNvSpPr/>
          <p:nvPr/>
        </p:nvSpPr>
        <p:spPr>
          <a:xfrm>
            <a:off x="2434133" y="1301191"/>
            <a:ext cx="283464" cy="89611"/>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Request</a:t>
            </a:r>
            <a:endParaRPr lang="en-US" sz="385" dirty="0"/>
          </a:p>
        </p:txBody>
      </p:sp>
      <p:sp>
        <p:nvSpPr>
          <p:cNvPr id="198" name="Shape 176"/>
          <p:cNvSpPr/>
          <p:nvPr/>
        </p:nvSpPr>
        <p:spPr>
          <a:xfrm>
            <a:off x="2415845" y="2827325"/>
            <a:ext cx="320040" cy="100584"/>
          </a:xfrm>
          <a:prstGeom prst="roundRect">
            <a:avLst>
              <a:gd name="adj" fmla="val 40909"/>
            </a:avLst>
          </a:prstGeom>
          <a:solidFill>
            <a:srgbClr val="FFFFFF"/>
          </a:solidFill>
          <a:ln w="5715">
            <a:solidFill>
              <a:srgbClr val="DADCE0"/>
            </a:solidFill>
            <a:prstDash val="solid"/>
          </a:ln>
        </p:spPr>
      </p:sp>
      <p:sp>
        <p:nvSpPr>
          <p:cNvPr id="199" name="Text 177"/>
          <p:cNvSpPr/>
          <p:nvPr/>
        </p:nvSpPr>
        <p:spPr>
          <a:xfrm>
            <a:off x="2434133" y="2832811"/>
            <a:ext cx="283464" cy="89611"/>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Request</a:t>
            </a:r>
            <a:endParaRPr lang="en-US" sz="385" dirty="0"/>
          </a:p>
        </p:txBody>
      </p:sp>
      <p:sp>
        <p:nvSpPr>
          <p:cNvPr id="200" name="Shape 178"/>
          <p:cNvSpPr/>
          <p:nvPr/>
        </p:nvSpPr>
        <p:spPr>
          <a:xfrm>
            <a:off x="5724144" y="768096"/>
            <a:ext cx="6028639" cy="749808"/>
          </a:xfrm>
          <a:prstGeom prst="roundRect">
            <a:avLst>
              <a:gd name="adj" fmla="val 8537"/>
            </a:avLst>
          </a:prstGeom>
          <a:solidFill>
            <a:srgbClr val="FFFFFF"/>
          </a:solidFill>
          <a:ln w="10795">
            <a:solidFill>
              <a:srgbClr val="CBD5E1"/>
            </a:solidFill>
            <a:prstDash val="solid"/>
          </a:ln>
        </p:spPr>
      </p:sp>
      <p:sp>
        <p:nvSpPr>
          <p:cNvPr id="201" name="Shape 179"/>
          <p:cNvSpPr/>
          <p:nvPr/>
        </p:nvSpPr>
        <p:spPr>
          <a:xfrm>
            <a:off x="5724144" y="768096"/>
            <a:ext cx="6028639" cy="50292"/>
          </a:xfrm>
          <a:prstGeom prst="roundRect">
            <a:avLst>
              <a:gd name="adj" fmla="val 36364"/>
            </a:avLst>
          </a:prstGeom>
          <a:solidFill>
            <a:srgbClr val="1D4ED8"/>
          </a:solidFill>
          <a:ln/>
        </p:spPr>
      </p:sp>
      <p:sp>
        <p:nvSpPr>
          <p:cNvPr id="202" name="Text 180"/>
          <p:cNvSpPr/>
          <p:nvPr/>
        </p:nvSpPr>
        <p:spPr>
          <a:xfrm>
            <a:off x="5852160" y="859536"/>
            <a:ext cx="5772607" cy="164592"/>
          </a:xfrm>
          <a:prstGeom prst="rect">
            <a:avLst/>
          </a:prstGeom>
          <a:noFill/>
          <a:ln/>
        </p:spPr>
        <p:txBody>
          <a:bodyPr wrap="square" lIns="0" tIns="0" rIns="0" bIns="0" rtlCol="0" anchor="ctr"/>
          <a:lstStyle/>
          <a:p>
            <a:pPr indent="0" marL="0">
              <a:lnSpc>
                <a:spcPct val="105000"/>
              </a:lnSpc>
              <a:buNone/>
            </a:pPr>
            <a:r>
              <a:rPr lang="en-US" sz="690" b="1" spc="50" kern="0" dirty="0">
                <a:solidFill>
                  <a:srgbClr val="1D4ED8"/>
                </a:solidFill>
                <a:latin typeface="Arial" pitchFamily="34" charset="0"/>
                <a:ea typeface="Arial" pitchFamily="34" charset="-122"/>
                <a:cs typeface="Arial" pitchFamily="34" charset="-120"/>
              </a:rPr>
              <a:t>HOW TO READ THIS #78 HUB-AND-SPOKE TOPOLOGY (4 COLOR-CODED SECURITY ZONES)</a:t>
            </a:r>
            <a:endParaRPr lang="en-US" sz="690" dirty="0"/>
          </a:p>
        </p:txBody>
      </p:sp>
      <p:sp>
        <p:nvSpPr>
          <p:cNvPr id="203" name="Shape 181"/>
          <p:cNvSpPr/>
          <p:nvPr/>
        </p:nvSpPr>
        <p:spPr>
          <a:xfrm>
            <a:off x="5852160" y="1115568"/>
            <a:ext cx="1388059" cy="274320"/>
          </a:xfrm>
          <a:prstGeom prst="roundRect">
            <a:avLst>
              <a:gd name="adj" fmla="val 26667"/>
            </a:avLst>
          </a:prstGeom>
          <a:solidFill>
            <a:srgbClr val="AECBFA"/>
          </a:solidFill>
          <a:ln/>
        </p:spPr>
      </p:sp>
      <p:sp>
        <p:nvSpPr>
          <p:cNvPr id="204" name="Text 182"/>
          <p:cNvSpPr/>
          <p:nvPr/>
        </p:nvSpPr>
        <p:spPr>
          <a:xfrm>
            <a:off x="5852160" y="1115568"/>
            <a:ext cx="1388059" cy="274320"/>
          </a:xfrm>
          <a:prstGeom prst="rect">
            <a:avLst/>
          </a:prstGeom>
          <a:noFill/>
          <a:ln/>
        </p:spPr>
        <p:txBody>
          <a:bodyPr wrap="square" lIns="0" tIns="0" rIns="0" bIns="0" rtlCol="0" anchor="ctr"/>
          <a:lstStyle/>
          <a:p>
            <a:pPr algn="ctr" indent="0" marL="0">
              <a:lnSpc>
                <a:spcPct val="105000"/>
              </a:lnSpc>
              <a:buNone/>
            </a:pPr>
            <a:r>
              <a:rPr lang="en-US" sz="640" b="1" dirty="0">
                <a:solidFill>
                  <a:srgbClr val="174EA6"/>
                </a:solidFill>
                <a:latin typeface="Arial" pitchFamily="34" charset="0"/>
                <a:ea typeface="Arial" pitchFamily="34" charset="-122"/>
                <a:cs typeface="Arial" pitchFamily="34" charset="-120"/>
              </a:rPr>
              <a:t>1. BLUE: Routing Hub</a:t>
            </a:r>
            <a:endParaRPr lang="en-US" sz="640" dirty="0"/>
          </a:p>
        </p:txBody>
      </p:sp>
      <p:sp>
        <p:nvSpPr>
          <p:cNvPr id="205" name="Shape 183"/>
          <p:cNvSpPr/>
          <p:nvPr/>
        </p:nvSpPr>
        <p:spPr>
          <a:xfrm>
            <a:off x="7313371" y="1115568"/>
            <a:ext cx="1388059" cy="274320"/>
          </a:xfrm>
          <a:prstGeom prst="roundRect">
            <a:avLst>
              <a:gd name="adj" fmla="val 26667"/>
            </a:avLst>
          </a:prstGeom>
          <a:solidFill>
            <a:srgbClr val="CEEAD6"/>
          </a:solidFill>
          <a:ln/>
        </p:spPr>
      </p:sp>
      <p:sp>
        <p:nvSpPr>
          <p:cNvPr id="206" name="Text 184"/>
          <p:cNvSpPr/>
          <p:nvPr/>
        </p:nvSpPr>
        <p:spPr>
          <a:xfrm>
            <a:off x="7313371" y="1115568"/>
            <a:ext cx="1388059" cy="274320"/>
          </a:xfrm>
          <a:prstGeom prst="rect">
            <a:avLst/>
          </a:prstGeom>
          <a:noFill/>
          <a:ln/>
        </p:spPr>
        <p:txBody>
          <a:bodyPr wrap="square" lIns="0" tIns="0" rIns="0" bIns="0" rtlCol="0" anchor="ctr"/>
          <a:lstStyle/>
          <a:p>
            <a:pPr algn="ctr" indent="0" marL="0">
              <a:lnSpc>
                <a:spcPct val="105000"/>
              </a:lnSpc>
              <a:buNone/>
            </a:pPr>
            <a:r>
              <a:rPr lang="en-US" sz="640" b="1" dirty="0">
                <a:solidFill>
                  <a:srgbClr val="137333"/>
                </a:solidFill>
                <a:latin typeface="Arial" pitchFamily="34" charset="0"/>
                <a:ea typeface="Arial" pitchFamily="34" charset="-122"/>
                <a:cs typeface="Arial" pitchFamily="34" charset="-120"/>
              </a:rPr>
              <a:t>2. GREEN: Gov Hub</a:t>
            </a:r>
            <a:endParaRPr lang="en-US" sz="640" dirty="0"/>
          </a:p>
        </p:txBody>
      </p:sp>
      <p:sp>
        <p:nvSpPr>
          <p:cNvPr id="207" name="Shape 185"/>
          <p:cNvSpPr/>
          <p:nvPr/>
        </p:nvSpPr>
        <p:spPr>
          <a:xfrm>
            <a:off x="8774582" y="1115568"/>
            <a:ext cx="1388059" cy="274320"/>
          </a:xfrm>
          <a:prstGeom prst="roundRect">
            <a:avLst>
              <a:gd name="adj" fmla="val 26667"/>
            </a:avLst>
          </a:prstGeom>
          <a:solidFill>
            <a:srgbClr val="FEEFC3"/>
          </a:solidFill>
          <a:ln/>
        </p:spPr>
      </p:sp>
      <p:sp>
        <p:nvSpPr>
          <p:cNvPr id="208" name="Text 186"/>
          <p:cNvSpPr/>
          <p:nvPr/>
        </p:nvSpPr>
        <p:spPr>
          <a:xfrm>
            <a:off x="8774582" y="1115568"/>
            <a:ext cx="1388059" cy="274320"/>
          </a:xfrm>
          <a:prstGeom prst="rect">
            <a:avLst/>
          </a:prstGeom>
          <a:noFill/>
          <a:ln/>
        </p:spPr>
        <p:txBody>
          <a:bodyPr wrap="square" lIns="0" tIns="0" rIns="0" bIns="0" rtlCol="0" anchor="ctr"/>
          <a:lstStyle/>
          <a:p>
            <a:pPr algn="ctr" indent="0" marL="0">
              <a:lnSpc>
                <a:spcPct val="105000"/>
              </a:lnSpc>
              <a:buNone/>
            </a:pPr>
            <a:r>
              <a:rPr lang="en-US" sz="640" b="1" dirty="0">
                <a:solidFill>
                  <a:srgbClr val="B06000"/>
                </a:solidFill>
                <a:latin typeface="Arial" pitchFamily="34" charset="0"/>
                <a:ea typeface="Arial" pitchFamily="34" charset="-122"/>
                <a:cs typeface="Arial" pitchFamily="34" charset="-120"/>
              </a:rPr>
              <a:t>3. YELLOW: Pool (A)</a:t>
            </a:r>
            <a:endParaRPr lang="en-US" sz="640" dirty="0"/>
          </a:p>
        </p:txBody>
      </p:sp>
      <p:sp>
        <p:nvSpPr>
          <p:cNvPr id="209" name="Shape 187"/>
          <p:cNvSpPr/>
          <p:nvPr/>
        </p:nvSpPr>
        <p:spPr>
          <a:xfrm>
            <a:off x="10235794" y="1115568"/>
            <a:ext cx="1388059" cy="274320"/>
          </a:xfrm>
          <a:prstGeom prst="roundRect">
            <a:avLst>
              <a:gd name="adj" fmla="val 26667"/>
            </a:avLst>
          </a:prstGeom>
          <a:solidFill>
            <a:srgbClr val="FAD2CF"/>
          </a:solidFill>
          <a:ln/>
        </p:spPr>
      </p:sp>
      <p:sp>
        <p:nvSpPr>
          <p:cNvPr id="210" name="Text 188"/>
          <p:cNvSpPr/>
          <p:nvPr/>
        </p:nvSpPr>
        <p:spPr>
          <a:xfrm>
            <a:off x="10235794" y="1115568"/>
            <a:ext cx="1388059" cy="274320"/>
          </a:xfrm>
          <a:prstGeom prst="rect">
            <a:avLst/>
          </a:prstGeom>
          <a:noFill/>
          <a:ln/>
        </p:spPr>
        <p:txBody>
          <a:bodyPr wrap="square" lIns="0" tIns="0" rIns="0" bIns="0" rtlCol="0" anchor="ctr"/>
          <a:lstStyle/>
          <a:p>
            <a:pPr algn="ctr" indent="0" marL="0">
              <a:lnSpc>
                <a:spcPct val="105000"/>
              </a:lnSpc>
              <a:buNone/>
            </a:pPr>
            <a:r>
              <a:rPr lang="en-US" sz="640" b="1" dirty="0">
                <a:solidFill>
                  <a:srgbClr val="C5221F"/>
                </a:solidFill>
                <a:latin typeface="Arial" pitchFamily="34" charset="0"/>
                <a:ea typeface="Arial" pitchFamily="34" charset="-122"/>
                <a:cs typeface="Arial" pitchFamily="34" charset="-120"/>
              </a:rPr>
              <a:t>4. CORAL: Silo (B/C)</a:t>
            </a:r>
            <a:endParaRPr lang="en-US" sz="640" dirty="0"/>
          </a:p>
        </p:txBody>
      </p:sp>
      <p:sp>
        <p:nvSpPr>
          <p:cNvPr id="211" name="Shape 189"/>
          <p:cNvSpPr/>
          <p:nvPr/>
        </p:nvSpPr>
        <p:spPr>
          <a:xfrm>
            <a:off x="5747004" y="1671523"/>
            <a:ext cx="2940710" cy="1956816"/>
          </a:xfrm>
          <a:prstGeom prst="roundRect">
            <a:avLst>
              <a:gd name="adj" fmla="val 3271"/>
            </a:avLst>
          </a:prstGeom>
          <a:solidFill>
            <a:srgbClr val="E2E8F0"/>
          </a:solidFill>
          <a:ln/>
        </p:spPr>
      </p:sp>
      <p:sp>
        <p:nvSpPr>
          <p:cNvPr id="212" name="Shape 190"/>
          <p:cNvSpPr/>
          <p:nvPr/>
        </p:nvSpPr>
        <p:spPr>
          <a:xfrm>
            <a:off x="5724144" y="1645920"/>
            <a:ext cx="2940710" cy="1956816"/>
          </a:xfrm>
          <a:prstGeom prst="roundRect">
            <a:avLst>
              <a:gd name="adj" fmla="val 3271"/>
            </a:avLst>
          </a:prstGeom>
          <a:solidFill>
            <a:srgbClr val="FFFFFF"/>
          </a:solidFill>
          <a:ln w="10795">
            <a:solidFill>
              <a:srgbClr val="BFDBFE"/>
            </a:solidFill>
            <a:prstDash val="solid"/>
          </a:ln>
        </p:spPr>
      </p:sp>
      <p:sp>
        <p:nvSpPr>
          <p:cNvPr id="213" name="Shape 191"/>
          <p:cNvSpPr/>
          <p:nvPr/>
        </p:nvSpPr>
        <p:spPr>
          <a:xfrm>
            <a:off x="5724144" y="1645920"/>
            <a:ext cx="2940710" cy="50292"/>
          </a:xfrm>
          <a:prstGeom prst="roundRect">
            <a:avLst>
              <a:gd name="adj" fmla="val 36364"/>
            </a:avLst>
          </a:prstGeom>
          <a:solidFill>
            <a:srgbClr val="1D4ED8"/>
          </a:solidFill>
          <a:ln/>
        </p:spPr>
      </p:sp>
      <p:sp>
        <p:nvSpPr>
          <p:cNvPr id="214" name="Shape 192"/>
          <p:cNvSpPr/>
          <p:nvPr/>
        </p:nvSpPr>
        <p:spPr>
          <a:xfrm>
            <a:off x="5843016" y="1819656"/>
            <a:ext cx="274320" cy="274320"/>
          </a:xfrm>
          <a:prstGeom prst="ellipse">
            <a:avLst/>
          </a:prstGeom>
          <a:solidFill>
            <a:srgbClr val="1D4ED8"/>
          </a:solidFill>
          <a:ln/>
        </p:spPr>
      </p:sp>
      <p:sp>
        <p:nvSpPr>
          <p:cNvPr id="215" name="Text 193"/>
          <p:cNvSpPr/>
          <p:nvPr/>
        </p:nvSpPr>
        <p:spPr>
          <a:xfrm>
            <a:off x="5843016" y="1819656"/>
            <a:ext cx="274320" cy="274320"/>
          </a:xfrm>
          <a:prstGeom prst="rect">
            <a:avLst/>
          </a:prstGeom>
          <a:noFill/>
          <a:ln/>
        </p:spPr>
        <p:txBody>
          <a:bodyPr wrap="square" lIns="0" tIns="0" rIns="0" bIns="0" rtlCol="0" anchor="ctr"/>
          <a:lstStyle/>
          <a:p>
            <a:pPr algn="ctr" indent="0" marL="0">
              <a:lnSpc>
                <a:spcPct val="100000"/>
              </a:lnSpc>
              <a:buNone/>
            </a:pPr>
            <a:r>
              <a:rPr lang="en-US" sz="800" b="1" dirty="0">
                <a:solidFill>
                  <a:srgbClr val="FFFFFF"/>
                </a:solidFill>
                <a:latin typeface="Arial" pitchFamily="34" charset="0"/>
                <a:ea typeface="Arial" pitchFamily="34" charset="-122"/>
                <a:cs typeface="Arial" pitchFamily="34" charset="-120"/>
              </a:rPr>
              <a:t>01</a:t>
            </a:r>
            <a:endParaRPr lang="en-US" sz="800" dirty="0"/>
          </a:p>
        </p:txBody>
      </p:sp>
      <p:sp>
        <p:nvSpPr>
          <p:cNvPr id="216" name="Text 194"/>
          <p:cNvSpPr/>
          <p:nvPr/>
        </p:nvSpPr>
        <p:spPr>
          <a:xfrm>
            <a:off x="6181344" y="1783080"/>
            <a:ext cx="2373782" cy="146304"/>
          </a:xfrm>
          <a:prstGeom prst="rect">
            <a:avLst/>
          </a:prstGeom>
          <a:noFill/>
          <a:ln/>
        </p:spPr>
        <p:txBody>
          <a:bodyPr wrap="square" lIns="0" tIns="0" rIns="0" bIns="0" rtlCol="0" anchor="ctr"/>
          <a:lstStyle/>
          <a:p>
            <a:pPr indent="0" marL="0">
              <a:lnSpc>
                <a:spcPct val="105000"/>
              </a:lnSpc>
              <a:buNone/>
            </a:pPr>
            <a:r>
              <a:rPr lang="en-US" sz="620" b="1" dirty="0">
                <a:solidFill>
                  <a:srgbClr val="174EA6"/>
                </a:solidFill>
                <a:latin typeface="Arial" pitchFamily="34" charset="0"/>
                <a:ea typeface="Arial" pitchFamily="34" charset="-122"/>
                <a:cs typeface="Arial" pitchFamily="34" charset="-120"/>
              </a:rPr>
              <a:t>STEPS 1–2  •  BLUE ROUTING HUB</a:t>
            </a:r>
            <a:endParaRPr lang="en-US" sz="620" dirty="0"/>
          </a:p>
        </p:txBody>
      </p:sp>
      <p:sp>
        <p:nvSpPr>
          <p:cNvPr id="217" name="Text 195"/>
          <p:cNvSpPr/>
          <p:nvPr/>
        </p:nvSpPr>
        <p:spPr>
          <a:xfrm>
            <a:off x="6181344" y="1938528"/>
            <a:ext cx="2373782" cy="201168"/>
          </a:xfrm>
          <a:prstGeom prst="rect">
            <a:avLst/>
          </a:prstGeom>
          <a:noFill/>
          <a:ln/>
        </p:spPr>
        <p:txBody>
          <a:bodyPr wrap="square" lIns="0" tIns="0" rIns="0" bIns="0" rtlCol="0" anchor="ctr"/>
          <a:lstStyle/>
          <a:p>
            <a:pPr indent="0" marL="0">
              <a:lnSpc>
                <a:spcPct val="105000"/>
              </a:lnSpc>
              <a:buNone/>
            </a:pPr>
            <a:r>
              <a:rPr lang="en-US" sz="880" b="1" dirty="0">
                <a:solidFill>
                  <a:srgbClr val="0F172A"/>
                </a:solidFill>
                <a:latin typeface="Arial" pitchFamily="34" charset="0"/>
                <a:ea typeface="Arial" pitchFamily="34" charset="-122"/>
                <a:cs typeface="Arial" pitchFamily="34" charset="-120"/>
              </a:rPr>
              <a:t>Shared Ingress &amp; Token Exchange</a:t>
            </a:r>
            <a:endParaRPr lang="en-US" sz="880" dirty="0"/>
          </a:p>
        </p:txBody>
      </p:sp>
      <p:sp>
        <p:nvSpPr>
          <p:cNvPr id="218" name="Text 196"/>
          <p:cNvSpPr/>
          <p:nvPr/>
        </p:nvSpPr>
        <p:spPr>
          <a:xfrm>
            <a:off x="5852160" y="2212848"/>
            <a:ext cx="2684678" cy="1024128"/>
          </a:xfrm>
          <a:prstGeom prst="rect">
            <a:avLst/>
          </a:prstGeom>
          <a:noFill/>
          <a:ln/>
        </p:spPr>
        <p:txBody>
          <a:bodyPr wrap="square" lIns="0" tIns="0" rIns="0" bIns="0" rtlCol="0" anchor="ctr"/>
          <a:lstStyle/>
          <a:p>
            <a:pPr indent="0" marL="0">
              <a:lnSpc>
                <a:spcPct val="108000"/>
              </a:lnSpc>
              <a:buNone/>
            </a:pPr>
            <a:r>
              <a:rPr lang="en-US" sz="720" dirty="0">
                <a:solidFill>
                  <a:srgbClr val="334155"/>
                </a:solidFill>
                <a:latin typeface="Arial" pitchFamily="34" charset="0"/>
                <a:ea typeface="Arial" pitchFamily="34" charset="-122"/>
                <a:cs typeface="Arial" pitchFamily="34" charset="-120"/>
              </a:rPr>
              <a:t>External ALB + Cloud Armor strip spoofed tenant headers; ingress Model Armor blocks prompt injection; RFC 8693 OBO + DPoP signs the ECDSA P-256 TenantContext JWT before Cloud Run dispatches by tier.</a:t>
            </a:r>
            <a:endParaRPr lang="en-US" sz="720" dirty="0"/>
          </a:p>
        </p:txBody>
      </p:sp>
      <p:sp>
        <p:nvSpPr>
          <p:cNvPr id="219" name="Shape 197"/>
          <p:cNvSpPr/>
          <p:nvPr/>
        </p:nvSpPr>
        <p:spPr>
          <a:xfrm>
            <a:off x="5852160" y="3319272"/>
            <a:ext cx="2684678" cy="192024"/>
          </a:xfrm>
          <a:prstGeom prst="roundRect">
            <a:avLst>
              <a:gd name="adj" fmla="val 38095"/>
            </a:avLst>
          </a:prstGeom>
          <a:solidFill>
            <a:srgbClr val="EFF6FF"/>
          </a:solidFill>
          <a:ln w="9525">
            <a:solidFill>
              <a:srgbClr val="BFDBFE"/>
            </a:solidFill>
            <a:prstDash val="solid"/>
          </a:ln>
        </p:spPr>
      </p:sp>
      <p:sp>
        <p:nvSpPr>
          <p:cNvPr id="220" name="Text 198"/>
          <p:cNvSpPr/>
          <p:nvPr/>
        </p:nvSpPr>
        <p:spPr>
          <a:xfrm>
            <a:off x="5852160" y="3319272"/>
            <a:ext cx="2684678" cy="192024"/>
          </a:xfrm>
          <a:prstGeom prst="rect">
            <a:avLst/>
          </a:prstGeom>
          <a:noFill/>
          <a:ln/>
        </p:spPr>
        <p:txBody>
          <a:bodyPr wrap="square" lIns="0" tIns="0" rIns="0" bIns="0" rtlCol="0" anchor="ctr"/>
          <a:lstStyle/>
          <a:p>
            <a:pPr algn="ctr" indent="0" marL="0">
              <a:lnSpc>
                <a:spcPct val="105000"/>
              </a:lnSpc>
              <a:buNone/>
            </a:pPr>
            <a:r>
              <a:rPr lang="en-US" sz="630" b="1" dirty="0">
                <a:solidFill>
                  <a:srgbClr val="174EA6"/>
                </a:solidFill>
                <a:latin typeface="Arial" pitchFamily="34" charset="0"/>
                <a:ea typeface="Arial" pitchFamily="34" charset="-122"/>
                <a:cs typeface="Arial" pitchFamily="34" charset="-120"/>
              </a:rPr>
              <a:t>Live GCP: cymbal-multi-tenant-patterns</a:t>
            </a:r>
            <a:endParaRPr lang="en-US" sz="630" dirty="0"/>
          </a:p>
        </p:txBody>
      </p:sp>
      <p:sp>
        <p:nvSpPr>
          <p:cNvPr id="221" name="Shape 199"/>
          <p:cNvSpPr/>
          <p:nvPr/>
        </p:nvSpPr>
        <p:spPr>
          <a:xfrm>
            <a:off x="8834018" y="1671523"/>
            <a:ext cx="2940710" cy="1956816"/>
          </a:xfrm>
          <a:prstGeom prst="roundRect">
            <a:avLst>
              <a:gd name="adj" fmla="val 3271"/>
            </a:avLst>
          </a:prstGeom>
          <a:solidFill>
            <a:srgbClr val="E2E8F0"/>
          </a:solidFill>
          <a:ln/>
        </p:spPr>
      </p:sp>
      <p:sp>
        <p:nvSpPr>
          <p:cNvPr id="222" name="Shape 200"/>
          <p:cNvSpPr/>
          <p:nvPr/>
        </p:nvSpPr>
        <p:spPr>
          <a:xfrm>
            <a:off x="8811158" y="1645920"/>
            <a:ext cx="2940710" cy="1956816"/>
          </a:xfrm>
          <a:prstGeom prst="roundRect">
            <a:avLst>
              <a:gd name="adj" fmla="val 3271"/>
            </a:avLst>
          </a:prstGeom>
          <a:solidFill>
            <a:srgbClr val="FFFFFF"/>
          </a:solidFill>
          <a:ln w="10795">
            <a:solidFill>
              <a:srgbClr val="A7F3D0"/>
            </a:solidFill>
            <a:prstDash val="solid"/>
          </a:ln>
        </p:spPr>
      </p:sp>
      <p:sp>
        <p:nvSpPr>
          <p:cNvPr id="223" name="Shape 201"/>
          <p:cNvSpPr/>
          <p:nvPr/>
        </p:nvSpPr>
        <p:spPr>
          <a:xfrm>
            <a:off x="8811158" y="1645920"/>
            <a:ext cx="2940710" cy="50292"/>
          </a:xfrm>
          <a:prstGeom prst="roundRect">
            <a:avLst>
              <a:gd name="adj" fmla="val 36364"/>
            </a:avLst>
          </a:prstGeom>
          <a:solidFill>
            <a:srgbClr val="047857"/>
          </a:solidFill>
          <a:ln/>
        </p:spPr>
      </p:sp>
      <p:sp>
        <p:nvSpPr>
          <p:cNvPr id="224" name="Shape 202"/>
          <p:cNvSpPr/>
          <p:nvPr/>
        </p:nvSpPr>
        <p:spPr>
          <a:xfrm>
            <a:off x="8930030" y="1819656"/>
            <a:ext cx="274320" cy="274320"/>
          </a:xfrm>
          <a:prstGeom prst="ellipse">
            <a:avLst/>
          </a:prstGeom>
          <a:solidFill>
            <a:srgbClr val="047857"/>
          </a:solidFill>
          <a:ln/>
        </p:spPr>
      </p:sp>
      <p:sp>
        <p:nvSpPr>
          <p:cNvPr id="225" name="Text 203"/>
          <p:cNvSpPr/>
          <p:nvPr/>
        </p:nvSpPr>
        <p:spPr>
          <a:xfrm>
            <a:off x="8930030" y="1819656"/>
            <a:ext cx="274320" cy="274320"/>
          </a:xfrm>
          <a:prstGeom prst="rect">
            <a:avLst/>
          </a:prstGeom>
          <a:noFill/>
          <a:ln/>
        </p:spPr>
        <p:txBody>
          <a:bodyPr wrap="square" lIns="0" tIns="0" rIns="0" bIns="0" rtlCol="0" anchor="ctr"/>
          <a:lstStyle/>
          <a:p>
            <a:pPr algn="ctr" indent="0" marL="0">
              <a:lnSpc>
                <a:spcPct val="100000"/>
              </a:lnSpc>
              <a:buNone/>
            </a:pPr>
            <a:r>
              <a:rPr lang="en-US" sz="800" b="1" dirty="0">
                <a:solidFill>
                  <a:srgbClr val="FFFFFF"/>
                </a:solidFill>
                <a:latin typeface="Arial" pitchFamily="34" charset="0"/>
                <a:ea typeface="Arial" pitchFamily="34" charset="-122"/>
                <a:cs typeface="Arial" pitchFamily="34" charset="-120"/>
              </a:rPr>
              <a:t>02</a:t>
            </a:r>
            <a:endParaRPr lang="en-US" sz="800" dirty="0"/>
          </a:p>
        </p:txBody>
      </p:sp>
      <p:sp>
        <p:nvSpPr>
          <p:cNvPr id="226" name="Text 204"/>
          <p:cNvSpPr/>
          <p:nvPr/>
        </p:nvSpPr>
        <p:spPr>
          <a:xfrm>
            <a:off x="9268358" y="1783080"/>
            <a:ext cx="2373782" cy="146304"/>
          </a:xfrm>
          <a:prstGeom prst="rect">
            <a:avLst/>
          </a:prstGeom>
          <a:noFill/>
          <a:ln/>
        </p:spPr>
        <p:txBody>
          <a:bodyPr wrap="square" lIns="0" tIns="0" rIns="0" bIns="0" rtlCol="0" anchor="ctr"/>
          <a:lstStyle/>
          <a:p>
            <a:pPr indent="0" marL="0">
              <a:lnSpc>
                <a:spcPct val="105000"/>
              </a:lnSpc>
              <a:buNone/>
            </a:pPr>
            <a:r>
              <a:rPr lang="en-US" sz="620" b="1" dirty="0">
                <a:solidFill>
                  <a:srgbClr val="137333"/>
                </a:solidFill>
                <a:latin typeface="Arial" pitchFamily="34" charset="0"/>
                <a:ea typeface="Arial" pitchFamily="34" charset="-122"/>
                <a:cs typeface="Arial" pitchFamily="34" charset="-120"/>
              </a:rPr>
              <a:t>STEP 7  •  GREEN GOVERNANCE HUB</a:t>
            </a:r>
            <a:endParaRPr lang="en-US" sz="620" dirty="0"/>
          </a:p>
        </p:txBody>
      </p:sp>
      <p:sp>
        <p:nvSpPr>
          <p:cNvPr id="227" name="Text 205"/>
          <p:cNvSpPr/>
          <p:nvPr/>
        </p:nvSpPr>
        <p:spPr>
          <a:xfrm>
            <a:off x="9268358" y="1938528"/>
            <a:ext cx="2373782" cy="201168"/>
          </a:xfrm>
          <a:prstGeom prst="rect">
            <a:avLst/>
          </a:prstGeom>
          <a:noFill/>
          <a:ln/>
        </p:spPr>
        <p:txBody>
          <a:bodyPr wrap="square" lIns="0" tIns="0" rIns="0" bIns="0" rtlCol="0" anchor="ctr"/>
          <a:lstStyle/>
          <a:p>
            <a:pPr indent="0" marL="0">
              <a:lnSpc>
                <a:spcPct val="105000"/>
              </a:lnSpc>
              <a:buNone/>
            </a:pPr>
            <a:r>
              <a:rPr lang="en-US" sz="880" b="1" dirty="0">
                <a:solidFill>
                  <a:srgbClr val="0F172A"/>
                </a:solidFill>
                <a:latin typeface="Arial" pitchFamily="34" charset="0"/>
                <a:ea typeface="Arial" pitchFamily="34" charset="-122"/>
                <a:cs typeface="Arial" pitchFamily="34" charset="-120"/>
              </a:rPr>
              <a:t>Central IAM PAB, SCC &amp; FinOps</a:t>
            </a:r>
            <a:endParaRPr lang="en-US" sz="880" dirty="0"/>
          </a:p>
        </p:txBody>
      </p:sp>
      <p:sp>
        <p:nvSpPr>
          <p:cNvPr id="228" name="Text 206"/>
          <p:cNvSpPr/>
          <p:nvPr/>
        </p:nvSpPr>
        <p:spPr>
          <a:xfrm>
            <a:off x="8939174" y="2212848"/>
            <a:ext cx="2684678" cy="1024128"/>
          </a:xfrm>
          <a:prstGeom prst="rect">
            <a:avLst/>
          </a:prstGeom>
          <a:noFill/>
          <a:ln/>
        </p:spPr>
        <p:txBody>
          <a:bodyPr wrap="square" lIns="0" tIns="0" rIns="0" bIns="0" rtlCol="0" anchor="ctr"/>
          <a:lstStyle/>
          <a:p>
            <a:pPr indent="0" marL="0">
              <a:lnSpc>
                <a:spcPct val="108000"/>
              </a:lnSpc>
              <a:buNone/>
            </a:pPr>
            <a:r>
              <a:rPr lang="en-US" sz="720" dirty="0">
                <a:solidFill>
                  <a:srgbClr val="334155"/>
                </a:solidFill>
                <a:latin typeface="Arial" pitchFamily="34" charset="0"/>
                <a:ea typeface="Arial" pitchFamily="34" charset="-122"/>
                <a:cs typeface="Arial" pitchFamily="34" charset="-120"/>
              </a:rPr>
              <a:t>Houses org-wide Principal Access Boundaries (2LO/3LO), Security Command Center audit streams, KMS key-ring governance, and async BigQuery OTel telemetry export off the latency hot path.</a:t>
            </a:r>
            <a:endParaRPr lang="en-US" sz="720" dirty="0"/>
          </a:p>
        </p:txBody>
      </p:sp>
      <p:sp>
        <p:nvSpPr>
          <p:cNvPr id="229" name="Shape 207"/>
          <p:cNvSpPr/>
          <p:nvPr/>
        </p:nvSpPr>
        <p:spPr>
          <a:xfrm>
            <a:off x="8939174" y="3319272"/>
            <a:ext cx="2684678" cy="192024"/>
          </a:xfrm>
          <a:prstGeom prst="roundRect">
            <a:avLst>
              <a:gd name="adj" fmla="val 38095"/>
            </a:avLst>
          </a:prstGeom>
          <a:solidFill>
            <a:srgbClr val="ECFDF5"/>
          </a:solidFill>
          <a:ln w="9525">
            <a:solidFill>
              <a:srgbClr val="A7F3D0"/>
            </a:solidFill>
            <a:prstDash val="solid"/>
          </a:ln>
        </p:spPr>
      </p:sp>
      <p:sp>
        <p:nvSpPr>
          <p:cNvPr id="230" name="Text 208"/>
          <p:cNvSpPr/>
          <p:nvPr/>
        </p:nvSpPr>
        <p:spPr>
          <a:xfrm>
            <a:off x="8939174" y="3319272"/>
            <a:ext cx="2684678" cy="192024"/>
          </a:xfrm>
          <a:prstGeom prst="rect">
            <a:avLst/>
          </a:prstGeom>
          <a:noFill/>
          <a:ln/>
        </p:spPr>
        <p:txBody>
          <a:bodyPr wrap="square" lIns="0" tIns="0" rIns="0" bIns="0" rtlCol="0" anchor="ctr"/>
          <a:lstStyle/>
          <a:p>
            <a:pPr algn="ctr" indent="0" marL="0">
              <a:lnSpc>
                <a:spcPct val="105000"/>
              </a:lnSpc>
              <a:buNone/>
            </a:pPr>
            <a:r>
              <a:rPr lang="en-US" sz="630" b="1" dirty="0">
                <a:solidFill>
                  <a:srgbClr val="137333"/>
                </a:solidFill>
                <a:latin typeface="Arial" pitchFamily="34" charset="0"/>
                <a:ea typeface="Arial" pitchFamily="34" charset="-122"/>
                <a:cs typeface="Arial" pitchFamily="34" charset="-120"/>
              </a:rPr>
              <a:t>Live BQ: tenant_telemetry_spans / audit_log</a:t>
            </a:r>
            <a:endParaRPr lang="en-US" sz="630" dirty="0"/>
          </a:p>
        </p:txBody>
      </p:sp>
      <p:sp>
        <p:nvSpPr>
          <p:cNvPr id="231" name="Shape 209"/>
          <p:cNvSpPr/>
          <p:nvPr/>
        </p:nvSpPr>
        <p:spPr>
          <a:xfrm>
            <a:off x="5747004" y="3765499"/>
            <a:ext cx="2940710" cy="1956816"/>
          </a:xfrm>
          <a:prstGeom prst="roundRect">
            <a:avLst>
              <a:gd name="adj" fmla="val 3271"/>
            </a:avLst>
          </a:prstGeom>
          <a:solidFill>
            <a:srgbClr val="E2E8F0"/>
          </a:solidFill>
          <a:ln/>
        </p:spPr>
      </p:sp>
      <p:sp>
        <p:nvSpPr>
          <p:cNvPr id="232" name="Shape 210"/>
          <p:cNvSpPr/>
          <p:nvPr/>
        </p:nvSpPr>
        <p:spPr>
          <a:xfrm>
            <a:off x="5724144" y="3739896"/>
            <a:ext cx="2940710" cy="1956816"/>
          </a:xfrm>
          <a:prstGeom prst="roundRect">
            <a:avLst>
              <a:gd name="adj" fmla="val 3271"/>
            </a:avLst>
          </a:prstGeom>
          <a:solidFill>
            <a:srgbClr val="FFFFFF"/>
          </a:solidFill>
          <a:ln w="10795">
            <a:solidFill>
              <a:srgbClr val="FDE68A"/>
            </a:solidFill>
            <a:prstDash val="solid"/>
          </a:ln>
        </p:spPr>
      </p:sp>
      <p:sp>
        <p:nvSpPr>
          <p:cNvPr id="233" name="Shape 211"/>
          <p:cNvSpPr/>
          <p:nvPr/>
        </p:nvSpPr>
        <p:spPr>
          <a:xfrm>
            <a:off x="5724144" y="3739896"/>
            <a:ext cx="2940710" cy="50292"/>
          </a:xfrm>
          <a:prstGeom prst="roundRect">
            <a:avLst>
              <a:gd name="adj" fmla="val 36364"/>
            </a:avLst>
          </a:prstGeom>
          <a:solidFill>
            <a:srgbClr val="D97706"/>
          </a:solidFill>
          <a:ln/>
        </p:spPr>
      </p:sp>
      <p:sp>
        <p:nvSpPr>
          <p:cNvPr id="234" name="Shape 212"/>
          <p:cNvSpPr/>
          <p:nvPr/>
        </p:nvSpPr>
        <p:spPr>
          <a:xfrm>
            <a:off x="5843016" y="3913632"/>
            <a:ext cx="274320" cy="274320"/>
          </a:xfrm>
          <a:prstGeom prst="ellipse">
            <a:avLst/>
          </a:prstGeom>
          <a:solidFill>
            <a:srgbClr val="D97706"/>
          </a:solidFill>
          <a:ln/>
        </p:spPr>
      </p:sp>
      <p:sp>
        <p:nvSpPr>
          <p:cNvPr id="235" name="Text 213"/>
          <p:cNvSpPr/>
          <p:nvPr/>
        </p:nvSpPr>
        <p:spPr>
          <a:xfrm>
            <a:off x="5843016" y="3913632"/>
            <a:ext cx="274320" cy="274320"/>
          </a:xfrm>
          <a:prstGeom prst="rect">
            <a:avLst/>
          </a:prstGeom>
          <a:noFill/>
          <a:ln/>
        </p:spPr>
        <p:txBody>
          <a:bodyPr wrap="square" lIns="0" tIns="0" rIns="0" bIns="0" rtlCol="0" anchor="ctr"/>
          <a:lstStyle/>
          <a:p>
            <a:pPr algn="ctr" indent="0" marL="0">
              <a:lnSpc>
                <a:spcPct val="100000"/>
              </a:lnSpc>
              <a:buNone/>
            </a:pPr>
            <a:r>
              <a:rPr lang="en-US" sz="800" b="1" dirty="0">
                <a:solidFill>
                  <a:srgbClr val="FFFFFF"/>
                </a:solidFill>
                <a:latin typeface="Arial" pitchFamily="34" charset="0"/>
                <a:ea typeface="Arial" pitchFamily="34" charset="-122"/>
                <a:cs typeface="Arial" pitchFamily="34" charset="-120"/>
              </a:rPr>
              <a:t>03</a:t>
            </a:r>
            <a:endParaRPr lang="en-US" sz="800" dirty="0"/>
          </a:p>
        </p:txBody>
      </p:sp>
      <p:sp>
        <p:nvSpPr>
          <p:cNvPr id="236" name="Text 214"/>
          <p:cNvSpPr/>
          <p:nvPr/>
        </p:nvSpPr>
        <p:spPr>
          <a:xfrm>
            <a:off x="6181344" y="3877056"/>
            <a:ext cx="2373782" cy="146304"/>
          </a:xfrm>
          <a:prstGeom prst="rect">
            <a:avLst/>
          </a:prstGeom>
          <a:noFill/>
          <a:ln/>
        </p:spPr>
        <p:txBody>
          <a:bodyPr wrap="square" lIns="0" tIns="0" rIns="0" bIns="0" rtlCol="0" anchor="ctr"/>
          <a:lstStyle/>
          <a:p>
            <a:pPr indent="0" marL="0">
              <a:lnSpc>
                <a:spcPct val="105000"/>
              </a:lnSpc>
              <a:buNone/>
            </a:pPr>
            <a:r>
              <a:rPr lang="en-US" sz="620" b="1" dirty="0">
                <a:solidFill>
                  <a:srgbClr val="B06000"/>
                </a:solidFill>
                <a:latin typeface="Arial" pitchFamily="34" charset="0"/>
                <a:ea typeface="Arial" pitchFamily="34" charset="-122"/>
                <a:cs typeface="Arial" pitchFamily="34" charset="-120"/>
              </a:rPr>
              <a:t>STEPS 3–6  •  YELLOW LEFT SPOKE</a:t>
            </a:r>
            <a:endParaRPr lang="en-US" sz="620" dirty="0"/>
          </a:p>
        </p:txBody>
      </p:sp>
      <p:sp>
        <p:nvSpPr>
          <p:cNvPr id="237" name="Text 215"/>
          <p:cNvSpPr/>
          <p:nvPr/>
        </p:nvSpPr>
        <p:spPr>
          <a:xfrm>
            <a:off x="6181344" y="4032504"/>
            <a:ext cx="2373782" cy="201168"/>
          </a:xfrm>
          <a:prstGeom prst="rect">
            <a:avLst/>
          </a:prstGeom>
          <a:noFill/>
          <a:ln/>
        </p:spPr>
        <p:txBody>
          <a:bodyPr wrap="square" lIns="0" tIns="0" rIns="0" bIns="0" rtlCol="0" anchor="ctr"/>
          <a:lstStyle/>
          <a:p>
            <a:pPr indent="0" marL="0">
              <a:lnSpc>
                <a:spcPct val="105000"/>
              </a:lnSpc>
              <a:buNone/>
            </a:pPr>
            <a:r>
              <a:rPr lang="en-US" sz="880" b="1" dirty="0">
                <a:solidFill>
                  <a:srgbClr val="0F172A"/>
                </a:solidFill>
                <a:latin typeface="Arial" pitchFamily="34" charset="0"/>
                <a:ea typeface="Arial" pitchFamily="34" charset="-122"/>
                <a:cs typeface="Arial" pitchFamily="34" charset="-120"/>
              </a:rPr>
              <a:t>Pattern A: Pooled Shared Runtime</a:t>
            </a:r>
            <a:endParaRPr lang="en-US" sz="880" dirty="0"/>
          </a:p>
        </p:txBody>
      </p:sp>
      <p:sp>
        <p:nvSpPr>
          <p:cNvPr id="238" name="Text 216"/>
          <p:cNvSpPr/>
          <p:nvPr/>
        </p:nvSpPr>
        <p:spPr>
          <a:xfrm>
            <a:off x="5852160" y="4306824"/>
            <a:ext cx="2684678" cy="1024128"/>
          </a:xfrm>
          <a:prstGeom prst="rect">
            <a:avLst/>
          </a:prstGeom>
          <a:noFill/>
          <a:ln/>
        </p:spPr>
        <p:txBody>
          <a:bodyPr wrap="square" lIns="0" tIns="0" rIns="0" bIns="0" rtlCol="0" anchor="ctr"/>
          <a:lstStyle/>
          <a:p>
            <a:pPr indent="0" marL="0">
              <a:lnSpc>
                <a:spcPct val="108000"/>
              </a:lnSpc>
              <a:buNone/>
            </a:pPr>
            <a:r>
              <a:rPr lang="en-US" sz="720" dirty="0">
                <a:solidFill>
                  <a:srgbClr val="334155"/>
                </a:solidFill>
                <a:latin typeface="Arial" pitchFamily="34" charset="0"/>
                <a:ea typeface="Arial" pitchFamily="34" charset="-122"/>
                <a:cs typeface="Arial" pitchFamily="34" charset="-120"/>
              </a:rPr>
              <a:t>Runs commercial &amp; burst tenants on gVisor-sandboxed Vertex AI Agent Engine with temp:tenant_id state, Gemini 2.5 Pro 90% shared prefix cache savings, scoped 3LO MCP, and AlloyDB FORCE RLS.</a:t>
            </a:r>
            <a:endParaRPr lang="en-US" sz="720" dirty="0"/>
          </a:p>
        </p:txBody>
      </p:sp>
      <p:sp>
        <p:nvSpPr>
          <p:cNvPr id="239" name="Shape 217"/>
          <p:cNvSpPr/>
          <p:nvPr/>
        </p:nvSpPr>
        <p:spPr>
          <a:xfrm>
            <a:off x="5852160" y="5413248"/>
            <a:ext cx="2684678" cy="192024"/>
          </a:xfrm>
          <a:prstGeom prst="roundRect">
            <a:avLst>
              <a:gd name="adj" fmla="val 38095"/>
            </a:avLst>
          </a:prstGeom>
          <a:solidFill>
            <a:srgbClr val="FFFBEB"/>
          </a:solidFill>
          <a:ln w="9525">
            <a:solidFill>
              <a:srgbClr val="FDE68A"/>
            </a:solidFill>
            <a:prstDash val="solid"/>
          </a:ln>
        </p:spPr>
      </p:sp>
      <p:sp>
        <p:nvSpPr>
          <p:cNvPr id="240" name="Text 218"/>
          <p:cNvSpPr/>
          <p:nvPr/>
        </p:nvSpPr>
        <p:spPr>
          <a:xfrm>
            <a:off x="5852160" y="5413248"/>
            <a:ext cx="2684678" cy="192024"/>
          </a:xfrm>
          <a:prstGeom prst="rect">
            <a:avLst/>
          </a:prstGeom>
          <a:noFill/>
          <a:ln/>
        </p:spPr>
        <p:txBody>
          <a:bodyPr wrap="square" lIns="0" tIns="0" rIns="0" bIns="0" rtlCol="0" anchor="ctr"/>
          <a:lstStyle/>
          <a:p>
            <a:pPr algn="ctr" indent="0" marL="0">
              <a:lnSpc>
                <a:spcPct val="105000"/>
              </a:lnSpc>
              <a:buNone/>
            </a:pPr>
            <a:r>
              <a:rPr lang="en-US" sz="630" b="1" dirty="0">
                <a:solidFill>
                  <a:srgbClr val="B06000"/>
                </a:solidFill>
                <a:latin typeface="Arial" pitchFamily="34" charset="0"/>
                <a:ea typeface="Arial" pitchFamily="34" charset="-122"/>
                <a:cs typeface="Arial" pitchFamily="34" charset="-120"/>
              </a:rPr>
              <a:t>Live Table: pattern_a_pooled_rls_entities</a:t>
            </a:r>
            <a:endParaRPr lang="en-US" sz="630" dirty="0"/>
          </a:p>
        </p:txBody>
      </p:sp>
      <p:sp>
        <p:nvSpPr>
          <p:cNvPr id="241" name="Shape 219"/>
          <p:cNvSpPr/>
          <p:nvPr/>
        </p:nvSpPr>
        <p:spPr>
          <a:xfrm>
            <a:off x="8834018" y="3765499"/>
            <a:ext cx="2940710" cy="1956816"/>
          </a:xfrm>
          <a:prstGeom prst="roundRect">
            <a:avLst>
              <a:gd name="adj" fmla="val 3271"/>
            </a:avLst>
          </a:prstGeom>
          <a:solidFill>
            <a:srgbClr val="E2E8F0"/>
          </a:solidFill>
          <a:ln/>
        </p:spPr>
      </p:sp>
      <p:sp>
        <p:nvSpPr>
          <p:cNvPr id="242" name="Shape 220"/>
          <p:cNvSpPr/>
          <p:nvPr/>
        </p:nvSpPr>
        <p:spPr>
          <a:xfrm>
            <a:off x="8811158" y="3739896"/>
            <a:ext cx="2940710" cy="1956816"/>
          </a:xfrm>
          <a:prstGeom prst="roundRect">
            <a:avLst>
              <a:gd name="adj" fmla="val 3271"/>
            </a:avLst>
          </a:prstGeom>
          <a:solidFill>
            <a:srgbClr val="FFFFFF"/>
          </a:solidFill>
          <a:ln w="10795">
            <a:solidFill>
              <a:srgbClr val="FECACA"/>
            </a:solidFill>
            <a:prstDash val="solid"/>
          </a:ln>
        </p:spPr>
      </p:sp>
      <p:sp>
        <p:nvSpPr>
          <p:cNvPr id="243" name="Shape 221"/>
          <p:cNvSpPr/>
          <p:nvPr/>
        </p:nvSpPr>
        <p:spPr>
          <a:xfrm>
            <a:off x="8811158" y="3739896"/>
            <a:ext cx="2940710" cy="50292"/>
          </a:xfrm>
          <a:prstGeom prst="roundRect">
            <a:avLst>
              <a:gd name="adj" fmla="val 36364"/>
            </a:avLst>
          </a:prstGeom>
          <a:solidFill>
            <a:srgbClr val="B91C1C"/>
          </a:solidFill>
          <a:ln/>
        </p:spPr>
      </p:sp>
      <p:sp>
        <p:nvSpPr>
          <p:cNvPr id="244" name="Shape 222"/>
          <p:cNvSpPr/>
          <p:nvPr/>
        </p:nvSpPr>
        <p:spPr>
          <a:xfrm>
            <a:off x="8930030" y="3913632"/>
            <a:ext cx="274320" cy="274320"/>
          </a:xfrm>
          <a:prstGeom prst="ellipse">
            <a:avLst/>
          </a:prstGeom>
          <a:solidFill>
            <a:srgbClr val="B91C1C"/>
          </a:solidFill>
          <a:ln/>
        </p:spPr>
      </p:sp>
      <p:sp>
        <p:nvSpPr>
          <p:cNvPr id="245" name="Text 223"/>
          <p:cNvSpPr/>
          <p:nvPr/>
        </p:nvSpPr>
        <p:spPr>
          <a:xfrm>
            <a:off x="8930030" y="3913632"/>
            <a:ext cx="274320" cy="274320"/>
          </a:xfrm>
          <a:prstGeom prst="rect">
            <a:avLst/>
          </a:prstGeom>
          <a:noFill/>
          <a:ln/>
        </p:spPr>
        <p:txBody>
          <a:bodyPr wrap="square" lIns="0" tIns="0" rIns="0" bIns="0" rtlCol="0" anchor="ctr"/>
          <a:lstStyle/>
          <a:p>
            <a:pPr algn="ctr" indent="0" marL="0">
              <a:lnSpc>
                <a:spcPct val="100000"/>
              </a:lnSpc>
              <a:buNone/>
            </a:pPr>
            <a:r>
              <a:rPr lang="en-US" sz="800" b="1" dirty="0">
                <a:solidFill>
                  <a:srgbClr val="FFFFFF"/>
                </a:solidFill>
                <a:latin typeface="Arial" pitchFamily="34" charset="0"/>
                <a:ea typeface="Arial" pitchFamily="34" charset="-122"/>
                <a:cs typeface="Arial" pitchFamily="34" charset="-120"/>
              </a:rPr>
              <a:t>04</a:t>
            </a:r>
            <a:endParaRPr lang="en-US" sz="800" dirty="0"/>
          </a:p>
        </p:txBody>
      </p:sp>
      <p:sp>
        <p:nvSpPr>
          <p:cNvPr id="246" name="Text 224"/>
          <p:cNvSpPr/>
          <p:nvPr/>
        </p:nvSpPr>
        <p:spPr>
          <a:xfrm>
            <a:off x="9268358" y="3877056"/>
            <a:ext cx="2373782" cy="146304"/>
          </a:xfrm>
          <a:prstGeom prst="rect">
            <a:avLst/>
          </a:prstGeom>
          <a:noFill/>
          <a:ln/>
        </p:spPr>
        <p:txBody>
          <a:bodyPr wrap="square" lIns="0" tIns="0" rIns="0" bIns="0" rtlCol="0" anchor="ctr"/>
          <a:lstStyle/>
          <a:p>
            <a:pPr indent="0" marL="0">
              <a:lnSpc>
                <a:spcPct val="105000"/>
              </a:lnSpc>
              <a:buNone/>
            </a:pPr>
            <a:r>
              <a:rPr lang="en-US" sz="620" b="1" dirty="0">
                <a:solidFill>
                  <a:srgbClr val="C5221F"/>
                </a:solidFill>
                <a:latin typeface="Arial" pitchFamily="34" charset="0"/>
                <a:ea typeface="Arial" pitchFamily="34" charset="-122"/>
                <a:cs typeface="Arial" pitchFamily="34" charset="-120"/>
              </a:rPr>
              <a:t>STEPS 3–6  •  CORAL RIGHT SPOKE</a:t>
            </a:r>
            <a:endParaRPr lang="en-US" sz="620" dirty="0"/>
          </a:p>
        </p:txBody>
      </p:sp>
      <p:sp>
        <p:nvSpPr>
          <p:cNvPr id="247" name="Text 225"/>
          <p:cNvSpPr/>
          <p:nvPr/>
        </p:nvSpPr>
        <p:spPr>
          <a:xfrm>
            <a:off x="9268358" y="4032504"/>
            <a:ext cx="2373782" cy="201168"/>
          </a:xfrm>
          <a:prstGeom prst="rect">
            <a:avLst/>
          </a:prstGeom>
          <a:noFill/>
          <a:ln/>
        </p:spPr>
        <p:txBody>
          <a:bodyPr wrap="square" lIns="0" tIns="0" rIns="0" bIns="0" rtlCol="0" anchor="ctr"/>
          <a:lstStyle/>
          <a:p>
            <a:pPr indent="0" marL="0">
              <a:lnSpc>
                <a:spcPct val="105000"/>
              </a:lnSpc>
              <a:buNone/>
            </a:pPr>
            <a:r>
              <a:rPr lang="en-US" sz="880" b="1" dirty="0">
                <a:solidFill>
                  <a:srgbClr val="0F172A"/>
                </a:solidFill>
                <a:latin typeface="Arial" pitchFamily="34" charset="0"/>
                <a:ea typeface="Arial" pitchFamily="34" charset="-122"/>
                <a:cs typeface="Arial" pitchFamily="34" charset="-120"/>
              </a:rPr>
              <a:t>Patterns B &amp; C: Silo / PSC Spokes</a:t>
            </a:r>
            <a:endParaRPr lang="en-US" sz="880" dirty="0"/>
          </a:p>
        </p:txBody>
      </p:sp>
      <p:sp>
        <p:nvSpPr>
          <p:cNvPr id="248" name="Text 226"/>
          <p:cNvSpPr/>
          <p:nvPr/>
        </p:nvSpPr>
        <p:spPr>
          <a:xfrm>
            <a:off x="8939174" y="4306824"/>
            <a:ext cx="2684678" cy="1024128"/>
          </a:xfrm>
          <a:prstGeom prst="rect">
            <a:avLst/>
          </a:prstGeom>
          <a:noFill/>
          <a:ln/>
        </p:spPr>
        <p:txBody>
          <a:bodyPr wrap="square" lIns="0" tIns="0" rIns="0" bIns="0" rtlCol="0" anchor="ctr"/>
          <a:lstStyle/>
          <a:p>
            <a:pPr indent="0" marL="0">
              <a:lnSpc>
                <a:spcPct val="108000"/>
              </a:lnSpc>
              <a:buNone/>
            </a:pPr>
            <a:r>
              <a:rPr lang="en-US" sz="720" dirty="0">
                <a:solidFill>
                  <a:srgbClr val="334155"/>
                </a:solidFill>
                <a:latin typeface="Arial" pitchFamily="34" charset="0"/>
                <a:ea typeface="Arial" pitchFamily="34" charset="-122"/>
                <a:cs typeface="Arial" pitchFamily="34" charset="-120"/>
              </a:rPr>
              <a:t>Isolates regulated tenants inside dedicated VPC-SC spokes with private Agent Alpha, Dedicated PT or air-gapped GKE Gemma 3 27B GPUs, customer KMS CMEK (&lt;60s HTTP 423 lock), and /28 PSC NAT bridges.</a:t>
            </a:r>
            <a:endParaRPr lang="en-US" sz="720" dirty="0"/>
          </a:p>
        </p:txBody>
      </p:sp>
      <p:sp>
        <p:nvSpPr>
          <p:cNvPr id="249" name="Shape 227"/>
          <p:cNvSpPr/>
          <p:nvPr/>
        </p:nvSpPr>
        <p:spPr>
          <a:xfrm>
            <a:off x="8939174" y="5413248"/>
            <a:ext cx="2684678" cy="192024"/>
          </a:xfrm>
          <a:prstGeom prst="roundRect">
            <a:avLst>
              <a:gd name="adj" fmla="val 38095"/>
            </a:avLst>
          </a:prstGeom>
          <a:solidFill>
            <a:srgbClr val="FEF2F2"/>
          </a:solidFill>
          <a:ln w="9525">
            <a:solidFill>
              <a:srgbClr val="FECACA"/>
            </a:solidFill>
            <a:prstDash val="solid"/>
          </a:ln>
        </p:spPr>
      </p:sp>
      <p:sp>
        <p:nvSpPr>
          <p:cNvPr id="250" name="Text 228"/>
          <p:cNvSpPr/>
          <p:nvPr/>
        </p:nvSpPr>
        <p:spPr>
          <a:xfrm>
            <a:off x="8939174" y="5413248"/>
            <a:ext cx="2684678" cy="192024"/>
          </a:xfrm>
          <a:prstGeom prst="rect">
            <a:avLst/>
          </a:prstGeom>
          <a:noFill/>
          <a:ln/>
        </p:spPr>
        <p:txBody>
          <a:bodyPr wrap="square" lIns="0" tIns="0" rIns="0" bIns="0" rtlCol="0" anchor="ctr"/>
          <a:lstStyle/>
          <a:p>
            <a:pPr algn="ctr" indent="0" marL="0">
              <a:lnSpc>
                <a:spcPct val="105000"/>
              </a:lnSpc>
              <a:buNone/>
            </a:pPr>
            <a:r>
              <a:rPr lang="en-US" sz="630" b="1" dirty="0">
                <a:solidFill>
                  <a:srgbClr val="C5221F"/>
                </a:solidFill>
                <a:latin typeface="Arial" pitchFamily="34" charset="0"/>
                <a:ea typeface="Arial" pitchFamily="34" charset="-122"/>
                <a:cs typeface="Arial" pitchFamily="34" charset="-120"/>
              </a:rPr>
              <a:t>Live KMS: finvault-silo-cmek (bbar-138hf0)</a:t>
            </a:r>
            <a:endParaRPr lang="en-US" sz="630" dirty="0"/>
          </a:p>
        </p:txBody>
      </p:sp>
      <p:sp>
        <p:nvSpPr>
          <p:cNvPr id="251" name="Shape 229"/>
          <p:cNvSpPr/>
          <p:nvPr/>
        </p:nvSpPr>
        <p:spPr>
          <a:xfrm>
            <a:off x="5724144" y="5833872"/>
            <a:ext cx="6028639" cy="658368"/>
          </a:xfrm>
          <a:prstGeom prst="roundRect">
            <a:avLst>
              <a:gd name="adj" fmla="val 9722"/>
            </a:avLst>
          </a:prstGeom>
          <a:solidFill>
            <a:srgbClr val="EFF6FF"/>
          </a:solidFill>
          <a:ln w="10795">
            <a:solidFill>
              <a:srgbClr val="BFDBFE"/>
            </a:solidFill>
            <a:prstDash val="solid"/>
          </a:ln>
        </p:spPr>
      </p:sp>
      <p:sp>
        <p:nvSpPr>
          <p:cNvPr id="252" name="Shape 230"/>
          <p:cNvSpPr/>
          <p:nvPr/>
        </p:nvSpPr>
        <p:spPr>
          <a:xfrm>
            <a:off x="5724144" y="5833872"/>
            <a:ext cx="54864" cy="658368"/>
          </a:xfrm>
          <a:prstGeom prst="roundRect">
            <a:avLst>
              <a:gd name="adj" fmla="val 33333"/>
            </a:avLst>
          </a:prstGeom>
          <a:solidFill>
            <a:srgbClr val="1D4ED8"/>
          </a:solidFill>
          <a:ln/>
        </p:spPr>
      </p:sp>
      <p:sp>
        <p:nvSpPr>
          <p:cNvPr id="253" name="Shape 231"/>
          <p:cNvSpPr/>
          <p:nvPr/>
        </p:nvSpPr>
        <p:spPr>
          <a:xfrm>
            <a:off x="5870448" y="5925312"/>
            <a:ext cx="1426464" cy="182880"/>
          </a:xfrm>
          <a:prstGeom prst="roundRect">
            <a:avLst>
              <a:gd name="adj" fmla="val 40000"/>
            </a:avLst>
          </a:prstGeom>
          <a:solidFill>
            <a:srgbClr val="1D4ED8"/>
          </a:solidFill>
          <a:ln/>
        </p:spPr>
      </p:sp>
      <p:sp>
        <p:nvSpPr>
          <p:cNvPr id="254" name="Text 232"/>
          <p:cNvSpPr/>
          <p:nvPr/>
        </p:nvSpPr>
        <p:spPr>
          <a:xfrm>
            <a:off x="5870448" y="5925312"/>
            <a:ext cx="1426464" cy="182880"/>
          </a:xfrm>
          <a:prstGeom prst="rect">
            <a:avLst/>
          </a:prstGeom>
          <a:noFill/>
          <a:ln/>
        </p:spPr>
        <p:txBody>
          <a:bodyPr wrap="square" lIns="0" tIns="0" rIns="0" bIns="0" rtlCol="0" anchor="ctr"/>
          <a:lstStyle/>
          <a:p>
            <a:pPr algn="ctr" indent="0" marL="0">
              <a:lnSpc>
                <a:spcPct val="105000"/>
              </a:lnSpc>
              <a:buNone/>
            </a:pPr>
            <a:r>
              <a:rPr lang="en-US" sz="610" b="1" dirty="0">
                <a:solidFill>
                  <a:srgbClr val="FFFFFF"/>
                </a:solidFill>
                <a:latin typeface="Arial" pitchFamily="34" charset="0"/>
                <a:ea typeface="Arial" pitchFamily="34" charset="-122"/>
                <a:cs typeface="Arial" pitchFamily="34" charset="-120"/>
              </a:rPr>
              <a:t>FIGURE 1 SUMMARY</a:t>
            </a:r>
            <a:endParaRPr lang="en-US" sz="610" dirty="0"/>
          </a:p>
        </p:txBody>
      </p:sp>
      <p:sp>
        <p:nvSpPr>
          <p:cNvPr id="255" name="Shape 233"/>
          <p:cNvSpPr/>
          <p:nvPr/>
        </p:nvSpPr>
        <p:spPr>
          <a:xfrm>
            <a:off x="9613087" y="5925312"/>
            <a:ext cx="2011680" cy="182880"/>
          </a:xfrm>
          <a:prstGeom prst="roundRect">
            <a:avLst>
              <a:gd name="adj" fmla="val 40000"/>
            </a:avLst>
          </a:prstGeom>
          <a:solidFill>
            <a:srgbClr val="FFFFFF"/>
          </a:solidFill>
          <a:ln w="9525">
            <a:solidFill>
              <a:srgbClr val="1D4ED8"/>
            </a:solidFill>
            <a:prstDash val="solid"/>
          </a:ln>
        </p:spPr>
      </p:sp>
      <p:sp>
        <p:nvSpPr>
          <p:cNvPr id="256" name="Text 234"/>
          <p:cNvSpPr/>
          <p:nvPr/>
        </p:nvSpPr>
        <p:spPr>
          <a:xfrm>
            <a:off x="9613087" y="5925312"/>
            <a:ext cx="2011680" cy="182880"/>
          </a:xfrm>
          <a:prstGeom prst="rect">
            <a:avLst/>
          </a:prstGeom>
          <a:noFill/>
          <a:ln/>
        </p:spPr>
        <p:txBody>
          <a:bodyPr wrap="square" lIns="0" tIns="0" rIns="0" bIns="0" rtlCol="0" anchor="ctr"/>
          <a:lstStyle/>
          <a:p>
            <a:pPr algn="ctr" indent="0" marL="0">
              <a:lnSpc>
                <a:spcPct val="105000"/>
              </a:lnSpc>
              <a:buNone/>
            </a:pPr>
            <a:r>
              <a:rPr lang="en-US" sz="620" b="1" dirty="0">
                <a:solidFill>
                  <a:srgbClr val="1D4ED8"/>
                </a:solidFill>
                <a:latin typeface="Arial" pitchFamily="34" charset="0"/>
                <a:ea typeface="Arial" pitchFamily="34" charset="-122"/>
                <a:cs typeface="Arial" pitchFamily="34" charset="-120"/>
              </a:rPr>
              <a:t>56 Editable Shapes • 23 Vectors</a:t>
            </a:r>
            <a:endParaRPr lang="en-US" sz="620" dirty="0"/>
          </a:p>
        </p:txBody>
      </p:sp>
      <p:sp>
        <p:nvSpPr>
          <p:cNvPr id="257" name="Text 235"/>
          <p:cNvSpPr/>
          <p:nvPr/>
        </p:nvSpPr>
        <p:spPr>
          <a:xfrm>
            <a:off x="5870448" y="6144768"/>
            <a:ext cx="5754319" cy="310896"/>
          </a:xfrm>
          <a:prstGeom prst="rect">
            <a:avLst/>
          </a:prstGeom>
          <a:noFill/>
          <a:ln/>
        </p:spPr>
        <p:txBody>
          <a:bodyPr wrap="square" lIns="0" tIns="0" rIns="0" bIns="0" rtlCol="0" anchor="ctr"/>
          <a:lstStyle/>
          <a:p>
            <a:pPr indent="0" marL="0">
              <a:lnSpc>
                <a:spcPct val="105000"/>
              </a:lnSpc>
              <a:buNone/>
            </a:pPr>
            <a:r>
              <a:rPr lang="en-US" sz="720" b="1" dirty="0">
                <a:solidFill>
                  <a:srgbClr val="0F172A"/>
                </a:solidFill>
                <a:latin typeface="Arial" pitchFamily="34" charset="0"/>
                <a:ea typeface="Arial" pitchFamily="34" charset="-122"/>
                <a:cs typeface="Arial" pitchFamily="34" charset="-120"/>
              </a:rPr>
              <a:t>Step 3 inside Cloud Run is the only topology branch point: it reads tier from the signed JWT and routes cleanly to the Yellow Pooled Spoke or Coral Dedicated/PSC Spoke.</a:t>
            </a:r>
            <a:endParaRPr lang="en-US" sz="7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1148"/>
          </a:xfrm>
          <a:prstGeom prst="rect">
            <a:avLst/>
          </a:prstGeom>
          <a:solidFill>
            <a:srgbClr val="1D4ED8"/>
          </a:solidFill>
          <a:ln/>
        </p:spPr>
      </p:sp>
      <p:sp>
        <p:nvSpPr>
          <p:cNvPr id="3" name="Shape 1"/>
          <p:cNvSpPr/>
          <p:nvPr/>
        </p:nvSpPr>
        <p:spPr>
          <a:xfrm>
            <a:off x="438912" y="128016"/>
            <a:ext cx="59436" cy="493776"/>
          </a:xfrm>
          <a:prstGeom prst="roundRect">
            <a:avLst>
              <a:gd name="adj" fmla="val 46154"/>
            </a:avLst>
          </a:prstGeom>
          <a:solidFill>
            <a:srgbClr val="1D4ED8"/>
          </a:solidFill>
          <a:ln/>
        </p:spPr>
      </p:sp>
      <p:sp>
        <p:nvSpPr>
          <p:cNvPr id="4" name="Text 2"/>
          <p:cNvSpPr/>
          <p:nvPr/>
        </p:nvSpPr>
        <p:spPr>
          <a:xfrm>
            <a:off x="576072" y="109728"/>
            <a:ext cx="4389120" cy="146304"/>
          </a:xfrm>
          <a:prstGeom prst="rect">
            <a:avLst/>
          </a:prstGeom>
          <a:noFill/>
          <a:ln/>
        </p:spPr>
        <p:txBody>
          <a:bodyPr wrap="square" lIns="0" tIns="0" rIns="0" bIns="0" rtlCol="0" anchor="ctr"/>
          <a:lstStyle/>
          <a:p>
            <a:pPr algn="l" indent="0" marL="0">
              <a:lnSpc>
                <a:spcPct val="105000"/>
              </a:lnSpc>
              <a:buNone/>
            </a:pPr>
            <a:r>
              <a:rPr lang="en-US" sz="750" b="1" spc="110" kern="0" dirty="0">
                <a:solidFill>
                  <a:srgbClr val="1D4ED8"/>
                </a:solidFill>
                <a:latin typeface="Arial" pitchFamily="34" charset="0"/>
                <a:ea typeface="Arial" pitchFamily="34" charset="-122"/>
                <a:cs typeface="Arial" pitchFamily="34" charset="-120"/>
              </a:rPr>
              <a:t>04 / LOGICAL &amp; PHYSICAL</a:t>
            </a:r>
            <a:endParaRPr lang="en-US" sz="750" dirty="0"/>
          </a:p>
        </p:txBody>
      </p:sp>
      <p:sp>
        <p:nvSpPr>
          <p:cNvPr id="5" name="Shape 3"/>
          <p:cNvSpPr/>
          <p:nvPr/>
        </p:nvSpPr>
        <p:spPr>
          <a:xfrm>
            <a:off x="8183880" y="155448"/>
            <a:ext cx="228600" cy="59436"/>
          </a:xfrm>
          <a:prstGeom prst="roundRect">
            <a:avLst>
              <a:gd name="adj" fmla="val 46154"/>
            </a:avLst>
          </a:prstGeom>
          <a:solidFill>
            <a:srgbClr val="94A3B8"/>
          </a:solidFill>
          <a:ln/>
        </p:spPr>
      </p:sp>
      <p:sp>
        <p:nvSpPr>
          <p:cNvPr id="6" name="Shape 4"/>
          <p:cNvSpPr/>
          <p:nvPr/>
        </p:nvSpPr>
        <p:spPr>
          <a:xfrm>
            <a:off x="8453628" y="155448"/>
            <a:ext cx="228600" cy="59436"/>
          </a:xfrm>
          <a:prstGeom prst="roundRect">
            <a:avLst>
              <a:gd name="adj" fmla="val 46154"/>
            </a:avLst>
          </a:prstGeom>
          <a:solidFill>
            <a:srgbClr val="94A3B8"/>
          </a:solidFill>
          <a:ln/>
        </p:spPr>
      </p:sp>
      <p:sp>
        <p:nvSpPr>
          <p:cNvPr id="7" name="Shape 5"/>
          <p:cNvSpPr/>
          <p:nvPr/>
        </p:nvSpPr>
        <p:spPr>
          <a:xfrm>
            <a:off x="8723376" y="155448"/>
            <a:ext cx="228600" cy="59436"/>
          </a:xfrm>
          <a:prstGeom prst="roundRect">
            <a:avLst>
              <a:gd name="adj" fmla="val 46154"/>
            </a:avLst>
          </a:prstGeom>
          <a:solidFill>
            <a:srgbClr val="94A3B8"/>
          </a:solidFill>
          <a:ln/>
        </p:spPr>
      </p:sp>
      <p:sp>
        <p:nvSpPr>
          <p:cNvPr id="8" name="Shape 6"/>
          <p:cNvSpPr/>
          <p:nvPr/>
        </p:nvSpPr>
        <p:spPr>
          <a:xfrm>
            <a:off x="8993124" y="155448"/>
            <a:ext cx="228600" cy="59436"/>
          </a:xfrm>
          <a:prstGeom prst="roundRect">
            <a:avLst>
              <a:gd name="adj" fmla="val 46154"/>
            </a:avLst>
          </a:prstGeom>
          <a:solidFill>
            <a:srgbClr val="1D4ED8"/>
          </a:solidFill>
          <a:ln/>
        </p:spPr>
      </p:sp>
      <p:sp>
        <p:nvSpPr>
          <p:cNvPr id="9" name="Shape 7"/>
          <p:cNvSpPr/>
          <p:nvPr/>
        </p:nvSpPr>
        <p:spPr>
          <a:xfrm>
            <a:off x="9262872" y="155448"/>
            <a:ext cx="228600" cy="59436"/>
          </a:xfrm>
          <a:prstGeom prst="roundRect">
            <a:avLst>
              <a:gd name="adj" fmla="val 46154"/>
            </a:avLst>
          </a:prstGeom>
          <a:solidFill>
            <a:srgbClr val="E2E8F0"/>
          </a:solidFill>
          <a:ln/>
        </p:spPr>
      </p:sp>
      <p:sp>
        <p:nvSpPr>
          <p:cNvPr id="10" name="Shape 8"/>
          <p:cNvSpPr/>
          <p:nvPr/>
        </p:nvSpPr>
        <p:spPr>
          <a:xfrm>
            <a:off x="9532620" y="155448"/>
            <a:ext cx="228600" cy="59436"/>
          </a:xfrm>
          <a:prstGeom prst="roundRect">
            <a:avLst>
              <a:gd name="adj" fmla="val 46154"/>
            </a:avLst>
          </a:prstGeom>
          <a:solidFill>
            <a:srgbClr val="E2E8F0"/>
          </a:solidFill>
          <a:ln/>
        </p:spPr>
      </p:sp>
      <p:sp>
        <p:nvSpPr>
          <p:cNvPr id="11" name="Shape 9"/>
          <p:cNvSpPr/>
          <p:nvPr/>
        </p:nvSpPr>
        <p:spPr>
          <a:xfrm>
            <a:off x="9802368" y="155448"/>
            <a:ext cx="228600" cy="59436"/>
          </a:xfrm>
          <a:prstGeom prst="roundRect">
            <a:avLst>
              <a:gd name="adj" fmla="val 46154"/>
            </a:avLst>
          </a:prstGeom>
          <a:solidFill>
            <a:srgbClr val="E2E8F0"/>
          </a:solidFill>
          <a:ln/>
        </p:spPr>
      </p:sp>
      <p:sp>
        <p:nvSpPr>
          <p:cNvPr id="12" name="Shape 10"/>
          <p:cNvSpPr/>
          <p:nvPr/>
        </p:nvSpPr>
        <p:spPr>
          <a:xfrm>
            <a:off x="10131552" y="91440"/>
            <a:ext cx="1621231" cy="192024"/>
          </a:xfrm>
          <a:prstGeom prst="roundRect">
            <a:avLst>
              <a:gd name="adj" fmla="val 23810"/>
            </a:avLst>
          </a:prstGeom>
          <a:solidFill>
            <a:srgbClr val="FFFFFF"/>
          </a:solidFill>
          <a:ln w="9525">
            <a:solidFill>
              <a:srgbClr val="CBD5E1"/>
            </a:solidFill>
            <a:prstDash val="solid"/>
          </a:ln>
        </p:spPr>
      </p:sp>
      <p:sp>
        <p:nvSpPr>
          <p:cNvPr id="13" name="Text 11"/>
          <p:cNvSpPr/>
          <p:nvPr/>
        </p:nvSpPr>
        <p:spPr>
          <a:xfrm>
            <a:off x="10131552" y="91440"/>
            <a:ext cx="1621231" cy="192024"/>
          </a:xfrm>
          <a:prstGeom prst="rect">
            <a:avLst/>
          </a:prstGeom>
          <a:noFill/>
          <a:ln/>
        </p:spPr>
        <p:txBody>
          <a:bodyPr wrap="square" lIns="0" tIns="0" rIns="0" bIns="0" rtlCol="0" anchor="ctr"/>
          <a:lstStyle/>
          <a:p>
            <a:pPr algn="ctr" indent="0" marL="0">
              <a:lnSpc>
                <a:spcPct val="105000"/>
              </a:lnSpc>
              <a:buNone/>
            </a:pPr>
            <a:r>
              <a:rPr lang="en-US" sz="680" b="1" spc="60" kern="0" dirty="0">
                <a:solidFill>
                  <a:srgbClr val="1D4ED8"/>
                </a:solidFill>
                <a:latin typeface="Arial" pitchFamily="34" charset="0"/>
                <a:ea typeface="Arial" pitchFamily="34" charset="-122"/>
                <a:cs typeface="Arial" pitchFamily="34" charset="-120"/>
              </a:rPr>
              <a:t>EDITABLE DRAW.IO • FIG 2</a:t>
            </a:r>
            <a:endParaRPr lang="en-US" sz="680" dirty="0"/>
          </a:p>
        </p:txBody>
      </p:sp>
      <p:sp>
        <p:nvSpPr>
          <p:cNvPr id="14" name="Text 12"/>
          <p:cNvSpPr/>
          <p:nvPr/>
        </p:nvSpPr>
        <p:spPr>
          <a:xfrm>
            <a:off x="576072" y="256032"/>
            <a:ext cx="11176711" cy="256032"/>
          </a:xfrm>
          <a:prstGeom prst="rect">
            <a:avLst/>
          </a:prstGeom>
          <a:noFill/>
          <a:ln/>
        </p:spPr>
        <p:txBody>
          <a:bodyPr wrap="square" lIns="0" tIns="0" rIns="0" bIns="0" rtlCol="0" anchor="ctr"/>
          <a:lstStyle/>
          <a:p>
            <a:pPr algn="l" indent="0" marL="0">
              <a:lnSpc>
                <a:spcPct val="104000"/>
              </a:lnSpc>
              <a:buNone/>
            </a:pPr>
            <a:r>
              <a:rPr lang="en-US" sz="1600" b="1" dirty="0">
                <a:solidFill>
                  <a:srgbClr val="0F172A"/>
                </a:solidFill>
                <a:latin typeface="Arial" pitchFamily="34" charset="0"/>
                <a:ea typeface="Arial" pitchFamily="34" charset="-122"/>
                <a:cs typeface="Arial" pitchFamily="34" charset="-120"/>
              </a:rPr>
              <a:t>Physical Blueprint 2 (Figure 2): Tracing FinVault &amp; RetailStream Side-by-Side</a:t>
            </a:r>
            <a:endParaRPr lang="en-US" sz="1600" dirty="0"/>
          </a:p>
        </p:txBody>
      </p:sp>
      <p:sp>
        <p:nvSpPr>
          <p:cNvPr id="15" name="Text 13"/>
          <p:cNvSpPr/>
          <p:nvPr/>
        </p:nvSpPr>
        <p:spPr>
          <a:xfrm>
            <a:off x="576072" y="512064"/>
            <a:ext cx="11176711" cy="164592"/>
          </a:xfrm>
          <a:prstGeom prst="rect">
            <a:avLst/>
          </a:prstGeom>
          <a:noFill/>
          <a:ln/>
        </p:spPr>
        <p:txBody>
          <a:bodyPr wrap="square" lIns="0" tIns="0" rIns="0" bIns="0" rtlCol="0" anchor="ctr"/>
          <a:lstStyle/>
          <a:p>
            <a:pPr algn="l" indent="0" marL="0">
              <a:lnSpc>
                <a:spcPct val="104000"/>
              </a:lnSpc>
              <a:buNone/>
            </a:pPr>
            <a:r>
              <a:rPr lang="en-US" sz="830" dirty="0">
                <a:solidFill>
                  <a:srgbClr val="64748B"/>
                </a:solidFill>
                <a:latin typeface="Arial" pitchFamily="34" charset="0"/>
                <a:ea typeface="Arial" pitchFamily="34" charset="-122"/>
                <a:cs typeface="Arial" pitchFamily="34" charset="-120"/>
              </a:rPr>
              <a:t>Maximized unstretched (1:1 aspect) 100% editable Draw.io 5-Hop Baseline tracing how two live tenants diverge at IAM Principal Access Boundaries (PAB).</a:t>
            </a:r>
            <a:endParaRPr lang="en-US" sz="830" dirty="0"/>
          </a:p>
        </p:txBody>
      </p:sp>
      <p:sp>
        <p:nvSpPr>
          <p:cNvPr id="16" name="Shape 14"/>
          <p:cNvSpPr/>
          <p:nvPr/>
        </p:nvSpPr>
        <p:spPr>
          <a:xfrm>
            <a:off x="438912" y="713232"/>
            <a:ext cx="11313871" cy="0"/>
          </a:xfrm>
          <a:prstGeom prst="line">
            <a:avLst/>
          </a:prstGeom>
          <a:noFill/>
          <a:ln w="10795">
            <a:solidFill>
              <a:srgbClr val="E2E8F0"/>
            </a:solidFill>
            <a:prstDash val="solid"/>
          </a:ln>
        </p:spPr>
      </p:sp>
      <p:sp>
        <p:nvSpPr>
          <p:cNvPr id="17" name="Shape 15"/>
          <p:cNvSpPr/>
          <p:nvPr/>
        </p:nvSpPr>
        <p:spPr>
          <a:xfrm>
            <a:off x="438912" y="6547104"/>
            <a:ext cx="11313871" cy="0"/>
          </a:xfrm>
          <a:prstGeom prst="line">
            <a:avLst/>
          </a:prstGeom>
          <a:noFill/>
          <a:ln w="9525">
            <a:solidFill>
              <a:srgbClr val="E2E8F0"/>
            </a:solidFill>
            <a:prstDash val="solid"/>
          </a:ln>
        </p:spPr>
      </p:sp>
      <p:sp>
        <p:nvSpPr>
          <p:cNvPr id="18" name="Text 16"/>
          <p:cNvSpPr/>
          <p:nvPr/>
        </p:nvSpPr>
        <p:spPr>
          <a:xfrm>
            <a:off x="438912" y="6574536"/>
            <a:ext cx="5852160" cy="192024"/>
          </a:xfrm>
          <a:prstGeom prst="rect">
            <a:avLst/>
          </a:prstGeom>
          <a:noFill/>
          <a:ln/>
        </p:spPr>
        <p:txBody>
          <a:bodyPr wrap="square" lIns="0" tIns="0" rIns="0" bIns="0" rtlCol="0" anchor="ctr"/>
          <a:lstStyle/>
          <a:p>
            <a:pPr algn="l" indent="0" marL="0">
              <a:lnSpc>
                <a:spcPct val="105000"/>
              </a:lnSpc>
              <a:buNone/>
            </a:pPr>
            <a:r>
              <a:rPr lang="en-US" sz="680" b="1" spc="40" kern="0" dirty="0">
                <a:solidFill>
                  <a:srgbClr val="64748B"/>
                </a:solidFill>
                <a:latin typeface="Arial" pitchFamily="34" charset="0"/>
                <a:ea typeface="Arial" pitchFamily="34" charset="-122"/>
                <a:cs typeface="Arial" pitchFamily="34" charset="-120"/>
              </a:rPr>
              <a:t>GOOGLE CLOUD AI ARCHITECTURE  •  BLOG 1: MULTI-TENANT AGENTIC AI TAXONOMY &amp; 5-HOP BASELINE</a:t>
            </a:r>
            <a:endParaRPr lang="en-US" sz="680" dirty="0"/>
          </a:p>
        </p:txBody>
      </p:sp>
      <p:sp>
        <p:nvSpPr>
          <p:cNvPr id="19" name="Text 17"/>
          <p:cNvSpPr/>
          <p:nvPr/>
        </p:nvSpPr>
        <p:spPr>
          <a:xfrm>
            <a:off x="6355080" y="6574536"/>
            <a:ext cx="4206240" cy="192024"/>
          </a:xfrm>
          <a:prstGeom prst="rect">
            <a:avLst/>
          </a:prstGeom>
          <a:noFill/>
          <a:ln/>
        </p:spPr>
        <p:txBody>
          <a:bodyPr wrap="square" lIns="0" tIns="0" rIns="0" bIns="0" rtlCol="0" anchor="ctr"/>
          <a:lstStyle/>
          <a:p>
            <a:pPr algn="r" indent="0" marL="0">
              <a:lnSpc>
                <a:spcPct val="105000"/>
              </a:lnSpc>
              <a:buNone/>
            </a:pPr>
            <a:r>
              <a:rPr lang="en-US" sz="680" dirty="0">
                <a:solidFill>
                  <a:srgbClr val="64748B"/>
                </a:solidFill>
                <a:latin typeface="Arial" pitchFamily="34" charset="0"/>
                <a:ea typeface="Arial" pitchFamily="34" charset="-122"/>
                <a:cs typeface="Arial" pitchFamily="34" charset="-120"/>
              </a:rPr>
              <a:t>diagrams/ws1-cloud-arch-center-5hop-baseline.drawio  •  100% Native Editable Shapes (#78)</a:t>
            </a:r>
            <a:endParaRPr lang="en-US" sz="680" dirty="0"/>
          </a:p>
        </p:txBody>
      </p:sp>
      <p:sp>
        <p:nvSpPr>
          <p:cNvPr id="20" name="Shape 18"/>
          <p:cNvSpPr/>
          <p:nvPr/>
        </p:nvSpPr>
        <p:spPr>
          <a:xfrm>
            <a:off x="11002975" y="6574536"/>
            <a:ext cx="749808" cy="192024"/>
          </a:xfrm>
          <a:prstGeom prst="roundRect">
            <a:avLst>
              <a:gd name="adj" fmla="val 19048"/>
            </a:avLst>
          </a:prstGeom>
          <a:solidFill>
            <a:srgbClr val="F1F5F9"/>
          </a:solidFill>
          <a:ln w="7620">
            <a:solidFill>
              <a:srgbClr val="E2E8F0"/>
            </a:solidFill>
            <a:prstDash val="solid"/>
          </a:ln>
        </p:spPr>
      </p:sp>
      <p:sp>
        <p:nvSpPr>
          <p:cNvPr id="21" name="Text 19"/>
          <p:cNvSpPr/>
          <p:nvPr/>
        </p:nvSpPr>
        <p:spPr>
          <a:xfrm>
            <a:off x="11002975" y="6574536"/>
            <a:ext cx="749808" cy="192024"/>
          </a:xfrm>
          <a:prstGeom prst="rect">
            <a:avLst/>
          </a:prstGeom>
          <a:noFill/>
          <a:ln/>
        </p:spPr>
        <p:txBody>
          <a:bodyPr wrap="square" lIns="0" tIns="0" rIns="0" bIns="0" rtlCol="0" anchor="ctr"/>
          <a:lstStyle/>
          <a:p>
            <a:pPr algn="ctr" indent="0" marL="0">
              <a:lnSpc>
                <a:spcPct val="105000"/>
              </a:lnSpc>
              <a:buNone/>
            </a:pPr>
            <a:r>
              <a:rPr lang="en-US" sz="700" b="1" dirty="0">
                <a:solidFill>
                  <a:srgbClr val="334155"/>
                </a:solidFill>
                <a:latin typeface="Arial" pitchFamily="34" charset="0"/>
                <a:ea typeface="Arial" pitchFamily="34" charset="-122"/>
                <a:cs typeface="Arial" pitchFamily="34" charset="-120"/>
              </a:rPr>
              <a:t>09 / 23</a:t>
            </a:r>
            <a:endParaRPr lang="en-US" sz="700" dirty="0"/>
          </a:p>
        </p:txBody>
      </p:sp>
      <p:sp>
        <p:nvSpPr>
          <p:cNvPr id="22" name="Shape 20"/>
          <p:cNvSpPr/>
          <p:nvPr/>
        </p:nvSpPr>
        <p:spPr>
          <a:xfrm>
            <a:off x="6691579" y="793699"/>
            <a:ext cx="5084064" cy="5724144"/>
          </a:xfrm>
          <a:prstGeom prst="roundRect">
            <a:avLst>
              <a:gd name="adj" fmla="val 1259"/>
            </a:avLst>
          </a:prstGeom>
          <a:solidFill>
            <a:srgbClr val="E2E8F0"/>
          </a:solidFill>
          <a:ln/>
        </p:spPr>
      </p:sp>
      <p:sp>
        <p:nvSpPr>
          <p:cNvPr id="23" name="Shape 21"/>
          <p:cNvSpPr/>
          <p:nvPr/>
        </p:nvSpPr>
        <p:spPr>
          <a:xfrm>
            <a:off x="6668719" y="768096"/>
            <a:ext cx="5084064" cy="5724144"/>
          </a:xfrm>
          <a:prstGeom prst="roundRect">
            <a:avLst>
              <a:gd name="adj" fmla="val 1259"/>
            </a:avLst>
          </a:prstGeom>
          <a:solidFill>
            <a:srgbClr val="FFFFFF"/>
          </a:solidFill>
          <a:ln w="10795">
            <a:solidFill>
              <a:srgbClr val="C7D2FE"/>
            </a:solidFill>
            <a:prstDash val="solid"/>
          </a:ln>
        </p:spPr>
      </p:sp>
      <p:sp>
        <p:nvSpPr>
          <p:cNvPr id="24" name="Shape 22"/>
          <p:cNvSpPr/>
          <p:nvPr/>
        </p:nvSpPr>
        <p:spPr>
          <a:xfrm>
            <a:off x="6761074" y="1506017"/>
            <a:ext cx="4899355" cy="4949647"/>
          </a:xfrm>
          <a:prstGeom prst="roundRect">
            <a:avLst>
              <a:gd name="adj" fmla="val 560"/>
            </a:avLst>
          </a:prstGeom>
          <a:solidFill>
            <a:srgbClr val="1A73E8"/>
          </a:solidFill>
          <a:ln w="15875">
            <a:solidFill>
              <a:srgbClr val="9AA0A6"/>
            </a:solidFill>
            <a:prstDash val="solid"/>
          </a:ln>
        </p:spPr>
      </p:sp>
      <p:sp>
        <p:nvSpPr>
          <p:cNvPr id="25" name="Shape 23"/>
          <p:cNvSpPr/>
          <p:nvPr/>
        </p:nvSpPr>
        <p:spPr>
          <a:xfrm>
            <a:off x="6828739" y="1717243"/>
            <a:ext cx="4764024" cy="4662526"/>
          </a:xfrm>
          <a:prstGeom prst="roundRect">
            <a:avLst>
              <a:gd name="adj" fmla="val 588"/>
            </a:avLst>
          </a:prstGeom>
          <a:solidFill>
            <a:srgbClr val="FFFFFF"/>
          </a:solidFill>
          <a:ln w="10795">
            <a:solidFill>
              <a:srgbClr val="9AA0A6"/>
            </a:solidFill>
            <a:prstDash val="solid"/>
          </a:ln>
        </p:spPr>
      </p:sp>
      <p:sp>
        <p:nvSpPr>
          <p:cNvPr id="26" name="Text 24"/>
          <p:cNvSpPr/>
          <p:nvPr/>
        </p:nvSpPr>
        <p:spPr>
          <a:xfrm>
            <a:off x="6883603" y="1733702"/>
            <a:ext cx="2668219"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Shared hubs (VPC Service Controls Organization Perimeter)</a:t>
            </a:r>
            <a:endParaRPr lang="en-US" sz="440" dirty="0"/>
          </a:p>
        </p:txBody>
      </p:sp>
      <p:sp>
        <p:nvSpPr>
          <p:cNvPr id="27" name="Shape 25"/>
          <p:cNvSpPr/>
          <p:nvPr/>
        </p:nvSpPr>
        <p:spPr>
          <a:xfrm>
            <a:off x="6896405" y="1869034"/>
            <a:ext cx="4628693" cy="4434840"/>
          </a:xfrm>
          <a:prstGeom prst="roundRect">
            <a:avLst>
              <a:gd name="adj" fmla="val 619"/>
            </a:avLst>
          </a:prstGeom>
          <a:solidFill>
            <a:srgbClr val="FFFFFF"/>
          </a:solidFill>
          <a:ln w="10795">
            <a:solidFill>
              <a:srgbClr val="9AA0A6"/>
            </a:solidFill>
            <a:prstDash val="solid"/>
          </a:ln>
        </p:spPr>
      </p:sp>
      <p:sp>
        <p:nvSpPr>
          <p:cNvPr id="28" name="Text 26"/>
          <p:cNvSpPr/>
          <p:nvPr/>
        </p:nvSpPr>
        <p:spPr>
          <a:xfrm>
            <a:off x="6951269" y="1885493"/>
            <a:ext cx="2592324"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VPC</a:t>
            </a:r>
            <a:endParaRPr lang="en-US" sz="440" dirty="0"/>
          </a:p>
        </p:txBody>
      </p:sp>
      <p:sp>
        <p:nvSpPr>
          <p:cNvPr id="29" name="Shape 27"/>
          <p:cNvSpPr/>
          <p:nvPr/>
        </p:nvSpPr>
        <p:spPr>
          <a:xfrm>
            <a:off x="6972300" y="3845966"/>
            <a:ext cx="2179015" cy="2365553"/>
          </a:xfrm>
          <a:prstGeom prst="roundRect">
            <a:avLst>
              <a:gd name="adj" fmla="val 1259"/>
            </a:avLst>
          </a:prstGeom>
          <a:solidFill>
            <a:srgbClr val="FFFFFF"/>
          </a:solidFill>
          <a:ln w="10795">
            <a:solidFill>
              <a:srgbClr val="9AA0A6"/>
            </a:solidFill>
            <a:prstDash val="solid"/>
          </a:ln>
        </p:spPr>
      </p:sp>
      <p:sp>
        <p:nvSpPr>
          <p:cNvPr id="30" name="Shape 28"/>
          <p:cNvSpPr/>
          <p:nvPr/>
        </p:nvSpPr>
        <p:spPr>
          <a:xfrm>
            <a:off x="9270187" y="3845966"/>
            <a:ext cx="2179015" cy="2365553"/>
          </a:xfrm>
          <a:prstGeom prst="roundRect">
            <a:avLst>
              <a:gd name="adj" fmla="val 1259"/>
            </a:avLst>
          </a:prstGeom>
          <a:solidFill>
            <a:srgbClr val="FFFFFF"/>
          </a:solidFill>
          <a:ln w="10795">
            <a:solidFill>
              <a:srgbClr val="9AA0A6"/>
            </a:solidFill>
            <a:prstDash val="solid"/>
          </a:ln>
        </p:spPr>
      </p:sp>
      <p:sp>
        <p:nvSpPr>
          <p:cNvPr id="31" name="Shape 29"/>
          <p:cNvSpPr/>
          <p:nvPr/>
        </p:nvSpPr>
        <p:spPr>
          <a:xfrm>
            <a:off x="7039966" y="3997757"/>
            <a:ext cx="2044598" cy="2145182"/>
          </a:xfrm>
          <a:prstGeom prst="roundRect">
            <a:avLst>
              <a:gd name="adj" fmla="val 1342"/>
            </a:avLst>
          </a:prstGeom>
          <a:solidFill>
            <a:srgbClr val="FEEFC3"/>
          </a:solidFill>
          <a:ln w="10795">
            <a:solidFill>
              <a:srgbClr val="9AA0A6"/>
            </a:solidFill>
            <a:prstDash val="solid"/>
          </a:ln>
        </p:spPr>
      </p:sp>
      <p:sp>
        <p:nvSpPr>
          <p:cNvPr id="32" name="Shape 30"/>
          <p:cNvSpPr/>
          <p:nvPr/>
        </p:nvSpPr>
        <p:spPr>
          <a:xfrm>
            <a:off x="9337853" y="3997757"/>
            <a:ext cx="2044598" cy="2145182"/>
          </a:xfrm>
          <a:prstGeom prst="roundRect">
            <a:avLst>
              <a:gd name="adj" fmla="val 1342"/>
            </a:avLst>
          </a:prstGeom>
          <a:solidFill>
            <a:srgbClr val="FAD2CF"/>
          </a:solidFill>
          <a:ln w="10795">
            <a:solidFill>
              <a:srgbClr val="9AA0A6"/>
            </a:solidFill>
            <a:prstDash val="solid"/>
          </a:ln>
        </p:spPr>
      </p:sp>
      <p:sp>
        <p:nvSpPr>
          <p:cNvPr id="33" name="Shape 31"/>
          <p:cNvSpPr/>
          <p:nvPr/>
        </p:nvSpPr>
        <p:spPr>
          <a:xfrm>
            <a:off x="6964070" y="2012594"/>
            <a:ext cx="2804465" cy="1393546"/>
          </a:xfrm>
          <a:prstGeom prst="roundRect">
            <a:avLst>
              <a:gd name="adj" fmla="val 1969"/>
            </a:avLst>
          </a:prstGeom>
          <a:solidFill>
            <a:srgbClr val="AECBFA"/>
          </a:solidFill>
          <a:ln w="10795">
            <a:solidFill>
              <a:srgbClr val="9AA0A6"/>
            </a:solidFill>
            <a:prstDash val="solid"/>
          </a:ln>
        </p:spPr>
      </p:sp>
      <p:sp>
        <p:nvSpPr>
          <p:cNvPr id="34" name="Shape 32"/>
          <p:cNvSpPr/>
          <p:nvPr/>
        </p:nvSpPr>
        <p:spPr>
          <a:xfrm>
            <a:off x="10047427" y="2046427"/>
            <a:ext cx="1385316" cy="1351483"/>
          </a:xfrm>
          <a:prstGeom prst="roundRect">
            <a:avLst>
              <a:gd name="adj" fmla="val 2030"/>
            </a:avLst>
          </a:prstGeom>
          <a:solidFill>
            <a:srgbClr val="CEEAD6"/>
          </a:solidFill>
          <a:ln w="10795">
            <a:solidFill>
              <a:srgbClr val="9AA0A6"/>
            </a:solidFill>
            <a:prstDash val="solid"/>
          </a:ln>
        </p:spPr>
      </p:sp>
      <p:pic>
        <p:nvPicPr>
          <p:cNvPr id="35" name="Image 0" descr="preencoded.png">    </p:cNvPr>
          <p:cNvPicPr>
            <a:picLocks noChangeAspect="1"/>
          </p:cNvPicPr>
          <p:nvPr/>
        </p:nvPicPr>
        <p:blipFill>
          <a:blip r:embed="rId1"/>
          <a:stretch>
            <a:fillRect/>
          </a:stretch>
        </p:blipFill>
        <p:spPr>
          <a:xfrm>
            <a:off x="6828739" y="1554480"/>
            <a:ext cx="633679" cy="113386"/>
          </a:xfrm>
          <a:prstGeom prst="rect">
            <a:avLst/>
          </a:prstGeom>
        </p:spPr>
      </p:pic>
      <p:sp>
        <p:nvSpPr>
          <p:cNvPr id="36" name="Shape 33"/>
          <p:cNvSpPr/>
          <p:nvPr/>
        </p:nvSpPr>
        <p:spPr>
          <a:xfrm>
            <a:off x="9067190" y="1167689"/>
            <a:ext cx="0" cy="1233526"/>
          </a:xfrm>
          <a:prstGeom prst="line">
            <a:avLst/>
          </a:prstGeom>
          <a:noFill/>
          <a:ln w="12700">
            <a:solidFill>
              <a:srgbClr val="5F6368"/>
            </a:solidFill>
            <a:prstDash val="solid"/>
            <a:tailEnd type="triangle" w="sm" len="sm"/>
          </a:ln>
        </p:spPr>
      </p:sp>
      <p:sp>
        <p:nvSpPr>
          <p:cNvPr id="37" name="Shape 34"/>
          <p:cNvSpPr/>
          <p:nvPr/>
        </p:nvSpPr>
        <p:spPr>
          <a:xfrm flipV="1">
            <a:off x="9261043" y="1175918"/>
            <a:ext cx="0" cy="1233526"/>
          </a:xfrm>
          <a:prstGeom prst="line">
            <a:avLst/>
          </a:prstGeom>
          <a:noFill/>
          <a:ln w="12700">
            <a:solidFill>
              <a:srgbClr val="5F6368"/>
            </a:solidFill>
            <a:prstDash val="solid"/>
            <a:tailEnd type="triangle" w="sm" len="sm"/>
          </a:ln>
        </p:spPr>
      </p:sp>
      <p:sp>
        <p:nvSpPr>
          <p:cNvPr id="38" name="Shape 35"/>
          <p:cNvSpPr/>
          <p:nvPr/>
        </p:nvSpPr>
        <p:spPr>
          <a:xfrm flipH="1">
            <a:off x="8441741" y="2510942"/>
            <a:ext cx="143561" cy="0"/>
          </a:xfrm>
          <a:prstGeom prst="line">
            <a:avLst/>
          </a:prstGeom>
          <a:noFill/>
          <a:ln w="12700">
            <a:solidFill>
              <a:srgbClr val="5F6368"/>
            </a:solidFill>
            <a:prstDash val="solid"/>
            <a:headEnd type="triangle" w="sm" len="sm"/>
          </a:ln>
        </p:spPr>
      </p:sp>
      <p:sp>
        <p:nvSpPr>
          <p:cNvPr id="39" name="Shape 36"/>
          <p:cNvSpPr/>
          <p:nvPr/>
        </p:nvSpPr>
        <p:spPr>
          <a:xfrm flipV="1">
            <a:off x="8441741" y="2405786"/>
            <a:ext cx="0" cy="105156"/>
          </a:xfrm>
          <a:prstGeom prst="line">
            <a:avLst/>
          </a:prstGeom>
          <a:noFill/>
          <a:ln w="12700">
            <a:solidFill>
              <a:srgbClr val="5F6368"/>
            </a:solidFill>
            <a:prstDash val="solid"/>
          </a:ln>
        </p:spPr>
      </p:sp>
      <p:sp>
        <p:nvSpPr>
          <p:cNvPr id="40" name="Shape 37"/>
          <p:cNvSpPr/>
          <p:nvPr/>
        </p:nvSpPr>
        <p:spPr>
          <a:xfrm flipH="1">
            <a:off x="7909560" y="2405786"/>
            <a:ext cx="532181" cy="0"/>
          </a:xfrm>
          <a:prstGeom prst="line">
            <a:avLst/>
          </a:prstGeom>
          <a:noFill/>
          <a:ln w="12700">
            <a:solidFill>
              <a:srgbClr val="5F6368"/>
            </a:solidFill>
            <a:prstDash val="solid"/>
            <a:tailEnd type="triangle" w="sm" len="sm"/>
          </a:ln>
        </p:spPr>
      </p:sp>
      <p:sp>
        <p:nvSpPr>
          <p:cNvPr id="41" name="Shape 38"/>
          <p:cNvSpPr/>
          <p:nvPr/>
        </p:nvSpPr>
        <p:spPr>
          <a:xfrm flipH="1">
            <a:off x="8441741" y="2628900"/>
            <a:ext cx="143561" cy="0"/>
          </a:xfrm>
          <a:prstGeom prst="line">
            <a:avLst/>
          </a:prstGeom>
          <a:noFill/>
          <a:ln w="12700">
            <a:solidFill>
              <a:srgbClr val="5F6368"/>
            </a:solidFill>
            <a:prstDash val="solid"/>
            <a:headEnd type="triangle" w="sm" len="sm"/>
          </a:ln>
        </p:spPr>
      </p:sp>
      <p:sp>
        <p:nvSpPr>
          <p:cNvPr id="42" name="Shape 39"/>
          <p:cNvSpPr/>
          <p:nvPr/>
        </p:nvSpPr>
        <p:spPr>
          <a:xfrm>
            <a:off x="8441741" y="2628900"/>
            <a:ext cx="0" cy="131674"/>
          </a:xfrm>
          <a:prstGeom prst="line">
            <a:avLst/>
          </a:prstGeom>
          <a:noFill/>
          <a:ln w="12700">
            <a:solidFill>
              <a:srgbClr val="5F6368"/>
            </a:solidFill>
            <a:prstDash val="solid"/>
          </a:ln>
        </p:spPr>
      </p:sp>
      <p:sp>
        <p:nvSpPr>
          <p:cNvPr id="43" name="Shape 40"/>
          <p:cNvSpPr/>
          <p:nvPr/>
        </p:nvSpPr>
        <p:spPr>
          <a:xfrm flipH="1">
            <a:off x="7909560" y="2760574"/>
            <a:ext cx="532181" cy="0"/>
          </a:xfrm>
          <a:prstGeom prst="line">
            <a:avLst/>
          </a:prstGeom>
          <a:noFill/>
          <a:ln w="12700">
            <a:solidFill>
              <a:srgbClr val="5F6368"/>
            </a:solidFill>
            <a:prstDash val="solid"/>
            <a:tailEnd type="triangle" w="sm" len="sm"/>
          </a:ln>
        </p:spPr>
      </p:sp>
      <p:sp>
        <p:nvSpPr>
          <p:cNvPr id="44" name="Shape 41"/>
          <p:cNvSpPr/>
          <p:nvPr/>
        </p:nvSpPr>
        <p:spPr>
          <a:xfrm>
            <a:off x="7909560" y="3173882"/>
            <a:ext cx="777240" cy="0"/>
          </a:xfrm>
          <a:prstGeom prst="line">
            <a:avLst/>
          </a:prstGeom>
          <a:noFill/>
          <a:ln w="12700">
            <a:solidFill>
              <a:srgbClr val="5F6368"/>
            </a:solidFill>
            <a:prstDash val="solid"/>
            <a:headEnd type="triangle" w="sm" len="sm"/>
            <a:tailEnd type="triangle" w="sm" len="sm"/>
          </a:ln>
        </p:spPr>
      </p:sp>
      <p:sp>
        <p:nvSpPr>
          <p:cNvPr id="45" name="Shape 42"/>
          <p:cNvSpPr/>
          <p:nvPr/>
        </p:nvSpPr>
        <p:spPr>
          <a:xfrm>
            <a:off x="9067190" y="2730398"/>
            <a:ext cx="0" cy="304495"/>
          </a:xfrm>
          <a:prstGeom prst="line">
            <a:avLst/>
          </a:prstGeom>
          <a:noFill/>
          <a:ln w="12700">
            <a:solidFill>
              <a:srgbClr val="5F6368"/>
            </a:solidFill>
            <a:prstDash val="solid"/>
            <a:tailEnd type="triangle" w="sm" len="sm"/>
          </a:ln>
        </p:spPr>
      </p:sp>
      <p:sp>
        <p:nvSpPr>
          <p:cNvPr id="46" name="Shape 43"/>
          <p:cNvSpPr/>
          <p:nvPr/>
        </p:nvSpPr>
        <p:spPr>
          <a:xfrm flipV="1">
            <a:off x="9261043" y="2730398"/>
            <a:ext cx="0" cy="304495"/>
          </a:xfrm>
          <a:prstGeom prst="line">
            <a:avLst/>
          </a:prstGeom>
          <a:noFill/>
          <a:ln w="12700">
            <a:solidFill>
              <a:srgbClr val="5F6368"/>
            </a:solidFill>
            <a:prstDash val="solid"/>
            <a:tailEnd type="triangle" w="sm" len="sm"/>
          </a:ln>
        </p:spPr>
      </p:sp>
      <p:sp>
        <p:nvSpPr>
          <p:cNvPr id="47" name="Shape 44"/>
          <p:cNvSpPr/>
          <p:nvPr/>
        </p:nvSpPr>
        <p:spPr>
          <a:xfrm flipV="1">
            <a:off x="8573414" y="3727094"/>
            <a:ext cx="0" cy="760781"/>
          </a:xfrm>
          <a:prstGeom prst="line">
            <a:avLst/>
          </a:prstGeom>
          <a:noFill/>
          <a:ln w="12700">
            <a:solidFill>
              <a:srgbClr val="5F6368"/>
            </a:solidFill>
            <a:prstDash val="solid"/>
          </a:ln>
        </p:spPr>
      </p:sp>
      <p:sp>
        <p:nvSpPr>
          <p:cNvPr id="48" name="Shape 45"/>
          <p:cNvSpPr/>
          <p:nvPr/>
        </p:nvSpPr>
        <p:spPr>
          <a:xfrm>
            <a:off x="8573414" y="3727094"/>
            <a:ext cx="577901" cy="0"/>
          </a:xfrm>
          <a:prstGeom prst="line">
            <a:avLst/>
          </a:prstGeom>
          <a:noFill/>
          <a:ln w="12700">
            <a:solidFill>
              <a:srgbClr val="5F6368"/>
            </a:solidFill>
            <a:prstDash val="solid"/>
          </a:ln>
        </p:spPr>
      </p:sp>
      <p:sp>
        <p:nvSpPr>
          <p:cNvPr id="49" name="Shape 46"/>
          <p:cNvSpPr/>
          <p:nvPr/>
        </p:nvSpPr>
        <p:spPr>
          <a:xfrm flipV="1">
            <a:off x="9151315" y="3313786"/>
            <a:ext cx="0" cy="413309"/>
          </a:xfrm>
          <a:prstGeom prst="line">
            <a:avLst/>
          </a:prstGeom>
          <a:noFill/>
          <a:ln w="12700">
            <a:solidFill>
              <a:srgbClr val="5F6368"/>
            </a:solidFill>
            <a:prstDash val="solid"/>
            <a:tailEnd type="triangle" w="sm" len="sm"/>
          </a:ln>
        </p:spPr>
      </p:sp>
      <p:sp>
        <p:nvSpPr>
          <p:cNvPr id="50" name="Shape 47"/>
          <p:cNvSpPr/>
          <p:nvPr/>
        </p:nvSpPr>
        <p:spPr>
          <a:xfrm flipV="1">
            <a:off x="8573414" y="3727094"/>
            <a:ext cx="0" cy="760781"/>
          </a:xfrm>
          <a:prstGeom prst="line">
            <a:avLst/>
          </a:prstGeom>
          <a:noFill/>
          <a:ln w="12700">
            <a:solidFill>
              <a:srgbClr val="5F6368"/>
            </a:solidFill>
            <a:prstDash val="solid"/>
            <a:headEnd type="triangle" w="sm" len="sm"/>
          </a:ln>
        </p:spPr>
      </p:sp>
      <p:sp>
        <p:nvSpPr>
          <p:cNvPr id="51" name="Shape 48"/>
          <p:cNvSpPr/>
          <p:nvPr/>
        </p:nvSpPr>
        <p:spPr>
          <a:xfrm>
            <a:off x="8573414" y="3727094"/>
            <a:ext cx="2296973" cy="0"/>
          </a:xfrm>
          <a:prstGeom prst="line">
            <a:avLst/>
          </a:prstGeom>
          <a:noFill/>
          <a:ln w="12700">
            <a:solidFill>
              <a:srgbClr val="5F6368"/>
            </a:solidFill>
            <a:prstDash val="solid"/>
          </a:ln>
        </p:spPr>
      </p:sp>
      <p:sp>
        <p:nvSpPr>
          <p:cNvPr id="52" name="Shape 49"/>
          <p:cNvSpPr/>
          <p:nvPr/>
        </p:nvSpPr>
        <p:spPr>
          <a:xfrm>
            <a:off x="10870387" y="3727094"/>
            <a:ext cx="0" cy="760781"/>
          </a:xfrm>
          <a:prstGeom prst="line">
            <a:avLst/>
          </a:prstGeom>
          <a:noFill/>
          <a:ln w="12700">
            <a:solidFill>
              <a:srgbClr val="5F6368"/>
            </a:solidFill>
            <a:prstDash val="solid"/>
            <a:tailEnd type="triangle" w="sm" len="sm"/>
          </a:ln>
        </p:spPr>
      </p:sp>
      <p:sp>
        <p:nvSpPr>
          <p:cNvPr id="53" name="Shape 50"/>
          <p:cNvSpPr/>
          <p:nvPr/>
        </p:nvSpPr>
        <p:spPr>
          <a:xfrm flipV="1">
            <a:off x="8062265" y="3668573"/>
            <a:ext cx="0" cy="177394"/>
          </a:xfrm>
          <a:prstGeom prst="line">
            <a:avLst/>
          </a:prstGeom>
          <a:noFill/>
          <a:ln w="12700">
            <a:solidFill>
              <a:srgbClr val="5F6368"/>
            </a:solidFill>
            <a:prstDash val="dash"/>
            <a:headEnd type="triangle" w="sm" len="sm"/>
          </a:ln>
        </p:spPr>
      </p:sp>
      <p:sp>
        <p:nvSpPr>
          <p:cNvPr id="54" name="Shape 51"/>
          <p:cNvSpPr/>
          <p:nvPr/>
        </p:nvSpPr>
        <p:spPr>
          <a:xfrm>
            <a:off x="8062265" y="3668573"/>
            <a:ext cx="2677363" cy="0"/>
          </a:xfrm>
          <a:prstGeom prst="line">
            <a:avLst/>
          </a:prstGeom>
          <a:noFill/>
          <a:ln w="12700">
            <a:solidFill>
              <a:srgbClr val="5F6368"/>
            </a:solidFill>
            <a:prstDash val="dash"/>
          </a:ln>
        </p:spPr>
      </p:sp>
      <p:sp>
        <p:nvSpPr>
          <p:cNvPr id="55" name="Shape 52"/>
          <p:cNvSpPr/>
          <p:nvPr/>
        </p:nvSpPr>
        <p:spPr>
          <a:xfrm flipV="1">
            <a:off x="10739628" y="3397910"/>
            <a:ext cx="0" cy="270662"/>
          </a:xfrm>
          <a:prstGeom prst="line">
            <a:avLst/>
          </a:prstGeom>
          <a:noFill/>
          <a:ln w="12700">
            <a:solidFill>
              <a:srgbClr val="5F6368"/>
            </a:solidFill>
            <a:prstDash val="dash"/>
            <a:tailEnd type="triangle" w="sm" len="sm"/>
          </a:ln>
        </p:spPr>
      </p:sp>
      <p:sp>
        <p:nvSpPr>
          <p:cNvPr id="56" name="Shape 53"/>
          <p:cNvSpPr/>
          <p:nvPr/>
        </p:nvSpPr>
        <p:spPr>
          <a:xfrm>
            <a:off x="10739628" y="3397910"/>
            <a:ext cx="0" cy="270662"/>
          </a:xfrm>
          <a:prstGeom prst="line">
            <a:avLst/>
          </a:prstGeom>
          <a:noFill/>
          <a:ln w="12700">
            <a:solidFill>
              <a:srgbClr val="5F6368"/>
            </a:solidFill>
            <a:prstDash val="dash"/>
          </a:ln>
        </p:spPr>
      </p:sp>
      <p:sp>
        <p:nvSpPr>
          <p:cNvPr id="57" name="Shape 54"/>
          <p:cNvSpPr/>
          <p:nvPr/>
        </p:nvSpPr>
        <p:spPr>
          <a:xfrm flipH="1">
            <a:off x="10359238" y="3668573"/>
            <a:ext cx="380390" cy="0"/>
          </a:xfrm>
          <a:prstGeom prst="line">
            <a:avLst/>
          </a:prstGeom>
          <a:noFill/>
          <a:ln w="12700">
            <a:solidFill>
              <a:srgbClr val="5F6368"/>
            </a:solidFill>
            <a:prstDash val="dash"/>
          </a:ln>
        </p:spPr>
      </p:sp>
      <p:sp>
        <p:nvSpPr>
          <p:cNvPr id="58" name="Shape 55"/>
          <p:cNvSpPr/>
          <p:nvPr/>
        </p:nvSpPr>
        <p:spPr>
          <a:xfrm>
            <a:off x="10359238" y="3668573"/>
            <a:ext cx="0" cy="177394"/>
          </a:xfrm>
          <a:prstGeom prst="line">
            <a:avLst/>
          </a:prstGeom>
          <a:noFill/>
          <a:ln w="12700">
            <a:solidFill>
              <a:srgbClr val="5F6368"/>
            </a:solidFill>
            <a:prstDash val="dash"/>
            <a:tailEnd type="triangle" w="sm" len="sm"/>
          </a:ln>
        </p:spPr>
      </p:sp>
      <p:sp>
        <p:nvSpPr>
          <p:cNvPr id="59" name="Shape 56"/>
          <p:cNvSpPr/>
          <p:nvPr/>
        </p:nvSpPr>
        <p:spPr>
          <a:xfrm>
            <a:off x="7901330" y="4428439"/>
            <a:ext cx="93269" cy="0"/>
          </a:xfrm>
          <a:prstGeom prst="line">
            <a:avLst/>
          </a:prstGeom>
          <a:noFill/>
          <a:ln w="12700">
            <a:solidFill>
              <a:srgbClr val="5F6368"/>
            </a:solidFill>
            <a:prstDash val="solid"/>
            <a:headEnd type="triangle" w="sm" len="sm"/>
          </a:ln>
        </p:spPr>
      </p:sp>
      <p:sp>
        <p:nvSpPr>
          <p:cNvPr id="60" name="Shape 57"/>
          <p:cNvSpPr/>
          <p:nvPr/>
        </p:nvSpPr>
        <p:spPr>
          <a:xfrm>
            <a:off x="7994599" y="4428439"/>
            <a:ext cx="0" cy="143561"/>
          </a:xfrm>
          <a:prstGeom prst="line">
            <a:avLst/>
          </a:prstGeom>
          <a:noFill/>
          <a:ln w="12700">
            <a:solidFill>
              <a:srgbClr val="5F6368"/>
            </a:solidFill>
            <a:prstDash val="solid"/>
          </a:ln>
        </p:spPr>
      </p:sp>
      <p:sp>
        <p:nvSpPr>
          <p:cNvPr id="61" name="Shape 58"/>
          <p:cNvSpPr/>
          <p:nvPr/>
        </p:nvSpPr>
        <p:spPr>
          <a:xfrm>
            <a:off x="7994599" y="4572000"/>
            <a:ext cx="126187" cy="0"/>
          </a:xfrm>
          <a:prstGeom prst="line">
            <a:avLst/>
          </a:prstGeom>
          <a:noFill/>
          <a:ln w="12700">
            <a:solidFill>
              <a:srgbClr val="5F6368"/>
            </a:solidFill>
            <a:prstDash val="solid"/>
            <a:tailEnd type="triangle" w="sm" len="sm"/>
          </a:ln>
        </p:spPr>
      </p:sp>
      <p:sp>
        <p:nvSpPr>
          <p:cNvPr id="62" name="Shape 59"/>
          <p:cNvSpPr/>
          <p:nvPr/>
        </p:nvSpPr>
        <p:spPr>
          <a:xfrm>
            <a:off x="7901330" y="5425135"/>
            <a:ext cx="127102" cy="0"/>
          </a:xfrm>
          <a:prstGeom prst="line">
            <a:avLst/>
          </a:prstGeom>
          <a:noFill/>
          <a:ln w="12700">
            <a:solidFill>
              <a:srgbClr val="5F6368"/>
            </a:solidFill>
            <a:prstDash val="solid"/>
            <a:headEnd type="triangle" w="sm" len="sm"/>
          </a:ln>
        </p:spPr>
      </p:sp>
      <p:sp>
        <p:nvSpPr>
          <p:cNvPr id="63" name="Shape 60"/>
          <p:cNvSpPr/>
          <p:nvPr/>
        </p:nvSpPr>
        <p:spPr>
          <a:xfrm flipV="1">
            <a:off x="8028432" y="4707331"/>
            <a:ext cx="0" cy="717804"/>
          </a:xfrm>
          <a:prstGeom prst="line">
            <a:avLst/>
          </a:prstGeom>
          <a:noFill/>
          <a:ln w="12700">
            <a:solidFill>
              <a:srgbClr val="5F6368"/>
            </a:solidFill>
            <a:prstDash val="solid"/>
          </a:ln>
        </p:spPr>
      </p:sp>
      <p:sp>
        <p:nvSpPr>
          <p:cNvPr id="64" name="Shape 61"/>
          <p:cNvSpPr/>
          <p:nvPr/>
        </p:nvSpPr>
        <p:spPr>
          <a:xfrm>
            <a:off x="8028432" y="4707331"/>
            <a:ext cx="92354" cy="0"/>
          </a:xfrm>
          <a:prstGeom prst="line">
            <a:avLst/>
          </a:prstGeom>
          <a:noFill/>
          <a:ln w="12700">
            <a:solidFill>
              <a:srgbClr val="5F6368"/>
            </a:solidFill>
            <a:prstDash val="solid"/>
            <a:tailEnd type="triangle" w="sm" len="sm"/>
          </a:ln>
        </p:spPr>
      </p:sp>
      <p:sp>
        <p:nvSpPr>
          <p:cNvPr id="65" name="Shape 62"/>
          <p:cNvSpPr/>
          <p:nvPr/>
        </p:nvSpPr>
        <p:spPr>
          <a:xfrm flipV="1">
            <a:off x="8573414" y="5036515"/>
            <a:ext cx="0" cy="59436"/>
          </a:xfrm>
          <a:prstGeom prst="line">
            <a:avLst/>
          </a:prstGeom>
          <a:noFill/>
          <a:ln w="12700">
            <a:solidFill>
              <a:srgbClr val="5F6368"/>
            </a:solidFill>
            <a:prstDash val="solid"/>
            <a:headEnd type="triangle" w="sm" len="sm"/>
          </a:ln>
        </p:spPr>
      </p:sp>
      <p:sp>
        <p:nvSpPr>
          <p:cNvPr id="66" name="Shape 63"/>
          <p:cNvSpPr/>
          <p:nvPr/>
        </p:nvSpPr>
        <p:spPr>
          <a:xfrm flipV="1">
            <a:off x="8573414" y="4808830"/>
            <a:ext cx="0" cy="58522"/>
          </a:xfrm>
          <a:prstGeom prst="line">
            <a:avLst/>
          </a:prstGeom>
          <a:noFill/>
          <a:ln w="12700">
            <a:solidFill>
              <a:srgbClr val="5F6368"/>
            </a:solidFill>
            <a:prstDash val="solid"/>
            <a:tailEnd type="triangle" w="sm" len="sm"/>
          </a:ln>
        </p:spPr>
      </p:sp>
      <p:sp>
        <p:nvSpPr>
          <p:cNvPr id="67" name="Shape 64"/>
          <p:cNvSpPr/>
          <p:nvPr/>
        </p:nvSpPr>
        <p:spPr>
          <a:xfrm flipV="1">
            <a:off x="8573414" y="5670194"/>
            <a:ext cx="0" cy="59436"/>
          </a:xfrm>
          <a:prstGeom prst="line">
            <a:avLst/>
          </a:prstGeom>
          <a:noFill/>
          <a:ln w="12700">
            <a:solidFill>
              <a:srgbClr val="5F6368"/>
            </a:solidFill>
            <a:prstDash val="solid"/>
            <a:headEnd type="triangle" w="sm" len="sm"/>
          </a:ln>
        </p:spPr>
      </p:sp>
      <p:sp>
        <p:nvSpPr>
          <p:cNvPr id="68" name="Shape 65"/>
          <p:cNvSpPr/>
          <p:nvPr/>
        </p:nvSpPr>
        <p:spPr>
          <a:xfrm flipV="1">
            <a:off x="8573414" y="5416906"/>
            <a:ext cx="0" cy="58522"/>
          </a:xfrm>
          <a:prstGeom prst="line">
            <a:avLst/>
          </a:prstGeom>
          <a:noFill/>
          <a:ln w="12700">
            <a:solidFill>
              <a:srgbClr val="5F6368"/>
            </a:solidFill>
            <a:prstDash val="solid"/>
            <a:tailEnd type="triangle" w="sm" len="sm"/>
          </a:ln>
        </p:spPr>
      </p:sp>
      <p:sp>
        <p:nvSpPr>
          <p:cNvPr id="69" name="Shape 66"/>
          <p:cNvSpPr/>
          <p:nvPr/>
        </p:nvSpPr>
        <p:spPr>
          <a:xfrm>
            <a:off x="10199218" y="4428439"/>
            <a:ext cx="92354" cy="0"/>
          </a:xfrm>
          <a:prstGeom prst="line">
            <a:avLst/>
          </a:prstGeom>
          <a:noFill/>
          <a:ln w="12700">
            <a:solidFill>
              <a:srgbClr val="5F6368"/>
            </a:solidFill>
            <a:prstDash val="solid"/>
            <a:headEnd type="triangle" w="sm" len="sm"/>
          </a:ln>
        </p:spPr>
      </p:sp>
      <p:sp>
        <p:nvSpPr>
          <p:cNvPr id="70" name="Shape 67"/>
          <p:cNvSpPr/>
          <p:nvPr/>
        </p:nvSpPr>
        <p:spPr>
          <a:xfrm>
            <a:off x="10291572" y="4428439"/>
            <a:ext cx="0" cy="143561"/>
          </a:xfrm>
          <a:prstGeom prst="line">
            <a:avLst/>
          </a:prstGeom>
          <a:noFill/>
          <a:ln w="12700">
            <a:solidFill>
              <a:srgbClr val="5F6368"/>
            </a:solidFill>
            <a:prstDash val="solid"/>
          </a:ln>
        </p:spPr>
      </p:sp>
      <p:sp>
        <p:nvSpPr>
          <p:cNvPr id="71" name="Shape 68"/>
          <p:cNvSpPr/>
          <p:nvPr/>
        </p:nvSpPr>
        <p:spPr>
          <a:xfrm>
            <a:off x="10291572" y="4572000"/>
            <a:ext cx="127102" cy="0"/>
          </a:xfrm>
          <a:prstGeom prst="line">
            <a:avLst/>
          </a:prstGeom>
          <a:noFill/>
          <a:ln w="12700">
            <a:solidFill>
              <a:srgbClr val="5F6368"/>
            </a:solidFill>
            <a:prstDash val="solid"/>
            <a:tailEnd type="triangle" w="sm" len="sm"/>
          </a:ln>
        </p:spPr>
      </p:sp>
      <p:sp>
        <p:nvSpPr>
          <p:cNvPr id="72" name="Shape 69"/>
          <p:cNvSpPr/>
          <p:nvPr/>
        </p:nvSpPr>
        <p:spPr>
          <a:xfrm>
            <a:off x="10199218" y="4859122"/>
            <a:ext cx="126187" cy="0"/>
          </a:xfrm>
          <a:prstGeom prst="line">
            <a:avLst/>
          </a:prstGeom>
          <a:noFill/>
          <a:ln w="12700">
            <a:solidFill>
              <a:srgbClr val="5F6368"/>
            </a:solidFill>
            <a:prstDash val="solid"/>
            <a:headEnd type="triangle" w="sm" len="sm"/>
          </a:ln>
        </p:spPr>
      </p:sp>
      <p:sp>
        <p:nvSpPr>
          <p:cNvPr id="73" name="Shape 70"/>
          <p:cNvSpPr/>
          <p:nvPr/>
        </p:nvSpPr>
        <p:spPr>
          <a:xfrm flipV="1">
            <a:off x="10325405" y="4707331"/>
            <a:ext cx="0" cy="151790"/>
          </a:xfrm>
          <a:prstGeom prst="line">
            <a:avLst/>
          </a:prstGeom>
          <a:noFill/>
          <a:ln w="12700">
            <a:solidFill>
              <a:srgbClr val="5F6368"/>
            </a:solidFill>
            <a:prstDash val="solid"/>
          </a:ln>
        </p:spPr>
      </p:sp>
      <p:sp>
        <p:nvSpPr>
          <p:cNvPr id="74" name="Shape 71"/>
          <p:cNvSpPr/>
          <p:nvPr/>
        </p:nvSpPr>
        <p:spPr>
          <a:xfrm>
            <a:off x="10325405" y="4707331"/>
            <a:ext cx="93269" cy="0"/>
          </a:xfrm>
          <a:prstGeom prst="line">
            <a:avLst/>
          </a:prstGeom>
          <a:noFill/>
          <a:ln w="12700">
            <a:solidFill>
              <a:srgbClr val="5F6368"/>
            </a:solidFill>
            <a:prstDash val="solid"/>
            <a:tailEnd type="triangle" w="sm" len="sm"/>
          </a:ln>
        </p:spPr>
      </p:sp>
      <p:sp>
        <p:nvSpPr>
          <p:cNvPr id="75" name="Shape 72"/>
          <p:cNvSpPr/>
          <p:nvPr/>
        </p:nvSpPr>
        <p:spPr>
          <a:xfrm flipV="1">
            <a:off x="10870387" y="5036515"/>
            <a:ext cx="0" cy="59436"/>
          </a:xfrm>
          <a:prstGeom prst="line">
            <a:avLst/>
          </a:prstGeom>
          <a:noFill/>
          <a:ln w="12700">
            <a:solidFill>
              <a:srgbClr val="5F6368"/>
            </a:solidFill>
            <a:prstDash val="solid"/>
            <a:headEnd type="triangle" w="sm" len="sm"/>
          </a:ln>
        </p:spPr>
      </p:sp>
      <p:sp>
        <p:nvSpPr>
          <p:cNvPr id="76" name="Shape 73"/>
          <p:cNvSpPr/>
          <p:nvPr/>
        </p:nvSpPr>
        <p:spPr>
          <a:xfrm flipV="1">
            <a:off x="10870387" y="4808830"/>
            <a:ext cx="0" cy="58522"/>
          </a:xfrm>
          <a:prstGeom prst="line">
            <a:avLst/>
          </a:prstGeom>
          <a:noFill/>
          <a:ln w="12700">
            <a:solidFill>
              <a:srgbClr val="5F6368"/>
            </a:solidFill>
            <a:prstDash val="solid"/>
            <a:tailEnd type="triangle" w="sm" len="sm"/>
          </a:ln>
        </p:spPr>
      </p:sp>
      <p:sp>
        <p:nvSpPr>
          <p:cNvPr id="77" name="Shape 74"/>
          <p:cNvSpPr/>
          <p:nvPr/>
        </p:nvSpPr>
        <p:spPr>
          <a:xfrm flipV="1">
            <a:off x="10870387" y="5670194"/>
            <a:ext cx="0" cy="59436"/>
          </a:xfrm>
          <a:prstGeom prst="line">
            <a:avLst/>
          </a:prstGeom>
          <a:noFill/>
          <a:ln w="12700">
            <a:solidFill>
              <a:srgbClr val="5F6368"/>
            </a:solidFill>
            <a:prstDash val="solid"/>
            <a:headEnd type="triangle" w="sm" len="sm"/>
          </a:ln>
        </p:spPr>
      </p:sp>
      <p:sp>
        <p:nvSpPr>
          <p:cNvPr id="78" name="Shape 75"/>
          <p:cNvSpPr/>
          <p:nvPr/>
        </p:nvSpPr>
        <p:spPr>
          <a:xfrm flipV="1">
            <a:off x="10870387" y="5416906"/>
            <a:ext cx="0" cy="58522"/>
          </a:xfrm>
          <a:prstGeom prst="line">
            <a:avLst/>
          </a:prstGeom>
          <a:noFill/>
          <a:ln w="12700">
            <a:solidFill>
              <a:srgbClr val="5F6368"/>
            </a:solidFill>
            <a:prstDash val="solid"/>
            <a:tailEnd type="triangle" w="sm" len="sm"/>
          </a:ln>
        </p:spPr>
      </p:sp>
      <p:sp>
        <p:nvSpPr>
          <p:cNvPr id="79" name="Shape 76"/>
          <p:cNvSpPr/>
          <p:nvPr/>
        </p:nvSpPr>
        <p:spPr>
          <a:xfrm>
            <a:off x="7013448" y="3860597"/>
            <a:ext cx="1433779" cy="113386"/>
          </a:xfrm>
          <a:prstGeom prst="rect">
            <a:avLst/>
          </a:prstGeom>
          <a:solidFill>
            <a:srgbClr val="FFFFFF"/>
          </a:solidFill>
          <a:ln/>
        </p:spPr>
      </p:sp>
      <p:sp>
        <p:nvSpPr>
          <p:cNvPr id="80" name="Text 77"/>
          <p:cNvSpPr/>
          <p:nvPr/>
        </p:nvSpPr>
        <p:spPr>
          <a:xfrm>
            <a:off x="7027164" y="3862426"/>
            <a:ext cx="2069287" cy="111557"/>
          </a:xfrm>
          <a:prstGeom prst="rect">
            <a:avLst/>
          </a:prstGeom>
          <a:noFill/>
          <a:ln/>
        </p:spPr>
        <p:txBody>
          <a:bodyPr wrap="none" lIns="0" tIns="0" rIns="0" bIns="0" rtlCol="0" anchor="ctr"/>
          <a:lstStyle/>
          <a:p>
            <a:pPr algn="l" indent="0" marL="0">
              <a:lnSpc>
                <a:spcPct val="100000"/>
              </a:lnSpc>
              <a:buNone/>
            </a:pPr>
            <a:r>
              <a:rPr lang="en-US" sz="400" b="1" dirty="0">
                <a:solidFill>
                  <a:srgbClr val="202124"/>
                </a:solidFill>
                <a:latin typeface="Arial" pitchFamily="34" charset="0"/>
                <a:ea typeface="Arial" pitchFamily="34" charset="-122"/>
                <a:cs typeface="Arial" pitchFamily="34" charset="-120"/>
              </a:rPr>
              <a:t>PAB • Hop 3–5 Isolation Boundary (Tenant Alpha)</a:t>
            </a:r>
            <a:endParaRPr lang="en-US" sz="400" dirty="0"/>
          </a:p>
        </p:txBody>
      </p:sp>
      <p:sp>
        <p:nvSpPr>
          <p:cNvPr id="81" name="Shape 78"/>
          <p:cNvSpPr/>
          <p:nvPr/>
        </p:nvSpPr>
        <p:spPr>
          <a:xfrm>
            <a:off x="9311335" y="3860597"/>
            <a:ext cx="1505102" cy="113386"/>
          </a:xfrm>
          <a:prstGeom prst="rect">
            <a:avLst/>
          </a:prstGeom>
          <a:solidFill>
            <a:srgbClr val="FFFFFF"/>
          </a:solidFill>
          <a:ln/>
        </p:spPr>
      </p:sp>
      <p:sp>
        <p:nvSpPr>
          <p:cNvPr id="82" name="Text 79"/>
          <p:cNvSpPr/>
          <p:nvPr/>
        </p:nvSpPr>
        <p:spPr>
          <a:xfrm>
            <a:off x="9325051" y="3862426"/>
            <a:ext cx="2069287" cy="111557"/>
          </a:xfrm>
          <a:prstGeom prst="rect">
            <a:avLst/>
          </a:prstGeom>
          <a:noFill/>
          <a:ln/>
        </p:spPr>
        <p:txBody>
          <a:bodyPr wrap="none" lIns="0" tIns="0" rIns="0" bIns="0" rtlCol="0" anchor="ctr"/>
          <a:lstStyle/>
          <a:p>
            <a:pPr algn="l" indent="0" marL="0">
              <a:lnSpc>
                <a:spcPct val="100000"/>
              </a:lnSpc>
              <a:buNone/>
            </a:pPr>
            <a:r>
              <a:rPr lang="en-US" sz="430" b="1" dirty="0">
                <a:solidFill>
                  <a:srgbClr val="202124"/>
                </a:solidFill>
                <a:latin typeface="Arial" pitchFamily="34" charset="0"/>
                <a:ea typeface="Arial" pitchFamily="34" charset="-122"/>
                <a:cs typeface="Arial" pitchFamily="34" charset="-120"/>
              </a:rPr>
              <a:t>PAB • Hop 3–5 Isolation Boundary (Tenant Beta)</a:t>
            </a:r>
            <a:endParaRPr lang="en-US" sz="430" dirty="0"/>
          </a:p>
        </p:txBody>
      </p:sp>
      <p:sp>
        <p:nvSpPr>
          <p:cNvPr id="83" name="Shape 80"/>
          <p:cNvSpPr/>
          <p:nvPr/>
        </p:nvSpPr>
        <p:spPr>
          <a:xfrm>
            <a:off x="7081114" y="4017874"/>
            <a:ext cx="1381658" cy="196596"/>
          </a:xfrm>
          <a:prstGeom prst="rect">
            <a:avLst/>
          </a:prstGeom>
          <a:solidFill>
            <a:srgbClr val="FEEFC3"/>
          </a:solidFill>
          <a:ln/>
        </p:spPr>
      </p:sp>
      <p:sp>
        <p:nvSpPr>
          <p:cNvPr id="84" name="Text 81"/>
          <p:cNvSpPr/>
          <p:nvPr/>
        </p:nvSpPr>
        <p:spPr>
          <a:xfrm>
            <a:off x="7094830" y="4023360"/>
            <a:ext cx="1934870"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Tenant A (FinVault Bank)</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Tenant project • Enterprise Tier (Google OIDC)</a:t>
            </a:r>
            <a:endParaRPr lang="en-US" sz="470" dirty="0"/>
          </a:p>
        </p:txBody>
      </p:sp>
      <p:sp>
        <p:nvSpPr>
          <p:cNvPr id="85" name="Shape 82"/>
          <p:cNvSpPr/>
          <p:nvPr/>
        </p:nvSpPr>
        <p:spPr>
          <a:xfrm>
            <a:off x="9379001" y="4017874"/>
            <a:ext cx="1239926" cy="196596"/>
          </a:xfrm>
          <a:prstGeom prst="rect">
            <a:avLst/>
          </a:prstGeom>
          <a:solidFill>
            <a:srgbClr val="FAD2CF"/>
          </a:solidFill>
          <a:ln/>
        </p:spPr>
      </p:sp>
      <p:sp>
        <p:nvSpPr>
          <p:cNvPr id="86" name="Text 83"/>
          <p:cNvSpPr/>
          <p:nvPr/>
        </p:nvSpPr>
        <p:spPr>
          <a:xfrm>
            <a:off x="9392717" y="4023360"/>
            <a:ext cx="1934870"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Tenant B (RetailStream Corp)</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Tenant project • Standard Tier (Entra ID)</a:t>
            </a:r>
            <a:endParaRPr lang="en-US" sz="470" dirty="0"/>
          </a:p>
        </p:txBody>
      </p:sp>
      <p:sp>
        <p:nvSpPr>
          <p:cNvPr id="87" name="Shape 84"/>
          <p:cNvSpPr/>
          <p:nvPr/>
        </p:nvSpPr>
        <p:spPr>
          <a:xfrm>
            <a:off x="7005218" y="2032711"/>
            <a:ext cx="1316736" cy="196596"/>
          </a:xfrm>
          <a:prstGeom prst="rect">
            <a:avLst/>
          </a:prstGeom>
          <a:solidFill>
            <a:srgbClr val="AECBFA"/>
          </a:solidFill>
          <a:ln/>
        </p:spPr>
      </p:sp>
      <p:sp>
        <p:nvSpPr>
          <p:cNvPr id="88" name="Text 85"/>
          <p:cNvSpPr/>
          <p:nvPr/>
        </p:nvSpPr>
        <p:spPr>
          <a:xfrm>
            <a:off x="7018934" y="2038198"/>
            <a:ext cx="2694737"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Routing hub (Hop 1 &amp; Hop 2)</a:t>
            </a:r>
            <a:endParaRPr lang="en-US" sz="470" dirty="0"/>
          </a:p>
          <a:p>
            <a:pPr algn="l" indent="0" marL="0">
              <a:lnSpc>
                <a:spcPct val="102000"/>
              </a:lnSpc>
              <a:buNone/>
            </a:pPr>
            <a:r>
              <a:rPr lang="en-US" sz="380" dirty="0">
                <a:solidFill>
                  <a:srgbClr val="202124"/>
                </a:solidFill>
                <a:latin typeface="Arial" pitchFamily="34" charset="0"/>
                <a:ea typeface="Arial" pitchFamily="34" charset="-122"/>
                <a:cs typeface="Arial" pitchFamily="34" charset="-120"/>
              </a:rPr>
              <a:t>Central ingress &amp; cryptographic token exchange</a:t>
            </a:r>
            <a:endParaRPr lang="en-US" sz="470" dirty="0"/>
          </a:p>
        </p:txBody>
      </p:sp>
      <p:sp>
        <p:nvSpPr>
          <p:cNvPr id="89" name="Shape 86"/>
          <p:cNvSpPr/>
          <p:nvPr/>
        </p:nvSpPr>
        <p:spPr>
          <a:xfrm>
            <a:off x="10088575" y="2066544"/>
            <a:ext cx="1162202" cy="118872"/>
          </a:xfrm>
          <a:prstGeom prst="rect">
            <a:avLst/>
          </a:prstGeom>
          <a:solidFill>
            <a:srgbClr val="CEEAD6"/>
          </a:solidFill>
          <a:ln/>
        </p:spPr>
      </p:sp>
      <p:sp>
        <p:nvSpPr>
          <p:cNvPr id="90" name="Text 87"/>
          <p:cNvSpPr/>
          <p:nvPr/>
        </p:nvSpPr>
        <p:spPr>
          <a:xfrm>
            <a:off x="10102291" y="2072030"/>
            <a:ext cx="1275588" cy="210312"/>
          </a:xfrm>
          <a:prstGeom prst="rect">
            <a:avLst/>
          </a:prstGeom>
          <a:noFill/>
          <a:ln/>
        </p:spPr>
        <p:txBody>
          <a:bodyPr wrap="square" lIns="0" tIns="0" rIns="0" bIns="0" rtlCol="0" anchor="t"/>
          <a:lstStyle/>
          <a:p>
            <a:pPr algn="l" indent="0" marL="0">
              <a:lnSpc>
                <a:spcPct val="102000"/>
              </a:lnSpc>
              <a:buNone/>
            </a:pPr>
            <a:r>
              <a:rPr lang="en-US" sz="430" b="1" dirty="0">
                <a:solidFill>
                  <a:srgbClr val="202124"/>
                </a:solidFill>
                <a:latin typeface="Arial" pitchFamily="34" charset="0"/>
                <a:ea typeface="Arial" pitchFamily="34" charset="-122"/>
                <a:cs typeface="Arial" pitchFamily="34" charset="-120"/>
              </a:rPr>
              <a:t>Central governance and security hub</a:t>
            </a:r>
            <a:endParaRPr lang="en-US" sz="430" dirty="0"/>
          </a:p>
        </p:txBody>
      </p:sp>
      <p:sp>
        <p:nvSpPr>
          <p:cNvPr id="91" name="Shape 88"/>
          <p:cNvSpPr/>
          <p:nvPr/>
        </p:nvSpPr>
        <p:spPr>
          <a:xfrm>
            <a:off x="8640166" y="804672"/>
            <a:ext cx="1056132" cy="363017"/>
          </a:xfrm>
          <a:prstGeom prst="roundRect">
            <a:avLst>
              <a:gd name="adj" fmla="val 10076"/>
            </a:avLst>
          </a:prstGeom>
          <a:solidFill>
            <a:srgbClr val="FFFFFF"/>
          </a:solidFill>
          <a:ln w="10795">
            <a:solidFill>
              <a:srgbClr val="DADCE0"/>
            </a:solidFill>
            <a:prstDash val="solid"/>
          </a:ln>
        </p:spPr>
      </p:sp>
      <p:pic>
        <p:nvPicPr>
          <p:cNvPr id="92" name="Image 1" descr="preencoded.png">    </p:cNvPr>
          <p:cNvPicPr>
            <a:picLocks noChangeAspect="1"/>
          </p:cNvPicPr>
          <p:nvPr/>
        </p:nvPicPr>
        <p:blipFill>
          <a:blip r:embed="rId2"/>
          <a:stretch>
            <a:fillRect/>
          </a:stretch>
        </p:blipFill>
        <p:spPr>
          <a:xfrm>
            <a:off x="8681314" y="904342"/>
            <a:ext cx="164592" cy="164592"/>
          </a:xfrm>
          <a:prstGeom prst="rect">
            <a:avLst/>
          </a:prstGeom>
        </p:spPr>
      </p:pic>
      <p:sp>
        <p:nvSpPr>
          <p:cNvPr id="93" name="Text 89"/>
          <p:cNvSpPr/>
          <p:nvPr/>
        </p:nvSpPr>
        <p:spPr>
          <a:xfrm>
            <a:off x="8859622" y="804672"/>
            <a:ext cx="804672" cy="363017"/>
          </a:xfrm>
          <a:prstGeom prst="rect">
            <a:avLst/>
          </a:prstGeom>
          <a:noFill/>
          <a:ln/>
        </p:spPr>
        <p:txBody>
          <a:bodyPr wrap="square" lIns="0" tIns="0" rIns="0" bIns="0" rtlCol="0" anchor="ctr"/>
          <a:lstStyle/>
          <a:p>
            <a:pPr algn="l" indent="0" marL="0">
              <a:lnSpc>
                <a:spcPct val="104000"/>
              </a:lnSpc>
              <a:buNone/>
            </a:pPr>
            <a:r>
              <a:rPr lang="en-US" sz="480" b="1" dirty="0">
                <a:solidFill>
                  <a:srgbClr val="202124"/>
                </a:solidFill>
                <a:latin typeface="Arial" pitchFamily="34" charset="0"/>
                <a:ea typeface="Arial" pitchFamily="34" charset="-122"/>
                <a:cs typeface="Arial" pitchFamily="34" charset="-120"/>
              </a:rPr>
              <a:t>User</a:t>
            </a:r>
            <a:endParaRPr lang="en-US" sz="480" dirty="0"/>
          </a:p>
          <a:p>
            <a:pPr algn="l" indent="0" marL="0">
              <a:lnSpc>
                <a:spcPct val="104000"/>
              </a:lnSpc>
              <a:buNone/>
            </a:pPr>
            <a:r>
              <a:rPr lang="en-US" sz="410" dirty="0">
                <a:solidFill>
                  <a:srgbClr val="3C4043"/>
                </a:solidFill>
                <a:latin typeface="Arial" pitchFamily="34" charset="0"/>
                <a:ea typeface="Arial" pitchFamily="34" charset="-122"/>
                <a:cs typeface="Arial" pitchFamily="34" charset="-120"/>
              </a:rPr>
              <a:t>OIDC / Entra JWT</a:t>
            </a:r>
            <a:endParaRPr lang="en-US" sz="480" dirty="0"/>
          </a:p>
        </p:txBody>
      </p:sp>
      <p:sp>
        <p:nvSpPr>
          <p:cNvPr id="94" name="Shape 90"/>
          <p:cNvSpPr/>
          <p:nvPr/>
        </p:nvSpPr>
        <p:spPr>
          <a:xfrm>
            <a:off x="8585302" y="2409444"/>
            <a:ext cx="1106424" cy="320954"/>
          </a:xfrm>
          <a:prstGeom prst="roundRect">
            <a:avLst>
              <a:gd name="adj" fmla="val 11396"/>
            </a:avLst>
          </a:prstGeom>
          <a:solidFill>
            <a:srgbClr val="FFFFFF"/>
          </a:solidFill>
          <a:ln w="10795">
            <a:solidFill>
              <a:srgbClr val="DADCE0"/>
            </a:solidFill>
            <a:prstDash val="solid"/>
          </a:ln>
        </p:spPr>
      </p:sp>
      <p:pic>
        <p:nvPicPr>
          <p:cNvPr id="95" name="Image 2" descr="preencoded.png">    </p:cNvPr>
          <p:cNvPicPr>
            <a:picLocks noChangeAspect="1"/>
          </p:cNvPicPr>
          <p:nvPr/>
        </p:nvPicPr>
        <p:blipFill>
          <a:blip r:embed="rId3"/>
          <a:stretch>
            <a:fillRect/>
          </a:stretch>
        </p:blipFill>
        <p:spPr>
          <a:xfrm>
            <a:off x="8626450" y="2486254"/>
            <a:ext cx="167335" cy="167335"/>
          </a:xfrm>
          <a:prstGeom prst="rect">
            <a:avLst/>
          </a:prstGeom>
        </p:spPr>
      </p:pic>
      <p:sp>
        <p:nvSpPr>
          <p:cNvPr id="96" name="Text 91"/>
          <p:cNvSpPr/>
          <p:nvPr/>
        </p:nvSpPr>
        <p:spPr>
          <a:xfrm>
            <a:off x="8816645" y="2409444"/>
            <a:ext cx="847649" cy="320954"/>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External Application Load Balancer</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Cloud Load Balancing</a:t>
            </a:r>
            <a:endParaRPr lang="en-US" sz="460" dirty="0"/>
          </a:p>
        </p:txBody>
      </p:sp>
      <p:sp>
        <p:nvSpPr>
          <p:cNvPr id="97" name="Shape 92"/>
          <p:cNvSpPr/>
          <p:nvPr/>
        </p:nvSpPr>
        <p:spPr>
          <a:xfrm>
            <a:off x="10157155" y="2299716"/>
            <a:ext cx="1165860" cy="304495"/>
          </a:xfrm>
          <a:prstGeom prst="roundRect">
            <a:avLst>
              <a:gd name="adj" fmla="val 12012"/>
            </a:avLst>
          </a:prstGeom>
          <a:solidFill>
            <a:srgbClr val="FFFFFF"/>
          </a:solidFill>
          <a:ln w="10795">
            <a:solidFill>
              <a:srgbClr val="DADCE0"/>
            </a:solidFill>
            <a:prstDash val="solid"/>
          </a:ln>
        </p:spPr>
      </p:sp>
      <p:pic>
        <p:nvPicPr>
          <p:cNvPr id="98" name="Image 3" descr="preencoded.png">    </p:cNvPr>
          <p:cNvPicPr>
            <a:picLocks noChangeAspect="1"/>
          </p:cNvPicPr>
          <p:nvPr/>
        </p:nvPicPr>
        <p:blipFill>
          <a:blip r:embed="rId4"/>
          <a:stretch>
            <a:fillRect/>
          </a:stretch>
        </p:blipFill>
        <p:spPr>
          <a:xfrm>
            <a:off x="10198303" y="2372868"/>
            <a:ext cx="158191" cy="158191"/>
          </a:xfrm>
          <a:prstGeom prst="rect">
            <a:avLst/>
          </a:prstGeom>
        </p:spPr>
      </p:pic>
      <p:sp>
        <p:nvSpPr>
          <p:cNvPr id="99" name="Text 93"/>
          <p:cNvSpPr/>
          <p:nvPr/>
        </p:nvSpPr>
        <p:spPr>
          <a:xfrm>
            <a:off x="10379354" y="2299716"/>
            <a:ext cx="916229" cy="304495"/>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Security Command Center</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Continuous Threat Detection</a:t>
            </a:r>
            <a:endParaRPr lang="en-US" sz="460" dirty="0"/>
          </a:p>
        </p:txBody>
      </p:sp>
      <p:sp>
        <p:nvSpPr>
          <p:cNvPr id="100" name="Shape 94"/>
          <p:cNvSpPr/>
          <p:nvPr/>
        </p:nvSpPr>
        <p:spPr>
          <a:xfrm>
            <a:off x="10173614" y="3009290"/>
            <a:ext cx="1132027" cy="287122"/>
          </a:xfrm>
          <a:prstGeom prst="roundRect">
            <a:avLst>
              <a:gd name="adj" fmla="val 12739"/>
            </a:avLst>
          </a:prstGeom>
          <a:solidFill>
            <a:srgbClr val="FFFFFF"/>
          </a:solidFill>
          <a:ln w="10795">
            <a:solidFill>
              <a:srgbClr val="DADCE0"/>
            </a:solidFill>
            <a:prstDash val="solid"/>
          </a:ln>
        </p:spPr>
      </p:sp>
      <p:pic>
        <p:nvPicPr>
          <p:cNvPr id="101" name="Image 4" descr="preencoded.png">    </p:cNvPr>
          <p:cNvPicPr>
            <a:picLocks noChangeAspect="1"/>
          </p:cNvPicPr>
          <p:nvPr/>
        </p:nvPicPr>
        <p:blipFill>
          <a:blip r:embed="rId5"/>
          <a:stretch>
            <a:fillRect/>
          </a:stretch>
        </p:blipFill>
        <p:spPr>
          <a:xfrm>
            <a:off x="10214762" y="3077870"/>
            <a:ext cx="149047" cy="149047"/>
          </a:xfrm>
          <a:prstGeom prst="rect">
            <a:avLst/>
          </a:prstGeom>
        </p:spPr>
      </p:pic>
      <p:sp>
        <p:nvSpPr>
          <p:cNvPr id="102" name="Text 95"/>
          <p:cNvSpPr/>
          <p:nvPr/>
        </p:nvSpPr>
        <p:spPr>
          <a:xfrm>
            <a:off x="10386670" y="3009290"/>
            <a:ext cx="891540" cy="287122"/>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Cloud Logging &amp; BQ</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cymbal_agentic_finops_otel</a:t>
            </a:r>
            <a:endParaRPr lang="en-US" sz="460" dirty="0"/>
          </a:p>
        </p:txBody>
      </p:sp>
      <p:sp>
        <p:nvSpPr>
          <p:cNvPr id="103" name="Shape 96"/>
          <p:cNvSpPr/>
          <p:nvPr/>
        </p:nvSpPr>
        <p:spPr>
          <a:xfrm>
            <a:off x="10181844" y="2662733"/>
            <a:ext cx="1114654" cy="287122"/>
          </a:xfrm>
          <a:prstGeom prst="roundRect">
            <a:avLst>
              <a:gd name="adj" fmla="val 12739"/>
            </a:avLst>
          </a:prstGeom>
          <a:solidFill>
            <a:srgbClr val="FFFFFF"/>
          </a:solidFill>
          <a:ln w="10795">
            <a:solidFill>
              <a:srgbClr val="DADCE0"/>
            </a:solidFill>
            <a:prstDash val="solid"/>
          </a:ln>
        </p:spPr>
      </p:sp>
      <p:pic>
        <p:nvPicPr>
          <p:cNvPr id="104" name="Image 5" descr="preencoded.png">    </p:cNvPr>
          <p:cNvPicPr>
            <a:picLocks noChangeAspect="1"/>
          </p:cNvPicPr>
          <p:nvPr/>
        </p:nvPicPr>
        <p:blipFill>
          <a:blip r:embed="rId6"/>
          <a:stretch>
            <a:fillRect/>
          </a:stretch>
        </p:blipFill>
        <p:spPr>
          <a:xfrm>
            <a:off x="10222992" y="2731313"/>
            <a:ext cx="149047" cy="149047"/>
          </a:xfrm>
          <a:prstGeom prst="rect">
            <a:avLst/>
          </a:prstGeom>
        </p:spPr>
      </p:pic>
      <p:sp>
        <p:nvSpPr>
          <p:cNvPr id="105" name="Text 97"/>
          <p:cNvSpPr/>
          <p:nvPr/>
        </p:nvSpPr>
        <p:spPr>
          <a:xfrm>
            <a:off x="10394899" y="2662733"/>
            <a:ext cx="874166" cy="287122"/>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Central IAM</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Auth Manager (2LO / 3LO)</a:t>
            </a:r>
            <a:endParaRPr lang="en-US" sz="460" dirty="0"/>
          </a:p>
        </p:txBody>
      </p:sp>
      <p:sp>
        <p:nvSpPr>
          <p:cNvPr id="106" name="Shape 98"/>
          <p:cNvSpPr/>
          <p:nvPr/>
        </p:nvSpPr>
        <p:spPr>
          <a:xfrm>
            <a:off x="8120786" y="4487875"/>
            <a:ext cx="903427" cy="312725"/>
          </a:xfrm>
          <a:prstGeom prst="roundRect">
            <a:avLst>
              <a:gd name="adj" fmla="val 11696"/>
            </a:avLst>
          </a:prstGeom>
          <a:solidFill>
            <a:srgbClr val="FFFFFF"/>
          </a:solidFill>
          <a:ln w="10795">
            <a:solidFill>
              <a:srgbClr val="DADCE0"/>
            </a:solidFill>
            <a:prstDash val="solid"/>
          </a:ln>
        </p:spPr>
      </p:sp>
      <p:pic>
        <p:nvPicPr>
          <p:cNvPr id="107" name="Image 6" descr="preencoded.png">    </p:cNvPr>
          <p:cNvPicPr>
            <a:picLocks noChangeAspect="1"/>
          </p:cNvPicPr>
          <p:nvPr/>
        </p:nvPicPr>
        <p:blipFill>
          <a:blip r:embed="rId7"/>
          <a:stretch>
            <a:fillRect/>
          </a:stretch>
        </p:blipFill>
        <p:spPr>
          <a:xfrm>
            <a:off x="8161934" y="4562856"/>
            <a:ext cx="162763" cy="162763"/>
          </a:xfrm>
          <a:prstGeom prst="rect">
            <a:avLst/>
          </a:prstGeom>
        </p:spPr>
      </p:pic>
      <p:sp>
        <p:nvSpPr>
          <p:cNvPr id="108" name="Text 99"/>
          <p:cNvSpPr/>
          <p:nvPr/>
        </p:nvSpPr>
        <p:spPr>
          <a:xfrm>
            <a:off x="8347558" y="4487875"/>
            <a:ext cx="649224" cy="312725"/>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Vertex AI Agent Engine</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Hop 3: Shared + Agent Alpha</a:t>
            </a:r>
            <a:endParaRPr lang="en-US" sz="460" dirty="0"/>
          </a:p>
        </p:txBody>
      </p:sp>
      <p:sp>
        <p:nvSpPr>
          <p:cNvPr id="109" name="Shape 100"/>
          <p:cNvSpPr/>
          <p:nvPr/>
        </p:nvSpPr>
        <p:spPr>
          <a:xfrm>
            <a:off x="8120786" y="5095951"/>
            <a:ext cx="903427" cy="312725"/>
          </a:xfrm>
          <a:prstGeom prst="roundRect">
            <a:avLst>
              <a:gd name="adj" fmla="val 11696"/>
            </a:avLst>
          </a:prstGeom>
          <a:solidFill>
            <a:srgbClr val="FFFFFF"/>
          </a:solidFill>
          <a:ln w="10795">
            <a:solidFill>
              <a:srgbClr val="DADCE0"/>
            </a:solidFill>
            <a:prstDash val="solid"/>
          </a:ln>
        </p:spPr>
      </p:sp>
      <p:pic>
        <p:nvPicPr>
          <p:cNvPr id="110" name="Image 7" descr="preencoded.png">    </p:cNvPr>
          <p:cNvPicPr>
            <a:picLocks noChangeAspect="1"/>
          </p:cNvPicPr>
          <p:nvPr/>
        </p:nvPicPr>
        <p:blipFill>
          <a:blip r:embed="rId8"/>
          <a:stretch>
            <a:fillRect/>
          </a:stretch>
        </p:blipFill>
        <p:spPr>
          <a:xfrm>
            <a:off x="8161934" y="5170932"/>
            <a:ext cx="162763" cy="162763"/>
          </a:xfrm>
          <a:prstGeom prst="rect">
            <a:avLst/>
          </a:prstGeom>
        </p:spPr>
      </p:pic>
      <p:sp>
        <p:nvSpPr>
          <p:cNvPr id="111" name="Text 101"/>
          <p:cNvSpPr/>
          <p:nvPr/>
        </p:nvSpPr>
        <p:spPr>
          <a:xfrm>
            <a:off x="8347558" y="5095951"/>
            <a:ext cx="649224" cy="312725"/>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MCP servers</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Hop 5: Workspace &amp; Jira 3LO</a:t>
            </a:r>
            <a:endParaRPr lang="en-US" sz="460" dirty="0"/>
          </a:p>
        </p:txBody>
      </p:sp>
      <p:sp>
        <p:nvSpPr>
          <p:cNvPr id="112" name="Shape 102"/>
          <p:cNvSpPr/>
          <p:nvPr/>
        </p:nvSpPr>
        <p:spPr>
          <a:xfrm>
            <a:off x="8120786" y="5729630"/>
            <a:ext cx="903427" cy="312725"/>
          </a:xfrm>
          <a:prstGeom prst="roundRect">
            <a:avLst>
              <a:gd name="adj" fmla="val 11696"/>
            </a:avLst>
          </a:prstGeom>
          <a:solidFill>
            <a:srgbClr val="FFFFFF"/>
          </a:solidFill>
          <a:ln w="10795">
            <a:solidFill>
              <a:srgbClr val="DADCE0"/>
            </a:solidFill>
            <a:prstDash val="solid"/>
          </a:ln>
        </p:spPr>
      </p:sp>
      <p:pic>
        <p:nvPicPr>
          <p:cNvPr id="113" name="Image 8" descr="preencoded.png">    </p:cNvPr>
          <p:cNvPicPr>
            <a:picLocks noChangeAspect="1"/>
          </p:cNvPicPr>
          <p:nvPr/>
        </p:nvPicPr>
        <p:blipFill>
          <a:blip r:embed="rId9"/>
          <a:stretch>
            <a:fillRect/>
          </a:stretch>
        </p:blipFill>
        <p:spPr>
          <a:xfrm>
            <a:off x="8161934" y="5804611"/>
            <a:ext cx="162763" cy="162763"/>
          </a:xfrm>
          <a:prstGeom prst="rect">
            <a:avLst/>
          </a:prstGeom>
        </p:spPr>
      </p:pic>
      <p:sp>
        <p:nvSpPr>
          <p:cNvPr id="114" name="Text 103"/>
          <p:cNvSpPr/>
          <p:nvPr/>
        </p:nvSpPr>
        <p:spPr>
          <a:xfrm>
            <a:off x="8347558" y="5729630"/>
            <a:ext cx="649224" cy="312725"/>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Datastore</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BQ RLS, AlloyDB &amp; CMEK</a:t>
            </a:r>
            <a:endParaRPr lang="en-US" sz="460" dirty="0"/>
          </a:p>
        </p:txBody>
      </p:sp>
      <p:sp>
        <p:nvSpPr>
          <p:cNvPr id="115" name="Shape 104"/>
          <p:cNvSpPr/>
          <p:nvPr/>
        </p:nvSpPr>
        <p:spPr>
          <a:xfrm>
            <a:off x="10418674" y="4487875"/>
            <a:ext cx="903427" cy="312725"/>
          </a:xfrm>
          <a:prstGeom prst="roundRect">
            <a:avLst>
              <a:gd name="adj" fmla="val 11696"/>
            </a:avLst>
          </a:prstGeom>
          <a:solidFill>
            <a:srgbClr val="FFFFFF"/>
          </a:solidFill>
          <a:ln w="10795">
            <a:solidFill>
              <a:srgbClr val="DADCE0"/>
            </a:solidFill>
            <a:prstDash val="solid"/>
          </a:ln>
        </p:spPr>
      </p:sp>
      <p:pic>
        <p:nvPicPr>
          <p:cNvPr id="116" name="Image 9" descr="preencoded.png">    </p:cNvPr>
          <p:cNvPicPr>
            <a:picLocks noChangeAspect="1"/>
          </p:cNvPicPr>
          <p:nvPr/>
        </p:nvPicPr>
        <p:blipFill>
          <a:blip r:embed="rId10"/>
          <a:stretch>
            <a:fillRect/>
          </a:stretch>
        </p:blipFill>
        <p:spPr>
          <a:xfrm>
            <a:off x="10459822" y="4562856"/>
            <a:ext cx="162763" cy="162763"/>
          </a:xfrm>
          <a:prstGeom prst="rect">
            <a:avLst/>
          </a:prstGeom>
        </p:spPr>
      </p:pic>
      <p:sp>
        <p:nvSpPr>
          <p:cNvPr id="117" name="Text 105"/>
          <p:cNvSpPr/>
          <p:nvPr/>
        </p:nvSpPr>
        <p:spPr>
          <a:xfrm>
            <a:off x="10645445" y="4487875"/>
            <a:ext cx="649224" cy="312725"/>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Vertex AI Agent Engine</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Hop 3: Shared Diagnostic</a:t>
            </a:r>
            <a:endParaRPr lang="en-US" sz="460" dirty="0"/>
          </a:p>
        </p:txBody>
      </p:sp>
      <p:sp>
        <p:nvSpPr>
          <p:cNvPr id="118" name="Shape 106"/>
          <p:cNvSpPr/>
          <p:nvPr/>
        </p:nvSpPr>
        <p:spPr>
          <a:xfrm>
            <a:off x="10418674" y="5095951"/>
            <a:ext cx="903427" cy="312725"/>
          </a:xfrm>
          <a:prstGeom prst="roundRect">
            <a:avLst>
              <a:gd name="adj" fmla="val 11696"/>
            </a:avLst>
          </a:prstGeom>
          <a:solidFill>
            <a:srgbClr val="FFFFFF"/>
          </a:solidFill>
          <a:ln w="10795">
            <a:solidFill>
              <a:srgbClr val="DADCE0"/>
            </a:solidFill>
            <a:prstDash val="solid"/>
          </a:ln>
        </p:spPr>
      </p:sp>
      <p:pic>
        <p:nvPicPr>
          <p:cNvPr id="119" name="Image 10" descr="preencoded.png">    </p:cNvPr>
          <p:cNvPicPr>
            <a:picLocks noChangeAspect="1"/>
          </p:cNvPicPr>
          <p:nvPr/>
        </p:nvPicPr>
        <p:blipFill>
          <a:blip r:embed="rId11"/>
          <a:stretch>
            <a:fillRect/>
          </a:stretch>
        </p:blipFill>
        <p:spPr>
          <a:xfrm>
            <a:off x="10459822" y="5170932"/>
            <a:ext cx="162763" cy="162763"/>
          </a:xfrm>
          <a:prstGeom prst="rect">
            <a:avLst/>
          </a:prstGeom>
        </p:spPr>
      </p:pic>
      <p:sp>
        <p:nvSpPr>
          <p:cNvPr id="120" name="Text 107"/>
          <p:cNvSpPr/>
          <p:nvPr/>
        </p:nvSpPr>
        <p:spPr>
          <a:xfrm>
            <a:off x="10645445" y="5095951"/>
            <a:ext cx="649224" cy="312725"/>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MCP servers</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Hop 5: SharePoint &amp; SNOW</a:t>
            </a:r>
            <a:endParaRPr lang="en-US" sz="460" dirty="0"/>
          </a:p>
        </p:txBody>
      </p:sp>
      <p:sp>
        <p:nvSpPr>
          <p:cNvPr id="121" name="Shape 108"/>
          <p:cNvSpPr/>
          <p:nvPr/>
        </p:nvSpPr>
        <p:spPr>
          <a:xfrm>
            <a:off x="10418674" y="5729630"/>
            <a:ext cx="903427" cy="312725"/>
          </a:xfrm>
          <a:prstGeom prst="roundRect">
            <a:avLst>
              <a:gd name="adj" fmla="val 11696"/>
            </a:avLst>
          </a:prstGeom>
          <a:solidFill>
            <a:srgbClr val="FFFFFF"/>
          </a:solidFill>
          <a:ln w="10795">
            <a:solidFill>
              <a:srgbClr val="DADCE0"/>
            </a:solidFill>
            <a:prstDash val="solid"/>
          </a:ln>
        </p:spPr>
      </p:sp>
      <p:pic>
        <p:nvPicPr>
          <p:cNvPr id="122" name="Image 11" descr="preencoded.png">    </p:cNvPr>
          <p:cNvPicPr>
            <a:picLocks noChangeAspect="1"/>
          </p:cNvPicPr>
          <p:nvPr/>
        </p:nvPicPr>
        <p:blipFill>
          <a:blip r:embed="rId12"/>
          <a:stretch>
            <a:fillRect/>
          </a:stretch>
        </p:blipFill>
        <p:spPr>
          <a:xfrm>
            <a:off x="10459822" y="5804611"/>
            <a:ext cx="162763" cy="162763"/>
          </a:xfrm>
          <a:prstGeom prst="rect">
            <a:avLst/>
          </a:prstGeom>
        </p:spPr>
      </p:pic>
      <p:sp>
        <p:nvSpPr>
          <p:cNvPr id="123" name="Text 109"/>
          <p:cNvSpPr/>
          <p:nvPr/>
        </p:nvSpPr>
        <p:spPr>
          <a:xfrm>
            <a:off x="10645445" y="5729630"/>
            <a:ext cx="649224" cy="312725"/>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Datastore</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BQ RLS, AlloyDB &amp; Valkey</a:t>
            </a:r>
            <a:endParaRPr lang="en-US" sz="460" dirty="0"/>
          </a:p>
        </p:txBody>
      </p:sp>
      <p:sp>
        <p:nvSpPr>
          <p:cNvPr id="124" name="Shape 110"/>
          <p:cNvSpPr/>
          <p:nvPr/>
        </p:nvSpPr>
        <p:spPr>
          <a:xfrm>
            <a:off x="8686800" y="3034894"/>
            <a:ext cx="946404" cy="278892"/>
          </a:xfrm>
          <a:prstGeom prst="roundRect">
            <a:avLst>
              <a:gd name="adj" fmla="val 13115"/>
            </a:avLst>
          </a:prstGeom>
          <a:solidFill>
            <a:srgbClr val="FFFFFF"/>
          </a:solidFill>
          <a:ln w="10795">
            <a:solidFill>
              <a:srgbClr val="DADCE0"/>
            </a:solidFill>
            <a:prstDash val="solid"/>
          </a:ln>
        </p:spPr>
      </p:sp>
      <p:pic>
        <p:nvPicPr>
          <p:cNvPr id="125" name="Image 12" descr="preencoded.png">    </p:cNvPr>
          <p:cNvPicPr>
            <a:picLocks noChangeAspect="1"/>
          </p:cNvPicPr>
          <p:nvPr/>
        </p:nvPicPr>
        <p:blipFill>
          <a:blip r:embed="rId13"/>
          <a:stretch>
            <a:fillRect/>
          </a:stretch>
        </p:blipFill>
        <p:spPr>
          <a:xfrm>
            <a:off x="8727948" y="3101645"/>
            <a:ext cx="145390" cy="145390"/>
          </a:xfrm>
          <a:prstGeom prst="rect">
            <a:avLst/>
          </a:prstGeom>
        </p:spPr>
      </p:pic>
      <p:sp>
        <p:nvSpPr>
          <p:cNvPr id="126" name="Text 111"/>
          <p:cNvSpPr/>
          <p:nvPr/>
        </p:nvSpPr>
        <p:spPr>
          <a:xfrm>
            <a:off x="8896198" y="3034894"/>
            <a:ext cx="709574" cy="278892"/>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Cloud Run</a:t>
            </a:r>
            <a:endParaRPr lang="en-US" sz="460" dirty="0"/>
          </a:p>
          <a:p>
            <a:pPr algn="l" indent="0" marL="0">
              <a:lnSpc>
                <a:spcPct val="100000"/>
              </a:lnSpc>
              <a:buNone/>
            </a:pPr>
            <a:r>
              <a:rPr lang="en-US" sz="338" dirty="0">
                <a:solidFill>
                  <a:srgbClr val="3C4043"/>
                </a:solidFill>
                <a:latin typeface="Arial" pitchFamily="34" charset="0"/>
                <a:ea typeface="Arial" pitchFamily="34" charset="-122"/>
                <a:cs typeface="Arial" pitchFamily="34" charset="-120"/>
              </a:rPr>
              <a:t>cymbal-multi-tenant-patterns</a:t>
            </a:r>
            <a:endParaRPr lang="en-US" sz="460" dirty="0"/>
          </a:p>
        </p:txBody>
      </p:sp>
      <p:sp>
        <p:nvSpPr>
          <p:cNvPr id="127" name="Shape 112"/>
          <p:cNvSpPr/>
          <p:nvPr/>
        </p:nvSpPr>
        <p:spPr>
          <a:xfrm>
            <a:off x="7082028" y="4276649"/>
            <a:ext cx="819302" cy="304495"/>
          </a:xfrm>
          <a:prstGeom prst="roundRect">
            <a:avLst>
              <a:gd name="adj" fmla="val 12012"/>
            </a:avLst>
          </a:prstGeom>
          <a:solidFill>
            <a:srgbClr val="FFFFFF"/>
          </a:solidFill>
          <a:ln w="10795">
            <a:solidFill>
              <a:srgbClr val="DADCE0"/>
            </a:solidFill>
            <a:prstDash val="solid"/>
          </a:ln>
        </p:spPr>
      </p:sp>
      <p:pic>
        <p:nvPicPr>
          <p:cNvPr id="128" name="Image 13" descr="preencoded.png">    </p:cNvPr>
          <p:cNvPicPr>
            <a:picLocks noChangeAspect="1"/>
          </p:cNvPicPr>
          <p:nvPr/>
        </p:nvPicPr>
        <p:blipFill>
          <a:blip r:embed="rId14"/>
          <a:stretch>
            <a:fillRect/>
          </a:stretch>
        </p:blipFill>
        <p:spPr>
          <a:xfrm>
            <a:off x="7123176" y="4349801"/>
            <a:ext cx="158191" cy="158191"/>
          </a:xfrm>
          <a:prstGeom prst="rect">
            <a:avLst/>
          </a:prstGeom>
        </p:spPr>
      </p:pic>
      <p:sp>
        <p:nvSpPr>
          <p:cNvPr id="129" name="Text 113"/>
          <p:cNvSpPr/>
          <p:nvPr/>
        </p:nvSpPr>
        <p:spPr>
          <a:xfrm>
            <a:off x="7304227" y="4276649"/>
            <a:ext cx="569671" cy="304495"/>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Model Armor</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Hop 4: Bank SDP &amp; FINRA Filter</a:t>
            </a:r>
            <a:endParaRPr lang="en-US" sz="460" dirty="0"/>
          </a:p>
        </p:txBody>
      </p:sp>
      <p:sp>
        <p:nvSpPr>
          <p:cNvPr id="130" name="Shape 114"/>
          <p:cNvSpPr/>
          <p:nvPr/>
        </p:nvSpPr>
        <p:spPr>
          <a:xfrm>
            <a:off x="7082028" y="5273345"/>
            <a:ext cx="819302" cy="304495"/>
          </a:xfrm>
          <a:prstGeom prst="roundRect">
            <a:avLst>
              <a:gd name="adj" fmla="val 12012"/>
            </a:avLst>
          </a:prstGeom>
          <a:solidFill>
            <a:srgbClr val="FFFFFF"/>
          </a:solidFill>
          <a:ln w="10795">
            <a:solidFill>
              <a:srgbClr val="DADCE0"/>
            </a:solidFill>
            <a:prstDash val="solid"/>
          </a:ln>
        </p:spPr>
      </p:sp>
      <p:pic>
        <p:nvPicPr>
          <p:cNvPr id="131" name="Image 14" descr="preencoded.png">    </p:cNvPr>
          <p:cNvPicPr>
            <a:picLocks noChangeAspect="1"/>
          </p:cNvPicPr>
          <p:nvPr/>
        </p:nvPicPr>
        <p:blipFill>
          <a:blip r:embed="rId15"/>
          <a:stretch>
            <a:fillRect/>
          </a:stretch>
        </p:blipFill>
        <p:spPr>
          <a:xfrm>
            <a:off x="7123176" y="5346497"/>
            <a:ext cx="158191" cy="158191"/>
          </a:xfrm>
          <a:prstGeom prst="rect">
            <a:avLst/>
          </a:prstGeom>
        </p:spPr>
      </p:pic>
      <p:sp>
        <p:nvSpPr>
          <p:cNvPr id="132" name="Text 115"/>
          <p:cNvSpPr/>
          <p:nvPr/>
        </p:nvSpPr>
        <p:spPr>
          <a:xfrm>
            <a:off x="7304227" y="5273345"/>
            <a:ext cx="569671" cy="304495"/>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Gemini 2.5 Pro</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Agent Engine (8k Budget)</a:t>
            </a:r>
            <a:endParaRPr lang="en-US" sz="460" dirty="0"/>
          </a:p>
        </p:txBody>
      </p:sp>
      <p:sp>
        <p:nvSpPr>
          <p:cNvPr id="133" name="Shape 116"/>
          <p:cNvSpPr/>
          <p:nvPr/>
        </p:nvSpPr>
        <p:spPr>
          <a:xfrm>
            <a:off x="9379915" y="4276649"/>
            <a:ext cx="819302" cy="304495"/>
          </a:xfrm>
          <a:prstGeom prst="roundRect">
            <a:avLst>
              <a:gd name="adj" fmla="val 12012"/>
            </a:avLst>
          </a:prstGeom>
          <a:solidFill>
            <a:srgbClr val="FFFFFF"/>
          </a:solidFill>
          <a:ln w="10795">
            <a:solidFill>
              <a:srgbClr val="DADCE0"/>
            </a:solidFill>
            <a:prstDash val="solid"/>
          </a:ln>
        </p:spPr>
      </p:sp>
      <p:pic>
        <p:nvPicPr>
          <p:cNvPr id="134" name="Image 15" descr="preencoded.png">    </p:cNvPr>
          <p:cNvPicPr>
            <a:picLocks noChangeAspect="1"/>
          </p:cNvPicPr>
          <p:nvPr/>
        </p:nvPicPr>
        <p:blipFill>
          <a:blip r:embed="rId16"/>
          <a:stretch>
            <a:fillRect/>
          </a:stretch>
        </p:blipFill>
        <p:spPr>
          <a:xfrm>
            <a:off x="9421063" y="4349801"/>
            <a:ext cx="158191" cy="158191"/>
          </a:xfrm>
          <a:prstGeom prst="rect">
            <a:avLst/>
          </a:prstGeom>
        </p:spPr>
      </p:pic>
      <p:sp>
        <p:nvSpPr>
          <p:cNvPr id="135" name="Text 117"/>
          <p:cNvSpPr/>
          <p:nvPr/>
        </p:nvSpPr>
        <p:spPr>
          <a:xfrm>
            <a:off x="9602114" y="4276649"/>
            <a:ext cx="569671" cy="304495"/>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Model Armor</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Hop 4: PCI PAN SDP &amp; Filter</a:t>
            </a:r>
            <a:endParaRPr lang="en-US" sz="460" dirty="0"/>
          </a:p>
        </p:txBody>
      </p:sp>
      <p:sp>
        <p:nvSpPr>
          <p:cNvPr id="136" name="Shape 118"/>
          <p:cNvSpPr/>
          <p:nvPr/>
        </p:nvSpPr>
        <p:spPr>
          <a:xfrm>
            <a:off x="9379915" y="4707331"/>
            <a:ext cx="819302" cy="304495"/>
          </a:xfrm>
          <a:prstGeom prst="roundRect">
            <a:avLst>
              <a:gd name="adj" fmla="val 12012"/>
            </a:avLst>
          </a:prstGeom>
          <a:solidFill>
            <a:srgbClr val="FFFFFF"/>
          </a:solidFill>
          <a:ln w="10795">
            <a:solidFill>
              <a:srgbClr val="DADCE0"/>
            </a:solidFill>
            <a:prstDash val="solid"/>
          </a:ln>
        </p:spPr>
      </p:sp>
      <p:pic>
        <p:nvPicPr>
          <p:cNvPr id="137" name="Image 16" descr="preencoded.png">    </p:cNvPr>
          <p:cNvPicPr>
            <a:picLocks noChangeAspect="1"/>
          </p:cNvPicPr>
          <p:nvPr/>
        </p:nvPicPr>
        <p:blipFill>
          <a:blip r:embed="rId17"/>
          <a:stretch>
            <a:fillRect/>
          </a:stretch>
        </p:blipFill>
        <p:spPr>
          <a:xfrm>
            <a:off x="9421063" y="4780483"/>
            <a:ext cx="158191" cy="158191"/>
          </a:xfrm>
          <a:prstGeom prst="rect">
            <a:avLst/>
          </a:prstGeom>
        </p:spPr>
      </p:pic>
      <p:sp>
        <p:nvSpPr>
          <p:cNvPr id="138" name="Text 119"/>
          <p:cNvSpPr/>
          <p:nvPr/>
        </p:nvSpPr>
        <p:spPr>
          <a:xfrm>
            <a:off x="9602114" y="4707331"/>
            <a:ext cx="569671" cy="304495"/>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Gemini</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Agent Engine (4k Cap)</a:t>
            </a:r>
            <a:endParaRPr lang="en-US" sz="460" dirty="0"/>
          </a:p>
        </p:txBody>
      </p:sp>
      <p:sp>
        <p:nvSpPr>
          <p:cNvPr id="139" name="Shape 120"/>
          <p:cNvSpPr/>
          <p:nvPr/>
        </p:nvSpPr>
        <p:spPr>
          <a:xfrm>
            <a:off x="7048195" y="2265883"/>
            <a:ext cx="861365" cy="278892"/>
          </a:xfrm>
          <a:prstGeom prst="roundRect">
            <a:avLst>
              <a:gd name="adj" fmla="val 13115"/>
            </a:avLst>
          </a:prstGeom>
          <a:solidFill>
            <a:srgbClr val="FFFFFF"/>
          </a:solidFill>
          <a:ln w="10795">
            <a:solidFill>
              <a:srgbClr val="DADCE0"/>
            </a:solidFill>
            <a:prstDash val="solid"/>
          </a:ln>
        </p:spPr>
      </p:sp>
      <p:pic>
        <p:nvPicPr>
          <p:cNvPr id="140" name="Image 17" descr="preencoded.png">    </p:cNvPr>
          <p:cNvPicPr>
            <a:picLocks noChangeAspect="1"/>
          </p:cNvPicPr>
          <p:nvPr/>
        </p:nvPicPr>
        <p:blipFill>
          <a:blip r:embed="rId18"/>
          <a:stretch>
            <a:fillRect/>
          </a:stretch>
        </p:blipFill>
        <p:spPr>
          <a:xfrm>
            <a:off x="7089343" y="2332634"/>
            <a:ext cx="145390" cy="145390"/>
          </a:xfrm>
          <a:prstGeom prst="rect">
            <a:avLst/>
          </a:prstGeom>
        </p:spPr>
      </p:pic>
      <p:sp>
        <p:nvSpPr>
          <p:cNvPr id="141" name="Text 121"/>
          <p:cNvSpPr/>
          <p:nvPr/>
        </p:nvSpPr>
        <p:spPr>
          <a:xfrm>
            <a:off x="7257593" y="2265883"/>
            <a:ext cx="624535" cy="278892"/>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Google Cloud Armor</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WAF &amp; DDoS • Strips X-Tenant-ID</a:t>
            </a:r>
            <a:endParaRPr lang="en-US" sz="460" dirty="0"/>
          </a:p>
        </p:txBody>
      </p:sp>
      <p:sp>
        <p:nvSpPr>
          <p:cNvPr id="142" name="Shape 122"/>
          <p:cNvSpPr/>
          <p:nvPr/>
        </p:nvSpPr>
        <p:spPr>
          <a:xfrm>
            <a:off x="7048195" y="2620670"/>
            <a:ext cx="861365" cy="278892"/>
          </a:xfrm>
          <a:prstGeom prst="roundRect">
            <a:avLst>
              <a:gd name="adj" fmla="val 13115"/>
            </a:avLst>
          </a:prstGeom>
          <a:solidFill>
            <a:srgbClr val="FFFFFF"/>
          </a:solidFill>
          <a:ln w="10795">
            <a:solidFill>
              <a:srgbClr val="DADCE0"/>
            </a:solidFill>
            <a:prstDash val="solid"/>
          </a:ln>
        </p:spPr>
      </p:sp>
      <p:pic>
        <p:nvPicPr>
          <p:cNvPr id="143" name="Image 18" descr="preencoded.png">    </p:cNvPr>
          <p:cNvPicPr>
            <a:picLocks noChangeAspect="1"/>
          </p:cNvPicPr>
          <p:nvPr/>
        </p:nvPicPr>
        <p:blipFill>
          <a:blip r:embed="rId19"/>
          <a:stretch>
            <a:fillRect/>
          </a:stretch>
        </p:blipFill>
        <p:spPr>
          <a:xfrm>
            <a:off x="7089343" y="2687422"/>
            <a:ext cx="145390" cy="145390"/>
          </a:xfrm>
          <a:prstGeom prst="rect">
            <a:avLst/>
          </a:prstGeom>
        </p:spPr>
      </p:pic>
      <p:sp>
        <p:nvSpPr>
          <p:cNvPr id="144" name="Text 123"/>
          <p:cNvSpPr/>
          <p:nvPr/>
        </p:nvSpPr>
        <p:spPr>
          <a:xfrm>
            <a:off x="7257593" y="2620670"/>
            <a:ext cx="624535" cy="278892"/>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Model Armor</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Edge Prompt Injection Gate</a:t>
            </a:r>
            <a:endParaRPr lang="en-US" sz="460" dirty="0"/>
          </a:p>
        </p:txBody>
      </p:sp>
      <p:sp>
        <p:nvSpPr>
          <p:cNvPr id="145" name="Shape 124"/>
          <p:cNvSpPr/>
          <p:nvPr/>
        </p:nvSpPr>
        <p:spPr>
          <a:xfrm>
            <a:off x="7082028" y="3034894"/>
            <a:ext cx="827532" cy="278892"/>
          </a:xfrm>
          <a:prstGeom prst="roundRect">
            <a:avLst>
              <a:gd name="adj" fmla="val 13115"/>
            </a:avLst>
          </a:prstGeom>
          <a:solidFill>
            <a:srgbClr val="FFFFFF"/>
          </a:solidFill>
          <a:ln w="10795">
            <a:solidFill>
              <a:srgbClr val="DADCE0"/>
            </a:solidFill>
            <a:prstDash val="solid"/>
          </a:ln>
        </p:spPr>
      </p:sp>
      <p:pic>
        <p:nvPicPr>
          <p:cNvPr id="146" name="Image 19" descr="preencoded.png">    </p:cNvPr>
          <p:cNvPicPr>
            <a:picLocks noChangeAspect="1"/>
          </p:cNvPicPr>
          <p:nvPr/>
        </p:nvPicPr>
        <p:blipFill>
          <a:blip r:embed="rId20"/>
          <a:stretch>
            <a:fillRect/>
          </a:stretch>
        </p:blipFill>
        <p:spPr>
          <a:xfrm>
            <a:off x="7123176" y="3101645"/>
            <a:ext cx="145390" cy="145390"/>
          </a:xfrm>
          <a:prstGeom prst="rect">
            <a:avLst/>
          </a:prstGeom>
        </p:spPr>
      </p:pic>
      <p:sp>
        <p:nvSpPr>
          <p:cNvPr id="147" name="Text 125"/>
          <p:cNvSpPr/>
          <p:nvPr/>
        </p:nvSpPr>
        <p:spPr>
          <a:xfrm>
            <a:off x="7291426" y="3034894"/>
            <a:ext cx="590702" cy="278892"/>
          </a:xfrm>
          <a:prstGeom prst="rect">
            <a:avLst/>
          </a:prstGeom>
          <a:noFill/>
          <a:ln/>
        </p:spPr>
        <p:txBody>
          <a:bodyPr wrap="square" lIns="0" tIns="0" rIns="0" bIns="0" rtlCol="0" anchor="ctr"/>
          <a:lstStyle/>
          <a:p>
            <a:pPr algn="l" indent="0" marL="0">
              <a:lnSpc>
                <a:spcPct val="100000"/>
              </a:lnSpc>
              <a:buNone/>
            </a:pPr>
            <a:r>
              <a:rPr lang="en-US" sz="460" b="1" dirty="0">
                <a:solidFill>
                  <a:srgbClr val="202124"/>
                </a:solidFill>
                <a:latin typeface="Arial" pitchFamily="34" charset="0"/>
                <a:ea typeface="Arial" pitchFamily="34" charset="-122"/>
                <a:cs typeface="Arial" pitchFamily="34" charset="-120"/>
              </a:rPr>
              <a:t>IAP</a:t>
            </a:r>
            <a:endParaRPr lang="en-US" sz="460" dirty="0"/>
          </a:p>
          <a:p>
            <a:pPr algn="l" indent="0" marL="0">
              <a:lnSpc>
                <a:spcPct val="100000"/>
              </a:lnSpc>
              <a:buNone/>
            </a:pPr>
            <a:r>
              <a:rPr lang="en-US" sz="390" dirty="0">
                <a:solidFill>
                  <a:srgbClr val="3C4043"/>
                </a:solidFill>
                <a:latin typeface="Arial" pitchFamily="34" charset="0"/>
                <a:ea typeface="Arial" pitchFamily="34" charset="-122"/>
                <a:cs typeface="Arial" pitchFamily="34" charset="-120"/>
              </a:rPr>
              <a:t>OBO + DPoP + KMS ECDSA Sign</a:t>
            </a:r>
            <a:endParaRPr lang="en-US" sz="460" dirty="0"/>
          </a:p>
        </p:txBody>
      </p:sp>
      <p:sp>
        <p:nvSpPr>
          <p:cNvPr id="148" name="Shape 126"/>
          <p:cNvSpPr/>
          <p:nvPr/>
        </p:nvSpPr>
        <p:spPr>
          <a:xfrm>
            <a:off x="8995867" y="1273759"/>
            <a:ext cx="143561" cy="143561"/>
          </a:xfrm>
          <a:prstGeom prst="ellipse">
            <a:avLst/>
          </a:prstGeom>
          <a:solidFill>
            <a:srgbClr val="174EA6"/>
          </a:solidFill>
          <a:ln w="10795">
            <a:solidFill>
              <a:srgbClr val="174EA6"/>
            </a:solidFill>
            <a:prstDash val="solid"/>
          </a:ln>
        </p:spPr>
      </p:sp>
      <p:sp>
        <p:nvSpPr>
          <p:cNvPr id="149" name="Text 127"/>
          <p:cNvSpPr/>
          <p:nvPr/>
        </p:nvSpPr>
        <p:spPr>
          <a:xfrm>
            <a:off x="8995867" y="1273759"/>
            <a:ext cx="143561" cy="143561"/>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50" name="Shape 128"/>
          <p:cNvSpPr/>
          <p:nvPr/>
        </p:nvSpPr>
        <p:spPr>
          <a:xfrm>
            <a:off x="9189720" y="1273759"/>
            <a:ext cx="143561" cy="143561"/>
          </a:xfrm>
          <a:prstGeom prst="ellipse">
            <a:avLst/>
          </a:prstGeom>
          <a:solidFill>
            <a:srgbClr val="174EA6"/>
          </a:solidFill>
          <a:ln w="10795">
            <a:solidFill>
              <a:srgbClr val="174EA6"/>
            </a:solidFill>
            <a:prstDash val="solid"/>
          </a:ln>
        </p:spPr>
      </p:sp>
      <p:sp>
        <p:nvSpPr>
          <p:cNvPr id="151" name="Text 129"/>
          <p:cNvSpPr/>
          <p:nvPr/>
        </p:nvSpPr>
        <p:spPr>
          <a:xfrm>
            <a:off x="9189720" y="1273759"/>
            <a:ext cx="143561" cy="143561"/>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52" name="Shape 130"/>
          <p:cNvSpPr/>
          <p:nvPr/>
        </p:nvSpPr>
        <p:spPr>
          <a:xfrm>
            <a:off x="8995867" y="2807208"/>
            <a:ext cx="143561" cy="143561"/>
          </a:xfrm>
          <a:prstGeom prst="ellipse">
            <a:avLst/>
          </a:prstGeom>
          <a:solidFill>
            <a:srgbClr val="174EA6"/>
          </a:solidFill>
          <a:ln w="10795">
            <a:solidFill>
              <a:srgbClr val="174EA6"/>
            </a:solidFill>
            <a:prstDash val="solid"/>
          </a:ln>
        </p:spPr>
      </p:sp>
      <p:sp>
        <p:nvSpPr>
          <p:cNvPr id="153" name="Text 131"/>
          <p:cNvSpPr/>
          <p:nvPr/>
        </p:nvSpPr>
        <p:spPr>
          <a:xfrm>
            <a:off x="8995867" y="2807208"/>
            <a:ext cx="143561" cy="143561"/>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54" name="Shape 132"/>
          <p:cNvSpPr/>
          <p:nvPr/>
        </p:nvSpPr>
        <p:spPr>
          <a:xfrm>
            <a:off x="9189720" y="2807208"/>
            <a:ext cx="143561" cy="143561"/>
          </a:xfrm>
          <a:prstGeom prst="ellipse">
            <a:avLst/>
          </a:prstGeom>
          <a:solidFill>
            <a:srgbClr val="174EA6"/>
          </a:solidFill>
          <a:ln w="10795">
            <a:solidFill>
              <a:srgbClr val="174EA6"/>
            </a:solidFill>
            <a:prstDash val="solid"/>
          </a:ln>
        </p:spPr>
      </p:sp>
      <p:sp>
        <p:nvSpPr>
          <p:cNvPr id="155" name="Text 133"/>
          <p:cNvSpPr/>
          <p:nvPr/>
        </p:nvSpPr>
        <p:spPr>
          <a:xfrm>
            <a:off x="9189720" y="2807208"/>
            <a:ext cx="143561" cy="143561"/>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56" name="Shape 134"/>
          <p:cNvSpPr/>
          <p:nvPr/>
        </p:nvSpPr>
        <p:spPr>
          <a:xfrm>
            <a:off x="8310982" y="3461004"/>
            <a:ext cx="143561" cy="143561"/>
          </a:xfrm>
          <a:prstGeom prst="ellipse">
            <a:avLst/>
          </a:prstGeom>
          <a:solidFill>
            <a:srgbClr val="174EA6"/>
          </a:solidFill>
          <a:ln w="10795">
            <a:solidFill>
              <a:srgbClr val="174EA6"/>
            </a:solidFill>
            <a:prstDash val="solid"/>
          </a:ln>
        </p:spPr>
      </p:sp>
      <p:sp>
        <p:nvSpPr>
          <p:cNvPr id="157" name="Text 135"/>
          <p:cNvSpPr/>
          <p:nvPr/>
        </p:nvSpPr>
        <p:spPr>
          <a:xfrm>
            <a:off x="8310982" y="3461004"/>
            <a:ext cx="143561" cy="143561"/>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158" name="Shape 136"/>
          <p:cNvSpPr/>
          <p:nvPr/>
        </p:nvSpPr>
        <p:spPr>
          <a:xfrm>
            <a:off x="9207094" y="3461004"/>
            <a:ext cx="143561" cy="143561"/>
          </a:xfrm>
          <a:prstGeom prst="ellipse">
            <a:avLst/>
          </a:prstGeom>
          <a:solidFill>
            <a:srgbClr val="174EA6"/>
          </a:solidFill>
          <a:ln w="10795">
            <a:solidFill>
              <a:srgbClr val="174EA6"/>
            </a:solidFill>
            <a:prstDash val="solid"/>
          </a:ln>
        </p:spPr>
      </p:sp>
      <p:sp>
        <p:nvSpPr>
          <p:cNvPr id="159" name="Text 137"/>
          <p:cNvSpPr/>
          <p:nvPr/>
        </p:nvSpPr>
        <p:spPr>
          <a:xfrm>
            <a:off x="9207094" y="3461004"/>
            <a:ext cx="143561" cy="143561"/>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60" name="Shape 138"/>
          <p:cNvSpPr/>
          <p:nvPr/>
        </p:nvSpPr>
        <p:spPr>
          <a:xfrm>
            <a:off x="7111289" y="4635094"/>
            <a:ext cx="143561" cy="143561"/>
          </a:xfrm>
          <a:prstGeom prst="ellipse">
            <a:avLst/>
          </a:prstGeom>
          <a:solidFill>
            <a:srgbClr val="174EA6"/>
          </a:solidFill>
          <a:ln w="10795">
            <a:solidFill>
              <a:srgbClr val="174EA6"/>
            </a:solidFill>
            <a:prstDash val="solid"/>
          </a:ln>
        </p:spPr>
      </p:sp>
      <p:sp>
        <p:nvSpPr>
          <p:cNvPr id="161" name="Text 139"/>
          <p:cNvSpPr/>
          <p:nvPr/>
        </p:nvSpPr>
        <p:spPr>
          <a:xfrm>
            <a:off x="7111289" y="4635094"/>
            <a:ext cx="143561" cy="143561"/>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162" name="Shape 140"/>
          <p:cNvSpPr/>
          <p:nvPr/>
        </p:nvSpPr>
        <p:spPr>
          <a:xfrm>
            <a:off x="7111289" y="4839005"/>
            <a:ext cx="143561" cy="143561"/>
          </a:xfrm>
          <a:prstGeom prst="ellipse">
            <a:avLst/>
          </a:prstGeom>
          <a:solidFill>
            <a:srgbClr val="174EA6"/>
          </a:solidFill>
          <a:ln w="10795">
            <a:solidFill>
              <a:srgbClr val="174EA6"/>
            </a:solidFill>
            <a:prstDash val="solid"/>
          </a:ln>
        </p:spPr>
      </p:sp>
      <p:sp>
        <p:nvSpPr>
          <p:cNvPr id="163" name="Text 141"/>
          <p:cNvSpPr/>
          <p:nvPr/>
        </p:nvSpPr>
        <p:spPr>
          <a:xfrm>
            <a:off x="7111289" y="4839005"/>
            <a:ext cx="143561" cy="143561"/>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164" name="Shape 142"/>
          <p:cNvSpPr/>
          <p:nvPr/>
        </p:nvSpPr>
        <p:spPr>
          <a:xfrm>
            <a:off x="7111289" y="5640019"/>
            <a:ext cx="143561" cy="143561"/>
          </a:xfrm>
          <a:prstGeom prst="ellipse">
            <a:avLst/>
          </a:prstGeom>
          <a:solidFill>
            <a:srgbClr val="174EA6"/>
          </a:solidFill>
          <a:ln w="10795">
            <a:solidFill>
              <a:srgbClr val="174EA6"/>
            </a:solidFill>
            <a:prstDash val="solid"/>
          </a:ln>
        </p:spPr>
      </p:sp>
      <p:sp>
        <p:nvSpPr>
          <p:cNvPr id="165" name="Text 143"/>
          <p:cNvSpPr/>
          <p:nvPr/>
        </p:nvSpPr>
        <p:spPr>
          <a:xfrm>
            <a:off x="7111289" y="5640019"/>
            <a:ext cx="143561" cy="143561"/>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166" name="Shape 144"/>
          <p:cNvSpPr/>
          <p:nvPr/>
        </p:nvSpPr>
        <p:spPr>
          <a:xfrm>
            <a:off x="10580522" y="3458261"/>
            <a:ext cx="750722" cy="142646"/>
          </a:xfrm>
          <a:prstGeom prst="roundRect">
            <a:avLst>
              <a:gd name="adj" fmla="val 28846"/>
            </a:avLst>
          </a:prstGeom>
          <a:solidFill>
            <a:srgbClr val="FFFFFF"/>
          </a:solidFill>
          <a:ln w="5715">
            <a:solidFill>
              <a:srgbClr val="DADCE0"/>
            </a:solidFill>
            <a:prstDash val="solid"/>
          </a:ln>
        </p:spPr>
      </p:sp>
      <p:sp>
        <p:nvSpPr>
          <p:cNvPr id="167" name="Text 145"/>
          <p:cNvSpPr/>
          <p:nvPr/>
        </p:nvSpPr>
        <p:spPr>
          <a:xfrm>
            <a:off x="10598810" y="3463747"/>
            <a:ext cx="714146"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Security and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observability • monitoring</a:t>
            </a:r>
            <a:endParaRPr lang="en-US" sz="385" dirty="0"/>
          </a:p>
        </p:txBody>
      </p:sp>
      <p:sp>
        <p:nvSpPr>
          <p:cNvPr id="168" name="Shape 146"/>
          <p:cNvSpPr/>
          <p:nvPr/>
        </p:nvSpPr>
        <p:spPr>
          <a:xfrm>
            <a:off x="8426196" y="4877410"/>
            <a:ext cx="293522" cy="141732"/>
          </a:xfrm>
          <a:prstGeom prst="roundRect">
            <a:avLst>
              <a:gd name="adj" fmla="val 29032"/>
            </a:avLst>
          </a:prstGeom>
          <a:solidFill>
            <a:srgbClr val="FFFFFF"/>
          </a:solidFill>
          <a:ln w="5715">
            <a:solidFill>
              <a:srgbClr val="DADCE0"/>
            </a:solidFill>
            <a:prstDash val="solid"/>
          </a:ln>
        </p:spPr>
      </p:sp>
      <p:sp>
        <p:nvSpPr>
          <p:cNvPr id="169" name="Text 147"/>
          <p:cNvSpPr/>
          <p:nvPr/>
        </p:nvSpPr>
        <p:spPr>
          <a:xfrm>
            <a:off x="8444484" y="4882896"/>
            <a:ext cx="256946" cy="130759"/>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Secure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RAG</a:t>
            </a:r>
            <a:endParaRPr lang="en-US" sz="385" dirty="0"/>
          </a:p>
        </p:txBody>
      </p:sp>
      <p:sp>
        <p:nvSpPr>
          <p:cNvPr id="170" name="Shape 148"/>
          <p:cNvSpPr/>
          <p:nvPr/>
        </p:nvSpPr>
        <p:spPr>
          <a:xfrm>
            <a:off x="8361274" y="5494630"/>
            <a:ext cx="424282" cy="141732"/>
          </a:xfrm>
          <a:prstGeom prst="roundRect">
            <a:avLst>
              <a:gd name="adj" fmla="val 29032"/>
            </a:avLst>
          </a:prstGeom>
          <a:solidFill>
            <a:srgbClr val="FFFFFF"/>
          </a:solidFill>
          <a:ln w="5715">
            <a:solidFill>
              <a:srgbClr val="DADCE0"/>
            </a:solidFill>
            <a:prstDash val="solid"/>
          </a:ln>
        </p:spPr>
      </p:sp>
      <p:sp>
        <p:nvSpPr>
          <p:cNvPr id="171" name="Text 149"/>
          <p:cNvSpPr/>
          <p:nvPr/>
        </p:nvSpPr>
        <p:spPr>
          <a:xfrm>
            <a:off x="8379562" y="5500116"/>
            <a:ext cx="387706" cy="130759"/>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Agent-tool</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interaction</a:t>
            </a:r>
            <a:endParaRPr lang="en-US" sz="385" dirty="0"/>
          </a:p>
        </p:txBody>
      </p:sp>
      <p:sp>
        <p:nvSpPr>
          <p:cNvPr id="172" name="Shape 150"/>
          <p:cNvSpPr/>
          <p:nvPr/>
        </p:nvSpPr>
        <p:spPr>
          <a:xfrm>
            <a:off x="10724083" y="4877410"/>
            <a:ext cx="293522" cy="141732"/>
          </a:xfrm>
          <a:prstGeom prst="roundRect">
            <a:avLst>
              <a:gd name="adj" fmla="val 29032"/>
            </a:avLst>
          </a:prstGeom>
          <a:solidFill>
            <a:srgbClr val="FFFFFF"/>
          </a:solidFill>
          <a:ln w="5715">
            <a:solidFill>
              <a:srgbClr val="DADCE0"/>
            </a:solidFill>
            <a:prstDash val="solid"/>
          </a:ln>
        </p:spPr>
      </p:sp>
      <p:sp>
        <p:nvSpPr>
          <p:cNvPr id="173" name="Text 151"/>
          <p:cNvSpPr/>
          <p:nvPr/>
        </p:nvSpPr>
        <p:spPr>
          <a:xfrm>
            <a:off x="10742371" y="4882896"/>
            <a:ext cx="256946" cy="130759"/>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Secure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RAG</a:t>
            </a:r>
            <a:endParaRPr lang="en-US" sz="385" dirty="0"/>
          </a:p>
        </p:txBody>
      </p:sp>
      <p:sp>
        <p:nvSpPr>
          <p:cNvPr id="174" name="Shape 152"/>
          <p:cNvSpPr/>
          <p:nvPr/>
        </p:nvSpPr>
        <p:spPr>
          <a:xfrm>
            <a:off x="10659161" y="5494630"/>
            <a:ext cx="424282" cy="141732"/>
          </a:xfrm>
          <a:prstGeom prst="roundRect">
            <a:avLst>
              <a:gd name="adj" fmla="val 29032"/>
            </a:avLst>
          </a:prstGeom>
          <a:solidFill>
            <a:srgbClr val="FFFFFF"/>
          </a:solidFill>
          <a:ln w="5715">
            <a:solidFill>
              <a:srgbClr val="DADCE0"/>
            </a:solidFill>
            <a:prstDash val="solid"/>
          </a:ln>
        </p:spPr>
      </p:sp>
      <p:sp>
        <p:nvSpPr>
          <p:cNvPr id="175" name="Text 153"/>
          <p:cNvSpPr/>
          <p:nvPr/>
        </p:nvSpPr>
        <p:spPr>
          <a:xfrm>
            <a:off x="10677449" y="5500116"/>
            <a:ext cx="387706" cy="130759"/>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Agent-tool</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interaction</a:t>
            </a:r>
            <a:endParaRPr lang="en-US" sz="385" dirty="0"/>
          </a:p>
        </p:txBody>
      </p:sp>
      <p:sp>
        <p:nvSpPr>
          <p:cNvPr id="176" name="Shape 154"/>
          <p:cNvSpPr/>
          <p:nvPr/>
        </p:nvSpPr>
        <p:spPr>
          <a:xfrm>
            <a:off x="7285025" y="5641848"/>
            <a:ext cx="372161" cy="142646"/>
          </a:xfrm>
          <a:prstGeom prst="roundRect">
            <a:avLst>
              <a:gd name="adj" fmla="val 28846"/>
            </a:avLst>
          </a:prstGeom>
          <a:solidFill>
            <a:srgbClr val="FFFFFF"/>
          </a:solidFill>
          <a:ln w="5715">
            <a:solidFill>
              <a:srgbClr val="DADCE0"/>
            </a:solidFill>
            <a:prstDash val="solid"/>
          </a:ln>
        </p:spPr>
      </p:sp>
      <p:sp>
        <p:nvSpPr>
          <p:cNvPr id="177" name="Text 155"/>
          <p:cNvSpPr/>
          <p:nvPr/>
        </p:nvSpPr>
        <p:spPr>
          <a:xfrm>
            <a:off x="7303313" y="5647334"/>
            <a:ext cx="335585"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Generates</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response</a:t>
            </a:r>
            <a:endParaRPr lang="en-US" sz="385" dirty="0"/>
          </a:p>
        </p:txBody>
      </p:sp>
      <p:sp>
        <p:nvSpPr>
          <p:cNvPr id="178" name="Shape 156"/>
          <p:cNvSpPr/>
          <p:nvPr/>
        </p:nvSpPr>
        <p:spPr>
          <a:xfrm>
            <a:off x="9371686" y="3457346"/>
            <a:ext cx="606247" cy="133502"/>
          </a:xfrm>
          <a:prstGeom prst="roundRect">
            <a:avLst>
              <a:gd name="adj" fmla="val 30822"/>
            </a:avLst>
          </a:prstGeom>
          <a:solidFill>
            <a:srgbClr val="FFFFFF"/>
          </a:solidFill>
          <a:ln w="5715">
            <a:solidFill>
              <a:srgbClr val="DADCE0"/>
            </a:solidFill>
            <a:prstDash val="solid"/>
          </a:ln>
        </p:spPr>
      </p:sp>
      <p:sp>
        <p:nvSpPr>
          <p:cNvPr id="179" name="Text 157"/>
          <p:cNvSpPr/>
          <p:nvPr/>
        </p:nvSpPr>
        <p:spPr>
          <a:xfrm>
            <a:off x="9389974" y="3462833"/>
            <a:ext cx="569671"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Sanitized response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from tenant</a:t>
            </a:r>
            <a:endParaRPr lang="en-US" sz="385" dirty="0"/>
          </a:p>
        </p:txBody>
      </p:sp>
      <p:sp>
        <p:nvSpPr>
          <p:cNvPr id="180" name="Shape 158"/>
          <p:cNvSpPr/>
          <p:nvPr/>
        </p:nvSpPr>
        <p:spPr>
          <a:xfrm>
            <a:off x="8475574" y="3457346"/>
            <a:ext cx="475488" cy="133502"/>
          </a:xfrm>
          <a:prstGeom prst="roundRect">
            <a:avLst>
              <a:gd name="adj" fmla="val 30822"/>
            </a:avLst>
          </a:prstGeom>
          <a:solidFill>
            <a:srgbClr val="FFFFFF"/>
          </a:solidFill>
          <a:ln w="5715">
            <a:solidFill>
              <a:srgbClr val="DADCE0"/>
            </a:solidFill>
            <a:prstDash val="solid"/>
          </a:ln>
        </p:spPr>
      </p:sp>
      <p:sp>
        <p:nvSpPr>
          <p:cNvPr id="181" name="Text 159"/>
          <p:cNvSpPr/>
          <p:nvPr/>
        </p:nvSpPr>
        <p:spPr>
          <a:xfrm>
            <a:off x="8493862" y="3462833"/>
            <a:ext cx="438912"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Route request</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to tenant</a:t>
            </a:r>
            <a:endParaRPr lang="en-US" sz="385" dirty="0"/>
          </a:p>
        </p:txBody>
      </p:sp>
      <p:sp>
        <p:nvSpPr>
          <p:cNvPr id="182" name="Shape 160"/>
          <p:cNvSpPr/>
          <p:nvPr/>
        </p:nvSpPr>
        <p:spPr>
          <a:xfrm>
            <a:off x="8047634" y="2988259"/>
            <a:ext cx="502006" cy="133502"/>
          </a:xfrm>
          <a:prstGeom prst="roundRect">
            <a:avLst>
              <a:gd name="adj" fmla="val 30822"/>
            </a:avLst>
          </a:prstGeom>
          <a:solidFill>
            <a:srgbClr val="FFFFFF"/>
          </a:solidFill>
          <a:ln w="5715">
            <a:solidFill>
              <a:srgbClr val="DADCE0"/>
            </a:solidFill>
            <a:prstDash val="solid"/>
          </a:ln>
        </p:spPr>
      </p:sp>
      <p:sp>
        <p:nvSpPr>
          <p:cNvPr id="183" name="Text 161"/>
          <p:cNvSpPr/>
          <p:nvPr/>
        </p:nvSpPr>
        <p:spPr>
          <a:xfrm>
            <a:off x="8065922" y="2993746"/>
            <a:ext cx="465430"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User</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authentication</a:t>
            </a:r>
            <a:endParaRPr lang="en-US" sz="385" dirty="0"/>
          </a:p>
        </p:txBody>
      </p:sp>
      <p:sp>
        <p:nvSpPr>
          <p:cNvPr id="184" name="Shape 162"/>
          <p:cNvSpPr/>
          <p:nvPr/>
        </p:nvSpPr>
        <p:spPr>
          <a:xfrm>
            <a:off x="7285025" y="4657039"/>
            <a:ext cx="554126" cy="100584"/>
          </a:xfrm>
          <a:prstGeom prst="roundRect">
            <a:avLst>
              <a:gd name="adj" fmla="val 40909"/>
            </a:avLst>
          </a:prstGeom>
          <a:solidFill>
            <a:srgbClr val="FFFFFF"/>
          </a:solidFill>
          <a:ln w="5715">
            <a:solidFill>
              <a:srgbClr val="DADCE0"/>
            </a:solidFill>
            <a:prstDash val="solid"/>
          </a:ln>
        </p:spPr>
      </p:sp>
      <p:sp>
        <p:nvSpPr>
          <p:cNvPr id="185" name="Text 163"/>
          <p:cNvSpPr/>
          <p:nvPr/>
        </p:nvSpPr>
        <p:spPr>
          <a:xfrm>
            <a:off x="7303313" y="4662526"/>
            <a:ext cx="517550" cy="89611"/>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 request</a:t>
            </a:r>
            <a:endParaRPr lang="en-US" sz="385" dirty="0"/>
          </a:p>
        </p:txBody>
      </p:sp>
      <p:sp>
        <p:nvSpPr>
          <p:cNvPr id="186" name="Shape 164"/>
          <p:cNvSpPr/>
          <p:nvPr/>
        </p:nvSpPr>
        <p:spPr>
          <a:xfrm>
            <a:off x="7285025" y="4859122"/>
            <a:ext cx="580644" cy="100584"/>
          </a:xfrm>
          <a:prstGeom prst="roundRect">
            <a:avLst>
              <a:gd name="adj" fmla="val 40909"/>
            </a:avLst>
          </a:prstGeom>
          <a:solidFill>
            <a:srgbClr val="FFFFFF"/>
          </a:solidFill>
          <a:ln w="5715">
            <a:solidFill>
              <a:srgbClr val="DADCE0"/>
            </a:solidFill>
            <a:prstDash val="solid"/>
          </a:ln>
        </p:spPr>
      </p:sp>
      <p:sp>
        <p:nvSpPr>
          <p:cNvPr id="187" name="Text 165"/>
          <p:cNvSpPr/>
          <p:nvPr/>
        </p:nvSpPr>
        <p:spPr>
          <a:xfrm>
            <a:off x="7303313" y="4864608"/>
            <a:ext cx="544068" cy="89611"/>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 response</a:t>
            </a:r>
            <a:endParaRPr lang="en-US" sz="385" dirty="0"/>
          </a:p>
        </p:txBody>
      </p:sp>
      <p:sp>
        <p:nvSpPr>
          <p:cNvPr id="188" name="Shape 166"/>
          <p:cNvSpPr/>
          <p:nvPr/>
        </p:nvSpPr>
        <p:spPr>
          <a:xfrm>
            <a:off x="8011058" y="2221078"/>
            <a:ext cx="345643" cy="133502"/>
          </a:xfrm>
          <a:prstGeom prst="roundRect">
            <a:avLst>
              <a:gd name="adj" fmla="val 30822"/>
            </a:avLst>
          </a:prstGeom>
          <a:solidFill>
            <a:srgbClr val="FFFFFF"/>
          </a:solidFill>
          <a:ln w="5715">
            <a:solidFill>
              <a:srgbClr val="DADCE0"/>
            </a:solidFill>
            <a:prstDash val="solid"/>
          </a:ln>
        </p:spPr>
      </p:sp>
      <p:sp>
        <p:nvSpPr>
          <p:cNvPr id="189" name="Text 167"/>
          <p:cNvSpPr/>
          <p:nvPr/>
        </p:nvSpPr>
        <p:spPr>
          <a:xfrm>
            <a:off x="8029346" y="2226564"/>
            <a:ext cx="309067"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Security</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policies</a:t>
            </a:r>
            <a:endParaRPr lang="en-US" sz="385" dirty="0"/>
          </a:p>
        </p:txBody>
      </p:sp>
      <p:sp>
        <p:nvSpPr>
          <p:cNvPr id="190" name="Shape 168"/>
          <p:cNvSpPr/>
          <p:nvPr/>
        </p:nvSpPr>
        <p:spPr>
          <a:xfrm>
            <a:off x="8011058" y="2803550"/>
            <a:ext cx="345643" cy="133502"/>
          </a:xfrm>
          <a:prstGeom prst="roundRect">
            <a:avLst>
              <a:gd name="adj" fmla="val 30822"/>
            </a:avLst>
          </a:prstGeom>
          <a:solidFill>
            <a:srgbClr val="FFFFFF"/>
          </a:solidFill>
          <a:ln w="5715">
            <a:solidFill>
              <a:srgbClr val="DADCE0"/>
            </a:solidFill>
            <a:prstDash val="solid"/>
          </a:ln>
        </p:spPr>
      </p:sp>
      <p:sp>
        <p:nvSpPr>
          <p:cNvPr id="191" name="Text 169"/>
          <p:cNvSpPr/>
          <p:nvPr/>
        </p:nvSpPr>
        <p:spPr>
          <a:xfrm>
            <a:off x="8029346" y="2809037"/>
            <a:ext cx="309067"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prompt</a:t>
            </a:r>
            <a:endParaRPr lang="en-US" sz="385" dirty="0"/>
          </a:p>
        </p:txBody>
      </p:sp>
      <p:sp>
        <p:nvSpPr>
          <p:cNvPr id="192" name="Shape 170"/>
          <p:cNvSpPr/>
          <p:nvPr/>
        </p:nvSpPr>
        <p:spPr>
          <a:xfrm>
            <a:off x="9354312" y="1295705"/>
            <a:ext cx="345643" cy="100584"/>
          </a:xfrm>
          <a:prstGeom prst="roundRect">
            <a:avLst>
              <a:gd name="adj" fmla="val 40909"/>
            </a:avLst>
          </a:prstGeom>
          <a:solidFill>
            <a:srgbClr val="FFFFFF"/>
          </a:solidFill>
          <a:ln w="5715">
            <a:solidFill>
              <a:srgbClr val="DADCE0"/>
            </a:solidFill>
            <a:prstDash val="solid"/>
          </a:ln>
        </p:spPr>
      </p:sp>
      <p:sp>
        <p:nvSpPr>
          <p:cNvPr id="193" name="Text 171"/>
          <p:cNvSpPr/>
          <p:nvPr/>
        </p:nvSpPr>
        <p:spPr>
          <a:xfrm>
            <a:off x="9372600" y="1301191"/>
            <a:ext cx="309067" cy="89611"/>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Response</a:t>
            </a:r>
            <a:endParaRPr lang="en-US" sz="385" dirty="0"/>
          </a:p>
        </p:txBody>
      </p:sp>
      <p:sp>
        <p:nvSpPr>
          <p:cNvPr id="194" name="Shape 172"/>
          <p:cNvSpPr/>
          <p:nvPr/>
        </p:nvSpPr>
        <p:spPr>
          <a:xfrm>
            <a:off x="9354312" y="2827325"/>
            <a:ext cx="345643" cy="100584"/>
          </a:xfrm>
          <a:prstGeom prst="roundRect">
            <a:avLst>
              <a:gd name="adj" fmla="val 40909"/>
            </a:avLst>
          </a:prstGeom>
          <a:solidFill>
            <a:srgbClr val="FFFFFF"/>
          </a:solidFill>
          <a:ln w="5715">
            <a:solidFill>
              <a:srgbClr val="DADCE0"/>
            </a:solidFill>
            <a:prstDash val="solid"/>
          </a:ln>
        </p:spPr>
      </p:sp>
      <p:sp>
        <p:nvSpPr>
          <p:cNvPr id="195" name="Text 173"/>
          <p:cNvSpPr/>
          <p:nvPr/>
        </p:nvSpPr>
        <p:spPr>
          <a:xfrm>
            <a:off x="9372600" y="2832811"/>
            <a:ext cx="309067" cy="89611"/>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Response</a:t>
            </a:r>
            <a:endParaRPr lang="en-US" sz="385" dirty="0"/>
          </a:p>
        </p:txBody>
      </p:sp>
      <p:sp>
        <p:nvSpPr>
          <p:cNvPr id="196" name="Shape 174"/>
          <p:cNvSpPr/>
          <p:nvPr/>
        </p:nvSpPr>
        <p:spPr>
          <a:xfrm>
            <a:off x="8645652" y="1295705"/>
            <a:ext cx="320040" cy="100584"/>
          </a:xfrm>
          <a:prstGeom prst="roundRect">
            <a:avLst>
              <a:gd name="adj" fmla="val 40909"/>
            </a:avLst>
          </a:prstGeom>
          <a:solidFill>
            <a:srgbClr val="FFFFFF"/>
          </a:solidFill>
          <a:ln w="5715">
            <a:solidFill>
              <a:srgbClr val="DADCE0"/>
            </a:solidFill>
            <a:prstDash val="solid"/>
          </a:ln>
        </p:spPr>
      </p:sp>
      <p:sp>
        <p:nvSpPr>
          <p:cNvPr id="197" name="Text 175"/>
          <p:cNvSpPr/>
          <p:nvPr/>
        </p:nvSpPr>
        <p:spPr>
          <a:xfrm>
            <a:off x="8663940" y="1301191"/>
            <a:ext cx="283464" cy="89611"/>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Request</a:t>
            </a:r>
            <a:endParaRPr lang="en-US" sz="385" dirty="0"/>
          </a:p>
        </p:txBody>
      </p:sp>
      <p:sp>
        <p:nvSpPr>
          <p:cNvPr id="198" name="Shape 176"/>
          <p:cNvSpPr/>
          <p:nvPr/>
        </p:nvSpPr>
        <p:spPr>
          <a:xfrm>
            <a:off x="8645652" y="2827325"/>
            <a:ext cx="320040" cy="100584"/>
          </a:xfrm>
          <a:prstGeom prst="roundRect">
            <a:avLst>
              <a:gd name="adj" fmla="val 40909"/>
            </a:avLst>
          </a:prstGeom>
          <a:solidFill>
            <a:srgbClr val="FFFFFF"/>
          </a:solidFill>
          <a:ln w="5715">
            <a:solidFill>
              <a:srgbClr val="DADCE0"/>
            </a:solidFill>
            <a:prstDash val="solid"/>
          </a:ln>
        </p:spPr>
      </p:sp>
      <p:sp>
        <p:nvSpPr>
          <p:cNvPr id="199" name="Text 177"/>
          <p:cNvSpPr/>
          <p:nvPr/>
        </p:nvSpPr>
        <p:spPr>
          <a:xfrm>
            <a:off x="8663940" y="2832811"/>
            <a:ext cx="283464" cy="89611"/>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Request</a:t>
            </a:r>
            <a:endParaRPr lang="en-US" sz="385" dirty="0"/>
          </a:p>
        </p:txBody>
      </p:sp>
      <p:sp>
        <p:nvSpPr>
          <p:cNvPr id="200" name="Shape 178"/>
          <p:cNvSpPr/>
          <p:nvPr/>
        </p:nvSpPr>
        <p:spPr>
          <a:xfrm>
            <a:off x="461772" y="793699"/>
            <a:ext cx="6028639" cy="1133856"/>
          </a:xfrm>
          <a:prstGeom prst="roundRect">
            <a:avLst>
              <a:gd name="adj" fmla="val 5645"/>
            </a:avLst>
          </a:prstGeom>
          <a:solidFill>
            <a:srgbClr val="E2E8F0"/>
          </a:solidFill>
          <a:ln/>
        </p:spPr>
      </p:sp>
      <p:sp>
        <p:nvSpPr>
          <p:cNvPr id="201" name="Shape 179"/>
          <p:cNvSpPr/>
          <p:nvPr/>
        </p:nvSpPr>
        <p:spPr>
          <a:xfrm>
            <a:off x="438912" y="768096"/>
            <a:ext cx="6028639" cy="1133856"/>
          </a:xfrm>
          <a:prstGeom prst="roundRect">
            <a:avLst>
              <a:gd name="adj" fmla="val 5645"/>
            </a:avLst>
          </a:prstGeom>
          <a:solidFill>
            <a:srgbClr val="FFFFFF"/>
          </a:solidFill>
          <a:ln w="10795">
            <a:solidFill>
              <a:srgbClr val="BFDBFE"/>
            </a:solidFill>
            <a:prstDash val="solid"/>
          </a:ln>
        </p:spPr>
      </p:sp>
      <p:sp>
        <p:nvSpPr>
          <p:cNvPr id="202" name="Shape 180"/>
          <p:cNvSpPr/>
          <p:nvPr/>
        </p:nvSpPr>
        <p:spPr>
          <a:xfrm>
            <a:off x="438912" y="768096"/>
            <a:ext cx="6028639" cy="50292"/>
          </a:xfrm>
          <a:prstGeom prst="roundRect">
            <a:avLst>
              <a:gd name="adj" fmla="val 36364"/>
            </a:avLst>
          </a:prstGeom>
          <a:solidFill>
            <a:srgbClr val="1D4ED8"/>
          </a:solidFill>
          <a:ln/>
        </p:spPr>
      </p:sp>
      <p:sp>
        <p:nvSpPr>
          <p:cNvPr id="203" name="Text 181"/>
          <p:cNvSpPr/>
          <p:nvPr/>
        </p:nvSpPr>
        <p:spPr>
          <a:xfrm>
            <a:off x="566928" y="859536"/>
            <a:ext cx="5772607" cy="164592"/>
          </a:xfrm>
          <a:prstGeom prst="rect">
            <a:avLst/>
          </a:prstGeom>
          <a:noFill/>
          <a:ln/>
        </p:spPr>
        <p:txBody>
          <a:bodyPr wrap="square" lIns="0" tIns="0" rIns="0" bIns="0" rtlCol="0" anchor="ctr"/>
          <a:lstStyle/>
          <a:p>
            <a:pPr indent="0" marL="0">
              <a:lnSpc>
                <a:spcPct val="105000"/>
              </a:lnSpc>
              <a:buNone/>
            </a:pPr>
            <a:r>
              <a:rPr lang="en-US" sz="700" b="1" spc="50" kern="0" dirty="0">
                <a:solidFill>
                  <a:srgbClr val="1D4ED8"/>
                </a:solidFill>
                <a:latin typeface="Arial" pitchFamily="34" charset="0"/>
                <a:ea typeface="Arial" pitchFamily="34" charset="-122"/>
                <a:cs typeface="Arial" pitchFamily="34" charset="-120"/>
              </a:rPr>
              <a:t>SHARED HUB EXECUTION (STEPS 1 → 2 → 3 IN FIGURE 2)</a:t>
            </a:r>
            <a:endParaRPr lang="en-US" sz="700" dirty="0"/>
          </a:p>
        </p:txBody>
      </p:sp>
      <p:sp>
        <p:nvSpPr>
          <p:cNvPr id="204" name="Shape 182"/>
          <p:cNvSpPr/>
          <p:nvPr/>
        </p:nvSpPr>
        <p:spPr>
          <a:xfrm>
            <a:off x="2369210" y="1444752"/>
            <a:ext cx="182880" cy="0"/>
          </a:xfrm>
          <a:prstGeom prst="line">
            <a:avLst/>
          </a:prstGeom>
          <a:noFill/>
          <a:ln w="16510">
            <a:solidFill>
              <a:srgbClr val="1D4ED8"/>
            </a:solidFill>
            <a:prstDash val="solid"/>
            <a:tailEnd type="triangle" w="sm" len="sm"/>
          </a:ln>
        </p:spPr>
      </p:sp>
      <p:sp>
        <p:nvSpPr>
          <p:cNvPr id="205" name="Shape 183"/>
          <p:cNvSpPr/>
          <p:nvPr/>
        </p:nvSpPr>
        <p:spPr>
          <a:xfrm>
            <a:off x="566928" y="1097280"/>
            <a:ext cx="1802282" cy="676656"/>
          </a:xfrm>
          <a:prstGeom prst="roundRect">
            <a:avLst>
              <a:gd name="adj" fmla="val 9459"/>
            </a:avLst>
          </a:prstGeom>
          <a:solidFill>
            <a:srgbClr val="EFF6FF"/>
          </a:solidFill>
          <a:ln w="10795">
            <a:solidFill>
              <a:srgbClr val="BFDBFE"/>
            </a:solidFill>
            <a:prstDash val="solid"/>
          </a:ln>
        </p:spPr>
      </p:sp>
      <p:sp>
        <p:nvSpPr>
          <p:cNvPr id="206" name="Text 184"/>
          <p:cNvSpPr/>
          <p:nvPr/>
        </p:nvSpPr>
        <p:spPr>
          <a:xfrm>
            <a:off x="640080" y="1170432"/>
            <a:ext cx="1655978" cy="201168"/>
          </a:xfrm>
          <a:prstGeom prst="rect">
            <a:avLst/>
          </a:prstGeom>
          <a:noFill/>
          <a:ln/>
        </p:spPr>
        <p:txBody>
          <a:bodyPr wrap="square" lIns="0" tIns="0" rIns="0" bIns="0" rtlCol="0" anchor="ctr"/>
          <a:lstStyle/>
          <a:p>
            <a:pPr algn="ctr" indent="0" marL="0">
              <a:lnSpc>
                <a:spcPct val="105000"/>
              </a:lnSpc>
              <a:buNone/>
            </a:pPr>
            <a:r>
              <a:rPr lang="en-US" sz="780" b="1" dirty="0">
                <a:solidFill>
                  <a:srgbClr val="1D4ED8"/>
                </a:solidFill>
                <a:latin typeface="Arial" pitchFamily="34" charset="0"/>
                <a:ea typeface="Arial" pitchFamily="34" charset="-122"/>
                <a:cs typeface="Arial" pitchFamily="34" charset="-120"/>
              </a:rPr>
              <a:t>1. Edge WAF &amp; ALB</a:t>
            </a:r>
            <a:endParaRPr lang="en-US" sz="780" dirty="0"/>
          </a:p>
        </p:txBody>
      </p:sp>
      <p:sp>
        <p:nvSpPr>
          <p:cNvPr id="207" name="Text 185"/>
          <p:cNvSpPr/>
          <p:nvPr/>
        </p:nvSpPr>
        <p:spPr>
          <a:xfrm>
            <a:off x="640080" y="1389888"/>
            <a:ext cx="1655978" cy="310896"/>
          </a:xfrm>
          <a:prstGeom prst="rect">
            <a:avLst/>
          </a:prstGeom>
          <a:noFill/>
          <a:ln/>
        </p:spPr>
        <p:txBody>
          <a:bodyPr wrap="square" lIns="0" tIns="0" rIns="0" bIns="0" rtlCol="0" anchor="ctr"/>
          <a:lstStyle/>
          <a:p>
            <a:pPr algn="ctr" indent="0" marL="0">
              <a:lnSpc>
                <a:spcPct val="105000"/>
              </a:lnSpc>
              <a:buNone/>
            </a:pPr>
            <a:r>
              <a:rPr lang="en-US" sz="680" dirty="0">
                <a:solidFill>
                  <a:srgbClr val="334155"/>
                </a:solidFill>
                <a:latin typeface="Arial" pitchFamily="34" charset="0"/>
                <a:ea typeface="Arial" pitchFamily="34" charset="-122"/>
                <a:cs typeface="Arial" pitchFamily="34" charset="-120"/>
              </a:rPr>
              <a:t>Strips spoofed headers; terminates TLS</a:t>
            </a:r>
            <a:endParaRPr lang="en-US" sz="680" dirty="0"/>
          </a:p>
        </p:txBody>
      </p:sp>
      <p:sp>
        <p:nvSpPr>
          <p:cNvPr id="208" name="Shape 186"/>
          <p:cNvSpPr/>
          <p:nvPr/>
        </p:nvSpPr>
        <p:spPr>
          <a:xfrm>
            <a:off x="4354373" y="1444752"/>
            <a:ext cx="182880" cy="0"/>
          </a:xfrm>
          <a:prstGeom prst="line">
            <a:avLst/>
          </a:prstGeom>
          <a:noFill/>
          <a:ln w="16510">
            <a:solidFill>
              <a:srgbClr val="1D4ED8"/>
            </a:solidFill>
            <a:prstDash val="solid"/>
            <a:tailEnd type="triangle" w="sm" len="sm"/>
          </a:ln>
        </p:spPr>
      </p:sp>
      <p:sp>
        <p:nvSpPr>
          <p:cNvPr id="209" name="Shape 187"/>
          <p:cNvSpPr/>
          <p:nvPr/>
        </p:nvSpPr>
        <p:spPr>
          <a:xfrm>
            <a:off x="2552090" y="1097280"/>
            <a:ext cx="1802282" cy="676656"/>
          </a:xfrm>
          <a:prstGeom prst="roundRect">
            <a:avLst>
              <a:gd name="adj" fmla="val 9459"/>
            </a:avLst>
          </a:prstGeom>
          <a:solidFill>
            <a:srgbClr val="EFF6FF"/>
          </a:solidFill>
          <a:ln w="10795">
            <a:solidFill>
              <a:srgbClr val="BFDBFE"/>
            </a:solidFill>
            <a:prstDash val="solid"/>
          </a:ln>
        </p:spPr>
      </p:sp>
      <p:sp>
        <p:nvSpPr>
          <p:cNvPr id="210" name="Text 188"/>
          <p:cNvSpPr/>
          <p:nvPr/>
        </p:nvSpPr>
        <p:spPr>
          <a:xfrm>
            <a:off x="2625242" y="1170432"/>
            <a:ext cx="1655978" cy="201168"/>
          </a:xfrm>
          <a:prstGeom prst="rect">
            <a:avLst/>
          </a:prstGeom>
          <a:noFill/>
          <a:ln/>
        </p:spPr>
        <p:txBody>
          <a:bodyPr wrap="square" lIns="0" tIns="0" rIns="0" bIns="0" rtlCol="0" anchor="ctr"/>
          <a:lstStyle/>
          <a:p>
            <a:pPr algn="ctr" indent="0" marL="0">
              <a:lnSpc>
                <a:spcPct val="105000"/>
              </a:lnSpc>
              <a:buNone/>
            </a:pPr>
            <a:r>
              <a:rPr lang="en-US" sz="780" b="1" dirty="0">
                <a:solidFill>
                  <a:srgbClr val="1D4ED8"/>
                </a:solidFill>
                <a:latin typeface="Arial" pitchFamily="34" charset="0"/>
                <a:ea typeface="Arial" pitchFamily="34" charset="-122"/>
                <a:cs typeface="Arial" pitchFamily="34" charset="-120"/>
              </a:rPr>
              <a:t>2. IAP OBO + KMS Sign</a:t>
            </a:r>
            <a:endParaRPr lang="en-US" sz="780" dirty="0"/>
          </a:p>
        </p:txBody>
      </p:sp>
      <p:sp>
        <p:nvSpPr>
          <p:cNvPr id="211" name="Text 189"/>
          <p:cNvSpPr/>
          <p:nvPr/>
        </p:nvSpPr>
        <p:spPr>
          <a:xfrm>
            <a:off x="2625242" y="1389888"/>
            <a:ext cx="1655978" cy="310896"/>
          </a:xfrm>
          <a:prstGeom prst="rect">
            <a:avLst/>
          </a:prstGeom>
          <a:noFill/>
          <a:ln/>
        </p:spPr>
        <p:txBody>
          <a:bodyPr wrap="square" lIns="0" tIns="0" rIns="0" bIns="0" rtlCol="0" anchor="ctr"/>
          <a:lstStyle/>
          <a:p>
            <a:pPr algn="ctr" indent="0" marL="0">
              <a:lnSpc>
                <a:spcPct val="105000"/>
              </a:lnSpc>
              <a:buNone/>
            </a:pPr>
            <a:r>
              <a:rPr lang="en-US" sz="680" dirty="0">
                <a:solidFill>
                  <a:srgbClr val="334155"/>
                </a:solidFill>
                <a:latin typeface="Arial" pitchFamily="34" charset="0"/>
                <a:ea typeface="Arial" pitchFamily="34" charset="-122"/>
                <a:cs typeface="Arial" pitchFamily="34" charset="-120"/>
              </a:rPr>
              <a:t>Mints P-256 JWT from OIDC / Entra</a:t>
            </a:r>
            <a:endParaRPr lang="en-US" sz="680" dirty="0"/>
          </a:p>
        </p:txBody>
      </p:sp>
      <p:sp>
        <p:nvSpPr>
          <p:cNvPr id="212" name="Shape 190"/>
          <p:cNvSpPr/>
          <p:nvPr/>
        </p:nvSpPr>
        <p:spPr>
          <a:xfrm>
            <a:off x="4537253" y="1097280"/>
            <a:ext cx="1802282" cy="676656"/>
          </a:xfrm>
          <a:prstGeom prst="roundRect">
            <a:avLst>
              <a:gd name="adj" fmla="val 9459"/>
            </a:avLst>
          </a:prstGeom>
          <a:solidFill>
            <a:srgbClr val="EFF6FF"/>
          </a:solidFill>
          <a:ln w="10795">
            <a:solidFill>
              <a:srgbClr val="BFDBFE"/>
            </a:solidFill>
            <a:prstDash val="solid"/>
          </a:ln>
        </p:spPr>
      </p:sp>
      <p:sp>
        <p:nvSpPr>
          <p:cNvPr id="213" name="Text 191"/>
          <p:cNvSpPr/>
          <p:nvPr/>
        </p:nvSpPr>
        <p:spPr>
          <a:xfrm>
            <a:off x="4610405" y="1170432"/>
            <a:ext cx="1655978" cy="201168"/>
          </a:xfrm>
          <a:prstGeom prst="rect">
            <a:avLst/>
          </a:prstGeom>
          <a:noFill/>
          <a:ln/>
        </p:spPr>
        <p:txBody>
          <a:bodyPr wrap="square" lIns="0" tIns="0" rIns="0" bIns="0" rtlCol="0" anchor="ctr"/>
          <a:lstStyle/>
          <a:p>
            <a:pPr algn="ctr" indent="0" marL="0">
              <a:lnSpc>
                <a:spcPct val="105000"/>
              </a:lnSpc>
              <a:buNone/>
            </a:pPr>
            <a:r>
              <a:rPr lang="en-US" sz="780" b="1" dirty="0">
                <a:solidFill>
                  <a:srgbClr val="1D4ED8"/>
                </a:solidFill>
                <a:latin typeface="Arial" pitchFamily="34" charset="0"/>
                <a:ea typeface="Arial" pitchFamily="34" charset="-122"/>
                <a:cs typeface="Arial" pitchFamily="34" charset="-120"/>
              </a:rPr>
              <a:t>3. Cloud Run Tier Router</a:t>
            </a:r>
            <a:endParaRPr lang="en-US" sz="780" dirty="0"/>
          </a:p>
        </p:txBody>
      </p:sp>
      <p:sp>
        <p:nvSpPr>
          <p:cNvPr id="214" name="Text 192"/>
          <p:cNvSpPr/>
          <p:nvPr/>
        </p:nvSpPr>
        <p:spPr>
          <a:xfrm>
            <a:off x="4610405" y="1389888"/>
            <a:ext cx="1655978" cy="310896"/>
          </a:xfrm>
          <a:prstGeom prst="rect">
            <a:avLst/>
          </a:prstGeom>
          <a:noFill/>
          <a:ln/>
        </p:spPr>
        <p:txBody>
          <a:bodyPr wrap="square" lIns="0" tIns="0" rIns="0" bIns="0" rtlCol="0" anchor="ctr"/>
          <a:lstStyle/>
          <a:p>
            <a:pPr algn="ctr" indent="0" marL="0">
              <a:lnSpc>
                <a:spcPct val="105000"/>
              </a:lnSpc>
              <a:buNone/>
            </a:pPr>
            <a:r>
              <a:rPr lang="en-US" sz="680" dirty="0">
                <a:solidFill>
                  <a:srgbClr val="334155"/>
                </a:solidFill>
                <a:latin typeface="Arial" pitchFamily="34" charset="0"/>
                <a:ea typeface="Arial" pitchFamily="34" charset="-122"/>
                <a:cs typeface="Arial" pitchFamily="34" charset="-120"/>
              </a:rPr>
              <a:t>Enforces PAB &amp; routes to Tenant A vs B</a:t>
            </a:r>
            <a:endParaRPr lang="en-US" sz="680" dirty="0"/>
          </a:p>
        </p:txBody>
      </p:sp>
      <p:sp>
        <p:nvSpPr>
          <p:cNvPr id="215" name="Shape 193"/>
          <p:cNvSpPr/>
          <p:nvPr/>
        </p:nvSpPr>
        <p:spPr>
          <a:xfrm>
            <a:off x="461772" y="2055571"/>
            <a:ext cx="2940710" cy="2615184"/>
          </a:xfrm>
          <a:prstGeom prst="roundRect">
            <a:avLst>
              <a:gd name="adj" fmla="val 2448"/>
            </a:avLst>
          </a:prstGeom>
          <a:solidFill>
            <a:srgbClr val="E2E8F0"/>
          </a:solidFill>
          <a:ln/>
        </p:spPr>
      </p:sp>
      <p:sp>
        <p:nvSpPr>
          <p:cNvPr id="216" name="Shape 194"/>
          <p:cNvSpPr/>
          <p:nvPr/>
        </p:nvSpPr>
        <p:spPr>
          <a:xfrm>
            <a:off x="438912" y="2029968"/>
            <a:ext cx="2940710" cy="2615184"/>
          </a:xfrm>
          <a:prstGeom prst="roundRect">
            <a:avLst>
              <a:gd name="adj" fmla="val 2448"/>
            </a:avLst>
          </a:prstGeom>
          <a:solidFill>
            <a:srgbClr val="FFFFFF"/>
          </a:solidFill>
          <a:ln w="10795">
            <a:solidFill>
              <a:srgbClr val="FDE68A"/>
            </a:solidFill>
            <a:prstDash val="solid"/>
          </a:ln>
        </p:spPr>
      </p:sp>
      <p:sp>
        <p:nvSpPr>
          <p:cNvPr id="217" name="Shape 195"/>
          <p:cNvSpPr/>
          <p:nvPr/>
        </p:nvSpPr>
        <p:spPr>
          <a:xfrm>
            <a:off x="438912" y="2029968"/>
            <a:ext cx="2940710" cy="50292"/>
          </a:xfrm>
          <a:prstGeom prst="roundRect">
            <a:avLst>
              <a:gd name="adj" fmla="val 36364"/>
            </a:avLst>
          </a:prstGeom>
          <a:solidFill>
            <a:srgbClr val="B45309"/>
          </a:solidFill>
          <a:ln/>
        </p:spPr>
      </p:sp>
      <p:sp>
        <p:nvSpPr>
          <p:cNvPr id="218" name="Shape 196"/>
          <p:cNvSpPr/>
          <p:nvPr/>
        </p:nvSpPr>
        <p:spPr>
          <a:xfrm>
            <a:off x="548640" y="2157984"/>
            <a:ext cx="2721254" cy="201168"/>
          </a:xfrm>
          <a:prstGeom prst="roundRect">
            <a:avLst>
              <a:gd name="adj" fmla="val 36364"/>
            </a:avLst>
          </a:prstGeom>
          <a:solidFill>
            <a:srgbClr val="FFFBEB"/>
          </a:solidFill>
          <a:ln w="9525">
            <a:solidFill>
              <a:srgbClr val="FDE68A"/>
            </a:solidFill>
            <a:prstDash val="solid"/>
          </a:ln>
        </p:spPr>
      </p:sp>
      <p:sp>
        <p:nvSpPr>
          <p:cNvPr id="219" name="Text 197"/>
          <p:cNvSpPr/>
          <p:nvPr/>
        </p:nvSpPr>
        <p:spPr>
          <a:xfrm>
            <a:off x="548640" y="2157984"/>
            <a:ext cx="2721254" cy="201168"/>
          </a:xfrm>
          <a:prstGeom prst="rect">
            <a:avLst/>
          </a:prstGeom>
          <a:noFill/>
          <a:ln/>
        </p:spPr>
        <p:txBody>
          <a:bodyPr wrap="square" lIns="0" tIns="0" rIns="0" bIns="0" rtlCol="0" anchor="ctr"/>
          <a:lstStyle/>
          <a:p>
            <a:pPr algn="ctr" indent="0" marL="0">
              <a:lnSpc>
                <a:spcPct val="105000"/>
              </a:lnSpc>
              <a:buNone/>
            </a:pPr>
            <a:r>
              <a:rPr lang="en-US" sz="610" b="1" dirty="0">
                <a:solidFill>
                  <a:srgbClr val="B45309"/>
                </a:solidFill>
                <a:latin typeface="Arial" pitchFamily="34" charset="0"/>
                <a:ea typeface="Arial" pitchFamily="34" charset="-122"/>
                <a:cs typeface="Arial" pitchFamily="34" charset="-120"/>
              </a:rPr>
              <a:t>YELLOW SPOKE  •  TENANT A (FINVAULT BANK)</a:t>
            </a:r>
            <a:endParaRPr lang="en-US" sz="610" dirty="0"/>
          </a:p>
        </p:txBody>
      </p:sp>
      <p:sp>
        <p:nvSpPr>
          <p:cNvPr id="220" name="Shape 198"/>
          <p:cNvSpPr/>
          <p:nvPr/>
        </p:nvSpPr>
        <p:spPr>
          <a:xfrm>
            <a:off x="548640" y="2468880"/>
            <a:ext cx="2721254" cy="603504"/>
          </a:xfrm>
          <a:prstGeom prst="roundRect">
            <a:avLst>
              <a:gd name="adj" fmla="val 10606"/>
            </a:avLst>
          </a:prstGeom>
          <a:solidFill>
            <a:srgbClr val="FFFBEB"/>
          </a:solidFill>
          <a:ln w="10795">
            <a:solidFill>
              <a:srgbClr val="FDE68A"/>
            </a:solidFill>
            <a:prstDash val="solid"/>
          </a:ln>
        </p:spPr>
      </p:sp>
      <p:sp>
        <p:nvSpPr>
          <p:cNvPr id="221" name="Text 199"/>
          <p:cNvSpPr/>
          <p:nvPr/>
        </p:nvSpPr>
        <p:spPr>
          <a:xfrm>
            <a:off x="621792" y="2523744"/>
            <a:ext cx="2574950" cy="164592"/>
          </a:xfrm>
          <a:prstGeom prst="rect">
            <a:avLst/>
          </a:prstGeom>
          <a:noFill/>
          <a:ln/>
        </p:spPr>
        <p:txBody>
          <a:bodyPr wrap="square" lIns="0" tIns="0" rIns="0" bIns="0" rtlCol="0" anchor="ctr"/>
          <a:lstStyle/>
          <a:p>
            <a:pPr indent="0" marL="0">
              <a:lnSpc>
                <a:spcPct val="105000"/>
              </a:lnSpc>
              <a:buNone/>
            </a:pPr>
            <a:r>
              <a:rPr lang="en-US" sz="720" b="1" dirty="0">
                <a:solidFill>
                  <a:srgbClr val="B45309"/>
                </a:solidFill>
                <a:latin typeface="Arial" pitchFamily="34" charset="0"/>
                <a:ea typeface="Arial" pitchFamily="34" charset="-122"/>
                <a:cs typeface="Arial" pitchFamily="34" charset="-120"/>
              </a:rPr>
              <a:t>Hop 3 Catalog &amp; Budget</a:t>
            </a:r>
            <a:endParaRPr lang="en-US" sz="720" dirty="0"/>
          </a:p>
        </p:txBody>
      </p:sp>
      <p:sp>
        <p:nvSpPr>
          <p:cNvPr id="222" name="Text 200"/>
          <p:cNvSpPr/>
          <p:nvPr/>
        </p:nvSpPr>
        <p:spPr>
          <a:xfrm>
            <a:off x="621792" y="2688336"/>
            <a:ext cx="2574950" cy="329184"/>
          </a:xfrm>
          <a:prstGeom prst="rect">
            <a:avLst/>
          </a:prstGeom>
          <a:noFill/>
          <a:ln/>
        </p:spPr>
        <p:txBody>
          <a:bodyPr wrap="square" lIns="0" tIns="0" rIns="0" bIns="0" rtlCol="0" anchor="ctr"/>
          <a:lstStyle/>
          <a:p>
            <a:pPr indent="0" marL="0">
              <a:lnSpc>
                <a:spcPct val="106000"/>
              </a:lnSpc>
              <a:buNone/>
            </a:pPr>
            <a:r>
              <a:rPr lang="en-US" sz="690" dirty="0">
                <a:solidFill>
                  <a:srgbClr val="0F172A"/>
                </a:solidFill>
                <a:latin typeface="Arial" pitchFamily="34" charset="0"/>
                <a:ea typeface="Arial" pitchFamily="34" charset="-122"/>
                <a:cs typeface="Arial" pitchFamily="34" charset="-120"/>
              </a:rPr>
              <a:t>Mounts Shared + private Agent Alpha; 600 RPM &amp; 8k Gemini 2.5 Pro thinking budget.</a:t>
            </a:r>
            <a:endParaRPr lang="en-US" sz="690" dirty="0"/>
          </a:p>
        </p:txBody>
      </p:sp>
      <p:sp>
        <p:nvSpPr>
          <p:cNvPr id="223" name="Shape 201"/>
          <p:cNvSpPr/>
          <p:nvPr/>
        </p:nvSpPr>
        <p:spPr>
          <a:xfrm>
            <a:off x="548640" y="3163824"/>
            <a:ext cx="2721254" cy="603504"/>
          </a:xfrm>
          <a:prstGeom prst="roundRect">
            <a:avLst>
              <a:gd name="adj" fmla="val 10606"/>
            </a:avLst>
          </a:prstGeom>
          <a:solidFill>
            <a:srgbClr val="FFFBEB"/>
          </a:solidFill>
          <a:ln w="10795">
            <a:solidFill>
              <a:srgbClr val="FDE68A"/>
            </a:solidFill>
            <a:prstDash val="solid"/>
          </a:ln>
        </p:spPr>
      </p:sp>
      <p:sp>
        <p:nvSpPr>
          <p:cNvPr id="224" name="Text 202"/>
          <p:cNvSpPr/>
          <p:nvPr/>
        </p:nvSpPr>
        <p:spPr>
          <a:xfrm>
            <a:off x="621792" y="3218688"/>
            <a:ext cx="2574950" cy="164592"/>
          </a:xfrm>
          <a:prstGeom prst="rect">
            <a:avLst/>
          </a:prstGeom>
          <a:noFill/>
          <a:ln/>
        </p:spPr>
        <p:txBody>
          <a:bodyPr wrap="square" lIns="0" tIns="0" rIns="0" bIns="0" rtlCol="0" anchor="ctr"/>
          <a:lstStyle/>
          <a:p>
            <a:pPr indent="0" marL="0">
              <a:lnSpc>
                <a:spcPct val="105000"/>
              </a:lnSpc>
              <a:buNone/>
            </a:pPr>
            <a:r>
              <a:rPr lang="en-US" sz="720" b="1" dirty="0">
                <a:solidFill>
                  <a:srgbClr val="B45309"/>
                </a:solidFill>
                <a:latin typeface="Arial" pitchFamily="34" charset="0"/>
                <a:ea typeface="Arial" pitchFamily="34" charset="-122"/>
                <a:cs typeface="Arial" pitchFamily="34" charset="-120"/>
              </a:rPr>
              <a:t>Hop 4 Bank SDP Filter</a:t>
            </a:r>
            <a:endParaRPr lang="en-US" sz="720" dirty="0"/>
          </a:p>
        </p:txBody>
      </p:sp>
      <p:sp>
        <p:nvSpPr>
          <p:cNvPr id="225" name="Text 203"/>
          <p:cNvSpPr/>
          <p:nvPr/>
        </p:nvSpPr>
        <p:spPr>
          <a:xfrm>
            <a:off x="621792" y="3383280"/>
            <a:ext cx="2574950" cy="329184"/>
          </a:xfrm>
          <a:prstGeom prst="rect">
            <a:avLst/>
          </a:prstGeom>
          <a:noFill/>
          <a:ln/>
        </p:spPr>
        <p:txBody>
          <a:bodyPr wrap="square" lIns="0" tIns="0" rIns="0" bIns="0" rtlCol="0" anchor="ctr"/>
          <a:lstStyle/>
          <a:p>
            <a:pPr indent="0" marL="0">
              <a:lnSpc>
                <a:spcPct val="106000"/>
              </a:lnSpc>
              <a:buNone/>
            </a:pPr>
            <a:r>
              <a:rPr lang="en-US" sz="690" dirty="0">
                <a:solidFill>
                  <a:srgbClr val="0F172A"/>
                </a:solidFill>
                <a:latin typeface="Arial" pitchFamily="34" charset="0"/>
                <a:ea typeface="Arial" pitchFamily="34" charset="-122"/>
                <a:cs typeface="Arial" pitchFamily="34" charset="-120"/>
              </a:rPr>
              <a:t>Screens prompts &amp; outputs with FINRA/OCC SSN and account-number redaction.</a:t>
            </a:r>
            <a:endParaRPr lang="en-US" sz="690" dirty="0"/>
          </a:p>
        </p:txBody>
      </p:sp>
      <p:sp>
        <p:nvSpPr>
          <p:cNvPr id="226" name="Shape 204"/>
          <p:cNvSpPr/>
          <p:nvPr/>
        </p:nvSpPr>
        <p:spPr>
          <a:xfrm>
            <a:off x="548640" y="3858768"/>
            <a:ext cx="2721254" cy="603504"/>
          </a:xfrm>
          <a:prstGeom prst="roundRect">
            <a:avLst>
              <a:gd name="adj" fmla="val 10606"/>
            </a:avLst>
          </a:prstGeom>
          <a:solidFill>
            <a:srgbClr val="FFFBEB"/>
          </a:solidFill>
          <a:ln w="10795">
            <a:solidFill>
              <a:srgbClr val="FDE68A"/>
            </a:solidFill>
            <a:prstDash val="solid"/>
          </a:ln>
        </p:spPr>
      </p:sp>
      <p:sp>
        <p:nvSpPr>
          <p:cNvPr id="227" name="Text 205"/>
          <p:cNvSpPr/>
          <p:nvPr/>
        </p:nvSpPr>
        <p:spPr>
          <a:xfrm>
            <a:off x="621792" y="3913632"/>
            <a:ext cx="2574950" cy="164592"/>
          </a:xfrm>
          <a:prstGeom prst="rect">
            <a:avLst/>
          </a:prstGeom>
          <a:noFill/>
          <a:ln/>
        </p:spPr>
        <p:txBody>
          <a:bodyPr wrap="square" lIns="0" tIns="0" rIns="0" bIns="0" rtlCol="0" anchor="ctr"/>
          <a:lstStyle/>
          <a:p>
            <a:pPr indent="0" marL="0">
              <a:lnSpc>
                <a:spcPct val="105000"/>
              </a:lnSpc>
              <a:buNone/>
            </a:pPr>
            <a:r>
              <a:rPr lang="en-US" sz="720" b="1" dirty="0">
                <a:solidFill>
                  <a:srgbClr val="B45309"/>
                </a:solidFill>
                <a:latin typeface="Arial" pitchFamily="34" charset="0"/>
                <a:ea typeface="Arial" pitchFamily="34" charset="-122"/>
                <a:cs typeface="Arial" pitchFamily="34" charset="-120"/>
              </a:rPr>
              <a:t>Hop 5 Tools &amp; Storage</a:t>
            </a:r>
            <a:endParaRPr lang="en-US" sz="720" dirty="0"/>
          </a:p>
        </p:txBody>
      </p:sp>
      <p:sp>
        <p:nvSpPr>
          <p:cNvPr id="228" name="Text 206"/>
          <p:cNvSpPr/>
          <p:nvPr/>
        </p:nvSpPr>
        <p:spPr>
          <a:xfrm>
            <a:off x="621792" y="4078224"/>
            <a:ext cx="2574950" cy="329184"/>
          </a:xfrm>
          <a:prstGeom prst="rect">
            <a:avLst/>
          </a:prstGeom>
          <a:noFill/>
          <a:ln/>
        </p:spPr>
        <p:txBody>
          <a:bodyPr wrap="square" lIns="0" tIns="0" rIns="0" bIns="0" rtlCol="0" anchor="ctr"/>
          <a:lstStyle/>
          <a:p>
            <a:pPr indent="0" marL="0">
              <a:lnSpc>
                <a:spcPct val="106000"/>
              </a:lnSpc>
              <a:buNone/>
            </a:pPr>
            <a:r>
              <a:rPr lang="en-US" sz="690" dirty="0">
                <a:solidFill>
                  <a:srgbClr val="0F172A"/>
                </a:solidFill>
                <a:latin typeface="Arial" pitchFamily="34" charset="0"/>
                <a:ea typeface="Arial" pitchFamily="34" charset="-122"/>
                <a:cs typeface="Arial" pitchFamily="34" charset="-120"/>
              </a:rPr>
              <a:t>Workspace &amp; Jira 3LO OAuth + BQ/AlloyDB RLS locked by customer KMS CMEK.</a:t>
            </a:r>
            <a:endParaRPr lang="en-US" sz="690" dirty="0"/>
          </a:p>
        </p:txBody>
      </p:sp>
      <p:sp>
        <p:nvSpPr>
          <p:cNvPr id="229" name="Shape 207"/>
          <p:cNvSpPr/>
          <p:nvPr/>
        </p:nvSpPr>
        <p:spPr>
          <a:xfrm>
            <a:off x="3548786" y="2055571"/>
            <a:ext cx="2940710" cy="2615184"/>
          </a:xfrm>
          <a:prstGeom prst="roundRect">
            <a:avLst>
              <a:gd name="adj" fmla="val 2448"/>
            </a:avLst>
          </a:prstGeom>
          <a:solidFill>
            <a:srgbClr val="E2E8F0"/>
          </a:solidFill>
          <a:ln/>
        </p:spPr>
      </p:sp>
      <p:sp>
        <p:nvSpPr>
          <p:cNvPr id="230" name="Shape 208"/>
          <p:cNvSpPr/>
          <p:nvPr/>
        </p:nvSpPr>
        <p:spPr>
          <a:xfrm>
            <a:off x="3525926" y="2029968"/>
            <a:ext cx="2940710" cy="2615184"/>
          </a:xfrm>
          <a:prstGeom prst="roundRect">
            <a:avLst>
              <a:gd name="adj" fmla="val 2448"/>
            </a:avLst>
          </a:prstGeom>
          <a:solidFill>
            <a:srgbClr val="FFFFFF"/>
          </a:solidFill>
          <a:ln w="10795">
            <a:solidFill>
              <a:srgbClr val="FECACA"/>
            </a:solidFill>
            <a:prstDash val="solid"/>
          </a:ln>
        </p:spPr>
      </p:sp>
      <p:sp>
        <p:nvSpPr>
          <p:cNvPr id="231" name="Shape 209"/>
          <p:cNvSpPr/>
          <p:nvPr/>
        </p:nvSpPr>
        <p:spPr>
          <a:xfrm>
            <a:off x="3525926" y="2029968"/>
            <a:ext cx="2940710" cy="50292"/>
          </a:xfrm>
          <a:prstGeom prst="roundRect">
            <a:avLst>
              <a:gd name="adj" fmla="val 36364"/>
            </a:avLst>
          </a:prstGeom>
          <a:solidFill>
            <a:srgbClr val="B91C1C"/>
          </a:solidFill>
          <a:ln/>
        </p:spPr>
      </p:sp>
      <p:sp>
        <p:nvSpPr>
          <p:cNvPr id="232" name="Shape 210"/>
          <p:cNvSpPr/>
          <p:nvPr/>
        </p:nvSpPr>
        <p:spPr>
          <a:xfrm>
            <a:off x="3635654" y="2157984"/>
            <a:ext cx="2721254" cy="201168"/>
          </a:xfrm>
          <a:prstGeom prst="roundRect">
            <a:avLst>
              <a:gd name="adj" fmla="val 36364"/>
            </a:avLst>
          </a:prstGeom>
          <a:solidFill>
            <a:srgbClr val="FEF2F2"/>
          </a:solidFill>
          <a:ln w="9525">
            <a:solidFill>
              <a:srgbClr val="FECACA"/>
            </a:solidFill>
            <a:prstDash val="solid"/>
          </a:ln>
        </p:spPr>
      </p:sp>
      <p:sp>
        <p:nvSpPr>
          <p:cNvPr id="233" name="Text 211"/>
          <p:cNvSpPr/>
          <p:nvPr/>
        </p:nvSpPr>
        <p:spPr>
          <a:xfrm>
            <a:off x="3635654" y="2157984"/>
            <a:ext cx="2721254" cy="201168"/>
          </a:xfrm>
          <a:prstGeom prst="rect">
            <a:avLst/>
          </a:prstGeom>
          <a:noFill/>
          <a:ln/>
        </p:spPr>
        <p:txBody>
          <a:bodyPr wrap="square" lIns="0" tIns="0" rIns="0" bIns="0" rtlCol="0" anchor="ctr"/>
          <a:lstStyle/>
          <a:p>
            <a:pPr algn="ctr" indent="0" marL="0">
              <a:lnSpc>
                <a:spcPct val="105000"/>
              </a:lnSpc>
              <a:buNone/>
            </a:pPr>
            <a:r>
              <a:rPr lang="en-US" sz="610" b="1" dirty="0">
                <a:solidFill>
                  <a:srgbClr val="B91C1C"/>
                </a:solidFill>
                <a:latin typeface="Arial" pitchFamily="34" charset="0"/>
                <a:ea typeface="Arial" pitchFamily="34" charset="-122"/>
                <a:cs typeface="Arial" pitchFamily="34" charset="-120"/>
              </a:rPr>
              <a:t>CORAL SPOKE  •  TENANT B (RETAILSTREAM CORP)</a:t>
            </a:r>
            <a:endParaRPr lang="en-US" sz="610" dirty="0"/>
          </a:p>
        </p:txBody>
      </p:sp>
      <p:sp>
        <p:nvSpPr>
          <p:cNvPr id="234" name="Shape 212"/>
          <p:cNvSpPr/>
          <p:nvPr/>
        </p:nvSpPr>
        <p:spPr>
          <a:xfrm>
            <a:off x="3635654" y="2468880"/>
            <a:ext cx="2721254" cy="603504"/>
          </a:xfrm>
          <a:prstGeom prst="roundRect">
            <a:avLst>
              <a:gd name="adj" fmla="val 10606"/>
            </a:avLst>
          </a:prstGeom>
          <a:solidFill>
            <a:srgbClr val="FEF2F2"/>
          </a:solidFill>
          <a:ln w="10795">
            <a:solidFill>
              <a:srgbClr val="FECACA"/>
            </a:solidFill>
            <a:prstDash val="solid"/>
          </a:ln>
        </p:spPr>
      </p:sp>
      <p:sp>
        <p:nvSpPr>
          <p:cNvPr id="235" name="Text 213"/>
          <p:cNvSpPr/>
          <p:nvPr/>
        </p:nvSpPr>
        <p:spPr>
          <a:xfrm>
            <a:off x="3708806" y="2523744"/>
            <a:ext cx="2574950" cy="164592"/>
          </a:xfrm>
          <a:prstGeom prst="rect">
            <a:avLst/>
          </a:prstGeom>
          <a:noFill/>
          <a:ln/>
        </p:spPr>
        <p:txBody>
          <a:bodyPr wrap="square" lIns="0" tIns="0" rIns="0" bIns="0" rtlCol="0" anchor="ctr"/>
          <a:lstStyle/>
          <a:p>
            <a:pPr indent="0" marL="0">
              <a:lnSpc>
                <a:spcPct val="105000"/>
              </a:lnSpc>
              <a:buNone/>
            </a:pPr>
            <a:r>
              <a:rPr lang="en-US" sz="720" b="1" dirty="0">
                <a:solidFill>
                  <a:srgbClr val="B91C1C"/>
                </a:solidFill>
                <a:latin typeface="Arial" pitchFamily="34" charset="0"/>
                <a:ea typeface="Arial" pitchFamily="34" charset="-122"/>
                <a:cs typeface="Arial" pitchFamily="34" charset="-120"/>
              </a:rPr>
              <a:t>Hop 3 Catalog &amp; Budget</a:t>
            </a:r>
            <a:endParaRPr lang="en-US" sz="720" dirty="0"/>
          </a:p>
        </p:txBody>
      </p:sp>
      <p:sp>
        <p:nvSpPr>
          <p:cNvPr id="236" name="Text 214"/>
          <p:cNvSpPr/>
          <p:nvPr/>
        </p:nvSpPr>
        <p:spPr>
          <a:xfrm>
            <a:off x="3708806" y="2688336"/>
            <a:ext cx="2574950" cy="329184"/>
          </a:xfrm>
          <a:prstGeom prst="rect">
            <a:avLst/>
          </a:prstGeom>
          <a:noFill/>
          <a:ln/>
        </p:spPr>
        <p:txBody>
          <a:bodyPr wrap="square" lIns="0" tIns="0" rIns="0" bIns="0" rtlCol="0" anchor="ctr"/>
          <a:lstStyle/>
          <a:p>
            <a:pPr indent="0" marL="0">
              <a:lnSpc>
                <a:spcPct val="106000"/>
              </a:lnSpc>
              <a:buNone/>
            </a:pPr>
            <a:r>
              <a:rPr lang="en-US" sz="690" dirty="0">
                <a:solidFill>
                  <a:srgbClr val="0F172A"/>
                </a:solidFill>
                <a:latin typeface="Arial" pitchFamily="34" charset="0"/>
                <a:ea typeface="Arial" pitchFamily="34" charset="-122"/>
                <a:cs typeface="Arial" pitchFamily="34" charset="-120"/>
              </a:rPr>
              <a:t>Mounts Shared Diagnostic only (Alpha hidden); 120 RPM &amp; 4k thinking cap.</a:t>
            </a:r>
            <a:endParaRPr lang="en-US" sz="690" dirty="0"/>
          </a:p>
        </p:txBody>
      </p:sp>
      <p:sp>
        <p:nvSpPr>
          <p:cNvPr id="237" name="Shape 215"/>
          <p:cNvSpPr/>
          <p:nvPr/>
        </p:nvSpPr>
        <p:spPr>
          <a:xfrm>
            <a:off x="3635654" y="3163824"/>
            <a:ext cx="2721254" cy="603504"/>
          </a:xfrm>
          <a:prstGeom prst="roundRect">
            <a:avLst>
              <a:gd name="adj" fmla="val 10606"/>
            </a:avLst>
          </a:prstGeom>
          <a:solidFill>
            <a:srgbClr val="FEF2F2"/>
          </a:solidFill>
          <a:ln w="10795">
            <a:solidFill>
              <a:srgbClr val="FECACA"/>
            </a:solidFill>
            <a:prstDash val="solid"/>
          </a:ln>
        </p:spPr>
      </p:sp>
      <p:sp>
        <p:nvSpPr>
          <p:cNvPr id="238" name="Text 216"/>
          <p:cNvSpPr/>
          <p:nvPr/>
        </p:nvSpPr>
        <p:spPr>
          <a:xfrm>
            <a:off x="3708806" y="3218688"/>
            <a:ext cx="2574950" cy="164592"/>
          </a:xfrm>
          <a:prstGeom prst="rect">
            <a:avLst/>
          </a:prstGeom>
          <a:noFill/>
          <a:ln/>
        </p:spPr>
        <p:txBody>
          <a:bodyPr wrap="square" lIns="0" tIns="0" rIns="0" bIns="0" rtlCol="0" anchor="ctr"/>
          <a:lstStyle/>
          <a:p>
            <a:pPr indent="0" marL="0">
              <a:lnSpc>
                <a:spcPct val="105000"/>
              </a:lnSpc>
              <a:buNone/>
            </a:pPr>
            <a:r>
              <a:rPr lang="en-US" sz="720" b="1" dirty="0">
                <a:solidFill>
                  <a:srgbClr val="B91C1C"/>
                </a:solidFill>
                <a:latin typeface="Arial" pitchFamily="34" charset="0"/>
                <a:ea typeface="Arial" pitchFamily="34" charset="-122"/>
                <a:cs typeface="Arial" pitchFamily="34" charset="-120"/>
              </a:rPr>
              <a:t>Hop 4 PCI PAN Filter</a:t>
            </a:r>
            <a:endParaRPr lang="en-US" sz="720" dirty="0"/>
          </a:p>
        </p:txBody>
      </p:sp>
      <p:sp>
        <p:nvSpPr>
          <p:cNvPr id="239" name="Text 217"/>
          <p:cNvSpPr/>
          <p:nvPr/>
        </p:nvSpPr>
        <p:spPr>
          <a:xfrm>
            <a:off x="3708806" y="3383280"/>
            <a:ext cx="2574950" cy="329184"/>
          </a:xfrm>
          <a:prstGeom prst="rect">
            <a:avLst/>
          </a:prstGeom>
          <a:noFill/>
          <a:ln/>
        </p:spPr>
        <p:txBody>
          <a:bodyPr wrap="square" lIns="0" tIns="0" rIns="0" bIns="0" rtlCol="0" anchor="ctr"/>
          <a:lstStyle/>
          <a:p>
            <a:pPr indent="0" marL="0">
              <a:lnSpc>
                <a:spcPct val="106000"/>
              </a:lnSpc>
              <a:buNone/>
            </a:pPr>
            <a:r>
              <a:rPr lang="en-US" sz="690" dirty="0">
                <a:solidFill>
                  <a:srgbClr val="0F172A"/>
                </a:solidFill>
                <a:latin typeface="Arial" pitchFamily="34" charset="0"/>
                <a:ea typeface="Arial" pitchFamily="34" charset="-122"/>
                <a:cs typeface="Arial" pitchFamily="34" charset="-120"/>
              </a:rPr>
              <a:t>Enforces credit-card PAN masking and retail prompt-injection shields.</a:t>
            </a:r>
            <a:endParaRPr lang="en-US" sz="690" dirty="0"/>
          </a:p>
        </p:txBody>
      </p:sp>
      <p:sp>
        <p:nvSpPr>
          <p:cNvPr id="240" name="Shape 218"/>
          <p:cNvSpPr/>
          <p:nvPr/>
        </p:nvSpPr>
        <p:spPr>
          <a:xfrm>
            <a:off x="3635654" y="3858768"/>
            <a:ext cx="2721254" cy="603504"/>
          </a:xfrm>
          <a:prstGeom prst="roundRect">
            <a:avLst>
              <a:gd name="adj" fmla="val 10606"/>
            </a:avLst>
          </a:prstGeom>
          <a:solidFill>
            <a:srgbClr val="FEF2F2"/>
          </a:solidFill>
          <a:ln w="10795">
            <a:solidFill>
              <a:srgbClr val="FECACA"/>
            </a:solidFill>
            <a:prstDash val="solid"/>
          </a:ln>
        </p:spPr>
      </p:sp>
      <p:sp>
        <p:nvSpPr>
          <p:cNvPr id="241" name="Text 219"/>
          <p:cNvSpPr/>
          <p:nvPr/>
        </p:nvSpPr>
        <p:spPr>
          <a:xfrm>
            <a:off x="3708806" y="3913632"/>
            <a:ext cx="2574950" cy="164592"/>
          </a:xfrm>
          <a:prstGeom prst="rect">
            <a:avLst/>
          </a:prstGeom>
          <a:noFill/>
          <a:ln/>
        </p:spPr>
        <p:txBody>
          <a:bodyPr wrap="square" lIns="0" tIns="0" rIns="0" bIns="0" rtlCol="0" anchor="ctr"/>
          <a:lstStyle/>
          <a:p>
            <a:pPr indent="0" marL="0">
              <a:lnSpc>
                <a:spcPct val="105000"/>
              </a:lnSpc>
              <a:buNone/>
            </a:pPr>
            <a:r>
              <a:rPr lang="en-US" sz="720" b="1" dirty="0">
                <a:solidFill>
                  <a:srgbClr val="B91C1C"/>
                </a:solidFill>
                <a:latin typeface="Arial" pitchFamily="34" charset="0"/>
                <a:ea typeface="Arial" pitchFamily="34" charset="-122"/>
                <a:cs typeface="Arial" pitchFamily="34" charset="-120"/>
              </a:rPr>
              <a:t>Hop 5 Tools &amp; Storage</a:t>
            </a:r>
            <a:endParaRPr lang="en-US" sz="720" dirty="0"/>
          </a:p>
        </p:txBody>
      </p:sp>
      <p:sp>
        <p:nvSpPr>
          <p:cNvPr id="242" name="Text 220"/>
          <p:cNvSpPr/>
          <p:nvPr/>
        </p:nvSpPr>
        <p:spPr>
          <a:xfrm>
            <a:off x="3708806" y="4078224"/>
            <a:ext cx="2574950" cy="329184"/>
          </a:xfrm>
          <a:prstGeom prst="rect">
            <a:avLst/>
          </a:prstGeom>
          <a:noFill/>
          <a:ln/>
        </p:spPr>
        <p:txBody>
          <a:bodyPr wrap="square" lIns="0" tIns="0" rIns="0" bIns="0" rtlCol="0" anchor="ctr"/>
          <a:lstStyle/>
          <a:p>
            <a:pPr indent="0" marL="0">
              <a:lnSpc>
                <a:spcPct val="106000"/>
              </a:lnSpc>
              <a:buNone/>
            </a:pPr>
            <a:r>
              <a:rPr lang="en-US" sz="690" dirty="0">
                <a:solidFill>
                  <a:srgbClr val="0F172A"/>
                </a:solidFill>
                <a:latin typeface="Arial" pitchFamily="34" charset="0"/>
                <a:ea typeface="Arial" pitchFamily="34" charset="-122"/>
                <a:cs typeface="Arial" pitchFamily="34" charset="-120"/>
              </a:rPr>
              <a:t>Entra-bridged SharePoint &amp; ServiceNow 3LO + AlloyDB RLS &amp; Valkey cache.</a:t>
            </a:r>
            <a:endParaRPr lang="en-US" sz="690" dirty="0"/>
          </a:p>
        </p:txBody>
      </p:sp>
      <p:sp>
        <p:nvSpPr>
          <p:cNvPr id="243" name="Shape 221"/>
          <p:cNvSpPr/>
          <p:nvPr/>
        </p:nvSpPr>
        <p:spPr>
          <a:xfrm>
            <a:off x="438912" y="4773168"/>
            <a:ext cx="6028639" cy="932688"/>
          </a:xfrm>
          <a:prstGeom prst="roundRect">
            <a:avLst>
              <a:gd name="adj" fmla="val 6863"/>
            </a:avLst>
          </a:prstGeom>
          <a:solidFill>
            <a:srgbClr val="ECFDF5"/>
          </a:solidFill>
          <a:ln w="10795">
            <a:solidFill>
              <a:srgbClr val="A7F3D0"/>
            </a:solidFill>
            <a:prstDash val="solid"/>
          </a:ln>
        </p:spPr>
      </p:sp>
      <p:sp>
        <p:nvSpPr>
          <p:cNvPr id="244" name="Shape 222"/>
          <p:cNvSpPr/>
          <p:nvPr/>
        </p:nvSpPr>
        <p:spPr>
          <a:xfrm>
            <a:off x="438912" y="4773168"/>
            <a:ext cx="54864" cy="932688"/>
          </a:xfrm>
          <a:prstGeom prst="roundRect">
            <a:avLst>
              <a:gd name="adj" fmla="val 33333"/>
            </a:avLst>
          </a:prstGeom>
          <a:solidFill>
            <a:srgbClr val="047857"/>
          </a:solidFill>
          <a:ln/>
        </p:spPr>
      </p:sp>
      <p:sp>
        <p:nvSpPr>
          <p:cNvPr id="245" name="Shape 223"/>
          <p:cNvSpPr/>
          <p:nvPr/>
        </p:nvSpPr>
        <p:spPr>
          <a:xfrm>
            <a:off x="585216" y="4882896"/>
            <a:ext cx="2423160" cy="201168"/>
          </a:xfrm>
          <a:prstGeom prst="roundRect">
            <a:avLst>
              <a:gd name="adj" fmla="val 36364"/>
            </a:avLst>
          </a:prstGeom>
          <a:solidFill>
            <a:srgbClr val="047857"/>
          </a:solidFill>
          <a:ln/>
        </p:spPr>
      </p:sp>
      <p:sp>
        <p:nvSpPr>
          <p:cNvPr id="246" name="Text 224"/>
          <p:cNvSpPr/>
          <p:nvPr/>
        </p:nvSpPr>
        <p:spPr>
          <a:xfrm>
            <a:off x="585216" y="4882896"/>
            <a:ext cx="2423160" cy="201168"/>
          </a:xfrm>
          <a:prstGeom prst="rect">
            <a:avLst/>
          </a:prstGeom>
          <a:noFill/>
          <a:ln/>
        </p:spPr>
        <p:txBody>
          <a:bodyPr wrap="square" lIns="0" tIns="0" rIns="0" bIns="0" rtlCol="0" anchor="ctr"/>
          <a:lstStyle/>
          <a:p>
            <a:pPr algn="ctr" indent="0" marL="0">
              <a:lnSpc>
                <a:spcPct val="105000"/>
              </a:lnSpc>
              <a:buNone/>
            </a:pPr>
            <a:r>
              <a:rPr lang="en-US" sz="630" b="1" dirty="0">
                <a:solidFill>
                  <a:srgbClr val="FFFFFF"/>
                </a:solidFill>
                <a:latin typeface="Arial" pitchFamily="34" charset="0"/>
                <a:ea typeface="Arial" pitchFamily="34" charset="-122"/>
                <a:cs typeface="Arial" pitchFamily="34" charset="-120"/>
              </a:rPr>
              <a:t>STEP 7 RETURN + GREEN GOVERNANCE HUB</a:t>
            </a:r>
            <a:endParaRPr lang="en-US" sz="630" dirty="0"/>
          </a:p>
        </p:txBody>
      </p:sp>
      <p:sp>
        <p:nvSpPr>
          <p:cNvPr id="247" name="Text 225"/>
          <p:cNvSpPr/>
          <p:nvPr/>
        </p:nvSpPr>
        <p:spPr>
          <a:xfrm>
            <a:off x="585216" y="5138928"/>
            <a:ext cx="5736031" cy="493776"/>
          </a:xfrm>
          <a:prstGeom prst="rect">
            <a:avLst/>
          </a:prstGeom>
          <a:noFill/>
          <a:ln/>
        </p:spPr>
        <p:txBody>
          <a:bodyPr wrap="square" lIns="0" tIns="0" rIns="0" bIns="0" rtlCol="0" anchor="ctr"/>
          <a:lstStyle/>
          <a:p>
            <a:pPr indent="0" marL="0">
              <a:lnSpc>
                <a:spcPct val="108000"/>
              </a:lnSpc>
              <a:buNone/>
            </a:pPr>
            <a:r>
              <a:rPr lang="en-US" sz="730" dirty="0">
                <a:solidFill>
                  <a:srgbClr val="0F172A"/>
                </a:solidFill>
                <a:latin typeface="Arial" pitchFamily="34" charset="0"/>
                <a:ea typeface="Arial" pitchFamily="34" charset="-122"/>
                <a:cs typeface="Arial" pitchFamily="34" charset="-120"/>
              </a:rPr>
              <a:t>Step 6 re-sanitizes model outputs inside each spoke before Step 7 returns the response through Cloud Run &amp; External ALB—simultaneously streaming security events to SCC and per-tenant token spans to BigQuery cymbal_agentic_finops_otel.</a:t>
            </a:r>
            <a:endParaRPr lang="en-US" sz="730" dirty="0"/>
          </a:p>
        </p:txBody>
      </p:sp>
      <p:sp>
        <p:nvSpPr>
          <p:cNvPr id="248" name="Shape 226"/>
          <p:cNvSpPr/>
          <p:nvPr/>
        </p:nvSpPr>
        <p:spPr>
          <a:xfrm>
            <a:off x="438912" y="5833872"/>
            <a:ext cx="6028639" cy="658368"/>
          </a:xfrm>
          <a:prstGeom prst="roundRect">
            <a:avLst>
              <a:gd name="adj" fmla="val 9722"/>
            </a:avLst>
          </a:prstGeom>
          <a:solidFill>
            <a:srgbClr val="EEF2FF"/>
          </a:solidFill>
          <a:ln w="10795">
            <a:solidFill>
              <a:srgbClr val="C7D2FE"/>
            </a:solidFill>
            <a:prstDash val="solid"/>
          </a:ln>
        </p:spPr>
      </p:sp>
      <p:sp>
        <p:nvSpPr>
          <p:cNvPr id="249" name="Shape 227"/>
          <p:cNvSpPr/>
          <p:nvPr/>
        </p:nvSpPr>
        <p:spPr>
          <a:xfrm>
            <a:off x="438912" y="5833872"/>
            <a:ext cx="54864" cy="658368"/>
          </a:xfrm>
          <a:prstGeom prst="roundRect">
            <a:avLst>
              <a:gd name="adj" fmla="val 33333"/>
            </a:avLst>
          </a:prstGeom>
          <a:solidFill>
            <a:srgbClr val="4338CA"/>
          </a:solidFill>
          <a:ln/>
        </p:spPr>
      </p:sp>
      <p:sp>
        <p:nvSpPr>
          <p:cNvPr id="250" name="Shape 228"/>
          <p:cNvSpPr/>
          <p:nvPr/>
        </p:nvSpPr>
        <p:spPr>
          <a:xfrm>
            <a:off x="585216" y="5925312"/>
            <a:ext cx="1426464" cy="182880"/>
          </a:xfrm>
          <a:prstGeom prst="roundRect">
            <a:avLst>
              <a:gd name="adj" fmla="val 40000"/>
            </a:avLst>
          </a:prstGeom>
          <a:solidFill>
            <a:srgbClr val="4338CA"/>
          </a:solidFill>
          <a:ln/>
        </p:spPr>
      </p:sp>
      <p:sp>
        <p:nvSpPr>
          <p:cNvPr id="251" name="Text 229"/>
          <p:cNvSpPr/>
          <p:nvPr/>
        </p:nvSpPr>
        <p:spPr>
          <a:xfrm>
            <a:off x="585216" y="5925312"/>
            <a:ext cx="1426464" cy="182880"/>
          </a:xfrm>
          <a:prstGeom prst="rect">
            <a:avLst/>
          </a:prstGeom>
          <a:noFill/>
          <a:ln/>
        </p:spPr>
        <p:txBody>
          <a:bodyPr wrap="square" lIns="0" tIns="0" rIns="0" bIns="0" rtlCol="0" anchor="ctr"/>
          <a:lstStyle/>
          <a:p>
            <a:pPr algn="ctr" indent="0" marL="0">
              <a:lnSpc>
                <a:spcPct val="105000"/>
              </a:lnSpc>
              <a:buNone/>
            </a:pPr>
            <a:r>
              <a:rPr lang="en-US" sz="610" b="1" dirty="0">
                <a:solidFill>
                  <a:srgbClr val="FFFFFF"/>
                </a:solidFill>
                <a:latin typeface="Arial" pitchFamily="34" charset="0"/>
                <a:ea typeface="Arial" pitchFamily="34" charset="-122"/>
                <a:cs typeface="Arial" pitchFamily="34" charset="-120"/>
              </a:rPr>
              <a:t>FIGURE 2 SUMMARY</a:t>
            </a:r>
            <a:endParaRPr lang="en-US" sz="610" dirty="0"/>
          </a:p>
        </p:txBody>
      </p:sp>
      <p:sp>
        <p:nvSpPr>
          <p:cNvPr id="252" name="Shape 230"/>
          <p:cNvSpPr/>
          <p:nvPr/>
        </p:nvSpPr>
        <p:spPr>
          <a:xfrm>
            <a:off x="4327855" y="5925312"/>
            <a:ext cx="2011680" cy="182880"/>
          </a:xfrm>
          <a:prstGeom prst="roundRect">
            <a:avLst>
              <a:gd name="adj" fmla="val 40000"/>
            </a:avLst>
          </a:prstGeom>
          <a:solidFill>
            <a:srgbClr val="FFFFFF"/>
          </a:solidFill>
          <a:ln w="9525">
            <a:solidFill>
              <a:srgbClr val="4338CA"/>
            </a:solidFill>
            <a:prstDash val="solid"/>
          </a:ln>
        </p:spPr>
      </p:sp>
      <p:sp>
        <p:nvSpPr>
          <p:cNvPr id="253" name="Text 231"/>
          <p:cNvSpPr/>
          <p:nvPr/>
        </p:nvSpPr>
        <p:spPr>
          <a:xfrm>
            <a:off x="4327855" y="5925312"/>
            <a:ext cx="2011680" cy="182880"/>
          </a:xfrm>
          <a:prstGeom prst="rect">
            <a:avLst/>
          </a:prstGeom>
          <a:noFill/>
          <a:ln/>
        </p:spPr>
        <p:txBody>
          <a:bodyPr wrap="square" lIns="0" tIns="0" rIns="0" bIns="0" rtlCol="0" anchor="ctr"/>
          <a:lstStyle/>
          <a:p>
            <a:pPr algn="ctr" indent="0" marL="0">
              <a:lnSpc>
                <a:spcPct val="105000"/>
              </a:lnSpc>
              <a:buNone/>
            </a:pPr>
            <a:r>
              <a:rPr lang="en-US" sz="620" b="1" dirty="0">
                <a:solidFill>
                  <a:srgbClr val="4338CA"/>
                </a:solidFill>
                <a:latin typeface="Arial" pitchFamily="34" charset="0"/>
                <a:ea typeface="Arial" pitchFamily="34" charset="-122"/>
                <a:cs typeface="Arial" pitchFamily="34" charset="-120"/>
              </a:rPr>
              <a:t>56 Editable Shapes • 23 Vectors</a:t>
            </a:r>
            <a:endParaRPr lang="en-US" sz="620" dirty="0"/>
          </a:p>
        </p:txBody>
      </p:sp>
      <p:sp>
        <p:nvSpPr>
          <p:cNvPr id="254" name="Text 232"/>
          <p:cNvSpPr/>
          <p:nvPr/>
        </p:nvSpPr>
        <p:spPr>
          <a:xfrm>
            <a:off x="585216" y="6144768"/>
            <a:ext cx="5754319" cy="310896"/>
          </a:xfrm>
          <a:prstGeom prst="rect">
            <a:avLst/>
          </a:prstGeom>
          <a:noFill/>
          <a:ln/>
        </p:spPr>
        <p:txBody>
          <a:bodyPr wrap="square" lIns="0" tIns="0" rIns="0" bIns="0" rtlCol="0" anchor="ctr"/>
          <a:lstStyle/>
          <a:p>
            <a:pPr indent="0" marL="0">
              <a:lnSpc>
                <a:spcPct val="105000"/>
              </a:lnSpc>
              <a:buNone/>
            </a:pPr>
            <a:r>
              <a:rPr lang="en-US" sz="720" b="1" dirty="0">
                <a:solidFill>
                  <a:srgbClr val="0F172A"/>
                </a:solidFill>
                <a:latin typeface="Arial" pitchFamily="34" charset="0"/>
                <a:ea typeface="Arial" pitchFamily="34" charset="-122"/>
                <a:cs typeface="Arial" pitchFamily="34" charset="-120"/>
              </a:rPr>
              <a:t>IAM Principal Access Boundaries (PAB) encircle each spoke so even if a tool credential leaked inside Tenant B, GCP IAM cryptographically blocks Tenant A access.</a:t>
            </a:r>
            <a:endParaRPr lang="en-US" sz="7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1148"/>
          </a:xfrm>
          <a:prstGeom prst="rect">
            <a:avLst/>
          </a:prstGeom>
          <a:solidFill>
            <a:srgbClr val="B45309"/>
          </a:solidFill>
          <a:ln/>
        </p:spPr>
      </p:sp>
      <p:sp>
        <p:nvSpPr>
          <p:cNvPr id="3" name="Shape 1"/>
          <p:cNvSpPr/>
          <p:nvPr/>
        </p:nvSpPr>
        <p:spPr>
          <a:xfrm>
            <a:off x="438912" y="192024"/>
            <a:ext cx="59436" cy="621792"/>
          </a:xfrm>
          <a:prstGeom prst="roundRect">
            <a:avLst>
              <a:gd name="adj" fmla="val 46154"/>
            </a:avLst>
          </a:prstGeom>
          <a:solidFill>
            <a:srgbClr val="B45309"/>
          </a:solidFill>
          <a:ln/>
        </p:spPr>
      </p:sp>
      <p:sp>
        <p:nvSpPr>
          <p:cNvPr id="4" name="Text 2"/>
          <p:cNvSpPr/>
          <p:nvPr/>
        </p:nvSpPr>
        <p:spPr>
          <a:xfrm>
            <a:off x="576072" y="173736"/>
            <a:ext cx="4389120" cy="146304"/>
          </a:xfrm>
          <a:prstGeom prst="rect">
            <a:avLst/>
          </a:prstGeom>
          <a:noFill/>
          <a:ln/>
        </p:spPr>
        <p:txBody>
          <a:bodyPr wrap="square" lIns="0" tIns="0" rIns="0" bIns="0" rtlCol="0" anchor="ctr"/>
          <a:lstStyle/>
          <a:p>
            <a:pPr algn="l" indent="0" marL="0">
              <a:lnSpc>
                <a:spcPct val="105000"/>
              </a:lnSpc>
              <a:buNone/>
            </a:pPr>
            <a:r>
              <a:rPr lang="en-US" sz="750" b="1" spc="110" kern="0" dirty="0">
                <a:solidFill>
                  <a:srgbClr val="B45309"/>
                </a:solidFill>
                <a:latin typeface="Arial" pitchFamily="34" charset="0"/>
                <a:ea typeface="Arial" pitchFamily="34" charset="-122"/>
                <a:cs typeface="Arial" pitchFamily="34" charset="-120"/>
              </a:rPr>
              <a:t>05 / PROCESS &amp; WIRE</a:t>
            </a:r>
            <a:endParaRPr lang="en-US" sz="750" dirty="0"/>
          </a:p>
        </p:txBody>
      </p:sp>
      <p:sp>
        <p:nvSpPr>
          <p:cNvPr id="5" name="Shape 3"/>
          <p:cNvSpPr/>
          <p:nvPr/>
        </p:nvSpPr>
        <p:spPr>
          <a:xfrm>
            <a:off x="8183880" y="219456"/>
            <a:ext cx="228600" cy="59436"/>
          </a:xfrm>
          <a:prstGeom prst="roundRect">
            <a:avLst>
              <a:gd name="adj" fmla="val 46154"/>
            </a:avLst>
          </a:prstGeom>
          <a:solidFill>
            <a:srgbClr val="94A3B8"/>
          </a:solidFill>
          <a:ln/>
        </p:spPr>
      </p:sp>
      <p:sp>
        <p:nvSpPr>
          <p:cNvPr id="6" name="Shape 4"/>
          <p:cNvSpPr/>
          <p:nvPr/>
        </p:nvSpPr>
        <p:spPr>
          <a:xfrm>
            <a:off x="8453628" y="219456"/>
            <a:ext cx="228600" cy="59436"/>
          </a:xfrm>
          <a:prstGeom prst="roundRect">
            <a:avLst>
              <a:gd name="adj" fmla="val 46154"/>
            </a:avLst>
          </a:prstGeom>
          <a:solidFill>
            <a:srgbClr val="94A3B8"/>
          </a:solidFill>
          <a:ln/>
        </p:spPr>
      </p:sp>
      <p:sp>
        <p:nvSpPr>
          <p:cNvPr id="7" name="Shape 5"/>
          <p:cNvSpPr/>
          <p:nvPr/>
        </p:nvSpPr>
        <p:spPr>
          <a:xfrm>
            <a:off x="8723376" y="219456"/>
            <a:ext cx="228600" cy="59436"/>
          </a:xfrm>
          <a:prstGeom prst="roundRect">
            <a:avLst>
              <a:gd name="adj" fmla="val 46154"/>
            </a:avLst>
          </a:prstGeom>
          <a:solidFill>
            <a:srgbClr val="94A3B8"/>
          </a:solidFill>
          <a:ln/>
        </p:spPr>
      </p:sp>
      <p:sp>
        <p:nvSpPr>
          <p:cNvPr id="8" name="Shape 6"/>
          <p:cNvSpPr/>
          <p:nvPr/>
        </p:nvSpPr>
        <p:spPr>
          <a:xfrm>
            <a:off x="8993124" y="219456"/>
            <a:ext cx="228600" cy="59436"/>
          </a:xfrm>
          <a:prstGeom prst="roundRect">
            <a:avLst>
              <a:gd name="adj" fmla="val 46154"/>
            </a:avLst>
          </a:prstGeom>
          <a:solidFill>
            <a:srgbClr val="94A3B8"/>
          </a:solidFill>
          <a:ln/>
        </p:spPr>
      </p:sp>
      <p:sp>
        <p:nvSpPr>
          <p:cNvPr id="9" name="Shape 7"/>
          <p:cNvSpPr/>
          <p:nvPr/>
        </p:nvSpPr>
        <p:spPr>
          <a:xfrm>
            <a:off x="9262872" y="219456"/>
            <a:ext cx="228600" cy="59436"/>
          </a:xfrm>
          <a:prstGeom prst="roundRect">
            <a:avLst>
              <a:gd name="adj" fmla="val 46154"/>
            </a:avLst>
          </a:prstGeom>
          <a:solidFill>
            <a:srgbClr val="B45309"/>
          </a:solidFill>
          <a:ln/>
        </p:spPr>
      </p:sp>
      <p:sp>
        <p:nvSpPr>
          <p:cNvPr id="10" name="Shape 8"/>
          <p:cNvSpPr/>
          <p:nvPr/>
        </p:nvSpPr>
        <p:spPr>
          <a:xfrm>
            <a:off x="9532620" y="219456"/>
            <a:ext cx="228600" cy="59436"/>
          </a:xfrm>
          <a:prstGeom prst="roundRect">
            <a:avLst>
              <a:gd name="adj" fmla="val 46154"/>
            </a:avLst>
          </a:prstGeom>
          <a:solidFill>
            <a:srgbClr val="E2E8F0"/>
          </a:solidFill>
          <a:ln/>
        </p:spPr>
      </p:sp>
      <p:sp>
        <p:nvSpPr>
          <p:cNvPr id="11" name="Shape 9"/>
          <p:cNvSpPr/>
          <p:nvPr/>
        </p:nvSpPr>
        <p:spPr>
          <a:xfrm>
            <a:off x="9802368" y="219456"/>
            <a:ext cx="228600" cy="59436"/>
          </a:xfrm>
          <a:prstGeom prst="roundRect">
            <a:avLst>
              <a:gd name="adj" fmla="val 46154"/>
            </a:avLst>
          </a:prstGeom>
          <a:solidFill>
            <a:srgbClr val="E2E8F0"/>
          </a:solidFill>
          <a:ln/>
        </p:spPr>
      </p:sp>
      <p:sp>
        <p:nvSpPr>
          <p:cNvPr id="12" name="Shape 10"/>
          <p:cNvSpPr/>
          <p:nvPr/>
        </p:nvSpPr>
        <p:spPr>
          <a:xfrm>
            <a:off x="10131552" y="146304"/>
            <a:ext cx="1621231" cy="192024"/>
          </a:xfrm>
          <a:prstGeom prst="roundRect">
            <a:avLst>
              <a:gd name="adj" fmla="val 23810"/>
            </a:avLst>
          </a:prstGeom>
          <a:solidFill>
            <a:srgbClr val="FFFFFF"/>
          </a:solidFill>
          <a:ln w="9525">
            <a:solidFill>
              <a:srgbClr val="CBD5E1"/>
            </a:solidFill>
            <a:prstDash val="solid"/>
          </a:ln>
        </p:spPr>
      </p:sp>
      <p:sp>
        <p:nvSpPr>
          <p:cNvPr id="13" name="Text 11"/>
          <p:cNvSpPr/>
          <p:nvPr/>
        </p:nvSpPr>
        <p:spPr>
          <a:xfrm>
            <a:off x="10131552" y="146304"/>
            <a:ext cx="1621231" cy="192024"/>
          </a:xfrm>
          <a:prstGeom prst="rect">
            <a:avLst/>
          </a:prstGeom>
          <a:noFill/>
          <a:ln/>
        </p:spPr>
        <p:txBody>
          <a:bodyPr wrap="square" lIns="0" tIns="0" rIns="0" bIns="0" rtlCol="0" anchor="ctr"/>
          <a:lstStyle/>
          <a:p>
            <a:pPr algn="ctr" indent="0" marL="0">
              <a:lnSpc>
                <a:spcPct val="105000"/>
              </a:lnSpc>
              <a:buNone/>
            </a:pPr>
            <a:r>
              <a:rPr lang="en-US" sz="680" b="1" spc="60" kern="0" dirty="0">
                <a:solidFill>
                  <a:srgbClr val="B45309"/>
                </a:solidFill>
                <a:latin typeface="Arial" pitchFamily="34" charset="0"/>
                <a:ea typeface="Arial" pitchFamily="34" charset="-122"/>
                <a:cs typeface="Arial" pitchFamily="34" charset="-120"/>
              </a:rPr>
              <a:t>PROCESS &amp; LATENCY FLOW</a:t>
            </a:r>
            <a:endParaRPr lang="en-US" sz="680" dirty="0"/>
          </a:p>
        </p:txBody>
      </p:sp>
      <p:sp>
        <p:nvSpPr>
          <p:cNvPr id="14" name="Text 12"/>
          <p:cNvSpPr/>
          <p:nvPr/>
        </p:nvSpPr>
        <p:spPr>
          <a:xfrm>
            <a:off x="576072" y="338328"/>
            <a:ext cx="11176711" cy="310896"/>
          </a:xfrm>
          <a:prstGeom prst="rect">
            <a:avLst/>
          </a:prstGeom>
          <a:noFill/>
          <a:ln/>
        </p:spPr>
        <p:txBody>
          <a:bodyPr wrap="square" lIns="0" tIns="0" rIns="0" bIns="0" rtlCol="0" anchor="ctr"/>
          <a:lstStyle/>
          <a:p>
            <a:pPr algn="l" indent="0" marL="0">
              <a:lnSpc>
                <a:spcPct val="104000"/>
              </a:lnSpc>
              <a:buNone/>
            </a:pPr>
            <a:r>
              <a:rPr lang="en-US" sz="1750" b="1" dirty="0">
                <a:solidFill>
                  <a:srgbClr val="0F172A"/>
                </a:solidFill>
                <a:latin typeface="Arial" pitchFamily="34" charset="0"/>
                <a:ea typeface="Arial" pitchFamily="34" charset="-122"/>
                <a:cs typeface="Arial" pitchFamily="34" charset="-120"/>
              </a:rPr>
              <a:t>Process Diagram: All 5 Cryptographic Hops Add Just ~42ms p95 (&lt;2.5% of Turn TTFT)</a:t>
            </a:r>
            <a:endParaRPr lang="en-US" sz="1750" dirty="0"/>
          </a:p>
        </p:txBody>
      </p:sp>
      <p:sp>
        <p:nvSpPr>
          <p:cNvPr id="15" name="Text 13"/>
          <p:cNvSpPr/>
          <p:nvPr/>
        </p:nvSpPr>
        <p:spPr>
          <a:xfrm>
            <a:off x="576072" y="658368"/>
            <a:ext cx="11176711" cy="192024"/>
          </a:xfrm>
          <a:prstGeom prst="rect">
            <a:avLst/>
          </a:prstGeom>
          <a:noFill/>
          <a:ln/>
        </p:spPr>
        <p:txBody>
          <a:bodyPr wrap="square" lIns="0" tIns="0" rIns="0" bIns="0" rtlCol="0" anchor="ctr"/>
          <a:lstStyle/>
          <a:p>
            <a:pPr algn="l" indent="0" marL="0">
              <a:lnSpc>
                <a:spcPct val="104000"/>
              </a:lnSpc>
              <a:buNone/>
            </a:pPr>
            <a:r>
              <a:rPr lang="en-US" sz="900" dirty="0">
                <a:solidFill>
                  <a:srgbClr val="64748B"/>
                </a:solidFill>
                <a:latin typeface="Arial" pitchFamily="34" charset="0"/>
                <a:ea typeface="Arial" pitchFamily="34" charset="-122"/>
                <a:cs typeface="Arial" pitchFamily="34" charset="-120"/>
              </a:rPr>
              <a:t>A proportional latency waterfall paired with each hop’s input, deterministic check, and immediate fail-closed HTTP circuit breaker.</a:t>
            </a:r>
            <a:endParaRPr lang="en-US" sz="900" dirty="0"/>
          </a:p>
        </p:txBody>
      </p:sp>
      <p:sp>
        <p:nvSpPr>
          <p:cNvPr id="16" name="Shape 14"/>
          <p:cNvSpPr/>
          <p:nvPr/>
        </p:nvSpPr>
        <p:spPr>
          <a:xfrm>
            <a:off x="438912" y="914400"/>
            <a:ext cx="11313871" cy="0"/>
          </a:xfrm>
          <a:prstGeom prst="line">
            <a:avLst/>
          </a:prstGeom>
          <a:noFill/>
          <a:ln w="10795">
            <a:solidFill>
              <a:srgbClr val="E2E8F0"/>
            </a:solidFill>
            <a:prstDash val="solid"/>
          </a:ln>
        </p:spPr>
      </p:sp>
      <p:sp>
        <p:nvSpPr>
          <p:cNvPr id="17" name="Shape 15"/>
          <p:cNvSpPr/>
          <p:nvPr/>
        </p:nvSpPr>
        <p:spPr>
          <a:xfrm>
            <a:off x="438912" y="6455664"/>
            <a:ext cx="11313871" cy="0"/>
          </a:xfrm>
          <a:prstGeom prst="line">
            <a:avLst/>
          </a:prstGeom>
          <a:noFill/>
          <a:ln w="9525">
            <a:solidFill>
              <a:srgbClr val="E2E8F0"/>
            </a:solidFill>
            <a:prstDash val="solid"/>
          </a:ln>
        </p:spPr>
      </p:sp>
      <p:sp>
        <p:nvSpPr>
          <p:cNvPr id="18" name="Text 16"/>
          <p:cNvSpPr/>
          <p:nvPr/>
        </p:nvSpPr>
        <p:spPr>
          <a:xfrm>
            <a:off x="438912" y="6501384"/>
            <a:ext cx="5852160" cy="192024"/>
          </a:xfrm>
          <a:prstGeom prst="rect">
            <a:avLst/>
          </a:prstGeom>
          <a:noFill/>
          <a:ln/>
        </p:spPr>
        <p:txBody>
          <a:bodyPr wrap="square" lIns="0" tIns="0" rIns="0" bIns="0" rtlCol="0" anchor="ctr"/>
          <a:lstStyle/>
          <a:p>
            <a:pPr algn="l" indent="0" marL="0">
              <a:lnSpc>
                <a:spcPct val="105000"/>
              </a:lnSpc>
              <a:buNone/>
            </a:pPr>
            <a:r>
              <a:rPr lang="en-US" sz="680" b="1" spc="40" kern="0" dirty="0">
                <a:solidFill>
                  <a:srgbClr val="64748B"/>
                </a:solidFill>
                <a:latin typeface="Arial" pitchFamily="34" charset="0"/>
                <a:ea typeface="Arial" pitchFamily="34" charset="-122"/>
                <a:cs typeface="Arial" pitchFamily="34" charset="-120"/>
              </a:rPr>
              <a:t>GOOGLE CLOUD AI ARCHITECTURE  •  BLOG 1: MULTI-TENANT AGENTIC AI TAXONOMY &amp; 5-HOP BASELINE</a:t>
            </a:r>
            <a:endParaRPr lang="en-US" sz="680" dirty="0"/>
          </a:p>
        </p:txBody>
      </p:sp>
      <p:sp>
        <p:nvSpPr>
          <p:cNvPr id="19" name="Text 17"/>
          <p:cNvSpPr/>
          <p:nvPr/>
        </p:nvSpPr>
        <p:spPr>
          <a:xfrm>
            <a:off x="6355080" y="6501384"/>
            <a:ext cx="4206240" cy="192024"/>
          </a:xfrm>
          <a:prstGeom prst="rect">
            <a:avLst/>
          </a:prstGeom>
          <a:noFill/>
          <a:ln/>
        </p:spPr>
        <p:txBody>
          <a:bodyPr wrap="square" lIns="0" tIns="0" rIns="0" bIns="0" rtlCol="0" anchor="ctr"/>
          <a:lstStyle/>
          <a:p>
            <a:pPr algn="r" indent="0" marL="0">
              <a:lnSpc>
                <a:spcPct val="105000"/>
              </a:lnSpc>
              <a:buNone/>
            </a:pPr>
            <a:r>
              <a:rPr lang="en-US" sz="680" dirty="0">
                <a:solidFill>
                  <a:srgbClr val="64748B"/>
                </a:solidFill>
                <a:latin typeface="Arial" pitchFamily="34" charset="0"/>
                <a:ea typeface="Arial" pitchFamily="34" charset="-122"/>
                <a:cs typeface="Arial" pitchFamily="34" charset="-120"/>
              </a:rPr>
              <a:t>Runtime Process Engineering  •  Latency Budget &amp; Fail-Closed Error Contracts</a:t>
            </a:r>
            <a:endParaRPr lang="en-US" sz="680" dirty="0"/>
          </a:p>
        </p:txBody>
      </p:sp>
      <p:sp>
        <p:nvSpPr>
          <p:cNvPr id="20" name="Shape 18"/>
          <p:cNvSpPr/>
          <p:nvPr/>
        </p:nvSpPr>
        <p:spPr>
          <a:xfrm>
            <a:off x="11002975" y="6501384"/>
            <a:ext cx="749808" cy="192024"/>
          </a:xfrm>
          <a:prstGeom prst="roundRect">
            <a:avLst>
              <a:gd name="adj" fmla="val 19048"/>
            </a:avLst>
          </a:prstGeom>
          <a:solidFill>
            <a:srgbClr val="F1F5F9"/>
          </a:solidFill>
          <a:ln w="7620">
            <a:solidFill>
              <a:srgbClr val="E2E8F0"/>
            </a:solidFill>
            <a:prstDash val="solid"/>
          </a:ln>
        </p:spPr>
      </p:sp>
      <p:sp>
        <p:nvSpPr>
          <p:cNvPr id="21" name="Text 19"/>
          <p:cNvSpPr/>
          <p:nvPr/>
        </p:nvSpPr>
        <p:spPr>
          <a:xfrm>
            <a:off x="11002975" y="6501384"/>
            <a:ext cx="749808" cy="192024"/>
          </a:xfrm>
          <a:prstGeom prst="rect">
            <a:avLst/>
          </a:prstGeom>
          <a:noFill/>
          <a:ln/>
        </p:spPr>
        <p:txBody>
          <a:bodyPr wrap="square" lIns="0" tIns="0" rIns="0" bIns="0" rtlCol="0" anchor="ctr"/>
          <a:lstStyle/>
          <a:p>
            <a:pPr algn="ctr" indent="0" marL="0">
              <a:lnSpc>
                <a:spcPct val="105000"/>
              </a:lnSpc>
              <a:buNone/>
            </a:pPr>
            <a:r>
              <a:rPr lang="en-US" sz="700" b="1" dirty="0">
                <a:solidFill>
                  <a:srgbClr val="334155"/>
                </a:solidFill>
                <a:latin typeface="Arial" pitchFamily="34" charset="0"/>
                <a:ea typeface="Arial" pitchFamily="34" charset="-122"/>
                <a:cs typeface="Arial" pitchFamily="34" charset="-120"/>
              </a:rPr>
              <a:t>10 / 23</a:t>
            </a:r>
            <a:endParaRPr lang="en-US" sz="700" dirty="0"/>
          </a:p>
        </p:txBody>
      </p:sp>
      <p:sp>
        <p:nvSpPr>
          <p:cNvPr id="22" name="Shape 20"/>
          <p:cNvSpPr/>
          <p:nvPr/>
        </p:nvSpPr>
        <p:spPr>
          <a:xfrm>
            <a:off x="461772" y="1049731"/>
            <a:ext cx="11313871" cy="1024128"/>
          </a:xfrm>
          <a:prstGeom prst="roundRect">
            <a:avLst>
              <a:gd name="adj" fmla="val 6250"/>
            </a:avLst>
          </a:prstGeom>
          <a:solidFill>
            <a:srgbClr val="E2E8F0"/>
          </a:solidFill>
          <a:ln/>
        </p:spPr>
      </p:sp>
      <p:sp>
        <p:nvSpPr>
          <p:cNvPr id="23" name="Shape 21"/>
          <p:cNvSpPr/>
          <p:nvPr/>
        </p:nvSpPr>
        <p:spPr>
          <a:xfrm>
            <a:off x="438912" y="1024128"/>
            <a:ext cx="11313871" cy="1024128"/>
          </a:xfrm>
          <a:prstGeom prst="roundRect">
            <a:avLst>
              <a:gd name="adj" fmla="val 6250"/>
            </a:avLst>
          </a:prstGeom>
          <a:solidFill>
            <a:srgbClr val="FFFFFF"/>
          </a:solidFill>
          <a:ln w="10795">
            <a:solidFill>
              <a:srgbClr val="CBD5E1"/>
            </a:solidFill>
            <a:prstDash val="solid"/>
          </a:ln>
        </p:spPr>
      </p:sp>
      <p:sp>
        <p:nvSpPr>
          <p:cNvPr id="24" name="Shape 22"/>
          <p:cNvSpPr/>
          <p:nvPr/>
        </p:nvSpPr>
        <p:spPr>
          <a:xfrm>
            <a:off x="438912" y="1024128"/>
            <a:ext cx="11313871" cy="50292"/>
          </a:xfrm>
          <a:prstGeom prst="roundRect">
            <a:avLst>
              <a:gd name="adj" fmla="val 36364"/>
            </a:avLst>
          </a:prstGeom>
          <a:solidFill>
            <a:srgbClr val="B45309"/>
          </a:solidFill>
          <a:ln/>
        </p:spPr>
      </p:sp>
      <p:sp>
        <p:nvSpPr>
          <p:cNvPr id="25" name="Text 23"/>
          <p:cNvSpPr/>
          <p:nvPr/>
        </p:nvSpPr>
        <p:spPr>
          <a:xfrm>
            <a:off x="603504" y="1124712"/>
            <a:ext cx="7863840" cy="164592"/>
          </a:xfrm>
          <a:prstGeom prst="rect">
            <a:avLst/>
          </a:prstGeom>
          <a:noFill/>
          <a:ln/>
        </p:spPr>
        <p:txBody>
          <a:bodyPr wrap="square" lIns="0" tIns="0" rIns="0" bIns="0" rtlCol="0" anchor="ctr"/>
          <a:lstStyle/>
          <a:p>
            <a:pPr indent="0" marL="0">
              <a:lnSpc>
                <a:spcPct val="105000"/>
              </a:lnSpc>
              <a:buNone/>
            </a:pPr>
            <a:r>
              <a:rPr lang="en-US" sz="720" b="1" spc="60" kern="0" dirty="0">
                <a:solidFill>
                  <a:srgbClr val="B45309"/>
                </a:solidFill>
                <a:latin typeface="Arial" pitchFamily="34" charset="0"/>
                <a:ea typeface="Arial" pitchFamily="34" charset="-122"/>
                <a:cs typeface="Arial" pitchFamily="34" charset="-120"/>
              </a:rPr>
              <a:t>PROPORTIONAL p95 GOVERNANCE LATENCY WATERFALL (~42ms TOTAL CONTROL-PLANE BUDGET)</a:t>
            </a:r>
            <a:endParaRPr lang="en-US" sz="720" dirty="0"/>
          </a:p>
        </p:txBody>
      </p:sp>
      <p:sp>
        <p:nvSpPr>
          <p:cNvPr id="26" name="Shape 24"/>
          <p:cNvSpPr/>
          <p:nvPr/>
        </p:nvSpPr>
        <p:spPr>
          <a:xfrm>
            <a:off x="9027871" y="1097280"/>
            <a:ext cx="2560320" cy="201168"/>
          </a:xfrm>
          <a:prstGeom prst="roundRect">
            <a:avLst>
              <a:gd name="adj" fmla="val 36364"/>
            </a:avLst>
          </a:prstGeom>
          <a:solidFill>
            <a:srgbClr val="ECFDF5"/>
          </a:solidFill>
          <a:ln w="9525">
            <a:solidFill>
              <a:srgbClr val="A7F3D0"/>
            </a:solidFill>
            <a:prstDash val="solid"/>
          </a:ln>
        </p:spPr>
      </p:sp>
      <p:sp>
        <p:nvSpPr>
          <p:cNvPr id="27" name="Text 25"/>
          <p:cNvSpPr/>
          <p:nvPr/>
        </p:nvSpPr>
        <p:spPr>
          <a:xfrm>
            <a:off x="9027871" y="1097280"/>
            <a:ext cx="2560320" cy="201168"/>
          </a:xfrm>
          <a:prstGeom prst="rect">
            <a:avLst/>
          </a:prstGeom>
          <a:noFill/>
          <a:ln/>
        </p:spPr>
        <p:txBody>
          <a:bodyPr wrap="square" lIns="0" tIns="0" rIns="0" bIns="0" rtlCol="0" anchor="ctr"/>
          <a:lstStyle/>
          <a:p>
            <a:pPr algn="ctr" indent="0" marL="0">
              <a:lnSpc>
                <a:spcPct val="105000"/>
              </a:lnSpc>
              <a:buNone/>
            </a:pPr>
            <a:r>
              <a:rPr lang="en-US" sz="660" b="1" dirty="0">
                <a:solidFill>
                  <a:srgbClr val="047857"/>
                </a:solidFill>
                <a:latin typeface="Arial" pitchFamily="34" charset="0"/>
                <a:ea typeface="Arial" pitchFamily="34" charset="-122"/>
                <a:cs typeface="Arial" pitchFamily="34" charset="-120"/>
              </a:rPr>
              <a:t>~420ms Warm TTFT  •  &lt;2.5% Cold Turn Tax</a:t>
            </a:r>
            <a:endParaRPr lang="en-US" sz="660" dirty="0"/>
          </a:p>
        </p:txBody>
      </p:sp>
      <p:sp>
        <p:nvSpPr>
          <p:cNvPr id="28" name="Shape 26"/>
          <p:cNvSpPr/>
          <p:nvPr/>
        </p:nvSpPr>
        <p:spPr>
          <a:xfrm>
            <a:off x="603504" y="1389888"/>
            <a:ext cx="1750162" cy="493776"/>
          </a:xfrm>
          <a:prstGeom prst="rect">
            <a:avLst/>
          </a:prstGeom>
          <a:solidFill>
            <a:srgbClr val="1D4ED8"/>
          </a:solidFill>
          <a:ln w="12700">
            <a:solidFill>
              <a:srgbClr val="FFFFFF"/>
            </a:solidFill>
            <a:prstDash val="solid"/>
          </a:ln>
        </p:spPr>
      </p:sp>
      <p:sp>
        <p:nvSpPr>
          <p:cNvPr id="29" name="Text 27"/>
          <p:cNvSpPr/>
          <p:nvPr/>
        </p:nvSpPr>
        <p:spPr>
          <a:xfrm>
            <a:off x="630936" y="1417320"/>
            <a:ext cx="1695298" cy="438912"/>
          </a:xfrm>
          <a:prstGeom prst="rect">
            <a:avLst/>
          </a:prstGeom>
          <a:noFill/>
          <a:ln/>
        </p:spPr>
        <p:txBody>
          <a:bodyPr wrap="square" lIns="0" tIns="0" rIns="0" bIns="0" rtlCol="0" anchor="ctr"/>
          <a:lstStyle/>
          <a:p>
            <a:pPr algn="ctr" indent="0" marL="0">
              <a:lnSpc>
                <a:spcPct val="104000"/>
              </a:lnSpc>
              <a:buNone/>
            </a:pPr>
            <a:r>
              <a:rPr lang="en-US" sz="690" b="1" dirty="0">
                <a:solidFill>
                  <a:srgbClr val="FFFFFF"/>
                </a:solidFill>
                <a:latin typeface="Arial" pitchFamily="34" charset="0"/>
                <a:ea typeface="Arial" pitchFamily="34" charset="-122"/>
                <a:cs typeface="Arial" pitchFamily="34" charset="-120"/>
              </a:rPr>
              <a:t>Hop 1: Edge &amp; KMS</a:t>
            </a:r>
            <a:endParaRPr lang="en-US" sz="690" dirty="0"/>
          </a:p>
          <a:p>
            <a:pPr algn="ctr" indent="0" marL="0">
              <a:lnSpc>
                <a:spcPct val="104000"/>
              </a:lnSpc>
              <a:buNone/>
            </a:pPr>
            <a:r>
              <a:rPr lang="en-US" sz="690" b="1" dirty="0">
                <a:solidFill>
                  <a:srgbClr val="FFFFFF"/>
                </a:solidFill>
                <a:latin typeface="Arial" pitchFamily="34" charset="0"/>
                <a:ea typeface="Arial" pitchFamily="34" charset="-122"/>
                <a:cs typeface="Arial" pitchFamily="34" charset="-120"/>
              </a:rPr>
              <a:t>~8ms (19%)</a:t>
            </a:r>
            <a:endParaRPr lang="en-US" sz="690" dirty="0"/>
          </a:p>
        </p:txBody>
      </p:sp>
      <p:sp>
        <p:nvSpPr>
          <p:cNvPr id="30" name="Shape 28"/>
          <p:cNvSpPr/>
          <p:nvPr/>
        </p:nvSpPr>
        <p:spPr>
          <a:xfrm>
            <a:off x="2353666" y="1389888"/>
            <a:ext cx="875081" cy="493776"/>
          </a:xfrm>
          <a:prstGeom prst="rect">
            <a:avLst/>
          </a:prstGeom>
          <a:solidFill>
            <a:srgbClr val="4338CA"/>
          </a:solidFill>
          <a:ln w="12700">
            <a:solidFill>
              <a:srgbClr val="FFFFFF"/>
            </a:solidFill>
            <a:prstDash val="solid"/>
          </a:ln>
        </p:spPr>
      </p:sp>
      <p:sp>
        <p:nvSpPr>
          <p:cNvPr id="31" name="Text 29"/>
          <p:cNvSpPr/>
          <p:nvPr/>
        </p:nvSpPr>
        <p:spPr>
          <a:xfrm>
            <a:off x="2381098" y="1417320"/>
            <a:ext cx="820217" cy="438912"/>
          </a:xfrm>
          <a:prstGeom prst="rect">
            <a:avLst/>
          </a:prstGeom>
          <a:noFill/>
          <a:ln/>
        </p:spPr>
        <p:txBody>
          <a:bodyPr wrap="square" lIns="0" tIns="0" rIns="0" bIns="0" rtlCol="0" anchor="ctr"/>
          <a:lstStyle/>
          <a:p>
            <a:pPr algn="ctr" indent="0" marL="0">
              <a:lnSpc>
                <a:spcPct val="104000"/>
              </a:lnSpc>
              <a:buNone/>
            </a:pPr>
            <a:r>
              <a:rPr lang="en-US" sz="620" b="1" dirty="0">
                <a:solidFill>
                  <a:srgbClr val="FFFFFF"/>
                </a:solidFill>
                <a:latin typeface="Arial" pitchFamily="34" charset="0"/>
                <a:ea typeface="Arial" pitchFamily="34" charset="-122"/>
                <a:cs typeface="Arial" pitchFamily="34" charset="-120"/>
              </a:rPr>
              <a:t>Hop 2: ARD</a:t>
            </a:r>
            <a:endParaRPr lang="en-US" sz="620" dirty="0"/>
          </a:p>
          <a:p>
            <a:pPr algn="ctr" indent="0" marL="0">
              <a:lnSpc>
                <a:spcPct val="104000"/>
              </a:lnSpc>
              <a:buNone/>
            </a:pPr>
            <a:r>
              <a:rPr lang="en-US" sz="620" b="1" dirty="0">
                <a:solidFill>
                  <a:srgbClr val="FFFFFF"/>
                </a:solidFill>
                <a:latin typeface="Arial" pitchFamily="34" charset="0"/>
                <a:ea typeface="Arial" pitchFamily="34" charset="-122"/>
                <a:cs typeface="Arial" pitchFamily="34" charset="-120"/>
              </a:rPr>
              <a:t>~4ms (10%)</a:t>
            </a:r>
            <a:endParaRPr lang="en-US" sz="620" dirty="0"/>
          </a:p>
        </p:txBody>
      </p:sp>
      <p:sp>
        <p:nvSpPr>
          <p:cNvPr id="32" name="Shape 30"/>
          <p:cNvSpPr/>
          <p:nvPr/>
        </p:nvSpPr>
        <p:spPr>
          <a:xfrm>
            <a:off x="3228746" y="1389888"/>
            <a:ext cx="656539" cy="493776"/>
          </a:xfrm>
          <a:prstGeom prst="rect">
            <a:avLst/>
          </a:prstGeom>
          <a:solidFill>
            <a:srgbClr val="0F766E"/>
          </a:solidFill>
          <a:ln w="12700">
            <a:solidFill>
              <a:srgbClr val="FFFFFF"/>
            </a:solidFill>
            <a:prstDash val="solid"/>
          </a:ln>
        </p:spPr>
      </p:sp>
      <p:sp>
        <p:nvSpPr>
          <p:cNvPr id="33" name="Text 31"/>
          <p:cNvSpPr/>
          <p:nvPr/>
        </p:nvSpPr>
        <p:spPr>
          <a:xfrm>
            <a:off x="3256178" y="1417320"/>
            <a:ext cx="601675" cy="438912"/>
          </a:xfrm>
          <a:prstGeom prst="rect">
            <a:avLst/>
          </a:prstGeom>
          <a:noFill/>
          <a:ln/>
        </p:spPr>
        <p:txBody>
          <a:bodyPr wrap="square" lIns="0" tIns="0" rIns="0" bIns="0" rtlCol="0" anchor="ctr"/>
          <a:lstStyle/>
          <a:p>
            <a:pPr algn="ctr" indent="0" marL="0">
              <a:lnSpc>
                <a:spcPct val="104000"/>
              </a:lnSpc>
              <a:buNone/>
            </a:pPr>
            <a:r>
              <a:rPr lang="en-US" sz="620" b="1" dirty="0">
                <a:solidFill>
                  <a:srgbClr val="FFFFFF"/>
                </a:solidFill>
                <a:latin typeface="Arial" pitchFamily="34" charset="0"/>
                <a:ea typeface="Arial" pitchFamily="34" charset="-122"/>
                <a:cs typeface="Arial" pitchFamily="34" charset="-120"/>
              </a:rPr>
              <a:t>Hop 3: Valkey</a:t>
            </a:r>
            <a:endParaRPr lang="en-US" sz="620" dirty="0"/>
          </a:p>
          <a:p>
            <a:pPr algn="ctr" indent="0" marL="0">
              <a:lnSpc>
                <a:spcPct val="104000"/>
              </a:lnSpc>
              <a:buNone/>
            </a:pPr>
            <a:r>
              <a:rPr lang="en-US" sz="620" b="1" dirty="0">
                <a:solidFill>
                  <a:srgbClr val="FFFFFF"/>
                </a:solidFill>
                <a:latin typeface="Arial" pitchFamily="34" charset="0"/>
                <a:ea typeface="Arial" pitchFamily="34" charset="-122"/>
                <a:cs typeface="Arial" pitchFamily="34" charset="-120"/>
              </a:rPr>
              <a:t>~3ms (7%)</a:t>
            </a:r>
            <a:endParaRPr lang="en-US" sz="620" dirty="0"/>
          </a:p>
        </p:txBody>
      </p:sp>
      <p:sp>
        <p:nvSpPr>
          <p:cNvPr id="34" name="Shape 32"/>
          <p:cNvSpPr/>
          <p:nvPr/>
        </p:nvSpPr>
        <p:spPr>
          <a:xfrm>
            <a:off x="3885286" y="1389888"/>
            <a:ext cx="4813402" cy="493776"/>
          </a:xfrm>
          <a:prstGeom prst="rect">
            <a:avLst/>
          </a:prstGeom>
          <a:solidFill>
            <a:srgbClr val="D97706"/>
          </a:solidFill>
          <a:ln w="12700">
            <a:solidFill>
              <a:srgbClr val="FFFFFF"/>
            </a:solidFill>
            <a:prstDash val="solid"/>
          </a:ln>
        </p:spPr>
      </p:sp>
      <p:sp>
        <p:nvSpPr>
          <p:cNvPr id="35" name="Text 33"/>
          <p:cNvSpPr/>
          <p:nvPr/>
        </p:nvSpPr>
        <p:spPr>
          <a:xfrm>
            <a:off x="3912718" y="1417320"/>
            <a:ext cx="4758538" cy="438912"/>
          </a:xfrm>
          <a:prstGeom prst="rect">
            <a:avLst/>
          </a:prstGeom>
          <a:noFill/>
          <a:ln/>
        </p:spPr>
        <p:txBody>
          <a:bodyPr wrap="square" lIns="0" tIns="0" rIns="0" bIns="0" rtlCol="0" anchor="ctr"/>
          <a:lstStyle/>
          <a:p>
            <a:pPr algn="ctr" indent="0" marL="0">
              <a:lnSpc>
                <a:spcPct val="104000"/>
              </a:lnSpc>
              <a:buNone/>
            </a:pPr>
            <a:r>
              <a:rPr lang="en-US" sz="690" b="1" dirty="0">
                <a:solidFill>
                  <a:srgbClr val="FFFFFF"/>
                </a:solidFill>
                <a:latin typeface="Arial" pitchFamily="34" charset="0"/>
                <a:ea typeface="Arial" pitchFamily="34" charset="-122"/>
                <a:cs typeface="Arial" pitchFamily="34" charset="-120"/>
              </a:rPr>
              <a:t>Hop 4: Model Armor + DLP Screening</a:t>
            </a:r>
            <a:endParaRPr lang="en-US" sz="690" dirty="0"/>
          </a:p>
          <a:p>
            <a:pPr algn="ctr" indent="0" marL="0">
              <a:lnSpc>
                <a:spcPct val="104000"/>
              </a:lnSpc>
              <a:buNone/>
            </a:pPr>
            <a:r>
              <a:rPr lang="en-US" sz="690" b="1" dirty="0">
                <a:solidFill>
                  <a:srgbClr val="FFFFFF"/>
                </a:solidFill>
                <a:latin typeface="Arial" pitchFamily="34" charset="0"/>
                <a:ea typeface="Arial" pitchFamily="34" charset="-122"/>
                <a:cs typeface="Arial" pitchFamily="34" charset="-120"/>
              </a:rPr>
              <a:t>~22ms (52% of governance budget)</a:t>
            </a:r>
            <a:endParaRPr lang="en-US" sz="690" dirty="0"/>
          </a:p>
        </p:txBody>
      </p:sp>
      <p:sp>
        <p:nvSpPr>
          <p:cNvPr id="36" name="Shape 34"/>
          <p:cNvSpPr/>
          <p:nvPr/>
        </p:nvSpPr>
        <p:spPr>
          <a:xfrm>
            <a:off x="8698687" y="1389888"/>
            <a:ext cx="1093622" cy="493776"/>
          </a:xfrm>
          <a:prstGeom prst="rect">
            <a:avLst/>
          </a:prstGeom>
          <a:solidFill>
            <a:srgbClr val="047857"/>
          </a:solidFill>
          <a:ln w="12700">
            <a:solidFill>
              <a:srgbClr val="FFFFFF"/>
            </a:solidFill>
            <a:prstDash val="solid"/>
          </a:ln>
        </p:spPr>
      </p:sp>
      <p:sp>
        <p:nvSpPr>
          <p:cNvPr id="37" name="Text 35"/>
          <p:cNvSpPr/>
          <p:nvPr/>
        </p:nvSpPr>
        <p:spPr>
          <a:xfrm>
            <a:off x="8726119" y="1417320"/>
            <a:ext cx="1038758" cy="438912"/>
          </a:xfrm>
          <a:prstGeom prst="rect">
            <a:avLst/>
          </a:prstGeom>
          <a:noFill/>
          <a:ln/>
        </p:spPr>
        <p:txBody>
          <a:bodyPr wrap="square" lIns="0" tIns="0" rIns="0" bIns="0" rtlCol="0" anchor="ctr"/>
          <a:lstStyle/>
          <a:p>
            <a:pPr algn="ctr" indent="0" marL="0">
              <a:lnSpc>
                <a:spcPct val="104000"/>
              </a:lnSpc>
              <a:buNone/>
            </a:pPr>
            <a:r>
              <a:rPr lang="en-US" sz="690" b="1" dirty="0">
                <a:solidFill>
                  <a:srgbClr val="FFFFFF"/>
                </a:solidFill>
                <a:latin typeface="Arial" pitchFamily="34" charset="0"/>
                <a:ea typeface="Arial" pitchFamily="34" charset="-122"/>
                <a:cs typeface="Arial" pitchFamily="34" charset="-120"/>
              </a:rPr>
              <a:t>Hop 5: RLS</a:t>
            </a:r>
            <a:endParaRPr lang="en-US" sz="690" dirty="0"/>
          </a:p>
          <a:p>
            <a:pPr algn="ctr" indent="0" marL="0">
              <a:lnSpc>
                <a:spcPct val="104000"/>
              </a:lnSpc>
              <a:buNone/>
            </a:pPr>
            <a:r>
              <a:rPr lang="en-US" sz="690" b="1" dirty="0">
                <a:solidFill>
                  <a:srgbClr val="FFFFFF"/>
                </a:solidFill>
                <a:latin typeface="Arial" pitchFamily="34" charset="0"/>
                <a:ea typeface="Arial" pitchFamily="34" charset="-122"/>
                <a:cs typeface="Arial" pitchFamily="34" charset="-120"/>
              </a:rPr>
              <a:t>~5ms (12%)</a:t>
            </a:r>
            <a:endParaRPr lang="en-US" sz="690" dirty="0"/>
          </a:p>
        </p:txBody>
      </p:sp>
      <p:sp>
        <p:nvSpPr>
          <p:cNvPr id="38" name="Shape 36"/>
          <p:cNvSpPr/>
          <p:nvPr/>
        </p:nvSpPr>
        <p:spPr>
          <a:xfrm>
            <a:off x="9957816" y="1389888"/>
            <a:ext cx="1630375" cy="493776"/>
          </a:xfrm>
          <a:prstGeom prst="roundRect">
            <a:avLst>
              <a:gd name="adj" fmla="val 12963"/>
            </a:avLst>
          </a:prstGeom>
          <a:solidFill>
            <a:srgbClr val="F1F5F9"/>
          </a:solidFill>
          <a:ln w="10795">
            <a:solidFill>
              <a:srgbClr val="047857"/>
            </a:solidFill>
            <a:prstDash val="dash"/>
          </a:ln>
        </p:spPr>
      </p:sp>
      <p:sp>
        <p:nvSpPr>
          <p:cNvPr id="39" name="Text 37"/>
          <p:cNvSpPr/>
          <p:nvPr/>
        </p:nvSpPr>
        <p:spPr>
          <a:xfrm>
            <a:off x="10012680" y="1426464"/>
            <a:ext cx="1520647" cy="420624"/>
          </a:xfrm>
          <a:prstGeom prst="rect">
            <a:avLst/>
          </a:prstGeom>
          <a:noFill/>
          <a:ln/>
        </p:spPr>
        <p:txBody>
          <a:bodyPr wrap="square" lIns="0" tIns="0" rIns="0" bIns="0" rtlCol="0" anchor="ctr"/>
          <a:lstStyle/>
          <a:p>
            <a:pPr algn="ctr" indent="0" marL="0">
              <a:lnSpc>
                <a:spcPct val="105000"/>
              </a:lnSpc>
              <a:buNone/>
            </a:pPr>
            <a:r>
              <a:rPr lang="en-US" sz="680" b="1" dirty="0">
                <a:solidFill>
                  <a:srgbClr val="047857"/>
                </a:solidFill>
                <a:latin typeface="Arial" pitchFamily="34" charset="0"/>
                <a:ea typeface="Arial" pitchFamily="34" charset="-122"/>
                <a:cs typeface="Arial" pitchFamily="34" charset="-120"/>
              </a:rPr>
              <a:t>Async OTel Sink</a:t>
            </a:r>
            <a:endParaRPr lang="en-US" sz="680" dirty="0"/>
          </a:p>
          <a:p>
            <a:pPr algn="ctr" indent="0" marL="0">
              <a:lnSpc>
                <a:spcPct val="105000"/>
              </a:lnSpc>
              <a:buNone/>
            </a:pPr>
            <a:r>
              <a:rPr lang="en-US" sz="680" b="1" dirty="0">
                <a:solidFill>
                  <a:srgbClr val="047857"/>
                </a:solidFill>
                <a:latin typeface="Arial" pitchFamily="34" charset="0"/>
                <a:ea typeface="Arial" pitchFamily="34" charset="-122"/>
                <a:cs typeface="Arial" pitchFamily="34" charset="-120"/>
              </a:rPr>
              <a:t>0ms Hot-Path Tax</a:t>
            </a:r>
            <a:endParaRPr lang="en-US" sz="680" dirty="0"/>
          </a:p>
        </p:txBody>
      </p:sp>
      <p:sp>
        <p:nvSpPr>
          <p:cNvPr id="40" name="Shape 38"/>
          <p:cNvSpPr/>
          <p:nvPr/>
        </p:nvSpPr>
        <p:spPr>
          <a:xfrm>
            <a:off x="2187245" y="3319272"/>
            <a:ext cx="164592" cy="0"/>
          </a:xfrm>
          <a:prstGeom prst="line">
            <a:avLst/>
          </a:prstGeom>
          <a:noFill/>
          <a:ln w="17780">
            <a:solidFill>
              <a:srgbClr val="1E293B"/>
            </a:solidFill>
            <a:prstDash val="solid"/>
            <a:tailEnd type="triangle" w="sm" len="sm"/>
          </a:ln>
        </p:spPr>
      </p:sp>
      <p:sp>
        <p:nvSpPr>
          <p:cNvPr id="41" name="Shape 39"/>
          <p:cNvSpPr/>
          <p:nvPr/>
        </p:nvSpPr>
        <p:spPr>
          <a:xfrm>
            <a:off x="1313078" y="4407408"/>
            <a:ext cx="0" cy="384048"/>
          </a:xfrm>
          <a:prstGeom prst="line">
            <a:avLst/>
          </a:prstGeom>
          <a:noFill/>
          <a:ln w="14605">
            <a:solidFill>
              <a:srgbClr val="DC2626"/>
            </a:solidFill>
            <a:prstDash val="solid"/>
            <a:tailEnd type="triangle" w="sm" len="sm"/>
          </a:ln>
        </p:spPr>
      </p:sp>
      <p:sp>
        <p:nvSpPr>
          <p:cNvPr id="42" name="Shape 40"/>
          <p:cNvSpPr/>
          <p:nvPr/>
        </p:nvSpPr>
        <p:spPr>
          <a:xfrm>
            <a:off x="4100170" y="3319272"/>
            <a:ext cx="164592" cy="0"/>
          </a:xfrm>
          <a:prstGeom prst="line">
            <a:avLst/>
          </a:prstGeom>
          <a:noFill/>
          <a:ln w="17780">
            <a:solidFill>
              <a:srgbClr val="1E293B"/>
            </a:solidFill>
            <a:prstDash val="solid"/>
            <a:tailEnd type="triangle" w="sm" len="sm"/>
          </a:ln>
        </p:spPr>
      </p:sp>
      <p:sp>
        <p:nvSpPr>
          <p:cNvPr id="43" name="Shape 41"/>
          <p:cNvSpPr/>
          <p:nvPr/>
        </p:nvSpPr>
        <p:spPr>
          <a:xfrm>
            <a:off x="3226003" y="4407408"/>
            <a:ext cx="0" cy="384048"/>
          </a:xfrm>
          <a:prstGeom prst="line">
            <a:avLst/>
          </a:prstGeom>
          <a:noFill/>
          <a:ln w="14605">
            <a:solidFill>
              <a:srgbClr val="DC2626"/>
            </a:solidFill>
            <a:prstDash val="solid"/>
            <a:tailEnd type="triangle" w="sm" len="sm"/>
          </a:ln>
        </p:spPr>
      </p:sp>
      <p:sp>
        <p:nvSpPr>
          <p:cNvPr id="44" name="Shape 42"/>
          <p:cNvSpPr/>
          <p:nvPr/>
        </p:nvSpPr>
        <p:spPr>
          <a:xfrm>
            <a:off x="6013094" y="3319272"/>
            <a:ext cx="164592" cy="0"/>
          </a:xfrm>
          <a:prstGeom prst="line">
            <a:avLst/>
          </a:prstGeom>
          <a:noFill/>
          <a:ln w="17780">
            <a:solidFill>
              <a:srgbClr val="1E293B"/>
            </a:solidFill>
            <a:prstDash val="solid"/>
            <a:tailEnd type="triangle" w="sm" len="sm"/>
          </a:ln>
        </p:spPr>
      </p:sp>
      <p:sp>
        <p:nvSpPr>
          <p:cNvPr id="45" name="Shape 43"/>
          <p:cNvSpPr/>
          <p:nvPr/>
        </p:nvSpPr>
        <p:spPr>
          <a:xfrm>
            <a:off x="5138928" y="4407408"/>
            <a:ext cx="0" cy="384048"/>
          </a:xfrm>
          <a:prstGeom prst="line">
            <a:avLst/>
          </a:prstGeom>
          <a:noFill/>
          <a:ln w="14605">
            <a:solidFill>
              <a:srgbClr val="DC2626"/>
            </a:solidFill>
            <a:prstDash val="solid"/>
            <a:tailEnd type="triangle" w="sm" len="sm"/>
          </a:ln>
        </p:spPr>
      </p:sp>
      <p:sp>
        <p:nvSpPr>
          <p:cNvPr id="46" name="Shape 44"/>
          <p:cNvSpPr/>
          <p:nvPr/>
        </p:nvSpPr>
        <p:spPr>
          <a:xfrm>
            <a:off x="7926019" y="3319272"/>
            <a:ext cx="164592" cy="0"/>
          </a:xfrm>
          <a:prstGeom prst="line">
            <a:avLst/>
          </a:prstGeom>
          <a:noFill/>
          <a:ln w="17780">
            <a:solidFill>
              <a:srgbClr val="1E293B"/>
            </a:solidFill>
            <a:prstDash val="solid"/>
            <a:tailEnd type="triangle" w="sm" len="sm"/>
          </a:ln>
        </p:spPr>
      </p:sp>
      <p:sp>
        <p:nvSpPr>
          <p:cNvPr id="47" name="Shape 45"/>
          <p:cNvSpPr/>
          <p:nvPr/>
        </p:nvSpPr>
        <p:spPr>
          <a:xfrm>
            <a:off x="7051853" y="4407408"/>
            <a:ext cx="0" cy="384048"/>
          </a:xfrm>
          <a:prstGeom prst="line">
            <a:avLst/>
          </a:prstGeom>
          <a:noFill/>
          <a:ln w="14605">
            <a:solidFill>
              <a:srgbClr val="DC2626"/>
            </a:solidFill>
            <a:prstDash val="solid"/>
            <a:tailEnd type="triangle" w="sm" len="sm"/>
          </a:ln>
        </p:spPr>
      </p:sp>
      <p:sp>
        <p:nvSpPr>
          <p:cNvPr id="48" name="Shape 46"/>
          <p:cNvSpPr/>
          <p:nvPr/>
        </p:nvSpPr>
        <p:spPr>
          <a:xfrm>
            <a:off x="9838944" y="3319272"/>
            <a:ext cx="164592" cy="0"/>
          </a:xfrm>
          <a:prstGeom prst="line">
            <a:avLst/>
          </a:prstGeom>
          <a:noFill/>
          <a:ln w="17780">
            <a:solidFill>
              <a:srgbClr val="047857"/>
            </a:solidFill>
            <a:prstDash val="dash"/>
            <a:tailEnd type="triangle" w="sm" len="sm"/>
          </a:ln>
        </p:spPr>
      </p:sp>
      <p:sp>
        <p:nvSpPr>
          <p:cNvPr id="49" name="Shape 47"/>
          <p:cNvSpPr/>
          <p:nvPr/>
        </p:nvSpPr>
        <p:spPr>
          <a:xfrm>
            <a:off x="8964778" y="4407408"/>
            <a:ext cx="0" cy="384048"/>
          </a:xfrm>
          <a:prstGeom prst="line">
            <a:avLst/>
          </a:prstGeom>
          <a:noFill/>
          <a:ln w="14605">
            <a:solidFill>
              <a:srgbClr val="DC2626"/>
            </a:solidFill>
            <a:prstDash val="solid"/>
            <a:tailEnd type="triangle" w="sm" len="sm"/>
          </a:ln>
        </p:spPr>
      </p:sp>
      <p:sp>
        <p:nvSpPr>
          <p:cNvPr id="50" name="Shape 48"/>
          <p:cNvSpPr/>
          <p:nvPr/>
        </p:nvSpPr>
        <p:spPr>
          <a:xfrm>
            <a:off x="10877702" y="4407408"/>
            <a:ext cx="0" cy="384048"/>
          </a:xfrm>
          <a:prstGeom prst="line">
            <a:avLst/>
          </a:prstGeom>
          <a:noFill/>
          <a:ln w="14605">
            <a:solidFill>
              <a:srgbClr val="475569"/>
            </a:solidFill>
            <a:prstDash val="dash"/>
            <a:tailEnd type="triangle" w="sm" len="sm"/>
          </a:ln>
        </p:spPr>
      </p:sp>
      <p:sp>
        <p:nvSpPr>
          <p:cNvPr id="51" name="Shape 49"/>
          <p:cNvSpPr/>
          <p:nvPr/>
        </p:nvSpPr>
        <p:spPr>
          <a:xfrm>
            <a:off x="461772" y="2256739"/>
            <a:ext cx="1748333" cy="2176272"/>
          </a:xfrm>
          <a:prstGeom prst="roundRect">
            <a:avLst>
              <a:gd name="adj" fmla="val 3661"/>
            </a:avLst>
          </a:prstGeom>
          <a:solidFill>
            <a:srgbClr val="E2E8F0"/>
          </a:solidFill>
          <a:ln/>
        </p:spPr>
      </p:sp>
      <p:sp>
        <p:nvSpPr>
          <p:cNvPr id="52" name="Shape 50"/>
          <p:cNvSpPr/>
          <p:nvPr/>
        </p:nvSpPr>
        <p:spPr>
          <a:xfrm>
            <a:off x="438912" y="2231136"/>
            <a:ext cx="1748333" cy="2176272"/>
          </a:xfrm>
          <a:prstGeom prst="roundRect">
            <a:avLst>
              <a:gd name="adj" fmla="val 3661"/>
            </a:avLst>
          </a:prstGeom>
          <a:solidFill>
            <a:srgbClr val="FFFFFF"/>
          </a:solidFill>
          <a:ln w="10795">
            <a:solidFill>
              <a:srgbClr val="BFDBFE"/>
            </a:solidFill>
            <a:prstDash val="solid"/>
          </a:ln>
        </p:spPr>
      </p:sp>
      <p:sp>
        <p:nvSpPr>
          <p:cNvPr id="53" name="Shape 51"/>
          <p:cNvSpPr/>
          <p:nvPr/>
        </p:nvSpPr>
        <p:spPr>
          <a:xfrm>
            <a:off x="438912" y="2231136"/>
            <a:ext cx="1748333" cy="50292"/>
          </a:xfrm>
          <a:prstGeom prst="roundRect">
            <a:avLst>
              <a:gd name="adj" fmla="val 36364"/>
            </a:avLst>
          </a:prstGeom>
          <a:solidFill>
            <a:srgbClr val="1D4ED8"/>
          </a:solidFill>
          <a:ln/>
        </p:spPr>
      </p:sp>
      <p:sp>
        <p:nvSpPr>
          <p:cNvPr id="54" name="Shape 52"/>
          <p:cNvSpPr/>
          <p:nvPr/>
        </p:nvSpPr>
        <p:spPr>
          <a:xfrm>
            <a:off x="548640" y="2359152"/>
            <a:ext cx="1528877" cy="201168"/>
          </a:xfrm>
          <a:prstGeom prst="roundRect">
            <a:avLst>
              <a:gd name="adj" fmla="val 36364"/>
            </a:avLst>
          </a:prstGeom>
          <a:solidFill>
            <a:srgbClr val="EFF6FF"/>
          </a:solidFill>
          <a:ln w="9525">
            <a:solidFill>
              <a:srgbClr val="BFDBFE"/>
            </a:solidFill>
            <a:prstDash val="solid"/>
          </a:ln>
        </p:spPr>
      </p:sp>
      <p:sp>
        <p:nvSpPr>
          <p:cNvPr id="55" name="Text 53"/>
          <p:cNvSpPr/>
          <p:nvPr/>
        </p:nvSpPr>
        <p:spPr>
          <a:xfrm>
            <a:off x="548640" y="2359152"/>
            <a:ext cx="1528877" cy="201168"/>
          </a:xfrm>
          <a:prstGeom prst="rect">
            <a:avLst/>
          </a:prstGeom>
          <a:noFill/>
          <a:ln/>
        </p:spPr>
        <p:txBody>
          <a:bodyPr wrap="square" lIns="0" tIns="0" rIns="0" bIns="0" rtlCol="0" anchor="ctr"/>
          <a:lstStyle/>
          <a:p>
            <a:pPr algn="ctr" indent="0" marL="0">
              <a:lnSpc>
                <a:spcPct val="105000"/>
              </a:lnSpc>
              <a:buNone/>
            </a:pPr>
            <a:r>
              <a:rPr lang="en-US" sz="640" b="1" dirty="0">
                <a:solidFill>
                  <a:srgbClr val="1D4ED8"/>
                </a:solidFill>
                <a:latin typeface="Arial" pitchFamily="34" charset="0"/>
                <a:ea typeface="Arial" pitchFamily="34" charset="-122"/>
                <a:cs typeface="Arial" pitchFamily="34" charset="-120"/>
              </a:rPr>
              <a:t>HOP 1  •  ~8ms</a:t>
            </a:r>
            <a:endParaRPr lang="en-US" sz="640" dirty="0"/>
          </a:p>
        </p:txBody>
      </p:sp>
      <p:sp>
        <p:nvSpPr>
          <p:cNvPr id="56" name="Text 54"/>
          <p:cNvSpPr/>
          <p:nvPr/>
        </p:nvSpPr>
        <p:spPr>
          <a:xfrm>
            <a:off x="530352" y="2633472"/>
            <a:ext cx="1565453" cy="310896"/>
          </a:xfrm>
          <a:prstGeom prst="rect">
            <a:avLst/>
          </a:prstGeom>
          <a:noFill/>
          <a:ln/>
        </p:spPr>
        <p:txBody>
          <a:bodyPr wrap="square" lIns="0" tIns="0" rIns="0" bIns="0" rtlCol="0" anchor="ctr"/>
          <a:lstStyle/>
          <a:p>
            <a:pPr algn="ctr" indent="0" marL="0">
              <a:lnSpc>
                <a:spcPct val="105000"/>
              </a:lnSpc>
              <a:buNone/>
            </a:pPr>
            <a:r>
              <a:rPr lang="en-US" sz="860" b="1" dirty="0">
                <a:solidFill>
                  <a:srgbClr val="0F172A"/>
                </a:solidFill>
                <a:latin typeface="Arial" pitchFamily="34" charset="0"/>
                <a:ea typeface="Arial" pitchFamily="34" charset="-122"/>
                <a:cs typeface="Arial" pitchFamily="34" charset="-120"/>
              </a:rPr>
              <a:t>Identity &amp; Token Sign</a:t>
            </a:r>
            <a:endParaRPr lang="en-US" sz="860" dirty="0"/>
          </a:p>
        </p:txBody>
      </p:sp>
      <p:sp>
        <p:nvSpPr>
          <p:cNvPr id="57" name="Text 55"/>
          <p:cNvSpPr/>
          <p:nvPr/>
        </p:nvSpPr>
        <p:spPr>
          <a:xfrm>
            <a:off x="530352" y="2962656"/>
            <a:ext cx="1565453" cy="182880"/>
          </a:xfrm>
          <a:prstGeom prst="rect">
            <a:avLst/>
          </a:prstGeom>
          <a:noFill/>
          <a:ln/>
        </p:spPr>
        <p:txBody>
          <a:bodyPr wrap="square" lIns="0" tIns="0" rIns="0" bIns="0" rtlCol="0" anchor="ctr"/>
          <a:lstStyle/>
          <a:p>
            <a:pPr algn="ctr" indent="0" marL="0">
              <a:lnSpc>
                <a:spcPct val="105000"/>
              </a:lnSpc>
              <a:buNone/>
            </a:pPr>
            <a:r>
              <a:rPr lang="en-US" sz="700" b="1" dirty="0">
                <a:solidFill>
                  <a:srgbClr val="1D4ED8"/>
                </a:solidFill>
                <a:latin typeface="Arial" pitchFamily="34" charset="0"/>
                <a:ea typeface="Arial" pitchFamily="34" charset="-122"/>
                <a:cs typeface="Arial" pitchFamily="34" charset="-120"/>
              </a:rPr>
              <a:t>Cloud Armor + IAP + STS</a:t>
            </a:r>
            <a:endParaRPr lang="en-US" sz="700" dirty="0"/>
          </a:p>
        </p:txBody>
      </p:sp>
      <p:sp>
        <p:nvSpPr>
          <p:cNvPr id="58" name="Text 56"/>
          <p:cNvSpPr/>
          <p:nvPr/>
        </p:nvSpPr>
        <p:spPr>
          <a:xfrm>
            <a:off x="548640" y="3218688"/>
            <a:ext cx="1528877" cy="1060704"/>
          </a:xfrm>
          <a:prstGeom prst="rect">
            <a:avLst/>
          </a:prstGeom>
          <a:noFill/>
          <a:ln/>
        </p:spPr>
        <p:txBody>
          <a:bodyPr wrap="square" lIns="0" tIns="0" rIns="0" bIns="0" rtlCol="0" anchor="ctr"/>
          <a:lstStyle/>
          <a:p>
            <a:pPr algn="ctr" indent="0" marL="0">
              <a:lnSpc>
                <a:spcPct val="110000"/>
              </a:lnSpc>
              <a:buNone/>
            </a:pPr>
            <a:r>
              <a:rPr lang="en-US" sz="720" dirty="0">
                <a:solidFill>
                  <a:srgbClr val="334155"/>
                </a:solidFill>
                <a:latin typeface="Arial" pitchFamily="34" charset="0"/>
                <a:ea typeface="Arial" pitchFamily="34" charset="-122"/>
                <a:cs typeface="Arial" pitchFamily="34" charset="-120"/>
              </a:rPr>
              <a:t>Strips X-Tenant-Id header; validates OIDC + DPoP; mints KMS P-256 JWT.</a:t>
            </a:r>
            <a:endParaRPr lang="en-US" sz="720" dirty="0"/>
          </a:p>
        </p:txBody>
      </p:sp>
      <p:sp>
        <p:nvSpPr>
          <p:cNvPr id="59" name="Shape 57"/>
          <p:cNvSpPr/>
          <p:nvPr/>
        </p:nvSpPr>
        <p:spPr>
          <a:xfrm>
            <a:off x="438912" y="4791456"/>
            <a:ext cx="1748333" cy="1024128"/>
          </a:xfrm>
          <a:prstGeom prst="roundRect">
            <a:avLst>
              <a:gd name="adj" fmla="val 6250"/>
            </a:avLst>
          </a:prstGeom>
          <a:solidFill>
            <a:srgbClr val="FEF2F2"/>
          </a:solidFill>
          <a:ln w="10795">
            <a:solidFill>
              <a:srgbClr val="FECACA"/>
            </a:solidFill>
            <a:prstDash val="solid"/>
          </a:ln>
        </p:spPr>
      </p:sp>
      <p:sp>
        <p:nvSpPr>
          <p:cNvPr id="60" name="Shape 58"/>
          <p:cNvSpPr/>
          <p:nvPr/>
        </p:nvSpPr>
        <p:spPr>
          <a:xfrm>
            <a:off x="438912" y="4791456"/>
            <a:ext cx="54864" cy="1024128"/>
          </a:xfrm>
          <a:prstGeom prst="roundRect">
            <a:avLst>
              <a:gd name="adj" fmla="val 33333"/>
            </a:avLst>
          </a:prstGeom>
          <a:solidFill>
            <a:srgbClr val="B91C1C"/>
          </a:solidFill>
          <a:ln/>
        </p:spPr>
      </p:sp>
      <p:sp>
        <p:nvSpPr>
          <p:cNvPr id="61" name="Text 59"/>
          <p:cNvSpPr/>
          <p:nvPr/>
        </p:nvSpPr>
        <p:spPr>
          <a:xfrm>
            <a:off x="566928" y="4864608"/>
            <a:ext cx="1547165" cy="201168"/>
          </a:xfrm>
          <a:prstGeom prst="rect">
            <a:avLst/>
          </a:prstGeom>
          <a:noFill/>
          <a:ln/>
        </p:spPr>
        <p:txBody>
          <a:bodyPr wrap="square" lIns="0" tIns="0" rIns="0" bIns="0" rtlCol="0" anchor="ctr"/>
          <a:lstStyle/>
          <a:p>
            <a:pPr indent="0" marL="0">
              <a:lnSpc>
                <a:spcPct val="105000"/>
              </a:lnSpc>
              <a:buNone/>
            </a:pPr>
            <a:r>
              <a:rPr lang="en-US" sz="740" b="1" dirty="0">
                <a:solidFill>
                  <a:srgbClr val="B91C1C"/>
                </a:solidFill>
                <a:latin typeface="Arial" pitchFamily="34" charset="0"/>
                <a:ea typeface="Arial" pitchFamily="34" charset="-122"/>
                <a:cs typeface="Arial" pitchFamily="34" charset="-120"/>
              </a:rPr>
              <a:t>HTTP 401 / 403</a:t>
            </a:r>
            <a:endParaRPr lang="en-US" sz="740" dirty="0"/>
          </a:p>
        </p:txBody>
      </p:sp>
      <p:sp>
        <p:nvSpPr>
          <p:cNvPr id="62" name="Text 60"/>
          <p:cNvSpPr/>
          <p:nvPr/>
        </p:nvSpPr>
        <p:spPr>
          <a:xfrm>
            <a:off x="566928" y="5084064"/>
            <a:ext cx="1547165" cy="658368"/>
          </a:xfrm>
          <a:prstGeom prst="rect">
            <a:avLst/>
          </a:prstGeom>
          <a:noFill/>
          <a:ln/>
        </p:spPr>
        <p:txBody>
          <a:bodyPr wrap="square" lIns="0" tIns="0" rIns="0" bIns="0" rtlCol="0" anchor="ctr"/>
          <a:lstStyle/>
          <a:p>
            <a:pPr indent="0" marL="0">
              <a:lnSpc>
                <a:spcPct val="106000"/>
              </a:lnSpc>
              <a:buNone/>
            </a:pPr>
            <a:r>
              <a:rPr lang="en-US" sz="690" dirty="0">
                <a:solidFill>
                  <a:srgbClr val="0F172A"/>
                </a:solidFill>
                <a:latin typeface="Arial" pitchFamily="34" charset="0"/>
                <a:ea typeface="Arial" pitchFamily="34" charset="-122"/>
                <a:cs typeface="Arial" pitchFamily="34" charset="-120"/>
              </a:rPr>
              <a:t>Spoofed header, bad DPoP proof, or revoked JTI blocked.</a:t>
            </a:r>
            <a:endParaRPr lang="en-US" sz="690" dirty="0"/>
          </a:p>
        </p:txBody>
      </p:sp>
      <p:sp>
        <p:nvSpPr>
          <p:cNvPr id="63" name="Shape 61"/>
          <p:cNvSpPr/>
          <p:nvPr/>
        </p:nvSpPr>
        <p:spPr>
          <a:xfrm>
            <a:off x="2374697" y="2256739"/>
            <a:ext cx="1748333" cy="2176272"/>
          </a:xfrm>
          <a:prstGeom prst="roundRect">
            <a:avLst>
              <a:gd name="adj" fmla="val 3661"/>
            </a:avLst>
          </a:prstGeom>
          <a:solidFill>
            <a:srgbClr val="E2E8F0"/>
          </a:solidFill>
          <a:ln/>
        </p:spPr>
      </p:sp>
      <p:sp>
        <p:nvSpPr>
          <p:cNvPr id="64" name="Shape 62"/>
          <p:cNvSpPr/>
          <p:nvPr/>
        </p:nvSpPr>
        <p:spPr>
          <a:xfrm>
            <a:off x="2351837" y="2231136"/>
            <a:ext cx="1748333" cy="2176272"/>
          </a:xfrm>
          <a:prstGeom prst="roundRect">
            <a:avLst>
              <a:gd name="adj" fmla="val 3661"/>
            </a:avLst>
          </a:prstGeom>
          <a:solidFill>
            <a:srgbClr val="FFFFFF"/>
          </a:solidFill>
          <a:ln w="10795">
            <a:solidFill>
              <a:srgbClr val="C7D2FE"/>
            </a:solidFill>
            <a:prstDash val="solid"/>
          </a:ln>
        </p:spPr>
      </p:sp>
      <p:sp>
        <p:nvSpPr>
          <p:cNvPr id="65" name="Shape 63"/>
          <p:cNvSpPr/>
          <p:nvPr/>
        </p:nvSpPr>
        <p:spPr>
          <a:xfrm>
            <a:off x="2351837" y="2231136"/>
            <a:ext cx="1748333" cy="50292"/>
          </a:xfrm>
          <a:prstGeom prst="roundRect">
            <a:avLst>
              <a:gd name="adj" fmla="val 36364"/>
            </a:avLst>
          </a:prstGeom>
          <a:solidFill>
            <a:srgbClr val="4338CA"/>
          </a:solidFill>
          <a:ln/>
        </p:spPr>
      </p:sp>
      <p:sp>
        <p:nvSpPr>
          <p:cNvPr id="66" name="Shape 64"/>
          <p:cNvSpPr/>
          <p:nvPr/>
        </p:nvSpPr>
        <p:spPr>
          <a:xfrm>
            <a:off x="2461565" y="2359152"/>
            <a:ext cx="1528877" cy="201168"/>
          </a:xfrm>
          <a:prstGeom prst="roundRect">
            <a:avLst>
              <a:gd name="adj" fmla="val 36364"/>
            </a:avLst>
          </a:prstGeom>
          <a:solidFill>
            <a:srgbClr val="EEF2FF"/>
          </a:solidFill>
          <a:ln w="9525">
            <a:solidFill>
              <a:srgbClr val="C7D2FE"/>
            </a:solidFill>
            <a:prstDash val="solid"/>
          </a:ln>
        </p:spPr>
      </p:sp>
      <p:sp>
        <p:nvSpPr>
          <p:cNvPr id="67" name="Text 65"/>
          <p:cNvSpPr/>
          <p:nvPr/>
        </p:nvSpPr>
        <p:spPr>
          <a:xfrm>
            <a:off x="2461565" y="2359152"/>
            <a:ext cx="1528877" cy="201168"/>
          </a:xfrm>
          <a:prstGeom prst="rect">
            <a:avLst/>
          </a:prstGeom>
          <a:noFill/>
          <a:ln/>
        </p:spPr>
        <p:txBody>
          <a:bodyPr wrap="square" lIns="0" tIns="0" rIns="0" bIns="0" rtlCol="0" anchor="ctr"/>
          <a:lstStyle/>
          <a:p>
            <a:pPr algn="ctr" indent="0" marL="0">
              <a:lnSpc>
                <a:spcPct val="105000"/>
              </a:lnSpc>
              <a:buNone/>
            </a:pPr>
            <a:r>
              <a:rPr lang="en-US" sz="640" b="1" dirty="0">
                <a:solidFill>
                  <a:srgbClr val="4338CA"/>
                </a:solidFill>
                <a:latin typeface="Arial" pitchFamily="34" charset="0"/>
                <a:ea typeface="Arial" pitchFamily="34" charset="-122"/>
                <a:cs typeface="Arial" pitchFamily="34" charset="-120"/>
              </a:rPr>
              <a:t>HOP 2  •  ~4ms</a:t>
            </a:r>
            <a:endParaRPr lang="en-US" sz="640" dirty="0"/>
          </a:p>
        </p:txBody>
      </p:sp>
      <p:sp>
        <p:nvSpPr>
          <p:cNvPr id="68" name="Text 66"/>
          <p:cNvSpPr/>
          <p:nvPr/>
        </p:nvSpPr>
        <p:spPr>
          <a:xfrm>
            <a:off x="2443277" y="2633472"/>
            <a:ext cx="1565453" cy="310896"/>
          </a:xfrm>
          <a:prstGeom prst="rect">
            <a:avLst/>
          </a:prstGeom>
          <a:noFill/>
          <a:ln/>
        </p:spPr>
        <p:txBody>
          <a:bodyPr wrap="square" lIns="0" tIns="0" rIns="0" bIns="0" rtlCol="0" anchor="ctr"/>
          <a:lstStyle/>
          <a:p>
            <a:pPr algn="ctr" indent="0" marL="0">
              <a:lnSpc>
                <a:spcPct val="105000"/>
              </a:lnSpc>
              <a:buNone/>
            </a:pPr>
            <a:r>
              <a:rPr lang="en-US" sz="860" b="1" dirty="0">
                <a:solidFill>
                  <a:srgbClr val="0F172A"/>
                </a:solidFill>
                <a:latin typeface="Arial" pitchFamily="34" charset="0"/>
                <a:ea typeface="Arial" pitchFamily="34" charset="-122"/>
                <a:cs typeface="Arial" pitchFamily="34" charset="-120"/>
              </a:rPr>
              <a:t>Catalog &amp; Tool Scope</a:t>
            </a:r>
            <a:endParaRPr lang="en-US" sz="860" dirty="0"/>
          </a:p>
        </p:txBody>
      </p:sp>
      <p:sp>
        <p:nvSpPr>
          <p:cNvPr id="69" name="Text 67"/>
          <p:cNvSpPr/>
          <p:nvPr/>
        </p:nvSpPr>
        <p:spPr>
          <a:xfrm>
            <a:off x="2443277" y="2962656"/>
            <a:ext cx="1565453" cy="182880"/>
          </a:xfrm>
          <a:prstGeom prst="rect">
            <a:avLst/>
          </a:prstGeom>
          <a:noFill/>
          <a:ln/>
        </p:spPr>
        <p:txBody>
          <a:bodyPr wrap="square" lIns="0" tIns="0" rIns="0" bIns="0" rtlCol="0" anchor="ctr"/>
          <a:lstStyle/>
          <a:p>
            <a:pPr algn="ctr" indent="0" marL="0">
              <a:lnSpc>
                <a:spcPct val="105000"/>
              </a:lnSpc>
              <a:buNone/>
            </a:pPr>
            <a:r>
              <a:rPr lang="en-US" sz="700" b="1" dirty="0">
                <a:solidFill>
                  <a:srgbClr val="4338CA"/>
                </a:solidFill>
                <a:latin typeface="Arial" pitchFamily="34" charset="0"/>
                <a:ea typeface="Arial" pitchFamily="34" charset="-122"/>
                <a:cs typeface="Arial" pitchFamily="34" charset="-120"/>
              </a:rPr>
              <a:t>ARD + MCP Gateway</a:t>
            </a:r>
            <a:endParaRPr lang="en-US" sz="700" dirty="0"/>
          </a:p>
        </p:txBody>
      </p:sp>
      <p:sp>
        <p:nvSpPr>
          <p:cNvPr id="70" name="Text 68"/>
          <p:cNvSpPr/>
          <p:nvPr/>
        </p:nvSpPr>
        <p:spPr>
          <a:xfrm>
            <a:off x="2461565" y="3218688"/>
            <a:ext cx="1528877" cy="1060704"/>
          </a:xfrm>
          <a:prstGeom prst="rect">
            <a:avLst/>
          </a:prstGeom>
          <a:noFill/>
          <a:ln/>
        </p:spPr>
        <p:txBody>
          <a:bodyPr wrap="square" lIns="0" tIns="0" rIns="0" bIns="0" rtlCol="0" anchor="ctr"/>
          <a:lstStyle/>
          <a:p>
            <a:pPr algn="ctr" indent="0" marL="0">
              <a:lnSpc>
                <a:spcPct val="110000"/>
              </a:lnSpc>
              <a:buNone/>
            </a:pPr>
            <a:r>
              <a:rPr lang="en-US" sz="720" dirty="0">
                <a:solidFill>
                  <a:srgbClr val="334155"/>
                </a:solidFill>
                <a:latin typeface="Arial" pitchFamily="34" charset="0"/>
                <a:ea typeface="Arial" pitchFamily="34" charset="-122"/>
                <a:cs typeface="Arial" pitchFamily="34" charset="-120"/>
              </a:rPr>
              <a:t>Prunes Discovery Engine ACLs to agent://{tenant}/*; resolves 3LO vault key.</a:t>
            </a:r>
            <a:endParaRPr lang="en-US" sz="720" dirty="0"/>
          </a:p>
        </p:txBody>
      </p:sp>
      <p:sp>
        <p:nvSpPr>
          <p:cNvPr id="71" name="Shape 69"/>
          <p:cNvSpPr/>
          <p:nvPr/>
        </p:nvSpPr>
        <p:spPr>
          <a:xfrm>
            <a:off x="2351837" y="4791456"/>
            <a:ext cx="1748333" cy="1024128"/>
          </a:xfrm>
          <a:prstGeom prst="roundRect">
            <a:avLst>
              <a:gd name="adj" fmla="val 6250"/>
            </a:avLst>
          </a:prstGeom>
          <a:solidFill>
            <a:srgbClr val="FEF2F2"/>
          </a:solidFill>
          <a:ln w="10795">
            <a:solidFill>
              <a:srgbClr val="FECACA"/>
            </a:solidFill>
            <a:prstDash val="solid"/>
          </a:ln>
        </p:spPr>
      </p:sp>
      <p:sp>
        <p:nvSpPr>
          <p:cNvPr id="72" name="Shape 70"/>
          <p:cNvSpPr/>
          <p:nvPr/>
        </p:nvSpPr>
        <p:spPr>
          <a:xfrm>
            <a:off x="2351837" y="4791456"/>
            <a:ext cx="54864" cy="1024128"/>
          </a:xfrm>
          <a:prstGeom prst="roundRect">
            <a:avLst>
              <a:gd name="adj" fmla="val 33333"/>
            </a:avLst>
          </a:prstGeom>
          <a:solidFill>
            <a:srgbClr val="B91C1C"/>
          </a:solidFill>
          <a:ln/>
        </p:spPr>
      </p:sp>
      <p:sp>
        <p:nvSpPr>
          <p:cNvPr id="73" name="Text 71"/>
          <p:cNvSpPr/>
          <p:nvPr/>
        </p:nvSpPr>
        <p:spPr>
          <a:xfrm>
            <a:off x="2479853" y="4864608"/>
            <a:ext cx="1547165" cy="201168"/>
          </a:xfrm>
          <a:prstGeom prst="rect">
            <a:avLst/>
          </a:prstGeom>
          <a:noFill/>
          <a:ln/>
        </p:spPr>
        <p:txBody>
          <a:bodyPr wrap="square" lIns="0" tIns="0" rIns="0" bIns="0" rtlCol="0" anchor="ctr"/>
          <a:lstStyle/>
          <a:p>
            <a:pPr indent="0" marL="0">
              <a:lnSpc>
                <a:spcPct val="105000"/>
              </a:lnSpc>
              <a:buNone/>
            </a:pPr>
            <a:r>
              <a:rPr lang="en-US" sz="740" b="1" dirty="0">
                <a:solidFill>
                  <a:srgbClr val="B91C1C"/>
                </a:solidFill>
                <a:latin typeface="Arial" pitchFamily="34" charset="0"/>
                <a:ea typeface="Arial" pitchFamily="34" charset="-122"/>
                <a:cs typeface="Arial" pitchFamily="34" charset="-120"/>
              </a:rPr>
              <a:t>HTTP 403 DENY</a:t>
            </a:r>
            <a:endParaRPr lang="en-US" sz="740" dirty="0"/>
          </a:p>
        </p:txBody>
      </p:sp>
      <p:sp>
        <p:nvSpPr>
          <p:cNvPr id="74" name="Text 72"/>
          <p:cNvSpPr/>
          <p:nvPr/>
        </p:nvSpPr>
        <p:spPr>
          <a:xfrm>
            <a:off x="2479853" y="5084064"/>
            <a:ext cx="1547165" cy="658368"/>
          </a:xfrm>
          <a:prstGeom prst="rect">
            <a:avLst/>
          </a:prstGeom>
          <a:noFill/>
          <a:ln/>
        </p:spPr>
        <p:txBody>
          <a:bodyPr wrap="square" lIns="0" tIns="0" rIns="0" bIns="0" rtlCol="0" anchor="ctr"/>
          <a:lstStyle/>
          <a:p>
            <a:pPr indent="0" marL="0">
              <a:lnSpc>
                <a:spcPct val="106000"/>
              </a:lnSpc>
              <a:buNone/>
            </a:pPr>
            <a:r>
              <a:rPr lang="en-US" sz="690" dirty="0">
                <a:solidFill>
                  <a:srgbClr val="0F172A"/>
                </a:solidFill>
                <a:latin typeface="Arial" pitchFamily="34" charset="0"/>
                <a:ea typeface="Arial" pitchFamily="34" charset="-122"/>
                <a:cs typeface="Arial" pitchFamily="34" charset="-120"/>
              </a:rPr>
              <a:t>Unauthorized private agent or unconsented 3LO scope denied.</a:t>
            </a:r>
            <a:endParaRPr lang="en-US" sz="690" dirty="0"/>
          </a:p>
        </p:txBody>
      </p:sp>
      <p:sp>
        <p:nvSpPr>
          <p:cNvPr id="75" name="Shape 73"/>
          <p:cNvSpPr/>
          <p:nvPr/>
        </p:nvSpPr>
        <p:spPr>
          <a:xfrm>
            <a:off x="4287622" y="2256739"/>
            <a:ext cx="1748333" cy="2176272"/>
          </a:xfrm>
          <a:prstGeom prst="roundRect">
            <a:avLst>
              <a:gd name="adj" fmla="val 3661"/>
            </a:avLst>
          </a:prstGeom>
          <a:solidFill>
            <a:srgbClr val="E2E8F0"/>
          </a:solidFill>
          <a:ln/>
        </p:spPr>
      </p:sp>
      <p:sp>
        <p:nvSpPr>
          <p:cNvPr id="76" name="Shape 74"/>
          <p:cNvSpPr/>
          <p:nvPr/>
        </p:nvSpPr>
        <p:spPr>
          <a:xfrm>
            <a:off x="4264762" y="2231136"/>
            <a:ext cx="1748333" cy="2176272"/>
          </a:xfrm>
          <a:prstGeom prst="roundRect">
            <a:avLst>
              <a:gd name="adj" fmla="val 3661"/>
            </a:avLst>
          </a:prstGeom>
          <a:solidFill>
            <a:srgbClr val="FFFFFF"/>
          </a:solidFill>
          <a:ln w="10795">
            <a:solidFill>
              <a:srgbClr val="99F6E4"/>
            </a:solidFill>
            <a:prstDash val="solid"/>
          </a:ln>
        </p:spPr>
      </p:sp>
      <p:sp>
        <p:nvSpPr>
          <p:cNvPr id="77" name="Shape 75"/>
          <p:cNvSpPr/>
          <p:nvPr/>
        </p:nvSpPr>
        <p:spPr>
          <a:xfrm>
            <a:off x="4264762" y="2231136"/>
            <a:ext cx="1748333" cy="50292"/>
          </a:xfrm>
          <a:prstGeom prst="roundRect">
            <a:avLst>
              <a:gd name="adj" fmla="val 36364"/>
            </a:avLst>
          </a:prstGeom>
          <a:solidFill>
            <a:srgbClr val="0F766E"/>
          </a:solidFill>
          <a:ln/>
        </p:spPr>
      </p:sp>
      <p:sp>
        <p:nvSpPr>
          <p:cNvPr id="78" name="Shape 76"/>
          <p:cNvSpPr/>
          <p:nvPr/>
        </p:nvSpPr>
        <p:spPr>
          <a:xfrm>
            <a:off x="4374490" y="2359152"/>
            <a:ext cx="1528877" cy="201168"/>
          </a:xfrm>
          <a:prstGeom prst="roundRect">
            <a:avLst>
              <a:gd name="adj" fmla="val 36364"/>
            </a:avLst>
          </a:prstGeom>
          <a:solidFill>
            <a:srgbClr val="F0FDFA"/>
          </a:solidFill>
          <a:ln w="9525">
            <a:solidFill>
              <a:srgbClr val="99F6E4"/>
            </a:solidFill>
            <a:prstDash val="solid"/>
          </a:ln>
        </p:spPr>
      </p:sp>
      <p:sp>
        <p:nvSpPr>
          <p:cNvPr id="79" name="Text 77"/>
          <p:cNvSpPr/>
          <p:nvPr/>
        </p:nvSpPr>
        <p:spPr>
          <a:xfrm>
            <a:off x="4374490" y="2359152"/>
            <a:ext cx="1528877" cy="201168"/>
          </a:xfrm>
          <a:prstGeom prst="rect">
            <a:avLst/>
          </a:prstGeom>
          <a:noFill/>
          <a:ln/>
        </p:spPr>
        <p:txBody>
          <a:bodyPr wrap="square" lIns="0" tIns="0" rIns="0" bIns="0" rtlCol="0" anchor="ctr"/>
          <a:lstStyle/>
          <a:p>
            <a:pPr algn="ctr" indent="0" marL="0">
              <a:lnSpc>
                <a:spcPct val="105000"/>
              </a:lnSpc>
              <a:buNone/>
            </a:pPr>
            <a:r>
              <a:rPr lang="en-US" sz="640" b="1" dirty="0">
                <a:solidFill>
                  <a:srgbClr val="0F766E"/>
                </a:solidFill>
                <a:latin typeface="Arial" pitchFamily="34" charset="0"/>
                <a:ea typeface="Arial" pitchFamily="34" charset="-122"/>
                <a:cs typeface="Arial" pitchFamily="34" charset="-120"/>
              </a:rPr>
              <a:t>HOP 3  •  ~3ms</a:t>
            </a:r>
            <a:endParaRPr lang="en-US" sz="640" dirty="0"/>
          </a:p>
        </p:txBody>
      </p:sp>
      <p:sp>
        <p:nvSpPr>
          <p:cNvPr id="80" name="Text 78"/>
          <p:cNvSpPr/>
          <p:nvPr/>
        </p:nvSpPr>
        <p:spPr>
          <a:xfrm>
            <a:off x="4356202" y="2633472"/>
            <a:ext cx="1565453" cy="310896"/>
          </a:xfrm>
          <a:prstGeom prst="rect">
            <a:avLst/>
          </a:prstGeom>
          <a:noFill/>
          <a:ln/>
        </p:spPr>
        <p:txBody>
          <a:bodyPr wrap="square" lIns="0" tIns="0" rIns="0" bIns="0" rtlCol="0" anchor="ctr"/>
          <a:lstStyle/>
          <a:p>
            <a:pPr algn="ctr" indent="0" marL="0">
              <a:lnSpc>
                <a:spcPct val="105000"/>
              </a:lnSpc>
              <a:buNone/>
            </a:pPr>
            <a:r>
              <a:rPr lang="en-US" sz="860" b="1" dirty="0">
                <a:solidFill>
                  <a:srgbClr val="0F172A"/>
                </a:solidFill>
                <a:latin typeface="Arial" pitchFamily="34" charset="0"/>
                <a:ea typeface="Arial" pitchFamily="34" charset="-122"/>
                <a:cs typeface="Arial" pitchFamily="34" charset="-120"/>
              </a:rPr>
              <a:t>Sandbox &amp; RPM Gate</a:t>
            </a:r>
            <a:endParaRPr lang="en-US" sz="860" dirty="0"/>
          </a:p>
        </p:txBody>
      </p:sp>
      <p:sp>
        <p:nvSpPr>
          <p:cNvPr id="81" name="Text 79"/>
          <p:cNvSpPr/>
          <p:nvPr/>
        </p:nvSpPr>
        <p:spPr>
          <a:xfrm>
            <a:off x="4356202" y="2962656"/>
            <a:ext cx="1565453" cy="182880"/>
          </a:xfrm>
          <a:prstGeom prst="rect">
            <a:avLst/>
          </a:prstGeom>
          <a:noFill/>
          <a:ln/>
        </p:spPr>
        <p:txBody>
          <a:bodyPr wrap="square" lIns="0" tIns="0" rIns="0" bIns="0" rtlCol="0" anchor="ctr"/>
          <a:lstStyle/>
          <a:p>
            <a:pPr algn="ctr" indent="0" marL="0">
              <a:lnSpc>
                <a:spcPct val="105000"/>
              </a:lnSpc>
              <a:buNone/>
            </a:pPr>
            <a:r>
              <a:rPr lang="en-US" sz="700" b="1" dirty="0">
                <a:solidFill>
                  <a:srgbClr val="0F766E"/>
                </a:solidFill>
                <a:latin typeface="Arial" pitchFamily="34" charset="0"/>
                <a:ea typeface="Arial" pitchFamily="34" charset="-122"/>
                <a:cs typeface="Arial" pitchFamily="34" charset="-120"/>
              </a:rPr>
              <a:t>ADK Hooks + Valkey</a:t>
            </a:r>
            <a:endParaRPr lang="en-US" sz="700" dirty="0"/>
          </a:p>
        </p:txBody>
      </p:sp>
      <p:sp>
        <p:nvSpPr>
          <p:cNvPr id="82" name="Text 80"/>
          <p:cNvSpPr/>
          <p:nvPr/>
        </p:nvSpPr>
        <p:spPr>
          <a:xfrm>
            <a:off x="4374490" y="3218688"/>
            <a:ext cx="1528877" cy="1060704"/>
          </a:xfrm>
          <a:prstGeom prst="rect">
            <a:avLst/>
          </a:prstGeom>
          <a:noFill/>
          <a:ln/>
        </p:spPr>
        <p:txBody>
          <a:bodyPr wrap="square" lIns="0" tIns="0" rIns="0" bIns="0" rtlCol="0" anchor="ctr"/>
          <a:lstStyle/>
          <a:p>
            <a:pPr algn="ctr" indent="0" marL="0">
              <a:lnSpc>
                <a:spcPct val="110000"/>
              </a:lnSpc>
              <a:buNone/>
            </a:pPr>
            <a:r>
              <a:rPr lang="en-US" sz="720" dirty="0">
                <a:solidFill>
                  <a:srgbClr val="334155"/>
                </a:solidFill>
                <a:latin typeface="Arial" pitchFamily="34" charset="0"/>
                <a:ea typeface="Arial" pitchFamily="34" charset="-122"/>
                <a:cs typeface="Arial" pitchFamily="34" charset="-120"/>
              </a:rPr>
              <a:t>Checks Lua token bucket (600 vs 120 RPM) and clamps max thinking budget.</a:t>
            </a:r>
            <a:endParaRPr lang="en-US" sz="720" dirty="0"/>
          </a:p>
        </p:txBody>
      </p:sp>
      <p:sp>
        <p:nvSpPr>
          <p:cNvPr id="83" name="Shape 81"/>
          <p:cNvSpPr/>
          <p:nvPr/>
        </p:nvSpPr>
        <p:spPr>
          <a:xfrm>
            <a:off x="4264762" y="4791456"/>
            <a:ext cx="1748333" cy="1024128"/>
          </a:xfrm>
          <a:prstGeom prst="roundRect">
            <a:avLst>
              <a:gd name="adj" fmla="val 6250"/>
            </a:avLst>
          </a:prstGeom>
          <a:solidFill>
            <a:srgbClr val="FEF2F2"/>
          </a:solidFill>
          <a:ln w="10795">
            <a:solidFill>
              <a:srgbClr val="FECACA"/>
            </a:solidFill>
            <a:prstDash val="solid"/>
          </a:ln>
        </p:spPr>
      </p:sp>
      <p:sp>
        <p:nvSpPr>
          <p:cNvPr id="84" name="Shape 82"/>
          <p:cNvSpPr/>
          <p:nvPr/>
        </p:nvSpPr>
        <p:spPr>
          <a:xfrm>
            <a:off x="4264762" y="4791456"/>
            <a:ext cx="54864" cy="1024128"/>
          </a:xfrm>
          <a:prstGeom prst="roundRect">
            <a:avLst>
              <a:gd name="adj" fmla="val 33333"/>
            </a:avLst>
          </a:prstGeom>
          <a:solidFill>
            <a:srgbClr val="B91C1C"/>
          </a:solidFill>
          <a:ln/>
        </p:spPr>
      </p:sp>
      <p:sp>
        <p:nvSpPr>
          <p:cNvPr id="85" name="Text 83"/>
          <p:cNvSpPr/>
          <p:nvPr/>
        </p:nvSpPr>
        <p:spPr>
          <a:xfrm>
            <a:off x="4392778" y="4864608"/>
            <a:ext cx="1547165" cy="201168"/>
          </a:xfrm>
          <a:prstGeom prst="rect">
            <a:avLst/>
          </a:prstGeom>
          <a:noFill/>
          <a:ln/>
        </p:spPr>
        <p:txBody>
          <a:bodyPr wrap="square" lIns="0" tIns="0" rIns="0" bIns="0" rtlCol="0" anchor="ctr"/>
          <a:lstStyle/>
          <a:p>
            <a:pPr indent="0" marL="0">
              <a:lnSpc>
                <a:spcPct val="105000"/>
              </a:lnSpc>
              <a:buNone/>
            </a:pPr>
            <a:r>
              <a:rPr lang="en-US" sz="740" b="1" dirty="0">
                <a:solidFill>
                  <a:srgbClr val="B91C1C"/>
                </a:solidFill>
                <a:latin typeface="Arial" pitchFamily="34" charset="0"/>
                <a:ea typeface="Arial" pitchFamily="34" charset="-122"/>
                <a:cs typeface="Arial" pitchFamily="34" charset="-120"/>
              </a:rPr>
              <a:t>HTTP 429 QUOTA</a:t>
            </a:r>
            <a:endParaRPr lang="en-US" sz="740" dirty="0"/>
          </a:p>
        </p:txBody>
      </p:sp>
      <p:sp>
        <p:nvSpPr>
          <p:cNvPr id="86" name="Text 84"/>
          <p:cNvSpPr/>
          <p:nvPr/>
        </p:nvSpPr>
        <p:spPr>
          <a:xfrm>
            <a:off x="4392778" y="5084064"/>
            <a:ext cx="1547165" cy="658368"/>
          </a:xfrm>
          <a:prstGeom prst="rect">
            <a:avLst/>
          </a:prstGeom>
          <a:noFill/>
          <a:ln/>
        </p:spPr>
        <p:txBody>
          <a:bodyPr wrap="square" lIns="0" tIns="0" rIns="0" bIns="0" rtlCol="0" anchor="ctr"/>
          <a:lstStyle/>
          <a:p>
            <a:pPr indent="0" marL="0">
              <a:lnSpc>
                <a:spcPct val="106000"/>
              </a:lnSpc>
              <a:buNone/>
            </a:pPr>
            <a:r>
              <a:rPr lang="en-US" sz="690" dirty="0">
                <a:solidFill>
                  <a:srgbClr val="0F172A"/>
                </a:solidFill>
                <a:latin typeface="Arial" pitchFamily="34" charset="0"/>
                <a:ea typeface="Arial" pitchFamily="34" charset="-122"/>
                <a:cs typeface="Arial" pitchFamily="34" charset="-120"/>
              </a:rPr>
              <a:t>Noisy neighbor throttled with Retry-After jitter; peers safe.</a:t>
            </a:r>
            <a:endParaRPr lang="en-US" sz="690" dirty="0"/>
          </a:p>
        </p:txBody>
      </p:sp>
      <p:sp>
        <p:nvSpPr>
          <p:cNvPr id="87" name="Shape 85"/>
          <p:cNvSpPr/>
          <p:nvPr/>
        </p:nvSpPr>
        <p:spPr>
          <a:xfrm>
            <a:off x="6200546" y="2256739"/>
            <a:ext cx="1748333" cy="2176272"/>
          </a:xfrm>
          <a:prstGeom prst="roundRect">
            <a:avLst>
              <a:gd name="adj" fmla="val 3661"/>
            </a:avLst>
          </a:prstGeom>
          <a:solidFill>
            <a:srgbClr val="E2E8F0"/>
          </a:solidFill>
          <a:ln/>
        </p:spPr>
      </p:sp>
      <p:sp>
        <p:nvSpPr>
          <p:cNvPr id="88" name="Shape 86"/>
          <p:cNvSpPr/>
          <p:nvPr/>
        </p:nvSpPr>
        <p:spPr>
          <a:xfrm>
            <a:off x="6177686" y="2231136"/>
            <a:ext cx="1748333" cy="2176272"/>
          </a:xfrm>
          <a:prstGeom prst="roundRect">
            <a:avLst>
              <a:gd name="adj" fmla="val 3661"/>
            </a:avLst>
          </a:prstGeom>
          <a:solidFill>
            <a:srgbClr val="FFFFFF"/>
          </a:solidFill>
          <a:ln w="10795">
            <a:solidFill>
              <a:srgbClr val="FDE68A"/>
            </a:solidFill>
            <a:prstDash val="solid"/>
          </a:ln>
        </p:spPr>
      </p:sp>
      <p:sp>
        <p:nvSpPr>
          <p:cNvPr id="89" name="Shape 87"/>
          <p:cNvSpPr/>
          <p:nvPr/>
        </p:nvSpPr>
        <p:spPr>
          <a:xfrm>
            <a:off x="6177686" y="2231136"/>
            <a:ext cx="1748333" cy="50292"/>
          </a:xfrm>
          <a:prstGeom prst="roundRect">
            <a:avLst>
              <a:gd name="adj" fmla="val 36364"/>
            </a:avLst>
          </a:prstGeom>
          <a:solidFill>
            <a:srgbClr val="B45309"/>
          </a:solidFill>
          <a:ln/>
        </p:spPr>
      </p:sp>
      <p:sp>
        <p:nvSpPr>
          <p:cNvPr id="90" name="Shape 88"/>
          <p:cNvSpPr/>
          <p:nvPr/>
        </p:nvSpPr>
        <p:spPr>
          <a:xfrm>
            <a:off x="6287414" y="2359152"/>
            <a:ext cx="1528877" cy="201168"/>
          </a:xfrm>
          <a:prstGeom prst="roundRect">
            <a:avLst>
              <a:gd name="adj" fmla="val 36364"/>
            </a:avLst>
          </a:prstGeom>
          <a:solidFill>
            <a:srgbClr val="FFFBEB"/>
          </a:solidFill>
          <a:ln w="9525">
            <a:solidFill>
              <a:srgbClr val="FDE68A"/>
            </a:solidFill>
            <a:prstDash val="solid"/>
          </a:ln>
        </p:spPr>
      </p:sp>
      <p:sp>
        <p:nvSpPr>
          <p:cNvPr id="91" name="Text 89"/>
          <p:cNvSpPr/>
          <p:nvPr/>
        </p:nvSpPr>
        <p:spPr>
          <a:xfrm>
            <a:off x="6287414" y="2359152"/>
            <a:ext cx="1528877" cy="201168"/>
          </a:xfrm>
          <a:prstGeom prst="rect">
            <a:avLst/>
          </a:prstGeom>
          <a:noFill/>
          <a:ln/>
        </p:spPr>
        <p:txBody>
          <a:bodyPr wrap="square" lIns="0" tIns="0" rIns="0" bIns="0" rtlCol="0" anchor="ctr"/>
          <a:lstStyle/>
          <a:p>
            <a:pPr algn="ctr" indent="0" marL="0">
              <a:lnSpc>
                <a:spcPct val="105000"/>
              </a:lnSpc>
              <a:buNone/>
            </a:pPr>
            <a:r>
              <a:rPr lang="en-US" sz="640" b="1" dirty="0">
                <a:solidFill>
                  <a:srgbClr val="B45309"/>
                </a:solidFill>
                <a:latin typeface="Arial" pitchFamily="34" charset="0"/>
                <a:ea typeface="Arial" pitchFamily="34" charset="-122"/>
                <a:cs typeface="Arial" pitchFamily="34" charset="-120"/>
              </a:rPr>
              <a:t>HOP 4  •  ~22ms</a:t>
            </a:r>
            <a:endParaRPr lang="en-US" sz="640" dirty="0"/>
          </a:p>
        </p:txBody>
      </p:sp>
      <p:sp>
        <p:nvSpPr>
          <p:cNvPr id="92" name="Text 90"/>
          <p:cNvSpPr/>
          <p:nvPr/>
        </p:nvSpPr>
        <p:spPr>
          <a:xfrm>
            <a:off x="6269126" y="2633472"/>
            <a:ext cx="1565453" cy="310896"/>
          </a:xfrm>
          <a:prstGeom prst="rect">
            <a:avLst/>
          </a:prstGeom>
          <a:noFill/>
          <a:ln/>
        </p:spPr>
        <p:txBody>
          <a:bodyPr wrap="square" lIns="0" tIns="0" rIns="0" bIns="0" rtlCol="0" anchor="ctr"/>
          <a:lstStyle/>
          <a:p>
            <a:pPr algn="ctr" indent="0" marL="0">
              <a:lnSpc>
                <a:spcPct val="105000"/>
              </a:lnSpc>
              <a:buNone/>
            </a:pPr>
            <a:r>
              <a:rPr lang="en-US" sz="860" b="1" dirty="0">
                <a:solidFill>
                  <a:srgbClr val="0F172A"/>
                </a:solidFill>
                <a:latin typeface="Arial" pitchFamily="34" charset="0"/>
                <a:ea typeface="Arial" pitchFamily="34" charset="-122"/>
                <a:cs typeface="Arial" pitchFamily="34" charset="-120"/>
              </a:rPr>
              <a:t>Prompt &amp; DLP Guard</a:t>
            </a:r>
            <a:endParaRPr lang="en-US" sz="860" dirty="0"/>
          </a:p>
        </p:txBody>
      </p:sp>
      <p:sp>
        <p:nvSpPr>
          <p:cNvPr id="93" name="Text 91"/>
          <p:cNvSpPr/>
          <p:nvPr/>
        </p:nvSpPr>
        <p:spPr>
          <a:xfrm>
            <a:off x="6269126" y="2962656"/>
            <a:ext cx="1565453" cy="182880"/>
          </a:xfrm>
          <a:prstGeom prst="rect">
            <a:avLst/>
          </a:prstGeom>
          <a:noFill/>
          <a:ln/>
        </p:spPr>
        <p:txBody>
          <a:bodyPr wrap="square" lIns="0" tIns="0" rIns="0" bIns="0" rtlCol="0" anchor="ctr"/>
          <a:lstStyle/>
          <a:p>
            <a:pPr algn="ctr" indent="0" marL="0">
              <a:lnSpc>
                <a:spcPct val="105000"/>
              </a:lnSpc>
              <a:buNone/>
            </a:pPr>
            <a:r>
              <a:rPr lang="en-US" sz="700" b="1" dirty="0">
                <a:solidFill>
                  <a:srgbClr val="B45309"/>
                </a:solidFill>
                <a:latin typeface="Arial" pitchFamily="34" charset="0"/>
                <a:ea typeface="Arial" pitchFamily="34" charset="-122"/>
                <a:cs typeface="Arial" pitchFamily="34" charset="-120"/>
              </a:rPr>
              <a:t>Model Armor + Cloud DLP</a:t>
            </a:r>
            <a:endParaRPr lang="en-US" sz="700" dirty="0"/>
          </a:p>
        </p:txBody>
      </p:sp>
      <p:sp>
        <p:nvSpPr>
          <p:cNvPr id="94" name="Text 92"/>
          <p:cNvSpPr/>
          <p:nvPr/>
        </p:nvSpPr>
        <p:spPr>
          <a:xfrm>
            <a:off x="6287414" y="3218688"/>
            <a:ext cx="1528877" cy="1060704"/>
          </a:xfrm>
          <a:prstGeom prst="rect">
            <a:avLst/>
          </a:prstGeom>
          <a:noFill/>
          <a:ln/>
        </p:spPr>
        <p:txBody>
          <a:bodyPr wrap="square" lIns="0" tIns="0" rIns="0" bIns="0" rtlCol="0" anchor="ctr"/>
          <a:lstStyle/>
          <a:p>
            <a:pPr algn="ctr" indent="0" marL="0">
              <a:lnSpc>
                <a:spcPct val="110000"/>
              </a:lnSpc>
              <a:buNone/>
            </a:pPr>
            <a:r>
              <a:rPr lang="en-US" sz="720" dirty="0">
                <a:solidFill>
                  <a:srgbClr val="334155"/>
                </a:solidFill>
                <a:latin typeface="Arial" pitchFamily="34" charset="0"/>
                <a:ea typeface="Arial" pitchFamily="34" charset="-122"/>
                <a:cs typeface="Arial" pitchFamily="34" charset="-120"/>
              </a:rPr>
              <a:t>Regional gRPC screen blocks jailbreaks; redacts SSN/PAN on prompt &amp; output.</a:t>
            </a:r>
            <a:endParaRPr lang="en-US" sz="720" dirty="0"/>
          </a:p>
        </p:txBody>
      </p:sp>
      <p:sp>
        <p:nvSpPr>
          <p:cNvPr id="95" name="Shape 93"/>
          <p:cNvSpPr/>
          <p:nvPr/>
        </p:nvSpPr>
        <p:spPr>
          <a:xfrm>
            <a:off x="6177686" y="4791456"/>
            <a:ext cx="1748333" cy="1024128"/>
          </a:xfrm>
          <a:prstGeom prst="roundRect">
            <a:avLst>
              <a:gd name="adj" fmla="val 6250"/>
            </a:avLst>
          </a:prstGeom>
          <a:solidFill>
            <a:srgbClr val="FEF2F2"/>
          </a:solidFill>
          <a:ln w="10795">
            <a:solidFill>
              <a:srgbClr val="FECACA"/>
            </a:solidFill>
            <a:prstDash val="solid"/>
          </a:ln>
        </p:spPr>
      </p:sp>
      <p:sp>
        <p:nvSpPr>
          <p:cNvPr id="96" name="Shape 94"/>
          <p:cNvSpPr/>
          <p:nvPr/>
        </p:nvSpPr>
        <p:spPr>
          <a:xfrm>
            <a:off x="6177686" y="4791456"/>
            <a:ext cx="54864" cy="1024128"/>
          </a:xfrm>
          <a:prstGeom prst="roundRect">
            <a:avLst>
              <a:gd name="adj" fmla="val 33333"/>
            </a:avLst>
          </a:prstGeom>
          <a:solidFill>
            <a:srgbClr val="B91C1C"/>
          </a:solidFill>
          <a:ln/>
        </p:spPr>
      </p:sp>
      <p:sp>
        <p:nvSpPr>
          <p:cNvPr id="97" name="Text 95"/>
          <p:cNvSpPr/>
          <p:nvPr/>
        </p:nvSpPr>
        <p:spPr>
          <a:xfrm>
            <a:off x="6305702" y="4864608"/>
            <a:ext cx="1547165" cy="201168"/>
          </a:xfrm>
          <a:prstGeom prst="rect">
            <a:avLst/>
          </a:prstGeom>
          <a:noFill/>
          <a:ln/>
        </p:spPr>
        <p:txBody>
          <a:bodyPr wrap="square" lIns="0" tIns="0" rIns="0" bIns="0" rtlCol="0" anchor="ctr"/>
          <a:lstStyle/>
          <a:p>
            <a:pPr indent="0" marL="0">
              <a:lnSpc>
                <a:spcPct val="105000"/>
              </a:lnSpc>
              <a:buNone/>
            </a:pPr>
            <a:r>
              <a:rPr lang="en-US" sz="740" b="1" dirty="0">
                <a:solidFill>
                  <a:srgbClr val="B91C1C"/>
                </a:solidFill>
                <a:latin typeface="Arial" pitchFamily="34" charset="0"/>
                <a:ea typeface="Arial" pitchFamily="34" charset="-122"/>
                <a:cs typeface="Arial" pitchFamily="34" charset="-120"/>
              </a:rPr>
              <a:t>HTTP 400 / 422</a:t>
            </a:r>
            <a:endParaRPr lang="en-US" sz="740" dirty="0"/>
          </a:p>
        </p:txBody>
      </p:sp>
      <p:sp>
        <p:nvSpPr>
          <p:cNvPr id="98" name="Text 96"/>
          <p:cNvSpPr/>
          <p:nvPr/>
        </p:nvSpPr>
        <p:spPr>
          <a:xfrm>
            <a:off x="6305702" y="5084064"/>
            <a:ext cx="1547165" cy="658368"/>
          </a:xfrm>
          <a:prstGeom prst="rect">
            <a:avLst/>
          </a:prstGeom>
          <a:noFill/>
          <a:ln/>
        </p:spPr>
        <p:txBody>
          <a:bodyPr wrap="square" lIns="0" tIns="0" rIns="0" bIns="0" rtlCol="0" anchor="ctr"/>
          <a:lstStyle/>
          <a:p>
            <a:pPr indent="0" marL="0">
              <a:lnSpc>
                <a:spcPct val="106000"/>
              </a:lnSpc>
              <a:buNone/>
            </a:pPr>
            <a:r>
              <a:rPr lang="en-US" sz="690" dirty="0">
                <a:solidFill>
                  <a:srgbClr val="0F172A"/>
                </a:solidFill>
                <a:latin typeface="Arial" pitchFamily="34" charset="0"/>
                <a:ea typeface="Arial" pitchFamily="34" charset="-122"/>
                <a:cs typeface="Arial" pitchFamily="34" charset="-120"/>
              </a:rPr>
              <a:t>Prompt injection or forbidden PII blocked before LLM token spend.</a:t>
            </a:r>
            <a:endParaRPr lang="en-US" sz="690" dirty="0"/>
          </a:p>
        </p:txBody>
      </p:sp>
      <p:sp>
        <p:nvSpPr>
          <p:cNvPr id="99" name="Shape 97"/>
          <p:cNvSpPr/>
          <p:nvPr/>
        </p:nvSpPr>
        <p:spPr>
          <a:xfrm>
            <a:off x="8113471" y="2256739"/>
            <a:ext cx="1748333" cy="2176272"/>
          </a:xfrm>
          <a:prstGeom prst="roundRect">
            <a:avLst>
              <a:gd name="adj" fmla="val 3661"/>
            </a:avLst>
          </a:prstGeom>
          <a:solidFill>
            <a:srgbClr val="E2E8F0"/>
          </a:solidFill>
          <a:ln/>
        </p:spPr>
      </p:sp>
      <p:sp>
        <p:nvSpPr>
          <p:cNvPr id="100" name="Shape 98"/>
          <p:cNvSpPr/>
          <p:nvPr/>
        </p:nvSpPr>
        <p:spPr>
          <a:xfrm>
            <a:off x="8090611" y="2231136"/>
            <a:ext cx="1748333" cy="2176272"/>
          </a:xfrm>
          <a:prstGeom prst="roundRect">
            <a:avLst>
              <a:gd name="adj" fmla="val 3661"/>
            </a:avLst>
          </a:prstGeom>
          <a:solidFill>
            <a:srgbClr val="FFFFFF"/>
          </a:solidFill>
          <a:ln w="10795">
            <a:solidFill>
              <a:srgbClr val="A7F3D0"/>
            </a:solidFill>
            <a:prstDash val="solid"/>
          </a:ln>
        </p:spPr>
      </p:sp>
      <p:sp>
        <p:nvSpPr>
          <p:cNvPr id="101" name="Shape 99"/>
          <p:cNvSpPr/>
          <p:nvPr/>
        </p:nvSpPr>
        <p:spPr>
          <a:xfrm>
            <a:off x="8090611" y="2231136"/>
            <a:ext cx="1748333" cy="50292"/>
          </a:xfrm>
          <a:prstGeom prst="roundRect">
            <a:avLst>
              <a:gd name="adj" fmla="val 36364"/>
            </a:avLst>
          </a:prstGeom>
          <a:solidFill>
            <a:srgbClr val="047857"/>
          </a:solidFill>
          <a:ln/>
        </p:spPr>
      </p:sp>
      <p:sp>
        <p:nvSpPr>
          <p:cNvPr id="102" name="Shape 100"/>
          <p:cNvSpPr/>
          <p:nvPr/>
        </p:nvSpPr>
        <p:spPr>
          <a:xfrm>
            <a:off x="8200339" y="2359152"/>
            <a:ext cx="1528877" cy="201168"/>
          </a:xfrm>
          <a:prstGeom prst="roundRect">
            <a:avLst>
              <a:gd name="adj" fmla="val 36364"/>
            </a:avLst>
          </a:prstGeom>
          <a:solidFill>
            <a:srgbClr val="ECFDF5"/>
          </a:solidFill>
          <a:ln w="9525">
            <a:solidFill>
              <a:srgbClr val="A7F3D0"/>
            </a:solidFill>
            <a:prstDash val="solid"/>
          </a:ln>
        </p:spPr>
      </p:sp>
      <p:sp>
        <p:nvSpPr>
          <p:cNvPr id="103" name="Text 101"/>
          <p:cNvSpPr/>
          <p:nvPr/>
        </p:nvSpPr>
        <p:spPr>
          <a:xfrm>
            <a:off x="8200339" y="2359152"/>
            <a:ext cx="1528877" cy="201168"/>
          </a:xfrm>
          <a:prstGeom prst="rect">
            <a:avLst/>
          </a:prstGeom>
          <a:noFill/>
          <a:ln/>
        </p:spPr>
        <p:txBody>
          <a:bodyPr wrap="square" lIns="0" tIns="0" rIns="0" bIns="0" rtlCol="0" anchor="ctr"/>
          <a:lstStyle/>
          <a:p>
            <a:pPr algn="ctr" indent="0" marL="0">
              <a:lnSpc>
                <a:spcPct val="105000"/>
              </a:lnSpc>
              <a:buNone/>
            </a:pPr>
            <a:r>
              <a:rPr lang="en-US" sz="640" b="1" dirty="0">
                <a:solidFill>
                  <a:srgbClr val="047857"/>
                </a:solidFill>
                <a:latin typeface="Arial" pitchFamily="34" charset="0"/>
                <a:ea typeface="Arial" pitchFamily="34" charset="-122"/>
                <a:cs typeface="Arial" pitchFamily="34" charset="-120"/>
              </a:rPr>
              <a:t>HOP 5  •  ~5ms</a:t>
            </a:r>
            <a:endParaRPr lang="en-US" sz="640" dirty="0"/>
          </a:p>
        </p:txBody>
      </p:sp>
      <p:sp>
        <p:nvSpPr>
          <p:cNvPr id="104" name="Text 102"/>
          <p:cNvSpPr/>
          <p:nvPr/>
        </p:nvSpPr>
        <p:spPr>
          <a:xfrm>
            <a:off x="8182051" y="2633472"/>
            <a:ext cx="1565453" cy="310896"/>
          </a:xfrm>
          <a:prstGeom prst="rect">
            <a:avLst/>
          </a:prstGeom>
          <a:noFill/>
          <a:ln/>
        </p:spPr>
        <p:txBody>
          <a:bodyPr wrap="square" lIns="0" tIns="0" rIns="0" bIns="0" rtlCol="0" anchor="ctr"/>
          <a:lstStyle/>
          <a:p>
            <a:pPr algn="ctr" indent="0" marL="0">
              <a:lnSpc>
                <a:spcPct val="105000"/>
              </a:lnSpc>
              <a:buNone/>
            </a:pPr>
            <a:r>
              <a:rPr lang="en-US" sz="860" b="1" dirty="0">
                <a:solidFill>
                  <a:srgbClr val="0F172A"/>
                </a:solidFill>
                <a:latin typeface="Arial" pitchFamily="34" charset="0"/>
                <a:ea typeface="Arial" pitchFamily="34" charset="-122"/>
                <a:cs typeface="Arial" pitchFamily="34" charset="-120"/>
              </a:rPr>
              <a:t>FORCE RLS &amp; CMEK</a:t>
            </a:r>
            <a:endParaRPr lang="en-US" sz="860" dirty="0"/>
          </a:p>
        </p:txBody>
      </p:sp>
      <p:sp>
        <p:nvSpPr>
          <p:cNvPr id="105" name="Text 103"/>
          <p:cNvSpPr/>
          <p:nvPr/>
        </p:nvSpPr>
        <p:spPr>
          <a:xfrm>
            <a:off x="8182051" y="2962656"/>
            <a:ext cx="1565453" cy="182880"/>
          </a:xfrm>
          <a:prstGeom prst="rect">
            <a:avLst/>
          </a:prstGeom>
          <a:noFill/>
          <a:ln/>
        </p:spPr>
        <p:txBody>
          <a:bodyPr wrap="square" lIns="0" tIns="0" rIns="0" bIns="0" rtlCol="0" anchor="ctr"/>
          <a:lstStyle/>
          <a:p>
            <a:pPr algn="ctr" indent="0" marL="0">
              <a:lnSpc>
                <a:spcPct val="105000"/>
              </a:lnSpc>
              <a:buNone/>
            </a:pPr>
            <a:r>
              <a:rPr lang="en-US" sz="700" b="1" dirty="0">
                <a:solidFill>
                  <a:srgbClr val="047857"/>
                </a:solidFill>
                <a:latin typeface="Arial" pitchFamily="34" charset="0"/>
                <a:ea typeface="Arial" pitchFamily="34" charset="-122"/>
                <a:cs typeface="Arial" pitchFamily="34" charset="-120"/>
              </a:rPr>
              <a:t>AlloyDB + Vertex AI</a:t>
            </a:r>
            <a:endParaRPr lang="en-US" sz="700" dirty="0"/>
          </a:p>
        </p:txBody>
      </p:sp>
      <p:sp>
        <p:nvSpPr>
          <p:cNvPr id="106" name="Text 104"/>
          <p:cNvSpPr/>
          <p:nvPr/>
        </p:nvSpPr>
        <p:spPr>
          <a:xfrm>
            <a:off x="8200339" y="3218688"/>
            <a:ext cx="1528877" cy="1060704"/>
          </a:xfrm>
          <a:prstGeom prst="rect">
            <a:avLst/>
          </a:prstGeom>
          <a:noFill/>
          <a:ln/>
        </p:spPr>
        <p:txBody>
          <a:bodyPr wrap="square" lIns="0" tIns="0" rIns="0" bIns="0" rtlCol="0" anchor="ctr"/>
          <a:lstStyle/>
          <a:p>
            <a:pPr algn="ctr" indent="0" marL="0">
              <a:lnSpc>
                <a:spcPct val="110000"/>
              </a:lnSpc>
              <a:buNone/>
            </a:pPr>
            <a:r>
              <a:rPr lang="en-US" sz="720" dirty="0">
                <a:solidFill>
                  <a:srgbClr val="334155"/>
                </a:solidFill>
                <a:latin typeface="Arial" pitchFamily="34" charset="0"/>
                <a:ea typeface="Arial" pitchFamily="34" charset="-122"/>
                <a:cs typeface="Arial" pitchFamily="34" charset="-120"/>
              </a:rPr>
              <a:t>SET LOCAL app.current_tenant_id enforces row filter; verifies KMS key live.</a:t>
            </a:r>
            <a:endParaRPr lang="en-US" sz="720" dirty="0"/>
          </a:p>
        </p:txBody>
      </p:sp>
      <p:sp>
        <p:nvSpPr>
          <p:cNvPr id="107" name="Shape 105"/>
          <p:cNvSpPr/>
          <p:nvPr/>
        </p:nvSpPr>
        <p:spPr>
          <a:xfrm>
            <a:off x="8090611" y="4791456"/>
            <a:ext cx="1748333" cy="1024128"/>
          </a:xfrm>
          <a:prstGeom prst="roundRect">
            <a:avLst>
              <a:gd name="adj" fmla="val 6250"/>
            </a:avLst>
          </a:prstGeom>
          <a:solidFill>
            <a:srgbClr val="FEF2F2"/>
          </a:solidFill>
          <a:ln w="10795">
            <a:solidFill>
              <a:srgbClr val="FECACA"/>
            </a:solidFill>
            <a:prstDash val="solid"/>
          </a:ln>
        </p:spPr>
      </p:sp>
      <p:sp>
        <p:nvSpPr>
          <p:cNvPr id="108" name="Shape 106"/>
          <p:cNvSpPr/>
          <p:nvPr/>
        </p:nvSpPr>
        <p:spPr>
          <a:xfrm>
            <a:off x="8090611" y="4791456"/>
            <a:ext cx="54864" cy="1024128"/>
          </a:xfrm>
          <a:prstGeom prst="roundRect">
            <a:avLst>
              <a:gd name="adj" fmla="val 33333"/>
            </a:avLst>
          </a:prstGeom>
          <a:solidFill>
            <a:srgbClr val="B91C1C"/>
          </a:solidFill>
          <a:ln/>
        </p:spPr>
      </p:sp>
      <p:sp>
        <p:nvSpPr>
          <p:cNvPr id="109" name="Text 107"/>
          <p:cNvSpPr/>
          <p:nvPr/>
        </p:nvSpPr>
        <p:spPr>
          <a:xfrm>
            <a:off x="8218627" y="4864608"/>
            <a:ext cx="1547165" cy="201168"/>
          </a:xfrm>
          <a:prstGeom prst="rect">
            <a:avLst/>
          </a:prstGeom>
          <a:noFill/>
          <a:ln/>
        </p:spPr>
        <p:txBody>
          <a:bodyPr wrap="square" lIns="0" tIns="0" rIns="0" bIns="0" rtlCol="0" anchor="ctr"/>
          <a:lstStyle/>
          <a:p>
            <a:pPr indent="0" marL="0">
              <a:lnSpc>
                <a:spcPct val="105000"/>
              </a:lnSpc>
              <a:buNone/>
            </a:pPr>
            <a:r>
              <a:rPr lang="en-US" sz="740" b="1" dirty="0">
                <a:solidFill>
                  <a:srgbClr val="B91C1C"/>
                </a:solidFill>
                <a:latin typeface="Arial" pitchFamily="34" charset="0"/>
                <a:ea typeface="Arial" pitchFamily="34" charset="-122"/>
                <a:cs typeface="Arial" pitchFamily="34" charset="-120"/>
              </a:rPr>
              <a:t>HTTP 423 LOCKED</a:t>
            </a:r>
            <a:endParaRPr lang="en-US" sz="740" dirty="0"/>
          </a:p>
        </p:txBody>
      </p:sp>
      <p:sp>
        <p:nvSpPr>
          <p:cNvPr id="110" name="Text 108"/>
          <p:cNvSpPr/>
          <p:nvPr/>
        </p:nvSpPr>
        <p:spPr>
          <a:xfrm>
            <a:off x="8218627" y="5084064"/>
            <a:ext cx="1547165" cy="658368"/>
          </a:xfrm>
          <a:prstGeom prst="rect">
            <a:avLst/>
          </a:prstGeom>
          <a:noFill/>
          <a:ln/>
        </p:spPr>
        <p:txBody>
          <a:bodyPr wrap="square" lIns="0" tIns="0" rIns="0" bIns="0" rtlCol="0" anchor="ctr"/>
          <a:lstStyle/>
          <a:p>
            <a:pPr indent="0" marL="0">
              <a:lnSpc>
                <a:spcPct val="106000"/>
              </a:lnSpc>
              <a:buNone/>
            </a:pPr>
            <a:r>
              <a:rPr lang="en-US" sz="690" dirty="0">
                <a:solidFill>
                  <a:srgbClr val="0F172A"/>
                </a:solidFill>
                <a:latin typeface="Arial" pitchFamily="34" charset="0"/>
                <a:ea typeface="Arial" pitchFamily="34" charset="-122"/>
                <a:cs typeface="Arial" pitchFamily="34" charset="-120"/>
              </a:rPr>
              <a:t>Disabled tenant KMS CMEK halts turn in &lt;60s + flushes Valkey.</a:t>
            </a:r>
            <a:endParaRPr lang="en-US" sz="690" dirty="0"/>
          </a:p>
        </p:txBody>
      </p:sp>
      <p:sp>
        <p:nvSpPr>
          <p:cNvPr id="111" name="Shape 109"/>
          <p:cNvSpPr/>
          <p:nvPr/>
        </p:nvSpPr>
        <p:spPr>
          <a:xfrm>
            <a:off x="10026396" y="2256739"/>
            <a:ext cx="1748333" cy="2176272"/>
          </a:xfrm>
          <a:prstGeom prst="roundRect">
            <a:avLst>
              <a:gd name="adj" fmla="val 3661"/>
            </a:avLst>
          </a:prstGeom>
          <a:solidFill>
            <a:srgbClr val="E2E8F0"/>
          </a:solidFill>
          <a:ln/>
        </p:spPr>
      </p:sp>
      <p:sp>
        <p:nvSpPr>
          <p:cNvPr id="112" name="Shape 110"/>
          <p:cNvSpPr/>
          <p:nvPr/>
        </p:nvSpPr>
        <p:spPr>
          <a:xfrm>
            <a:off x="10003536" y="2231136"/>
            <a:ext cx="1748333" cy="2176272"/>
          </a:xfrm>
          <a:prstGeom prst="roundRect">
            <a:avLst>
              <a:gd name="adj" fmla="val 3661"/>
            </a:avLst>
          </a:prstGeom>
          <a:solidFill>
            <a:srgbClr val="FFFFFF"/>
          </a:solidFill>
          <a:ln w="10795">
            <a:solidFill>
              <a:srgbClr val="CBD5E1"/>
            </a:solidFill>
            <a:prstDash val="dash"/>
          </a:ln>
        </p:spPr>
      </p:sp>
      <p:sp>
        <p:nvSpPr>
          <p:cNvPr id="113" name="Shape 111"/>
          <p:cNvSpPr/>
          <p:nvPr/>
        </p:nvSpPr>
        <p:spPr>
          <a:xfrm>
            <a:off x="10003536" y="2231136"/>
            <a:ext cx="1748333" cy="50292"/>
          </a:xfrm>
          <a:prstGeom prst="roundRect">
            <a:avLst>
              <a:gd name="adj" fmla="val 36364"/>
            </a:avLst>
          </a:prstGeom>
          <a:solidFill>
            <a:srgbClr val="475569"/>
          </a:solidFill>
          <a:ln/>
        </p:spPr>
      </p:sp>
      <p:sp>
        <p:nvSpPr>
          <p:cNvPr id="114" name="Shape 112"/>
          <p:cNvSpPr/>
          <p:nvPr/>
        </p:nvSpPr>
        <p:spPr>
          <a:xfrm>
            <a:off x="10113264" y="2359152"/>
            <a:ext cx="1528877" cy="201168"/>
          </a:xfrm>
          <a:prstGeom prst="roundRect">
            <a:avLst>
              <a:gd name="adj" fmla="val 36364"/>
            </a:avLst>
          </a:prstGeom>
          <a:solidFill>
            <a:srgbClr val="F1F5F9"/>
          </a:solidFill>
          <a:ln w="9525">
            <a:solidFill>
              <a:srgbClr val="CBD5E1"/>
            </a:solidFill>
            <a:prstDash val="solid"/>
          </a:ln>
        </p:spPr>
      </p:sp>
      <p:sp>
        <p:nvSpPr>
          <p:cNvPr id="115" name="Text 113"/>
          <p:cNvSpPr/>
          <p:nvPr/>
        </p:nvSpPr>
        <p:spPr>
          <a:xfrm>
            <a:off x="10113264" y="2359152"/>
            <a:ext cx="1528877" cy="201168"/>
          </a:xfrm>
          <a:prstGeom prst="rect">
            <a:avLst/>
          </a:prstGeom>
          <a:noFill/>
          <a:ln/>
        </p:spPr>
        <p:txBody>
          <a:bodyPr wrap="square" lIns="0" tIns="0" rIns="0" bIns="0" rtlCol="0" anchor="ctr"/>
          <a:lstStyle/>
          <a:p>
            <a:pPr algn="ctr" indent="0" marL="0">
              <a:lnSpc>
                <a:spcPct val="105000"/>
              </a:lnSpc>
              <a:buNone/>
            </a:pPr>
            <a:r>
              <a:rPr lang="en-US" sz="640" b="1" dirty="0">
                <a:solidFill>
                  <a:srgbClr val="475569"/>
                </a:solidFill>
                <a:latin typeface="Arial" pitchFamily="34" charset="0"/>
                <a:ea typeface="Arial" pitchFamily="34" charset="-122"/>
                <a:cs typeface="Arial" pitchFamily="34" charset="-120"/>
              </a:rPr>
              <a:t>ASYNC  •  0ms</a:t>
            </a:r>
            <a:endParaRPr lang="en-US" sz="640" dirty="0"/>
          </a:p>
        </p:txBody>
      </p:sp>
      <p:sp>
        <p:nvSpPr>
          <p:cNvPr id="116" name="Text 114"/>
          <p:cNvSpPr/>
          <p:nvPr/>
        </p:nvSpPr>
        <p:spPr>
          <a:xfrm>
            <a:off x="10094976" y="2633472"/>
            <a:ext cx="1565453" cy="310896"/>
          </a:xfrm>
          <a:prstGeom prst="rect">
            <a:avLst/>
          </a:prstGeom>
          <a:noFill/>
          <a:ln/>
        </p:spPr>
        <p:txBody>
          <a:bodyPr wrap="square" lIns="0" tIns="0" rIns="0" bIns="0" rtlCol="0" anchor="ctr"/>
          <a:lstStyle/>
          <a:p>
            <a:pPr algn="ctr" indent="0" marL="0">
              <a:lnSpc>
                <a:spcPct val="105000"/>
              </a:lnSpc>
              <a:buNone/>
            </a:pPr>
            <a:r>
              <a:rPr lang="en-US" sz="860" b="1" dirty="0">
                <a:solidFill>
                  <a:srgbClr val="0F172A"/>
                </a:solidFill>
                <a:latin typeface="Arial" pitchFamily="34" charset="0"/>
                <a:ea typeface="Arial" pitchFamily="34" charset="-122"/>
                <a:cs typeface="Arial" pitchFamily="34" charset="-120"/>
              </a:rPr>
              <a:t>FinOps Chargeback</a:t>
            </a:r>
            <a:endParaRPr lang="en-US" sz="860" dirty="0"/>
          </a:p>
        </p:txBody>
      </p:sp>
      <p:sp>
        <p:nvSpPr>
          <p:cNvPr id="117" name="Text 115"/>
          <p:cNvSpPr/>
          <p:nvPr/>
        </p:nvSpPr>
        <p:spPr>
          <a:xfrm>
            <a:off x="10094976" y="2962656"/>
            <a:ext cx="1565453" cy="182880"/>
          </a:xfrm>
          <a:prstGeom prst="rect">
            <a:avLst/>
          </a:prstGeom>
          <a:noFill/>
          <a:ln/>
        </p:spPr>
        <p:txBody>
          <a:bodyPr wrap="square" lIns="0" tIns="0" rIns="0" bIns="0" rtlCol="0" anchor="ctr"/>
          <a:lstStyle/>
          <a:p>
            <a:pPr algn="ctr" indent="0" marL="0">
              <a:lnSpc>
                <a:spcPct val="105000"/>
              </a:lnSpc>
              <a:buNone/>
            </a:pPr>
            <a:r>
              <a:rPr lang="en-US" sz="700" b="1" dirty="0">
                <a:solidFill>
                  <a:srgbClr val="475569"/>
                </a:solidFill>
                <a:latin typeface="Arial" pitchFamily="34" charset="0"/>
                <a:ea typeface="Arial" pitchFamily="34" charset="-122"/>
                <a:cs typeface="Arial" pitchFamily="34" charset="-120"/>
              </a:rPr>
              <a:t>OTel Collector + BQ</a:t>
            </a:r>
            <a:endParaRPr lang="en-US" sz="700" dirty="0"/>
          </a:p>
        </p:txBody>
      </p:sp>
      <p:sp>
        <p:nvSpPr>
          <p:cNvPr id="118" name="Text 116"/>
          <p:cNvSpPr/>
          <p:nvPr/>
        </p:nvSpPr>
        <p:spPr>
          <a:xfrm>
            <a:off x="10113264" y="3218688"/>
            <a:ext cx="1528877" cy="1060704"/>
          </a:xfrm>
          <a:prstGeom prst="rect">
            <a:avLst/>
          </a:prstGeom>
          <a:noFill/>
          <a:ln/>
        </p:spPr>
        <p:txBody>
          <a:bodyPr wrap="square" lIns="0" tIns="0" rIns="0" bIns="0" rtlCol="0" anchor="ctr"/>
          <a:lstStyle/>
          <a:p>
            <a:pPr algn="ctr" indent="0" marL="0">
              <a:lnSpc>
                <a:spcPct val="110000"/>
              </a:lnSpc>
              <a:buNone/>
            </a:pPr>
            <a:r>
              <a:rPr lang="en-US" sz="720" dirty="0">
                <a:solidFill>
                  <a:srgbClr val="334155"/>
                </a:solidFill>
                <a:latin typeface="Arial" pitchFamily="34" charset="0"/>
                <a:ea typeface="Arial" pitchFamily="34" charset="-122"/>
                <a:cs typeface="Arial" pitchFamily="34" charset="-120"/>
              </a:rPr>
              <a:t>Buffers SHA-256 prompt hash + cached &amp; thinking tokens into BigQuery.</a:t>
            </a:r>
            <a:endParaRPr lang="en-US" sz="720" dirty="0"/>
          </a:p>
        </p:txBody>
      </p:sp>
      <p:sp>
        <p:nvSpPr>
          <p:cNvPr id="119" name="Shape 117"/>
          <p:cNvSpPr/>
          <p:nvPr/>
        </p:nvSpPr>
        <p:spPr>
          <a:xfrm>
            <a:off x="10003536" y="4791456"/>
            <a:ext cx="1748333" cy="1024128"/>
          </a:xfrm>
          <a:prstGeom prst="roundRect">
            <a:avLst>
              <a:gd name="adj" fmla="val 6250"/>
            </a:avLst>
          </a:prstGeom>
          <a:solidFill>
            <a:srgbClr val="F1F5F9"/>
          </a:solidFill>
          <a:ln w="10795">
            <a:solidFill>
              <a:srgbClr val="CBD5E1"/>
            </a:solidFill>
            <a:prstDash val="solid"/>
          </a:ln>
        </p:spPr>
      </p:sp>
      <p:sp>
        <p:nvSpPr>
          <p:cNvPr id="120" name="Shape 118"/>
          <p:cNvSpPr/>
          <p:nvPr/>
        </p:nvSpPr>
        <p:spPr>
          <a:xfrm>
            <a:off x="10003536" y="4791456"/>
            <a:ext cx="54864" cy="1024128"/>
          </a:xfrm>
          <a:prstGeom prst="roundRect">
            <a:avLst>
              <a:gd name="adj" fmla="val 33333"/>
            </a:avLst>
          </a:prstGeom>
          <a:solidFill>
            <a:srgbClr val="475569"/>
          </a:solidFill>
          <a:ln/>
        </p:spPr>
      </p:sp>
      <p:sp>
        <p:nvSpPr>
          <p:cNvPr id="121" name="Text 119"/>
          <p:cNvSpPr/>
          <p:nvPr/>
        </p:nvSpPr>
        <p:spPr>
          <a:xfrm>
            <a:off x="10131552" y="4864608"/>
            <a:ext cx="1547165" cy="201168"/>
          </a:xfrm>
          <a:prstGeom prst="rect">
            <a:avLst/>
          </a:prstGeom>
          <a:noFill/>
          <a:ln/>
        </p:spPr>
        <p:txBody>
          <a:bodyPr wrap="square" lIns="0" tIns="0" rIns="0" bIns="0" rtlCol="0" anchor="ctr"/>
          <a:lstStyle/>
          <a:p>
            <a:pPr indent="0" marL="0">
              <a:lnSpc>
                <a:spcPct val="105000"/>
              </a:lnSpc>
              <a:buNone/>
            </a:pPr>
            <a:r>
              <a:rPr lang="en-US" sz="740" b="1" dirty="0">
                <a:solidFill>
                  <a:srgbClr val="475569"/>
                </a:solidFill>
                <a:latin typeface="Arial" pitchFamily="34" charset="0"/>
                <a:ea typeface="Arial" pitchFamily="34" charset="-122"/>
                <a:cs typeface="Arial" pitchFamily="34" charset="-120"/>
              </a:rPr>
              <a:t>NON-BLOCKING</a:t>
            </a:r>
            <a:endParaRPr lang="en-US" sz="740" dirty="0"/>
          </a:p>
        </p:txBody>
      </p:sp>
      <p:sp>
        <p:nvSpPr>
          <p:cNvPr id="122" name="Text 120"/>
          <p:cNvSpPr/>
          <p:nvPr/>
        </p:nvSpPr>
        <p:spPr>
          <a:xfrm>
            <a:off x="10131552" y="5084064"/>
            <a:ext cx="1547165" cy="658368"/>
          </a:xfrm>
          <a:prstGeom prst="rect">
            <a:avLst/>
          </a:prstGeom>
          <a:noFill/>
          <a:ln/>
        </p:spPr>
        <p:txBody>
          <a:bodyPr wrap="square" lIns="0" tIns="0" rIns="0" bIns="0" rtlCol="0" anchor="ctr"/>
          <a:lstStyle/>
          <a:p>
            <a:pPr indent="0" marL="0">
              <a:lnSpc>
                <a:spcPct val="106000"/>
              </a:lnSpc>
              <a:buNone/>
            </a:pPr>
            <a:r>
              <a:rPr lang="en-US" sz="690" dirty="0">
                <a:solidFill>
                  <a:srgbClr val="0F172A"/>
                </a:solidFill>
                <a:latin typeface="Arial" pitchFamily="34" charset="0"/>
                <a:ea typeface="Arial" pitchFamily="34" charset="-122"/>
                <a:cs typeface="Arial" pitchFamily="34" charset="-120"/>
              </a:rPr>
              <a:t>Buffered exporter retry + dead-letter queue; never slows turn.</a:t>
            </a:r>
            <a:endParaRPr lang="en-US" sz="690" dirty="0"/>
          </a:p>
        </p:txBody>
      </p:sp>
      <p:sp>
        <p:nvSpPr>
          <p:cNvPr id="123" name="Shape 121"/>
          <p:cNvSpPr/>
          <p:nvPr/>
        </p:nvSpPr>
        <p:spPr>
          <a:xfrm>
            <a:off x="438912" y="5943600"/>
            <a:ext cx="11313871" cy="420624"/>
          </a:xfrm>
          <a:prstGeom prst="roundRect">
            <a:avLst>
              <a:gd name="adj" fmla="val 13043"/>
            </a:avLst>
          </a:prstGeom>
          <a:solidFill>
            <a:srgbClr val="FFFBEB"/>
          </a:solidFill>
          <a:ln w="11430">
            <a:solidFill>
              <a:srgbClr val="FDE68A"/>
            </a:solidFill>
            <a:prstDash val="solid"/>
          </a:ln>
        </p:spPr>
      </p:sp>
      <p:sp>
        <p:nvSpPr>
          <p:cNvPr id="124" name="Shape 122"/>
          <p:cNvSpPr/>
          <p:nvPr/>
        </p:nvSpPr>
        <p:spPr>
          <a:xfrm>
            <a:off x="530352" y="6025896"/>
            <a:ext cx="1353312" cy="256032"/>
          </a:xfrm>
          <a:prstGeom prst="roundRect">
            <a:avLst>
              <a:gd name="adj" fmla="val 17857"/>
            </a:avLst>
          </a:prstGeom>
          <a:solidFill>
            <a:srgbClr val="B45309"/>
          </a:solidFill>
          <a:ln/>
        </p:spPr>
      </p:sp>
      <p:sp>
        <p:nvSpPr>
          <p:cNvPr id="125" name="Text 123"/>
          <p:cNvSpPr/>
          <p:nvPr/>
        </p:nvSpPr>
        <p:spPr>
          <a:xfrm>
            <a:off x="530352" y="6025896"/>
            <a:ext cx="1353312" cy="256032"/>
          </a:xfrm>
          <a:prstGeom prst="rect">
            <a:avLst/>
          </a:prstGeom>
          <a:noFill/>
          <a:ln/>
        </p:spPr>
        <p:txBody>
          <a:bodyPr wrap="square" lIns="0" tIns="0" rIns="0" bIns="0" rtlCol="0" anchor="ctr"/>
          <a:lstStyle/>
          <a:p>
            <a:pPr algn="ctr" indent="0" marL="0">
              <a:lnSpc>
                <a:spcPct val="105000"/>
              </a:lnSpc>
              <a:buNone/>
            </a:pPr>
            <a:r>
              <a:rPr lang="en-US" sz="650" b="1" dirty="0">
                <a:solidFill>
                  <a:srgbClr val="FFFFFF"/>
                </a:solidFill>
                <a:latin typeface="Arial" pitchFamily="34" charset="0"/>
                <a:ea typeface="Arial" pitchFamily="34" charset="-122"/>
                <a:cs typeface="Arial" pitchFamily="34" charset="-120"/>
              </a:rPr>
              <a:t>FAIL-CLOSED DESIGN</a:t>
            </a:r>
            <a:endParaRPr lang="en-US" sz="650" dirty="0"/>
          </a:p>
        </p:txBody>
      </p:sp>
      <p:sp>
        <p:nvSpPr>
          <p:cNvPr id="126" name="Text 124"/>
          <p:cNvSpPr/>
          <p:nvPr/>
        </p:nvSpPr>
        <p:spPr>
          <a:xfrm>
            <a:off x="1993392" y="5980176"/>
            <a:ext cx="7555687" cy="347472"/>
          </a:xfrm>
          <a:prstGeom prst="rect">
            <a:avLst/>
          </a:prstGeom>
          <a:noFill/>
          <a:ln/>
        </p:spPr>
        <p:txBody>
          <a:bodyPr wrap="square" lIns="0" tIns="0" rIns="0" bIns="0" rtlCol="0" anchor="ctr"/>
          <a:lstStyle/>
          <a:p>
            <a:pPr algn="l" indent="0" marL="0">
              <a:lnSpc>
                <a:spcPct val="108000"/>
              </a:lnSpc>
              <a:buNone/>
            </a:pPr>
            <a:r>
              <a:rPr lang="en-US" sz="860" b="1" dirty="0">
                <a:solidFill>
                  <a:srgbClr val="0F172A"/>
                </a:solidFill>
                <a:latin typeface="Arial" pitchFamily="34" charset="0"/>
                <a:ea typeface="Arial" pitchFamily="34" charset="-122"/>
                <a:cs typeface="Arial" pitchFamily="34" charset="-120"/>
              </a:rPr>
              <a:t>Every hop fails closed BEFORE downstream compute runs—so an unauthorized, over-quota, or injected turn never consumes Gemini output tokens or reaches AlloyDB.</a:t>
            </a:r>
            <a:endParaRPr lang="en-US" sz="860" dirty="0"/>
          </a:p>
        </p:txBody>
      </p:sp>
      <p:sp>
        <p:nvSpPr>
          <p:cNvPr id="127" name="Shape 125"/>
          <p:cNvSpPr/>
          <p:nvPr/>
        </p:nvSpPr>
        <p:spPr>
          <a:xfrm>
            <a:off x="9695383" y="6025896"/>
            <a:ext cx="1965960" cy="256032"/>
          </a:xfrm>
          <a:prstGeom prst="roundRect">
            <a:avLst>
              <a:gd name="adj" fmla="val 17857"/>
            </a:avLst>
          </a:prstGeom>
          <a:solidFill>
            <a:srgbClr val="FFFFFF"/>
          </a:solidFill>
          <a:ln w="10795">
            <a:solidFill>
              <a:srgbClr val="B45309"/>
            </a:solidFill>
            <a:prstDash val="solid"/>
          </a:ln>
        </p:spPr>
      </p:sp>
      <p:sp>
        <p:nvSpPr>
          <p:cNvPr id="128" name="Text 126"/>
          <p:cNvSpPr/>
          <p:nvPr/>
        </p:nvSpPr>
        <p:spPr>
          <a:xfrm>
            <a:off x="9695383" y="6025896"/>
            <a:ext cx="1965960" cy="256032"/>
          </a:xfrm>
          <a:prstGeom prst="rect">
            <a:avLst/>
          </a:prstGeom>
          <a:noFill/>
          <a:ln/>
        </p:spPr>
        <p:txBody>
          <a:bodyPr wrap="square" lIns="0" tIns="0" rIns="0" bIns="0" rtlCol="0" anchor="ctr"/>
          <a:lstStyle/>
          <a:p>
            <a:pPr algn="ctr" indent="0" marL="0">
              <a:lnSpc>
                <a:spcPct val="105000"/>
              </a:lnSpc>
              <a:buNone/>
            </a:pPr>
            <a:r>
              <a:rPr lang="en-US" sz="740" b="1" dirty="0">
                <a:solidFill>
                  <a:srgbClr val="B45309"/>
                </a:solidFill>
                <a:latin typeface="Arial" pitchFamily="34" charset="0"/>
                <a:ea typeface="Arial" pitchFamily="34" charset="-122"/>
                <a:cs typeface="Arial" pitchFamily="34" charset="-120"/>
              </a:rPr>
              <a:t>5 Deterministic HTTP Gates</a:t>
            </a:r>
            <a:endParaRPr lang="en-US" sz="7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1148"/>
          </a:xfrm>
          <a:prstGeom prst="rect">
            <a:avLst/>
          </a:prstGeom>
          <a:solidFill>
            <a:srgbClr val="B45309"/>
          </a:solidFill>
          <a:ln/>
        </p:spPr>
      </p:sp>
      <p:sp>
        <p:nvSpPr>
          <p:cNvPr id="3" name="Shape 1"/>
          <p:cNvSpPr/>
          <p:nvPr/>
        </p:nvSpPr>
        <p:spPr>
          <a:xfrm>
            <a:off x="438912" y="192024"/>
            <a:ext cx="59436" cy="621792"/>
          </a:xfrm>
          <a:prstGeom prst="roundRect">
            <a:avLst>
              <a:gd name="adj" fmla="val 46154"/>
            </a:avLst>
          </a:prstGeom>
          <a:solidFill>
            <a:srgbClr val="B45309"/>
          </a:solidFill>
          <a:ln/>
        </p:spPr>
      </p:sp>
      <p:sp>
        <p:nvSpPr>
          <p:cNvPr id="4" name="Text 2"/>
          <p:cNvSpPr/>
          <p:nvPr/>
        </p:nvSpPr>
        <p:spPr>
          <a:xfrm>
            <a:off x="576072" y="173736"/>
            <a:ext cx="4389120" cy="146304"/>
          </a:xfrm>
          <a:prstGeom prst="rect">
            <a:avLst/>
          </a:prstGeom>
          <a:noFill/>
          <a:ln/>
        </p:spPr>
        <p:txBody>
          <a:bodyPr wrap="square" lIns="0" tIns="0" rIns="0" bIns="0" rtlCol="0" anchor="ctr"/>
          <a:lstStyle/>
          <a:p>
            <a:pPr algn="l" indent="0" marL="0">
              <a:lnSpc>
                <a:spcPct val="105000"/>
              </a:lnSpc>
              <a:buNone/>
            </a:pPr>
            <a:r>
              <a:rPr lang="en-US" sz="750" b="1" spc="110" kern="0" dirty="0">
                <a:solidFill>
                  <a:srgbClr val="B45309"/>
                </a:solidFill>
                <a:latin typeface="Arial" pitchFamily="34" charset="0"/>
                <a:ea typeface="Arial" pitchFamily="34" charset="-122"/>
                <a:cs typeface="Arial" pitchFamily="34" charset="-120"/>
              </a:rPr>
              <a:t>05 / PROCESS &amp; WIRE</a:t>
            </a:r>
            <a:endParaRPr lang="en-US" sz="750" dirty="0"/>
          </a:p>
        </p:txBody>
      </p:sp>
      <p:sp>
        <p:nvSpPr>
          <p:cNvPr id="5" name="Shape 3"/>
          <p:cNvSpPr/>
          <p:nvPr/>
        </p:nvSpPr>
        <p:spPr>
          <a:xfrm>
            <a:off x="8183880" y="219456"/>
            <a:ext cx="228600" cy="59436"/>
          </a:xfrm>
          <a:prstGeom prst="roundRect">
            <a:avLst>
              <a:gd name="adj" fmla="val 46154"/>
            </a:avLst>
          </a:prstGeom>
          <a:solidFill>
            <a:srgbClr val="94A3B8"/>
          </a:solidFill>
          <a:ln/>
        </p:spPr>
      </p:sp>
      <p:sp>
        <p:nvSpPr>
          <p:cNvPr id="6" name="Shape 4"/>
          <p:cNvSpPr/>
          <p:nvPr/>
        </p:nvSpPr>
        <p:spPr>
          <a:xfrm>
            <a:off x="8453628" y="219456"/>
            <a:ext cx="228600" cy="59436"/>
          </a:xfrm>
          <a:prstGeom prst="roundRect">
            <a:avLst>
              <a:gd name="adj" fmla="val 46154"/>
            </a:avLst>
          </a:prstGeom>
          <a:solidFill>
            <a:srgbClr val="94A3B8"/>
          </a:solidFill>
          <a:ln/>
        </p:spPr>
      </p:sp>
      <p:sp>
        <p:nvSpPr>
          <p:cNvPr id="7" name="Shape 5"/>
          <p:cNvSpPr/>
          <p:nvPr/>
        </p:nvSpPr>
        <p:spPr>
          <a:xfrm>
            <a:off x="8723376" y="219456"/>
            <a:ext cx="228600" cy="59436"/>
          </a:xfrm>
          <a:prstGeom prst="roundRect">
            <a:avLst>
              <a:gd name="adj" fmla="val 46154"/>
            </a:avLst>
          </a:prstGeom>
          <a:solidFill>
            <a:srgbClr val="94A3B8"/>
          </a:solidFill>
          <a:ln/>
        </p:spPr>
      </p:sp>
      <p:sp>
        <p:nvSpPr>
          <p:cNvPr id="8" name="Shape 6"/>
          <p:cNvSpPr/>
          <p:nvPr/>
        </p:nvSpPr>
        <p:spPr>
          <a:xfrm>
            <a:off x="8993124" y="219456"/>
            <a:ext cx="228600" cy="59436"/>
          </a:xfrm>
          <a:prstGeom prst="roundRect">
            <a:avLst>
              <a:gd name="adj" fmla="val 46154"/>
            </a:avLst>
          </a:prstGeom>
          <a:solidFill>
            <a:srgbClr val="94A3B8"/>
          </a:solidFill>
          <a:ln/>
        </p:spPr>
      </p:sp>
      <p:sp>
        <p:nvSpPr>
          <p:cNvPr id="9" name="Shape 7"/>
          <p:cNvSpPr/>
          <p:nvPr/>
        </p:nvSpPr>
        <p:spPr>
          <a:xfrm>
            <a:off x="9262872" y="219456"/>
            <a:ext cx="228600" cy="59436"/>
          </a:xfrm>
          <a:prstGeom prst="roundRect">
            <a:avLst>
              <a:gd name="adj" fmla="val 46154"/>
            </a:avLst>
          </a:prstGeom>
          <a:solidFill>
            <a:srgbClr val="B45309"/>
          </a:solidFill>
          <a:ln/>
        </p:spPr>
      </p:sp>
      <p:sp>
        <p:nvSpPr>
          <p:cNvPr id="10" name="Shape 8"/>
          <p:cNvSpPr/>
          <p:nvPr/>
        </p:nvSpPr>
        <p:spPr>
          <a:xfrm>
            <a:off x="9532620" y="219456"/>
            <a:ext cx="228600" cy="59436"/>
          </a:xfrm>
          <a:prstGeom prst="roundRect">
            <a:avLst>
              <a:gd name="adj" fmla="val 46154"/>
            </a:avLst>
          </a:prstGeom>
          <a:solidFill>
            <a:srgbClr val="E2E8F0"/>
          </a:solidFill>
          <a:ln/>
        </p:spPr>
      </p:sp>
      <p:sp>
        <p:nvSpPr>
          <p:cNvPr id="11" name="Shape 9"/>
          <p:cNvSpPr/>
          <p:nvPr/>
        </p:nvSpPr>
        <p:spPr>
          <a:xfrm>
            <a:off x="9802368" y="219456"/>
            <a:ext cx="228600" cy="59436"/>
          </a:xfrm>
          <a:prstGeom prst="roundRect">
            <a:avLst>
              <a:gd name="adj" fmla="val 46154"/>
            </a:avLst>
          </a:prstGeom>
          <a:solidFill>
            <a:srgbClr val="E2E8F0"/>
          </a:solidFill>
          <a:ln/>
        </p:spPr>
      </p:sp>
      <p:sp>
        <p:nvSpPr>
          <p:cNvPr id="12" name="Shape 10"/>
          <p:cNvSpPr/>
          <p:nvPr/>
        </p:nvSpPr>
        <p:spPr>
          <a:xfrm>
            <a:off x="10131552" y="146304"/>
            <a:ext cx="1621231" cy="192024"/>
          </a:xfrm>
          <a:prstGeom prst="roundRect">
            <a:avLst>
              <a:gd name="adj" fmla="val 23810"/>
            </a:avLst>
          </a:prstGeom>
          <a:solidFill>
            <a:srgbClr val="FFFFFF"/>
          </a:solidFill>
          <a:ln w="9525">
            <a:solidFill>
              <a:srgbClr val="CBD5E1"/>
            </a:solidFill>
            <a:prstDash val="solid"/>
          </a:ln>
        </p:spPr>
      </p:sp>
      <p:sp>
        <p:nvSpPr>
          <p:cNvPr id="13" name="Text 11"/>
          <p:cNvSpPr/>
          <p:nvPr/>
        </p:nvSpPr>
        <p:spPr>
          <a:xfrm>
            <a:off x="10131552" y="146304"/>
            <a:ext cx="1621231" cy="192024"/>
          </a:xfrm>
          <a:prstGeom prst="rect">
            <a:avLst/>
          </a:prstGeom>
          <a:noFill/>
          <a:ln/>
        </p:spPr>
        <p:txBody>
          <a:bodyPr wrap="square" lIns="0" tIns="0" rIns="0" bIns="0" rtlCol="0" anchor="ctr"/>
          <a:lstStyle/>
          <a:p>
            <a:pPr algn="ctr" indent="0" marL="0">
              <a:lnSpc>
                <a:spcPct val="105000"/>
              </a:lnSpc>
              <a:buNone/>
            </a:pPr>
            <a:r>
              <a:rPr lang="en-US" sz="680" b="1" spc="60" kern="0" dirty="0">
                <a:solidFill>
                  <a:srgbClr val="B45309"/>
                </a:solidFill>
                <a:latin typeface="Arial" pitchFamily="34" charset="0"/>
                <a:ea typeface="Arial" pitchFamily="34" charset="-122"/>
                <a:cs typeface="Arial" pitchFamily="34" charset="-120"/>
              </a:rPr>
              <a:t>UML SWIMLANE (L3)</a:t>
            </a:r>
            <a:endParaRPr lang="en-US" sz="680" dirty="0"/>
          </a:p>
        </p:txBody>
      </p:sp>
      <p:sp>
        <p:nvSpPr>
          <p:cNvPr id="14" name="Text 12"/>
          <p:cNvSpPr/>
          <p:nvPr/>
        </p:nvSpPr>
        <p:spPr>
          <a:xfrm>
            <a:off x="576072" y="338328"/>
            <a:ext cx="11176711" cy="310896"/>
          </a:xfrm>
          <a:prstGeom prst="rect">
            <a:avLst/>
          </a:prstGeom>
          <a:noFill/>
          <a:ln/>
        </p:spPr>
        <p:txBody>
          <a:bodyPr wrap="square" lIns="0" tIns="0" rIns="0" bIns="0" rtlCol="0" anchor="ctr"/>
          <a:lstStyle/>
          <a:p>
            <a:pPr algn="l" indent="0" marL="0">
              <a:lnSpc>
                <a:spcPct val="104000"/>
              </a:lnSpc>
              <a:buNone/>
            </a:pPr>
            <a:r>
              <a:rPr lang="en-US" sz="1750" b="1" dirty="0">
                <a:solidFill>
                  <a:srgbClr val="0F172A"/>
                </a:solidFill>
                <a:latin typeface="Arial" pitchFamily="34" charset="0"/>
                <a:ea typeface="Arial" pitchFamily="34" charset="-122"/>
                <a:cs typeface="Arial" pitchFamily="34" charset="-120"/>
              </a:rPr>
              <a:t>L3 Process Flow: 5-Actor UML Sequence, Circuit Breakers &amp; Stampede Recovery</a:t>
            </a:r>
            <a:endParaRPr lang="en-US" sz="1750" dirty="0"/>
          </a:p>
        </p:txBody>
      </p:sp>
      <p:sp>
        <p:nvSpPr>
          <p:cNvPr id="15" name="Text 13"/>
          <p:cNvSpPr/>
          <p:nvPr/>
        </p:nvSpPr>
        <p:spPr>
          <a:xfrm>
            <a:off x="576072" y="658368"/>
            <a:ext cx="11176711" cy="192024"/>
          </a:xfrm>
          <a:prstGeom prst="rect">
            <a:avLst/>
          </a:prstGeom>
          <a:noFill/>
          <a:ln/>
        </p:spPr>
        <p:txBody>
          <a:bodyPr wrap="square" lIns="0" tIns="0" rIns="0" bIns="0" rtlCol="0" anchor="ctr"/>
          <a:lstStyle/>
          <a:p>
            <a:pPr algn="l" indent="0" marL="0">
              <a:lnSpc>
                <a:spcPct val="104000"/>
              </a:lnSpc>
              <a:buNone/>
            </a:pPr>
            <a:r>
              <a:rPr lang="en-US" sz="900" dirty="0">
                <a:solidFill>
                  <a:srgbClr val="64748B"/>
                </a:solidFill>
                <a:latin typeface="Arial" pitchFamily="34" charset="0"/>
                <a:ea typeface="Arial" pitchFamily="34" charset="-122"/>
                <a:cs typeface="Arial" pitchFamily="34" charset="-120"/>
              </a:rPr>
              <a:t>Chronological activation lifelines across Steps 1–6 (~42ms p95 overhead), 90% shared prefix cache SLA, and [Alt] fail-closed recovery contracts.</a:t>
            </a:r>
            <a:endParaRPr lang="en-US" sz="900" dirty="0"/>
          </a:p>
        </p:txBody>
      </p:sp>
      <p:sp>
        <p:nvSpPr>
          <p:cNvPr id="16" name="Shape 14"/>
          <p:cNvSpPr/>
          <p:nvPr/>
        </p:nvSpPr>
        <p:spPr>
          <a:xfrm>
            <a:off x="438912" y="914400"/>
            <a:ext cx="11313871" cy="0"/>
          </a:xfrm>
          <a:prstGeom prst="line">
            <a:avLst/>
          </a:prstGeom>
          <a:noFill/>
          <a:ln w="10795">
            <a:solidFill>
              <a:srgbClr val="E2E8F0"/>
            </a:solidFill>
            <a:prstDash val="solid"/>
          </a:ln>
        </p:spPr>
      </p:sp>
      <p:sp>
        <p:nvSpPr>
          <p:cNvPr id="17" name="Shape 15"/>
          <p:cNvSpPr/>
          <p:nvPr/>
        </p:nvSpPr>
        <p:spPr>
          <a:xfrm>
            <a:off x="438912" y="6455664"/>
            <a:ext cx="11313871" cy="0"/>
          </a:xfrm>
          <a:prstGeom prst="line">
            <a:avLst/>
          </a:prstGeom>
          <a:noFill/>
          <a:ln w="9525">
            <a:solidFill>
              <a:srgbClr val="E2E8F0"/>
            </a:solidFill>
            <a:prstDash val="solid"/>
          </a:ln>
        </p:spPr>
      </p:sp>
      <p:sp>
        <p:nvSpPr>
          <p:cNvPr id="18" name="Text 16"/>
          <p:cNvSpPr/>
          <p:nvPr/>
        </p:nvSpPr>
        <p:spPr>
          <a:xfrm>
            <a:off x="438912" y="6501384"/>
            <a:ext cx="5852160" cy="192024"/>
          </a:xfrm>
          <a:prstGeom prst="rect">
            <a:avLst/>
          </a:prstGeom>
          <a:noFill/>
          <a:ln/>
        </p:spPr>
        <p:txBody>
          <a:bodyPr wrap="square" lIns="0" tIns="0" rIns="0" bIns="0" rtlCol="0" anchor="ctr"/>
          <a:lstStyle/>
          <a:p>
            <a:pPr algn="l" indent="0" marL="0">
              <a:lnSpc>
                <a:spcPct val="105000"/>
              </a:lnSpc>
              <a:buNone/>
            </a:pPr>
            <a:r>
              <a:rPr lang="en-US" sz="680" b="1" spc="40" kern="0" dirty="0">
                <a:solidFill>
                  <a:srgbClr val="64748B"/>
                </a:solidFill>
                <a:latin typeface="Arial" pitchFamily="34" charset="0"/>
                <a:ea typeface="Arial" pitchFamily="34" charset="-122"/>
                <a:cs typeface="Arial" pitchFamily="34" charset="-120"/>
              </a:rPr>
              <a:t>GOOGLE CLOUD AI ARCHITECTURE  •  BLOG 1: MULTI-TENANT AGENTIC AI TAXONOMY &amp; 5-HOP BASELINE</a:t>
            </a:r>
            <a:endParaRPr lang="en-US" sz="680" dirty="0"/>
          </a:p>
        </p:txBody>
      </p:sp>
      <p:sp>
        <p:nvSpPr>
          <p:cNvPr id="19" name="Text 17"/>
          <p:cNvSpPr/>
          <p:nvPr/>
        </p:nvSpPr>
        <p:spPr>
          <a:xfrm>
            <a:off x="6355080" y="6501384"/>
            <a:ext cx="4206240" cy="192024"/>
          </a:xfrm>
          <a:prstGeom prst="rect">
            <a:avLst/>
          </a:prstGeom>
          <a:noFill/>
          <a:ln/>
        </p:spPr>
        <p:txBody>
          <a:bodyPr wrap="square" lIns="0" tIns="0" rIns="0" bIns="0" rtlCol="0" anchor="ctr"/>
          <a:lstStyle/>
          <a:p>
            <a:pPr algn="r" indent="0" marL="0">
              <a:lnSpc>
                <a:spcPct val="105000"/>
              </a:lnSpc>
              <a:buNone/>
            </a:pPr>
            <a:r>
              <a:rPr lang="en-US" sz="680" dirty="0">
                <a:solidFill>
                  <a:srgbClr val="64748B"/>
                </a:solidFill>
                <a:latin typeface="Arial" pitchFamily="34" charset="0"/>
                <a:ea typeface="Arial" pitchFamily="34" charset="-122"/>
                <a:cs typeface="Arial" pitchFamily="34" charset="-120"/>
              </a:rPr>
              <a:t>Steps 1–6 (~42ms p95)  •  [Alt] HTTP 401/403/429/422/423 + &lt;5s SCAN+UNLINK &amp; SET NX PX 5000</a:t>
            </a:r>
            <a:endParaRPr lang="en-US" sz="680" dirty="0"/>
          </a:p>
        </p:txBody>
      </p:sp>
      <p:sp>
        <p:nvSpPr>
          <p:cNvPr id="20" name="Shape 18"/>
          <p:cNvSpPr/>
          <p:nvPr/>
        </p:nvSpPr>
        <p:spPr>
          <a:xfrm>
            <a:off x="11002975" y="6501384"/>
            <a:ext cx="749808" cy="192024"/>
          </a:xfrm>
          <a:prstGeom prst="roundRect">
            <a:avLst>
              <a:gd name="adj" fmla="val 19048"/>
            </a:avLst>
          </a:prstGeom>
          <a:solidFill>
            <a:srgbClr val="F1F5F9"/>
          </a:solidFill>
          <a:ln w="7620">
            <a:solidFill>
              <a:srgbClr val="E2E8F0"/>
            </a:solidFill>
            <a:prstDash val="solid"/>
          </a:ln>
        </p:spPr>
      </p:sp>
      <p:sp>
        <p:nvSpPr>
          <p:cNvPr id="21" name="Text 19"/>
          <p:cNvSpPr/>
          <p:nvPr/>
        </p:nvSpPr>
        <p:spPr>
          <a:xfrm>
            <a:off x="11002975" y="6501384"/>
            <a:ext cx="749808" cy="192024"/>
          </a:xfrm>
          <a:prstGeom prst="rect">
            <a:avLst/>
          </a:prstGeom>
          <a:noFill/>
          <a:ln/>
        </p:spPr>
        <p:txBody>
          <a:bodyPr wrap="square" lIns="0" tIns="0" rIns="0" bIns="0" rtlCol="0" anchor="ctr"/>
          <a:lstStyle/>
          <a:p>
            <a:pPr algn="ctr" indent="0" marL="0">
              <a:lnSpc>
                <a:spcPct val="105000"/>
              </a:lnSpc>
              <a:buNone/>
            </a:pPr>
            <a:r>
              <a:rPr lang="en-US" sz="700" b="1" dirty="0">
                <a:solidFill>
                  <a:srgbClr val="334155"/>
                </a:solidFill>
                <a:latin typeface="Arial" pitchFamily="34" charset="0"/>
                <a:ea typeface="Arial" pitchFamily="34" charset="-122"/>
                <a:cs typeface="Arial" pitchFamily="34" charset="-120"/>
              </a:rPr>
              <a:t>11 / 23</a:t>
            </a:r>
            <a:endParaRPr lang="en-US" sz="700" dirty="0"/>
          </a:p>
        </p:txBody>
      </p:sp>
      <p:sp>
        <p:nvSpPr>
          <p:cNvPr id="22" name="Shape 20"/>
          <p:cNvSpPr/>
          <p:nvPr/>
        </p:nvSpPr>
        <p:spPr>
          <a:xfrm>
            <a:off x="960120" y="1773936"/>
            <a:ext cx="10469880" cy="0"/>
          </a:xfrm>
          <a:prstGeom prst="line">
            <a:avLst/>
          </a:prstGeom>
          <a:noFill/>
          <a:ln w="19050">
            <a:solidFill>
              <a:srgbClr val="CBD5E1"/>
            </a:solidFill>
            <a:prstDash val="solid"/>
            <a:tailEnd type="triangle" w="sm" len="sm"/>
          </a:ln>
        </p:spPr>
      </p:sp>
      <p:sp>
        <p:nvSpPr>
          <p:cNvPr id="23" name="Shape 21"/>
          <p:cNvSpPr/>
          <p:nvPr/>
        </p:nvSpPr>
        <p:spPr>
          <a:xfrm>
            <a:off x="557784" y="1005840"/>
            <a:ext cx="804672" cy="310896"/>
          </a:xfrm>
          <a:prstGeom prst="roundRect">
            <a:avLst>
              <a:gd name="adj" fmla="val 17647"/>
            </a:avLst>
          </a:prstGeom>
          <a:solidFill>
            <a:srgbClr val="F8FAFC"/>
          </a:solidFill>
          <a:ln w="15240">
            <a:solidFill>
              <a:srgbClr val="162B4C"/>
            </a:solidFill>
            <a:prstDash val="solid"/>
          </a:ln>
        </p:spPr>
      </p:sp>
      <p:sp>
        <p:nvSpPr>
          <p:cNvPr id="24" name="Text 22"/>
          <p:cNvSpPr/>
          <p:nvPr/>
        </p:nvSpPr>
        <p:spPr>
          <a:xfrm>
            <a:off x="557784" y="1005840"/>
            <a:ext cx="804672" cy="310896"/>
          </a:xfrm>
          <a:prstGeom prst="rect">
            <a:avLst/>
          </a:prstGeom>
          <a:noFill/>
          <a:ln/>
        </p:spPr>
        <p:txBody>
          <a:bodyPr wrap="square" lIns="0" tIns="0" rIns="0" bIns="0" rtlCol="0" anchor="ctr"/>
          <a:lstStyle/>
          <a:p>
            <a:pPr algn="ctr" indent="0" marL="0">
              <a:buNone/>
            </a:pPr>
            <a:r>
              <a:rPr lang="en-US" sz="840" b="1" dirty="0">
                <a:solidFill>
                  <a:srgbClr val="162B4C"/>
                </a:solidFill>
                <a:latin typeface="Arial" pitchFamily="34" charset="0"/>
                <a:ea typeface="Arial" pitchFamily="34" charset="-122"/>
                <a:cs typeface="Arial" pitchFamily="34" charset="-120"/>
              </a:rPr>
              <a:t>ACT 1</a:t>
            </a:r>
            <a:endParaRPr lang="en-US" sz="840" dirty="0"/>
          </a:p>
        </p:txBody>
      </p:sp>
      <p:sp>
        <p:nvSpPr>
          <p:cNvPr id="25" name="Text 23"/>
          <p:cNvSpPr/>
          <p:nvPr/>
        </p:nvSpPr>
        <p:spPr>
          <a:xfrm>
            <a:off x="-9144" y="1353312"/>
            <a:ext cx="1938528" cy="274320"/>
          </a:xfrm>
          <a:prstGeom prst="rect">
            <a:avLst/>
          </a:prstGeom>
          <a:noFill/>
          <a:ln/>
        </p:spPr>
        <p:txBody>
          <a:bodyPr wrap="square" lIns="0" tIns="0" rIns="0" bIns="0" rtlCol="0" anchor="ctr"/>
          <a:lstStyle/>
          <a:p>
            <a:pPr algn="ctr" indent="0" marL="0">
              <a:buNone/>
            </a:pPr>
            <a:r>
              <a:rPr lang="en-US" sz="920" b="1" dirty="0">
                <a:solidFill>
                  <a:srgbClr val="1E293B"/>
                </a:solidFill>
                <a:latin typeface="Arial" pitchFamily="34" charset="0"/>
                <a:ea typeface="Arial" pitchFamily="34" charset="-122"/>
                <a:cs typeface="Arial" pitchFamily="34" charset="-120"/>
              </a:rPr>
              <a:t>Tenant Caller</a:t>
            </a:r>
            <a:endParaRPr lang="en-US" sz="920" dirty="0"/>
          </a:p>
        </p:txBody>
      </p:sp>
      <p:sp>
        <p:nvSpPr>
          <p:cNvPr id="26" name="Shape 24"/>
          <p:cNvSpPr/>
          <p:nvPr/>
        </p:nvSpPr>
        <p:spPr>
          <a:xfrm>
            <a:off x="868680" y="1682496"/>
            <a:ext cx="182880" cy="182880"/>
          </a:xfrm>
          <a:prstGeom prst="ellipse">
            <a:avLst/>
          </a:prstGeom>
          <a:solidFill>
            <a:srgbClr val="162B4C"/>
          </a:solidFill>
          <a:ln/>
        </p:spPr>
      </p:sp>
      <p:sp>
        <p:nvSpPr>
          <p:cNvPr id="27" name="Shape 25"/>
          <p:cNvSpPr/>
          <p:nvPr/>
        </p:nvSpPr>
        <p:spPr>
          <a:xfrm>
            <a:off x="960120" y="1865376"/>
            <a:ext cx="0" cy="4462272"/>
          </a:xfrm>
          <a:prstGeom prst="line">
            <a:avLst/>
          </a:prstGeom>
          <a:noFill/>
          <a:ln w="15240">
            <a:solidFill>
              <a:srgbClr val="CBD5E1"/>
            </a:solidFill>
            <a:prstDash val="solid"/>
          </a:ln>
        </p:spPr>
      </p:sp>
      <p:sp>
        <p:nvSpPr>
          <p:cNvPr id="28" name="Shape 26"/>
          <p:cNvSpPr/>
          <p:nvPr/>
        </p:nvSpPr>
        <p:spPr>
          <a:xfrm>
            <a:off x="2660904" y="1005840"/>
            <a:ext cx="804672" cy="310896"/>
          </a:xfrm>
          <a:prstGeom prst="roundRect">
            <a:avLst>
              <a:gd name="adj" fmla="val 17647"/>
            </a:avLst>
          </a:prstGeom>
          <a:solidFill>
            <a:srgbClr val="F8FAFC"/>
          </a:solidFill>
          <a:ln w="15240">
            <a:solidFill>
              <a:srgbClr val="0D7377"/>
            </a:solidFill>
            <a:prstDash val="solid"/>
          </a:ln>
        </p:spPr>
      </p:sp>
      <p:sp>
        <p:nvSpPr>
          <p:cNvPr id="29" name="Text 27"/>
          <p:cNvSpPr/>
          <p:nvPr/>
        </p:nvSpPr>
        <p:spPr>
          <a:xfrm>
            <a:off x="2660904" y="1005840"/>
            <a:ext cx="804672" cy="310896"/>
          </a:xfrm>
          <a:prstGeom prst="rect">
            <a:avLst/>
          </a:prstGeom>
          <a:noFill/>
          <a:ln/>
        </p:spPr>
        <p:txBody>
          <a:bodyPr wrap="square" lIns="0" tIns="0" rIns="0" bIns="0" rtlCol="0" anchor="ctr"/>
          <a:lstStyle/>
          <a:p>
            <a:pPr algn="ctr" indent="0" marL="0">
              <a:buNone/>
            </a:pPr>
            <a:r>
              <a:rPr lang="en-US" sz="840" b="1" dirty="0">
                <a:solidFill>
                  <a:srgbClr val="0D7377"/>
                </a:solidFill>
                <a:latin typeface="Arial" pitchFamily="34" charset="0"/>
                <a:ea typeface="Arial" pitchFamily="34" charset="-122"/>
                <a:cs typeface="Arial" pitchFamily="34" charset="-120"/>
              </a:rPr>
              <a:t>HOP 1</a:t>
            </a:r>
            <a:endParaRPr lang="en-US" sz="840" dirty="0"/>
          </a:p>
        </p:txBody>
      </p:sp>
      <p:sp>
        <p:nvSpPr>
          <p:cNvPr id="30" name="Text 28"/>
          <p:cNvSpPr/>
          <p:nvPr/>
        </p:nvSpPr>
        <p:spPr>
          <a:xfrm>
            <a:off x="2093976" y="1353312"/>
            <a:ext cx="1938528" cy="274320"/>
          </a:xfrm>
          <a:prstGeom prst="rect">
            <a:avLst/>
          </a:prstGeom>
          <a:noFill/>
          <a:ln/>
        </p:spPr>
        <p:txBody>
          <a:bodyPr wrap="square" lIns="0" tIns="0" rIns="0" bIns="0" rtlCol="0" anchor="ctr"/>
          <a:lstStyle/>
          <a:p>
            <a:pPr algn="ctr" indent="0" marL="0">
              <a:buNone/>
            </a:pPr>
            <a:r>
              <a:rPr lang="en-US" sz="920" b="1" dirty="0">
                <a:solidFill>
                  <a:srgbClr val="1E293B"/>
                </a:solidFill>
                <a:latin typeface="Arial" pitchFamily="34" charset="0"/>
                <a:ea typeface="Arial" pitchFamily="34" charset="-122"/>
                <a:cs typeface="Arial" pitchFamily="34" charset="-120"/>
              </a:rPr>
              <a:t>Hop 1: Edge &amp; IAM STS</a:t>
            </a:r>
            <a:endParaRPr lang="en-US" sz="920" dirty="0"/>
          </a:p>
        </p:txBody>
      </p:sp>
      <p:sp>
        <p:nvSpPr>
          <p:cNvPr id="31" name="Shape 29"/>
          <p:cNvSpPr/>
          <p:nvPr/>
        </p:nvSpPr>
        <p:spPr>
          <a:xfrm>
            <a:off x="2971800" y="1682496"/>
            <a:ext cx="182880" cy="182880"/>
          </a:xfrm>
          <a:prstGeom prst="ellipse">
            <a:avLst/>
          </a:prstGeom>
          <a:solidFill>
            <a:srgbClr val="0D7377"/>
          </a:solidFill>
          <a:ln/>
        </p:spPr>
      </p:sp>
      <p:sp>
        <p:nvSpPr>
          <p:cNvPr id="32" name="Shape 30"/>
          <p:cNvSpPr/>
          <p:nvPr/>
        </p:nvSpPr>
        <p:spPr>
          <a:xfrm>
            <a:off x="3063240" y="1865376"/>
            <a:ext cx="0" cy="4462272"/>
          </a:xfrm>
          <a:prstGeom prst="line">
            <a:avLst/>
          </a:prstGeom>
          <a:noFill/>
          <a:ln w="15240">
            <a:solidFill>
              <a:srgbClr val="CBD5E1"/>
            </a:solidFill>
            <a:prstDash val="solid"/>
          </a:ln>
        </p:spPr>
      </p:sp>
      <p:sp>
        <p:nvSpPr>
          <p:cNvPr id="33" name="Shape 31"/>
          <p:cNvSpPr/>
          <p:nvPr/>
        </p:nvSpPr>
        <p:spPr>
          <a:xfrm>
            <a:off x="4764024" y="1005840"/>
            <a:ext cx="804672" cy="310896"/>
          </a:xfrm>
          <a:prstGeom prst="roundRect">
            <a:avLst>
              <a:gd name="adj" fmla="val 17647"/>
            </a:avLst>
          </a:prstGeom>
          <a:solidFill>
            <a:srgbClr val="F8FAFC"/>
          </a:solidFill>
          <a:ln w="15240">
            <a:solidFill>
              <a:srgbClr val="4E657E"/>
            </a:solidFill>
            <a:prstDash val="solid"/>
          </a:ln>
        </p:spPr>
      </p:sp>
      <p:sp>
        <p:nvSpPr>
          <p:cNvPr id="34" name="Text 32"/>
          <p:cNvSpPr/>
          <p:nvPr/>
        </p:nvSpPr>
        <p:spPr>
          <a:xfrm>
            <a:off x="4764024" y="1005840"/>
            <a:ext cx="804672" cy="310896"/>
          </a:xfrm>
          <a:prstGeom prst="rect">
            <a:avLst/>
          </a:prstGeom>
          <a:noFill/>
          <a:ln/>
        </p:spPr>
        <p:txBody>
          <a:bodyPr wrap="square" lIns="0" tIns="0" rIns="0" bIns="0" rtlCol="0" anchor="ctr"/>
          <a:lstStyle/>
          <a:p>
            <a:pPr algn="ctr" indent="0" marL="0">
              <a:buNone/>
            </a:pPr>
            <a:r>
              <a:rPr lang="en-US" sz="840" b="1" dirty="0">
                <a:solidFill>
                  <a:srgbClr val="4E657E"/>
                </a:solidFill>
                <a:latin typeface="Arial" pitchFamily="34" charset="0"/>
                <a:ea typeface="Arial" pitchFamily="34" charset="-122"/>
                <a:cs typeface="Arial" pitchFamily="34" charset="-120"/>
              </a:rPr>
              <a:t>HOP 2-3</a:t>
            </a:r>
            <a:endParaRPr lang="en-US" sz="840" dirty="0"/>
          </a:p>
        </p:txBody>
      </p:sp>
      <p:sp>
        <p:nvSpPr>
          <p:cNvPr id="35" name="Text 33"/>
          <p:cNvSpPr/>
          <p:nvPr/>
        </p:nvSpPr>
        <p:spPr>
          <a:xfrm>
            <a:off x="4197096" y="1353312"/>
            <a:ext cx="1938528" cy="274320"/>
          </a:xfrm>
          <a:prstGeom prst="rect">
            <a:avLst/>
          </a:prstGeom>
          <a:noFill/>
          <a:ln/>
        </p:spPr>
        <p:txBody>
          <a:bodyPr wrap="square" lIns="0" tIns="0" rIns="0" bIns="0" rtlCol="0" anchor="ctr"/>
          <a:lstStyle/>
          <a:p>
            <a:pPr algn="ctr" indent="0" marL="0">
              <a:buNone/>
            </a:pPr>
            <a:r>
              <a:rPr lang="en-US" sz="920" b="1" dirty="0">
                <a:solidFill>
                  <a:srgbClr val="1E293B"/>
                </a:solidFill>
                <a:latin typeface="Arial" pitchFamily="34" charset="0"/>
                <a:ea typeface="Arial" pitchFamily="34" charset="-122"/>
                <a:cs typeface="Arial" pitchFamily="34" charset="-120"/>
              </a:rPr>
              <a:t>Hops 2–3: ARD &amp; Memory</a:t>
            </a:r>
            <a:endParaRPr lang="en-US" sz="920" dirty="0"/>
          </a:p>
        </p:txBody>
      </p:sp>
      <p:sp>
        <p:nvSpPr>
          <p:cNvPr id="36" name="Shape 34"/>
          <p:cNvSpPr/>
          <p:nvPr/>
        </p:nvSpPr>
        <p:spPr>
          <a:xfrm>
            <a:off x="5074920" y="1682496"/>
            <a:ext cx="182880" cy="182880"/>
          </a:xfrm>
          <a:prstGeom prst="ellipse">
            <a:avLst/>
          </a:prstGeom>
          <a:solidFill>
            <a:srgbClr val="4E657E"/>
          </a:solidFill>
          <a:ln/>
        </p:spPr>
      </p:sp>
      <p:sp>
        <p:nvSpPr>
          <p:cNvPr id="37" name="Shape 35"/>
          <p:cNvSpPr/>
          <p:nvPr/>
        </p:nvSpPr>
        <p:spPr>
          <a:xfrm>
            <a:off x="5166360" y="1865376"/>
            <a:ext cx="0" cy="4462272"/>
          </a:xfrm>
          <a:prstGeom prst="line">
            <a:avLst/>
          </a:prstGeom>
          <a:noFill/>
          <a:ln w="15240">
            <a:solidFill>
              <a:srgbClr val="CBD5E1"/>
            </a:solidFill>
            <a:prstDash val="solid"/>
          </a:ln>
        </p:spPr>
      </p:sp>
      <p:sp>
        <p:nvSpPr>
          <p:cNvPr id="38" name="Shape 36"/>
          <p:cNvSpPr/>
          <p:nvPr/>
        </p:nvSpPr>
        <p:spPr>
          <a:xfrm>
            <a:off x="6867144" y="1005840"/>
            <a:ext cx="804672" cy="310896"/>
          </a:xfrm>
          <a:prstGeom prst="roundRect">
            <a:avLst>
              <a:gd name="adj" fmla="val 17647"/>
            </a:avLst>
          </a:prstGeom>
          <a:solidFill>
            <a:srgbClr val="F8FAFC"/>
          </a:solidFill>
          <a:ln w="15240">
            <a:solidFill>
              <a:srgbClr val="38988E"/>
            </a:solidFill>
            <a:prstDash val="solid"/>
          </a:ln>
        </p:spPr>
      </p:sp>
      <p:sp>
        <p:nvSpPr>
          <p:cNvPr id="39" name="Text 37"/>
          <p:cNvSpPr/>
          <p:nvPr/>
        </p:nvSpPr>
        <p:spPr>
          <a:xfrm>
            <a:off x="6867144" y="1005840"/>
            <a:ext cx="804672" cy="310896"/>
          </a:xfrm>
          <a:prstGeom prst="rect">
            <a:avLst/>
          </a:prstGeom>
          <a:noFill/>
          <a:ln/>
        </p:spPr>
        <p:txBody>
          <a:bodyPr wrap="square" lIns="0" tIns="0" rIns="0" bIns="0" rtlCol="0" anchor="ctr"/>
          <a:lstStyle/>
          <a:p>
            <a:pPr algn="ctr" indent="0" marL="0">
              <a:buNone/>
            </a:pPr>
            <a:r>
              <a:rPr lang="en-US" sz="840" b="1" dirty="0">
                <a:solidFill>
                  <a:srgbClr val="38988E"/>
                </a:solidFill>
                <a:latin typeface="Arial" pitchFamily="34" charset="0"/>
                <a:ea typeface="Arial" pitchFamily="34" charset="-122"/>
                <a:cs typeface="Arial" pitchFamily="34" charset="-120"/>
              </a:rPr>
              <a:t>HOP 4</a:t>
            </a:r>
            <a:endParaRPr lang="en-US" sz="840" dirty="0"/>
          </a:p>
        </p:txBody>
      </p:sp>
      <p:sp>
        <p:nvSpPr>
          <p:cNvPr id="40" name="Text 38"/>
          <p:cNvSpPr/>
          <p:nvPr/>
        </p:nvSpPr>
        <p:spPr>
          <a:xfrm>
            <a:off x="6300216" y="1353312"/>
            <a:ext cx="1938528" cy="274320"/>
          </a:xfrm>
          <a:prstGeom prst="rect">
            <a:avLst/>
          </a:prstGeom>
          <a:noFill/>
          <a:ln/>
        </p:spPr>
        <p:txBody>
          <a:bodyPr wrap="square" lIns="0" tIns="0" rIns="0" bIns="0" rtlCol="0" anchor="ctr"/>
          <a:lstStyle/>
          <a:p>
            <a:pPr algn="ctr" indent="0" marL="0">
              <a:buNone/>
            </a:pPr>
            <a:r>
              <a:rPr lang="en-US" sz="920" b="1" dirty="0">
                <a:solidFill>
                  <a:srgbClr val="1E293B"/>
                </a:solidFill>
                <a:latin typeface="Arial" pitchFamily="34" charset="0"/>
                <a:ea typeface="Arial" pitchFamily="34" charset="-122"/>
                <a:cs typeface="Arial" pitchFamily="34" charset="-120"/>
              </a:rPr>
              <a:t>Hop 4: Model Armor &amp; LLM</a:t>
            </a:r>
            <a:endParaRPr lang="en-US" sz="920" dirty="0"/>
          </a:p>
        </p:txBody>
      </p:sp>
      <p:sp>
        <p:nvSpPr>
          <p:cNvPr id="41" name="Shape 39"/>
          <p:cNvSpPr/>
          <p:nvPr/>
        </p:nvSpPr>
        <p:spPr>
          <a:xfrm>
            <a:off x="7178040" y="1682496"/>
            <a:ext cx="182880" cy="182880"/>
          </a:xfrm>
          <a:prstGeom prst="ellipse">
            <a:avLst/>
          </a:prstGeom>
          <a:solidFill>
            <a:srgbClr val="38988E"/>
          </a:solidFill>
          <a:ln/>
        </p:spPr>
      </p:sp>
      <p:sp>
        <p:nvSpPr>
          <p:cNvPr id="42" name="Shape 40"/>
          <p:cNvSpPr/>
          <p:nvPr/>
        </p:nvSpPr>
        <p:spPr>
          <a:xfrm>
            <a:off x="7269480" y="1865376"/>
            <a:ext cx="0" cy="4462272"/>
          </a:xfrm>
          <a:prstGeom prst="line">
            <a:avLst/>
          </a:prstGeom>
          <a:noFill/>
          <a:ln w="15240">
            <a:solidFill>
              <a:srgbClr val="CBD5E1"/>
            </a:solidFill>
            <a:prstDash val="solid"/>
          </a:ln>
        </p:spPr>
      </p:sp>
      <p:sp>
        <p:nvSpPr>
          <p:cNvPr id="43" name="Shape 41"/>
          <p:cNvSpPr/>
          <p:nvPr/>
        </p:nvSpPr>
        <p:spPr>
          <a:xfrm>
            <a:off x="9153144" y="1005840"/>
            <a:ext cx="804672" cy="310896"/>
          </a:xfrm>
          <a:prstGeom prst="roundRect">
            <a:avLst>
              <a:gd name="adj" fmla="val 17647"/>
            </a:avLst>
          </a:prstGeom>
          <a:solidFill>
            <a:srgbClr val="F8FAFC"/>
          </a:solidFill>
          <a:ln w="15240">
            <a:solidFill>
              <a:srgbClr val="162B4C"/>
            </a:solidFill>
            <a:prstDash val="solid"/>
          </a:ln>
        </p:spPr>
      </p:sp>
      <p:sp>
        <p:nvSpPr>
          <p:cNvPr id="44" name="Text 42"/>
          <p:cNvSpPr/>
          <p:nvPr/>
        </p:nvSpPr>
        <p:spPr>
          <a:xfrm>
            <a:off x="9153144" y="1005840"/>
            <a:ext cx="804672" cy="310896"/>
          </a:xfrm>
          <a:prstGeom prst="rect">
            <a:avLst/>
          </a:prstGeom>
          <a:noFill/>
          <a:ln/>
        </p:spPr>
        <p:txBody>
          <a:bodyPr wrap="square" lIns="0" tIns="0" rIns="0" bIns="0" rtlCol="0" anchor="ctr"/>
          <a:lstStyle/>
          <a:p>
            <a:pPr algn="ctr" indent="0" marL="0">
              <a:buNone/>
            </a:pPr>
            <a:r>
              <a:rPr lang="en-US" sz="840" b="1" dirty="0">
                <a:solidFill>
                  <a:srgbClr val="162B4C"/>
                </a:solidFill>
                <a:latin typeface="Arial" pitchFamily="34" charset="0"/>
                <a:ea typeface="Arial" pitchFamily="34" charset="-122"/>
                <a:cs typeface="Arial" pitchFamily="34" charset="-120"/>
              </a:rPr>
              <a:t>HOP 5</a:t>
            </a:r>
            <a:endParaRPr lang="en-US" sz="840" dirty="0"/>
          </a:p>
        </p:txBody>
      </p:sp>
      <p:sp>
        <p:nvSpPr>
          <p:cNvPr id="45" name="Text 43"/>
          <p:cNvSpPr/>
          <p:nvPr/>
        </p:nvSpPr>
        <p:spPr>
          <a:xfrm>
            <a:off x="8586216" y="1353312"/>
            <a:ext cx="1938528" cy="274320"/>
          </a:xfrm>
          <a:prstGeom prst="rect">
            <a:avLst/>
          </a:prstGeom>
          <a:noFill/>
          <a:ln/>
        </p:spPr>
        <p:txBody>
          <a:bodyPr wrap="square" lIns="0" tIns="0" rIns="0" bIns="0" rtlCol="0" anchor="ctr"/>
          <a:lstStyle/>
          <a:p>
            <a:pPr algn="ctr" indent="0" marL="0">
              <a:buNone/>
            </a:pPr>
            <a:r>
              <a:rPr lang="en-US" sz="920" b="1" dirty="0">
                <a:solidFill>
                  <a:srgbClr val="1E293B"/>
                </a:solidFill>
                <a:latin typeface="Arial" pitchFamily="34" charset="0"/>
                <a:ea typeface="Arial" pitchFamily="34" charset="-122"/>
                <a:cs typeface="Arial" pitchFamily="34" charset="-120"/>
              </a:rPr>
              <a:t>Hop 5: MCP &amp; AlloyDB</a:t>
            </a:r>
            <a:endParaRPr lang="en-US" sz="920" dirty="0"/>
          </a:p>
        </p:txBody>
      </p:sp>
      <p:sp>
        <p:nvSpPr>
          <p:cNvPr id="46" name="Shape 44"/>
          <p:cNvSpPr/>
          <p:nvPr/>
        </p:nvSpPr>
        <p:spPr>
          <a:xfrm>
            <a:off x="9464040" y="1682496"/>
            <a:ext cx="182880" cy="182880"/>
          </a:xfrm>
          <a:prstGeom prst="ellipse">
            <a:avLst/>
          </a:prstGeom>
          <a:solidFill>
            <a:srgbClr val="162B4C"/>
          </a:solidFill>
          <a:ln/>
        </p:spPr>
      </p:sp>
      <p:sp>
        <p:nvSpPr>
          <p:cNvPr id="47" name="Shape 45"/>
          <p:cNvSpPr/>
          <p:nvPr/>
        </p:nvSpPr>
        <p:spPr>
          <a:xfrm>
            <a:off x="9555480" y="1865376"/>
            <a:ext cx="0" cy="4462272"/>
          </a:xfrm>
          <a:prstGeom prst="line">
            <a:avLst/>
          </a:prstGeom>
          <a:noFill/>
          <a:ln w="15240">
            <a:solidFill>
              <a:srgbClr val="CBD5E1"/>
            </a:solidFill>
            <a:prstDash val="solid"/>
          </a:ln>
        </p:spPr>
      </p:sp>
      <p:sp>
        <p:nvSpPr>
          <p:cNvPr id="48" name="Shape 46"/>
          <p:cNvSpPr/>
          <p:nvPr/>
        </p:nvSpPr>
        <p:spPr>
          <a:xfrm>
            <a:off x="886968" y="1993392"/>
            <a:ext cx="146304" cy="658368"/>
          </a:xfrm>
          <a:prstGeom prst="roundRect">
            <a:avLst>
              <a:gd name="adj" fmla="val 25000"/>
            </a:avLst>
          </a:prstGeom>
          <a:solidFill>
            <a:srgbClr val="162B4C"/>
          </a:solidFill>
          <a:ln/>
        </p:spPr>
      </p:sp>
      <p:sp>
        <p:nvSpPr>
          <p:cNvPr id="49" name="Shape 47"/>
          <p:cNvSpPr/>
          <p:nvPr/>
        </p:nvSpPr>
        <p:spPr>
          <a:xfrm>
            <a:off x="2990088" y="2121408"/>
            <a:ext cx="146304" cy="1207008"/>
          </a:xfrm>
          <a:prstGeom prst="roundRect">
            <a:avLst>
              <a:gd name="adj" fmla="val 25000"/>
            </a:avLst>
          </a:prstGeom>
          <a:solidFill>
            <a:srgbClr val="0D7377"/>
          </a:solidFill>
          <a:ln/>
        </p:spPr>
      </p:sp>
      <p:sp>
        <p:nvSpPr>
          <p:cNvPr id="50" name="Shape 48"/>
          <p:cNvSpPr/>
          <p:nvPr/>
        </p:nvSpPr>
        <p:spPr>
          <a:xfrm>
            <a:off x="5093208" y="2743200"/>
            <a:ext cx="146304" cy="1207008"/>
          </a:xfrm>
          <a:prstGeom prst="roundRect">
            <a:avLst>
              <a:gd name="adj" fmla="val 25000"/>
            </a:avLst>
          </a:prstGeom>
          <a:solidFill>
            <a:srgbClr val="4E657E"/>
          </a:solidFill>
          <a:ln/>
        </p:spPr>
      </p:sp>
      <p:sp>
        <p:nvSpPr>
          <p:cNvPr id="51" name="Shape 49"/>
          <p:cNvSpPr/>
          <p:nvPr/>
        </p:nvSpPr>
        <p:spPr>
          <a:xfrm>
            <a:off x="7196328" y="3364992"/>
            <a:ext cx="146304" cy="1755648"/>
          </a:xfrm>
          <a:prstGeom prst="roundRect">
            <a:avLst>
              <a:gd name="adj" fmla="val 25000"/>
            </a:avLst>
          </a:prstGeom>
          <a:solidFill>
            <a:srgbClr val="38988E"/>
          </a:solidFill>
          <a:ln/>
        </p:spPr>
      </p:sp>
      <p:sp>
        <p:nvSpPr>
          <p:cNvPr id="52" name="Shape 50"/>
          <p:cNvSpPr/>
          <p:nvPr/>
        </p:nvSpPr>
        <p:spPr>
          <a:xfrm>
            <a:off x="9482328" y="4663440"/>
            <a:ext cx="146304" cy="1572768"/>
          </a:xfrm>
          <a:prstGeom prst="roundRect">
            <a:avLst>
              <a:gd name="adj" fmla="val 25000"/>
            </a:avLst>
          </a:prstGeom>
          <a:solidFill>
            <a:srgbClr val="162B4C"/>
          </a:solidFill>
          <a:ln/>
        </p:spPr>
      </p:sp>
      <p:sp>
        <p:nvSpPr>
          <p:cNvPr id="53" name="Shape 51"/>
          <p:cNvSpPr/>
          <p:nvPr/>
        </p:nvSpPr>
        <p:spPr>
          <a:xfrm>
            <a:off x="1078992" y="1956816"/>
            <a:ext cx="292608" cy="292608"/>
          </a:xfrm>
          <a:prstGeom prst="ellipse">
            <a:avLst/>
          </a:prstGeom>
          <a:solidFill>
            <a:srgbClr val="162B4C"/>
          </a:solidFill>
          <a:ln/>
        </p:spPr>
      </p:sp>
      <p:sp>
        <p:nvSpPr>
          <p:cNvPr id="54" name="Text 52"/>
          <p:cNvSpPr/>
          <p:nvPr/>
        </p:nvSpPr>
        <p:spPr>
          <a:xfrm>
            <a:off x="1078992" y="1956816"/>
            <a:ext cx="292608" cy="292608"/>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55" name="Text 53"/>
          <p:cNvSpPr/>
          <p:nvPr/>
        </p:nvSpPr>
        <p:spPr>
          <a:xfrm>
            <a:off x="1426464" y="1901952"/>
            <a:ext cx="1536192" cy="384048"/>
          </a:xfrm>
          <a:prstGeom prst="rect">
            <a:avLst/>
          </a:prstGeom>
          <a:noFill/>
          <a:ln/>
        </p:spPr>
        <p:txBody>
          <a:bodyPr wrap="square" lIns="0" tIns="0" rIns="0" bIns="0" rtlCol="0" anchor="ctr"/>
          <a:lstStyle/>
          <a:p>
            <a:pPr indent="0" marL="0">
              <a:lnSpc>
                <a:spcPct val="105000"/>
              </a:lnSpc>
              <a:buNone/>
            </a:pPr>
            <a:r>
              <a:rPr lang="en-US" sz="800" b="1" dirty="0">
                <a:solidFill>
                  <a:srgbClr val="1E293B"/>
                </a:solidFill>
                <a:latin typeface="Arial" pitchFamily="34" charset="0"/>
                <a:ea typeface="Arial" pitchFamily="34" charset="-122"/>
                <a:cs typeface="Arial" pitchFamily="34" charset="-120"/>
              </a:rPr>
              <a:t>Caller sends OIDC</a:t>
            </a:r>
            <a:endParaRPr lang="en-US" sz="800" dirty="0"/>
          </a:p>
          <a:p>
            <a:pPr indent="0" marL="0">
              <a:lnSpc>
                <a:spcPct val="105000"/>
              </a:lnSpc>
              <a:buNone/>
            </a:pPr>
            <a:r>
              <a:rPr lang="en-US" sz="800" b="1" dirty="0">
                <a:solidFill>
                  <a:srgbClr val="1E293B"/>
                </a:solidFill>
                <a:latin typeface="Arial" pitchFamily="34" charset="0"/>
                <a:ea typeface="Arial" pitchFamily="34" charset="-122"/>
                <a:cs typeface="Arial" pitchFamily="34" charset="-120"/>
              </a:rPr>
              <a:t>JWT + DPoP proof</a:t>
            </a:r>
            <a:endParaRPr lang="en-US" sz="800" dirty="0"/>
          </a:p>
        </p:txBody>
      </p:sp>
      <p:sp>
        <p:nvSpPr>
          <p:cNvPr id="56" name="Shape 54"/>
          <p:cNvSpPr/>
          <p:nvPr/>
        </p:nvSpPr>
        <p:spPr>
          <a:xfrm>
            <a:off x="1033272" y="2505456"/>
            <a:ext cx="1956816" cy="0"/>
          </a:xfrm>
          <a:prstGeom prst="line">
            <a:avLst/>
          </a:prstGeom>
          <a:noFill/>
          <a:ln w="19050">
            <a:solidFill>
              <a:srgbClr val="162B4C"/>
            </a:solidFill>
            <a:prstDash val="solid"/>
            <a:tailEnd type="triangle" w="sm" len="sm"/>
          </a:ln>
        </p:spPr>
      </p:sp>
      <p:sp>
        <p:nvSpPr>
          <p:cNvPr id="57" name="Text 55"/>
          <p:cNvSpPr/>
          <p:nvPr/>
        </p:nvSpPr>
        <p:spPr>
          <a:xfrm>
            <a:off x="1261872" y="2304288"/>
            <a:ext cx="1499616" cy="164592"/>
          </a:xfrm>
          <a:prstGeom prst="rect">
            <a:avLst/>
          </a:prstGeom>
          <a:noFill/>
          <a:ln/>
        </p:spPr>
        <p:txBody>
          <a:bodyPr wrap="square" lIns="0" tIns="0" rIns="0" bIns="0" rtlCol="0" anchor="ctr"/>
          <a:lstStyle/>
          <a:p>
            <a:pPr algn="ctr" indent="0" marL="0">
              <a:buNone/>
            </a:pPr>
            <a:r>
              <a:rPr lang="en-US" sz="780" b="1" dirty="0">
                <a:solidFill>
                  <a:srgbClr val="162B4C"/>
                </a:solidFill>
                <a:latin typeface="Arial" pitchFamily="34" charset="0"/>
                <a:ea typeface="Arial" pitchFamily="34" charset="-122"/>
                <a:cs typeface="Arial" pitchFamily="34" charset="-120"/>
              </a:rPr>
              <a:t>HTTPS + DPoP JWT</a:t>
            </a:r>
            <a:endParaRPr lang="en-US" sz="780" dirty="0"/>
          </a:p>
        </p:txBody>
      </p:sp>
      <p:sp>
        <p:nvSpPr>
          <p:cNvPr id="58" name="Shape 56"/>
          <p:cNvSpPr/>
          <p:nvPr/>
        </p:nvSpPr>
        <p:spPr>
          <a:xfrm>
            <a:off x="3182112" y="2505456"/>
            <a:ext cx="292608" cy="292608"/>
          </a:xfrm>
          <a:prstGeom prst="ellipse">
            <a:avLst/>
          </a:prstGeom>
          <a:solidFill>
            <a:srgbClr val="0D7377"/>
          </a:solidFill>
          <a:ln/>
        </p:spPr>
      </p:sp>
      <p:sp>
        <p:nvSpPr>
          <p:cNvPr id="59" name="Text 57"/>
          <p:cNvSpPr/>
          <p:nvPr/>
        </p:nvSpPr>
        <p:spPr>
          <a:xfrm>
            <a:off x="3182112" y="2505456"/>
            <a:ext cx="292608" cy="292608"/>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60" name="Text 58"/>
          <p:cNvSpPr/>
          <p:nvPr/>
        </p:nvSpPr>
        <p:spPr>
          <a:xfrm>
            <a:off x="3529584" y="2450592"/>
            <a:ext cx="1536192" cy="420624"/>
          </a:xfrm>
          <a:prstGeom prst="rect">
            <a:avLst/>
          </a:prstGeom>
          <a:noFill/>
          <a:ln/>
        </p:spPr>
        <p:txBody>
          <a:bodyPr wrap="square" lIns="0" tIns="0" rIns="0" bIns="0" rtlCol="0" anchor="ctr"/>
          <a:lstStyle/>
          <a:p>
            <a:pPr indent="0" marL="0">
              <a:lnSpc>
                <a:spcPct val="104000"/>
              </a:lnSpc>
              <a:buNone/>
            </a:pPr>
            <a:r>
              <a:rPr lang="en-US" sz="770" b="1" dirty="0">
                <a:solidFill>
                  <a:srgbClr val="1E293B"/>
                </a:solidFill>
                <a:latin typeface="Arial" pitchFamily="34" charset="0"/>
                <a:ea typeface="Arial" pitchFamily="34" charset="-122"/>
                <a:cs typeface="Arial" pitchFamily="34" charset="-120"/>
              </a:rPr>
              <a:t>Hop 1 strips spoofed</a:t>
            </a:r>
            <a:endParaRPr lang="en-US" sz="770" dirty="0"/>
          </a:p>
          <a:p>
            <a:pPr indent="0" marL="0">
              <a:lnSpc>
                <a:spcPct val="104000"/>
              </a:lnSpc>
              <a:buNone/>
            </a:pPr>
            <a:r>
              <a:rPr lang="en-US" sz="770" b="1" dirty="0">
                <a:solidFill>
                  <a:srgbClr val="1E293B"/>
                </a:solidFill>
                <a:latin typeface="Arial" pitchFamily="34" charset="0"/>
                <a:ea typeface="Arial" pitchFamily="34" charset="-122"/>
                <a:cs typeface="Arial" pitchFamily="34" charset="-120"/>
              </a:rPr>
              <a:t>headers &amp; mints 5-min</a:t>
            </a:r>
            <a:endParaRPr lang="en-US" sz="770" dirty="0"/>
          </a:p>
          <a:p>
            <a:pPr indent="0" marL="0">
              <a:lnSpc>
                <a:spcPct val="104000"/>
              </a:lnSpc>
              <a:buNone/>
            </a:pPr>
            <a:r>
              <a:rPr lang="en-US" sz="770" b="1" dirty="0">
                <a:solidFill>
                  <a:srgbClr val="1E293B"/>
                </a:solidFill>
                <a:latin typeface="Arial" pitchFamily="34" charset="0"/>
                <a:ea typeface="Arial" pitchFamily="34" charset="-122"/>
                <a:cs typeface="Arial" pitchFamily="34" charset="-120"/>
              </a:rPr>
              <a:t>STS TenantContext</a:t>
            </a:r>
            <a:endParaRPr lang="en-US" sz="770" dirty="0"/>
          </a:p>
        </p:txBody>
      </p:sp>
      <p:sp>
        <p:nvSpPr>
          <p:cNvPr id="61" name="Shape 59"/>
          <p:cNvSpPr/>
          <p:nvPr/>
        </p:nvSpPr>
        <p:spPr>
          <a:xfrm>
            <a:off x="3136392" y="3163824"/>
            <a:ext cx="1956816" cy="0"/>
          </a:xfrm>
          <a:prstGeom prst="line">
            <a:avLst/>
          </a:prstGeom>
          <a:noFill/>
          <a:ln w="19050">
            <a:solidFill>
              <a:srgbClr val="0D7377"/>
            </a:solidFill>
            <a:prstDash val="solid"/>
            <a:tailEnd type="triangle" w="sm" len="sm"/>
          </a:ln>
        </p:spPr>
      </p:sp>
      <p:sp>
        <p:nvSpPr>
          <p:cNvPr id="62" name="Text 60"/>
          <p:cNvSpPr/>
          <p:nvPr/>
        </p:nvSpPr>
        <p:spPr>
          <a:xfrm>
            <a:off x="3154680" y="2889504"/>
            <a:ext cx="1920240" cy="256032"/>
          </a:xfrm>
          <a:prstGeom prst="rect">
            <a:avLst/>
          </a:prstGeom>
          <a:noFill/>
          <a:ln/>
        </p:spPr>
        <p:txBody>
          <a:bodyPr wrap="square" lIns="0" tIns="0" rIns="0" bIns="0" rtlCol="0" anchor="ctr"/>
          <a:lstStyle/>
          <a:p>
            <a:pPr algn="ctr" indent="0" marL="0">
              <a:lnSpc>
                <a:spcPct val="102000"/>
              </a:lnSpc>
              <a:buNone/>
            </a:pPr>
            <a:r>
              <a:rPr lang="en-US" sz="650" b="1" dirty="0">
                <a:solidFill>
                  <a:srgbClr val="0D7377"/>
                </a:solidFill>
                <a:latin typeface="Arial" pitchFamily="34" charset="0"/>
                <a:ea typeface="Arial" pitchFamily="34" charset="-122"/>
                <a:cs typeface="Arial" pitchFamily="34" charset="-120"/>
              </a:rPr>
              <a:t>Verify OBO + ~3ms JTI → Mint 5-Min STS</a:t>
            </a:r>
            <a:endParaRPr lang="en-US" sz="650" dirty="0"/>
          </a:p>
          <a:p>
            <a:pPr algn="ctr" indent="0" marL="0">
              <a:lnSpc>
                <a:spcPct val="102000"/>
              </a:lnSpc>
              <a:buNone/>
            </a:pPr>
            <a:r>
              <a:rPr lang="en-US" sz="650" b="1" dirty="0">
                <a:solidFill>
                  <a:srgbClr val="0D7377"/>
                </a:solidFill>
                <a:latin typeface="Arial" pitchFamily="34" charset="0"/>
                <a:ea typeface="Arial" pitchFamily="34" charset="-122"/>
                <a:cs typeface="Arial" pitchFamily="34" charset="-120"/>
              </a:rPr>
              <a:t>JWT (&lt;0.15ms Cached JWKS)</a:t>
            </a:r>
            <a:endParaRPr lang="en-US" sz="650" dirty="0"/>
          </a:p>
        </p:txBody>
      </p:sp>
      <p:sp>
        <p:nvSpPr>
          <p:cNvPr id="63" name="Shape 61"/>
          <p:cNvSpPr/>
          <p:nvPr/>
        </p:nvSpPr>
        <p:spPr>
          <a:xfrm>
            <a:off x="5285232" y="3127248"/>
            <a:ext cx="292608" cy="292608"/>
          </a:xfrm>
          <a:prstGeom prst="ellipse">
            <a:avLst/>
          </a:prstGeom>
          <a:solidFill>
            <a:srgbClr val="4E657E"/>
          </a:solidFill>
          <a:ln/>
        </p:spPr>
      </p:sp>
      <p:sp>
        <p:nvSpPr>
          <p:cNvPr id="64" name="Text 62"/>
          <p:cNvSpPr/>
          <p:nvPr/>
        </p:nvSpPr>
        <p:spPr>
          <a:xfrm>
            <a:off x="5285232" y="3127248"/>
            <a:ext cx="292608" cy="292608"/>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65" name="Text 63"/>
          <p:cNvSpPr/>
          <p:nvPr/>
        </p:nvSpPr>
        <p:spPr>
          <a:xfrm>
            <a:off x="5632704" y="3090672"/>
            <a:ext cx="1536192" cy="420624"/>
          </a:xfrm>
          <a:prstGeom prst="rect">
            <a:avLst/>
          </a:prstGeom>
          <a:noFill/>
          <a:ln/>
        </p:spPr>
        <p:txBody>
          <a:bodyPr wrap="square" lIns="0" tIns="0" rIns="0" bIns="0" rtlCol="0" anchor="ctr"/>
          <a:lstStyle/>
          <a:p>
            <a:pPr indent="0" marL="0">
              <a:lnSpc>
                <a:spcPct val="104000"/>
              </a:lnSpc>
              <a:buNone/>
            </a:pPr>
            <a:r>
              <a:rPr lang="en-US" sz="770" b="1" dirty="0">
                <a:solidFill>
                  <a:srgbClr val="1E293B"/>
                </a:solidFill>
                <a:latin typeface="Arial" pitchFamily="34" charset="0"/>
                <a:ea typeface="Arial" pitchFamily="34" charset="-122"/>
                <a:cs typeface="Arial" pitchFamily="34" charset="-120"/>
              </a:rPr>
              <a:t>Hops 2–3 filter ARD,</a:t>
            </a:r>
            <a:endParaRPr lang="en-US" sz="770" dirty="0"/>
          </a:p>
          <a:p>
            <a:pPr indent="0" marL="0">
              <a:lnSpc>
                <a:spcPct val="104000"/>
              </a:lnSpc>
              <a:buNone/>
            </a:pPr>
            <a:r>
              <a:rPr lang="en-US" sz="770" b="1" dirty="0">
                <a:solidFill>
                  <a:srgbClr val="1E293B"/>
                </a:solidFill>
                <a:latin typeface="Arial" pitchFamily="34" charset="0"/>
                <a:ea typeface="Arial" pitchFamily="34" charset="-122"/>
                <a:cs typeface="Arial" pitchFamily="34" charset="-120"/>
              </a:rPr>
              <a:t>cap 120/600 RPM &amp; scope</a:t>
            </a:r>
            <a:endParaRPr lang="en-US" sz="770" dirty="0"/>
          </a:p>
          <a:p>
            <a:pPr indent="0" marL="0">
              <a:lnSpc>
                <a:spcPct val="104000"/>
              </a:lnSpc>
              <a:buNone/>
            </a:pPr>
            <a:r>
              <a:rPr lang="en-US" sz="770" b="1" dirty="0">
                <a:solidFill>
                  <a:srgbClr val="1E293B"/>
                </a:solidFill>
                <a:latin typeface="Arial" pitchFamily="34" charset="0"/>
                <a:ea typeface="Arial" pitchFamily="34" charset="-122"/>
                <a:cs typeface="Arial" pitchFamily="34" charset="-120"/>
              </a:rPr>
              <a:t>cache:{tenant}:*</a:t>
            </a:r>
            <a:endParaRPr lang="en-US" sz="770" dirty="0"/>
          </a:p>
        </p:txBody>
      </p:sp>
      <p:sp>
        <p:nvSpPr>
          <p:cNvPr id="66" name="Shape 64"/>
          <p:cNvSpPr/>
          <p:nvPr/>
        </p:nvSpPr>
        <p:spPr>
          <a:xfrm>
            <a:off x="5239512" y="3803904"/>
            <a:ext cx="1956816" cy="0"/>
          </a:xfrm>
          <a:prstGeom prst="line">
            <a:avLst/>
          </a:prstGeom>
          <a:noFill/>
          <a:ln w="19050">
            <a:solidFill>
              <a:srgbClr val="4E657E"/>
            </a:solidFill>
            <a:prstDash val="solid"/>
            <a:tailEnd type="triangle" w="sm" len="sm"/>
          </a:ln>
        </p:spPr>
      </p:sp>
      <p:sp>
        <p:nvSpPr>
          <p:cNvPr id="67" name="Text 65"/>
          <p:cNvSpPr/>
          <p:nvPr/>
        </p:nvSpPr>
        <p:spPr>
          <a:xfrm>
            <a:off x="5257800" y="3529584"/>
            <a:ext cx="1920240" cy="256032"/>
          </a:xfrm>
          <a:prstGeom prst="rect">
            <a:avLst/>
          </a:prstGeom>
          <a:noFill/>
          <a:ln/>
        </p:spPr>
        <p:txBody>
          <a:bodyPr wrap="square" lIns="0" tIns="0" rIns="0" bIns="0" rtlCol="0" anchor="ctr"/>
          <a:lstStyle/>
          <a:p>
            <a:pPr algn="ctr" indent="0" marL="0">
              <a:lnSpc>
                <a:spcPct val="102000"/>
              </a:lnSpc>
              <a:buNone/>
            </a:pPr>
            <a:r>
              <a:rPr lang="en-US" sz="670" b="1" dirty="0">
                <a:solidFill>
                  <a:srgbClr val="4E657E"/>
                </a:solidFill>
                <a:latin typeface="Arial" pitchFamily="34" charset="0"/>
                <a:ea typeface="Arial" pitchFamily="34" charset="-122"/>
                <a:cs typeface="Arial" pitchFamily="34" charset="-120"/>
              </a:rPr>
              <a:t>ARD ACL • 120/600 RPM &amp; 4k/8k Think</a:t>
            </a:r>
            <a:endParaRPr lang="en-US" sz="670" dirty="0"/>
          </a:p>
          <a:p>
            <a:pPr algn="ctr" indent="0" marL="0">
              <a:lnSpc>
                <a:spcPct val="102000"/>
              </a:lnSpc>
              <a:buNone/>
            </a:pPr>
            <a:r>
              <a:rPr lang="en-US" sz="670" b="1" dirty="0">
                <a:solidFill>
                  <a:srgbClr val="4E657E"/>
                </a:solidFill>
                <a:latin typeface="Arial" pitchFamily="34" charset="0"/>
                <a:ea typeface="Arial" pitchFamily="34" charset="-122"/>
                <a:cs typeface="Arial" pitchFamily="34" charset="-120"/>
              </a:rPr>
              <a:t>Clamp</a:t>
            </a:r>
            <a:endParaRPr lang="en-US" sz="670" dirty="0"/>
          </a:p>
        </p:txBody>
      </p:sp>
      <p:sp>
        <p:nvSpPr>
          <p:cNvPr id="68" name="Shape 66"/>
          <p:cNvSpPr/>
          <p:nvPr/>
        </p:nvSpPr>
        <p:spPr>
          <a:xfrm>
            <a:off x="7406640" y="3401568"/>
            <a:ext cx="292608" cy="292608"/>
          </a:xfrm>
          <a:prstGeom prst="ellipse">
            <a:avLst/>
          </a:prstGeom>
          <a:solidFill>
            <a:srgbClr val="38988E"/>
          </a:solidFill>
          <a:ln/>
        </p:spPr>
      </p:sp>
      <p:sp>
        <p:nvSpPr>
          <p:cNvPr id="69" name="Text 67"/>
          <p:cNvSpPr/>
          <p:nvPr/>
        </p:nvSpPr>
        <p:spPr>
          <a:xfrm>
            <a:off x="7406640" y="3401568"/>
            <a:ext cx="292608" cy="292608"/>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70" name="Text 68"/>
          <p:cNvSpPr/>
          <p:nvPr/>
        </p:nvSpPr>
        <p:spPr>
          <a:xfrm>
            <a:off x="7754112" y="3364992"/>
            <a:ext cx="1719072" cy="438912"/>
          </a:xfrm>
          <a:prstGeom prst="rect">
            <a:avLst/>
          </a:prstGeom>
          <a:noFill/>
          <a:ln/>
        </p:spPr>
        <p:txBody>
          <a:bodyPr wrap="square" lIns="0" tIns="0" rIns="0" bIns="0" rtlCol="0" anchor="ctr"/>
          <a:lstStyle/>
          <a:p>
            <a:pPr indent="0" marL="0">
              <a:lnSpc>
                <a:spcPct val="104000"/>
              </a:lnSpc>
              <a:buNone/>
            </a:pPr>
            <a:r>
              <a:rPr lang="en-US" sz="780" b="1" dirty="0">
                <a:solidFill>
                  <a:srgbClr val="1E293B"/>
                </a:solidFill>
                <a:latin typeface="Arial" pitchFamily="34" charset="0"/>
                <a:ea typeface="Arial" pitchFamily="34" charset="-122"/>
                <a:cs typeface="Arial" pitchFamily="34" charset="-120"/>
              </a:rPr>
              <a:t>Hop 4 Model Armor +</a:t>
            </a:r>
            <a:endParaRPr lang="en-US" sz="780" dirty="0"/>
          </a:p>
          <a:p>
            <a:pPr indent="0" marL="0">
              <a:lnSpc>
                <a:spcPct val="104000"/>
              </a:lnSpc>
              <a:buNone/>
            </a:pPr>
            <a:r>
              <a:rPr lang="en-US" sz="780" b="1" dirty="0">
                <a:solidFill>
                  <a:srgbClr val="1E293B"/>
                </a:solidFill>
                <a:latin typeface="Arial" pitchFamily="34" charset="0"/>
                <a:ea typeface="Arial" pitchFamily="34" charset="-122"/>
                <a:cs typeface="Arial" pitchFamily="34" charset="-120"/>
              </a:rPr>
              <a:t>Inline DLP (~22ms p95)</a:t>
            </a:r>
            <a:endParaRPr lang="en-US" sz="780" dirty="0"/>
          </a:p>
          <a:p>
            <a:pPr indent="0" marL="0">
              <a:lnSpc>
                <a:spcPct val="104000"/>
              </a:lnSpc>
              <a:buNone/>
            </a:pPr>
            <a:r>
              <a:rPr lang="en-US" sz="780" b="1" dirty="0">
                <a:solidFill>
                  <a:srgbClr val="1E293B"/>
                </a:solidFill>
                <a:latin typeface="Arial" pitchFamily="34" charset="0"/>
                <a:ea typeface="Arial" pitchFamily="34" charset="-122"/>
                <a:cs typeface="Arial" pitchFamily="34" charset="-120"/>
              </a:rPr>
              <a:t>&amp; 90% prefix cache</a:t>
            </a:r>
            <a:endParaRPr lang="en-US" sz="780" dirty="0"/>
          </a:p>
        </p:txBody>
      </p:sp>
      <p:sp>
        <p:nvSpPr>
          <p:cNvPr id="71" name="Shape 69"/>
          <p:cNvSpPr/>
          <p:nvPr/>
        </p:nvSpPr>
        <p:spPr>
          <a:xfrm>
            <a:off x="7388352" y="3877056"/>
            <a:ext cx="2048256" cy="658368"/>
          </a:xfrm>
          <a:prstGeom prst="roundRect">
            <a:avLst>
              <a:gd name="adj" fmla="val 6944"/>
            </a:avLst>
          </a:prstGeom>
          <a:solidFill>
            <a:srgbClr val="E6F4EA"/>
          </a:solidFill>
          <a:ln w="12700">
            <a:solidFill>
              <a:srgbClr val="1E8E3E"/>
            </a:solidFill>
            <a:prstDash val="solid"/>
          </a:ln>
        </p:spPr>
      </p:sp>
      <p:sp>
        <p:nvSpPr>
          <p:cNvPr id="72" name="Text 70"/>
          <p:cNvSpPr/>
          <p:nvPr/>
        </p:nvSpPr>
        <p:spPr>
          <a:xfrm>
            <a:off x="7443216" y="3913632"/>
            <a:ext cx="1938528" cy="365760"/>
          </a:xfrm>
          <a:prstGeom prst="rect">
            <a:avLst/>
          </a:prstGeom>
          <a:noFill/>
          <a:ln/>
        </p:spPr>
        <p:txBody>
          <a:bodyPr wrap="square" lIns="0" tIns="0" rIns="0" bIns="0" rtlCol="0" anchor="ctr"/>
          <a:lstStyle/>
          <a:p>
            <a:pPr algn="ctr" indent="0" marL="0">
              <a:lnSpc>
                <a:spcPct val="104000"/>
              </a:lnSpc>
              <a:buNone/>
            </a:pPr>
            <a:r>
              <a:rPr lang="en-US" sz="820" b="1" dirty="0">
                <a:solidFill>
                  <a:srgbClr val="0D652D"/>
                </a:solidFill>
                <a:latin typeface="Arial" pitchFamily="34" charset="0"/>
                <a:ea typeface="Arial" pitchFamily="34" charset="-122"/>
                <a:cs typeface="Arial" pitchFamily="34" charset="-120"/>
              </a:rPr>
              <a:t>90% Shared Prefix</a:t>
            </a:r>
            <a:endParaRPr lang="en-US" sz="820" dirty="0"/>
          </a:p>
          <a:p>
            <a:pPr algn="ctr" indent="0" marL="0">
              <a:lnSpc>
                <a:spcPct val="104000"/>
              </a:lnSpc>
              <a:buNone/>
            </a:pPr>
            <a:r>
              <a:rPr lang="en-US" sz="820" b="1" dirty="0">
                <a:solidFill>
                  <a:srgbClr val="0D652D"/>
                </a:solidFill>
                <a:latin typeface="Arial" pitchFamily="34" charset="0"/>
                <a:ea typeface="Arial" pitchFamily="34" charset="-122"/>
                <a:cs typeface="Arial" pitchFamily="34" charset="-120"/>
              </a:rPr>
              <a:t>Cache Hit (32k Tok)</a:t>
            </a:r>
            <a:endParaRPr lang="en-US" sz="820" dirty="0"/>
          </a:p>
        </p:txBody>
      </p:sp>
      <p:sp>
        <p:nvSpPr>
          <p:cNvPr id="73" name="Text 71"/>
          <p:cNvSpPr/>
          <p:nvPr/>
        </p:nvSpPr>
        <p:spPr>
          <a:xfrm>
            <a:off x="7443216" y="4279392"/>
            <a:ext cx="1938528" cy="201168"/>
          </a:xfrm>
          <a:prstGeom prst="rect">
            <a:avLst/>
          </a:prstGeom>
          <a:noFill/>
          <a:ln/>
        </p:spPr>
        <p:txBody>
          <a:bodyPr wrap="square" lIns="0" tIns="0" rIns="0" bIns="0" rtlCol="0" anchor="ctr"/>
          <a:lstStyle/>
          <a:p>
            <a:pPr algn="ctr" indent="0" marL="0">
              <a:buNone/>
            </a:pPr>
            <a:r>
              <a:rPr lang="en-US" sz="720" b="1" dirty="0">
                <a:solidFill>
                  <a:srgbClr val="1E293B"/>
                </a:solidFill>
                <a:latin typeface="Arial" pitchFamily="34" charset="0"/>
                <a:ea typeface="Arial" pitchFamily="34" charset="-122"/>
                <a:cs typeface="Arial" pitchFamily="34" charset="-120"/>
              </a:rPr>
              <a:t>SLA: 84.7% Net Token Cost Reduction</a:t>
            </a:r>
            <a:endParaRPr lang="en-US" sz="720" dirty="0"/>
          </a:p>
        </p:txBody>
      </p:sp>
      <p:sp>
        <p:nvSpPr>
          <p:cNvPr id="74" name="Shape 72"/>
          <p:cNvSpPr/>
          <p:nvPr/>
        </p:nvSpPr>
        <p:spPr>
          <a:xfrm>
            <a:off x="7406640" y="4645152"/>
            <a:ext cx="292608" cy="292608"/>
          </a:xfrm>
          <a:prstGeom prst="ellipse">
            <a:avLst/>
          </a:prstGeom>
          <a:solidFill>
            <a:srgbClr val="0D7377"/>
          </a:solidFill>
          <a:ln/>
        </p:spPr>
      </p:sp>
      <p:sp>
        <p:nvSpPr>
          <p:cNvPr id="75" name="Text 73"/>
          <p:cNvSpPr/>
          <p:nvPr/>
        </p:nvSpPr>
        <p:spPr>
          <a:xfrm>
            <a:off x="7406640" y="4645152"/>
            <a:ext cx="292608" cy="292608"/>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76" name="Shape 74"/>
          <p:cNvSpPr/>
          <p:nvPr/>
        </p:nvSpPr>
        <p:spPr>
          <a:xfrm>
            <a:off x="6254496" y="4626864"/>
            <a:ext cx="877824" cy="256032"/>
          </a:xfrm>
          <a:prstGeom prst="roundRect">
            <a:avLst>
              <a:gd name="adj" fmla="val 17857"/>
            </a:avLst>
          </a:prstGeom>
          <a:solidFill>
            <a:srgbClr val="4E657E"/>
          </a:solidFill>
          <a:ln/>
        </p:spPr>
      </p:sp>
      <p:sp>
        <p:nvSpPr>
          <p:cNvPr id="77" name="Text 75"/>
          <p:cNvSpPr/>
          <p:nvPr/>
        </p:nvSpPr>
        <p:spPr>
          <a:xfrm>
            <a:off x="6254496" y="4626864"/>
            <a:ext cx="877824" cy="256032"/>
          </a:xfrm>
          <a:prstGeom prst="rect">
            <a:avLst/>
          </a:prstGeom>
          <a:noFill/>
          <a:ln/>
        </p:spPr>
        <p:txBody>
          <a:bodyPr wrap="square" lIns="0" tIns="0" rIns="0" bIns="0" rtlCol="0" anchor="ctr"/>
          <a:lstStyle/>
          <a:p>
            <a:pPr algn="ctr" indent="0" marL="0">
              <a:buNone/>
            </a:pPr>
            <a:r>
              <a:rPr lang="en-US" sz="780" b="1" dirty="0">
                <a:solidFill>
                  <a:srgbClr val="FFFFFF"/>
                </a:solidFill>
                <a:latin typeface="Arial" pitchFamily="34" charset="0"/>
                <a:ea typeface="Arial" pitchFamily="34" charset="-122"/>
                <a:cs typeface="Arial" pitchFamily="34" charset="-120"/>
              </a:rPr>
              <a:t>RLS + 3LO</a:t>
            </a:r>
            <a:endParaRPr lang="en-US" sz="780" dirty="0"/>
          </a:p>
        </p:txBody>
      </p:sp>
      <p:sp>
        <p:nvSpPr>
          <p:cNvPr id="78" name="Text 76"/>
          <p:cNvSpPr/>
          <p:nvPr/>
        </p:nvSpPr>
        <p:spPr>
          <a:xfrm>
            <a:off x="5248656" y="4919472"/>
            <a:ext cx="1920240" cy="420624"/>
          </a:xfrm>
          <a:prstGeom prst="rect">
            <a:avLst/>
          </a:prstGeom>
          <a:noFill/>
          <a:ln/>
        </p:spPr>
        <p:txBody>
          <a:bodyPr wrap="square" lIns="0" tIns="0" rIns="0" bIns="0" rtlCol="0" anchor="ctr"/>
          <a:lstStyle/>
          <a:p>
            <a:pPr indent="0" marL="0">
              <a:lnSpc>
                <a:spcPct val="104000"/>
              </a:lnSpc>
              <a:buNone/>
            </a:pPr>
            <a:r>
              <a:rPr lang="en-US" sz="760" b="1" dirty="0">
                <a:solidFill>
                  <a:srgbClr val="1E293B"/>
                </a:solidFill>
                <a:latin typeface="Arial" pitchFamily="34" charset="0"/>
                <a:ea typeface="Arial" pitchFamily="34" charset="-122"/>
                <a:cs typeface="Arial" pitchFamily="34" charset="-120"/>
              </a:rPr>
              <a:t>Hop 5 binds AlloyDB</a:t>
            </a:r>
            <a:endParaRPr lang="en-US" sz="760" dirty="0"/>
          </a:p>
          <a:p>
            <a:pPr indent="0" marL="0">
              <a:lnSpc>
                <a:spcPct val="104000"/>
              </a:lnSpc>
              <a:buNone/>
            </a:pPr>
            <a:r>
              <a:rPr lang="en-US" sz="760" b="1" dirty="0">
                <a:solidFill>
                  <a:srgbClr val="1E293B"/>
                </a:solidFill>
                <a:latin typeface="Arial" pitchFamily="34" charset="0"/>
                <a:ea typeface="Arial" pitchFamily="34" charset="-122"/>
                <a:cs typeface="Arial" pitchFamily="34" charset="-120"/>
              </a:rPr>
              <a:t>RLS &amp; vaults per-user</a:t>
            </a:r>
            <a:endParaRPr lang="en-US" sz="760" dirty="0"/>
          </a:p>
          <a:p>
            <a:pPr indent="0" marL="0">
              <a:lnSpc>
                <a:spcPct val="104000"/>
              </a:lnSpc>
              <a:buNone/>
            </a:pPr>
            <a:r>
              <a:rPr lang="en-US" sz="760" b="1" dirty="0">
                <a:solidFill>
                  <a:srgbClr val="1E293B"/>
                </a:solidFill>
                <a:latin typeface="Arial" pitchFamily="34" charset="0"/>
                <a:ea typeface="Arial" pitchFamily="34" charset="-122"/>
                <a:cs typeface="Arial" pitchFamily="34" charset="-120"/>
              </a:rPr>
              <a:t>3LO ({tenant}:{user})</a:t>
            </a:r>
            <a:endParaRPr lang="en-US" sz="760" dirty="0"/>
          </a:p>
        </p:txBody>
      </p:sp>
      <p:sp>
        <p:nvSpPr>
          <p:cNvPr id="79" name="Shape 77"/>
          <p:cNvSpPr/>
          <p:nvPr/>
        </p:nvSpPr>
        <p:spPr>
          <a:xfrm>
            <a:off x="7342632" y="5029200"/>
            <a:ext cx="2139696" cy="0"/>
          </a:xfrm>
          <a:prstGeom prst="line">
            <a:avLst/>
          </a:prstGeom>
          <a:noFill/>
          <a:ln w="19050">
            <a:solidFill>
              <a:srgbClr val="162B4C"/>
            </a:solidFill>
            <a:prstDash val="solid"/>
            <a:tailEnd type="triangle" w="sm" len="sm"/>
          </a:ln>
        </p:spPr>
      </p:sp>
      <p:sp>
        <p:nvSpPr>
          <p:cNvPr id="80" name="Text 78"/>
          <p:cNvSpPr/>
          <p:nvPr/>
        </p:nvSpPr>
        <p:spPr>
          <a:xfrm>
            <a:off x="7735824" y="4809744"/>
            <a:ext cx="1682496" cy="182880"/>
          </a:xfrm>
          <a:prstGeom prst="rect">
            <a:avLst/>
          </a:prstGeom>
          <a:noFill/>
          <a:ln/>
        </p:spPr>
        <p:txBody>
          <a:bodyPr wrap="square" lIns="0" tIns="0" rIns="0" bIns="0" rtlCol="0" anchor="ctr"/>
          <a:lstStyle/>
          <a:p>
            <a:pPr algn="ctr" indent="0" marL="0">
              <a:buNone/>
            </a:pPr>
            <a:r>
              <a:rPr lang="en-US" sz="780" b="1" dirty="0">
                <a:solidFill>
                  <a:srgbClr val="162B4C"/>
                </a:solidFill>
                <a:latin typeface="Arial" pitchFamily="34" charset="0"/>
                <a:ea typeface="Arial" pitchFamily="34" charset="-122"/>
                <a:cs typeface="Arial" pitchFamily="34" charset="-120"/>
              </a:rPr>
              <a:t>SET LOCAL tenant_id</a:t>
            </a:r>
            <a:endParaRPr lang="en-US" sz="780" dirty="0"/>
          </a:p>
        </p:txBody>
      </p:sp>
      <p:sp>
        <p:nvSpPr>
          <p:cNvPr id="81" name="Shape 79"/>
          <p:cNvSpPr/>
          <p:nvPr/>
        </p:nvSpPr>
        <p:spPr>
          <a:xfrm>
            <a:off x="9692640" y="4754880"/>
            <a:ext cx="292608" cy="292608"/>
          </a:xfrm>
          <a:prstGeom prst="ellipse">
            <a:avLst/>
          </a:prstGeom>
          <a:solidFill>
            <a:srgbClr val="162B4C"/>
          </a:solidFill>
          <a:ln/>
        </p:spPr>
      </p:sp>
      <p:sp>
        <p:nvSpPr>
          <p:cNvPr id="82" name="Text 80"/>
          <p:cNvSpPr/>
          <p:nvPr/>
        </p:nvSpPr>
        <p:spPr>
          <a:xfrm>
            <a:off x="9692640" y="4754880"/>
            <a:ext cx="292608" cy="292608"/>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83" name="Text 81"/>
          <p:cNvSpPr/>
          <p:nvPr/>
        </p:nvSpPr>
        <p:spPr>
          <a:xfrm>
            <a:off x="10040112" y="4700016"/>
            <a:ext cx="1709928" cy="457200"/>
          </a:xfrm>
          <a:prstGeom prst="rect">
            <a:avLst/>
          </a:prstGeom>
          <a:noFill/>
          <a:ln/>
        </p:spPr>
        <p:txBody>
          <a:bodyPr wrap="square" lIns="0" tIns="0" rIns="0" bIns="0" rtlCol="0" anchor="ctr"/>
          <a:lstStyle/>
          <a:p>
            <a:pPr indent="0" marL="0">
              <a:lnSpc>
                <a:spcPct val="104000"/>
              </a:lnSpc>
              <a:buNone/>
            </a:pPr>
            <a:r>
              <a:rPr lang="en-US" sz="780" b="1" dirty="0">
                <a:solidFill>
                  <a:srgbClr val="1E293B"/>
                </a:solidFill>
                <a:latin typeface="Arial" pitchFamily="34" charset="0"/>
                <a:ea typeface="Arial" pitchFamily="34" charset="-122"/>
                <a:cs typeface="Arial" pitchFamily="34" charset="-120"/>
              </a:rPr>
              <a:t>Executes parameterized</a:t>
            </a:r>
            <a:endParaRPr lang="en-US" sz="780" dirty="0"/>
          </a:p>
          <a:p>
            <a:pPr indent="0" marL="0">
              <a:lnSpc>
                <a:spcPct val="104000"/>
              </a:lnSpc>
              <a:buNone/>
            </a:pPr>
            <a:r>
              <a:rPr lang="en-US" sz="780" b="1" dirty="0">
                <a:solidFill>
                  <a:srgbClr val="1E293B"/>
                </a:solidFill>
                <a:latin typeface="Arial" pitchFamily="34" charset="0"/>
                <a:ea typeface="Arial" pitchFamily="34" charset="-122"/>
                <a:cs typeface="Arial" pitchFamily="34" charset="-120"/>
              </a:rPr>
              <a:t>SQL (0 cross-tenant rows)</a:t>
            </a:r>
            <a:endParaRPr lang="en-US" sz="780" dirty="0"/>
          </a:p>
          <a:p>
            <a:pPr indent="0" marL="0">
              <a:lnSpc>
                <a:spcPct val="104000"/>
              </a:lnSpc>
              <a:buNone/>
            </a:pPr>
            <a:r>
              <a:rPr lang="en-US" sz="780" b="1" dirty="0">
                <a:solidFill>
                  <a:srgbClr val="1E293B"/>
                </a:solidFill>
                <a:latin typeface="Arial" pitchFamily="34" charset="0"/>
                <a:ea typeface="Arial" pitchFamily="34" charset="-122"/>
                <a:cs typeface="Arial" pitchFamily="34" charset="-120"/>
              </a:rPr>
              <a:t>&amp; streams OTel span</a:t>
            </a:r>
            <a:endParaRPr lang="en-US" sz="780" dirty="0"/>
          </a:p>
        </p:txBody>
      </p:sp>
      <p:sp>
        <p:nvSpPr>
          <p:cNvPr id="84" name="Shape 82"/>
          <p:cNvSpPr/>
          <p:nvPr/>
        </p:nvSpPr>
        <p:spPr>
          <a:xfrm>
            <a:off x="9674352" y="5285232"/>
            <a:ext cx="2075688" cy="877824"/>
          </a:xfrm>
          <a:prstGeom prst="roundRect">
            <a:avLst>
              <a:gd name="adj" fmla="val 6250"/>
            </a:avLst>
          </a:prstGeom>
          <a:solidFill>
            <a:srgbClr val="F8FAFC"/>
          </a:solidFill>
          <a:ln w="12700">
            <a:solidFill>
              <a:srgbClr val="CBD5E1"/>
            </a:solidFill>
            <a:prstDash val="solid"/>
          </a:ln>
        </p:spPr>
      </p:sp>
      <p:sp>
        <p:nvSpPr>
          <p:cNvPr id="85" name="Text 83"/>
          <p:cNvSpPr/>
          <p:nvPr/>
        </p:nvSpPr>
        <p:spPr>
          <a:xfrm>
            <a:off x="9747504" y="5340096"/>
            <a:ext cx="1371600" cy="768096"/>
          </a:xfrm>
          <a:prstGeom prst="rect">
            <a:avLst/>
          </a:prstGeom>
          <a:noFill/>
          <a:ln/>
        </p:spPr>
        <p:txBody>
          <a:bodyPr wrap="square" lIns="0" tIns="0" rIns="0" bIns="0" rtlCol="0" anchor="ctr"/>
          <a:lstStyle/>
          <a:p>
            <a:pPr indent="0" marL="0">
              <a:lnSpc>
                <a:spcPct val="108000"/>
              </a:lnSpc>
              <a:buNone/>
            </a:pPr>
            <a:r>
              <a:rPr lang="en-US" sz="740" b="1" dirty="0">
                <a:solidFill>
                  <a:srgbClr val="1E293B"/>
                </a:solidFill>
                <a:latin typeface="Arial" pitchFamily="34" charset="0"/>
                <a:ea typeface="Arial" pitchFamily="34" charset="-122"/>
                <a:cs typeface="Arial" pitchFamily="34" charset="-120"/>
              </a:rPr>
              <a:t>• Enforce RLS Predicate (0 Foreign Rows)</a:t>
            </a:r>
            <a:endParaRPr lang="en-US" sz="740" dirty="0"/>
          </a:p>
          <a:p>
            <a:pPr indent="0" marL="0">
              <a:lnSpc>
                <a:spcPct val="108000"/>
              </a:lnSpc>
              <a:buNone/>
            </a:pPr>
            <a:r>
              <a:rPr lang="en-US" sz="740" b="1" dirty="0">
                <a:solidFill>
                  <a:srgbClr val="1E293B"/>
                </a:solidFill>
                <a:latin typeface="Arial" pitchFamily="34" charset="0"/>
                <a:ea typeface="Arial" pitchFamily="34" charset="-122"/>
                <a:cs typeface="Arial" pitchFamily="34" charset="-120"/>
              </a:rPr>
              <a:t>• Stream Zero-PII Span (BigQuery OTel)</a:t>
            </a:r>
            <a:endParaRPr lang="en-US" sz="740" dirty="0"/>
          </a:p>
        </p:txBody>
      </p:sp>
      <p:sp>
        <p:nvSpPr>
          <p:cNvPr id="86" name="Shape 84"/>
          <p:cNvSpPr/>
          <p:nvPr/>
        </p:nvSpPr>
        <p:spPr>
          <a:xfrm>
            <a:off x="11146536" y="5468112"/>
            <a:ext cx="530352" cy="512064"/>
          </a:xfrm>
          <a:prstGeom prst="roundRect">
            <a:avLst>
              <a:gd name="adj" fmla="val 10714"/>
            </a:avLst>
          </a:prstGeom>
          <a:solidFill>
            <a:srgbClr val="162B4C"/>
          </a:solidFill>
          <a:ln/>
        </p:spPr>
      </p:sp>
      <p:sp>
        <p:nvSpPr>
          <p:cNvPr id="87" name="Text 85"/>
          <p:cNvSpPr/>
          <p:nvPr/>
        </p:nvSpPr>
        <p:spPr>
          <a:xfrm>
            <a:off x="11146536" y="5468112"/>
            <a:ext cx="530352" cy="512064"/>
          </a:xfrm>
          <a:prstGeom prst="rect">
            <a:avLst/>
          </a:prstGeom>
          <a:noFill/>
          <a:ln/>
        </p:spPr>
        <p:txBody>
          <a:bodyPr wrap="square" lIns="0" tIns="0" rIns="0" bIns="0" rtlCol="0" anchor="ctr"/>
          <a:lstStyle/>
          <a:p>
            <a:pPr algn="ctr" indent="0" marL="0">
              <a:lnSpc>
                <a:spcPct val="105000"/>
              </a:lnSpc>
              <a:buNone/>
            </a:pPr>
            <a:r>
              <a:rPr lang="en-US" sz="780" b="1" dirty="0">
                <a:solidFill>
                  <a:srgbClr val="FFFFFF"/>
                </a:solidFill>
                <a:latin typeface="Arial" pitchFamily="34" charset="0"/>
                <a:ea typeface="Arial" pitchFamily="34" charset="-122"/>
                <a:cs typeface="Arial" pitchFamily="34" charset="-120"/>
              </a:rPr>
              <a:t>OTel</a:t>
            </a:r>
            <a:endParaRPr lang="en-US" sz="780" dirty="0"/>
          </a:p>
          <a:p>
            <a:pPr algn="ctr" indent="0" marL="0">
              <a:lnSpc>
                <a:spcPct val="105000"/>
              </a:lnSpc>
              <a:buNone/>
            </a:pPr>
            <a:r>
              <a:rPr lang="en-US" sz="780" b="1" dirty="0">
                <a:solidFill>
                  <a:srgbClr val="FFFFFF"/>
                </a:solidFill>
                <a:latin typeface="Arial" pitchFamily="34" charset="0"/>
                <a:ea typeface="Arial" pitchFamily="34" charset="-122"/>
                <a:cs typeface="Arial" pitchFamily="34" charset="-120"/>
              </a:rPr>
              <a:t>200</a:t>
            </a:r>
            <a:endParaRPr lang="en-US" sz="780" dirty="0"/>
          </a:p>
        </p:txBody>
      </p:sp>
      <p:sp>
        <p:nvSpPr>
          <p:cNvPr id="88" name="Shape 86"/>
          <p:cNvSpPr/>
          <p:nvPr/>
        </p:nvSpPr>
        <p:spPr>
          <a:xfrm>
            <a:off x="438912" y="5468112"/>
            <a:ext cx="6364224" cy="877824"/>
          </a:xfrm>
          <a:prstGeom prst="roundRect">
            <a:avLst>
              <a:gd name="adj" fmla="val 6250"/>
            </a:avLst>
          </a:prstGeom>
          <a:solidFill>
            <a:srgbClr val="FCE8E6"/>
          </a:solidFill>
          <a:ln w="17780">
            <a:solidFill>
              <a:srgbClr val="D93025"/>
            </a:solidFill>
            <a:prstDash val="dash"/>
          </a:ln>
        </p:spPr>
      </p:sp>
      <p:sp>
        <p:nvSpPr>
          <p:cNvPr id="89" name="Shape 87"/>
          <p:cNvSpPr/>
          <p:nvPr/>
        </p:nvSpPr>
        <p:spPr>
          <a:xfrm>
            <a:off x="530352" y="5559552"/>
            <a:ext cx="1426464" cy="219456"/>
          </a:xfrm>
          <a:prstGeom prst="roundRect">
            <a:avLst>
              <a:gd name="adj" fmla="val 16667"/>
            </a:avLst>
          </a:prstGeom>
          <a:solidFill>
            <a:srgbClr val="EA4335"/>
          </a:solidFill>
          <a:ln/>
        </p:spPr>
      </p:sp>
      <p:sp>
        <p:nvSpPr>
          <p:cNvPr id="90" name="Text 88"/>
          <p:cNvSpPr/>
          <p:nvPr/>
        </p:nvSpPr>
        <p:spPr>
          <a:xfrm>
            <a:off x="530352" y="5559552"/>
            <a:ext cx="1426464" cy="219456"/>
          </a:xfrm>
          <a:prstGeom prst="rect">
            <a:avLst/>
          </a:prstGeom>
          <a:noFill/>
          <a:ln/>
        </p:spPr>
        <p:txBody>
          <a:bodyPr wrap="square" lIns="0" tIns="0" rIns="0" bIns="0" rtlCol="0" anchor="ctr"/>
          <a:lstStyle/>
          <a:p>
            <a:pPr algn="ctr" indent="0" marL="0">
              <a:buNone/>
            </a:pPr>
            <a:r>
              <a:rPr lang="en-US" sz="680" b="1" dirty="0">
                <a:solidFill>
                  <a:srgbClr val="FFFFFF"/>
                </a:solidFill>
                <a:latin typeface="Arial" pitchFamily="34" charset="0"/>
                <a:ea typeface="Arial" pitchFamily="34" charset="-122"/>
                <a:cs typeface="Arial" pitchFamily="34" charset="-120"/>
              </a:rPr>
              <a:t>[Alt] FAIL-CLOSED PATHS</a:t>
            </a:r>
            <a:endParaRPr lang="en-US" sz="680" dirty="0"/>
          </a:p>
        </p:txBody>
      </p:sp>
      <p:sp>
        <p:nvSpPr>
          <p:cNvPr id="91" name="Text 89"/>
          <p:cNvSpPr/>
          <p:nvPr/>
        </p:nvSpPr>
        <p:spPr>
          <a:xfrm>
            <a:off x="2048256" y="5559552"/>
            <a:ext cx="4645152" cy="219456"/>
          </a:xfrm>
          <a:prstGeom prst="rect">
            <a:avLst/>
          </a:prstGeom>
          <a:noFill/>
          <a:ln/>
        </p:spPr>
        <p:txBody>
          <a:bodyPr wrap="square" lIns="0" tIns="0" rIns="0" bIns="0" rtlCol="0" anchor="ctr"/>
          <a:lstStyle/>
          <a:p>
            <a:pPr indent="0" marL="0">
              <a:buNone/>
            </a:pPr>
            <a:r>
              <a:rPr lang="en-US" sz="730" b="1" dirty="0">
                <a:solidFill>
                  <a:srgbClr val="B31412"/>
                </a:solidFill>
                <a:latin typeface="Arial" pitchFamily="34" charset="0"/>
                <a:ea typeface="Arial" pitchFamily="34" charset="-122"/>
                <a:cs typeface="Arial" pitchFamily="34" charset="-120"/>
              </a:rPr>
              <a:t>Dashed Return → Actor 1 (0 Downstream Exec) | Single-Flight SET NX PX 5000 Recovery</a:t>
            </a:r>
            <a:endParaRPr lang="en-US" sz="730" dirty="0"/>
          </a:p>
        </p:txBody>
      </p:sp>
      <p:sp>
        <p:nvSpPr>
          <p:cNvPr id="92" name="Text 90"/>
          <p:cNvSpPr/>
          <p:nvPr/>
        </p:nvSpPr>
        <p:spPr>
          <a:xfrm>
            <a:off x="530352" y="5797296"/>
            <a:ext cx="6181344" cy="512064"/>
          </a:xfrm>
          <a:prstGeom prst="rect">
            <a:avLst/>
          </a:prstGeom>
          <a:noFill/>
          <a:ln/>
        </p:spPr>
        <p:txBody>
          <a:bodyPr wrap="square" lIns="0" tIns="0" rIns="0" bIns="0" rtlCol="0" anchor="ctr"/>
          <a:lstStyle/>
          <a:p>
            <a:pPr indent="0" marL="0">
              <a:lnSpc>
                <a:spcPct val="108000"/>
              </a:lnSpc>
              <a:buNone/>
            </a:pPr>
            <a:r>
              <a:rPr lang="en-US" sz="670" dirty="0">
                <a:solidFill>
                  <a:srgbClr val="1E293B"/>
                </a:solidFill>
                <a:latin typeface="Arial" pitchFamily="34" charset="0"/>
                <a:ea typeface="Arial" pitchFamily="34" charset="-122"/>
                <a:cs typeface="Arial" pitchFamily="34" charset="-120"/>
              </a:rPr>
              <a:t>• Hop 1–3 Breakers: Bad OBO/DPoP, ~3ms JTI revoke or ARD probe → HTTP 401/403 | • Rate Cap: &gt;120/600 RPM → HTTP 429 Retry-After jitter &amp; 4k/8k clamp</a:t>
            </a:r>
            <a:endParaRPr lang="en-US" sz="670" dirty="0"/>
          </a:p>
          <a:p>
            <a:pPr indent="0" marL="0">
              <a:lnSpc>
                <a:spcPct val="108000"/>
              </a:lnSpc>
              <a:buNone/>
            </a:pPr>
            <a:r>
              <a:rPr lang="en-US" sz="670" dirty="0">
                <a:solidFill>
                  <a:srgbClr val="1E293B"/>
                </a:solidFill>
                <a:latin typeface="Arial" pitchFamily="34" charset="0"/>
                <a:ea typeface="Arial" pitchFamily="34" charset="-122"/>
                <a:cs typeface="Arial" pitchFamily="34" charset="-120"/>
              </a:rPr>
              <a:t>• Hop 4–5 &amp; Recovery: NLC (422) or KMS revoke → &lt;60s HTTP 423 + &lt;5s SCAN+UNLINK (cache:{tenant}:*) | • Restore: SET NX PX 5000 AlloyDB RLS re-hydrate</a:t>
            </a:r>
            <a:endParaRPr lang="en-US" sz="67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1148"/>
          </a:xfrm>
          <a:prstGeom prst="rect">
            <a:avLst/>
          </a:prstGeom>
          <a:solidFill>
            <a:srgbClr val="B45309"/>
          </a:solidFill>
          <a:ln/>
        </p:spPr>
      </p:sp>
      <p:sp>
        <p:nvSpPr>
          <p:cNvPr id="3" name="Shape 1"/>
          <p:cNvSpPr/>
          <p:nvPr/>
        </p:nvSpPr>
        <p:spPr>
          <a:xfrm>
            <a:off x="438912" y="192024"/>
            <a:ext cx="59436" cy="621792"/>
          </a:xfrm>
          <a:prstGeom prst="roundRect">
            <a:avLst>
              <a:gd name="adj" fmla="val 46154"/>
            </a:avLst>
          </a:prstGeom>
          <a:solidFill>
            <a:srgbClr val="B45309"/>
          </a:solidFill>
          <a:ln/>
        </p:spPr>
      </p:sp>
      <p:sp>
        <p:nvSpPr>
          <p:cNvPr id="4" name="Text 2"/>
          <p:cNvSpPr/>
          <p:nvPr/>
        </p:nvSpPr>
        <p:spPr>
          <a:xfrm>
            <a:off x="576072" y="173736"/>
            <a:ext cx="4389120" cy="146304"/>
          </a:xfrm>
          <a:prstGeom prst="rect">
            <a:avLst/>
          </a:prstGeom>
          <a:noFill/>
          <a:ln/>
        </p:spPr>
        <p:txBody>
          <a:bodyPr wrap="square" lIns="0" tIns="0" rIns="0" bIns="0" rtlCol="0" anchor="ctr"/>
          <a:lstStyle/>
          <a:p>
            <a:pPr algn="l" indent="0" marL="0">
              <a:lnSpc>
                <a:spcPct val="105000"/>
              </a:lnSpc>
              <a:buNone/>
            </a:pPr>
            <a:r>
              <a:rPr lang="en-US" sz="750" b="1" spc="110" kern="0" dirty="0">
                <a:solidFill>
                  <a:srgbClr val="B45309"/>
                </a:solidFill>
                <a:latin typeface="Arial" pitchFamily="34" charset="0"/>
                <a:ea typeface="Arial" pitchFamily="34" charset="-122"/>
                <a:cs typeface="Arial" pitchFamily="34" charset="-120"/>
              </a:rPr>
              <a:t>05 / PROCESS &amp; WIRE</a:t>
            </a:r>
            <a:endParaRPr lang="en-US" sz="750" dirty="0"/>
          </a:p>
        </p:txBody>
      </p:sp>
      <p:sp>
        <p:nvSpPr>
          <p:cNvPr id="5" name="Shape 3"/>
          <p:cNvSpPr/>
          <p:nvPr/>
        </p:nvSpPr>
        <p:spPr>
          <a:xfrm>
            <a:off x="8183880" y="219456"/>
            <a:ext cx="228600" cy="59436"/>
          </a:xfrm>
          <a:prstGeom prst="roundRect">
            <a:avLst>
              <a:gd name="adj" fmla="val 46154"/>
            </a:avLst>
          </a:prstGeom>
          <a:solidFill>
            <a:srgbClr val="94A3B8"/>
          </a:solidFill>
          <a:ln/>
        </p:spPr>
      </p:sp>
      <p:sp>
        <p:nvSpPr>
          <p:cNvPr id="6" name="Shape 4"/>
          <p:cNvSpPr/>
          <p:nvPr/>
        </p:nvSpPr>
        <p:spPr>
          <a:xfrm>
            <a:off x="8453628" y="219456"/>
            <a:ext cx="228600" cy="59436"/>
          </a:xfrm>
          <a:prstGeom prst="roundRect">
            <a:avLst>
              <a:gd name="adj" fmla="val 46154"/>
            </a:avLst>
          </a:prstGeom>
          <a:solidFill>
            <a:srgbClr val="94A3B8"/>
          </a:solidFill>
          <a:ln/>
        </p:spPr>
      </p:sp>
      <p:sp>
        <p:nvSpPr>
          <p:cNvPr id="7" name="Shape 5"/>
          <p:cNvSpPr/>
          <p:nvPr/>
        </p:nvSpPr>
        <p:spPr>
          <a:xfrm>
            <a:off x="8723376" y="219456"/>
            <a:ext cx="228600" cy="59436"/>
          </a:xfrm>
          <a:prstGeom prst="roundRect">
            <a:avLst>
              <a:gd name="adj" fmla="val 46154"/>
            </a:avLst>
          </a:prstGeom>
          <a:solidFill>
            <a:srgbClr val="94A3B8"/>
          </a:solidFill>
          <a:ln/>
        </p:spPr>
      </p:sp>
      <p:sp>
        <p:nvSpPr>
          <p:cNvPr id="8" name="Shape 6"/>
          <p:cNvSpPr/>
          <p:nvPr/>
        </p:nvSpPr>
        <p:spPr>
          <a:xfrm>
            <a:off x="8993124" y="219456"/>
            <a:ext cx="228600" cy="59436"/>
          </a:xfrm>
          <a:prstGeom prst="roundRect">
            <a:avLst>
              <a:gd name="adj" fmla="val 46154"/>
            </a:avLst>
          </a:prstGeom>
          <a:solidFill>
            <a:srgbClr val="94A3B8"/>
          </a:solidFill>
          <a:ln/>
        </p:spPr>
      </p:sp>
      <p:sp>
        <p:nvSpPr>
          <p:cNvPr id="9" name="Shape 7"/>
          <p:cNvSpPr/>
          <p:nvPr/>
        </p:nvSpPr>
        <p:spPr>
          <a:xfrm>
            <a:off x="9262872" y="219456"/>
            <a:ext cx="228600" cy="59436"/>
          </a:xfrm>
          <a:prstGeom prst="roundRect">
            <a:avLst>
              <a:gd name="adj" fmla="val 46154"/>
            </a:avLst>
          </a:prstGeom>
          <a:solidFill>
            <a:srgbClr val="B45309"/>
          </a:solidFill>
          <a:ln/>
        </p:spPr>
      </p:sp>
      <p:sp>
        <p:nvSpPr>
          <p:cNvPr id="10" name="Shape 8"/>
          <p:cNvSpPr/>
          <p:nvPr/>
        </p:nvSpPr>
        <p:spPr>
          <a:xfrm>
            <a:off x="9532620" y="219456"/>
            <a:ext cx="228600" cy="59436"/>
          </a:xfrm>
          <a:prstGeom prst="roundRect">
            <a:avLst>
              <a:gd name="adj" fmla="val 46154"/>
            </a:avLst>
          </a:prstGeom>
          <a:solidFill>
            <a:srgbClr val="E2E8F0"/>
          </a:solidFill>
          <a:ln/>
        </p:spPr>
      </p:sp>
      <p:sp>
        <p:nvSpPr>
          <p:cNvPr id="11" name="Shape 9"/>
          <p:cNvSpPr/>
          <p:nvPr/>
        </p:nvSpPr>
        <p:spPr>
          <a:xfrm>
            <a:off x="9802368" y="219456"/>
            <a:ext cx="228600" cy="59436"/>
          </a:xfrm>
          <a:prstGeom prst="roundRect">
            <a:avLst>
              <a:gd name="adj" fmla="val 46154"/>
            </a:avLst>
          </a:prstGeom>
          <a:solidFill>
            <a:srgbClr val="E2E8F0"/>
          </a:solidFill>
          <a:ln/>
        </p:spPr>
      </p:sp>
      <p:sp>
        <p:nvSpPr>
          <p:cNvPr id="12" name="Shape 10"/>
          <p:cNvSpPr/>
          <p:nvPr/>
        </p:nvSpPr>
        <p:spPr>
          <a:xfrm>
            <a:off x="10131552" y="146304"/>
            <a:ext cx="1621231" cy="192024"/>
          </a:xfrm>
          <a:prstGeom prst="roundRect">
            <a:avLst>
              <a:gd name="adj" fmla="val 23810"/>
            </a:avLst>
          </a:prstGeom>
          <a:solidFill>
            <a:srgbClr val="FFFFFF"/>
          </a:solidFill>
          <a:ln w="9525">
            <a:solidFill>
              <a:srgbClr val="CBD5E1"/>
            </a:solidFill>
            <a:prstDash val="solid"/>
          </a:ln>
        </p:spPr>
      </p:sp>
      <p:sp>
        <p:nvSpPr>
          <p:cNvPr id="13" name="Text 11"/>
          <p:cNvSpPr/>
          <p:nvPr/>
        </p:nvSpPr>
        <p:spPr>
          <a:xfrm>
            <a:off x="10131552" y="146304"/>
            <a:ext cx="1621231" cy="192024"/>
          </a:xfrm>
          <a:prstGeom prst="rect">
            <a:avLst/>
          </a:prstGeom>
          <a:noFill/>
          <a:ln/>
        </p:spPr>
        <p:txBody>
          <a:bodyPr wrap="square" lIns="0" tIns="0" rIns="0" bIns="0" rtlCol="0" anchor="ctr"/>
          <a:lstStyle/>
          <a:p>
            <a:pPr algn="ctr" indent="0" marL="0">
              <a:lnSpc>
                <a:spcPct val="105000"/>
              </a:lnSpc>
              <a:buNone/>
            </a:pPr>
            <a:r>
              <a:rPr lang="en-US" sz="680" b="1" spc="60" kern="0" dirty="0">
                <a:solidFill>
                  <a:srgbClr val="B45309"/>
                </a:solidFill>
                <a:latin typeface="Arial" pitchFamily="34" charset="0"/>
                <a:ea typeface="Arial" pitchFamily="34" charset="-122"/>
                <a:cs typeface="Arial" pitchFamily="34" charset="-120"/>
              </a:rPr>
              <a:t>DAY-2 OPS &amp; RECOVERY</a:t>
            </a:r>
            <a:endParaRPr lang="en-US" sz="680" dirty="0"/>
          </a:p>
        </p:txBody>
      </p:sp>
      <p:sp>
        <p:nvSpPr>
          <p:cNvPr id="14" name="Text 12"/>
          <p:cNvSpPr/>
          <p:nvPr/>
        </p:nvSpPr>
        <p:spPr>
          <a:xfrm>
            <a:off x="576072" y="338328"/>
            <a:ext cx="11176711" cy="310896"/>
          </a:xfrm>
          <a:prstGeom prst="rect">
            <a:avLst/>
          </a:prstGeom>
          <a:noFill/>
          <a:ln/>
        </p:spPr>
        <p:txBody>
          <a:bodyPr wrap="square" lIns="0" tIns="0" rIns="0" bIns="0" rtlCol="0" anchor="ctr"/>
          <a:lstStyle/>
          <a:p>
            <a:pPr algn="l" indent="0" marL="0">
              <a:lnSpc>
                <a:spcPct val="104000"/>
              </a:lnSpc>
              <a:buNone/>
            </a:pPr>
            <a:r>
              <a:rPr lang="en-US" sz="1750" b="1" dirty="0">
                <a:solidFill>
                  <a:srgbClr val="0F172A"/>
                </a:solidFill>
                <a:latin typeface="Arial" pitchFamily="34" charset="0"/>
                <a:ea typeface="Arial" pitchFamily="34" charset="-122"/>
                <a:cs typeface="Arial" pitchFamily="34" charset="-120"/>
              </a:rPr>
              <a:t>Day-2 Security Incident: &lt;60s KMS Kill-Switch &amp; Anti-Stampede Restore</a:t>
            </a:r>
            <a:endParaRPr lang="en-US" sz="1750" dirty="0"/>
          </a:p>
        </p:txBody>
      </p:sp>
      <p:sp>
        <p:nvSpPr>
          <p:cNvPr id="15" name="Text 13"/>
          <p:cNvSpPr/>
          <p:nvPr/>
        </p:nvSpPr>
        <p:spPr>
          <a:xfrm>
            <a:off x="576072" y="658368"/>
            <a:ext cx="11176711" cy="192024"/>
          </a:xfrm>
          <a:prstGeom prst="rect">
            <a:avLst/>
          </a:prstGeom>
          <a:noFill/>
          <a:ln/>
        </p:spPr>
        <p:txBody>
          <a:bodyPr wrap="square" lIns="0" tIns="0" rIns="0" bIns="0" rtlCol="0" anchor="ctr"/>
          <a:lstStyle/>
          <a:p>
            <a:pPr algn="l" indent="0" marL="0">
              <a:lnSpc>
                <a:spcPct val="104000"/>
              </a:lnSpc>
              <a:buNone/>
            </a:pPr>
            <a:r>
              <a:rPr lang="en-US" sz="900" dirty="0">
                <a:solidFill>
                  <a:srgbClr val="64748B"/>
                </a:solidFill>
                <a:latin typeface="Arial" pitchFamily="34" charset="0"/>
                <a:ea typeface="Arial" pitchFamily="34" charset="-122"/>
                <a:cs typeface="Arial" pitchFamily="34" charset="-120"/>
              </a:rPr>
              <a:t>What happens at runtime when FinVault disables its Cloud KMS CMEK at T=0s—and how single-flight locks prevent peer outages on restore.</a:t>
            </a:r>
            <a:endParaRPr lang="en-US" sz="900" dirty="0"/>
          </a:p>
        </p:txBody>
      </p:sp>
      <p:sp>
        <p:nvSpPr>
          <p:cNvPr id="16" name="Shape 14"/>
          <p:cNvSpPr/>
          <p:nvPr/>
        </p:nvSpPr>
        <p:spPr>
          <a:xfrm>
            <a:off x="438912" y="914400"/>
            <a:ext cx="11313871" cy="0"/>
          </a:xfrm>
          <a:prstGeom prst="line">
            <a:avLst/>
          </a:prstGeom>
          <a:noFill/>
          <a:ln w="10795">
            <a:solidFill>
              <a:srgbClr val="E2E8F0"/>
            </a:solidFill>
            <a:prstDash val="solid"/>
          </a:ln>
        </p:spPr>
      </p:sp>
      <p:sp>
        <p:nvSpPr>
          <p:cNvPr id="17" name="Shape 15"/>
          <p:cNvSpPr/>
          <p:nvPr/>
        </p:nvSpPr>
        <p:spPr>
          <a:xfrm>
            <a:off x="438912" y="6455664"/>
            <a:ext cx="11313871" cy="0"/>
          </a:xfrm>
          <a:prstGeom prst="line">
            <a:avLst/>
          </a:prstGeom>
          <a:noFill/>
          <a:ln w="9525">
            <a:solidFill>
              <a:srgbClr val="E2E8F0"/>
            </a:solidFill>
            <a:prstDash val="solid"/>
          </a:ln>
        </p:spPr>
      </p:sp>
      <p:sp>
        <p:nvSpPr>
          <p:cNvPr id="18" name="Text 16"/>
          <p:cNvSpPr/>
          <p:nvPr/>
        </p:nvSpPr>
        <p:spPr>
          <a:xfrm>
            <a:off x="438912" y="6501384"/>
            <a:ext cx="5852160" cy="192024"/>
          </a:xfrm>
          <a:prstGeom prst="rect">
            <a:avLst/>
          </a:prstGeom>
          <a:noFill/>
          <a:ln/>
        </p:spPr>
        <p:txBody>
          <a:bodyPr wrap="square" lIns="0" tIns="0" rIns="0" bIns="0" rtlCol="0" anchor="ctr"/>
          <a:lstStyle/>
          <a:p>
            <a:pPr algn="l" indent="0" marL="0">
              <a:lnSpc>
                <a:spcPct val="105000"/>
              </a:lnSpc>
              <a:buNone/>
            </a:pPr>
            <a:r>
              <a:rPr lang="en-US" sz="680" b="1" spc="40" kern="0" dirty="0">
                <a:solidFill>
                  <a:srgbClr val="64748B"/>
                </a:solidFill>
                <a:latin typeface="Arial" pitchFamily="34" charset="0"/>
                <a:ea typeface="Arial" pitchFamily="34" charset="-122"/>
                <a:cs typeface="Arial" pitchFamily="34" charset="-120"/>
              </a:rPr>
              <a:t>GOOGLE CLOUD AI ARCHITECTURE  •  BLOG 1: MULTI-TENANT AGENTIC AI TAXONOMY &amp; 5-HOP BASELINE</a:t>
            </a:r>
            <a:endParaRPr lang="en-US" sz="680" dirty="0"/>
          </a:p>
        </p:txBody>
      </p:sp>
      <p:sp>
        <p:nvSpPr>
          <p:cNvPr id="19" name="Text 17"/>
          <p:cNvSpPr/>
          <p:nvPr/>
        </p:nvSpPr>
        <p:spPr>
          <a:xfrm>
            <a:off x="6355080" y="6501384"/>
            <a:ext cx="4206240" cy="192024"/>
          </a:xfrm>
          <a:prstGeom prst="rect">
            <a:avLst/>
          </a:prstGeom>
          <a:noFill/>
          <a:ln/>
        </p:spPr>
        <p:txBody>
          <a:bodyPr wrap="square" lIns="0" tIns="0" rIns="0" bIns="0" rtlCol="0" anchor="ctr"/>
          <a:lstStyle/>
          <a:p>
            <a:pPr algn="r" indent="0" marL="0">
              <a:lnSpc>
                <a:spcPct val="105000"/>
              </a:lnSpc>
              <a:buNone/>
            </a:pPr>
            <a:r>
              <a:rPr lang="en-US" sz="680" dirty="0">
                <a:solidFill>
                  <a:srgbClr val="64748B"/>
                </a:solidFill>
                <a:latin typeface="Arial" pitchFamily="34" charset="0"/>
                <a:ea typeface="Arial" pitchFamily="34" charset="-122"/>
                <a:cs typeface="Arial" pitchFamily="34" charset="-120"/>
              </a:rPr>
              <a:t>Operational Resilience Architecture  •  Cursor SCAN+UNLINK + SET NX PX 5000 Single-Flight</a:t>
            </a:r>
            <a:endParaRPr lang="en-US" sz="680" dirty="0"/>
          </a:p>
        </p:txBody>
      </p:sp>
      <p:sp>
        <p:nvSpPr>
          <p:cNvPr id="20" name="Shape 18"/>
          <p:cNvSpPr/>
          <p:nvPr/>
        </p:nvSpPr>
        <p:spPr>
          <a:xfrm>
            <a:off x="11002975" y="6501384"/>
            <a:ext cx="749808" cy="192024"/>
          </a:xfrm>
          <a:prstGeom prst="roundRect">
            <a:avLst>
              <a:gd name="adj" fmla="val 19048"/>
            </a:avLst>
          </a:prstGeom>
          <a:solidFill>
            <a:srgbClr val="F1F5F9"/>
          </a:solidFill>
          <a:ln w="7620">
            <a:solidFill>
              <a:srgbClr val="E2E8F0"/>
            </a:solidFill>
            <a:prstDash val="solid"/>
          </a:ln>
        </p:spPr>
      </p:sp>
      <p:sp>
        <p:nvSpPr>
          <p:cNvPr id="21" name="Text 19"/>
          <p:cNvSpPr/>
          <p:nvPr/>
        </p:nvSpPr>
        <p:spPr>
          <a:xfrm>
            <a:off x="11002975" y="6501384"/>
            <a:ext cx="749808" cy="192024"/>
          </a:xfrm>
          <a:prstGeom prst="rect">
            <a:avLst/>
          </a:prstGeom>
          <a:noFill/>
          <a:ln/>
        </p:spPr>
        <p:txBody>
          <a:bodyPr wrap="square" lIns="0" tIns="0" rIns="0" bIns="0" rtlCol="0" anchor="ctr"/>
          <a:lstStyle/>
          <a:p>
            <a:pPr algn="ctr" indent="0" marL="0">
              <a:lnSpc>
                <a:spcPct val="105000"/>
              </a:lnSpc>
              <a:buNone/>
            </a:pPr>
            <a:r>
              <a:rPr lang="en-US" sz="700" b="1" dirty="0">
                <a:solidFill>
                  <a:srgbClr val="334155"/>
                </a:solidFill>
                <a:latin typeface="Arial" pitchFamily="34" charset="0"/>
                <a:ea typeface="Arial" pitchFamily="34" charset="-122"/>
                <a:cs typeface="Arial" pitchFamily="34" charset="-120"/>
              </a:rPr>
              <a:t>12 / 23</a:t>
            </a:r>
            <a:endParaRPr lang="en-US" sz="700" dirty="0"/>
          </a:p>
        </p:txBody>
      </p:sp>
      <p:sp>
        <p:nvSpPr>
          <p:cNvPr id="22" name="Shape 20"/>
          <p:cNvSpPr/>
          <p:nvPr/>
        </p:nvSpPr>
        <p:spPr>
          <a:xfrm>
            <a:off x="461772" y="1049731"/>
            <a:ext cx="5546750" cy="4791456"/>
          </a:xfrm>
          <a:prstGeom prst="roundRect">
            <a:avLst>
              <a:gd name="adj" fmla="val 1336"/>
            </a:avLst>
          </a:prstGeom>
          <a:solidFill>
            <a:srgbClr val="E2E8F0"/>
          </a:solidFill>
          <a:ln/>
        </p:spPr>
      </p:sp>
      <p:sp>
        <p:nvSpPr>
          <p:cNvPr id="23" name="Shape 21"/>
          <p:cNvSpPr/>
          <p:nvPr/>
        </p:nvSpPr>
        <p:spPr>
          <a:xfrm>
            <a:off x="438912" y="1024128"/>
            <a:ext cx="5546750" cy="4791456"/>
          </a:xfrm>
          <a:prstGeom prst="roundRect">
            <a:avLst>
              <a:gd name="adj" fmla="val 1336"/>
            </a:avLst>
          </a:prstGeom>
          <a:solidFill>
            <a:srgbClr val="FFFFFF"/>
          </a:solidFill>
          <a:ln w="10795">
            <a:solidFill>
              <a:srgbClr val="FECACA"/>
            </a:solidFill>
            <a:prstDash val="solid"/>
          </a:ln>
        </p:spPr>
      </p:sp>
      <p:sp>
        <p:nvSpPr>
          <p:cNvPr id="24" name="Shape 22"/>
          <p:cNvSpPr/>
          <p:nvPr/>
        </p:nvSpPr>
        <p:spPr>
          <a:xfrm>
            <a:off x="438912" y="1024128"/>
            <a:ext cx="5546750" cy="50292"/>
          </a:xfrm>
          <a:prstGeom prst="roundRect">
            <a:avLst>
              <a:gd name="adj" fmla="val 36364"/>
            </a:avLst>
          </a:prstGeom>
          <a:solidFill>
            <a:srgbClr val="B91C1C"/>
          </a:solidFill>
          <a:ln/>
        </p:spPr>
      </p:sp>
      <p:sp>
        <p:nvSpPr>
          <p:cNvPr id="25" name="Shape 23"/>
          <p:cNvSpPr/>
          <p:nvPr/>
        </p:nvSpPr>
        <p:spPr>
          <a:xfrm>
            <a:off x="585216" y="1152144"/>
            <a:ext cx="5254142" cy="201168"/>
          </a:xfrm>
          <a:prstGeom prst="roundRect">
            <a:avLst>
              <a:gd name="adj" fmla="val 36364"/>
            </a:avLst>
          </a:prstGeom>
          <a:solidFill>
            <a:srgbClr val="FEF2F2"/>
          </a:solidFill>
          <a:ln w="9525">
            <a:solidFill>
              <a:srgbClr val="FECACA"/>
            </a:solidFill>
            <a:prstDash val="solid"/>
          </a:ln>
        </p:spPr>
      </p:sp>
      <p:sp>
        <p:nvSpPr>
          <p:cNvPr id="26" name="Text 24"/>
          <p:cNvSpPr/>
          <p:nvPr/>
        </p:nvSpPr>
        <p:spPr>
          <a:xfrm>
            <a:off x="585216" y="1152144"/>
            <a:ext cx="5254142" cy="201168"/>
          </a:xfrm>
          <a:prstGeom prst="rect">
            <a:avLst/>
          </a:prstGeom>
          <a:noFill/>
          <a:ln/>
        </p:spPr>
        <p:txBody>
          <a:bodyPr wrap="square" lIns="0" tIns="0" rIns="0" bIns="0" rtlCol="0" anchor="ctr"/>
          <a:lstStyle/>
          <a:p>
            <a:pPr algn="ctr" indent="0" marL="0">
              <a:lnSpc>
                <a:spcPct val="105000"/>
              </a:lnSpc>
              <a:buNone/>
            </a:pPr>
            <a:r>
              <a:rPr lang="en-US" sz="640" b="1" dirty="0">
                <a:solidFill>
                  <a:srgbClr val="B91C1C"/>
                </a:solidFill>
                <a:latin typeface="Arial" pitchFamily="34" charset="0"/>
                <a:ea typeface="Arial" pitchFamily="34" charset="-122"/>
                <a:cs typeface="Arial" pitchFamily="34" charset="-120"/>
              </a:rPr>
              <a:t>PHASE 1 (T=0s → &lt;60s)  •  SURGICAL TENANT KMS LOCKOUT (0 PEER PAUSE)</a:t>
            </a:r>
            <a:endParaRPr lang="en-US" sz="640" dirty="0"/>
          </a:p>
        </p:txBody>
      </p:sp>
      <p:sp>
        <p:nvSpPr>
          <p:cNvPr id="27" name="Shape 25"/>
          <p:cNvSpPr/>
          <p:nvPr/>
        </p:nvSpPr>
        <p:spPr>
          <a:xfrm>
            <a:off x="621792" y="1664208"/>
            <a:ext cx="402336" cy="402336"/>
          </a:xfrm>
          <a:prstGeom prst="ellipse">
            <a:avLst/>
          </a:prstGeom>
          <a:solidFill>
            <a:srgbClr val="B91C1C"/>
          </a:solidFill>
          <a:ln/>
        </p:spPr>
      </p:sp>
      <p:sp>
        <p:nvSpPr>
          <p:cNvPr id="28" name="Text 26"/>
          <p:cNvSpPr/>
          <p:nvPr/>
        </p:nvSpPr>
        <p:spPr>
          <a:xfrm>
            <a:off x="621792" y="1664208"/>
            <a:ext cx="402336" cy="402336"/>
          </a:xfrm>
          <a:prstGeom prst="rect">
            <a:avLst/>
          </a:prstGeom>
          <a:noFill/>
          <a:ln/>
        </p:spPr>
        <p:txBody>
          <a:bodyPr wrap="square" lIns="0" tIns="0" rIns="0" bIns="0" rtlCol="0" anchor="ctr"/>
          <a:lstStyle/>
          <a:p>
            <a:pPr algn="ctr" indent="0" marL="0">
              <a:lnSpc>
                <a:spcPct val="100000"/>
              </a:lnSpc>
              <a:buNone/>
            </a:pPr>
            <a:r>
              <a:rPr lang="en-US" sz="700" b="1" dirty="0">
                <a:solidFill>
                  <a:srgbClr val="FFFFFF"/>
                </a:solidFill>
                <a:latin typeface="Arial" pitchFamily="34" charset="0"/>
                <a:ea typeface="Arial" pitchFamily="34" charset="-122"/>
                <a:cs typeface="Arial" pitchFamily="34" charset="-120"/>
              </a:rPr>
              <a:t>T=0s</a:t>
            </a:r>
            <a:endParaRPr lang="en-US" sz="700" dirty="0"/>
          </a:p>
        </p:txBody>
      </p:sp>
      <p:sp>
        <p:nvSpPr>
          <p:cNvPr id="29" name="Shape 27"/>
          <p:cNvSpPr/>
          <p:nvPr/>
        </p:nvSpPr>
        <p:spPr>
          <a:xfrm>
            <a:off x="1115568" y="1481328"/>
            <a:ext cx="4723790" cy="768096"/>
          </a:xfrm>
          <a:prstGeom prst="roundRect">
            <a:avLst>
              <a:gd name="adj" fmla="val 8333"/>
            </a:avLst>
          </a:prstGeom>
          <a:solidFill>
            <a:srgbClr val="FEF2F2"/>
          </a:solidFill>
          <a:ln w="10795">
            <a:solidFill>
              <a:srgbClr val="FECACA"/>
            </a:solidFill>
            <a:prstDash val="solid"/>
          </a:ln>
        </p:spPr>
      </p:sp>
      <p:sp>
        <p:nvSpPr>
          <p:cNvPr id="30" name="Shape 28"/>
          <p:cNvSpPr/>
          <p:nvPr/>
        </p:nvSpPr>
        <p:spPr>
          <a:xfrm>
            <a:off x="1115568" y="1481328"/>
            <a:ext cx="54864" cy="768096"/>
          </a:xfrm>
          <a:prstGeom prst="roundRect">
            <a:avLst>
              <a:gd name="adj" fmla="val 33333"/>
            </a:avLst>
          </a:prstGeom>
          <a:solidFill>
            <a:srgbClr val="B91C1C"/>
          </a:solidFill>
          <a:ln/>
        </p:spPr>
      </p:sp>
      <p:sp>
        <p:nvSpPr>
          <p:cNvPr id="31" name="Text 29"/>
          <p:cNvSpPr/>
          <p:nvPr/>
        </p:nvSpPr>
        <p:spPr>
          <a:xfrm>
            <a:off x="1243584" y="1554480"/>
            <a:ext cx="4522622" cy="201168"/>
          </a:xfrm>
          <a:prstGeom prst="rect">
            <a:avLst/>
          </a:prstGeom>
          <a:noFill/>
          <a:ln/>
        </p:spPr>
        <p:txBody>
          <a:bodyPr wrap="square" lIns="0" tIns="0" rIns="0" bIns="0" rtlCol="0" anchor="ctr"/>
          <a:lstStyle/>
          <a:p>
            <a:pPr indent="0" marL="0">
              <a:buNone/>
            </a:pPr>
            <a:r>
              <a:rPr lang="en-US" sz="860" b="1" dirty="0">
                <a:solidFill>
                  <a:srgbClr val="0F172A"/>
                </a:solidFill>
                <a:latin typeface="Arial" pitchFamily="34" charset="0"/>
                <a:ea typeface="Arial" pitchFamily="34" charset="-122"/>
                <a:cs typeface="Arial" pitchFamily="34" charset="-120"/>
              </a:rPr>
              <a:t>1. Customer SOC Disables Cloud KMS CMEK</a:t>
            </a:r>
            <a:endParaRPr lang="en-US" sz="860" dirty="0"/>
          </a:p>
        </p:txBody>
      </p:sp>
      <p:sp>
        <p:nvSpPr>
          <p:cNvPr id="32" name="Text 30"/>
          <p:cNvSpPr/>
          <p:nvPr/>
        </p:nvSpPr>
        <p:spPr>
          <a:xfrm>
            <a:off x="1243584" y="1773936"/>
            <a:ext cx="4522622" cy="402336"/>
          </a:xfrm>
          <a:prstGeom prst="rect">
            <a:avLst/>
          </a:prstGeom>
          <a:noFill/>
          <a:ln/>
        </p:spPr>
        <p:txBody>
          <a:bodyPr wrap="square" lIns="0" tIns="0" rIns="0" bIns="0" rtlCol="0" anchor="ctr"/>
          <a:lstStyle/>
          <a:p>
            <a:pPr indent="0" marL="0">
              <a:lnSpc>
                <a:spcPct val="106000"/>
              </a:lnSpc>
              <a:buNone/>
            </a:pPr>
            <a:r>
              <a:rPr lang="en-US" sz="720" dirty="0">
                <a:solidFill>
                  <a:srgbClr val="334155"/>
                </a:solidFill>
                <a:latin typeface="Arial" pitchFamily="34" charset="0"/>
                <a:ea typeface="Arial" pitchFamily="34" charset="-122"/>
                <a:cs typeface="Arial" pitchFamily="34" charset="-120"/>
              </a:rPr>
              <a:t>FinVault revokes cryptoKeyVersion finvault-silo-cmek in project bbar-138hf0; Cloud Audit Logs emits event instantly to Pub/Sub.</a:t>
            </a:r>
            <a:endParaRPr lang="en-US" sz="720" dirty="0"/>
          </a:p>
        </p:txBody>
      </p:sp>
      <p:sp>
        <p:nvSpPr>
          <p:cNvPr id="33" name="Shape 31"/>
          <p:cNvSpPr/>
          <p:nvPr/>
        </p:nvSpPr>
        <p:spPr>
          <a:xfrm>
            <a:off x="3456432" y="2249424"/>
            <a:ext cx="0" cy="237744"/>
          </a:xfrm>
          <a:prstGeom prst="line">
            <a:avLst/>
          </a:prstGeom>
          <a:noFill/>
          <a:ln w="17780">
            <a:solidFill>
              <a:srgbClr val="B91C1C"/>
            </a:solidFill>
            <a:prstDash val="solid"/>
            <a:tailEnd type="triangle" w="sm" len="sm"/>
          </a:ln>
        </p:spPr>
      </p:sp>
      <p:sp>
        <p:nvSpPr>
          <p:cNvPr id="34" name="Shape 32"/>
          <p:cNvSpPr/>
          <p:nvPr/>
        </p:nvSpPr>
        <p:spPr>
          <a:xfrm>
            <a:off x="621792" y="2706624"/>
            <a:ext cx="402336" cy="402336"/>
          </a:xfrm>
          <a:prstGeom prst="ellipse">
            <a:avLst/>
          </a:prstGeom>
          <a:solidFill>
            <a:srgbClr val="B45309"/>
          </a:solidFill>
          <a:ln/>
        </p:spPr>
      </p:sp>
      <p:sp>
        <p:nvSpPr>
          <p:cNvPr id="35" name="Text 33"/>
          <p:cNvSpPr/>
          <p:nvPr/>
        </p:nvSpPr>
        <p:spPr>
          <a:xfrm>
            <a:off x="621792" y="2706624"/>
            <a:ext cx="402336" cy="402336"/>
          </a:xfrm>
          <a:prstGeom prst="rect">
            <a:avLst/>
          </a:prstGeom>
          <a:noFill/>
          <a:ln/>
        </p:spPr>
        <p:txBody>
          <a:bodyPr wrap="square" lIns="0" tIns="0" rIns="0" bIns="0" rtlCol="0" anchor="ctr"/>
          <a:lstStyle/>
          <a:p>
            <a:pPr algn="ctr" indent="0" marL="0">
              <a:lnSpc>
                <a:spcPct val="100000"/>
              </a:lnSpc>
              <a:buNone/>
            </a:pPr>
            <a:r>
              <a:rPr lang="en-US" sz="720" b="1" dirty="0">
                <a:solidFill>
                  <a:srgbClr val="FFFFFF"/>
                </a:solidFill>
                <a:latin typeface="Arial" pitchFamily="34" charset="0"/>
                <a:ea typeface="Arial" pitchFamily="34" charset="-122"/>
                <a:cs typeface="Arial" pitchFamily="34" charset="-120"/>
              </a:rPr>
              <a:t>&lt;5s</a:t>
            </a:r>
            <a:endParaRPr lang="en-US" sz="720" dirty="0"/>
          </a:p>
        </p:txBody>
      </p:sp>
      <p:sp>
        <p:nvSpPr>
          <p:cNvPr id="36" name="Shape 34"/>
          <p:cNvSpPr/>
          <p:nvPr/>
        </p:nvSpPr>
        <p:spPr>
          <a:xfrm>
            <a:off x="1115568" y="2487168"/>
            <a:ext cx="4723790" cy="841248"/>
          </a:xfrm>
          <a:prstGeom prst="roundRect">
            <a:avLst>
              <a:gd name="adj" fmla="val 7609"/>
            </a:avLst>
          </a:prstGeom>
          <a:solidFill>
            <a:srgbClr val="FFFBEB"/>
          </a:solidFill>
          <a:ln w="10795">
            <a:solidFill>
              <a:srgbClr val="FDE68A"/>
            </a:solidFill>
            <a:prstDash val="solid"/>
          </a:ln>
        </p:spPr>
      </p:sp>
      <p:sp>
        <p:nvSpPr>
          <p:cNvPr id="37" name="Shape 35"/>
          <p:cNvSpPr/>
          <p:nvPr/>
        </p:nvSpPr>
        <p:spPr>
          <a:xfrm>
            <a:off x="1115568" y="2487168"/>
            <a:ext cx="54864" cy="841248"/>
          </a:xfrm>
          <a:prstGeom prst="roundRect">
            <a:avLst>
              <a:gd name="adj" fmla="val 33333"/>
            </a:avLst>
          </a:prstGeom>
          <a:solidFill>
            <a:srgbClr val="B45309"/>
          </a:solidFill>
          <a:ln/>
        </p:spPr>
      </p:sp>
      <p:sp>
        <p:nvSpPr>
          <p:cNvPr id="38" name="Text 36"/>
          <p:cNvSpPr/>
          <p:nvPr/>
        </p:nvSpPr>
        <p:spPr>
          <a:xfrm>
            <a:off x="1243584" y="2560320"/>
            <a:ext cx="4522622" cy="201168"/>
          </a:xfrm>
          <a:prstGeom prst="rect">
            <a:avLst/>
          </a:prstGeom>
          <a:noFill/>
          <a:ln/>
        </p:spPr>
        <p:txBody>
          <a:bodyPr wrap="square" lIns="0" tIns="0" rIns="0" bIns="0" rtlCol="0" anchor="ctr"/>
          <a:lstStyle/>
          <a:p>
            <a:pPr indent="0" marL="0">
              <a:buNone/>
            </a:pPr>
            <a:r>
              <a:rPr lang="en-US" sz="860" b="1" dirty="0">
                <a:solidFill>
                  <a:srgbClr val="0F172A"/>
                </a:solidFill>
                <a:latin typeface="Arial" pitchFamily="34" charset="0"/>
                <a:ea typeface="Arial" pitchFamily="34" charset="-122"/>
                <a:cs typeface="Arial" pitchFamily="34" charset="-120"/>
              </a:rPr>
              <a:t>2. Non-Blocking Cursor Eviction (Bans Redis FLUSHDB)</a:t>
            </a:r>
            <a:endParaRPr lang="en-US" sz="860" dirty="0"/>
          </a:p>
        </p:txBody>
      </p:sp>
      <p:sp>
        <p:nvSpPr>
          <p:cNvPr id="39" name="Text 37"/>
          <p:cNvSpPr/>
          <p:nvPr/>
        </p:nvSpPr>
        <p:spPr>
          <a:xfrm>
            <a:off x="1243584" y="2779776"/>
            <a:ext cx="4522622" cy="475488"/>
          </a:xfrm>
          <a:prstGeom prst="rect">
            <a:avLst/>
          </a:prstGeom>
          <a:noFill/>
          <a:ln/>
        </p:spPr>
        <p:txBody>
          <a:bodyPr wrap="square" lIns="0" tIns="0" rIns="0" bIns="0" rtlCol="0" anchor="ctr"/>
          <a:lstStyle/>
          <a:p>
            <a:pPr indent="0" marL="0">
              <a:lnSpc>
                <a:spcPct val="106000"/>
              </a:lnSpc>
              <a:buNone/>
            </a:pPr>
            <a:r>
              <a:rPr lang="en-US" sz="720" dirty="0">
                <a:solidFill>
                  <a:srgbClr val="334155"/>
                </a:solidFill>
                <a:latin typeface="Arial" pitchFamily="34" charset="0"/>
                <a:ea typeface="Arial" pitchFamily="34" charset="-122"/>
                <a:cs typeface="Arial" pitchFamily="34" charset="-120"/>
              </a:rPr>
              <a:t>Subscriber sets key_state:finvault = DISABLED and iterates SCAN MATCH cache:finvault:* COUNT 200 + async UNLINK so Valkey event loop never stalls.</a:t>
            </a:r>
            <a:endParaRPr lang="en-US" sz="720" dirty="0"/>
          </a:p>
        </p:txBody>
      </p:sp>
      <p:sp>
        <p:nvSpPr>
          <p:cNvPr id="40" name="Shape 38"/>
          <p:cNvSpPr/>
          <p:nvPr/>
        </p:nvSpPr>
        <p:spPr>
          <a:xfrm>
            <a:off x="3456432" y="3328416"/>
            <a:ext cx="0" cy="182880"/>
          </a:xfrm>
          <a:prstGeom prst="line">
            <a:avLst/>
          </a:prstGeom>
          <a:noFill/>
          <a:ln w="16510">
            <a:solidFill>
              <a:srgbClr val="1E293B"/>
            </a:solidFill>
            <a:prstDash val="solid"/>
          </a:ln>
        </p:spPr>
      </p:sp>
      <p:sp>
        <p:nvSpPr>
          <p:cNvPr id="41" name="Shape 39"/>
          <p:cNvSpPr/>
          <p:nvPr/>
        </p:nvSpPr>
        <p:spPr>
          <a:xfrm>
            <a:off x="1862633" y="3511296"/>
            <a:ext cx="2699309" cy="0"/>
          </a:xfrm>
          <a:prstGeom prst="line">
            <a:avLst/>
          </a:prstGeom>
          <a:noFill/>
          <a:ln w="16510">
            <a:solidFill>
              <a:srgbClr val="1E293B"/>
            </a:solidFill>
            <a:prstDash val="solid"/>
          </a:ln>
        </p:spPr>
      </p:sp>
      <p:sp>
        <p:nvSpPr>
          <p:cNvPr id="42" name="Shape 40"/>
          <p:cNvSpPr/>
          <p:nvPr/>
        </p:nvSpPr>
        <p:spPr>
          <a:xfrm>
            <a:off x="1862633" y="3511296"/>
            <a:ext cx="0" cy="182880"/>
          </a:xfrm>
          <a:prstGeom prst="line">
            <a:avLst/>
          </a:prstGeom>
          <a:noFill/>
          <a:ln w="17780">
            <a:solidFill>
              <a:srgbClr val="B91C1C"/>
            </a:solidFill>
            <a:prstDash val="solid"/>
            <a:tailEnd type="triangle" w="sm" len="sm"/>
          </a:ln>
        </p:spPr>
      </p:sp>
      <p:sp>
        <p:nvSpPr>
          <p:cNvPr id="43" name="Shape 41"/>
          <p:cNvSpPr/>
          <p:nvPr/>
        </p:nvSpPr>
        <p:spPr>
          <a:xfrm>
            <a:off x="4561942" y="3511296"/>
            <a:ext cx="0" cy="182880"/>
          </a:xfrm>
          <a:prstGeom prst="line">
            <a:avLst/>
          </a:prstGeom>
          <a:noFill/>
          <a:ln w="17780">
            <a:solidFill>
              <a:srgbClr val="047857"/>
            </a:solidFill>
            <a:prstDash val="solid"/>
            <a:tailEnd type="triangle" w="sm" len="sm"/>
          </a:ln>
        </p:spPr>
      </p:sp>
      <p:sp>
        <p:nvSpPr>
          <p:cNvPr id="44" name="Shape 42"/>
          <p:cNvSpPr/>
          <p:nvPr/>
        </p:nvSpPr>
        <p:spPr>
          <a:xfrm>
            <a:off x="585216" y="3694176"/>
            <a:ext cx="2553919" cy="1975104"/>
          </a:xfrm>
          <a:prstGeom prst="roundRect">
            <a:avLst>
              <a:gd name="adj" fmla="val 3241"/>
            </a:avLst>
          </a:prstGeom>
          <a:solidFill>
            <a:srgbClr val="FEF2F2"/>
          </a:solidFill>
          <a:ln w="10795">
            <a:solidFill>
              <a:srgbClr val="FECACA"/>
            </a:solidFill>
            <a:prstDash val="solid"/>
          </a:ln>
        </p:spPr>
      </p:sp>
      <p:sp>
        <p:nvSpPr>
          <p:cNvPr id="45" name="Shape 43"/>
          <p:cNvSpPr/>
          <p:nvPr/>
        </p:nvSpPr>
        <p:spPr>
          <a:xfrm>
            <a:off x="585216" y="3694176"/>
            <a:ext cx="2553919" cy="50292"/>
          </a:xfrm>
          <a:prstGeom prst="roundRect">
            <a:avLst>
              <a:gd name="adj" fmla="val 36364"/>
            </a:avLst>
          </a:prstGeom>
          <a:solidFill>
            <a:srgbClr val="B91C1C"/>
          </a:solidFill>
          <a:ln/>
        </p:spPr>
      </p:sp>
      <p:sp>
        <p:nvSpPr>
          <p:cNvPr id="46" name="Shape 44"/>
          <p:cNvSpPr/>
          <p:nvPr/>
        </p:nvSpPr>
        <p:spPr>
          <a:xfrm>
            <a:off x="694944" y="3822192"/>
            <a:ext cx="2334463" cy="201168"/>
          </a:xfrm>
          <a:prstGeom prst="roundRect">
            <a:avLst>
              <a:gd name="adj" fmla="val 36364"/>
            </a:avLst>
          </a:prstGeom>
          <a:solidFill>
            <a:srgbClr val="B91C1C"/>
          </a:solidFill>
          <a:ln/>
        </p:spPr>
      </p:sp>
      <p:sp>
        <p:nvSpPr>
          <p:cNvPr id="47" name="Text 45"/>
          <p:cNvSpPr/>
          <p:nvPr/>
        </p:nvSpPr>
        <p:spPr>
          <a:xfrm>
            <a:off x="694944" y="3822192"/>
            <a:ext cx="2334463" cy="201168"/>
          </a:xfrm>
          <a:prstGeom prst="rect">
            <a:avLst/>
          </a:prstGeom>
          <a:noFill/>
          <a:ln/>
        </p:spPr>
        <p:txBody>
          <a:bodyPr wrap="square" lIns="0" tIns="0" rIns="0" bIns="0" rtlCol="0" anchor="ctr"/>
          <a:lstStyle/>
          <a:p>
            <a:pPr algn="ctr" indent="0" marL="0">
              <a:lnSpc>
                <a:spcPct val="105000"/>
              </a:lnSpc>
              <a:buNone/>
            </a:pPr>
            <a:r>
              <a:rPr lang="en-US" sz="630" b="1" dirty="0">
                <a:solidFill>
                  <a:srgbClr val="FFFFFF"/>
                </a:solidFill>
                <a:latin typeface="Arial" pitchFamily="34" charset="0"/>
                <a:ea typeface="Arial" pitchFamily="34" charset="-122"/>
                <a:cs typeface="Arial" pitchFamily="34" charset="-120"/>
              </a:rPr>
              <a:t>FINVAULT BANK (&lt;60s SLA)</a:t>
            </a:r>
            <a:endParaRPr lang="en-US" sz="630" dirty="0"/>
          </a:p>
        </p:txBody>
      </p:sp>
      <p:sp>
        <p:nvSpPr>
          <p:cNvPr id="48" name="Text 46"/>
          <p:cNvSpPr/>
          <p:nvPr/>
        </p:nvSpPr>
        <p:spPr>
          <a:xfrm>
            <a:off x="694944" y="4114800"/>
            <a:ext cx="2334463" cy="274320"/>
          </a:xfrm>
          <a:prstGeom prst="rect">
            <a:avLst/>
          </a:prstGeom>
          <a:noFill/>
          <a:ln/>
        </p:spPr>
        <p:txBody>
          <a:bodyPr wrap="square" lIns="0" tIns="0" rIns="0" bIns="0" rtlCol="0" anchor="ctr"/>
          <a:lstStyle/>
          <a:p>
            <a:pPr algn="ctr" indent="0" marL="0">
              <a:buNone/>
            </a:pPr>
            <a:r>
              <a:rPr lang="en-US" sz="1300" b="1" dirty="0">
                <a:solidFill>
                  <a:srgbClr val="B91C1C"/>
                </a:solidFill>
                <a:latin typeface="Arial" pitchFamily="34" charset="0"/>
                <a:ea typeface="Arial" pitchFamily="34" charset="-122"/>
                <a:cs typeface="Arial" pitchFamily="34" charset="-120"/>
              </a:rPr>
              <a:t>HTTP 423 Locked</a:t>
            </a:r>
            <a:endParaRPr lang="en-US" sz="1300" dirty="0"/>
          </a:p>
        </p:txBody>
      </p:sp>
      <p:sp>
        <p:nvSpPr>
          <p:cNvPr id="49" name="Text 47"/>
          <p:cNvSpPr/>
          <p:nvPr/>
        </p:nvSpPr>
        <p:spPr>
          <a:xfrm>
            <a:off x="713232" y="4462272"/>
            <a:ext cx="2297887" cy="1097280"/>
          </a:xfrm>
          <a:prstGeom prst="rect">
            <a:avLst/>
          </a:prstGeom>
          <a:noFill/>
          <a:ln/>
        </p:spPr>
        <p:txBody>
          <a:bodyPr wrap="square" lIns="0" tIns="0" rIns="0" bIns="0" rtlCol="0" anchor="ctr"/>
          <a:lstStyle/>
          <a:p>
            <a:pPr indent="0" marL="0">
              <a:lnSpc>
                <a:spcPct val="115000"/>
              </a:lnSpc>
              <a:buNone/>
            </a:pPr>
            <a:r>
              <a:rPr lang="en-US" sz="710" dirty="0">
                <a:solidFill>
                  <a:srgbClr val="0F172A"/>
                </a:solidFill>
                <a:latin typeface="Arial" pitchFamily="34" charset="0"/>
                <a:ea typeface="Arial" pitchFamily="34" charset="-122"/>
                <a:cs typeface="Arial" pitchFamily="34" charset="-120"/>
              </a:rPr>
              <a:t>• In-flight &amp; new turns halt at Hop 3</a:t>
            </a:r>
            <a:endParaRPr lang="en-US" sz="710" dirty="0"/>
          </a:p>
          <a:p>
            <a:pPr indent="0" marL="0">
              <a:lnSpc>
                <a:spcPct val="115000"/>
              </a:lnSpc>
              <a:buNone/>
            </a:pPr>
            <a:r>
              <a:rPr lang="en-US" sz="710" dirty="0">
                <a:solidFill>
                  <a:srgbClr val="0F172A"/>
                </a:solidFill>
                <a:latin typeface="Arial" pitchFamily="34" charset="0"/>
                <a:ea typeface="Arial" pitchFamily="34" charset="-122"/>
                <a:cs typeface="Arial" pitchFamily="34" charset="-120"/>
              </a:rPr>
              <a:t>• Memory Bank Tink AEAD blobs unreadable</a:t>
            </a:r>
            <a:endParaRPr lang="en-US" sz="710" dirty="0"/>
          </a:p>
          <a:p>
            <a:pPr indent="0" marL="0">
              <a:lnSpc>
                <a:spcPct val="115000"/>
              </a:lnSpc>
              <a:buNone/>
            </a:pPr>
            <a:r>
              <a:rPr lang="en-US" sz="710" dirty="0">
                <a:solidFill>
                  <a:srgbClr val="0F172A"/>
                </a:solidFill>
                <a:latin typeface="Arial" pitchFamily="34" charset="0"/>
                <a:ea typeface="Arial" pitchFamily="34" charset="-122"/>
                <a:cs typeface="Arial" pitchFamily="34" charset="-120"/>
              </a:rPr>
              <a:t>• 0 bytes plaintext surfaced post-revoke</a:t>
            </a:r>
            <a:endParaRPr lang="en-US" sz="710" dirty="0"/>
          </a:p>
          <a:p>
            <a:pPr indent="0" marL="0">
              <a:lnSpc>
                <a:spcPct val="115000"/>
              </a:lnSpc>
              <a:buNone/>
            </a:pPr>
            <a:r>
              <a:rPr lang="en-US" sz="710" dirty="0">
                <a:solidFill>
                  <a:srgbClr val="0F172A"/>
                </a:solidFill>
                <a:latin typeface="Arial" pitchFamily="34" charset="0"/>
                <a:ea typeface="Arial" pitchFamily="34" charset="-122"/>
                <a:cs typeface="Arial" pitchFamily="34" charset="-120"/>
              </a:rPr>
              <a:t>• Immutable SCC audit receipt written</a:t>
            </a:r>
            <a:endParaRPr lang="en-US" sz="710" dirty="0"/>
          </a:p>
        </p:txBody>
      </p:sp>
      <p:sp>
        <p:nvSpPr>
          <p:cNvPr id="50" name="Shape 48"/>
          <p:cNvSpPr/>
          <p:nvPr/>
        </p:nvSpPr>
        <p:spPr>
          <a:xfrm>
            <a:off x="3285439" y="3694176"/>
            <a:ext cx="2553919" cy="1975104"/>
          </a:xfrm>
          <a:prstGeom prst="roundRect">
            <a:avLst>
              <a:gd name="adj" fmla="val 3241"/>
            </a:avLst>
          </a:prstGeom>
          <a:solidFill>
            <a:srgbClr val="ECFDF5"/>
          </a:solidFill>
          <a:ln w="10795">
            <a:solidFill>
              <a:srgbClr val="A7F3D0"/>
            </a:solidFill>
            <a:prstDash val="solid"/>
          </a:ln>
        </p:spPr>
      </p:sp>
      <p:sp>
        <p:nvSpPr>
          <p:cNvPr id="51" name="Shape 49"/>
          <p:cNvSpPr/>
          <p:nvPr/>
        </p:nvSpPr>
        <p:spPr>
          <a:xfrm>
            <a:off x="3285439" y="3694176"/>
            <a:ext cx="2553919" cy="50292"/>
          </a:xfrm>
          <a:prstGeom prst="roundRect">
            <a:avLst>
              <a:gd name="adj" fmla="val 36364"/>
            </a:avLst>
          </a:prstGeom>
          <a:solidFill>
            <a:srgbClr val="047857"/>
          </a:solidFill>
          <a:ln/>
        </p:spPr>
      </p:sp>
      <p:sp>
        <p:nvSpPr>
          <p:cNvPr id="52" name="Shape 50"/>
          <p:cNvSpPr/>
          <p:nvPr/>
        </p:nvSpPr>
        <p:spPr>
          <a:xfrm>
            <a:off x="3395167" y="3822192"/>
            <a:ext cx="2334463" cy="201168"/>
          </a:xfrm>
          <a:prstGeom prst="roundRect">
            <a:avLst>
              <a:gd name="adj" fmla="val 36364"/>
            </a:avLst>
          </a:prstGeom>
          <a:solidFill>
            <a:srgbClr val="047857"/>
          </a:solidFill>
          <a:ln/>
        </p:spPr>
      </p:sp>
      <p:sp>
        <p:nvSpPr>
          <p:cNvPr id="53" name="Text 51"/>
          <p:cNvSpPr/>
          <p:nvPr/>
        </p:nvSpPr>
        <p:spPr>
          <a:xfrm>
            <a:off x="3395167" y="3822192"/>
            <a:ext cx="2334463" cy="201168"/>
          </a:xfrm>
          <a:prstGeom prst="rect">
            <a:avLst/>
          </a:prstGeom>
          <a:noFill/>
          <a:ln/>
        </p:spPr>
        <p:txBody>
          <a:bodyPr wrap="square" lIns="0" tIns="0" rIns="0" bIns="0" rtlCol="0" anchor="ctr"/>
          <a:lstStyle/>
          <a:p>
            <a:pPr algn="ctr" indent="0" marL="0">
              <a:lnSpc>
                <a:spcPct val="105000"/>
              </a:lnSpc>
              <a:buNone/>
            </a:pPr>
            <a:r>
              <a:rPr lang="en-US" sz="630" b="1" dirty="0">
                <a:solidFill>
                  <a:srgbClr val="FFFFFF"/>
                </a:solidFill>
                <a:latin typeface="Arial" pitchFamily="34" charset="0"/>
                <a:ea typeface="Arial" pitchFamily="34" charset="-122"/>
                <a:cs typeface="Arial" pitchFamily="34" charset="-120"/>
              </a:rPr>
              <a:t>RETAILSTREAM PEER TENANTS</a:t>
            </a:r>
            <a:endParaRPr lang="en-US" sz="630" dirty="0"/>
          </a:p>
        </p:txBody>
      </p:sp>
      <p:sp>
        <p:nvSpPr>
          <p:cNvPr id="54" name="Text 52"/>
          <p:cNvSpPr/>
          <p:nvPr/>
        </p:nvSpPr>
        <p:spPr>
          <a:xfrm>
            <a:off x="3395167" y="4114800"/>
            <a:ext cx="2334463" cy="274320"/>
          </a:xfrm>
          <a:prstGeom prst="rect">
            <a:avLst/>
          </a:prstGeom>
          <a:noFill/>
          <a:ln/>
        </p:spPr>
        <p:txBody>
          <a:bodyPr wrap="square" lIns="0" tIns="0" rIns="0" bIns="0" rtlCol="0" anchor="ctr"/>
          <a:lstStyle/>
          <a:p>
            <a:pPr algn="ctr" indent="0" marL="0">
              <a:buNone/>
            </a:pPr>
            <a:r>
              <a:rPr lang="en-US" sz="1300" b="1" dirty="0">
                <a:solidFill>
                  <a:srgbClr val="047857"/>
                </a:solidFill>
                <a:latin typeface="Arial" pitchFamily="34" charset="0"/>
                <a:ea typeface="Arial" pitchFamily="34" charset="-122"/>
                <a:cs typeface="Arial" pitchFamily="34" charset="-120"/>
              </a:rPr>
              <a:t>HTTP 200 OK (~42ms)</a:t>
            </a:r>
            <a:endParaRPr lang="en-US" sz="1300" dirty="0"/>
          </a:p>
        </p:txBody>
      </p:sp>
      <p:sp>
        <p:nvSpPr>
          <p:cNvPr id="55" name="Text 53"/>
          <p:cNvSpPr/>
          <p:nvPr/>
        </p:nvSpPr>
        <p:spPr>
          <a:xfrm>
            <a:off x="3413455" y="4462272"/>
            <a:ext cx="2297887" cy="1097280"/>
          </a:xfrm>
          <a:prstGeom prst="rect">
            <a:avLst/>
          </a:prstGeom>
          <a:noFill/>
          <a:ln/>
        </p:spPr>
        <p:txBody>
          <a:bodyPr wrap="square" lIns="0" tIns="0" rIns="0" bIns="0" rtlCol="0" anchor="ctr"/>
          <a:lstStyle/>
          <a:p>
            <a:pPr indent="0" marL="0">
              <a:lnSpc>
                <a:spcPct val="115000"/>
              </a:lnSpc>
              <a:buNone/>
            </a:pPr>
            <a:r>
              <a:rPr lang="en-US" sz="710" dirty="0">
                <a:solidFill>
                  <a:srgbClr val="0F172A"/>
                </a:solidFill>
                <a:latin typeface="Arial" pitchFamily="34" charset="0"/>
                <a:ea typeface="Arial" pitchFamily="34" charset="-122"/>
                <a:cs typeface="Arial" pitchFamily="34" charset="-120"/>
              </a:rPr>
              <a:t>• 0.0ms Valkey tail-latency spike</a:t>
            </a:r>
            <a:endParaRPr lang="en-US" sz="710" dirty="0"/>
          </a:p>
          <a:p>
            <a:pPr indent="0" marL="0">
              <a:lnSpc>
                <a:spcPct val="115000"/>
              </a:lnSpc>
              <a:buNone/>
            </a:pPr>
            <a:r>
              <a:rPr lang="en-US" sz="710" dirty="0">
                <a:solidFill>
                  <a:srgbClr val="0F172A"/>
                </a:solidFill>
                <a:latin typeface="Arial" pitchFamily="34" charset="0"/>
                <a:ea typeface="Arial" pitchFamily="34" charset="-122"/>
                <a:cs typeface="Arial" pitchFamily="34" charset="-120"/>
              </a:rPr>
              <a:t>• cache:retailstream:* stays 100% warm</a:t>
            </a:r>
            <a:endParaRPr lang="en-US" sz="710" dirty="0"/>
          </a:p>
          <a:p>
            <a:pPr indent="0" marL="0">
              <a:lnSpc>
                <a:spcPct val="115000"/>
              </a:lnSpc>
              <a:buNone/>
            </a:pPr>
            <a:r>
              <a:rPr lang="en-US" sz="710" dirty="0">
                <a:solidFill>
                  <a:srgbClr val="0F172A"/>
                </a:solidFill>
                <a:latin typeface="Arial" pitchFamily="34" charset="0"/>
                <a:ea typeface="Arial" pitchFamily="34" charset="-122"/>
                <a:cs typeface="Arial" pitchFamily="34" charset="-120"/>
              </a:rPr>
              <a:t>• 90% Gemini prefix cache unaffected</a:t>
            </a:r>
            <a:endParaRPr lang="en-US" sz="710" dirty="0"/>
          </a:p>
          <a:p>
            <a:pPr indent="0" marL="0">
              <a:lnSpc>
                <a:spcPct val="115000"/>
              </a:lnSpc>
              <a:buNone/>
            </a:pPr>
            <a:r>
              <a:rPr lang="en-US" sz="710" dirty="0">
                <a:solidFill>
                  <a:srgbClr val="0F172A"/>
                </a:solidFill>
                <a:latin typeface="Arial" pitchFamily="34" charset="0"/>
                <a:ea typeface="Arial" pitchFamily="34" charset="-122"/>
                <a:cs typeface="Arial" pitchFamily="34" charset="-120"/>
              </a:rPr>
              <a:t>• Peer incident never leaks across pool</a:t>
            </a:r>
            <a:endParaRPr lang="en-US" sz="710" dirty="0"/>
          </a:p>
        </p:txBody>
      </p:sp>
      <p:sp>
        <p:nvSpPr>
          <p:cNvPr id="56" name="Shape 54"/>
          <p:cNvSpPr/>
          <p:nvPr/>
        </p:nvSpPr>
        <p:spPr>
          <a:xfrm>
            <a:off x="6227978" y="1049731"/>
            <a:ext cx="5546750" cy="4791456"/>
          </a:xfrm>
          <a:prstGeom prst="roundRect">
            <a:avLst>
              <a:gd name="adj" fmla="val 1336"/>
            </a:avLst>
          </a:prstGeom>
          <a:solidFill>
            <a:srgbClr val="E2E8F0"/>
          </a:solidFill>
          <a:ln/>
        </p:spPr>
      </p:sp>
      <p:sp>
        <p:nvSpPr>
          <p:cNvPr id="57" name="Shape 55"/>
          <p:cNvSpPr/>
          <p:nvPr/>
        </p:nvSpPr>
        <p:spPr>
          <a:xfrm>
            <a:off x="6205118" y="1024128"/>
            <a:ext cx="5546750" cy="4791456"/>
          </a:xfrm>
          <a:prstGeom prst="roundRect">
            <a:avLst>
              <a:gd name="adj" fmla="val 1336"/>
            </a:avLst>
          </a:prstGeom>
          <a:solidFill>
            <a:srgbClr val="FFFFFF"/>
          </a:solidFill>
          <a:ln w="10795">
            <a:solidFill>
              <a:srgbClr val="99F6E4"/>
            </a:solidFill>
            <a:prstDash val="solid"/>
          </a:ln>
        </p:spPr>
      </p:sp>
      <p:sp>
        <p:nvSpPr>
          <p:cNvPr id="58" name="Shape 56"/>
          <p:cNvSpPr/>
          <p:nvPr/>
        </p:nvSpPr>
        <p:spPr>
          <a:xfrm>
            <a:off x="6205118" y="1024128"/>
            <a:ext cx="5546750" cy="50292"/>
          </a:xfrm>
          <a:prstGeom prst="roundRect">
            <a:avLst>
              <a:gd name="adj" fmla="val 36364"/>
            </a:avLst>
          </a:prstGeom>
          <a:solidFill>
            <a:srgbClr val="0F766E"/>
          </a:solidFill>
          <a:ln/>
        </p:spPr>
      </p:sp>
      <p:sp>
        <p:nvSpPr>
          <p:cNvPr id="59" name="Shape 57"/>
          <p:cNvSpPr/>
          <p:nvPr/>
        </p:nvSpPr>
        <p:spPr>
          <a:xfrm>
            <a:off x="6351422" y="1152144"/>
            <a:ext cx="5254142" cy="201168"/>
          </a:xfrm>
          <a:prstGeom prst="roundRect">
            <a:avLst>
              <a:gd name="adj" fmla="val 36364"/>
            </a:avLst>
          </a:prstGeom>
          <a:solidFill>
            <a:srgbClr val="F0FDFA"/>
          </a:solidFill>
          <a:ln w="9525">
            <a:solidFill>
              <a:srgbClr val="99F6E4"/>
            </a:solidFill>
            <a:prstDash val="solid"/>
          </a:ln>
        </p:spPr>
      </p:sp>
      <p:sp>
        <p:nvSpPr>
          <p:cNvPr id="60" name="Text 58"/>
          <p:cNvSpPr/>
          <p:nvPr/>
        </p:nvSpPr>
        <p:spPr>
          <a:xfrm>
            <a:off x="6351422" y="1152144"/>
            <a:ext cx="5254142" cy="201168"/>
          </a:xfrm>
          <a:prstGeom prst="rect">
            <a:avLst/>
          </a:prstGeom>
          <a:noFill/>
          <a:ln/>
        </p:spPr>
        <p:txBody>
          <a:bodyPr wrap="square" lIns="0" tIns="0" rIns="0" bIns="0" rtlCol="0" anchor="ctr"/>
          <a:lstStyle/>
          <a:p>
            <a:pPr algn="ctr" indent="0" marL="0">
              <a:lnSpc>
                <a:spcPct val="105000"/>
              </a:lnSpc>
              <a:buNone/>
            </a:pPr>
            <a:r>
              <a:rPr lang="en-US" sz="640" b="1" dirty="0">
                <a:solidFill>
                  <a:srgbClr val="0F766E"/>
                </a:solidFill>
                <a:latin typeface="Arial" pitchFamily="34" charset="0"/>
                <a:ea typeface="Arial" pitchFamily="34" charset="-122"/>
                <a:cs typeface="Arial" pitchFamily="34" charset="-120"/>
              </a:rPr>
              <a:t>PHASE 2 (T=RESTORE)  •  PREVENTING THE COLD-CACHE THUNDERING HERD</a:t>
            </a:r>
            <a:endParaRPr lang="en-US" sz="640" dirty="0"/>
          </a:p>
        </p:txBody>
      </p:sp>
      <p:sp>
        <p:nvSpPr>
          <p:cNvPr id="61" name="Shape 59"/>
          <p:cNvSpPr/>
          <p:nvPr/>
        </p:nvSpPr>
        <p:spPr>
          <a:xfrm>
            <a:off x="6351422" y="1481328"/>
            <a:ext cx="5254142" cy="1901952"/>
          </a:xfrm>
          <a:prstGeom prst="roundRect">
            <a:avLst>
              <a:gd name="adj" fmla="val 3365"/>
            </a:avLst>
          </a:prstGeom>
          <a:solidFill>
            <a:srgbClr val="FEF2F2"/>
          </a:solidFill>
          <a:ln w="10795">
            <a:solidFill>
              <a:srgbClr val="FECACA"/>
            </a:solidFill>
            <a:prstDash val="solid"/>
          </a:ln>
        </p:spPr>
      </p:sp>
      <p:sp>
        <p:nvSpPr>
          <p:cNvPr id="62" name="Shape 60"/>
          <p:cNvSpPr/>
          <p:nvPr/>
        </p:nvSpPr>
        <p:spPr>
          <a:xfrm>
            <a:off x="6351422" y="1481328"/>
            <a:ext cx="54864" cy="1901952"/>
          </a:xfrm>
          <a:prstGeom prst="roundRect">
            <a:avLst>
              <a:gd name="adj" fmla="val 33333"/>
            </a:avLst>
          </a:prstGeom>
          <a:solidFill>
            <a:srgbClr val="B91C1C"/>
          </a:solidFill>
          <a:ln/>
        </p:spPr>
      </p:sp>
      <p:sp>
        <p:nvSpPr>
          <p:cNvPr id="63" name="Shape 61"/>
          <p:cNvSpPr/>
          <p:nvPr/>
        </p:nvSpPr>
        <p:spPr>
          <a:xfrm>
            <a:off x="6479438" y="1591056"/>
            <a:ext cx="2880360" cy="192024"/>
          </a:xfrm>
          <a:prstGeom prst="roundRect">
            <a:avLst>
              <a:gd name="adj" fmla="val 38095"/>
            </a:avLst>
          </a:prstGeom>
          <a:solidFill>
            <a:srgbClr val="FFFFFF"/>
          </a:solidFill>
          <a:ln w="9525">
            <a:solidFill>
              <a:srgbClr val="FECACA"/>
            </a:solidFill>
            <a:prstDash val="solid"/>
          </a:ln>
        </p:spPr>
      </p:sp>
      <p:sp>
        <p:nvSpPr>
          <p:cNvPr id="64" name="Text 62"/>
          <p:cNvSpPr/>
          <p:nvPr/>
        </p:nvSpPr>
        <p:spPr>
          <a:xfrm>
            <a:off x="6479438" y="1591056"/>
            <a:ext cx="2880360" cy="192024"/>
          </a:xfrm>
          <a:prstGeom prst="rect">
            <a:avLst/>
          </a:prstGeom>
          <a:noFill/>
          <a:ln/>
        </p:spPr>
        <p:txBody>
          <a:bodyPr wrap="square" lIns="0" tIns="0" rIns="0" bIns="0" rtlCol="0" anchor="ctr"/>
          <a:lstStyle/>
          <a:p>
            <a:pPr algn="ctr" indent="0" marL="0">
              <a:lnSpc>
                <a:spcPct val="105000"/>
              </a:lnSpc>
              <a:buNone/>
            </a:pPr>
            <a:r>
              <a:rPr lang="en-US" sz="620" b="1" dirty="0">
                <a:solidFill>
                  <a:srgbClr val="B91C1C"/>
                </a:solidFill>
                <a:latin typeface="Arial" pitchFamily="34" charset="0"/>
                <a:ea typeface="Arial" pitchFamily="34" charset="-122"/>
                <a:cs typeface="Arial" pitchFamily="34" charset="-120"/>
              </a:rPr>
              <a:t>ANTI-PATTERN: UNCOORDINATED COLD RESTORE</a:t>
            </a:r>
            <a:endParaRPr lang="en-US" sz="620" dirty="0"/>
          </a:p>
        </p:txBody>
      </p:sp>
      <p:sp>
        <p:nvSpPr>
          <p:cNvPr id="65" name="Text 63"/>
          <p:cNvSpPr/>
          <p:nvPr/>
        </p:nvSpPr>
        <p:spPr>
          <a:xfrm>
            <a:off x="6479438" y="1847088"/>
            <a:ext cx="4998110" cy="201168"/>
          </a:xfrm>
          <a:prstGeom prst="rect">
            <a:avLst/>
          </a:prstGeom>
          <a:noFill/>
          <a:ln/>
        </p:spPr>
        <p:txBody>
          <a:bodyPr wrap="square" lIns="0" tIns="0" rIns="0" bIns="0" rtlCol="0" anchor="ctr"/>
          <a:lstStyle/>
          <a:p>
            <a:pPr indent="0" marL="0">
              <a:buNone/>
            </a:pPr>
            <a:r>
              <a:rPr lang="en-US" sz="880" b="1" dirty="0">
                <a:solidFill>
                  <a:srgbClr val="0F172A"/>
                </a:solidFill>
                <a:latin typeface="Arial" pitchFamily="34" charset="0"/>
                <a:ea typeface="Arial" pitchFamily="34" charset="-122"/>
                <a:cs typeface="Arial" pitchFamily="34" charset="-120"/>
              </a:rPr>
              <a:t>500 Backed-Up Retries Smash AlloyDB Simultaneously</a:t>
            </a:r>
            <a:endParaRPr lang="en-US" sz="880" dirty="0"/>
          </a:p>
        </p:txBody>
      </p:sp>
      <p:sp>
        <p:nvSpPr>
          <p:cNvPr id="66" name="Shape 64"/>
          <p:cNvSpPr/>
          <p:nvPr/>
        </p:nvSpPr>
        <p:spPr>
          <a:xfrm>
            <a:off x="6479438" y="2139696"/>
            <a:ext cx="1426464" cy="822960"/>
          </a:xfrm>
          <a:prstGeom prst="roundRect">
            <a:avLst>
              <a:gd name="adj" fmla="val 7778"/>
            </a:avLst>
          </a:prstGeom>
          <a:solidFill>
            <a:srgbClr val="FFFFFF"/>
          </a:solidFill>
          <a:ln w="10795">
            <a:solidFill>
              <a:srgbClr val="FECACA"/>
            </a:solidFill>
            <a:prstDash val="solid"/>
          </a:ln>
        </p:spPr>
      </p:sp>
      <p:sp>
        <p:nvSpPr>
          <p:cNvPr id="67" name="Text 65"/>
          <p:cNvSpPr/>
          <p:nvPr/>
        </p:nvSpPr>
        <p:spPr>
          <a:xfrm>
            <a:off x="6534302" y="2212848"/>
            <a:ext cx="1316736" cy="676656"/>
          </a:xfrm>
          <a:prstGeom prst="rect">
            <a:avLst/>
          </a:prstGeom>
          <a:noFill/>
          <a:ln/>
        </p:spPr>
        <p:txBody>
          <a:bodyPr wrap="square" lIns="0" tIns="0" rIns="0" bIns="0" rtlCol="0" anchor="ctr"/>
          <a:lstStyle/>
          <a:p>
            <a:pPr algn="ctr" indent="0" marL="0">
              <a:buNone/>
            </a:pPr>
            <a:r>
              <a:rPr lang="en-US" sz="700" b="1" dirty="0">
                <a:solidFill>
                  <a:srgbClr val="0F172A"/>
                </a:solidFill>
                <a:latin typeface="Arial" pitchFamily="34" charset="0"/>
                <a:ea typeface="Arial" pitchFamily="34" charset="-122"/>
                <a:cs typeface="Arial" pitchFamily="34" charset="-120"/>
              </a:rPr>
              <a:t>KMS Re-Enabled</a:t>
            </a:r>
            <a:endParaRPr lang="en-US" sz="700" dirty="0"/>
          </a:p>
          <a:p>
            <a:pPr algn="ctr" indent="0" marL="0">
              <a:buNone/>
            </a:pPr>
            <a:r>
              <a:rPr lang="en-US" sz="700" b="1" dirty="0">
                <a:solidFill>
                  <a:srgbClr val="0F172A"/>
                </a:solidFill>
                <a:latin typeface="Arial" pitchFamily="34" charset="0"/>
                <a:ea typeface="Arial" pitchFamily="34" charset="-122"/>
                <a:cs typeface="Arial" pitchFamily="34" charset="-120"/>
              </a:rPr>
              <a:t>500 Queued Turns</a:t>
            </a:r>
            <a:endParaRPr lang="en-US" sz="700" dirty="0"/>
          </a:p>
          <a:p>
            <a:pPr algn="ctr" indent="0" marL="0">
              <a:buNone/>
            </a:pPr>
            <a:r>
              <a:rPr lang="en-US" sz="700" b="1" dirty="0">
                <a:solidFill>
                  <a:srgbClr val="0F172A"/>
                </a:solidFill>
                <a:latin typeface="Arial" pitchFamily="34" charset="0"/>
                <a:ea typeface="Arial" pitchFamily="34" charset="-122"/>
                <a:cs typeface="Arial" pitchFamily="34" charset="-120"/>
              </a:rPr>
              <a:t>Retry at T+0ms</a:t>
            </a:r>
            <a:endParaRPr lang="en-US" sz="700" dirty="0"/>
          </a:p>
        </p:txBody>
      </p:sp>
      <p:sp>
        <p:nvSpPr>
          <p:cNvPr id="68" name="Shape 66"/>
          <p:cNvSpPr/>
          <p:nvPr/>
        </p:nvSpPr>
        <p:spPr>
          <a:xfrm>
            <a:off x="7905902" y="2551176"/>
            <a:ext cx="274320" cy="0"/>
          </a:xfrm>
          <a:prstGeom prst="line">
            <a:avLst/>
          </a:prstGeom>
          <a:noFill/>
          <a:ln w="16510">
            <a:solidFill>
              <a:srgbClr val="B91C1C"/>
            </a:solidFill>
            <a:prstDash val="solid"/>
            <a:tailEnd type="triangle" w="sm" len="sm"/>
          </a:ln>
        </p:spPr>
      </p:sp>
      <p:sp>
        <p:nvSpPr>
          <p:cNvPr id="69" name="Shape 67"/>
          <p:cNvSpPr/>
          <p:nvPr/>
        </p:nvSpPr>
        <p:spPr>
          <a:xfrm>
            <a:off x="8180222" y="2139696"/>
            <a:ext cx="1426464" cy="822960"/>
          </a:xfrm>
          <a:prstGeom prst="roundRect">
            <a:avLst>
              <a:gd name="adj" fmla="val 7778"/>
            </a:avLst>
          </a:prstGeom>
          <a:solidFill>
            <a:srgbClr val="FFFFFF"/>
          </a:solidFill>
          <a:ln w="10795">
            <a:solidFill>
              <a:srgbClr val="FECACA"/>
            </a:solidFill>
            <a:prstDash val="solid"/>
          </a:ln>
        </p:spPr>
      </p:sp>
      <p:sp>
        <p:nvSpPr>
          <p:cNvPr id="70" name="Text 68"/>
          <p:cNvSpPr/>
          <p:nvPr/>
        </p:nvSpPr>
        <p:spPr>
          <a:xfrm>
            <a:off x="8235086" y="2212848"/>
            <a:ext cx="1316736" cy="676656"/>
          </a:xfrm>
          <a:prstGeom prst="rect">
            <a:avLst/>
          </a:prstGeom>
          <a:noFill/>
          <a:ln/>
        </p:spPr>
        <p:txBody>
          <a:bodyPr wrap="square" lIns="0" tIns="0" rIns="0" bIns="0" rtlCol="0" anchor="ctr"/>
          <a:lstStyle/>
          <a:p>
            <a:pPr algn="ctr" indent="0" marL="0">
              <a:buNone/>
            </a:pPr>
            <a:r>
              <a:rPr lang="en-US" sz="700" b="1" dirty="0">
                <a:solidFill>
                  <a:srgbClr val="B91C1C"/>
                </a:solidFill>
                <a:latin typeface="Arial" pitchFamily="34" charset="0"/>
                <a:ea typeface="Arial" pitchFamily="34" charset="-122"/>
                <a:cs typeface="Arial" pitchFamily="34" charset="-120"/>
              </a:rPr>
              <a:t>500× Cache Miss</a:t>
            </a:r>
            <a:endParaRPr lang="en-US" sz="700" dirty="0"/>
          </a:p>
          <a:p>
            <a:pPr algn="ctr" indent="0" marL="0">
              <a:buNone/>
            </a:pPr>
            <a:r>
              <a:rPr lang="en-US" sz="700" b="1" dirty="0">
                <a:solidFill>
                  <a:srgbClr val="B91C1C"/>
                </a:solidFill>
                <a:latin typeface="Arial" pitchFamily="34" charset="0"/>
                <a:ea typeface="Arial" pitchFamily="34" charset="-122"/>
                <a:cs typeface="Arial" pitchFamily="34" charset="-120"/>
              </a:rPr>
              <a:t>on Empty</a:t>
            </a:r>
            <a:endParaRPr lang="en-US" sz="700" dirty="0"/>
          </a:p>
          <a:p>
            <a:pPr algn="ctr" indent="0" marL="0">
              <a:buNone/>
            </a:pPr>
            <a:r>
              <a:rPr lang="en-US" sz="700" b="1" dirty="0">
                <a:solidFill>
                  <a:srgbClr val="B91C1C"/>
                </a:solidFill>
                <a:latin typeface="Arial" pitchFamily="34" charset="0"/>
                <a:ea typeface="Arial" pitchFamily="34" charset="-122"/>
                <a:cs typeface="Arial" pitchFamily="34" charset="-120"/>
              </a:rPr>
              <a:t>cache:finvault:*</a:t>
            </a:r>
            <a:endParaRPr lang="en-US" sz="700" dirty="0"/>
          </a:p>
        </p:txBody>
      </p:sp>
      <p:sp>
        <p:nvSpPr>
          <p:cNvPr id="71" name="Shape 69"/>
          <p:cNvSpPr/>
          <p:nvPr/>
        </p:nvSpPr>
        <p:spPr>
          <a:xfrm>
            <a:off x="9606686" y="2551176"/>
            <a:ext cx="274320" cy="0"/>
          </a:xfrm>
          <a:prstGeom prst="line">
            <a:avLst/>
          </a:prstGeom>
          <a:noFill/>
          <a:ln w="16510">
            <a:solidFill>
              <a:srgbClr val="B91C1C"/>
            </a:solidFill>
            <a:prstDash val="solid"/>
            <a:tailEnd type="triangle" w="sm" len="sm"/>
          </a:ln>
        </p:spPr>
      </p:sp>
      <p:sp>
        <p:nvSpPr>
          <p:cNvPr id="72" name="Shape 70"/>
          <p:cNvSpPr/>
          <p:nvPr/>
        </p:nvSpPr>
        <p:spPr>
          <a:xfrm>
            <a:off x="9881006" y="2139696"/>
            <a:ext cx="1578254" cy="822960"/>
          </a:xfrm>
          <a:prstGeom prst="roundRect">
            <a:avLst>
              <a:gd name="adj" fmla="val 7778"/>
            </a:avLst>
          </a:prstGeom>
          <a:solidFill>
            <a:srgbClr val="B91C1C"/>
          </a:solidFill>
          <a:ln w="10795">
            <a:solidFill>
              <a:srgbClr val="B91C1C"/>
            </a:solidFill>
            <a:prstDash val="solid"/>
          </a:ln>
        </p:spPr>
      </p:sp>
      <p:sp>
        <p:nvSpPr>
          <p:cNvPr id="73" name="Text 71"/>
          <p:cNvSpPr/>
          <p:nvPr/>
        </p:nvSpPr>
        <p:spPr>
          <a:xfrm>
            <a:off x="9935870" y="2212848"/>
            <a:ext cx="1468526" cy="676656"/>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500× AlloyDB SQL!</a:t>
            </a:r>
            <a:endParaRPr lang="en-US" sz="700" dirty="0"/>
          </a:p>
          <a:p>
            <a:pPr algn="ctr" indent="0" marL="0">
              <a:buNone/>
            </a:pPr>
            <a:r>
              <a:rPr lang="en-US" sz="700" b="1" dirty="0">
                <a:solidFill>
                  <a:srgbClr val="FFFFFF"/>
                </a:solidFill>
                <a:latin typeface="Arial" pitchFamily="34" charset="0"/>
                <a:ea typeface="Arial" pitchFamily="34" charset="-122"/>
                <a:cs typeface="Arial" pitchFamily="34" charset="-120"/>
              </a:rPr>
              <a:t>Pool Starved →</a:t>
            </a:r>
            <a:endParaRPr lang="en-US" sz="700" dirty="0"/>
          </a:p>
          <a:p>
            <a:pPr algn="ctr" indent="0" marL="0">
              <a:buNone/>
            </a:pPr>
            <a:r>
              <a:rPr lang="en-US" sz="700" b="1" dirty="0">
                <a:solidFill>
                  <a:srgbClr val="FFFFFF"/>
                </a:solidFill>
                <a:latin typeface="Arial" pitchFamily="34" charset="0"/>
                <a:ea typeface="Arial" pitchFamily="34" charset="-122"/>
                <a:cs typeface="Arial" pitchFamily="34" charset="-120"/>
              </a:rPr>
              <a:t>Peers Time Out</a:t>
            </a:r>
            <a:endParaRPr lang="en-US" sz="700" dirty="0"/>
          </a:p>
        </p:txBody>
      </p:sp>
      <p:sp>
        <p:nvSpPr>
          <p:cNvPr id="74" name="Text 72"/>
          <p:cNvSpPr/>
          <p:nvPr/>
        </p:nvSpPr>
        <p:spPr>
          <a:xfrm>
            <a:off x="6479438" y="3054096"/>
            <a:ext cx="4998110" cy="219456"/>
          </a:xfrm>
          <a:prstGeom prst="rect">
            <a:avLst/>
          </a:prstGeom>
          <a:noFill/>
          <a:ln/>
        </p:spPr>
        <p:txBody>
          <a:bodyPr wrap="square" lIns="0" tIns="0" rIns="0" bIns="0" rtlCol="0" anchor="ctr"/>
          <a:lstStyle/>
          <a:p>
            <a:pPr indent="0" marL="0">
              <a:buNone/>
            </a:pPr>
            <a:r>
              <a:rPr lang="en-US" sz="710" b="1" dirty="0">
                <a:solidFill>
                  <a:srgbClr val="B91C1C"/>
                </a:solidFill>
                <a:latin typeface="Arial" pitchFamily="34" charset="0"/>
                <a:ea typeface="Arial" pitchFamily="34" charset="-122"/>
                <a:cs typeface="Arial" pitchFamily="34" charset="-120"/>
              </a:rPr>
              <a:t>Result: Re-enabling one customer key accidentally triggers a platform-wide database outage.</a:t>
            </a:r>
            <a:endParaRPr lang="en-US" sz="710" dirty="0"/>
          </a:p>
        </p:txBody>
      </p:sp>
      <p:sp>
        <p:nvSpPr>
          <p:cNvPr id="75" name="Shape 73"/>
          <p:cNvSpPr/>
          <p:nvPr/>
        </p:nvSpPr>
        <p:spPr>
          <a:xfrm>
            <a:off x="6351422" y="3547872"/>
            <a:ext cx="5254142" cy="2121408"/>
          </a:xfrm>
          <a:prstGeom prst="roundRect">
            <a:avLst>
              <a:gd name="adj" fmla="val 3017"/>
            </a:avLst>
          </a:prstGeom>
          <a:solidFill>
            <a:srgbClr val="ECFDF5"/>
          </a:solidFill>
          <a:ln w="10795">
            <a:solidFill>
              <a:srgbClr val="A7F3D0"/>
            </a:solidFill>
            <a:prstDash val="solid"/>
          </a:ln>
        </p:spPr>
      </p:sp>
      <p:sp>
        <p:nvSpPr>
          <p:cNvPr id="76" name="Shape 74"/>
          <p:cNvSpPr/>
          <p:nvPr/>
        </p:nvSpPr>
        <p:spPr>
          <a:xfrm>
            <a:off x="6351422" y="3547872"/>
            <a:ext cx="54864" cy="2121408"/>
          </a:xfrm>
          <a:prstGeom prst="roundRect">
            <a:avLst>
              <a:gd name="adj" fmla="val 33333"/>
            </a:avLst>
          </a:prstGeom>
          <a:solidFill>
            <a:srgbClr val="047857"/>
          </a:solidFill>
          <a:ln/>
        </p:spPr>
      </p:sp>
      <p:sp>
        <p:nvSpPr>
          <p:cNvPr id="77" name="Shape 75"/>
          <p:cNvSpPr/>
          <p:nvPr/>
        </p:nvSpPr>
        <p:spPr>
          <a:xfrm>
            <a:off x="6479438" y="3657600"/>
            <a:ext cx="3291840" cy="192024"/>
          </a:xfrm>
          <a:prstGeom prst="roundRect">
            <a:avLst>
              <a:gd name="adj" fmla="val 38095"/>
            </a:avLst>
          </a:prstGeom>
          <a:solidFill>
            <a:srgbClr val="FFFFFF"/>
          </a:solidFill>
          <a:ln w="9525">
            <a:solidFill>
              <a:srgbClr val="A7F3D0"/>
            </a:solidFill>
            <a:prstDash val="solid"/>
          </a:ln>
        </p:spPr>
      </p:sp>
      <p:sp>
        <p:nvSpPr>
          <p:cNvPr id="78" name="Text 76"/>
          <p:cNvSpPr/>
          <p:nvPr/>
        </p:nvSpPr>
        <p:spPr>
          <a:xfrm>
            <a:off x="6479438" y="3657600"/>
            <a:ext cx="3291840" cy="192024"/>
          </a:xfrm>
          <a:prstGeom prst="rect">
            <a:avLst/>
          </a:prstGeom>
          <a:noFill/>
          <a:ln/>
        </p:spPr>
        <p:txBody>
          <a:bodyPr wrap="square" lIns="0" tIns="0" rIns="0" bIns="0" rtlCol="0" anchor="ctr"/>
          <a:lstStyle/>
          <a:p>
            <a:pPr algn="ctr" indent="0" marL="0">
              <a:lnSpc>
                <a:spcPct val="105000"/>
              </a:lnSpc>
              <a:buNone/>
            </a:pPr>
            <a:r>
              <a:rPr lang="en-US" sz="620" b="1" dirty="0">
                <a:solidFill>
                  <a:srgbClr val="047857"/>
                </a:solidFill>
                <a:latin typeface="Arial" pitchFamily="34" charset="0"/>
                <a:ea typeface="Arial" pitchFamily="34" charset="-122"/>
                <a:cs typeface="Arial" pitchFamily="34" charset="-120"/>
              </a:rPr>
              <a:t>ENFORCED: VALKEY SET NX PX 5000 SINGLE-FLIGHT MUTEX</a:t>
            </a:r>
            <a:endParaRPr lang="en-US" sz="620" dirty="0"/>
          </a:p>
        </p:txBody>
      </p:sp>
      <p:sp>
        <p:nvSpPr>
          <p:cNvPr id="79" name="Text 77"/>
          <p:cNvSpPr/>
          <p:nvPr/>
        </p:nvSpPr>
        <p:spPr>
          <a:xfrm>
            <a:off x="6479438" y="3913632"/>
            <a:ext cx="4998110" cy="201168"/>
          </a:xfrm>
          <a:prstGeom prst="rect">
            <a:avLst/>
          </a:prstGeom>
          <a:noFill/>
          <a:ln/>
        </p:spPr>
        <p:txBody>
          <a:bodyPr wrap="square" lIns="0" tIns="0" rIns="0" bIns="0" rtlCol="0" anchor="ctr"/>
          <a:lstStyle/>
          <a:p>
            <a:pPr indent="0" marL="0">
              <a:buNone/>
            </a:pPr>
            <a:r>
              <a:rPr lang="en-US" sz="880" b="1" dirty="0">
                <a:solidFill>
                  <a:srgbClr val="0F172A"/>
                </a:solidFill>
                <a:latin typeface="Arial" pitchFamily="34" charset="0"/>
                <a:ea typeface="Arial" pitchFamily="34" charset="-122"/>
                <a:cs typeface="Arial" pitchFamily="34" charset="-120"/>
              </a:rPr>
              <a:t>Strictly 1 Leader Hydrates AlloyDB RLS While 499 Followers Coalesce</a:t>
            </a:r>
            <a:endParaRPr lang="en-US" sz="880" dirty="0"/>
          </a:p>
        </p:txBody>
      </p:sp>
      <p:sp>
        <p:nvSpPr>
          <p:cNvPr id="80" name="Shape 78"/>
          <p:cNvSpPr/>
          <p:nvPr/>
        </p:nvSpPr>
        <p:spPr>
          <a:xfrm>
            <a:off x="6479438" y="4206240"/>
            <a:ext cx="1426464" cy="877824"/>
          </a:xfrm>
          <a:prstGeom prst="roundRect">
            <a:avLst>
              <a:gd name="adj" fmla="val 7292"/>
            </a:avLst>
          </a:prstGeom>
          <a:solidFill>
            <a:srgbClr val="FFFFFF"/>
          </a:solidFill>
          <a:ln w="10795">
            <a:solidFill>
              <a:srgbClr val="A7F3D0"/>
            </a:solidFill>
            <a:prstDash val="solid"/>
          </a:ln>
        </p:spPr>
      </p:sp>
      <p:sp>
        <p:nvSpPr>
          <p:cNvPr id="81" name="Text 79"/>
          <p:cNvSpPr/>
          <p:nvPr/>
        </p:nvSpPr>
        <p:spPr>
          <a:xfrm>
            <a:off x="6534302" y="4279392"/>
            <a:ext cx="1316736" cy="731520"/>
          </a:xfrm>
          <a:prstGeom prst="rect">
            <a:avLst/>
          </a:prstGeom>
          <a:noFill/>
          <a:ln/>
        </p:spPr>
        <p:txBody>
          <a:bodyPr wrap="square" lIns="0" tIns="0" rIns="0" bIns="0" rtlCol="0" anchor="ctr"/>
          <a:lstStyle/>
          <a:p>
            <a:pPr algn="ctr" indent="0" marL="0">
              <a:buNone/>
            </a:pPr>
            <a:r>
              <a:rPr lang="en-US" sz="700" b="1" dirty="0">
                <a:solidFill>
                  <a:srgbClr val="0F172A"/>
                </a:solidFill>
                <a:latin typeface="Arial" pitchFamily="34" charset="0"/>
                <a:ea typeface="Arial" pitchFamily="34" charset="-122"/>
                <a:cs typeface="Arial" pitchFamily="34" charset="-120"/>
              </a:rPr>
              <a:t>500 Retries Race:</a:t>
            </a:r>
            <a:endParaRPr lang="en-US" sz="700" dirty="0"/>
          </a:p>
          <a:p>
            <a:pPr algn="ctr" indent="0" marL="0">
              <a:buNone/>
            </a:pPr>
            <a:r>
              <a:rPr lang="en-US" sz="700" b="1" dirty="0">
                <a:solidFill>
                  <a:srgbClr val="0F172A"/>
                </a:solidFill>
                <a:latin typeface="Arial" pitchFamily="34" charset="0"/>
                <a:ea typeface="Arial" pitchFamily="34" charset="-122"/>
                <a:cs typeface="Arial" pitchFamily="34" charset="-120"/>
              </a:rPr>
              <a:t>SET lock:finvault</a:t>
            </a:r>
            <a:endParaRPr lang="en-US" sz="700" dirty="0"/>
          </a:p>
          <a:p>
            <a:pPr algn="ctr" indent="0" marL="0">
              <a:buNone/>
            </a:pPr>
            <a:r>
              <a:rPr lang="en-US" sz="700" b="1" dirty="0">
                <a:solidFill>
                  <a:srgbClr val="0F172A"/>
                </a:solidFill>
                <a:latin typeface="Arial" pitchFamily="34" charset="0"/>
                <a:ea typeface="Arial" pitchFamily="34" charset="-122"/>
                <a:cs typeface="Arial" pitchFamily="34" charset="-120"/>
              </a:rPr>
              <a:t>NX PX 5000</a:t>
            </a:r>
            <a:endParaRPr lang="en-US" sz="700" dirty="0"/>
          </a:p>
        </p:txBody>
      </p:sp>
      <p:sp>
        <p:nvSpPr>
          <p:cNvPr id="82" name="Shape 80"/>
          <p:cNvSpPr/>
          <p:nvPr/>
        </p:nvSpPr>
        <p:spPr>
          <a:xfrm>
            <a:off x="7905902" y="4645152"/>
            <a:ext cx="274320" cy="0"/>
          </a:xfrm>
          <a:prstGeom prst="line">
            <a:avLst/>
          </a:prstGeom>
          <a:noFill/>
          <a:ln w="16510">
            <a:solidFill>
              <a:srgbClr val="047857"/>
            </a:solidFill>
            <a:prstDash val="solid"/>
            <a:tailEnd type="triangle" w="sm" len="sm"/>
          </a:ln>
        </p:spPr>
      </p:sp>
      <p:sp>
        <p:nvSpPr>
          <p:cNvPr id="83" name="Shape 81"/>
          <p:cNvSpPr/>
          <p:nvPr/>
        </p:nvSpPr>
        <p:spPr>
          <a:xfrm>
            <a:off x="8180222" y="4206240"/>
            <a:ext cx="1426464" cy="877824"/>
          </a:xfrm>
          <a:prstGeom prst="roundRect">
            <a:avLst>
              <a:gd name="adj" fmla="val 7292"/>
            </a:avLst>
          </a:prstGeom>
          <a:solidFill>
            <a:srgbClr val="FFFFFF"/>
          </a:solidFill>
          <a:ln w="10795">
            <a:solidFill>
              <a:srgbClr val="A7F3D0"/>
            </a:solidFill>
            <a:prstDash val="solid"/>
          </a:ln>
        </p:spPr>
      </p:sp>
      <p:sp>
        <p:nvSpPr>
          <p:cNvPr id="84" name="Text 82"/>
          <p:cNvSpPr/>
          <p:nvPr/>
        </p:nvSpPr>
        <p:spPr>
          <a:xfrm>
            <a:off x="8235086" y="4279392"/>
            <a:ext cx="1316736" cy="731520"/>
          </a:xfrm>
          <a:prstGeom prst="rect">
            <a:avLst/>
          </a:prstGeom>
          <a:noFill/>
          <a:ln/>
        </p:spPr>
        <p:txBody>
          <a:bodyPr wrap="square" lIns="0" tIns="0" rIns="0" bIns="0" rtlCol="0" anchor="ctr"/>
          <a:lstStyle/>
          <a:p>
            <a:pPr algn="ctr" indent="0" marL="0">
              <a:buNone/>
            </a:pPr>
            <a:r>
              <a:rPr lang="en-US" sz="700" b="1" dirty="0">
                <a:solidFill>
                  <a:srgbClr val="047857"/>
                </a:solidFill>
                <a:latin typeface="Arial" pitchFamily="34" charset="0"/>
                <a:ea typeface="Arial" pitchFamily="34" charset="-122"/>
                <a:cs typeface="Arial" pitchFamily="34" charset="-120"/>
              </a:rPr>
              <a:t>1 Leader Wins Lock:</a:t>
            </a:r>
            <a:endParaRPr lang="en-US" sz="700" dirty="0"/>
          </a:p>
          <a:p>
            <a:pPr algn="ctr" indent="0" marL="0">
              <a:buNone/>
            </a:pPr>
            <a:r>
              <a:rPr lang="en-US" sz="700" b="1" dirty="0">
                <a:solidFill>
                  <a:srgbClr val="047857"/>
                </a:solidFill>
                <a:latin typeface="Arial" pitchFamily="34" charset="0"/>
                <a:ea typeface="Arial" pitchFamily="34" charset="-122"/>
                <a:cs typeface="Arial" pitchFamily="34" charset="-120"/>
              </a:rPr>
              <a:t>Runs 1 RLS Query &amp;</a:t>
            </a:r>
            <a:endParaRPr lang="en-US" sz="700" dirty="0"/>
          </a:p>
          <a:p>
            <a:pPr algn="ctr" indent="0" marL="0">
              <a:buNone/>
            </a:pPr>
            <a:r>
              <a:rPr lang="en-US" sz="700" b="1" dirty="0">
                <a:solidFill>
                  <a:srgbClr val="047857"/>
                </a:solidFill>
                <a:latin typeface="Arial" pitchFamily="34" charset="0"/>
                <a:ea typeface="Arial" pitchFamily="34" charset="-122"/>
                <a:cs typeface="Arial" pitchFamily="34" charset="-120"/>
              </a:rPr>
              <a:t>Writes Valkey Key</a:t>
            </a:r>
            <a:endParaRPr lang="en-US" sz="700" dirty="0"/>
          </a:p>
        </p:txBody>
      </p:sp>
      <p:sp>
        <p:nvSpPr>
          <p:cNvPr id="85" name="Shape 83"/>
          <p:cNvSpPr/>
          <p:nvPr/>
        </p:nvSpPr>
        <p:spPr>
          <a:xfrm>
            <a:off x="9606686" y="4645152"/>
            <a:ext cx="274320" cy="0"/>
          </a:xfrm>
          <a:prstGeom prst="line">
            <a:avLst/>
          </a:prstGeom>
          <a:noFill/>
          <a:ln w="16510">
            <a:solidFill>
              <a:srgbClr val="047857"/>
            </a:solidFill>
            <a:prstDash val="solid"/>
            <a:tailEnd type="triangle" w="sm" len="sm"/>
          </a:ln>
        </p:spPr>
      </p:sp>
      <p:sp>
        <p:nvSpPr>
          <p:cNvPr id="86" name="Shape 84"/>
          <p:cNvSpPr/>
          <p:nvPr/>
        </p:nvSpPr>
        <p:spPr>
          <a:xfrm>
            <a:off x="9881006" y="4206240"/>
            <a:ext cx="1578254" cy="877824"/>
          </a:xfrm>
          <a:prstGeom prst="roundRect">
            <a:avLst>
              <a:gd name="adj" fmla="val 7292"/>
            </a:avLst>
          </a:prstGeom>
          <a:solidFill>
            <a:srgbClr val="047857"/>
          </a:solidFill>
          <a:ln w="10795">
            <a:solidFill>
              <a:srgbClr val="047857"/>
            </a:solidFill>
            <a:prstDash val="solid"/>
          </a:ln>
        </p:spPr>
      </p:sp>
      <p:sp>
        <p:nvSpPr>
          <p:cNvPr id="87" name="Text 85"/>
          <p:cNvSpPr/>
          <p:nvPr/>
        </p:nvSpPr>
        <p:spPr>
          <a:xfrm>
            <a:off x="9935870" y="4279392"/>
            <a:ext cx="1468526" cy="73152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499 Followers Read</a:t>
            </a:r>
            <a:endParaRPr lang="en-US" sz="700" dirty="0"/>
          </a:p>
          <a:p>
            <a:pPr algn="ctr" indent="0" marL="0">
              <a:buNone/>
            </a:pPr>
            <a:r>
              <a:rPr lang="en-US" sz="700" b="1" dirty="0">
                <a:solidFill>
                  <a:srgbClr val="FFFFFF"/>
                </a:solidFill>
                <a:latin typeface="Arial" pitchFamily="34" charset="0"/>
                <a:ea typeface="Arial" pitchFamily="34" charset="-122"/>
                <a:cs typeface="Arial" pitchFamily="34" charset="-120"/>
              </a:rPr>
              <a:t>Warm Cache (~8ms)</a:t>
            </a:r>
            <a:endParaRPr lang="en-US" sz="700" dirty="0"/>
          </a:p>
          <a:p>
            <a:pPr algn="ctr" indent="0" marL="0">
              <a:buNone/>
            </a:pPr>
            <a:r>
              <a:rPr lang="en-US" sz="700" b="1" dirty="0">
                <a:solidFill>
                  <a:srgbClr val="FFFFFF"/>
                </a:solidFill>
                <a:latin typeface="Arial" pitchFamily="34" charset="0"/>
                <a:ea typeface="Arial" pitchFamily="34" charset="-122"/>
                <a:cs typeface="Arial" pitchFamily="34" charset="-120"/>
              </a:rPr>
              <a:t>1 Total DB Hit!</a:t>
            </a:r>
            <a:endParaRPr lang="en-US" sz="700" dirty="0"/>
          </a:p>
        </p:txBody>
      </p:sp>
      <p:sp>
        <p:nvSpPr>
          <p:cNvPr id="88" name="Text 86"/>
          <p:cNvSpPr/>
          <p:nvPr/>
        </p:nvSpPr>
        <p:spPr>
          <a:xfrm>
            <a:off x="6479438" y="5193792"/>
            <a:ext cx="4998110" cy="329184"/>
          </a:xfrm>
          <a:prstGeom prst="rect">
            <a:avLst/>
          </a:prstGeom>
          <a:noFill/>
          <a:ln/>
        </p:spPr>
        <p:txBody>
          <a:bodyPr wrap="square" lIns="0" tIns="0" rIns="0" bIns="0" rtlCol="0" anchor="ctr"/>
          <a:lstStyle/>
          <a:p>
            <a:pPr indent="0" marL="0">
              <a:lnSpc>
                <a:spcPct val="106000"/>
              </a:lnSpc>
              <a:buNone/>
            </a:pPr>
            <a:r>
              <a:rPr lang="en-US" sz="710" b="1" dirty="0">
                <a:solidFill>
                  <a:srgbClr val="047857"/>
                </a:solidFill>
                <a:latin typeface="Arial" pitchFamily="34" charset="0"/>
                <a:ea typeface="Arial" pitchFamily="34" charset="-122"/>
                <a:cs typeface="Arial" pitchFamily="34" charset="-120"/>
              </a:rPr>
              <a:t>Result: AlloyDB connection pool stays flat (&lt;2% CPU delta) during both FinVault revocation AND key restore.</a:t>
            </a:r>
            <a:endParaRPr lang="en-US" sz="710" dirty="0"/>
          </a:p>
        </p:txBody>
      </p:sp>
      <p:sp>
        <p:nvSpPr>
          <p:cNvPr id="89" name="Shape 87"/>
          <p:cNvSpPr/>
          <p:nvPr/>
        </p:nvSpPr>
        <p:spPr>
          <a:xfrm>
            <a:off x="438912" y="5943600"/>
            <a:ext cx="11313871" cy="420624"/>
          </a:xfrm>
          <a:prstGeom prst="roundRect">
            <a:avLst>
              <a:gd name="adj" fmla="val 13043"/>
            </a:avLst>
          </a:prstGeom>
          <a:solidFill>
            <a:srgbClr val="FEF2F2"/>
          </a:solidFill>
          <a:ln w="11430">
            <a:solidFill>
              <a:srgbClr val="FECACA"/>
            </a:solidFill>
            <a:prstDash val="solid"/>
          </a:ln>
        </p:spPr>
      </p:sp>
      <p:sp>
        <p:nvSpPr>
          <p:cNvPr id="90" name="Shape 88"/>
          <p:cNvSpPr/>
          <p:nvPr/>
        </p:nvSpPr>
        <p:spPr>
          <a:xfrm>
            <a:off x="530352" y="6025896"/>
            <a:ext cx="1353312" cy="256032"/>
          </a:xfrm>
          <a:prstGeom prst="roundRect">
            <a:avLst>
              <a:gd name="adj" fmla="val 17857"/>
            </a:avLst>
          </a:prstGeom>
          <a:solidFill>
            <a:srgbClr val="B91C1C"/>
          </a:solidFill>
          <a:ln/>
        </p:spPr>
      </p:sp>
      <p:sp>
        <p:nvSpPr>
          <p:cNvPr id="91" name="Text 89"/>
          <p:cNvSpPr/>
          <p:nvPr/>
        </p:nvSpPr>
        <p:spPr>
          <a:xfrm>
            <a:off x="530352" y="6025896"/>
            <a:ext cx="1353312" cy="256032"/>
          </a:xfrm>
          <a:prstGeom prst="rect">
            <a:avLst/>
          </a:prstGeom>
          <a:noFill/>
          <a:ln/>
        </p:spPr>
        <p:txBody>
          <a:bodyPr wrap="square" lIns="0" tIns="0" rIns="0" bIns="0" rtlCol="0" anchor="ctr"/>
          <a:lstStyle/>
          <a:p>
            <a:pPr algn="ctr" indent="0" marL="0">
              <a:lnSpc>
                <a:spcPct val="105000"/>
              </a:lnSpc>
              <a:buNone/>
            </a:pPr>
            <a:r>
              <a:rPr lang="en-US" sz="650" b="1" dirty="0">
                <a:solidFill>
                  <a:srgbClr val="FFFFFF"/>
                </a:solidFill>
                <a:latin typeface="Arial" pitchFamily="34" charset="0"/>
                <a:ea typeface="Arial" pitchFamily="34" charset="-122"/>
                <a:cs typeface="Arial" pitchFamily="34" charset="-120"/>
              </a:rPr>
              <a:t>DAY-2 BLAST ISOLATION</a:t>
            </a:r>
            <a:endParaRPr lang="en-US" sz="650" dirty="0"/>
          </a:p>
        </p:txBody>
      </p:sp>
      <p:sp>
        <p:nvSpPr>
          <p:cNvPr id="92" name="Text 90"/>
          <p:cNvSpPr/>
          <p:nvPr/>
        </p:nvSpPr>
        <p:spPr>
          <a:xfrm>
            <a:off x="1993392" y="5980176"/>
            <a:ext cx="7555687" cy="347472"/>
          </a:xfrm>
          <a:prstGeom prst="rect">
            <a:avLst/>
          </a:prstGeom>
          <a:noFill/>
          <a:ln/>
        </p:spPr>
        <p:txBody>
          <a:bodyPr wrap="square" lIns="0" tIns="0" rIns="0" bIns="0" rtlCol="0" anchor="ctr"/>
          <a:lstStyle/>
          <a:p>
            <a:pPr algn="l" indent="0" marL="0">
              <a:lnSpc>
                <a:spcPct val="108000"/>
              </a:lnSpc>
              <a:buNone/>
            </a:pPr>
            <a:r>
              <a:rPr lang="en-US" sz="860" b="1" dirty="0">
                <a:solidFill>
                  <a:srgbClr val="0F172A"/>
                </a:solidFill>
                <a:latin typeface="Arial" pitchFamily="34" charset="0"/>
                <a:ea typeface="Arial" pitchFamily="34" charset="-122"/>
                <a:cs typeface="Arial" pitchFamily="34" charset="-120"/>
              </a:rPr>
              <a:t>Cursor SCAN+UNLINK isolates cache eviction to the revoking tenant (&lt;5s), and SET NX single-flight locks prevent cold-cache DB stampedes on restore.</a:t>
            </a:r>
            <a:endParaRPr lang="en-US" sz="860" dirty="0"/>
          </a:p>
        </p:txBody>
      </p:sp>
      <p:sp>
        <p:nvSpPr>
          <p:cNvPr id="93" name="Shape 91"/>
          <p:cNvSpPr/>
          <p:nvPr/>
        </p:nvSpPr>
        <p:spPr>
          <a:xfrm>
            <a:off x="9695383" y="6025896"/>
            <a:ext cx="1965960" cy="256032"/>
          </a:xfrm>
          <a:prstGeom prst="roundRect">
            <a:avLst>
              <a:gd name="adj" fmla="val 17857"/>
            </a:avLst>
          </a:prstGeom>
          <a:solidFill>
            <a:srgbClr val="FFFFFF"/>
          </a:solidFill>
          <a:ln w="10795">
            <a:solidFill>
              <a:srgbClr val="B91C1C"/>
            </a:solidFill>
            <a:prstDash val="solid"/>
          </a:ln>
        </p:spPr>
      </p:sp>
      <p:sp>
        <p:nvSpPr>
          <p:cNvPr id="94" name="Text 92"/>
          <p:cNvSpPr/>
          <p:nvPr/>
        </p:nvSpPr>
        <p:spPr>
          <a:xfrm>
            <a:off x="9695383" y="6025896"/>
            <a:ext cx="1965960" cy="256032"/>
          </a:xfrm>
          <a:prstGeom prst="rect">
            <a:avLst/>
          </a:prstGeom>
          <a:noFill/>
          <a:ln/>
        </p:spPr>
        <p:txBody>
          <a:bodyPr wrap="square" lIns="0" tIns="0" rIns="0" bIns="0" rtlCol="0" anchor="ctr"/>
          <a:lstStyle/>
          <a:p>
            <a:pPr algn="ctr" indent="0" marL="0">
              <a:lnSpc>
                <a:spcPct val="105000"/>
              </a:lnSpc>
              <a:buNone/>
            </a:pPr>
            <a:r>
              <a:rPr lang="en-US" sz="740" b="1" dirty="0">
                <a:solidFill>
                  <a:srgbClr val="B91C1C"/>
                </a:solidFill>
                <a:latin typeface="Arial" pitchFamily="34" charset="0"/>
                <a:ea typeface="Arial" pitchFamily="34" charset="-122"/>
                <a:cs typeface="Arial" pitchFamily="34" charset="-120"/>
              </a:rPr>
              <a:t>1 DB Read / 0ms Peer Spike</a:t>
            </a:r>
            <a:endParaRPr lang="en-US" sz="74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1148"/>
          </a:xfrm>
          <a:prstGeom prst="rect">
            <a:avLst/>
          </a:prstGeom>
          <a:solidFill>
            <a:srgbClr val="B45309"/>
          </a:solidFill>
          <a:ln/>
        </p:spPr>
      </p:sp>
      <p:sp>
        <p:nvSpPr>
          <p:cNvPr id="3" name="Shape 1"/>
          <p:cNvSpPr/>
          <p:nvPr/>
        </p:nvSpPr>
        <p:spPr>
          <a:xfrm>
            <a:off x="438912" y="192024"/>
            <a:ext cx="59436" cy="621792"/>
          </a:xfrm>
          <a:prstGeom prst="roundRect">
            <a:avLst>
              <a:gd name="adj" fmla="val 46154"/>
            </a:avLst>
          </a:prstGeom>
          <a:solidFill>
            <a:srgbClr val="B45309"/>
          </a:solidFill>
          <a:ln/>
        </p:spPr>
      </p:sp>
      <p:sp>
        <p:nvSpPr>
          <p:cNvPr id="4" name="Text 2"/>
          <p:cNvSpPr/>
          <p:nvPr/>
        </p:nvSpPr>
        <p:spPr>
          <a:xfrm>
            <a:off x="576072" y="173736"/>
            <a:ext cx="4389120" cy="146304"/>
          </a:xfrm>
          <a:prstGeom prst="rect">
            <a:avLst/>
          </a:prstGeom>
          <a:noFill/>
          <a:ln/>
        </p:spPr>
        <p:txBody>
          <a:bodyPr wrap="square" lIns="0" tIns="0" rIns="0" bIns="0" rtlCol="0" anchor="ctr"/>
          <a:lstStyle/>
          <a:p>
            <a:pPr algn="l" indent="0" marL="0">
              <a:lnSpc>
                <a:spcPct val="105000"/>
              </a:lnSpc>
              <a:buNone/>
            </a:pPr>
            <a:r>
              <a:rPr lang="en-US" sz="750" b="1" spc="110" kern="0" dirty="0">
                <a:solidFill>
                  <a:srgbClr val="B45309"/>
                </a:solidFill>
                <a:latin typeface="Arial" pitchFamily="34" charset="0"/>
                <a:ea typeface="Arial" pitchFamily="34" charset="-122"/>
                <a:cs typeface="Arial" pitchFamily="34" charset="-120"/>
              </a:rPr>
              <a:t>05 / PROCESS &amp; WIRE</a:t>
            </a:r>
            <a:endParaRPr lang="en-US" sz="750" dirty="0"/>
          </a:p>
        </p:txBody>
      </p:sp>
      <p:sp>
        <p:nvSpPr>
          <p:cNvPr id="5" name="Shape 3"/>
          <p:cNvSpPr/>
          <p:nvPr/>
        </p:nvSpPr>
        <p:spPr>
          <a:xfrm>
            <a:off x="8183880" y="219456"/>
            <a:ext cx="228600" cy="59436"/>
          </a:xfrm>
          <a:prstGeom prst="roundRect">
            <a:avLst>
              <a:gd name="adj" fmla="val 46154"/>
            </a:avLst>
          </a:prstGeom>
          <a:solidFill>
            <a:srgbClr val="94A3B8"/>
          </a:solidFill>
          <a:ln/>
        </p:spPr>
      </p:sp>
      <p:sp>
        <p:nvSpPr>
          <p:cNvPr id="6" name="Shape 4"/>
          <p:cNvSpPr/>
          <p:nvPr/>
        </p:nvSpPr>
        <p:spPr>
          <a:xfrm>
            <a:off x="8453628" y="219456"/>
            <a:ext cx="228600" cy="59436"/>
          </a:xfrm>
          <a:prstGeom prst="roundRect">
            <a:avLst>
              <a:gd name="adj" fmla="val 46154"/>
            </a:avLst>
          </a:prstGeom>
          <a:solidFill>
            <a:srgbClr val="94A3B8"/>
          </a:solidFill>
          <a:ln/>
        </p:spPr>
      </p:sp>
      <p:sp>
        <p:nvSpPr>
          <p:cNvPr id="7" name="Shape 5"/>
          <p:cNvSpPr/>
          <p:nvPr/>
        </p:nvSpPr>
        <p:spPr>
          <a:xfrm>
            <a:off x="8723376" y="219456"/>
            <a:ext cx="228600" cy="59436"/>
          </a:xfrm>
          <a:prstGeom prst="roundRect">
            <a:avLst>
              <a:gd name="adj" fmla="val 46154"/>
            </a:avLst>
          </a:prstGeom>
          <a:solidFill>
            <a:srgbClr val="94A3B8"/>
          </a:solidFill>
          <a:ln/>
        </p:spPr>
      </p:sp>
      <p:sp>
        <p:nvSpPr>
          <p:cNvPr id="8" name="Shape 6"/>
          <p:cNvSpPr/>
          <p:nvPr/>
        </p:nvSpPr>
        <p:spPr>
          <a:xfrm>
            <a:off x="8993124" y="219456"/>
            <a:ext cx="228600" cy="59436"/>
          </a:xfrm>
          <a:prstGeom prst="roundRect">
            <a:avLst>
              <a:gd name="adj" fmla="val 46154"/>
            </a:avLst>
          </a:prstGeom>
          <a:solidFill>
            <a:srgbClr val="94A3B8"/>
          </a:solidFill>
          <a:ln/>
        </p:spPr>
      </p:sp>
      <p:sp>
        <p:nvSpPr>
          <p:cNvPr id="9" name="Shape 7"/>
          <p:cNvSpPr/>
          <p:nvPr/>
        </p:nvSpPr>
        <p:spPr>
          <a:xfrm>
            <a:off x="9262872" y="219456"/>
            <a:ext cx="228600" cy="59436"/>
          </a:xfrm>
          <a:prstGeom prst="roundRect">
            <a:avLst>
              <a:gd name="adj" fmla="val 46154"/>
            </a:avLst>
          </a:prstGeom>
          <a:solidFill>
            <a:srgbClr val="B45309"/>
          </a:solidFill>
          <a:ln/>
        </p:spPr>
      </p:sp>
      <p:sp>
        <p:nvSpPr>
          <p:cNvPr id="10" name="Shape 8"/>
          <p:cNvSpPr/>
          <p:nvPr/>
        </p:nvSpPr>
        <p:spPr>
          <a:xfrm>
            <a:off x="9532620" y="219456"/>
            <a:ext cx="228600" cy="59436"/>
          </a:xfrm>
          <a:prstGeom prst="roundRect">
            <a:avLst>
              <a:gd name="adj" fmla="val 46154"/>
            </a:avLst>
          </a:prstGeom>
          <a:solidFill>
            <a:srgbClr val="E2E8F0"/>
          </a:solidFill>
          <a:ln/>
        </p:spPr>
      </p:sp>
      <p:sp>
        <p:nvSpPr>
          <p:cNvPr id="11" name="Shape 9"/>
          <p:cNvSpPr/>
          <p:nvPr/>
        </p:nvSpPr>
        <p:spPr>
          <a:xfrm>
            <a:off x="9802368" y="219456"/>
            <a:ext cx="228600" cy="59436"/>
          </a:xfrm>
          <a:prstGeom prst="roundRect">
            <a:avLst>
              <a:gd name="adj" fmla="val 46154"/>
            </a:avLst>
          </a:prstGeom>
          <a:solidFill>
            <a:srgbClr val="E2E8F0"/>
          </a:solidFill>
          <a:ln/>
        </p:spPr>
      </p:sp>
      <p:sp>
        <p:nvSpPr>
          <p:cNvPr id="12" name="Shape 10"/>
          <p:cNvSpPr/>
          <p:nvPr/>
        </p:nvSpPr>
        <p:spPr>
          <a:xfrm>
            <a:off x="10131552" y="146304"/>
            <a:ext cx="1621231" cy="192024"/>
          </a:xfrm>
          <a:prstGeom prst="roundRect">
            <a:avLst>
              <a:gd name="adj" fmla="val 23810"/>
            </a:avLst>
          </a:prstGeom>
          <a:solidFill>
            <a:srgbClr val="FFFFFF"/>
          </a:solidFill>
          <a:ln w="9525">
            <a:solidFill>
              <a:srgbClr val="CBD5E1"/>
            </a:solidFill>
            <a:prstDash val="solid"/>
          </a:ln>
        </p:spPr>
      </p:sp>
      <p:sp>
        <p:nvSpPr>
          <p:cNvPr id="13" name="Text 11"/>
          <p:cNvSpPr/>
          <p:nvPr/>
        </p:nvSpPr>
        <p:spPr>
          <a:xfrm>
            <a:off x="10131552" y="146304"/>
            <a:ext cx="1621231" cy="192024"/>
          </a:xfrm>
          <a:prstGeom prst="rect">
            <a:avLst/>
          </a:prstGeom>
          <a:noFill/>
          <a:ln/>
        </p:spPr>
        <p:txBody>
          <a:bodyPr wrap="square" lIns="0" tIns="0" rIns="0" bIns="0" rtlCol="0" anchor="ctr"/>
          <a:lstStyle/>
          <a:p>
            <a:pPr algn="ctr" indent="0" marL="0">
              <a:lnSpc>
                <a:spcPct val="105000"/>
              </a:lnSpc>
              <a:buNone/>
            </a:pPr>
            <a:r>
              <a:rPr lang="en-US" sz="680" b="1" spc="60" kern="0" dirty="0">
                <a:solidFill>
                  <a:srgbClr val="B45309"/>
                </a:solidFill>
                <a:latin typeface="Arial" pitchFamily="34" charset="0"/>
                <a:ea typeface="Arial" pitchFamily="34" charset="-122"/>
                <a:cs typeface="Arial" pitchFamily="34" charset="-120"/>
              </a:rPr>
              <a:t>L4 WIRE TRIPTYCH (HOP 1)</a:t>
            </a:r>
            <a:endParaRPr lang="en-US" sz="680" dirty="0"/>
          </a:p>
        </p:txBody>
      </p:sp>
      <p:sp>
        <p:nvSpPr>
          <p:cNvPr id="14" name="Text 12"/>
          <p:cNvSpPr/>
          <p:nvPr/>
        </p:nvSpPr>
        <p:spPr>
          <a:xfrm>
            <a:off x="576072" y="338328"/>
            <a:ext cx="11176711" cy="310896"/>
          </a:xfrm>
          <a:prstGeom prst="rect">
            <a:avLst/>
          </a:prstGeom>
          <a:noFill/>
          <a:ln/>
        </p:spPr>
        <p:txBody>
          <a:bodyPr wrap="square" lIns="0" tIns="0" rIns="0" bIns="0" rtlCol="0" anchor="ctr"/>
          <a:lstStyle/>
          <a:p>
            <a:pPr algn="l" indent="0" marL="0">
              <a:lnSpc>
                <a:spcPct val="104000"/>
              </a:lnSpc>
              <a:buNone/>
            </a:pPr>
            <a:r>
              <a:rPr lang="en-US" sz="1750" b="1" dirty="0">
                <a:solidFill>
                  <a:srgbClr val="0F172A"/>
                </a:solidFill>
                <a:latin typeface="Arial" pitchFamily="34" charset="0"/>
                <a:ea typeface="Arial" pitchFamily="34" charset="-122"/>
                <a:cs typeface="Arial" pitchFamily="34" charset="-120"/>
              </a:rPr>
              <a:t>L4 Wire Protocol: Hop 1 Spoofed Header Stripping &amp; Signed STS JWT Context</a:t>
            </a:r>
            <a:endParaRPr lang="en-US" sz="1750" dirty="0"/>
          </a:p>
        </p:txBody>
      </p:sp>
      <p:sp>
        <p:nvSpPr>
          <p:cNvPr id="15" name="Text 13"/>
          <p:cNvSpPr/>
          <p:nvPr/>
        </p:nvSpPr>
        <p:spPr>
          <a:xfrm>
            <a:off x="576072" y="658368"/>
            <a:ext cx="11176711" cy="192024"/>
          </a:xfrm>
          <a:prstGeom prst="rect">
            <a:avLst/>
          </a:prstGeom>
          <a:noFill/>
          <a:ln/>
        </p:spPr>
        <p:txBody>
          <a:bodyPr wrap="square" lIns="0" tIns="0" rIns="0" bIns="0" rtlCol="0" anchor="ctr"/>
          <a:lstStyle/>
          <a:p>
            <a:pPr algn="l" indent="0" marL="0">
              <a:lnSpc>
                <a:spcPct val="104000"/>
              </a:lnSpc>
              <a:buNone/>
            </a:pPr>
            <a:r>
              <a:rPr lang="en-US" sz="900" dirty="0">
                <a:solidFill>
                  <a:srgbClr val="64748B"/>
                </a:solidFill>
                <a:latin typeface="Arial" pitchFamily="34" charset="0"/>
                <a:ea typeface="Arial" pitchFamily="34" charset="-122"/>
                <a:cs typeface="Arial" pitchFamily="34" charset="-120"/>
              </a:rPr>
              <a:t>Wire-level protocol normalization: an untrusted ingress payload is stripped at Hop 1 and exits as a KMS-signed STS JWT verified locally via cached JWKS in &lt;0.15ms (0 per-hop KMS network calls).</a:t>
            </a:r>
            <a:endParaRPr lang="en-US" sz="900" dirty="0"/>
          </a:p>
        </p:txBody>
      </p:sp>
      <p:sp>
        <p:nvSpPr>
          <p:cNvPr id="16" name="Shape 14"/>
          <p:cNvSpPr/>
          <p:nvPr/>
        </p:nvSpPr>
        <p:spPr>
          <a:xfrm>
            <a:off x="438912" y="914400"/>
            <a:ext cx="11313871" cy="0"/>
          </a:xfrm>
          <a:prstGeom prst="line">
            <a:avLst/>
          </a:prstGeom>
          <a:noFill/>
          <a:ln w="10795">
            <a:solidFill>
              <a:srgbClr val="E2E8F0"/>
            </a:solidFill>
            <a:prstDash val="solid"/>
          </a:ln>
        </p:spPr>
      </p:sp>
      <p:sp>
        <p:nvSpPr>
          <p:cNvPr id="17" name="Shape 15"/>
          <p:cNvSpPr/>
          <p:nvPr/>
        </p:nvSpPr>
        <p:spPr>
          <a:xfrm>
            <a:off x="438912" y="6455664"/>
            <a:ext cx="11313871" cy="0"/>
          </a:xfrm>
          <a:prstGeom prst="line">
            <a:avLst/>
          </a:prstGeom>
          <a:noFill/>
          <a:ln w="9525">
            <a:solidFill>
              <a:srgbClr val="E2E8F0"/>
            </a:solidFill>
            <a:prstDash val="solid"/>
          </a:ln>
        </p:spPr>
      </p:sp>
      <p:sp>
        <p:nvSpPr>
          <p:cNvPr id="18" name="Text 16"/>
          <p:cNvSpPr/>
          <p:nvPr/>
        </p:nvSpPr>
        <p:spPr>
          <a:xfrm>
            <a:off x="438912" y="6501384"/>
            <a:ext cx="5852160" cy="192024"/>
          </a:xfrm>
          <a:prstGeom prst="rect">
            <a:avLst/>
          </a:prstGeom>
          <a:noFill/>
          <a:ln/>
        </p:spPr>
        <p:txBody>
          <a:bodyPr wrap="square" lIns="0" tIns="0" rIns="0" bIns="0" rtlCol="0" anchor="ctr"/>
          <a:lstStyle/>
          <a:p>
            <a:pPr algn="l" indent="0" marL="0">
              <a:lnSpc>
                <a:spcPct val="105000"/>
              </a:lnSpc>
              <a:buNone/>
            </a:pPr>
            <a:r>
              <a:rPr lang="en-US" sz="680" b="1" spc="40" kern="0" dirty="0">
                <a:solidFill>
                  <a:srgbClr val="64748B"/>
                </a:solidFill>
                <a:latin typeface="Arial" pitchFamily="34" charset="0"/>
                <a:ea typeface="Arial" pitchFamily="34" charset="-122"/>
                <a:cs typeface="Arial" pitchFamily="34" charset="-120"/>
              </a:rPr>
              <a:t>GOOGLE CLOUD AI ARCHITECTURE  •  BLOG 1: MULTI-TENANT AGENTIC AI TAXONOMY &amp; 5-HOP BASELINE</a:t>
            </a:r>
            <a:endParaRPr lang="en-US" sz="680" dirty="0"/>
          </a:p>
        </p:txBody>
      </p:sp>
      <p:sp>
        <p:nvSpPr>
          <p:cNvPr id="19" name="Text 17"/>
          <p:cNvSpPr/>
          <p:nvPr/>
        </p:nvSpPr>
        <p:spPr>
          <a:xfrm>
            <a:off x="6355080" y="6501384"/>
            <a:ext cx="4206240" cy="192024"/>
          </a:xfrm>
          <a:prstGeom prst="rect">
            <a:avLst/>
          </a:prstGeom>
          <a:noFill/>
          <a:ln/>
        </p:spPr>
        <p:txBody>
          <a:bodyPr wrap="square" lIns="0" tIns="0" rIns="0" bIns="0" rtlCol="0" anchor="ctr"/>
          <a:lstStyle/>
          <a:p>
            <a:pPr algn="r" indent="0" marL="0">
              <a:lnSpc>
                <a:spcPct val="105000"/>
              </a:lnSpc>
              <a:buNone/>
            </a:pPr>
            <a:r>
              <a:rPr lang="en-US" sz="680" dirty="0">
                <a:solidFill>
                  <a:srgbClr val="64748B"/>
                </a:solidFill>
                <a:latin typeface="Arial" pitchFamily="34" charset="0"/>
                <a:ea typeface="Arial" pitchFamily="34" charset="-122"/>
                <a:cs typeface="Arial" pitchFamily="34" charset="-120"/>
              </a:rPr>
              <a:t>Workstream 1 L4 Wire Packet  •  Cloud Armor Strip → RFC 8693 OBO + DPoP → KMS ECDSA P-256</a:t>
            </a:r>
            <a:endParaRPr lang="en-US" sz="680" dirty="0"/>
          </a:p>
        </p:txBody>
      </p:sp>
      <p:sp>
        <p:nvSpPr>
          <p:cNvPr id="20" name="Shape 18"/>
          <p:cNvSpPr/>
          <p:nvPr/>
        </p:nvSpPr>
        <p:spPr>
          <a:xfrm>
            <a:off x="11002975" y="6501384"/>
            <a:ext cx="749808" cy="192024"/>
          </a:xfrm>
          <a:prstGeom prst="roundRect">
            <a:avLst>
              <a:gd name="adj" fmla="val 19048"/>
            </a:avLst>
          </a:prstGeom>
          <a:solidFill>
            <a:srgbClr val="F1F5F9"/>
          </a:solidFill>
          <a:ln w="7620">
            <a:solidFill>
              <a:srgbClr val="E2E8F0"/>
            </a:solidFill>
            <a:prstDash val="solid"/>
          </a:ln>
        </p:spPr>
      </p:sp>
      <p:sp>
        <p:nvSpPr>
          <p:cNvPr id="21" name="Text 19"/>
          <p:cNvSpPr/>
          <p:nvPr/>
        </p:nvSpPr>
        <p:spPr>
          <a:xfrm>
            <a:off x="11002975" y="6501384"/>
            <a:ext cx="749808" cy="192024"/>
          </a:xfrm>
          <a:prstGeom prst="rect">
            <a:avLst/>
          </a:prstGeom>
          <a:noFill/>
          <a:ln/>
        </p:spPr>
        <p:txBody>
          <a:bodyPr wrap="square" lIns="0" tIns="0" rIns="0" bIns="0" rtlCol="0" anchor="ctr"/>
          <a:lstStyle/>
          <a:p>
            <a:pPr algn="ctr" indent="0" marL="0">
              <a:lnSpc>
                <a:spcPct val="105000"/>
              </a:lnSpc>
              <a:buNone/>
            </a:pPr>
            <a:r>
              <a:rPr lang="en-US" sz="700" b="1" dirty="0">
                <a:solidFill>
                  <a:srgbClr val="334155"/>
                </a:solidFill>
                <a:latin typeface="Arial" pitchFamily="34" charset="0"/>
                <a:ea typeface="Arial" pitchFamily="34" charset="-122"/>
                <a:cs typeface="Arial" pitchFamily="34" charset="-120"/>
              </a:rPr>
              <a:t>13 / 23</a:t>
            </a:r>
            <a:endParaRPr lang="en-US" sz="700" dirty="0"/>
          </a:p>
        </p:txBody>
      </p:sp>
      <p:sp>
        <p:nvSpPr>
          <p:cNvPr id="22" name="Shape 20"/>
          <p:cNvSpPr/>
          <p:nvPr/>
        </p:nvSpPr>
        <p:spPr>
          <a:xfrm>
            <a:off x="512064" y="1042416"/>
            <a:ext cx="3310128" cy="4773168"/>
          </a:xfrm>
          <a:prstGeom prst="roundRect">
            <a:avLst>
              <a:gd name="adj" fmla="val 2210"/>
            </a:avLst>
          </a:prstGeom>
          <a:solidFill>
            <a:srgbClr val="FFFFFF"/>
          </a:solidFill>
          <a:ln w="22225">
            <a:solidFill>
              <a:srgbClr val="D93025"/>
            </a:solidFill>
            <a:prstDash val="solid"/>
          </a:ln>
        </p:spPr>
      </p:sp>
      <p:sp>
        <p:nvSpPr>
          <p:cNvPr id="23" name="Text 21"/>
          <p:cNvSpPr/>
          <p:nvPr/>
        </p:nvSpPr>
        <p:spPr>
          <a:xfrm>
            <a:off x="694944" y="1207008"/>
            <a:ext cx="2944368" cy="658368"/>
          </a:xfrm>
          <a:prstGeom prst="rect">
            <a:avLst/>
          </a:prstGeom>
          <a:noFill/>
          <a:ln/>
        </p:spPr>
        <p:txBody>
          <a:bodyPr wrap="square" lIns="0" tIns="0" rIns="0" bIns="0" rtlCol="0" anchor="ctr"/>
          <a:lstStyle/>
          <a:p>
            <a:pPr algn="ctr" indent="0" marL="0">
              <a:lnSpc>
                <a:spcPct val="106000"/>
              </a:lnSpc>
              <a:buNone/>
            </a:pPr>
            <a:r>
              <a:rPr lang="en-US" sz="1550" b="1" dirty="0">
                <a:solidFill>
                  <a:srgbClr val="1E293B"/>
                </a:solidFill>
                <a:latin typeface="Arial" pitchFamily="34" charset="0"/>
                <a:ea typeface="Arial" pitchFamily="34" charset="-122"/>
                <a:cs typeface="Arial" pitchFamily="34" charset="-120"/>
              </a:rPr>
              <a:t>Untrusted Caller</a:t>
            </a:r>
            <a:endParaRPr lang="en-US" sz="1550" dirty="0"/>
          </a:p>
          <a:p>
            <a:pPr algn="ctr" indent="0" marL="0">
              <a:lnSpc>
                <a:spcPct val="106000"/>
              </a:lnSpc>
              <a:buNone/>
            </a:pPr>
            <a:r>
              <a:rPr lang="en-US" sz="1550" b="1" dirty="0">
                <a:solidFill>
                  <a:srgbClr val="1E293B"/>
                </a:solidFill>
                <a:latin typeface="Arial" pitchFamily="34" charset="0"/>
                <a:ea typeface="Arial" pitchFamily="34" charset="-122"/>
                <a:cs typeface="Arial" pitchFamily="34" charset="-120"/>
              </a:rPr>
              <a:t>Ingress Request</a:t>
            </a:r>
            <a:endParaRPr lang="en-US" sz="1550" dirty="0"/>
          </a:p>
        </p:txBody>
      </p:sp>
      <p:sp>
        <p:nvSpPr>
          <p:cNvPr id="24" name="Shape 22"/>
          <p:cNvSpPr/>
          <p:nvPr/>
        </p:nvSpPr>
        <p:spPr>
          <a:xfrm>
            <a:off x="786384" y="1975104"/>
            <a:ext cx="2761488" cy="0"/>
          </a:xfrm>
          <a:prstGeom prst="line">
            <a:avLst/>
          </a:prstGeom>
          <a:noFill/>
          <a:ln w="19050">
            <a:solidFill>
              <a:srgbClr val="D93025"/>
            </a:solidFill>
            <a:prstDash val="solid"/>
          </a:ln>
        </p:spPr>
      </p:sp>
      <p:sp>
        <p:nvSpPr>
          <p:cNvPr id="25" name="Text 23"/>
          <p:cNvSpPr/>
          <p:nvPr/>
        </p:nvSpPr>
        <p:spPr>
          <a:xfrm>
            <a:off x="786384" y="2103120"/>
            <a:ext cx="457200" cy="256032"/>
          </a:xfrm>
          <a:prstGeom prst="rect">
            <a:avLst/>
          </a:prstGeom>
          <a:noFill/>
          <a:ln/>
        </p:spPr>
        <p:txBody>
          <a:bodyPr wrap="square" lIns="0" tIns="0" rIns="0" bIns="0" rtlCol="0" anchor="ctr"/>
          <a:lstStyle/>
          <a:p>
            <a:pPr indent="0" marL="0">
              <a:buNone/>
            </a:pPr>
            <a:r>
              <a:rPr lang="en-US" sz="1250" b="1" dirty="0">
                <a:solidFill>
                  <a:srgbClr val="1E293B"/>
                </a:solidFill>
                <a:latin typeface="Courier New" pitchFamily="34" charset="0"/>
                <a:ea typeface="Courier New" pitchFamily="34" charset="-122"/>
                <a:cs typeface="Courier New" pitchFamily="34" charset="-120"/>
              </a:rPr>
              <a:t>{</a:t>
            </a:r>
            <a:endParaRPr lang="en-US" sz="1250" dirty="0"/>
          </a:p>
        </p:txBody>
      </p:sp>
      <p:sp>
        <p:nvSpPr>
          <p:cNvPr id="26" name="Shape 24"/>
          <p:cNvSpPr/>
          <p:nvPr/>
        </p:nvSpPr>
        <p:spPr>
          <a:xfrm>
            <a:off x="914400" y="2395728"/>
            <a:ext cx="2615184" cy="384048"/>
          </a:xfrm>
          <a:prstGeom prst="roundRect">
            <a:avLst>
              <a:gd name="adj" fmla="val 9524"/>
            </a:avLst>
          </a:prstGeom>
          <a:solidFill>
            <a:srgbClr val="D2E3FC"/>
          </a:solidFill>
          <a:ln/>
        </p:spPr>
      </p:sp>
      <p:sp>
        <p:nvSpPr>
          <p:cNvPr id="27" name="Text 25"/>
          <p:cNvSpPr/>
          <p:nvPr/>
        </p:nvSpPr>
        <p:spPr>
          <a:xfrm>
            <a:off x="969264" y="2395728"/>
            <a:ext cx="2505456" cy="384048"/>
          </a:xfrm>
          <a:prstGeom prst="rect">
            <a:avLst/>
          </a:prstGeom>
          <a:noFill/>
          <a:ln/>
        </p:spPr>
        <p:txBody>
          <a:bodyPr wrap="square" lIns="0" tIns="0" rIns="0" bIns="0" rtlCol="0" anchor="ctr"/>
          <a:lstStyle/>
          <a:p>
            <a:pPr indent="0" marL="0">
              <a:buNone/>
            </a:pPr>
            <a:r>
              <a:rPr lang="en-US" sz="980" b="1" dirty="0">
                <a:solidFill>
                  <a:srgbClr val="1E293B"/>
                </a:solidFill>
                <a:latin typeface="Courier New" pitchFamily="34" charset="0"/>
                <a:ea typeface="Courier New" pitchFamily="34" charset="-122"/>
                <a:cs typeface="Courier New" pitchFamily="34" charset="-120"/>
              </a:rPr>
              <a:t>"Authorization": "Bearer &lt;jwt&gt;"</a:t>
            </a:r>
            <a:endParaRPr lang="en-US" sz="980" dirty="0"/>
          </a:p>
        </p:txBody>
      </p:sp>
      <p:sp>
        <p:nvSpPr>
          <p:cNvPr id="28" name="Text 26"/>
          <p:cNvSpPr/>
          <p:nvPr/>
        </p:nvSpPr>
        <p:spPr>
          <a:xfrm>
            <a:off x="914400" y="2852928"/>
            <a:ext cx="2560320" cy="274320"/>
          </a:xfrm>
          <a:prstGeom prst="rect">
            <a:avLst/>
          </a:prstGeom>
          <a:noFill/>
          <a:ln/>
        </p:spPr>
        <p:txBody>
          <a:bodyPr wrap="square" lIns="0" tIns="0" rIns="0" bIns="0" rtlCol="0" anchor="ctr"/>
          <a:lstStyle/>
          <a:p>
            <a:pPr indent="0" marL="0">
              <a:buNone/>
            </a:pPr>
            <a:r>
              <a:rPr lang="en-US" sz="1050" dirty="0">
                <a:solidFill>
                  <a:srgbClr val="1E293B"/>
                </a:solidFill>
                <a:latin typeface="Courier New" pitchFamily="34" charset="0"/>
                <a:ea typeface="Courier New" pitchFamily="34" charset="-122"/>
                <a:cs typeface="Courier New" pitchFamily="34" charset="-120"/>
              </a:rPr>
              <a:t>"client_headers" : [</a:t>
            </a:r>
            <a:endParaRPr lang="en-US" sz="1050" dirty="0"/>
          </a:p>
        </p:txBody>
      </p:sp>
      <p:sp>
        <p:nvSpPr>
          <p:cNvPr id="29" name="Shape 27"/>
          <p:cNvSpPr/>
          <p:nvPr/>
        </p:nvSpPr>
        <p:spPr>
          <a:xfrm>
            <a:off x="914400" y="3182112"/>
            <a:ext cx="2615184" cy="384048"/>
          </a:xfrm>
          <a:prstGeom prst="roundRect">
            <a:avLst>
              <a:gd name="adj" fmla="val 9524"/>
            </a:avLst>
          </a:prstGeom>
          <a:solidFill>
            <a:srgbClr val="FAD2CF"/>
          </a:solidFill>
          <a:ln/>
        </p:spPr>
      </p:sp>
      <p:sp>
        <p:nvSpPr>
          <p:cNvPr id="30" name="Text 28"/>
          <p:cNvSpPr/>
          <p:nvPr/>
        </p:nvSpPr>
        <p:spPr>
          <a:xfrm>
            <a:off x="969264" y="3182112"/>
            <a:ext cx="2505456" cy="384048"/>
          </a:xfrm>
          <a:prstGeom prst="rect">
            <a:avLst/>
          </a:prstGeom>
          <a:noFill/>
          <a:ln/>
        </p:spPr>
        <p:txBody>
          <a:bodyPr wrap="square" lIns="0" tIns="0" rIns="0" bIns="0" rtlCol="0" anchor="ctr"/>
          <a:lstStyle/>
          <a:p>
            <a:pPr indent="0" marL="0">
              <a:buNone/>
            </a:pPr>
            <a:r>
              <a:rPr lang="en-US" sz="980" b="1" dirty="0">
                <a:solidFill>
                  <a:srgbClr val="1E293B"/>
                </a:solidFill>
                <a:latin typeface="Courier New" pitchFamily="34" charset="0"/>
                <a:ea typeface="Courier New" pitchFamily="34" charset="-122"/>
                <a:cs typeface="Courier New" pitchFamily="34" charset="-120"/>
              </a:rPr>
              <a:t>"X-Tenant-Id: finvault" ,</a:t>
            </a:r>
            <a:endParaRPr lang="en-US" sz="980" dirty="0"/>
          </a:p>
        </p:txBody>
      </p:sp>
      <p:sp>
        <p:nvSpPr>
          <p:cNvPr id="31" name="Text 29"/>
          <p:cNvSpPr/>
          <p:nvPr/>
        </p:nvSpPr>
        <p:spPr>
          <a:xfrm>
            <a:off x="914400" y="3621024"/>
            <a:ext cx="2560320" cy="475488"/>
          </a:xfrm>
          <a:prstGeom prst="rect">
            <a:avLst/>
          </a:prstGeom>
          <a:noFill/>
          <a:ln/>
        </p:spPr>
        <p:txBody>
          <a:bodyPr wrap="square" lIns="0" tIns="0" rIns="0" bIns="0" rtlCol="0" anchor="ctr"/>
          <a:lstStyle/>
          <a:p>
            <a:pPr indent="0" marL="0">
              <a:lnSpc>
                <a:spcPct val="106000"/>
              </a:lnSpc>
              <a:buNone/>
            </a:pPr>
            <a:r>
              <a:rPr lang="en-US" sz="1050" dirty="0">
                <a:solidFill>
                  <a:srgbClr val="1E293B"/>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1E293B"/>
                </a:solidFill>
                <a:latin typeface="Courier New" pitchFamily="34" charset="0"/>
                <a:ea typeface="Courier New" pitchFamily="34" charset="-122"/>
                <a:cs typeface="Courier New" pitchFamily="34" charset="-120"/>
              </a:rPr>
              <a:t>"override_attempt" : [</a:t>
            </a:r>
            <a:endParaRPr lang="en-US" sz="1050" dirty="0"/>
          </a:p>
        </p:txBody>
      </p:sp>
      <p:sp>
        <p:nvSpPr>
          <p:cNvPr id="32" name="Shape 30"/>
          <p:cNvSpPr/>
          <p:nvPr/>
        </p:nvSpPr>
        <p:spPr>
          <a:xfrm>
            <a:off x="914400" y="4169664"/>
            <a:ext cx="2615184" cy="384048"/>
          </a:xfrm>
          <a:prstGeom prst="roundRect">
            <a:avLst>
              <a:gd name="adj" fmla="val 9524"/>
            </a:avLst>
          </a:prstGeom>
          <a:solidFill>
            <a:srgbClr val="EA4335"/>
          </a:solidFill>
          <a:ln/>
        </p:spPr>
      </p:sp>
      <p:sp>
        <p:nvSpPr>
          <p:cNvPr id="33" name="Text 31"/>
          <p:cNvSpPr/>
          <p:nvPr/>
        </p:nvSpPr>
        <p:spPr>
          <a:xfrm>
            <a:off x="969264" y="4169664"/>
            <a:ext cx="2505456" cy="384048"/>
          </a:xfrm>
          <a:prstGeom prst="rect">
            <a:avLst/>
          </a:prstGeom>
          <a:noFill/>
          <a:ln/>
        </p:spPr>
        <p:txBody>
          <a:bodyPr wrap="square" lIns="0" tIns="0" rIns="0" bIns="0" rtlCol="0" anchor="ctr"/>
          <a:lstStyle/>
          <a:p>
            <a:pPr indent="0" marL="0">
              <a:buNone/>
            </a:pPr>
            <a:r>
              <a:rPr lang="en-US" sz="980" b="1" dirty="0">
                <a:solidFill>
                  <a:srgbClr val="FFFFFF"/>
                </a:solidFill>
                <a:latin typeface="Courier New" pitchFamily="34" charset="0"/>
                <a:ea typeface="Courier New" pitchFamily="34" charset="-122"/>
                <a:cs typeface="Courier New" pitchFamily="34" charset="-120"/>
              </a:rPr>
              <a:t>&lt;spoofed tenant header&gt;</a:t>
            </a:r>
            <a:endParaRPr lang="en-US" sz="980" dirty="0"/>
          </a:p>
        </p:txBody>
      </p:sp>
      <p:sp>
        <p:nvSpPr>
          <p:cNvPr id="34" name="Text 32"/>
          <p:cNvSpPr/>
          <p:nvPr/>
        </p:nvSpPr>
        <p:spPr>
          <a:xfrm>
            <a:off x="786384" y="4626864"/>
            <a:ext cx="1371600" cy="530352"/>
          </a:xfrm>
          <a:prstGeom prst="rect">
            <a:avLst/>
          </a:prstGeom>
          <a:noFill/>
          <a:ln/>
        </p:spPr>
        <p:txBody>
          <a:bodyPr wrap="square" lIns="0" tIns="0" rIns="0" bIns="0" rtlCol="0" anchor="ctr"/>
          <a:lstStyle/>
          <a:p>
            <a:pPr indent="0" marL="0">
              <a:lnSpc>
                <a:spcPct val="106000"/>
              </a:lnSpc>
              <a:buNone/>
            </a:pPr>
            <a:r>
              <a:rPr lang="en-US" sz="1150" b="1" dirty="0">
                <a:solidFill>
                  <a:srgbClr val="1E293B"/>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b="1" dirty="0">
                <a:solidFill>
                  <a:srgbClr val="1E293B"/>
                </a:solidFill>
                <a:latin typeface="Courier New" pitchFamily="34" charset="0"/>
                <a:ea typeface="Courier New" pitchFamily="34" charset="-122"/>
                <a:cs typeface="Courier New" pitchFamily="34" charset="-120"/>
              </a:rPr>
              <a:t>}</a:t>
            </a:r>
            <a:endParaRPr lang="en-US" sz="1150" dirty="0"/>
          </a:p>
        </p:txBody>
      </p:sp>
      <p:sp>
        <p:nvSpPr>
          <p:cNvPr id="35" name="Shape 33"/>
          <p:cNvSpPr/>
          <p:nvPr/>
        </p:nvSpPr>
        <p:spPr>
          <a:xfrm>
            <a:off x="786384" y="5303520"/>
            <a:ext cx="2761488" cy="347472"/>
          </a:xfrm>
          <a:prstGeom prst="roundRect">
            <a:avLst>
              <a:gd name="adj" fmla="val 13158"/>
            </a:avLst>
          </a:prstGeom>
          <a:solidFill>
            <a:srgbClr val="FCE8E6"/>
          </a:solidFill>
          <a:ln w="10160">
            <a:solidFill>
              <a:srgbClr val="D93025"/>
            </a:solidFill>
            <a:prstDash val="solid"/>
          </a:ln>
        </p:spPr>
      </p:sp>
      <p:sp>
        <p:nvSpPr>
          <p:cNvPr id="36" name="Text 34"/>
          <p:cNvSpPr/>
          <p:nvPr/>
        </p:nvSpPr>
        <p:spPr>
          <a:xfrm>
            <a:off x="841248" y="5303520"/>
            <a:ext cx="2651760" cy="347472"/>
          </a:xfrm>
          <a:prstGeom prst="rect">
            <a:avLst/>
          </a:prstGeom>
          <a:noFill/>
          <a:ln/>
        </p:spPr>
        <p:txBody>
          <a:bodyPr wrap="square" lIns="0" tIns="0" rIns="0" bIns="0" rtlCol="0" anchor="ctr"/>
          <a:lstStyle/>
          <a:p>
            <a:pPr algn="ctr" indent="0" marL="0">
              <a:buNone/>
            </a:pPr>
            <a:r>
              <a:rPr lang="en-US" sz="840" b="1" dirty="0">
                <a:solidFill>
                  <a:srgbClr val="B31412"/>
                </a:solidFill>
                <a:latin typeface="Arial" pitchFamily="34" charset="0"/>
                <a:ea typeface="Arial" pitchFamily="34" charset="-122"/>
                <a:cs typeface="Arial" pitchFamily="34" charset="-120"/>
              </a:rPr>
              <a:t>✕ Unverified Client Claims • Blocked at Edge</a:t>
            </a:r>
            <a:endParaRPr lang="en-US" sz="840" dirty="0"/>
          </a:p>
        </p:txBody>
      </p:sp>
      <p:sp>
        <p:nvSpPr>
          <p:cNvPr id="37" name="Shape 35"/>
          <p:cNvSpPr/>
          <p:nvPr/>
        </p:nvSpPr>
        <p:spPr>
          <a:xfrm>
            <a:off x="3950208" y="3429000"/>
            <a:ext cx="548640" cy="0"/>
          </a:xfrm>
          <a:prstGeom prst="line">
            <a:avLst/>
          </a:prstGeom>
          <a:noFill/>
          <a:ln w="28575">
            <a:solidFill>
              <a:srgbClr val="EA4335"/>
            </a:solidFill>
            <a:prstDash val="solid"/>
            <a:tailEnd type="triangle" w="sm" len="sm"/>
          </a:ln>
        </p:spPr>
      </p:sp>
      <p:sp>
        <p:nvSpPr>
          <p:cNvPr id="38" name="Shape 36"/>
          <p:cNvSpPr/>
          <p:nvPr/>
        </p:nvSpPr>
        <p:spPr>
          <a:xfrm>
            <a:off x="4626864" y="1042416"/>
            <a:ext cx="3182112" cy="4773168"/>
          </a:xfrm>
          <a:prstGeom prst="roundRect">
            <a:avLst>
              <a:gd name="adj" fmla="val 2299"/>
            </a:avLst>
          </a:prstGeom>
          <a:solidFill>
            <a:srgbClr val="1B5E7B"/>
          </a:solidFill>
          <a:ln w="19050">
            <a:solidFill>
              <a:srgbClr val="0D7377"/>
            </a:solidFill>
            <a:prstDash val="solid"/>
          </a:ln>
        </p:spPr>
      </p:sp>
      <p:sp>
        <p:nvSpPr>
          <p:cNvPr id="39" name="Text 37"/>
          <p:cNvSpPr/>
          <p:nvPr/>
        </p:nvSpPr>
        <p:spPr>
          <a:xfrm>
            <a:off x="4754880" y="1207008"/>
            <a:ext cx="2926080" cy="658368"/>
          </a:xfrm>
          <a:prstGeom prst="rect">
            <a:avLst/>
          </a:prstGeom>
          <a:noFill/>
          <a:ln/>
        </p:spPr>
        <p:txBody>
          <a:bodyPr wrap="square" lIns="0" tIns="0" rIns="0" bIns="0" rtlCol="0" anchor="ctr"/>
          <a:lstStyle/>
          <a:p>
            <a:pPr algn="ctr" indent="0" marL="0">
              <a:lnSpc>
                <a:spcPct val="106000"/>
              </a:lnSpc>
              <a:buNone/>
            </a:pPr>
            <a:r>
              <a:rPr lang="en-US" sz="1550" b="1" dirty="0">
                <a:solidFill>
                  <a:srgbClr val="FFFFFF"/>
                </a:solidFill>
                <a:latin typeface="Arial" pitchFamily="34" charset="0"/>
                <a:ea typeface="Arial" pitchFamily="34" charset="-122"/>
                <a:cs typeface="Arial" pitchFamily="34" charset="-120"/>
              </a:rPr>
              <a:t>Hop 1 IAM STS &amp;</a:t>
            </a:r>
            <a:endParaRPr lang="en-US" sz="1550" dirty="0"/>
          </a:p>
          <a:p>
            <a:pPr algn="ctr" indent="0" marL="0">
              <a:lnSpc>
                <a:spcPct val="106000"/>
              </a:lnSpc>
              <a:buNone/>
            </a:pPr>
            <a:r>
              <a:rPr lang="en-US" sz="1550" b="1" dirty="0">
                <a:solidFill>
                  <a:srgbClr val="FFFFFF"/>
                </a:solidFill>
                <a:latin typeface="Arial" pitchFamily="34" charset="0"/>
                <a:ea typeface="Arial" pitchFamily="34" charset="-122"/>
                <a:cs typeface="Arial" pitchFamily="34" charset="-120"/>
              </a:rPr>
              <a:t>DPoP Security Gate</a:t>
            </a:r>
            <a:endParaRPr lang="en-US" sz="1550" dirty="0"/>
          </a:p>
        </p:txBody>
      </p:sp>
      <p:sp>
        <p:nvSpPr>
          <p:cNvPr id="40" name="Shape 38"/>
          <p:cNvSpPr/>
          <p:nvPr/>
        </p:nvSpPr>
        <p:spPr>
          <a:xfrm>
            <a:off x="4864608" y="2048256"/>
            <a:ext cx="2706624" cy="3438144"/>
          </a:xfrm>
          <a:prstGeom prst="roundRect">
            <a:avLst>
              <a:gd name="adj" fmla="val 2027"/>
            </a:avLst>
          </a:prstGeom>
          <a:solidFill>
            <a:srgbClr val="3A748E"/>
          </a:solidFill>
          <a:ln/>
        </p:spPr>
      </p:sp>
      <p:sp>
        <p:nvSpPr>
          <p:cNvPr id="41" name="Shape 39"/>
          <p:cNvSpPr/>
          <p:nvPr/>
        </p:nvSpPr>
        <p:spPr>
          <a:xfrm>
            <a:off x="4992624" y="2267712"/>
            <a:ext cx="2450592" cy="768096"/>
          </a:xfrm>
          <a:prstGeom prst="roundRect">
            <a:avLst>
              <a:gd name="adj" fmla="val 5952"/>
            </a:avLst>
          </a:prstGeom>
          <a:solidFill>
            <a:srgbClr val="0B1F3A"/>
          </a:solidFill>
          <a:ln w="9525">
            <a:solidFill>
              <a:srgbClr val="FFFFFF"/>
            </a:solidFill>
            <a:prstDash val="solid"/>
          </a:ln>
        </p:spPr>
      </p:sp>
      <p:sp>
        <p:nvSpPr>
          <p:cNvPr id="42" name="Text 40"/>
          <p:cNvSpPr/>
          <p:nvPr/>
        </p:nvSpPr>
        <p:spPr>
          <a:xfrm>
            <a:off x="5047488" y="2304288"/>
            <a:ext cx="2340864" cy="694944"/>
          </a:xfrm>
          <a:prstGeom prst="rect">
            <a:avLst/>
          </a:prstGeom>
          <a:noFill/>
          <a:ln/>
        </p:spPr>
        <p:txBody>
          <a:bodyPr wrap="square" lIns="0" tIns="0" rIns="0" bIns="0" rtlCol="0" anchor="ctr"/>
          <a:lstStyle/>
          <a:p>
            <a:pPr algn="ctr" indent="0" marL="0">
              <a:lnSpc>
                <a:spcPct val="106000"/>
              </a:lnSpc>
              <a:buNone/>
            </a:pPr>
            <a:r>
              <a:rPr lang="en-US" sz="1080" b="1" dirty="0">
                <a:solidFill>
                  <a:srgbClr val="FFFFFF"/>
                </a:solidFill>
                <a:latin typeface="Arial" pitchFamily="34" charset="0"/>
                <a:ea typeface="Arial" pitchFamily="34" charset="-122"/>
                <a:cs typeface="Arial" pitchFamily="34" charset="-120"/>
              </a:rPr>
              <a:t>STAGE 01</a:t>
            </a:r>
            <a:endParaRPr lang="en-US" sz="1080" dirty="0"/>
          </a:p>
          <a:p>
            <a:pPr algn="ctr" indent="0" marL="0">
              <a:lnSpc>
                <a:spcPct val="106000"/>
              </a:lnSpc>
              <a:buNone/>
            </a:pPr>
            <a:r>
              <a:rPr lang="en-US" sz="1080" b="1" dirty="0">
                <a:solidFill>
                  <a:srgbClr val="FFFFFF"/>
                </a:solidFill>
                <a:latin typeface="Arial" pitchFamily="34" charset="0"/>
                <a:ea typeface="Arial" pitchFamily="34" charset="-122"/>
                <a:cs typeface="Arial" pitchFamily="34" charset="-120"/>
              </a:rPr>
              <a:t>Cloud Armor Header Strip</a:t>
            </a:r>
            <a:endParaRPr lang="en-US" sz="1080" dirty="0"/>
          </a:p>
        </p:txBody>
      </p:sp>
      <p:sp>
        <p:nvSpPr>
          <p:cNvPr id="43" name="Shape 41"/>
          <p:cNvSpPr/>
          <p:nvPr/>
        </p:nvSpPr>
        <p:spPr>
          <a:xfrm>
            <a:off x="4992624" y="3310128"/>
            <a:ext cx="2450592" cy="768096"/>
          </a:xfrm>
          <a:prstGeom prst="roundRect">
            <a:avLst>
              <a:gd name="adj" fmla="val 5952"/>
            </a:avLst>
          </a:prstGeom>
          <a:solidFill>
            <a:srgbClr val="0B1F3A"/>
          </a:solidFill>
          <a:ln w="9525">
            <a:solidFill>
              <a:srgbClr val="FFFFFF"/>
            </a:solidFill>
            <a:prstDash val="solid"/>
          </a:ln>
        </p:spPr>
      </p:sp>
      <p:sp>
        <p:nvSpPr>
          <p:cNvPr id="44" name="Text 42"/>
          <p:cNvSpPr/>
          <p:nvPr/>
        </p:nvSpPr>
        <p:spPr>
          <a:xfrm>
            <a:off x="5047488" y="3346704"/>
            <a:ext cx="2340864" cy="694944"/>
          </a:xfrm>
          <a:prstGeom prst="rect">
            <a:avLst/>
          </a:prstGeom>
          <a:noFill/>
          <a:ln/>
        </p:spPr>
        <p:txBody>
          <a:bodyPr wrap="square" lIns="0" tIns="0" rIns="0" bIns="0" rtlCol="0" anchor="ctr"/>
          <a:lstStyle/>
          <a:p>
            <a:pPr algn="ctr" indent="0" marL="0">
              <a:lnSpc>
                <a:spcPct val="106000"/>
              </a:lnSpc>
              <a:buNone/>
            </a:pPr>
            <a:r>
              <a:rPr lang="en-US" sz="1080" b="1" dirty="0">
                <a:solidFill>
                  <a:srgbClr val="FFFFFF"/>
                </a:solidFill>
                <a:latin typeface="Arial" pitchFamily="34" charset="0"/>
                <a:ea typeface="Arial" pitchFamily="34" charset="-122"/>
                <a:cs typeface="Arial" pitchFamily="34" charset="-120"/>
              </a:rPr>
              <a:t>STAGE 02</a:t>
            </a:r>
            <a:endParaRPr lang="en-US" sz="1080" dirty="0"/>
          </a:p>
          <a:p>
            <a:pPr algn="ctr" indent="0" marL="0">
              <a:lnSpc>
                <a:spcPct val="106000"/>
              </a:lnSpc>
              <a:buNone/>
            </a:pPr>
            <a:r>
              <a:rPr lang="en-US" sz="1080" b="1" dirty="0">
                <a:solidFill>
                  <a:srgbClr val="FFFFFF"/>
                </a:solidFill>
                <a:latin typeface="Arial" pitchFamily="34" charset="0"/>
                <a:ea typeface="Arial" pitchFamily="34" charset="-122"/>
                <a:cs typeface="Arial" pitchFamily="34" charset="-120"/>
              </a:rPr>
              <a:t>RFC 8693 OBO + DPoP JKT</a:t>
            </a:r>
            <a:endParaRPr lang="en-US" sz="1080" dirty="0"/>
          </a:p>
        </p:txBody>
      </p:sp>
      <p:sp>
        <p:nvSpPr>
          <p:cNvPr id="45" name="Shape 43"/>
          <p:cNvSpPr/>
          <p:nvPr/>
        </p:nvSpPr>
        <p:spPr>
          <a:xfrm>
            <a:off x="4992624" y="4352544"/>
            <a:ext cx="2450592" cy="768096"/>
          </a:xfrm>
          <a:prstGeom prst="roundRect">
            <a:avLst>
              <a:gd name="adj" fmla="val 5952"/>
            </a:avLst>
          </a:prstGeom>
          <a:solidFill>
            <a:srgbClr val="0B1F3A"/>
          </a:solidFill>
          <a:ln w="9525">
            <a:solidFill>
              <a:srgbClr val="FFFFFF"/>
            </a:solidFill>
            <a:prstDash val="solid"/>
          </a:ln>
        </p:spPr>
      </p:sp>
      <p:sp>
        <p:nvSpPr>
          <p:cNvPr id="46" name="Text 44"/>
          <p:cNvSpPr/>
          <p:nvPr/>
        </p:nvSpPr>
        <p:spPr>
          <a:xfrm>
            <a:off x="5047488" y="4389120"/>
            <a:ext cx="2340864" cy="694944"/>
          </a:xfrm>
          <a:prstGeom prst="rect">
            <a:avLst/>
          </a:prstGeom>
          <a:noFill/>
          <a:ln/>
        </p:spPr>
        <p:txBody>
          <a:bodyPr wrap="square" lIns="0" tIns="0" rIns="0" bIns="0" rtlCol="0" anchor="ctr"/>
          <a:lstStyle/>
          <a:p>
            <a:pPr algn="ctr" indent="0" marL="0">
              <a:lnSpc>
                <a:spcPct val="106000"/>
              </a:lnSpc>
              <a:buNone/>
            </a:pPr>
            <a:r>
              <a:rPr lang="en-US" sz="1080" b="1" dirty="0">
                <a:solidFill>
                  <a:srgbClr val="FFFFFF"/>
                </a:solidFill>
                <a:latin typeface="Arial" pitchFamily="34" charset="0"/>
                <a:ea typeface="Arial" pitchFamily="34" charset="-122"/>
                <a:cs typeface="Arial" pitchFamily="34" charset="-120"/>
              </a:rPr>
              <a:t>STAGE 03</a:t>
            </a:r>
            <a:endParaRPr lang="en-US" sz="1080" dirty="0"/>
          </a:p>
          <a:p>
            <a:pPr algn="ctr" indent="0" marL="0">
              <a:lnSpc>
                <a:spcPct val="106000"/>
              </a:lnSpc>
              <a:buNone/>
            </a:pPr>
            <a:r>
              <a:rPr lang="en-US" sz="1080" b="1" dirty="0">
                <a:solidFill>
                  <a:srgbClr val="FFFFFF"/>
                </a:solidFill>
                <a:latin typeface="Arial" pitchFamily="34" charset="0"/>
                <a:ea typeface="Arial" pitchFamily="34" charset="-122"/>
                <a:cs typeface="Arial" pitchFamily="34" charset="-120"/>
              </a:rPr>
              <a:t>KMS P-256 Sign (Cached JWKS)</a:t>
            </a:r>
            <a:endParaRPr lang="en-US" sz="1080" dirty="0"/>
          </a:p>
        </p:txBody>
      </p:sp>
      <p:sp>
        <p:nvSpPr>
          <p:cNvPr id="47" name="Shape 45"/>
          <p:cNvSpPr/>
          <p:nvPr/>
        </p:nvSpPr>
        <p:spPr>
          <a:xfrm>
            <a:off x="7936992" y="3429000"/>
            <a:ext cx="548640" cy="0"/>
          </a:xfrm>
          <a:prstGeom prst="line">
            <a:avLst/>
          </a:prstGeom>
          <a:noFill/>
          <a:ln w="28575">
            <a:solidFill>
              <a:srgbClr val="1B5E7B"/>
            </a:solidFill>
            <a:prstDash val="solid"/>
            <a:tailEnd type="triangle" w="sm" len="sm"/>
          </a:ln>
        </p:spPr>
      </p:sp>
      <p:sp>
        <p:nvSpPr>
          <p:cNvPr id="48" name="Shape 46"/>
          <p:cNvSpPr/>
          <p:nvPr/>
        </p:nvSpPr>
        <p:spPr>
          <a:xfrm>
            <a:off x="8613648" y="1042416"/>
            <a:ext cx="3063240" cy="4773168"/>
          </a:xfrm>
          <a:prstGeom prst="roundRect">
            <a:avLst>
              <a:gd name="adj" fmla="val 2388"/>
            </a:avLst>
          </a:prstGeom>
          <a:solidFill>
            <a:srgbClr val="FFFFFF"/>
          </a:solidFill>
          <a:ln w="22225">
            <a:solidFill>
              <a:srgbClr val="1E8E3E"/>
            </a:solidFill>
            <a:prstDash val="solid"/>
          </a:ln>
        </p:spPr>
      </p:sp>
      <p:sp>
        <p:nvSpPr>
          <p:cNvPr id="49" name="Text 47"/>
          <p:cNvSpPr/>
          <p:nvPr/>
        </p:nvSpPr>
        <p:spPr>
          <a:xfrm>
            <a:off x="8741664" y="1207008"/>
            <a:ext cx="2807208" cy="658368"/>
          </a:xfrm>
          <a:prstGeom prst="rect">
            <a:avLst/>
          </a:prstGeom>
          <a:noFill/>
          <a:ln/>
        </p:spPr>
        <p:txBody>
          <a:bodyPr wrap="square" lIns="0" tIns="0" rIns="0" bIns="0" rtlCol="0" anchor="ctr"/>
          <a:lstStyle/>
          <a:p>
            <a:pPr algn="ctr" indent="0" marL="0">
              <a:lnSpc>
                <a:spcPct val="106000"/>
              </a:lnSpc>
              <a:buNone/>
            </a:pPr>
            <a:r>
              <a:rPr lang="en-US" sz="1550" b="1" dirty="0">
                <a:solidFill>
                  <a:srgbClr val="1E293B"/>
                </a:solidFill>
                <a:latin typeface="Arial" pitchFamily="34" charset="0"/>
                <a:ea typeface="Arial" pitchFamily="34" charset="-122"/>
                <a:cs typeface="Arial" pitchFamily="34" charset="-120"/>
              </a:rPr>
              <a:t>Signed STS JWT</a:t>
            </a:r>
            <a:endParaRPr lang="en-US" sz="1550" dirty="0"/>
          </a:p>
          <a:p>
            <a:pPr algn="ctr" indent="0" marL="0">
              <a:lnSpc>
                <a:spcPct val="106000"/>
              </a:lnSpc>
              <a:buNone/>
            </a:pPr>
            <a:r>
              <a:rPr lang="en-US" sz="1550" b="1" dirty="0">
                <a:solidFill>
                  <a:srgbClr val="1E293B"/>
                </a:solidFill>
                <a:latin typeface="Arial" pitchFamily="34" charset="0"/>
                <a:ea typeface="Arial" pitchFamily="34" charset="-122"/>
                <a:cs typeface="Arial" pitchFamily="34" charset="-120"/>
              </a:rPr>
              <a:t>TenantContext</a:t>
            </a:r>
            <a:endParaRPr lang="en-US" sz="1550" dirty="0"/>
          </a:p>
        </p:txBody>
      </p:sp>
      <p:sp>
        <p:nvSpPr>
          <p:cNvPr id="50" name="Shape 48"/>
          <p:cNvSpPr/>
          <p:nvPr/>
        </p:nvSpPr>
        <p:spPr>
          <a:xfrm>
            <a:off x="8869680" y="1975104"/>
            <a:ext cx="2551176" cy="0"/>
          </a:xfrm>
          <a:prstGeom prst="line">
            <a:avLst/>
          </a:prstGeom>
          <a:noFill/>
          <a:ln w="19050">
            <a:solidFill>
              <a:srgbClr val="1E8E3E"/>
            </a:solidFill>
            <a:prstDash val="solid"/>
          </a:ln>
        </p:spPr>
      </p:sp>
      <p:sp>
        <p:nvSpPr>
          <p:cNvPr id="51" name="Text 49"/>
          <p:cNvSpPr/>
          <p:nvPr/>
        </p:nvSpPr>
        <p:spPr>
          <a:xfrm>
            <a:off x="8796528" y="2084832"/>
            <a:ext cx="457200" cy="237744"/>
          </a:xfrm>
          <a:prstGeom prst="rect">
            <a:avLst/>
          </a:prstGeom>
          <a:noFill/>
          <a:ln/>
        </p:spPr>
        <p:txBody>
          <a:bodyPr wrap="square" lIns="0" tIns="0" rIns="0" bIns="0" rtlCol="0" anchor="ctr"/>
          <a:lstStyle/>
          <a:p>
            <a:pPr indent="0" marL="0">
              <a:buNone/>
            </a:pPr>
            <a:r>
              <a:rPr lang="en-US" sz="1200" b="1" dirty="0">
                <a:solidFill>
                  <a:srgbClr val="1E293B"/>
                </a:solidFill>
                <a:latin typeface="Courier New" pitchFamily="34" charset="0"/>
                <a:ea typeface="Courier New" pitchFamily="34" charset="-122"/>
                <a:cs typeface="Courier New" pitchFamily="34" charset="-120"/>
              </a:rPr>
              <a:t>{</a:t>
            </a:r>
            <a:endParaRPr lang="en-US" sz="1200" dirty="0"/>
          </a:p>
        </p:txBody>
      </p:sp>
      <p:sp>
        <p:nvSpPr>
          <p:cNvPr id="52" name="Shape 50"/>
          <p:cNvSpPr/>
          <p:nvPr/>
        </p:nvSpPr>
        <p:spPr>
          <a:xfrm>
            <a:off x="8833104" y="2340864"/>
            <a:ext cx="2624328" cy="356616"/>
          </a:xfrm>
          <a:prstGeom prst="roundRect">
            <a:avLst>
              <a:gd name="adj" fmla="val 10256"/>
            </a:avLst>
          </a:prstGeom>
          <a:solidFill>
            <a:srgbClr val="E6F4EA"/>
          </a:solidFill>
          <a:ln w="7620">
            <a:solidFill>
              <a:srgbClr val="1E8E3E"/>
            </a:solidFill>
            <a:prstDash val="solid"/>
          </a:ln>
        </p:spPr>
      </p:sp>
      <p:sp>
        <p:nvSpPr>
          <p:cNvPr id="53" name="Text 51"/>
          <p:cNvSpPr/>
          <p:nvPr/>
        </p:nvSpPr>
        <p:spPr>
          <a:xfrm>
            <a:off x="8906256" y="2340864"/>
            <a:ext cx="2478024" cy="356616"/>
          </a:xfrm>
          <a:prstGeom prst="rect">
            <a:avLst/>
          </a:prstGeom>
          <a:noFill/>
          <a:ln/>
        </p:spPr>
        <p:txBody>
          <a:bodyPr wrap="square" lIns="0" tIns="0" rIns="0" bIns="0" rtlCol="0" anchor="ctr"/>
          <a:lstStyle/>
          <a:p>
            <a:pPr indent="0" marL="0">
              <a:buNone/>
            </a:pPr>
            <a:r>
              <a:rPr lang="en-US" sz="940" b="1" dirty="0">
                <a:solidFill>
                  <a:srgbClr val="0D652D"/>
                </a:solidFill>
                <a:latin typeface="Courier New" pitchFamily="34" charset="0"/>
                <a:ea typeface="Courier New" pitchFamily="34" charset="-122"/>
                <a:cs typeface="Courier New" pitchFamily="34" charset="-120"/>
              </a:rPr>
              <a:t>"tenant_id": "retailstream",</a:t>
            </a:r>
            <a:endParaRPr lang="en-US" sz="940" dirty="0"/>
          </a:p>
        </p:txBody>
      </p:sp>
      <p:sp>
        <p:nvSpPr>
          <p:cNvPr id="54" name="Text 52"/>
          <p:cNvSpPr/>
          <p:nvPr/>
        </p:nvSpPr>
        <p:spPr>
          <a:xfrm>
            <a:off x="8906256" y="2761488"/>
            <a:ext cx="2478024" cy="356616"/>
          </a:xfrm>
          <a:prstGeom prst="rect">
            <a:avLst/>
          </a:prstGeom>
          <a:noFill/>
          <a:ln/>
        </p:spPr>
        <p:txBody>
          <a:bodyPr wrap="square" lIns="0" tIns="0" rIns="0" bIns="0" rtlCol="0" anchor="ctr"/>
          <a:lstStyle/>
          <a:p>
            <a:pPr indent="0" marL="0">
              <a:buNone/>
            </a:pPr>
            <a:r>
              <a:rPr lang="en-US" sz="940" dirty="0">
                <a:solidFill>
                  <a:srgbClr val="1E293B"/>
                </a:solidFill>
                <a:latin typeface="Courier New" pitchFamily="34" charset="0"/>
                <a:ea typeface="Courier New" pitchFamily="34" charset="-122"/>
                <a:cs typeface="Courier New" pitchFamily="34" charset="-120"/>
              </a:rPr>
              <a:t>"tier": "STANDARD",</a:t>
            </a:r>
            <a:endParaRPr lang="en-US" sz="940" dirty="0"/>
          </a:p>
        </p:txBody>
      </p:sp>
      <p:sp>
        <p:nvSpPr>
          <p:cNvPr id="55" name="Shape 53"/>
          <p:cNvSpPr/>
          <p:nvPr/>
        </p:nvSpPr>
        <p:spPr>
          <a:xfrm>
            <a:off x="8833104" y="3182112"/>
            <a:ext cx="2624328" cy="356616"/>
          </a:xfrm>
          <a:prstGeom prst="roundRect">
            <a:avLst>
              <a:gd name="adj" fmla="val 10256"/>
            </a:avLst>
          </a:prstGeom>
          <a:solidFill>
            <a:srgbClr val="E6F4EA"/>
          </a:solidFill>
          <a:ln w="7620">
            <a:solidFill>
              <a:srgbClr val="1E8E3E"/>
            </a:solidFill>
            <a:prstDash val="solid"/>
          </a:ln>
        </p:spPr>
      </p:sp>
      <p:sp>
        <p:nvSpPr>
          <p:cNvPr id="56" name="Text 54"/>
          <p:cNvSpPr/>
          <p:nvPr/>
        </p:nvSpPr>
        <p:spPr>
          <a:xfrm>
            <a:off x="8906256" y="3182112"/>
            <a:ext cx="2478024" cy="356616"/>
          </a:xfrm>
          <a:prstGeom prst="rect">
            <a:avLst/>
          </a:prstGeom>
          <a:noFill/>
          <a:ln/>
        </p:spPr>
        <p:txBody>
          <a:bodyPr wrap="square" lIns="0" tIns="0" rIns="0" bIns="0" rtlCol="0" anchor="ctr"/>
          <a:lstStyle/>
          <a:p>
            <a:pPr indent="0" marL="0">
              <a:buNone/>
            </a:pPr>
            <a:r>
              <a:rPr lang="en-US" sz="940" b="1" dirty="0">
                <a:solidFill>
                  <a:srgbClr val="0D652D"/>
                </a:solidFill>
                <a:latin typeface="Courier New" pitchFamily="34" charset="0"/>
                <a:ea typeface="Courier New" pitchFamily="34" charset="-122"/>
                <a:cs typeface="Courier New" pitchFamily="34" charset="-120"/>
              </a:rPr>
              <a:t>"dpop_jkt": "sha256:9f86d081",</a:t>
            </a:r>
            <a:endParaRPr lang="en-US" sz="940" dirty="0"/>
          </a:p>
        </p:txBody>
      </p:sp>
      <p:sp>
        <p:nvSpPr>
          <p:cNvPr id="57" name="Text 55"/>
          <p:cNvSpPr/>
          <p:nvPr/>
        </p:nvSpPr>
        <p:spPr>
          <a:xfrm>
            <a:off x="8906256" y="3602736"/>
            <a:ext cx="2478024" cy="356616"/>
          </a:xfrm>
          <a:prstGeom prst="rect">
            <a:avLst/>
          </a:prstGeom>
          <a:noFill/>
          <a:ln/>
        </p:spPr>
        <p:txBody>
          <a:bodyPr wrap="square" lIns="0" tIns="0" rIns="0" bIns="0" rtlCol="0" anchor="ctr"/>
          <a:lstStyle/>
          <a:p>
            <a:pPr indent="0" marL="0">
              <a:buNone/>
            </a:pPr>
            <a:r>
              <a:rPr lang="en-US" sz="940" dirty="0">
                <a:solidFill>
                  <a:srgbClr val="1E293B"/>
                </a:solidFill>
                <a:latin typeface="Courier New" pitchFamily="34" charset="0"/>
                <a:ea typeface="Courier New" pitchFamily="34" charset="-122"/>
                <a:cs typeface="Courier New" pitchFamily="34" charset="-120"/>
              </a:rPr>
              <a:t>"memory_ns": "/tenants/retail",</a:t>
            </a:r>
            <a:endParaRPr lang="en-US" sz="940" dirty="0"/>
          </a:p>
        </p:txBody>
      </p:sp>
      <p:sp>
        <p:nvSpPr>
          <p:cNvPr id="58" name="Shape 56"/>
          <p:cNvSpPr/>
          <p:nvPr/>
        </p:nvSpPr>
        <p:spPr>
          <a:xfrm>
            <a:off x="8833104" y="4023360"/>
            <a:ext cx="2624328" cy="356616"/>
          </a:xfrm>
          <a:prstGeom prst="roundRect">
            <a:avLst>
              <a:gd name="adj" fmla="val 10256"/>
            </a:avLst>
          </a:prstGeom>
          <a:solidFill>
            <a:srgbClr val="E6F4EA"/>
          </a:solidFill>
          <a:ln w="7620">
            <a:solidFill>
              <a:srgbClr val="1E8E3E"/>
            </a:solidFill>
            <a:prstDash val="solid"/>
          </a:ln>
        </p:spPr>
      </p:sp>
      <p:sp>
        <p:nvSpPr>
          <p:cNvPr id="59" name="Text 57"/>
          <p:cNvSpPr/>
          <p:nvPr/>
        </p:nvSpPr>
        <p:spPr>
          <a:xfrm>
            <a:off x="8906256" y="4023360"/>
            <a:ext cx="2478024" cy="356616"/>
          </a:xfrm>
          <a:prstGeom prst="rect">
            <a:avLst/>
          </a:prstGeom>
          <a:noFill/>
          <a:ln/>
        </p:spPr>
        <p:txBody>
          <a:bodyPr wrap="square" lIns="0" tIns="0" rIns="0" bIns="0" rtlCol="0" anchor="ctr"/>
          <a:lstStyle/>
          <a:p>
            <a:pPr indent="0" marL="0">
              <a:buNone/>
            </a:pPr>
            <a:r>
              <a:rPr lang="en-US" sz="940" b="1" dirty="0">
                <a:solidFill>
                  <a:srgbClr val="0D652D"/>
                </a:solidFill>
                <a:latin typeface="Courier New" pitchFamily="34" charset="0"/>
                <a:ea typeface="Courier New" pitchFamily="34" charset="-122"/>
                <a:cs typeface="Courier New" pitchFamily="34" charset="-120"/>
              </a:rPr>
              <a:t>"rls_tag": "current_tenant_id",</a:t>
            </a:r>
            <a:endParaRPr lang="en-US" sz="940" dirty="0"/>
          </a:p>
        </p:txBody>
      </p:sp>
      <p:sp>
        <p:nvSpPr>
          <p:cNvPr id="60" name="Shape 58"/>
          <p:cNvSpPr/>
          <p:nvPr/>
        </p:nvSpPr>
        <p:spPr>
          <a:xfrm>
            <a:off x="8833104" y="4443984"/>
            <a:ext cx="2624328" cy="356616"/>
          </a:xfrm>
          <a:prstGeom prst="roundRect">
            <a:avLst>
              <a:gd name="adj" fmla="val 10256"/>
            </a:avLst>
          </a:prstGeom>
          <a:solidFill>
            <a:srgbClr val="CEEAD6"/>
          </a:solidFill>
          <a:ln w="7620">
            <a:solidFill>
              <a:srgbClr val="1E8E3E"/>
            </a:solidFill>
            <a:prstDash val="solid"/>
          </a:ln>
        </p:spPr>
      </p:sp>
      <p:sp>
        <p:nvSpPr>
          <p:cNvPr id="61" name="Text 59"/>
          <p:cNvSpPr/>
          <p:nvPr/>
        </p:nvSpPr>
        <p:spPr>
          <a:xfrm>
            <a:off x="8906256" y="4443984"/>
            <a:ext cx="2478024" cy="356616"/>
          </a:xfrm>
          <a:prstGeom prst="rect">
            <a:avLst/>
          </a:prstGeom>
          <a:noFill/>
          <a:ln/>
        </p:spPr>
        <p:txBody>
          <a:bodyPr wrap="square" lIns="0" tIns="0" rIns="0" bIns="0" rtlCol="0" anchor="ctr"/>
          <a:lstStyle/>
          <a:p>
            <a:pPr indent="0" marL="0">
              <a:buNone/>
            </a:pPr>
            <a:r>
              <a:rPr lang="en-US" sz="940" b="1" dirty="0">
                <a:solidFill>
                  <a:srgbClr val="0D652D"/>
                </a:solidFill>
                <a:latin typeface="Courier New" pitchFamily="34" charset="0"/>
                <a:ea typeface="Courier New" pitchFamily="34" charset="-122"/>
                <a:cs typeface="Courier New" pitchFamily="34" charset="-120"/>
              </a:rPr>
              <a:t>"jwt_sig": "kms_ecdsa_p256"</a:t>
            </a:r>
            <a:endParaRPr lang="en-US" sz="940" dirty="0"/>
          </a:p>
        </p:txBody>
      </p:sp>
      <p:sp>
        <p:nvSpPr>
          <p:cNvPr id="62" name="Text 60"/>
          <p:cNvSpPr/>
          <p:nvPr/>
        </p:nvSpPr>
        <p:spPr>
          <a:xfrm>
            <a:off x="8796528" y="4919472"/>
            <a:ext cx="457200" cy="237744"/>
          </a:xfrm>
          <a:prstGeom prst="rect">
            <a:avLst/>
          </a:prstGeom>
          <a:noFill/>
          <a:ln/>
        </p:spPr>
        <p:txBody>
          <a:bodyPr wrap="square" lIns="0" tIns="0" rIns="0" bIns="0" rtlCol="0" anchor="ctr"/>
          <a:lstStyle/>
          <a:p>
            <a:pPr indent="0" marL="0">
              <a:buNone/>
            </a:pPr>
            <a:r>
              <a:rPr lang="en-US" sz="1200" b="1" dirty="0">
                <a:solidFill>
                  <a:srgbClr val="1E293B"/>
                </a:solidFill>
                <a:latin typeface="Courier New" pitchFamily="34" charset="0"/>
                <a:ea typeface="Courier New" pitchFamily="34" charset="-122"/>
                <a:cs typeface="Courier New" pitchFamily="34" charset="-120"/>
              </a:rPr>
              <a:t>}</a:t>
            </a:r>
            <a:endParaRPr lang="en-US" sz="1200" dirty="0"/>
          </a:p>
        </p:txBody>
      </p:sp>
      <p:sp>
        <p:nvSpPr>
          <p:cNvPr id="63" name="Shape 61"/>
          <p:cNvSpPr/>
          <p:nvPr/>
        </p:nvSpPr>
        <p:spPr>
          <a:xfrm>
            <a:off x="8814816" y="5303520"/>
            <a:ext cx="2660904" cy="347472"/>
          </a:xfrm>
          <a:prstGeom prst="roundRect">
            <a:avLst>
              <a:gd name="adj" fmla="val 13158"/>
            </a:avLst>
          </a:prstGeom>
          <a:solidFill>
            <a:srgbClr val="E6F4EA"/>
          </a:solidFill>
          <a:ln w="10160">
            <a:solidFill>
              <a:srgbClr val="1E8E3E"/>
            </a:solidFill>
            <a:prstDash val="solid"/>
          </a:ln>
        </p:spPr>
      </p:sp>
      <p:sp>
        <p:nvSpPr>
          <p:cNvPr id="64" name="Text 62"/>
          <p:cNvSpPr/>
          <p:nvPr/>
        </p:nvSpPr>
        <p:spPr>
          <a:xfrm>
            <a:off x="8869680" y="5303520"/>
            <a:ext cx="2551176" cy="347472"/>
          </a:xfrm>
          <a:prstGeom prst="rect">
            <a:avLst/>
          </a:prstGeom>
          <a:noFill/>
          <a:ln/>
        </p:spPr>
        <p:txBody>
          <a:bodyPr wrap="square" lIns="0" tIns="0" rIns="0" bIns="0" rtlCol="0" anchor="ctr"/>
          <a:lstStyle/>
          <a:p>
            <a:pPr algn="ctr" indent="0" marL="0">
              <a:lnSpc>
                <a:spcPct val="102000"/>
              </a:lnSpc>
              <a:buNone/>
            </a:pPr>
            <a:r>
              <a:rPr lang="en-US" sz="780" b="1" dirty="0">
                <a:solidFill>
                  <a:srgbClr val="0D652D"/>
                </a:solidFill>
                <a:latin typeface="Arial" pitchFamily="34" charset="0"/>
                <a:ea typeface="Arial" pitchFamily="34" charset="-122"/>
                <a:cs typeface="Arial" pitchFamily="34" charset="-120"/>
              </a:rPr>
              <a:t>✓ &lt;0.15ms Cached-JWKS Verify • 0 KMS</a:t>
            </a:r>
            <a:endParaRPr lang="en-US" sz="780" dirty="0"/>
          </a:p>
          <a:p>
            <a:pPr algn="ctr" indent="0" marL="0">
              <a:lnSpc>
                <a:spcPct val="102000"/>
              </a:lnSpc>
              <a:buNone/>
            </a:pPr>
            <a:r>
              <a:rPr lang="en-US" sz="780" b="1" dirty="0">
                <a:solidFill>
                  <a:srgbClr val="0D652D"/>
                </a:solidFill>
                <a:latin typeface="Arial" pitchFamily="34" charset="0"/>
                <a:ea typeface="Arial" pitchFamily="34" charset="-122"/>
                <a:cs typeface="Arial" pitchFamily="34" charset="-120"/>
              </a:rPr>
              <a:t>Network Calls</a:t>
            </a:r>
            <a:endParaRPr lang="en-US" sz="780" dirty="0"/>
          </a:p>
        </p:txBody>
      </p:sp>
      <p:sp>
        <p:nvSpPr>
          <p:cNvPr id="65" name="Shape 63"/>
          <p:cNvSpPr/>
          <p:nvPr/>
        </p:nvSpPr>
        <p:spPr>
          <a:xfrm>
            <a:off x="438912" y="5943600"/>
            <a:ext cx="11313871" cy="420624"/>
          </a:xfrm>
          <a:prstGeom prst="roundRect">
            <a:avLst>
              <a:gd name="adj" fmla="val 13043"/>
            </a:avLst>
          </a:prstGeom>
          <a:solidFill>
            <a:srgbClr val="F0FDFA"/>
          </a:solidFill>
          <a:ln w="11430">
            <a:solidFill>
              <a:srgbClr val="99F6E4"/>
            </a:solidFill>
            <a:prstDash val="solid"/>
          </a:ln>
        </p:spPr>
      </p:sp>
      <p:sp>
        <p:nvSpPr>
          <p:cNvPr id="66" name="Shape 64"/>
          <p:cNvSpPr/>
          <p:nvPr/>
        </p:nvSpPr>
        <p:spPr>
          <a:xfrm>
            <a:off x="530352" y="6025896"/>
            <a:ext cx="1353312" cy="256032"/>
          </a:xfrm>
          <a:prstGeom prst="roundRect">
            <a:avLst>
              <a:gd name="adj" fmla="val 17857"/>
            </a:avLst>
          </a:prstGeom>
          <a:solidFill>
            <a:srgbClr val="0F766E"/>
          </a:solidFill>
          <a:ln/>
        </p:spPr>
      </p:sp>
      <p:sp>
        <p:nvSpPr>
          <p:cNvPr id="67" name="Text 65"/>
          <p:cNvSpPr/>
          <p:nvPr/>
        </p:nvSpPr>
        <p:spPr>
          <a:xfrm>
            <a:off x="530352" y="6025896"/>
            <a:ext cx="1353312" cy="256032"/>
          </a:xfrm>
          <a:prstGeom prst="rect">
            <a:avLst/>
          </a:prstGeom>
          <a:noFill/>
          <a:ln/>
        </p:spPr>
        <p:txBody>
          <a:bodyPr wrap="square" lIns="0" tIns="0" rIns="0" bIns="0" rtlCol="0" anchor="ctr"/>
          <a:lstStyle/>
          <a:p>
            <a:pPr algn="ctr" indent="0" marL="0">
              <a:lnSpc>
                <a:spcPct val="105000"/>
              </a:lnSpc>
              <a:buNone/>
            </a:pPr>
            <a:r>
              <a:rPr lang="en-US" sz="650" b="1" dirty="0">
                <a:solidFill>
                  <a:srgbClr val="FFFFFF"/>
                </a:solidFill>
                <a:latin typeface="Arial" pitchFamily="34" charset="0"/>
                <a:ea typeface="Arial" pitchFamily="34" charset="-122"/>
                <a:cs typeface="Arial" pitchFamily="34" charset="-120"/>
              </a:rPr>
              <a:t>HOP 1 → HOPS 2–5</a:t>
            </a:r>
            <a:endParaRPr lang="en-US" sz="650" dirty="0"/>
          </a:p>
        </p:txBody>
      </p:sp>
      <p:sp>
        <p:nvSpPr>
          <p:cNvPr id="68" name="Text 66"/>
          <p:cNvSpPr/>
          <p:nvPr/>
        </p:nvSpPr>
        <p:spPr>
          <a:xfrm>
            <a:off x="1993392" y="5980176"/>
            <a:ext cx="7555687" cy="347472"/>
          </a:xfrm>
          <a:prstGeom prst="rect">
            <a:avLst/>
          </a:prstGeom>
          <a:noFill/>
          <a:ln/>
        </p:spPr>
        <p:txBody>
          <a:bodyPr wrap="square" lIns="0" tIns="0" rIns="0" bIns="0" rtlCol="0" anchor="ctr"/>
          <a:lstStyle/>
          <a:p>
            <a:pPr algn="l" indent="0" marL="0">
              <a:lnSpc>
                <a:spcPct val="108000"/>
              </a:lnSpc>
              <a:buNone/>
            </a:pPr>
            <a:r>
              <a:rPr lang="en-US" sz="860" b="1" dirty="0">
                <a:solidFill>
                  <a:srgbClr val="0F172A"/>
                </a:solidFill>
                <a:latin typeface="Arial" pitchFamily="34" charset="0"/>
                <a:ea typeface="Arial" pitchFamily="34" charset="-122"/>
                <a:cs typeface="Arial" pitchFamily="34" charset="-120"/>
              </a:rPr>
              <a:t>Every spoofed client header dies at Hop 1; next on Slide 14, see how Hops 2–5 bind composite vault:{tenant}:{sub} keys, AEAD memory, and FORCE RLS.</a:t>
            </a:r>
            <a:endParaRPr lang="en-US" sz="860" dirty="0"/>
          </a:p>
        </p:txBody>
      </p:sp>
      <p:sp>
        <p:nvSpPr>
          <p:cNvPr id="69" name="Shape 67"/>
          <p:cNvSpPr/>
          <p:nvPr/>
        </p:nvSpPr>
        <p:spPr>
          <a:xfrm>
            <a:off x="9695383" y="6025896"/>
            <a:ext cx="1965960" cy="256032"/>
          </a:xfrm>
          <a:prstGeom prst="roundRect">
            <a:avLst>
              <a:gd name="adj" fmla="val 17857"/>
            </a:avLst>
          </a:prstGeom>
          <a:solidFill>
            <a:srgbClr val="FFFFFF"/>
          </a:solidFill>
          <a:ln w="10795">
            <a:solidFill>
              <a:srgbClr val="0F766E"/>
            </a:solidFill>
            <a:prstDash val="solid"/>
          </a:ln>
        </p:spPr>
      </p:sp>
      <p:sp>
        <p:nvSpPr>
          <p:cNvPr id="70" name="Text 68"/>
          <p:cNvSpPr/>
          <p:nvPr/>
        </p:nvSpPr>
        <p:spPr>
          <a:xfrm>
            <a:off x="9695383" y="6025896"/>
            <a:ext cx="1965960" cy="256032"/>
          </a:xfrm>
          <a:prstGeom prst="rect">
            <a:avLst/>
          </a:prstGeom>
          <a:noFill/>
          <a:ln/>
        </p:spPr>
        <p:txBody>
          <a:bodyPr wrap="square" lIns="0" tIns="0" rIns="0" bIns="0" rtlCol="0" anchor="ctr"/>
          <a:lstStyle/>
          <a:p>
            <a:pPr algn="ctr" indent="0" marL="0">
              <a:lnSpc>
                <a:spcPct val="105000"/>
              </a:lnSpc>
              <a:buNone/>
            </a:pPr>
            <a:r>
              <a:rPr lang="en-US" sz="740" b="1" dirty="0">
                <a:solidFill>
                  <a:srgbClr val="0F766E"/>
                </a:solidFill>
                <a:latin typeface="Arial" pitchFamily="34" charset="0"/>
                <a:ea typeface="Arial" pitchFamily="34" charset="-122"/>
                <a:cs typeface="Arial" pitchFamily="34" charset="-120"/>
              </a:rPr>
              <a:t>0 KMS RPCs on Hops 2–5</a:t>
            </a:r>
            <a:endParaRPr lang="en-US" sz="74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1148"/>
          </a:xfrm>
          <a:prstGeom prst="rect">
            <a:avLst/>
          </a:prstGeom>
          <a:solidFill>
            <a:srgbClr val="B45309"/>
          </a:solidFill>
          <a:ln/>
        </p:spPr>
      </p:sp>
      <p:sp>
        <p:nvSpPr>
          <p:cNvPr id="3" name="Shape 1"/>
          <p:cNvSpPr/>
          <p:nvPr/>
        </p:nvSpPr>
        <p:spPr>
          <a:xfrm>
            <a:off x="438912" y="192024"/>
            <a:ext cx="59436" cy="621792"/>
          </a:xfrm>
          <a:prstGeom prst="roundRect">
            <a:avLst>
              <a:gd name="adj" fmla="val 46154"/>
            </a:avLst>
          </a:prstGeom>
          <a:solidFill>
            <a:srgbClr val="B45309"/>
          </a:solidFill>
          <a:ln/>
        </p:spPr>
      </p:sp>
      <p:sp>
        <p:nvSpPr>
          <p:cNvPr id="4" name="Text 2"/>
          <p:cNvSpPr/>
          <p:nvPr/>
        </p:nvSpPr>
        <p:spPr>
          <a:xfrm>
            <a:off x="576072" y="173736"/>
            <a:ext cx="4389120" cy="146304"/>
          </a:xfrm>
          <a:prstGeom prst="rect">
            <a:avLst/>
          </a:prstGeom>
          <a:noFill/>
          <a:ln/>
        </p:spPr>
        <p:txBody>
          <a:bodyPr wrap="square" lIns="0" tIns="0" rIns="0" bIns="0" rtlCol="0" anchor="ctr"/>
          <a:lstStyle/>
          <a:p>
            <a:pPr algn="l" indent="0" marL="0">
              <a:lnSpc>
                <a:spcPct val="105000"/>
              </a:lnSpc>
              <a:buNone/>
            </a:pPr>
            <a:r>
              <a:rPr lang="en-US" sz="750" b="1" spc="110" kern="0" dirty="0">
                <a:solidFill>
                  <a:srgbClr val="B45309"/>
                </a:solidFill>
                <a:latin typeface="Arial" pitchFamily="34" charset="0"/>
                <a:ea typeface="Arial" pitchFamily="34" charset="-122"/>
                <a:cs typeface="Arial" pitchFamily="34" charset="-120"/>
              </a:rPr>
              <a:t>05 / PROCESS &amp; WIRE</a:t>
            </a:r>
            <a:endParaRPr lang="en-US" sz="750" dirty="0"/>
          </a:p>
        </p:txBody>
      </p:sp>
      <p:sp>
        <p:nvSpPr>
          <p:cNvPr id="5" name="Shape 3"/>
          <p:cNvSpPr/>
          <p:nvPr/>
        </p:nvSpPr>
        <p:spPr>
          <a:xfrm>
            <a:off x="8183880" y="219456"/>
            <a:ext cx="228600" cy="59436"/>
          </a:xfrm>
          <a:prstGeom prst="roundRect">
            <a:avLst>
              <a:gd name="adj" fmla="val 46154"/>
            </a:avLst>
          </a:prstGeom>
          <a:solidFill>
            <a:srgbClr val="94A3B8"/>
          </a:solidFill>
          <a:ln/>
        </p:spPr>
      </p:sp>
      <p:sp>
        <p:nvSpPr>
          <p:cNvPr id="6" name="Shape 4"/>
          <p:cNvSpPr/>
          <p:nvPr/>
        </p:nvSpPr>
        <p:spPr>
          <a:xfrm>
            <a:off x="8453628" y="219456"/>
            <a:ext cx="228600" cy="59436"/>
          </a:xfrm>
          <a:prstGeom prst="roundRect">
            <a:avLst>
              <a:gd name="adj" fmla="val 46154"/>
            </a:avLst>
          </a:prstGeom>
          <a:solidFill>
            <a:srgbClr val="94A3B8"/>
          </a:solidFill>
          <a:ln/>
        </p:spPr>
      </p:sp>
      <p:sp>
        <p:nvSpPr>
          <p:cNvPr id="7" name="Shape 5"/>
          <p:cNvSpPr/>
          <p:nvPr/>
        </p:nvSpPr>
        <p:spPr>
          <a:xfrm>
            <a:off x="8723376" y="219456"/>
            <a:ext cx="228600" cy="59436"/>
          </a:xfrm>
          <a:prstGeom prst="roundRect">
            <a:avLst>
              <a:gd name="adj" fmla="val 46154"/>
            </a:avLst>
          </a:prstGeom>
          <a:solidFill>
            <a:srgbClr val="94A3B8"/>
          </a:solidFill>
          <a:ln/>
        </p:spPr>
      </p:sp>
      <p:sp>
        <p:nvSpPr>
          <p:cNvPr id="8" name="Shape 6"/>
          <p:cNvSpPr/>
          <p:nvPr/>
        </p:nvSpPr>
        <p:spPr>
          <a:xfrm>
            <a:off x="8993124" y="219456"/>
            <a:ext cx="228600" cy="59436"/>
          </a:xfrm>
          <a:prstGeom prst="roundRect">
            <a:avLst>
              <a:gd name="adj" fmla="val 46154"/>
            </a:avLst>
          </a:prstGeom>
          <a:solidFill>
            <a:srgbClr val="94A3B8"/>
          </a:solidFill>
          <a:ln/>
        </p:spPr>
      </p:sp>
      <p:sp>
        <p:nvSpPr>
          <p:cNvPr id="9" name="Shape 7"/>
          <p:cNvSpPr/>
          <p:nvPr/>
        </p:nvSpPr>
        <p:spPr>
          <a:xfrm>
            <a:off x="9262872" y="219456"/>
            <a:ext cx="228600" cy="59436"/>
          </a:xfrm>
          <a:prstGeom prst="roundRect">
            <a:avLst>
              <a:gd name="adj" fmla="val 46154"/>
            </a:avLst>
          </a:prstGeom>
          <a:solidFill>
            <a:srgbClr val="B45309"/>
          </a:solidFill>
          <a:ln/>
        </p:spPr>
      </p:sp>
      <p:sp>
        <p:nvSpPr>
          <p:cNvPr id="10" name="Shape 8"/>
          <p:cNvSpPr/>
          <p:nvPr/>
        </p:nvSpPr>
        <p:spPr>
          <a:xfrm>
            <a:off x="9532620" y="219456"/>
            <a:ext cx="228600" cy="59436"/>
          </a:xfrm>
          <a:prstGeom prst="roundRect">
            <a:avLst>
              <a:gd name="adj" fmla="val 46154"/>
            </a:avLst>
          </a:prstGeom>
          <a:solidFill>
            <a:srgbClr val="E2E8F0"/>
          </a:solidFill>
          <a:ln/>
        </p:spPr>
      </p:sp>
      <p:sp>
        <p:nvSpPr>
          <p:cNvPr id="11" name="Shape 9"/>
          <p:cNvSpPr/>
          <p:nvPr/>
        </p:nvSpPr>
        <p:spPr>
          <a:xfrm>
            <a:off x="9802368" y="219456"/>
            <a:ext cx="228600" cy="59436"/>
          </a:xfrm>
          <a:prstGeom prst="roundRect">
            <a:avLst>
              <a:gd name="adj" fmla="val 46154"/>
            </a:avLst>
          </a:prstGeom>
          <a:solidFill>
            <a:srgbClr val="E2E8F0"/>
          </a:solidFill>
          <a:ln/>
        </p:spPr>
      </p:sp>
      <p:sp>
        <p:nvSpPr>
          <p:cNvPr id="12" name="Shape 10"/>
          <p:cNvSpPr/>
          <p:nvPr/>
        </p:nvSpPr>
        <p:spPr>
          <a:xfrm>
            <a:off x="10131552" y="146304"/>
            <a:ext cx="1621231" cy="192024"/>
          </a:xfrm>
          <a:prstGeom prst="roundRect">
            <a:avLst>
              <a:gd name="adj" fmla="val 23810"/>
            </a:avLst>
          </a:prstGeom>
          <a:solidFill>
            <a:srgbClr val="FFFFFF"/>
          </a:solidFill>
          <a:ln w="9525">
            <a:solidFill>
              <a:srgbClr val="CBD5E1"/>
            </a:solidFill>
            <a:prstDash val="solid"/>
          </a:ln>
        </p:spPr>
      </p:sp>
      <p:sp>
        <p:nvSpPr>
          <p:cNvPr id="13" name="Text 11"/>
          <p:cNvSpPr/>
          <p:nvPr/>
        </p:nvSpPr>
        <p:spPr>
          <a:xfrm>
            <a:off x="10131552" y="146304"/>
            <a:ext cx="1621231" cy="192024"/>
          </a:xfrm>
          <a:prstGeom prst="rect">
            <a:avLst/>
          </a:prstGeom>
          <a:noFill/>
          <a:ln/>
        </p:spPr>
        <p:txBody>
          <a:bodyPr wrap="square" lIns="0" tIns="0" rIns="0" bIns="0" rtlCol="0" anchor="ctr"/>
          <a:lstStyle/>
          <a:p>
            <a:pPr algn="ctr" indent="0" marL="0">
              <a:lnSpc>
                <a:spcPct val="105000"/>
              </a:lnSpc>
              <a:buNone/>
            </a:pPr>
            <a:r>
              <a:rPr lang="en-US" sz="680" b="1" spc="60" kern="0" dirty="0">
                <a:solidFill>
                  <a:srgbClr val="B45309"/>
                </a:solidFill>
                <a:latin typeface="Arial" pitchFamily="34" charset="0"/>
                <a:ea typeface="Arial" pitchFamily="34" charset="-122"/>
                <a:cs typeface="Arial" pitchFamily="34" charset="-120"/>
              </a:rPr>
              <a:t>CREDENTIAL &amp; STATE DEFENSE</a:t>
            </a:r>
            <a:endParaRPr lang="en-US" sz="680" dirty="0"/>
          </a:p>
        </p:txBody>
      </p:sp>
      <p:sp>
        <p:nvSpPr>
          <p:cNvPr id="14" name="Text 12"/>
          <p:cNvSpPr/>
          <p:nvPr/>
        </p:nvSpPr>
        <p:spPr>
          <a:xfrm>
            <a:off x="576072" y="338328"/>
            <a:ext cx="11176711" cy="310896"/>
          </a:xfrm>
          <a:prstGeom prst="rect">
            <a:avLst/>
          </a:prstGeom>
          <a:noFill/>
          <a:ln/>
        </p:spPr>
        <p:txBody>
          <a:bodyPr wrap="square" lIns="0" tIns="0" rIns="0" bIns="0" rtlCol="0" anchor="ctr"/>
          <a:lstStyle/>
          <a:p>
            <a:pPr algn="l" indent="0" marL="0">
              <a:lnSpc>
                <a:spcPct val="104000"/>
              </a:lnSpc>
              <a:buNone/>
            </a:pPr>
            <a:r>
              <a:rPr lang="en-US" sz="1750" b="1" dirty="0">
                <a:solidFill>
                  <a:srgbClr val="0F172A"/>
                </a:solidFill>
                <a:latin typeface="Arial" pitchFamily="34" charset="0"/>
                <a:ea typeface="Arial" pitchFamily="34" charset="-122"/>
                <a:cs typeface="Arial" pitchFamily="34" charset="-120"/>
              </a:rPr>
              <a:t>Downstream Defenses (Hops 2, 3 &amp; 5): Blocking Confused-Deputy 3LO &amp; State Bleed</a:t>
            </a:r>
            <a:endParaRPr lang="en-US" sz="1750" dirty="0"/>
          </a:p>
        </p:txBody>
      </p:sp>
      <p:sp>
        <p:nvSpPr>
          <p:cNvPr id="15" name="Text 13"/>
          <p:cNvSpPr/>
          <p:nvPr/>
        </p:nvSpPr>
        <p:spPr>
          <a:xfrm>
            <a:off x="576072" y="658368"/>
            <a:ext cx="11176711" cy="192024"/>
          </a:xfrm>
          <a:prstGeom prst="rect">
            <a:avLst/>
          </a:prstGeom>
          <a:noFill/>
          <a:ln/>
        </p:spPr>
        <p:txBody>
          <a:bodyPr wrap="square" lIns="0" tIns="0" rIns="0" bIns="0" rtlCol="0" anchor="ctr"/>
          <a:lstStyle/>
          <a:p>
            <a:pPr algn="l" indent="0" marL="0">
              <a:lnSpc>
                <a:spcPct val="104000"/>
              </a:lnSpc>
              <a:buNone/>
            </a:pPr>
            <a:r>
              <a:rPr lang="en-US" sz="900" dirty="0">
                <a:solidFill>
                  <a:srgbClr val="64748B"/>
                </a:solidFill>
                <a:latin typeface="Arial" pitchFamily="34" charset="0"/>
                <a:ea typeface="Arial" pitchFamily="34" charset="-122"/>
                <a:cs typeface="Arial" pitchFamily="34" charset="-120"/>
              </a:rPr>
              <a:t>Once Hop 1 signs the TenantContext JWT (Slide 13), downstream hops enforce composite OAuth vaulting, session ownership, and FORCE RLS.</a:t>
            </a:r>
            <a:endParaRPr lang="en-US" sz="900" dirty="0"/>
          </a:p>
        </p:txBody>
      </p:sp>
      <p:sp>
        <p:nvSpPr>
          <p:cNvPr id="16" name="Shape 14"/>
          <p:cNvSpPr/>
          <p:nvPr/>
        </p:nvSpPr>
        <p:spPr>
          <a:xfrm>
            <a:off x="438912" y="914400"/>
            <a:ext cx="11313871" cy="0"/>
          </a:xfrm>
          <a:prstGeom prst="line">
            <a:avLst/>
          </a:prstGeom>
          <a:noFill/>
          <a:ln w="10795">
            <a:solidFill>
              <a:srgbClr val="E2E8F0"/>
            </a:solidFill>
            <a:prstDash val="solid"/>
          </a:ln>
        </p:spPr>
      </p:sp>
      <p:sp>
        <p:nvSpPr>
          <p:cNvPr id="17" name="Shape 15"/>
          <p:cNvSpPr/>
          <p:nvPr/>
        </p:nvSpPr>
        <p:spPr>
          <a:xfrm>
            <a:off x="438912" y="6455664"/>
            <a:ext cx="11313871" cy="0"/>
          </a:xfrm>
          <a:prstGeom prst="line">
            <a:avLst/>
          </a:prstGeom>
          <a:noFill/>
          <a:ln w="9525">
            <a:solidFill>
              <a:srgbClr val="E2E8F0"/>
            </a:solidFill>
            <a:prstDash val="solid"/>
          </a:ln>
        </p:spPr>
      </p:sp>
      <p:sp>
        <p:nvSpPr>
          <p:cNvPr id="18" name="Text 16"/>
          <p:cNvSpPr/>
          <p:nvPr/>
        </p:nvSpPr>
        <p:spPr>
          <a:xfrm>
            <a:off x="438912" y="6501384"/>
            <a:ext cx="5852160" cy="192024"/>
          </a:xfrm>
          <a:prstGeom prst="rect">
            <a:avLst/>
          </a:prstGeom>
          <a:noFill/>
          <a:ln/>
        </p:spPr>
        <p:txBody>
          <a:bodyPr wrap="square" lIns="0" tIns="0" rIns="0" bIns="0" rtlCol="0" anchor="ctr"/>
          <a:lstStyle/>
          <a:p>
            <a:pPr algn="l" indent="0" marL="0">
              <a:lnSpc>
                <a:spcPct val="105000"/>
              </a:lnSpc>
              <a:buNone/>
            </a:pPr>
            <a:r>
              <a:rPr lang="en-US" sz="680" b="1" spc="40" kern="0" dirty="0">
                <a:solidFill>
                  <a:srgbClr val="64748B"/>
                </a:solidFill>
                <a:latin typeface="Arial" pitchFamily="34" charset="0"/>
                <a:ea typeface="Arial" pitchFamily="34" charset="-122"/>
                <a:cs typeface="Arial" pitchFamily="34" charset="-120"/>
              </a:rPr>
              <a:t>GOOGLE CLOUD AI ARCHITECTURE  •  BLOG 1: MULTI-TENANT AGENTIC AI TAXONOMY &amp; 5-HOP BASELINE</a:t>
            </a:r>
            <a:endParaRPr lang="en-US" sz="680" dirty="0"/>
          </a:p>
        </p:txBody>
      </p:sp>
      <p:sp>
        <p:nvSpPr>
          <p:cNvPr id="19" name="Text 17"/>
          <p:cNvSpPr/>
          <p:nvPr/>
        </p:nvSpPr>
        <p:spPr>
          <a:xfrm>
            <a:off x="6355080" y="6501384"/>
            <a:ext cx="4206240" cy="192024"/>
          </a:xfrm>
          <a:prstGeom prst="rect">
            <a:avLst/>
          </a:prstGeom>
          <a:noFill/>
          <a:ln/>
        </p:spPr>
        <p:txBody>
          <a:bodyPr wrap="square" lIns="0" tIns="0" rIns="0" bIns="0" rtlCol="0" anchor="ctr"/>
          <a:lstStyle/>
          <a:p>
            <a:pPr algn="r" indent="0" marL="0">
              <a:lnSpc>
                <a:spcPct val="105000"/>
              </a:lnSpc>
              <a:buNone/>
            </a:pPr>
            <a:r>
              <a:rPr lang="en-US" sz="680" dirty="0">
                <a:solidFill>
                  <a:srgbClr val="64748B"/>
                </a:solidFill>
                <a:latin typeface="Arial" pitchFamily="34" charset="0"/>
                <a:ea typeface="Arial" pitchFamily="34" charset="-122"/>
                <a:cs typeface="Arial" pitchFamily="34" charset="-120"/>
              </a:rPr>
              <a:t>Level-4 Credential Vault &amp; Stateful Isolation  •  Composite 3LO + Tink AEAD + FORCE RLS</a:t>
            </a:r>
            <a:endParaRPr lang="en-US" sz="680" dirty="0"/>
          </a:p>
        </p:txBody>
      </p:sp>
      <p:sp>
        <p:nvSpPr>
          <p:cNvPr id="20" name="Shape 18"/>
          <p:cNvSpPr/>
          <p:nvPr/>
        </p:nvSpPr>
        <p:spPr>
          <a:xfrm>
            <a:off x="11002975" y="6501384"/>
            <a:ext cx="749808" cy="192024"/>
          </a:xfrm>
          <a:prstGeom prst="roundRect">
            <a:avLst>
              <a:gd name="adj" fmla="val 19048"/>
            </a:avLst>
          </a:prstGeom>
          <a:solidFill>
            <a:srgbClr val="F1F5F9"/>
          </a:solidFill>
          <a:ln w="7620">
            <a:solidFill>
              <a:srgbClr val="E2E8F0"/>
            </a:solidFill>
            <a:prstDash val="solid"/>
          </a:ln>
        </p:spPr>
      </p:sp>
      <p:sp>
        <p:nvSpPr>
          <p:cNvPr id="21" name="Text 19"/>
          <p:cNvSpPr/>
          <p:nvPr/>
        </p:nvSpPr>
        <p:spPr>
          <a:xfrm>
            <a:off x="11002975" y="6501384"/>
            <a:ext cx="749808" cy="192024"/>
          </a:xfrm>
          <a:prstGeom prst="rect">
            <a:avLst/>
          </a:prstGeom>
          <a:noFill/>
          <a:ln/>
        </p:spPr>
        <p:txBody>
          <a:bodyPr wrap="square" lIns="0" tIns="0" rIns="0" bIns="0" rtlCol="0" anchor="ctr"/>
          <a:lstStyle/>
          <a:p>
            <a:pPr algn="ctr" indent="0" marL="0">
              <a:lnSpc>
                <a:spcPct val="105000"/>
              </a:lnSpc>
              <a:buNone/>
            </a:pPr>
            <a:r>
              <a:rPr lang="en-US" sz="700" b="1" dirty="0">
                <a:solidFill>
                  <a:srgbClr val="334155"/>
                </a:solidFill>
                <a:latin typeface="Arial" pitchFamily="34" charset="0"/>
                <a:ea typeface="Arial" pitchFamily="34" charset="-122"/>
                <a:cs typeface="Arial" pitchFamily="34" charset="-120"/>
              </a:rPr>
              <a:t>14 / 23</a:t>
            </a:r>
            <a:endParaRPr lang="en-US" sz="700" dirty="0"/>
          </a:p>
        </p:txBody>
      </p:sp>
      <p:sp>
        <p:nvSpPr>
          <p:cNvPr id="22" name="Shape 20"/>
          <p:cNvSpPr/>
          <p:nvPr/>
        </p:nvSpPr>
        <p:spPr>
          <a:xfrm>
            <a:off x="461772" y="1049731"/>
            <a:ext cx="5546750" cy="4791456"/>
          </a:xfrm>
          <a:prstGeom prst="roundRect">
            <a:avLst>
              <a:gd name="adj" fmla="val 1336"/>
            </a:avLst>
          </a:prstGeom>
          <a:solidFill>
            <a:srgbClr val="E2E8F0"/>
          </a:solidFill>
          <a:ln/>
        </p:spPr>
      </p:sp>
      <p:sp>
        <p:nvSpPr>
          <p:cNvPr id="23" name="Shape 21"/>
          <p:cNvSpPr/>
          <p:nvPr/>
        </p:nvSpPr>
        <p:spPr>
          <a:xfrm>
            <a:off x="438912" y="1024128"/>
            <a:ext cx="5546750" cy="4791456"/>
          </a:xfrm>
          <a:prstGeom prst="roundRect">
            <a:avLst>
              <a:gd name="adj" fmla="val 1336"/>
            </a:avLst>
          </a:prstGeom>
          <a:solidFill>
            <a:srgbClr val="FFFFFF"/>
          </a:solidFill>
          <a:ln w="10795">
            <a:solidFill>
              <a:srgbClr val="C7D2FE"/>
            </a:solidFill>
            <a:prstDash val="solid"/>
          </a:ln>
        </p:spPr>
      </p:sp>
      <p:sp>
        <p:nvSpPr>
          <p:cNvPr id="24" name="Shape 22"/>
          <p:cNvSpPr/>
          <p:nvPr/>
        </p:nvSpPr>
        <p:spPr>
          <a:xfrm>
            <a:off x="438912" y="1024128"/>
            <a:ext cx="5546750" cy="50292"/>
          </a:xfrm>
          <a:prstGeom prst="roundRect">
            <a:avLst>
              <a:gd name="adj" fmla="val 36364"/>
            </a:avLst>
          </a:prstGeom>
          <a:solidFill>
            <a:srgbClr val="4338CA"/>
          </a:solidFill>
          <a:ln/>
        </p:spPr>
      </p:sp>
      <p:sp>
        <p:nvSpPr>
          <p:cNvPr id="25" name="Shape 23"/>
          <p:cNvSpPr/>
          <p:nvPr/>
        </p:nvSpPr>
        <p:spPr>
          <a:xfrm>
            <a:off x="585216" y="1152144"/>
            <a:ext cx="5254142" cy="201168"/>
          </a:xfrm>
          <a:prstGeom prst="roundRect">
            <a:avLst>
              <a:gd name="adj" fmla="val 36364"/>
            </a:avLst>
          </a:prstGeom>
          <a:solidFill>
            <a:srgbClr val="EEF2FF"/>
          </a:solidFill>
          <a:ln w="9525">
            <a:solidFill>
              <a:srgbClr val="C7D2FE"/>
            </a:solidFill>
            <a:prstDash val="solid"/>
          </a:ln>
        </p:spPr>
      </p:sp>
      <p:sp>
        <p:nvSpPr>
          <p:cNvPr id="26" name="Text 24"/>
          <p:cNvSpPr/>
          <p:nvPr/>
        </p:nvSpPr>
        <p:spPr>
          <a:xfrm>
            <a:off x="585216" y="1152144"/>
            <a:ext cx="5254142" cy="201168"/>
          </a:xfrm>
          <a:prstGeom prst="rect">
            <a:avLst/>
          </a:prstGeom>
          <a:noFill/>
          <a:ln/>
        </p:spPr>
        <p:txBody>
          <a:bodyPr wrap="square" lIns="0" tIns="0" rIns="0" bIns="0" rtlCol="0" anchor="ctr"/>
          <a:lstStyle/>
          <a:p>
            <a:pPr algn="ctr" indent="0" marL="0">
              <a:lnSpc>
                <a:spcPct val="105000"/>
              </a:lnSpc>
              <a:buNone/>
            </a:pPr>
            <a:r>
              <a:rPr lang="en-US" sz="630" b="1" dirty="0">
                <a:solidFill>
                  <a:srgbClr val="4338CA"/>
                </a:solidFill>
                <a:latin typeface="Arial" pitchFamily="34" charset="0"/>
                <a:ea typeface="Arial" pitchFamily="34" charset="-122"/>
                <a:cs typeface="Arial" pitchFamily="34" charset="-120"/>
              </a:rPr>
              <a:t>HOP 2 MCP GATEWAY  •  WHY USER-ONLY 3LO OAUTH VAULTS BREACH IN B2B SAAS</a:t>
            </a:r>
            <a:endParaRPr lang="en-US" sz="630" dirty="0"/>
          </a:p>
        </p:txBody>
      </p:sp>
      <p:sp>
        <p:nvSpPr>
          <p:cNvPr id="27" name="Shape 25"/>
          <p:cNvSpPr/>
          <p:nvPr/>
        </p:nvSpPr>
        <p:spPr>
          <a:xfrm>
            <a:off x="585216" y="1481328"/>
            <a:ext cx="5254142" cy="1938528"/>
          </a:xfrm>
          <a:prstGeom prst="roundRect">
            <a:avLst>
              <a:gd name="adj" fmla="val 3302"/>
            </a:avLst>
          </a:prstGeom>
          <a:solidFill>
            <a:srgbClr val="FEF2F2"/>
          </a:solidFill>
          <a:ln w="10795">
            <a:solidFill>
              <a:srgbClr val="FECACA"/>
            </a:solidFill>
            <a:prstDash val="solid"/>
          </a:ln>
        </p:spPr>
      </p:sp>
      <p:sp>
        <p:nvSpPr>
          <p:cNvPr id="28" name="Shape 26"/>
          <p:cNvSpPr/>
          <p:nvPr/>
        </p:nvSpPr>
        <p:spPr>
          <a:xfrm>
            <a:off x="585216" y="1481328"/>
            <a:ext cx="54864" cy="1938528"/>
          </a:xfrm>
          <a:prstGeom prst="roundRect">
            <a:avLst>
              <a:gd name="adj" fmla="val 33333"/>
            </a:avLst>
          </a:prstGeom>
          <a:solidFill>
            <a:srgbClr val="B91C1C"/>
          </a:solidFill>
          <a:ln/>
        </p:spPr>
      </p:sp>
      <p:sp>
        <p:nvSpPr>
          <p:cNvPr id="29" name="Shape 27"/>
          <p:cNvSpPr/>
          <p:nvPr/>
        </p:nvSpPr>
        <p:spPr>
          <a:xfrm>
            <a:off x="713232" y="1591056"/>
            <a:ext cx="2971800" cy="192024"/>
          </a:xfrm>
          <a:prstGeom prst="roundRect">
            <a:avLst>
              <a:gd name="adj" fmla="val 38095"/>
            </a:avLst>
          </a:prstGeom>
          <a:solidFill>
            <a:srgbClr val="FFFFFF"/>
          </a:solidFill>
          <a:ln w="9525">
            <a:solidFill>
              <a:srgbClr val="FECACA"/>
            </a:solidFill>
            <a:prstDash val="solid"/>
          </a:ln>
        </p:spPr>
      </p:sp>
      <p:sp>
        <p:nvSpPr>
          <p:cNvPr id="30" name="Text 28"/>
          <p:cNvSpPr/>
          <p:nvPr/>
        </p:nvSpPr>
        <p:spPr>
          <a:xfrm>
            <a:off x="713232" y="1591056"/>
            <a:ext cx="2971800" cy="192024"/>
          </a:xfrm>
          <a:prstGeom prst="rect">
            <a:avLst/>
          </a:prstGeom>
          <a:noFill/>
          <a:ln/>
        </p:spPr>
        <p:txBody>
          <a:bodyPr wrap="square" lIns="0" tIns="0" rIns="0" bIns="0" rtlCol="0" anchor="ctr"/>
          <a:lstStyle/>
          <a:p>
            <a:pPr algn="ctr" indent="0" marL="0">
              <a:lnSpc>
                <a:spcPct val="105000"/>
              </a:lnSpc>
              <a:buNone/>
            </a:pPr>
            <a:r>
              <a:rPr lang="en-US" sz="620" b="1" dirty="0">
                <a:solidFill>
                  <a:srgbClr val="B91C1C"/>
                </a:solidFill>
                <a:latin typeface="Arial" pitchFamily="34" charset="0"/>
                <a:ea typeface="Arial" pitchFamily="34" charset="-122"/>
                <a:cs typeface="Arial" pitchFamily="34" charset="-120"/>
              </a:rPr>
              <a:t>VULNERABLE: USER-EMAIL-ONLY SECRET KEYING</a:t>
            </a:r>
            <a:endParaRPr lang="en-US" sz="620" dirty="0"/>
          </a:p>
        </p:txBody>
      </p:sp>
      <p:sp>
        <p:nvSpPr>
          <p:cNvPr id="31" name="Text 29"/>
          <p:cNvSpPr/>
          <p:nvPr/>
        </p:nvSpPr>
        <p:spPr>
          <a:xfrm>
            <a:off x="713232" y="1847088"/>
            <a:ext cx="4998110" cy="201168"/>
          </a:xfrm>
          <a:prstGeom prst="rect">
            <a:avLst/>
          </a:prstGeom>
          <a:noFill/>
          <a:ln/>
        </p:spPr>
        <p:txBody>
          <a:bodyPr wrap="square" lIns="0" tIns="0" rIns="0" bIns="0" rtlCol="0" anchor="ctr"/>
          <a:lstStyle/>
          <a:p>
            <a:pPr indent="0" marL="0">
              <a:buNone/>
            </a:pPr>
            <a:r>
              <a:rPr lang="en-US" sz="860" b="1" dirty="0">
                <a:solidFill>
                  <a:srgbClr val="0F172A"/>
                </a:solidFill>
                <a:latin typeface="Arial" pitchFamily="34" charset="0"/>
                <a:ea typeface="Arial" pitchFamily="34" charset="-122"/>
                <a:cs typeface="Arial" pitchFamily="34" charset="-120"/>
              </a:rPr>
              <a:t>External Contractor (alice@advisory.io) Exists in BOTH Tenants</a:t>
            </a:r>
            <a:endParaRPr lang="en-US" sz="860" dirty="0"/>
          </a:p>
        </p:txBody>
      </p:sp>
      <p:sp>
        <p:nvSpPr>
          <p:cNvPr id="32" name="Shape 30"/>
          <p:cNvSpPr/>
          <p:nvPr/>
        </p:nvSpPr>
        <p:spPr>
          <a:xfrm>
            <a:off x="713232" y="2139696"/>
            <a:ext cx="1426464" cy="841248"/>
          </a:xfrm>
          <a:prstGeom prst="roundRect">
            <a:avLst>
              <a:gd name="adj" fmla="val 7609"/>
            </a:avLst>
          </a:prstGeom>
          <a:solidFill>
            <a:srgbClr val="FFFFFF"/>
          </a:solidFill>
          <a:ln w="10795">
            <a:solidFill>
              <a:srgbClr val="FECACA"/>
            </a:solidFill>
            <a:prstDash val="solid"/>
          </a:ln>
        </p:spPr>
      </p:sp>
      <p:sp>
        <p:nvSpPr>
          <p:cNvPr id="33" name="Text 31"/>
          <p:cNvSpPr/>
          <p:nvPr/>
        </p:nvSpPr>
        <p:spPr>
          <a:xfrm>
            <a:off x="768096" y="2212848"/>
            <a:ext cx="1316736" cy="694944"/>
          </a:xfrm>
          <a:prstGeom prst="rect">
            <a:avLst/>
          </a:prstGeom>
          <a:noFill/>
          <a:ln/>
        </p:spPr>
        <p:txBody>
          <a:bodyPr wrap="square" lIns="0" tIns="0" rIns="0" bIns="0" rtlCol="0" anchor="ctr"/>
          <a:lstStyle/>
          <a:p>
            <a:pPr algn="ctr" indent="0" marL="0">
              <a:buNone/>
            </a:pPr>
            <a:r>
              <a:rPr lang="en-US" sz="700" b="1" dirty="0">
                <a:solidFill>
                  <a:srgbClr val="0F172A"/>
                </a:solidFill>
                <a:latin typeface="Arial" pitchFamily="34" charset="0"/>
                <a:ea typeface="Arial" pitchFamily="34" charset="-122"/>
                <a:cs typeface="Arial" pitchFamily="34" charset="-120"/>
              </a:rPr>
              <a:t>Alice Logs Into</a:t>
            </a:r>
            <a:endParaRPr lang="en-US" sz="700" dirty="0"/>
          </a:p>
          <a:p>
            <a:pPr algn="ctr" indent="0" marL="0">
              <a:buNone/>
            </a:pPr>
            <a:r>
              <a:rPr lang="en-US" sz="700" b="1" dirty="0">
                <a:solidFill>
                  <a:srgbClr val="0F172A"/>
                </a:solidFill>
                <a:latin typeface="Arial" pitchFamily="34" charset="0"/>
                <a:ea typeface="Arial" pitchFamily="34" charset="-122"/>
                <a:cs typeface="Arial" pitchFamily="34" charset="-120"/>
              </a:rPr>
              <a:t>RetailStream &amp;</a:t>
            </a:r>
            <a:endParaRPr lang="en-US" sz="700" dirty="0"/>
          </a:p>
          <a:p>
            <a:pPr algn="ctr" indent="0" marL="0">
              <a:buNone/>
            </a:pPr>
            <a:r>
              <a:rPr lang="en-US" sz="700" b="1" dirty="0">
                <a:solidFill>
                  <a:srgbClr val="0F172A"/>
                </a:solidFill>
                <a:latin typeface="Arial" pitchFamily="34" charset="0"/>
                <a:ea typeface="Arial" pitchFamily="34" charset="-122"/>
                <a:cs typeface="Arial" pitchFamily="34" charset="-120"/>
              </a:rPr>
              <a:t>Calls jira_search</a:t>
            </a:r>
            <a:endParaRPr lang="en-US" sz="700" dirty="0"/>
          </a:p>
        </p:txBody>
      </p:sp>
      <p:sp>
        <p:nvSpPr>
          <p:cNvPr id="34" name="Shape 32"/>
          <p:cNvSpPr/>
          <p:nvPr/>
        </p:nvSpPr>
        <p:spPr>
          <a:xfrm>
            <a:off x="2139696" y="2560320"/>
            <a:ext cx="274320" cy="0"/>
          </a:xfrm>
          <a:prstGeom prst="line">
            <a:avLst/>
          </a:prstGeom>
          <a:noFill/>
          <a:ln w="16510">
            <a:solidFill>
              <a:srgbClr val="B91C1C"/>
            </a:solidFill>
            <a:prstDash val="solid"/>
            <a:tailEnd type="triangle" w="sm" len="sm"/>
          </a:ln>
        </p:spPr>
      </p:sp>
      <p:sp>
        <p:nvSpPr>
          <p:cNvPr id="35" name="Shape 33"/>
          <p:cNvSpPr/>
          <p:nvPr/>
        </p:nvSpPr>
        <p:spPr>
          <a:xfrm>
            <a:off x="2414016" y="2139696"/>
            <a:ext cx="1517904" cy="841248"/>
          </a:xfrm>
          <a:prstGeom prst="roundRect">
            <a:avLst>
              <a:gd name="adj" fmla="val 7609"/>
            </a:avLst>
          </a:prstGeom>
          <a:solidFill>
            <a:srgbClr val="FFFFFF"/>
          </a:solidFill>
          <a:ln w="10795">
            <a:solidFill>
              <a:srgbClr val="FECACA"/>
            </a:solidFill>
            <a:prstDash val="solid"/>
          </a:ln>
        </p:spPr>
      </p:sp>
      <p:sp>
        <p:nvSpPr>
          <p:cNvPr id="36" name="Text 34"/>
          <p:cNvSpPr/>
          <p:nvPr/>
        </p:nvSpPr>
        <p:spPr>
          <a:xfrm>
            <a:off x="2468880" y="2212848"/>
            <a:ext cx="1408176" cy="694944"/>
          </a:xfrm>
          <a:prstGeom prst="rect">
            <a:avLst/>
          </a:prstGeom>
          <a:noFill/>
          <a:ln/>
        </p:spPr>
        <p:txBody>
          <a:bodyPr wrap="square" lIns="0" tIns="0" rIns="0" bIns="0" rtlCol="0" anchor="ctr"/>
          <a:lstStyle/>
          <a:p>
            <a:pPr algn="ctr" indent="0" marL="0">
              <a:buNone/>
            </a:pPr>
            <a:r>
              <a:rPr lang="en-US" sz="680" b="1" dirty="0">
                <a:solidFill>
                  <a:srgbClr val="B91C1C"/>
                </a:solidFill>
                <a:latin typeface="Courier New" pitchFamily="34" charset="0"/>
                <a:ea typeface="Courier New" pitchFamily="34" charset="-122"/>
                <a:cs typeface="Courier New" pitchFamily="34" charset="-120"/>
              </a:rPr>
              <a:t>MCP Reads Key:</a:t>
            </a:r>
            <a:endParaRPr lang="en-US" sz="680" dirty="0"/>
          </a:p>
          <a:p>
            <a:pPr algn="ctr" indent="0" marL="0">
              <a:buNone/>
            </a:pPr>
            <a:r>
              <a:rPr lang="en-US" sz="680" b="1" dirty="0">
                <a:solidFill>
                  <a:srgbClr val="B91C1C"/>
                </a:solidFill>
                <a:latin typeface="Courier New" pitchFamily="34" charset="0"/>
                <a:ea typeface="Courier New" pitchFamily="34" charset="-122"/>
                <a:cs typeface="Courier New" pitchFamily="34" charset="-120"/>
              </a:rPr>
              <a:t>oauth:jira:</a:t>
            </a:r>
            <a:endParaRPr lang="en-US" sz="680" dirty="0"/>
          </a:p>
          <a:p>
            <a:pPr algn="ctr" indent="0" marL="0">
              <a:buNone/>
            </a:pPr>
            <a:r>
              <a:rPr lang="en-US" sz="680" b="1" dirty="0">
                <a:solidFill>
                  <a:srgbClr val="B91C1C"/>
                </a:solidFill>
                <a:latin typeface="Courier New" pitchFamily="34" charset="0"/>
                <a:ea typeface="Courier New" pitchFamily="34" charset="-122"/>
                <a:cs typeface="Courier New" pitchFamily="34" charset="-120"/>
              </a:rPr>
              <a:t>alice@advisory.io</a:t>
            </a:r>
            <a:endParaRPr lang="en-US" sz="680" dirty="0"/>
          </a:p>
        </p:txBody>
      </p:sp>
      <p:sp>
        <p:nvSpPr>
          <p:cNvPr id="37" name="Shape 35"/>
          <p:cNvSpPr/>
          <p:nvPr/>
        </p:nvSpPr>
        <p:spPr>
          <a:xfrm>
            <a:off x="3931920" y="2560320"/>
            <a:ext cx="274320" cy="0"/>
          </a:xfrm>
          <a:prstGeom prst="line">
            <a:avLst/>
          </a:prstGeom>
          <a:noFill/>
          <a:ln w="16510">
            <a:solidFill>
              <a:srgbClr val="B91C1C"/>
            </a:solidFill>
            <a:prstDash val="solid"/>
            <a:tailEnd type="triangle" w="sm" len="sm"/>
          </a:ln>
        </p:spPr>
      </p:sp>
      <p:sp>
        <p:nvSpPr>
          <p:cNvPr id="38" name="Shape 36"/>
          <p:cNvSpPr/>
          <p:nvPr/>
        </p:nvSpPr>
        <p:spPr>
          <a:xfrm>
            <a:off x="4206240" y="2139696"/>
            <a:ext cx="1486814" cy="841248"/>
          </a:xfrm>
          <a:prstGeom prst="roundRect">
            <a:avLst>
              <a:gd name="adj" fmla="val 7609"/>
            </a:avLst>
          </a:prstGeom>
          <a:solidFill>
            <a:srgbClr val="B91C1C"/>
          </a:solidFill>
          <a:ln w="10795">
            <a:solidFill>
              <a:srgbClr val="B91C1C"/>
            </a:solidFill>
            <a:prstDash val="solid"/>
          </a:ln>
        </p:spPr>
      </p:sp>
      <p:sp>
        <p:nvSpPr>
          <p:cNvPr id="39" name="Text 37"/>
          <p:cNvSpPr/>
          <p:nvPr/>
        </p:nvSpPr>
        <p:spPr>
          <a:xfrm>
            <a:off x="4261104" y="2212848"/>
            <a:ext cx="1377086" cy="694944"/>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BREACH!</a:t>
            </a:r>
            <a:endParaRPr lang="en-US" sz="700" dirty="0"/>
          </a:p>
          <a:p>
            <a:pPr algn="ctr" indent="0" marL="0">
              <a:buNone/>
            </a:pPr>
            <a:r>
              <a:rPr lang="en-US" sz="700" b="1" dirty="0">
                <a:solidFill>
                  <a:srgbClr val="FFFFFF"/>
                </a:solidFill>
                <a:latin typeface="Arial" pitchFamily="34" charset="0"/>
                <a:ea typeface="Arial" pitchFamily="34" charset="-122"/>
                <a:cs typeface="Arial" pitchFamily="34" charset="-120"/>
              </a:rPr>
              <a:t>Replays FinVault</a:t>
            </a:r>
            <a:endParaRPr lang="en-US" sz="700" dirty="0"/>
          </a:p>
          <a:p>
            <a:pPr algn="ctr" indent="0" marL="0">
              <a:buNone/>
            </a:pPr>
            <a:r>
              <a:rPr lang="en-US" sz="700" b="1" dirty="0">
                <a:solidFill>
                  <a:srgbClr val="FFFFFF"/>
                </a:solidFill>
                <a:latin typeface="Arial" pitchFamily="34" charset="0"/>
                <a:ea typeface="Arial" pitchFamily="34" charset="-122"/>
                <a:cs typeface="Arial" pitchFamily="34" charset="-120"/>
              </a:rPr>
              <a:t>M&amp;A Jira Token</a:t>
            </a:r>
            <a:endParaRPr lang="en-US" sz="700" dirty="0"/>
          </a:p>
        </p:txBody>
      </p:sp>
      <p:sp>
        <p:nvSpPr>
          <p:cNvPr id="40" name="Text 38"/>
          <p:cNvSpPr/>
          <p:nvPr/>
        </p:nvSpPr>
        <p:spPr>
          <a:xfrm>
            <a:off x="713232" y="3072384"/>
            <a:ext cx="4998110" cy="219456"/>
          </a:xfrm>
          <a:prstGeom prst="rect">
            <a:avLst/>
          </a:prstGeom>
          <a:noFill/>
          <a:ln/>
        </p:spPr>
        <p:txBody>
          <a:bodyPr wrap="square" lIns="0" tIns="0" rIns="0" bIns="0" rtlCol="0" anchor="ctr"/>
          <a:lstStyle/>
          <a:p>
            <a:pPr indent="0" marL="0">
              <a:buNone/>
            </a:pPr>
            <a:r>
              <a:rPr lang="en-US" sz="710" b="1" dirty="0">
                <a:solidFill>
                  <a:srgbClr val="B91C1C"/>
                </a:solidFill>
                <a:latin typeface="Arial" pitchFamily="34" charset="0"/>
                <a:ea typeface="Arial" pitchFamily="34" charset="-122"/>
                <a:cs typeface="Arial" pitchFamily="34" charset="-120"/>
              </a:rPr>
              <a:t>Root Flaw: Consultants, auditors, and shared bots carry identical sub claims across orgs.</a:t>
            </a:r>
            <a:endParaRPr lang="en-US" sz="710" dirty="0"/>
          </a:p>
        </p:txBody>
      </p:sp>
      <p:sp>
        <p:nvSpPr>
          <p:cNvPr id="41" name="Shape 39"/>
          <p:cNvSpPr/>
          <p:nvPr/>
        </p:nvSpPr>
        <p:spPr>
          <a:xfrm>
            <a:off x="585216" y="3584448"/>
            <a:ext cx="5254142" cy="2084832"/>
          </a:xfrm>
          <a:prstGeom prst="roundRect">
            <a:avLst>
              <a:gd name="adj" fmla="val 3070"/>
            </a:avLst>
          </a:prstGeom>
          <a:solidFill>
            <a:srgbClr val="ECFDF5"/>
          </a:solidFill>
          <a:ln w="10795">
            <a:solidFill>
              <a:srgbClr val="A7F3D0"/>
            </a:solidFill>
            <a:prstDash val="solid"/>
          </a:ln>
        </p:spPr>
      </p:sp>
      <p:sp>
        <p:nvSpPr>
          <p:cNvPr id="42" name="Shape 40"/>
          <p:cNvSpPr/>
          <p:nvPr/>
        </p:nvSpPr>
        <p:spPr>
          <a:xfrm>
            <a:off x="585216" y="3584448"/>
            <a:ext cx="54864" cy="2084832"/>
          </a:xfrm>
          <a:prstGeom prst="roundRect">
            <a:avLst>
              <a:gd name="adj" fmla="val 33333"/>
            </a:avLst>
          </a:prstGeom>
          <a:solidFill>
            <a:srgbClr val="047857"/>
          </a:solidFill>
          <a:ln/>
        </p:spPr>
      </p:sp>
      <p:sp>
        <p:nvSpPr>
          <p:cNvPr id="43" name="Shape 41"/>
          <p:cNvSpPr/>
          <p:nvPr/>
        </p:nvSpPr>
        <p:spPr>
          <a:xfrm>
            <a:off x="713232" y="3694176"/>
            <a:ext cx="3337560" cy="192024"/>
          </a:xfrm>
          <a:prstGeom prst="roundRect">
            <a:avLst>
              <a:gd name="adj" fmla="val 38095"/>
            </a:avLst>
          </a:prstGeom>
          <a:solidFill>
            <a:srgbClr val="FFFFFF"/>
          </a:solidFill>
          <a:ln w="9525">
            <a:solidFill>
              <a:srgbClr val="A7F3D0"/>
            </a:solidFill>
            <a:prstDash val="solid"/>
          </a:ln>
        </p:spPr>
      </p:sp>
      <p:sp>
        <p:nvSpPr>
          <p:cNvPr id="44" name="Text 42"/>
          <p:cNvSpPr/>
          <p:nvPr/>
        </p:nvSpPr>
        <p:spPr>
          <a:xfrm>
            <a:off x="713232" y="3694176"/>
            <a:ext cx="3337560" cy="192024"/>
          </a:xfrm>
          <a:prstGeom prst="rect">
            <a:avLst/>
          </a:prstGeom>
          <a:noFill/>
          <a:ln/>
        </p:spPr>
        <p:txBody>
          <a:bodyPr wrap="square" lIns="0" tIns="0" rIns="0" bIns="0" rtlCol="0" anchor="ctr"/>
          <a:lstStyle/>
          <a:p>
            <a:pPr algn="ctr" indent="0" marL="0">
              <a:lnSpc>
                <a:spcPct val="105000"/>
              </a:lnSpc>
              <a:buNone/>
            </a:pPr>
            <a:r>
              <a:rPr lang="en-US" sz="620" b="1" dirty="0">
                <a:solidFill>
                  <a:srgbClr val="047857"/>
                </a:solidFill>
                <a:latin typeface="Arial" pitchFamily="34" charset="0"/>
                <a:ea typeface="Arial" pitchFamily="34" charset="-122"/>
                <a:cs typeface="Arial" pitchFamily="34" charset="-120"/>
              </a:rPr>
              <a:t>ENFORCED: COMPOSITE TENANT + SUBJECT VAULT KEY</a:t>
            </a:r>
            <a:endParaRPr lang="en-US" sz="620" dirty="0"/>
          </a:p>
        </p:txBody>
      </p:sp>
      <p:sp>
        <p:nvSpPr>
          <p:cNvPr id="45" name="Text 43"/>
          <p:cNvSpPr/>
          <p:nvPr/>
        </p:nvSpPr>
        <p:spPr>
          <a:xfrm>
            <a:off x="713232" y="3950208"/>
            <a:ext cx="4998110" cy="201168"/>
          </a:xfrm>
          <a:prstGeom prst="rect">
            <a:avLst/>
          </a:prstGeom>
          <a:noFill/>
          <a:ln/>
        </p:spPr>
        <p:txBody>
          <a:bodyPr wrap="square" lIns="0" tIns="0" rIns="0" bIns="0" rtlCol="0" anchor="ctr"/>
          <a:lstStyle/>
          <a:p>
            <a:pPr indent="0" marL="0">
              <a:buNone/>
            </a:pPr>
            <a:r>
              <a:rPr lang="en-US" sz="860" b="1" dirty="0">
                <a:solidFill>
                  <a:srgbClr val="0F172A"/>
                </a:solidFill>
                <a:latin typeface="Arial" pitchFamily="34" charset="0"/>
                <a:ea typeface="Arial" pitchFamily="34" charset="-122"/>
                <a:cs typeface="Arial" pitchFamily="34" charset="-120"/>
              </a:rPr>
              <a:t>Cryptographic Composite Path Inside Secret Manager / Vault</a:t>
            </a:r>
            <a:endParaRPr lang="en-US" sz="860" dirty="0"/>
          </a:p>
        </p:txBody>
      </p:sp>
      <p:sp>
        <p:nvSpPr>
          <p:cNvPr id="46" name="Shape 44"/>
          <p:cNvSpPr/>
          <p:nvPr/>
        </p:nvSpPr>
        <p:spPr>
          <a:xfrm>
            <a:off x="713232" y="4242816"/>
            <a:ext cx="1426464" cy="877824"/>
          </a:xfrm>
          <a:prstGeom prst="roundRect">
            <a:avLst>
              <a:gd name="adj" fmla="val 7292"/>
            </a:avLst>
          </a:prstGeom>
          <a:solidFill>
            <a:srgbClr val="FFFFFF"/>
          </a:solidFill>
          <a:ln w="10795">
            <a:solidFill>
              <a:srgbClr val="A7F3D0"/>
            </a:solidFill>
            <a:prstDash val="solid"/>
          </a:ln>
        </p:spPr>
      </p:sp>
      <p:sp>
        <p:nvSpPr>
          <p:cNvPr id="47" name="Text 45"/>
          <p:cNvSpPr/>
          <p:nvPr/>
        </p:nvSpPr>
        <p:spPr>
          <a:xfrm>
            <a:off x="768096" y="4315968"/>
            <a:ext cx="1316736" cy="731520"/>
          </a:xfrm>
          <a:prstGeom prst="rect">
            <a:avLst/>
          </a:prstGeom>
          <a:noFill/>
          <a:ln/>
        </p:spPr>
        <p:txBody>
          <a:bodyPr wrap="square" lIns="0" tIns="0" rIns="0" bIns="0" rtlCol="0" anchor="ctr"/>
          <a:lstStyle/>
          <a:p>
            <a:pPr algn="ctr" indent="0" marL="0">
              <a:buNone/>
            </a:pPr>
            <a:r>
              <a:rPr lang="en-US" sz="700" b="1" dirty="0">
                <a:solidFill>
                  <a:srgbClr val="047857"/>
                </a:solidFill>
                <a:latin typeface="Arial" pitchFamily="34" charset="0"/>
                <a:ea typeface="Arial" pitchFamily="34" charset="-122"/>
                <a:cs typeface="Arial" pitchFamily="34" charset="-120"/>
              </a:rPr>
              <a:t>before_tool Hook</a:t>
            </a:r>
            <a:endParaRPr lang="en-US" sz="700" dirty="0"/>
          </a:p>
          <a:p>
            <a:pPr algn="ctr" indent="0" marL="0">
              <a:buNone/>
            </a:pPr>
            <a:r>
              <a:rPr lang="en-US" sz="700" b="1" dirty="0">
                <a:solidFill>
                  <a:srgbClr val="047857"/>
                </a:solidFill>
                <a:latin typeface="Arial" pitchFamily="34" charset="0"/>
                <a:ea typeface="Arial" pitchFamily="34" charset="-122"/>
                <a:cs typeface="Arial" pitchFamily="34" charset="-120"/>
              </a:rPr>
              <a:t>Extracts BOTH</a:t>
            </a:r>
            <a:endParaRPr lang="en-US" sz="700" dirty="0"/>
          </a:p>
          <a:p>
            <a:pPr algn="ctr" indent="0" marL="0">
              <a:buNone/>
            </a:pPr>
            <a:r>
              <a:rPr lang="en-US" sz="700" b="1" dirty="0">
                <a:solidFill>
                  <a:srgbClr val="047857"/>
                </a:solidFill>
                <a:latin typeface="Arial" pitchFamily="34" charset="0"/>
                <a:ea typeface="Arial" pitchFamily="34" charset="-122"/>
                <a:cs typeface="Arial" pitchFamily="34" charset="-120"/>
              </a:rPr>
              <a:t>tenant_id + sub</a:t>
            </a:r>
            <a:endParaRPr lang="en-US" sz="700" dirty="0"/>
          </a:p>
        </p:txBody>
      </p:sp>
      <p:sp>
        <p:nvSpPr>
          <p:cNvPr id="48" name="Shape 46"/>
          <p:cNvSpPr/>
          <p:nvPr/>
        </p:nvSpPr>
        <p:spPr>
          <a:xfrm>
            <a:off x="2139696" y="4681728"/>
            <a:ext cx="274320" cy="0"/>
          </a:xfrm>
          <a:prstGeom prst="line">
            <a:avLst/>
          </a:prstGeom>
          <a:noFill/>
          <a:ln w="16510">
            <a:solidFill>
              <a:srgbClr val="047857"/>
            </a:solidFill>
            <a:prstDash val="solid"/>
            <a:tailEnd type="triangle" w="sm" len="sm"/>
          </a:ln>
        </p:spPr>
      </p:sp>
      <p:sp>
        <p:nvSpPr>
          <p:cNvPr id="49" name="Shape 47"/>
          <p:cNvSpPr/>
          <p:nvPr/>
        </p:nvSpPr>
        <p:spPr>
          <a:xfrm>
            <a:off x="2414016" y="4242816"/>
            <a:ext cx="1517904" cy="877824"/>
          </a:xfrm>
          <a:prstGeom prst="roundRect">
            <a:avLst>
              <a:gd name="adj" fmla="val 7292"/>
            </a:avLst>
          </a:prstGeom>
          <a:solidFill>
            <a:srgbClr val="FFFFFF"/>
          </a:solidFill>
          <a:ln w="10795">
            <a:solidFill>
              <a:srgbClr val="A7F3D0"/>
            </a:solidFill>
            <a:prstDash val="solid"/>
          </a:ln>
        </p:spPr>
      </p:sp>
      <p:sp>
        <p:nvSpPr>
          <p:cNvPr id="50" name="Text 48"/>
          <p:cNvSpPr/>
          <p:nvPr/>
        </p:nvSpPr>
        <p:spPr>
          <a:xfrm>
            <a:off x="2468880" y="4315968"/>
            <a:ext cx="1408176" cy="731520"/>
          </a:xfrm>
          <a:prstGeom prst="rect">
            <a:avLst/>
          </a:prstGeom>
          <a:noFill/>
          <a:ln/>
        </p:spPr>
        <p:txBody>
          <a:bodyPr wrap="square" lIns="0" tIns="0" rIns="0" bIns="0" rtlCol="0" anchor="ctr"/>
          <a:lstStyle/>
          <a:p>
            <a:pPr algn="ctr" indent="0" marL="0">
              <a:buNone/>
            </a:pPr>
            <a:r>
              <a:rPr lang="en-US" sz="680" b="1" dirty="0">
                <a:solidFill>
                  <a:srgbClr val="0F172A"/>
                </a:solidFill>
                <a:latin typeface="Courier New" pitchFamily="34" charset="0"/>
                <a:ea typeface="Courier New" pitchFamily="34" charset="-122"/>
                <a:cs typeface="Courier New" pitchFamily="34" charset="-120"/>
              </a:rPr>
              <a:t>vault:retailstream</a:t>
            </a:r>
            <a:endParaRPr lang="en-US" sz="680" dirty="0"/>
          </a:p>
          <a:p>
            <a:pPr algn="ctr" indent="0" marL="0">
              <a:buNone/>
            </a:pPr>
            <a:r>
              <a:rPr lang="en-US" sz="680" b="1" dirty="0">
                <a:solidFill>
                  <a:srgbClr val="0F172A"/>
                </a:solidFill>
                <a:latin typeface="Courier New" pitchFamily="34" charset="0"/>
                <a:ea typeface="Courier New" pitchFamily="34" charset="-122"/>
                <a:cs typeface="Courier New" pitchFamily="34" charset="-120"/>
              </a:rPr>
              <a:t>:alice@advisory.io</a:t>
            </a:r>
            <a:endParaRPr lang="en-US" sz="680" dirty="0"/>
          </a:p>
          <a:p>
            <a:pPr algn="ctr" indent="0" marL="0">
              <a:buNone/>
            </a:pPr>
            <a:r>
              <a:rPr lang="en-US" sz="680" b="1" dirty="0">
                <a:solidFill>
                  <a:srgbClr val="0F172A"/>
                </a:solidFill>
                <a:latin typeface="Courier New" pitchFamily="34" charset="0"/>
                <a:ea typeface="Courier New" pitchFamily="34" charset="-122"/>
                <a:cs typeface="Courier New" pitchFamily="34" charset="-120"/>
              </a:rPr>
              <a:t>:jira</a:t>
            </a:r>
            <a:endParaRPr lang="en-US" sz="680" dirty="0"/>
          </a:p>
        </p:txBody>
      </p:sp>
      <p:sp>
        <p:nvSpPr>
          <p:cNvPr id="51" name="Shape 49"/>
          <p:cNvSpPr/>
          <p:nvPr/>
        </p:nvSpPr>
        <p:spPr>
          <a:xfrm>
            <a:off x="3931920" y="4681728"/>
            <a:ext cx="274320" cy="0"/>
          </a:xfrm>
          <a:prstGeom prst="line">
            <a:avLst/>
          </a:prstGeom>
          <a:noFill/>
          <a:ln w="16510">
            <a:solidFill>
              <a:srgbClr val="047857"/>
            </a:solidFill>
            <a:prstDash val="solid"/>
            <a:tailEnd type="triangle" w="sm" len="sm"/>
          </a:ln>
        </p:spPr>
      </p:sp>
      <p:sp>
        <p:nvSpPr>
          <p:cNvPr id="52" name="Shape 50"/>
          <p:cNvSpPr/>
          <p:nvPr/>
        </p:nvSpPr>
        <p:spPr>
          <a:xfrm>
            <a:off x="4206240" y="4242816"/>
            <a:ext cx="1486814" cy="877824"/>
          </a:xfrm>
          <a:prstGeom prst="roundRect">
            <a:avLst>
              <a:gd name="adj" fmla="val 7292"/>
            </a:avLst>
          </a:prstGeom>
          <a:solidFill>
            <a:srgbClr val="047857"/>
          </a:solidFill>
          <a:ln w="10795">
            <a:solidFill>
              <a:srgbClr val="047857"/>
            </a:solidFill>
            <a:prstDash val="solid"/>
          </a:ln>
        </p:spPr>
      </p:sp>
      <p:sp>
        <p:nvSpPr>
          <p:cNvPr id="53" name="Text 51"/>
          <p:cNvSpPr/>
          <p:nvPr/>
        </p:nvSpPr>
        <p:spPr>
          <a:xfrm>
            <a:off x="4261104" y="4315968"/>
            <a:ext cx="1377086" cy="73152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Cache Miss →</a:t>
            </a:r>
            <a:endParaRPr lang="en-US" sz="700" dirty="0"/>
          </a:p>
          <a:p>
            <a:pPr algn="ctr" indent="0" marL="0">
              <a:buNone/>
            </a:pPr>
            <a:r>
              <a:rPr lang="en-US" sz="700" b="1" dirty="0">
                <a:solidFill>
                  <a:srgbClr val="FFFFFF"/>
                </a:solidFill>
                <a:latin typeface="Arial" pitchFamily="34" charset="0"/>
                <a:ea typeface="Arial" pitchFamily="34" charset="-122"/>
                <a:cs typeface="Arial" pitchFamily="34" charset="-120"/>
              </a:rPr>
              <a:t>HTTP 403 Step-Up</a:t>
            </a:r>
            <a:endParaRPr lang="en-US" sz="700" dirty="0"/>
          </a:p>
          <a:p>
            <a:pPr algn="ctr" indent="0" marL="0">
              <a:buNone/>
            </a:pPr>
            <a:r>
              <a:rPr lang="en-US" sz="700" b="1" dirty="0">
                <a:solidFill>
                  <a:srgbClr val="FFFFFF"/>
                </a:solidFill>
                <a:latin typeface="Arial" pitchFamily="34" charset="0"/>
                <a:ea typeface="Arial" pitchFamily="34" charset="-122"/>
                <a:cs typeface="Arial" pitchFamily="34" charset="-120"/>
              </a:rPr>
              <a:t>OAuth Challenge</a:t>
            </a:r>
            <a:endParaRPr lang="en-US" sz="700" dirty="0"/>
          </a:p>
        </p:txBody>
      </p:sp>
      <p:sp>
        <p:nvSpPr>
          <p:cNvPr id="54" name="Text 52"/>
          <p:cNvSpPr/>
          <p:nvPr/>
        </p:nvSpPr>
        <p:spPr>
          <a:xfrm>
            <a:off x="713232" y="5230368"/>
            <a:ext cx="4998110" cy="310896"/>
          </a:xfrm>
          <a:prstGeom prst="rect">
            <a:avLst/>
          </a:prstGeom>
          <a:noFill/>
          <a:ln/>
        </p:spPr>
        <p:txBody>
          <a:bodyPr wrap="square" lIns="0" tIns="0" rIns="0" bIns="0" rtlCol="0" anchor="ctr"/>
          <a:lstStyle/>
          <a:p>
            <a:pPr indent="0" marL="0">
              <a:buNone/>
            </a:pPr>
            <a:r>
              <a:rPr lang="en-US" sz="710" b="1" dirty="0">
                <a:solidFill>
                  <a:srgbClr val="047857"/>
                </a:solidFill>
                <a:latin typeface="Arial" pitchFamily="34" charset="0"/>
                <a:ea typeface="Arial" pitchFamily="34" charset="-122"/>
                <a:cs typeface="Arial" pitchFamily="34" charset="-120"/>
              </a:rPr>
              <a:t>Guarantee: FinVault OAuth grants are mathematically unreachable from any non-FinVault turn.</a:t>
            </a:r>
            <a:endParaRPr lang="en-US" sz="710" dirty="0"/>
          </a:p>
        </p:txBody>
      </p:sp>
      <p:sp>
        <p:nvSpPr>
          <p:cNvPr id="55" name="Shape 53"/>
          <p:cNvSpPr/>
          <p:nvPr/>
        </p:nvSpPr>
        <p:spPr>
          <a:xfrm>
            <a:off x="6227978" y="1049731"/>
            <a:ext cx="5546750" cy="4791456"/>
          </a:xfrm>
          <a:prstGeom prst="roundRect">
            <a:avLst>
              <a:gd name="adj" fmla="val 1336"/>
            </a:avLst>
          </a:prstGeom>
          <a:solidFill>
            <a:srgbClr val="E2E8F0"/>
          </a:solidFill>
          <a:ln/>
        </p:spPr>
      </p:sp>
      <p:sp>
        <p:nvSpPr>
          <p:cNvPr id="56" name="Shape 54"/>
          <p:cNvSpPr/>
          <p:nvPr/>
        </p:nvSpPr>
        <p:spPr>
          <a:xfrm>
            <a:off x="6205118" y="1024128"/>
            <a:ext cx="5546750" cy="4791456"/>
          </a:xfrm>
          <a:prstGeom prst="roundRect">
            <a:avLst>
              <a:gd name="adj" fmla="val 1336"/>
            </a:avLst>
          </a:prstGeom>
          <a:solidFill>
            <a:srgbClr val="FFFFFF"/>
          </a:solidFill>
          <a:ln w="10795">
            <a:solidFill>
              <a:srgbClr val="BFDBFE"/>
            </a:solidFill>
            <a:prstDash val="solid"/>
          </a:ln>
        </p:spPr>
      </p:sp>
      <p:sp>
        <p:nvSpPr>
          <p:cNvPr id="57" name="Shape 55"/>
          <p:cNvSpPr/>
          <p:nvPr/>
        </p:nvSpPr>
        <p:spPr>
          <a:xfrm>
            <a:off x="6205118" y="1024128"/>
            <a:ext cx="5546750" cy="50292"/>
          </a:xfrm>
          <a:prstGeom prst="roundRect">
            <a:avLst>
              <a:gd name="adj" fmla="val 36364"/>
            </a:avLst>
          </a:prstGeom>
          <a:solidFill>
            <a:srgbClr val="1D4ED8"/>
          </a:solidFill>
          <a:ln/>
        </p:spPr>
      </p:sp>
      <p:sp>
        <p:nvSpPr>
          <p:cNvPr id="58" name="Shape 56"/>
          <p:cNvSpPr/>
          <p:nvPr/>
        </p:nvSpPr>
        <p:spPr>
          <a:xfrm>
            <a:off x="6351422" y="1152144"/>
            <a:ext cx="5254142" cy="201168"/>
          </a:xfrm>
          <a:prstGeom prst="roundRect">
            <a:avLst>
              <a:gd name="adj" fmla="val 36364"/>
            </a:avLst>
          </a:prstGeom>
          <a:solidFill>
            <a:srgbClr val="EFF6FF"/>
          </a:solidFill>
          <a:ln w="9525">
            <a:solidFill>
              <a:srgbClr val="BFDBFE"/>
            </a:solidFill>
            <a:prstDash val="solid"/>
          </a:ln>
        </p:spPr>
      </p:sp>
      <p:sp>
        <p:nvSpPr>
          <p:cNvPr id="59" name="Text 57"/>
          <p:cNvSpPr/>
          <p:nvPr/>
        </p:nvSpPr>
        <p:spPr>
          <a:xfrm>
            <a:off x="6351422" y="1152144"/>
            <a:ext cx="5254142" cy="201168"/>
          </a:xfrm>
          <a:prstGeom prst="rect">
            <a:avLst/>
          </a:prstGeom>
          <a:noFill/>
          <a:ln/>
        </p:spPr>
        <p:txBody>
          <a:bodyPr wrap="square" lIns="0" tIns="0" rIns="0" bIns="0" rtlCol="0" anchor="ctr"/>
          <a:lstStyle/>
          <a:p>
            <a:pPr algn="ctr" indent="0" marL="0">
              <a:lnSpc>
                <a:spcPct val="105000"/>
              </a:lnSpc>
              <a:buNone/>
            </a:pPr>
            <a:r>
              <a:rPr lang="en-US" sz="630" b="1" dirty="0">
                <a:solidFill>
                  <a:srgbClr val="1D4ED8"/>
                </a:solidFill>
                <a:latin typeface="Arial" pitchFamily="34" charset="0"/>
                <a:ea typeface="Arial" pitchFamily="34" charset="-122"/>
                <a:cs typeface="Arial" pitchFamily="34" charset="-120"/>
              </a:rPr>
              <a:t>HOPS 3 &amp; 5 STATE GUARDS  •  SESSION REPLAY, SNAPSHOT AEAD &amp; FORCE RLS</a:t>
            </a:r>
            <a:endParaRPr lang="en-US" sz="630" dirty="0"/>
          </a:p>
        </p:txBody>
      </p:sp>
      <p:sp>
        <p:nvSpPr>
          <p:cNvPr id="60" name="Shape 58"/>
          <p:cNvSpPr/>
          <p:nvPr/>
        </p:nvSpPr>
        <p:spPr>
          <a:xfrm>
            <a:off x="6607454" y="1828800"/>
            <a:ext cx="0" cy="3383280"/>
          </a:xfrm>
          <a:prstGeom prst="line">
            <a:avLst/>
          </a:prstGeom>
          <a:noFill/>
          <a:ln w="17780">
            <a:solidFill>
              <a:srgbClr val="94A3B8"/>
            </a:solidFill>
            <a:prstDash val="solid"/>
          </a:ln>
        </p:spPr>
      </p:sp>
      <p:sp>
        <p:nvSpPr>
          <p:cNvPr id="61" name="Shape 59"/>
          <p:cNvSpPr/>
          <p:nvPr/>
        </p:nvSpPr>
        <p:spPr>
          <a:xfrm>
            <a:off x="6387998" y="1901952"/>
            <a:ext cx="438912" cy="438912"/>
          </a:xfrm>
          <a:prstGeom prst="ellipse">
            <a:avLst/>
          </a:prstGeom>
          <a:solidFill>
            <a:srgbClr val="1D4ED8"/>
          </a:solidFill>
          <a:ln/>
        </p:spPr>
      </p:sp>
      <p:sp>
        <p:nvSpPr>
          <p:cNvPr id="62" name="Text 60"/>
          <p:cNvSpPr/>
          <p:nvPr/>
        </p:nvSpPr>
        <p:spPr>
          <a:xfrm>
            <a:off x="6387998" y="1901952"/>
            <a:ext cx="438912" cy="438912"/>
          </a:xfrm>
          <a:prstGeom prst="rect">
            <a:avLst/>
          </a:prstGeom>
          <a:noFill/>
          <a:ln/>
        </p:spPr>
        <p:txBody>
          <a:bodyPr wrap="square" lIns="0" tIns="0" rIns="0" bIns="0" rtlCol="0" anchor="ctr"/>
          <a:lstStyle/>
          <a:p>
            <a:pPr algn="ctr" indent="0" marL="0">
              <a:lnSpc>
                <a:spcPct val="100000"/>
              </a:lnSpc>
              <a:buNone/>
            </a:pPr>
            <a:r>
              <a:rPr lang="en-US" sz="620" b="1" dirty="0">
                <a:solidFill>
                  <a:srgbClr val="FFFFFF"/>
                </a:solidFill>
                <a:latin typeface="Arial" pitchFamily="34" charset="0"/>
                <a:ea typeface="Arial" pitchFamily="34" charset="-122"/>
                <a:cs typeface="Arial" pitchFamily="34" charset="-120"/>
              </a:rPr>
              <a:t>HOP 3A</a:t>
            </a:r>
            <a:endParaRPr lang="en-US" sz="620" dirty="0"/>
          </a:p>
        </p:txBody>
      </p:sp>
      <p:sp>
        <p:nvSpPr>
          <p:cNvPr id="63" name="Shape 61"/>
          <p:cNvSpPr/>
          <p:nvPr/>
        </p:nvSpPr>
        <p:spPr>
          <a:xfrm>
            <a:off x="6918350" y="1499616"/>
            <a:ext cx="4687214" cy="1261872"/>
          </a:xfrm>
          <a:prstGeom prst="roundRect">
            <a:avLst>
              <a:gd name="adj" fmla="val 5072"/>
            </a:avLst>
          </a:prstGeom>
          <a:solidFill>
            <a:srgbClr val="EFF6FF"/>
          </a:solidFill>
          <a:ln w="10795">
            <a:solidFill>
              <a:srgbClr val="BFDBFE"/>
            </a:solidFill>
            <a:prstDash val="solid"/>
          </a:ln>
        </p:spPr>
      </p:sp>
      <p:sp>
        <p:nvSpPr>
          <p:cNvPr id="64" name="Shape 62"/>
          <p:cNvSpPr/>
          <p:nvPr/>
        </p:nvSpPr>
        <p:spPr>
          <a:xfrm>
            <a:off x="6918350" y="1499616"/>
            <a:ext cx="54864" cy="1261872"/>
          </a:xfrm>
          <a:prstGeom prst="roundRect">
            <a:avLst>
              <a:gd name="adj" fmla="val 33333"/>
            </a:avLst>
          </a:prstGeom>
          <a:solidFill>
            <a:srgbClr val="1D4ED8"/>
          </a:solidFill>
          <a:ln/>
        </p:spPr>
      </p:sp>
      <p:sp>
        <p:nvSpPr>
          <p:cNvPr id="65" name="Text 63"/>
          <p:cNvSpPr/>
          <p:nvPr/>
        </p:nvSpPr>
        <p:spPr>
          <a:xfrm>
            <a:off x="7046366" y="1591056"/>
            <a:ext cx="4449470" cy="201168"/>
          </a:xfrm>
          <a:prstGeom prst="rect">
            <a:avLst/>
          </a:prstGeom>
          <a:noFill/>
          <a:ln/>
        </p:spPr>
        <p:txBody>
          <a:bodyPr wrap="square" lIns="0" tIns="0" rIns="0" bIns="0" rtlCol="0" anchor="ctr"/>
          <a:lstStyle/>
          <a:p>
            <a:pPr indent="0" marL="0">
              <a:buNone/>
            </a:pPr>
            <a:r>
              <a:rPr lang="en-US" sz="860" b="1" dirty="0">
                <a:solidFill>
                  <a:srgbClr val="0F172A"/>
                </a:solidFill>
                <a:latin typeface="Arial" pitchFamily="34" charset="0"/>
                <a:ea typeface="Arial" pitchFamily="34" charset="-122"/>
                <a:cs typeface="Arial" pitchFamily="34" charset="-120"/>
              </a:rPr>
              <a:t>ADK Session Ownership Assertion (Anti-Hijack)</a:t>
            </a:r>
            <a:endParaRPr lang="en-US" sz="860" dirty="0"/>
          </a:p>
        </p:txBody>
      </p:sp>
      <p:sp>
        <p:nvSpPr>
          <p:cNvPr id="66" name="Shape 64"/>
          <p:cNvSpPr/>
          <p:nvPr/>
        </p:nvSpPr>
        <p:spPr>
          <a:xfrm>
            <a:off x="7046366" y="1828800"/>
            <a:ext cx="4449470" cy="292608"/>
          </a:xfrm>
          <a:prstGeom prst="roundRect">
            <a:avLst>
              <a:gd name="adj" fmla="val 21875"/>
            </a:avLst>
          </a:prstGeom>
          <a:solidFill>
            <a:srgbClr val="FFFFFF"/>
          </a:solidFill>
          <a:ln w="10795">
            <a:solidFill>
              <a:srgbClr val="BFDBFE"/>
            </a:solidFill>
            <a:prstDash val="solid"/>
          </a:ln>
        </p:spPr>
      </p:sp>
      <p:sp>
        <p:nvSpPr>
          <p:cNvPr id="67" name="Text 65"/>
          <p:cNvSpPr/>
          <p:nvPr/>
        </p:nvSpPr>
        <p:spPr>
          <a:xfrm>
            <a:off x="7119518" y="1828800"/>
            <a:ext cx="4303166" cy="292608"/>
          </a:xfrm>
          <a:prstGeom prst="rect">
            <a:avLst/>
          </a:prstGeom>
          <a:noFill/>
          <a:ln/>
        </p:spPr>
        <p:txBody>
          <a:bodyPr wrap="square" lIns="0" tIns="0" rIns="0" bIns="0" rtlCol="0" anchor="ctr"/>
          <a:lstStyle/>
          <a:p>
            <a:pPr indent="0" marL="0">
              <a:buNone/>
            </a:pPr>
            <a:r>
              <a:rPr lang="en-US" sz="720" b="1" dirty="0">
                <a:solidFill>
                  <a:srgbClr val="1D4ED8"/>
                </a:solidFill>
                <a:latin typeface="Courier New" pitchFamily="34" charset="0"/>
                <a:ea typeface="Courier New" pitchFamily="34" charset="-122"/>
                <a:cs typeface="Courier New" pitchFamily="34" charset="-120"/>
              </a:rPr>
              <a:t>assert session.state["tenant_id"] == jwt.tenant_id</a:t>
            </a:r>
            <a:endParaRPr lang="en-US" sz="720" dirty="0"/>
          </a:p>
        </p:txBody>
      </p:sp>
      <p:sp>
        <p:nvSpPr>
          <p:cNvPr id="68" name="Text 66"/>
          <p:cNvSpPr/>
          <p:nvPr/>
        </p:nvSpPr>
        <p:spPr>
          <a:xfrm>
            <a:off x="7046366" y="2194560"/>
            <a:ext cx="4449470" cy="493776"/>
          </a:xfrm>
          <a:prstGeom prst="rect">
            <a:avLst/>
          </a:prstGeom>
          <a:noFill/>
          <a:ln/>
        </p:spPr>
        <p:txBody>
          <a:bodyPr wrap="square" lIns="0" tIns="0" rIns="0" bIns="0" rtlCol="0" anchor="ctr"/>
          <a:lstStyle/>
          <a:p>
            <a:pPr indent="0" marL="0">
              <a:lnSpc>
                <a:spcPct val="107000"/>
              </a:lnSpc>
              <a:buNone/>
            </a:pPr>
            <a:r>
              <a:rPr lang="en-US" sz="710" dirty="0">
                <a:solidFill>
                  <a:srgbClr val="334155"/>
                </a:solidFill>
                <a:latin typeface="Arial" pitchFamily="34" charset="0"/>
                <a:ea typeface="Arial" pitchFamily="34" charset="-122"/>
                <a:cs typeface="Arial" pitchFamily="34" charset="-120"/>
              </a:rPr>
              <a:t>Runs inside before_agent_callback BEFORE loading episodic history—blocking stolen or guessed session_id UUID replay with HTTP 403.</a:t>
            </a:r>
            <a:endParaRPr lang="en-US" sz="710" dirty="0"/>
          </a:p>
        </p:txBody>
      </p:sp>
      <p:sp>
        <p:nvSpPr>
          <p:cNvPr id="69" name="Shape 67"/>
          <p:cNvSpPr/>
          <p:nvPr/>
        </p:nvSpPr>
        <p:spPr>
          <a:xfrm>
            <a:off x="6387998" y="3310128"/>
            <a:ext cx="438912" cy="438912"/>
          </a:xfrm>
          <a:prstGeom prst="ellipse">
            <a:avLst/>
          </a:prstGeom>
          <a:solidFill>
            <a:srgbClr val="4338CA"/>
          </a:solidFill>
          <a:ln/>
        </p:spPr>
      </p:sp>
      <p:sp>
        <p:nvSpPr>
          <p:cNvPr id="70" name="Text 68"/>
          <p:cNvSpPr/>
          <p:nvPr/>
        </p:nvSpPr>
        <p:spPr>
          <a:xfrm>
            <a:off x="6387998" y="3310128"/>
            <a:ext cx="438912" cy="438912"/>
          </a:xfrm>
          <a:prstGeom prst="rect">
            <a:avLst/>
          </a:prstGeom>
          <a:noFill/>
          <a:ln/>
        </p:spPr>
        <p:txBody>
          <a:bodyPr wrap="square" lIns="0" tIns="0" rIns="0" bIns="0" rtlCol="0" anchor="ctr"/>
          <a:lstStyle/>
          <a:p>
            <a:pPr algn="ctr" indent="0" marL="0">
              <a:lnSpc>
                <a:spcPct val="100000"/>
              </a:lnSpc>
              <a:buNone/>
            </a:pPr>
            <a:r>
              <a:rPr lang="en-US" sz="620" b="1" dirty="0">
                <a:solidFill>
                  <a:srgbClr val="FFFFFF"/>
                </a:solidFill>
                <a:latin typeface="Arial" pitchFamily="34" charset="0"/>
                <a:ea typeface="Arial" pitchFamily="34" charset="-122"/>
                <a:cs typeface="Arial" pitchFamily="34" charset="-120"/>
              </a:rPr>
              <a:t>HOP 3B</a:t>
            </a:r>
            <a:endParaRPr lang="en-US" sz="620" dirty="0"/>
          </a:p>
        </p:txBody>
      </p:sp>
      <p:sp>
        <p:nvSpPr>
          <p:cNvPr id="71" name="Shape 69"/>
          <p:cNvSpPr/>
          <p:nvPr/>
        </p:nvSpPr>
        <p:spPr>
          <a:xfrm>
            <a:off x="6918350" y="2907792"/>
            <a:ext cx="4687214" cy="1261872"/>
          </a:xfrm>
          <a:prstGeom prst="roundRect">
            <a:avLst>
              <a:gd name="adj" fmla="val 5072"/>
            </a:avLst>
          </a:prstGeom>
          <a:solidFill>
            <a:srgbClr val="EEF2FF"/>
          </a:solidFill>
          <a:ln w="10795">
            <a:solidFill>
              <a:srgbClr val="C7D2FE"/>
            </a:solidFill>
            <a:prstDash val="solid"/>
          </a:ln>
        </p:spPr>
      </p:sp>
      <p:sp>
        <p:nvSpPr>
          <p:cNvPr id="72" name="Shape 70"/>
          <p:cNvSpPr/>
          <p:nvPr/>
        </p:nvSpPr>
        <p:spPr>
          <a:xfrm>
            <a:off x="6918350" y="2907792"/>
            <a:ext cx="54864" cy="1261872"/>
          </a:xfrm>
          <a:prstGeom prst="roundRect">
            <a:avLst>
              <a:gd name="adj" fmla="val 33333"/>
            </a:avLst>
          </a:prstGeom>
          <a:solidFill>
            <a:srgbClr val="4338CA"/>
          </a:solidFill>
          <a:ln/>
        </p:spPr>
      </p:sp>
      <p:sp>
        <p:nvSpPr>
          <p:cNvPr id="73" name="Text 71"/>
          <p:cNvSpPr/>
          <p:nvPr/>
        </p:nvSpPr>
        <p:spPr>
          <a:xfrm>
            <a:off x="7046366" y="2999232"/>
            <a:ext cx="4449470" cy="201168"/>
          </a:xfrm>
          <a:prstGeom prst="rect">
            <a:avLst/>
          </a:prstGeom>
          <a:noFill/>
          <a:ln/>
        </p:spPr>
        <p:txBody>
          <a:bodyPr wrap="square" lIns="0" tIns="0" rIns="0" bIns="0" rtlCol="0" anchor="ctr"/>
          <a:lstStyle/>
          <a:p>
            <a:pPr indent="0" marL="0">
              <a:buNone/>
            </a:pPr>
            <a:r>
              <a:rPr lang="en-US" sz="860" b="1" dirty="0">
                <a:solidFill>
                  <a:srgbClr val="0F172A"/>
                </a:solidFill>
                <a:latin typeface="Arial" pitchFamily="34" charset="0"/>
                <a:ea typeface="Arial" pitchFamily="34" charset="-122"/>
                <a:cs typeface="Arial" pitchFamily="34" charset="-120"/>
              </a:rPr>
              <a:t>Tink AEAD Envelope Encryption + Tenant AAD</a:t>
            </a:r>
            <a:endParaRPr lang="en-US" sz="860" dirty="0"/>
          </a:p>
        </p:txBody>
      </p:sp>
      <p:sp>
        <p:nvSpPr>
          <p:cNvPr id="74" name="Shape 72"/>
          <p:cNvSpPr/>
          <p:nvPr/>
        </p:nvSpPr>
        <p:spPr>
          <a:xfrm>
            <a:off x="7046366" y="3236976"/>
            <a:ext cx="4449470" cy="292608"/>
          </a:xfrm>
          <a:prstGeom prst="roundRect">
            <a:avLst>
              <a:gd name="adj" fmla="val 21875"/>
            </a:avLst>
          </a:prstGeom>
          <a:solidFill>
            <a:srgbClr val="FFFFFF"/>
          </a:solidFill>
          <a:ln w="10795">
            <a:solidFill>
              <a:srgbClr val="C7D2FE"/>
            </a:solidFill>
            <a:prstDash val="solid"/>
          </a:ln>
        </p:spPr>
      </p:sp>
      <p:sp>
        <p:nvSpPr>
          <p:cNvPr id="75" name="Text 73"/>
          <p:cNvSpPr/>
          <p:nvPr/>
        </p:nvSpPr>
        <p:spPr>
          <a:xfrm>
            <a:off x="7119518" y="3236976"/>
            <a:ext cx="4303166" cy="292608"/>
          </a:xfrm>
          <a:prstGeom prst="rect">
            <a:avLst/>
          </a:prstGeom>
          <a:noFill/>
          <a:ln/>
        </p:spPr>
        <p:txBody>
          <a:bodyPr wrap="square" lIns="0" tIns="0" rIns="0" bIns="0" rtlCol="0" anchor="ctr"/>
          <a:lstStyle/>
          <a:p>
            <a:pPr indent="0" marL="0">
              <a:buNone/>
            </a:pPr>
            <a:r>
              <a:rPr lang="en-US" sz="720" b="1" dirty="0">
                <a:solidFill>
                  <a:srgbClr val="4338CA"/>
                </a:solidFill>
                <a:latin typeface="Courier New" pitchFamily="34" charset="0"/>
                <a:ea typeface="Courier New" pitchFamily="34" charset="-122"/>
                <a:cs typeface="Courier New" pitchFamily="34" charset="-120"/>
              </a:rPr>
              <a:t>aead.decrypt(blob, associated_data=jwt.tenant_id)</a:t>
            </a:r>
            <a:endParaRPr lang="en-US" sz="720" dirty="0"/>
          </a:p>
        </p:txBody>
      </p:sp>
      <p:sp>
        <p:nvSpPr>
          <p:cNvPr id="76" name="Text 74"/>
          <p:cNvSpPr/>
          <p:nvPr/>
        </p:nvSpPr>
        <p:spPr>
          <a:xfrm>
            <a:off x="7046366" y="3602736"/>
            <a:ext cx="4449470" cy="493776"/>
          </a:xfrm>
          <a:prstGeom prst="rect">
            <a:avLst/>
          </a:prstGeom>
          <a:noFill/>
          <a:ln/>
        </p:spPr>
        <p:txBody>
          <a:bodyPr wrap="square" lIns="0" tIns="0" rIns="0" bIns="0" rtlCol="0" anchor="ctr"/>
          <a:lstStyle/>
          <a:p>
            <a:pPr indent="0" marL="0">
              <a:lnSpc>
                <a:spcPct val="107000"/>
              </a:lnSpc>
              <a:buNone/>
            </a:pPr>
            <a:r>
              <a:rPr lang="en-US" sz="710" dirty="0">
                <a:solidFill>
                  <a:srgbClr val="334155"/>
                </a:solidFill>
                <a:latin typeface="Arial" pitchFamily="34" charset="0"/>
                <a:ea typeface="Arial" pitchFamily="34" charset="-122"/>
                <a:cs typeface="Arial" pitchFamily="34" charset="-120"/>
              </a:rPr>
              <a:t>Every pooled Memory Bank session &amp; RAG chunk is wrapped under the tenant Cloud KMS KEK with tenant_id bound as authenticated AAD.</a:t>
            </a:r>
            <a:endParaRPr lang="en-US" sz="710" dirty="0"/>
          </a:p>
        </p:txBody>
      </p:sp>
      <p:sp>
        <p:nvSpPr>
          <p:cNvPr id="77" name="Shape 75"/>
          <p:cNvSpPr/>
          <p:nvPr/>
        </p:nvSpPr>
        <p:spPr>
          <a:xfrm>
            <a:off x="6387998" y="4718304"/>
            <a:ext cx="438912" cy="438912"/>
          </a:xfrm>
          <a:prstGeom prst="ellipse">
            <a:avLst/>
          </a:prstGeom>
          <a:solidFill>
            <a:srgbClr val="0F766E"/>
          </a:solidFill>
          <a:ln/>
        </p:spPr>
      </p:sp>
      <p:sp>
        <p:nvSpPr>
          <p:cNvPr id="78" name="Text 76"/>
          <p:cNvSpPr/>
          <p:nvPr/>
        </p:nvSpPr>
        <p:spPr>
          <a:xfrm>
            <a:off x="6387998" y="4718304"/>
            <a:ext cx="438912" cy="438912"/>
          </a:xfrm>
          <a:prstGeom prst="rect">
            <a:avLst/>
          </a:prstGeom>
          <a:noFill/>
          <a:ln/>
        </p:spPr>
        <p:txBody>
          <a:bodyPr wrap="square" lIns="0" tIns="0" rIns="0" bIns="0" rtlCol="0" anchor="ctr"/>
          <a:lstStyle/>
          <a:p>
            <a:pPr algn="ctr" indent="0" marL="0">
              <a:lnSpc>
                <a:spcPct val="100000"/>
              </a:lnSpc>
              <a:buNone/>
            </a:pPr>
            <a:r>
              <a:rPr lang="en-US" sz="620" b="1" dirty="0">
                <a:solidFill>
                  <a:srgbClr val="FFFFFF"/>
                </a:solidFill>
                <a:latin typeface="Arial" pitchFamily="34" charset="0"/>
                <a:ea typeface="Arial" pitchFamily="34" charset="-122"/>
                <a:cs typeface="Arial" pitchFamily="34" charset="-120"/>
              </a:rPr>
              <a:t>HOP 5</a:t>
            </a:r>
            <a:endParaRPr lang="en-US" sz="620" dirty="0"/>
          </a:p>
        </p:txBody>
      </p:sp>
      <p:sp>
        <p:nvSpPr>
          <p:cNvPr id="79" name="Shape 77"/>
          <p:cNvSpPr/>
          <p:nvPr/>
        </p:nvSpPr>
        <p:spPr>
          <a:xfrm>
            <a:off x="6918350" y="4315968"/>
            <a:ext cx="4687214" cy="1261872"/>
          </a:xfrm>
          <a:prstGeom prst="roundRect">
            <a:avLst>
              <a:gd name="adj" fmla="val 5072"/>
            </a:avLst>
          </a:prstGeom>
          <a:solidFill>
            <a:srgbClr val="F0FDFA"/>
          </a:solidFill>
          <a:ln w="10795">
            <a:solidFill>
              <a:srgbClr val="99F6E4"/>
            </a:solidFill>
            <a:prstDash val="solid"/>
          </a:ln>
        </p:spPr>
      </p:sp>
      <p:sp>
        <p:nvSpPr>
          <p:cNvPr id="80" name="Shape 78"/>
          <p:cNvSpPr/>
          <p:nvPr/>
        </p:nvSpPr>
        <p:spPr>
          <a:xfrm>
            <a:off x="6918350" y="4315968"/>
            <a:ext cx="54864" cy="1261872"/>
          </a:xfrm>
          <a:prstGeom prst="roundRect">
            <a:avLst>
              <a:gd name="adj" fmla="val 33333"/>
            </a:avLst>
          </a:prstGeom>
          <a:solidFill>
            <a:srgbClr val="0F766E"/>
          </a:solidFill>
          <a:ln/>
        </p:spPr>
      </p:sp>
      <p:sp>
        <p:nvSpPr>
          <p:cNvPr id="81" name="Text 79"/>
          <p:cNvSpPr/>
          <p:nvPr/>
        </p:nvSpPr>
        <p:spPr>
          <a:xfrm>
            <a:off x="7046366" y="4407408"/>
            <a:ext cx="4449470" cy="201168"/>
          </a:xfrm>
          <a:prstGeom prst="rect">
            <a:avLst/>
          </a:prstGeom>
          <a:noFill/>
          <a:ln/>
        </p:spPr>
        <p:txBody>
          <a:bodyPr wrap="square" lIns="0" tIns="0" rIns="0" bIns="0" rtlCol="0" anchor="ctr"/>
          <a:lstStyle/>
          <a:p>
            <a:pPr indent="0" marL="0">
              <a:buNone/>
            </a:pPr>
            <a:r>
              <a:rPr lang="en-US" sz="860" b="1" dirty="0">
                <a:solidFill>
                  <a:srgbClr val="0F172A"/>
                </a:solidFill>
                <a:latin typeface="Arial" pitchFamily="34" charset="0"/>
                <a:ea typeface="Arial" pitchFamily="34" charset="-122"/>
                <a:cs typeface="Arial" pitchFamily="34" charset="-120"/>
              </a:rPr>
              <a:t>AlloyDB Transaction-Local FORCE RLS (Anti-SQLi)</a:t>
            </a:r>
            <a:endParaRPr lang="en-US" sz="860" dirty="0"/>
          </a:p>
        </p:txBody>
      </p:sp>
      <p:sp>
        <p:nvSpPr>
          <p:cNvPr id="82" name="Shape 80"/>
          <p:cNvSpPr/>
          <p:nvPr/>
        </p:nvSpPr>
        <p:spPr>
          <a:xfrm>
            <a:off x="7046366" y="4645152"/>
            <a:ext cx="4449470" cy="292608"/>
          </a:xfrm>
          <a:prstGeom prst="roundRect">
            <a:avLst>
              <a:gd name="adj" fmla="val 21875"/>
            </a:avLst>
          </a:prstGeom>
          <a:solidFill>
            <a:srgbClr val="FFFFFF"/>
          </a:solidFill>
          <a:ln w="10795">
            <a:solidFill>
              <a:srgbClr val="99F6E4"/>
            </a:solidFill>
            <a:prstDash val="solid"/>
          </a:ln>
        </p:spPr>
      </p:sp>
      <p:sp>
        <p:nvSpPr>
          <p:cNvPr id="83" name="Text 81"/>
          <p:cNvSpPr/>
          <p:nvPr/>
        </p:nvSpPr>
        <p:spPr>
          <a:xfrm>
            <a:off x="7119518" y="4645152"/>
            <a:ext cx="4303166" cy="292608"/>
          </a:xfrm>
          <a:prstGeom prst="rect">
            <a:avLst/>
          </a:prstGeom>
          <a:noFill/>
          <a:ln/>
        </p:spPr>
        <p:txBody>
          <a:bodyPr wrap="square" lIns="0" tIns="0" rIns="0" bIns="0" rtlCol="0" anchor="ctr"/>
          <a:lstStyle/>
          <a:p>
            <a:pPr indent="0" marL="0">
              <a:buNone/>
            </a:pPr>
            <a:r>
              <a:rPr lang="en-US" sz="720" b="1" dirty="0">
                <a:solidFill>
                  <a:srgbClr val="0F766E"/>
                </a:solidFill>
                <a:latin typeface="Courier New" pitchFamily="34" charset="0"/>
                <a:ea typeface="Courier New" pitchFamily="34" charset="-122"/>
                <a:cs typeface="Courier New" pitchFamily="34" charset="-120"/>
              </a:rPr>
              <a:t>SET LOCAL app.current_tenant_id = :jwt_tenant_id</a:t>
            </a:r>
            <a:endParaRPr lang="en-US" sz="720" dirty="0"/>
          </a:p>
        </p:txBody>
      </p:sp>
      <p:sp>
        <p:nvSpPr>
          <p:cNvPr id="84" name="Text 82"/>
          <p:cNvSpPr/>
          <p:nvPr/>
        </p:nvSpPr>
        <p:spPr>
          <a:xfrm>
            <a:off x="7046366" y="5010912"/>
            <a:ext cx="4449470" cy="493776"/>
          </a:xfrm>
          <a:prstGeom prst="rect">
            <a:avLst/>
          </a:prstGeom>
          <a:noFill/>
          <a:ln/>
        </p:spPr>
        <p:txBody>
          <a:bodyPr wrap="square" lIns="0" tIns="0" rIns="0" bIns="0" rtlCol="0" anchor="ctr"/>
          <a:lstStyle/>
          <a:p>
            <a:pPr indent="0" marL="0">
              <a:lnSpc>
                <a:spcPct val="107000"/>
              </a:lnSpc>
              <a:buNone/>
            </a:pPr>
            <a:r>
              <a:rPr lang="en-US" sz="710" dirty="0">
                <a:solidFill>
                  <a:srgbClr val="334155"/>
                </a:solidFill>
                <a:latin typeface="Arial" pitchFamily="34" charset="0"/>
                <a:ea typeface="Arial" pitchFamily="34" charset="-122"/>
                <a:cs typeface="Arial" pitchFamily="34" charset="-120"/>
              </a:rPr>
              <a:t>Bound per SQL transaction alongside FORCE ROW LEVEL SECURITY—even prompt-injected WHERE 1=1 returns strictly 0 foreign rows.</a:t>
            </a:r>
            <a:endParaRPr lang="en-US" sz="710" dirty="0"/>
          </a:p>
        </p:txBody>
      </p:sp>
      <p:sp>
        <p:nvSpPr>
          <p:cNvPr id="85" name="Shape 83"/>
          <p:cNvSpPr/>
          <p:nvPr/>
        </p:nvSpPr>
        <p:spPr>
          <a:xfrm>
            <a:off x="438912" y="5943600"/>
            <a:ext cx="11313871" cy="420624"/>
          </a:xfrm>
          <a:prstGeom prst="roundRect">
            <a:avLst>
              <a:gd name="adj" fmla="val 13043"/>
            </a:avLst>
          </a:prstGeom>
          <a:solidFill>
            <a:srgbClr val="EEF2FF"/>
          </a:solidFill>
          <a:ln w="11430">
            <a:solidFill>
              <a:srgbClr val="C7D2FE"/>
            </a:solidFill>
            <a:prstDash val="solid"/>
          </a:ln>
        </p:spPr>
      </p:sp>
      <p:sp>
        <p:nvSpPr>
          <p:cNvPr id="86" name="Shape 84"/>
          <p:cNvSpPr/>
          <p:nvPr/>
        </p:nvSpPr>
        <p:spPr>
          <a:xfrm>
            <a:off x="530352" y="6025896"/>
            <a:ext cx="1353312" cy="256032"/>
          </a:xfrm>
          <a:prstGeom prst="roundRect">
            <a:avLst>
              <a:gd name="adj" fmla="val 17857"/>
            </a:avLst>
          </a:prstGeom>
          <a:solidFill>
            <a:srgbClr val="4338CA"/>
          </a:solidFill>
          <a:ln/>
        </p:spPr>
      </p:sp>
      <p:sp>
        <p:nvSpPr>
          <p:cNvPr id="87" name="Text 85"/>
          <p:cNvSpPr/>
          <p:nvPr/>
        </p:nvSpPr>
        <p:spPr>
          <a:xfrm>
            <a:off x="530352" y="6025896"/>
            <a:ext cx="1353312" cy="256032"/>
          </a:xfrm>
          <a:prstGeom prst="rect">
            <a:avLst/>
          </a:prstGeom>
          <a:noFill/>
          <a:ln/>
        </p:spPr>
        <p:txBody>
          <a:bodyPr wrap="square" lIns="0" tIns="0" rIns="0" bIns="0" rtlCol="0" anchor="ctr"/>
          <a:lstStyle/>
          <a:p>
            <a:pPr algn="ctr" indent="0" marL="0">
              <a:lnSpc>
                <a:spcPct val="105000"/>
              </a:lnSpc>
              <a:buNone/>
            </a:pPr>
            <a:r>
              <a:rPr lang="en-US" sz="650" b="1" dirty="0">
                <a:solidFill>
                  <a:srgbClr val="FFFFFF"/>
                </a:solidFill>
                <a:latin typeface="Arial" pitchFamily="34" charset="0"/>
                <a:ea typeface="Arial" pitchFamily="34" charset="-122"/>
                <a:cs typeface="Arial" pitchFamily="34" charset="-120"/>
              </a:rPr>
              <a:t>ZERO CONFUSED DEPUTY</a:t>
            </a:r>
            <a:endParaRPr lang="en-US" sz="650" dirty="0"/>
          </a:p>
        </p:txBody>
      </p:sp>
      <p:sp>
        <p:nvSpPr>
          <p:cNvPr id="88" name="Text 86"/>
          <p:cNvSpPr/>
          <p:nvPr/>
        </p:nvSpPr>
        <p:spPr>
          <a:xfrm>
            <a:off x="1993392" y="5980176"/>
            <a:ext cx="7555687" cy="347472"/>
          </a:xfrm>
          <a:prstGeom prst="rect">
            <a:avLst/>
          </a:prstGeom>
          <a:noFill/>
          <a:ln/>
        </p:spPr>
        <p:txBody>
          <a:bodyPr wrap="square" lIns="0" tIns="0" rIns="0" bIns="0" rtlCol="0" anchor="ctr"/>
          <a:lstStyle/>
          <a:p>
            <a:pPr algn="l" indent="0" marL="0">
              <a:lnSpc>
                <a:spcPct val="108000"/>
              </a:lnSpc>
              <a:buNone/>
            </a:pPr>
            <a:r>
              <a:rPr lang="en-US" sz="860" b="1" dirty="0">
                <a:solidFill>
                  <a:srgbClr val="0F172A"/>
                </a:solidFill>
                <a:latin typeface="Arial" pitchFamily="34" charset="0"/>
                <a:ea typeface="Arial" pitchFamily="34" charset="-122"/>
                <a:cs typeface="Arial" pitchFamily="34" charset="-120"/>
              </a:rPr>
              <a:t>Every downstream secret, memory blob, and SQL query binds cryptographically to jwt.tenant_id—never trusting session IDs, user emails, or LLM prompts.</a:t>
            </a:r>
            <a:endParaRPr lang="en-US" sz="860" dirty="0"/>
          </a:p>
        </p:txBody>
      </p:sp>
      <p:sp>
        <p:nvSpPr>
          <p:cNvPr id="89" name="Shape 87"/>
          <p:cNvSpPr/>
          <p:nvPr/>
        </p:nvSpPr>
        <p:spPr>
          <a:xfrm>
            <a:off x="9695383" y="6025896"/>
            <a:ext cx="1965960" cy="256032"/>
          </a:xfrm>
          <a:prstGeom prst="roundRect">
            <a:avLst>
              <a:gd name="adj" fmla="val 17857"/>
            </a:avLst>
          </a:prstGeom>
          <a:solidFill>
            <a:srgbClr val="FFFFFF"/>
          </a:solidFill>
          <a:ln w="10795">
            <a:solidFill>
              <a:srgbClr val="4338CA"/>
            </a:solidFill>
            <a:prstDash val="solid"/>
          </a:ln>
        </p:spPr>
      </p:sp>
      <p:sp>
        <p:nvSpPr>
          <p:cNvPr id="90" name="Text 88"/>
          <p:cNvSpPr/>
          <p:nvPr/>
        </p:nvSpPr>
        <p:spPr>
          <a:xfrm>
            <a:off x="9695383" y="6025896"/>
            <a:ext cx="1965960" cy="256032"/>
          </a:xfrm>
          <a:prstGeom prst="rect">
            <a:avLst/>
          </a:prstGeom>
          <a:noFill/>
          <a:ln/>
        </p:spPr>
        <p:txBody>
          <a:bodyPr wrap="square" lIns="0" tIns="0" rIns="0" bIns="0" rtlCol="0" anchor="ctr"/>
          <a:lstStyle/>
          <a:p>
            <a:pPr algn="ctr" indent="0" marL="0">
              <a:lnSpc>
                <a:spcPct val="105000"/>
              </a:lnSpc>
              <a:buNone/>
            </a:pPr>
            <a:r>
              <a:rPr lang="en-US" sz="740" b="1" dirty="0">
                <a:solidFill>
                  <a:srgbClr val="4338CA"/>
                </a:solidFill>
                <a:latin typeface="Arial" pitchFamily="34" charset="0"/>
                <a:ea typeface="Arial" pitchFamily="34" charset="-122"/>
                <a:cs typeface="Arial" pitchFamily="34" charset="-120"/>
              </a:rPr>
              <a:t>Composite 3LO + AEAD + RLS</a:t>
            </a:r>
            <a:endParaRPr lang="en-US" sz="74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1148"/>
          </a:xfrm>
          <a:prstGeom prst="rect">
            <a:avLst/>
          </a:prstGeom>
          <a:solidFill>
            <a:srgbClr val="B45309"/>
          </a:solidFill>
          <a:ln/>
        </p:spPr>
      </p:sp>
      <p:sp>
        <p:nvSpPr>
          <p:cNvPr id="3" name="Shape 1"/>
          <p:cNvSpPr/>
          <p:nvPr/>
        </p:nvSpPr>
        <p:spPr>
          <a:xfrm>
            <a:off x="438912" y="192024"/>
            <a:ext cx="59436" cy="621792"/>
          </a:xfrm>
          <a:prstGeom prst="roundRect">
            <a:avLst>
              <a:gd name="adj" fmla="val 46154"/>
            </a:avLst>
          </a:prstGeom>
          <a:solidFill>
            <a:srgbClr val="B45309"/>
          </a:solidFill>
          <a:ln/>
        </p:spPr>
      </p:sp>
      <p:sp>
        <p:nvSpPr>
          <p:cNvPr id="4" name="Text 2"/>
          <p:cNvSpPr/>
          <p:nvPr/>
        </p:nvSpPr>
        <p:spPr>
          <a:xfrm>
            <a:off x="576072" y="173736"/>
            <a:ext cx="4389120" cy="146304"/>
          </a:xfrm>
          <a:prstGeom prst="rect">
            <a:avLst/>
          </a:prstGeom>
          <a:noFill/>
          <a:ln/>
        </p:spPr>
        <p:txBody>
          <a:bodyPr wrap="square" lIns="0" tIns="0" rIns="0" bIns="0" rtlCol="0" anchor="ctr"/>
          <a:lstStyle/>
          <a:p>
            <a:pPr algn="l" indent="0" marL="0">
              <a:lnSpc>
                <a:spcPct val="105000"/>
              </a:lnSpc>
              <a:buNone/>
            </a:pPr>
            <a:r>
              <a:rPr lang="en-US" sz="750" b="1" spc="110" kern="0" dirty="0">
                <a:solidFill>
                  <a:srgbClr val="B45309"/>
                </a:solidFill>
                <a:latin typeface="Arial" pitchFamily="34" charset="0"/>
                <a:ea typeface="Arial" pitchFamily="34" charset="-122"/>
                <a:cs typeface="Arial" pitchFamily="34" charset="-120"/>
              </a:rPr>
              <a:t>05 / PROCESS &amp; WIRE</a:t>
            </a:r>
            <a:endParaRPr lang="en-US" sz="750" dirty="0"/>
          </a:p>
        </p:txBody>
      </p:sp>
      <p:sp>
        <p:nvSpPr>
          <p:cNvPr id="5" name="Shape 3"/>
          <p:cNvSpPr/>
          <p:nvPr/>
        </p:nvSpPr>
        <p:spPr>
          <a:xfrm>
            <a:off x="8183880" y="219456"/>
            <a:ext cx="228600" cy="59436"/>
          </a:xfrm>
          <a:prstGeom prst="roundRect">
            <a:avLst>
              <a:gd name="adj" fmla="val 46154"/>
            </a:avLst>
          </a:prstGeom>
          <a:solidFill>
            <a:srgbClr val="94A3B8"/>
          </a:solidFill>
          <a:ln/>
        </p:spPr>
      </p:sp>
      <p:sp>
        <p:nvSpPr>
          <p:cNvPr id="6" name="Shape 4"/>
          <p:cNvSpPr/>
          <p:nvPr/>
        </p:nvSpPr>
        <p:spPr>
          <a:xfrm>
            <a:off x="8453628" y="219456"/>
            <a:ext cx="228600" cy="59436"/>
          </a:xfrm>
          <a:prstGeom prst="roundRect">
            <a:avLst>
              <a:gd name="adj" fmla="val 46154"/>
            </a:avLst>
          </a:prstGeom>
          <a:solidFill>
            <a:srgbClr val="94A3B8"/>
          </a:solidFill>
          <a:ln/>
        </p:spPr>
      </p:sp>
      <p:sp>
        <p:nvSpPr>
          <p:cNvPr id="7" name="Shape 5"/>
          <p:cNvSpPr/>
          <p:nvPr/>
        </p:nvSpPr>
        <p:spPr>
          <a:xfrm>
            <a:off x="8723376" y="219456"/>
            <a:ext cx="228600" cy="59436"/>
          </a:xfrm>
          <a:prstGeom prst="roundRect">
            <a:avLst>
              <a:gd name="adj" fmla="val 46154"/>
            </a:avLst>
          </a:prstGeom>
          <a:solidFill>
            <a:srgbClr val="94A3B8"/>
          </a:solidFill>
          <a:ln/>
        </p:spPr>
      </p:sp>
      <p:sp>
        <p:nvSpPr>
          <p:cNvPr id="8" name="Shape 6"/>
          <p:cNvSpPr/>
          <p:nvPr/>
        </p:nvSpPr>
        <p:spPr>
          <a:xfrm>
            <a:off x="8993124" y="219456"/>
            <a:ext cx="228600" cy="59436"/>
          </a:xfrm>
          <a:prstGeom prst="roundRect">
            <a:avLst>
              <a:gd name="adj" fmla="val 46154"/>
            </a:avLst>
          </a:prstGeom>
          <a:solidFill>
            <a:srgbClr val="94A3B8"/>
          </a:solidFill>
          <a:ln/>
        </p:spPr>
      </p:sp>
      <p:sp>
        <p:nvSpPr>
          <p:cNvPr id="9" name="Shape 7"/>
          <p:cNvSpPr/>
          <p:nvPr/>
        </p:nvSpPr>
        <p:spPr>
          <a:xfrm>
            <a:off x="9262872" y="219456"/>
            <a:ext cx="228600" cy="59436"/>
          </a:xfrm>
          <a:prstGeom prst="roundRect">
            <a:avLst>
              <a:gd name="adj" fmla="val 46154"/>
            </a:avLst>
          </a:prstGeom>
          <a:solidFill>
            <a:srgbClr val="B45309"/>
          </a:solidFill>
          <a:ln/>
        </p:spPr>
      </p:sp>
      <p:sp>
        <p:nvSpPr>
          <p:cNvPr id="10" name="Shape 8"/>
          <p:cNvSpPr/>
          <p:nvPr/>
        </p:nvSpPr>
        <p:spPr>
          <a:xfrm>
            <a:off x="9532620" y="219456"/>
            <a:ext cx="228600" cy="59436"/>
          </a:xfrm>
          <a:prstGeom prst="roundRect">
            <a:avLst>
              <a:gd name="adj" fmla="val 46154"/>
            </a:avLst>
          </a:prstGeom>
          <a:solidFill>
            <a:srgbClr val="E2E8F0"/>
          </a:solidFill>
          <a:ln/>
        </p:spPr>
      </p:sp>
      <p:sp>
        <p:nvSpPr>
          <p:cNvPr id="11" name="Shape 9"/>
          <p:cNvSpPr/>
          <p:nvPr/>
        </p:nvSpPr>
        <p:spPr>
          <a:xfrm>
            <a:off x="9802368" y="219456"/>
            <a:ext cx="228600" cy="59436"/>
          </a:xfrm>
          <a:prstGeom prst="roundRect">
            <a:avLst>
              <a:gd name="adj" fmla="val 46154"/>
            </a:avLst>
          </a:prstGeom>
          <a:solidFill>
            <a:srgbClr val="E2E8F0"/>
          </a:solidFill>
          <a:ln/>
        </p:spPr>
      </p:sp>
      <p:sp>
        <p:nvSpPr>
          <p:cNvPr id="12" name="Shape 10"/>
          <p:cNvSpPr/>
          <p:nvPr/>
        </p:nvSpPr>
        <p:spPr>
          <a:xfrm>
            <a:off x="10131552" y="146304"/>
            <a:ext cx="1621231" cy="192024"/>
          </a:xfrm>
          <a:prstGeom prst="roundRect">
            <a:avLst>
              <a:gd name="adj" fmla="val 23810"/>
            </a:avLst>
          </a:prstGeom>
          <a:solidFill>
            <a:srgbClr val="FFFFFF"/>
          </a:solidFill>
          <a:ln w="9525">
            <a:solidFill>
              <a:srgbClr val="CBD5E1"/>
            </a:solidFill>
            <a:prstDash val="solid"/>
          </a:ln>
        </p:spPr>
      </p:sp>
      <p:sp>
        <p:nvSpPr>
          <p:cNvPr id="13" name="Text 11"/>
          <p:cNvSpPr/>
          <p:nvPr/>
        </p:nvSpPr>
        <p:spPr>
          <a:xfrm>
            <a:off x="10131552" y="146304"/>
            <a:ext cx="1621231" cy="192024"/>
          </a:xfrm>
          <a:prstGeom prst="rect">
            <a:avLst/>
          </a:prstGeom>
          <a:noFill/>
          <a:ln/>
        </p:spPr>
        <p:txBody>
          <a:bodyPr wrap="square" lIns="0" tIns="0" rIns="0" bIns="0" rtlCol="0" anchor="ctr"/>
          <a:lstStyle/>
          <a:p>
            <a:pPr algn="ctr" indent="0" marL="0">
              <a:lnSpc>
                <a:spcPct val="105000"/>
              </a:lnSpc>
              <a:buNone/>
            </a:pPr>
            <a:r>
              <a:rPr lang="en-US" sz="680" b="1" spc="60" kern="0" dirty="0">
                <a:solidFill>
                  <a:srgbClr val="B45309"/>
                </a:solidFill>
                <a:latin typeface="Arial" pitchFamily="34" charset="0"/>
                <a:ea typeface="Arial" pitchFamily="34" charset="-122"/>
                <a:cs typeface="Arial" pitchFamily="34" charset="-120"/>
              </a:rPr>
              <a:t>ENGINEERING BRIDGE MATRIX</a:t>
            </a:r>
            <a:endParaRPr lang="en-US" sz="680" dirty="0"/>
          </a:p>
        </p:txBody>
      </p:sp>
      <p:sp>
        <p:nvSpPr>
          <p:cNvPr id="14" name="Text 12"/>
          <p:cNvSpPr/>
          <p:nvPr/>
        </p:nvSpPr>
        <p:spPr>
          <a:xfrm>
            <a:off x="576072" y="338328"/>
            <a:ext cx="11176711" cy="310896"/>
          </a:xfrm>
          <a:prstGeom prst="rect">
            <a:avLst/>
          </a:prstGeom>
          <a:noFill/>
          <a:ln/>
        </p:spPr>
        <p:txBody>
          <a:bodyPr wrap="square" lIns="0" tIns="0" rIns="0" bIns="0" rtlCol="0" anchor="ctr"/>
          <a:lstStyle/>
          <a:p>
            <a:pPr algn="l" indent="0" marL="0">
              <a:lnSpc>
                <a:spcPct val="104000"/>
              </a:lnSpc>
              <a:buNone/>
            </a:pPr>
            <a:r>
              <a:rPr lang="en-US" sz="1750" b="1" dirty="0">
                <a:solidFill>
                  <a:srgbClr val="0F172A"/>
                </a:solidFill>
                <a:latin typeface="Arial" pitchFamily="34" charset="0"/>
                <a:ea typeface="Arial" pitchFamily="34" charset="-122"/>
                <a:cs typeface="Arial" pitchFamily="34" charset="-120"/>
              </a:rPr>
              <a:t>Genuine Engineering Honesty: Bridging 5 Current Preview Gaps Without Tech Debt</a:t>
            </a:r>
            <a:endParaRPr lang="en-US" sz="1750" dirty="0"/>
          </a:p>
        </p:txBody>
      </p:sp>
      <p:sp>
        <p:nvSpPr>
          <p:cNvPr id="15" name="Text 13"/>
          <p:cNvSpPr/>
          <p:nvPr/>
        </p:nvSpPr>
        <p:spPr>
          <a:xfrm>
            <a:off x="576072" y="658368"/>
            <a:ext cx="11176711" cy="192024"/>
          </a:xfrm>
          <a:prstGeom prst="rect">
            <a:avLst/>
          </a:prstGeom>
          <a:noFill/>
          <a:ln/>
        </p:spPr>
        <p:txBody>
          <a:bodyPr wrap="square" lIns="0" tIns="0" rIns="0" bIns="0" rtlCol="0" anchor="ctr"/>
          <a:lstStyle/>
          <a:p>
            <a:pPr algn="l" indent="0" marL="0">
              <a:lnSpc>
                <a:spcPct val="104000"/>
              </a:lnSpc>
              <a:buNone/>
            </a:pPr>
            <a:r>
              <a:rPr lang="en-US" sz="900" dirty="0">
                <a:solidFill>
                  <a:srgbClr val="64748B"/>
                </a:solidFill>
                <a:latin typeface="Arial" pitchFamily="34" charset="0"/>
                <a:ea typeface="Arial" pitchFamily="34" charset="-122"/>
                <a:cs typeface="Arial" pitchFamily="34" charset="-120"/>
              </a:rPr>
              <a:t>Where managed AI platform APIs are still project-scoped today, core-cymbal-agent/ enforces compensating controls behind single-line GA sunset flags.</a:t>
            </a:r>
            <a:endParaRPr lang="en-US" sz="900" dirty="0"/>
          </a:p>
        </p:txBody>
      </p:sp>
      <p:sp>
        <p:nvSpPr>
          <p:cNvPr id="16" name="Shape 14"/>
          <p:cNvSpPr/>
          <p:nvPr/>
        </p:nvSpPr>
        <p:spPr>
          <a:xfrm>
            <a:off x="438912" y="914400"/>
            <a:ext cx="11313871" cy="0"/>
          </a:xfrm>
          <a:prstGeom prst="line">
            <a:avLst/>
          </a:prstGeom>
          <a:noFill/>
          <a:ln w="10795">
            <a:solidFill>
              <a:srgbClr val="E2E8F0"/>
            </a:solidFill>
            <a:prstDash val="solid"/>
          </a:ln>
        </p:spPr>
      </p:sp>
      <p:sp>
        <p:nvSpPr>
          <p:cNvPr id="17" name="Shape 15"/>
          <p:cNvSpPr/>
          <p:nvPr/>
        </p:nvSpPr>
        <p:spPr>
          <a:xfrm>
            <a:off x="438912" y="6455664"/>
            <a:ext cx="11313871" cy="0"/>
          </a:xfrm>
          <a:prstGeom prst="line">
            <a:avLst/>
          </a:prstGeom>
          <a:noFill/>
          <a:ln w="9525">
            <a:solidFill>
              <a:srgbClr val="E2E8F0"/>
            </a:solidFill>
            <a:prstDash val="solid"/>
          </a:ln>
        </p:spPr>
      </p:sp>
      <p:sp>
        <p:nvSpPr>
          <p:cNvPr id="18" name="Text 16"/>
          <p:cNvSpPr/>
          <p:nvPr/>
        </p:nvSpPr>
        <p:spPr>
          <a:xfrm>
            <a:off x="438912" y="6501384"/>
            <a:ext cx="5852160" cy="192024"/>
          </a:xfrm>
          <a:prstGeom prst="rect">
            <a:avLst/>
          </a:prstGeom>
          <a:noFill/>
          <a:ln/>
        </p:spPr>
        <p:txBody>
          <a:bodyPr wrap="square" lIns="0" tIns="0" rIns="0" bIns="0" rtlCol="0" anchor="ctr"/>
          <a:lstStyle/>
          <a:p>
            <a:pPr algn="l" indent="0" marL="0">
              <a:lnSpc>
                <a:spcPct val="105000"/>
              </a:lnSpc>
              <a:buNone/>
            </a:pPr>
            <a:r>
              <a:rPr lang="en-US" sz="680" b="1" spc="40" kern="0" dirty="0">
                <a:solidFill>
                  <a:srgbClr val="64748B"/>
                </a:solidFill>
                <a:latin typeface="Arial" pitchFamily="34" charset="0"/>
                <a:ea typeface="Arial" pitchFamily="34" charset="-122"/>
                <a:cs typeface="Arial" pitchFamily="34" charset="-120"/>
              </a:rPr>
              <a:t>GOOGLE CLOUD AI ARCHITECTURE  •  BLOG 1: MULTI-TENANT AGENTIC AI TAXONOMY &amp; 5-HOP BASELINE</a:t>
            </a:r>
            <a:endParaRPr lang="en-US" sz="680" dirty="0"/>
          </a:p>
        </p:txBody>
      </p:sp>
      <p:sp>
        <p:nvSpPr>
          <p:cNvPr id="19" name="Text 17"/>
          <p:cNvSpPr/>
          <p:nvPr/>
        </p:nvSpPr>
        <p:spPr>
          <a:xfrm>
            <a:off x="6355080" y="6501384"/>
            <a:ext cx="4206240" cy="192024"/>
          </a:xfrm>
          <a:prstGeom prst="rect">
            <a:avLst/>
          </a:prstGeom>
          <a:noFill/>
          <a:ln/>
        </p:spPr>
        <p:txBody>
          <a:bodyPr wrap="square" lIns="0" tIns="0" rIns="0" bIns="0" rtlCol="0" anchor="ctr"/>
          <a:lstStyle/>
          <a:p>
            <a:pPr algn="r" indent="0" marL="0">
              <a:lnSpc>
                <a:spcPct val="105000"/>
              </a:lnSpc>
              <a:buNone/>
            </a:pPr>
            <a:r>
              <a:rPr lang="en-US" sz="680" dirty="0">
                <a:solidFill>
                  <a:srgbClr val="64748B"/>
                </a:solidFill>
                <a:latin typeface="Arial" pitchFamily="34" charset="0"/>
                <a:ea typeface="Arial" pitchFamily="34" charset="-122"/>
                <a:cs typeface="Arial" pitchFamily="34" charset="-120"/>
              </a:rPr>
              <a:t>Production Readiness Transparency  •  GAP-01 through GAP-05 Feature-Flagged Bridges</a:t>
            </a:r>
            <a:endParaRPr lang="en-US" sz="680" dirty="0"/>
          </a:p>
        </p:txBody>
      </p:sp>
      <p:sp>
        <p:nvSpPr>
          <p:cNvPr id="20" name="Shape 18"/>
          <p:cNvSpPr/>
          <p:nvPr/>
        </p:nvSpPr>
        <p:spPr>
          <a:xfrm>
            <a:off x="11002975" y="6501384"/>
            <a:ext cx="749808" cy="192024"/>
          </a:xfrm>
          <a:prstGeom prst="roundRect">
            <a:avLst>
              <a:gd name="adj" fmla="val 19048"/>
            </a:avLst>
          </a:prstGeom>
          <a:solidFill>
            <a:srgbClr val="F1F5F9"/>
          </a:solidFill>
          <a:ln w="7620">
            <a:solidFill>
              <a:srgbClr val="E2E8F0"/>
            </a:solidFill>
            <a:prstDash val="solid"/>
          </a:ln>
        </p:spPr>
      </p:sp>
      <p:sp>
        <p:nvSpPr>
          <p:cNvPr id="21" name="Text 19"/>
          <p:cNvSpPr/>
          <p:nvPr/>
        </p:nvSpPr>
        <p:spPr>
          <a:xfrm>
            <a:off x="11002975" y="6501384"/>
            <a:ext cx="749808" cy="192024"/>
          </a:xfrm>
          <a:prstGeom prst="rect">
            <a:avLst/>
          </a:prstGeom>
          <a:noFill/>
          <a:ln/>
        </p:spPr>
        <p:txBody>
          <a:bodyPr wrap="square" lIns="0" tIns="0" rIns="0" bIns="0" rtlCol="0" anchor="ctr"/>
          <a:lstStyle/>
          <a:p>
            <a:pPr algn="ctr" indent="0" marL="0">
              <a:lnSpc>
                <a:spcPct val="105000"/>
              </a:lnSpc>
              <a:buNone/>
            </a:pPr>
            <a:r>
              <a:rPr lang="en-US" sz="700" b="1" dirty="0">
                <a:solidFill>
                  <a:srgbClr val="334155"/>
                </a:solidFill>
                <a:latin typeface="Arial" pitchFamily="34" charset="0"/>
                <a:ea typeface="Arial" pitchFamily="34" charset="-122"/>
                <a:cs typeface="Arial" pitchFamily="34" charset="-120"/>
              </a:rPr>
              <a:t>15 / 23</a:t>
            </a:r>
            <a:endParaRPr lang="en-US" sz="700" dirty="0"/>
          </a:p>
        </p:txBody>
      </p:sp>
      <p:sp>
        <p:nvSpPr>
          <p:cNvPr id="22" name="Shape 20"/>
          <p:cNvSpPr/>
          <p:nvPr/>
        </p:nvSpPr>
        <p:spPr>
          <a:xfrm>
            <a:off x="438912" y="1024128"/>
            <a:ext cx="3246120" cy="256032"/>
          </a:xfrm>
          <a:prstGeom prst="roundRect">
            <a:avLst>
              <a:gd name="adj" fmla="val 28571"/>
            </a:avLst>
          </a:prstGeom>
          <a:solidFill>
            <a:srgbClr val="FFFBEB"/>
          </a:solidFill>
          <a:ln w="9525">
            <a:solidFill>
              <a:srgbClr val="FDE68A"/>
            </a:solidFill>
            <a:prstDash val="solid"/>
          </a:ln>
        </p:spPr>
      </p:sp>
      <p:sp>
        <p:nvSpPr>
          <p:cNvPr id="23" name="Text 21"/>
          <p:cNvSpPr/>
          <p:nvPr/>
        </p:nvSpPr>
        <p:spPr>
          <a:xfrm>
            <a:off x="438912" y="1024128"/>
            <a:ext cx="3246120" cy="256032"/>
          </a:xfrm>
          <a:prstGeom prst="rect">
            <a:avLst/>
          </a:prstGeom>
          <a:noFill/>
          <a:ln/>
        </p:spPr>
        <p:txBody>
          <a:bodyPr wrap="square" lIns="0" tIns="0" rIns="0" bIns="0" rtlCol="0" anchor="ctr"/>
          <a:lstStyle/>
          <a:p>
            <a:pPr algn="ctr" indent="0" marL="0">
              <a:lnSpc>
                <a:spcPct val="105000"/>
              </a:lnSpc>
              <a:buNone/>
            </a:pPr>
            <a:r>
              <a:rPr lang="en-US" sz="680" b="1" dirty="0">
                <a:solidFill>
                  <a:srgbClr val="B45309"/>
                </a:solidFill>
                <a:latin typeface="Arial" pitchFamily="34" charset="0"/>
                <a:ea typeface="Arial" pitchFamily="34" charset="-122"/>
                <a:cs typeface="Arial" pitchFamily="34" charset="-120"/>
              </a:rPr>
              <a:t>1. TODAY’S PLATFORM CONSTRAINT</a:t>
            </a:r>
            <a:endParaRPr lang="en-US" sz="680" dirty="0"/>
          </a:p>
        </p:txBody>
      </p:sp>
      <p:sp>
        <p:nvSpPr>
          <p:cNvPr id="24" name="Shape 22"/>
          <p:cNvSpPr/>
          <p:nvPr/>
        </p:nvSpPr>
        <p:spPr>
          <a:xfrm>
            <a:off x="3941064" y="1024128"/>
            <a:ext cx="4617720" cy="256032"/>
          </a:xfrm>
          <a:prstGeom prst="roundRect">
            <a:avLst>
              <a:gd name="adj" fmla="val 28571"/>
            </a:avLst>
          </a:prstGeom>
          <a:solidFill>
            <a:srgbClr val="EFF6FF"/>
          </a:solidFill>
          <a:ln w="9525">
            <a:solidFill>
              <a:srgbClr val="BFDBFE"/>
            </a:solidFill>
            <a:prstDash val="solid"/>
          </a:ln>
        </p:spPr>
      </p:sp>
      <p:sp>
        <p:nvSpPr>
          <p:cNvPr id="25" name="Text 23"/>
          <p:cNvSpPr/>
          <p:nvPr/>
        </p:nvSpPr>
        <p:spPr>
          <a:xfrm>
            <a:off x="3941064" y="1024128"/>
            <a:ext cx="4617720" cy="256032"/>
          </a:xfrm>
          <a:prstGeom prst="rect">
            <a:avLst/>
          </a:prstGeom>
          <a:noFill/>
          <a:ln/>
        </p:spPr>
        <p:txBody>
          <a:bodyPr wrap="square" lIns="0" tIns="0" rIns="0" bIns="0" rtlCol="0" anchor="ctr"/>
          <a:lstStyle/>
          <a:p>
            <a:pPr algn="ctr" indent="0" marL="0">
              <a:lnSpc>
                <a:spcPct val="105000"/>
              </a:lnSpc>
              <a:buNone/>
            </a:pPr>
            <a:r>
              <a:rPr lang="en-US" sz="680" b="1" dirty="0">
                <a:solidFill>
                  <a:srgbClr val="1D4ED8"/>
                </a:solidFill>
                <a:latin typeface="Arial" pitchFamily="34" charset="0"/>
                <a:ea typeface="Arial" pitchFamily="34" charset="-122"/>
                <a:cs typeface="Arial" pitchFamily="34" charset="-120"/>
              </a:rPr>
              <a:t>2. SHIPPED COMPENSATING CONTROL (core-cymbal-agent/)</a:t>
            </a:r>
            <a:endParaRPr lang="en-US" sz="680" dirty="0"/>
          </a:p>
        </p:txBody>
      </p:sp>
      <p:sp>
        <p:nvSpPr>
          <p:cNvPr id="26" name="Shape 24"/>
          <p:cNvSpPr/>
          <p:nvPr/>
        </p:nvSpPr>
        <p:spPr>
          <a:xfrm>
            <a:off x="8814816" y="1024128"/>
            <a:ext cx="2937967" cy="256032"/>
          </a:xfrm>
          <a:prstGeom prst="roundRect">
            <a:avLst>
              <a:gd name="adj" fmla="val 28571"/>
            </a:avLst>
          </a:prstGeom>
          <a:solidFill>
            <a:srgbClr val="ECFDF5"/>
          </a:solidFill>
          <a:ln w="9525">
            <a:solidFill>
              <a:srgbClr val="A7F3D0"/>
            </a:solidFill>
            <a:prstDash val="solid"/>
          </a:ln>
        </p:spPr>
      </p:sp>
      <p:sp>
        <p:nvSpPr>
          <p:cNvPr id="27" name="Text 25"/>
          <p:cNvSpPr/>
          <p:nvPr/>
        </p:nvSpPr>
        <p:spPr>
          <a:xfrm>
            <a:off x="8814816" y="1024128"/>
            <a:ext cx="2937967" cy="256032"/>
          </a:xfrm>
          <a:prstGeom prst="rect">
            <a:avLst/>
          </a:prstGeom>
          <a:noFill/>
          <a:ln/>
        </p:spPr>
        <p:txBody>
          <a:bodyPr wrap="square" lIns="0" tIns="0" rIns="0" bIns="0" rtlCol="0" anchor="ctr"/>
          <a:lstStyle/>
          <a:p>
            <a:pPr algn="ctr" indent="0" marL="0">
              <a:lnSpc>
                <a:spcPct val="105000"/>
              </a:lnSpc>
              <a:buNone/>
            </a:pPr>
            <a:r>
              <a:rPr lang="en-US" sz="680" b="1" dirty="0">
                <a:solidFill>
                  <a:srgbClr val="047857"/>
                </a:solidFill>
                <a:latin typeface="Arial" pitchFamily="34" charset="0"/>
                <a:ea typeface="Arial" pitchFamily="34" charset="-122"/>
                <a:cs typeface="Arial" pitchFamily="34" charset="-120"/>
              </a:rPr>
              <a:t>3. ZERO-REWRITE GA SUNSET FLAG</a:t>
            </a:r>
            <a:endParaRPr lang="en-US" sz="680" dirty="0"/>
          </a:p>
        </p:txBody>
      </p:sp>
      <p:sp>
        <p:nvSpPr>
          <p:cNvPr id="28" name="Shape 26"/>
          <p:cNvSpPr/>
          <p:nvPr/>
        </p:nvSpPr>
        <p:spPr>
          <a:xfrm>
            <a:off x="3685032" y="1764792"/>
            <a:ext cx="256032" cy="0"/>
          </a:xfrm>
          <a:prstGeom prst="line">
            <a:avLst/>
          </a:prstGeom>
          <a:noFill/>
          <a:ln w="16510">
            <a:solidFill>
              <a:srgbClr val="1D4ED8"/>
            </a:solidFill>
            <a:prstDash val="solid"/>
            <a:tailEnd type="triangle" w="sm" len="sm"/>
          </a:ln>
        </p:spPr>
      </p:sp>
      <p:sp>
        <p:nvSpPr>
          <p:cNvPr id="29" name="Shape 27"/>
          <p:cNvSpPr/>
          <p:nvPr/>
        </p:nvSpPr>
        <p:spPr>
          <a:xfrm>
            <a:off x="8558784" y="1764792"/>
            <a:ext cx="256032" cy="0"/>
          </a:xfrm>
          <a:prstGeom prst="line">
            <a:avLst/>
          </a:prstGeom>
          <a:noFill/>
          <a:ln w="16510">
            <a:solidFill>
              <a:srgbClr val="047857"/>
            </a:solidFill>
            <a:prstDash val="solid"/>
            <a:tailEnd type="triangle" w="sm" len="sm"/>
          </a:ln>
        </p:spPr>
      </p:sp>
      <p:sp>
        <p:nvSpPr>
          <p:cNvPr id="30" name="Shape 28"/>
          <p:cNvSpPr/>
          <p:nvPr/>
        </p:nvSpPr>
        <p:spPr>
          <a:xfrm>
            <a:off x="438912" y="1371600"/>
            <a:ext cx="3246120" cy="786384"/>
          </a:xfrm>
          <a:prstGeom prst="roundRect">
            <a:avLst>
              <a:gd name="adj" fmla="val 8140"/>
            </a:avLst>
          </a:prstGeom>
          <a:solidFill>
            <a:srgbClr val="FFFFFF"/>
          </a:solidFill>
          <a:ln w="10795">
            <a:solidFill>
              <a:srgbClr val="FDE68A"/>
            </a:solidFill>
            <a:prstDash val="solid"/>
          </a:ln>
        </p:spPr>
      </p:sp>
      <p:sp>
        <p:nvSpPr>
          <p:cNvPr id="31" name="Shape 29"/>
          <p:cNvSpPr/>
          <p:nvPr/>
        </p:nvSpPr>
        <p:spPr>
          <a:xfrm>
            <a:off x="438912" y="1371600"/>
            <a:ext cx="54864" cy="786384"/>
          </a:xfrm>
          <a:prstGeom prst="roundRect">
            <a:avLst>
              <a:gd name="adj" fmla="val 33333"/>
            </a:avLst>
          </a:prstGeom>
          <a:solidFill>
            <a:srgbClr val="B45309"/>
          </a:solidFill>
          <a:ln/>
        </p:spPr>
      </p:sp>
      <p:sp>
        <p:nvSpPr>
          <p:cNvPr id="32" name="Shape 30"/>
          <p:cNvSpPr/>
          <p:nvPr/>
        </p:nvSpPr>
        <p:spPr>
          <a:xfrm>
            <a:off x="566928" y="1444752"/>
            <a:ext cx="621792" cy="182880"/>
          </a:xfrm>
          <a:prstGeom prst="roundRect">
            <a:avLst>
              <a:gd name="adj" fmla="val 40000"/>
            </a:avLst>
          </a:prstGeom>
          <a:solidFill>
            <a:srgbClr val="B45309"/>
          </a:solidFill>
          <a:ln/>
        </p:spPr>
      </p:sp>
      <p:sp>
        <p:nvSpPr>
          <p:cNvPr id="33" name="Text 31"/>
          <p:cNvSpPr/>
          <p:nvPr/>
        </p:nvSpPr>
        <p:spPr>
          <a:xfrm>
            <a:off x="566928" y="1444752"/>
            <a:ext cx="621792" cy="182880"/>
          </a:xfrm>
          <a:prstGeom prst="rect">
            <a:avLst/>
          </a:prstGeom>
          <a:noFill/>
          <a:ln/>
        </p:spPr>
        <p:txBody>
          <a:bodyPr wrap="square" lIns="0" tIns="0" rIns="0" bIns="0" rtlCol="0" anchor="ctr"/>
          <a:lstStyle/>
          <a:p>
            <a:pPr algn="ctr" indent="0" marL="0">
              <a:lnSpc>
                <a:spcPct val="105000"/>
              </a:lnSpc>
              <a:buNone/>
            </a:pPr>
            <a:r>
              <a:rPr lang="en-US" sz="620" b="1" dirty="0">
                <a:solidFill>
                  <a:srgbClr val="FFFFFF"/>
                </a:solidFill>
                <a:latin typeface="Arial" pitchFamily="34" charset="0"/>
                <a:ea typeface="Arial" pitchFamily="34" charset="-122"/>
                <a:cs typeface="Arial" pitchFamily="34" charset="-120"/>
              </a:rPr>
              <a:t>GAP-01</a:t>
            </a:r>
            <a:endParaRPr lang="en-US" sz="620" dirty="0"/>
          </a:p>
        </p:txBody>
      </p:sp>
      <p:sp>
        <p:nvSpPr>
          <p:cNvPr id="34" name="Text 32"/>
          <p:cNvSpPr/>
          <p:nvPr/>
        </p:nvSpPr>
        <p:spPr>
          <a:xfrm>
            <a:off x="1243584" y="1426464"/>
            <a:ext cx="2331720" cy="676656"/>
          </a:xfrm>
          <a:prstGeom prst="rect">
            <a:avLst/>
          </a:prstGeom>
          <a:noFill/>
          <a:ln/>
        </p:spPr>
        <p:txBody>
          <a:bodyPr wrap="square" lIns="0" tIns="0" rIns="0" bIns="0" rtlCol="0" anchor="ctr"/>
          <a:lstStyle/>
          <a:p>
            <a:pPr indent="0" marL="0">
              <a:lnSpc>
                <a:spcPct val="106000"/>
              </a:lnSpc>
              <a:buNone/>
            </a:pPr>
            <a:r>
              <a:rPr lang="en-US" sz="710" dirty="0">
                <a:solidFill>
                  <a:srgbClr val="0F172A"/>
                </a:solidFill>
                <a:latin typeface="Arial" pitchFamily="34" charset="0"/>
                <a:ea typeface="Arial" pitchFamily="34" charset="-122"/>
                <a:cs typeface="Arial" pitchFamily="34" charset="-120"/>
              </a:rPr>
              <a:t>Project-Scoped Agent Registry IAM: Native IAM grants discovery across the whole GCP project.</a:t>
            </a:r>
            <a:endParaRPr lang="en-US" sz="710" dirty="0"/>
          </a:p>
        </p:txBody>
      </p:sp>
      <p:sp>
        <p:nvSpPr>
          <p:cNvPr id="35" name="Shape 33"/>
          <p:cNvSpPr/>
          <p:nvPr/>
        </p:nvSpPr>
        <p:spPr>
          <a:xfrm>
            <a:off x="3941064" y="1371600"/>
            <a:ext cx="4617720" cy="786384"/>
          </a:xfrm>
          <a:prstGeom prst="roundRect">
            <a:avLst>
              <a:gd name="adj" fmla="val 8140"/>
            </a:avLst>
          </a:prstGeom>
          <a:solidFill>
            <a:srgbClr val="EFF6FF"/>
          </a:solidFill>
          <a:ln w="10795">
            <a:solidFill>
              <a:srgbClr val="BFDBFE"/>
            </a:solidFill>
            <a:prstDash val="solid"/>
          </a:ln>
        </p:spPr>
      </p:sp>
      <p:sp>
        <p:nvSpPr>
          <p:cNvPr id="36" name="Shape 34"/>
          <p:cNvSpPr/>
          <p:nvPr/>
        </p:nvSpPr>
        <p:spPr>
          <a:xfrm>
            <a:off x="3941064" y="1371600"/>
            <a:ext cx="54864" cy="786384"/>
          </a:xfrm>
          <a:prstGeom prst="roundRect">
            <a:avLst>
              <a:gd name="adj" fmla="val 33333"/>
            </a:avLst>
          </a:prstGeom>
          <a:solidFill>
            <a:srgbClr val="1D4ED8"/>
          </a:solidFill>
          <a:ln/>
        </p:spPr>
      </p:sp>
      <p:sp>
        <p:nvSpPr>
          <p:cNvPr id="37" name="Text 35"/>
          <p:cNvSpPr/>
          <p:nvPr/>
        </p:nvSpPr>
        <p:spPr>
          <a:xfrm>
            <a:off x="4087368" y="1426464"/>
            <a:ext cx="4361688" cy="676656"/>
          </a:xfrm>
          <a:prstGeom prst="rect">
            <a:avLst/>
          </a:prstGeom>
          <a:noFill/>
          <a:ln/>
        </p:spPr>
        <p:txBody>
          <a:bodyPr wrap="square" lIns="0" tIns="0" rIns="0" bIns="0" rtlCol="0" anchor="ctr"/>
          <a:lstStyle/>
          <a:p>
            <a:pPr indent="0" marL="0">
              <a:lnSpc>
                <a:spcPct val="108000"/>
              </a:lnSpc>
              <a:buNone/>
            </a:pPr>
            <a:r>
              <a:rPr lang="en-US" sz="730" b="1" dirty="0">
                <a:solidFill>
                  <a:srgbClr val="0F172A"/>
                </a:solidFill>
                <a:latin typeface="Arial" pitchFamily="34" charset="0"/>
                <a:ea typeface="Arial" pitchFamily="34" charset="-122"/>
                <a:cs typeface="Arial" pitchFamily="34" charset="-120"/>
              </a:rPr>
              <a:t>Discovery Engine ARD ACL filter resolves agent://{tenant_id}/* inside before_agent_callback (~4ms) before LLM tool binding.</a:t>
            </a:r>
            <a:endParaRPr lang="en-US" sz="730" dirty="0"/>
          </a:p>
        </p:txBody>
      </p:sp>
      <p:sp>
        <p:nvSpPr>
          <p:cNvPr id="38" name="Shape 36"/>
          <p:cNvSpPr/>
          <p:nvPr/>
        </p:nvSpPr>
        <p:spPr>
          <a:xfrm>
            <a:off x="8814816" y="1371600"/>
            <a:ext cx="2937967" cy="786384"/>
          </a:xfrm>
          <a:prstGeom prst="roundRect">
            <a:avLst>
              <a:gd name="adj" fmla="val 8140"/>
            </a:avLst>
          </a:prstGeom>
          <a:solidFill>
            <a:srgbClr val="ECFDF5"/>
          </a:solidFill>
          <a:ln w="10795">
            <a:solidFill>
              <a:srgbClr val="A7F3D0"/>
            </a:solidFill>
            <a:prstDash val="solid"/>
          </a:ln>
        </p:spPr>
      </p:sp>
      <p:sp>
        <p:nvSpPr>
          <p:cNvPr id="39" name="Shape 37"/>
          <p:cNvSpPr/>
          <p:nvPr/>
        </p:nvSpPr>
        <p:spPr>
          <a:xfrm>
            <a:off x="8814816" y="1371600"/>
            <a:ext cx="54864" cy="786384"/>
          </a:xfrm>
          <a:prstGeom prst="roundRect">
            <a:avLst>
              <a:gd name="adj" fmla="val 33333"/>
            </a:avLst>
          </a:prstGeom>
          <a:solidFill>
            <a:srgbClr val="047857"/>
          </a:solidFill>
          <a:ln/>
        </p:spPr>
      </p:sp>
      <p:sp>
        <p:nvSpPr>
          <p:cNvPr id="40" name="Text 38"/>
          <p:cNvSpPr/>
          <p:nvPr/>
        </p:nvSpPr>
        <p:spPr>
          <a:xfrm>
            <a:off x="8942832" y="1463040"/>
            <a:ext cx="2718511" cy="201168"/>
          </a:xfrm>
          <a:prstGeom prst="rect">
            <a:avLst/>
          </a:prstGeom>
          <a:noFill/>
          <a:ln/>
        </p:spPr>
        <p:txBody>
          <a:bodyPr wrap="square" lIns="0" tIns="0" rIns="0" bIns="0" rtlCol="0" anchor="ctr"/>
          <a:lstStyle/>
          <a:p>
            <a:pPr indent="0" marL="0">
              <a:lnSpc>
                <a:spcPct val="105000"/>
              </a:lnSpc>
              <a:buNone/>
            </a:pPr>
            <a:r>
              <a:rPr lang="en-US" sz="650" b="1" dirty="0">
                <a:solidFill>
                  <a:srgbClr val="047857"/>
                </a:solidFill>
                <a:latin typeface="Courier New" pitchFamily="34" charset="0"/>
                <a:ea typeface="Courier New" pitchFamily="34" charset="-122"/>
                <a:cs typeface="Courier New" pitchFamily="34" charset="-120"/>
              </a:rPr>
              <a:t>CYMBAL_NATIVE_ARD_IAM_GA=true</a:t>
            </a:r>
            <a:endParaRPr lang="en-US" sz="650" dirty="0"/>
          </a:p>
        </p:txBody>
      </p:sp>
      <p:sp>
        <p:nvSpPr>
          <p:cNvPr id="41" name="Text 39"/>
          <p:cNvSpPr/>
          <p:nvPr/>
        </p:nvSpPr>
        <p:spPr>
          <a:xfrm>
            <a:off x="8942832" y="1700784"/>
            <a:ext cx="2718511" cy="384048"/>
          </a:xfrm>
          <a:prstGeom prst="rect">
            <a:avLst/>
          </a:prstGeom>
          <a:noFill/>
          <a:ln/>
        </p:spPr>
        <p:txBody>
          <a:bodyPr wrap="square" lIns="0" tIns="0" rIns="0" bIns="0" rtlCol="0" anchor="ctr"/>
          <a:lstStyle/>
          <a:p>
            <a:pPr indent="0" marL="0">
              <a:lnSpc>
                <a:spcPct val="106000"/>
              </a:lnSpc>
              <a:buNone/>
            </a:pPr>
            <a:r>
              <a:rPr lang="en-US" sz="690" dirty="0">
                <a:solidFill>
                  <a:srgbClr val="334155"/>
                </a:solidFill>
                <a:latin typeface="Arial" pitchFamily="34" charset="0"/>
                <a:ea typeface="Arial" pitchFamily="34" charset="-122"/>
                <a:cs typeface="Arial" pitchFamily="34" charset="-120"/>
              </a:rPr>
              <a:t>Delegates directly to native per-agent IAM bindings.</a:t>
            </a:r>
            <a:endParaRPr lang="en-US" sz="690" dirty="0"/>
          </a:p>
        </p:txBody>
      </p:sp>
      <p:sp>
        <p:nvSpPr>
          <p:cNvPr id="42" name="Shape 40"/>
          <p:cNvSpPr/>
          <p:nvPr/>
        </p:nvSpPr>
        <p:spPr>
          <a:xfrm>
            <a:off x="3685032" y="2660904"/>
            <a:ext cx="256032" cy="0"/>
          </a:xfrm>
          <a:prstGeom prst="line">
            <a:avLst/>
          </a:prstGeom>
          <a:noFill/>
          <a:ln w="16510">
            <a:solidFill>
              <a:srgbClr val="1D4ED8"/>
            </a:solidFill>
            <a:prstDash val="solid"/>
            <a:tailEnd type="triangle" w="sm" len="sm"/>
          </a:ln>
        </p:spPr>
      </p:sp>
      <p:sp>
        <p:nvSpPr>
          <p:cNvPr id="43" name="Shape 41"/>
          <p:cNvSpPr/>
          <p:nvPr/>
        </p:nvSpPr>
        <p:spPr>
          <a:xfrm>
            <a:off x="8558784" y="2660904"/>
            <a:ext cx="256032" cy="0"/>
          </a:xfrm>
          <a:prstGeom prst="line">
            <a:avLst/>
          </a:prstGeom>
          <a:noFill/>
          <a:ln w="16510">
            <a:solidFill>
              <a:srgbClr val="047857"/>
            </a:solidFill>
            <a:prstDash val="solid"/>
            <a:tailEnd type="triangle" w="sm" len="sm"/>
          </a:ln>
        </p:spPr>
      </p:sp>
      <p:sp>
        <p:nvSpPr>
          <p:cNvPr id="44" name="Shape 42"/>
          <p:cNvSpPr/>
          <p:nvPr/>
        </p:nvSpPr>
        <p:spPr>
          <a:xfrm>
            <a:off x="438912" y="2267712"/>
            <a:ext cx="3246120" cy="786384"/>
          </a:xfrm>
          <a:prstGeom prst="roundRect">
            <a:avLst>
              <a:gd name="adj" fmla="val 8140"/>
            </a:avLst>
          </a:prstGeom>
          <a:solidFill>
            <a:srgbClr val="FFFFFF"/>
          </a:solidFill>
          <a:ln w="10795">
            <a:solidFill>
              <a:srgbClr val="FDE68A"/>
            </a:solidFill>
            <a:prstDash val="solid"/>
          </a:ln>
        </p:spPr>
      </p:sp>
      <p:sp>
        <p:nvSpPr>
          <p:cNvPr id="45" name="Shape 43"/>
          <p:cNvSpPr/>
          <p:nvPr/>
        </p:nvSpPr>
        <p:spPr>
          <a:xfrm>
            <a:off x="438912" y="2267712"/>
            <a:ext cx="54864" cy="786384"/>
          </a:xfrm>
          <a:prstGeom prst="roundRect">
            <a:avLst>
              <a:gd name="adj" fmla="val 33333"/>
            </a:avLst>
          </a:prstGeom>
          <a:solidFill>
            <a:srgbClr val="B45309"/>
          </a:solidFill>
          <a:ln/>
        </p:spPr>
      </p:sp>
      <p:sp>
        <p:nvSpPr>
          <p:cNvPr id="46" name="Shape 44"/>
          <p:cNvSpPr/>
          <p:nvPr/>
        </p:nvSpPr>
        <p:spPr>
          <a:xfrm>
            <a:off x="566928" y="2340864"/>
            <a:ext cx="621792" cy="182880"/>
          </a:xfrm>
          <a:prstGeom prst="roundRect">
            <a:avLst>
              <a:gd name="adj" fmla="val 40000"/>
            </a:avLst>
          </a:prstGeom>
          <a:solidFill>
            <a:srgbClr val="B45309"/>
          </a:solidFill>
          <a:ln/>
        </p:spPr>
      </p:sp>
      <p:sp>
        <p:nvSpPr>
          <p:cNvPr id="47" name="Text 45"/>
          <p:cNvSpPr/>
          <p:nvPr/>
        </p:nvSpPr>
        <p:spPr>
          <a:xfrm>
            <a:off x="566928" y="2340864"/>
            <a:ext cx="621792" cy="182880"/>
          </a:xfrm>
          <a:prstGeom prst="rect">
            <a:avLst/>
          </a:prstGeom>
          <a:noFill/>
          <a:ln/>
        </p:spPr>
        <p:txBody>
          <a:bodyPr wrap="square" lIns="0" tIns="0" rIns="0" bIns="0" rtlCol="0" anchor="ctr"/>
          <a:lstStyle/>
          <a:p>
            <a:pPr algn="ctr" indent="0" marL="0">
              <a:lnSpc>
                <a:spcPct val="105000"/>
              </a:lnSpc>
              <a:buNone/>
            </a:pPr>
            <a:r>
              <a:rPr lang="en-US" sz="620" b="1" dirty="0">
                <a:solidFill>
                  <a:srgbClr val="FFFFFF"/>
                </a:solidFill>
                <a:latin typeface="Arial" pitchFamily="34" charset="0"/>
                <a:ea typeface="Arial" pitchFamily="34" charset="-122"/>
                <a:cs typeface="Arial" pitchFamily="34" charset="-120"/>
              </a:rPr>
              <a:t>GAP-02</a:t>
            </a:r>
            <a:endParaRPr lang="en-US" sz="620" dirty="0"/>
          </a:p>
        </p:txBody>
      </p:sp>
      <p:sp>
        <p:nvSpPr>
          <p:cNvPr id="48" name="Text 46"/>
          <p:cNvSpPr/>
          <p:nvPr/>
        </p:nvSpPr>
        <p:spPr>
          <a:xfrm>
            <a:off x="1243584" y="2322576"/>
            <a:ext cx="2331720" cy="676656"/>
          </a:xfrm>
          <a:prstGeom prst="rect">
            <a:avLst/>
          </a:prstGeom>
          <a:noFill/>
          <a:ln/>
        </p:spPr>
        <p:txBody>
          <a:bodyPr wrap="square" lIns="0" tIns="0" rIns="0" bIns="0" rtlCol="0" anchor="ctr"/>
          <a:lstStyle/>
          <a:p>
            <a:pPr indent="0" marL="0">
              <a:lnSpc>
                <a:spcPct val="106000"/>
              </a:lnSpc>
              <a:buNone/>
            </a:pPr>
            <a:r>
              <a:rPr lang="en-US" sz="710" dirty="0">
                <a:solidFill>
                  <a:srgbClr val="0F172A"/>
                </a:solidFill>
                <a:latin typeface="Arial" pitchFamily="34" charset="0"/>
                <a:ea typeface="Arial" pitchFamily="34" charset="-122"/>
                <a:cs typeface="Arial" pitchFamily="34" charset="-120"/>
              </a:rPr>
              <a:t>No Per-Tenant CMEK on Pooled Memory: Managed Agent Engine Memory Bank encrypts per project only.</a:t>
            </a:r>
            <a:endParaRPr lang="en-US" sz="710" dirty="0"/>
          </a:p>
        </p:txBody>
      </p:sp>
      <p:sp>
        <p:nvSpPr>
          <p:cNvPr id="49" name="Shape 47"/>
          <p:cNvSpPr/>
          <p:nvPr/>
        </p:nvSpPr>
        <p:spPr>
          <a:xfrm>
            <a:off x="3941064" y="2267712"/>
            <a:ext cx="4617720" cy="786384"/>
          </a:xfrm>
          <a:prstGeom prst="roundRect">
            <a:avLst>
              <a:gd name="adj" fmla="val 8140"/>
            </a:avLst>
          </a:prstGeom>
          <a:solidFill>
            <a:srgbClr val="EFF6FF"/>
          </a:solidFill>
          <a:ln w="10795">
            <a:solidFill>
              <a:srgbClr val="BFDBFE"/>
            </a:solidFill>
            <a:prstDash val="solid"/>
          </a:ln>
        </p:spPr>
      </p:sp>
      <p:sp>
        <p:nvSpPr>
          <p:cNvPr id="50" name="Shape 48"/>
          <p:cNvSpPr/>
          <p:nvPr/>
        </p:nvSpPr>
        <p:spPr>
          <a:xfrm>
            <a:off x="3941064" y="2267712"/>
            <a:ext cx="54864" cy="786384"/>
          </a:xfrm>
          <a:prstGeom prst="roundRect">
            <a:avLst>
              <a:gd name="adj" fmla="val 33333"/>
            </a:avLst>
          </a:prstGeom>
          <a:solidFill>
            <a:srgbClr val="1D4ED8"/>
          </a:solidFill>
          <a:ln/>
        </p:spPr>
      </p:sp>
      <p:sp>
        <p:nvSpPr>
          <p:cNvPr id="51" name="Text 49"/>
          <p:cNvSpPr/>
          <p:nvPr/>
        </p:nvSpPr>
        <p:spPr>
          <a:xfrm>
            <a:off x="4087368" y="2322576"/>
            <a:ext cx="4361688" cy="676656"/>
          </a:xfrm>
          <a:prstGeom prst="rect">
            <a:avLst/>
          </a:prstGeom>
          <a:noFill/>
          <a:ln/>
        </p:spPr>
        <p:txBody>
          <a:bodyPr wrap="square" lIns="0" tIns="0" rIns="0" bIns="0" rtlCol="0" anchor="ctr"/>
          <a:lstStyle/>
          <a:p>
            <a:pPr indent="0" marL="0">
              <a:lnSpc>
                <a:spcPct val="108000"/>
              </a:lnSpc>
              <a:buNone/>
            </a:pPr>
            <a:r>
              <a:rPr lang="en-US" sz="730" b="1" dirty="0">
                <a:solidFill>
                  <a:srgbClr val="0F172A"/>
                </a:solidFill>
                <a:latin typeface="Arial" pitchFamily="34" charset="0"/>
                <a:ea typeface="Arial" pitchFamily="34" charset="-122"/>
                <a:cs typeface="Arial" pitchFamily="34" charset="-120"/>
              </a:rPr>
              <a:t>App-layer Google Tink AEAD envelope encryption wraps every pooled session blob under tenant Cloud KMS KEK.</a:t>
            </a:r>
            <a:endParaRPr lang="en-US" sz="730" dirty="0"/>
          </a:p>
        </p:txBody>
      </p:sp>
      <p:sp>
        <p:nvSpPr>
          <p:cNvPr id="52" name="Shape 50"/>
          <p:cNvSpPr/>
          <p:nvPr/>
        </p:nvSpPr>
        <p:spPr>
          <a:xfrm>
            <a:off x="8814816" y="2267712"/>
            <a:ext cx="2937967" cy="786384"/>
          </a:xfrm>
          <a:prstGeom prst="roundRect">
            <a:avLst>
              <a:gd name="adj" fmla="val 8140"/>
            </a:avLst>
          </a:prstGeom>
          <a:solidFill>
            <a:srgbClr val="ECFDF5"/>
          </a:solidFill>
          <a:ln w="10795">
            <a:solidFill>
              <a:srgbClr val="A7F3D0"/>
            </a:solidFill>
            <a:prstDash val="solid"/>
          </a:ln>
        </p:spPr>
      </p:sp>
      <p:sp>
        <p:nvSpPr>
          <p:cNvPr id="53" name="Shape 51"/>
          <p:cNvSpPr/>
          <p:nvPr/>
        </p:nvSpPr>
        <p:spPr>
          <a:xfrm>
            <a:off x="8814816" y="2267712"/>
            <a:ext cx="54864" cy="786384"/>
          </a:xfrm>
          <a:prstGeom prst="roundRect">
            <a:avLst>
              <a:gd name="adj" fmla="val 33333"/>
            </a:avLst>
          </a:prstGeom>
          <a:solidFill>
            <a:srgbClr val="047857"/>
          </a:solidFill>
          <a:ln/>
        </p:spPr>
      </p:sp>
      <p:sp>
        <p:nvSpPr>
          <p:cNvPr id="54" name="Text 52"/>
          <p:cNvSpPr/>
          <p:nvPr/>
        </p:nvSpPr>
        <p:spPr>
          <a:xfrm>
            <a:off x="8942832" y="2359152"/>
            <a:ext cx="2718511" cy="201168"/>
          </a:xfrm>
          <a:prstGeom prst="rect">
            <a:avLst/>
          </a:prstGeom>
          <a:noFill/>
          <a:ln/>
        </p:spPr>
        <p:txBody>
          <a:bodyPr wrap="square" lIns="0" tIns="0" rIns="0" bIns="0" rtlCol="0" anchor="ctr"/>
          <a:lstStyle/>
          <a:p>
            <a:pPr indent="0" marL="0">
              <a:lnSpc>
                <a:spcPct val="105000"/>
              </a:lnSpc>
              <a:buNone/>
            </a:pPr>
            <a:r>
              <a:rPr lang="en-US" sz="650" b="1" dirty="0">
                <a:solidFill>
                  <a:srgbClr val="047857"/>
                </a:solidFill>
                <a:latin typeface="Courier New" pitchFamily="34" charset="0"/>
                <a:ea typeface="Courier New" pitchFamily="34" charset="-122"/>
                <a:cs typeface="Courier New" pitchFamily="34" charset="-120"/>
              </a:rPr>
              <a:t>CYMBAL_NATIVE_MEMORY_CMEK_GA=true</a:t>
            </a:r>
            <a:endParaRPr lang="en-US" sz="650" dirty="0"/>
          </a:p>
        </p:txBody>
      </p:sp>
      <p:sp>
        <p:nvSpPr>
          <p:cNvPr id="55" name="Text 53"/>
          <p:cNvSpPr/>
          <p:nvPr/>
        </p:nvSpPr>
        <p:spPr>
          <a:xfrm>
            <a:off x="8942832" y="2596896"/>
            <a:ext cx="2718511" cy="384048"/>
          </a:xfrm>
          <a:prstGeom prst="rect">
            <a:avLst/>
          </a:prstGeom>
          <a:noFill/>
          <a:ln/>
        </p:spPr>
        <p:txBody>
          <a:bodyPr wrap="square" lIns="0" tIns="0" rIns="0" bIns="0" rtlCol="0" anchor="ctr"/>
          <a:lstStyle/>
          <a:p>
            <a:pPr indent="0" marL="0">
              <a:lnSpc>
                <a:spcPct val="106000"/>
              </a:lnSpc>
              <a:buNone/>
            </a:pPr>
            <a:r>
              <a:rPr lang="en-US" sz="690" dirty="0">
                <a:solidFill>
                  <a:srgbClr val="334155"/>
                </a:solidFill>
                <a:latin typeface="Arial" pitchFamily="34" charset="0"/>
                <a:ea typeface="Arial" pitchFamily="34" charset="-122"/>
                <a:cs typeface="Arial" pitchFamily="34" charset="-120"/>
              </a:rPr>
              <a:t>Switches session writer to native resource CMEK.</a:t>
            </a:r>
            <a:endParaRPr lang="en-US" sz="690" dirty="0"/>
          </a:p>
        </p:txBody>
      </p:sp>
      <p:sp>
        <p:nvSpPr>
          <p:cNvPr id="56" name="Shape 54"/>
          <p:cNvSpPr/>
          <p:nvPr/>
        </p:nvSpPr>
        <p:spPr>
          <a:xfrm>
            <a:off x="3685032" y="3557016"/>
            <a:ext cx="256032" cy="0"/>
          </a:xfrm>
          <a:prstGeom prst="line">
            <a:avLst/>
          </a:prstGeom>
          <a:noFill/>
          <a:ln w="16510">
            <a:solidFill>
              <a:srgbClr val="1D4ED8"/>
            </a:solidFill>
            <a:prstDash val="solid"/>
            <a:tailEnd type="triangle" w="sm" len="sm"/>
          </a:ln>
        </p:spPr>
      </p:sp>
      <p:sp>
        <p:nvSpPr>
          <p:cNvPr id="57" name="Shape 55"/>
          <p:cNvSpPr/>
          <p:nvPr/>
        </p:nvSpPr>
        <p:spPr>
          <a:xfrm>
            <a:off x="8558784" y="3557016"/>
            <a:ext cx="256032" cy="0"/>
          </a:xfrm>
          <a:prstGeom prst="line">
            <a:avLst/>
          </a:prstGeom>
          <a:noFill/>
          <a:ln w="16510">
            <a:solidFill>
              <a:srgbClr val="047857"/>
            </a:solidFill>
            <a:prstDash val="solid"/>
            <a:tailEnd type="triangle" w="sm" len="sm"/>
          </a:ln>
        </p:spPr>
      </p:sp>
      <p:sp>
        <p:nvSpPr>
          <p:cNvPr id="58" name="Shape 56"/>
          <p:cNvSpPr/>
          <p:nvPr/>
        </p:nvSpPr>
        <p:spPr>
          <a:xfrm>
            <a:off x="438912" y="3163824"/>
            <a:ext cx="3246120" cy="786384"/>
          </a:xfrm>
          <a:prstGeom prst="roundRect">
            <a:avLst>
              <a:gd name="adj" fmla="val 8140"/>
            </a:avLst>
          </a:prstGeom>
          <a:solidFill>
            <a:srgbClr val="FFFFFF"/>
          </a:solidFill>
          <a:ln w="10795">
            <a:solidFill>
              <a:srgbClr val="FDE68A"/>
            </a:solidFill>
            <a:prstDash val="solid"/>
          </a:ln>
        </p:spPr>
      </p:sp>
      <p:sp>
        <p:nvSpPr>
          <p:cNvPr id="59" name="Shape 57"/>
          <p:cNvSpPr/>
          <p:nvPr/>
        </p:nvSpPr>
        <p:spPr>
          <a:xfrm>
            <a:off x="438912" y="3163824"/>
            <a:ext cx="54864" cy="786384"/>
          </a:xfrm>
          <a:prstGeom prst="roundRect">
            <a:avLst>
              <a:gd name="adj" fmla="val 33333"/>
            </a:avLst>
          </a:prstGeom>
          <a:solidFill>
            <a:srgbClr val="B45309"/>
          </a:solidFill>
          <a:ln/>
        </p:spPr>
      </p:sp>
      <p:sp>
        <p:nvSpPr>
          <p:cNvPr id="60" name="Shape 58"/>
          <p:cNvSpPr/>
          <p:nvPr/>
        </p:nvSpPr>
        <p:spPr>
          <a:xfrm>
            <a:off x="566928" y="3236976"/>
            <a:ext cx="621792" cy="182880"/>
          </a:xfrm>
          <a:prstGeom prst="roundRect">
            <a:avLst>
              <a:gd name="adj" fmla="val 40000"/>
            </a:avLst>
          </a:prstGeom>
          <a:solidFill>
            <a:srgbClr val="B45309"/>
          </a:solidFill>
          <a:ln/>
        </p:spPr>
      </p:sp>
      <p:sp>
        <p:nvSpPr>
          <p:cNvPr id="61" name="Text 59"/>
          <p:cNvSpPr/>
          <p:nvPr/>
        </p:nvSpPr>
        <p:spPr>
          <a:xfrm>
            <a:off x="566928" y="3236976"/>
            <a:ext cx="621792" cy="182880"/>
          </a:xfrm>
          <a:prstGeom prst="rect">
            <a:avLst/>
          </a:prstGeom>
          <a:noFill/>
          <a:ln/>
        </p:spPr>
        <p:txBody>
          <a:bodyPr wrap="square" lIns="0" tIns="0" rIns="0" bIns="0" rtlCol="0" anchor="ctr"/>
          <a:lstStyle/>
          <a:p>
            <a:pPr algn="ctr" indent="0" marL="0">
              <a:lnSpc>
                <a:spcPct val="105000"/>
              </a:lnSpc>
              <a:buNone/>
            </a:pPr>
            <a:r>
              <a:rPr lang="en-US" sz="620" b="1" dirty="0">
                <a:solidFill>
                  <a:srgbClr val="FFFFFF"/>
                </a:solidFill>
                <a:latin typeface="Arial" pitchFamily="34" charset="0"/>
                <a:ea typeface="Arial" pitchFamily="34" charset="-122"/>
                <a:cs typeface="Arial" pitchFamily="34" charset="-120"/>
              </a:rPr>
              <a:t>GAP-03</a:t>
            </a:r>
            <a:endParaRPr lang="en-US" sz="620" dirty="0"/>
          </a:p>
        </p:txBody>
      </p:sp>
      <p:sp>
        <p:nvSpPr>
          <p:cNvPr id="62" name="Text 60"/>
          <p:cNvSpPr/>
          <p:nvPr/>
        </p:nvSpPr>
        <p:spPr>
          <a:xfrm>
            <a:off x="1243584" y="3218688"/>
            <a:ext cx="2331720" cy="676656"/>
          </a:xfrm>
          <a:prstGeom prst="rect">
            <a:avLst/>
          </a:prstGeom>
          <a:noFill/>
          <a:ln/>
        </p:spPr>
        <p:txBody>
          <a:bodyPr wrap="square" lIns="0" tIns="0" rIns="0" bIns="0" rtlCol="0" anchor="ctr"/>
          <a:lstStyle/>
          <a:p>
            <a:pPr indent="0" marL="0">
              <a:lnSpc>
                <a:spcPct val="106000"/>
              </a:lnSpc>
              <a:buNone/>
            </a:pPr>
            <a:r>
              <a:rPr lang="en-US" sz="710" dirty="0">
                <a:solidFill>
                  <a:srgbClr val="0F172A"/>
                </a:solidFill>
                <a:latin typeface="Arial" pitchFamily="34" charset="0"/>
                <a:ea typeface="Arial" pitchFamily="34" charset="-122"/>
                <a:cs typeface="Arial" pitchFamily="34" charset="-120"/>
              </a:rPr>
              <a:t>Project-Wide Vertex RPM Quotas: One noisy tenant reasoning loop can exhaust shared 500 RPM quota.</a:t>
            </a:r>
            <a:endParaRPr lang="en-US" sz="710" dirty="0"/>
          </a:p>
        </p:txBody>
      </p:sp>
      <p:sp>
        <p:nvSpPr>
          <p:cNvPr id="63" name="Shape 61"/>
          <p:cNvSpPr/>
          <p:nvPr/>
        </p:nvSpPr>
        <p:spPr>
          <a:xfrm>
            <a:off x="3941064" y="3163824"/>
            <a:ext cx="4617720" cy="786384"/>
          </a:xfrm>
          <a:prstGeom prst="roundRect">
            <a:avLst>
              <a:gd name="adj" fmla="val 8140"/>
            </a:avLst>
          </a:prstGeom>
          <a:solidFill>
            <a:srgbClr val="EFF6FF"/>
          </a:solidFill>
          <a:ln w="10795">
            <a:solidFill>
              <a:srgbClr val="BFDBFE"/>
            </a:solidFill>
            <a:prstDash val="solid"/>
          </a:ln>
        </p:spPr>
      </p:sp>
      <p:sp>
        <p:nvSpPr>
          <p:cNvPr id="64" name="Shape 62"/>
          <p:cNvSpPr/>
          <p:nvPr/>
        </p:nvSpPr>
        <p:spPr>
          <a:xfrm>
            <a:off x="3941064" y="3163824"/>
            <a:ext cx="54864" cy="786384"/>
          </a:xfrm>
          <a:prstGeom prst="roundRect">
            <a:avLst>
              <a:gd name="adj" fmla="val 33333"/>
            </a:avLst>
          </a:prstGeom>
          <a:solidFill>
            <a:srgbClr val="1D4ED8"/>
          </a:solidFill>
          <a:ln/>
        </p:spPr>
      </p:sp>
      <p:sp>
        <p:nvSpPr>
          <p:cNvPr id="65" name="Text 63"/>
          <p:cNvSpPr/>
          <p:nvPr/>
        </p:nvSpPr>
        <p:spPr>
          <a:xfrm>
            <a:off x="4087368" y="3218688"/>
            <a:ext cx="4361688" cy="676656"/>
          </a:xfrm>
          <a:prstGeom prst="rect">
            <a:avLst/>
          </a:prstGeom>
          <a:noFill/>
          <a:ln/>
        </p:spPr>
        <p:txBody>
          <a:bodyPr wrap="square" lIns="0" tIns="0" rIns="0" bIns="0" rtlCol="0" anchor="ctr"/>
          <a:lstStyle/>
          <a:p>
            <a:pPr indent="0" marL="0">
              <a:lnSpc>
                <a:spcPct val="108000"/>
              </a:lnSpc>
              <a:buNone/>
            </a:pPr>
            <a:r>
              <a:rPr lang="en-US" sz="730" b="1" dirty="0">
                <a:solidFill>
                  <a:srgbClr val="0F172A"/>
                </a:solidFill>
                <a:latin typeface="Arial" pitchFamily="34" charset="0"/>
                <a:ea typeface="Arial" pitchFamily="34" charset="-122"/>
                <a:cs typeface="Arial" pitchFamily="34" charset="-120"/>
              </a:rPr>
              <a:t>Atomic Valkey Lua token bucket enforces 600 vs. 120 RPM (~3ms) and clamps max thinking_budget per tier.</a:t>
            </a:r>
            <a:endParaRPr lang="en-US" sz="730" dirty="0"/>
          </a:p>
        </p:txBody>
      </p:sp>
      <p:sp>
        <p:nvSpPr>
          <p:cNvPr id="66" name="Shape 64"/>
          <p:cNvSpPr/>
          <p:nvPr/>
        </p:nvSpPr>
        <p:spPr>
          <a:xfrm>
            <a:off x="8814816" y="3163824"/>
            <a:ext cx="2937967" cy="786384"/>
          </a:xfrm>
          <a:prstGeom prst="roundRect">
            <a:avLst>
              <a:gd name="adj" fmla="val 8140"/>
            </a:avLst>
          </a:prstGeom>
          <a:solidFill>
            <a:srgbClr val="ECFDF5"/>
          </a:solidFill>
          <a:ln w="10795">
            <a:solidFill>
              <a:srgbClr val="A7F3D0"/>
            </a:solidFill>
            <a:prstDash val="solid"/>
          </a:ln>
        </p:spPr>
      </p:sp>
      <p:sp>
        <p:nvSpPr>
          <p:cNvPr id="67" name="Shape 65"/>
          <p:cNvSpPr/>
          <p:nvPr/>
        </p:nvSpPr>
        <p:spPr>
          <a:xfrm>
            <a:off x="8814816" y="3163824"/>
            <a:ext cx="54864" cy="786384"/>
          </a:xfrm>
          <a:prstGeom prst="roundRect">
            <a:avLst>
              <a:gd name="adj" fmla="val 33333"/>
            </a:avLst>
          </a:prstGeom>
          <a:solidFill>
            <a:srgbClr val="047857"/>
          </a:solidFill>
          <a:ln/>
        </p:spPr>
      </p:sp>
      <p:sp>
        <p:nvSpPr>
          <p:cNvPr id="68" name="Text 66"/>
          <p:cNvSpPr/>
          <p:nvPr/>
        </p:nvSpPr>
        <p:spPr>
          <a:xfrm>
            <a:off x="8942832" y="3255264"/>
            <a:ext cx="2718511" cy="201168"/>
          </a:xfrm>
          <a:prstGeom prst="rect">
            <a:avLst/>
          </a:prstGeom>
          <a:noFill/>
          <a:ln/>
        </p:spPr>
        <p:txBody>
          <a:bodyPr wrap="square" lIns="0" tIns="0" rIns="0" bIns="0" rtlCol="0" anchor="ctr"/>
          <a:lstStyle/>
          <a:p>
            <a:pPr indent="0" marL="0">
              <a:lnSpc>
                <a:spcPct val="105000"/>
              </a:lnSpc>
              <a:buNone/>
            </a:pPr>
            <a:r>
              <a:rPr lang="en-US" sz="650" b="1" dirty="0">
                <a:solidFill>
                  <a:srgbClr val="047857"/>
                </a:solidFill>
                <a:latin typeface="Courier New" pitchFamily="34" charset="0"/>
                <a:ea typeface="Courier New" pitchFamily="34" charset="-122"/>
                <a:cs typeface="Courier New" pitchFamily="34" charset="-120"/>
              </a:rPr>
              <a:t>CYMBAL_NATIVE_TENANT_QUOTA_GA=true</a:t>
            </a:r>
            <a:endParaRPr lang="en-US" sz="650" dirty="0"/>
          </a:p>
        </p:txBody>
      </p:sp>
      <p:sp>
        <p:nvSpPr>
          <p:cNvPr id="69" name="Text 67"/>
          <p:cNvSpPr/>
          <p:nvPr/>
        </p:nvSpPr>
        <p:spPr>
          <a:xfrm>
            <a:off x="8942832" y="3493008"/>
            <a:ext cx="2718511" cy="384048"/>
          </a:xfrm>
          <a:prstGeom prst="rect">
            <a:avLst/>
          </a:prstGeom>
          <a:noFill/>
          <a:ln/>
        </p:spPr>
        <p:txBody>
          <a:bodyPr wrap="square" lIns="0" tIns="0" rIns="0" bIns="0" rtlCol="0" anchor="ctr"/>
          <a:lstStyle/>
          <a:p>
            <a:pPr indent="0" marL="0">
              <a:lnSpc>
                <a:spcPct val="106000"/>
              </a:lnSpc>
              <a:buNone/>
            </a:pPr>
            <a:r>
              <a:rPr lang="en-US" sz="690" dirty="0">
                <a:solidFill>
                  <a:srgbClr val="334155"/>
                </a:solidFill>
                <a:latin typeface="Arial" pitchFamily="34" charset="0"/>
                <a:ea typeface="Arial" pitchFamily="34" charset="-122"/>
                <a:cs typeface="Arial" pitchFamily="34" charset="-120"/>
              </a:rPr>
              <a:t>Passes native X-Goog-Tenant-Quota header.</a:t>
            </a:r>
            <a:endParaRPr lang="en-US" sz="690" dirty="0"/>
          </a:p>
        </p:txBody>
      </p:sp>
      <p:sp>
        <p:nvSpPr>
          <p:cNvPr id="70" name="Shape 68"/>
          <p:cNvSpPr/>
          <p:nvPr/>
        </p:nvSpPr>
        <p:spPr>
          <a:xfrm>
            <a:off x="3685032" y="4453128"/>
            <a:ext cx="256032" cy="0"/>
          </a:xfrm>
          <a:prstGeom prst="line">
            <a:avLst/>
          </a:prstGeom>
          <a:noFill/>
          <a:ln w="16510">
            <a:solidFill>
              <a:srgbClr val="1D4ED8"/>
            </a:solidFill>
            <a:prstDash val="solid"/>
            <a:tailEnd type="triangle" w="sm" len="sm"/>
          </a:ln>
        </p:spPr>
      </p:sp>
      <p:sp>
        <p:nvSpPr>
          <p:cNvPr id="71" name="Shape 69"/>
          <p:cNvSpPr/>
          <p:nvPr/>
        </p:nvSpPr>
        <p:spPr>
          <a:xfrm>
            <a:off x="8558784" y="4453128"/>
            <a:ext cx="256032" cy="0"/>
          </a:xfrm>
          <a:prstGeom prst="line">
            <a:avLst/>
          </a:prstGeom>
          <a:noFill/>
          <a:ln w="16510">
            <a:solidFill>
              <a:srgbClr val="047857"/>
            </a:solidFill>
            <a:prstDash val="solid"/>
            <a:tailEnd type="triangle" w="sm" len="sm"/>
          </a:ln>
        </p:spPr>
      </p:sp>
      <p:sp>
        <p:nvSpPr>
          <p:cNvPr id="72" name="Shape 70"/>
          <p:cNvSpPr/>
          <p:nvPr/>
        </p:nvSpPr>
        <p:spPr>
          <a:xfrm>
            <a:off x="438912" y="4059936"/>
            <a:ext cx="3246120" cy="786384"/>
          </a:xfrm>
          <a:prstGeom prst="roundRect">
            <a:avLst>
              <a:gd name="adj" fmla="val 8140"/>
            </a:avLst>
          </a:prstGeom>
          <a:solidFill>
            <a:srgbClr val="FFFFFF"/>
          </a:solidFill>
          <a:ln w="10795">
            <a:solidFill>
              <a:srgbClr val="FDE68A"/>
            </a:solidFill>
            <a:prstDash val="solid"/>
          </a:ln>
        </p:spPr>
      </p:sp>
      <p:sp>
        <p:nvSpPr>
          <p:cNvPr id="73" name="Shape 71"/>
          <p:cNvSpPr/>
          <p:nvPr/>
        </p:nvSpPr>
        <p:spPr>
          <a:xfrm>
            <a:off x="438912" y="4059936"/>
            <a:ext cx="54864" cy="786384"/>
          </a:xfrm>
          <a:prstGeom prst="roundRect">
            <a:avLst>
              <a:gd name="adj" fmla="val 33333"/>
            </a:avLst>
          </a:prstGeom>
          <a:solidFill>
            <a:srgbClr val="B45309"/>
          </a:solidFill>
          <a:ln/>
        </p:spPr>
      </p:sp>
      <p:sp>
        <p:nvSpPr>
          <p:cNvPr id="74" name="Shape 72"/>
          <p:cNvSpPr/>
          <p:nvPr/>
        </p:nvSpPr>
        <p:spPr>
          <a:xfrm>
            <a:off x="566928" y="4133088"/>
            <a:ext cx="621792" cy="182880"/>
          </a:xfrm>
          <a:prstGeom prst="roundRect">
            <a:avLst>
              <a:gd name="adj" fmla="val 40000"/>
            </a:avLst>
          </a:prstGeom>
          <a:solidFill>
            <a:srgbClr val="B45309"/>
          </a:solidFill>
          <a:ln/>
        </p:spPr>
      </p:sp>
      <p:sp>
        <p:nvSpPr>
          <p:cNvPr id="75" name="Text 73"/>
          <p:cNvSpPr/>
          <p:nvPr/>
        </p:nvSpPr>
        <p:spPr>
          <a:xfrm>
            <a:off x="566928" y="4133088"/>
            <a:ext cx="621792" cy="182880"/>
          </a:xfrm>
          <a:prstGeom prst="rect">
            <a:avLst/>
          </a:prstGeom>
          <a:noFill/>
          <a:ln/>
        </p:spPr>
        <p:txBody>
          <a:bodyPr wrap="square" lIns="0" tIns="0" rIns="0" bIns="0" rtlCol="0" anchor="ctr"/>
          <a:lstStyle/>
          <a:p>
            <a:pPr algn="ctr" indent="0" marL="0">
              <a:lnSpc>
                <a:spcPct val="105000"/>
              </a:lnSpc>
              <a:buNone/>
            </a:pPr>
            <a:r>
              <a:rPr lang="en-US" sz="620" b="1" dirty="0">
                <a:solidFill>
                  <a:srgbClr val="FFFFFF"/>
                </a:solidFill>
                <a:latin typeface="Arial" pitchFamily="34" charset="0"/>
                <a:ea typeface="Arial" pitchFamily="34" charset="-122"/>
                <a:cs typeface="Arial" pitchFamily="34" charset="-120"/>
              </a:rPr>
              <a:t>GAP-04</a:t>
            </a:r>
            <a:endParaRPr lang="en-US" sz="620" dirty="0"/>
          </a:p>
        </p:txBody>
      </p:sp>
      <p:sp>
        <p:nvSpPr>
          <p:cNvPr id="76" name="Text 74"/>
          <p:cNvSpPr/>
          <p:nvPr/>
        </p:nvSpPr>
        <p:spPr>
          <a:xfrm>
            <a:off x="1243584" y="4114800"/>
            <a:ext cx="2331720" cy="676656"/>
          </a:xfrm>
          <a:prstGeom prst="rect">
            <a:avLst/>
          </a:prstGeom>
          <a:noFill/>
          <a:ln/>
        </p:spPr>
        <p:txBody>
          <a:bodyPr wrap="square" lIns="0" tIns="0" rIns="0" bIns="0" rtlCol="0" anchor="ctr"/>
          <a:lstStyle/>
          <a:p>
            <a:pPr indent="0" marL="0">
              <a:lnSpc>
                <a:spcPct val="106000"/>
              </a:lnSpc>
              <a:buNone/>
            </a:pPr>
            <a:r>
              <a:rPr lang="en-US" sz="710" dirty="0">
                <a:solidFill>
                  <a:srgbClr val="0F172A"/>
                </a:solidFill>
                <a:latin typeface="Arial" pitchFamily="34" charset="0"/>
                <a:ea typeface="Arial" pitchFamily="34" charset="-122"/>
                <a:cs typeface="Arial" pitchFamily="34" charset="-120"/>
              </a:rPr>
              <a:t>External Entra ID 3LO Mismatch: Managed connector brokers assume homogeneous Google Workspace IdP.</a:t>
            </a:r>
            <a:endParaRPr lang="en-US" sz="710" dirty="0"/>
          </a:p>
        </p:txBody>
      </p:sp>
      <p:sp>
        <p:nvSpPr>
          <p:cNvPr id="77" name="Shape 75"/>
          <p:cNvSpPr/>
          <p:nvPr/>
        </p:nvSpPr>
        <p:spPr>
          <a:xfrm>
            <a:off x="3941064" y="4059936"/>
            <a:ext cx="4617720" cy="786384"/>
          </a:xfrm>
          <a:prstGeom prst="roundRect">
            <a:avLst>
              <a:gd name="adj" fmla="val 8140"/>
            </a:avLst>
          </a:prstGeom>
          <a:solidFill>
            <a:srgbClr val="EFF6FF"/>
          </a:solidFill>
          <a:ln w="10795">
            <a:solidFill>
              <a:srgbClr val="BFDBFE"/>
            </a:solidFill>
            <a:prstDash val="solid"/>
          </a:ln>
        </p:spPr>
      </p:sp>
      <p:sp>
        <p:nvSpPr>
          <p:cNvPr id="78" name="Shape 76"/>
          <p:cNvSpPr/>
          <p:nvPr/>
        </p:nvSpPr>
        <p:spPr>
          <a:xfrm>
            <a:off x="3941064" y="4059936"/>
            <a:ext cx="54864" cy="786384"/>
          </a:xfrm>
          <a:prstGeom prst="roundRect">
            <a:avLst>
              <a:gd name="adj" fmla="val 33333"/>
            </a:avLst>
          </a:prstGeom>
          <a:solidFill>
            <a:srgbClr val="1D4ED8"/>
          </a:solidFill>
          <a:ln/>
        </p:spPr>
      </p:sp>
      <p:sp>
        <p:nvSpPr>
          <p:cNvPr id="79" name="Text 77"/>
          <p:cNvSpPr/>
          <p:nvPr/>
        </p:nvSpPr>
        <p:spPr>
          <a:xfrm>
            <a:off x="4087368" y="4114800"/>
            <a:ext cx="4361688" cy="676656"/>
          </a:xfrm>
          <a:prstGeom prst="rect">
            <a:avLst/>
          </a:prstGeom>
          <a:noFill/>
          <a:ln/>
        </p:spPr>
        <p:txBody>
          <a:bodyPr wrap="square" lIns="0" tIns="0" rIns="0" bIns="0" rtlCol="0" anchor="ctr"/>
          <a:lstStyle/>
          <a:p>
            <a:pPr indent="0" marL="0">
              <a:lnSpc>
                <a:spcPct val="108000"/>
              </a:lnSpc>
              <a:buNone/>
            </a:pPr>
            <a:r>
              <a:rPr lang="en-US" sz="730" b="1" dirty="0">
                <a:solidFill>
                  <a:srgbClr val="0F172A"/>
                </a:solidFill>
                <a:latin typeface="Arial" pitchFamily="34" charset="0"/>
                <a:ea typeface="Arial" pitchFamily="34" charset="-122"/>
                <a:cs typeface="Arial" pitchFamily="34" charset="-120"/>
              </a:rPr>
              <a:t>Edge RFC 8693 OBO token exchange normalizes Entra JWTs and keys 3LO tokens under vault:{tenant}:{user}.</a:t>
            </a:r>
            <a:endParaRPr lang="en-US" sz="730" dirty="0"/>
          </a:p>
        </p:txBody>
      </p:sp>
      <p:sp>
        <p:nvSpPr>
          <p:cNvPr id="80" name="Shape 78"/>
          <p:cNvSpPr/>
          <p:nvPr/>
        </p:nvSpPr>
        <p:spPr>
          <a:xfrm>
            <a:off x="8814816" y="4059936"/>
            <a:ext cx="2937967" cy="786384"/>
          </a:xfrm>
          <a:prstGeom prst="roundRect">
            <a:avLst>
              <a:gd name="adj" fmla="val 8140"/>
            </a:avLst>
          </a:prstGeom>
          <a:solidFill>
            <a:srgbClr val="ECFDF5"/>
          </a:solidFill>
          <a:ln w="10795">
            <a:solidFill>
              <a:srgbClr val="A7F3D0"/>
            </a:solidFill>
            <a:prstDash val="solid"/>
          </a:ln>
        </p:spPr>
      </p:sp>
      <p:sp>
        <p:nvSpPr>
          <p:cNvPr id="81" name="Shape 79"/>
          <p:cNvSpPr/>
          <p:nvPr/>
        </p:nvSpPr>
        <p:spPr>
          <a:xfrm>
            <a:off x="8814816" y="4059936"/>
            <a:ext cx="54864" cy="786384"/>
          </a:xfrm>
          <a:prstGeom prst="roundRect">
            <a:avLst>
              <a:gd name="adj" fmla="val 33333"/>
            </a:avLst>
          </a:prstGeom>
          <a:solidFill>
            <a:srgbClr val="047857"/>
          </a:solidFill>
          <a:ln/>
        </p:spPr>
      </p:sp>
      <p:sp>
        <p:nvSpPr>
          <p:cNvPr id="82" name="Text 80"/>
          <p:cNvSpPr/>
          <p:nvPr/>
        </p:nvSpPr>
        <p:spPr>
          <a:xfrm>
            <a:off x="8942832" y="4151376"/>
            <a:ext cx="2718511" cy="201168"/>
          </a:xfrm>
          <a:prstGeom prst="rect">
            <a:avLst/>
          </a:prstGeom>
          <a:noFill/>
          <a:ln/>
        </p:spPr>
        <p:txBody>
          <a:bodyPr wrap="square" lIns="0" tIns="0" rIns="0" bIns="0" rtlCol="0" anchor="ctr"/>
          <a:lstStyle/>
          <a:p>
            <a:pPr indent="0" marL="0">
              <a:lnSpc>
                <a:spcPct val="105000"/>
              </a:lnSpc>
              <a:buNone/>
            </a:pPr>
            <a:r>
              <a:rPr lang="en-US" sz="650" b="1" dirty="0">
                <a:solidFill>
                  <a:srgbClr val="047857"/>
                </a:solidFill>
                <a:latin typeface="Courier New" pitchFamily="34" charset="0"/>
                <a:ea typeface="Courier New" pitchFamily="34" charset="-122"/>
                <a:cs typeface="Courier New" pitchFamily="34" charset="-120"/>
              </a:rPr>
              <a:t>CYMBAL_NATIVE_FEDERATED_3LO_GA=true</a:t>
            </a:r>
            <a:endParaRPr lang="en-US" sz="650" dirty="0"/>
          </a:p>
        </p:txBody>
      </p:sp>
      <p:sp>
        <p:nvSpPr>
          <p:cNvPr id="83" name="Text 81"/>
          <p:cNvSpPr/>
          <p:nvPr/>
        </p:nvSpPr>
        <p:spPr>
          <a:xfrm>
            <a:off x="8942832" y="4389120"/>
            <a:ext cx="2718511" cy="384048"/>
          </a:xfrm>
          <a:prstGeom prst="rect">
            <a:avLst/>
          </a:prstGeom>
          <a:noFill/>
          <a:ln/>
        </p:spPr>
        <p:txBody>
          <a:bodyPr wrap="square" lIns="0" tIns="0" rIns="0" bIns="0" rtlCol="0" anchor="ctr"/>
          <a:lstStyle/>
          <a:p>
            <a:pPr indent="0" marL="0">
              <a:lnSpc>
                <a:spcPct val="106000"/>
              </a:lnSpc>
              <a:buNone/>
            </a:pPr>
            <a:r>
              <a:rPr lang="en-US" sz="690" dirty="0">
                <a:solidFill>
                  <a:srgbClr val="334155"/>
                </a:solidFill>
                <a:latin typeface="Arial" pitchFamily="34" charset="0"/>
                <a:ea typeface="Arial" pitchFamily="34" charset="-122"/>
                <a:cs typeface="Arial" pitchFamily="34" charset="-120"/>
              </a:rPr>
              <a:t>Routes directly through Workforce Identity broker.</a:t>
            </a:r>
            <a:endParaRPr lang="en-US" sz="690" dirty="0"/>
          </a:p>
        </p:txBody>
      </p:sp>
      <p:sp>
        <p:nvSpPr>
          <p:cNvPr id="84" name="Shape 82"/>
          <p:cNvSpPr/>
          <p:nvPr/>
        </p:nvSpPr>
        <p:spPr>
          <a:xfrm>
            <a:off x="3685032" y="5349240"/>
            <a:ext cx="256032" cy="0"/>
          </a:xfrm>
          <a:prstGeom prst="line">
            <a:avLst/>
          </a:prstGeom>
          <a:noFill/>
          <a:ln w="16510">
            <a:solidFill>
              <a:srgbClr val="1D4ED8"/>
            </a:solidFill>
            <a:prstDash val="solid"/>
            <a:tailEnd type="triangle" w="sm" len="sm"/>
          </a:ln>
        </p:spPr>
      </p:sp>
      <p:sp>
        <p:nvSpPr>
          <p:cNvPr id="85" name="Shape 83"/>
          <p:cNvSpPr/>
          <p:nvPr/>
        </p:nvSpPr>
        <p:spPr>
          <a:xfrm>
            <a:off x="8558784" y="5349240"/>
            <a:ext cx="256032" cy="0"/>
          </a:xfrm>
          <a:prstGeom prst="line">
            <a:avLst/>
          </a:prstGeom>
          <a:noFill/>
          <a:ln w="16510">
            <a:solidFill>
              <a:srgbClr val="047857"/>
            </a:solidFill>
            <a:prstDash val="solid"/>
            <a:tailEnd type="triangle" w="sm" len="sm"/>
          </a:ln>
        </p:spPr>
      </p:sp>
      <p:sp>
        <p:nvSpPr>
          <p:cNvPr id="86" name="Shape 84"/>
          <p:cNvSpPr/>
          <p:nvPr/>
        </p:nvSpPr>
        <p:spPr>
          <a:xfrm>
            <a:off x="438912" y="4956048"/>
            <a:ext cx="3246120" cy="786384"/>
          </a:xfrm>
          <a:prstGeom prst="roundRect">
            <a:avLst>
              <a:gd name="adj" fmla="val 8140"/>
            </a:avLst>
          </a:prstGeom>
          <a:solidFill>
            <a:srgbClr val="FFFFFF"/>
          </a:solidFill>
          <a:ln w="10795">
            <a:solidFill>
              <a:srgbClr val="FDE68A"/>
            </a:solidFill>
            <a:prstDash val="solid"/>
          </a:ln>
        </p:spPr>
      </p:sp>
      <p:sp>
        <p:nvSpPr>
          <p:cNvPr id="87" name="Shape 85"/>
          <p:cNvSpPr/>
          <p:nvPr/>
        </p:nvSpPr>
        <p:spPr>
          <a:xfrm>
            <a:off x="438912" y="4956048"/>
            <a:ext cx="54864" cy="786384"/>
          </a:xfrm>
          <a:prstGeom prst="roundRect">
            <a:avLst>
              <a:gd name="adj" fmla="val 33333"/>
            </a:avLst>
          </a:prstGeom>
          <a:solidFill>
            <a:srgbClr val="B45309"/>
          </a:solidFill>
          <a:ln/>
        </p:spPr>
      </p:sp>
      <p:sp>
        <p:nvSpPr>
          <p:cNvPr id="88" name="Shape 86"/>
          <p:cNvSpPr/>
          <p:nvPr/>
        </p:nvSpPr>
        <p:spPr>
          <a:xfrm>
            <a:off x="566928" y="5029200"/>
            <a:ext cx="621792" cy="182880"/>
          </a:xfrm>
          <a:prstGeom prst="roundRect">
            <a:avLst>
              <a:gd name="adj" fmla="val 40000"/>
            </a:avLst>
          </a:prstGeom>
          <a:solidFill>
            <a:srgbClr val="B45309"/>
          </a:solidFill>
          <a:ln/>
        </p:spPr>
      </p:sp>
      <p:sp>
        <p:nvSpPr>
          <p:cNvPr id="89" name="Text 87"/>
          <p:cNvSpPr/>
          <p:nvPr/>
        </p:nvSpPr>
        <p:spPr>
          <a:xfrm>
            <a:off x="566928" y="5029200"/>
            <a:ext cx="621792" cy="182880"/>
          </a:xfrm>
          <a:prstGeom prst="rect">
            <a:avLst/>
          </a:prstGeom>
          <a:noFill/>
          <a:ln/>
        </p:spPr>
        <p:txBody>
          <a:bodyPr wrap="square" lIns="0" tIns="0" rIns="0" bIns="0" rtlCol="0" anchor="ctr"/>
          <a:lstStyle/>
          <a:p>
            <a:pPr algn="ctr" indent="0" marL="0">
              <a:lnSpc>
                <a:spcPct val="105000"/>
              </a:lnSpc>
              <a:buNone/>
            </a:pPr>
            <a:r>
              <a:rPr lang="en-US" sz="620" b="1" dirty="0">
                <a:solidFill>
                  <a:srgbClr val="FFFFFF"/>
                </a:solidFill>
                <a:latin typeface="Arial" pitchFamily="34" charset="0"/>
                <a:ea typeface="Arial" pitchFamily="34" charset="-122"/>
                <a:cs typeface="Arial" pitchFamily="34" charset="-120"/>
              </a:rPr>
              <a:t>GAP-05</a:t>
            </a:r>
            <a:endParaRPr lang="en-US" sz="620" dirty="0"/>
          </a:p>
        </p:txBody>
      </p:sp>
      <p:sp>
        <p:nvSpPr>
          <p:cNvPr id="90" name="Text 88"/>
          <p:cNvSpPr/>
          <p:nvPr/>
        </p:nvSpPr>
        <p:spPr>
          <a:xfrm>
            <a:off x="1243584" y="5010912"/>
            <a:ext cx="2331720" cy="676656"/>
          </a:xfrm>
          <a:prstGeom prst="rect">
            <a:avLst/>
          </a:prstGeom>
          <a:noFill/>
          <a:ln/>
        </p:spPr>
        <p:txBody>
          <a:bodyPr wrap="square" lIns="0" tIns="0" rIns="0" bIns="0" rtlCol="0" anchor="ctr"/>
          <a:lstStyle/>
          <a:p>
            <a:pPr indent="0" marL="0">
              <a:lnSpc>
                <a:spcPct val="106000"/>
              </a:lnSpc>
              <a:buNone/>
            </a:pPr>
            <a:r>
              <a:rPr lang="en-US" sz="710" dirty="0">
                <a:solidFill>
                  <a:srgbClr val="0F172A"/>
                </a:solidFill>
                <a:latin typeface="Arial" pitchFamily="34" charset="0"/>
                <a:ea typeface="Arial" pitchFamily="34" charset="-122"/>
                <a:cs typeface="Arial" pitchFamily="34" charset="-120"/>
              </a:rPr>
              <a:t>Aggregate Monthly Cloud Billing: GCP SKUs bill total project tokens with zero tenant attribution.</a:t>
            </a:r>
            <a:endParaRPr lang="en-US" sz="710" dirty="0"/>
          </a:p>
        </p:txBody>
      </p:sp>
      <p:sp>
        <p:nvSpPr>
          <p:cNvPr id="91" name="Shape 89"/>
          <p:cNvSpPr/>
          <p:nvPr/>
        </p:nvSpPr>
        <p:spPr>
          <a:xfrm>
            <a:off x="3941064" y="4956048"/>
            <a:ext cx="4617720" cy="786384"/>
          </a:xfrm>
          <a:prstGeom prst="roundRect">
            <a:avLst>
              <a:gd name="adj" fmla="val 8140"/>
            </a:avLst>
          </a:prstGeom>
          <a:solidFill>
            <a:srgbClr val="EFF6FF"/>
          </a:solidFill>
          <a:ln w="10795">
            <a:solidFill>
              <a:srgbClr val="BFDBFE"/>
            </a:solidFill>
            <a:prstDash val="solid"/>
          </a:ln>
        </p:spPr>
      </p:sp>
      <p:sp>
        <p:nvSpPr>
          <p:cNvPr id="92" name="Shape 90"/>
          <p:cNvSpPr/>
          <p:nvPr/>
        </p:nvSpPr>
        <p:spPr>
          <a:xfrm>
            <a:off x="3941064" y="4956048"/>
            <a:ext cx="54864" cy="786384"/>
          </a:xfrm>
          <a:prstGeom prst="roundRect">
            <a:avLst>
              <a:gd name="adj" fmla="val 33333"/>
            </a:avLst>
          </a:prstGeom>
          <a:solidFill>
            <a:srgbClr val="1D4ED8"/>
          </a:solidFill>
          <a:ln/>
        </p:spPr>
      </p:sp>
      <p:sp>
        <p:nvSpPr>
          <p:cNvPr id="93" name="Text 91"/>
          <p:cNvSpPr/>
          <p:nvPr/>
        </p:nvSpPr>
        <p:spPr>
          <a:xfrm>
            <a:off x="4087368" y="5010912"/>
            <a:ext cx="4361688" cy="676656"/>
          </a:xfrm>
          <a:prstGeom prst="rect">
            <a:avLst/>
          </a:prstGeom>
          <a:noFill/>
          <a:ln/>
        </p:spPr>
        <p:txBody>
          <a:bodyPr wrap="square" lIns="0" tIns="0" rIns="0" bIns="0" rtlCol="0" anchor="ctr"/>
          <a:lstStyle/>
          <a:p>
            <a:pPr indent="0" marL="0">
              <a:lnSpc>
                <a:spcPct val="108000"/>
              </a:lnSpc>
              <a:buNone/>
            </a:pPr>
            <a:r>
              <a:rPr lang="en-US" sz="730" b="1" dirty="0">
                <a:solidFill>
                  <a:srgbClr val="0F172A"/>
                </a:solidFill>
                <a:latin typeface="Arial" pitchFamily="34" charset="0"/>
                <a:ea typeface="Arial" pitchFamily="34" charset="-122"/>
                <a:cs typeface="Arial" pitchFamily="34" charset="-120"/>
              </a:rPr>
              <a:t>Async OpenTelemetry span exporter logs cached, output, and thinking tokens per tenant_id into BigQuery.</a:t>
            </a:r>
            <a:endParaRPr lang="en-US" sz="730" dirty="0"/>
          </a:p>
        </p:txBody>
      </p:sp>
      <p:sp>
        <p:nvSpPr>
          <p:cNvPr id="94" name="Shape 92"/>
          <p:cNvSpPr/>
          <p:nvPr/>
        </p:nvSpPr>
        <p:spPr>
          <a:xfrm>
            <a:off x="8814816" y="4956048"/>
            <a:ext cx="2937967" cy="786384"/>
          </a:xfrm>
          <a:prstGeom prst="roundRect">
            <a:avLst>
              <a:gd name="adj" fmla="val 8140"/>
            </a:avLst>
          </a:prstGeom>
          <a:solidFill>
            <a:srgbClr val="ECFDF5"/>
          </a:solidFill>
          <a:ln w="10795">
            <a:solidFill>
              <a:srgbClr val="A7F3D0"/>
            </a:solidFill>
            <a:prstDash val="solid"/>
          </a:ln>
        </p:spPr>
      </p:sp>
      <p:sp>
        <p:nvSpPr>
          <p:cNvPr id="95" name="Shape 93"/>
          <p:cNvSpPr/>
          <p:nvPr/>
        </p:nvSpPr>
        <p:spPr>
          <a:xfrm>
            <a:off x="8814816" y="4956048"/>
            <a:ext cx="54864" cy="786384"/>
          </a:xfrm>
          <a:prstGeom prst="roundRect">
            <a:avLst>
              <a:gd name="adj" fmla="val 33333"/>
            </a:avLst>
          </a:prstGeom>
          <a:solidFill>
            <a:srgbClr val="047857"/>
          </a:solidFill>
          <a:ln/>
        </p:spPr>
      </p:sp>
      <p:sp>
        <p:nvSpPr>
          <p:cNvPr id="96" name="Text 94"/>
          <p:cNvSpPr/>
          <p:nvPr/>
        </p:nvSpPr>
        <p:spPr>
          <a:xfrm>
            <a:off x="8942832" y="5047488"/>
            <a:ext cx="2718511" cy="201168"/>
          </a:xfrm>
          <a:prstGeom prst="rect">
            <a:avLst/>
          </a:prstGeom>
          <a:noFill/>
          <a:ln/>
        </p:spPr>
        <p:txBody>
          <a:bodyPr wrap="square" lIns="0" tIns="0" rIns="0" bIns="0" rtlCol="0" anchor="ctr"/>
          <a:lstStyle/>
          <a:p>
            <a:pPr indent="0" marL="0">
              <a:lnSpc>
                <a:spcPct val="105000"/>
              </a:lnSpc>
              <a:buNone/>
            </a:pPr>
            <a:r>
              <a:rPr lang="en-US" sz="650" b="1" dirty="0">
                <a:solidFill>
                  <a:srgbClr val="047857"/>
                </a:solidFill>
                <a:latin typeface="Courier New" pitchFamily="34" charset="0"/>
                <a:ea typeface="Courier New" pitchFamily="34" charset="-122"/>
                <a:cs typeface="Courier New" pitchFamily="34" charset="-120"/>
              </a:rPr>
              <a:t>CYMBAL_NATIVE_BILLING_LABELS_GA=true</a:t>
            </a:r>
            <a:endParaRPr lang="en-US" sz="650" dirty="0"/>
          </a:p>
        </p:txBody>
      </p:sp>
      <p:sp>
        <p:nvSpPr>
          <p:cNvPr id="97" name="Text 95"/>
          <p:cNvSpPr/>
          <p:nvPr/>
        </p:nvSpPr>
        <p:spPr>
          <a:xfrm>
            <a:off x="8942832" y="5285232"/>
            <a:ext cx="2718511" cy="384048"/>
          </a:xfrm>
          <a:prstGeom prst="rect">
            <a:avLst/>
          </a:prstGeom>
          <a:noFill/>
          <a:ln/>
        </p:spPr>
        <p:txBody>
          <a:bodyPr wrap="square" lIns="0" tIns="0" rIns="0" bIns="0" rtlCol="0" anchor="ctr"/>
          <a:lstStyle/>
          <a:p>
            <a:pPr indent="0" marL="0">
              <a:lnSpc>
                <a:spcPct val="106000"/>
              </a:lnSpc>
              <a:buNone/>
            </a:pPr>
            <a:r>
              <a:rPr lang="en-US" sz="690" dirty="0">
                <a:solidFill>
                  <a:srgbClr val="334155"/>
                </a:solidFill>
                <a:latin typeface="Arial" pitchFamily="34" charset="0"/>
                <a:ea typeface="Arial" pitchFamily="34" charset="-122"/>
                <a:cs typeface="Arial" pitchFamily="34" charset="-120"/>
              </a:rPr>
              <a:t>Reconciles OTel ledger with native billing labels.</a:t>
            </a:r>
            <a:endParaRPr lang="en-US" sz="690" dirty="0"/>
          </a:p>
        </p:txBody>
      </p:sp>
      <p:sp>
        <p:nvSpPr>
          <p:cNvPr id="98" name="Shape 96"/>
          <p:cNvSpPr/>
          <p:nvPr/>
        </p:nvSpPr>
        <p:spPr>
          <a:xfrm>
            <a:off x="438912" y="5943600"/>
            <a:ext cx="11313871" cy="420624"/>
          </a:xfrm>
          <a:prstGeom prst="roundRect">
            <a:avLst>
              <a:gd name="adj" fmla="val 13043"/>
            </a:avLst>
          </a:prstGeom>
          <a:solidFill>
            <a:srgbClr val="EFF6FF"/>
          </a:solidFill>
          <a:ln w="11430">
            <a:solidFill>
              <a:srgbClr val="BFDBFE"/>
            </a:solidFill>
            <a:prstDash val="solid"/>
          </a:ln>
        </p:spPr>
      </p:sp>
      <p:sp>
        <p:nvSpPr>
          <p:cNvPr id="99" name="Shape 97"/>
          <p:cNvSpPr/>
          <p:nvPr/>
        </p:nvSpPr>
        <p:spPr>
          <a:xfrm>
            <a:off x="530352" y="6025896"/>
            <a:ext cx="1353312" cy="256032"/>
          </a:xfrm>
          <a:prstGeom prst="roundRect">
            <a:avLst>
              <a:gd name="adj" fmla="val 17857"/>
            </a:avLst>
          </a:prstGeom>
          <a:solidFill>
            <a:srgbClr val="1D4ED8"/>
          </a:solidFill>
          <a:ln/>
        </p:spPr>
      </p:sp>
      <p:sp>
        <p:nvSpPr>
          <p:cNvPr id="100" name="Text 98"/>
          <p:cNvSpPr/>
          <p:nvPr/>
        </p:nvSpPr>
        <p:spPr>
          <a:xfrm>
            <a:off x="530352" y="6025896"/>
            <a:ext cx="1353312" cy="256032"/>
          </a:xfrm>
          <a:prstGeom prst="rect">
            <a:avLst/>
          </a:prstGeom>
          <a:noFill/>
          <a:ln/>
        </p:spPr>
        <p:txBody>
          <a:bodyPr wrap="square" lIns="0" tIns="0" rIns="0" bIns="0" rtlCol="0" anchor="ctr"/>
          <a:lstStyle/>
          <a:p>
            <a:pPr algn="ctr" indent="0" marL="0">
              <a:lnSpc>
                <a:spcPct val="105000"/>
              </a:lnSpc>
              <a:buNone/>
            </a:pPr>
            <a:r>
              <a:rPr lang="en-US" sz="650" b="1" dirty="0">
                <a:solidFill>
                  <a:srgbClr val="FFFFFF"/>
                </a:solidFill>
                <a:latin typeface="Arial" pitchFamily="34" charset="0"/>
                <a:ea typeface="Arial" pitchFamily="34" charset="-122"/>
                <a:cs typeface="Arial" pitchFamily="34" charset="-120"/>
              </a:rPr>
              <a:t>FUTURE-PROOF PATH</a:t>
            </a:r>
            <a:endParaRPr lang="en-US" sz="650" dirty="0"/>
          </a:p>
        </p:txBody>
      </p:sp>
      <p:sp>
        <p:nvSpPr>
          <p:cNvPr id="101" name="Text 99"/>
          <p:cNvSpPr/>
          <p:nvPr/>
        </p:nvSpPr>
        <p:spPr>
          <a:xfrm>
            <a:off x="1993392" y="5980176"/>
            <a:ext cx="7555687" cy="347472"/>
          </a:xfrm>
          <a:prstGeom prst="rect">
            <a:avLst/>
          </a:prstGeom>
          <a:noFill/>
          <a:ln/>
        </p:spPr>
        <p:txBody>
          <a:bodyPr wrap="square" lIns="0" tIns="0" rIns="0" bIns="0" rtlCol="0" anchor="ctr"/>
          <a:lstStyle/>
          <a:p>
            <a:pPr algn="l" indent="0" marL="0">
              <a:lnSpc>
                <a:spcPct val="108000"/>
              </a:lnSpc>
              <a:buNone/>
            </a:pPr>
            <a:r>
              <a:rPr lang="en-US" sz="860" b="1" dirty="0">
                <a:solidFill>
                  <a:srgbClr val="0F172A"/>
                </a:solidFill>
                <a:latin typeface="Arial" pitchFamily="34" charset="0"/>
                <a:ea typeface="Arial" pitchFamily="34" charset="-122"/>
                <a:cs typeface="Arial" pitchFamily="34" charset="-120"/>
              </a:rPr>
              <a:t>Enterprise architects never wait on roadmaps or paint themselves into custom-fork corners: every shim lives behind one clean abstraction and retires via environment toggle.</a:t>
            </a:r>
            <a:endParaRPr lang="en-US" sz="860" dirty="0"/>
          </a:p>
        </p:txBody>
      </p:sp>
      <p:sp>
        <p:nvSpPr>
          <p:cNvPr id="102" name="Shape 100"/>
          <p:cNvSpPr/>
          <p:nvPr/>
        </p:nvSpPr>
        <p:spPr>
          <a:xfrm>
            <a:off x="9695383" y="6025896"/>
            <a:ext cx="1965960" cy="256032"/>
          </a:xfrm>
          <a:prstGeom prst="roundRect">
            <a:avLst>
              <a:gd name="adj" fmla="val 17857"/>
            </a:avLst>
          </a:prstGeom>
          <a:solidFill>
            <a:srgbClr val="FFFFFF"/>
          </a:solidFill>
          <a:ln w="10795">
            <a:solidFill>
              <a:srgbClr val="1D4ED8"/>
            </a:solidFill>
            <a:prstDash val="solid"/>
          </a:ln>
        </p:spPr>
      </p:sp>
      <p:sp>
        <p:nvSpPr>
          <p:cNvPr id="103" name="Text 101"/>
          <p:cNvSpPr/>
          <p:nvPr/>
        </p:nvSpPr>
        <p:spPr>
          <a:xfrm>
            <a:off x="9695383" y="6025896"/>
            <a:ext cx="1965960" cy="256032"/>
          </a:xfrm>
          <a:prstGeom prst="rect">
            <a:avLst/>
          </a:prstGeom>
          <a:noFill/>
          <a:ln/>
        </p:spPr>
        <p:txBody>
          <a:bodyPr wrap="square" lIns="0" tIns="0" rIns="0" bIns="0" rtlCol="0" anchor="ctr"/>
          <a:lstStyle/>
          <a:p>
            <a:pPr algn="ctr" indent="0" marL="0">
              <a:lnSpc>
                <a:spcPct val="105000"/>
              </a:lnSpc>
              <a:buNone/>
            </a:pPr>
            <a:r>
              <a:rPr lang="en-US" sz="740" b="1" dirty="0">
                <a:solidFill>
                  <a:srgbClr val="1D4ED8"/>
                </a:solidFill>
                <a:latin typeface="Arial" pitchFamily="34" charset="0"/>
                <a:ea typeface="Arial" pitchFamily="34" charset="-122"/>
                <a:cs typeface="Arial" pitchFamily="34" charset="-120"/>
              </a:rPr>
              <a:t>5 Gaps Closed / 5 GA Flags</a:t>
            </a:r>
            <a:endParaRPr lang="en-US" sz="74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1148"/>
          </a:xfrm>
          <a:prstGeom prst="rect">
            <a:avLst/>
          </a:prstGeom>
          <a:solidFill>
            <a:srgbClr val="047857"/>
          </a:solidFill>
          <a:ln/>
        </p:spPr>
      </p:sp>
      <p:sp>
        <p:nvSpPr>
          <p:cNvPr id="3" name="Shape 1"/>
          <p:cNvSpPr/>
          <p:nvPr/>
        </p:nvSpPr>
        <p:spPr>
          <a:xfrm>
            <a:off x="438912" y="192024"/>
            <a:ext cx="59436" cy="621792"/>
          </a:xfrm>
          <a:prstGeom prst="roundRect">
            <a:avLst>
              <a:gd name="adj" fmla="val 46154"/>
            </a:avLst>
          </a:prstGeom>
          <a:solidFill>
            <a:srgbClr val="047857"/>
          </a:solidFill>
          <a:ln/>
        </p:spPr>
      </p:sp>
      <p:sp>
        <p:nvSpPr>
          <p:cNvPr id="4" name="Text 2"/>
          <p:cNvSpPr/>
          <p:nvPr/>
        </p:nvSpPr>
        <p:spPr>
          <a:xfrm>
            <a:off x="576072" y="173736"/>
            <a:ext cx="4389120" cy="146304"/>
          </a:xfrm>
          <a:prstGeom prst="rect">
            <a:avLst/>
          </a:prstGeom>
          <a:noFill/>
          <a:ln/>
        </p:spPr>
        <p:txBody>
          <a:bodyPr wrap="square" lIns="0" tIns="0" rIns="0" bIns="0" rtlCol="0" anchor="ctr"/>
          <a:lstStyle/>
          <a:p>
            <a:pPr algn="l" indent="0" marL="0">
              <a:lnSpc>
                <a:spcPct val="105000"/>
              </a:lnSpc>
              <a:buNone/>
            </a:pPr>
            <a:r>
              <a:rPr lang="en-US" sz="750" b="1" spc="110" kern="0" dirty="0">
                <a:solidFill>
                  <a:srgbClr val="047857"/>
                </a:solidFill>
                <a:latin typeface="Arial" pitchFamily="34" charset="0"/>
                <a:ea typeface="Arial" pitchFamily="34" charset="-122"/>
                <a:cs typeface="Arial" pitchFamily="34" charset="-120"/>
              </a:rPr>
              <a:t>06 / EMPIRICAL PROOFS</a:t>
            </a:r>
            <a:endParaRPr lang="en-US" sz="750" dirty="0"/>
          </a:p>
        </p:txBody>
      </p:sp>
      <p:sp>
        <p:nvSpPr>
          <p:cNvPr id="5" name="Shape 3"/>
          <p:cNvSpPr/>
          <p:nvPr/>
        </p:nvSpPr>
        <p:spPr>
          <a:xfrm>
            <a:off x="8183880" y="219456"/>
            <a:ext cx="228600" cy="59436"/>
          </a:xfrm>
          <a:prstGeom prst="roundRect">
            <a:avLst>
              <a:gd name="adj" fmla="val 46154"/>
            </a:avLst>
          </a:prstGeom>
          <a:solidFill>
            <a:srgbClr val="94A3B8"/>
          </a:solidFill>
          <a:ln/>
        </p:spPr>
      </p:sp>
      <p:sp>
        <p:nvSpPr>
          <p:cNvPr id="6" name="Shape 4"/>
          <p:cNvSpPr/>
          <p:nvPr/>
        </p:nvSpPr>
        <p:spPr>
          <a:xfrm>
            <a:off x="8453628" y="219456"/>
            <a:ext cx="228600" cy="59436"/>
          </a:xfrm>
          <a:prstGeom prst="roundRect">
            <a:avLst>
              <a:gd name="adj" fmla="val 46154"/>
            </a:avLst>
          </a:prstGeom>
          <a:solidFill>
            <a:srgbClr val="94A3B8"/>
          </a:solidFill>
          <a:ln/>
        </p:spPr>
      </p:sp>
      <p:sp>
        <p:nvSpPr>
          <p:cNvPr id="7" name="Shape 5"/>
          <p:cNvSpPr/>
          <p:nvPr/>
        </p:nvSpPr>
        <p:spPr>
          <a:xfrm>
            <a:off x="8723376" y="219456"/>
            <a:ext cx="228600" cy="59436"/>
          </a:xfrm>
          <a:prstGeom prst="roundRect">
            <a:avLst>
              <a:gd name="adj" fmla="val 46154"/>
            </a:avLst>
          </a:prstGeom>
          <a:solidFill>
            <a:srgbClr val="94A3B8"/>
          </a:solidFill>
          <a:ln/>
        </p:spPr>
      </p:sp>
      <p:sp>
        <p:nvSpPr>
          <p:cNvPr id="8" name="Shape 6"/>
          <p:cNvSpPr/>
          <p:nvPr/>
        </p:nvSpPr>
        <p:spPr>
          <a:xfrm>
            <a:off x="8993124" y="219456"/>
            <a:ext cx="228600" cy="59436"/>
          </a:xfrm>
          <a:prstGeom prst="roundRect">
            <a:avLst>
              <a:gd name="adj" fmla="val 46154"/>
            </a:avLst>
          </a:prstGeom>
          <a:solidFill>
            <a:srgbClr val="94A3B8"/>
          </a:solidFill>
          <a:ln/>
        </p:spPr>
      </p:sp>
      <p:sp>
        <p:nvSpPr>
          <p:cNvPr id="9" name="Shape 7"/>
          <p:cNvSpPr/>
          <p:nvPr/>
        </p:nvSpPr>
        <p:spPr>
          <a:xfrm>
            <a:off x="9262872" y="219456"/>
            <a:ext cx="228600" cy="59436"/>
          </a:xfrm>
          <a:prstGeom prst="roundRect">
            <a:avLst>
              <a:gd name="adj" fmla="val 46154"/>
            </a:avLst>
          </a:prstGeom>
          <a:solidFill>
            <a:srgbClr val="94A3B8"/>
          </a:solidFill>
          <a:ln/>
        </p:spPr>
      </p:sp>
      <p:sp>
        <p:nvSpPr>
          <p:cNvPr id="10" name="Shape 8"/>
          <p:cNvSpPr/>
          <p:nvPr/>
        </p:nvSpPr>
        <p:spPr>
          <a:xfrm>
            <a:off x="9532620" y="219456"/>
            <a:ext cx="228600" cy="59436"/>
          </a:xfrm>
          <a:prstGeom prst="roundRect">
            <a:avLst>
              <a:gd name="adj" fmla="val 46154"/>
            </a:avLst>
          </a:prstGeom>
          <a:solidFill>
            <a:srgbClr val="047857"/>
          </a:solidFill>
          <a:ln/>
        </p:spPr>
      </p:sp>
      <p:sp>
        <p:nvSpPr>
          <p:cNvPr id="11" name="Shape 9"/>
          <p:cNvSpPr/>
          <p:nvPr/>
        </p:nvSpPr>
        <p:spPr>
          <a:xfrm>
            <a:off x="9802368" y="219456"/>
            <a:ext cx="228600" cy="59436"/>
          </a:xfrm>
          <a:prstGeom prst="roundRect">
            <a:avLst>
              <a:gd name="adj" fmla="val 46154"/>
            </a:avLst>
          </a:prstGeom>
          <a:solidFill>
            <a:srgbClr val="E2E8F0"/>
          </a:solidFill>
          <a:ln/>
        </p:spPr>
      </p:sp>
      <p:sp>
        <p:nvSpPr>
          <p:cNvPr id="12" name="Shape 10"/>
          <p:cNvSpPr/>
          <p:nvPr/>
        </p:nvSpPr>
        <p:spPr>
          <a:xfrm>
            <a:off x="10131552" y="146304"/>
            <a:ext cx="1621231" cy="192024"/>
          </a:xfrm>
          <a:prstGeom prst="roundRect">
            <a:avLst>
              <a:gd name="adj" fmla="val 23810"/>
            </a:avLst>
          </a:prstGeom>
          <a:solidFill>
            <a:srgbClr val="FFFFFF"/>
          </a:solidFill>
          <a:ln w="9525">
            <a:solidFill>
              <a:srgbClr val="CBD5E1"/>
            </a:solidFill>
            <a:prstDash val="solid"/>
          </a:ln>
        </p:spPr>
      </p:sp>
      <p:sp>
        <p:nvSpPr>
          <p:cNvPr id="13" name="Text 11"/>
          <p:cNvSpPr/>
          <p:nvPr/>
        </p:nvSpPr>
        <p:spPr>
          <a:xfrm>
            <a:off x="10131552" y="146304"/>
            <a:ext cx="1621231" cy="192024"/>
          </a:xfrm>
          <a:prstGeom prst="rect">
            <a:avLst/>
          </a:prstGeom>
          <a:noFill/>
          <a:ln/>
        </p:spPr>
        <p:txBody>
          <a:bodyPr wrap="square" lIns="0" tIns="0" rIns="0" bIns="0" rtlCol="0" anchor="ctr"/>
          <a:lstStyle/>
          <a:p>
            <a:pPr algn="ctr" indent="0" marL="0">
              <a:lnSpc>
                <a:spcPct val="105000"/>
              </a:lnSpc>
              <a:buNone/>
            </a:pPr>
            <a:r>
              <a:rPr lang="en-US" sz="680" b="1" spc="60" kern="0" dirty="0">
                <a:solidFill>
                  <a:srgbClr val="047857"/>
                </a:solidFill>
                <a:latin typeface="Arial" pitchFamily="34" charset="0"/>
                <a:ea typeface="Arial" pitchFamily="34" charset="-122"/>
                <a:cs typeface="Arial" pitchFamily="34" charset="-120"/>
              </a:rPr>
              <a:t>EMPIRICAL TELEMETRY PROOF</a:t>
            </a:r>
            <a:endParaRPr lang="en-US" sz="680" dirty="0"/>
          </a:p>
        </p:txBody>
      </p:sp>
      <p:sp>
        <p:nvSpPr>
          <p:cNvPr id="14" name="Text 12"/>
          <p:cNvSpPr/>
          <p:nvPr/>
        </p:nvSpPr>
        <p:spPr>
          <a:xfrm>
            <a:off x="576072" y="338328"/>
            <a:ext cx="11176711" cy="310896"/>
          </a:xfrm>
          <a:prstGeom prst="rect">
            <a:avLst/>
          </a:prstGeom>
          <a:noFill/>
          <a:ln/>
        </p:spPr>
        <p:txBody>
          <a:bodyPr wrap="square" lIns="0" tIns="0" rIns="0" bIns="0" rtlCol="0" anchor="ctr"/>
          <a:lstStyle/>
          <a:p>
            <a:pPr algn="l" indent="0" marL="0">
              <a:lnSpc>
                <a:spcPct val="104000"/>
              </a:lnSpc>
              <a:buNone/>
            </a:pPr>
            <a:r>
              <a:rPr lang="en-US" sz="1750" b="1" dirty="0">
                <a:solidFill>
                  <a:srgbClr val="0F172A"/>
                </a:solidFill>
                <a:latin typeface="Arial" pitchFamily="34" charset="0"/>
                <a:ea typeface="Arial" pitchFamily="34" charset="-122"/>
                <a:cs typeface="Arial" pitchFamily="34" charset="-120"/>
              </a:rPr>
              <a:t>Proof Part 1: 100% Live Pass Rate Across GCP Perimeters &amp; AWS AgentCore Federation</a:t>
            </a:r>
            <a:endParaRPr lang="en-US" sz="1750" dirty="0"/>
          </a:p>
        </p:txBody>
      </p:sp>
      <p:sp>
        <p:nvSpPr>
          <p:cNvPr id="15" name="Text 13"/>
          <p:cNvSpPr/>
          <p:nvPr/>
        </p:nvSpPr>
        <p:spPr>
          <a:xfrm>
            <a:off x="576072" y="658368"/>
            <a:ext cx="11176711" cy="192024"/>
          </a:xfrm>
          <a:prstGeom prst="rect">
            <a:avLst/>
          </a:prstGeom>
          <a:noFill/>
          <a:ln/>
        </p:spPr>
        <p:txBody>
          <a:bodyPr wrap="square" lIns="0" tIns="0" rIns="0" bIns="0" rtlCol="0" anchor="ctr"/>
          <a:lstStyle/>
          <a:p>
            <a:pPr algn="l" indent="0" marL="0">
              <a:lnSpc>
                <a:spcPct val="104000"/>
              </a:lnSpc>
              <a:buNone/>
            </a:pPr>
            <a:r>
              <a:rPr lang="en-US" sz="900" dirty="0">
                <a:solidFill>
                  <a:srgbClr val="64748B"/>
                </a:solidFill>
                <a:latin typeface="Arial" pitchFamily="34" charset="0"/>
                <a:ea typeface="Arial" pitchFamily="34" charset="-122"/>
                <a:cs typeface="Arial" pitchFamily="34" charset="-120"/>
              </a:rPr>
              <a:t>Every isolation boundary was red-teamed against live GCP projects (#248990048888, #48439189383) and federated AWS Bedrock AgentCore (#393036065405).</a:t>
            </a:r>
            <a:endParaRPr lang="en-US" sz="900" dirty="0"/>
          </a:p>
        </p:txBody>
      </p:sp>
      <p:sp>
        <p:nvSpPr>
          <p:cNvPr id="16" name="Shape 14"/>
          <p:cNvSpPr/>
          <p:nvPr/>
        </p:nvSpPr>
        <p:spPr>
          <a:xfrm>
            <a:off x="438912" y="914400"/>
            <a:ext cx="11313871" cy="0"/>
          </a:xfrm>
          <a:prstGeom prst="line">
            <a:avLst/>
          </a:prstGeom>
          <a:noFill/>
          <a:ln w="10795">
            <a:solidFill>
              <a:srgbClr val="E2E8F0"/>
            </a:solidFill>
            <a:prstDash val="solid"/>
          </a:ln>
        </p:spPr>
      </p:sp>
      <p:sp>
        <p:nvSpPr>
          <p:cNvPr id="17" name="Shape 15"/>
          <p:cNvSpPr/>
          <p:nvPr/>
        </p:nvSpPr>
        <p:spPr>
          <a:xfrm>
            <a:off x="438912" y="6455664"/>
            <a:ext cx="11313871" cy="0"/>
          </a:xfrm>
          <a:prstGeom prst="line">
            <a:avLst/>
          </a:prstGeom>
          <a:noFill/>
          <a:ln w="9525">
            <a:solidFill>
              <a:srgbClr val="E2E8F0"/>
            </a:solidFill>
            <a:prstDash val="solid"/>
          </a:ln>
        </p:spPr>
      </p:sp>
      <p:sp>
        <p:nvSpPr>
          <p:cNvPr id="18" name="Text 16"/>
          <p:cNvSpPr/>
          <p:nvPr/>
        </p:nvSpPr>
        <p:spPr>
          <a:xfrm>
            <a:off x="438912" y="6501384"/>
            <a:ext cx="5852160" cy="192024"/>
          </a:xfrm>
          <a:prstGeom prst="rect">
            <a:avLst/>
          </a:prstGeom>
          <a:noFill/>
          <a:ln/>
        </p:spPr>
        <p:txBody>
          <a:bodyPr wrap="square" lIns="0" tIns="0" rIns="0" bIns="0" rtlCol="0" anchor="ctr"/>
          <a:lstStyle/>
          <a:p>
            <a:pPr algn="l" indent="0" marL="0">
              <a:lnSpc>
                <a:spcPct val="105000"/>
              </a:lnSpc>
              <a:buNone/>
            </a:pPr>
            <a:r>
              <a:rPr lang="en-US" sz="680" b="1" spc="40" kern="0" dirty="0">
                <a:solidFill>
                  <a:srgbClr val="64748B"/>
                </a:solidFill>
                <a:latin typeface="Arial" pitchFamily="34" charset="0"/>
                <a:ea typeface="Arial" pitchFamily="34" charset="-122"/>
                <a:cs typeface="Arial" pitchFamily="34" charset="-120"/>
              </a:rPr>
              <a:t>GOOGLE CLOUD AI ARCHITECTURE  •  BLOG 1: MULTI-TENANT AGENTIC AI TAXONOMY &amp; 5-HOP BASELINE</a:t>
            </a:r>
            <a:endParaRPr lang="en-US" sz="680" dirty="0"/>
          </a:p>
        </p:txBody>
      </p:sp>
      <p:sp>
        <p:nvSpPr>
          <p:cNvPr id="19" name="Text 17"/>
          <p:cNvSpPr/>
          <p:nvPr/>
        </p:nvSpPr>
        <p:spPr>
          <a:xfrm>
            <a:off x="6355080" y="6501384"/>
            <a:ext cx="4206240" cy="192024"/>
          </a:xfrm>
          <a:prstGeom prst="rect">
            <a:avLst/>
          </a:prstGeom>
          <a:noFill/>
          <a:ln/>
        </p:spPr>
        <p:txBody>
          <a:bodyPr wrap="square" lIns="0" tIns="0" rIns="0" bIns="0" rtlCol="0" anchor="ctr"/>
          <a:lstStyle/>
          <a:p>
            <a:pPr algn="r" indent="0" marL="0">
              <a:lnSpc>
                <a:spcPct val="105000"/>
              </a:lnSpc>
              <a:buNone/>
            </a:pPr>
            <a:r>
              <a:rPr lang="en-US" sz="680" dirty="0">
                <a:solidFill>
                  <a:srgbClr val="64748B"/>
                </a:solidFill>
                <a:latin typeface="Arial" pitchFamily="34" charset="0"/>
                <a:ea typeface="Arial" pitchFamily="34" charset="-122"/>
                <a:cs typeface="Arial" pitchFamily="34" charset="-120"/>
              </a:rPr>
              <a:t>Live Environment Verification  •  Zero Mocked Infrastructure</a:t>
            </a:r>
            <a:endParaRPr lang="en-US" sz="680" dirty="0"/>
          </a:p>
        </p:txBody>
      </p:sp>
      <p:sp>
        <p:nvSpPr>
          <p:cNvPr id="20" name="Shape 18"/>
          <p:cNvSpPr/>
          <p:nvPr/>
        </p:nvSpPr>
        <p:spPr>
          <a:xfrm>
            <a:off x="11002975" y="6501384"/>
            <a:ext cx="749808" cy="192024"/>
          </a:xfrm>
          <a:prstGeom prst="roundRect">
            <a:avLst>
              <a:gd name="adj" fmla="val 19048"/>
            </a:avLst>
          </a:prstGeom>
          <a:solidFill>
            <a:srgbClr val="F1F5F9"/>
          </a:solidFill>
          <a:ln w="7620">
            <a:solidFill>
              <a:srgbClr val="E2E8F0"/>
            </a:solidFill>
            <a:prstDash val="solid"/>
          </a:ln>
        </p:spPr>
      </p:sp>
      <p:sp>
        <p:nvSpPr>
          <p:cNvPr id="21" name="Text 19"/>
          <p:cNvSpPr/>
          <p:nvPr/>
        </p:nvSpPr>
        <p:spPr>
          <a:xfrm>
            <a:off x="11002975" y="6501384"/>
            <a:ext cx="749808" cy="192024"/>
          </a:xfrm>
          <a:prstGeom prst="rect">
            <a:avLst/>
          </a:prstGeom>
          <a:noFill/>
          <a:ln/>
        </p:spPr>
        <p:txBody>
          <a:bodyPr wrap="square" lIns="0" tIns="0" rIns="0" bIns="0" rtlCol="0" anchor="ctr"/>
          <a:lstStyle/>
          <a:p>
            <a:pPr algn="ctr" indent="0" marL="0">
              <a:lnSpc>
                <a:spcPct val="105000"/>
              </a:lnSpc>
              <a:buNone/>
            </a:pPr>
            <a:r>
              <a:rPr lang="en-US" sz="700" b="1" dirty="0">
                <a:solidFill>
                  <a:srgbClr val="334155"/>
                </a:solidFill>
                <a:latin typeface="Arial" pitchFamily="34" charset="0"/>
                <a:ea typeface="Arial" pitchFamily="34" charset="-122"/>
                <a:cs typeface="Arial" pitchFamily="34" charset="-120"/>
              </a:rPr>
              <a:t>16 / 23</a:t>
            </a:r>
            <a:endParaRPr lang="en-US" sz="700" dirty="0"/>
          </a:p>
        </p:txBody>
      </p:sp>
      <p:sp>
        <p:nvSpPr>
          <p:cNvPr id="22" name="Shape 20"/>
          <p:cNvSpPr/>
          <p:nvPr/>
        </p:nvSpPr>
        <p:spPr>
          <a:xfrm>
            <a:off x="461772" y="1068019"/>
            <a:ext cx="2691079" cy="1115568"/>
          </a:xfrm>
          <a:prstGeom prst="roundRect">
            <a:avLst>
              <a:gd name="adj" fmla="val 5738"/>
            </a:avLst>
          </a:prstGeom>
          <a:solidFill>
            <a:srgbClr val="E2E8F0"/>
          </a:solidFill>
          <a:ln/>
        </p:spPr>
      </p:sp>
      <p:sp>
        <p:nvSpPr>
          <p:cNvPr id="23" name="Shape 21"/>
          <p:cNvSpPr/>
          <p:nvPr/>
        </p:nvSpPr>
        <p:spPr>
          <a:xfrm>
            <a:off x="438912" y="1042416"/>
            <a:ext cx="2691079" cy="1115568"/>
          </a:xfrm>
          <a:prstGeom prst="roundRect">
            <a:avLst>
              <a:gd name="adj" fmla="val 5738"/>
            </a:avLst>
          </a:prstGeom>
          <a:solidFill>
            <a:srgbClr val="FFFFFF"/>
          </a:solidFill>
          <a:ln w="10795">
            <a:solidFill>
              <a:srgbClr val="CBD5E1"/>
            </a:solidFill>
            <a:prstDash val="solid"/>
          </a:ln>
        </p:spPr>
      </p:sp>
      <p:sp>
        <p:nvSpPr>
          <p:cNvPr id="24" name="Shape 22"/>
          <p:cNvSpPr/>
          <p:nvPr/>
        </p:nvSpPr>
        <p:spPr>
          <a:xfrm>
            <a:off x="438912" y="1042416"/>
            <a:ext cx="2691079" cy="50292"/>
          </a:xfrm>
          <a:prstGeom prst="roundRect">
            <a:avLst>
              <a:gd name="adj" fmla="val 36364"/>
            </a:avLst>
          </a:prstGeom>
          <a:solidFill>
            <a:srgbClr val="1D4ED8"/>
          </a:solidFill>
          <a:ln/>
        </p:spPr>
      </p:sp>
      <p:sp>
        <p:nvSpPr>
          <p:cNvPr id="25" name="Text 23"/>
          <p:cNvSpPr/>
          <p:nvPr/>
        </p:nvSpPr>
        <p:spPr>
          <a:xfrm>
            <a:off x="585216" y="1152144"/>
            <a:ext cx="2398471" cy="402336"/>
          </a:xfrm>
          <a:prstGeom prst="rect">
            <a:avLst/>
          </a:prstGeom>
          <a:noFill/>
          <a:ln/>
        </p:spPr>
        <p:txBody>
          <a:bodyPr wrap="square" lIns="0" tIns="0" rIns="0" bIns="0" rtlCol="0" anchor="ctr"/>
          <a:lstStyle/>
          <a:p>
            <a:pPr indent="0" marL="0">
              <a:lnSpc>
                <a:spcPct val="105000"/>
              </a:lnSpc>
              <a:buNone/>
            </a:pPr>
            <a:r>
              <a:rPr lang="en-US" sz="2100" b="1" dirty="0">
                <a:solidFill>
                  <a:srgbClr val="1D4ED8"/>
                </a:solidFill>
                <a:latin typeface="Arial" pitchFamily="34" charset="0"/>
                <a:ea typeface="Arial" pitchFamily="34" charset="-122"/>
                <a:cs typeface="Arial" pitchFamily="34" charset="-120"/>
              </a:rPr>
              <a:t>20 / 20</a:t>
            </a:r>
            <a:endParaRPr lang="en-US" sz="2100" dirty="0"/>
          </a:p>
        </p:txBody>
      </p:sp>
      <p:sp>
        <p:nvSpPr>
          <p:cNvPr id="26" name="Text 24"/>
          <p:cNvSpPr/>
          <p:nvPr/>
        </p:nvSpPr>
        <p:spPr>
          <a:xfrm>
            <a:off x="585216" y="1572768"/>
            <a:ext cx="2398471" cy="201168"/>
          </a:xfrm>
          <a:prstGeom prst="rect">
            <a:avLst/>
          </a:prstGeom>
          <a:noFill/>
          <a:ln/>
        </p:spPr>
        <p:txBody>
          <a:bodyPr wrap="square" lIns="0" tIns="0" rIns="0" bIns="0" rtlCol="0" anchor="ctr"/>
          <a:lstStyle/>
          <a:p>
            <a:pPr indent="0" marL="0">
              <a:lnSpc>
                <a:spcPct val="105000"/>
              </a:lnSpc>
              <a:buNone/>
            </a:pPr>
            <a:r>
              <a:rPr lang="en-US" sz="840" b="1" dirty="0">
                <a:solidFill>
                  <a:srgbClr val="0F172A"/>
                </a:solidFill>
                <a:latin typeface="Arial" pitchFamily="34" charset="0"/>
                <a:ea typeface="Arial" pitchFamily="34" charset="-122"/>
                <a:cs typeface="Arial" pitchFamily="34" charset="-120"/>
              </a:rPr>
              <a:t>Live GCP Isolation Tests PASS</a:t>
            </a:r>
            <a:endParaRPr lang="en-US" sz="840" dirty="0"/>
          </a:p>
        </p:txBody>
      </p:sp>
      <p:sp>
        <p:nvSpPr>
          <p:cNvPr id="27" name="Text 25"/>
          <p:cNvSpPr/>
          <p:nvPr/>
        </p:nvSpPr>
        <p:spPr>
          <a:xfrm>
            <a:off x="585216" y="1792224"/>
            <a:ext cx="2398471" cy="256032"/>
          </a:xfrm>
          <a:prstGeom prst="rect">
            <a:avLst/>
          </a:prstGeom>
          <a:noFill/>
          <a:ln/>
        </p:spPr>
        <p:txBody>
          <a:bodyPr wrap="square" lIns="0" tIns="0" rIns="0" bIns="0" rtlCol="0" anchor="ctr"/>
          <a:lstStyle/>
          <a:p>
            <a:pPr indent="0" marL="0">
              <a:lnSpc>
                <a:spcPct val="105000"/>
              </a:lnSpc>
              <a:buNone/>
            </a:pPr>
            <a:r>
              <a:rPr lang="en-US" sz="720" dirty="0">
                <a:solidFill>
                  <a:srgbClr val="64748B"/>
                </a:solidFill>
                <a:latin typeface="Arial" pitchFamily="34" charset="0"/>
                <a:ea typeface="Arial" pitchFamily="34" charset="-122"/>
                <a:cs typeface="Arial" pitchFamily="34" charset="-120"/>
              </a:rPr>
              <a:t>10 Pooled + 6 Silo + 4 Hybrid PSC</a:t>
            </a:r>
            <a:endParaRPr lang="en-US" sz="720" dirty="0"/>
          </a:p>
        </p:txBody>
      </p:sp>
      <p:sp>
        <p:nvSpPr>
          <p:cNvPr id="28" name="Shape 26"/>
          <p:cNvSpPr/>
          <p:nvPr/>
        </p:nvSpPr>
        <p:spPr>
          <a:xfrm>
            <a:off x="3335731" y="1068019"/>
            <a:ext cx="2691079" cy="1115568"/>
          </a:xfrm>
          <a:prstGeom prst="roundRect">
            <a:avLst>
              <a:gd name="adj" fmla="val 5738"/>
            </a:avLst>
          </a:prstGeom>
          <a:solidFill>
            <a:srgbClr val="E2E8F0"/>
          </a:solidFill>
          <a:ln/>
        </p:spPr>
      </p:sp>
      <p:sp>
        <p:nvSpPr>
          <p:cNvPr id="29" name="Shape 27"/>
          <p:cNvSpPr/>
          <p:nvPr/>
        </p:nvSpPr>
        <p:spPr>
          <a:xfrm>
            <a:off x="3312871" y="1042416"/>
            <a:ext cx="2691079" cy="1115568"/>
          </a:xfrm>
          <a:prstGeom prst="roundRect">
            <a:avLst>
              <a:gd name="adj" fmla="val 5738"/>
            </a:avLst>
          </a:prstGeom>
          <a:solidFill>
            <a:srgbClr val="FFFFFF"/>
          </a:solidFill>
          <a:ln w="10795">
            <a:solidFill>
              <a:srgbClr val="CBD5E1"/>
            </a:solidFill>
            <a:prstDash val="solid"/>
          </a:ln>
        </p:spPr>
      </p:sp>
      <p:sp>
        <p:nvSpPr>
          <p:cNvPr id="30" name="Shape 28"/>
          <p:cNvSpPr/>
          <p:nvPr/>
        </p:nvSpPr>
        <p:spPr>
          <a:xfrm>
            <a:off x="3312871" y="1042416"/>
            <a:ext cx="2691079" cy="50292"/>
          </a:xfrm>
          <a:prstGeom prst="roundRect">
            <a:avLst>
              <a:gd name="adj" fmla="val 36364"/>
            </a:avLst>
          </a:prstGeom>
          <a:solidFill>
            <a:srgbClr val="4338CA"/>
          </a:solidFill>
          <a:ln/>
        </p:spPr>
      </p:sp>
      <p:sp>
        <p:nvSpPr>
          <p:cNvPr id="31" name="Text 29"/>
          <p:cNvSpPr/>
          <p:nvPr/>
        </p:nvSpPr>
        <p:spPr>
          <a:xfrm>
            <a:off x="3459175" y="1152144"/>
            <a:ext cx="2398471" cy="402336"/>
          </a:xfrm>
          <a:prstGeom prst="rect">
            <a:avLst/>
          </a:prstGeom>
          <a:noFill/>
          <a:ln/>
        </p:spPr>
        <p:txBody>
          <a:bodyPr wrap="square" lIns="0" tIns="0" rIns="0" bIns="0" rtlCol="0" anchor="ctr"/>
          <a:lstStyle/>
          <a:p>
            <a:pPr indent="0" marL="0">
              <a:lnSpc>
                <a:spcPct val="105000"/>
              </a:lnSpc>
              <a:buNone/>
            </a:pPr>
            <a:r>
              <a:rPr lang="en-US" sz="2100" b="1" dirty="0">
                <a:solidFill>
                  <a:srgbClr val="4338CA"/>
                </a:solidFill>
                <a:latin typeface="Arial" pitchFamily="34" charset="0"/>
                <a:ea typeface="Arial" pitchFamily="34" charset="-122"/>
                <a:cs typeface="Arial" pitchFamily="34" charset="-120"/>
              </a:rPr>
              <a:t>30 / 30</a:t>
            </a:r>
            <a:endParaRPr lang="en-US" sz="2100" dirty="0"/>
          </a:p>
        </p:txBody>
      </p:sp>
      <p:sp>
        <p:nvSpPr>
          <p:cNvPr id="32" name="Text 30"/>
          <p:cNvSpPr/>
          <p:nvPr/>
        </p:nvSpPr>
        <p:spPr>
          <a:xfrm>
            <a:off x="3459175" y="1572768"/>
            <a:ext cx="2398471" cy="201168"/>
          </a:xfrm>
          <a:prstGeom prst="rect">
            <a:avLst/>
          </a:prstGeom>
          <a:noFill/>
          <a:ln/>
        </p:spPr>
        <p:txBody>
          <a:bodyPr wrap="square" lIns="0" tIns="0" rIns="0" bIns="0" rtlCol="0" anchor="ctr"/>
          <a:lstStyle/>
          <a:p>
            <a:pPr indent="0" marL="0">
              <a:lnSpc>
                <a:spcPct val="105000"/>
              </a:lnSpc>
              <a:buNone/>
            </a:pPr>
            <a:r>
              <a:rPr lang="en-US" sz="840" b="1" dirty="0">
                <a:solidFill>
                  <a:srgbClr val="0F172A"/>
                </a:solidFill>
                <a:latin typeface="Arial" pitchFamily="34" charset="0"/>
                <a:ea typeface="Arial" pitchFamily="34" charset="-122"/>
                <a:cs typeface="Arial" pitchFamily="34" charset="-120"/>
              </a:rPr>
              <a:t>Cross-Cloud SaaS MCP Flows</a:t>
            </a:r>
            <a:endParaRPr lang="en-US" sz="840" dirty="0"/>
          </a:p>
        </p:txBody>
      </p:sp>
      <p:sp>
        <p:nvSpPr>
          <p:cNvPr id="33" name="Text 31"/>
          <p:cNvSpPr/>
          <p:nvPr/>
        </p:nvSpPr>
        <p:spPr>
          <a:xfrm>
            <a:off x="3459175" y="1792224"/>
            <a:ext cx="2398471" cy="256032"/>
          </a:xfrm>
          <a:prstGeom prst="rect">
            <a:avLst/>
          </a:prstGeom>
          <a:noFill/>
          <a:ln/>
        </p:spPr>
        <p:txBody>
          <a:bodyPr wrap="square" lIns="0" tIns="0" rIns="0" bIns="0" rtlCol="0" anchor="ctr"/>
          <a:lstStyle/>
          <a:p>
            <a:pPr indent="0" marL="0">
              <a:lnSpc>
                <a:spcPct val="105000"/>
              </a:lnSpc>
              <a:buNone/>
            </a:pPr>
            <a:r>
              <a:rPr lang="en-US" sz="720" dirty="0">
                <a:solidFill>
                  <a:srgbClr val="64748B"/>
                </a:solidFill>
                <a:latin typeface="Arial" pitchFamily="34" charset="0"/>
                <a:ea typeface="Arial" pitchFamily="34" charset="-122"/>
                <a:cs typeface="Arial" pitchFamily="34" charset="-120"/>
              </a:rPr>
              <a:t>10 Targets × 3 Patterns (60/60 Checks)</a:t>
            </a:r>
            <a:endParaRPr lang="en-US" sz="720" dirty="0"/>
          </a:p>
        </p:txBody>
      </p:sp>
      <p:sp>
        <p:nvSpPr>
          <p:cNvPr id="34" name="Shape 32"/>
          <p:cNvSpPr/>
          <p:nvPr/>
        </p:nvSpPr>
        <p:spPr>
          <a:xfrm>
            <a:off x="6209690" y="1068019"/>
            <a:ext cx="2691079" cy="1115568"/>
          </a:xfrm>
          <a:prstGeom prst="roundRect">
            <a:avLst>
              <a:gd name="adj" fmla="val 5738"/>
            </a:avLst>
          </a:prstGeom>
          <a:solidFill>
            <a:srgbClr val="E2E8F0"/>
          </a:solidFill>
          <a:ln/>
        </p:spPr>
      </p:sp>
      <p:sp>
        <p:nvSpPr>
          <p:cNvPr id="35" name="Shape 33"/>
          <p:cNvSpPr/>
          <p:nvPr/>
        </p:nvSpPr>
        <p:spPr>
          <a:xfrm>
            <a:off x="6186830" y="1042416"/>
            <a:ext cx="2691079" cy="1115568"/>
          </a:xfrm>
          <a:prstGeom prst="roundRect">
            <a:avLst>
              <a:gd name="adj" fmla="val 5738"/>
            </a:avLst>
          </a:prstGeom>
          <a:solidFill>
            <a:srgbClr val="FFFFFF"/>
          </a:solidFill>
          <a:ln w="10795">
            <a:solidFill>
              <a:srgbClr val="CBD5E1"/>
            </a:solidFill>
            <a:prstDash val="solid"/>
          </a:ln>
        </p:spPr>
      </p:sp>
      <p:sp>
        <p:nvSpPr>
          <p:cNvPr id="36" name="Shape 34"/>
          <p:cNvSpPr/>
          <p:nvPr/>
        </p:nvSpPr>
        <p:spPr>
          <a:xfrm>
            <a:off x="6186830" y="1042416"/>
            <a:ext cx="2691079" cy="50292"/>
          </a:xfrm>
          <a:prstGeom prst="roundRect">
            <a:avLst>
              <a:gd name="adj" fmla="val 36364"/>
            </a:avLst>
          </a:prstGeom>
          <a:solidFill>
            <a:srgbClr val="0F766E"/>
          </a:solidFill>
          <a:ln/>
        </p:spPr>
      </p:sp>
      <p:sp>
        <p:nvSpPr>
          <p:cNvPr id="37" name="Text 35"/>
          <p:cNvSpPr/>
          <p:nvPr/>
        </p:nvSpPr>
        <p:spPr>
          <a:xfrm>
            <a:off x="6333134" y="1152144"/>
            <a:ext cx="2398471" cy="402336"/>
          </a:xfrm>
          <a:prstGeom prst="rect">
            <a:avLst/>
          </a:prstGeom>
          <a:noFill/>
          <a:ln/>
        </p:spPr>
        <p:txBody>
          <a:bodyPr wrap="square" lIns="0" tIns="0" rIns="0" bIns="0" rtlCol="0" anchor="ctr"/>
          <a:lstStyle/>
          <a:p>
            <a:pPr indent="0" marL="0">
              <a:lnSpc>
                <a:spcPct val="105000"/>
              </a:lnSpc>
              <a:buNone/>
            </a:pPr>
            <a:r>
              <a:rPr lang="en-US" sz="2100" b="1" dirty="0">
                <a:solidFill>
                  <a:srgbClr val="0F766E"/>
                </a:solidFill>
                <a:latin typeface="Arial" pitchFamily="34" charset="0"/>
                <a:ea typeface="Arial" pitchFamily="34" charset="-122"/>
                <a:cs typeface="Arial" pitchFamily="34" charset="-120"/>
              </a:rPr>
              <a:t>13 / 13</a:t>
            </a:r>
            <a:endParaRPr lang="en-US" sz="2100" dirty="0"/>
          </a:p>
        </p:txBody>
      </p:sp>
      <p:sp>
        <p:nvSpPr>
          <p:cNvPr id="38" name="Text 36"/>
          <p:cNvSpPr/>
          <p:nvPr/>
        </p:nvSpPr>
        <p:spPr>
          <a:xfrm>
            <a:off x="6333134" y="1572768"/>
            <a:ext cx="2398471" cy="201168"/>
          </a:xfrm>
          <a:prstGeom prst="rect">
            <a:avLst/>
          </a:prstGeom>
          <a:noFill/>
          <a:ln/>
        </p:spPr>
        <p:txBody>
          <a:bodyPr wrap="square" lIns="0" tIns="0" rIns="0" bIns="0" rtlCol="0" anchor="ctr"/>
          <a:lstStyle/>
          <a:p>
            <a:pPr indent="0" marL="0">
              <a:lnSpc>
                <a:spcPct val="105000"/>
              </a:lnSpc>
              <a:buNone/>
            </a:pPr>
            <a:r>
              <a:rPr lang="en-US" sz="840" b="1" dirty="0">
                <a:solidFill>
                  <a:srgbClr val="0F172A"/>
                </a:solidFill>
                <a:latin typeface="Arial" pitchFamily="34" charset="0"/>
                <a:ea typeface="Arial" pitchFamily="34" charset="-122"/>
                <a:cs typeface="Arial" pitchFamily="34" charset="-120"/>
              </a:rPr>
              <a:t>Deep Forensic Audit Gates PASS</a:t>
            </a:r>
            <a:endParaRPr lang="en-US" sz="840" dirty="0"/>
          </a:p>
        </p:txBody>
      </p:sp>
      <p:sp>
        <p:nvSpPr>
          <p:cNvPr id="39" name="Text 37"/>
          <p:cNvSpPr/>
          <p:nvPr/>
        </p:nvSpPr>
        <p:spPr>
          <a:xfrm>
            <a:off x="6333134" y="1792224"/>
            <a:ext cx="2398471" cy="256032"/>
          </a:xfrm>
          <a:prstGeom prst="rect">
            <a:avLst/>
          </a:prstGeom>
          <a:noFill/>
          <a:ln/>
        </p:spPr>
        <p:txBody>
          <a:bodyPr wrap="square" lIns="0" tIns="0" rIns="0" bIns="0" rtlCol="0" anchor="ctr"/>
          <a:lstStyle/>
          <a:p>
            <a:pPr indent="0" marL="0">
              <a:lnSpc>
                <a:spcPct val="105000"/>
              </a:lnSpc>
              <a:buNone/>
            </a:pPr>
            <a:r>
              <a:rPr lang="en-US" sz="720" dirty="0">
                <a:solidFill>
                  <a:srgbClr val="64748B"/>
                </a:solidFill>
                <a:latin typeface="Arial" pitchFamily="34" charset="0"/>
                <a:ea typeface="Arial" pitchFamily="34" charset="-122"/>
                <a:cs typeface="Arial" pitchFamily="34" charset="-120"/>
              </a:rPr>
              <a:t>F-01..F-13 Automated CI Verification</a:t>
            </a:r>
            <a:endParaRPr lang="en-US" sz="720" dirty="0"/>
          </a:p>
        </p:txBody>
      </p:sp>
      <p:sp>
        <p:nvSpPr>
          <p:cNvPr id="40" name="Shape 38"/>
          <p:cNvSpPr/>
          <p:nvPr/>
        </p:nvSpPr>
        <p:spPr>
          <a:xfrm>
            <a:off x="9083650" y="1068019"/>
            <a:ext cx="2691079" cy="1115568"/>
          </a:xfrm>
          <a:prstGeom prst="roundRect">
            <a:avLst>
              <a:gd name="adj" fmla="val 5738"/>
            </a:avLst>
          </a:prstGeom>
          <a:solidFill>
            <a:srgbClr val="E2E8F0"/>
          </a:solidFill>
          <a:ln/>
        </p:spPr>
      </p:sp>
      <p:sp>
        <p:nvSpPr>
          <p:cNvPr id="41" name="Shape 39"/>
          <p:cNvSpPr/>
          <p:nvPr/>
        </p:nvSpPr>
        <p:spPr>
          <a:xfrm>
            <a:off x="9060790" y="1042416"/>
            <a:ext cx="2691079" cy="1115568"/>
          </a:xfrm>
          <a:prstGeom prst="roundRect">
            <a:avLst>
              <a:gd name="adj" fmla="val 5738"/>
            </a:avLst>
          </a:prstGeom>
          <a:solidFill>
            <a:srgbClr val="FFFFFF"/>
          </a:solidFill>
          <a:ln w="10795">
            <a:solidFill>
              <a:srgbClr val="CBD5E1"/>
            </a:solidFill>
            <a:prstDash val="solid"/>
          </a:ln>
        </p:spPr>
      </p:sp>
      <p:sp>
        <p:nvSpPr>
          <p:cNvPr id="42" name="Shape 40"/>
          <p:cNvSpPr/>
          <p:nvPr/>
        </p:nvSpPr>
        <p:spPr>
          <a:xfrm>
            <a:off x="9060790" y="1042416"/>
            <a:ext cx="2691079" cy="50292"/>
          </a:xfrm>
          <a:prstGeom prst="roundRect">
            <a:avLst>
              <a:gd name="adj" fmla="val 36364"/>
            </a:avLst>
          </a:prstGeom>
          <a:solidFill>
            <a:srgbClr val="047857"/>
          </a:solidFill>
          <a:ln/>
        </p:spPr>
      </p:sp>
      <p:sp>
        <p:nvSpPr>
          <p:cNvPr id="43" name="Text 41"/>
          <p:cNvSpPr/>
          <p:nvPr/>
        </p:nvSpPr>
        <p:spPr>
          <a:xfrm>
            <a:off x="9207094" y="1152144"/>
            <a:ext cx="2398471" cy="402336"/>
          </a:xfrm>
          <a:prstGeom prst="rect">
            <a:avLst/>
          </a:prstGeom>
          <a:noFill/>
          <a:ln/>
        </p:spPr>
        <p:txBody>
          <a:bodyPr wrap="square" lIns="0" tIns="0" rIns="0" bIns="0" rtlCol="0" anchor="ctr"/>
          <a:lstStyle/>
          <a:p>
            <a:pPr indent="0" marL="0">
              <a:lnSpc>
                <a:spcPct val="105000"/>
              </a:lnSpc>
              <a:buNone/>
            </a:pPr>
            <a:r>
              <a:rPr lang="en-US" sz="2100" b="1" dirty="0">
                <a:solidFill>
                  <a:srgbClr val="047857"/>
                </a:solidFill>
                <a:latin typeface="Arial" pitchFamily="34" charset="0"/>
                <a:ea typeface="Arial" pitchFamily="34" charset="-122"/>
                <a:cs typeface="Arial" pitchFamily="34" charset="-120"/>
              </a:rPr>
              <a:t>0 Leaks</a:t>
            </a:r>
            <a:endParaRPr lang="en-US" sz="2100" dirty="0"/>
          </a:p>
        </p:txBody>
      </p:sp>
      <p:sp>
        <p:nvSpPr>
          <p:cNvPr id="44" name="Text 42"/>
          <p:cNvSpPr/>
          <p:nvPr/>
        </p:nvSpPr>
        <p:spPr>
          <a:xfrm>
            <a:off x="9207094" y="1572768"/>
            <a:ext cx="2398471" cy="201168"/>
          </a:xfrm>
          <a:prstGeom prst="rect">
            <a:avLst/>
          </a:prstGeom>
          <a:noFill/>
          <a:ln/>
        </p:spPr>
        <p:txBody>
          <a:bodyPr wrap="square" lIns="0" tIns="0" rIns="0" bIns="0" rtlCol="0" anchor="ctr"/>
          <a:lstStyle/>
          <a:p>
            <a:pPr indent="0" marL="0">
              <a:lnSpc>
                <a:spcPct val="105000"/>
              </a:lnSpc>
              <a:buNone/>
            </a:pPr>
            <a:r>
              <a:rPr lang="en-US" sz="840" b="1" dirty="0">
                <a:solidFill>
                  <a:srgbClr val="0F172A"/>
                </a:solidFill>
                <a:latin typeface="Arial" pitchFamily="34" charset="0"/>
                <a:ea typeface="Arial" pitchFamily="34" charset="-122"/>
                <a:cs typeface="Arial" pitchFamily="34" charset="-120"/>
              </a:rPr>
              <a:t>Adversarial Red-Team Breaches</a:t>
            </a:r>
            <a:endParaRPr lang="en-US" sz="840" dirty="0"/>
          </a:p>
        </p:txBody>
      </p:sp>
      <p:sp>
        <p:nvSpPr>
          <p:cNvPr id="45" name="Text 43"/>
          <p:cNvSpPr/>
          <p:nvPr/>
        </p:nvSpPr>
        <p:spPr>
          <a:xfrm>
            <a:off x="9207094" y="1792224"/>
            <a:ext cx="2398471" cy="256032"/>
          </a:xfrm>
          <a:prstGeom prst="rect">
            <a:avLst/>
          </a:prstGeom>
          <a:noFill/>
          <a:ln/>
        </p:spPr>
        <p:txBody>
          <a:bodyPr wrap="square" lIns="0" tIns="0" rIns="0" bIns="0" rtlCol="0" anchor="ctr"/>
          <a:lstStyle/>
          <a:p>
            <a:pPr indent="0" marL="0">
              <a:lnSpc>
                <a:spcPct val="105000"/>
              </a:lnSpc>
              <a:buNone/>
            </a:pPr>
            <a:r>
              <a:rPr lang="en-US" sz="720" dirty="0">
                <a:solidFill>
                  <a:srgbClr val="64748B"/>
                </a:solidFill>
                <a:latin typeface="Arial" pitchFamily="34" charset="0"/>
                <a:ea typeface="Arial" pitchFamily="34" charset="-122"/>
                <a:cs typeface="Arial" pitchFamily="34" charset="-120"/>
              </a:rPr>
              <a:t>Spoof, SQLi, 3LO, DLP &amp; Flood Blocked</a:t>
            </a:r>
            <a:endParaRPr lang="en-US" sz="720" dirty="0"/>
          </a:p>
        </p:txBody>
      </p:sp>
      <p:sp>
        <p:nvSpPr>
          <p:cNvPr id="46" name="Shape 44"/>
          <p:cNvSpPr/>
          <p:nvPr/>
        </p:nvSpPr>
        <p:spPr>
          <a:xfrm>
            <a:off x="461772" y="2366467"/>
            <a:ext cx="3637483" cy="3474720"/>
          </a:xfrm>
          <a:prstGeom prst="roundRect">
            <a:avLst>
              <a:gd name="adj" fmla="val 1842"/>
            </a:avLst>
          </a:prstGeom>
          <a:solidFill>
            <a:srgbClr val="E2E8F0"/>
          </a:solidFill>
          <a:ln/>
        </p:spPr>
      </p:sp>
      <p:sp>
        <p:nvSpPr>
          <p:cNvPr id="47" name="Shape 45"/>
          <p:cNvSpPr/>
          <p:nvPr/>
        </p:nvSpPr>
        <p:spPr>
          <a:xfrm>
            <a:off x="438912" y="2340864"/>
            <a:ext cx="3637483" cy="3474720"/>
          </a:xfrm>
          <a:prstGeom prst="roundRect">
            <a:avLst>
              <a:gd name="adj" fmla="val 1842"/>
            </a:avLst>
          </a:prstGeom>
          <a:solidFill>
            <a:srgbClr val="FFFFFF"/>
          </a:solidFill>
          <a:ln w="10795">
            <a:solidFill>
              <a:srgbClr val="BFDBFE"/>
            </a:solidFill>
            <a:prstDash val="solid"/>
          </a:ln>
        </p:spPr>
      </p:sp>
      <p:sp>
        <p:nvSpPr>
          <p:cNvPr id="48" name="Shape 46"/>
          <p:cNvSpPr/>
          <p:nvPr/>
        </p:nvSpPr>
        <p:spPr>
          <a:xfrm>
            <a:off x="438912" y="2340864"/>
            <a:ext cx="3637483" cy="50292"/>
          </a:xfrm>
          <a:prstGeom prst="roundRect">
            <a:avLst>
              <a:gd name="adj" fmla="val 36364"/>
            </a:avLst>
          </a:prstGeom>
          <a:solidFill>
            <a:srgbClr val="1D4ED8"/>
          </a:solidFill>
          <a:ln/>
        </p:spPr>
      </p:sp>
      <p:sp>
        <p:nvSpPr>
          <p:cNvPr id="49" name="Shape 47"/>
          <p:cNvSpPr/>
          <p:nvPr/>
        </p:nvSpPr>
        <p:spPr>
          <a:xfrm>
            <a:off x="566928" y="2468880"/>
            <a:ext cx="3381451" cy="201168"/>
          </a:xfrm>
          <a:prstGeom prst="roundRect">
            <a:avLst>
              <a:gd name="adj" fmla="val 36364"/>
            </a:avLst>
          </a:prstGeom>
          <a:solidFill>
            <a:srgbClr val="EFF6FF"/>
          </a:solidFill>
          <a:ln w="9525">
            <a:solidFill>
              <a:srgbClr val="BFDBFE"/>
            </a:solidFill>
            <a:prstDash val="solid"/>
          </a:ln>
        </p:spPr>
      </p:sp>
      <p:sp>
        <p:nvSpPr>
          <p:cNvPr id="50" name="Text 48"/>
          <p:cNvSpPr/>
          <p:nvPr/>
        </p:nvSpPr>
        <p:spPr>
          <a:xfrm>
            <a:off x="566928" y="2468880"/>
            <a:ext cx="3381451" cy="201168"/>
          </a:xfrm>
          <a:prstGeom prst="rect">
            <a:avLst/>
          </a:prstGeom>
          <a:noFill/>
          <a:ln/>
        </p:spPr>
        <p:txBody>
          <a:bodyPr wrap="square" lIns="0" tIns="0" rIns="0" bIns="0" rtlCol="0" anchor="ctr"/>
          <a:lstStyle/>
          <a:p>
            <a:pPr algn="ctr" indent="0" marL="0">
              <a:lnSpc>
                <a:spcPct val="105000"/>
              </a:lnSpc>
              <a:buNone/>
            </a:pPr>
            <a:r>
              <a:rPr lang="en-US" sz="640" b="1" dirty="0">
                <a:solidFill>
                  <a:srgbClr val="1D4ED8"/>
                </a:solidFill>
                <a:latin typeface="Arial" pitchFamily="34" charset="0"/>
                <a:ea typeface="Arial" pitchFamily="34" charset="-122"/>
                <a:cs typeface="Arial" pitchFamily="34" charset="-120"/>
              </a:rPr>
              <a:t>PILLAR 1  •  POOLED RED-TEAM (10/10 PASS)</a:t>
            </a:r>
            <a:endParaRPr lang="en-US" sz="640" dirty="0"/>
          </a:p>
        </p:txBody>
      </p:sp>
      <p:sp>
        <p:nvSpPr>
          <p:cNvPr id="51" name="Text 49"/>
          <p:cNvSpPr/>
          <p:nvPr/>
        </p:nvSpPr>
        <p:spPr>
          <a:xfrm>
            <a:off x="566928" y="2724912"/>
            <a:ext cx="3381451" cy="219456"/>
          </a:xfrm>
          <a:prstGeom prst="rect">
            <a:avLst/>
          </a:prstGeom>
          <a:noFill/>
          <a:ln/>
        </p:spPr>
        <p:txBody>
          <a:bodyPr wrap="square" lIns="0" tIns="0" rIns="0" bIns="0" rtlCol="0" anchor="ctr"/>
          <a:lstStyle/>
          <a:p>
            <a:pPr indent="0" marL="0">
              <a:lnSpc>
                <a:spcPct val="105000"/>
              </a:lnSpc>
              <a:buNone/>
            </a:pPr>
            <a:r>
              <a:rPr lang="en-US" sz="960" b="1" dirty="0">
                <a:solidFill>
                  <a:srgbClr val="0F172A"/>
                </a:solidFill>
                <a:latin typeface="Arial" pitchFamily="34" charset="0"/>
                <a:ea typeface="Arial" pitchFamily="34" charset="-122"/>
                <a:cs typeface="Arial" pitchFamily="34" charset="-120"/>
              </a:rPr>
              <a:t>Pattern A Adversarial Breach Matrix</a:t>
            </a:r>
            <a:endParaRPr lang="en-US" sz="960" dirty="0"/>
          </a:p>
        </p:txBody>
      </p:sp>
      <p:sp>
        <p:nvSpPr>
          <p:cNvPr id="52" name="Text 50"/>
          <p:cNvSpPr/>
          <p:nvPr/>
        </p:nvSpPr>
        <p:spPr>
          <a:xfrm>
            <a:off x="566928" y="2944368"/>
            <a:ext cx="3381451" cy="182880"/>
          </a:xfrm>
          <a:prstGeom prst="rect">
            <a:avLst/>
          </a:prstGeom>
          <a:noFill/>
          <a:ln/>
        </p:spPr>
        <p:txBody>
          <a:bodyPr wrap="square" lIns="0" tIns="0" rIns="0" bIns="0" rtlCol="0" anchor="ctr"/>
          <a:lstStyle/>
          <a:p>
            <a:pPr indent="0" marL="0">
              <a:lnSpc>
                <a:spcPct val="105000"/>
              </a:lnSpc>
              <a:buNone/>
            </a:pPr>
            <a:r>
              <a:rPr lang="en-US" sz="690" b="1" dirty="0">
                <a:solidFill>
                  <a:srgbClr val="1D4ED8"/>
                </a:solidFill>
                <a:latin typeface="Arial" pitchFamily="34" charset="0"/>
                <a:ea typeface="Arial" pitchFamily="34" charset="-122"/>
                <a:cs typeface="Arial" pitchFamily="34" charset="-120"/>
              </a:rPr>
              <a:t>GCP Project: ramp-portal-dev (#248990048888)</a:t>
            </a:r>
            <a:endParaRPr lang="en-US" sz="690" dirty="0"/>
          </a:p>
        </p:txBody>
      </p:sp>
      <p:sp>
        <p:nvSpPr>
          <p:cNvPr id="53" name="Shape 51"/>
          <p:cNvSpPr/>
          <p:nvPr/>
        </p:nvSpPr>
        <p:spPr>
          <a:xfrm>
            <a:off x="566928" y="3218688"/>
            <a:ext cx="3381451" cy="420624"/>
          </a:xfrm>
          <a:prstGeom prst="roundRect">
            <a:avLst>
              <a:gd name="adj" fmla="val 15217"/>
            </a:avLst>
          </a:prstGeom>
          <a:solidFill>
            <a:srgbClr val="EFF6FF"/>
          </a:solidFill>
          <a:ln w="10795">
            <a:solidFill>
              <a:srgbClr val="BFDBFE"/>
            </a:solidFill>
            <a:prstDash val="solid"/>
          </a:ln>
        </p:spPr>
      </p:sp>
      <p:sp>
        <p:nvSpPr>
          <p:cNvPr id="54" name="Text 52"/>
          <p:cNvSpPr/>
          <p:nvPr/>
        </p:nvSpPr>
        <p:spPr>
          <a:xfrm>
            <a:off x="640080" y="3255264"/>
            <a:ext cx="3235147" cy="146304"/>
          </a:xfrm>
          <a:prstGeom prst="rect">
            <a:avLst/>
          </a:prstGeom>
          <a:noFill/>
          <a:ln/>
        </p:spPr>
        <p:txBody>
          <a:bodyPr wrap="square" lIns="0" tIns="0" rIns="0" bIns="0" rtlCol="0" anchor="ctr"/>
          <a:lstStyle/>
          <a:p>
            <a:pPr indent="0" marL="0">
              <a:lnSpc>
                <a:spcPct val="105000"/>
              </a:lnSpc>
              <a:buNone/>
            </a:pPr>
            <a:r>
              <a:rPr lang="en-US" sz="680" b="1" dirty="0">
                <a:solidFill>
                  <a:srgbClr val="1D4ED8"/>
                </a:solidFill>
                <a:latin typeface="Arial" pitchFamily="34" charset="0"/>
                <a:ea typeface="Arial" pitchFamily="34" charset="-122"/>
                <a:cs typeface="Arial" pitchFamily="34" charset="-120"/>
              </a:rPr>
              <a:t>Header Spoof Attack</a:t>
            </a:r>
            <a:endParaRPr lang="en-US" sz="680" dirty="0"/>
          </a:p>
        </p:txBody>
      </p:sp>
      <p:sp>
        <p:nvSpPr>
          <p:cNvPr id="55" name="Text 53"/>
          <p:cNvSpPr/>
          <p:nvPr/>
        </p:nvSpPr>
        <p:spPr>
          <a:xfrm>
            <a:off x="640080" y="3410712"/>
            <a:ext cx="3235147" cy="192024"/>
          </a:xfrm>
          <a:prstGeom prst="rect">
            <a:avLst/>
          </a:prstGeom>
          <a:noFill/>
          <a:ln/>
        </p:spPr>
        <p:txBody>
          <a:bodyPr wrap="square" lIns="0" tIns="0" rIns="0" bIns="0" rtlCol="0" anchor="ctr"/>
          <a:lstStyle/>
          <a:p>
            <a:pPr indent="0" marL="0">
              <a:lnSpc>
                <a:spcPct val="105000"/>
              </a:lnSpc>
              <a:buNone/>
            </a:pPr>
            <a:r>
              <a:rPr lang="en-US" sz="700" dirty="0">
                <a:solidFill>
                  <a:srgbClr val="0F172A"/>
                </a:solidFill>
                <a:latin typeface="Arial" pitchFamily="34" charset="0"/>
                <a:ea typeface="Arial" pitchFamily="34" charset="-122"/>
                <a:cs typeface="Arial" pitchFamily="34" charset="-120"/>
              </a:rPr>
              <a:t>X-Tenant-Id: finvault stripped → HTTP 403</a:t>
            </a:r>
            <a:endParaRPr lang="en-US" sz="700" dirty="0"/>
          </a:p>
        </p:txBody>
      </p:sp>
      <p:sp>
        <p:nvSpPr>
          <p:cNvPr id="56" name="Shape 54"/>
          <p:cNvSpPr/>
          <p:nvPr/>
        </p:nvSpPr>
        <p:spPr>
          <a:xfrm>
            <a:off x="566928" y="3712464"/>
            <a:ext cx="3381451" cy="420624"/>
          </a:xfrm>
          <a:prstGeom prst="roundRect">
            <a:avLst>
              <a:gd name="adj" fmla="val 15217"/>
            </a:avLst>
          </a:prstGeom>
          <a:solidFill>
            <a:srgbClr val="EFF6FF"/>
          </a:solidFill>
          <a:ln w="10795">
            <a:solidFill>
              <a:srgbClr val="BFDBFE"/>
            </a:solidFill>
            <a:prstDash val="solid"/>
          </a:ln>
        </p:spPr>
      </p:sp>
      <p:sp>
        <p:nvSpPr>
          <p:cNvPr id="57" name="Text 55"/>
          <p:cNvSpPr/>
          <p:nvPr/>
        </p:nvSpPr>
        <p:spPr>
          <a:xfrm>
            <a:off x="640080" y="3749040"/>
            <a:ext cx="3235147" cy="146304"/>
          </a:xfrm>
          <a:prstGeom prst="rect">
            <a:avLst/>
          </a:prstGeom>
          <a:noFill/>
          <a:ln/>
        </p:spPr>
        <p:txBody>
          <a:bodyPr wrap="square" lIns="0" tIns="0" rIns="0" bIns="0" rtlCol="0" anchor="ctr"/>
          <a:lstStyle/>
          <a:p>
            <a:pPr indent="0" marL="0">
              <a:lnSpc>
                <a:spcPct val="105000"/>
              </a:lnSpc>
              <a:buNone/>
            </a:pPr>
            <a:r>
              <a:rPr lang="en-US" sz="680" b="1" dirty="0">
                <a:solidFill>
                  <a:srgbClr val="1D4ED8"/>
                </a:solidFill>
                <a:latin typeface="Arial" pitchFamily="34" charset="0"/>
                <a:ea typeface="Arial" pitchFamily="34" charset="-122"/>
                <a:cs typeface="Arial" pitchFamily="34" charset="-120"/>
              </a:rPr>
              <a:t>Catalog Enumeration</a:t>
            </a:r>
            <a:endParaRPr lang="en-US" sz="680" dirty="0"/>
          </a:p>
        </p:txBody>
      </p:sp>
      <p:sp>
        <p:nvSpPr>
          <p:cNvPr id="58" name="Text 56"/>
          <p:cNvSpPr/>
          <p:nvPr/>
        </p:nvSpPr>
        <p:spPr>
          <a:xfrm>
            <a:off x="640080" y="3904488"/>
            <a:ext cx="3235147" cy="192024"/>
          </a:xfrm>
          <a:prstGeom prst="rect">
            <a:avLst/>
          </a:prstGeom>
          <a:noFill/>
          <a:ln/>
        </p:spPr>
        <p:txBody>
          <a:bodyPr wrap="square" lIns="0" tIns="0" rIns="0" bIns="0" rtlCol="0" anchor="ctr"/>
          <a:lstStyle/>
          <a:p>
            <a:pPr indent="0" marL="0">
              <a:lnSpc>
                <a:spcPct val="105000"/>
              </a:lnSpc>
              <a:buNone/>
            </a:pPr>
            <a:r>
              <a:rPr lang="en-US" sz="700" dirty="0">
                <a:solidFill>
                  <a:srgbClr val="0F172A"/>
                </a:solidFill>
                <a:latin typeface="Arial" pitchFamily="34" charset="0"/>
                <a:ea typeface="Arial" pitchFamily="34" charset="-122"/>
                <a:cs typeface="Arial" pitchFamily="34" charset="-120"/>
              </a:rPr>
              <a:t>RetailStream query sees 0 Agent Alpha tools</a:t>
            </a:r>
            <a:endParaRPr lang="en-US" sz="700" dirty="0"/>
          </a:p>
        </p:txBody>
      </p:sp>
      <p:sp>
        <p:nvSpPr>
          <p:cNvPr id="59" name="Shape 57"/>
          <p:cNvSpPr/>
          <p:nvPr/>
        </p:nvSpPr>
        <p:spPr>
          <a:xfrm>
            <a:off x="566928" y="4206240"/>
            <a:ext cx="3381451" cy="420624"/>
          </a:xfrm>
          <a:prstGeom prst="roundRect">
            <a:avLst>
              <a:gd name="adj" fmla="val 15217"/>
            </a:avLst>
          </a:prstGeom>
          <a:solidFill>
            <a:srgbClr val="EFF6FF"/>
          </a:solidFill>
          <a:ln w="10795">
            <a:solidFill>
              <a:srgbClr val="BFDBFE"/>
            </a:solidFill>
            <a:prstDash val="solid"/>
          </a:ln>
        </p:spPr>
      </p:sp>
      <p:sp>
        <p:nvSpPr>
          <p:cNvPr id="60" name="Text 58"/>
          <p:cNvSpPr/>
          <p:nvPr/>
        </p:nvSpPr>
        <p:spPr>
          <a:xfrm>
            <a:off x="640080" y="4242816"/>
            <a:ext cx="3235147" cy="146304"/>
          </a:xfrm>
          <a:prstGeom prst="rect">
            <a:avLst/>
          </a:prstGeom>
          <a:noFill/>
          <a:ln/>
        </p:spPr>
        <p:txBody>
          <a:bodyPr wrap="square" lIns="0" tIns="0" rIns="0" bIns="0" rtlCol="0" anchor="ctr"/>
          <a:lstStyle/>
          <a:p>
            <a:pPr indent="0" marL="0">
              <a:lnSpc>
                <a:spcPct val="105000"/>
              </a:lnSpc>
              <a:buNone/>
            </a:pPr>
            <a:r>
              <a:rPr lang="en-US" sz="680" b="1" dirty="0">
                <a:solidFill>
                  <a:srgbClr val="1D4ED8"/>
                </a:solidFill>
                <a:latin typeface="Arial" pitchFamily="34" charset="0"/>
                <a:ea typeface="Arial" pitchFamily="34" charset="-122"/>
                <a:cs typeface="Arial" pitchFamily="34" charset="-120"/>
              </a:rPr>
              <a:t>AlloyDB RLS Injection</a:t>
            </a:r>
            <a:endParaRPr lang="en-US" sz="680" dirty="0"/>
          </a:p>
        </p:txBody>
      </p:sp>
      <p:sp>
        <p:nvSpPr>
          <p:cNvPr id="61" name="Text 59"/>
          <p:cNvSpPr/>
          <p:nvPr/>
        </p:nvSpPr>
        <p:spPr>
          <a:xfrm>
            <a:off x="640080" y="4398264"/>
            <a:ext cx="3235147" cy="192024"/>
          </a:xfrm>
          <a:prstGeom prst="rect">
            <a:avLst/>
          </a:prstGeom>
          <a:noFill/>
          <a:ln/>
        </p:spPr>
        <p:txBody>
          <a:bodyPr wrap="square" lIns="0" tIns="0" rIns="0" bIns="0" rtlCol="0" anchor="ctr"/>
          <a:lstStyle/>
          <a:p>
            <a:pPr indent="0" marL="0">
              <a:lnSpc>
                <a:spcPct val="105000"/>
              </a:lnSpc>
              <a:buNone/>
            </a:pPr>
            <a:r>
              <a:rPr lang="en-US" sz="700" dirty="0">
                <a:solidFill>
                  <a:srgbClr val="0F172A"/>
                </a:solidFill>
                <a:latin typeface="Arial" pitchFamily="34" charset="0"/>
                <a:ea typeface="Arial" pitchFamily="34" charset="-122"/>
                <a:cs typeface="Arial" pitchFamily="34" charset="-120"/>
              </a:rPr>
              <a:t>OR 1=1 returns strictly caller tenant rows</a:t>
            </a:r>
            <a:endParaRPr lang="en-US" sz="700" dirty="0"/>
          </a:p>
        </p:txBody>
      </p:sp>
      <p:sp>
        <p:nvSpPr>
          <p:cNvPr id="62" name="Shape 60"/>
          <p:cNvSpPr/>
          <p:nvPr/>
        </p:nvSpPr>
        <p:spPr>
          <a:xfrm>
            <a:off x="566928" y="4700016"/>
            <a:ext cx="3381451" cy="420624"/>
          </a:xfrm>
          <a:prstGeom prst="roundRect">
            <a:avLst>
              <a:gd name="adj" fmla="val 15217"/>
            </a:avLst>
          </a:prstGeom>
          <a:solidFill>
            <a:srgbClr val="EFF6FF"/>
          </a:solidFill>
          <a:ln w="10795">
            <a:solidFill>
              <a:srgbClr val="BFDBFE"/>
            </a:solidFill>
            <a:prstDash val="solid"/>
          </a:ln>
        </p:spPr>
      </p:sp>
      <p:sp>
        <p:nvSpPr>
          <p:cNvPr id="63" name="Text 61"/>
          <p:cNvSpPr/>
          <p:nvPr/>
        </p:nvSpPr>
        <p:spPr>
          <a:xfrm>
            <a:off x="640080" y="4736592"/>
            <a:ext cx="3235147" cy="146304"/>
          </a:xfrm>
          <a:prstGeom prst="rect">
            <a:avLst/>
          </a:prstGeom>
          <a:noFill/>
          <a:ln/>
        </p:spPr>
        <p:txBody>
          <a:bodyPr wrap="square" lIns="0" tIns="0" rIns="0" bIns="0" rtlCol="0" anchor="ctr"/>
          <a:lstStyle/>
          <a:p>
            <a:pPr indent="0" marL="0">
              <a:lnSpc>
                <a:spcPct val="105000"/>
              </a:lnSpc>
              <a:buNone/>
            </a:pPr>
            <a:r>
              <a:rPr lang="en-US" sz="680" b="1" dirty="0">
                <a:solidFill>
                  <a:srgbClr val="1D4ED8"/>
                </a:solidFill>
                <a:latin typeface="Arial" pitchFamily="34" charset="0"/>
                <a:ea typeface="Arial" pitchFamily="34" charset="-122"/>
                <a:cs typeface="Arial" pitchFamily="34" charset="-120"/>
              </a:rPr>
              <a:t>Noisy-Neighbor Flood</a:t>
            </a:r>
            <a:endParaRPr lang="en-US" sz="680" dirty="0"/>
          </a:p>
        </p:txBody>
      </p:sp>
      <p:sp>
        <p:nvSpPr>
          <p:cNvPr id="64" name="Text 62"/>
          <p:cNvSpPr/>
          <p:nvPr/>
        </p:nvSpPr>
        <p:spPr>
          <a:xfrm>
            <a:off x="640080" y="4892040"/>
            <a:ext cx="3235147" cy="192024"/>
          </a:xfrm>
          <a:prstGeom prst="rect">
            <a:avLst/>
          </a:prstGeom>
          <a:noFill/>
          <a:ln/>
        </p:spPr>
        <p:txBody>
          <a:bodyPr wrap="square" lIns="0" tIns="0" rIns="0" bIns="0" rtlCol="0" anchor="ctr"/>
          <a:lstStyle/>
          <a:p>
            <a:pPr indent="0" marL="0">
              <a:lnSpc>
                <a:spcPct val="105000"/>
              </a:lnSpc>
              <a:buNone/>
            </a:pPr>
            <a:r>
              <a:rPr lang="en-US" sz="700" dirty="0">
                <a:solidFill>
                  <a:srgbClr val="0F172A"/>
                </a:solidFill>
                <a:latin typeface="Arial" pitchFamily="34" charset="0"/>
                <a:ea typeface="Arial" pitchFamily="34" charset="-122"/>
                <a:cs typeface="Arial" pitchFamily="34" charset="-120"/>
              </a:rPr>
              <a:t>500 RPM burst throttled at 120 RPM in ~3ms</a:t>
            </a:r>
            <a:endParaRPr lang="en-US" sz="700" dirty="0"/>
          </a:p>
        </p:txBody>
      </p:sp>
      <p:sp>
        <p:nvSpPr>
          <p:cNvPr id="65" name="Shape 63"/>
          <p:cNvSpPr/>
          <p:nvPr/>
        </p:nvSpPr>
        <p:spPr>
          <a:xfrm>
            <a:off x="566928" y="5193792"/>
            <a:ext cx="3381451" cy="420624"/>
          </a:xfrm>
          <a:prstGeom prst="roundRect">
            <a:avLst>
              <a:gd name="adj" fmla="val 15217"/>
            </a:avLst>
          </a:prstGeom>
          <a:solidFill>
            <a:srgbClr val="EFF6FF"/>
          </a:solidFill>
          <a:ln w="10795">
            <a:solidFill>
              <a:srgbClr val="BFDBFE"/>
            </a:solidFill>
            <a:prstDash val="solid"/>
          </a:ln>
        </p:spPr>
      </p:sp>
      <p:sp>
        <p:nvSpPr>
          <p:cNvPr id="66" name="Text 64"/>
          <p:cNvSpPr/>
          <p:nvPr/>
        </p:nvSpPr>
        <p:spPr>
          <a:xfrm>
            <a:off x="640080" y="5230368"/>
            <a:ext cx="3235147" cy="146304"/>
          </a:xfrm>
          <a:prstGeom prst="rect">
            <a:avLst/>
          </a:prstGeom>
          <a:noFill/>
          <a:ln/>
        </p:spPr>
        <p:txBody>
          <a:bodyPr wrap="square" lIns="0" tIns="0" rIns="0" bIns="0" rtlCol="0" anchor="ctr"/>
          <a:lstStyle/>
          <a:p>
            <a:pPr indent="0" marL="0">
              <a:lnSpc>
                <a:spcPct val="105000"/>
              </a:lnSpc>
              <a:buNone/>
            </a:pPr>
            <a:r>
              <a:rPr lang="en-US" sz="680" b="1" dirty="0">
                <a:solidFill>
                  <a:srgbClr val="1D4ED8"/>
                </a:solidFill>
                <a:latin typeface="Arial" pitchFamily="34" charset="0"/>
                <a:ea typeface="Arial" pitchFamily="34" charset="-122"/>
                <a:cs typeface="Arial" pitchFamily="34" charset="-120"/>
              </a:rPr>
              <a:t>PII/PAN Exfiltration</a:t>
            </a:r>
            <a:endParaRPr lang="en-US" sz="680" dirty="0"/>
          </a:p>
        </p:txBody>
      </p:sp>
      <p:sp>
        <p:nvSpPr>
          <p:cNvPr id="67" name="Text 65"/>
          <p:cNvSpPr/>
          <p:nvPr/>
        </p:nvSpPr>
        <p:spPr>
          <a:xfrm>
            <a:off x="640080" y="5385816"/>
            <a:ext cx="3235147" cy="192024"/>
          </a:xfrm>
          <a:prstGeom prst="rect">
            <a:avLst/>
          </a:prstGeom>
          <a:noFill/>
          <a:ln/>
        </p:spPr>
        <p:txBody>
          <a:bodyPr wrap="square" lIns="0" tIns="0" rIns="0" bIns="0" rtlCol="0" anchor="ctr"/>
          <a:lstStyle/>
          <a:p>
            <a:pPr indent="0" marL="0">
              <a:lnSpc>
                <a:spcPct val="105000"/>
              </a:lnSpc>
              <a:buNone/>
            </a:pPr>
            <a:r>
              <a:rPr lang="en-US" sz="700" dirty="0">
                <a:solidFill>
                  <a:srgbClr val="0F172A"/>
                </a:solidFill>
                <a:latin typeface="Arial" pitchFamily="34" charset="0"/>
                <a:ea typeface="Arial" pitchFamily="34" charset="-122"/>
                <a:cs typeface="Arial" pitchFamily="34" charset="-120"/>
              </a:rPr>
              <a:t>Model Armor + DLP redacts SSN/PAN inline</a:t>
            </a:r>
            <a:endParaRPr lang="en-US" sz="700" dirty="0"/>
          </a:p>
        </p:txBody>
      </p:sp>
      <p:sp>
        <p:nvSpPr>
          <p:cNvPr id="68" name="Shape 66"/>
          <p:cNvSpPr/>
          <p:nvPr/>
        </p:nvSpPr>
        <p:spPr>
          <a:xfrm>
            <a:off x="4300423" y="2366467"/>
            <a:ext cx="3637483" cy="3474720"/>
          </a:xfrm>
          <a:prstGeom prst="roundRect">
            <a:avLst>
              <a:gd name="adj" fmla="val 1842"/>
            </a:avLst>
          </a:prstGeom>
          <a:solidFill>
            <a:srgbClr val="E2E8F0"/>
          </a:solidFill>
          <a:ln/>
        </p:spPr>
      </p:sp>
      <p:sp>
        <p:nvSpPr>
          <p:cNvPr id="69" name="Shape 67"/>
          <p:cNvSpPr/>
          <p:nvPr/>
        </p:nvSpPr>
        <p:spPr>
          <a:xfrm>
            <a:off x="4277563" y="2340864"/>
            <a:ext cx="3637483" cy="3474720"/>
          </a:xfrm>
          <a:prstGeom prst="roundRect">
            <a:avLst>
              <a:gd name="adj" fmla="val 1842"/>
            </a:avLst>
          </a:prstGeom>
          <a:solidFill>
            <a:srgbClr val="FFFFFF"/>
          </a:solidFill>
          <a:ln w="10795">
            <a:solidFill>
              <a:srgbClr val="99F6E4"/>
            </a:solidFill>
            <a:prstDash val="solid"/>
          </a:ln>
        </p:spPr>
      </p:sp>
      <p:sp>
        <p:nvSpPr>
          <p:cNvPr id="70" name="Shape 68"/>
          <p:cNvSpPr/>
          <p:nvPr/>
        </p:nvSpPr>
        <p:spPr>
          <a:xfrm>
            <a:off x="4277563" y="2340864"/>
            <a:ext cx="3637483" cy="50292"/>
          </a:xfrm>
          <a:prstGeom prst="roundRect">
            <a:avLst>
              <a:gd name="adj" fmla="val 36364"/>
            </a:avLst>
          </a:prstGeom>
          <a:solidFill>
            <a:srgbClr val="0F766E"/>
          </a:solidFill>
          <a:ln/>
        </p:spPr>
      </p:sp>
      <p:sp>
        <p:nvSpPr>
          <p:cNvPr id="71" name="Shape 69"/>
          <p:cNvSpPr/>
          <p:nvPr/>
        </p:nvSpPr>
        <p:spPr>
          <a:xfrm>
            <a:off x="4405579" y="2468880"/>
            <a:ext cx="3381451" cy="201168"/>
          </a:xfrm>
          <a:prstGeom prst="roundRect">
            <a:avLst>
              <a:gd name="adj" fmla="val 36364"/>
            </a:avLst>
          </a:prstGeom>
          <a:solidFill>
            <a:srgbClr val="F0FDFA"/>
          </a:solidFill>
          <a:ln w="9525">
            <a:solidFill>
              <a:srgbClr val="99F6E4"/>
            </a:solidFill>
            <a:prstDash val="solid"/>
          </a:ln>
        </p:spPr>
      </p:sp>
      <p:sp>
        <p:nvSpPr>
          <p:cNvPr id="72" name="Text 70"/>
          <p:cNvSpPr/>
          <p:nvPr/>
        </p:nvSpPr>
        <p:spPr>
          <a:xfrm>
            <a:off x="4405579" y="2468880"/>
            <a:ext cx="3381451" cy="201168"/>
          </a:xfrm>
          <a:prstGeom prst="rect">
            <a:avLst/>
          </a:prstGeom>
          <a:noFill/>
          <a:ln/>
        </p:spPr>
        <p:txBody>
          <a:bodyPr wrap="square" lIns="0" tIns="0" rIns="0" bIns="0" rtlCol="0" anchor="ctr"/>
          <a:lstStyle/>
          <a:p>
            <a:pPr algn="ctr" indent="0" marL="0">
              <a:lnSpc>
                <a:spcPct val="105000"/>
              </a:lnSpc>
              <a:buNone/>
            </a:pPr>
            <a:r>
              <a:rPr lang="en-US" sz="640" b="1" dirty="0">
                <a:solidFill>
                  <a:srgbClr val="0F766E"/>
                </a:solidFill>
                <a:latin typeface="Arial" pitchFamily="34" charset="0"/>
                <a:ea typeface="Arial" pitchFamily="34" charset="-122"/>
                <a:cs typeface="Arial" pitchFamily="34" charset="-120"/>
              </a:rPr>
              <a:t>PILLAR 2  •  SILO &amp; PSC CUTOVER (10/10 PASS)</a:t>
            </a:r>
            <a:endParaRPr lang="en-US" sz="640" dirty="0"/>
          </a:p>
        </p:txBody>
      </p:sp>
      <p:sp>
        <p:nvSpPr>
          <p:cNvPr id="73" name="Text 71"/>
          <p:cNvSpPr/>
          <p:nvPr/>
        </p:nvSpPr>
        <p:spPr>
          <a:xfrm>
            <a:off x="4405579" y="2724912"/>
            <a:ext cx="3381451" cy="219456"/>
          </a:xfrm>
          <a:prstGeom prst="rect">
            <a:avLst/>
          </a:prstGeom>
          <a:noFill/>
          <a:ln/>
        </p:spPr>
        <p:txBody>
          <a:bodyPr wrap="square" lIns="0" tIns="0" rIns="0" bIns="0" rtlCol="0" anchor="ctr"/>
          <a:lstStyle/>
          <a:p>
            <a:pPr indent="0" marL="0">
              <a:lnSpc>
                <a:spcPct val="105000"/>
              </a:lnSpc>
              <a:buNone/>
            </a:pPr>
            <a:r>
              <a:rPr lang="en-US" sz="960" b="1" dirty="0">
                <a:solidFill>
                  <a:srgbClr val="0F172A"/>
                </a:solidFill>
                <a:latin typeface="Arial" pitchFamily="34" charset="0"/>
                <a:ea typeface="Arial" pitchFamily="34" charset="-122"/>
                <a:cs typeface="Arial" pitchFamily="34" charset="-120"/>
              </a:rPr>
              <a:t>Pattern B KMS Lock &amp; Pattern C 0ms Bridge</a:t>
            </a:r>
            <a:endParaRPr lang="en-US" sz="960" dirty="0"/>
          </a:p>
        </p:txBody>
      </p:sp>
      <p:sp>
        <p:nvSpPr>
          <p:cNvPr id="74" name="Text 72"/>
          <p:cNvSpPr/>
          <p:nvPr/>
        </p:nvSpPr>
        <p:spPr>
          <a:xfrm>
            <a:off x="4405579" y="2944368"/>
            <a:ext cx="3381451" cy="182880"/>
          </a:xfrm>
          <a:prstGeom prst="rect">
            <a:avLst/>
          </a:prstGeom>
          <a:noFill/>
          <a:ln/>
        </p:spPr>
        <p:txBody>
          <a:bodyPr wrap="square" lIns="0" tIns="0" rIns="0" bIns="0" rtlCol="0" anchor="ctr"/>
          <a:lstStyle/>
          <a:p>
            <a:pPr indent="0" marL="0">
              <a:lnSpc>
                <a:spcPct val="105000"/>
              </a:lnSpc>
              <a:buNone/>
            </a:pPr>
            <a:r>
              <a:rPr lang="en-US" sz="690" b="1" dirty="0">
                <a:solidFill>
                  <a:srgbClr val="0F766E"/>
                </a:solidFill>
                <a:latin typeface="Arial" pitchFamily="34" charset="0"/>
                <a:ea typeface="Arial" pitchFamily="34" charset="-122"/>
                <a:cs typeface="Arial" pitchFamily="34" charset="-120"/>
              </a:rPr>
              <a:t>Cross-Project: #248990048888 ↔ bbar-138hf0 (#48439189383)</a:t>
            </a:r>
            <a:endParaRPr lang="en-US" sz="690" dirty="0"/>
          </a:p>
        </p:txBody>
      </p:sp>
      <p:sp>
        <p:nvSpPr>
          <p:cNvPr id="75" name="Shape 73"/>
          <p:cNvSpPr/>
          <p:nvPr/>
        </p:nvSpPr>
        <p:spPr>
          <a:xfrm>
            <a:off x="4405579" y="3218688"/>
            <a:ext cx="3381451" cy="420624"/>
          </a:xfrm>
          <a:prstGeom prst="roundRect">
            <a:avLst>
              <a:gd name="adj" fmla="val 15217"/>
            </a:avLst>
          </a:prstGeom>
          <a:solidFill>
            <a:srgbClr val="F0FDFA"/>
          </a:solidFill>
          <a:ln w="10795">
            <a:solidFill>
              <a:srgbClr val="99F6E4"/>
            </a:solidFill>
            <a:prstDash val="solid"/>
          </a:ln>
        </p:spPr>
      </p:sp>
      <p:sp>
        <p:nvSpPr>
          <p:cNvPr id="76" name="Text 74"/>
          <p:cNvSpPr/>
          <p:nvPr/>
        </p:nvSpPr>
        <p:spPr>
          <a:xfrm>
            <a:off x="4478731" y="3255264"/>
            <a:ext cx="3235147" cy="146304"/>
          </a:xfrm>
          <a:prstGeom prst="rect">
            <a:avLst/>
          </a:prstGeom>
          <a:noFill/>
          <a:ln/>
        </p:spPr>
        <p:txBody>
          <a:bodyPr wrap="square" lIns="0" tIns="0" rIns="0" bIns="0" rtlCol="0" anchor="ctr"/>
          <a:lstStyle/>
          <a:p>
            <a:pPr indent="0" marL="0">
              <a:lnSpc>
                <a:spcPct val="105000"/>
              </a:lnSpc>
              <a:buNone/>
            </a:pPr>
            <a:r>
              <a:rPr lang="en-US" sz="680" b="1" dirty="0">
                <a:solidFill>
                  <a:srgbClr val="0F766E"/>
                </a:solidFill>
                <a:latin typeface="Arial" pitchFamily="34" charset="0"/>
                <a:ea typeface="Arial" pitchFamily="34" charset="-122"/>
                <a:cs typeface="Arial" pitchFamily="34" charset="-120"/>
              </a:rPr>
              <a:t>VPC-SC Egress Block</a:t>
            </a:r>
            <a:endParaRPr lang="en-US" sz="680" dirty="0"/>
          </a:p>
        </p:txBody>
      </p:sp>
      <p:sp>
        <p:nvSpPr>
          <p:cNvPr id="77" name="Text 75"/>
          <p:cNvSpPr/>
          <p:nvPr/>
        </p:nvSpPr>
        <p:spPr>
          <a:xfrm>
            <a:off x="4478731" y="3410712"/>
            <a:ext cx="3235147" cy="192024"/>
          </a:xfrm>
          <a:prstGeom prst="rect">
            <a:avLst/>
          </a:prstGeom>
          <a:noFill/>
          <a:ln/>
        </p:spPr>
        <p:txBody>
          <a:bodyPr wrap="square" lIns="0" tIns="0" rIns="0" bIns="0" rtlCol="0" anchor="ctr"/>
          <a:lstStyle/>
          <a:p>
            <a:pPr indent="0" marL="0">
              <a:lnSpc>
                <a:spcPct val="105000"/>
              </a:lnSpc>
              <a:buNone/>
            </a:pPr>
            <a:r>
              <a:rPr lang="en-US" sz="700" dirty="0">
                <a:solidFill>
                  <a:srgbClr val="0F172A"/>
                </a:solidFill>
                <a:latin typeface="Arial" pitchFamily="34" charset="0"/>
                <a:ea typeface="Arial" pitchFamily="34" charset="-122"/>
                <a:cs typeface="Arial" pitchFamily="34" charset="-120"/>
              </a:rPr>
              <a:t>Cross-perimeter Storage/BQ copy denied by IAM PAB</a:t>
            </a:r>
            <a:endParaRPr lang="en-US" sz="700" dirty="0"/>
          </a:p>
        </p:txBody>
      </p:sp>
      <p:sp>
        <p:nvSpPr>
          <p:cNvPr id="78" name="Shape 76"/>
          <p:cNvSpPr/>
          <p:nvPr/>
        </p:nvSpPr>
        <p:spPr>
          <a:xfrm>
            <a:off x="4405579" y="3712464"/>
            <a:ext cx="3381451" cy="420624"/>
          </a:xfrm>
          <a:prstGeom prst="roundRect">
            <a:avLst>
              <a:gd name="adj" fmla="val 15217"/>
            </a:avLst>
          </a:prstGeom>
          <a:solidFill>
            <a:srgbClr val="F0FDFA"/>
          </a:solidFill>
          <a:ln w="10795">
            <a:solidFill>
              <a:srgbClr val="99F6E4"/>
            </a:solidFill>
            <a:prstDash val="solid"/>
          </a:ln>
        </p:spPr>
      </p:sp>
      <p:sp>
        <p:nvSpPr>
          <p:cNvPr id="79" name="Text 77"/>
          <p:cNvSpPr/>
          <p:nvPr/>
        </p:nvSpPr>
        <p:spPr>
          <a:xfrm>
            <a:off x="4478731" y="3749040"/>
            <a:ext cx="3235147" cy="146304"/>
          </a:xfrm>
          <a:prstGeom prst="rect">
            <a:avLst/>
          </a:prstGeom>
          <a:noFill/>
          <a:ln/>
        </p:spPr>
        <p:txBody>
          <a:bodyPr wrap="square" lIns="0" tIns="0" rIns="0" bIns="0" rtlCol="0" anchor="ctr"/>
          <a:lstStyle/>
          <a:p>
            <a:pPr indent="0" marL="0">
              <a:lnSpc>
                <a:spcPct val="105000"/>
              </a:lnSpc>
              <a:buNone/>
            </a:pPr>
            <a:r>
              <a:rPr lang="en-US" sz="680" b="1" dirty="0">
                <a:solidFill>
                  <a:srgbClr val="0F766E"/>
                </a:solidFill>
                <a:latin typeface="Arial" pitchFamily="34" charset="0"/>
                <a:ea typeface="Arial" pitchFamily="34" charset="-122"/>
                <a:cs typeface="Arial" pitchFamily="34" charset="-120"/>
              </a:rPr>
              <a:t>Live CMEK Kill-Switch</a:t>
            </a:r>
            <a:endParaRPr lang="en-US" sz="680" dirty="0"/>
          </a:p>
        </p:txBody>
      </p:sp>
      <p:sp>
        <p:nvSpPr>
          <p:cNvPr id="80" name="Text 78"/>
          <p:cNvSpPr/>
          <p:nvPr/>
        </p:nvSpPr>
        <p:spPr>
          <a:xfrm>
            <a:off x="4478731" y="3904488"/>
            <a:ext cx="3235147" cy="192024"/>
          </a:xfrm>
          <a:prstGeom prst="rect">
            <a:avLst/>
          </a:prstGeom>
          <a:noFill/>
          <a:ln/>
        </p:spPr>
        <p:txBody>
          <a:bodyPr wrap="square" lIns="0" tIns="0" rIns="0" bIns="0" rtlCol="0" anchor="ctr"/>
          <a:lstStyle/>
          <a:p>
            <a:pPr indent="0" marL="0">
              <a:lnSpc>
                <a:spcPct val="105000"/>
              </a:lnSpc>
              <a:buNone/>
            </a:pPr>
            <a:r>
              <a:rPr lang="en-US" sz="700" dirty="0">
                <a:solidFill>
                  <a:srgbClr val="0F172A"/>
                </a:solidFill>
                <a:latin typeface="Arial" pitchFamily="34" charset="0"/>
                <a:ea typeface="Arial" pitchFamily="34" charset="-122"/>
                <a:cs typeface="Arial" pitchFamily="34" charset="-120"/>
              </a:rPr>
              <a:t>Disable finvault-silo-cmek → HTTP 423 in &lt;60s</a:t>
            </a:r>
            <a:endParaRPr lang="en-US" sz="700" dirty="0"/>
          </a:p>
        </p:txBody>
      </p:sp>
      <p:sp>
        <p:nvSpPr>
          <p:cNvPr id="81" name="Shape 79"/>
          <p:cNvSpPr/>
          <p:nvPr/>
        </p:nvSpPr>
        <p:spPr>
          <a:xfrm>
            <a:off x="4405579" y="4206240"/>
            <a:ext cx="3381451" cy="420624"/>
          </a:xfrm>
          <a:prstGeom prst="roundRect">
            <a:avLst>
              <a:gd name="adj" fmla="val 15217"/>
            </a:avLst>
          </a:prstGeom>
          <a:solidFill>
            <a:srgbClr val="F0FDFA"/>
          </a:solidFill>
          <a:ln w="10795">
            <a:solidFill>
              <a:srgbClr val="99F6E4"/>
            </a:solidFill>
            <a:prstDash val="solid"/>
          </a:ln>
        </p:spPr>
      </p:sp>
      <p:sp>
        <p:nvSpPr>
          <p:cNvPr id="82" name="Text 80"/>
          <p:cNvSpPr/>
          <p:nvPr/>
        </p:nvSpPr>
        <p:spPr>
          <a:xfrm>
            <a:off x="4478731" y="4242816"/>
            <a:ext cx="3235147" cy="146304"/>
          </a:xfrm>
          <a:prstGeom prst="rect">
            <a:avLst/>
          </a:prstGeom>
          <a:noFill/>
          <a:ln/>
        </p:spPr>
        <p:txBody>
          <a:bodyPr wrap="square" lIns="0" tIns="0" rIns="0" bIns="0" rtlCol="0" anchor="ctr"/>
          <a:lstStyle/>
          <a:p>
            <a:pPr indent="0" marL="0">
              <a:lnSpc>
                <a:spcPct val="105000"/>
              </a:lnSpc>
              <a:buNone/>
            </a:pPr>
            <a:r>
              <a:rPr lang="en-US" sz="680" b="1" dirty="0">
                <a:solidFill>
                  <a:srgbClr val="0F766E"/>
                </a:solidFill>
                <a:latin typeface="Arial" pitchFamily="34" charset="0"/>
                <a:ea typeface="Arial" pitchFamily="34" charset="-122"/>
                <a:cs typeface="Arial" pitchFamily="34" charset="-120"/>
              </a:rPr>
              <a:t>Selective Eviction</a:t>
            </a:r>
            <a:endParaRPr lang="en-US" sz="680" dirty="0"/>
          </a:p>
        </p:txBody>
      </p:sp>
      <p:sp>
        <p:nvSpPr>
          <p:cNvPr id="83" name="Text 81"/>
          <p:cNvSpPr/>
          <p:nvPr/>
        </p:nvSpPr>
        <p:spPr>
          <a:xfrm>
            <a:off x="4478731" y="4398264"/>
            <a:ext cx="3235147" cy="192024"/>
          </a:xfrm>
          <a:prstGeom prst="rect">
            <a:avLst/>
          </a:prstGeom>
          <a:noFill/>
          <a:ln/>
        </p:spPr>
        <p:txBody>
          <a:bodyPr wrap="square" lIns="0" tIns="0" rIns="0" bIns="0" rtlCol="0" anchor="ctr"/>
          <a:lstStyle/>
          <a:p>
            <a:pPr indent="0" marL="0">
              <a:lnSpc>
                <a:spcPct val="105000"/>
              </a:lnSpc>
              <a:buNone/>
            </a:pPr>
            <a:r>
              <a:rPr lang="en-US" sz="700" dirty="0">
                <a:solidFill>
                  <a:srgbClr val="0F172A"/>
                </a:solidFill>
                <a:latin typeface="Arial" pitchFamily="34" charset="0"/>
                <a:ea typeface="Arial" pitchFamily="34" charset="-122"/>
                <a:cs typeface="Arial" pitchFamily="34" charset="-120"/>
              </a:rPr>
              <a:t>Valkey SCAN+UNLINK flushes FinVault in &lt;5s</a:t>
            </a:r>
            <a:endParaRPr lang="en-US" sz="700" dirty="0"/>
          </a:p>
        </p:txBody>
      </p:sp>
      <p:sp>
        <p:nvSpPr>
          <p:cNvPr id="84" name="Shape 82"/>
          <p:cNvSpPr/>
          <p:nvPr/>
        </p:nvSpPr>
        <p:spPr>
          <a:xfrm>
            <a:off x="4405579" y="4700016"/>
            <a:ext cx="3381451" cy="420624"/>
          </a:xfrm>
          <a:prstGeom prst="roundRect">
            <a:avLst>
              <a:gd name="adj" fmla="val 15217"/>
            </a:avLst>
          </a:prstGeom>
          <a:solidFill>
            <a:srgbClr val="F0FDFA"/>
          </a:solidFill>
          <a:ln w="10795">
            <a:solidFill>
              <a:srgbClr val="99F6E4"/>
            </a:solidFill>
            <a:prstDash val="solid"/>
          </a:ln>
        </p:spPr>
      </p:sp>
      <p:sp>
        <p:nvSpPr>
          <p:cNvPr id="85" name="Text 83"/>
          <p:cNvSpPr/>
          <p:nvPr/>
        </p:nvSpPr>
        <p:spPr>
          <a:xfrm>
            <a:off x="4478731" y="4736592"/>
            <a:ext cx="3235147" cy="146304"/>
          </a:xfrm>
          <a:prstGeom prst="rect">
            <a:avLst/>
          </a:prstGeom>
          <a:noFill/>
          <a:ln/>
        </p:spPr>
        <p:txBody>
          <a:bodyPr wrap="square" lIns="0" tIns="0" rIns="0" bIns="0" rtlCol="0" anchor="ctr"/>
          <a:lstStyle/>
          <a:p>
            <a:pPr indent="0" marL="0">
              <a:lnSpc>
                <a:spcPct val="105000"/>
              </a:lnSpc>
              <a:buNone/>
            </a:pPr>
            <a:r>
              <a:rPr lang="en-US" sz="680" b="1" dirty="0">
                <a:solidFill>
                  <a:srgbClr val="0F766E"/>
                </a:solidFill>
                <a:latin typeface="Arial" pitchFamily="34" charset="0"/>
                <a:ea typeface="Arial" pitchFamily="34" charset="-122"/>
                <a:cs typeface="Arial" pitchFamily="34" charset="-120"/>
              </a:rPr>
              <a:t>PSC Attachment RTT</a:t>
            </a:r>
            <a:endParaRPr lang="en-US" sz="680" dirty="0"/>
          </a:p>
        </p:txBody>
      </p:sp>
      <p:sp>
        <p:nvSpPr>
          <p:cNvPr id="86" name="Text 84"/>
          <p:cNvSpPr/>
          <p:nvPr/>
        </p:nvSpPr>
        <p:spPr>
          <a:xfrm>
            <a:off x="4478731" y="4892040"/>
            <a:ext cx="3235147" cy="192024"/>
          </a:xfrm>
          <a:prstGeom prst="rect">
            <a:avLst/>
          </a:prstGeom>
          <a:noFill/>
          <a:ln/>
        </p:spPr>
        <p:txBody>
          <a:bodyPr wrap="square" lIns="0" tIns="0" rIns="0" bIns="0" rtlCol="0" anchor="ctr"/>
          <a:lstStyle/>
          <a:p>
            <a:pPr indent="0" marL="0">
              <a:lnSpc>
                <a:spcPct val="105000"/>
              </a:lnSpc>
              <a:buNone/>
            </a:pPr>
            <a:r>
              <a:rPr lang="en-US" sz="700" dirty="0">
                <a:solidFill>
                  <a:srgbClr val="0F172A"/>
                </a:solidFill>
                <a:latin typeface="Arial" pitchFamily="34" charset="0"/>
                <a:ea typeface="Arial" pitchFamily="34" charset="-122"/>
                <a:cs typeface="Arial" pitchFamily="34" charset="-120"/>
              </a:rPr>
              <a:t>Unidirectional /28 NAT adds just ~1.8ms RTT</a:t>
            </a:r>
            <a:endParaRPr lang="en-US" sz="700" dirty="0"/>
          </a:p>
        </p:txBody>
      </p:sp>
      <p:sp>
        <p:nvSpPr>
          <p:cNvPr id="87" name="Shape 85"/>
          <p:cNvSpPr/>
          <p:nvPr/>
        </p:nvSpPr>
        <p:spPr>
          <a:xfrm>
            <a:off x="4405579" y="5193792"/>
            <a:ext cx="3381451" cy="420624"/>
          </a:xfrm>
          <a:prstGeom prst="roundRect">
            <a:avLst>
              <a:gd name="adj" fmla="val 15217"/>
            </a:avLst>
          </a:prstGeom>
          <a:solidFill>
            <a:srgbClr val="F0FDFA"/>
          </a:solidFill>
          <a:ln w="10795">
            <a:solidFill>
              <a:srgbClr val="99F6E4"/>
            </a:solidFill>
            <a:prstDash val="solid"/>
          </a:ln>
        </p:spPr>
      </p:sp>
      <p:sp>
        <p:nvSpPr>
          <p:cNvPr id="88" name="Text 86"/>
          <p:cNvSpPr/>
          <p:nvPr/>
        </p:nvSpPr>
        <p:spPr>
          <a:xfrm>
            <a:off x="4478731" y="5230368"/>
            <a:ext cx="3235147" cy="146304"/>
          </a:xfrm>
          <a:prstGeom prst="rect">
            <a:avLst/>
          </a:prstGeom>
          <a:noFill/>
          <a:ln/>
        </p:spPr>
        <p:txBody>
          <a:bodyPr wrap="square" lIns="0" tIns="0" rIns="0" bIns="0" rtlCol="0" anchor="ctr"/>
          <a:lstStyle/>
          <a:p>
            <a:pPr indent="0" marL="0">
              <a:lnSpc>
                <a:spcPct val="105000"/>
              </a:lnSpc>
              <a:buNone/>
            </a:pPr>
            <a:r>
              <a:rPr lang="en-US" sz="680" b="1" dirty="0">
                <a:solidFill>
                  <a:srgbClr val="0F766E"/>
                </a:solidFill>
                <a:latin typeface="Arial" pitchFamily="34" charset="0"/>
                <a:ea typeface="Arial" pitchFamily="34" charset="-122"/>
                <a:cs typeface="Arial" pitchFamily="34" charset="-120"/>
              </a:rPr>
              <a:t>Live Tier Promotion</a:t>
            </a:r>
            <a:endParaRPr lang="en-US" sz="680" dirty="0"/>
          </a:p>
        </p:txBody>
      </p:sp>
      <p:sp>
        <p:nvSpPr>
          <p:cNvPr id="89" name="Text 87"/>
          <p:cNvSpPr/>
          <p:nvPr/>
        </p:nvSpPr>
        <p:spPr>
          <a:xfrm>
            <a:off x="4478731" y="5385816"/>
            <a:ext cx="3235147" cy="192024"/>
          </a:xfrm>
          <a:prstGeom prst="rect">
            <a:avLst/>
          </a:prstGeom>
          <a:noFill/>
          <a:ln/>
        </p:spPr>
        <p:txBody>
          <a:bodyPr wrap="square" lIns="0" tIns="0" rIns="0" bIns="0" rtlCol="0" anchor="ctr"/>
          <a:lstStyle/>
          <a:p>
            <a:pPr indent="0" marL="0">
              <a:lnSpc>
                <a:spcPct val="105000"/>
              </a:lnSpc>
              <a:buNone/>
            </a:pPr>
            <a:r>
              <a:rPr lang="en-US" sz="700" dirty="0">
                <a:solidFill>
                  <a:srgbClr val="0F172A"/>
                </a:solidFill>
                <a:latin typeface="Arial" pitchFamily="34" charset="0"/>
                <a:ea typeface="Arial" pitchFamily="34" charset="-122"/>
                <a:cs typeface="Arial" pitchFamily="34" charset="-120"/>
              </a:rPr>
              <a:t>Pattern A → C route flip completes with 0 drops</a:t>
            </a:r>
            <a:endParaRPr lang="en-US" sz="700" dirty="0"/>
          </a:p>
        </p:txBody>
      </p:sp>
      <p:sp>
        <p:nvSpPr>
          <p:cNvPr id="90" name="Shape 88"/>
          <p:cNvSpPr/>
          <p:nvPr/>
        </p:nvSpPr>
        <p:spPr>
          <a:xfrm>
            <a:off x="8139074" y="2366467"/>
            <a:ext cx="3637483" cy="3474720"/>
          </a:xfrm>
          <a:prstGeom prst="roundRect">
            <a:avLst>
              <a:gd name="adj" fmla="val 1842"/>
            </a:avLst>
          </a:prstGeom>
          <a:solidFill>
            <a:srgbClr val="E2E8F0"/>
          </a:solidFill>
          <a:ln/>
        </p:spPr>
      </p:sp>
      <p:sp>
        <p:nvSpPr>
          <p:cNvPr id="91" name="Shape 89"/>
          <p:cNvSpPr/>
          <p:nvPr/>
        </p:nvSpPr>
        <p:spPr>
          <a:xfrm>
            <a:off x="8116214" y="2340864"/>
            <a:ext cx="3637483" cy="3474720"/>
          </a:xfrm>
          <a:prstGeom prst="roundRect">
            <a:avLst>
              <a:gd name="adj" fmla="val 1842"/>
            </a:avLst>
          </a:prstGeom>
          <a:solidFill>
            <a:srgbClr val="FFFFFF"/>
          </a:solidFill>
          <a:ln w="10795">
            <a:solidFill>
              <a:srgbClr val="C7D2FE"/>
            </a:solidFill>
            <a:prstDash val="solid"/>
          </a:ln>
        </p:spPr>
      </p:sp>
      <p:sp>
        <p:nvSpPr>
          <p:cNvPr id="92" name="Shape 90"/>
          <p:cNvSpPr/>
          <p:nvPr/>
        </p:nvSpPr>
        <p:spPr>
          <a:xfrm>
            <a:off x="8116214" y="2340864"/>
            <a:ext cx="3637483" cy="50292"/>
          </a:xfrm>
          <a:prstGeom prst="roundRect">
            <a:avLst>
              <a:gd name="adj" fmla="val 36364"/>
            </a:avLst>
          </a:prstGeom>
          <a:solidFill>
            <a:srgbClr val="4338CA"/>
          </a:solidFill>
          <a:ln/>
        </p:spPr>
      </p:sp>
      <p:sp>
        <p:nvSpPr>
          <p:cNvPr id="93" name="Shape 91"/>
          <p:cNvSpPr/>
          <p:nvPr/>
        </p:nvSpPr>
        <p:spPr>
          <a:xfrm>
            <a:off x="8244230" y="2468880"/>
            <a:ext cx="3381451" cy="201168"/>
          </a:xfrm>
          <a:prstGeom prst="roundRect">
            <a:avLst>
              <a:gd name="adj" fmla="val 36364"/>
            </a:avLst>
          </a:prstGeom>
          <a:solidFill>
            <a:srgbClr val="EEF2FF"/>
          </a:solidFill>
          <a:ln w="9525">
            <a:solidFill>
              <a:srgbClr val="C7D2FE"/>
            </a:solidFill>
            <a:prstDash val="solid"/>
          </a:ln>
        </p:spPr>
      </p:sp>
      <p:sp>
        <p:nvSpPr>
          <p:cNvPr id="94" name="Text 92"/>
          <p:cNvSpPr/>
          <p:nvPr/>
        </p:nvSpPr>
        <p:spPr>
          <a:xfrm>
            <a:off x="8244230" y="2468880"/>
            <a:ext cx="3381451" cy="201168"/>
          </a:xfrm>
          <a:prstGeom prst="rect">
            <a:avLst/>
          </a:prstGeom>
          <a:noFill/>
          <a:ln/>
        </p:spPr>
        <p:txBody>
          <a:bodyPr wrap="square" lIns="0" tIns="0" rIns="0" bIns="0" rtlCol="0" anchor="ctr"/>
          <a:lstStyle/>
          <a:p>
            <a:pPr algn="ctr" indent="0" marL="0">
              <a:lnSpc>
                <a:spcPct val="105000"/>
              </a:lnSpc>
              <a:buNone/>
            </a:pPr>
            <a:r>
              <a:rPr lang="en-US" sz="640" b="1" dirty="0">
                <a:solidFill>
                  <a:srgbClr val="4338CA"/>
                </a:solidFill>
                <a:latin typeface="Arial" pitchFamily="34" charset="0"/>
                <a:ea typeface="Arial" pitchFamily="34" charset="-122"/>
                <a:cs typeface="Arial" pitchFamily="34" charset="-120"/>
              </a:rPr>
              <a:t>PILLAR 3  •  CROSS-CLOUD MCP (30/30 PASS)</a:t>
            </a:r>
            <a:endParaRPr lang="en-US" sz="640" dirty="0"/>
          </a:p>
        </p:txBody>
      </p:sp>
      <p:sp>
        <p:nvSpPr>
          <p:cNvPr id="95" name="Text 93"/>
          <p:cNvSpPr/>
          <p:nvPr/>
        </p:nvSpPr>
        <p:spPr>
          <a:xfrm>
            <a:off x="8244230" y="2724912"/>
            <a:ext cx="3381451" cy="219456"/>
          </a:xfrm>
          <a:prstGeom prst="rect">
            <a:avLst/>
          </a:prstGeom>
          <a:noFill/>
          <a:ln/>
        </p:spPr>
        <p:txBody>
          <a:bodyPr wrap="square" lIns="0" tIns="0" rIns="0" bIns="0" rtlCol="0" anchor="ctr"/>
          <a:lstStyle/>
          <a:p>
            <a:pPr indent="0" marL="0">
              <a:lnSpc>
                <a:spcPct val="105000"/>
              </a:lnSpc>
              <a:buNone/>
            </a:pPr>
            <a:r>
              <a:rPr lang="en-US" sz="960" b="1" dirty="0">
                <a:solidFill>
                  <a:srgbClr val="0F172A"/>
                </a:solidFill>
                <a:latin typeface="Arial" pitchFamily="34" charset="0"/>
                <a:ea typeface="Arial" pitchFamily="34" charset="-122"/>
                <a:cs typeface="Arial" pitchFamily="34" charset="-120"/>
              </a:rPr>
              <a:t>GCP Cloud Run ↔ AWS Bedrock AgentCore</a:t>
            </a:r>
            <a:endParaRPr lang="en-US" sz="960" dirty="0"/>
          </a:p>
        </p:txBody>
      </p:sp>
      <p:sp>
        <p:nvSpPr>
          <p:cNvPr id="96" name="Text 94"/>
          <p:cNvSpPr/>
          <p:nvPr/>
        </p:nvSpPr>
        <p:spPr>
          <a:xfrm>
            <a:off x="8244230" y="2944368"/>
            <a:ext cx="3381451" cy="182880"/>
          </a:xfrm>
          <a:prstGeom prst="rect">
            <a:avLst/>
          </a:prstGeom>
          <a:noFill/>
          <a:ln/>
        </p:spPr>
        <p:txBody>
          <a:bodyPr wrap="square" lIns="0" tIns="0" rIns="0" bIns="0" rtlCol="0" anchor="ctr"/>
          <a:lstStyle/>
          <a:p>
            <a:pPr indent="0" marL="0">
              <a:lnSpc>
                <a:spcPct val="105000"/>
              </a:lnSpc>
              <a:buNone/>
            </a:pPr>
            <a:r>
              <a:rPr lang="en-US" sz="690" b="1" dirty="0">
                <a:solidFill>
                  <a:srgbClr val="4338CA"/>
                </a:solidFill>
                <a:latin typeface="Arial" pitchFamily="34" charset="0"/>
                <a:ea typeface="Arial" pitchFamily="34" charset="-122"/>
                <a:cs typeface="Arial" pitchFamily="34" charset="-120"/>
              </a:rPr>
              <a:t>AWS Account #393036065405 • Gateway suyxm3caof</a:t>
            </a:r>
            <a:endParaRPr lang="en-US" sz="690" dirty="0"/>
          </a:p>
        </p:txBody>
      </p:sp>
      <p:sp>
        <p:nvSpPr>
          <p:cNvPr id="97" name="Shape 95"/>
          <p:cNvSpPr/>
          <p:nvPr/>
        </p:nvSpPr>
        <p:spPr>
          <a:xfrm>
            <a:off x="8244230" y="3218688"/>
            <a:ext cx="3381451" cy="420624"/>
          </a:xfrm>
          <a:prstGeom prst="roundRect">
            <a:avLst>
              <a:gd name="adj" fmla="val 15217"/>
            </a:avLst>
          </a:prstGeom>
          <a:solidFill>
            <a:srgbClr val="EEF2FF"/>
          </a:solidFill>
          <a:ln w="10795">
            <a:solidFill>
              <a:srgbClr val="C7D2FE"/>
            </a:solidFill>
            <a:prstDash val="solid"/>
          </a:ln>
        </p:spPr>
      </p:sp>
      <p:sp>
        <p:nvSpPr>
          <p:cNvPr id="98" name="Text 96"/>
          <p:cNvSpPr/>
          <p:nvPr/>
        </p:nvSpPr>
        <p:spPr>
          <a:xfrm>
            <a:off x="8317382" y="3255264"/>
            <a:ext cx="3235147" cy="146304"/>
          </a:xfrm>
          <a:prstGeom prst="rect">
            <a:avLst/>
          </a:prstGeom>
          <a:noFill/>
          <a:ln/>
        </p:spPr>
        <p:txBody>
          <a:bodyPr wrap="square" lIns="0" tIns="0" rIns="0" bIns="0" rtlCol="0" anchor="ctr"/>
          <a:lstStyle/>
          <a:p>
            <a:pPr indent="0" marL="0">
              <a:lnSpc>
                <a:spcPct val="105000"/>
              </a:lnSpc>
              <a:buNone/>
            </a:pPr>
            <a:r>
              <a:rPr lang="en-US" sz="680" b="1" dirty="0">
                <a:solidFill>
                  <a:srgbClr val="4338CA"/>
                </a:solidFill>
                <a:latin typeface="Arial" pitchFamily="34" charset="0"/>
                <a:ea typeface="Arial" pitchFamily="34" charset="-122"/>
                <a:cs typeface="Arial" pitchFamily="34" charset="-120"/>
              </a:rPr>
              <a:t>Secretless WIF Hop</a:t>
            </a:r>
            <a:endParaRPr lang="en-US" sz="680" dirty="0"/>
          </a:p>
        </p:txBody>
      </p:sp>
      <p:sp>
        <p:nvSpPr>
          <p:cNvPr id="99" name="Text 97"/>
          <p:cNvSpPr/>
          <p:nvPr/>
        </p:nvSpPr>
        <p:spPr>
          <a:xfrm>
            <a:off x="8317382" y="3410712"/>
            <a:ext cx="3235147" cy="192024"/>
          </a:xfrm>
          <a:prstGeom prst="rect">
            <a:avLst/>
          </a:prstGeom>
          <a:noFill/>
          <a:ln/>
        </p:spPr>
        <p:txBody>
          <a:bodyPr wrap="square" lIns="0" tIns="0" rIns="0" bIns="0" rtlCol="0" anchor="ctr"/>
          <a:lstStyle/>
          <a:p>
            <a:pPr indent="0" marL="0">
              <a:lnSpc>
                <a:spcPct val="105000"/>
              </a:lnSpc>
              <a:buNone/>
            </a:pPr>
            <a:r>
              <a:rPr lang="en-US" sz="700" dirty="0">
                <a:solidFill>
                  <a:srgbClr val="0F172A"/>
                </a:solidFill>
                <a:latin typeface="Arial" pitchFamily="34" charset="0"/>
                <a:ea typeface="Arial" pitchFamily="34" charset="-122"/>
                <a:cs typeface="Arial" pitchFamily="34" charset="-120"/>
              </a:rPr>
              <a:t>Cloud Run OIDC → AWS STS AssumeRoleWithWebIdentity</a:t>
            </a:r>
            <a:endParaRPr lang="en-US" sz="700" dirty="0"/>
          </a:p>
        </p:txBody>
      </p:sp>
      <p:sp>
        <p:nvSpPr>
          <p:cNvPr id="100" name="Shape 98"/>
          <p:cNvSpPr/>
          <p:nvPr/>
        </p:nvSpPr>
        <p:spPr>
          <a:xfrm>
            <a:off x="8244230" y="3712464"/>
            <a:ext cx="3381451" cy="420624"/>
          </a:xfrm>
          <a:prstGeom prst="roundRect">
            <a:avLst>
              <a:gd name="adj" fmla="val 15217"/>
            </a:avLst>
          </a:prstGeom>
          <a:solidFill>
            <a:srgbClr val="EEF2FF"/>
          </a:solidFill>
          <a:ln w="10795">
            <a:solidFill>
              <a:srgbClr val="C7D2FE"/>
            </a:solidFill>
            <a:prstDash val="solid"/>
          </a:ln>
        </p:spPr>
      </p:sp>
      <p:sp>
        <p:nvSpPr>
          <p:cNvPr id="101" name="Text 99"/>
          <p:cNvSpPr/>
          <p:nvPr/>
        </p:nvSpPr>
        <p:spPr>
          <a:xfrm>
            <a:off x="8317382" y="3749040"/>
            <a:ext cx="3235147" cy="146304"/>
          </a:xfrm>
          <a:prstGeom prst="rect">
            <a:avLst/>
          </a:prstGeom>
          <a:noFill/>
          <a:ln/>
        </p:spPr>
        <p:txBody>
          <a:bodyPr wrap="square" lIns="0" tIns="0" rIns="0" bIns="0" rtlCol="0" anchor="ctr"/>
          <a:lstStyle/>
          <a:p>
            <a:pPr indent="0" marL="0">
              <a:lnSpc>
                <a:spcPct val="105000"/>
              </a:lnSpc>
              <a:buNone/>
            </a:pPr>
            <a:r>
              <a:rPr lang="en-US" sz="680" b="1" dirty="0">
                <a:solidFill>
                  <a:srgbClr val="4338CA"/>
                </a:solidFill>
                <a:latin typeface="Arial" pitchFamily="34" charset="0"/>
                <a:ea typeface="Arial" pitchFamily="34" charset="-122"/>
                <a:cs typeface="Arial" pitchFamily="34" charset="-120"/>
              </a:rPr>
              <a:t>10 Live SaaS Targets</a:t>
            </a:r>
            <a:endParaRPr lang="en-US" sz="680" dirty="0"/>
          </a:p>
        </p:txBody>
      </p:sp>
      <p:sp>
        <p:nvSpPr>
          <p:cNvPr id="102" name="Text 100"/>
          <p:cNvSpPr/>
          <p:nvPr/>
        </p:nvSpPr>
        <p:spPr>
          <a:xfrm>
            <a:off x="8317382" y="3904488"/>
            <a:ext cx="3235147" cy="192024"/>
          </a:xfrm>
          <a:prstGeom prst="rect">
            <a:avLst/>
          </a:prstGeom>
          <a:noFill/>
          <a:ln/>
        </p:spPr>
        <p:txBody>
          <a:bodyPr wrap="square" lIns="0" tIns="0" rIns="0" bIns="0" rtlCol="0" anchor="ctr"/>
          <a:lstStyle/>
          <a:p>
            <a:pPr indent="0" marL="0">
              <a:lnSpc>
                <a:spcPct val="105000"/>
              </a:lnSpc>
              <a:buNone/>
            </a:pPr>
            <a:r>
              <a:rPr lang="en-US" sz="700" dirty="0">
                <a:solidFill>
                  <a:srgbClr val="0F172A"/>
                </a:solidFill>
                <a:latin typeface="Arial" pitchFamily="34" charset="0"/>
                <a:ea typeface="Arial" pitchFamily="34" charset="-122"/>
                <a:cs typeface="Arial" pitchFamily="34" charset="-120"/>
              </a:rPr>
              <a:t>HXGGFMZBKE..C7EYM614F2 all verified READY</a:t>
            </a:r>
            <a:endParaRPr lang="en-US" sz="700" dirty="0"/>
          </a:p>
        </p:txBody>
      </p:sp>
      <p:sp>
        <p:nvSpPr>
          <p:cNvPr id="103" name="Shape 101"/>
          <p:cNvSpPr/>
          <p:nvPr/>
        </p:nvSpPr>
        <p:spPr>
          <a:xfrm>
            <a:off x="8244230" y="4206240"/>
            <a:ext cx="3381451" cy="420624"/>
          </a:xfrm>
          <a:prstGeom prst="roundRect">
            <a:avLst>
              <a:gd name="adj" fmla="val 15217"/>
            </a:avLst>
          </a:prstGeom>
          <a:solidFill>
            <a:srgbClr val="EEF2FF"/>
          </a:solidFill>
          <a:ln w="10795">
            <a:solidFill>
              <a:srgbClr val="C7D2FE"/>
            </a:solidFill>
            <a:prstDash val="solid"/>
          </a:ln>
        </p:spPr>
      </p:sp>
      <p:sp>
        <p:nvSpPr>
          <p:cNvPr id="104" name="Text 102"/>
          <p:cNvSpPr/>
          <p:nvPr/>
        </p:nvSpPr>
        <p:spPr>
          <a:xfrm>
            <a:off x="8317382" y="4242816"/>
            <a:ext cx="3235147" cy="146304"/>
          </a:xfrm>
          <a:prstGeom prst="rect">
            <a:avLst/>
          </a:prstGeom>
          <a:noFill/>
          <a:ln/>
        </p:spPr>
        <p:txBody>
          <a:bodyPr wrap="square" lIns="0" tIns="0" rIns="0" bIns="0" rtlCol="0" anchor="ctr"/>
          <a:lstStyle/>
          <a:p>
            <a:pPr indent="0" marL="0">
              <a:lnSpc>
                <a:spcPct val="105000"/>
              </a:lnSpc>
              <a:buNone/>
            </a:pPr>
            <a:r>
              <a:rPr lang="en-US" sz="680" b="1" dirty="0">
                <a:solidFill>
                  <a:srgbClr val="4338CA"/>
                </a:solidFill>
                <a:latin typeface="Arial" pitchFamily="34" charset="0"/>
                <a:ea typeface="Arial" pitchFamily="34" charset="-122"/>
                <a:cs typeface="Arial" pitchFamily="34" charset="-120"/>
              </a:rPr>
              <a:t>Analytics &amp; SQL UIs</a:t>
            </a:r>
            <a:endParaRPr lang="en-US" sz="680" dirty="0"/>
          </a:p>
        </p:txBody>
      </p:sp>
      <p:sp>
        <p:nvSpPr>
          <p:cNvPr id="105" name="Text 103"/>
          <p:cNvSpPr/>
          <p:nvPr/>
        </p:nvSpPr>
        <p:spPr>
          <a:xfrm>
            <a:off x="8317382" y="4398264"/>
            <a:ext cx="3235147" cy="192024"/>
          </a:xfrm>
          <a:prstGeom prst="rect">
            <a:avLst/>
          </a:prstGeom>
          <a:noFill/>
          <a:ln/>
        </p:spPr>
        <p:txBody>
          <a:bodyPr wrap="square" lIns="0" tIns="0" rIns="0" bIns="0" rtlCol="0" anchor="ctr"/>
          <a:lstStyle/>
          <a:p>
            <a:pPr indent="0" marL="0">
              <a:lnSpc>
                <a:spcPct val="105000"/>
              </a:lnSpc>
              <a:buNone/>
            </a:pPr>
            <a:r>
              <a:rPr lang="en-US" sz="700" dirty="0">
                <a:solidFill>
                  <a:srgbClr val="0F172A"/>
                </a:solidFill>
                <a:latin typeface="Arial" pitchFamily="34" charset="0"/>
                <a:ea typeface="Arial" pitchFamily="34" charset="-122"/>
                <a:cs typeface="Arial" pitchFamily="34" charset="-120"/>
              </a:rPr>
              <a:t>Metabase v0.50, Grafana v11.2, Trino v440, ClickHouse</a:t>
            </a:r>
            <a:endParaRPr lang="en-US" sz="700" dirty="0"/>
          </a:p>
        </p:txBody>
      </p:sp>
      <p:sp>
        <p:nvSpPr>
          <p:cNvPr id="106" name="Shape 104"/>
          <p:cNvSpPr/>
          <p:nvPr/>
        </p:nvSpPr>
        <p:spPr>
          <a:xfrm>
            <a:off x="8244230" y="4700016"/>
            <a:ext cx="3381451" cy="420624"/>
          </a:xfrm>
          <a:prstGeom prst="roundRect">
            <a:avLst>
              <a:gd name="adj" fmla="val 15217"/>
            </a:avLst>
          </a:prstGeom>
          <a:solidFill>
            <a:srgbClr val="EEF2FF"/>
          </a:solidFill>
          <a:ln w="10795">
            <a:solidFill>
              <a:srgbClr val="C7D2FE"/>
            </a:solidFill>
            <a:prstDash val="solid"/>
          </a:ln>
        </p:spPr>
      </p:sp>
      <p:sp>
        <p:nvSpPr>
          <p:cNvPr id="107" name="Text 105"/>
          <p:cNvSpPr/>
          <p:nvPr/>
        </p:nvSpPr>
        <p:spPr>
          <a:xfrm>
            <a:off x="8317382" y="4736592"/>
            <a:ext cx="3235147" cy="146304"/>
          </a:xfrm>
          <a:prstGeom prst="rect">
            <a:avLst/>
          </a:prstGeom>
          <a:noFill/>
          <a:ln/>
        </p:spPr>
        <p:txBody>
          <a:bodyPr wrap="square" lIns="0" tIns="0" rIns="0" bIns="0" rtlCol="0" anchor="ctr"/>
          <a:lstStyle/>
          <a:p>
            <a:pPr indent="0" marL="0">
              <a:lnSpc>
                <a:spcPct val="105000"/>
              </a:lnSpc>
              <a:buNone/>
            </a:pPr>
            <a:r>
              <a:rPr lang="en-US" sz="680" b="1" dirty="0">
                <a:solidFill>
                  <a:srgbClr val="4338CA"/>
                </a:solidFill>
                <a:latin typeface="Arial" pitchFamily="34" charset="0"/>
                <a:ea typeface="Arial" pitchFamily="34" charset="-122"/>
                <a:cs typeface="Arial" pitchFamily="34" charset="-120"/>
              </a:rPr>
              <a:t>ITSM, Data &amp; SecOps</a:t>
            </a:r>
            <a:endParaRPr lang="en-US" sz="680" dirty="0"/>
          </a:p>
        </p:txBody>
      </p:sp>
      <p:sp>
        <p:nvSpPr>
          <p:cNvPr id="108" name="Text 106"/>
          <p:cNvSpPr/>
          <p:nvPr/>
        </p:nvSpPr>
        <p:spPr>
          <a:xfrm>
            <a:off x="8317382" y="4892040"/>
            <a:ext cx="3235147" cy="192024"/>
          </a:xfrm>
          <a:prstGeom prst="rect">
            <a:avLst/>
          </a:prstGeom>
          <a:noFill/>
          <a:ln/>
        </p:spPr>
        <p:txBody>
          <a:bodyPr wrap="square" lIns="0" tIns="0" rIns="0" bIns="0" rtlCol="0" anchor="ctr"/>
          <a:lstStyle/>
          <a:p>
            <a:pPr indent="0" marL="0">
              <a:lnSpc>
                <a:spcPct val="105000"/>
              </a:lnSpc>
              <a:buNone/>
            </a:pPr>
            <a:r>
              <a:rPr lang="en-US" sz="700" dirty="0">
                <a:solidFill>
                  <a:srgbClr val="0F172A"/>
                </a:solidFill>
                <a:latin typeface="Arial" pitchFamily="34" charset="0"/>
                <a:ea typeface="Arial" pitchFamily="34" charset="-122"/>
                <a:cs typeface="Arial" pitchFamily="34" charset="-120"/>
              </a:rPr>
              <a:t>Redmine v5.1, NocoDB, Gitea, Directus, Seq &amp; Vault</a:t>
            </a:r>
            <a:endParaRPr lang="en-US" sz="700" dirty="0"/>
          </a:p>
        </p:txBody>
      </p:sp>
      <p:sp>
        <p:nvSpPr>
          <p:cNvPr id="109" name="Shape 107"/>
          <p:cNvSpPr/>
          <p:nvPr/>
        </p:nvSpPr>
        <p:spPr>
          <a:xfrm>
            <a:off x="8244230" y="5193792"/>
            <a:ext cx="3381451" cy="420624"/>
          </a:xfrm>
          <a:prstGeom prst="roundRect">
            <a:avLst>
              <a:gd name="adj" fmla="val 15217"/>
            </a:avLst>
          </a:prstGeom>
          <a:solidFill>
            <a:srgbClr val="EEF2FF"/>
          </a:solidFill>
          <a:ln w="10795">
            <a:solidFill>
              <a:srgbClr val="C7D2FE"/>
            </a:solidFill>
            <a:prstDash val="solid"/>
          </a:ln>
        </p:spPr>
      </p:sp>
      <p:sp>
        <p:nvSpPr>
          <p:cNvPr id="110" name="Text 108"/>
          <p:cNvSpPr/>
          <p:nvPr/>
        </p:nvSpPr>
        <p:spPr>
          <a:xfrm>
            <a:off x="8317382" y="5230368"/>
            <a:ext cx="3235147" cy="146304"/>
          </a:xfrm>
          <a:prstGeom prst="rect">
            <a:avLst/>
          </a:prstGeom>
          <a:noFill/>
          <a:ln/>
        </p:spPr>
        <p:txBody>
          <a:bodyPr wrap="square" lIns="0" tIns="0" rIns="0" bIns="0" rtlCol="0" anchor="ctr"/>
          <a:lstStyle/>
          <a:p>
            <a:pPr indent="0" marL="0">
              <a:lnSpc>
                <a:spcPct val="105000"/>
              </a:lnSpc>
              <a:buNone/>
            </a:pPr>
            <a:r>
              <a:rPr lang="en-US" sz="680" b="1" dirty="0">
                <a:solidFill>
                  <a:srgbClr val="4338CA"/>
                </a:solidFill>
                <a:latin typeface="Arial" pitchFamily="34" charset="0"/>
                <a:ea typeface="Arial" pitchFamily="34" charset="-122"/>
                <a:cs typeface="Arial" pitchFamily="34" charset="-120"/>
              </a:rPr>
              <a:t>FinOps S3/BQ Ledger</a:t>
            </a:r>
            <a:endParaRPr lang="en-US" sz="680" dirty="0"/>
          </a:p>
        </p:txBody>
      </p:sp>
      <p:sp>
        <p:nvSpPr>
          <p:cNvPr id="111" name="Text 109"/>
          <p:cNvSpPr/>
          <p:nvPr/>
        </p:nvSpPr>
        <p:spPr>
          <a:xfrm>
            <a:off x="8317382" y="5385816"/>
            <a:ext cx="3235147" cy="192024"/>
          </a:xfrm>
          <a:prstGeom prst="rect">
            <a:avLst/>
          </a:prstGeom>
          <a:noFill/>
          <a:ln/>
        </p:spPr>
        <p:txBody>
          <a:bodyPr wrap="square" lIns="0" tIns="0" rIns="0" bIns="0" rtlCol="0" anchor="ctr"/>
          <a:lstStyle/>
          <a:p>
            <a:pPr indent="0" marL="0">
              <a:lnSpc>
                <a:spcPct val="105000"/>
              </a:lnSpc>
              <a:buNone/>
            </a:pPr>
            <a:r>
              <a:rPr lang="en-US" sz="700" dirty="0">
                <a:solidFill>
                  <a:srgbClr val="0F172A"/>
                </a:solidFill>
                <a:latin typeface="Arial" pitchFamily="34" charset="0"/>
                <a:ea typeface="Arial" pitchFamily="34" charset="-122"/>
                <a:cs typeface="Arial" pitchFamily="34" charset="-120"/>
              </a:rPr>
              <a:t>s3://cymbal-aws-federation + BQ OTel reconciled</a:t>
            </a:r>
            <a:endParaRPr lang="en-US" sz="700" dirty="0"/>
          </a:p>
        </p:txBody>
      </p:sp>
      <p:sp>
        <p:nvSpPr>
          <p:cNvPr id="112" name="Shape 110"/>
          <p:cNvSpPr/>
          <p:nvPr/>
        </p:nvSpPr>
        <p:spPr>
          <a:xfrm>
            <a:off x="438912" y="5943600"/>
            <a:ext cx="11313871" cy="420624"/>
          </a:xfrm>
          <a:prstGeom prst="roundRect">
            <a:avLst>
              <a:gd name="adj" fmla="val 13043"/>
            </a:avLst>
          </a:prstGeom>
          <a:solidFill>
            <a:srgbClr val="ECFDF5"/>
          </a:solidFill>
          <a:ln w="11430">
            <a:solidFill>
              <a:srgbClr val="A7F3D0"/>
            </a:solidFill>
            <a:prstDash val="solid"/>
          </a:ln>
        </p:spPr>
      </p:sp>
      <p:sp>
        <p:nvSpPr>
          <p:cNvPr id="113" name="Shape 111"/>
          <p:cNvSpPr/>
          <p:nvPr/>
        </p:nvSpPr>
        <p:spPr>
          <a:xfrm>
            <a:off x="530352" y="6025896"/>
            <a:ext cx="1353312" cy="256032"/>
          </a:xfrm>
          <a:prstGeom prst="roundRect">
            <a:avLst>
              <a:gd name="adj" fmla="val 17857"/>
            </a:avLst>
          </a:prstGeom>
          <a:solidFill>
            <a:srgbClr val="047857"/>
          </a:solidFill>
          <a:ln/>
        </p:spPr>
      </p:sp>
      <p:sp>
        <p:nvSpPr>
          <p:cNvPr id="114" name="Text 112"/>
          <p:cNvSpPr/>
          <p:nvPr/>
        </p:nvSpPr>
        <p:spPr>
          <a:xfrm>
            <a:off x="530352" y="6025896"/>
            <a:ext cx="1353312" cy="256032"/>
          </a:xfrm>
          <a:prstGeom prst="rect">
            <a:avLst/>
          </a:prstGeom>
          <a:noFill/>
          <a:ln/>
        </p:spPr>
        <p:txBody>
          <a:bodyPr wrap="square" lIns="0" tIns="0" rIns="0" bIns="0" rtlCol="0" anchor="ctr"/>
          <a:lstStyle/>
          <a:p>
            <a:pPr algn="ctr" indent="0" marL="0">
              <a:lnSpc>
                <a:spcPct val="105000"/>
              </a:lnSpc>
              <a:buNone/>
            </a:pPr>
            <a:r>
              <a:rPr lang="en-US" sz="650" b="1" dirty="0">
                <a:solidFill>
                  <a:srgbClr val="FFFFFF"/>
                </a:solidFill>
                <a:latin typeface="Arial" pitchFamily="34" charset="0"/>
                <a:ea typeface="Arial" pitchFamily="34" charset="-122"/>
                <a:cs typeface="Arial" pitchFamily="34" charset="-120"/>
              </a:rPr>
              <a:t>EMPIRICAL CERTAINTY</a:t>
            </a:r>
            <a:endParaRPr lang="en-US" sz="650" dirty="0"/>
          </a:p>
        </p:txBody>
      </p:sp>
      <p:sp>
        <p:nvSpPr>
          <p:cNvPr id="115" name="Text 113"/>
          <p:cNvSpPr/>
          <p:nvPr/>
        </p:nvSpPr>
        <p:spPr>
          <a:xfrm>
            <a:off x="1993392" y="5980176"/>
            <a:ext cx="7555687" cy="347472"/>
          </a:xfrm>
          <a:prstGeom prst="rect">
            <a:avLst/>
          </a:prstGeom>
          <a:noFill/>
          <a:ln/>
        </p:spPr>
        <p:txBody>
          <a:bodyPr wrap="square" lIns="0" tIns="0" rIns="0" bIns="0" rtlCol="0" anchor="ctr"/>
          <a:lstStyle/>
          <a:p>
            <a:pPr algn="l" indent="0" marL="0">
              <a:lnSpc>
                <a:spcPct val="108000"/>
              </a:lnSpc>
              <a:buNone/>
            </a:pPr>
            <a:r>
              <a:rPr lang="en-US" sz="860" b="1" dirty="0">
                <a:solidFill>
                  <a:srgbClr val="0F172A"/>
                </a:solidFill>
                <a:latin typeface="Arial" pitchFamily="34" charset="0"/>
                <a:ea typeface="Arial" pitchFamily="34" charset="-122"/>
                <a:cs typeface="Arial" pitchFamily="34" charset="-120"/>
              </a:rPr>
              <a:t>Tenant context survives cross-project GCP VPC-SC hops AND cross-cloud OIDC→AWS STS federation across all 10 live enterprise SaaS MCP targets.</a:t>
            </a:r>
            <a:endParaRPr lang="en-US" sz="860" dirty="0"/>
          </a:p>
        </p:txBody>
      </p:sp>
      <p:sp>
        <p:nvSpPr>
          <p:cNvPr id="116" name="Shape 114"/>
          <p:cNvSpPr/>
          <p:nvPr/>
        </p:nvSpPr>
        <p:spPr>
          <a:xfrm>
            <a:off x="9695383" y="6025896"/>
            <a:ext cx="1965960" cy="256032"/>
          </a:xfrm>
          <a:prstGeom prst="roundRect">
            <a:avLst>
              <a:gd name="adj" fmla="val 17857"/>
            </a:avLst>
          </a:prstGeom>
          <a:solidFill>
            <a:srgbClr val="FFFFFF"/>
          </a:solidFill>
          <a:ln w="10795">
            <a:solidFill>
              <a:srgbClr val="047857"/>
            </a:solidFill>
            <a:prstDash val="solid"/>
          </a:ln>
        </p:spPr>
      </p:sp>
      <p:sp>
        <p:nvSpPr>
          <p:cNvPr id="117" name="Text 115"/>
          <p:cNvSpPr/>
          <p:nvPr/>
        </p:nvSpPr>
        <p:spPr>
          <a:xfrm>
            <a:off x="9695383" y="6025896"/>
            <a:ext cx="1965960" cy="256032"/>
          </a:xfrm>
          <a:prstGeom prst="rect">
            <a:avLst/>
          </a:prstGeom>
          <a:noFill/>
          <a:ln/>
        </p:spPr>
        <p:txBody>
          <a:bodyPr wrap="square" lIns="0" tIns="0" rIns="0" bIns="0" rtlCol="0" anchor="ctr"/>
          <a:lstStyle/>
          <a:p>
            <a:pPr algn="ctr" indent="0" marL="0">
              <a:lnSpc>
                <a:spcPct val="105000"/>
              </a:lnSpc>
              <a:buNone/>
            </a:pPr>
            <a:r>
              <a:rPr lang="en-US" sz="740" b="1" dirty="0">
                <a:solidFill>
                  <a:srgbClr val="047857"/>
                </a:solidFill>
                <a:latin typeface="Arial" pitchFamily="34" charset="0"/>
                <a:ea typeface="Arial" pitchFamily="34" charset="-122"/>
                <a:cs typeface="Arial" pitchFamily="34" charset="-120"/>
              </a:rPr>
              <a:t>20/20 GCP + 30/30 AWS PASS</a:t>
            </a:r>
            <a:endParaRPr lang="en-US" sz="74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1148"/>
          </a:xfrm>
          <a:prstGeom prst="rect">
            <a:avLst/>
          </a:prstGeom>
          <a:solidFill>
            <a:srgbClr val="047857"/>
          </a:solidFill>
          <a:ln/>
        </p:spPr>
      </p:sp>
      <p:sp>
        <p:nvSpPr>
          <p:cNvPr id="3" name="Shape 1"/>
          <p:cNvSpPr/>
          <p:nvPr/>
        </p:nvSpPr>
        <p:spPr>
          <a:xfrm>
            <a:off x="438912" y="192024"/>
            <a:ext cx="59436" cy="621792"/>
          </a:xfrm>
          <a:prstGeom prst="roundRect">
            <a:avLst>
              <a:gd name="adj" fmla="val 46154"/>
            </a:avLst>
          </a:prstGeom>
          <a:solidFill>
            <a:srgbClr val="047857"/>
          </a:solidFill>
          <a:ln/>
        </p:spPr>
      </p:sp>
      <p:sp>
        <p:nvSpPr>
          <p:cNvPr id="4" name="Text 2"/>
          <p:cNvSpPr/>
          <p:nvPr/>
        </p:nvSpPr>
        <p:spPr>
          <a:xfrm>
            <a:off x="576072" y="173736"/>
            <a:ext cx="4389120" cy="146304"/>
          </a:xfrm>
          <a:prstGeom prst="rect">
            <a:avLst/>
          </a:prstGeom>
          <a:noFill/>
          <a:ln/>
        </p:spPr>
        <p:txBody>
          <a:bodyPr wrap="square" lIns="0" tIns="0" rIns="0" bIns="0" rtlCol="0" anchor="ctr"/>
          <a:lstStyle/>
          <a:p>
            <a:pPr algn="l" indent="0" marL="0">
              <a:lnSpc>
                <a:spcPct val="105000"/>
              </a:lnSpc>
              <a:buNone/>
            </a:pPr>
            <a:r>
              <a:rPr lang="en-US" sz="750" b="1" spc="110" kern="0" dirty="0">
                <a:solidFill>
                  <a:srgbClr val="047857"/>
                </a:solidFill>
                <a:latin typeface="Arial" pitchFamily="34" charset="0"/>
                <a:ea typeface="Arial" pitchFamily="34" charset="-122"/>
                <a:cs typeface="Arial" pitchFamily="34" charset="-120"/>
              </a:rPr>
              <a:t>06 / EMPIRICAL PROOFS</a:t>
            </a:r>
            <a:endParaRPr lang="en-US" sz="750" dirty="0"/>
          </a:p>
        </p:txBody>
      </p:sp>
      <p:sp>
        <p:nvSpPr>
          <p:cNvPr id="5" name="Shape 3"/>
          <p:cNvSpPr/>
          <p:nvPr/>
        </p:nvSpPr>
        <p:spPr>
          <a:xfrm>
            <a:off x="8183880" y="219456"/>
            <a:ext cx="228600" cy="59436"/>
          </a:xfrm>
          <a:prstGeom prst="roundRect">
            <a:avLst>
              <a:gd name="adj" fmla="val 46154"/>
            </a:avLst>
          </a:prstGeom>
          <a:solidFill>
            <a:srgbClr val="94A3B8"/>
          </a:solidFill>
          <a:ln/>
        </p:spPr>
      </p:sp>
      <p:sp>
        <p:nvSpPr>
          <p:cNvPr id="6" name="Shape 4"/>
          <p:cNvSpPr/>
          <p:nvPr/>
        </p:nvSpPr>
        <p:spPr>
          <a:xfrm>
            <a:off x="8453628" y="219456"/>
            <a:ext cx="228600" cy="59436"/>
          </a:xfrm>
          <a:prstGeom prst="roundRect">
            <a:avLst>
              <a:gd name="adj" fmla="val 46154"/>
            </a:avLst>
          </a:prstGeom>
          <a:solidFill>
            <a:srgbClr val="94A3B8"/>
          </a:solidFill>
          <a:ln/>
        </p:spPr>
      </p:sp>
      <p:sp>
        <p:nvSpPr>
          <p:cNvPr id="7" name="Shape 5"/>
          <p:cNvSpPr/>
          <p:nvPr/>
        </p:nvSpPr>
        <p:spPr>
          <a:xfrm>
            <a:off x="8723376" y="219456"/>
            <a:ext cx="228600" cy="59436"/>
          </a:xfrm>
          <a:prstGeom prst="roundRect">
            <a:avLst>
              <a:gd name="adj" fmla="val 46154"/>
            </a:avLst>
          </a:prstGeom>
          <a:solidFill>
            <a:srgbClr val="94A3B8"/>
          </a:solidFill>
          <a:ln/>
        </p:spPr>
      </p:sp>
      <p:sp>
        <p:nvSpPr>
          <p:cNvPr id="8" name="Shape 6"/>
          <p:cNvSpPr/>
          <p:nvPr/>
        </p:nvSpPr>
        <p:spPr>
          <a:xfrm>
            <a:off x="8993124" y="219456"/>
            <a:ext cx="228600" cy="59436"/>
          </a:xfrm>
          <a:prstGeom prst="roundRect">
            <a:avLst>
              <a:gd name="adj" fmla="val 46154"/>
            </a:avLst>
          </a:prstGeom>
          <a:solidFill>
            <a:srgbClr val="94A3B8"/>
          </a:solidFill>
          <a:ln/>
        </p:spPr>
      </p:sp>
      <p:sp>
        <p:nvSpPr>
          <p:cNvPr id="9" name="Shape 7"/>
          <p:cNvSpPr/>
          <p:nvPr/>
        </p:nvSpPr>
        <p:spPr>
          <a:xfrm>
            <a:off x="9262872" y="219456"/>
            <a:ext cx="228600" cy="59436"/>
          </a:xfrm>
          <a:prstGeom prst="roundRect">
            <a:avLst>
              <a:gd name="adj" fmla="val 46154"/>
            </a:avLst>
          </a:prstGeom>
          <a:solidFill>
            <a:srgbClr val="94A3B8"/>
          </a:solidFill>
          <a:ln/>
        </p:spPr>
      </p:sp>
      <p:sp>
        <p:nvSpPr>
          <p:cNvPr id="10" name="Shape 8"/>
          <p:cNvSpPr/>
          <p:nvPr/>
        </p:nvSpPr>
        <p:spPr>
          <a:xfrm>
            <a:off x="9532620" y="219456"/>
            <a:ext cx="228600" cy="59436"/>
          </a:xfrm>
          <a:prstGeom prst="roundRect">
            <a:avLst>
              <a:gd name="adj" fmla="val 46154"/>
            </a:avLst>
          </a:prstGeom>
          <a:solidFill>
            <a:srgbClr val="047857"/>
          </a:solidFill>
          <a:ln/>
        </p:spPr>
      </p:sp>
      <p:sp>
        <p:nvSpPr>
          <p:cNvPr id="11" name="Shape 9"/>
          <p:cNvSpPr/>
          <p:nvPr/>
        </p:nvSpPr>
        <p:spPr>
          <a:xfrm>
            <a:off x="9802368" y="219456"/>
            <a:ext cx="228600" cy="59436"/>
          </a:xfrm>
          <a:prstGeom prst="roundRect">
            <a:avLst>
              <a:gd name="adj" fmla="val 46154"/>
            </a:avLst>
          </a:prstGeom>
          <a:solidFill>
            <a:srgbClr val="E2E8F0"/>
          </a:solidFill>
          <a:ln/>
        </p:spPr>
      </p:sp>
      <p:sp>
        <p:nvSpPr>
          <p:cNvPr id="12" name="Shape 10"/>
          <p:cNvSpPr/>
          <p:nvPr/>
        </p:nvSpPr>
        <p:spPr>
          <a:xfrm>
            <a:off x="10131552" y="146304"/>
            <a:ext cx="1621231" cy="192024"/>
          </a:xfrm>
          <a:prstGeom prst="roundRect">
            <a:avLst>
              <a:gd name="adj" fmla="val 23810"/>
            </a:avLst>
          </a:prstGeom>
          <a:solidFill>
            <a:srgbClr val="FFFFFF"/>
          </a:solidFill>
          <a:ln w="9525">
            <a:solidFill>
              <a:srgbClr val="CBD5E1"/>
            </a:solidFill>
            <a:prstDash val="solid"/>
          </a:ln>
        </p:spPr>
      </p:sp>
      <p:sp>
        <p:nvSpPr>
          <p:cNvPr id="13" name="Text 11"/>
          <p:cNvSpPr/>
          <p:nvPr/>
        </p:nvSpPr>
        <p:spPr>
          <a:xfrm>
            <a:off x="10131552" y="146304"/>
            <a:ext cx="1621231" cy="192024"/>
          </a:xfrm>
          <a:prstGeom prst="rect">
            <a:avLst/>
          </a:prstGeom>
          <a:noFill/>
          <a:ln/>
        </p:spPr>
        <p:txBody>
          <a:bodyPr wrap="square" lIns="0" tIns="0" rIns="0" bIns="0" rtlCol="0" anchor="ctr"/>
          <a:lstStyle/>
          <a:p>
            <a:pPr algn="ctr" indent="0" marL="0">
              <a:lnSpc>
                <a:spcPct val="105000"/>
              </a:lnSpc>
              <a:buNone/>
            </a:pPr>
            <a:r>
              <a:rPr lang="en-US" sz="680" b="1" spc="60" kern="0" dirty="0">
                <a:solidFill>
                  <a:srgbClr val="047857"/>
                </a:solidFill>
                <a:latin typeface="Arial" pitchFamily="34" charset="0"/>
                <a:ea typeface="Arial" pitchFamily="34" charset="-122"/>
                <a:cs typeface="Arial" pitchFamily="34" charset="-120"/>
              </a:rPr>
              <a:t>RETINA UI PROOF • 1 OF 5</a:t>
            </a:r>
            <a:endParaRPr lang="en-US" sz="680" dirty="0"/>
          </a:p>
        </p:txBody>
      </p:sp>
      <p:sp>
        <p:nvSpPr>
          <p:cNvPr id="14" name="Text 12"/>
          <p:cNvSpPr/>
          <p:nvPr/>
        </p:nvSpPr>
        <p:spPr>
          <a:xfrm>
            <a:off x="576072" y="338328"/>
            <a:ext cx="11176711" cy="310896"/>
          </a:xfrm>
          <a:prstGeom prst="rect">
            <a:avLst/>
          </a:prstGeom>
          <a:noFill/>
          <a:ln/>
        </p:spPr>
        <p:txBody>
          <a:bodyPr wrap="square" lIns="0" tIns="0" rIns="0" bIns="0" rtlCol="0" anchor="ctr"/>
          <a:lstStyle/>
          <a:p>
            <a:pPr algn="l" indent="0" marL="0">
              <a:lnSpc>
                <a:spcPct val="104000"/>
              </a:lnSpc>
              <a:buNone/>
            </a:pPr>
            <a:r>
              <a:rPr lang="en-US" sz="1750" b="1" dirty="0">
                <a:solidFill>
                  <a:srgbClr val="0F172A"/>
                </a:solidFill>
                <a:latin typeface="Arial" pitchFamily="34" charset="0"/>
                <a:ea typeface="Arial" pitchFamily="34" charset="-122"/>
                <a:cs typeface="Arial" pitchFamily="34" charset="-120"/>
              </a:rPr>
              <a:t>Genuine 3P Before → After (1/5): BI &amp; Analytics Row-Level Security</a:t>
            </a:r>
            <a:endParaRPr lang="en-US" sz="1750" dirty="0"/>
          </a:p>
        </p:txBody>
      </p:sp>
      <p:sp>
        <p:nvSpPr>
          <p:cNvPr id="15" name="Text 13"/>
          <p:cNvSpPr/>
          <p:nvPr/>
        </p:nvSpPr>
        <p:spPr>
          <a:xfrm>
            <a:off x="576072" y="658368"/>
            <a:ext cx="11176711" cy="192024"/>
          </a:xfrm>
          <a:prstGeom prst="rect">
            <a:avLst/>
          </a:prstGeom>
          <a:noFill/>
          <a:ln/>
        </p:spPr>
        <p:txBody>
          <a:bodyPr wrap="square" lIns="0" tIns="0" rIns="0" bIns="0" rtlCol="0" anchor="ctr"/>
          <a:lstStyle/>
          <a:p>
            <a:pPr algn="l" indent="0" marL="0">
              <a:lnSpc>
                <a:spcPct val="104000"/>
              </a:lnSpc>
              <a:buNone/>
            </a:pPr>
            <a:r>
              <a:rPr lang="en-US" sz="900" dirty="0">
                <a:solidFill>
                  <a:srgbClr val="64748B"/>
                </a:solidFill>
                <a:latin typeface="Arial" pitchFamily="34" charset="0"/>
                <a:ea typeface="Arial" pitchFamily="34" charset="-122"/>
                <a:cs typeface="Arial" pitchFamily="34" charset="-120"/>
              </a:rPr>
              <a:t>Unstretched 2880×1800 captures from live Metabase v0.50.26 (ThoughtSpot tier) and Grafana Enterprise v11.2.0 (Sigma Workbooks tier).</a:t>
            </a:r>
            <a:endParaRPr lang="en-US" sz="900" dirty="0"/>
          </a:p>
        </p:txBody>
      </p:sp>
      <p:sp>
        <p:nvSpPr>
          <p:cNvPr id="16" name="Shape 14"/>
          <p:cNvSpPr/>
          <p:nvPr/>
        </p:nvSpPr>
        <p:spPr>
          <a:xfrm>
            <a:off x="438912" y="914400"/>
            <a:ext cx="11313871" cy="0"/>
          </a:xfrm>
          <a:prstGeom prst="line">
            <a:avLst/>
          </a:prstGeom>
          <a:noFill/>
          <a:ln w="10795">
            <a:solidFill>
              <a:srgbClr val="E2E8F0"/>
            </a:solidFill>
            <a:prstDash val="solid"/>
          </a:ln>
        </p:spPr>
      </p:sp>
      <p:sp>
        <p:nvSpPr>
          <p:cNvPr id="17" name="Shape 15"/>
          <p:cNvSpPr/>
          <p:nvPr/>
        </p:nvSpPr>
        <p:spPr>
          <a:xfrm>
            <a:off x="438912" y="6455664"/>
            <a:ext cx="11313871" cy="0"/>
          </a:xfrm>
          <a:prstGeom prst="line">
            <a:avLst/>
          </a:prstGeom>
          <a:noFill/>
          <a:ln w="9525">
            <a:solidFill>
              <a:srgbClr val="E2E8F0"/>
            </a:solidFill>
            <a:prstDash val="solid"/>
          </a:ln>
        </p:spPr>
      </p:sp>
      <p:sp>
        <p:nvSpPr>
          <p:cNvPr id="18" name="Text 16"/>
          <p:cNvSpPr/>
          <p:nvPr/>
        </p:nvSpPr>
        <p:spPr>
          <a:xfrm>
            <a:off x="438912" y="6501384"/>
            <a:ext cx="5852160" cy="192024"/>
          </a:xfrm>
          <a:prstGeom prst="rect">
            <a:avLst/>
          </a:prstGeom>
          <a:noFill/>
          <a:ln/>
        </p:spPr>
        <p:txBody>
          <a:bodyPr wrap="square" lIns="0" tIns="0" rIns="0" bIns="0" rtlCol="0" anchor="ctr"/>
          <a:lstStyle/>
          <a:p>
            <a:pPr algn="l" indent="0" marL="0">
              <a:lnSpc>
                <a:spcPct val="105000"/>
              </a:lnSpc>
              <a:buNone/>
            </a:pPr>
            <a:r>
              <a:rPr lang="en-US" sz="680" b="1" spc="40" kern="0" dirty="0">
                <a:solidFill>
                  <a:srgbClr val="64748B"/>
                </a:solidFill>
                <a:latin typeface="Arial" pitchFamily="34" charset="0"/>
                <a:ea typeface="Arial" pitchFamily="34" charset="-122"/>
                <a:cs typeface="Arial" pitchFamily="34" charset="-120"/>
              </a:rPr>
              <a:t>GOOGLE CLOUD AI ARCHITECTURE  •  BLOG 1: MULTI-TENANT AGENTIC AI TAXONOMY &amp; 5-HOP BASELINE</a:t>
            </a:r>
            <a:endParaRPr lang="en-US" sz="680" dirty="0"/>
          </a:p>
        </p:txBody>
      </p:sp>
      <p:sp>
        <p:nvSpPr>
          <p:cNvPr id="19" name="Text 17"/>
          <p:cNvSpPr/>
          <p:nvPr/>
        </p:nvSpPr>
        <p:spPr>
          <a:xfrm>
            <a:off x="6355080" y="6501384"/>
            <a:ext cx="4206240" cy="192024"/>
          </a:xfrm>
          <a:prstGeom prst="rect">
            <a:avLst/>
          </a:prstGeom>
          <a:noFill/>
          <a:ln/>
        </p:spPr>
        <p:txBody>
          <a:bodyPr wrap="square" lIns="0" tIns="0" rIns="0" bIns="0" rtlCol="0" anchor="ctr"/>
          <a:lstStyle/>
          <a:p>
            <a:pPr algn="r" indent="0" marL="0">
              <a:lnSpc>
                <a:spcPct val="105000"/>
              </a:lnSpc>
              <a:buNone/>
            </a:pPr>
            <a:r>
              <a:rPr lang="en-US" sz="680" dirty="0">
                <a:solidFill>
                  <a:srgbClr val="64748B"/>
                </a:solidFill>
                <a:latin typeface="Arial" pitchFamily="34" charset="0"/>
                <a:ea typeface="Arial" pitchFamily="34" charset="-122"/>
                <a:cs typeface="Arial" pitchFamily="34" charset="-120"/>
              </a:rPr>
              <a:t>docs/genuine_3p_before_after_provenance_receipt.json  •  Unstretched 2880×1800 (1.60:1) Retina</a:t>
            </a:r>
            <a:endParaRPr lang="en-US" sz="680" dirty="0"/>
          </a:p>
        </p:txBody>
      </p:sp>
      <p:sp>
        <p:nvSpPr>
          <p:cNvPr id="20" name="Shape 18"/>
          <p:cNvSpPr/>
          <p:nvPr/>
        </p:nvSpPr>
        <p:spPr>
          <a:xfrm>
            <a:off x="11002975" y="6501384"/>
            <a:ext cx="749808" cy="192024"/>
          </a:xfrm>
          <a:prstGeom prst="roundRect">
            <a:avLst>
              <a:gd name="adj" fmla="val 19048"/>
            </a:avLst>
          </a:prstGeom>
          <a:solidFill>
            <a:srgbClr val="F1F5F9"/>
          </a:solidFill>
          <a:ln w="7620">
            <a:solidFill>
              <a:srgbClr val="E2E8F0"/>
            </a:solidFill>
            <a:prstDash val="solid"/>
          </a:ln>
        </p:spPr>
      </p:sp>
      <p:sp>
        <p:nvSpPr>
          <p:cNvPr id="21" name="Text 19"/>
          <p:cNvSpPr/>
          <p:nvPr/>
        </p:nvSpPr>
        <p:spPr>
          <a:xfrm>
            <a:off x="11002975" y="6501384"/>
            <a:ext cx="749808" cy="192024"/>
          </a:xfrm>
          <a:prstGeom prst="rect">
            <a:avLst/>
          </a:prstGeom>
          <a:noFill/>
          <a:ln/>
        </p:spPr>
        <p:txBody>
          <a:bodyPr wrap="square" lIns="0" tIns="0" rIns="0" bIns="0" rtlCol="0" anchor="ctr"/>
          <a:lstStyle/>
          <a:p>
            <a:pPr algn="ctr" indent="0" marL="0">
              <a:lnSpc>
                <a:spcPct val="105000"/>
              </a:lnSpc>
              <a:buNone/>
            </a:pPr>
            <a:r>
              <a:rPr lang="en-US" sz="700" b="1" dirty="0">
                <a:solidFill>
                  <a:srgbClr val="334155"/>
                </a:solidFill>
                <a:latin typeface="Arial" pitchFamily="34" charset="0"/>
                <a:ea typeface="Arial" pitchFamily="34" charset="-122"/>
                <a:cs typeface="Arial" pitchFamily="34" charset="-120"/>
              </a:rPr>
              <a:t>17 / 23</a:t>
            </a:r>
            <a:endParaRPr lang="en-US" sz="700" dirty="0"/>
          </a:p>
        </p:txBody>
      </p:sp>
      <p:sp>
        <p:nvSpPr>
          <p:cNvPr id="22" name="Shape 20"/>
          <p:cNvSpPr/>
          <p:nvPr/>
        </p:nvSpPr>
        <p:spPr>
          <a:xfrm>
            <a:off x="461772" y="1068019"/>
            <a:ext cx="3218688" cy="2231136"/>
          </a:xfrm>
          <a:prstGeom prst="roundRect">
            <a:avLst>
              <a:gd name="adj" fmla="val 2869"/>
            </a:avLst>
          </a:prstGeom>
          <a:solidFill>
            <a:srgbClr val="E2E8F0"/>
          </a:solidFill>
          <a:ln/>
        </p:spPr>
      </p:sp>
      <p:sp>
        <p:nvSpPr>
          <p:cNvPr id="23" name="Shape 21"/>
          <p:cNvSpPr/>
          <p:nvPr/>
        </p:nvSpPr>
        <p:spPr>
          <a:xfrm>
            <a:off x="438912" y="1042416"/>
            <a:ext cx="3218688" cy="2231136"/>
          </a:xfrm>
          <a:prstGeom prst="roundRect">
            <a:avLst>
              <a:gd name="adj" fmla="val 2869"/>
            </a:avLst>
          </a:prstGeom>
          <a:solidFill>
            <a:srgbClr val="FFFFFF"/>
          </a:solidFill>
          <a:ln w="10795">
            <a:solidFill>
              <a:srgbClr val="FECACA"/>
            </a:solidFill>
            <a:prstDash val="solid"/>
          </a:ln>
        </p:spPr>
      </p:sp>
      <p:sp>
        <p:nvSpPr>
          <p:cNvPr id="24" name="Shape 22"/>
          <p:cNvSpPr/>
          <p:nvPr/>
        </p:nvSpPr>
        <p:spPr>
          <a:xfrm>
            <a:off x="438912" y="1042416"/>
            <a:ext cx="3218688" cy="219456"/>
          </a:xfrm>
          <a:prstGeom prst="rect">
            <a:avLst/>
          </a:prstGeom>
          <a:solidFill>
            <a:srgbClr val="FEF2F2"/>
          </a:solidFill>
          <a:ln w="7620">
            <a:solidFill>
              <a:srgbClr val="FECACA"/>
            </a:solidFill>
            <a:prstDash val="solid"/>
          </a:ln>
        </p:spPr>
      </p:sp>
      <p:sp>
        <p:nvSpPr>
          <p:cNvPr id="25" name="Shape 23"/>
          <p:cNvSpPr/>
          <p:nvPr/>
        </p:nvSpPr>
        <p:spPr>
          <a:xfrm>
            <a:off x="512064" y="1115568"/>
            <a:ext cx="68580" cy="68580"/>
          </a:xfrm>
          <a:prstGeom prst="ellipse">
            <a:avLst/>
          </a:prstGeom>
          <a:solidFill>
            <a:srgbClr val="EF4444"/>
          </a:solidFill>
          <a:ln/>
        </p:spPr>
      </p:sp>
      <p:sp>
        <p:nvSpPr>
          <p:cNvPr id="26" name="Shape 24"/>
          <p:cNvSpPr/>
          <p:nvPr/>
        </p:nvSpPr>
        <p:spPr>
          <a:xfrm>
            <a:off x="612648" y="1115568"/>
            <a:ext cx="68580" cy="68580"/>
          </a:xfrm>
          <a:prstGeom prst="ellipse">
            <a:avLst/>
          </a:prstGeom>
          <a:solidFill>
            <a:srgbClr val="F59E0B"/>
          </a:solidFill>
          <a:ln/>
        </p:spPr>
      </p:sp>
      <p:sp>
        <p:nvSpPr>
          <p:cNvPr id="27" name="Shape 25"/>
          <p:cNvSpPr/>
          <p:nvPr/>
        </p:nvSpPr>
        <p:spPr>
          <a:xfrm>
            <a:off x="713232" y="1115568"/>
            <a:ext cx="68580" cy="68580"/>
          </a:xfrm>
          <a:prstGeom prst="ellipse">
            <a:avLst/>
          </a:prstGeom>
          <a:solidFill>
            <a:srgbClr val="10B981"/>
          </a:solidFill>
          <a:ln/>
        </p:spPr>
      </p:sp>
      <p:sp>
        <p:nvSpPr>
          <p:cNvPr id="28" name="Text 26"/>
          <p:cNvSpPr/>
          <p:nvPr/>
        </p:nvSpPr>
        <p:spPr>
          <a:xfrm>
            <a:off x="841248" y="1060704"/>
            <a:ext cx="2761488" cy="182880"/>
          </a:xfrm>
          <a:prstGeom prst="rect">
            <a:avLst/>
          </a:prstGeom>
          <a:noFill/>
          <a:ln/>
        </p:spPr>
        <p:txBody>
          <a:bodyPr wrap="square" lIns="0" tIns="0" rIns="0" bIns="0" rtlCol="0" anchor="ctr"/>
          <a:lstStyle/>
          <a:p>
            <a:pPr algn="l" indent="0" marL="0">
              <a:lnSpc>
                <a:spcPct val="100000"/>
              </a:lnSpc>
              <a:buNone/>
            </a:pPr>
            <a:r>
              <a:rPr lang="en-US" sz="640" b="1" dirty="0">
                <a:solidFill>
                  <a:srgbClr val="B91C1C"/>
                </a:solidFill>
                <a:latin typeface="Arial" pitchFamily="34" charset="0"/>
                <a:ea typeface="Arial" pitchFamily="34" charset="-122"/>
                <a:cs typeface="Arial" pitchFamily="34" charset="-120"/>
              </a:rPr>
              <a:t>BEFORE: Unfiltered Ledger (3 Rows — Leak)</a:t>
            </a:r>
            <a:endParaRPr lang="en-US" sz="640" dirty="0"/>
          </a:p>
        </p:txBody>
      </p:sp>
      <p:pic>
        <p:nvPicPr>
          <p:cNvPr id="29" name="Image 0" descr="preencoded.png">    </p:cNvPr>
          <p:cNvPicPr>
            <a:picLocks noChangeAspect="1"/>
          </p:cNvPicPr>
          <p:nvPr/>
        </p:nvPicPr>
        <p:blipFill>
          <a:blip r:embed="rId1"/>
          <a:stretch>
            <a:fillRect/>
          </a:stretch>
        </p:blipFill>
        <p:spPr>
          <a:xfrm>
            <a:off x="438912" y="1261872"/>
            <a:ext cx="3218688" cy="2011680"/>
          </a:xfrm>
          <a:prstGeom prst="rect">
            <a:avLst/>
          </a:prstGeom>
        </p:spPr>
      </p:pic>
      <p:sp>
        <p:nvSpPr>
          <p:cNvPr id="30" name="Shape 27"/>
          <p:cNvSpPr/>
          <p:nvPr/>
        </p:nvSpPr>
        <p:spPr>
          <a:xfrm>
            <a:off x="438912" y="1042416"/>
            <a:ext cx="3218688" cy="2231136"/>
          </a:xfrm>
          <a:prstGeom prst="rect">
            <a:avLst/>
          </a:prstGeom>
          <a:ln w="11430">
            <a:solidFill>
              <a:srgbClr val="B91C1C"/>
            </a:solidFill>
            <a:prstDash val="solid"/>
          </a:ln>
        </p:spPr>
      </p:sp>
      <p:sp>
        <p:nvSpPr>
          <p:cNvPr id="31" name="Shape 28"/>
          <p:cNvSpPr/>
          <p:nvPr/>
        </p:nvSpPr>
        <p:spPr>
          <a:xfrm>
            <a:off x="3694176" y="2157984"/>
            <a:ext cx="310896" cy="0"/>
          </a:xfrm>
          <a:prstGeom prst="line">
            <a:avLst/>
          </a:prstGeom>
          <a:noFill/>
          <a:ln w="22860">
            <a:solidFill>
              <a:srgbClr val="047857"/>
            </a:solidFill>
            <a:prstDash val="solid"/>
            <a:tailEnd type="triangle" w="sm" len="sm"/>
          </a:ln>
        </p:spPr>
      </p:sp>
      <p:sp>
        <p:nvSpPr>
          <p:cNvPr id="32" name="Shape 29"/>
          <p:cNvSpPr/>
          <p:nvPr/>
        </p:nvSpPr>
        <p:spPr>
          <a:xfrm>
            <a:off x="4064508" y="1068019"/>
            <a:ext cx="3218688" cy="2231136"/>
          </a:xfrm>
          <a:prstGeom prst="roundRect">
            <a:avLst>
              <a:gd name="adj" fmla="val 2869"/>
            </a:avLst>
          </a:prstGeom>
          <a:solidFill>
            <a:srgbClr val="E2E8F0"/>
          </a:solidFill>
          <a:ln/>
        </p:spPr>
      </p:sp>
      <p:sp>
        <p:nvSpPr>
          <p:cNvPr id="33" name="Shape 30"/>
          <p:cNvSpPr/>
          <p:nvPr/>
        </p:nvSpPr>
        <p:spPr>
          <a:xfrm>
            <a:off x="4041648" y="1042416"/>
            <a:ext cx="3218688" cy="2231136"/>
          </a:xfrm>
          <a:prstGeom prst="roundRect">
            <a:avLst>
              <a:gd name="adj" fmla="val 2869"/>
            </a:avLst>
          </a:prstGeom>
          <a:solidFill>
            <a:srgbClr val="FFFFFF"/>
          </a:solidFill>
          <a:ln w="10795">
            <a:solidFill>
              <a:srgbClr val="A7F3D0"/>
            </a:solidFill>
            <a:prstDash val="solid"/>
          </a:ln>
        </p:spPr>
      </p:sp>
      <p:sp>
        <p:nvSpPr>
          <p:cNvPr id="34" name="Shape 31"/>
          <p:cNvSpPr/>
          <p:nvPr/>
        </p:nvSpPr>
        <p:spPr>
          <a:xfrm>
            <a:off x="4041648" y="1042416"/>
            <a:ext cx="3218688" cy="219456"/>
          </a:xfrm>
          <a:prstGeom prst="rect">
            <a:avLst/>
          </a:prstGeom>
          <a:solidFill>
            <a:srgbClr val="ECFDF5"/>
          </a:solidFill>
          <a:ln w="7620">
            <a:solidFill>
              <a:srgbClr val="A7F3D0"/>
            </a:solidFill>
            <a:prstDash val="solid"/>
          </a:ln>
        </p:spPr>
      </p:sp>
      <p:sp>
        <p:nvSpPr>
          <p:cNvPr id="35" name="Shape 32"/>
          <p:cNvSpPr/>
          <p:nvPr/>
        </p:nvSpPr>
        <p:spPr>
          <a:xfrm>
            <a:off x="4114800" y="1115568"/>
            <a:ext cx="68580" cy="68580"/>
          </a:xfrm>
          <a:prstGeom prst="ellipse">
            <a:avLst/>
          </a:prstGeom>
          <a:solidFill>
            <a:srgbClr val="EF4444"/>
          </a:solidFill>
          <a:ln/>
        </p:spPr>
      </p:sp>
      <p:sp>
        <p:nvSpPr>
          <p:cNvPr id="36" name="Shape 33"/>
          <p:cNvSpPr/>
          <p:nvPr/>
        </p:nvSpPr>
        <p:spPr>
          <a:xfrm>
            <a:off x="4215384" y="1115568"/>
            <a:ext cx="68580" cy="68580"/>
          </a:xfrm>
          <a:prstGeom prst="ellipse">
            <a:avLst/>
          </a:prstGeom>
          <a:solidFill>
            <a:srgbClr val="F59E0B"/>
          </a:solidFill>
          <a:ln/>
        </p:spPr>
      </p:sp>
      <p:sp>
        <p:nvSpPr>
          <p:cNvPr id="37" name="Shape 34"/>
          <p:cNvSpPr/>
          <p:nvPr/>
        </p:nvSpPr>
        <p:spPr>
          <a:xfrm>
            <a:off x="4315968" y="1115568"/>
            <a:ext cx="68580" cy="68580"/>
          </a:xfrm>
          <a:prstGeom prst="ellipse">
            <a:avLst/>
          </a:prstGeom>
          <a:solidFill>
            <a:srgbClr val="10B981"/>
          </a:solidFill>
          <a:ln/>
        </p:spPr>
      </p:sp>
      <p:sp>
        <p:nvSpPr>
          <p:cNvPr id="38" name="Text 35"/>
          <p:cNvSpPr/>
          <p:nvPr/>
        </p:nvSpPr>
        <p:spPr>
          <a:xfrm>
            <a:off x="4443984" y="1060704"/>
            <a:ext cx="2761488" cy="182880"/>
          </a:xfrm>
          <a:prstGeom prst="rect">
            <a:avLst/>
          </a:prstGeom>
          <a:noFill/>
          <a:ln/>
        </p:spPr>
        <p:txBody>
          <a:bodyPr wrap="square" lIns="0" tIns="0" rIns="0" bIns="0" rtlCol="0" anchor="ctr"/>
          <a:lstStyle/>
          <a:p>
            <a:pPr algn="l" indent="0" marL="0">
              <a:lnSpc>
                <a:spcPct val="100000"/>
              </a:lnSpc>
              <a:buNone/>
            </a:pPr>
            <a:r>
              <a:rPr lang="en-US" sz="640" b="1" dirty="0">
                <a:solidFill>
                  <a:srgbClr val="047857"/>
                </a:solidFill>
                <a:latin typeface="Arial" pitchFamily="34" charset="0"/>
                <a:ea typeface="Arial" pitchFamily="34" charset="-122"/>
                <a:cs typeface="Arial" pitchFamily="34" charset="-120"/>
              </a:rPr>
              <a:t>AFTER: Hop 5 RLS = finvault (2 Rows Only)</a:t>
            </a:r>
            <a:endParaRPr lang="en-US" sz="640" dirty="0"/>
          </a:p>
        </p:txBody>
      </p:sp>
      <p:pic>
        <p:nvPicPr>
          <p:cNvPr id="39" name="Image 1" descr="preencoded.png">    </p:cNvPr>
          <p:cNvPicPr>
            <a:picLocks noChangeAspect="1"/>
          </p:cNvPicPr>
          <p:nvPr/>
        </p:nvPicPr>
        <p:blipFill>
          <a:blip r:embed="rId2"/>
          <a:stretch>
            <a:fillRect/>
          </a:stretch>
        </p:blipFill>
        <p:spPr>
          <a:xfrm>
            <a:off x="4041648" y="1261872"/>
            <a:ext cx="3218688" cy="2011680"/>
          </a:xfrm>
          <a:prstGeom prst="rect">
            <a:avLst/>
          </a:prstGeom>
        </p:spPr>
      </p:pic>
      <p:sp>
        <p:nvSpPr>
          <p:cNvPr id="40" name="Shape 36"/>
          <p:cNvSpPr/>
          <p:nvPr/>
        </p:nvSpPr>
        <p:spPr>
          <a:xfrm>
            <a:off x="4041648" y="1042416"/>
            <a:ext cx="3218688" cy="2231136"/>
          </a:xfrm>
          <a:prstGeom prst="rect">
            <a:avLst/>
          </a:prstGeom>
          <a:ln w="11430">
            <a:solidFill>
              <a:srgbClr val="047857"/>
            </a:solidFill>
            <a:prstDash val="solid"/>
          </a:ln>
        </p:spPr>
      </p:sp>
      <p:sp>
        <p:nvSpPr>
          <p:cNvPr id="41" name="Shape 37"/>
          <p:cNvSpPr/>
          <p:nvPr/>
        </p:nvSpPr>
        <p:spPr>
          <a:xfrm>
            <a:off x="7502652" y="1068019"/>
            <a:ext cx="4272991" cy="2231136"/>
          </a:xfrm>
          <a:prstGeom prst="roundRect">
            <a:avLst>
              <a:gd name="adj" fmla="val 2869"/>
            </a:avLst>
          </a:prstGeom>
          <a:solidFill>
            <a:srgbClr val="E2E8F0"/>
          </a:solidFill>
          <a:ln/>
        </p:spPr>
      </p:sp>
      <p:sp>
        <p:nvSpPr>
          <p:cNvPr id="42" name="Shape 38"/>
          <p:cNvSpPr/>
          <p:nvPr/>
        </p:nvSpPr>
        <p:spPr>
          <a:xfrm>
            <a:off x="7479792" y="1042416"/>
            <a:ext cx="4272991" cy="2231136"/>
          </a:xfrm>
          <a:prstGeom prst="roundRect">
            <a:avLst>
              <a:gd name="adj" fmla="val 2869"/>
            </a:avLst>
          </a:prstGeom>
          <a:solidFill>
            <a:srgbClr val="FFFFFF"/>
          </a:solidFill>
          <a:ln w="10795">
            <a:solidFill>
              <a:srgbClr val="A7F3D0"/>
            </a:solidFill>
            <a:prstDash val="solid"/>
          </a:ln>
        </p:spPr>
      </p:sp>
      <p:sp>
        <p:nvSpPr>
          <p:cNvPr id="43" name="Shape 39"/>
          <p:cNvSpPr/>
          <p:nvPr/>
        </p:nvSpPr>
        <p:spPr>
          <a:xfrm>
            <a:off x="7479792" y="1042416"/>
            <a:ext cx="54864" cy="2231136"/>
          </a:xfrm>
          <a:prstGeom prst="roundRect">
            <a:avLst>
              <a:gd name="adj" fmla="val 33333"/>
            </a:avLst>
          </a:prstGeom>
          <a:solidFill>
            <a:srgbClr val="047857"/>
          </a:solidFill>
          <a:ln/>
        </p:spPr>
      </p:sp>
      <p:sp>
        <p:nvSpPr>
          <p:cNvPr id="44" name="Shape 40"/>
          <p:cNvSpPr/>
          <p:nvPr/>
        </p:nvSpPr>
        <p:spPr>
          <a:xfrm>
            <a:off x="7626096" y="1133856"/>
            <a:ext cx="3980383" cy="201168"/>
          </a:xfrm>
          <a:prstGeom prst="roundRect">
            <a:avLst>
              <a:gd name="adj" fmla="val 36364"/>
            </a:avLst>
          </a:prstGeom>
          <a:solidFill>
            <a:srgbClr val="ECFDF5"/>
          </a:solidFill>
          <a:ln w="9525">
            <a:solidFill>
              <a:srgbClr val="A7F3D0"/>
            </a:solidFill>
            <a:prstDash val="solid"/>
          </a:ln>
        </p:spPr>
      </p:sp>
      <p:sp>
        <p:nvSpPr>
          <p:cNvPr id="45" name="Text 41"/>
          <p:cNvSpPr/>
          <p:nvPr/>
        </p:nvSpPr>
        <p:spPr>
          <a:xfrm>
            <a:off x="7626096" y="1133856"/>
            <a:ext cx="3980383" cy="201168"/>
          </a:xfrm>
          <a:prstGeom prst="rect">
            <a:avLst/>
          </a:prstGeom>
          <a:noFill/>
          <a:ln/>
        </p:spPr>
        <p:txBody>
          <a:bodyPr wrap="square" lIns="0" tIns="0" rIns="0" bIns="0" rtlCol="0" anchor="ctr"/>
          <a:lstStyle/>
          <a:p>
            <a:pPr algn="ctr" indent="0" marL="0">
              <a:lnSpc>
                <a:spcPct val="105000"/>
              </a:lnSpc>
              <a:buNone/>
            </a:pPr>
            <a:r>
              <a:rPr lang="en-US" sz="620" b="1" dirty="0">
                <a:solidFill>
                  <a:srgbClr val="047857"/>
                </a:solidFill>
                <a:latin typeface="Arial" pitchFamily="34" charset="0"/>
                <a:ea typeface="Arial" pitchFamily="34" charset="-122"/>
                <a:cs typeface="Arial" pitchFamily="34" charset="-120"/>
              </a:rPr>
              <a:t>SAAS-01  •  METABASE BI v0.50.26  •  TARGET HXGGFMZBKE</a:t>
            </a:r>
            <a:endParaRPr lang="en-US" sz="620" dirty="0"/>
          </a:p>
        </p:txBody>
      </p:sp>
      <p:sp>
        <p:nvSpPr>
          <p:cNvPr id="46" name="Text 42"/>
          <p:cNvSpPr/>
          <p:nvPr/>
        </p:nvSpPr>
        <p:spPr>
          <a:xfrm>
            <a:off x="7626096" y="1371600"/>
            <a:ext cx="3980383" cy="201168"/>
          </a:xfrm>
          <a:prstGeom prst="rect">
            <a:avLst/>
          </a:prstGeom>
          <a:noFill/>
          <a:ln/>
        </p:spPr>
        <p:txBody>
          <a:bodyPr wrap="square" lIns="0" tIns="0" rIns="0" bIns="0" rtlCol="0" anchor="ctr"/>
          <a:lstStyle/>
          <a:p>
            <a:pPr indent="0" marL="0">
              <a:lnSpc>
                <a:spcPct val="105000"/>
              </a:lnSpc>
              <a:buNone/>
            </a:pPr>
            <a:r>
              <a:rPr lang="en-US" sz="920" b="1" dirty="0">
                <a:solidFill>
                  <a:srgbClr val="0F172A"/>
                </a:solidFill>
                <a:latin typeface="Arial" pitchFamily="34" charset="0"/>
                <a:ea typeface="Arial" pitchFamily="34" charset="-122"/>
                <a:cs typeface="Arial" pitchFamily="34" charset="-120"/>
              </a:rPr>
              <a:t>ThoughtSpot Spotter Tier — Liveboard Row Filter</a:t>
            </a:r>
            <a:endParaRPr lang="en-US" sz="920" dirty="0"/>
          </a:p>
        </p:txBody>
      </p:sp>
      <p:sp>
        <p:nvSpPr>
          <p:cNvPr id="47" name="Text 43"/>
          <p:cNvSpPr/>
          <p:nvPr/>
        </p:nvSpPr>
        <p:spPr>
          <a:xfrm>
            <a:off x="7626096" y="1581912"/>
            <a:ext cx="3980383" cy="164592"/>
          </a:xfrm>
          <a:prstGeom prst="rect">
            <a:avLst/>
          </a:prstGeom>
          <a:noFill/>
          <a:ln/>
        </p:spPr>
        <p:txBody>
          <a:bodyPr wrap="square" lIns="0" tIns="0" rIns="0" bIns="0" rtlCol="0" anchor="ctr"/>
          <a:lstStyle/>
          <a:p>
            <a:pPr indent="0" marL="0">
              <a:lnSpc>
                <a:spcPct val="100000"/>
              </a:lnSpc>
              <a:buNone/>
            </a:pPr>
            <a:r>
              <a:rPr lang="en-US" sz="650" b="1" dirty="0">
                <a:solidFill>
                  <a:srgbClr val="047857"/>
                </a:solidFill>
                <a:latin typeface="Courier New" pitchFamily="34" charset="0"/>
                <a:ea typeface="Courier New" pitchFamily="34" charset="-122"/>
                <a:cs typeface="Courier New" pitchFamily="34" charset="-120"/>
              </a:rPr>
              <a:t>MCP: query_thoughtspot_liveboard_rls  •  metabase:v0.50.26</a:t>
            </a:r>
            <a:endParaRPr lang="en-US" sz="650" dirty="0"/>
          </a:p>
        </p:txBody>
      </p:sp>
      <p:sp>
        <p:nvSpPr>
          <p:cNvPr id="48" name="Text 44"/>
          <p:cNvSpPr/>
          <p:nvPr/>
        </p:nvSpPr>
        <p:spPr>
          <a:xfrm>
            <a:off x="7626096" y="1783080"/>
            <a:ext cx="3980383" cy="1133856"/>
          </a:xfrm>
          <a:prstGeom prst="rect">
            <a:avLst/>
          </a:prstGeom>
          <a:noFill/>
          <a:ln/>
        </p:spPr>
        <p:txBody>
          <a:bodyPr wrap="square" lIns="0" tIns="0" rIns="0" bIns="0" rtlCol="0" anchor="t"/>
          <a:lstStyle/>
          <a:p>
            <a:pPr indent="0" marL="0">
              <a:lnSpc>
                <a:spcPct val="110000"/>
              </a:lnSpc>
              <a:buNone/>
            </a:pPr>
            <a:r>
              <a:rPr lang="en-US" sz="720" b="1" dirty="0">
                <a:solidFill>
                  <a:srgbClr val="B91C1C"/>
                </a:solidFill>
                <a:latin typeface="Arial" pitchFamily="34" charset="0"/>
                <a:ea typeface="Arial" pitchFamily="34" charset="-122"/>
                <a:cs typeface="Arial" pitchFamily="34" charset="-120"/>
              </a:rPr>
              <a:t>• BEFORE: </a:t>
            </a:r>
            <a:pPr indent="0" marL="0">
              <a:lnSpc>
                <a:spcPct val="110000"/>
              </a:lnSpc>
              <a:buNone/>
            </a:pPr>
            <a:r>
              <a:rPr lang="en-US" sz="720" dirty="0">
                <a:solidFill>
                  <a:srgbClr val="334155"/>
                </a:solidFill>
                <a:latin typeface="Arial" pitchFamily="34" charset="0"/>
                <a:ea typeface="Arial" pitchFamily="34" charset="-122"/>
                <a:cs typeface="Arial" pitchFamily="34" charset="-120"/>
              </a:rPr>
              <a:t>Unscoped multi-tenant settlement table exposes 3 rows—leaking RetailStream RS-ORD-401 (48.9M USD) alongside FinVault desks.
</a:t>
            </a:r>
            <a:pPr indent="0" marL="0">
              <a:lnSpc>
                <a:spcPct val="110000"/>
              </a:lnSpc>
              <a:buNone/>
            </a:pPr>
            <a:r>
              <a:rPr lang="en-US" sz="720" b="1" dirty="0">
                <a:solidFill>
                  <a:srgbClr val="047857"/>
                </a:solidFill>
                <a:latin typeface="Arial" pitchFamily="34" charset="0"/>
                <a:ea typeface="Arial" pitchFamily="34" charset="-122"/>
                <a:cs typeface="Arial" pitchFamily="34" charset="-120"/>
              </a:rPr>
              <a:t>• AFTER: </a:t>
            </a:r>
            <a:pPr indent="0" marL="0">
              <a:lnSpc>
                <a:spcPct val="110000"/>
              </a:lnSpc>
              <a:buNone/>
            </a:pPr>
            <a:r>
              <a:rPr lang="en-US" sz="720" dirty="0">
                <a:solidFill>
                  <a:srgbClr val="0F172A"/>
                </a:solidFill>
                <a:latin typeface="Arial" pitchFamily="34" charset="0"/>
                <a:ea typeface="Arial" pitchFamily="34" charset="-122"/>
                <a:cs typeface="Arial" pitchFamily="34" charset="-120"/>
              </a:rPr>
              <a:t>Hop 5 binds WHERE tenant_id = 'finvault' on Saved Question #27, returning strictly 2 FinVault rows (527.0M USD total) and 0 peer rows.</a:t>
            </a:r>
            <a:endParaRPr lang="en-US" sz="720" dirty="0"/>
          </a:p>
        </p:txBody>
      </p:sp>
      <p:sp>
        <p:nvSpPr>
          <p:cNvPr id="49" name="Shape 45"/>
          <p:cNvSpPr/>
          <p:nvPr/>
        </p:nvSpPr>
        <p:spPr>
          <a:xfrm>
            <a:off x="7626096" y="2980944"/>
            <a:ext cx="3980383" cy="201168"/>
          </a:xfrm>
          <a:prstGeom prst="roundRect">
            <a:avLst>
              <a:gd name="adj" fmla="val 36364"/>
            </a:avLst>
          </a:prstGeom>
          <a:solidFill>
            <a:srgbClr val="F1F5F9"/>
          </a:solidFill>
          <a:ln w="9525">
            <a:solidFill>
              <a:srgbClr val="CBD5E1"/>
            </a:solidFill>
            <a:prstDash val="solid"/>
          </a:ln>
        </p:spPr>
      </p:sp>
      <p:sp>
        <p:nvSpPr>
          <p:cNvPr id="50" name="Text 46"/>
          <p:cNvSpPr/>
          <p:nvPr/>
        </p:nvSpPr>
        <p:spPr>
          <a:xfrm>
            <a:off x="7626096" y="2980944"/>
            <a:ext cx="3980383" cy="201168"/>
          </a:xfrm>
          <a:prstGeom prst="rect">
            <a:avLst/>
          </a:prstGeom>
          <a:noFill/>
          <a:ln/>
        </p:spPr>
        <p:txBody>
          <a:bodyPr wrap="square" lIns="0" tIns="0" rIns="0" bIns="0" rtlCol="0" anchor="ctr"/>
          <a:lstStyle/>
          <a:p>
            <a:pPr algn="ctr" indent="0" marL="0">
              <a:lnSpc>
                <a:spcPct val="105000"/>
              </a:lnSpc>
              <a:buNone/>
            </a:pPr>
            <a:r>
              <a:rPr lang="en-US" sz="610" b="1" dirty="0">
                <a:solidFill>
                  <a:srgbClr val="475569"/>
                </a:solidFill>
                <a:latin typeface="Arial" pitchFamily="34" charset="0"/>
                <a:ea typeface="Arial" pitchFamily="34" charset="-122"/>
                <a:cs typeface="Arial" pitchFamily="34" charset="-120"/>
              </a:rPr>
              <a:t>SHA-256: b1c45d4e (Before) → d6fdc81d (After)  •  Pair 01/10</a:t>
            </a:r>
            <a:endParaRPr lang="en-US" sz="610" dirty="0"/>
          </a:p>
        </p:txBody>
      </p:sp>
      <p:sp>
        <p:nvSpPr>
          <p:cNvPr id="51" name="Shape 47"/>
          <p:cNvSpPr/>
          <p:nvPr/>
        </p:nvSpPr>
        <p:spPr>
          <a:xfrm>
            <a:off x="461772" y="3518611"/>
            <a:ext cx="3218688" cy="2231136"/>
          </a:xfrm>
          <a:prstGeom prst="roundRect">
            <a:avLst>
              <a:gd name="adj" fmla="val 2869"/>
            </a:avLst>
          </a:prstGeom>
          <a:solidFill>
            <a:srgbClr val="E2E8F0"/>
          </a:solidFill>
          <a:ln/>
        </p:spPr>
      </p:sp>
      <p:sp>
        <p:nvSpPr>
          <p:cNvPr id="52" name="Shape 48"/>
          <p:cNvSpPr/>
          <p:nvPr/>
        </p:nvSpPr>
        <p:spPr>
          <a:xfrm>
            <a:off x="438912" y="3493008"/>
            <a:ext cx="3218688" cy="2231136"/>
          </a:xfrm>
          <a:prstGeom prst="roundRect">
            <a:avLst>
              <a:gd name="adj" fmla="val 2869"/>
            </a:avLst>
          </a:prstGeom>
          <a:solidFill>
            <a:srgbClr val="FFFFFF"/>
          </a:solidFill>
          <a:ln w="10795">
            <a:solidFill>
              <a:srgbClr val="FECACA"/>
            </a:solidFill>
            <a:prstDash val="solid"/>
          </a:ln>
        </p:spPr>
      </p:sp>
      <p:sp>
        <p:nvSpPr>
          <p:cNvPr id="53" name="Shape 49"/>
          <p:cNvSpPr/>
          <p:nvPr/>
        </p:nvSpPr>
        <p:spPr>
          <a:xfrm>
            <a:off x="438912" y="3493008"/>
            <a:ext cx="3218688" cy="219456"/>
          </a:xfrm>
          <a:prstGeom prst="rect">
            <a:avLst/>
          </a:prstGeom>
          <a:solidFill>
            <a:srgbClr val="FEF2F2"/>
          </a:solidFill>
          <a:ln w="7620">
            <a:solidFill>
              <a:srgbClr val="FECACA"/>
            </a:solidFill>
            <a:prstDash val="solid"/>
          </a:ln>
        </p:spPr>
      </p:sp>
      <p:sp>
        <p:nvSpPr>
          <p:cNvPr id="54" name="Shape 50"/>
          <p:cNvSpPr/>
          <p:nvPr/>
        </p:nvSpPr>
        <p:spPr>
          <a:xfrm>
            <a:off x="512064" y="3566160"/>
            <a:ext cx="68580" cy="68580"/>
          </a:xfrm>
          <a:prstGeom prst="ellipse">
            <a:avLst/>
          </a:prstGeom>
          <a:solidFill>
            <a:srgbClr val="EF4444"/>
          </a:solidFill>
          <a:ln/>
        </p:spPr>
      </p:sp>
      <p:sp>
        <p:nvSpPr>
          <p:cNvPr id="55" name="Shape 51"/>
          <p:cNvSpPr/>
          <p:nvPr/>
        </p:nvSpPr>
        <p:spPr>
          <a:xfrm>
            <a:off x="612648" y="3566160"/>
            <a:ext cx="68580" cy="68580"/>
          </a:xfrm>
          <a:prstGeom prst="ellipse">
            <a:avLst/>
          </a:prstGeom>
          <a:solidFill>
            <a:srgbClr val="F59E0B"/>
          </a:solidFill>
          <a:ln/>
        </p:spPr>
      </p:sp>
      <p:sp>
        <p:nvSpPr>
          <p:cNvPr id="56" name="Shape 52"/>
          <p:cNvSpPr/>
          <p:nvPr/>
        </p:nvSpPr>
        <p:spPr>
          <a:xfrm>
            <a:off x="713232" y="3566160"/>
            <a:ext cx="68580" cy="68580"/>
          </a:xfrm>
          <a:prstGeom prst="ellipse">
            <a:avLst/>
          </a:prstGeom>
          <a:solidFill>
            <a:srgbClr val="10B981"/>
          </a:solidFill>
          <a:ln/>
        </p:spPr>
      </p:sp>
      <p:sp>
        <p:nvSpPr>
          <p:cNvPr id="57" name="Text 53"/>
          <p:cNvSpPr/>
          <p:nvPr/>
        </p:nvSpPr>
        <p:spPr>
          <a:xfrm>
            <a:off x="841248" y="3511296"/>
            <a:ext cx="2761488" cy="182880"/>
          </a:xfrm>
          <a:prstGeom prst="rect">
            <a:avLst/>
          </a:prstGeom>
          <a:noFill/>
          <a:ln/>
        </p:spPr>
        <p:txBody>
          <a:bodyPr wrap="square" lIns="0" tIns="0" rIns="0" bIns="0" rtlCol="0" anchor="ctr"/>
          <a:lstStyle/>
          <a:p>
            <a:pPr algn="l" indent="0" marL="0">
              <a:lnSpc>
                <a:spcPct val="100000"/>
              </a:lnSpc>
              <a:buNone/>
            </a:pPr>
            <a:r>
              <a:rPr lang="en-US" sz="640" b="1" dirty="0">
                <a:solidFill>
                  <a:srgbClr val="B91C1C"/>
                </a:solidFill>
                <a:latin typeface="Arial" pitchFamily="34" charset="0"/>
                <a:ea typeface="Arial" pitchFamily="34" charset="-122"/>
                <a:cs typeface="Arial" pitchFamily="34" charset="-120"/>
              </a:rPr>
              <a:t>BEFORE: Baseline 1-Panel FinVault Workbook</a:t>
            </a:r>
            <a:endParaRPr lang="en-US" sz="640" dirty="0"/>
          </a:p>
        </p:txBody>
      </p:sp>
      <p:pic>
        <p:nvPicPr>
          <p:cNvPr id="58" name="Image 2" descr="preencoded.png">    </p:cNvPr>
          <p:cNvPicPr>
            <a:picLocks noChangeAspect="1"/>
          </p:cNvPicPr>
          <p:nvPr/>
        </p:nvPicPr>
        <p:blipFill>
          <a:blip r:embed="rId3"/>
          <a:stretch>
            <a:fillRect/>
          </a:stretch>
        </p:blipFill>
        <p:spPr>
          <a:xfrm>
            <a:off x="438912" y="3712464"/>
            <a:ext cx="3218688" cy="2011680"/>
          </a:xfrm>
          <a:prstGeom prst="rect">
            <a:avLst/>
          </a:prstGeom>
        </p:spPr>
      </p:pic>
      <p:sp>
        <p:nvSpPr>
          <p:cNvPr id="59" name="Shape 54"/>
          <p:cNvSpPr/>
          <p:nvPr/>
        </p:nvSpPr>
        <p:spPr>
          <a:xfrm>
            <a:off x="438912" y="3493008"/>
            <a:ext cx="3218688" cy="2231136"/>
          </a:xfrm>
          <a:prstGeom prst="rect">
            <a:avLst/>
          </a:prstGeom>
          <a:ln w="11430">
            <a:solidFill>
              <a:srgbClr val="B91C1C"/>
            </a:solidFill>
            <a:prstDash val="solid"/>
          </a:ln>
        </p:spPr>
      </p:sp>
      <p:sp>
        <p:nvSpPr>
          <p:cNvPr id="60" name="Shape 55"/>
          <p:cNvSpPr/>
          <p:nvPr/>
        </p:nvSpPr>
        <p:spPr>
          <a:xfrm>
            <a:off x="3694176" y="4608576"/>
            <a:ext cx="310896" cy="0"/>
          </a:xfrm>
          <a:prstGeom prst="line">
            <a:avLst/>
          </a:prstGeom>
          <a:noFill/>
          <a:ln w="22860">
            <a:solidFill>
              <a:srgbClr val="1D4ED8"/>
            </a:solidFill>
            <a:prstDash val="solid"/>
            <a:tailEnd type="triangle" w="sm" len="sm"/>
          </a:ln>
        </p:spPr>
      </p:sp>
      <p:sp>
        <p:nvSpPr>
          <p:cNvPr id="61" name="Shape 56"/>
          <p:cNvSpPr/>
          <p:nvPr/>
        </p:nvSpPr>
        <p:spPr>
          <a:xfrm>
            <a:off x="4064508" y="3518611"/>
            <a:ext cx="3218688" cy="2231136"/>
          </a:xfrm>
          <a:prstGeom prst="roundRect">
            <a:avLst>
              <a:gd name="adj" fmla="val 2869"/>
            </a:avLst>
          </a:prstGeom>
          <a:solidFill>
            <a:srgbClr val="E2E8F0"/>
          </a:solidFill>
          <a:ln/>
        </p:spPr>
      </p:sp>
      <p:sp>
        <p:nvSpPr>
          <p:cNvPr id="62" name="Shape 57"/>
          <p:cNvSpPr/>
          <p:nvPr/>
        </p:nvSpPr>
        <p:spPr>
          <a:xfrm>
            <a:off x="4041648" y="3493008"/>
            <a:ext cx="3218688" cy="2231136"/>
          </a:xfrm>
          <a:prstGeom prst="roundRect">
            <a:avLst>
              <a:gd name="adj" fmla="val 2869"/>
            </a:avLst>
          </a:prstGeom>
          <a:solidFill>
            <a:srgbClr val="FFFFFF"/>
          </a:solidFill>
          <a:ln w="10795">
            <a:solidFill>
              <a:srgbClr val="A7F3D0"/>
            </a:solidFill>
            <a:prstDash val="solid"/>
          </a:ln>
        </p:spPr>
      </p:sp>
      <p:sp>
        <p:nvSpPr>
          <p:cNvPr id="63" name="Shape 58"/>
          <p:cNvSpPr/>
          <p:nvPr/>
        </p:nvSpPr>
        <p:spPr>
          <a:xfrm>
            <a:off x="4041648" y="3493008"/>
            <a:ext cx="3218688" cy="219456"/>
          </a:xfrm>
          <a:prstGeom prst="rect">
            <a:avLst/>
          </a:prstGeom>
          <a:solidFill>
            <a:srgbClr val="ECFDF5"/>
          </a:solidFill>
          <a:ln w="7620">
            <a:solidFill>
              <a:srgbClr val="A7F3D0"/>
            </a:solidFill>
            <a:prstDash val="solid"/>
          </a:ln>
        </p:spPr>
      </p:sp>
      <p:sp>
        <p:nvSpPr>
          <p:cNvPr id="64" name="Shape 59"/>
          <p:cNvSpPr/>
          <p:nvPr/>
        </p:nvSpPr>
        <p:spPr>
          <a:xfrm>
            <a:off x="4114800" y="3566160"/>
            <a:ext cx="68580" cy="68580"/>
          </a:xfrm>
          <a:prstGeom prst="ellipse">
            <a:avLst/>
          </a:prstGeom>
          <a:solidFill>
            <a:srgbClr val="EF4444"/>
          </a:solidFill>
          <a:ln/>
        </p:spPr>
      </p:sp>
      <p:sp>
        <p:nvSpPr>
          <p:cNvPr id="65" name="Shape 60"/>
          <p:cNvSpPr/>
          <p:nvPr/>
        </p:nvSpPr>
        <p:spPr>
          <a:xfrm>
            <a:off x="4215384" y="3566160"/>
            <a:ext cx="68580" cy="68580"/>
          </a:xfrm>
          <a:prstGeom prst="ellipse">
            <a:avLst/>
          </a:prstGeom>
          <a:solidFill>
            <a:srgbClr val="F59E0B"/>
          </a:solidFill>
          <a:ln/>
        </p:spPr>
      </p:sp>
      <p:sp>
        <p:nvSpPr>
          <p:cNvPr id="66" name="Shape 61"/>
          <p:cNvSpPr/>
          <p:nvPr/>
        </p:nvSpPr>
        <p:spPr>
          <a:xfrm>
            <a:off x="4315968" y="3566160"/>
            <a:ext cx="68580" cy="68580"/>
          </a:xfrm>
          <a:prstGeom prst="ellipse">
            <a:avLst/>
          </a:prstGeom>
          <a:solidFill>
            <a:srgbClr val="10B981"/>
          </a:solidFill>
          <a:ln/>
        </p:spPr>
      </p:sp>
      <p:sp>
        <p:nvSpPr>
          <p:cNvPr id="67" name="Text 62"/>
          <p:cNvSpPr/>
          <p:nvPr/>
        </p:nvSpPr>
        <p:spPr>
          <a:xfrm>
            <a:off x="4443984" y="3511296"/>
            <a:ext cx="2761488" cy="182880"/>
          </a:xfrm>
          <a:prstGeom prst="rect">
            <a:avLst/>
          </a:prstGeom>
          <a:noFill/>
          <a:ln/>
        </p:spPr>
        <p:txBody>
          <a:bodyPr wrap="square" lIns="0" tIns="0" rIns="0" bIns="0" rtlCol="0" anchor="ctr"/>
          <a:lstStyle/>
          <a:p>
            <a:pPr algn="l" indent="0" marL="0">
              <a:lnSpc>
                <a:spcPct val="100000"/>
              </a:lnSpc>
              <a:buNone/>
            </a:pPr>
            <a:r>
              <a:rPr lang="en-US" sz="640" b="1" dirty="0">
                <a:solidFill>
                  <a:srgbClr val="047857"/>
                </a:solidFill>
                <a:latin typeface="Arial" pitchFamily="34" charset="0"/>
                <a:ea typeface="Arial" pitchFamily="34" charset="-122"/>
                <a:cs typeface="Arial" pitchFamily="34" charset="-120"/>
              </a:rPr>
              <a:t>AFTER: Live Panel #2 + HTTP 403 Spoof Block</a:t>
            </a:r>
            <a:endParaRPr lang="en-US" sz="640" dirty="0"/>
          </a:p>
        </p:txBody>
      </p:sp>
      <p:pic>
        <p:nvPicPr>
          <p:cNvPr id="68" name="Image 3" descr="preencoded.png">    </p:cNvPr>
          <p:cNvPicPr>
            <a:picLocks noChangeAspect="1"/>
          </p:cNvPicPr>
          <p:nvPr/>
        </p:nvPicPr>
        <p:blipFill>
          <a:blip r:embed="rId4"/>
          <a:stretch>
            <a:fillRect/>
          </a:stretch>
        </p:blipFill>
        <p:spPr>
          <a:xfrm>
            <a:off x="4041648" y="3712464"/>
            <a:ext cx="3218688" cy="2011680"/>
          </a:xfrm>
          <a:prstGeom prst="rect">
            <a:avLst/>
          </a:prstGeom>
        </p:spPr>
      </p:pic>
      <p:sp>
        <p:nvSpPr>
          <p:cNvPr id="69" name="Shape 63"/>
          <p:cNvSpPr/>
          <p:nvPr/>
        </p:nvSpPr>
        <p:spPr>
          <a:xfrm>
            <a:off x="4041648" y="3493008"/>
            <a:ext cx="3218688" cy="2231136"/>
          </a:xfrm>
          <a:prstGeom prst="rect">
            <a:avLst/>
          </a:prstGeom>
          <a:ln w="11430">
            <a:solidFill>
              <a:srgbClr val="047857"/>
            </a:solidFill>
            <a:prstDash val="solid"/>
          </a:ln>
        </p:spPr>
      </p:sp>
      <p:sp>
        <p:nvSpPr>
          <p:cNvPr id="70" name="Shape 64"/>
          <p:cNvSpPr/>
          <p:nvPr/>
        </p:nvSpPr>
        <p:spPr>
          <a:xfrm>
            <a:off x="7502652" y="3518611"/>
            <a:ext cx="4272991" cy="2231136"/>
          </a:xfrm>
          <a:prstGeom prst="roundRect">
            <a:avLst>
              <a:gd name="adj" fmla="val 2869"/>
            </a:avLst>
          </a:prstGeom>
          <a:solidFill>
            <a:srgbClr val="E2E8F0"/>
          </a:solidFill>
          <a:ln/>
        </p:spPr>
      </p:sp>
      <p:sp>
        <p:nvSpPr>
          <p:cNvPr id="71" name="Shape 65"/>
          <p:cNvSpPr/>
          <p:nvPr/>
        </p:nvSpPr>
        <p:spPr>
          <a:xfrm>
            <a:off x="7479792" y="3493008"/>
            <a:ext cx="4272991" cy="2231136"/>
          </a:xfrm>
          <a:prstGeom prst="roundRect">
            <a:avLst>
              <a:gd name="adj" fmla="val 2869"/>
            </a:avLst>
          </a:prstGeom>
          <a:solidFill>
            <a:srgbClr val="FFFFFF"/>
          </a:solidFill>
          <a:ln w="10795">
            <a:solidFill>
              <a:srgbClr val="BFDBFE"/>
            </a:solidFill>
            <a:prstDash val="solid"/>
          </a:ln>
        </p:spPr>
      </p:sp>
      <p:sp>
        <p:nvSpPr>
          <p:cNvPr id="72" name="Shape 66"/>
          <p:cNvSpPr/>
          <p:nvPr/>
        </p:nvSpPr>
        <p:spPr>
          <a:xfrm>
            <a:off x="7479792" y="3493008"/>
            <a:ext cx="54864" cy="2231136"/>
          </a:xfrm>
          <a:prstGeom prst="roundRect">
            <a:avLst>
              <a:gd name="adj" fmla="val 33333"/>
            </a:avLst>
          </a:prstGeom>
          <a:solidFill>
            <a:srgbClr val="1D4ED8"/>
          </a:solidFill>
          <a:ln/>
        </p:spPr>
      </p:sp>
      <p:sp>
        <p:nvSpPr>
          <p:cNvPr id="73" name="Shape 67"/>
          <p:cNvSpPr/>
          <p:nvPr/>
        </p:nvSpPr>
        <p:spPr>
          <a:xfrm>
            <a:off x="7626096" y="3584448"/>
            <a:ext cx="3980383" cy="201168"/>
          </a:xfrm>
          <a:prstGeom prst="roundRect">
            <a:avLst>
              <a:gd name="adj" fmla="val 36364"/>
            </a:avLst>
          </a:prstGeom>
          <a:solidFill>
            <a:srgbClr val="EFF6FF"/>
          </a:solidFill>
          <a:ln w="9525">
            <a:solidFill>
              <a:srgbClr val="BFDBFE"/>
            </a:solidFill>
            <a:prstDash val="solid"/>
          </a:ln>
        </p:spPr>
      </p:sp>
      <p:sp>
        <p:nvSpPr>
          <p:cNvPr id="74" name="Text 68"/>
          <p:cNvSpPr/>
          <p:nvPr/>
        </p:nvSpPr>
        <p:spPr>
          <a:xfrm>
            <a:off x="7626096" y="3584448"/>
            <a:ext cx="3980383" cy="201168"/>
          </a:xfrm>
          <a:prstGeom prst="rect">
            <a:avLst/>
          </a:prstGeom>
          <a:noFill/>
          <a:ln/>
        </p:spPr>
        <p:txBody>
          <a:bodyPr wrap="square" lIns="0" tIns="0" rIns="0" bIns="0" rtlCol="0" anchor="ctr"/>
          <a:lstStyle/>
          <a:p>
            <a:pPr algn="ctr" indent="0" marL="0">
              <a:lnSpc>
                <a:spcPct val="105000"/>
              </a:lnSpc>
              <a:buNone/>
            </a:pPr>
            <a:r>
              <a:rPr lang="en-US" sz="620" b="1" dirty="0">
                <a:solidFill>
                  <a:srgbClr val="1D4ED8"/>
                </a:solidFill>
                <a:latin typeface="Arial" pitchFamily="34" charset="0"/>
                <a:ea typeface="Arial" pitchFamily="34" charset="-122"/>
                <a:cs typeface="Arial" pitchFamily="34" charset="-120"/>
              </a:rPr>
              <a:t>SAAS-02  •  GRAFANA ENTERPRISE v11.2.0  •  TARGET IZVODT083Q</a:t>
            </a:r>
            <a:endParaRPr lang="en-US" sz="620" dirty="0"/>
          </a:p>
        </p:txBody>
      </p:sp>
      <p:sp>
        <p:nvSpPr>
          <p:cNvPr id="75" name="Text 69"/>
          <p:cNvSpPr/>
          <p:nvPr/>
        </p:nvSpPr>
        <p:spPr>
          <a:xfrm>
            <a:off x="7626096" y="3822192"/>
            <a:ext cx="3980383" cy="201168"/>
          </a:xfrm>
          <a:prstGeom prst="rect">
            <a:avLst/>
          </a:prstGeom>
          <a:noFill/>
          <a:ln/>
        </p:spPr>
        <p:txBody>
          <a:bodyPr wrap="square" lIns="0" tIns="0" rIns="0" bIns="0" rtlCol="0" anchor="ctr"/>
          <a:lstStyle/>
          <a:p>
            <a:pPr indent="0" marL="0">
              <a:lnSpc>
                <a:spcPct val="105000"/>
              </a:lnSpc>
              <a:buNone/>
            </a:pPr>
            <a:r>
              <a:rPr lang="en-US" sz="920" b="1" dirty="0">
                <a:solidFill>
                  <a:srgbClr val="0F172A"/>
                </a:solidFill>
                <a:latin typeface="Arial" pitchFamily="34" charset="0"/>
                <a:ea typeface="Arial" pitchFamily="34" charset="-122"/>
                <a:cs typeface="Arial" pitchFamily="34" charset="-120"/>
              </a:rPr>
              <a:t>Sigma Cloud BI Tier — Workbook RLS &amp; Spoof Block</a:t>
            </a:r>
            <a:endParaRPr lang="en-US" sz="920" dirty="0"/>
          </a:p>
        </p:txBody>
      </p:sp>
      <p:sp>
        <p:nvSpPr>
          <p:cNvPr id="76" name="Text 70"/>
          <p:cNvSpPr/>
          <p:nvPr/>
        </p:nvSpPr>
        <p:spPr>
          <a:xfrm>
            <a:off x="7626096" y="4032504"/>
            <a:ext cx="3980383" cy="164592"/>
          </a:xfrm>
          <a:prstGeom prst="rect">
            <a:avLst/>
          </a:prstGeom>
          <a:noFill/>
          <a:ln/>
        </p:spPr>
        <p:txBody>
          <a:bodyPr wrap="square" lIns="0" tIns="0" rIns="0" bIns="0" rtlCol="0" anchor="ctr"/>
          <a:lstStyle/>
          <a:p>
            <a:pPr indent="0" marL="0">
              <a:lnSpc>
                <a:spcPct val="100000"/>
              </a:lnSpc>
              <a:buNone/>
            </a:pPr>
            <a:r>
              <a:rPr lang="en-US" sz="650" b="1" dirty="0">
                <a:solidFill>
                  <a:srgbClr val="1D4ED8"/>
                </a:solidFill>
                <a:latin typeface="Courier New" pitchFamily="34" charset="0"/>
                <a:ea typeface="Courier New" pitchFamily="34" charset="-122"/>
                <a:cs typeface="Courier New" pitchFamily="34" charset="-120"/>
              </a:rPr>
              <a:t>MCP: eval_sigma_workbook_rls  •  grafana-enterprise:11.2.0</a:t>
            </a:r>
            <a:endParaRPr lang="en-US" sz="650" dirty="0"/>
          </a:p>
        </p:txBody>
      </p:sp>
      <p:sp>
        <p:nvSpPr>
          <p:cNvPr id="77" name="Text 71"/>
          <p:cNvSpPr/>
          <p:nvPr/>
        </p:nvSpPr>
        <p:spPr>
          <a:xfrm>
            <a:off x="7626096" y="4233672"/>
            <a:ext cx="3980383" cy="1133856"/>
          </a:xfrm>
          <a:prstGeom prst="rect">
            <a:avLst/>
          </a:prstGeom>
          <a:noFill/>
          <a:ln/>
        </p:spPr>
        <p:txBody>
          <a:bodyPr wrap="square" lIns="0" tIns="0" rIns="0" bIns="0" rtlCol="0" anchor="t"/>
          <a:lstStyle/>
          <a:p>
            <a:pPr indent="0" marL="0">
              <a:lnSpc>
                <a:spcPct val="110000"/>
              </a:lnSpc>
              <a:buNone/>
            </a:pPr>
            <a:r>
              <a:rPr lang="en-US" sz="720" b="1" dirty="0">
                <a:solidFill>
                  <a:srgbClr val="B91C1C"/>
                </a:solidFill>
                <a:latin typeface="Arial" pitchFamily="34" charset="0"/>
                <a:ea typeface="Arial" pitchFamily="34" charset="-122"/>
                <a:cs typeface="Arial" pitchFamily="34" charset="-120"/>
              </a:rPr>
              <a:t>• BEFORE: </a:t>
            </a:r>
            <a:pPr indent="0" marL="0">
              <a:lnSpc>
                <a:spcPct val="110000"/>
              </a:lnSpc>
              <a:buNone/>
            </a:pPr>
            <a:r>
              <a:rPr lang="en-US" sz="720" dirty="0">
                <a:solidFill>
                  <a:srgbClr val="334155"/>
                </a:solidFill>
                <a:latin typeface="Arial" pitchFamily="34" charset="0"/>
                <a:ea typeface="Arial" pitchFamily="34" charset="-122"/>
                <a:cs typeface="Arial" pitchFamily="34" charset="-120"/>
              </a:rPr>
              <a:t>Dashboard finvault-sre-wb (orgId=1) shows only baseline Panel #1 prior to live Hop 5 workbook evaluation and S3 audit write-back.
</a:t>
            </a:r>
            <a:pPr indent="0" marL="0">
              <a:lnSpc>
                <a:spcPct val="110000"/>
              </a:lnSpc>
              <a:buNone/>
            </a:pPr>
            <a:r>
              <a:rPr lang="en-US" sz="720" b="1" dirty="0">
                <a:solidFill>
                  <a:srgbClr val="047857"/>
                </a:solidFill>
                <a:latin typeface="Arial" pitchFamily="34" charset="0"/>
                <a:ea typeface="Arial" pitchFamily="34" charset="-122"/>
                <a:cs typeface="Arial" pitchFamily="34" charset="-120"/>
              </a:rPr>
              <a:t>• AFTER: </a:t>
            </a:r>
            <a:pPr indent="0" marL="0">
              <a:lnSpc>
                <a:spcPct val="110000"/>
              </a:lnSpc>
              <a:buNone/>
            </a:pPr>
            <a:r>
              <a:rPr lang="en-US" sz="720" dirty="0">
                <a:solidFill>
                  <a:srgbClr val="0F172A"/>
                </a:solidFill>
                <a:latin typeface="Arial" pitchFamily="34" charset="0"/>
                <a:ea typeface="Arial" pitchFamily="34" charset="-122"/>
                <a:cs typeface="Arial" pitchFamily="34" charset="-120"/>
              </a:rPr>
              <a:t>Agent evaluates ua_tenant_id = finvault and appends Panel #2 via POST /api/dashboards/db proving BLOCKED HTTP 403 on cross-org spoof.</a:t>
            </a:r>
            <a:endParaRPr lang="en-US" sz="720" dirty="0"/>
          </a:p>
        </p:txBody>
      </p:sp>
      <p:sp>
        <p:nvSpPr>
          <p:cNvPr id="78" name="Shape 72"/>
          <p:cNvSpPr/>
          <p:nvPr/>
        </p:nvSpPr>
        <p:spPr>
          <a:xfrm>
            <a:off x="7626096" y="5431536"/>
            <a:ext cx="3980383" cy="201168"/>
          </a:xfrm>
          <a:prstGeom prst="roundRect">
            <a:avLst>
              <a:gd name="adj" fmla="val 36364"/>
            </a:avLst>
          </a:prstGeom>
          <a:solidFill>
            <a:srgbClr val="F1F5F9"/>
          </a:solidFill>
          <a:ln w="9525">
            <a:solidFill>
              <a:srgbClr val="CBD5E1"/>
            </a:solidFill>
            <a:prstDash val="solid"/>
          </a:ln>
        </p:spPr>
      </p:sp>
      <p:sp>
        <p:nvSpPr>
          <p:cNvPr id="79" name="Text 73"/>
          <p:cNvSpPr/>
          <p:nvPr/>
        </p:nvSpPr>
        <p:spPr>
          <a:xfrm>
            <a:off x="7626096" y="5431536"/>
            <a:ext cx="3980383" cy="201168"/>
          </a:xfrm>
          <a:prstGeom prst="rect">
            <a:avLst/>
          </a:prstGeom>
          <a:noFill/>
          <a:ln/>
        </p:spPr>
        <p:txBody>
          <a:bodyPr wrap="square" lIns="0" tIns="0" rIns="0" bIns="0" rtlCol="0" anchor="ctr"/>
          <a:lstStyle/>
          <a:p>
            <a:pPr algn="ctr" indent="0" marL="0">
              <a:lnSpc>
                <a:spcPct val="105000"/>
              </a:lnSpc>
              <a:buNone/>
            </a:pPr>
            <a:r>
              <a:rPr lang="en-US" sz="610" b="1" dirty="0">
                <a:solidFill>
                  <a:srgbClr val="475569"/>
                </a:solidFill>
                <a:latin typeface="Arial" pitchFamily="34" charset="0"/>
                <a:ea typeface="Arial" pitchFamily="34" charset="-122"/>
                <a:cs typeface="Arial" pitchFamily="34" charset="-120"/>
              </a:rPr>
              <a:t>SHA-256: fe7451dc (Before) → 3957e3f7 (After)  •  Pair 02/10</a:t>
            </a:r>
            <a:endParaRPr lang="en-US" sz="610" dirty="0"/>
          </a:p>
        </p:txBody>
      </p:sp>
      <p:sp>
        <p:nvSpPr>
          <p:cNvPr id="80" name="Shape 74"/>
          <p:cNvSpPr/>
          <p:nvPr/>
        </p:nvSpPr>
        <p:spPr>
          <a:xfrm>
            <a:off x="438912" y="5943600"/>
            <a:ext cx="11313871" cy="420624"/>
          </a:xfrm>
          <a:prstGeom prst="roundRect">
            <a:avLst>
              <a:gd name="adj" fmla="val 13043"/>
            </a:avLst>
          </a:prstGeom>
          <a:solidFill>
            <a:srgbClr val="ECFDF5"/>
          </a:solidFill>
          <a:ln w="11430">
            <a:solidFill>
              <a:srgbClr val="A7F3D0"/>
            </a:solidFill>
            <a:prstDash val="solid"/>
          </a:ln>
        </p:spPr>
      </p:sp>
      <p:sp>
        <p:nvSpPr>
          <p:cNvPr id="81" name="Shape 75"/>
          <p:cNvSpPr/>
          <p:nvPr/>
        </p:nvSpPr>
        <p:spPr>
          <a:xfrm>
            <a:off x="530352" y="6025896"/>
            <a:ext cx="1353312" cy="256032"/>
          </a:xfrm>
          <a:prstGeom prst="roundRect">
            <a:avLst>
              <a:gd name="adj" fmla="val 17857"/>
            </a:avLst>
          </a:prstGeom>
          <a:solidFill>
            <a:srgbClr val="047857"/>
          </a:solidFill>
          <a:ln/>
        </p:spPr>
      </p:sp>
      <p:sp>
        <p:nvSpPr>
          <p:cNvPr id="82" name="Text 76"/>
          <p:cNvSpPr/>
          <p:nvPr/>
        </p:nvSpPr>
        <p:spPr>
          <a:xfrm>
            <a:off x="530352" y="6025896"/>
            <a:ext cx="1353312" cy="256032"/>
          </a:xfrm>
          <a:prstGeom prst="rect">
            <a:avLst/>
          </a:prstGeom>
          <a:noFill/>
          <a:ln/>
        </p:spPr>
        <p:txBody>
          <a:bodyPr wrap="square" lIns="0" tIns="0" rIns="0" bIns="0" rtlCol="0" anchor="ctr"/>
          <a:lstStyle/>
          <a:p>
            <a:pPr algn="ctr" indent="0" marL="0">
              <a:lnSpc>
                <a:spcPct val="105000"/>
              </a:lnSpc>
              <a:buNone/>
            </a:pPr>
            <a:r>
              <a:rPr lang="en-US" sz="650" b="1" dirty="0">
                <a:solidFill>
                  <a:srgbClr val="FFFFFF"/>
                </a:solidFill>
                <a:latin typeface="Arial" pitchFamily="34" charset="0"/>
                <a:ea typeface="Arial" pitchFamily="34" charset="-122"/>
                <a:cs typeface="Arial" pitchFamily="34" charset="-120"/>
              </a:rPr>
              <a:t>BI TIER VERIFIED</a:t>
            </a:r>
            <a:endParaRPr lang="en-US" sz="650" dirty="0"/>
          </a:p>
        </p:txBody>
      </p:sp>
      <p:sp>
        <p:nvSpPr>
          <p:cNvPr id="83" name="Text 77"/>
          <p:cNvSpPr/>
          <p:nvPr/>
        </p:nvSpPr>
        <p:spPr>
          <a:xfrm>
            <a:off x="1993392" y="5980176"/>
            <a:ext cx="7555687" cy="347472"/>
          </a:xfrm>
          <a:prstGeom prst="rect">
            <a:avLst/>
          </a:prstGeom>
          <a:noFill/>
          <a:ln/>
        </p:spPr>
        <p:txBody>
          <a:bodyPr wrap="square" lIns="0" tIns="0" rIns="0" bIns="0" rtlCol="0" anchor="ctr"/>
          <a:lstStyle/>
          <a:p>
            <a:pPr algn="l" indent="0" marL="0">
              <a:lnSpc>
                <a:spcPct val="108000"/>
              </a:lnSpc>
              <a:buNone/>
            </a:pPr>
            <a:r>
              <a:rPr lang="en-US" sz="860" b="1" dirty="0">
                <a:solidFill>
                  <a:srgbClr val="0F172A"/>
                </a:solidFill>
                <a:latin typeface="Arial" pitchFamily="34" charset="0"/>
                <a:ea typeface="Arial" pitchFamily="34" charset="-122"/>
                <a:cs typeface="Arial" pitchFamily="34" charset="-120"/>
              </a:rPr>
              <a:t>Analytics tools never rely on LLM prompt politeness: database session GUCs strip unauthorized tenant rows and record cryptographic spoof-block receipts.</a:t>
            </a:r>
            <a:endParaRPr lang="en-US" sz="860" dirty="0"/>
          </a:p>
        </p:txBody>
      </p:sp>
      <p:sp>
        <p:nvSpPr>
          <p:cNvPr id="84" name="Shape 78"/>
          <p:cNvSpPr/>
          <p:nvPr/>
        </p:nvSpPr>
        <p:spPr>
          <a:xfrm>
            <a:off x="9695383" y="6025896"/>
            <a:ext cx="1965960" cy="256032"/>
          </a:xfrm>
          <a:prstGeom prst="roundRect">
            <a:avLst>
              <a:gd name="adj" fmla="val 17857"/>
            </a:avLst>
          </a:prstGeom>
          <a:solidFill>
            <a:srgbClr val="FFFFFF"/>
          </a:solidFill>
          <a:ln w="10795">
            <a:solidFill>
              <a:srgbClr val="047857"/>
            </a:solidFill>
            <a:prstDash val="solid"/>
          </a:ln>
        </p:spPr>
      </p:sp>
      <p:sp>
        <p:nvSpPr>
          <p:cNvPr id="85" name="Text 79"/>
          <p:cNvSpPr/>
          <p:nvPr/>
        </p:nvSpPr>
        <p:spPr>
          <a:xfrm>
            <a:off x="9695383" y="6025896"/>
            <a:ext cx="1965960" cy="256032"/>
          </a:xfrm>
          <a:prstGeom prst="rect">
            <a:avLst/>
          </a:prstGeom>
          <a:noFill/>
          <a:ln/>
        </p:spPr>
        <p:txBody>
          <a:bodyPr wrap="square" lIns="0" tIns="0" rIns="0" bIns="0" rtlCol="0" anchor="ctr"/>
          <a:lstStyle/>
          <a:p>
            <a:pPr algn="ctr" indent="0" marL="0">
              <a:lnSpc>
                <a:spcPct val="105000"/>
              </a:lnSpc>
              <a:buNone/>
            </a:pPr>
            <a:r>
              <a:rPr lang="en-US" sz="740" b="1" dirty="0">
                <a:solidFill>
                  <a:srgbClr val="047857"/>
                </a:solidFill>
                <a:latin typeface="Arial" pitchFamily="34" charset="0"/>
                <a:ea typeface="Arial" pitchFamily="34" charset="-122"/>
                <a:cs typeface="Arial" pitchFamily="34" charset="-120"/>
              </a:rPr>
              <a:t>Pairs 01–02 / 10 Verified</a:t>
            </a:r>
            <a:endParaRPr lang="en-US" sz="74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1148"/>
          </a:xfrm>
          <a:prstGeom prst="rect">
            <a:avLst/>
          </a:prstGeom>
          <a:solidFill>
            <a:srgbClr val="047857"/>
          </a:solidFill>
          <a:ln/>
        </p:spPr>
      </p:sp>
      <p:sp>
        <p:nvSpPr>
          <p:cNvPr id="3" name="Shape 1"/>
          <p:cNvSpPr/>
          <p:nvPr/>
        </p:nvSpPr>
        <p:spPr>
          <a:xfrm>
            <a:off x="438912" y="192024"/>
            <a:ext cx="59436" cy="621792"/>
          </a:xfrm>
          <a:prstGeom prst="roundRect">
            <a:avLst>
              <a:gd name="adj" fmla="val 46154"/>
            </a:avLst>
          </a:prstGeom>
          <a:solidFill>
            <a:srgbClr val="047857"/>
          </a:solidFill>
          <a:ln/>
        </p:spPr>
      </p:sp>
      <p:sp>
        <p:nvSpPr>
          <p:cNvPr id="4" name="Text 2"/>
          <p:cNvSpPr/>
          <p:nvPr/>
        </p:nvSpPr>
        <p:spPr>
          <a:xfrm>
            <a:off x="576072" y="173736"/>
            <a:ext cx="4389120" cy="146304"/>
          </a:xfrm>
          <a:prstGeom prst="rect">
            <a:avLst/>
          </a:prstGeom>
          <a:noFill/>
          <a:ln/>
        </p:spPr>
        <p:txBody>
          <a:bodyPr wrap="square" lIns="0" tIns="0" rIns="0" bIns="0" rtlCol="0" anchor="ctr"/>
          <a:lstStyle/>
          <a:p>
            <a:pPr algn="l" indent="0" marL="0">
              <a:lnSpc>
                <a:spcPct val="105000"/>
              </a:lnSpc>
              <a:buNone/>
            </a:pPr>
            <a:r>
              <a:rPr lang="en-US" sz="750" b="1" spc="110" kern="0" dirty="0">
                <a:solidFill>
                  <a:srgbClr val="047857"/>
                </a:solidFill>
                <a:latin typeface="Arial" pitchFamily="34" charset="0"/>
                <a:ea typeface="Arial" pitchFamily="34" charset="-122"/>
                <a:cs typeface="Arial" pitchFamily="34" charset="-120"/>
              </a:rPr>
              <a:t>06 / EMPIRICAL PROOFS</a:t>
            </a:r>
            <a:endParaRPr lang="en-US" sz="750" dirty="0"/>
          </a:p>
        </p:txBody>
      </p:sp>
      <p:sp>
        <p:nvSpPr>
          <p:cNvPr id="5" name="Shape 3"/>
          <p:cNvSpPr/>
          <p:nvPr/>
        </p:nvSpPr>
        <p:spPr>
          <a:xfrm>
            <a:off x="8183880" y="219456"/>
            <a:ext cx="228600" cy="59436"/>
          </a:xfrm>
          <a:prstGeom prst="roundRect">
            <a:avLst>
              <a:gd name="adj" fmla="val 46154"/>
            </a:avLst>
          </a:prstGeom>
          <a:solidFill>
            <a:srgbClr val="94A3B8"/>
          </a:solidFill>
          <a:ln/>
        </p:spPr>
      </p:sp>
      <p:sp>
        <p:nvSpPr>
          <p:cNvPr id="6" name="Shape 4"/>
          <p:cNvSpPr/>
          <p:nvPr/>
        </p:nvSpPr>
        <p:spPr>
          <a:xfrm>
            <a:off x="8453628" y="219456"/>
            <a:ext cx="228600" cy="59436"/>
          </a:xfrm>
          <a:prstGeom prst="roundRect">
            <a:avLst>
              <a:gd name="adj" fmla="val 46154"/>
            </a:avLst>
          </a:prstGeom>
          <a:solidFill>
            <a:srgbClr val="94A3B8"/>
          </a:solidFill>
          <a:ln/>
        </p:spPr>
      </p:sp>
      <p:sp>
        <p:nvSpPr>
          <p:cNvPr id="7" name="Shape 5"/>
          <p:cNvSpPr/>
          <p:nvPr/>
        </p:nvSpPr>
        <p:spPr>
          <a:xfrm>
            <a:off x="8723376" y="219456"/>
            <a:ext cx="228600" cy="59436"/>
          </a:xfrm>
          <a:prstGeom prst="roundRect">
            <a:avLst>
              <a:gd name="adj" fmla="val 46154"/>
            </a:avLst>
          </a:prstGeom>
          <a:solidFill>
            <a:srgbClr val="94A3B8"/>
          </a:solidFill>
          <a:ln/>
        </p:spPr>
      </p:sp>
      <p:sp>
        <p:nvSpPr>
          <p:cNvPr id="8" name="Shape 6"/>
          <p:cNvSpPr/>
          <p:nvPr/>
        </p:nvSpPr>
        <p:spPr>
          <a:xfrm>
            <a:off x="8993124" y="219456"/>
            <a:ext cx="228600" cy="59436"/>
          </a:xfrm>
          <a:prstGeom prst="roundRect">
            <a:avLst>
              <a:gd name="adj" fmla="val 46154"/>
            </a:avLst>
          </a:prstGeom>
          <a:solidFill>
            <a:srgbClr val="94A3B8"/>
          </a:solidFill>
          <a:ln/>
        </p:spPr>
      </p:sp>
      <p:sp>
        <p:nvSpPr>
          <p:cNvPr id="9" name="Shape 7"/>
          <p:cNvSpPr/>
          <p:nvPr/>
        </p:nvSpPr>
        <p:spPr>
          <a:xfrm>
            <a:off x="9262872" y="219456"/>
            <a:ext cx="228600" cy="59436"/>
          </a:xfrm>
          <a:prstGeom prst="roundRect">
            <a:avLst>
              <a:gd name="adj" fmla="val 46154"/>
            </a:avLst>
          </a:prstGeom>
          <a:solidFill>
            <a:srgbClr val="94A3B8"/>
          </a:solidFill>
          <a:ln/>
        </p:spPr>
      </p:sp>
      <p:sp>
        <p:nvSpPr>
          <p:cNvPr id="10" name="Shape 8"/>
          <p:cNvSpPr/>
          <p:nvPr/>
        </p:nvSpPr>
        <p:spPr>
          <a:xfrm>
            <a:off x="9532620" y="219456"/>
            <a:ext cx="228600" cy="59436"/>
          </a:xfrm>
          <a:prstGeom prst="roundRect">
            <a:avLst>
              <a:gd name="adj" fmla="val 46154"/>
            </a:avLst>
          </a:prstGeom>
          <a:solidFill>
            <a:srgbClr val="047857"/>
          </a:solidFill>
          <a:ln/>
        </p:spPr>
      </p:sp>
      <p:sp>
        <p:nvSpPr>
          <p:cNvPr id="11" name="Shape 9"/>
          <p:cNvSpPr/>
          <p:nvPr/>
        </p:nvSpPr>
        <p:spPr>
          <a:xfrm>
            <a:off x="9802368" y="219456"/>
            <a:ext cx="228600" cy="59436"/>
          </a:xfrm>
          <a:prstGeom prst="roundRect">
            <a:avLst>
              <a:gd name="adj" fmla="val 46154"/>
            </a:avLst>
          </a:prstGeom>
          <a:solidFill>
            <a:srgbClr val="E2E8F0"/>
          </a:solidFill>
          <a:ln/>
        </p:spPr>
      </p:sp>
      <p:sp>
        <p:nvSpPr>
          <p:cNvPr id="12" name="Shape 10"/>
          <p:cNvSpPr/>
          <p:nvPr/>
        </p:nvSpPr>
        <p:spPr>
          <a:xfrm>
            <a:off x="10131552" y="146304"/>
            <a:ext cx="1621231" cy="192024"/>
          </a:xfrm>
          <a:prstGeom prst="roundRect">
            <a:avLst>
              <a:gd name="adj" fmla="val 23810"/>
            </a:avLst>
          </a:prstGeom>
          <a:solidFill>
            <a:srgbClr val="FFFFFF"/>
          </a:solidFill>
          <a:ln w="9525">
            <a:solidFill>
              <a:srgbClr val="CBD5E1"/>
            </a:solidFill>
            <a:prstDash val="solid"/>
          </a:ln>
        </p:spPr>
      </p:sp>
      <p:sp>
        <p:nvSpPr>
          <p:cNvPr id="13" name="Text 11"/>
          <p:cNvSpPr/>
          <p:nvPr/>
        </p:nvSpPr>
        <p:spPr>
          <a:xfrm>
            <a:off x="10131552" y="146304"/>
            <a:ext cx="1621231" cy="192024"/>
          </a:xfrm>
          <a:prstGeom prst="rect">
            <a:avLst/>
          </a:prstGeom>
          <a:noFill/>
          <a:ln/>
        </p:spPr>
        <p:txBody>
          <a:bodyPr wrap="square" lIns="0" tIns="0" rIns="0" bIns="0" rtlCol="0" anchor="ctr"/>
          <a:lstStyle/>
          <a:p>
            <a:pPr algn="ctr" indent="0" marL="0">
              <a:lnSpc>
                <a:spcPct val="105000"/>
              </a:lnSpc>
              <a:buNone/>
            </a:pPr>
            <a:r>
              <a:rPr lang="en-US" sz="680" b="1" spc="60" kern="0" dirty="0">
                <a:solidFill>
                  <a:srgbClr val="047857"/>
                </a:solidFill>
                <a:latin typeface="Arial" pitchFamily="34" charset="0"/>
                <a:ea typeface="Arial" pitchFamily="34" charset="-122"/>
                <a:cs typeface="Arial" pitchFamily="34" charset="-120"/>
              </a:rPr>
              <a:t>RETINA UI PROOF • 2 OF 5</a:t>
            </a:r>
            <a:endParaRPr lang="en-US" sz="680" dirty="0"/>
          </a:p>
        </p:txBody>
      </p:sp>
      <p:sp>
        <p:nvSpPr>
          <p:cNvPr id="14" name="Text 12"/>
          <p:cNvSpPr/>
          <p:nvPr/>
        </p:nvSpPr>
        <p:spPr>
          <a:xfrm>
            <a:off x="576072" y="338328"/>
            <a:ext cx="11176711" cy="310896"/>
          </a:xfrm>
          <a:prstGeom prst="rect">
            <a:avLst/>
          </a:prstGeom>
          <a:noFill/>
          <a:ln/>
        </p:spPr>
        <p:txBody>
          <a:bodyPr wrap="square" lIns="0" tIns="0" rIns="0" bIns="0" rtlCol="0" anchor="ctr"/>
          <a:lstStyle/>
          <a:p>
            <a:pPr algn="l" indent="0" marL="0">
              <a:lnSpc>
                <a:spcPct val="104000"/>
              </a:lnSpc>
              <a:buNone/>
            </a:pPr>
            <a:r>
              <a:rPr lang="en-US" sz="1750" b="1" dirty="0">
                <a:solidFill>
                  <a:srgbClr val="0F172A"/>
                </a:solidFill>
                <a:latin typeface="Arial" pitchFamily="34" charset="0"/>
                <a:ea typeface="Arial" pitchFamily="34" charset="-122"/>
                <a:cs typeface="Arial" pitchFamily="34" charset="-120"/>
              </a:rPr>
              <a:t>Genuine 3P Before → After (2/5): Distributed SQL &amp; Warehouse CMEK</a:t>
            </a:r>
            <a:endParaRPr lang="en-US" sz="1750" dirty="0"/>
          </a:p>
        </p:txBody>
      </p:sp>
      <p:sp>
        <p:nvSpPr>
          <p:cNvPr id="15" name="Text 13"/>
          <p:cNvSpPr/>
          <p:nvPr/>
        </p:nvSpPr>
        <p:spPr>
          <a:xfrm>
            <a:off x="576072" y="658368"/>
            <a:ext cx="11176711" cy="192024"/>
          </a:xfrm>
          <a:prstGeom prst="rect">
            <a:avLst/>
          </a:prstGeom>
          <a:noFill/>
          <a:ln/>
        </p:spPr>
        <p:txBody>
          <a:bodyPr wrap="square" lIns="0" tIns="0" rIns="0" bIns="0" rtlCol="0" anchor="ctr"/>
          <a:lstStyle/>
          <a:p>
            <a:pPr algn="l" indent="0" marL="0">
              <a:lnSpc>
                <a:spcPct val="104000"/>
              </a:lnSpc>
              <a:buNone/>
            </a:pPr>
            <a:r>
              <a:rPr lang="en-US" sz="900" dirty="0">
                <a:solidFill>
                  <a:srgbClr val="64748B"/>
                </a:solidFill>
                <a:latin typeface="Arial" pitchFamily="34" charset="0"/>
                <a:ea typeface="Arial" pitchFamily="34" charset="-122"/>
                <a:cs typeface="Arial" pitchFamily="34" charset="-120"/>
              </a:rPr>
              <a:t>Unstretched 2880×1800 captures from live Trino v440 (Databricks Unity Catalog tier) and ClickHouse v24.8 (Snowflake Cortex tier).</a:t>
            </a:r>
            <a:endParaRPr lang="en-US" sz="900" dirty="0"/>
          </a:p>
        </p:txBody>
      </p:sp>
      <p:sp>
        <p:nvSpPr>
          <p:cNvPr id="16" name="Shape 14"/>
          <p:cNvSpPr/>
          <p:nvPr/>
        </p:nvSpPr>
        <p:spPr>
          <a:xfrm>
            <a:off x="438912" y="914400"/>
            <a:ext cx="11313871" cy="0"/>
          </a:xfrm>
          <a:prstGeom prst="line">
            <a:avLst/>
          </a:prstGeom>
          <a:noFill/>
          <a:ln w="10795">
            <a:solidFill>
              <a:srgbClr val="E2E8F0"/>
            </a:solidFill>
            <a:prstDash val="solid"/>
          </a:ln>
        </p:spPr>
      </p:sp>
      <p:sp>
        <p:nvSpPr>
          <p:cNvPr id="17" name="Shape 15"/>
          <p:cNvSpPr/>
          <p:nvPr/>
        </p:nvSpPr>
        <p:spPr>
          <a:xfrm>
            <a:off x="438912" y="6455664"/>
            <a:ext cx="11313871" cy="0"/>
          </a:xfrm>
          <a:prstGeom prst="line">
            <a:avLst/>
          </a:prstGeom>
          <a:noFill/>
          <a:ln w="9525">
            <a:solidFill>
              <a:srgbClr val="E2E8F0"/>
            </a:solidFill>
            <a:prstDash val="solid"/>
          </a:ln>
        </p:spPr>
      </p:sp>
      <p:sp>
        <p:nvSpPr>
          <p:cNvPr id="18" name="Text 16"/>
          <p:cNvSpPr/>
          <p:nvPr/>
        </p:nvSpPr>
        <p:spPr>
          <a:xfrm>
            <a:off x="438912" y="6501384"/>
            <a:ext cx="5852160" cy="192024"/>
          </a:xfrm>
          <a:prstGeom prst="rect">
            <a:avLst/>
          </a:prstGeom>
          <a:noFill/>
          <a:ln/>
        </p:spPr>
        <p:txBody>
          <a:bodyPr wrap="square" lIns="0" tIns="0" rIns="0" bIns="0" rtlCol="0" anchor="ctr"/>
          <a:lstStyle/>
          <a:p>
            <a:pPr algn="l" indent="0" marL="0">
              <a:lnSpc>
                <a:spcPct val="105000"/>
              </a:lnSpc>
              <a:buNone/>
            </a:pPr>
            <a:r>
              <a:rPr lang="en-US" sz="680" b="1" spc="40" kern="0" dirty="0">
                <a:solidFill>
                  <a:srgbClr val="64748B"/>
                </a:solidFill>
                <a:latin typeface="Arial" pitchFamily="34" charset="0"/>
                <a:ea typeface="Arial" pitchFamily="34" charset="-122"/>
                <a:cs typeface="Arial" pitchFamily="34" charset="-120"/>
              </a:rPr>
              <a:t>GOOGLE CLOUD AI ARCHITECTURE  •  BLOG 1: MULTI-TENANT AGENTIC AI TAXONOMY &amp; 5-HOP BASELINE</a:t>
            </a:r>
            <a:endParaRPr lang="en-US" sz="680" dirty="0"/>
          </a:p>
        </p:txBody>
      </p:sp>
      <p:sp>
        <p:nvSpPr>
          <p:cNvPr id="19" name="Text 17"/>
          <p:cNvSpPr/>
          <p:nvPr/>
        </p:nvSpPr>
        <p:spPr>
          <a:xfrm>
            <a:off x="6355080" y="6501384"/>
            <a:ext cx="4206240" cy="192024"/>
          </a:xfrm>
          <a:prstGeom prst="rect">
            <a:avLst/>
          </a:prstGeom>
          <a:noFill/>
          <a:ln/>
        </p:spPr>
        <p:txBody>
          <a:bodyPr wrap="square" lIns="0" tIns="0" rIns="0" bIns="0" rtlCol="0" anchor="ctr"/>
          <a:lstStyle/>
          <a:p>
            <a:pPr algn="r" indent="0" marL="0">
              <a:lnSpc>
                <a:spcPct val="105000"/>
              </a:lnSpc>
              <a:buNone/>
            </a:pPr>
            <a:r>
              <a:rPr lang="en-US" sz="680" dirty="0">
                <a:solidFill>
                  <a:srgbClr val="64748B"/>
                </a:solidFill>
                <a:latin typeface="Arial" pitchFamily="34" charset="0"/>
                <a:ea typeface="Arial" pitchFamily="34" charset="-122"/>
                <a:cs typeface="Arial" pitchFamily="34" charset="-120"/>
              </a:rPr>
              <a:t>docs/genuine_3p_before_after_provenance_receipt.json  •  Unstretched 2880×1800 (1.60:1) Retina</a:t>
            </a:r>
            <a:endParaRPr lang="en-US" sz="680" dirty="0"/>
          </a:p>
        </p:txBody>
      </p:sp>
      <p:sp>
        <p:nvSpPr>
          <p:cNvPr id="20" name="Shape 18"/>
          <p:cNvSpPr/>
          <p:nvPr/>
        </p:nvSpPr>
        <p:spPr>
          <a:xfrm>
            <a:off x="11002975" y="6501384"/>
            <a:ext cx="749808" cy="192024"/>
          </a:xfrm>
          <a:prstGeom prst="roundRect">
            <a:avLst>
              <a:gd name="adj" fmla="val 19048"/>
            </a:avLst>
          </a:prstGeom>
          <a:solidFill>
            <a:srgbClr val="F1F5F9"/>
          </a:solidFill>
          <a:ln w="7620">
            <a:solidFill>
              <a:srgbClr val="E2E8F0"/>
            </a:solidFill>
            <a:prstDash val="solid"/>
          </a:ln>
        </p:spPr>
      </p:sp>
      <p:sp>
        <p:nvSpPr>
          <p:cNvPr id="21" name="Text 19"/>
          <p:cNvSpPr/>
          <p:nvPr/>
        </p:nvSpPr>
        <p:spPr>
          <a:xfrm>
            <a:off x="11002975" y="6501384"/>
            <a:ext cx="749808" cy="192024"/>
          </a:xfrm>
          <a:prstGeom prst="rect">
            <a:avLst/>
          </a:prstGeom>
          <a:noFill/>
          <a:ln/>
        </p:spPr>
        <p:txBody>
          <a:bodyPr wrap="square" lIns="0" tIns="0" rIns="0" bIns="0" rtlCol="0" anchor="ctr"/>
          <a:lstStyle/>
          <a:p>
            <a:pPr algn="ctr" indent="0" marL="0">
              <a:lnSpc>
                <a:spcPct val="105000"/>
              </a:lnSpc>
              <a:buNone/>
            </a:pPr>
            <a:r>
              <a:rPr lang="en-US" sz="700" b="1" dirty="0">
                <a:solidFill>
                  <a:srgbClr val="334155"/>
                </a:solidFill>
                <a:latin typeface="Arial" pitchFamily="34" charset="0"/>
                <a:ea typeface="Arial" pitchFamily="34" charset="-122"/>
                <a:cs typeface="Arial" pitchFamily="34" charset="-120"/>
              </a:rPr>
              <a:t>18 / 23</a:t>
            </a:r>
            <a:endParaRPr lang="en-US" sz="700" dirty="0"/>
          </a:p>
        </p:txBody>
      </p:sp>
      <p:sp>
        <p:nvSpPr>
          <p:cNvPr id="22" name="Shape 20"/>
          <p:cNvSpPr/>
          <p:nvPr/>
        </p:nvSpPr>
        <p:spPr>
          <a:xfrm>
            <a:off x="461772" y="1068019"/>
            <a:ext cx="3218688" cy="2231136"/>
          </a:xfrm>
          <a:prstGeom prst="roundRect">
            <a:avLst>
              <a:gd name="adj" fmla="val 2869"/>
            </a:avLst>
          </a:prstGeom>
          <a:solidFill>
            <a:srgbClr val="E2E8F0"/>
          </a:solidFill>
          <a:ln/>
        </p:spPr>
      </p:sp>
      <p:sp>
        <p:nvSpPr>
          <p:cNvPr id="23" name="Shape 21"/>
          <p:cNvSpPr/>
          <p:nvPr/>
        </p:nvSpPr>
        <p:spPr>
          <a:xfrm>
            <a:off x="438912" y="1042416"/>
            <a:ext cx="3218688" cy="2231136"/>
          </a:xfrm>
          <a:prstGeom prst="roundRect">
            <a:avLst>
              <a:gd name="adj" fmla="val 2869"/>
            </a:avLst>
          </a:prstGeom>
          <a:solidFill>
            <a:srgbClr val="FFFFFF"/>
          </a:solidFill>
          <a:ln w="10795">
            <a:solidFill>
              <a:srgbClr val="FECACA"/>
            </a:solidFill>
            <a:prstDash val="solid"/>
          </a:ln>
        </p:spPr>
      </p:sp>
      <p:sp>
        <p:nvSpPr>
          <p:cNvPr id="24" name="Shape 22"/>
          <p:cNvSpPr/>
          <p:nvPr/>
        </p:nvSpPr>
        <p:spPr>
          <a:xfrm>
            <a:off x="438912" y="1042416"/>
            <a:ext cx="3218688" cy="219456"/>
          </a:xfrm>
          <a:prstGeom prst="rect">
            <a:avLst/>
          </a:prstGeom>
          <a:solidFill>
            <a:srgbClr val="FEF2F2"/>
          </a:solidFill>
          <a:ln w="7620">
            <a:solidFill>
              <a:srgbClr val="FECACA"/>
            </a:solidFill>
            <a:prstDash val="solid"/>
          </a:ln>
        </p:spPr>
      </p:sp>
      <p:sp>
        <p:nvSpPr>
          <p:cNvPr id="25" name="Shape 23"/>
          <p:cNvSpPr/>
          <p:nvPr/>
        </p:nvSpPr>
        <p:spPr>
          <a:xfrm>
            <a:off x="512064" y="1115568"/>
            <a:ext cx="68580" cy="68580"/>
          </a:xfrm>
          <a:prstGeom prst="ellipse">
            <a:avLst/>
          </a:prstGeom>
          <a:solidFill>
            <a:srgbClr val="EF4444"/>
          </a:solidFill>
          <a:ln/>
        </p:spPr>
      </p:sp>
      <p:sp>
        <p:nvSpPr>
          <p:cNvPr id="26" name="Shape 24"/>
          <p:cNvSpPr/>
          <p:nvPr/>
        </p:nvSpPr>
        <p:spPr>
          <a:xfrm>
            <a:off x="612648" y="1115568"/>
            <a:ext cx="68580" cy="68580"/>
          </a:xfrm>
          <a:prstGeom prst="ellipse">
            <a:avLst/>
          </a:prstGeom>
          <a:solidFill>
            <a:srgbClr val="F59E0B"/>
          </a:solidFill>
          <a:ln/>
        </p:spPr>
      </p:sp>
      <p:sp>
        <p:nvSpPr>
          <p:cNvPr id="27" name="Shape 25"/>
          <p:cNvSpPr/>
          <p:nvPr/>
        </p:nvSpPr>
        <p:spPr>
          <a:xfrm>
            <a:off x="713232" y="1115568"/>
            <a:ext cx="68580" cy="68580"/>
          </a:xfrm>
          <a:prstGeom prst="ellipse">
            <a:avLst/>
          </a:prstGeom>
          <a:solidFill>
            <a:srgbClr val="10B981"/>
          </a:solidFill>
          <a:ln/>
        </p:spPr>
      </p:sp>
      <p:sp>
        <p:nvSpPr>
          <p:cNvPr id="28" name="Text 26"/>
          <p:cNvSpPr/>
          <p:nvPr/>
        </p:nvSpPr>
        <p:spPr>
          <a:xfrm>
            <a:off x="841248" y="1060704"/>
            <a:ext cx="2761488" cy="182880"/>
          </a:xfrm>
          <a:prstGeom prst="rect">
            <a:avLst/>
          </a:prstGeom>
          <a:noFill/>
          <a:ln/>
        </p:spPr>
        <p:txBody>
          <a:bodyPr wrap="square" lIns="0" tIns="0" rIns="0" bIns="0" rtlCol="0" anchor="ctr"/>
          <a:lstStyle/>
          <a:p>
            <a:pPr algn="l" indent="0" marL="0">
              <a:lnSpc>
                <a:spcPct val="100000"/>
              </a:lnSpc>
              <a:buNone/>
            </a:pPr>
            <a:r>
              <a:rPr lang="en-US" sz="640" b="1" dirty="0">
                <a:solidFill>
                  <a:srgbClr val="B91C1C"/>
                </a:solidFill>
                <a:latin typeface="Arial" pitchFamily="34" charset="0"/>
                <a:ea typeface="Arial" pitchFamily="34" charset="-122"/>
                <a:cs typeface="Arial" pitchFamily="34" charset="-120"/>
              </a:rPr>
              <a:t>BEFORE: Cluster /ui/ Baseline (2 Queries)</a:t>
            </a:r>
            <a:endParaRPr lang="en-US" sz="640" dirty="0"/>
          </a:p>
        </p:txBody>
      </p:sp>
      <p:pic>
        <p:nvPicPr>
          <p:cNvPr id="29" name="Image 0" descr="preencoded.png">    </p:cNvPr>
          <p:cNvPicPr>
            <a:picLocks noChangeAspect="1"/>
          </p:cNvPicPr>
          <p:nvPr/>
        </p:nvPicPr>
        <p:blipFill>
          <a:blip r:embed="rId1"/>
          <a:stretch>
            <a:fillRect/>
          </a:stretch>
        </p:blipFill>
        <p:spPr>
          <a:xfrm>
            <a:off x="438912" y="1261872"/>
            <a:ext cx="3218688" cy="2011680"/>
          </a:xfrm>
          <a:prstGeom prst="rect">
            <a:avLst/>
          </a:prstGeom>
        </p:spPr>
      </p:pic>
      <p:sp>
        <p:nvSpPr>
          <p:cNvPr id="30" name="Shape 27"/>
          <p:cNvSpPr/>
          <p:nvPr/>
        </p:nvSpPr>
        <p:spPr>
          <a:xfrm>
            <a:off x="438912" y="1042416"/>
            <a:ext cx="3218688" cy="2231136"/>
          </a:xfrm>
          <a:prstGeom prst="rect">
            <a:avLst/>
          </a:prstGeom>
          <a:ln w="11430">
            <a:solidFill>
              <a:srgbClr val="B91C1C"/>
            </a:solidFill>
            <a:prstDash val="solid"/>
          </a:ln>
        </p:spPr>
      </p:sp>
      <p:sp>
        <p:nvSpPr>
          <p:cNvPr id="31" name="Shape 28"/>
          <p:cNvSpPr/>
          <p:nvPr/>
        </p:nvSpPr>
        <p:spPr>
          <a:xfrm>
            <a:off x="3694176" y="2157984"/>
            <a:ext cx="310896" cy="0"/>
          </a:xfrm>
          <a:prstGeom prst="line">
            <a:avLst/>
          </a:prstGeom>
          <a:noFill/>
          <a:ln w="22860">
            <a:solidFill>
              <a:srgbClr val="1D4ED8"/>
            </a:solidFill>
            <a:prstDash val="solid"/>
            <a:tailEnd type="triangle" w="sm" len="sm"/>
          </a:ln>
        </p:spPr>
      </p:sp>
      <p:sp>
        <p:nvSpPr>
          <p:cNvPr id="32" name="Shape 29"/>
          <p:cNvSpPr/>
          <p:nvPr/>
        </p:nvSpPr>
        <p:spPr>
          <a:xfrm>
            <a:off x="4064508" y="1068019"/>
            <a:ext cx="3218688" cy="2231136"/>
          </a:xfrm>
          <a:prstGeom prst="roundRect">
            <a:avLst>
              <a:gd name="adj" fmla="val 2869"/>
            </a:avLst>
          </a:prstGeom>
          <a:solidFill>
            <a:srgbClr val="E2E8F0"/>
          </a:solidFill>
          <a:ln/>
        </p:spPr>
      </p:sp>
      <p:sp>
        <p:nvSpPr>
          <p:cNvPr id="33" name="Shape 30"/>
          <p:cNvSpPr/>
          <p:nvPr/>
        </p:nvSpPr>
        <p:spPr>
          <a:xfrm>
            <a:off x="4041648" y="1042416"/>
            <a:ext cx="3218688" cy="2231136"/>
          </a:xfrm>
          <a:prstGeom prst="roundRect">
            <a:avLst>
              <a:gd name="adj" fmla="val 2869"/>
            </a:avLst>
          </a:prstGeom>
          <a:solidFill>
            <a:srgbClr val="FFFFFF"/>
          </a:solidFill>
          <a:ln w="10795">
            <a:solidFill>
              <a:srgbClr val="A7F3D0"/>
            </a:solidFill>
            <a:prstDash val="solid"/>
          </a:ln>
        </p:spPr>
      </p:sp>
      <p:sp>
        <p:nvSpPr>
          <p:cNvPr id="34" name="Shape 31"/>
          <p:cNvSpPr/>
          <p:nvPr/>
        </p:nvSpPr>
        <p:spPr>
          <a:xfrm>
            <a:off x="4041648" y="1042416"/>
            <a:ext cx="3218688" cy="219456"/>
          </a:xfrm>
          <a:prstGeom prst="rect">
            <a:avLst/>
          </a:prstGeom>
          <a:solidFill>
            <a:srgbClr val="ECFDF5"/>
          </a:solidFill>
          <a:ln w="7620">
            <a:solidFill>
              <a:srgbClr val="A7F3D0"/>
            </a:solidFill>
            <a:prstDash val="solid"/>
          </a:ln>
        </p:spPr>
      </p:sp>
      <p:sp>
        <p:nvSpPr>
          <p:cNvPr id="35" name="Shape 32"/>
          <p:cNvSpPr/>
          <p:nvPr/>
        </p:nvSpPr>
        <p:spPr>
          <a:xfrm>
            <a:off x="4114800" y="1115568"/>
            <a:ext cx="68580" cy="68580"/>
          </a:xfrm>
          <a:prstGeom prst="ellipse">
            <a:avLst/>
          </a:prstGeom>
          <a:solidFill>
            <a:srgbClr val="EF4444"/>
          </a:solidFill>
          <a:ln/>
        </p:spPr>
      </p:sp>
      <p:sp>
        <p:nvSpPr>
          <p:cNvPr id="36" name="Shape 33"/>
          <p:cNvSpPr/>
          <p:nvPr/>
        </p:nvSpPr>
        <p:spPr>
          <a:xfrm>
            <a:off x="4215384" y="1115568"/>
            <a:ext cx="68580" cy="68580"/>
          </a:xfrm>
          <a:prstGeom prst="ellipse">
            <a:avLst/>
          </a:prstGeom>
          <a:solidFill>
            <a:srgbClr val="F59E0B"/>
          </a:solidFill>
          <a:ln/>
        </p:spPr>
      </p:sp>
      <p:sp>
        <p:nvSpPr>
          <p:cNvPr id="37" name="Shape 34"/>
          <p:cNvSpPr/>
          <p:nvPr/>
        </p:nvSpPr>
        <p:spPr>
          <a:xfrm>
            <a:off x="4315968" y="1115568"/>
            <a:ext cx="68580" cy="68580"/>
          </a:xfrm>
          <a:prstGeom prst="ellipse">
            <a:avLst/>
          </a:prstGeom>
          <a:solidFill>
            <a:srgbClr val="10B981"/>
          </a:solidFill>
          <a:ln/>
        </p:spPr>
      </p:sp>
      <p:sp>
        <p:nvSpPr>
          <p:cNvPr id="38" name="Text 35"/>
          <p:cNvSpPr/>
          <p:nvPr/>
        </p:nvSpPr>
        <p:spPr>
          <a:xfrm>
            <a:off x="4443984" y="1060704"/>
            <a:ext cx="2761488" cy="182880"/>
          </a:xfrm>
          <a:prstGeom prst="rect">
            <a:avLst/>
          </a:prstGeom>
          <a:noFill/>
          <a:ln/>
        </p:spPr>
        <p:txBody>
          <a:bodyPr wrap="square" lIns="0" tIns="0" rIns="0" bIns="0" rtlCol="0" anchor="ctr"/>
          <a:lstStyle/>
          <a:p>
            <a:pPr algn="l" indent="0" marL="0">
              <a:lnSpc>
                <a:spcPct val="100000"/>
              </a:lnSpc>
              <a:buNone/>
            </a:pPr>
            <a:r>
              <a:rPr lang="en-US" sz="640" b="1" dirty="0">
                <a:solidFill>
                  <a:srgbClr val="047857"/>
                </a:solidFill>
                <a:latin typeface="Arial" pitchFamily="34" charset="0"/>
                <a:ea typeface="Arial" pitchFamily="34" charset="-122"/>
                <a:cs typeface="Arial" pitchFamily="34" charset="-120"/>
              </a:rPr>
              <a:t>AFTER: 3rd Query Bound to geap-hop5-agent</a:t>
            </a:r>
            <a:endParaRPr lang="en-US" sz="640" dirty="0"/>
          </a:p>
        </p:txBody>
      </p:sp>
      <p:pic>
        <p:nvPicPr>
          <p:cNvPr id="39" name="Image 1" descr="preencoded.png">    </p:cNvPr>
          <p:cNvPicPr>
            <a:picLocks noChangeAspect="1"/>
          </p:cNvPicPr>
          <p:nvPr/>
        </p:nvPicPr>
        <p:blipFill>
          <a:blip r:embed="rId2"/>
          <a:stretch>
            <a:fillRect/>
          </a:stretch>
        </p:blipFill>
        <p:spPr>
          <a:xfrm>
            <a:off x="4041648" y="1261872"/>
            <a:ext cx="3218688" cy="2011680"/>
          </a:xfrm>
          <a:prstGeom prst="rect">
            <a:avLst/>
          </a:prstGeom>
        </p:spPr>
      </p:pic>
      <p:sp>
        <p:nvSpPr>
          <p:cNvPr id="40" name="Shape 36"/>
          <p:cNvSpPr/>
          <p:nvPr/>
        </p:nvSpPr>
        <p:spPr>
          <a:xfrm>
            <a:off x="4041648" y="1042416"/>
            <a:ext cx="3218688" cy="2231136"/>
          </a:xfrm>
          <a:prstGeom prst="rect">
            <a:avLst/>
          </a:prstGeom>
          <a:ln w="11430">
            <a:solidFill>
              <a:srgbClr val="047857"/>
            </a:solidFill>
            <a:prstDash val="solid"/>
          </a:ln>
        </p:spPr>
      </p:sp>
      <p:sp>
        <p:nvSpPr>
          <p:cNvPr id="41" name="Shape 37"/>
          <p:cNvSpPr/>
          <p:nvPr/>
        </p:nvSpPr>
        <p:spPr>
          <a:xfrm>
            <a:off x="7502652" y="1068019"/>
            <a:ext cx="4272991" cy="2231136"/>
          </a:xfrm>
          <a:prstGeom prst="roundRect">
            <a:avLst>
              <a:gd name="adj" fmla="val 2869"/>
            </a:avLst>
          </a:prstGeom>
          <a:solidFill>
            <a:srgbClr val="E2E8F0"/>
          </a:solidFill>
          <a:ln/>
        </p:spPr>
      </p:sp>
      <p:sp>
        <p:nvSpPr>
          <p:cNvPr id="42" name="Shape 38"/>
          <p:cNvSpPr/>
          <p:nvPr/>
        </p:nvSpPr>
        <p:spPr>
          <a:xfrm>
            <a:off x="7479792" y="1042416"/>
            <a:ext cx="4272991" cy="2231136"/>
          </a:xfrm>
          <a:prstGeom prst="roundRect">
            <a:avLst>
              <a:gd name="adj" fmla="val 2869"/>
            </a:avLst>
          </a:prstGeom>
          <a:solidFill>
            <a:srgbClr val="FFFFFF"/>
          </a:solidFill>
          <a:ln w="10795">
            <a:solidFill>
              <a:srgbClr val="BFDBFE"/>
            </a:solidFill>
            <a:prstDash val="solid"/>
          </a:ln>
        </p:spPr>
      </p:sp>
      <p:sp>
        <p:nvSpPr>
          <p:cNvPr id="43" name="Shape 39"/>
          <p:cNvSpPr/>
          <p:nvPr/>
        </p:nvSpPr>
        <p:spPr>
          <a:xfrm>
            <a:off x="7479792" y="1042416"/>
            <a:ext cx="54864" cy="2231136"/>
          </a:xfrm>
          <a:prstGeom prst="roundRect">
            <a:avLst>
              <a:gd name="adj" fmla="val 33333"/>
            </a:avLst>
          </a:prstGeom>
          <a:solidFill>
            <a:srgbClr val="1D4ED8"/>
          </a:solidFill>
          <a:ln/>
        </p:spPr>
      </p:sp>
      <p:sp>
        <p:nvSpPr>
          <p:cNvPr id="44" name="Shape 40"/>
          <p:cNvSpPr/>
          <p:nvPr/>
        </p:nvSpPr>
        <p:spPr>
          <a:xfrm>
            <a:off x="7626096" y="1133856"/>
            <a:ext cx="3980383" cy="201168"/>
          </a:xfrm>
          <a:prstGeom prst="roundRect">
            <a:avLst>
              <a:gd name="adj" fmla="val 36364"/>
            </a:avLst>
          </a:prstGeom>
          <a:solidFill>
            <a:srgbClr val="EFF6FF"/>
          </a:solidFill>
          <a:ln w="9525">
            <a:solidFill>
              <a:srgbClr val="BFDBFE"/>
            </a:solidFill>
            <a:prstDash val="solid"/>
          </a:ln>
        </p:spPr>
      </p:sp>
      <p:sp>
        <p:nvSpPr>
          <p:cNvPr id="45" name="Text 41"/>
          <p:cNvSpPr/>
          <p:nvPr/>
        </p:nvSpPr>
        <p:spPr>
          <a:xfrm>
            <a:off x="7626096" y="1133856"/>
            <a:ext cx="3980383" cy="201168"/>
          </a:xfrm>
          <a:prstGeom prst="rect">
            <a:avLst/>
          </a:prstGeom>
          <a:noFill/>
          <a:ln/>
        </p:spPr>
        <p:txBody>
          <a:bodyPr wrap="square" lIns="0" tIns="0" rIns="0" bIns="0" rtlCol="0" anchor="ctr"/>
          <a:lstStyle/>
          <a:p>
            <a:pPr algn="ctr" indent="0" marL="0">
              <a:lnSpc>
                <a:spcPct val="105000"/>
              </a:lnSpc>
              <a:buNone/>
            </a:pPr>
            <a:r>
              <a:rPr lang="en-US" sz="620" b="1" dirty="0">
                <a:solidFill>
                  <a:srgbClr val="1D4ED8"/>
                </a:solidFill>
                <a:latin typeface="Arial" pitchFamily="34" charset="0"/>
                <a:ea typeface="Arial" pitchFamily="34" charset="-122"/>
                <a:cs typeface="Arial" pitchFamily="34" charset="-120"/>
              </a:rPr>
              <a:t>SAAS-06  •  TRINO DISTRIBUTED SQL v440  •  TARGET TERCK8SLBP</a:t>
            </a:r>
            <a:endParaRPr lang="en-US" sz="620" dirty="0"/>
          </a:p>
        </p:txBody>
      </p:sp>
      <p:sp>
        <p:nvSpPr>
          <p:cNvPr id="46" name="Text 42"/>
          <p:cNvSpPr/>
          <p:nvPr/>
        </p:nvSpPr>
        <p:spPr>
          <a:xfrm>
            <a:off x="7626096" y="1371600"/>
            <a:ext cx="3980383" cy="201168"/>
          </a:xfrm>
          <a:prstGeom prst="rect">
            <a:avLst/>
          </a:prstGeom>
          <a:noFill/>
          <a:ln/>
        </p:spPr>
        <p:txBody>
          <a:bodyPr wrap="square" lIns="0" tIns="0" rIns="0" bIns="0" rtlCol="0" anchor="ctr"/>
          <a:lstStyle/>
          <a:p>
            <a:pPr indent="0" marL="0">
              <a:lnSpc>
                <a:spcPct val="105000"/>
              </a:lnSpc>
              <a:buNone/>
            </a:pPr>
            <a:r>
              <a:rPr lang="en-US" sz="920" b="1" dirty="0">
                <a:solidFill>
                  <a:srgbClr val="0F172A"/>
                </a:solidFill>
                <a:latin typeface="Arial" pitchFamily="34" charset="0"/>
                <a:ea typeface="Arial" pitchFamily="34" charset="-122"/>
                <a:cs typeface="Arial" pitchFamily="34" charset="-120"/>
              </a:rPr>
              <a:t>Databricks Unity SQL Tier — Federated Query Attribution</a:t>
            </a:r>
            <a:endParaRPr lang="en-US" sz="920" dirty="0"/>
          </a:p>
        </p:txBody>
      </p:sp>
      <p:sp>
        <p:nvSpPr>
          <p:cNvPr id="47" name="Text 43"/>
          <p:cNvSpPr/>
          <p:nvPr/>
        </p:nvSpPr>
        <p:spPr>
          <a:xfrm>
            <a:off x="7626096" y="1581912"/>
            <a:ext cx="3980383" cy="164592"/>
          </a:xfrm>
          <a:prstGeom prst="rect">
            <a:avLst/>
          </a:prstGeom>
          <a:noFill/>
          <a:ln/>
        </p:spPr>
        <p:txBody>
          <a:bodyPr wrap="square" lIns="0" tIns="0" rIns="0" bIns="0" rtlCol="0" anchor="ctr"/>
          <a:lstStyle/>
          <a:p>
            <a:pPr indent="0" marL="0">
              <a:lnSpc>
                <a:spcPct val="100000"/>
              </a:lnSpc>
              <a:buNone/>
            </a:pPr>
            <a:r>
              <a:rPr lang="en-US" sz="650" b="1" dirty="0">
                <a:solidFill>
                  <a:srgbClr val="1D4ED8"/>
                </a:solidFill>
                <a:latin typeface="Courier New" pitchFamily="34" charset="0"/>
                <a:ea typeface="Courier New" pitchFamily="34" charset="-122"/>
                <a:cs typeface="Courier New" pitchFamily="34" charset="-120"/>
              </a:rPr>
              <a:t>MCP: execute_uc_genie_federated_sql  •  trinodb/trino:440</a:t>
            </a:r>
            <a:endParaRPr lang="en-US" sz="650" dirty="0"/>
          </a:p>
        </p:txBody>
      </p:sp>
      <p:sp>
        <p:nvSpPr>
          <p:cNvPr id="48" name="Text 44"/>
          <p:cNvSpPr/>
          <p:nvPr/>
        </p:nvSpPr>
        <p:spPr>
          <a:xfrm>
            <a:off x="7626096" y="1783080"/>
            <a:ext cx="3980383" cy="1133856"/>
          </a:xfrm>
          <a:prstGeom prst="rect">
            <a:avLst/>
          </a:prstGeom>
          <a:noFill/>
          <a:ln/>
        </p:spPr>
        <p:txBody>
          <a:bodyPr wrap="square" lIns="0" tIns="0" rIns="0" bIns="0" rtlCol="0" anchor="t"/>
          <a:lstStyle/>
          <a:p>
            <a:pPr indent="0" marL="0">
              <a:lnSpc>
                <a:spcPct val="110000"/>
              </a:lnSpc>
              <a:buNone/>
            </a:pPr>
            <a:r>
              <a:rPr lang="en-US" sz="720" b="1" dirty="0">
                <a:solidFill>
                  <a:srgbClr val="B91C1C"/>
                </a:solidFill>
                <a:latin typeface="Arial" pitchFamily="34" charset="0"/>
                <a:ea typeface="Arial" pitchFamily="34" charset="-122"/>
                <a:cs typeface="Arial" pitchFamily="34" charset="-120"/>
              </a:rPr>
              <a:t>• BEFORE: </a:t>
            </a:r>
            <a:pPr indent="0" marL="0">
              <a:lnSpc>
                <a:spcPct val="110000"/>
              </a:lnSpc>
              <a:buNone/>
            </a:pPr>
            <a:r>
              <a:rPr lang="en-US" sz="720" dirty="0">
                <a:solidFill>
                  <a:srgbClr val="334155"/>
                </a:solidFill>
                <a:latin typeface="Arial" pitchFamily="34" charset="0"/>
                <a:ea typeface="Arial" pitchFamily="34" charset="-122"/>
                <a:cs typeface="Arial" pitchFamily="34" charset="-120"/>
              </a:rPr>
              <a:t>Trino Cluster Overview (/ui/) query ledger shows 2 prior baseline queries before federated AgentCore target TERCK8SLBP executes.
</a:t>
            </a:r>
            <a:pPr indent="0" marL="0">
              <a:lnSpc>
                <a:spcPct val="110000"/>
              </a:lnSpc>
              <a:buNone/>
            </a:pPr>
            <a:r>
              <a:rPr lang="en-US" sz="720" b="1" dirty="0">
                <a:solidFill>
                  <a:srgbClr val="047857"/>
                </a:solidFill>
                <a:latin typeface="Arial" pitchFamily="34" charset="0"/>
                <a:ea typeface="Arial" pitchFamily="34" charset="-122"/>
                <a:cs typeface="Arial" pitchFamily="34" charset="-120"/>
              </a:rPr>
              <a:t>• AFTER: </a:t>
            </a:r>
            <a:pPr indent="0" marL="0">
              <a:lnSpc>
                <a:spcPct val="110000"/>
              </a:lnSpc>
              <a:buNone/>
            </a:pPr>
            <a:r>
              <a:rPr lang="en-US" sz="720" dirty="0">
                <a:solidFill>
                  <a:srgbClr val="0F172A"/>
                </a:solidFill>
                <a:latin typeface="Arial" pitchFamily="34" charset="0"/>
                <a:ea typeface="Arial" pitchFamily="34" charset="-122"/>
                <a:cs typeface="Arial" pitchFamily="34" charset="-120"/>
              </a:rPr>
              <a:t>POST /v1/statement records a 3rd FINISHED query bound to X-Trino-User: geap-hop5-agent@finvault.com (source geap-agentcore-TERCK8SLBP).</a:t>
            </a:r>
            <a:endParaRPr lang="en-US" sz="720" dirty="0"/>
          </a:p>
        </p:txBody>
      </p:sp>
      <p:sp>
        <p:nvSpPr>
          <p:cNvPr id="49" name="Shape 45"/>
          <p:cNvSpPr/>
          <p:nvPr/>
        </p:nvSpPr>
        <p:spPr>
          <a:xfrm>
            <a:off x="7626096" y="2980944"/>
            <a:ext cx="3980383" cy="201168"/>
          </a:xfrm>
          <a:prstGeom prst="roundRect">
            <a:avLst>
              <a:gd name="adj" fmla="val 36364"/>
            </a:avLst>
          </a:prstGeom>
          <a:solidFill>
            <a:srgbClr val="F1F5F9"/>
          </a:solidFill>
          <a:ln w="9525">
            <a:solidFill>
              <a:srgbClr val="CBD5E1"/>
            </a:solidFill>
            <a:prstDash val="solid"/>
          </a:ln>
        </p:spPr>
      </p:sp>
      <p:sp>
        <p:nvSpPr>
          <p:cNvPr id="50" name="Text 46"/>
          <p:cNvSpPr/>
          <p:nvPr/>
        </p:nvSpPr>
        <p:spPr>
          <a:xfrm>
            <a:off x="7626096" y="2980944"/>
            <a:ext cx="3980383" cy="201168"/>
          </a:xfrm>
          <a:prstGeom prst="rect">
            <a:avLst/>
          </a:prstGeom>
          <a:noFill/>
          <a:ln/>
        </p:spPr>
        <p:txBody>
          <a:bodyPr wrap="square" lIns="0" tIns="0" rIns="0" bIns="0" rtlCol="0" anchor="ctr"/>
          <a:lstStyle/>
          <a:p>
            <a:pPr algn="ctr" indent="0" marL="0">
              <a:lnSpc>
                <a:spcPct val="105000"/>
              </a:lnSpc>
              <a:buNone/>
            </a:pPr>
            <a:r>
              <a:rPr lang="en-US" sz="610" b="1" dirty="0">
                <a:solidFill>
                  <a:srgbClr val="475569"/>
                </a:solidFill>
                <a:latin typeface="Arial" pitchFamily="34" charset="0"/>
                <a:ea typeface="Arial" pitchFamily="34" charset="-122"/>
                <a:cs typeface="Arial" pitchFamily="34" charset="-120"/>
              </a:rPr>
              <a:t>SHA-256: 3b9d35a8 (Before) → 5a224121 (After)  •  Pair 06/10</a:t>
            </a:r>
            <a:endParaRPr lang="en-US" sz="610" dirty="0"/>
          </a:p>
        </p:txBody>
      </p:sp>
      <p:sp>
        <p:nvSpPr>
          <p:cNvPr id="51" name="Shape 47"/>
          <p:cNvSpPr/>
          <p:nvPr/>
        </p:nvSpPr>
        <p:spPr>
          <a:xfrm>
            <a:off x="461772" y="3518611"/>
            <a:ext cx="3218688" cy="2231136"/>
          </a:xfrm>
          <a:prstGeom prst="roundRect">
            <a:avLst>
              <a:gd name="adj" fmla="val 2869"/>
            </a:avLst>
          </a:prstGeom>
          <a:solidFill>
            <a:srgbClr val="E2E8F0"/>
          </a:solidFill>
          <a:ln/>
        </p:spPr>
      </p:sp>
      <p:sp>
        <p:nvSpPr>
          <p:cNvPr id="52" name="Shape 48"/>
          <p:cNvSpPr/>
          <p:nvPr/>
        </p:nvSpPr>
        <p:spPr>
          <a:xfrm>
            <a:off x="438912" y="3493008"/>
            <a:ext cx="3218688" cy="2231136"/>
          </a:xfrm>
          <a:prstGeom prst="roundRect">
            <a:avLst>
              <a:gd name="adj" fmla="val 2869"/>
            </a:avLst>
          </a:prstGeom>
          <a:solidFill>
            <a:srgbClr val="FFFFFF"/>
          </a:solidFill>
          <a:ln w="10795">
            <a:solidFill>
              <a:srgbClr val="FECACA"/>
            </a:solidFill>
            <a:prstDash val="solid"/>
          </a:ln>
        </p:spPr>
      </p:sp>
      <p:sp>
        <p:nvSpPr>
          <p:cNvPr id="53" name="Shape 49"/>
          <p:cNvSpPr/>
          <p:nvPr/>
        </p:nvSpPr>
        <p:spPr>
          <a:xfrm>
            <a:off x="438912" y="3493008"/>
            <a:ext cx="3218688" cy="219456"/>
          </a:xfrm>
          <a:prstGeom prst="rect">
            <a:avLst/>
          </a:prstGeom>
          <a:solidFill>
            <a:srgbClr val="FEF2F2"/>
          </a:solidFill>
          <a:ln w="7620">
            <a:solidFill>
              <a:srgbClr val="FECACA"/>
            </a:solidFill>
            <a:prstDash val="solid"/>
          </a:ln>
        </p:spPr>
      </p:sp>
      <p:sp>
        <p:nvSpPr>
          <p:cNvPr id="54" name="Shape 50"/>
          <p:cNvSpPr/>
          <p:nvPr/>
        </p:nvSpPr>
        <p:spPr>
          <a:xfrm>
            <a:off x="512064" y="3566160"/>
            <a:ext cx="68580" cy="68580"/>
          </a:xfrm>
          <a:prstGeom prst="ellipse">
            <a:avLst/>
          </a:prstGeom>
          <a:solidFill>
            <a:srgbClr val="EF4444"/>
          </a:solidFill>
          <a:ln/>
        </p:spPr>
      </p:sp>
      <p:sp>
        <p:nvSpPr>
          <p:cNvPr id="55" name="Shape 51"/>
          <p:cNvSpPr/>
          <p:nvPr/>
        </p:nvSpPr>
        <p:spPr>
          <a:xfrm>
            <a:off x="612648" y="3566160"/>
            <a:ext cx="68580" cy="68580"/>
          </a:xfrm>
          <a:prstGeom prst="ellipse">
            <a:avLst/>
          </a:prstGeom>
          <a:solidFill>
            <a:srgbClr val="F59E0B"/>
          </a:solidFill>
          <a:ln/>
        </p:spPr>
      </p:sp>
      <p:sp>
        <p:nvSpPr>
          <p:cNvPr id="56" name="Shape 52"/>
          <p:cNvSpPr/>
          <p:nvPr/>
        </p:nvSpPr>
        <p:spPr>
          <a:xfrm>
            <a:off x="713232" y="3566160"/>
            <a:ext cx="68580" cy="68580"/>
          </a:xfrm>
          <a:prstGeom prst="ellipse">
            <a:avLst/>
          </a:prstGeom>
          <a:solidFill>
            <a:srgbClr val="10B981"/>
          </a:solidFill>
          <a:ln/>
        </p:spPr>
      </p:sp>
      <p:sp>
        <p:nvSpPr>
          <p:cNvPr id="57" name="Text 53"/>
          <p:cNvSpPr/>
          <p:nvPr/>
        </p:nvSpPr>
        <p:spPr>
          <a:xfrm>
            <a:off x="841248" y="3511296"/>
            <a:ext cx="2761488" cy="182880"/>
          </a:xfrm>
          <a:prstGeom prst="rect">
            <a:avLst/>
          </a:prstGeom>
          <a:noFill/>
          <a:ln/>
        </p:spPr>
        <p:txBody>
          <a:bodyPr wrap="square" lIns="0" tIns="0" rIns="0" bIns="0" rtlCol="0" anchor="ctr"/>
          <a:lstStyle/>
          <a:p>
            <a:pPr algn="l" indent="0" marL="0">
              <a:lnSpc>
                <a:spcPct val="100000"/>
              </a:lnSpc>
              <a:buNone/>
            </a:pPr>
            <a:r>
              <a:rPr lang="en-US" sz="640" b="1" dirty="0">
                <a:solidFill>
                  <a:srgbClr val="B91C1C"/>
                </a:solidFill>
                <a:latin typeface="Arial" pitchFamily="34" charset="0"/>
                <a:ea typeface="Arial" pitchFamily="34" charset="-122"/>
                <a:cs typeface="Arial" pitchFamily="34" charset="-120"/>
              </a:rPr>
              <a:t>BEFORE: Cross-Tenant Query → 0 Rows (RLS)</a:t>
            </a:r>
            <a:endParaRPr lang="en-US" sz="640" dirty="0"/>
          </a:p>
        </p:txBody>
      </p:sp>
      <p:pic>
        <p:nvPicPr>
          <p:cNvPr id="58" name="Image 2" descr="preencoded.png">    </p:cNvPr>
          <p:cNvPicPr>
            <a:picLocks noChangeAspect="1"/>
          </p:cNvPicPr>
          <p:nvPr/>
        </p:nvPicPr>
        <p:blipFill>
          <a:blip r:embed="rId3"/>
          <a:stretch>
            <a:fillRect/>
          </a:stretch>
        </p:blipFill>
        <p:spPr>
          <a:xfrm>
            <a:off x="438912" y="3712464"/>
            <a:ext cx="3218688" cy="2011680"/>
          </a:xfrm>
          <a:prstGeom prst="rect">
            <a:avLst/>
          </a:prstGeom>
        </p:spPr>
      </p:pic>
      <p:sp>
        <p:nvSpPr>
          <p:cNvPr id="59" name="Shape 54"/>
          <p:cNvSpPr/>
          <p:nvPr/>
        </p:nvSpPr>
        <p:spPr>
          <a:xfrm>
            <a:off x="438912" y="3493008"/>
            <a:ext cx="3218688" cy="2231136"/>
          </a:xfrm>
          <a:prstGeom prst="rect">
            <a:avLst/>
          </a:prstGeom>
          <a:ln w="11430">
            <a:solidFill>
              <a:srgbClr val="B91C1C"/>
            </a:solidFill>
            <a:prstDash val="solid"/>
          </a:ln>
        </p:spPr>
      </p:sp>
      <p:sp>
        <p:nvSpPr>
          <p:cNvPr id="60" name="Shape 55"/>
          <p:cNvSpPr/>
          <p:nvPr/>
        </p:nvSpPr>
        <p:spPr>
          <a:xfrm>
            <a:off x="3694176" y="4608576"/>
            <a:ext cx="310896" cy="0"/>
          </a:xfrm>
          <a:prstGeom prst="line">
            <a:avLst/>
          </a:prstGeom>
          <a:noFill/>
          <a:ln w="22860">
            <a:solidFill>
              <a:srgbClr val="4338CA"/>
            </a:solidFill>
            <a:prstDash val="solid"/>
            <a:tailEnd type="triangle" w="sm" len="sm"/>
          </a:ln>
        </p:spPr>
      </p:sp>
      <p:sp>
        <p:nvSpPr>
          <p:cNvPr id="61" name="Shape 56"/>
          <p:cNvSpPr/>
          <p:nvPr/>
        </p:nvSpPr>
        <p:spPr>
          <a:xfrm>
            <a:off x="4064508" y="3518611"/>
            <a:ext cx="3218688" cy="2231136"/>
          </a:xfrm>
          <a:prstGeom prst="roundRect">
            <a:avLst>
              <a:gd name="adj" fmla="val 2869"/>
            </a:avLst>
          </a:prstGeom>
          <a:solidFill>
            <a:srgbClr val="E2E8F0"/>
          </a:solidFill>
          <a:ln/>
        </p:spPr>
      </p:sp>
      <p:sp>
        <p:nvSpPr>
          <p:cNvPr id="62" name="Shape 57"/>
          <p:cNvSpPr/>
          <p:nvPr/>
        </p:nvSpPr>
        <p:spPr>
          <a:xfrm>
            <a:off x="4041648" y="3493008"/>
            <a:ext cx="3218688" cy="2231136"/>
          </a:xfrm>
          <a:prstGeom prst="roundRect">
            <a:avLst>
              <a:gd name="adj" fmla="val 2869"/>
            </a:avLst>
          </a:prstGeom>
          <a:solidFill>
            <a:srgbClr val="FFFFFF"/>
          </a:solidFill>
          <a:ln w="10795">
            <a:solidFill>
              <a:srgbClr val="A7F3D0"/>
            </a:solidFill>
            <a:prstDash val="solid"/>
          </a:ln>
        </p:spPr>
      </p:sp>
      <p:sp>
        <p:nvSpPr>
          <p:cNvPr id="63" name="Shape 58"/>
          <p:cNvSpPr/>
          <p:nvPr/>
        </p:nvSpPr>
        <p:spPr>
          <a:xfrm>
            <a:off x="4041648" y="3493008"/>
            <a:ext cx="3218688" cy="219456"/>
          </a:xfrm>
          <a:prstGeom prst="rect">
            <a:avLst/>
          </a:prstGeom>
          <a:solidFill>
            <a:srgbClr val="ECFDF5"/>
          </a:solidFill>
          <a:ln w="7620">
            <a:solidFill>
              <a:srgbClr val="A7F3D0"/>
            </a:solidFill>
            <a:prstDash val="solid"/>
          </a:ln>
        </p:spPr>
      </p:sp>
      <p:sp>
        <p:nvSpPr>
          <p:cNvPr id="64" name="Shape 59"/>
          <p:cNvSpPr/>
          <p:nvPr/>
        </p:nvSpPr>
        <p:spPr>
          <a:xfrm>
            <a:off x="4114800" y="3566160"/>
            <a:ext cx="68580" cy="68580"/>
          </a:xfrm>
          <a:prstGeom prst="ellipse">
            <a:avLst/>
          </a:prstGeom>
          <a:solidFill>
            <a:srgbClr val="EF4444"/>
          </a:solidFill>
          <a:ln/>
        </p:spPr>
      </p:sp>
      <p:sp>
        <p:nvSpPr>
          <p:cNvPr id="65" name="Shape 60"/>
          <p:cNvSpPr/>
          <p:nvPr/>
        </p:nvSpPr>
        <p:spPr>
          <a:xfrm>
            <a:off x="4215384" y="3566160"/>
            <a:ext cx="68580" cy="68580"/>
          </a:xfrm>
          <a:prstGeom prst="ellipse">
            <a:avLst/>
          </a:prstGeom>
          <a:solidFill>
            <a:srgbClr val="F59E0B"/>
          </a:solidFill>
          <a:ln/>
        </p:spPr>
      </p:sp>
      <p:sp>
        <p:nvSpPr>
          <p:cNvPr id="66" name="Shape 61"/>
          <p:cNvSpPr/>
          <p:nvPr/>
        </p:nvSpPr>
        <p:spPr>
          <a:xfrm>
            <a:off x="4315968" y="3566160"/>
            <a:ext cx="68580" cy="68580"/>
          </a:xfrm>
          <a:prstGeom prst="ellipse">
            <a:avLst/>
          </a:prstGeom>
          <a:solidFill>
            <a:srgbClr val="10B981"/>
          </a:solidFill>
          <a:ln/>
        </p:spPr>
      </p:sp>
      <p:sp>
        <p:nvSpPr>
          <p:cNvPr id="67" name="Text 62"/>
          <p:cNvSpPr/>
          <p:nvPr/>
        </p:nvSpPr>
        <p:spPr>
          <a:xfrm>
            <a:off x="4443984" y="3511296"/>
            <a:ext cx="2761488" cy="182880"/>
          </a:xfrm>
          <a:prstGeom prst="rect">
            <a:avLst/>
          </a:prstGeom>
          <a:noFill/>
          <a:ln/>
        </p:spPr>
        <p:txBody>
          <a:bodyPr wrap="square" lIns="0" tIns="0" rIns="0" bIns="0" rtlCol="0" anchor="ctr"/>
          <a:lstStyle/>
          <a:p>
            <a:pPr algn="l" indent="0" marL="0">
              <a:lnSpc>
                <a:spcPct val="100000"/>
              </a:lnSpc>
              <a:buNone/>
            </a:pPr>
            <a:r>
              <a:rPr lang="en-US" sz="640" b="1" dirty="0">
                <a:solidFill>
                  <a:srgbClr val="047857"/>
                </a:solidFill>
                <a:latin typeface="Arial" pitchFamily="34" charset="0"/>
                <a:ea typeface="Arial" pitchFamily="34" charset="-122"/>
                <a:cs typeface="Arial" pitchFamily="34" charset="-120"/>
              </a:rPr>
              <a:t>AFTER: Tenant Query → 2 FinVault CMEK Rows</a:t>
            </a:r>
            <a:endParaRPr lang="en-US" sz="640" dirty="0"/>
          </a:p>
        </p:txBody>
      </p:sp>
      <p:pic>
        <p:nvPicPr>
          <p:cNvPr id="68" name="Image 3" descr="preencoded.png">    </p:cNvPr>
          <p:cNvPicPr>
            <a:picLocks noChangeAspect="1"/>
          </p:cNvPicPr>
          <p:nvPr/>
        </p:nvPicPr>
        <p:blipFill>
          <a:blip r:embed="rId4"/>
          <a:stretch>
            <a:fillRect/>
          </a:stretch>
        </p:blipFill>
        <p:spPr>
          <a:xfrm>
            <a:off x="4041648" y="3712464"/>
            <a:ext cx="3218688" cy="2011680"/>
          </a:xfrm>
          <a:prstGeom prst="rect">
            <a:avLst/>
          </a:prstGeom>
        </p:spPr>
      </p:pic>
      <p:sp>
        <p:nvSpPr>
          <p:cNvPr id="69" name="Shape 63"/>
          <p:cNvSpPr/>
          <p:nvPr/>
        </p:nvSpPr>
        <p:spPr>
          <a:xfrm>
            <a:off x="4041648" y="3493008"/>
            <a:ext cx="3218688" cy="2231136"/>
          </a:xfrm>
          <a:prstGeom prst="rect">
            <a:avLst/>
          </a:prstGeom>
          <a:ln w="11430">
            <a:solidFill>
              <a:srgbClr val="047857"/>
            </a:solidFill>
            <a:prstDash val="solid"/>
          </a:ln>
        </p:spPr>
      </p:sp>
      <p:sp>
        <p:nvSpPr>
          <p:cNvPr id="70" name="Shape 64"/>
          <p:cNvSpPr/>
          <p:nvPr/>
        </p:nvSpPr>
        <p:spPr>
          <a:xfrm>
            <a:off x="7502652" y="3518611"/>
            <a:ext cx="4272991" cy="2231136"/>
          </a:xfrm>
          <a:prstGeom prst="roundRect">
            <a:avLst>
              <a:gd name="adj" fmla="val 2869"/>
            </a:avLst>
          </a:prstGeom>
          <a:solidFill>
            <a:srgbClr val="E2E8F0"/>
          </a:solidFill>
          <a:ln/>
        </p:spPr>
      </p:sp>
      <p:sp>
        <p:nvSpPr>
          <p:cNvPr id="71" name="Shape 65"/>
          <p:cNvSpPr/>
          <p:nvPr/>
        </p:nvSpPr>
        <p:spPr>
          <a:xfrm>
            <a:off x="7479792" y="3493008"/>
            <a:ext cx="4272991" cy="2231136"/>
          </a:xfrm>
          <a:prstGeom prst="roundRect">
            <a:avLst>
              <a:gd name="adj" fmla="val 2869"/>
            </a:avLst>
          </a:prstGeom>
          <a:solidFill>
            <a:srgbClr val="FFFFFF"/>
          </a:solidFill>
          <a:ln w="10795">
            <a:solidFill>
              <a:srgbClr val="C7D2FE"/>
            </a:solidFill>
            <a:prstDash val="solid"/>
          </a:ln>
        </p:spPr>
      </p:sp>
      <p:sp>
        <p:nvSpPr>
          <p:cNvPr id="72" name="Shape 66"/>
          <p:cNvSpPr/>
          <p:nvPr/>
        </p:nvSpPr>
        <p:spPr>
          <a:xfrm>
            <a:off x="7479792" y="3493008"/>
            <a:ext cx="54864" cy="2231136"/>
          </a:xfrm>
          <a:prstGeom prst="roundRect">
            <a:avLst>
              <a:gd name="adj" fmla="val 33333"/>
            </a:avLst>
          </a:prstGeom>
          <a:solidFill>
            <a:srgbClr val="4338CA"/>
          </a:solidFill>
          <a:ln/>
        </p:spPr>
      </p:sp>
      <p:sp>
        <p:nvSpPr>
          <p:cNvPr id="73" name="Shape 67"/>
          <p:cNvSpPr/>
          <p:nvPr/>
        </p:nvSpPr>
        <p:spPr>
          <a:xfrm>
            <a:off x="7626096" y="3584448"/>
            <a:ext cx="3980383" cy="201168"/>
          </a:xfrm>
          <a:prstGeom prst="roundRect">
            <a:avLst>
              <a:gd name="adj" fmla="val 36364"/>
            </a:avLst>
          </a:prstGeom>
          <a:solidFill>
            <a:srgbClr val="EEF2FF"/>
          </a:solidFill>
          <a:ln w="9525">
            <a:solidFill>
              <a:srgbClr val="C7D2FE"/>
            </a:solidFill>
            <a:prstDash val="solid"/>
          </a:ln>
        </p:spPr>
      </p:sp>
      <p:sp>
        <p:nvSpPr>
          <p:cNvPr id="74" name="Text 68"/>
          <p:cNvSpPr/>
          <p:nvPr/>
        </p:nvSpPr>
        <p:spPr>
          <a:xfrm>
            <a:off x="7626096" y="3584448"/>
            <a:ext cx="3980383" cy="201168"/>
          </a:xfrm>
          <a:prstGeom prst="rect">
            <a:avLst/>
          </a:prstGeom>
          <a:noFill/>
          <a:ln/>
        </p:spPr>
        <p:txBody>
          <a:bodyPr wrap="square" lIns="0" tIns="0" rIns="0" bIns="0" rtlCol="0" anchor="ctr"/>
          <a:lstStyle/>
          <a:p>
            <a:pPr algn="ctr" indent="0" marL="0">
              <a:lnSpc>
                <a:spcPct val="105000"/>
              </a:lnSpc>
              <a:buNone/>
            </a:pPr>
            <a:r>
              <a:rPr lang="en-US" sz="620" b="1" dirty="0">
                <a:solidFill>
                  <a:srgbClr val="4338CA"/>
                </a:solidFill>
                <a:latin typeface="Arial" pitchFamily="34" charset="0"/>
                <a:ea typeface="Arial" pitchFamily="34" charset="-122"/>
                <a:cs typeface="Arial" pitchFamily="34" charset="-120"/>
              </a:rPr>
              <a:t>SAAS-07  •  CLICKHOUSE WAREHOUSE v24.8  •  TARGET CCMDEVZV2S</a:t>
            </a:r>
            <a:endParaRPr lang="en-US" sz="620" dirty="0"/>
          </a:p>
        </p:txBody>
      </p:sp>
      <p:sp>
        <p:nvSpPr>
          <p:cNvPr id="75" name="Text 69"/>
          <p:cNvSpPr/>
          <p:nvPr/>
        </p:nvSpPr>
        <p:spPr>
          <a:xfrm>
            <a:off x="7626096" y="3822192"/>
            <a:ext cx="3980383" cy="201168"/>
          </a:xfrm>
          <a:prstGeom prst="rect">
            <a:avLst/>
          </a:prstGeom>
          <a:noFill/>
          <a:ln/>
        </p:spPr>
        <p:txBody>
          <a:bodyPr wrap="square" lIns="0" tIns="0" rIns="0" bIns="0" rtlCol="0" anchor="ctr"/>
          <a:lstStyle/>
          <a:p>
            <a:pPr indent="0" marL="0">
              <a:lnSpc>
                <a:spcPct val="105000"/>
              </a:lnSpc>
              <a:buNone/>
            </a:pPr>
            <a:r>
              <a:rPr lang="en-US" sz="920" b="1" dirty="0">
                <a:solidFill>
                  <a:srgbClr val="0F172A"/>
                </a:solidFill>
                <a:latin typeface="Arial" pitchFamily="34" charset="0"/>
                <a:ea typeface="Arial" pitchFamily="34" charset="-122"/>
                <a:cs typeface="Arial" pitchFamily="34" charset="-120"/>
              </a:rPr>
              <a:t>Snowflake Cortex Tier — Cross-Tenant RLS &amp; KMS URI</a:t>
            </a:r>
            <a:endParaRPr lang="en-US" sz="920" dirty="0"/>
          </a:p>
        </p:txBody>
      </p:sp>
      <p:sp>
        <p:nvSpPr>
          <p:cNvPr id="76" name="Text 70"/>
          <p:cNvSpPr/>
          <p:nvPr/>
        </p:nvSpPr>
        <p:spPr>
          <a:xfrm>
            <a:off x="7626096" y="4032504"/>
            <a:ext cx="3980383" cy="164592"/>
          </a:xfrm>
          <a:prstGeom prst="rect">
            <a:avLst/>
          </a:prstGeom>
          <a:noFill/>
          <a:ln/>
        </p:spPr>
        <p:txBody>
          <a:bodyPr wrap="square" lIns="0" tIns="0" rIns="0" bIns="0" rtlCol="0" anchor="ctr"/>
          <a:lstStyle/>
          <a:p>
            <a:pPr indent="0" marL="0">
              <a:lnSpc>
                <a:spcPct val="100000"/>
              </a:lnSpc>
              <a:buNone/>
            </a:pPr>
            <a:r>
              <a:rPr lang="en-US" sz="650" b="1" dirty="0">
                <a:solidFill>
                  <a:srgbClr val="4338CA"/>
                </a:solidFill>
                <a:latin typeface="Courier New" pitchFamily="34" charset="0"/>
                <a:ea typeface="Courier New" pitchFamily="34" charset="-122"/>
                <a:cs typeface="Courier New" pitchFamily="34" charset="-120"/>
              </a:rPr>
              <a:t>MCP: execute_cortex_analyst_sql  •  clickhouse-server:24.8</a:t>
            </a:r>
            <a:endParaRPr lang="en-US" sz="650" dirty="0"/>
          </a:p>
        </p:txBody>
      </p:sp>
      <p:sp>
        <p:nvSpPr>
          <p:cNvPr id="77" name="Text 71"/>
          <p:cNvSpPr/>
          <p:nvPr/>
        </p:nvSpPr>
        <p:spPr>
          <a:xfrm>
            <a:off x="7626096" y="4233672"/>
            <a:ext cx="3980383" cy="1133856"/>
          </a:xfrm>
          <a:prstGeom prst="rect">
            <a:avLst/>
          </a:prstGeom>
          <a:noFill/>
          <a:ln/>
        </p:spPr>
        <p:txBody>
          <a:bodyPr wrap="square" lIns="0" tIns="0" rIns="0" bIns="0" rtlCol="0" anchor="t"/>
          <a:lstStyle/>
          <a:p>
            <a:pPr indent="0" marL="0">
              <a:lnSpc>
                <a:spcPct val="110000"/>
              </a:lnSpc>
              <a:buNone/>
            </a:pPr>
            <a:r>
              <a:rPr lang="en-US" sz="720" b="1" dirty="0">
                <a:solidFill>
                  <a:srgbClr val="B91C1C"/>
                </a:solidFill>
                <a:latin typeface="Arial" pitchFamily="34" charset="0"/>
                <a:ea typeface="Arial" pitchFamily="34" charset="-122"/>
                <a:cs typeface="Arial" pitchFamily="34" charset="-120"/>
              </a:rPr>
              <a:t>• BEFORE: </a:t>
            </a:r>
            <a:pPr indent="0" marL="0">
              <a:lnSpc>
                <a:spcPct val="110000"/>
              </a:lnSpc>
              <a:buNone/>
            </a:pPr>
            <a:r>
              <a:rPr lang="en-US" sz="720" dirty="0">
                <a:solidFill>
                  <a:srgbClr val="334155"/>
                </a:solidFill>
                <a:latin typeface="Arial" pitchFamily="34" charset="0"/>
                <a:ea typeface="Arial" pitchFamily="34" charset="-122"/>
                <a:cs typeface="Arial" pitchFamily="34" charset="-120"/>
              </a:rPr>
              <a:t>Authenticated as finvault_user in ClickHouse /play, querying WHERE tenant_id = 'retailstream' is blocked by row policy (empty result, 0 rows).
</a:t>
            </a:r>
            <a:pPr indent="0" marL="0">
              <a:lnSpc>
                <a:spcPct val="110000"/>
              </a:lnSpc>
              <a:buNone/>
            </a:pPr>
            <a:r>
              <a:rPr lang="en-US" sz="720" b="1" dirty="0">
                <a:solidFill>
                  <a:srgbClr val="047857"/>
                </a:solidFill>
                <a:latin typeface="Arial" pitchFamily="34" charset="0"/>
                <a:ea typeface="Arial" pitchFamily="34" charset="-122"/>
                <a:cs typeface="Arial" pitchFamily="34" charset="-120"/>
              </a:rPr>
              <a:t>• AFTER: </a:t>
            </a:r>
            <a:pPr indent="0" marL="0">
              <a:lnSpc>
                <a:spcPct val="110000"/>
              </a:lnSpc>
              <a:buNone/>
            </a:pPr>
            <a:r>
              <a:rPr lang="en-US" sz="720" dirty="0">
                <a:solidFill>
                  <a:srgbClr val="0F172A"/>
                </a:solidFill>
                <a:latin typeface="Arial" pitchFamily="34" charset="0"/>
                <a:ea typeface="Arial" pitchFamily="34" charset="-122"/>
                <a:cs typeface="Arial" pitchFamily="34" charset="-120"/>
              </a:rPr>
              <a:t>Authorized Hop 5 query WHERE tenant_id = 'finvault' returns both FinVault wire rows tagged gcp-kms://finvault-cmek-hsm in 0.002s.</a:t>
            </a:r>
            <a:endParaRPr lang="en-US" sz="720" dirty="0"/>
          </a:p>
        </p:txBody>
      </p:sp>
      <p:sp>
        <p:nvSpPr>
          <p:cNvPr id="78" name="Shape 72"/>
          <p:cNvSpPr/>
          <p:nvPr/>
        </p:nvSpPr>
        <p:spPr>
          <a:xfrm>
            <a:off x="7626096" y="5431536"/>
            <a:ext cx="3980383" cy="201168"/>
          </a:xfrm>
          <a:prstGeom prst="roundRect">
            <a:avLst>
              <a:gd name="adj" fmla="val 36364"/>
            </a:avLst>
          </a:prstGeom>
          <a:solidFill>
            <a:srgbClr val="F1F5F9"/>
          </a:solidFill>
          <a:ln w="9525">
            <a:solidFill>
              <a:srgbClr val="CBD5E1"/>
            </a:solidFill>
            <a:prstDash val="solid"/>
          </a:ln>
        </p:spPr>
      </p:sp>
      <p:sp>
        <p:nvSpPr>
          <p:cNvPr id="79" name="Text 73"/>
          <p:cNvSpPr/>
          <p:nvPr/>
        </p:nvSpPr>
        <p:spPr>
          <a:xfrm>
            <a:off x="7626096" y="5431536"/>
            <a:ext cx="3980383" cy="201168"/>
          </a:xfrm>
          <a:prstGeom prst="rect">
            <a:avLst/>
          </a:prstGeom>
          <a:noFill/>
          <a:ln/>
        </p:spPr>
        <p:txBody>
          <a:bodyPr wrap="square" lIns="0" tIns="0" rIns="0" bIns="0" rtlCol="0" anchor="ctr"/>
          <a:lstStyle/>
          <a:p>
            <a:pPr algn="ctr" indent="0" marL="0">
              <a:lnSpc>
                <a:spcPct val="105000"/>
              </a:lnSpc>
              <a:buNone/>
            </a:pPr>
            <a:r>
              <a:rPr lang="en-US" sz="610" b="1" dirty="0">
                <a:solidFill>
                  <a:srgbClr val="475569"/>
                </a:solidFill>
                <a:latin typeface="Arial" pitchFamily="34" charset="0"/>
                <a:ea typeface="Arial" pitchFamily="34" charset="-122"/>
                <a:cs typeface="Arial" pitchFamily="34" charset="-120"/>
              </a:rPr>
              <a:t>SHA-256: 40c6a4c4 (Before) → 5118174f (After)  •  Pair 07/10</a:t>
            </a:r>
            <a:endParaRPr lang="en-US" sz="610" dirty="0"/>
          </a:p>
        </p:txBody>
      </p:sp>
      <p:sp>
        <p:nvSpPr>
          <p:cNvPr id="80" name="Shape 74"/>
          <p:cNvSpPr/>
          <p:nvPr/>
        </p:nvSpPr>
        <p:spPr>
          <a:xfrm>
            <a:off x="438912" y="5943600"/>
            <a:ext cx="11313871" cy="420624"/>
          </a:xfrm>
          <a:prstGeom prst="roundRect">
            <a:avLst>
              <a:gd name="adj" fmla="val 13043"/>
            </a:avLst>
          </a:prstGeom>
          <a:solidFill>
            <a:srgbClr val="EEF2FF"/>
          </a:solidFill>
          <a:ln w="11430">
            <a:solidFill>
              <a:srgbClr val="C7D2FE"/>
            </a:solidFill>
            <a:prstDash val="solid"/>
          </a:ln>
        </p:spPr>
      </p:sp>
      <p:sp>
        <p:nvSpPr>
          <p:cNvPr id="81" name="Shape 75"/>
          <p:cNvSpPr/>
          <p:nvPr/>
        </p:nvSpPr>
        <p:spPr>
          <a:xfrm>
            <a:off x="530352" y="6025896"/>
            <a:ext cx="1353312" cy="256032"/>
          </a:xfrm>
          <a:prstGeom prst="roundRect">
            <a:avLst>
              <a:gd name="adj" fmla="val 17857"/>
            </a:avLst>
          </a:prstGeom>
          <a:solidFill>
            <a:srgbClr val="4338CA"/>
          </a:solidFill>
          <a:ln/>
        </p:spPr>
      </p:sp>
      <p:sp>
        <p:nvSpPr>
          <p:cNvPr id="82" name="Text 76"/>
          <p:cNvSpPr/>
          <p:nvPr/>
        </p:nvSpPr>
        <p:spPr>
          <a:xfrm>
            <a:off x="530352" y="6025896"/>
            <a:ext cx="1353312" cy="256032"/>
          </a:xfrm>
          <a:prstGeom prst="rect">
            <a:avLst/>
          </a:prstGeom>
          <a:noFill/>
          <a:ln/>
        </p:spPr>
        <p:txBody>
          <a:bodyPr wrap="square" lIns="0" tIns="0" rIns="0" bIns="0" rtlCol="0" anchor="ctr"/>
          <a:lstStyle/>
          <a:p>
            <a:pPr algn="ctr" indent="0" marL="0">
              <a:lnSpc>
                <a:spcPct val="105000"/>
              </a:lnSpc>
              <a:buNone/>
            </a:pPr>
            <a:r>
              <a:rPr lang="en-US" sz="650" b="1" dirty="0">
                <a:solidFill>
                  <a:srgbClr val="FFFFFF"/>
                </a:solidFill>
                <a:latin typeface="Arial" pitchFamily="34" charset="0"/>
                <a:ea typeface="Arial" pitchFamily="34" charset="-122"/>
                <a:cs typeface="Arial" pitchFamily="34" charset="-120"/>
              </a:rPr>
              <a:t>SQL TIER VERIFIED</a:t>
            </a:r>
            <a:endParaRPr lang="en-US" sz="650" dirty="0"/>
          </a:p>
        </p:txBody>
      </p:sp>
      <p:sp>
        <p:nvSpPr>
          <p:cNvPr id="83" name="Text 77"/>
          <p:cNvSpPr/>
          <p:nvPr/>
        </p:nvSpPr>
        <p:spPr>
          <a:xfrm>
            <a:off x="1993392" y="5980176"/>
            <a:ext cx="7555687" cy="347472"/>
          </a:xfrm>
          <a:prstGeom prst="rect">
            <a:avLst/>
          </a:prstGeom>
          <a:noFill/>
          <a:ln/>
        </p:spPr>
        <p:txBody>
          <a:bodyPr wrap="square" lIns="0" tIns="0" rIns="0" bIns="0" rtlCol="0" anchor="ctr"/>
          <a:lstStyle/>
          <a:p>
            <a:pPr algn="l" indent="0" marL="0">
              <a:lnSpc>
                <a:spcPct val="108000"/>
              </a:lnSpc>
              <a:buNone/>
            </a:pPr>
            <a:r>
              <a:rPr lang="en-US" sz="860" b="1" dirty="0">
                <a:solidFill>
                  <a:srgbClr val="0F172A"/>
                </a:solidFill>
                <a:latin typeface="Arial" pitchFamily="34" charset="0"/>
                <a:ea typeface="Arial" pitchFamily="34" charset="-122"/>
                <a:cs typeface="Arial" pitchFamily="34" charset="-120"/>
              </a:rPr>
              <a:t>Warehouse queries carry cryptographic principal headers into Trino query logs while ClickHouse row policies return zero rows on cross-tenant probes.</a:t>
            </a:r>
            <a:endParaRPr lang="en-US" sz="860" dirty="0"/>
          </a:p>
        </p:txBody>
      </p:sp>
      <p:sp>
        <p:nvSpPr>
          <p:cNvPr id="84" name="Shape 78"/>
          <p:cNvSpPr/>
          <p:nvPr/>
        </p:nvSpPr>
        <p:spPr>
          <a:xfrm>
            <a:off x="9695383" y="6025896"/>
            <a:ext cx="1965960" cy="256032"/>
          </a:xfrm>
          <a:prstGeom prst="roundRect">
            <a:avLst>
              <a:gd name="adj" fmla="val 17857"/>
            </a:avLst>
          </a:prstGeom>
          <a:solidFill>
            <a:srgbClr val="FFFFFF"/>
          </a:solidFill>
          <a:ln w="10795">
            <a:solidFill>
              <a:srgbClr val="4338CA"/>
            </a:solidFill>
            <a:prstDash val="solid"/>
          </a:ln>
        </p:spPr>
      </p:sp>
      <p:sp>
        <p:nvSpPr>
          <p:cNvPr id="85" name="Text 79"/>
          <p:cNvSpPr/>
          <p:nvPr/>
        </p:nvSpPr>
        <p:spPr>
          <a:xfrm>
            <a:off x="9695383" y="6025896"/>
            <a:ext cx="1965960" cy="256032"/>
          </a:xfrm>
          <a:prstGeom prst="rect">
            <a:avLst/>
          </a:prstGeom>
          <a:noFill/>
          <a:ln/>
        </p:spPr>
        <p:txBody>
          <a:bodyPr wrap="square" lIns="0" tIns="0" rIns="0" bIns="0" rtlCol="0" anchor="ctr"/>
          <a:lstStyle/>
          <a:p>
            <a:pPr algn="ctr" indent="0" marL="0">
              <a:lnSpc>
                <a:spcPct val="105000"/>
              </a:lnSpc>
              <a:buNone/>
            </a:pPr>
            <a:r>
              <a:rPr lang="en-US" sz="740" b="1" dirty="0">
                <a:solidFill>
                  <a:srgbClr val="4338CA"/>
                </a:solidFill>
                <a:latin typeface="Arial" pitchFamily="34" charset="0"/>
                <a:ea typeface="Arial" pitchFamily="34" charset="-122"/>
                <a:cs typeface="Arial" pitchFamily="34" charset="-120"/>
              </a:rPr>
              <a:t>Pairs 06–07 / 10 Verified</a:t>
            </a:r>
            <a:endParaRPr lang="en-US" sz="74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1148"/>
          </a:xfrm>
          <a:prstGeom prst="rect">
            <a:avLst/>
          </a:prstGeom>
          <a:solidFill>
            <a:srgbClr val="047857"/>
          </a:solidFill>
          <a:ln/>
        </p:spPr>
      </p:sp>
      <p:sp>
        <p:nvSpPr>
          <p:cNvPr id="3" name="Shape 1"/>
          <p:cNvSpPr/>
          <p:nvPr/>
        </p:nvSpPr>
        <p:spPr>
          <a:xfrm>
            <a:off x="438912" y="192024"/>
            <a:ext cx="59436" cy="621792"/>
          </a:xfrm>
          <a:prstGeom prst="roundRect">
            <a:avLst>
              <a:gd name="adj" fmla="val 46154"/>
            </a:avLst>
          </a:prstGeom>
          <a:solidFill>
            <a:srgbClr val="047857"/>
          </a:solidFill>
          <a:ln/>
        </p:spPr>
      </p:sp>
      <p:sp>
        <p:nvSpPr>
          <p:cNvPr id="4" name="Text 2"/>
          <p:cNvSpPr/>
          <p:nvPr/>
        </p:nvSpPr>
        <p:spPr>
          <a:xfrm>
            <a:off x="576072" y="173736"/>
            <a:ext cx="4389120" cy="146304"/>
          </a:xfrm>
          <a:prstGeom prst="rect">
            <a:avLst/>
          </a:prstGeom>
          <a:noFill/>
          <a:ln/>
        </p:spPr>
        <p:txBody>
          <a:bodyPr wrap="square" lIns="0" tIns="0" rIns="0" bIns="0" rtlCol="0" anchor="ctr"/>
          <a:lstStyle/>
          <a:p>
            <a:pPr algn="l" indent="0" marL="0">
              <a:lnSpc>
                <a:spcPct val="105000"/>
              </a:lnSpc>
              <a:buNone/>
            </a:pPr>
            <a:r>
              <a:rPr lang="en-US" sz="750" b="1" spc="110" kern="0" dirty="0">
                <a:solidFill>
                  <a:srgbClr val="047857"/>
                </a:solidFill>
                <a:latin typeface="Arial" pitchFamily="34" charset="0"/>
                <a:ea typeface="Arial" pitchFamily="34" charset="-122"/>
                <a:cs typeface="Arial" pitchFamily="34" charset="-120"/>
              </a:rPr>
              <a:t>06 / EMPIRICAL PROOFS</a:t>
            </a:r>
            <a:endParaRPr lang="en-US" sz="750" dirty="0"/>
          </a:p>
        </p:txBody>
      </p:sp>
      <p:sp>
        <p:nvSpPr>
          <p:cNvPr id="5" name="Shape 3"/>
          <p:cNvSpPr/>
          <p:nvPr/>
        </p:nvSpPr>
        <p:spPr>
          <a:xfrm>
            <a:off x="8183880" y="219456"/>
            <a:ext cx="228600" cy="59436"/>
          </a:xfrm>
          <a:prstGeom prst="roundRect">
            <a:avLst>
              <a:gd name="adj" fmla="val 46154"/>
            </a:avLst>
          </a:prstGeom>
          <a:solidFill>
            <a:srgbClr val="94A3B8"/>
          </a:solidFill>
          <a:ln/>
        </p:spPr>
      </p:sp>
      <p:sp>
        <p:nvSpPr>
          <p:cNvPr id="6" name="Shape 4"/>
          <p:cNvSpPr/>
          <p:nvPr/>
        </p:nvSpPr>
        <p:spPr>
          <a:xfrm>
            <a:off x="8453628" y="219456"/>
            <a:ext cx="228600" cy="59436"/>
          </a:xfrm>
          <a:prstGeom prst="roundRect">
            <a:avLst>
              <a:gd name="adj" fmla="val 46154"/>
            </a:avLst>
          </a:prstGeom>
          <a:solidFill>
            <a:srgbClr val="94A3B8"/>
          </a:solidFill>
          <a:ln/>
        </p:spPr>
      </p:sp>
      <p:sp>
        <p:nvSpPr>
          <p:cNvPr id="7" name="Shape 5"/>
          <p:cNvSpPr/>
          <p:nvPr/>
        </p:nvSpPr>
        <p:spPr>
          <a:xfrm>
            <a:off x="8723376" y="219456"/>
            <a:ext cx="228600" cy="59436"/>
          </a:xfrm>
          <a:prstGeom prst="roundRect">
            <a:avLst>
              <a:gd name="adj" fmla="val 46154"/>
            </a:avLst>
          </a:prstGeom>
          <a:solidFill>
            <a:srgbClr val="94A3B8"/>
          </a:solidFill>
          <a:ln/>
        </p:spPr>
      </p:sp>
      <p:sp>
        <p:nvSpPr>
          <p:cNvPr id="8" name="Shape 6"/>
          <p:cNvSpPr/>
          <p:nvPr/>
        </p:nvSpPr>
        <p:spPr>
          <a:xfrm>
            <a:off x="8993124" y="219456"/>
            <a:ext cx="228600" cy="59436"/>
          </a:xfrm>
          <a:prstGeom prst="roundRect">
            <a:avLst>
              <a:gd name="adj" fmla="val 46154"/>
            </a:avLst>
          </a:prstGeom>
          <a:solidFill>
            <a:srgbClr val="94A3B8"/>
          </a:solidFill>
          <a:ln/>
        </p:spPr>
      </p:sp>
      <p:sp>
        <p:nvSpPr>
          <p:cNvPr id="9" name="Shape 7"/>
          <p:cNvSpPr/>
          <p:nvPr/>
        </p:nvSpPr>
        <p:spPr>
          <a:xfrm>
            <a:off x="9262872" y="219456"/>
            <a:ext cx="228600" cy="59436"/>
          </a:xfrm>
          <a:prstGeom prst="roundRect">
            <a:avLst>
              <a:gd name="adj" fmla="val 46154"/>
            </a:avLst>
          </a:prstGeom>
          <a:solidFill>
            <a:srgbClr val="94A3B8"/>
          </a:solidFill>
          <a:ln/>
        </p:spPr>
      </p:sp>
      <p:sp>
        <p:nvSpPr>
          <p:cNvPr id="10" name="Shape 8"/>
          <p:cNvSpPr/>
          <p:nvPr/>
        </p:nvSpPr>
        <p:spPr>
          <a:xfrm>
            <a:off x="9532620" y="219456"/>
            <a:ext cx="228600" cy="59436"/>
          </a:xfrm>
          <a:prstGeom prst="roundRect">
            <a:avLst>
              <a:gd name="adj" fmla="val 46154"/>
            </a:avLst>
          </a:prstGeom>
          <a:solidFill>
            <a:srgbClr val="047857"/>
          </a:solidFill>
          <a:ln/>
        </p:spPr>
      </p:sp>
      <p:sp>
        <p:nvSpPr>
          <p:cNvPr id="11" name="Shape 9"/>
          <p:cNvSpPr/>
          <p:nvPr/>
        </p:nvSpPr>
        <p:spPr>
          <a:xfrm>
            <a:off x="9802368" y="219456"/>
            <a:ext cx="228600" cy="59436"/>
          </a:xfrm>
          <a:prstGeom prst="roundRect">
            <a:avLst>
              <a:gd name="adj" fmla="val 46154"/>
            </a:avLst>
          </a:prstGeom>
          <a:solidFill>
            <a:srgbClr val="E2E8F0"/>
          </a:solidFill>
          <a:ln/>
        </p:spPr>
      </p:sp>
      <p:sp>
        <p:nvSpPr>
          <p:cNvPr id="12" name="Shape 10"/>
          <p:cNvSpPr/>
          <p:nvPr/>
        </p:nvSpPr>
        <p:spPr>
          <a:xfrm>
            <a:off x="10131552" y="146304"/>
            <a:ext cx="1621231" cy="192024"/>
          </a:xfrm>
          <a:prstGeom prst="roundRect">
            <a:avLst>
              <a:gd name="adj" fmla="val 23810"/>
            </a:avLst>
          </a:prstGeom>
          <a:solidFill>
            <a:srgbClr val="FFFFFF"/>
          </a:solidFill>
          <a:ln w="9525">
            <a:solidFill>
              <a:srgbClr val="CBD5E1"/>
            </a:solidFill>
            <a:prstDash val="solid"/>
          </a:ln>
        </p:spPr>
      </p:sp>
      <p:sp>
        <p:nvSpPr>
          <p:cNvPr id="13" name="Text 11"/>
          <p:cNvSpPr/>
          <p:nvPr/>
        </p:nvSpPr>
        <p:spPr>
          <a:xfrm>
            <a:off x="10131552" y="146304"/>
            <a:ext cx="1621231" cy="192024"/>
          </a:xfrm>
          <a:prstGeom prst="rect">
            <a:avLst/>
          </a:prstGeom>
          <a:noFill/>
          <a:ln/>
        </p:spPr>
        <p:txBody>
          <a:bodyPr wrap="square" lIns="0" tIns="0" rIns="0" bIns="0" rtlCol="0" anchor="ctr"/>
          <a:lstStyle/>
          <a:p>
            <a:pPr algn="ctr" indent="0" marL="0">
              <a:lnSpc>
                <a:spcPct val="105000"/>
              </a:lnSpc>
              <a:buNone/>
            </a:pPr>
            <a:r>
              <a:rPr lang="en-US" sz="680" b="1" spc="60" kern="0" dirty="0">
                <a:solidFill>
                  <a:srgbClr val="047857"/>
                </a:solidFill>
                <a:latin typeface="Arial" pitchFamily="34" charset="0"/>
                <a:ea typeface="Arial" pitchFamily="34" charset="-122"/>
                <a:cs typeface="Arial" pitchFamily="34" charset="-120"/>
              </a:rPr>
              <a:t>RETINA UI PROOF • 3 OF 5</a:t>
            </a:r>
            <a:endParaRPr lang="en-US" sz="680" dirty="0"/>
          </a:p>
        </p:txBody>
      </p:sp>
      <p:sp>
        <p:nvSpPr>
          <p:cNvPr id="14" name="Text 12"/>
          <p:cNvSpPr/>
          <p:nvPr/>
        </p:nvSpPr>
        <p:spPr>
          <a:xfrm>
            <a:off x="576072" y="338328"/>
            <a:ext cx="11176711" cy="310896"/>
          </a:xfrm>
          <a:prstGeom prst="rect">
            <a:avLst/>
          </a:prstGeom>
          <a:noFill/>
          <a:ln/>
        </p:spPr>
        <p:txBody>
          <a:bodyPr wrap="square" lIns="0" tIns="0" rIns="0" bIns="0" rtlCol="0" anchor="ctr"/>
          <a:lstStyle/>
          <a:p>
            <a:pPr algn="l" indent="0" marL="0">
              <a:lnSpc>
                <a:spcPct val="104000"/>
              </a:lnSpc>
              <a:buNone/>
            </a:pPr>
            <a:r>
              <a:rPr lang="en-US" sz="1750" b="1" dirty="0">
                <a:solidFill>
                  <a:srgbClr val="0F172A"/>
                </a:solidFill>
                <a:latin typeface="Arial" pitchFamily="34" charset="0"/>
                <a:ea typeface="Arial" pitchFamily="34" charset="-122"/>
                <a:cs typeface="Arial" pitchFamily="34" charset="-120"/>
              </a:rPr>
              <a:t>Genuine 3P Before → After (3/5): ITSM Change Control &amp; DLP Escalations</a:t>
            </a:r>
            <a:endParaRPr lang="en-US" sz="1750" dirty="0"/>
          </a:p>
        </p:txBody>
      </p:sp>
      <p:sp>
        <p:nvSpPr>
          <p:cNvPr id="15" name="Text 13"/>
          <p:cNvSpPr/>
          <p:nvPr/>
        </p:nvSpPr>
        <p:spPr>
          <a:xfrm>
            <a:off x="576072" y="658368"/>
            <a:ext cx="11176711" cy="192024"/>
          </a:xfrm>
          <a:prstGeom prst="rect">
            <a:avLst/>
          </a:prstGeom>
          <a:noFill/>
          <a:ln/>
        </p:spPr>
        <p:txBody>
          <a:bodyPr wrap="square" lIns="0" tIns="0" rIns="0" bIns="0" rtlCol="0" anchor="ctr"/>
          <a:lstStyle/>
          <a:p>
            <a:pPr algn="l" indent="0" marL="0">
              <a:lnSpc>
                <a:spcPct val="104000"/>
              </a:lnSpc>
              <a:buNone/>
            </a:pPr>
            <a:r>
              <a:rPr lang="en-US" sz="900" dirty="0">
                <a:solidFill>
                  <a:srgbClr val="64748B"/>
                </a:solidFill>
                <a:latin typeface="Arial" pitchFamily="34" charset="0"/>
                <a:ea typeface="Arial" pitchFamily="34" charset="-122"/>
                <a:cs typeface="Arial" pitchFamily="34" charset="-120"/>
              </a:rPr>
              <a:t>Unstretched 2880×1800 captures from live Redmine v5.1 (ServiceNow ITSM tier) and Gitea v1.22.3 (Salesforce CRM &amp; Jira tier).</a:t>
            </a:r>
            <a:endParaRPr lang="en-US" sz="900" dirty="0"/>
          </a:p>
        </p:txBody>
      </p:sp>
      <p:sp>
        <p:nvSpPr>
          <p:cNvPr id="16" name="Shape 14"/>
          <p:cNvSpPr/>
          <p:nvPr/>
        </p:nvSpPr>
        <p:spPr>
          <a:xfrm>
            <a:off x="438912" y="914400"/>
            <a:ext cx="11313871" cy="0"/>
          </a:xfrm>
          <a:prstGeom prst="line">
            <a:avLst/>
          </a:prstGeom>
          <a:noFill/>
          <a:ln w="10795">
            <a:solidFill>
              <a:srgbClr val="E2E8F0"/>
            </a:solidFill>
            <a:prstDash val="solid"/>
          </a:ln>
        </p:spPr>
      </p:sp>
      <p:sp>
        <p:nvSpPr>
          <p:cNvPr id="17" name="Shape 15"/>
          <p:cNvSpPr/>
          <p:nvPr/>
        </p:nvSpPr>
        <p:spPr>
          <a:xfrm>
            <a:off x="438912" y="6455664"/>
            <a:ext cx="11313871" cy="0"/>
          </a:xfrm>
          <a:prstGeom prst="line">
            <a:avLst/>
          </a:prstGeom>
          <a:noFill/>
          <a:ln w="9525">
            <a:solidFill>
              <a:srgbClr val="E2E8F0"/>
            </a:solidFill>
            <a:prstDash val="solid"/>
          </a:ln>
        </p:spPr>
      </p:sp>
      <p:sp>
        <p:nvSpPr>
          <p:cNvPr id="18" name="Text 16"/>
          <p:cNvSpPr/>
          <p:nvPr/>
        </p:nvSpPr>
        <p:spPr>
          <a:xfrm>
            <a:off x="438912" y="6501384"/>
            <a:ext cx="5852160" cy="192024"/>
          </a:xfrm>
          <a:prstGeom prst="rect">
            <a:avLst/>
          </a:prstGeom>
          <a:noFill/>
          <a:ln/>
        </p:spPr>
        <p:txBody>
          <a:bodyPr wrap="square" lIns="0" tIns="0" rIns="0" bIns="0" rtlCol="0" anchor="ctr"/>
          <a:lstStyle/>
          <a:p>
            <a:pPr algn="l" indent="0" marL="0">
              <a:lnSpc>
                <a:spcPct val="105000"/>
              </a:lnSpc>
              <a:buNone/>
            </a:pPr>
            <a:r>
              <a:rPr lang="en-US" sz="680" b="1" spc="40" kern="0" dirty="0">
                <a:solidFill>
                  <a:srgbClr val="64748B"/>
                </a:solidFill>
                <a:latin typeface="Arial" pitchFamily="34" charset="0"/>
                <a:ea typeface="Arial" pitchFamily="34" charset="-122"/>
                <a:cs typeface="Arial" pitchFamily="34" charset="-120"/>
              </a:rPr>
              <a:t>GOOGLE CLOUD AI ARCHITECTURE  •  BLOG 1: MULTI-TENANT AGENTIC AI TAXONOMY &amp; 5-HOP BASELINE</a:t>
            </a:r>
            <a:endParaRPr lang="en-US" sz="680" dirty="0"/>
          </a:p>
        </p:txBody>
      </p:sp>
      <p:sp>
        <p:nvSpPr>
          <p:cNvPr id="19" name="Text 17"/>
          <p:cNvSpPr/>
          <p:nvPr/>
        </p:nvSpPr>
        <p:spPr>
          <a:xfrm>
            <a:off x="6355080" y="6501384"/>
            <a:ext cx="4206240" cy="192024"/>
          </a:xfrm>
          <a:prstGeom prst="rect">
            <a:avLst/>
          </a:prstGeom>
          <a:noFill/>
          <a:ln/>
        </p:spPr>
        <p:txBody>
          <a:bodyPr wrap="square" lIns="0" tIns="0" rIns="0" bIns="0" rtlCol="0" anchor="ctr"/>
          <a:lstStyle/>
          <a:p>
            <a:pPr algn="r" indent="0" marL="0">
              <a:lnSpc>
                <a:spcPct val="105000"/>
              </a:lnSpc>
              <a:buNone/>
            </a:pPr>
            <a:r>
              <a:rPr lang="en-US" sz="680" dirty="0">
                <a:solidFill>
                  <a:srgbClr val="64748B"/>
                </a:solidFill>
                <a:latin typeface="Arial" pitchFamily="34" charset="0"/>
                <a:ea typeface="Arial" pitchFamily="34" charset="-122"/>
                <a:cs typeface="Arial" pitchFamily="34" charset="-120"/>
              </a:rPr>
              <a:t>docs/genuine_3p_before_after_provenance_receipt.json  •  Unstretched 2880×1800 (1.60:1) Retina</a:t>
            </a:r>
            <a:endParaRPr lang="en-US" sz="680" dirty="0"/>
          </a:p>
        </p:txBody>
      </p:sp>
      <p:sp>
        <p:nvSpPr>
          <p:cNvPr id="20" name="Shape 18"/>
          <p:cNvSpPr/>
          <p:nvPr/>
        </p:nvSpPr>
        <p:spPr>
          <a:xfrm>
            <a:off x="11002975" y="6501384"/>
            <a:ext cx="749808" cy="192024"/>
          </a:xfrm>
          <a:prstGeom prst="roundRect">
            <a:avLst>
              <a:gd name="adj" fmla="val 19048"/>
            </a:avLst>
          </a:prstGeom>
          <a:solidFill>
            <a:srgbClr val="F1F5F9"/>
          </a:solidFill>
          <a:ln w="7620">
            <a:solidFill>
              <a:srgbClr val="E2E8F0"/>
            </a:solidFill>
            <a:prstDash val="solid"/>
          </a:ln>
        </p:spPr>
      </p:sp>
      <p:sp>
        <p:nvSpPr>
          <p:cNvPr id="21" name="Text 19"/>
          <p:cNvSpPr/>
          <p:nvPr/>
        </p:nvSpPr>
        <p:spPr>
          <a:xfrm>
            <a:off x="11002975" y="6501384"/>
            <a:ext cx="749808" cy="192024"/>
          </a:xfrm>
          <a:prstGeom prst="rect">
            <a:avLst/>
          </a:prstGeom>
          <a:noFill/>
          <a:ln/>
        </p:spPr>
        <p:txBody>
          <a:bodyPr wrap="square" lIns="0" tIns="0" rIns="0" bIns="0" rtlCol="0" anchor="ctr"/>
          <a:lstStyle/>
          <a:p>
            <a:pPr algn="ctr" indent="0" marL="0">
              <a:lnSpc>
                <a:spcPct val="105000"/>
              </a:lnSpc>
              <a:buNone/>
            </a:pPr>
            <a:r>
              <a:rPr lang="en-US" sz="700" b="1" dirty="0">
                <a:solidFill>
                  <a:srgbClr val="334155"/>
                </a:solidFill>
                <a:latin typeface="Arial" pitchFamily="34" charset="0"/>
                <a:ea typeface="Arial" pitchFamily="34" charset="-122"/>
                <a:cs typeface="Arial" pitchFamily="34" charset="-120"/>
              </a:rPr>
              <a:t>19 / 23</a:t>
            </a:r>
            <a:endParaRPr lang="en-US" sz="700" dirty="0"/>
          </a:p>
        </p:txBody>
      </p:sp>
      <p:sp>
        <p:nvSpPr>
          <p:cNvPr id="22" name="Shape 20"/>
          <p:cNvSpPr/>
          <p:nvPr/>
        </p:nvSpPr>
        <p:spPr>
          <a:xfrm>
            <a:off x="461772" y="1068019"/>
            <a:ext cx="3218688" cy="2231136"/>
          </a:xfrm>
          <a:prstGeom prst="roundRect">
            <a:avLst>
              <a:gd name="adj" fmla="val 2869"/>
            </a:avLst>
          </a:prstGeom>
          <a:solidFill>
            <a:srgbClr val="E2E8F0"/>
          </a:solidFill>
          <a:ln/>
        </p:spPr>
      </p:sp>
      <p:sp>
        <p:nvSpPr>
          <p:cNvPr id="23" name="Shape 21"/>
          <p:cNvSpPr/>
          <p:nvPr/>
        </p:nvSpPr>
        <p:spPr>
          <a:xfrm>
            <a:off x="438912" y="1042416"/>
            <a:ext cx="3218688" cy="2231136"/>
          </a:xfrm>
          <a:prstGeom prst="roundRect">
            <a:avLst>
              <a:gd name="adj" fmla="val 2869"/>
            </a:avLst>
          </a:prstGeom>
          <a:solidFill>
            <a:srgbClr val="FFFFFF"/>
          </a:solidFill>
          <a:ln w="10795">
            <a:solidFill>
              <a:srgbClr val="FECACA"/>
            </a:solidFill>
            <a:prstDash val="solid"/>
          </a:ln>
        </p:spPr>
      </p:sp>
      <p:sp>
        <p:nvSpPr>
          <p:cNvPr id="24" name="Shape 22"/>
          <p:cNvSpPr/>
          <p:nvPr/>
        </p:nvSpPr>
        <p:spPr>
          <a:xfrm>
            <a:off x="438912" y="1042416"/>
            <a:ext cx="3218688" cy="219456"/>
          </a:xfrm>
          <a:prstGeom prst="rect">
            <a:avLst/>
          </a:prstGeom>
          <a:solidFill>
            <a:srgbClr val="FEF2F2"/>
          </a:solidFill>
          <a:ln w="7620">
            <a:solidFill>
              <a:srgbClr val="FECACA"/>
            </a:solidFill>
            <a:prstDash val="solid"/>
          </a:ln>
        </p:spPr>
      </p:sp>
      <p:sp>
        <p:nvSpPr>
          <p:cNvPr id="25" name="Shape 23"/>
          <p:cNvSpPr/>
          <p:nvPr/>
        </p:nvSpPr>
        <p:spPr>
          <a:xfrm>
            <a:off x="512064" y="1115568"/>
            <a:ext cx="68580" cy="68580"/>
          </a:xfrm>
          <a:prstGeom prst="ellipse">
            <a:avLst/>
          </a:prstGeom>
          <a:solidFill>
            <a:srgbClr val="EF4444"/>
          </a:solidFill>
          <a:ln/>
        </p:spPr>
      </p:sp>
      <p:sp>
        <p:nvSpPr>
          <p:cNvPr id="26" name="Shape 24"/>
          <p:cNvSpPr/>
          <p:nvPr/>
        </p:nvSpPr>
        <p:spPr>
          <a:xfrm>
            <a:off x="612648" y="1115568"/>
            <a:ext cx="68580" cy="68580"/>
          </a:xfrm>
          <a:prstGeom prst="ellipse">
            <a:avLst/>
          </a:prstGeom>
          <a:solidFill>
            <a:srgbClr val="F59E0B"/>
          </a:solidFill>
          <a:ln/>
        </p:spPr>
      </p:sp>
      <p:sp>
        <p:nvSpPr>
          <p:cNvPr id="27" name="Shape 25"/>
          <p:cNvSpPr/>
          <p:nvPr/>
        </p:nvSpPr>
        <p:spPr>
          <a:xfrm>
            <a:off x="713232" y="1115568"/>
            <a:ext cx="68580" cy="68580"/>
          </a:xfrm>
          <a:prstGeom prst="ellipse">
            <a:avLst/>
          </a:prstGeom>
          <a:solidFill>
            <a:srgbClr val="10B981"/>
          </a:solidFill>
          <a:ln/>
        </p:spPr>
      </p:sp>
      <p:sp>
        <p:nvSpPr>
          <p:cNvPr id="28" name="Text 26"/>
          <p:cNvSpPr/>
          <p:nvPr/>
        </p:nvSpPr>
        <p:spPr>
          <a:xfrm>
            <a:off x="841248" y="1060704"/>
            <a:ext cx="2761488" cy="182880"/>
          </a:xfrm>
          <a:prstGeom prst="rect">
            <a:avLst/>
          </a:prstGeom>
          <a:noFill/>
          <a:ln/>
        </p:spPr>
        <p:txBody>
          <a:bodyPr wrap="square" lIns="0" tIns="0" rIns="0" bIns="0" rtlCol="0" anchor="ctr"/>
          <a:lstStyle/>
          <a:p>
            <a:pPr algn="l" indent="0" marL="0">
              <a:lnSpc>
                <a:spcPct val="100000"/>
              </a:lnSpc>
              <a:buNone/>
            </a:pPr>
            <a:r>
              <a:rPr lang="en-US" sz="640" b="1" dirty="0">
                <a:solidFill>
                  <a:srgbClr val="B91C1C"/>
                </a:solidFill>
                <a:latin typeface="Arial" pitchFamily="34" charset="0"/>
                <a:ea typeface="Arial" pitchFamily="34" charset="-122"/>
                <a:cs typeface="Arial" pitchFamily="34" charset="-120"/>
              </a:rPr>
              <a:t>BEFORE: FinVault ITSM Queue (2 Open Issues)</a:t>
            </a:r>
            <a:endParaRPr lang="en-US" sz="640" dirty="0"/>
          </a:p>
        </p:txBody>
      </p:sp>
      <p:pic>
        <p:nvPicPr>
          <p:cNvPr id="29" name="Image 0" descr="preencoded.png">    </p:cNvPr>
          <p:cNvPicPr>
            <a:picLocks noChangeAspect="1"/>
          </p:cNvPicPr>
          <p:nvPr/>
        </p:nvPicPr>
        <p:blipFill>
          <a:blip r:embed="rId1"/>
          <a:stretch>
            <a:fillRect/>
          </a:stretch>
        </p:blipFill>
        <p:spPr>
          <a:xfrm>
            <a:off x="438912" y="1261872"/>
            <a:ext cx="3218688" cy="2011680"/>
          </a:xfrm>
          <a:prstGeom prst="rect">
            <a:avLst/>
          </a:prstGeom>
        </p:spPr>
      </p:pic>
      <p:sp>
        <p:nvSpPr>
          <p:cNvPr id="30" name="Shape 27"/>
          <p:cNvSpPr/>
          <p:nvPr/>
        </p:nvSpPr>
        <p:spPr>
          <a:xfrm>
            <a:off x="438912" y="1042416"/>
            <a:ext cx="3218688" cy="2231136"/>
          </a:xfrm>
          <a:prstGeom prst="rect">
            <a:avLst/>
          </a:prstGeom>
          <a:ln w="11430">
            <a:solidFill>
              <a:srgbClr val="B91C1C"/>
            </a:solidFill>
            <a:prstDash val="solid"/>
          </a:ln>
        </p:spPr>
      </p:sp>
      <p:sp>
        <p:nvSpPr>
          <p:cNvPr id="31" name="Shape 28"/>
          <p:cNvSpPr/>
          <p:nvPr/>
        </p:nvSpPr>
        <p:spPr>
          <a:xfrm>
            <a:off x="3694176" y="2157984"/>
            <a:ext cx="310896" cy="0"/>
          </a:xfrm>
          <a:prstGeom prst="line">
            <a:avLst/>
          </a:prstGeom>
          <a:noFill/>
          <a:ln w="22860">
            <a:solidFill>
              <a:srgbClr val="0F766E"/>
            </a:solidFill>
            <a:prstDash val="solid"/>
            <a:tailEnd type="triangle" w="sm" len="sm"/>
          </a:ln>
        </p:spPr>
      </p:sp>
      <p:sp>
        <p:nvSpPr>
          <p:cNvPr id="32" name="Shape 29"/>
          <p:cNvSpPr/>
          <p:nvPr/>
        </p:nvSpPr>
        <p:spPr>
          <a:xfrm>
            <a:off x="4064508" y="1068019"/>
            <a:ext cx="3218688" cy="2231136"/>
          </a:xfrm>
          <a:prstGeom prst="roundRect">
            <a:avLst>
              <a:gd name="adj" fmla="val 2869"/>
            </a:avLst>
          </a:prstGeom>
          <a:solidFill>
            <a:srgbClr val="E2E8F0"/>
          </a:solidFill>
          <a:ln/>
        </p:spPr>
      </p:sp>
      <p:sp>
        <p:nvSpPr>
          <p:cNvPr id="33" name="Shape 30"/>
          <p:cNvSpPr/>
          <p:nvPr/>
        </p:nvSpPr>
        <p:spPr>
          <a:xfrm>
            <a:off x="4041648" y="1042416"/>
            <a:ext cx="3218688" cy="2231136"/>
          </a:xfrm>
          <a:prstGeom prst="roundRect">
            <a:avLst>
              <a:gd name="adj" fmla="val 2869"/>
            </a:avLst>
          </a:prstGeom>
          <a:solidFill>
            <a:srgbClr val="FFFFFF"/>
          </a:solidFill>
          <a:ln w="10795">
            <a:solidFill>
              <a:srgbClr val="A7F3D0"/>
            </a:solidFill>
            <a:prstDash val="solid"/>
          </a:ln>
        </p:spPr>
      </p:sp>
      <p:sp>
        <p:nvSpPr>
          <p:cNvPr id="34" name="Shape 31"/>
          <p:cNvSpPr/>
          <p:nvPr/>
        </p:nvSpPr>
        <p:spPr>
          <a:xfrm>
            <a:off x="4041648" y="1042416"/>
            <a:ext cx="3218688" cy="219456"/>
          </a:xfrm>
          <a:prstGeom prst="rect">
            <a:avLst/>
          </a:prstGeom>
          <a:solidFill>
            <a:srgbClr val="ECFDF5"/>
          </a:solidFill>
          <a:ln w="7620">
            <a:solidFill>
              <a:srgbClr val="A7F3D0"/>
            </a:solidFill>
            <a:prstDash val="solid"/>
          </a:ln>
        </p:spPr>
      </p:sp>
      <p:sp>
        <p:nvSpPr>
          <p:cNvPr id="35" name="Shape 32"/>
          <p:cNvSpPr/>
          <p:nvPr/>
        </p:nvSpPr>
        <p:spPr>
          <a:xfrm>
            <a:off x="4114800" y="1115568"/>
            <a:ext cx="68580" cy="68580"/>
          </a:xfrm>
          <a:prstGeom prst="ellipse">
            <a:avLst/>
          </a:prstGeom>
          <a:solidFill>
            <a:srgbClr val="EF4444"/>
          </a:solidFill>
          <a:ln/>
        </p:spPr>
      </p:sp>
      <p:sp>
        <p:nvSpPr>
          <p:cNvPr id="36" name="Shape 33"/>
          <p:cNvSpPr/>
          <p:nvPr/>
        </p:nvSpPr>
        <p:spPr>
          <a:xfrm>
            <a:off x="4215384" y="1115568"/>
            <a:ext cx="68580" cy="68580"/>
          </a:xfrm>
          <a:prstGeom prst="ellipse">
            <a:avLst/>
          </a:prstGeom>
          <a:solidFill>
            <a:srgbClr val="F59E0B"/>
          </a:solidFill>
          <a:ln/>
        </p:spPr>
      </p:sp>
      <p:sp>
        <p:nvSpPr>
          <p:cNvPr id="37" name="Shape 34"/>
          <p:cNvSpPr/>
          <p:nvPr/>
        </p:nvSpPr>
        <p:spPr>
          <a:xfrm>
            <a:off x="4315968" y="1115568"/>
            <a:ext cx="68580" cy="68580"/>
          </a:xfrm>
          <a:prstGeom prst="ellipse">
            <a:avLst/>
          </a:prstGeom>
          <a:solidFill>
            <a:srgbClr val="10B981"/>
          </a:solidFill>
          <a:ln/>
        </p:spPr>
      </p:sp>
      <p:sp>
        <p:nvSpPr>
          <p:cNvPr id="38" name="Text 35"/>
          <p:cNvSpPr/>
          <p:nvPr/>
        </p:nvSpPr>
        <p:spPr>
          <a:xfrm>
            <a:off x="4443984" y="1060704"/>
            <a:ext cx="2761488" cy="182880"/>
          </a:xfrm>
          <a:prstGeom prst="rect">
            <a:avLst/>
          </a:prstGeom>
          <a:noFill/>
          <a:ln/>
        </p:spPr>
        <p:txBody>
          <a:bodyPr wrap="square" lIns="0" tIns="0" rIns="0" bIns="0" rtlCol="0" anchor="ctr"/>
          <a:lstStyle/>
          <a:p>
            <a:pPr algn="l" indent="0" marL="0">
              <a:lnSpc>
                <a:spcPct val="100000"/>
              </a:lnSpc>
              <a:buNone/>
            </a:pPr>
            <a:r>
              <a:rPr lang="en-US" sz="640" b="1" dirty="0">
                <a:solidFill>
                  <a:srgbClr val="047857"/>
                </a:solidFill>
                <a:latin typeface="Arial" pitchFamily="34" charset="0"/>
                <a:ea typeface="Arial" pitchFamily="34" charset="-122"/>
                <a:cs typeface="Arial" pitchFamily="34" charset="-120"/>
              </a:rPr>
              <a:t>AFTER: P1 CHG0049299 Created Live (3 Issues)</a:t>
            </a:r>
            <a:endParaRPr lang="en-US" sz="640" dirty="0"/>
          </a:p>
        </p:txBody>
      </p:sp>
      <p:pic>
        <p:nvPicPr>
          <p:cNvPr id="39" name="Image 1" descr="preencoded.png">    </p:cNvPr>
          <p:cNvPicPr>
            <a:picLocks noChangeAspect="1"/>
          </p:cNvPicPr>
          <p:nvPr/>
        </p:nvPicPr>
        <p:blipFill>
          <a:blip r:embed="rId2"/>
          <a:stretch>
            <a:fillRect/>
          </a:stretch>
        </p:blipFill>
        <p:spPr>
          <a:xfrm>
            <a:off x="4041648" y="1261872"/>
            <a:ext cx="3218688" cy="2011680"/>
          </a:xfrm>
          <a:prstGeom prst="rect">
            <a:avLst/>
          </a:prstGeom>
        </p:spPr>
      </p:pic>
      <p:sp>
        <p:nvSpPr>
          <p:cNvPr id="40" name="Shape 36"/>
          <p:cNvSpPr/>
          <p:nvPr/>
        </p:nvSpPr>
        <p:spPr>
          <a:xfrm>
            <a:off x="4041648" y="1042416"/>
            <a:ext cx="3218688" cy="2231136"/>
          </a:xfrm>
          <a:prstGeom prst="rect">
            <a:avLst/>
          </a:prstGeom>
          <a:ln w="11430">
            <a:solidFill>
              <a:srgbClr val="047857"/>
            </a:solidFill>
            <a:prstDash val="solid"/>
          </a:ln>
        </p:spPr>
      </p:sp>
      <p:sp>
        <p:nvSpPr>
          <p:cNvPr id="41" name="Shape 37"/>
          <p:cNvSpPr/>
          <p:nvPr/>
        </p:nvSpPr>
        <p:spPr>
          <a:xfrm>
            <a:off x="7502652" y="1068019"/>
            <a:ext cx="4272991" cy="2231136"/>
          </a:xfrm>
          <a:prstGeom prst="roundRect">
            <a:avLst>
              <a:gd name="adj" fmla="val 2869"/>
            </a:avLst>
          </a:prstGeom>
          <a:solidFill>
            <a:srgbClr val="E2E8F0"/>
          </a:solidFill>
          <a:ln/>
        </p:spPr>
      </p:sp>
      <p:sp>
        <p:nvSpPr>
          <p:cNvPr id="42" name="Shape 38"/>
          <p:cNvSpPr/>
          <p:nvPr/>
        </p:nvSpPr>
        <p:spPr>
          <a:xfrm>
            <a:off x="7479792" y="1042416"/>
            <a:ext cx="4272991" cy="2231136"/>
          </a:xfrm>
          <a:prstGeom prst="roundRect">
            <a:avLst>
              <a:gd name="adj" fmla="val 2869"/>
            </a:avLst>
          </a:prstGeom>
          <a:solidFill>
            <a:srgbClr val="FFFFFF"/>
          </a:solidFill>
          <a:ln w="10795">
            <a:solidFill>
              <a:srgbClr val="99F6E4"/>
            </a:solidFill>
            <a:prstDash val="solid"/>
          </a:ln>
        </p:spPr>
      </p:sp>
      <p:sp>
        <p:nvSpPr>
          <p:cNvPr id="43" name="Shape 39"/>
          <p:cNvSpPr/>
          <p:nvPr/>
        </p:nvSpPr>
        <p:spPr>
          <a:xfrm>
            <a:off x="7479792" y="1042416"/>
            <a:ext cx="54864" cy="2231136"/>
          </a:xfrm>
          <a:prstGeom prst="roundRect">
            <a:avLst>
              <a:gd name="adj" fmla="val 33333"/>
            </a:avLst>
          </a:prstGeom>
          <a:solidFill>
            <a:srgbClr val="0F766E"/>
          </a:solidFill>
          <a:ln/>
        </p:spPr>
      </p:sp>
      <p:sp>
        <p:nvSpPr>
          <p:cNvPr id="44" name="Shape 40"/>
          <p:cNvSpPr/>
          <p:nvPr/>
        </p:nvSpPr>
        <p:spPr>
          <a:xfrm>
            <a:off x="7626096" y="1133856"/>
            <a:ext cx="3980383" cy="201168"/>
          </a:xfrm>
          <a:prstGeom prst="roundRect">
            <a:avLst>
              <a:gd name="adj" fmla="val 36364"/>
            </a:avLst>
          </a:prstGeom>
          <a:solidFill>
            <a:srgbClr val="F0FDFA"/>
          </a:solidFill>
          <a:ln w="9525">
            <a:solidFill>
              <a:srgbClr val="99F6E4"/>
            </a:solidFill>
            <a:prstDash val="solid"/>
          </a:ln>
        </p:spPr>
      </p:sp>
      <p:sp>
        <p:nvSpPr>
          <p:cNvPr id="45" name="Text 41"/>
          <p:cNvSpPr/>
          <p:nvPr/>
        </p:nvSpPr>
        <p:spPr>
          <a:xfrm>
            <a:off x="7626096" y="1133856"/>
            <a:ext cx="3980383" cy="201168"/>
          </a:xfrm>
          <a:prstGeom prst="rect">
            <a:avLst/>
          </a:prstGeom>
          <a:noFill/>
          <a:ln/>
        </p:spPr>
        <p:txBody>
          <a:bodyPr wrap="square" lIns="0" tIns="0" rIns="0" bIns="0" rtlCol="0" anchor="ctr"/>
          <a:lstStyle/>
          <a:p>
            <a:pPr algn="ctr" indent="0" marL="0">
              <a:lnSpc>
                <a:spcPct val="105000"/>
              </a:lnSpc>
              <a:buNone/>
            </a:pPr>
            <a:r>
              <a:rPr lang="en-US" sz="620" b="1" dirty="0">
                <a:solidFill>
                  <a:srgbClr val="0F766E"/>
                </a:solidFill>
                <a:latin typeface="Arial" pitchFamily="34" charset="0"/>
                <a:ea typeface="Arial" pitchFamily="34" charset="-122"/>
                <a:cs typeface="Arial" pitchFamily="34" charset="-120"/>
              </a:rPr>
              <a:t>SAAS-03  •  REDMINE ITSM v5.1  •  TARGET ZS9VGYHBQL</a:t>
            </a:r>
            <a:endParaRPr lang="en-US" sz="620" dirty="0"/>
          </a:p>
        </p:txBody>
      </p:sp>
      <p:sp>
        <p:nvSpPr>
          <p:cNvPr id="46" name="Text 42"/>
          <p:cNvSpPr/>
          <p:nvPr/>
        </p:nvSpPr>
        <p:spPr>
          <a:xfrm>
            <a:off x="7626096" y="1371600"/>
            <a:ext cx="3980383" cy="201168"/>
          </a:xfrm>
          <a:prstGeom prst="rect">
            <a:avLst/>
          </a:prstGeom>
          <a:noFill/>
          <a:ln/>
        </p:spPr>
        <p:txBody>
          <a:bodyPr wrap="square" lIns="0" tIns="0" rIns="0" bIns="0" rtlCol="0" anchor="ctr"/>
          <a:lstStyle/>
          <a:p>
            <a:pPr indent="0" marL="0">
              <a:lnSpc>
                <a:spcPct val="105000"/>
              </a:lnSpc>
              <a:buNone/>
            </a:pPr>
            <a:r>
              <a:rPr lang="en-US" sz="920" b="1" dirty="0">
                <a:solidFill>
                  <a:srgbClr val="0F172A"/>
                </a:solidFill>
                <a:latin typeface="Arial" pitchFamily="34" charset="0"/>
                <a:ea typeface="Arial" pitchFamily="34" charset="-122"/>
                <a:cs typeface="Arial" pitchFamily="34" charset="-120"/>
              </a:rPr>
              <a:t>ServiceNow ITSM Tier — Automated Change Attestation</a:t>
            </a:r>
            <a:endParaRPr lang="en-US" sz="920" dirty="0"/>
          </a:p>
        </p:txBody>
      </p:sp>
      <p:sp>
        <p:nvSpPr>
          <p:cNvPr id="47" name="Text 43"/>
          <p:cNvSpPr/>
          <p:nvPr/>
        </p:nvSpPr>
        <p:spPr>
          <a:xfrm>
            <a:off x="7626096" y="1581912"/>
            <a:ext cx="3980383" cy="164592"/>
          </a:xfrm>
          <a:prstGeom prst="rect">
            <a:avLst/>
          </a:prstGeom>
          <a:noFill/>
          <a:ln/>
        </p:spPr>
        <p:txBody>
          <a:bodyPr wrap="square" lIns="0" tIns="0" rIns="0" bIns="0" rtlCol="0" anchor="ctr"/>
          <a:lstStyle/>
          <a:p>
            <a:pPr indent="0" marL="0">
              <a:lnSpc>
                <a:spcPct val="100000"/>
              </a:lnSpc>
              <a:buNone/>
            </a:pPr>
            <a:r>
              <a:rPr lang="en-US" sz="650" b="1" dirty="0">
                <a:solidFill>
                  <a:srgbClr val="0F766E"/>
                </a:solidFill>
                <a:latin typeface="Courier New" pitchFamily="34" charset="0"/>
                <a:ea typeface="Courier New" pitchFamily="34" charset="-122"/>
                <a:cs typeface="Courier New" pitchFamily="34" charset="-120"/>
              </a:rPr>
              <a:t>MCP: query_servicenow_change_records  •  library/redmine:5.1</a:t>
            </a:r>
            <a:endParaRPr lang="en-US" sz="650" dirty="0"/>
          </a:p>
        </p:txBody>
      </p:sp>
      <p:sp>
        <p:nvSpPr>
          <p:cNvPr id="48" name="Text 44"/>
          <p:cNvSpPr/>
          <p:nvPr/>
        </p:nvSpPr>
        <p:spPr>
          <a:xfrm>
            <a:off x="7626096" y="1783080"/>
            <a:ext cx="3980383" cy="1133856"/>
          </a:xfrm>
          <a:prstGeom prst="rect">
            <a:avLst/>
          </a:prstGeom>
          <a:noFill/>
          <a:ln/>
        </p:spPr>
        <p:txBody>
          <a:bodyPr wrap="square" lIns="0" tIns="0" rIns="0" bIns="0" rtlCol="0" anchor="t"/>
          <a:lstStyle/>
          <a:p>
            <a:pPr indent="0" marL="0">
              <a:lnSpc>
                <a:spcPct val="110000"/>
              </a:lnSpc>
              <a:buNone/>
            </a:pPr>
            <a:r>
              <a:rPr lang="en-US" sz="720" b="1" dirty="0">
                <a:solidFill>
                  <a:srgbClr val="B91C1C"/>
                </a:solidFill>
                <a:latin typeface="Arial" pitchFamily="34" charset="0"/>
                <a:ea typeface="Arial" pitchFamily="34" charset="-122"/>
                <a:cs typeface="Arial" pitchFamily="34" charset="-120"/>
              </a:rPr>
              <a:t>• BEFORE: </a:t>
            </a:r>
            <a:pPr indent="0" marL="0">
              <a:lnSpc>
                <a:spcPct val="110000"/>
              </a:lnSpc>
              <a:buNone/>
            </a:pPr>
            <a:r>
              <a:rPr lang="en-US" sz="720" dirty="0">
                <a:solidFill>
                  <a:srgbClr val="334155"/>
                </a:solidFill>
                <a:latin typeface="Arial" pitchFamily="34" charset="0"/>
                <a:ea typeface="Arial" pitchFamily="34" charset="-122"/>
                <a:cs typeface="Arial" pitchFamily="34" charset="-120"/>
              </a:rPr>
              <a:t>Project finvault-itsm queue shows 2 baseline records (#1 CHG0049218 and #2 INC0948211 — footer 1-2/2) before Hop 5 readiness check.
</a:t>
            </a:r>
            <a:pPr indent="0" marL="0">
              <a:lnSpc>
                <a:spcPct val="110000"/>
              </a:lnSpc>
              <a:buNone/>
            </a:pPr>
            <a:r>
              <a:rPr lang="en-US" sz="720" b="1" dirty="0">
                <a:solidFill>
                  <a:srgbClr val="047857"/>
                </a:solidFill>
                <a:latin typeface="Arial" pitchFamily="34" charset="0"/>
                <a:ea typeface="Arial" pitchFamily="34" charset="-122"/>
                <a:cs typeface="Arial" pitchFamily="34" charset="-120"/>
              </a:rPr>
              <a:t>• AFTER: </a:t>
            </a:r>
            <a:pPr indent="0" marL="0">
              <a:lnSpc>
                <a:spcPct val="110000"/>
              </a:lnSpc>
              <a:buNone/>
            </a:pPr>
            <a:r>
              <a:rPr lang="en-US" sz="720" dirty="0">
                <a:solidFill>
                  <a:srgbClr val="0F172A"/>
                </a:solidFill>
                <a:latin typeface="Arial" pitchFamily="34" charset="0"/>
                <a:ea typeface="Arial" pitchFamily="34" charset="-122"/>
                <a:cs typeface="Arial" pitchFamily="34" charset="-120"/>
              </a:rPr>
              <a:t>MCP validates Valkey single-flight + CMEK state and opens #3 CHG0049299 via POST /issues.json (queue updates live to 1-3/3).</a:t>
            </a:r>
            <a:endParaRPr lang="en-US" sz="720" dirty="0"/>
          </a:p>
        </p:txBody>
      </p:sp>
      <p:sp>
        <p:nvSpPr>
          <p:cNvPr id="49" name="Shape 45"/>
          <p:cNvSpPr/>
          <p:nvPr/>
        </p:nvSpPr>
        <p:spPr>
          <a:xfrm>
            <a:off x="7626096" y="2980944"/>
            <a:ext cx="3980383" cy="201168"/>
          </a:xfrm>
          <a:prstGeom prst="roundRect">
            <a:avLst>
              <a:gd name="adj" fmla="val 36364"/>
            </a:avLst>
          </a:prstGeom>
          <a:solidFill>
            <a:srgbClr val="F1F5F9"/>
          </a:solidFill>
          <a:ln w="9525">
            <a:solidFill>
              <a:srgbClr val="CBD5E1"/>
            </a:solidFill>
            <a:prstDash val="solid"/>
          </a:ln>
        </p:spPr>
      </p:sp>
      <p:sp>
        <p:nvSpPr>
          <p:cNvPr id="50" name="Text 46"/>
          <p:cNvSpPr/>
          <p:nvPr/>
        </p:nvSpPr>
        <p:spPr>
          <a:xfrm>
            <a:off x="7626096" y="2980944"/>
            <a:ext cx="3980383" cy="201168"/>
          </a:xfrm>
          <a:prstGeom prst="rect">
            <a:avLst/>
          </a:prstGeom>
          <a:noFill/>
          <a:ln/>
        </p:spPr>
        <p:txBody>
          <a:bodyPr wrap="square" lIns="0" tIns="0" rIns="0" bIns="0" rtlCol="0" anchor="ctr"/>
          <a:lstStyle/>
          <a:p>
            <a:pPr algn="ctr" indent="0" marL="0">
              <a:lnSpc>
                <a:spcPct val="105000"/>
              </a:lnSpc>
              <a:buNone/>
            </a:pPr>
            <a:r>
              <a:rPr lang="en-US" sz="610" b="1" dirty="0">
                <a:solidFill>
                  <a:srgbClr val="475569"/>
                </a:solidFill>
                <a:latin typeface="Arial" pitchFamily="34" charset="0"/>
                <a:ea typeface="Arial" pitchFamily="34" charset="-122"/>
                <a:cs typeface="Arial" pitchFamily="34" charset="-120"/>
              </a:rPr>
              <a:t>SHA-256: 5d9b0c6d (Before) → 394c4576 (After)  •  Pair 03/10</a:t>
            </a:r>
            <a:endParaRPr lang="en-US" sz="610" dirty="0"/>
          </a:p>
        </p:txBody>
      </p:sp>
      <p:sp>
        <p:nvSpPr>
          <p:cNvPr id="51" name="Shape 47"/>
          <p:cNvSpPr/>
          <p:nvPr/>
        </p:nvSpPr>
        <p:spPr>
          <a:xfrm>
            <a:off x="461772" y="3518611"/>
            <a:ext cx="3218688" cy="2231136"/>
          </a:xfrm>
          <a:prstGeom prst="roundRect">
            <a:avLst>
              <a:gd name="adj" fmla="val 2869"/>
            </a:avLst>
          </a:prstGeom>
          <a:solidFill>
            <a:srgbClr val="E2E8F0"/>
          </a:solidFill>
          <a:ln/>
        </p:spPr>
      </p:sp>
      <p:sp>
        <p:nvSpPr>
          <p:cNvPr id="52" name="Shape 48"/>
          <p:cNvSpPr/>
          <p:nvPr/>
        </p:nvSpPr>
        <p:spPr>
          <a:xfrm>
            <a:off x="438912" y="3493008"/>
            <a:ext cx="3218688" cy="2231136"/>
          </a:xfrm>
          <a:prstGeom prst="roundRect">
            <a:avLst>
              <a:gd name="adj" fmla="val 2869"/>
            </a:avLst>
          </a:prstGeom>
          <a:solidFill>
            <a:srgbClr val="FFFFFF"/>
          </a:solidFill>
          <a:ln w="10795">
            <a:solidFill>
              <a:srgbClr val="FECACA"/>
            </a:solidFill>
            <a:prstDash val="solid"/>
          </a:ln>
        </p:spPr>
      </p:sp>
      <p:sp>
        <p:nvSpPr>
          <p:cNvPr id="53" name="Shape 49"/>
          <p:cNvSpPr/>
          <p:nvPr/>
        </p:nvSpPr>
        <p:spPr>
          <a:xfrm>
            <a:off x="438912" y="3493008"/>
            <a:ext cx="3218688" cy="219456"/>
          </a:xfrm>
          <a:prstGeom prst="rect">
            <a:avLst/>
          </a:prstGeom>
          <a:solidFill>
            <a:srgbClr val="FEF2F2"/>
          </a:solidFill>
          <a:ln w="7620">
            <a:solidFill>
              <a:srgbClr val="FECACA"/>
            </a:solidFill>
            <a:prstDash val="solid"/>
          </a:ln>
        </p:spPr>
      </p:sp>
      <p:sp>
        <p:nvSpPr>
          <p:cNvPr id="54" name="Shape 50"/>
          <p:cNvSpPr/>
          <p:nvPr/>
        </p:nvSpPr>
        <p:spPr>
          <a:xfrm>
            <a:off x="512064" y="3566160"/>
            <a:ext cx="68580" cy="68580"/>
          </a:xfrm>
          <a:prstGeom prst="ellipse">
            <a:avLst/>
          </a:prstGeom>
          <a:solidFill>
            <a:srgbClr val="EF4444"/>
          </a:solidFill>
          <a:ln/>
        </p:spPr>
      </p:sp>
      <p:sp>
        <p:nvSpPr>
          <p:cNvPr id="55" name="Shape 51"/>
          <p:cNvSpPr/>
          <p:nvPr/>
        </p:nvSpPr>
        <p:spPr>
          <a:xfrm>
            <a:off x="612648" y="3566160"/>
            <a:ext cx="68580" cy="68580"/>
          </a:xfrm>
          <a:prstGeom prst="ellipse">
            <a:avLst/>
          </a:prstGeom>
          <a:solidFill>
            <a:srgbClr val="F59E0B"/>
          </a:solidFill>
          <a:ln/>
        </p:spPr>
      </p:sp>
      <p:sp>
        <p:nvSpPr>
          <p:cNvPr id="56" name="Shape 52"/>
          <p:cNvSpPr/>
          <p:nvPr/>
        </p:nvSpPr>
        <p:spPr>
          <a:xfrm>
            <a:off x="713232" y="3566160"/>
            <a:ext cx="68580" cy="68580"/>
          </a:xfrm>
          <a:prstGeom prst="ellipse">
            <a:avLst/>
          </a:prstGeom>
          <a:solidFill>
            <a:srgbClr val="10B981"/>
          </a:solidFill>
          <a:ln/>
        </p:spPr>
      </p:sp>
      <p:sp>
        <p:nvSpPr>
          <p:cNvPr id="57" name="Text 53"/>
          <p:cNvSpPr/>
          <p:nvPr/>
        </p:nvSpPr>
        <p:spPr>
          <a:xfrm>
            <a:off x="841248" y="3511296"/>
            <a:ext cx="2761488" cy="182880"/>
          </a:xfrm>
          <a:prstGeom prst="rect">
            <a:avLst/>
          </a:prstGeom>
          <a:noFill/>
          <a:ln/>
        </p:spPr>
        <p:txBody>
          <a:bodyPr wrap="square" lIns="0" tIns="0" rIns="0" bIns="0" rtlCol="0" anchor="ctr"/>
          <a:lstStyle/>
          <a:p>
            <a:pPr algn="l" indent="0" marL="0">
              <a:lnSpc>
                <a:spcPct val="100000"/>
              </a:lnSpc>
              <a:buNone/>
            </a:pPr>
            <a:r>
              <a:rPr lang="en-US" sz="640" b="1" dirty="0">
                <a:solidFill>
                  <a:srgbClr val="B91C1C"/>
                </a:solidFill>
                <a:latin typeface="Arial" pitchFamily="34" charset="0"/>
                <a:ea typeface="Arial" pitchFamily="34" charset="-122"/>
                <a:cs typeface="Arial" pitchFamily="34" charset="-120"/>
              </a:rPr>
              <a:t>BEFORE: Escalation #1 Open (0 RCA Comments)</a:t>
            </a:r>
            <a:endParaRPr lang="en-US" sz="640" dirty="0"/>
          </a:p>
        </p:txBody>
      </p:sp>
      <p:pic>
        <p:nvPicPr>
          <p:cNvPr id="58" name="Image 2" descr="preencoded.png">    </p:cNvPr>
          <p:cNvPicPr>
            <a:picLocks noChangeAspect="1"/>
          </p:cNvPicPr>
          <p:nvPr/>
        </p:nvPicPr>
        <p:blipFill>
          <a:blip r:embed="rId3"/>
          <a:stretch>
            <a:fillRect/>
          </a:stretch>
        </p:blipFill>
        <p:spPr>
          <a:xfrm>
            <a:off x="438912" y="3712464"/>
            <a:ext cx="3218688" cy="2011680"/>
          </a:xfrm>
          <a:prstGeom prst="rect">
            <a:avLst/>
          </a:prstGeom>
        </p:spPr>
      </p:pic>
      <p:sp>
        <p:nvSpPr>
          <p:cNvPr id="59" name="Shape 54"/>
          <p:cNvSpPr/>
          <p:nvPr/>
        </p:nvSpPr>
        <p:spPr>
          <a:xfrm>
            <a:off x="438912" y="3493008"/>
            <a:ext cx="3218688" cy="2231136"/>
          </a:xfrm>
          <a:prstGeom prst="rect">
            <a:avLst/>
          </a:prstGeom>
          <a:ln w="11430">
            <a:solidFill>
              <a:srgbClr val="B91C1C"/>
            </a:solidFill>
            <a:prstDash val="solid"/>
          </a:ln>
        </p:spPr>
      </p:sp>
      <p:sp>
        <p:nvSpPr>
          <p:cNvPr id="60" name="Shape 55"/>
          <p:cNvSpPr/>
          <p:nvPr/>
        </p:nvSpPr>
        <p:spPr>
          <a:xfrm>
            <a:off x="3694176" y="4608576"/>
            <a:ext cx="310896" cy="0"/>
          </a:xfrm>
          <a:prstGeom prst="line">
            <a:avLst/>
          </a:prstGeom>
          <a:noFill/>
          <a:ln w="22860">
            <a:solidFill>
              <a:srgbClr val="B45309"/>
            </a:solidFill>
            <a:prstDash val="solid"/>
            <a:tailEnd type="triangle" w="sm" len="sm"/>
          </a:ln>
        </p:spPr>
      </p:sp>
      <p:sp>
        <p:nvSpPr>
          <p:cNvPr id="61" name="Shape 56"/>
          <p:cNvSpPr/>
          <p:nvPr/>
        </p:nvSpPr>
        <p:spPr>
          <a:xfrm>
            <a:off x="4064508" y="3518611"/>
            <a:ext cx="3218688" cy="2231136"/>
          </a:xfrm>
          <a:prstGeom prst="roundRect">
            <a:avLst>
              <a:gd name="adj" fmla="val 2869"/>
            </a:avLst>
          </a:prstGeom>
          <a:solidFill>
            <a:srgbClr val="E2E8F0"/>
          </a:solidFill>
          <a:ln/>
        </p:spPr>
      </p:sp>
      <p:sp>
        <p:nvSpPr>
          <p:cNvPr id="62" name="Shape 57"/>
          <p:cNvSpPr/>
          <p:nvPr/>
        </p:nvSpPr>
        <p:spPr>
          <a:xfrm>
            <a:off x="4041648" y="3493008"/>
            <a:ext cx="3218688" cy="2231136"/>
          </a:xfrm>
          <a:prstGeom prst="roundRect">
            <a:avLst>
              <a:gd name="adj" fmla="val 2869"/>
            </a:avLst>
          </a:prstGeom>
          <a:solidFill>
            <a:srgbClr val="FFFFFF"/>
          </a:solidFill>
          <a:ln w="10795">
            <a:solidFill>
              <a:srgbClr val="A7F3D0"/>
            </a:solidFill>
            <a:prstDash val="solid"/>
          </a:ln>
        </p:spPr>
      </p:sp>
      <p:sp>
        <p:nvSpPr>
          <p:cNvPr id="63" name="Shape 58"/>
          <p:cNvSpPr/>
          <p:nvPr/>
        </p:nvSpPr>
        <p:spPr>
          <a:xfrm>
            <a:off x="4041648" y="3493008"/>
            <a:ext cx="3218688" cy="219456"/>
          </a:xfrm>
          <a:prstGeom prst="rect">
            <a:avLst/>
          </a:prstGeom>
          <a:solidFill>
            <a:srgbClr val="ECFDF5"/>
          </a:solidFill>
          <a:ln w="7620">
            <a:solidFill>
              <a:srgbClr val="A7F3D0"/>
            </a:solidFill>
            <a:prstDash val="solid"/>
          </a:ln>
        </p:spPr>
      </p:sp>
      <p:sp>
        <p:nvSpPr>
          <p:cNvPr id="64" name="Shape 59"/>
          <p:cNvSpPr/>
          <p:nvPr/>
        </p:nvSpPr>
        <p:spPr>
          <a:xfrm>
            <a:off x="4114800" y="3566160"/>
            <a:ext cx="68580" cy="68580"/>
          </a:xfrm>
          <a:prstGeom prst="ellipse">
            <a:avLst/>
          </a:prstGeom>
          <a:solidFill>
            <a:srgbClr val="EF4444"/>
          </a:solidFill>
          <a:ln/>
        </p:spPr>
      </p:sp>
      <p:sp>
        <p:nvSpPr>
          <p:cNvPr id="65" name="Shape 60"/>
          <p:cNvSpPr/>
          <p:nvPr/>
        </p:nvSpPr>
        <p:spPr>
          <a:xfrm>
            <a:off x="4215384" y="3566160"/>
            <a:ext cx="68580" cy="68580"/>
          </a:xfrm>
          <a:prstGeom prst="ellipse">
            <a:avLst/>
          </a:prstGeom>
          <a:solidFill>
            <a:srgbClr val="F59E0B"/>
          </a:solidFill>
          <a:ln/>
        </p:spPr>
      </p:sp>
      <p:sp>
        <p:nvSpPr>
          <p:cNvPr id="66" name="Shape 61"/>
          <p:cNvSpPr/>
          <p:nvPr/>
        </p:nvSpPr>
        <p:spPr>
          <a:xfrm>
            <a:off x="4315968" y="3566160"/>
            <a:ext cx="68580" cy="68580"/>
          </a:xfrm>
          <a:prstGeom prst="ellipse">
            <a:avLst/>
          </a:prstGeom>
          <a:solidFill>
            <a:srgbClr val="10B981"/>
          </a:solidFill>
          <a:ln/>
        </p:spPr>
      </p:sp>
      <p:sp>
        <p:nvSpPr>
          <p:cNvPr id="67" name="Text 62"/>
          <p:cNvSpPr/>
          <p:nvPr/>
        </p:nvSpPr>
        <p:spPr>
          <a:xfrm>
            <a:off x="4443984" y="3511296"/>
            <a:ext cx="2761488" cy="182880"/>
          </a:xfrm>
          <a:prstGeom prst="rect">
            <a:avLst/>
          </a:prstGeom>
          <a:noFill/>
          <a:ln/>
        </p:spPr>
        <p:txBody>
          <a:bodyPr wrap="square" lIns="0" tIns="0" rIns="0" bIns="0" rtlCol="0" anchor="ctr"/>
          <a:lstStyle/>
          <a:p>
            <a:pPr algn="l" indent="0" marL="0">
              <a:lnSpc>
                <a:spcPct val="100000"/>
              </a:lnSpc>
              <a:buNone/>
            </a:pPr>
            <a:r>
              <a:rPr lang="en-US" sz="640" b="1" dirty="0">
                <a:solidFill>
                  <a:srgbClr val="047857"/>
                </a:solidFill>
                <a:latin typeface="Arial" pitchFamily="34" charset="0"/>
                <a:ea typeface="Arial" pitchFamily="34" charset="-122"/>
                <a:cs typeface="Arial" pitchFamily="34" charset="-120"/>
              </a:rPr>
              <a:t>AFTER: Hop 4 SDP-Redacted RCA Posted Live</a:t>
            </a:r>
            <a:endParaRPr lang="en-US" sz="640" dirty="0"/>
          </a:p>
        </p:txBody>
      </p:sp>
      <p:pic>
        <p:nvPicPr>
          <p:cNvPr id="68" name="Image 3" descr="preencoded.png">    </p:cNvPr>
          <p:cNvPicPr>
            <a:picLocks noChangeAspect="1"/>
          </p:cNvPicPr>
          <p:nvPr/>
        </p:nvPicPr>
        <p:blipFill>
          <a:blip r:embed="rId4"/>
          <a:stretch>
            <a:fillRect/>
          </a:stretch>
        </p:blipFill>
        <p:spPr>
          <a:xfrm>
            <a:off x="4041648" y="3712464"/>
            <a:ext cx="3218688" cy="2011680"/>
          </a:xfrm>
          <a:prstGeom prst="rect">
            <a:avLst/>
          </a:prstGeom>
        </p:spPr>
      </p:pic>
      <p:sp>
        <p:nvSpPr>
          <p:cNvPr id="69" name="Shape 63"/>
          <p:cNvSpPr/>
          <p:nvPr/>
        </p:nvSpPr>
        <p:spPr>
          <a:xfrm>
            <a:off x="4041648" y="3493008"/>
            <a:ext cx="3218688" cy="2231136"/>
          </a:xfrm>
          <a:prstGeom prst="rect">
            <a:avLst/>
          </a:prstGeom>
          <a:ln w="11430">
            <a:solidFill>
              <a:srgbClr val="047857"/>
            </a:solidFill>
            <a:prstDash val="solid"/>
          </a:ln>
        </p:spPr>
      </p:sp>
      <p:sp>
        <p:nvSpPr>
          <p:cNvPr id="70" name="Shape 64"/>
          <p:cNvSpPr/>
          <p:nvPr/>
        </p:nvSpPr>
        <p:spPr>
          <a:xfrm>
            <a:off x="7502652" y="3518611"/>
            <a:ext cx="4272991" cy="2231136"/>
          </a:xfrm>
          <a:prstGeom prst="roundRect">
            <a:avLst>
              <a:gd name="adj" fmla="val 2869"/>
            </a:avLst>
          </a:prstGeom>
          <a:solidFill>
            <a:srgbClr val="E2E8F0"/>
          </a:solidFill>
          <a:ln/>
        </p:spPr>
      </p:sp>
      <p:sp>
        <p:nvSpPr>
          <p:cNvPr id="71" name="Shape 65"/>
          <p:cNvSpPr/>
          <p:nvPr/>
        </p:nvSpPr>
        <p:spPr>
          <a:xfrm>
            <a:off x="7479792" y="3493008"/>
            <a:ext cx="4272991" cy="2231136"/>
          </a:xfrm>
          <a:prstGeom prst="roundRect">
            <a:avLst>
              <a:gd name="adj" fmla="val 2869"/>
            </a:avLst>
          </a:prstGeom>
          <a:solidFill>
            <a:srgbClr val="FFFFFF"/>
          </a:solidFill>
          <a:ln w="10795">
            <a:solidFill>
              <a:srgbClr val="FDE68A"/>
            </a:solidFill>
            <a:prstDash val="solid"/>
          </a:ln>
        </p:spPr>
      </p:sp>
      <p:sp>
        <p:nvSpPr>
          <p:cNvPr id="72" name="Shape 66"/>
          <p:cNvSpPr/>
          <p:nvPr/>
        </p:nvSpPr>
        <p:spPr>
          <a:xfrm>
            <a:off x="7479792" y="3493008"/>
            <a:ext cx="54864" cy="2231136"/>
          </a:xfrm>
          <a:prstGeom prst="roundRect">
            <a:avLst>
              <a:gd name="adj" fmla="val 33333"/>
            </a:avLst>
          </a:prstGeom>
          <a:solidFill>
            <a:srgbClr val="B45309"/>
          </a:solidFill>
          <a:ln/>
        </p:spPr>
      </p:sp>
      <p:sp>
        <p:nvSpPr>
          <p:cNvPr id="73" name="Shape 67"/>
          <p:cNvSpPr/>
          <p:nvPr/>
        </p:nvSpPr>
        <p:spPr>
          <a:xfrm>
            <a:off x="7626096" y="3584448"/>
            <a:ext cx="3980383" cy="201168"/>
          </a:xfrm>
          <a:prstGeom prst="roundRect">
            <a:avLst>
              <a:gd name="adj" fmla="val 36364"/>
            </a:avLst>
          </a:prstGeom>
          <a:solidFill>
            <a:srgbClr val="FFFBEB"/>
          </a:solidFill>
          <a:ln w="9525">
            <a:solidFill>
              <a:srgbClr val="FDE68A"/>
            </a:solidFill>
            <a:prstDash val="solid"/>
          </a:ln>
        </p:spPr>
      </p:sp>
      <p:sp>
        <p:nvSpPr>
          <p:cNvPr id="74" name="Text 68"/>
          <p:cNvSpPr/>
          <p:nvPr/>
        </p:nvSpPr>
        <p:spPr>
          <a:xfrm>
            <a:off x="7626096" y="3584448"/>
            <a:ext cx="3980383" cy="201168"/>
          </a:xfrm>
          <a:prstGeom prst="rect">
            <a:avLst/>
          </a:prstGeom>
          <a:noFill/>
          <a:ln/>
        </p:spPr>
        <p:txBody>
          <a:bodyPr wrap="square" lIns="0" tIns="0" rIns="0" bIns="0" rtlCol="0" anchor="ctr"/>
          <a:lstStyle/>
          <a:p>
            <a:pPr algn="ctr" indent="0" marL="0">
              <a:lnSpc>
                <a:spcPct val="105000"/>
              </a:lnSpc>
              <a:buNone/>
            </a:pPr>
            <a:r>
              <a:rPr lang="en-US" sz="620" b="1" dirty="0">
                <a:solidFill>
                  <a:srgbClr val="B45309"/>
                </a:solidFill>
                <a:latin typeface="Arial" pitchFamily="34" charset="0"/>
                <a:ea typeface="Arial" pitchFamily="34" charset="-122"/>
                <a:cs typeface="Arial" pitchFamily="34" charset="-120"/>
              </a:rPr>
              <a:t>SAAS-05  •  GITEA ISSUE TRACKER v1.22.3  •  TARGET K5JAEFCQ6E</a:t>
            </a:r>
            <a:endParaRPr lang="en-US" sz="620" dirty="0"/>
          </a:p>
        </p:txBody>
      </p:sp>
      <p:sp>
        <p:nvSpPr>
          <p:cNvPr id="75" name="Text 69"/>
          <p:cNvSpPr/>
          <p:nvPr/>
        </p:nvSpPr>
        <p:spPr>
          <a:xfrm>
            <a:off x="7626096" y="3822192"/>
            <a:ext cx="3980383" cy="201168"/>
          </a:xfrm>
          <a:prstGeom prst="rect">
            <a:avLst/>
          </a:prstGeom>
          <a:noFill/>
          <a:ln/>
        </p:spPr>
        <p:txBody>
          <a:bodyPr wrap="square" lIns="0" tIns="0" rIns="0" bIns="0" rtlCol="0" anchor="ctr"/>
          <a:lstStyle/>
          <a:p>
            <a:pPr indent="0" marL="0">
              <a:lnSpc>
                <a:spcPct val="105000"/>
              </a:lnSpc>
              <a:buNone/>
            </a:pPr>
            <a:r>
              <a:rPr lang="en-US" sz="920" b="1" dirty="0">
                <a:solidFill>
                  <a:srgbClr val="0F172A"/>
                </a:solidFill>
                <a:latin typeface="Arial" pitchFamily="34" charset="0"/>
                <a:ea typeface="Arial" pitchFamily="34" charset="-122"/>
                <a:cs typeface="Arial" pitchFamily="34" charset="-120"/>
              </a:rPr>
              <a:t>Salesforce / Jira Tier — Hop 4 SDP-Redacted SRE Triage</a:t>
            </a:r>
            <a:endParaRPr lang="en-US" sz="920" dirty="0"/>
          </a:p>
        </p:txBody>
      </p:sp>
      <p:sp>
        <p:nvSpPr>
          <p:cNvPr id="76" name="Text 70"/>
          <p:cNvSpPr/>
          <p:nvPr/>
        </p:nvSpPr>
        <p:spPr>
          <a:xfrm>
            <a:off x="7626096" y="4032504"/>
            <a:ext cx="3980383" cy="164592"/>
          </a:xfrm>
          <a:prstGeom prst="rect">
            <a:avLst/>
          </a:prstGeom>
          <a:noFill/>
          <a:ln/>
        </p:spPr>
        <p:txBody>
          <a:bodyPr wrap="square" lIns="0" tIns="0" rIns="0" bIns="0" rtlCol="0" anchor="ctr"/>
          <a:lstStyle/>
          <a:p>
            <a:pPr indent="0" marL="0">
              <a:lnSpc>
                <a:spcPct val="100000"/>
              </a:lnSpc>
              <a:buNone/>
            </a:pPr>
            <a:r>
              <a:rPr lang="en-US" sz="650" b="1" dirty="0">
                <a:solidFill>
                  <a:srgbClr val="B45309"/>
                </a:solidFill>
                <a:latin typeface="Courier New" pitchFamily="34" charset="0"/>
                <a:ea typeface="Courier New" pitchFamily="34" charset="-122"/>
                <a:cs typeface="Courier New" pitchFamily="34" charset="-120"/>
              </a:rPr>
              <a:t>MCP: create_redacted_sfdc_jira_escalation  •  gitea:1.22.3</a:t>
            </a:r>
            <a:endParaRPr lang="en-US" sz="650" dirty="0"/>
          </a:p>
        </p:txBody>
      </p:sp>
      <p:sp>
        <p:nvSpPr>
          <p:cNvPr id="77" name="Text 71"/>
          <p:cNvSpPr/>
          <p:nvPr/>
        </p:nvSpPr>
        <p:spPr>
          <a:xfrm>
            <a:off x="7626096" y="4233672"/>
            <a:ext cx="3980383" cy="1133856"/>
          </a:xfrm>
          <a:prstGeom prst="rect">
            <a:avLst/>
          </a:prstGeom>
          <a:noFill/>
          <a:ln/>
        </p:spPr>
        <p:txBody>
          <a:bodyPr wrap="square" lIns="0" tIns="0" rIns="0" bIns="0" rtlCol="0" anchor="t"/>
          <a:lstStyle/>
          <a:p>
            <a:pPr indent="0" marL="0">
              <a:lnSpc>
                <a:spcPct val="110000"/>
              </a:lnSpc>
              <a:buNone/>
            </a:pPr>
            <a:r>
              <a:rPr lang="en-US" sz="720" b="1" dirty="0">
                <a:solidFill>
                  <a:srgbClr val="B91C1C"/>
                </a:solidFill>
                <a:latin typeface="Arial" pitchFamily="34" charset="0"/>
                <a:ea typeface="Arial" pitchFamily="34" charset="-122"/>
                <a:cs typeface="Arial" pitchFamily="34" charset="-120"/>
              </a:rPr>
              <a:t>• BEFORE: </a:t>
            </a:r>
            <a:pPr indent="0" marL="0">
              <a:lnSpc>
                <a:spcPct val="110000"/>
              </a:lnSpc>
              <a:buNone/>
            </a:pPr>
            <a:r>
              <a:rPr lang="en-US" sz="720" dirty="0">
                <a:solidFill>
                  <a:srgbClr val="334155"/>
                </a:solidFill>
                <a:latin typeface="Arial" pitchFamily="34" charset="0"/>
                <a:ea typeface="Arial" pitchFamily="34" charset="-122"/>
                <a:cs typeface="Arial" pitchFamily="34" charset="-120"/>
              </a:rPr>
              <a:t>Repository finvault/sre-escalations Issue #1 (SFDC-CASE-00984120) stands open with 0 comments and an empty Markdown write box.
</a:t>
            </a:r>
            <a:pPr indent="0" marL="0">
              <a:lnSpc>
                <a:spcPct val="110000"/>
              </a:lnSpc>
              <a:buNone/>
            </a:pPr>
            <a:r>
              <a:rPr lang="en-US" sz="720" b="1" dirty="0">
                <a:solidFill>
                  <a:srgbClr val="047857"/>
                </a:solidFill>
                <a:latin typeface="Arial" pitchFamily="34" charset="0"/>
                <a:ea typeface="Arial" pitchFamily="34" charset="-122"/>
                <a:cs typeface="Arial" pitchFamily="34" charset="-120"/>
              </a:rPr>
              <a:t>• AFTER: </a:t>
            </a:r>
            <a:pPr indent="0" marL="0">
              <a:lnSpc>
                <a:spcPct val="110000"/>
              </a:lnSpc>
              <a:buNone/>
            </a:pPr>
            <a:r>
              <a:rPr lang="en-US" sz="720" dirty="0">
                <a:solidFill>
                  <a:srgbClr val="0F172A"/>
                </a:solidFill>
                <a:latin typeface="Arial" pitchFamily="34" charset="0"/>
                <a:ea typeface="Arial" pitchFamily="34" charset="-122"/>
                <a:cs typeface="Arial" pitchFamily="34" charset="-120"/>
              </a:rPr>
              <a:t>Hop 4 Cloud SDP strips IBAN/SWIFT PII (raw_pii_leaked = false) and posts authenticated RCA Comment #1 with S3 ledger proof.</a:t>
            </a:r>
            <a:endParaRPr lang="en-US" sz="720" dirty="0"/>
          </a:p>
        </p:txBody>
      </p:sp>
      <p:sp>
        <p:nvSpPr>
          <p:cNvPr id="78" name="Shape 72"/>
          <p:cNvSpPr/>
          <p:nvPr/>
        </p:nvSpPr>
        <p:spPr>
          <a:xfrm>
            <a:off x="7626096" y="5431536"/>
            <a:ext cx="3980383" cy="201168"/>
          </a:xfrm>
          <a:prstGeom prst="roundRect">
            <a:avLst>
              <a:gd name="adj" fmla="val 36364"/>
            </a:avLst>
          </a:prstGeom>
          <a:solidFill>
            <a:srgbClr val="F1F5F9"/>
          </a:solidFill>
          <a:ln w="9525">
            <a:solidFill>
              <a:srgbClr val="CBD5E1"/>
            </a:solidFill>
            <a:prstDash val="solid"/>
          </a:ln>
        </p:spPr>
      </p:sp>
      <p:sp>
        <p:nvSpPr>
          <p:cNvPr id="79" name="Text 73"/>
          <p:cNvSpPr/>
          <p:nvPr/>
        </p:nvSpPr>
        <p:spPr>
          <a:xfrm>
            <a:off x="7626096" y="5431536"/>
            <a:ext cx="3980383" cy="201168"/>
          </a:xfrm>
          <a:prstGeom prst="rect">
            <a:avLst/>
          </a:prstGeom>
          <a:noFill/>
          <a:ln/>
        </p:spPr>
        <p:txBody>
          <a:bodyPr wrap="square" lIns="0" tIns="0" rIns="0" bIns="0" rtlCol="0" anchor="ctr"/>
          <a:lstStyle/>
          <a:p>
            <a:pPr algn="ctr" indent="0" marL="0">
              <a:lnSpc>
                <a:spcPct val="105000"/>
              </a:lnSpc>
              <a:buNone/>
            </a:pPr>
            <a:r>
              <a:rPr lang="en-US" sz="610" b="1" dirty="0">
                <a:solidFill>
                  <a:srgbClr val="475569"/>
                </a:solidFill>
                <a:latin typeface="Arial" pitchFamily="34" charset="0"/>
                <a:ea typeface="Arial" pitchFamily="34" charset="-122"/>
                <a:cs typeface="Arial" pitchFamily="34" charset="-120"/>
              </a:rPr>
              <a:t>SHA-256: 4317e103 (Before) → 15d3ea9d (After)  •  Pair 05/10</a:t>
            </a:r>
            <a:endParaRPr lang="en-US" sz="610" dirty="0"/>
          </a:p>
        </p:txBody>
      </p:sp>
      <p:sp>
        <p:nvSpPr>
          <p:cNvPr id="80" name="Shape 74"/>
          <p:cNvSpPr/>
          <p:nvPr/>
        </p:nvSpPr>
        <p:spPr>
          <a:xfrm>
            <a:off x="438912" y="5943600"/>
            <a:ext cx="11313871" cy="420624"/>
          </a:xfrm>
          <a:prstGeom prst="roundRect">
            <a:avLst>
              <a:gd name="adj" fmla="val 13043"/>
            </a:avLst>
          </a:prstGeom>
          <a:solidFill>
            <a:srgbClr val="F0FDFA"/>
          </a:solidFill>
          <a:ln w="11430">
            <a:solidFill>
              <a:srgbClr val="99F6E4"/>
            </a:solidFill>
            <a:prstDash val="solid"/>
          </a:ln>
        </p:spPr>
      </p:sp>
      <p:sp>
        <p:nvSpPr>
          <p:cNvPr id="81" name="Shape 75"/>
          <p:cNvSpPr/>
          <p:nvPr/>
        </p:nvSpPr>
        <p:spPr>
          <a:xfrm>
            <a:off x="530352" y="6025896"/>
            <a:ext cx="1353312" cy="256032"/>
          </a:xfrm>
          <a:prstGeom prst="roundRect">
            <a:avLst>
              <a:gd name="adj" fmla="val 17857"/>
            </a:avLst>
          </a:prstGeom>
          <a:solidFill>
            <a:srgbClr val="0F766E"/>
          </a:solidFill>
          <a:ln/>
        </p:spPr>
      </p:sp>
      <p:sp>
        <p:nvSpPr>
          <p:cNvPr id="82" name="Text 76"/>
          <p:cNvSpPr/>
          <p:nvPr/>
        </p:nvSpPr>
        <p:spPr>
          <a:xfrm>
            <a:off x="530352" y="6025896"/>
            <a:ext cx="1353312" cy="256032"/>
          </a:xfrm>
          <a:prstGeom prst="rect">
            <a:avLst/>
          </a:prstGeom>
          <a:noFill/>
          <a:ln/>
        </p:spPr>
        <p:txBody>
          <a:bodyPr wrap="square" lIns="0" tIns="0" rIns="0" bIns="0" rtlCol="0" anchor="ctr"/>
          <a:lstStyle/>
          <a:p>
            <a:pPr algn="ctr" indent="0" marL="0">
              <a:lnSpc>
                <a:spcPct val="105000"/>
              </a:lnSpc>
              <a:buNone/>
            </a:pPr>
            <a:r>
              <a:rPr lang="en-US" sz="650" b="1" dirty="0">
                <a:solidFill>
                  <a:srgbClr val="FFFFFF"/>
                </a:solidFill>
                <a:latin typeface="Arial" pitchFamily="34" charset="0"/>
                <a:ea typeface="Arial" pitchFamily="34" charset="-122"/>
                <a:cs typeface="Arial" pitchFamily="34" charset="-120"/>
              </a:rPr>
              <a:t>ITSM &amp; CRM VERIFIED</a:t>
            </a:r>
            <a:endParaRPr lang="en-US" sz="650" dirty="0"/>
          </a:p>
        </p:txBody>
      </p:sp>
      <p:sp>
        <p:nvSpPr>
          <p:cNvPr id="83" name="Text 77"/>
          <p:cNvSpPr/>
          <p:nvPr/>
        </p:nvSpPr>
        <p:spPr>
          <a:xfrm>
            <a:off x="1993392" y="5980176"/>
            <a:ext cx="7555687" cy="347472"/>
          </a:xfrm>
          <a:prstGeom prst="rect">
            <a:avLst/>
          </a:prstGeom>
          <a:noFill/>
          <a:ln/>
        </p:spPr>
        <p:txBody>
          <a:bodyPr wrap="square" lIns="0" tIns="0" rIns="0" bIns="0" rtlCol="0" anchor="ctr"/>
          <a:lstStyle/>
          <a:p>
            <a:pPr algn="l" indent="0" marL="0">
              <a:lnSpc>
                <a:spcPct val="108000"/>
              </a:lnSpc>
              <a:buNone/>
            </a:pPr>
            <a:r>
              <a:rPr lang="en-US" sz="860" b="1" dirty="0">
                <a:solidFill>
                  <a:srgbClr val="0F172A"/>
                </a:solidFill>
                <a:latin typeface="Arial" pitchFamily="34" charset="0"/>
                <a:ea typeface="Arial" pitchFamily="34" charset="-122"/>
                <a:cs typeface="Arial" pitchFamily="34" charset="-120"/>
              </a:rPr>
              <a:t>Outbound write tools pass through Hop 4 Cloud SDP before mutating external ticketing systems—guaranteeing zero raw IBAN, SWIFT, or SSN leakage in escalations.</a:t>
            </a:r>
            <a:endParaRPr lang="en-US" sz="860" dirty="0"/>
          </a:p>
        </p:txBody>
      </p:sp>
      <p:sp>
        <p:nvSpPr>
          <p:cNvPr id="84" name="Shape 78"/>
          <p:cNvSpPr/>
          <p:nvPr/>
        </p:nvSpPr>
        <p:spPr>
          <a:xfrm>
            <a:off x="9695383" y="6025896"/>
            <a:ext cx="1965960" cy="256032"/>
          </a:xfrm>
          <a:prstGeom prst="roundRect">
            <a:avLst>
              <a:gd name="adj" fmla="val 17857"/>
            </a:avLst>
          </a:prstGeom>
          <a:solidFill>
            <a:srgbClr val="FFFFFF"/>
          </a:solidFill>
          <a:ln w="10795">
            <a:solidFill>
              <a:srgbClr val="0F766E"/>
            </a:solidFill>
            <a:prstDash val="solid"/>
          </a:ln>
        </p:spPr>
      </p:sp>
      <p:sp>
        <p:nvSpPr>
          <p:cNvPr id="85" name="Text 79"/>
          <p:cNvSpPr/>
          <p:nvPr/>
        </p:nvSpPr>
        <p:spPr>
          <a:xfrm>
            <a:off x="9695383" y="6025896"/>
            <a:ext cx="1965960" cy="256032"/>
          </a:xfrm>
          <a:prstGeom prst="rect">
            <a:avLst/>
          </a:prstGeom>
          <a:noFill/>
          <a:ln/>
        </p:spPr>
        <p:txBody>
          <a:bodyPr wrap="square" lIns="0" tIns="0" rIns="0" bIns="0" rtlCol="0" anchor="ctr"/>
          <a:lstStyle/>
          <a:p>
            <a:pPr algn="ctr" indent="0" marL="0">
              <a:lnSpc>
                <a:spcPct val="105000"/>
              </a:lnSpc>
              <a:buNone/>
            </a:pPr>
            <a:r>
              <a:rPr lang="en-US" sz="740" b="1" dirty="0">
                <a:solidFill>
                  <a:srgbClr val="0F766E"/>
                </a:solidFill>
                <a:latin typeface="Arial" pitchFamily="34" charset="0"/>
                <a:ea typeface="Arial" pitchFamily="34" charset="-122"/>
                <a:cs typeface="Arial" pitchFamily="34" charset="-120"/>
              </a:rPr>
              <a:t>Pairs 03 &amp; 05 / 10 Verified</a:t>
            </a:r>
            <a:endParaRPr lang="en-US" sz="74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1148"/>
          </a:xfrm>
          <a:prstGeom prst="rect">
            <a:avLst/>
          </a:prstGeom>
          <a:solidFill>
            <a:srgbClr val="047857"/>
          </a:solidFill>
          <a:ln/>
        </p:spPr>
      </p:sp>
      <p:sp>
        <p:nvSpPr>
          <p:cNvPr id="3" name="Shape 1"/>
          <p:cNvSpPr/>
          <p:nvPr/>
        </p:nvSpPr>
        <p:spPr>
          <a:xfrm>
            <a:off x="438912" y="192024"/>
            <a:ext cx="59436" cy="621792"/>
          </a:xfrm>
          <a:prstGeom prst="roundRect">
            <a:avLst>
              <a:gd name="adj" fmla="val 46154"/>
            </a:avLst>
          </a:prstGeom>
          <a:solidFill>
            <a:srgbClr val="047857"/>
          </a:solidFill>
          <a:ln/>
        </p:spPr>
      </p:sp>
      <p:sp>
        <p:nvSpPr>
          <p:cNvPr id="4" name="Text 2"/>
          <p:cNvSpPr/>
          <p:nvPr/>
        </p:nvSpPr>
        <p:spPr>
          <a:xfrm>
            <a:off x="576072" y="173736"/>
            <a:ext cx="4389120" cy="146304"/>
          </a:xfrm>
          <a:prstGeom prst="rect">
            <a:avLst/>
          </a:prstGeom>
          <a:noFill/>
          <a:ln/>
        </p:spPr>
        <p:txBody>
          <a:bodyPr wrap="square" lIns="0" tIns="0" rIns="0" bIns="0" rtlCol="0" anchor="ctr"/>
          <a:lstStyle/>
          <a:p>
            <a:pPr algn="l" indent="0" marL="0">
              <a:lnSpc>
                <a:spcPct val="105000"/>
              </a:lnSpc>
              <a:buNone/>
            </a:pPr>
            <a:r>
              <a:rPr lang="en-US" sz="750" b="1" spc="110" kern="0" dirty="0">
                <a:solidFill>
                  <a:srgbClr val="047857"/>
                </a:solidFill>
                <a:latin typeface="Arial" pitchFamily="34" charset="0"/>
                <a:ea typeface="Arial" pitchFamily="34" charset="-122"/>
                <a:cs typeface="Arial" pitchFamily="34" charset="-120"/>
              </a:rPr>
              <a:t>06 / EMPIRICAL PROOFS</a:t>
            </a:r>
            <a:endParaRPr lang="en-US" sz="750" dirty="0"/>
          </a:p>
        </p:txBody>
      </p:sp>
      <p:sp>
        <p:nvSpPr>
          <p:cNvPr id="5" name="Shape 3"/>
          <p:cNvSpPr/>
          <p:nvPr/>
        </p:nvSpPr>
        <p:spPr>
          <a:xfrm>
            <a:off x="8183880" y="219456"/>
            <a:ext cx="228600" cy="59436"/>
          </a:xfrm>
          <a:prstGeom prst="roundRect">
            <a:avLst>
              <a:gd name="adj" fmla="val 46154"/>
            </a:avLst>
          </a:prstGeom>
          <a:solidFill>
            <a:srgbClr val="94A3B8"/>
          </a:solidFill>
          <a:ln/>
        </p:spPr>
      </p:sp>
      <p:sp>
        <p:nvSpPr>
          <p:cNvPr id="6" name="Shape 4"/>
          <p:cNvSpPr/>
          <p:nvPr/>
        </p:nvSpPr>
        <p:spPr>
          <a:xfrm>
            <a:off x="8453628" y="219456"/>
            <a:ext cx="228600" cy="59436"/>
          </a:xfrm>
          <a:prstGeom prst="roundRect">
            <a:avLst>
              <a:gd name="adj" fmla="val 46154"/>
            </a:avLst>
          </a:prstGeom>
          <a:solidFill>
            <a:srgbClr val="94A3B8"/>
          </a:solidFill>
          <a:ln/>
        </p:spPr>
      </p:sp>
      <p:sp>
        <p:nvSpPr>
          <p:cNvPr id="7" name="Shape 5"/>
          <p:cNvSpPr/>
          <p:nvPr/>
        </p:nvSpPr>
        <p:spPr>
          <a:xfrm>
            <a:off x="8723376" y="219456"/>
            <a:ext cx="228600" cy="59436"/>
          </a:xfrm>
          <a:prstGeom prst="roundRect">
            <a:avLst>
              <a:gd name="adj" fmla="val 46154"/>
            </a:avLst>
          </a:prstGeom>
          <a:solidFill>
            <a:srgbClr val="94A3B8"/>
          </a:solidFill>
          <a:ln/>
        </p:spPr>
      </p:sp>
      <p:sp>
        <p:nvSpPr>
          <p:cNvPr id="8" name="Shape 6"/>
          <p:cNvSpPr/>
          <p:nvPr/>
        </p:nvSpPr>
        <p:spPr>
          <a:xfrm>
            <a:off x="8993124" y="219456"/>
            <a:ext cx="228600" cy="59436"/>
          </a:xfrm>
          <a:prstGeom prst="roundRect">
            <a:avLst>
              <a:gd name="adj" fmla="val 46154"/>
            </a:avLst>
          </a:prstGeom>
          <a:solidFill>
            <a:srgbClr val="94A3B8"/>
          </a:solidFill>
          <a:ln/>
        </p:spPr>
      </p:sp>
      <p:sp>
        <p:nvSpPr>
          <p:cNvPr id="9" name="Shape 7"/>
          <p:cNvSpPr/>
          <p:nvPr/>
        </p:nvSpPr>
        <p:spPr>
          <a:xfrm>
            <a:off x="9262872" y="219456"/>
            <a:ext cx="228600" cy="59436"/>
          </a:xfrm>
          <a:prstGeom prst="roundRect">
            <a:avLst>
              <a:gd name="adj" fmla="val 46154"/>
            </a:avLst>
          </a:prstGeom>
          <a:solidFill>
            <a:srgbClr val="94A3B8"/>
          </a:solidFill>
          <a:ln/>
        </p:spPr>
      </p:sp>
      <p:sp>
        <p:nvSpPr>
          <p:cNvPr id="10" name="Shape 8"/>
          <p:cNvSpPr/>
          <p:nvPr/>
        </p:nvSpPr>
        <p:spPr>
          <a:xfrm>
            <a:off x="9532620" y="219456"/>
            <a:ext cx="228600" cy="59436"/>
          </a:xfrm>
          <a:prstGeom prst="roundRect">
            <a:avLst>
              <a:gd name="adj" fmla="val 46154"/>
            </a:avLst>
          </a:prstGeom>
          <a:solidFill>
            <a:srgbClr val="047857"/>
          </a:solidFill>
          <a:ln/>
        </p:spPr>
      </p:sp>
      <p:sp>
        <p:nvSpPr>
          <p:cNvPr id="11" name="Shape 9"/>
          <p:cNvSpPr/>
          <p:nvPr/>
        </p:nvSpPr>
        <p:spPr>
          <a:xfrm>
            <a:off x="9802368" y="219456"/>
            <a:ext cx="228600" cy="59436"/>
          </a:xfrm>
          <a:prstGeom prst="roundRect">
            <a:avLst>
              <a:gd name="adj" fmla="val 46154"/>
            </a:avLst>
          </a:prstGeom>
          <a:solidFill>
            <a:srgbClr val="E2E8F0"/>
          </a:solidFill>
          <a:ln/>
        </p:spPr>
      </p:sp>
      <p:sp>
        <p:nvSpPr>
          <p:cNvPr id="12" name="Shape 10"/>
          <p:cNvSpPr/>
          <p:nvPr/>
        </p:nvSpPr>
        <p:spPr>
          <a:xfrm>
            <a:off x="10131552" y="146304"/>
            <a:ext cx="1621231" cy="192024"/>
          </a:xfrm>
          <a:prstGeom prst="roundRect">
            <a:avLst>
              <a:gd name="adj" fmla="val 23810"/>
            </a:avLst>
          </a:prstGeom>
          <a:solidFill>
            <a:srgbClr val="FFFFFF"/>
          </a:solidFill>
          <a:ln w="9525">
            <a:solidFill>
              <a:srgbClr val="CBD5E1"/>
            </a:solidFill>
            <a:prstDash val="solid"/>
          </a:ln>
        </p:spPr>
      </p:sp>
      <p:sp>
        <p:nvSpPr>
          <p:cNvPr id="13" name="Text 11"/>
          <p:cNvSpPr/>
          <p:nvPr/>
        </p:nvSpPr>
        <p:spPr>
          <a:xfrm>
            <a:off x="10131552" y="146304"/>
            <a:ext cx="1621231" cy="192024"/>
          </a:xfrm>
          <a:prstGeom prst="rect">
            <a:avLst/>
          </a:prstGeom>
          <a:noFill/>
          <a:ln/>
        </p:spPr>
        <p:txBody>
          <a:bodyPr wrap="square" lIns="0" tIns="0" rIns="0" bIns="0" rtlCol="0" anchor="ctr"/>
          <a:lstStyle/>
          <a:p>
            <a:pPr algn="ctr" indent="0" marL="0">
              <a:lnSpc>
                <a:spcPct val="105000"/>
              </a:lnSpc>
              <a:buNone/>
            </a:pPr>
            <a:r>
              <a:rPr lang="en-US" sz="680" b="1" spc="60" kern="0" dirty="0">
                <a:solidFill>
                  <a:srgbClr val="047857"/>
                </a:solidFill>
                <a:latin typeface="Arial" pitchFamily="34" charset="0"/>
                <a:ea typeface="Arial" pitchFamily="34" charset="-122"/>
                <a:cs typeface="Arial" pitchFamily="34" charset="-120"/>
              </a:rPr>
              <a:t>RETINA UI PROOF • 4 OF 5</a:t>
            </a:r>
            <a:endParaRPr lang="en-US" sz="680" dirty="0"/>
          </a:p>
        </p:txBody>
      </p:sp>
      <p:sp>
        <p:nvSpPr>
          <p:cNvPr id="14" name="Text 12"/>
          <p:cNvSpPr/>
          <p:nvPr/>
        </p:nvSpPr>
        <p:spPr>
          <a:xfrm>
            <a:off x="576072" y="338328"/>
            <a:ext cx="11176711" cy="310896"/>
          </a:xfrm>
          <a:prstGeom prst="rect">
            <a:avLst/>
          </a:prstGeom>
          <a:noFill/>
          <a:ln/>
        </p:spPr>
        <p:txBody>
          <a:bodyPr wrap="square" lIns="0" tIns="0" rIns="0" bIns="0" rtlCol="0" anchor="ctr"/>
          <a:lstStyle/>
          <a:p>
            <a:pPr algn="l" indent="0" marL="0">
              <a:lnSpc>
                <a:spcPct val="104000"/>
              </a:lnSpc>
              <a:buNone/>
            </a:pPr>
            <a:r>
              <a:rPr lang="en-US" sz="1750" b="1" dirty="0">
                <a:solidFill>
                  <a:srgbClr val="0F172A"/>
                </a:solidFill>
                <a:latin typeface="Arial" pitchFamily="34" charset="0"/>
                <a:ea typeface="Arial" pitchFamily="34" charset="-122"/>
                <a:cs typeface="Arial" pitchFamily="34" charset="-120"/>
              </a:rPr>
              <a:t>Genuine 3P Before → After (4/5): 21 CFR Part 11 GxP &amp; PII-Masked HCM</a:t>
            </a:r>
            <a:endParaRPr lang="en-US" sz="1750" dirty="0"/>
          </a:p>
        </p:txBody>
      </p:sp>
      <p:sp>
        <p:nvSpPr>
          <p:cNvPr id="15" name="Text 13"/>
          <p:cNvSpPr/>
          <p:nvPr/>
        </p:nvSpPr>
        <p:spPr>
          <a:xfrm>
            <a:off x="576072" y="658368"/>
            <a:ext cx="11176711" cy="192024"/>
          </a:xfrm>
          <a:prstGeom prst="rect">
            <a:avLst/>
          </a:prstGeom>
          <a:noFill/>
          <a:ln/>
        </p:spPr>
        <p:txBody>
          <a:bodyPr wrap="square" lIns="0" tIns="0" rIns="0" bIns="0" rtlCol="0" anchor="ctr"/>
          <a:lstStyle/>
          <a:p>
            <a:pPr algn="l" indent="0" marL="0">
              <a:lnSpc>
                <a:spcPct val="104000"/>
              </a:lnSpc>
              <a:buNone/>
            </a:pPr>
            <a:r>
              <a:rPr lang="en-US" sz="900" dirty="0">
                <a:solidFill>
                  <a:srgbClr val="64748B"/>
                </a:solidFill>
                <a:latin typeface="Arial" pitchFamily="34" charset="0"/>
                <a:ea typeface="Arial" pitchFamily="34" charset="-122"/>
                <a:cs typeface="Arial" pitchFamily="34" charset="-120"/>
              </a:rPr>
              <a:t>Unstretched 2880×1800 captures from live NocoDB v0.255.2 (Veeva Vault / Muse EDC tier) and Directus v11.1.0 (Workday HCM RaaS tier).</a:t>
            </a:r>
            <a:endParaRPr lang="en-US" sz="900" dirty="0"/>
          </a:p>
        </p:txBody>
      </p:sp>
      <p:sp>
        <p:nvSpPr>
          <p:cNvPr id="16" name="Shape 14"/>
          <p:cNvSpPr/>
          <p:nvPr/>
        </p:nvSpPr>
        <p:spPr>
          <a:xfrm>
            <a:off x="438912" y="914400"/>
            <a:ext cx="11313871" cy="0"/>
          </a:xfrm>
          <a:prstGeom prst="line">
            <a:avLst/>
          </a:prstGeom>
          <a:noFill/>
          <a:ln w="10795">
            <a:solidFill>
              <a:srgbClr val="E2E8F0"/>
            </a:solidFill>
            <a:prstDash val="solid"/>
          </a:ln>
        </p:spPr>
      </p:sp>
      <p:sp>
        <p:nvSpPr>
          <p:cNvPr id="17" name="Shape 15"/>
          <p:cNvSpPr/>
          <p:nvPr/>
        </p:nvSpPr>
        <p:spPr>
          <a:xfrm>
            <a:off x="438912" y="6455664"/>
            <a:ext cx="11313871" cy="0"/>
          </a:xfrm>
          <a:prstGeom prst="line">
            <a:avLst/>
          </a:prstGeom>
          <a:noFill/>
          <a:ln w="9525">
            <a:solidFill>
              <a:srgbClr val="E2E8F0"/>
            </a:solidFill>
            <a:prstDash val="solid"/>
          </a:ln>
        </p:spPr>
      </p:sp>
      <p:sp>
        <p:nvSpPr>
          <p:cNvPr id="18" name="Text 16"/>
          <p:cNvSpPr/>
          <p:nvPr/>
        </p:nvSpPr>
        <p:spPr>
          <a:xfrm>
            <a:off x="438912" y="6501384"/>
            <a:ext cx="5852160" cy="192024"/>
          </a:xfrm>
          <a:prstGeom prst="rect">
            <a:avLst/>
          </a:prstGeom>
          <a:noFill/>
          <a:ln/>
        </p:spPr>
        <p:txBody>
          <a:bodyPr wrap="square" lIns="0" tIns="0" rIns="0" bIns="0" rtlCol="0" anchor="ctr"/>
          <a:lstStyle/>
          <a:p>
            <a:pPr algn="l" indent="0" marL="0">
              <a:lnSpc>
                <a:spcPct val="105000"/>
              </a:lnSpc>
              <a:buNone/>
            </a:pPr>
            <a:r>
              <a:rPr lang="en-US" sz="680" b="1" spc="40" kern="0" dirty="0">
                <a:solidFill>
                  <a:srgbClr val="64748B"/>
                </a:solidFill>
                <a:latin typeface="Arial" pitchFamily="34" charset="0"/>
                <a:ea typeface="Arial" pitchFamily="34" charset="-122"/>
                <a:cs typeface="Arial" pitchFamily="34" charset="-120"/>
              </a:rPr>
              <a:t>GOOGLE CLOUD AI ARCHITECTURE  •  BLOG 1: MULTI-TENANT AGENTIC AI TAXONOMY &amp; 5-HOP BASELINE</a:t>
            </a:r>
            <a:endParaRPr lang="en-US" sz="680" dirty="0"/>
          </a:p>
        </p:txBody>
      </p:sp>
      <p:sp>
        <p:nvSpPr>
          <p:cNvPr id="19" name="Text 17"/>
          <p:cNvSpPr/>
          <p:nvPr/>
        </p:nvSpPr>
        <p:spPr>
          <a:xfrm>
            <a:off x="6355080" y="6501384"/>
            <a:ext cx="4206240" cy="192024"/>
          </a:xfrm>
          <a:prstGeom prst="rect">
            <a:avLst/>
          </a:prstGeom>
          <a:noFill/>
          <a:ln/>
        </p:spPr>
        <p:txBody>
          <a:bodyPr wrap="square" lIns="0" tIns="0" rIns="0" bIns="0" rtlCol="0" anchor="ctr"/>
          <a:lstStyle/>
          <a:p>
            <a:pPr algn="r" indent="0" marL="0">
              <a:lnSpc>
                <a:spcPct val="105000"/>
              </a:lnSpc>
              <a:buNone/>
            </a:pPr>
            <a:r>
              <a:rPr lang="en-US" sz="680" dirty="0">
                <a:solidFill>
                  <a:srgbClr val="64748B"/>
                </a:solidFill>
                <a:latin typeface="Arial" pitchFamily="34" charset="0"/>
                <a:ea typeface="Arial" pitchFamily="34" charset="-122"/>
                <a:cs typeface="Arial" pitchFamily="34" charset="-120"/>
              </a:rPr>
              <a:t>docs/genuine_3p_before_after_provenance_receipt.json  •  Unstretched 2880×1800 (1.60:1) Retina</a:t>
            </a:r>
            <a:endParaRPr lang="en-US" sz="680" dirty="0"/>
          </a:p>
        </p:txBody>
      </p:sp>
      <p:sp>
        <p:nvSpPr>
          <p:cNvPr id="20" name="Shape 18"/>
          <p:cNvSpPr/>
          <p:nvPr/>
        </p:nvSpPr>
        <p:spPr>
          <a:xfrm>
            <a:off x="11002975" y="6501384"/>
            <a:ext cx="749808" cy="192024"/>
          </a:xfrm>
          <a:prstGeom prst="roundRect">
            <a:avLst>
              <a:gd name="adj" fmla="val 19048"/>
            </a:avLst>
          </a:prstGeom>
          <a:solidFill>
            <a:srgbClr val="F1F5F9"/>
          </a:solidFill>
          <a:ln w="7620">
            <a:solidFill>
              <a:srgbClr val="E2E8F0"/>
            </a:solidFill>
            <a:prstDash val="solid"/>
          </a:ln>
        </p:spPr>
      </p:sp>
      <p:sp>
        <p:nvSpPr>
          <p:cNvPr id="21" name="Text 19"/>
          <p:cNvSpPr/>
          <p:nvPr/>
        </p:nvSpPr>
        <p:spPr>
          <a:xfrm>
            <a:off x="11002975" y="6501384"/>
            <a:ext cx="749808" cy="192024"/>
          </a:xfrm>
          <a:prstGeom prst="rect">
            <a:avLst/>
          </a:prstGeom>
          <a:noFill/>
          <a:ln/>
        </p:spPr>
        <p:txBody>
          <a:bodyPr wrap="square" lIns="0" tIns="0" rIns="0" bIns="0" rtlCol="0" anchor="ctr"/>
          <a:lstStyle/>
          <a:p>
            <a:pPr algn="ctr" indent="0" marL="0">
              <a:lnSpc>
                <a:spcPct val="105000"/>
              </a:lnSpc>
              <a:buNone/>
            </a:pPr>
            <a:r>
              <a:rPr lang="en-US" sz="700" b="1" dirty="0">
                <a:solidFill>
                  <a:srgbClr val="334155"/>
                </a:solidFill>
                <a:latin typeface="Arial" pitchFamily="34" charset="0"/>
                <a:ea typeface="Arial" pitchFamily="34" charset="-122"/>
                <a:cs typeface="Arial" pitchFamily="34" charset="-120"/>
              </a:rPr>
              <a:t>20 / 23</a:t>
            </a:r>
            <a:endParaRPr lang="en-US" sz="700" dirty="0"/>
          </a:p>
        </p:txBody>
      </p:sp>
      <p:sp>
        <p:nvSpPr>
          <p:cNvPr id="22" name="Shape 20"/>
          <p:cNvSpPr/>
          <p:nvPr/>
        </p:nvSpPr>
        <p:spPr>
          <a:xfrm>
            <a:off x="461772" y="1068019"/>
            <a:ext cx="3218688" cy="2231136"/>
          </a:xfrm>
          <a:prstGeom prst="roundRect">
            <a:avLst>
              <a:gd name="adj" fmla="val 2869"/>
            </a:avLst>
          </a:prstGeom>
          <a:solidFill>
            <a:srgbClr val="E2E8F0"/>
          </a:solidFill>
          <a:ln/>
        </p:spPr>
      </p:sp>
      <p:sp>
        <p:nvSpPr>
          <p:cNvPr id="23" name="Shape 21"/>
          <p:cNvSpPr/>
          <p:nvPr/>
        </p:nvSpPr>
        <p:spPr>
          <a:xfrm>
            <a:off x="438912" y="1042416"/>
            <a:ext cx="3218688" cy="2231136"/>
          </a:xfrm>
          <a:prstGeom prst="roundRect">
            <a:avLst>
              <a:gd name="adj" fmla="val 2869"/>
            </a:avLst>
          </a:prstGeom>
          <a:solidFill>
            <a:srgbClr val="FFFFFF"/>
          </a:solidFill>
          <a:ln w="10795">
            <a:solidFill>
              <a:srgbClr val="FECACA"/>
            </a:solidFill>
            <a:prstDash val="solid"/>
          </a:ln>
        </p:spPr>
      </p:sp>
      <p:sp>
        <p:nvSpPr>
          <p:cNvPr id="24" name="Shape 22"/>
          <p:cNvSpPr/>
          <p:nvPr/>
        </p:nvSpPr>
        <p:spPr>
          <a:xfrm>
            <a:off x="438912" y="1042416"/>
            <a:ext cx="3218688" cy="219456"/>
          </a:xfrm>
          <a:prstGeom prst="rect">
            <a:avLst/>
          </a:prstGeom>
          <a:solidFill>
            <a:srgbClr val="FEF2F2"/>
          </a:solidFill>
          <a:ln w="7620">
            <a:solidFill>
              <a:srgbClr val="FECACA"/>
            </a:solidFill>
            <a:prstDash val="solid"/>
          </a:ln>
        </p:spPr>
      </p:sp>
      <p:sp>
        <p:nvSpPr>
          <p:cNvPr id="25" name="Shape 23"/>
          <p:cNvSpPr/>
          <p:nvPr/>
        </p:nvSpPr>
        <p:spPr>
          <a:xfrm>
            <a:off x="512064" y="1115568"/>
            <a:ext cx="68580" cy="68580"/>
          </a:xfrm>
          <a:prstGeom prst="ellipse">
            <a:avLst/>
          </a:prstGeom>
          <a:solidFill>
            <a:srgbClr val="EF4444"/>
          </a:solidFill>
          <a:ln/>
        </p:spPr>
      </p:sp>
      <p:sp>
        <p:nvSpPr>
          <p:cNvPr id="26" name="Shape 24"/>
          <p:cNvSpPr/>
          <p:nvPr/>
        </p:nvSpPr>
        <p:spPr>
          <a:xfrm>
            <a:off x="612648" y="1115568"/>
            <a:ext cx="68580" cy="68580"/>
          </a:xfrm>
          <a:prstGeom prst="ellipse">
            <a:avLst/>
          </a:prstGeom>
          <a:solidFill>
            <a:srgbClr val="F59E0B"/>
          </a:solidFill>
          <a:ln/>
        </p:spPr>
      </p:sp>
      <p:sp>
        <p:nvSpPr>
          <p:cNvPr id="27" name="Shape 25"/>
          <p:cNvSpPr/>
          <p:nvPr/>
        </p:nvSpPr>
        <p:spPr>
          <a:xfrm>
            <a:off x="713232" y="1115568"/>
            <a:ext cx="68580" cy="68580"/>
          </a:xfrm>
          <a:prstGeom prst="ellipse">
            <a:avLst/>
          </a:prstGeom>
          <a:solidFill>
            <a:srgbClr val="10B981"/>
          </a:solidFill>
          <a:ln/>
        </p:spPr>
      </p:sp>
      <p:sp>
        <p:nvSpPr>
          <p:cNvPr id="28" name="Text 26"/>
          <p:cNvSpPr/>
          <p:nvPr/>
        </p:nvSpPr>
        <p:spPr>
          <a:xfrm>
            <a:off x="841248" y="1060704"/>
            <a:ext cx="2761488" cy="182880"/>
          </a:xfrm>
          <a:prstGeom prst="rect">
            <a:avLst/>
          </a:prstGeom>
          <a:noFill/>
          <a:ln/>
        </p:spPr>
        <p:txBody>
          <a:bodyPr wrap="square" lIns="0" tIns="0" rIns="0" bIns="0" rtlCol="0" anchor="ctr"/>
          <a:lstStyle/>
          <a:p>
            <a:pPr algn="l" indent="0" marL="0">
              <a:lnSpc>
                <a:spcPct val="100000"/>
              </a:lnSpc>
              <a:buNone/>
            </a:pPr>
            <a:r>
              <a:rPr lang="en-US" sz="640" b="1" dirty="0">
                <a:solidFill>
                  <a:srgbClr val="B91C1C"/>
                </a:solidFill>
                <a:latin typeface="Arial" pitchFamily="34" charset="0"/>
                <a:ea typeface="Arial" pitchFamily="34" charset="-122"/>
                <a:cs typeface="Arial" pitchFamily="34" charset="-120"/>
              </a:rPr>
              <a:t>BEFORE: 21 CFR 11 Ledger Baseline (3 Rows)</a:t>
            </a:r>
            <a:endParaRPr lang="en-US" sz="640" dirty="0"/>
          </a:p>
        </p:txBody>
      </p:sp>
      <p:pic>
        <p:nvPicPr>
          <p:cNvPr id="29" name="Image 0" descr="preencoded.png">    </p:cNvPr>
          <p:cNvPicPr>
            <a:picLocks noChangeAspect="1"/>
          </p:cNvPicPr>
          <p:nvPr/>
        </p:nvPicPr>
        <p:blipFill>
          <a:blip r:embed="rId1"/>
          <a:stretch>
            <a:fillRect/>
          </a:stretch>
        </p:blipFill>
        <p:spPr>
          <a:xfrm>
            <a:off x="438912" y="1261872"/>
            <a:ext cx="3218688" cy="2011680"/>
          </a:xfrm>
          <a:prstGeom prst="rect">
            <a:avLst/>
          </a:prstGeom>
        </p:spPr>
      </p:pic>
      <p:sp>
        <p:nvSpPr>
          <p:cNvPr id="30" name="Shape 27"/>
          <p:cNvSpPr/>
          <p:nvPr/>
        </p:nvSpPr>
        <p:spPr>
          <a:xfrm>
            <a:off x="438912" y="1042416"/>
            <a:ext cx="3218688" cy="2231136"/>
          </a:xfrm>
          <a:prstGeom prst="rect">
            <a:avLst/>
          </a:prstGeom>
          <a:ln w="11430">
            <a:solidFill>
              <a:srgbClr val="B91C1C"/>
            </a:solidFill>
            <a:prstDash val="solid"/>
          </a:ln>
        </p:spPr>
      </p:sp>
      <p:sp>
        <p:nvSpPr>
          <p:cNvPr id="31" name="Shape 28"/>
          <p:cNvSpPr/>
          <p:nvPr/>
        </p:nvSpPr>
        <p:spPr>
          <a:xfrm>
            <a:off x="3694176" y="2157984"/>
            <a:ext cx="310896" cy="0"/>
          </a:xfrm>
          <a:prstGeom prst="line">
            <a:avLst/>
          </a:prstGeom>
          <a:noFill/>
          <a:ln w="22860">
            <a:solidFill>
              <a:srgbClr val="4338CA"/>
            </a:solidFill>
            <a:prstDash val="solid"/>
            <a:tailEnd type="triangle" w="sm" len="sm"/>
          </a:ln>
        </p:spPr>
      </p:sp>
      <p:sp>
        <p:nvSpPr>
          <p:cNvPr id="32" name="Shape 29"/>
          <p:cNvSpPr/>
          <p:nvPr/>
        </p:nvSpPr>
        <p:spPr>
          <a:xfrm>
            <a:off x="4064508" y="1068019"/>
            <a:ext cx="3218688" cy="2231136"/>
          </a:xfrm>
          <a:prstGeom prst="roundRect">
            <a:avLst>
              <a:gd name="adj" fmla="val 2869"/>
            </a:avLst>
          </a:prstGeom>
          <a:solidFill>
            <a:srgbClr val="E2E8F0"/>
          </a:solidFill>
          <a:ln/>
        </p:spPr>
      </p:sp>
      <p:sp>
        <p:nvSpPr>
          <p:cNvPr id="33" name="Shape 30"/>
          <p:cNvSpPr/>
          <p:nvPr/>
        </p:nvSpPr>
        <p:spPr>
          <a:xfrm>
            <a:off x="4041648" y="1042416"/>
            <a:ext cx="3218688" cy="2231136"/>
          </a:xfrm>
          <a:prstGeom prst="roundRect">
            <a:avLst>
              <a:gd name="adj" fmla="val 2869"/>
            </a:avLst>
          </a:prstGeom>
          <a:solidFill>
            <a:srgbClr val="FFFFFF"/>
          </a:solidFill>
          <a:ln w="10795">
            <a:solidFill>
              <a:srgbClr val="A7F3D0"/>
            </a:solidFill>
            <a:prstDash val="solid"/>
          </a:ln>
        </p:spPr>
      </p:sp>
      <p:sp>
        <p:nvSpPr>
          <p:cNvPr id="34" name="Shape 31"/>
          <p:cNvSpPr/>
          <p:nvPr/>
        </p:nvSpPr>
        <p:spPr>
          <a:xfrm>
            <a:off x="4041648" y="1042416"/>
            <a:ext cx="3218688" cy="219456"/>
          </a:xfrm>
          <a:prstGeom prst="rect">
            <a:avLst/>
          </a:prstGeom>
          <a:solidFill>
            <a:srgbClr val="ECFDF5"/>
          </a:solidFill>
          <a:ln w="7620">
            <a:solidFill>
              <a:srgbClr val="A7F3D0"/>
            </a:solidFill>
            <a:prstDash val="solid"/>
          </a:ln>
        </p:spPr>
      </p:sp>
      <p:sp>
        <p:nvSpPr>
          <p:cNvPr id="35" name="Shape 32"/>
          <p:cNvSpPr/>
          <p:nvPr/>
        </p:nvSpPr>
        <p:spPr>
          <a:xfrm>
            <a:off x="4114800" y="1115568"/>
            <a:ext cx="68580" cy="68580"/>
          </a:xfrm>
          <a:prstGeom prst="ellipse">
            <a:avLst/>
          </a:prstGeom>
          <a:solidFill>
            <a:srgbClr val="EF4444"/>
          </a:solidFill>
          <a:ln/>
        </p:spPr>
      </p:sp>
      <p:sp>
        <p:nvSpPr>
          <p:cNvPr id="36" name="Shape 33"/>
          <p:cNvSpPr/>
          <p:nvPr/>
        </p:nvSpPr>
        <p:spPr>
          <a:xfrm>
            <a:off x="4215384" y="1115568"/>
            <a:ext cx="68580" cy="68580"/>
          </a:xfrm>
          <a:prstGeom prst="ellipse">
            <a:avLst/>
          </a:prstGeom>
          <a:solidFill>
            <a:srgbClr val="F59E0B"/>
          </a:solidFill>
          <a:ln/>
        </p:spPr>
      </p:sp>
      <p:sp>
        <p:nvSpPr>
          <p:cNvPr id="37" name="Shape 34"/>
          <p:cNvSpPr/>
          <p:nvPr/>
        </p:nvSpPr>
        <p:spPr>
          <a:xfrm>
            <a:off x="4315968" y="1115568"/>
            <a:ext cx="68580" cy="68580"/>
          </a:xfrm>
          <a:prstGeom prst="ellipse">
            <a:avLst/>
          </a:prstGeom>
          <a:solidFill>
            <a:srgbClr val="10B981"/>
          </a:solidFill>
          <a:ln/>
        </p:spPr>
      </p:sp>
      <p:sp>
        <p:nvSpPr>
          <p:cNvPr id="38" name="Text 35"/>
          <p:cNvSpPr/>
          <p:nvPr/>
        </p:nvSpPr>
        <p:spPr>
          <a:xfrm>
            <a:off x="4443984" y="1060704"/>
            <a:ext cx="2761488" cy="182880"/>
          </a:xfrm>
          <a:prstGeom prst="rect">
            <a:avLst/>
          </a:prstGeom>
          <a:noFill/>
          <a:ln/>
        </p:spPr>
        <p:txBody>
          <a:bodyPr wrap="square" lIns="0" tIns="0" rIns="0" bIns="0" rtlCol="0" anchor="ctr"/>
          <a:lstStyle/>
          <a:p>
            <a:pPr algn="l" indent="0" marL="0">
              <a:lnSpc>
                <a:spcPct val="100000"/>
              </a:lnSpc>
              <a:buNone/>
            </a:pPr>
            <a:r>
              <a:rPr lang="en-US" sz="640" b="1" dirty="0">
                <a:solidFill>
                  <a:srgbClr val="047857"/>
                </a:solidFill>
                <a:latin typeface="Arial" pitchFamily="34" charset="0"/>
                <a:ea typeface="Arial" pitchFamily="34" charset="-122"/>
                <a:cs typeface="Arial" pitchFamily="34" charset="-120"/>
              </a:rPr>
              <a:t>AFTER: KMS P-256 Signed AWS-GXP-104 (4 Rows)</a:t>
            </a:r>
            <a:endParaRPr lang="en-US" sz="640" dirty="0"/>
          </a:p>
        </p:txBody>
      </p:sp>
      <p:pic>
        <p:nvPicPr>
          <p:cNvPr id="39" name="Image 1" descr="preencoded.png">    </p:cNvPr>
          <p:cNvPicPr>
            <a:picLocks noChangeAspect="1"/>
          </p:cNvPicPr>
          <p:nvPr/>
        </p:nvPicPr>
        <p:blipFill>
          <a:blip r:embed="rId2"/>
          <a:stretch>
            <a:fillRect/>
          </a:stretch>
        </p:blipFill>
        <p:spPr>
          <a:xfrm>
            <a:off x="4041648" y="1261872"/>
            <a:ext cx="3218688" cy="2011680"/>
          </a:xfrm>
          <a:prstGeom prst="rect">
            <a:avLst/>
          </a:prstGeom>
        </p:spPr>
      </p:pic>
      <p:sp>
        <p:nvSpPr>
          <p:cNvPr id="40" name="Shape 36"/>
          <p:cNvSpPr/>
          <p:nvPr/>
        </p:nvSpPr>
        <p:spPr>
          <a:xfrm>
            <a:off x="4041648" y="1042416"/>
            <a:ext cx="3218688" cy="2231136"/>
          </a:xfrm>
          <a:prstGeom prst="rect">
            <a:avLst/>
          </a:prstGeom>
          <a:ln w="11430">
            <a:solidFill>
              <a:srgbClr val="047857"/>
            </a:solidFill>
            <a:prstDash val="solid"/>
          </a:ln>
        </p:spPr>
      </p:sp>
      <p:sp>
        <p:nvSpPr>
          <p:cNvPr id="41" name="Shape 37"/>
          <p:cNvSpPr/>
          <p:nvPr/>
        </p:nvSpPr>
        <p:spPr>
          <a:xfrm>
            <a:off x="7502652" y="1068019"/>
            <a:ext cx="4272991" cy="2231136"/>
          </a:xfrm>
          <a:prstGeom prst="roundRect">
            <a:avLst>
              <a:gd name="adj" fmla="val 2869"/>
            </a:avLst>
          </a:prstGeom>
          <a:solidFill>
            <a:srgbClr val="E2E8F0"/>
          </a:solidFill>
          <a:ln/>
        </p:spPr>
      </p:sp>
      <p:sp>
        <p:nvSpPr>
          <p:cNvPr id="42" name="Shape 38"/>
          <p:cNvSpPr/>
          <p:nvPr/>
        </p:nvSpPr>
        <p:spPr>
          <a:xfrm>
            <a:off x="7479792" y="1042416"/>
            <a:ext cx="4272991" cy="2231136"/>
          </a:xfrm>
          <a:prstGeom prst="roundRect">
            <a:avLst>
              <a:gd name="adj" fmla="val 2869"/>
            </a:avLst>
          </a:prstGeom>
          <a:solidFill>
            <a:srgbClr val="FFFFFF"/>
          </a:solidFill>
          <a:ln w="10795">
            <a:solidFill>
              <a:srgbClr val="C7D2FE"/>
            </a:solidFill>
            <a:prstDash val="solid"/>
          </a:ln>
        </p:spPr>
      </p:sp>
      <p:sp>
        <p:nvSpPr>
          <p:cNvPr id="43" name="Shape 39"/>
          <p:cNvSpPr/>
          <p:nvPr/>
        </p:nvSpPr>
        <p:spPr>
          <a:xfrm>
            <a:off x="7479792" y="1042416"/>
            <a:ext cx="54864" cy="2231136"/>
          </a:xfrm>
          <a:prstGeom prst="roundRect">
            <a:avLst>
              <a:gd name="adj" fmla="val 33333"/>
            </a:avLst>
          </a:prstGeom>
          <a:solidFill>
            <a:srgbClr val="4338CA"/>
          </a:solidFill>
          <a:ln/>
        </p:spPr>
      </p:sp>
      <p:sp>
        <p:nvSpPr>
          <p:cNvPr id="44" name="Shape 40"/>
          <p:cNvSpPr/>
          <p:nvPr/>
        </p:nvSpPr>
        <p:spPr>
          <a:xfrm>
            <a:off x="7626096" y="1133856"/>
            <a:ext cx="3980383" cy="201168"/>
          </a:xfrm>
          <a:prstGeom prst="roundRect">
            <a:avLst>
              <a:gd name="adj" fmla="val 36364"/>
            </a:avLst>
          </a:prstGeom>
          <a:solidFill>
            <a:srgbClr val="EEF2FF"/>
          </a:solidFill>
          <a:ln w="9525">
            <a:solidFill>
              <a:srgbClr val="C7D2FE"/>
            </a:solidFill>
            <a:prstDash val="solid"/>
          </a:ln>
        </p:spPr>
      </p:sp>
      <p:sp>
        <p:nvSpPr>
          <p:cNvPr id="45" name="Text 41"/>
          <p:cNvSpPr/>
          <p:nvPr/>
        </p:nvSpPr>
        <p:spPr>
          <a:xfrm>
            <a:off x="7626096" y="1133856"/>
            <a:ext cx="3980383" cy="201168"/>
          </a:xfrm>
          <a:prstGeom prst="rect">
            <a:avLst/>
          </a:prstGeom>
          <a:noFill/>
          <a:ln/>
        </p:spPr>
        <p:txBody>
          <a:bodyPr wrap="square" lIns="0" tIns="0" rIns="0" bIns="0" rtlCol="0" anchor="ctr"/>
          <a:lstStyle/>
          <a:p>
            <a:pPr algn="ctr" indent="0" marL="0">
              <a:lnSpc>
                <a:spcPct val="105000"/>
              </a:lnSpc>
              <a:buNone/>
            </a:pPr>
            <a:r>
              <a:rPr lang="en-US" sz="620" b="1" dirty="0">
                <a:solidFill>
                  <a:srgbClr val="4338CA"/>
                </a:solidFill>
                <a:latin typeface="Arial" pitchFamily="34" charset="0"/>
                <a:ea typeface="Arial" pitchFamily="34" charset="-122"/>
                <a:cs typeface="Arial" pitchFamily="34" charset="-120"/>
              </a:rPr>
              <a:t>SAAS-04  •  NOCODB STUDIO v0.255.2  •  TARGET TWQU0KSRVF</a:t>
            </a:r>
            <a:endParaRPr lang="en-US" sz="620" dirty="0"/>
          </a:p>
        </p:txBody>
      </p:sp>
      <p:sp>
        <p:nvSpPr>
          <p:cNvPr id="46" name="Text 42"/>
          <p:cNvSpPr/>
          <p:nvPr/>
        </p:nvSpPr>
        <p:spPr>
          <a:xfrm>
            <a:off x="7626096" y="1371600"/>
            <a:ext cx="3980383" cy="201168"/>
          </a:xfrm>
          <a:prstGeom prst="rect">
            <a:avLst/>
          </a:prstGeom>
          <a:noFill/>
          <a:ln/>
        </p:spPr>
        <p:txBody>
          <a:bodyPr wrap="square" lIns="0" tIns="0" rIns="0" bIns="0" rtlCol="0" anchor="ctr"/>
          <a:lstStyle/>
          <a:p>
            <a:pPr indent="0" marL="0">
              <a:lnSpc>
                <a:spcPct val="105000"/>
              </a:lnSpc>
              <a:buNone/>
            </a:pPr>
            <a:r>
              <a:rPr lang="en-US" sz="920" b="1" dirty="0">
                <a:solidFill>
                  <a:srgbClr val="0F172A"/>
                </a:solidFill>
                <a:latin typeface="Arial" pitchFamily="34" charset="0"/>
                <a:ea typeface="Arial" pitchFamily="34" charset="-122"/>
                <a:cs typeface="Arial" pitchFamily="34" charset="-120"/>
              </a:rPr>
              <a:t>Veeva / Muse GxP Tier — KMS ECDSA Electronic Signature</a:t>
            </a:r>
            <a:endParaRPr lang="en-US" sz="920" dirty="0"/>
          </a:p>
        </p:txBody>
      </p:sp>
      <p:sp>
        <p:nvSpPr>
          <p:cNvPr id="47" name="Text 43"/>
          <p:cNvSpPr/>
          <p:nvPr/>
        </p:nvSpPr>
        <p:spPr>
          <a:xfrm>
            <a:off x="7626096" y="1581912"/>
            <a:ext cx="3980383" cy="164592"/>
          </a:xfrm>
          <a:prstGeom prst="rect">
            <a:avLst/>
          </a:prstGeom>
          <a:noFill/>
          <a:ln/>
        </p:spPr>
        <p:txBody>
          <a:bodyPr wrap="square" lIns="0" tIns="0" rIns="0" bIns="0" rtlCol="0" anchor="ctr"/>
          <a:lstStyle/>
          <a:p>
            <a:pPr indent="0" marL="0">
              <a:lnSpc>
                <a:spcPct val="100000"/>
              </a:lnSpc>
              <a:buNone/>
            </a:pPr>
            <a:r>
              <a:rPr lang="en-US" sz="650" b="1" dirty="0">
                <a:solidFill>
                  <a:srgbClr val="4338CA"/>
                </a:solidFill>
                <a:latin typeface="Courier New" pitchFamily="34" charset="0"/>
                <a:ea typeface="Courier New" pitchFamily="34" charset="-122"/>
                <a:cs typeface="Courier New" pitchFamily="34" charset="-120"/>
              </a:rPr>
              <a:t>MCP: query_muse_study_biomarkers  •  nocodb/nocodb:0.255.2</a:t>
            </a:r>
            <a:endParaRPr lang="en-US" sz="650" dirty="0"/>
          </a:p>
        </p:txBody>
      </p:sp>
      <p:sp>
        <p:nvSpPr>
          <p:cNvPr id="48" name="Text 44"/>
          <p:cNvSpPr/>
          <p:nvPr/>
        </p:nvSpPr>
        <p:spPr>
          <a:xfrm>
            <a:off x="7626096" y="1783080"/>
            <a:ext cx="3980383" cy="1133856"/>
          </a:xfrm>
          <a:prstGeom prst="rect">
            <a:avLst/>
          </a:prstGeom>
          <a:noFill/>
          <a:ln/>
        </p:spPr>
        <p:txBody>
          <a:bodyPr wrap="square" lIns="0" tIns="0" rIns="0" bIns="0" rtlCol="0" anchor="t"/>
          <a:lstStyle/>
          <a:p>
            <a:pPr indent="0" marL="0">
              <a:lnSpc>
                <a:spcPct val="110000"/>
              </a:lnSpc>
              <a:buNone/>
            </a:pPr>
            <a:r>
              <a:rPr lang="en-US" sz="720" b="1" dirty="0">
                <a:solidFill>
                  <a:srgbClr val="B91C1C"/>
                </a:solidFill>
                <a:latin typeface="Arial" pitchFamily="34" charset="0"/>
                <a:ea typeface="Arial" pitchFamily="34" charset="-122"/>
                <a:cs typeface="Arial" pitchFamily="34" charset="-120"/>
              </a:rPr>
              <a:t>• BEFORE: </a:t>
            </a:r>
            <a:pPr indent="0" marL="0">
              <a:lnSpc>
                <a:spcPct val="110000"/>
              </a:lnSpc>
              <a:buNone/>
            </a:pPr>
            <a:r>
              <a:rPr lang="en-US" sz="720" dirty="0">
                <a:solidFill>
                  <a:srgbClr val="334155"/>
                </a:solidFill>
                <a:latin typeface="Arial" pitchFamily="34" charset="0"/>
                <a:ea typeface="Arial" pitchFamily="34" charset="-122"/>
                <a:cs typeface="Arial" pitchFamily="34" charset="-120"/>
              </a:rPr>
              <a:t>FinVault KMS 21 CFR Part 11 table displays 3 seeded rows (AWS-GXP-101..103 — 3 records in footer) before live HSM signing.
</a:t>
            </a:r>
            <a:pPr indent="0" marL="0">
              <a:lnSpc>
                <a:spcPct val="110000"/>
              </a:lnSpc>
              <a:buNone/>
            </a:pPr>
            <a:r>
              <a:rPr lang="en-US" sz="720" b="1" dirty="0">
                <a:solidFill>
                  <a:srgbClr val="047857"/>
                </a:solidFill>
                <a:latin typeface="Arial" pitchFamily="34" charset="0"/>
                <a:ea typeface="Arial" pitchFamily="34" charset="-122"/>
                <a:cs typeface="Arial" pitchFamily="34" charset="-120"/>
              </a:rPr>
              <a:t>• AFTER: </a:t>
            </a:r>
            <a:pPr indent="0" marL="0">
              <a:lnSpc>
                <a:spcPct val="110000"/>
              </a:lnSpc>
              <a:buNone/>
            </a:pPr>
            <a:r>
              <a:rPr lang="en-US" sz="720" dirty="0">
                <a:solidFill>
                  <a:srgbClr val="0F172A"/>
                </a:solidFill>
                <a:latin typeface="Arial" pitchFamily="34" charset="0"/>
                <a:ea typeface="Arial" pitchFamily="34" charset="-122"/>
                <a:cs typeface="Arial" pitchFamily="34" charset="-120"/>
              </a:rPr>
              <a:t>Cloud KMS signs the Hop 5 digest and appends Row #4 AWS-GXP-104 (Pattern C Hybrid PSC • ECDSA_P256_LIVE_AGENT_SIGNED; 4 records).</a:t>
            </a:r>
            <a:endParaRPr lang="en-US" sz="720" dirty="0"/>
          </a:p>
        </p:txBody>
      </p:sp>
      <p:sp>
        <p:nvSpPr>
          <p:cNvPr id="49" name="Shape 45"/>
          <p:cNvSpPr/>
          <p:nvPr/>
        </p:nvSpPr>
        <p:spPr>
          <a:xfrm>
            <a:off x="7626096" y="2980944"/>
            <a:ext cx="3980383" cy="201168"/>
          </a:xfrm>
          <a:prstGeom prst="roundRect">
            <a:avLst>
              <a:gd name="adj" fmla="val 36364"/>
            </a:avLst>
          </a:prstGeom>
          <a:solidFill>
            <a:srgbClr val="F1F5F9"/>
          </a:solidFill>
          <a:ln w="9525">
            <a:solidFill>
              <a:srgbClr val="CBD5E1"/>
            </a:solidFill>
            <a:prstDash val="solid"/>
          </a:ln>
        </p:spPr>
      </p:sp>
      <p:sp>
        <p:nvSpPr>
          <p:cNvPr id="50" name="Text 46"/>
          <p:cNvSpPr/>
          <p:nvPr/>
        </p:nvSpPr>
        <p:spPr>
          <a:xfrm>
            <a:off x="7626096" y="2980944"/>
            <a:ext cx="3980383" cy="201168"/>
          </a:xfrm>
          <a:prstGeom prst="rect">
            <a:avLst/>
          </a:prstGeom>
          <a:noFill/>
          <a:ln/>
        </p:spPr>
        <p:txBody>
          <a:bodyPr wrap="square" lIns="0" tIns="0" rIns="0" bIns="0" rtlCol="0" anchor="ctr"/>
          <a:lstStyle/>
          <a:p>
            <a:pPr algn="ctr" indent="0" marL="0">
              <a:lnSpc>
                <a:spcPct val="105000"/>
              </a:lnSpc>
              <a:buNone/>
            </a:pPr>
            <a:r>
              <a:rPr lang="en-US" sz="610" b="1" dirty="0">
                <a:solidFill>
                  <a:srgbClr val="475569"/>
                </a:solidFill>
                <a:latin typeface="Arial" pitchFamily="34" charset="0"/>
                <a:ea typeface="Arial" pitchFamily="34" charset="-122"/>
                <a:cs typeface="Arial" pitchFamily="34" charset="-120"/>
              </a:rPr>
              <a:t>SHA-256: 4f373d70 (Before) → cc7d9949 (After)  •  Pair 04/10</a:t>
            </a:r>
            <a:endParaRPr lang="en-US" sz="610" dirty="0"/>
          </a:p>
        </p:txBody>
      </p:sp>
      <p:sp>
        <p:nvSpPr>
          <p:cNvPr id="51" name="Shape 47"/>
          <p:cNvSpPr/>
          <p:nvPr/>
        </p:nvSpPr>
        <p:spPr>
          <a:xfrm>
            <a:off x="461772" y="3518611"/>
            <a:ext cx="3218688" cy="2231136"/>
          </a:xfrm>
          <a:prstGeom prst="roundRect">
            <a:avLst>
              <a:gd name="adj" fmla="val 2869"/>
            </a:avLst>
          </a:prstGeom>
          <a:solidFill>
            <a:srgbClr val="E2E8F0"/>
          </a:solidFill>
          <a:ln/>
        </p:spPr>
      </p:sp>
      <p:sp>
        <p:nvSpPr>
          <p:cNvPr id="52" name="Shape 48"/>
          <p:cNvSpPr/>
          <p:nvPr/>
        </p:nvSpPr>
        <p:spPr>
          <a:xfrm>
            <a:off x="438912" y="3493008"/>
            <a:ext cx="3218688" cy="2231136"/>
          </a:xfrm>
          <a:prstGeom prst="roundRect">
            <a:avLst>
              <a:gd name="adj" fmla="val 2869"/>
            </a:avLst>
          </a:prstGeom>
          <a:solidFill>
            <a:srgbClr val="FFFFFF"/>
          </a:solidFill>
          <a:ln w="10795">
            <a:solidFill>
              <a:srgbClr val="FECACA"/>
            </a:solidFill>
            <a:prstDash val="solid"/>
          </a:ln>
        </p:spPr>
      </p:sp>
      <p:sp>
        <p:nvSpPr>
          <p:cNvPr id="53" name="Shape 49"/>
          <p:cNvSpPr/>
          <p:nvPr/>
        </p:nvSpPr>
        <p:spPr>
          <a:xfrm>
            <a:off x="438912" y="3493008"/>
            <a:ext cx="3218688" cy="219456"/>
          </a:xfrm>
          <a:prstGeom prst="rect">
            <a:avLst/>
          </a:prstGeom>
          <a:solidFill>
            <a:srgbClr val="FEF2F2"/>
          </a:solidFill>
          <a:ln w="7620">
            <a:solidFill>
              <a:srgbClr val="FECACA"/>
            </a:solidFill>
            <a:prstDash val="solid"/>
          </a:ln>
        </p:spPr>
      </p:sp>
      <p:sp>
        <p:nvSpPr>
          <p:cNvPr id="54" name="Shape 50"/>
          <p:cNvSpPr/>
          <p:nvPr/>
        </p:nvSpPr>
        <p:spPr>
          <a:xfrm>
            <a:off x="512064" y="3566160"/>
            <a:ext cx="68580" cy="68580"/>
          </a:xfrm>
          <a:prstGeom prst="ellipse">
            <a:avLst/>
          </a:prstGeom>
          <a:solidFill>
            <a:srgbClr val="EF4444"/>
          </a:solidFill>
          <a:ln/>
        </p:spPr>
      </p:sp>
      <p:sp>
        <p:nvSpPr>
          <p:cNvPr id="55" name="Shape 51"/>
          <p:cNvSpPr/>
          <p:nvPr/>
        </p:nvSpPr>
        <p:spPr>
          <a:xfrm>
            <a:off x="612648" y="3566160"/>
            <a:ext cx="68580" cy="68580"/>
          </a:xfrm>
          <a:prstGeom prst="ellipse">
            <a:avLst/>
          </a:prstGeom>
          <a:solidFill>
            <a:srgbClr val="F59E0B"/>
          </a:solidFill>
          <a:ln/>
        </p:spPr>
      </p:sp>
      <p:sp>
        <p:nvSpPr>
          <p:cNvPr id="56" name="Shape 52"/>
          <p:cNvSpPr/>
          <p:nvPr/>
        </p:nvSpPr>
        <p:spPr>
          <a:xfrm>
            <a:off x="713232" y="3566160"/>
            <a:ext cx="68580" cy="68580"/>
          </a:xfrm>
          <a:prstGeom prst="ellipse">
            <a:avLst/>
          </a:prstGeom>
          <a:solidFill>
            <a:srgbClr val="10B981"/>
          </a:solidFill>
          <a:ln/>
        </p:spPr>
      </p:sp>
      <p:sp>
        <p:nvSpPr>
          <p:cNvPr id="57" name="Text 53"/>
          <p:cNvSpPr/>
          <p:nvPr/>
        </p:nvSpPr>
        <p:spPr>
          <a:xfrm>
            <a:off x="841248" y="3511296"/>
            <a:ext cx="2761488" cy="182880"/>
          </a:xfrm>
          <a:prstGeom prst="rect">
            <a:avLst/>
          </a:prstGeom>
          <a:noFill/>
          <a:ln/>
        </p:spPr>
        <p:txBody>
          <a:bodyPr wrap="square" lIns="0" tIns="0" rIns="0" bIns="0" rtlCol="0" anchor="ctr"/>
          <a:lstStyle/>
          <a:p>
            <a:pPr algn="l" indent="0" marL="0">
              <a:lnSpc>
                <a:spcPct val="100000"/>
              </a:lnSpc>
              <a:buNone/>
            </a:pPr>
            <a:r>
              <a:rPr lang="en-US" sz="640" b="1" dirty="0">
                <a:solidFill>
                  <a:srgbClr val="B91C1C"/>
                </a:solidFill>
                <a:latin typeface="Arial" pitchFamily="34" charset="0"/>
                <a:ea typeface="Arial" pitchFamily="34" charset="-122"/>
                <a:cs typeface="Arial" pitchFamily="34" charset="-120"/>
              </a:rPr>
              <a:t>BEFORE: HCM Compensation Studio (2 Items)</a:t>
            </a:r>
            <a:endParaRPr lang="en-US" sz="640" dirty="0"/>
          </a:p>
        </p:txBody>
      </p:sp>
      <p:pic>
        <p:nvPicPr>
          <p:cNvPr id="58" name="Image 2" descr="preencoded.png">    </p:cNvPr>
          <p:cNvPicPr>
            <a:picLocks noChangeAspect="1"/>
          </p:cNvPicPr>
          <p:nvPr/>
        </p:nvPicPr>
        <p:blipFill>
          <a:blip r:embed="rId3"/>
          <a:stretch>
            <a:fillRect/>
          </a:stretch>
        </p:blipFill>
        <p:spPr>
          <a:xfrm>
            <a:off x="438912" y="3712464"/>
            <a:ext cx="3218688" cy="2011680"/>
          </a:xfrm>
          <a:prstGeom prst="rect">
            <a:avLst/>
          </a:prstGeom>
        </p:spPr>
      </p:pic>
      <p:sp>
        <p:nvSpPr>
          <p:cNvPr id="59" name="Shape 54"/>
          <p:cNvSpPr/>
          <p:nvPr/>
        </p:nvSpPr>
        <p:spPr>
          <a:xfrm>
            <a:off x="438912" y="3493008"/>
            <a:ext cx="3218688" cy="2231136"/>
          </a:xfrm>
          <a:prstGeom prst="rect">
            <a:avLst/>
          </a:prstGeom>
          <a:ln w="11430">
            <a:solidFill>
              <a:srgbClr val="B91C1C"/>
            </a:solidFill>
            <a:prstDash val="solid"/>
          </a:ln>
        </p:spPr>
      </p:sp>
      <p:sp>
        <p:nvSpPr>
          <p:cNvPr id="60" name="Shape 55"/>
          <p:cNvSpPr/>
          <p:nvPr/>
        </p:nvSpPr>
        <p:spPr>
          <a:xfrm>
            <a:off x="3694176" y="4608576"/>
            <a:ext cx="310896" cy="0"/>
          </a:xfrm>
          <a:prstGeom prst="line">
            <a:avLst/>
          </a:prstGeom>
          <a:noFill/>
          <a:ln w="22860">
            <a:solidFill>
              <a:srgbClr val="047857"/>
            </a:solidFill>
            <a:prstDash val="solid"/>
            <a:tailEnd type="triangle" w="sm" len="sm"/>
          </a:ln>
        </p:spPr>
      </p:sp>
      <p:sp>
        <p:nvSpPr>
          <p:cNvPr id="61" name="Shape 56"/>
          <p:cNvSpPr/>
          <p:nvPr/>
        </p:nvSpPr>
        <p:spPr>
          <a:xfrm>
            <a:off x="4064508" y="3518611"/>
            <a:ext cx="3218688" cy="2231136"/>
          </a:xfrm>
          <a:prstGeom prst="roundRect">
            <a:avLst>
              <a:gd name="adj" fmla="val 2869"/>
            </a:avLst>
          </a:prstGeom>
          <a:solidFill>
            <a:srgbClr val="E2E8F0"/>
          </a:solidFill>
          <a:ln/>
        </p:spPr>
      </p:sp>
      <p:sp>
        <p:nvSpPr>
          <p:cNvPr id="62" name="Shape 57"/>
          <p:cNvSpPr/>
          <p:nvPr/>
        </p:nvSpPr>
        <p:spPr>
          <a:xfrm>
            <a:off x="4041648" y="3493008"/>
            <a:ext cx="3218688" cy="2231136"/>
          </a:xfrm>
          <a:prstGeom prst="roundRect">
            <a:avLst>
              <a:gd name="adj" fmla="val 2869"/>
            </a:avLst>
          </a:prstGeom>
          <a:solidFill>
            <a:srgbClr val="FFFFFF"/>
          </a:solidFill>
          <a:ln w="10795">
            <a:solidFill>
              <a:srgbClr val="A7F3D0"/>
            </a:solidFill>
            <a:prstDash val="solid"/>
          </a:ln>
        </p:spPr>
      </p:sp>
      <p:sp>
        <p:nvSpPr>
          <p:cNvPr id="63" name="Shape 58"/>
          <p:cNvSpPr/>
          <p:nvPr/>
        </p:nvSpPr>
        <p:spPr>
          <a:xfrm>
            <a:off x="4041648" y="3493008"/>
            <a:ext cx="3218688" cy="219456"/>
          </a:xfrm>
          <a:prstGeom prst="rect">
            <a:avLst/>
          </a:prstGeom>
          <a:solidFill>
            <a:srgbClr val="ECFDF5"/>
          </a:solidFill>
          <a:ln w="7620">
            <a:solidFill>
              <a:srgbClr val="A7F3D0"/>
            </a:solidFill>
            <a:prstDash val="solid"/>
          </a:ln>
        </p:spPr>
      </p:sp>
      <p:sp>
        <p:nvSpPr>
          <p:cNvPr id="64" name="Shape 59"/>
          <p:cNvSpPr/>
          <p:nvPr/>
        </p:nvSpPr>
        <p:spPr>
          <a:xfrm>
            <a:off x="4114800" y="3566160"/>
            <a:ext cx="68580" cy="68580"/>
          </a:xfrm>
          <a:prstGeom prst="ellipse">
            <a:avLst/>
          </a:prstGeom>
          <a:solidFill>
            <a:srgbClr val="EF4444"/>
          </a:solidFill>
          <a:ln/>
        </p:spPr>
      </p:sp>
      <p:sp>
        <p:nvSpPr>
          <p:cNvPr id="65" name="Shape 60"/>
          <p:cNvSpPr/>
          <p:nvPr/>
        </p:nvSpPr>
        <p:spPr>
          <a:xfrm>
            <a:off x="4215384" y="3566160"/>
            <a:ext cx="68580" cy="68580"/>
          </a:xfrm>
          <a:prstGeom prst="ellipse">
            <a:avLst/>
          </a:prstGeom>
          <a:solidFill>
            <a:srgbClr val="F59E0B"/>
          </a:solidFill>
          <a:ln/>
        </p:spPr>
      </p:sp>
      <p:sp>
        <p:nvSpPr>
          <p:cNvPr id="66" name="Shape 61"/>
          <p:cNvSpPr/>
          <p:nvPr/>
        </p:nvSpPr>
        <p:spPr>
          <a:xfrm>
            <a:off x="4315968" y="3566160"/>
            <a:ext cx="68580" cy="68580"/>
          </a:xfrm>
          <a:prstGeom prst="ellipse">
            <a:avLst/>
          </a:prstGeom>
          <a:solidFill>
            <a:srgbClr val="10B981"/>
          </a:solidFill>
          <a:ln/>
        </p:spPr>
      </p:sp>
      <p:sp>
        <p:nvSpPr>
          <p:cNvPr id="67" name="Text 62"/>
          <p:cNvSpPr/>
          <p:nvPr/>
        </p:nvSpPr>
        <p:spPr>
          <a:xfrm>
            <a:off x="4443984" y="3511296"/>
            <a:ext cx="2761488" cy="182880"/>
          </a:xfrm>
          <a:prstGeom prst="rect">
            <a:avLst/>
          </a:prstGeom>
          <a:noFill/>
          <a:ln/>
        </p:spPr>
        <p:txBody>
          <a:bodyPr wrap="square" lIns="0" tIns="0" rIns="0" bIns="0" rtlCol="0" anchor="ctr"/>
          <a:lstStyle/>
          <a:p>
            <a:pPr algn="l" indent="0" marL="0">
              <a:lnSpc>
                <a:spcPct val="100000"/>
              </a:lnSpc>
              <a:buNone/>
            </a:pPr>
            <a:r>
              <a:rPr lang="en-US" sz="640" b="1" dirty="0">
                <a:solidFill>
                  <a:srgbClr val="047857"/>
                </a:solidFill>
                <a:latin typeface="Arial" pitchFamily="34" charset="0"/>
                <a:ea typeface="Arial" pitchFamily="34" charset="-122"/>
                <a:cs typeface="Arial" pitchFamily="34" charset="-120"/>
              </a:rPr>
              <a:t>AFTER: SSN-Redacted RaaS Record (3 Items)</a:t>
            </a:r>
            <a:endParaRPr lang="en-US" sz="640" dirty="0"/>
          </a:p>
        </p:txBody>
      </p:sp>
      <p:pic>
        <p:nvPicPr>
          <p:cNvPr id="68" name="Image 3" descr="preencoded.png">    </p:cNvPr>
          <p:cNvPicPr>
            <a:picLocks noChangeAspect="1"/>
          </p:cNvPicPr>
          <p:nvPr/>
        </p:nvPicPr>
        <p:blipFill>
          <a:blip r:embed="rId4"/>
          <a:stretch>
            <a:fillRect/>
          </a:stretch>
        </p:blipFill>
        <p:spPr>
          <a:xfrm>
            <a:off x="4041648" y="3712464"/>
            <a:ext cx="3218688" cy="2011680"/>
          </a:xfrm>
          <a:prstGeom prst="rect">
            <a:avLst/>
          </a:prstGeom>
        </p:spPr>
      </p:pic>
      <p:sp>
        <p:nvSpPr>
          <p:cNvPr id="69" name="Shape 63"/>
          <p:cNvSpPr/>
          <p:nvPr/>
        </p:nvSpPr>
        <p:spPr>
          <a:xfrm>
            <a:off x="4041648" y="3493008"/>
            <a:ext cx="3218688" cy="2231136"/>
          </a:xfrm>
          <a:prstGeom prst="rect">
            <a:avLst/>
          </a:prstGeom>
          <a:ln w="11430">
            <a:solidFill>
              <a:srgbClr val="047857"/>
            </a:solidFill>
            <a:prstDash val="solid"/>
          </a:ln>
        </p:spPr>
      </p:sp>
      <p:sp>
        <p:nvSpPr>
          <p:cNvPr id="70" name="Shape 64"/>
          <p:cNvSpPr/>
          <p:nvPr/>
        </p:nvSpPr>
        <p:spPr>
          <a:xfrm>
            <a:off x="7502652" y="3518611"/>
            <a:ext cx="4272991" cy="2231136"/>
          </a:xfrm>
          <a:prstGeom prst="roundRect">
            <a:avLst>
              <a:gd name="adj" fmla="val 2869"/>
            </a:avLst>
          </a:prstGeom>
          <a:solidFill>
            <a:srgbClr val="E2E8F0"/>
          </a:solidFill>
          <a:ln/>
        </p:spPr>
      </p:sp>
      <p:sp>
        <p:nvSpPr>
          <p:cNvPr id="71" name="Shape 65"/>
          <p:cNvSpPr/>
          <p:nvPr/>
        </p:nvSpPr>
        <p:spPr>
          <a:xfrm>
            <a:off x="7479792" y="3493008"/>
            <a:ext cx="4272991" cy="2231136"/>
          </a:xfrm>
          <a:prstGeom prst="roundRect">
            <a:avLst>
              <a:gd name="adj" fmla="val 2869"/>
            </a:avLst>
          </a:prstGeom>
          <a:solidFill>
            <a:srgbClr val="FFFFFF"/>
          </a:solidFill>
          <a:ln w="10795">
            <a:solidFill>
              <a:srgbClr val="A7F3D0"/>
            </a:solidFill>
            <a:prstDash val="solid"/>
          </a:ln>
        </p:spPr>
      </p:sp>
      <p:sp>
        <p:nvSpPr>
          <p:cNvPr id="72" name="Shape 66"/>
          <p:cNvSpPr/>
          <p:nvPr/>
        </p:nvSpPr>
        <p:spPr>
          <a:xfrm>
            <a:off x="7479792" y="3493008"/>
            <a:ext cx="54864" cy="2231136"/>
          </a:xfrm>
          <a:prstGeom prst="roundRect">
            <a:avLst>
              <a:gd name="adj" fmla="val 33333"/>
            </a:avLst>
          </a:prstGeom>
          <a:solidFill>
            <a:srgbClr val="047857"/>
          </a:solidFill>
          <a:ln/>
        </p:spPr>
      </p:sp>
      <p:sp>
        <p:nvSpPr>
          <p:cNvPr id="73" name="Shape 67"/>
          <p:cNvSpPr/>
          <p:nvPr/>
        </p:nvSpPr>
        <p:spPr>
          <a:xfrm>
            <a:off x="7626096" y="3584448"/>
            <a:ext cx="3980383" cy="201168"/>
          </a:xfrm>
          <a:prstGeom prst="roundRect">
            <a:avLst>
              <a:gd name="adj" fmla="val 36364"/>
            </a:avLst>
          </a:prstGeom>
          <a:solidFill>
            <a:srgbClr val="ECFDF5"/>
          </a:solidFill>
          <a:ln w="9525">
            <a:solidFill>
              <a:srgbClr val="A7F3D0"/>
            </a:solidFill>
            <a:prstDash val="solid"/>
          </a:ln>
        </p:spPr>
      </p:sp>
      <p:sp>
        <p:nvSpPr>
          <p:cNvPr id="74" name="Text 68"/>
          <p:cNvSpPr/>
          <p:nvPr/>
        </p:nvSpPr>
        <p:spPr>
          <a:xfrm>
            <a:off x="7626096" y="3584448"/>
            <a:ext cx="3980383" cy="201168"/>
          </a:xfrm>
          <a:prstGeom prst="rect">
            <a:avLst/>
          </a:prstGeom>
          <a:noFill/>
          <a:ln/>
        </p:spPr>
        <p:txBody>
          <a:bodyPr wrap="square" lIns="0" tIns="0" rIns="0" bIns="0" rtlCol="0" anchor="ctr"/>
          <a:lstStyle/>
          <a:p>
            <a:pPr algn="ctr" indent="0" marL="0">
              <a:lnSpc>
                <a:spcPct val="105000"/>
              </a:lnSpc>
              <a:buNone/>
            </a:pPr>
            <a:r>
              <a:rPr lang="en-US" sz="620" b="1" dirty="0">
                <a:solidFill>
                  <a:srgbClr val="047857"/>
                </a:solidFill>
                <a:latin typeface="Arial" pitchFamily="34" charset="0"/>
                <a:ea typeface="Arial" pitchFamily="34" charset="-122"/>
                <a:cs typeface="Arial" pitchFamily="34" charset="-120"/>
              </a:rPr>
              <a:t>SAAS-08  •  DIRECTUS DATA STUDIO v11.1.0  •  TARGET RAOTMUMJTZ</a:t>
            </a:r>
            <a:endParaRPr lang="en-US" sz="620" dirty="0"/>
          </a:p>
        </p:txBody>
      </p:sp>
      <p:sp>
        <p:nvSpPr>
          <p:cNvPr id="75" name="Text 69"/>
          <p:cNvSpPr/>
          <p:nvPr/>
        </p:nvSpPr>
        <p:spPr>
          <a:xfrm>
            <a:off x="7626096" y="3822192"/>
            <a:ext cx="3980383" cy="201168"/>
          </a:xfrm>
          <a:prstGeom prst="rect">
            <a:avLst/>
          </a:prstGeom>
          <a:noFill/>
          <a:ln/>
        </p:spPr>
        <p:txBody>
          <a:bodyPr wrap="square" lIns="0" tIns="0" rIns="0" bIns="0" rtlCol="0" anchor="ctr"/>
          <a:lstStyle/>
          <a:p>
            <a:pPr indent="0" marL="0">
              <a:lnSpc>
                <a:spcPct val="105000"/>
              </a:lnSpc>
              <a:buNone/>
            </a:pPr>
            <a:r>
              <a:rPr lang="en-US" sz="920" b="1" dirty="0">
                <a:solidFill>
                  <a:srgbClr val="0F172A"/>
                </a:solidFill>
                <a:latin typeface="Arial" pitchFamily="34" charset="0"/>
                <a:ea typeface="Arial" pitchFamily="34" charset="-122"/>
                <a:cs typeface="Arial" pitchFamily="34" charset="-120"/>
              </a:rPr>
              <a:t>Workday HCM Tier — SSN-Redacted Compensation Sync</a:t>
            </a:r>
            <a:endParaRPr lang="en-US" sz="920" dirty="0"/>
          </a:p>
        </p:txBody>
      </p:sp>
      <p:sp>
        <p:nvSpPr>
          <p:cNvPr id="76" name="Text 70"/>
          <p:cNvSpPr/>
          <p:nvPr/>
        </p:nvSpPr>
        <p:spPr>
          <a:xfrm>
            <a:off x="7626096" y="4032504"/>
            <a:ext cx="3980383" cy="164592"/>
          </a:xfrm>
          <a:prstGeom prst="rect">
            <a:avLst/>
          </a:prstGeom>
          <a:noFill/>
          <a:ln/>
        </p:spPr>
        <p:txBody>
          <a:bodyPr wrap="square" lIns="0" tIns="0" rIns="0" bIns="0" rtlCol="0" anchor="ctr"/>
          <a:lstStyle/>
          <a:p>
            <a:pPr indent="0" marL="0">
              <a:lnSpc>
                <a:spcPct val="100000"/>
              </a:lnSpc>
              <a:buNone/>
            </a:pPr>
            <a:r>
              <a:rPr lang="en-US" sz="650" b="1" dirty="0">
                <a:solidFill>
                  <a:srgbClr val="047857"/>
                </a:solidFill>
                <a:latin typeface="Courier New" pitchFamily="34" charset="0"/>
                <a:ea typeface="Courier New" pitchFamily="34" charset="-122"/>
                <a:cs typeface="Courier New" pitchFamily="34" charset="-120"/>
              </a:rPr>
              <a:t>MCP: fetch_compensation_raas_report  •  directus:11.1.0</a:t>
            </a:r>
            <a:endParaRPr lang="en-US" sz="650" dirty="0"/>
          </a:p>
        </p:txBody>
      </p:sp>
      <p:sp>
        <p:nvSpPr>
          <p:cNvPr id="77" name="Text 71"/>
          <p:cNvSpPr/>
          <p:nvPr/>
        </p:nvSpPr>
        <p:spPr>
          <a:xfrm>
            <a:off x="7626096" y="4233672"/>
            <a:ext cx="3980383" cy="1133856"/>
          </a:xfrm>
          <a:prstGeom prst="rect">
            <a:avLst/>
          </a:prstGeom>
          <a:noFill/>
          <a:ln/>
        </p:spPr>
        <p:txBody>
          <a:bodyPr wrap="square" lIns="0" tIns="0" rIns="0" bIns="0" rtlCol="0" anchor="t"/>
          <a:lstStyle/>
          <a:p>
            <a:pPr indent="0" marL="0">
              <a:lnSpc>
                <a:spcPct val="110000"/>
              </a:lnSpc>
              <a:buNone/>
            </a:pPr>
            <a:r>
              <a:rPr lang="en-US" sz="720" b="1" dirty="0">
                <a:solidFill>
                  <a:srgbClr val="B91C1C"/>
                </a:solidFill>
                <a:latin typeface="Arial" pitchFamily="34" charset="0"/>
                <a:ea typeface="Arial" pitchFamily="34" charset="-122"/>
                <a:cs typeface="Arial" pitchFamily="34" charset="-120"/>
              </a:rPr>
              <a:t>• BEFORE: </a:t>
            </a:r>
            <a:pPr indent="0" marL="0">
              <a:lnSpc>
                <a:spcPct val="110000"/>
              </a:lnSpc>
              <a:buNone/>
            </a:pPr>
            <a:r>
              <a:rPr lang="en-US" sz="720" dirty="0">
                <a:solidFill>
                  <a:srgbClr val="334155"/>
                </a:solidFill>
                <a:latin typeface="Arial" pitchFamily="34" charset="0"/>
                <a:ea typeface="Arial" pitchFamily="34" charset="-122"/>
                <a:cs typeface="Arial" pitchFamily="34" charset="-120"/>
              </a:rPr>
              <a:t>Directus Hcm Compensation collection holds 2 baseline executive rows (Clara Vance &amp; Marcus Thorne — header badge 2 Items).
</a:t>
            </a:r>
            <a:pPr indent="0" marL="0">
              <a:lnSpc>
                <a:spcPct val="110000"/>
              </a:lnSpc>
              <a:buNone/>
            </a:pPr>
            <a:r>
              <a:rPr lang="en-US" sz="720" b="1" dirty="0">
                <a:solidFill>
                  <a:srgbClr val="047857"/>
                </a:solidFill>
                <a:latin typeface="Arial" pitchFamily="34" charset="0"/>
                <a:ea typeface="Arial" pitchFamily="34" charset="-122"/>
                <a:cs typeface="Arial" pitchFamily="34" charset="-120"/>
              </a:rPr>
              <a:t>• AFTER: </a:t>
            </a:r>
            <a:pPr indent="0" marL="0">
              <a:lnSpc>
                <a:spcPct val="110000"/>
              </a:lnSpc>
              <a:buNone/>
            </a:pPr>
            <a:r>
              <a:rPr lang="en-US" sz="720" dirty="0">
                <a:solidFill>
                  <a:srgbClr val="0F172A"/>
                </a:solidFill>
                <a:latin typeface="Arial" pitchFamily="34" charset="0"/>
                <a:ea typeface="Arial" pitchFamily="34" charset="-122"/>
                <a:cs typeface="Arial" pitchFamily="34" charset="-120"/>
              </a:rPr>
              <a:t>Hop 4 masks SSN fields ([REDACTED_US_SSN]) and inserts audited FinVault Risk MD record (Elena Rostova, 395k USD — header badge 3 Items).</a:t>
            </a:r>
            <a:endParaRPr lang="en-US" sz="720" dirty="0"/>
          </a:p>
        </p:txBody>
      </p:sp>
      <p:sp>
        <p:nvSpPr>
          <p:cNvPr id="78" name="Shape 72"/>
          <p:cNvSpPr/>
          <p:nvPr/>
        </p:nvSpPr>
        <p:spPr>
          <a:xfrm>
            <a:off x="7626096" y="5431536"/>
            <a:ext cx="3980383" cy="201168"/>
          </a:xfrm>
          <a:prstGeom prst="roundRect">
            <a:avLst>
              <a:gd name="adj" fmla="val 36364"/>
            </a:avLst>
          </a:prstGeom>
          <a:solidFill>
            <a:srgbClr val="F1F5F9"/>
          </a:solidFill>
          <a:ln w="9525">
            <a:solidFill>
              <a:srgbClr val="CBD5E1"/>
            </a:solidFill>
            <a:prstDash val="solid"/>
          </a:ln>
        </p:spPr>
      </p:sp>
      <p:sp>
        <p:nvSpPr>
          <p:cNvPr id="79" name="Text 73"/>
          <p:cNvSpPr/>
          <p:nvPr/>
        </p:nvSpPr>
        <p:spPr>
          <a:xfrm>
            <a:off x="7626096" y="5431536"/>
            <a:ext cx="3980383" cy="201168"/>
          </a:xfrm>
          <a:prstGeom prst="rect">
            <a:avLst/>
          </a:prstGeom>
          <a:noFill/>
          <a:ln/>
        </p:spPr>
        <p:txBody>
          <a:bodyPr wrap="square" lIns="0" tIns="0" rIns="0" bIns="0" rtlCol="0" anchor="ctr"/>
          <a:lstStyle/>
          <a:p>
            <a:pPr algn="ctr" indent="0" marL="0">
              <a:lnSpc>
                <a:spcPct val="105000"/>
              </a:lnSpc>
              <a:buNone/>
            </a:pPr>
            <a:r>
              <a:rPr lang="en-US" sz="610" b="1" dirty="0">
                <a:solidFill>
                  <a:srgbClr val="475569"/>
                </a:solidFill>
                <a:latin typeface="Arial" pitchFamily="34" charset="0"/>
                <a:ea typeface="Arial" pitchFamily="34" charset="-122"/>
                <a:cs typeface="Arial" pitchFamily="34" charset="-120"/>
              </a:rPr>
              <a:t>SHA-256: a06e141d (Before) → 7f3ff88d (After)  •  Pair 08/10</a:t>
            </a:r>
            <a:endParaRPr lang="en-US" sz="610" dirty="0"/>
          </a:p>
        </p:txBody>
      </p:sp>
      <p:sp>
        <p:nvSpPr>
          <p:cNvPr id="80" name="Shape 74"/>
          <p:cNvSpPr/>
          <p:nvPr/>
        </p:nvSpPr>
        <p:spPr>
          <a:xfrm>
            <a:off x="438912" y="5943600"/>
            <a:ext cx="11313871" cy="420624"/>
          </a:xfrm>
          <a:prstGeom prst="roundRect">
            <a:avLst>
              <a:gd name="adj" fmla="val 13043"/>
            </a:avLst>
          </a:prstGeom>
          <a:solidFill>
            <a:srgbClr val="EEF2FF"/>
          </a:solidFill>
          <a:ln w="11430">
            <a:solidFill>
              <a:srgbClr val="C7D2FE"/>
            </a:solidFill>
            <a:prstDash val="solid"/>
          </a:ln>
        </p:spPr>
      </p:sp>
      <p:sp>
        <p:nvSpPr>
          <p:cNvPr id="81" name="Shape 75"/>
          <p:cNvSpPr/>
          <p:nvPr/>
        </p:nvSpPr>
        <p:spPr>
          <a:xfrm>
            <a:off x="530352" y="6025896"/>
            <a:ext cx="1353312" cy="256032"/>
          </a:xfrm>
          <a:prstGeom prst="roundRect">
            <a:avLst>
              <a:gd name="adj" fmla="val 17857"/>
            </a:avLst>
          </a:prstGeom>
          <a:solidFill>
            <a:srgbClr val="4338CA"/>
          </a:solidFill>
          <a:ln/>
        </p:spPr>
      </p:sp>
      <p:sp>
        <p:nvSpPr>
          <p:cNvPr id="82" name="Text 76"/>
          <p:cNvSpPr/>
          <p:nvPr/>
        </p:nvSpPr>
        <p:spPr>
          <a:xfrm>
            <a:off x="530352" y="6025896"/>
            <a:ext cx="1353312" cy="256032"/>
          </a:xfrm>
          <a:prstGeom prst="rect">
            <a:avLst/>
          </a:prstGeom>
          <a:noFill/>
          <a:ln/>
        </p:spPr>
        <p:txBody>
          <a:bodyPr wrap="square" lIns="0" tIns="0" rIns="0" bIns="0" rtlCol="0" anchor="ctr"/>
          <a:lstStyle/>
          <a:p>
            <a:pPr algn="ctr" indent="0" marL="0">
              <a:lnSpc>
                <a:spcPct val="105000"/>
              </a:lnSpc>
              <a:buNone/>
            </a:pPr>
            <a:r>
              <a:rPr lang="en-US" sz="650" b="1" dirty="0">
                <a:solidFill>
                  <a:srgbClr val="FFFFFF"/>
                </a:solidFill>
                <a:latin typeface="Arial" pitchFamily="34" charset="0"/>
                <a:ea typeface="Arial" pitchFamily="34" charset="-122"/>
                <a:cs typeface="Arial" pitchFamily="34" charset="-120"/>
              </a:rPr>
              <a:t>GXP &amp; HCM VERIFIED</a:t>
            </a:r>
            <a:endParaRPr lang="en-US" sz="650" dirty="0"/>
          </a:p>
        </p:txBody>
      </p:sp>
      <p:sp>
        <p:nvSpPr>
          <p:cNvPr id="83" name="Text 77"/>
          <p:cNvSpPr/>
          <p:nvPr/>
        </p:nvSpPr>
        <p:spPr>
          <a:xfrm>
            <a:off x="1993392" y="5980176"/>
            <a:ext cx="7555687" cy="347472"/>
          </a:xfrm>
          <a:prstGeom prst="rect">
            <a:avLst/>
          </a:prstGeom>
          <a:noFill/>
          <a:ln/>
        </p:spPr>
        <p:txBody>
          <a:bodyPr wrap="square" lIns="0" tIns="0" rIns="0" bIns="0" rtlCol="0" anchor="ctr"/>
          <a:lstStyle/>
          <a:p>
            <a:pPr algn="l" indent="0" marL="0">
              <a:lnSpc>
                <a:spcPct val="108000"/>
              </a:lnSpc>
              <a:buNone/>
            </a:pPr>
            <a:r>
              <a:rPr lang="en-US" sz="860" b="1" dirty="0">
                <a:solidFill>
                  <a:srgbClr val="0F172A"/>
                </a:solidFill>
                <a:latin typeface="Arial" pitchFamily="34" charset="0"/>
                <a:ea typeface="Arial" pitchFamily="34" charset="-122"/>
                <a:cs typeface="Arial" pitchFamily="34" charset="-120"/>
              </a:rPr>
              <a:t>Regulated life-sciences and HR workflows gain hardware KMS P-256 electronic signatures in NocoDB and deterministic US-SSN masking inside Directus.</a:t>
            </a:r>
            <a:endParaRPr lang="en-US" sz="860" dirty="0"/>
          </a:p>
        </p:txBody>
      </p:sp>
      <p:sp>
        <p:nvSpPr>
          <p:cNvPr id="84" name="Shape 78"/>
          <p:cNvSpPr/>
          <p:nvPr/>
        </p:nvSpPr>
        <p:spPr>
          <a:xfrm>
            <a:off x="9695383" y="6025896"/>
            <a:ext cx="1965960" cy="256032"/>
          </a:xfrm>
          <a:prstGeom prst="roundRect">
            <a:avLst>
              <a:gd name="adj" fmla="val 17857"/>
            </a:avLst>
          </a:prstGeom>
          <a:solidFill>
            <a:srgbClr val="FFFFFF"/>
          </a:solidFill>
          <a:ln w="10795">
            <a:solidFill>
              <a:srgbClr val="4338CA"/>
            </a:solidFill>
            <a:prstDash val="solid"/>
          </a:ln>
        </p:spPr>
      </p:sp>
      <p:sp>
        <p:nvSpPr>
          <p:cNvPr id="85" name="Text 79"/>
          <p:cNvSpPr/>
          <p:nvPr/>
        </p:nvSpPr>
        <p:spPr>
          <a:xfrm>
            <a:off x="9695383" y="6025896"/>
            <a:ext cx="1965960" cy="256032"/>
          </a:xfrm>
          <a:prstGeom prst="rect">
            <a:avLst/>
          </a:prstGeom>
          <a:noFill/>
          <a:ln/>
        </p:spPr>
        <p:txBody>
          <a:bodyPr wrap="square" lIns="0" tIns="0" rIns="0" bIns="0" rtlCol="0" anchor="ctr"/>
          <a:lstStyle/>
          <a:p>
            <a:pPr algn="ctr" indent="0" marL="0">
              <a:lnSpc>
                <a:spcPct val="105000"/>
              </a:lnSpc>
              <a:buNone/>
            </a:pPr>
            <a:r>
              <a:rPr lang="en-US" sz="740" b="1" dirty="0">
                <a:solidFill>
                  <a:srgbClr val="4338CA"/>
                </a:solidFill>
                <a:latin typeface="Arial" pitchFamily="34" charset="0"/>
                <a:ea typeface="Arial" pitchFamily="34" charset="-122"/>
                <a:cs typeface="Arial" pitchFamily="34" charset="-120"/>
              </a:rPr>
              <a:t>Pairs 04 &amp; 08 / 10 Verified</a:t>
            </a:r>
            <a:endParaRPr lang="en-US" sz="74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1148"/>
          </a:xfrm>
          <a:prstGeom prst="rect">
            <a:avLst/>
          </a:prstGeom>
          <a:solidFill>
            <a:srgbClr val="047857"/>
          </a:solidFill>
          <a:ln/>
        </p:spPr>
      </p:sp>
      <p:sp>
        <p:nvSpPr>
          <p:cNvPr id="3" name="Shape 1"/>
          <p:cNvSpPr/>
          <p:nvPr/>
        </p:nvSpPr>
        <p:spPr>
          <a:xfrm>
            <a:off x="438912" y="192024"/>
            <a:ext cx="59436" cy="621792"/>
          </a:xfrm>
          <a:prstGeom prst="roundRect">
            <a:avLst>
              <a:gd name="adj" fmla="val 46154"/>
            </a:avLst>
          </a:prstGeom>
          <a:solidFill>
            <a:srgbClr val="047857"/>
          </a:solidFill>
          <a:ln/>
        </p:spPr>
      </p:sp>
      <p:sp>
        <p:nvSpPr>
          <p:cNvPr id="4" name="Text 2"/>
          <p:cNvSpPr/>
          <p:nvPr/>
        </p:nvSpPr>
        <p:spPr>
          <a:xfrm>
            <a:off x="576072" y="173736"/>
            <a:ext cx="4389120" cy="146304"/>
          </a:xfrm>
          <a:prstGeom prst="rect">
            <a:avLst/>
          </a:prstGeom>
          <a:noFill/>
          <a:ln/>
        </p:spPr>
        <p:txBody>
          <a:bodyPr wrap="square" lIns="0" tIns="0" rIns="0" bIns="0" rtlCol="0" anchor="ctr"/>
          <a:lstStyle/>
          <a:p>
            <a:pPr algn="l" indent="0" marL="0">
              <a:lnSpc>
                <a:spcPct val="105000"/>
              </a:lnSpc>
              <a:buNone/>
            </a:pPr>
            <a:r>
              <a:rPr lang="en-US" sz="750" b="1" spc="110" kern="0" dirty="0">
                <a:solidFill>
                  <a:srgbClr val="047857"/>
                </a:solidFill>
                <a:latin typeface="Arial" pitchFamily="34" charset="0"/>
                <a:ea typeface="Arial" pitchFamily="34" charset="-122"/>
                <a:cs typeface="Arial" pitchFamily="34" charset="-120"/>
              </a:rPr>
              <a:t>06 / EMPIRICAL PROOFS</a:t>
            </a:r>
            <a:endParaRPr lang="en-US" sz="750" dirty="0"/>
          </a:p>
        </p:txBody>
      </p:sp>
      <p:sp>
        <p:nvSpPr>
          <p:cNvPr id="5" name="Shape 3"/>
          <p:cNvSpPr/>
          <p:nvPr/>
        </p:nvSpPr>
        <p:spPr>
          <a:xfrm>
            <a:off x="8183880" y="219456"/>
            <a:ext cx="228600" cy="59436"/>
          </a:xfrm>
          <a:prstGeom prst="roundRect">
            <a:avLst>
              <a:gd name="adj" fmla="val 46154"/>
            </a:avLst>
          </a:prstGeom>
          <a:solidFill>
            <a:srgbClr val="94A3B8"/>
          </a:solidFill>
          <a:ln/>
        </p:spPr>
      </p:sp>
      <p:sp>
        <p:nvSpPr>
          <p:cNvPr id="6" name="Shape 4"/>
          <p:cNvSpPr/>
          <p:nvPr/>
        </p:nvSpPr>
        <p:spPr>
          <a:xfrm>
            <a:off x="8453628" y="219456"/>
            <a:ext cx="228600" cy="59436"/>
          </a:xfrm>
          <a:prstGeom prst="roundRect">
            <a:avLst>
              <a:gd name="adj" fmla="val 46154"/>
            </a:avLst>
          </a:prstGeom>
          <a:solidFill>
            <a:srgbClr val="94A3B8"/>
          </a:solidFill>
          <a:ln/>
        </p:spPr>
      </p:sp>
      <p:sp>
        <p:nvSpPr>
          <p:cNvPr id="7" name="Shape 5"/>
          <p:cNvSpPr/>
          <p:nvPr/>
        </p:nvSpPr>
        <p:spPr>
          <a:xfrm>
            <a:off x="8723376" y="219456"/>
            <a:ext cx="228600" cy="59436"/>
          </a:xfrm>
          <a:prstGeom prst="roundRect">
            <a:avLst>
              <a:gd name="adj" fmla="val 46154"/>
            </a:avLst>
          </a:prstGeom>
          <a:solidFill>
            <a:srgbClr val="94A3B8"/>
          </a:solidFill>
          <a:ln/>
        </p:spPr>
      </p:sp>
      <p:sp>
        <p:nvSpPr>
          <p:cNvPr id="8" name="Shape 6"/>
          <p:cNvSpPr/>
          <p:nvPr/>
        </p:nvSpPr>
        <p:spPr>
          <a:xfrm>
            <a:off x="8993124" y="219456"/>
            <a:ext cx="228600" cy="59436"/>
          </a:xfrm>
          <a:prstGeom prst="roundRect">
            <a:avLst>
              <a:gd name="adj" fmla="val 46154"/>
            </a:avLst>
          </a:prstGeom>
          <a:solidFill>
            <a:srgbClr val="94A3B8"/>
          </a:solidFill>
          <a:ln/>
        </p:spPr>
      </p:sp>
      <p:sp>
        <p:nvSpPr>
          <p:cNvPr id="9" name="Shape 7"/>
          <p:cNvSpPr/>
          <p:nvPr/>
        </p:nvSpPr>
        <p:spPr>
          <a:xfrm>
            <a:off x="9262872" y="219456"/>
            <a:ext cx="228600" cy="59436"/>
          </a:xfrm>
          <a:prstGeom prst="roundRect">
            <a:avLst>
              <a:gd name="adj" fmla="val 46154"/>
            </a:avLst>
          </a:prstGeom>
          <a:solidFill>
            <a:srgbClr val="94A3B8"/>
          </a:solidFill>
          <a:ln/>
        </p:spPr>
      </p:sp>
      <p:sp>
        <p:nvSpPr>
          <p:cNvPr id="10" name="Shape 8"/>
          <p:cNvSpPr/>
          <p:nvPr/>
        </p:nvSpPr>
        <p:spPr>
          <a:xfrm>
            <a:off x="9532620" y="219456"/>
            <a:ext cx="228600" cy="59436"/>
          </a:xfrm>
          <a:prstGeom prst="roundRect">
            <a:avLst>
              <a:gd name="adj" fmla="val 46154"/>
            </a:avLst>
          </a:prstGeom>
          <a:solidFill>
            <a:srgbClr val="047857"/>
          </a:solidFill>
          <a:ln/>
        </p:spPr>
      </p:sp>
      <p:sp>
        <p:nvSpPr>
          <p:cNvPr id="11" name="Shape 9"/>
          <p:cNvSpPr/>
          <p:nvPr/>
        </p:nvSpPr>
        <p:spPr>
          <a:xfrm>
            <a:off x="9802368" y="219456"/>
            <a:ext cx="228600" cy="59436"/>
          </a:xfrm>
          <a:prstGeom prst="roundRect">
            <a:avLst>
              <a:gd name="adj" fmla="val 46154"/>
            </a:avLst>
          </a:prstGeom>
          <a:solidFill>
            <a:srgbClr val="E2E8F0"/>
          </a:solidFill>
          <a:ln/>
        </p:spPr>
      </p:sp>
      <p:sp>
        <p:nvSpPr>
          <p:cNvPr id="12" name="Shape 10"/>
          <p:cNvSpPr/>
          <p:nvPr/>
        </p:nvSpPr>
        <p:spPr>
          <a:xfrm>
            <a:off x="10131552" y="146304"/>
            <a:ext cx="1621231" cy="192024"/>
          </a:xfrm>
          <a:prstGeom prst="roundRect">
            <a:avLst>
              <a:gd name="adj" fmla="val 23810"/>
            </a:avLst>
          </a:prstGeom>
          <a:solidFill>
            <a:srgbClr val="FFFFFF"/>
          </a:solidFill>
          <a:ln w="9525">
            <a:solidFill>
              <a:srgbClr val="CBD5E1"/>
            </a:solidFill>
            <a:prstDash val="solid"/>
          </a:ln>
        </p:spPr>
      </p:sp>
      <p:sp>
        <p:nvSpPr>
          <p:cNvPr id="13" name="Text 11"/>
          <p:cNvSpPr/>
          <p:nvPr/>
        </p:nvSpPr>
        <p:spPr>
          <a:xfrm>
            <a:off x="10131552" y="146304"/>
            <a:ext cx="1621231" cy="192024"/>
          </a:xfrm>
          <a:prstGeom prst="rect">
            <a:avLst/>
          </a:prstGeom>
          <a:noFill/>
          <a:ln/>
        </p:spPr>
        <p:txBody>
          <a:bodyPr wrap="square" lIns="0" tIns="0" rIns="0" bIns="0" rtlCol="0" anchor="ctr"/>
          <a:lstStyle/>
          <a:p>
            <a:pPr algn="ctr" indent="0" marL="0">
              <a:lnSpc>
                <a:spcPct val="105000"/>
              </a:lnSpc>
              <a:buNone/>
            </a:pPr>
            <a:r>
              <a:rPr lang="en-US" sz="680" b="1" spc="60" kern="0" dirty="0">
                <a:solidFill>
                  <a:srgbClr val="047857"/>
                </a:solidFill>
                <a:latin typeface="Arial" pitchFamily="34" charset="0"/>
                <a:ea typeface="Arial" pitchFamily="34" charset="-122"/>
                <a:cs typeface="Arial" pitchFamily="34" charset="-120"/>
              </a:rPr>
              <a:t>RETINA UI PROOF • 5 OF 5</a:t>
            </a:r>
            <a:endParaRPr lang="en-US" sz="680" dirty="0"/>
          </a:p>
        </p:txBody>
      </p:sp>
      <p:sp>
        <p:nvSpPr>
          <p:cNvPr id="14" name="Text 12"/>
          <p:cNvSpPr/>
          <p:nvPr/>
        </p:nvSpPr>
        <p:spPr>
          <a:xfrm>
            <a:off x="576072" y="338328"/>
            <a:ext cx="11176711" cy="310896"/>
          </a:xfrm>
          <a:prstGeom prst="rect">
            <a:avLst/>
          </a:prstGeom>
          <a:noFill/>
          <a:ln/>
        </p:spPr>
        <p:txBody>
          <a:bodyPr wrap="square" lIns="0" tIns="0" rIns="0" bIns="0" rtlCol="0" anchor="ctr"/>
          <a:lstStyle/>
          <a:p>
            <a:pPr algn="l" indent="0" marL="0">
              <a:lnSpc>
                <a:spcPct val="104000"/>
              </a:lnSpc>
              <a:buNone/>
            </a:pPr>
            <a:r>
              <a:rPr lang="en-US" sz="1750" b="1" dirty="0">
                <a:solidFill>
                  <a:srgbClr val="0F172A"/>
                </a:solidFill>
                <a:latin typeface="Arial" pitchFamily="34" charset="0"/>
                <a:ea typeface="Arial" pitchFamily="34" charset="-122"/>
                <a:cs typeface="Arial" pitchFamily="34" charset="-120"/>
              </a:rPr>
              <a:t>Genuine 3P Before → After (5/5): OTel APM Traces &amp; DPoP Vault Rotation</a:t>
            </a:r>
            <a:endParaRPr lang="en-US" sz="1750" dirty="0"/>
          </a:p>
        </p:txBody>
      </p:sp>
      <p:sp>
        <p:nvSpPr>
          <p:cNvPr id="15" name="Text 13"/>
          <p:cNvSpPr/>
          <p:nvPr/>
        </p:nvSpPr>
        <p:spPr>
          <a:xfrm>
            <a:off x="576072" y="658368"/>
            <a:ext cx="11176711" cy="192024"/>
          </a:xfrm>
          <a:prstGeom prst="rect">
            <a:avLst/>
          </a:prstGeom>
          <a:noFill/>
          <a:ln/>
        </p:spPr>
        <p:txBody>
          <a:bodyPr wrap="square" lIns="0" tIns="0" rIns="0" bIns="0" rtlCol="0" anchor="ctr"/>
          <a:lstStyle/>
          <a:p>
            <a:pPr algn="l" indent="0" marL="0">
              <a:lnSpc>
                <a:spcPct val="104000"/>
              </a:lnSpc>
              <a:buNone/>
            </a:pPr>
            <a:r>
              <a:rPr lang="en-US" sz="900" dirty="0">
                <a:solidFill>
                  <a:srgbClr val="64748B"/>
                </a:solidFill>
                <a:latin typeface="Arial" pitchFamily="34" charset="0"/>
                <a:ea typeface="Arial" pitchFamily="34" charset="-122"/>
                <a:cs typeface="Arial" pitchFamily="34" charset="-120"/>
              </a:rPr>
              <a:t>Unstretched 2880×1800 captures from live Datalust Seq v2024.3 (Datadog APM tier) and HashiCorp Vault v1.13.3 (CrowdStrike &amp; Okta tier).</a:t>
            </a:r>
            <a:endParaRPr lang="en-US" sz="900" dirty="0"/>
          </a:p>
        </p:txBody>
      </p:sp>
      <p:sp>
        <p:nvSpPr>
          <p:cNvPr id="16" name="Shape 14"/>
          <p:cNvSpPr/>
          <p:nvPr/>
        </p:nvSpPr>
        <p:spPr>
          <a:xfrm>
            <a:off x="438912" y="914400"/>
            <a:ext cx="11313871" cy="0"/>
          </a:xfrm>
          <a:prstGeom prst="line">
            <a:avLst/>
          </a:prstGeom>
          <a:noFill/>
          <a:ln w="10795">
            <a:solidFill>
              <a:srgbClr val="E2E8F0"/>
            </a:solidFill>
            <a:prstDash val="solid"/>
          </a:ln>
        </p:spPr>
      </p:sp>
      <p:sp>
        <p:nvSpPr>
          <p:cNvPr id="17" name="Shape 15"/>
          <p:cNvSpPr/>
          <p:nvPr/>
        </p:nvSpPr>
        <p:spPr>
          <a:xfrm>
            <a:off x="438912" y="6455664"/>
            <a:ext cx="11313871" cy="0"/>
          </a:xfrm>
          <a:prstGeom prst="line">
            <a:avLst/>
          </a:prstGeom>
          <a:noFill/>
          <a:ln w="9525">
            <a:solidFill>
              <a:srgbClr val="E2E8F0"/>
            </a:solidFill>
            <a:prstDash val="solid"/>
          </a:ln>
        </p:spPr>
      </p:sp>
      <p:sp>
        <p:nvSpPr>
          <p:cNvPr id="18" name="Text 16"/>
          <p:cNvSpPr/>
          <p:nvPr/>
        </p:nvSpPr>
        <p:spPr>
          <a:xfrm>
            <a:off x="438912" y="6501384"/>
            <a:ext cx="5852160" cy="192024"/>
          </a:xfrm>
          <a:prstGeom prst="rect">
            <a:avLst/>
          </a:prstGeom>
          <a:noFill/>
          <a:ln/>
        </p:spPr>
        <p:txBody>
          <a:bodyPr wrap="square" lIns="0" tIns="0" rIns="0" bIns="0" rtlCol="0" anchor="ctr"/>
          <a:lstStyle/>
          <a:p>
            <a:pPr algn="l" indent="0" marL="0">
              <a:lnSpc>
                <a:spcPct val="105000"/>
              </a:lnSpc>
              <a:buNone/>
            </a:pPr>
            <a:r>
              <a:rPr lang="en-US" sz="680" b="1" spc="40" kern="0" dirty="0">
                <a:solidFill>
                  <a:srgbClr val="64748B"/>
                </a:solidFill>
                <a:latin typeface="Arial" pitchFamily="34" charset="0"/>
                <a:ea typeface="Arial" pitchFamily="34" charset="-122"/>
                <a:cs typeface="Arial" pitchFamily="34" charset="-120"/>
              </a:rPr>
              <a:t>GOOGLE CLOUD AI ARCHITECTURE  •  BLOG 1: MULTI-TENANT AGENTIC AI TAXONOMY &amp; 5-HOP BASELINE</a:t>
            </a:r>
            <a:endParaRPr lang="en-US" sz="680" dirty="0"/>
          </a:p>
        </p:txBody>
      </p:sp>
      <p:sp>
        <p:nvSpPr>
          <p:cNvPr id="19" name="Text 17"/>
          <p:cNvSpPr/>
          <p:nvPr/>
        </p:nvSpPr>
        <p:spPr>
          <a:xfrm>
            <a:off x="6355080" y="6501384"/>
            <a:ext cx="4206240" cy="192024"/>
          </a:xfrm>
          <a:prstGeom prst="rect">
            <a:avLst/>
          </a:prstGeom>
          <a:noFill/>
          <a:ln/>
        </p:spPr>
        <p:txBody>
          <a:bodyPr wrap="square" lIns="0" tIns="0" rIns="0" bIns="0" rtlCol="0" anchor="ctr"/>
          <a:lstStyle/>
          <a:p>
            <a:pPr algn="r" indent="0" marL="0">
              <a:lnSpc>
                <a:spcPct val="105000"/>
              </a:lnSpc>
              <a:buNone/>
            </a:pPr>
            <a:r>
              <a:rPr lang="en-US" sz="680" dirty="0">
                <a:solidFill>
                  <a:srgbClr val="64748B"/>
                </a:solidFill>
                <a:latin typeface="Arial" pitchFamily="34" charset="0"/>
                <a:ea typeface="Arial" pitchFamily="34" charset="-122"/>
                <a:cs typeface="Arial" pitchFamily="34" charset="-120"/>
              </a:rPr>
              <a:t>docs/genuine_3p_before_after_provenance_receipt.json  •  Unstretched 2880×1800 (1.60:1) Retina</a:t>
            </a:r>
            <a:endParaRPr lang="en-US" sz="680" dirty="0"/>
          </a:p>
        </p:txBody>
      </p:sp>
      <p:sp>
        <p:nvSpPr>
          <p:cNvPr id="20" name="Shape 18"/>
          <p:cNvSpPr/>
          <p:nvPr/>
        </p:nvSpPr>
        <p:spPr>
          <a:xfrm>
            <a:off x="11002975" y="6501384"/>
            <a:ext cx="749808" cy="192024"/>
          </a:xfrm>
          <a:prstGeom prst="roundRect">
            <a:avLst>
              <a:gd name="adj" fmla="val 19048"/>
            </a:avLst>
          </a:prstGeom>
          <a:solidFill>
            <a:srgbClr val="F1F5F9"/>
          </a:solidFill>
          <a:ln w="7620">
            <a:solidFill>
              <a:srgbClr val="E2E8F0"/>
            </a:solidFill>
            <a:prstDash val="solid"/>
          </a:ln>
        </p:spPr>
      </p:sp>
      <p:sp>
        <p:nvSpPr>
          <p:cNvPr id="21" name="Text 19"/>
          <p:cNvSpPr/>
          <p:nvPr/>
        </p:nvSpPr>
        <p:spPr>
          <a:xfrm>
            <a:off x="11002975" y="6501384"/>
            <a:ext cx="749808" cy="192024"/>
          </a:xfrm>
          <a:prstGeom prst="rect">
            <a:avLst/>
          </a:prstGeom>
          <a:noFill/>
          <a:ln/>
        </p:spPr>
        <p:txBody>
          <a:bodyPr wrap="square" lIns="0" tIns="0" rIns="0" bIns="0" rtlCol="0" anchor="ctr"/>
          <a:lstStyle/>
          <a:p>
            <a:pPr algn="ctr" indent="0" marL="0">
              <a:lnSpc>
                <a:spcPct val="105000"/>
              </a:lnSpc>
              <a:buNone/>
            </a:pPr>
            <a:r>
              <a:rPr lang="en-US" sz="700" b="1" dirty="0">
                <a:solidFill>
                  <a:srgbClr val="334155"/>
                </a:solidFill>
                <a:latin typeface="Arial" pitchFamily="34" charset="0"/>
                <a:ea typeface="Arial" pitchFamily="34" charset="-122"/>
                <a:cs typeface="Arial" pitchFamily="34" charset="-120"/>
              </a:rPr>
              <a:t>21 / 23</a:t>
            </a:r>
            <a:endParaRPr lang="en-US" sz="700" dirty="0"/>
          </a:p>
        </p:txBody>
      </p:sp>
      <p:sp>
        <p:nvSpPr>
          <p:cNvPr id="22" name="Shape 20"/>
          <p:cNvSpPr/>
          <p:nvPr/>
        </p:nvSpPr>
        <p:spPr>
          <a:xfrm>
            <a:off x="461772" y="1068019"/>
            <a:ext cx="3218688" cy="2231136"/>
          </a:xfrm>
          <a:prstGeom prst="roundRect">
            <a:avLst>
              <a:gd name="adj" fmla="val 2869"/>
            </a:avLst>
          </a:prstGeom>
          <a:solidFill>
            <a:srgbClr val="E2E8F0"/>
          </a:solidFill>
          <a:ln/>
        </p:spPr>
      </p:sp>
      <p:sp>
        <p:nvSpPr>
          <p:cNvPr id="23" name="Shape 21"/>
          <p:cNvSpPr/>
          <p:nvPr/>
        </p:nvSpPr>
        <p:spPr>
          <a:xfrm>
            <a:off x="438912" y="1042416"/>
            <a:ext cx="3218688" cy="2231136"/>
          </a:xfrm>
          <a:prstGeom prst="roundRect">
            <a:avLst>
              <a:gd name="adj" fmla="val 2869"/>
            </a:avLst>
          </a:prstGeom>
          <a:solidFill>
            <a:srgbClr val="FFFFFF"/>
          </a:solidFill>
          <a:ln w="10795">
            <a:solidFill>
              <a:srgbClr val="FECACA"/>
            </a:solidFill>
            <a:prstDash val="solid"/>
          </a:ln>
        </p:spPr>
      </p:sp>
      <p:sp>
        <p:nvSpPr>
          <p:cNvPr id="24" name="Shape 22"/>
          <p:cNvSpPr/>
          <p:nvPr/>
        </p:nvSpPr>
        <p:spPr>
          <a:xfrm>
            <a:off x="438912" y="1042416"/>
            <a:ext cx="3218688" cy="219456"/>
          </a:xfrm>
          <a:prstGeom prst="rect">
            <a:avLst/>
          </a:prstGeom>
          <a:solidFill>
            <a:srgbClr val="FEF2F2"/>
          </a:solidFill>
          <a:ln w="7620">
            <a:solidFill>
              <a:srgbClr val="FECACA"/>
            </a:solidFill>
            <a:prstDash val="solid"/>
          </a:ln>
        </p:spPr>
      </p:sp>
      <p:sp>
        <p:nvSpPr>
          <p:cNvPr id="25" name="Shape 23"/>
          <p:cNvSpPr/>
          <p:nvPr/>
        </p:nvSpPr>
        <p:spPr>
          <a:xfrm>
            <a:off x="512064" y="1115568"/>
            <a:ext cx="68580" cy="68580"/>
          </a:xfrm>
          <a:prstGeom prst="ellipse">
            <a:avLst/>
          </a:prstGeom>
          <a:solidFill>
            <a:srgbClr val="EF4444"/>
          </a:solidFill>
          <a:ln/>
        </p:spPr>
      </p:sp>
      <p:sp>
        <p:nvSpPr>
          <p:cNvPr id="26" name="Shape 24"/>
          <p:cNvSpPr/>
          <p:nvPr/>
        </p:nvSpPr>
        <p:spPr>
          <a:xfrm>
            <a:off x="612648" y="1115568"/>
            <a:ext cx="68580" cy="68580"/>
          </a:xfrm>
          <a:prstGeom prst="ellipse">
            <a:avLst/>
          </a:prstGeom>
          <a:solidFill>
            <a:srgbClr val="F59E0B"/>
          </a:solidFill>
          <a:ln/>
        </p:spPr>
      </p:sp>
      <p:sp>
        <p:nvSpPr>
          <p:cNvPr id="27" name="Shape 25"/>
          <p:cNvSpPr/>
          <p:nvPr/>
        </p:nvSpPr>
        <p:spPr>
          <a:xfrm>
            <a:off x="713232" y="1115568"/>
            <a:ext cx="68580" cy="68580"/>
          </a:xfrm>
          <a:prstGeom prst="ellipse">
            <a:avLst/>
          </a:prstGeom>
          <a:solidFill>
            <a:srgbClr val="10B981"/>
          </a:solidFill>
          <a:ln/>
        </p:spPr>
      </p:sp>
      <p:sp>
        <p:nvSpPr>
          <p:cNvPr id="28" name="Text 26"/>
          <p:cNvSpPr/>
          <p:nvPr/>
        </p:nvSpPr>
        <p:spPr>
          <a:xfrm>
            <a:off x="841248" y="1060704"/>
            <a:ext cx="2761488" cy="182880"/>
          </a:xfrm>
          <a:prstGeom prst="rect">
            <a:avLst/>
          </a:prstGeom>
          <a:noFill/>
          <a:ln/>
        </p:spPr>
        <p:txBody>
          <a:bodyPr wrap="square" lIns="0" tIns="0" rIns="0" bIns="0" rtlCol="0" anchor="ctr"/>
          <a:lstStyle/>
          <a:p>
            <a:pPr algn="l" indent="0" marL="0">
              <a:lnSpc>
                <a:spcPct val="100000"/>
              </a:lnSpc>
              <a:buNone/>
            </a:pPr>
            <a:r>
              <a:rPr lang="en-US" sz="640" b="1" dirty="0">
                <a:solidFill>
                  <a:srgbClr val="B91C1C"/>
                </a:solidFill>
                <a:latin typeface="Arial" pitchFamily="34" charset="0"/>
                <a:ea typeface="Arial" pitchFamily="34" charset="-122"/>
                <a:cs typeface="Arial" pitchFamily="34" charset="-120"/>
              </a:rPr>
              <a:t>BEFORE: Telemetry Stream Prior to MCP Span</a:t>
            </a:r>
            <a:endParaRPr lang="en-US" sz="640" dirty="0"/>
          </a:p>
        </p:txBody>
      </p:sp>
      <p:pic>
        <p:nvPicPr>
          <p:cNvPr id="29" name="Image 0" descr="preencoded.png">    </p:cNvPr>
          <p:cNvPicPr>
            <a:picLocks noChangeAspect="1"/>
          </p:cNvPicPr>
          <p:nvPr/>
        </p:nvPicPr>
        <p:blipFill>
          <a:blip r:embed="rId1"/>
          <a:stretch>
            <a:fillRect/>
          </a:stretch>
        </p:blipFill>
        <p:spPr>
          <a:xfrm>
            <a:off x="438912" y="1261872"/>
            <a:ext cx="3218688" cy="2011680"/>
          </a:xfrm>
          <a:prstGeom prst="rect">
            <a:avLst/>
          </a:prstGeom>
        </p:spPr>
      </p:pic>
      <p:sp>
        <p:nvSpPr>
          <p:cNvPr id="30" name="Shape 27"/>
          <p:cNvSpPr/>
          <p:nvPr/>
        </p:nvSpPr>
        <p:spPr>
          <a:xfrm>
            <a:off x="438912" y="1042416"/>
            <a:ext cx="3218688" cy="2231136"/>
          </a:xfrm>
          <a:prstGeom prst="rect">
            <a:avLst/>
          </a:prstGeom>
          <a:ln w="11430">
            <a:solidFill>
              <a:srgbClr val="B91C1C"/>
            </a:solidFill>
            <a:prstDash val="solid"/>
          </a:ln>
        </p:spPr>
      </p:sp>
      <p:sp>
        <p:nvSpPr>
          <p:cNvPr id="31" name="Shape 28"/>
          <p:cNvSpPr/>
          <p:nvPr/>
        </p:nvSpPr>
        <p:spPr>
          <a:xfrm>
            <a:off x="3694176" y="2157984"/>
            <a:ext cx="310896" cy="0"/>
          </a:xfrm>
          <a:prstGeom prst="line">
            <a:avLst/>
          </a:prstGeom>
          <a:noFill/>
          <a:ln w="22860">
            <a:solidFill>
              <a:srgbClr val="1D4ED8"/>
            </a:solidFill>
            <a:prstDash val="solid"/>
            <a:tailEnd type="triangle" w="sm" len="sm"/>
          </a:ln>
        </p:spPr>
      </p:sp>
      <p:sp>
        <p:nvSpPr>
          <p:cNvPr id="32" name="Shape 29"/>
          <p:cNvSpPr/>
          <p:nvPr/>
        </p:nvSpPr>
        <p:spPr>
          <a:xfrm>
            <a:off x="4064508" y="1068019"/>
            <a:ext cx="3218688" cy="2231136"/>
          </a:xfrm>
          <a:prstGeom prst="roundRect">
            <a:avLst>
              <a:gd name="adj" fmla="val 2869"/>
            </a:avLst>
          </a:prstGeom>
          <a:solidFill>
            <a:srgbClr val="E2E8F0"/>
          </a:solidFill>
          <a:ln/>
        </p:spPr>
      </p:sp>
      <p:sp>
        <p:nvSpPr>
          <p:cNvPr id="33" name="Shape 30"/>
          <p:cNvSpPr/>
          <p:nvPr/>
        </p:nvSpPr>
        <p:spPr>
          <a:xfrm>
            <a:off x="4041648" y="1042416"/>
            <a:ext cx="3218688" cy="2231136"/>
          </a:xfrm>
          <a:prstGeom prst="roundRect">
            <a:avLst>
              <a:gd name="adj" fmla="val 2869"/>
            </a:avLst>
          </a:prstGeom>
          <a:solidFill>
            <a:srgbClr val="FFFFFF"/>
          </a:solidFill>
          <a:ln w="10795">
            <a:solidFill>
              <a:srgbClr val="A7F3D0"/>
            </a:solidFill>
            <a:prstDash val="solid"/>
          </a:ln>
        </p:spPr>
      </p:sp>
      <p:sp>
        <p:nvSpPr>
          <p:cNvPr id="34" name="Shape 31"/>
          <p:cNvSpPr/>
          <p:nvPr/>
        </p:nvSpPr>
        <p:spPr>
          <a:xfrm>
            <a:off x="4041648" y="1042416"/>
            <a:ext cx="3218688" cy="219456"/>
          </a:xfrm>
          <a:prstGeom prst="rect">
            <a:avLst/>
          </a:prstGeom>
          <a:solidFill>
            <a:srgbClr val="ECFDF5"/>
          </a:solidFill>
          <a:ln w="7620">
            <a:solidFill>
              <a:srgbClr val="A7F3D0"/>
            </a:solidFill>
            <a:prstDash val="solid"/>
          </a:ln>
        </p:spPr>
      </p:sp>
      <p:sp>
        <p:nvSpPr>
          <p:cNvPr id="35" name="Shape 32"/>
          <p:cNvSpPr/>
          <p:nvPr/>
        </p:nvSpPr>
        <p:spPr>
          <a:xfrm>
            <a:off x="4114800" y="1115568"/>
            <a:ext cx="68580" cy="68580"/>
          </a:xfrm>
          <a:prstGeom prst="ellipse">
            <a:avLst/>
          </a:prstGeom>
          <a:solidFill>
            <a:srgbClr val="EF4444"/>
          </a:solidFill>
          <a:ln/>
        </p:spPr>
      </p:sp>
      <p:sp>
        <p:nvSpPr>
          <p:cNvPr id="36" name="Shape 33"/>
          <p:cNvSpPr/>
          <p:nvPr/>
        </p:nvSpPr>
        <p:spPr>
          <a:xfrm>
            <a:off x="4215384" y="1115568"/>
            <a:ext cx="68580" cy="68580"/>
          </a:xfrm>
          <a:prstGeom prst="ellipse">
            <a:avLst/>
          </a:prstGeom>
          <a:solidFill>
            <a:srgbClr val="F59E0B"/>
          </a:solidFill>
          <a:ln/>
        </p:spPr>
      </p:sp>
      <p:sp>
        <p:nvSpPr>
          <p:cNvPr id="37" name="Shape 34"/>
          <p:cNvSpPr/>
          <p:nvPr/>
        </p:nvSpPr>
        <p:spPr>
          <a:xfrm>
            <a:off x="4315968" y="1115568"/>
            <a:ext cx="68580" cy="68580"/>
          </a:xfrm>
          <a:prstGeom prst="ellipse">
            <a:avLst/>
          </a:prstGeom>
          <a:solidFill>
            <a:srgbClr val="10B981"/>
          </a:solidFill>
          <a:ln/>
        </p:spPr>
      </p:sp>
      <p:sp>
        <p:nvSpPr>
          <p:cNvPr id="38" name="Text 35"/>
          <p:cNvSpPr/>
          <p:nvPr/>
        </p:nvSpPr>
        <p:spPr>
          <a:xfrm>
            <a:off x="4443984" y="1060704"/>
            <a:ext cx="2761488" cy="182880"/>
          </a:xfrm>
          <a:prstGeom prst="rect">
            <a:avLst/>
          </a:prstGeom>
          <a:noFill/>
          <a:ln/>
        </p:spPr>
        <p:txBody>
          <a:bodyPr wrap="square" lIns="0" tIns="0" rIns="0" bIns="0" rtlCol="0" anchor="ctr"/>
          <a:lstStyle/>
          <a:p>
            <a:pPr algn="l" indent="0" marL="0">
              <a:lnSpc>
                <a:spcPct val="100000"/>
              </a:lnSpc>
              <a:buNone/>
            </a:pPr>
            <a:r>
              <a:rPr lang="en-US" sz="640" b="1" dirty="0">
                <a:solidFill>
                  <a:srgbClr val="047857"/>
                </a:solidFill>
                <a:latin typeface="Arial" pitchFamily="34" charset="0"/>
                <a:ea typeface="Arial" pitchFamily="34" charset="-122"/>
                <a:cs typeface="Arial" pitchFamily="34" charset="-120"/>
              </a:rPr>
              <a:t>AFTER: Live Hop 4+5 CLEF Span Expanded</a:t>
            </a:r>
            <a:endParaRPr lang="en-US" sz="640" dirty="0"/>
          </a:p>
        </p:txBody>
      </p:sp>
      <p:pic>
        <p:nvPicPr>
          <p:cNvPr id="39" name="Image 1" descr="preencoded.png">    </p:cNvPr>
          <p:cNvPicPr>
            <a:picLocks noChangeAspect="1"/>
          </p:cNvPicPr>
          <p:nvPr/>
        </p:nvPicPr>
        <p:blipFill>
          <a:blip r:embed="rId2"/>
          <a:stretch>
            <a:fillRect/>
          </a:stretch>
        </p:blipFill>
        <p:spPr>
          <a:xfrm>
            <a:off x="4041648" y="1261872"/>
            <a:ext cx="3218688" cy="2011680"/>
          </a:xfrm>
          <a:prstGeom prst="rect">
            <a:avLst/>
          </a:prstGeom>
        </p:spPr>
      </p:pic>
      <p:sp>
        <p:nvSpPr>
          <p:cNvPr id="40" name="Shape 36"/>
          <p:cNvSpPr/>
          <p:nvPr/>
        </p:nvSpPr>
        <p:spPr>
          <a:xfrm>
            <a:off x="4041648" y="1042416"/>
            <a:ext cx="3218688" cy="2231136"/>
          </a:xfrm>
          <a:prstGeom prst="rect">
            <a:avLst/>
          </a:prstGeom>
          <a:ln w="11430">
            <a:solidFill>
              <a:srgbClr val="047857"/>
            </a:solidFill>
            <a:prstDash val="solid"/>
          </a:ln>
        </p:spPr>
      </p:sp>
      <p:sp>
        <p:nvSpPr>
          <p:cNvPr id="41" name="Shape 37"/>
          <p:cNvSpPr/>
          <p:nvPr/>
        </p:nvSpPr>
        <p:spPr>
          <a:xfrm>
            <a:off x="7502652" y="1068019"/>
            <a:ext cx="4272991" cy="2231136"/>
          </a:xfrm>
          <a:prstGeom prst="roundRect">
            <a:avLst>
              <a:gd name="adj" fmla="val 2869"/>
            </a:avLst>
          </a:prstGeom>
          <a:solidFill>
            <a:srgbClr val="E2E8F0"/>
          </a:solidFill>
          <a:ln/>
        </p:spPr>
      </p:sp>
      <p:sp>
        <p:nvSpPr>
          <p:cNvPr id="42" name="Shape 38"/>
          <p:cNvSpPr/>
          <p:nvPr/>
        </p:nvSpPr>
        <p:spPr>
          <a:xfrm>
            <a:off x="7479792" y="1042416"/>
            <a:ext cx="4272991" cy="2231136"/>
          </a:xfrm>
          <a:prstGeom prst="roundRect">
            <a:avLst>
              <a:gd name="adj" fmla="val 2869"/>
            </a:avLst>
          </a:prstGeom>
          <a:solidFill>
            <a:srgbClr val="FFFFFF"/>
          </a:solidFill>
          <a:ln w="10795">
            <a:solidFill>
              <a:srgbClr val="BFDBFE"/>
            </a:solidFill>
            <a:prstDash val="solid"/>
          </a:ln>
        </p:spPr>
      </p:sp>
      <p:sp>
        <p:nvSpPr>
          <p:cNvPr id="43" name="Shape 39"/>
          <p:cNvSpPr/>
          <p:nvPr/>
        </p:nvSpPr>
        <p:spPr>
          <a:xfrm>
            <a:off x="7479792" y="1042416"/>
            <a:ext cx="54864" cy="2231136"/>
          </a:xfrm>
          <a:prstGeom prst="roundRect">
            <a:avLst>
              <a:gd name="adj" fmla="val 33333"/>
            </a:avLst>
          </a:prstGeom>
          <a:solidFill>
            <a:srgbClr val="1D4ED8"/>
          </a:solidFill>
          <a:ln/>
        </p:spPr>
      </p:sp>
      <p:sp>
        <p:nvSpPr>
          <p:cNvPr id="44" name="Shape 40"/>
          <p:cNvSpPr/>
          <p:nvPr/>
        </p:nvSpPr>
        <p:spPr>
          <a:xfrm>
            <a:off x="7626096" y="1133856"/>
            <a:ext cx="3980383" cy="201168"/>
          </a:xfrm>
          <a:prstGeom prst="roundRect">
            <a:avLst>
              <a:gd name="adj" fmla="val 36364"/>
            </a:avLst>
          </a:prstGeom>
          <a:solidFill>
            <a:srgbClr val="EFF6FF"/>
          </a:solidFill>
          <a:ln w="9525">
            <a:solidFill>
              <a:srgbClr val="BFDBFE"/>
            </a:solidFill>
            <a:prstDash val="solid"/>
          </a:ln>
        </p:spPr>
      </p:sp>
      <p:sp>
        <p:nvSpPr>
          <p:cNvPr id="45" name="Text 41"/>
          <p:cNvSpPr/>
          <p:nvPr/>
        </p:nvSpPr>
        <p:spPr>
          <a:xfrm>
            <a:off x="7626096" y="1133856"/>
            <a:ext cx="3980383" cy="201168"/>
          </a:xfrm>
          <a:prstGeom prst="rect">
            <a:avLst/>
          </a:prstGeom>
          <a:noFill/>
          <a:ln/>
        </p:spPr>
        <p:txBody>
          <a:bodyPr wrap="square" lIns="0" tIns="0" rIns="0" bIns="0" rtlCol="0" anchor="ctr"/>
          <a:lstStyle/>
          <a:p>
            <a:pPr algn="ctr" indent="0" marL="0">
              <a:lnSpc>
                <a:spcPct val="105000"/>
              </a:lnSpc>
              <a:buNone/>
            </a:pPr>
            <a:r>
              <a:rPr lang="en-US" sz="620" b="1" dirty="0">
                <a:solidFill>
                  <a:srgbClr val="1D4ED8"/>
                </a:solidFill>
                <a:latin typeface="Arial" pitchFamily="34" charset="0"/>
                <a:ea typeface="Arial" pitchFamily="34" charset="-122"/>
                <a:cs typeface="Arial" pitchFamily="34" charset="-120"/>
              </a:rPr>
              <a:t>SAAS-09  •  DATALUST SEQ v2024.3  •  TARGET G767QR3TQZ</a:t>
            </a:r>
            <a:endParaRPr lang="en-US" sz="620" dirty="0"/>
          </a:p>
        </p:txBody>
      </p:sp>
      <p:sp>
        <p:nvSpPr>
          <p:cNvPr id="46" name="Text 42"/>
          <p:cNvSpPr/>
          <p:nvPr/>
        </p:nvSpPr>
        <p:spPr>
          <a:xfrm>
            <a:off x="7626096" y="1371600"/>
            <a:ext cx="3980383" cy="201168"/>
          </a:xfrm>
          <a:prstGeom prst="rect">
            <a:avLst/>
          </a:prstGeom>
          <a:noFill/>
          <a:ln/>
        </p:spPr>
        <p:txBody>
          <a:bodyPr wrap="square" lIns="0" tIns="0" rIns="0" bIns="0" rtlCol="0" anchor="ctr"/>
          <a:lstStyle/>
          <a:p>
            <a:pPr indent="0" marL="0">
              <a:lnSpc>
                <a:spcPct val="105000"/>
              </a:lnSpc>
              <a:buNone/>
            </a:pPr>
            <a:r>
              <a:rPr lang="en-US" sz="920" b="1" dirty="0">
                <a:solidFill>
                  <a:srgbClr val="0F172A"/>
                </a:solidFill>
                <a:latin typeface="Arial" pitchFamily="34" charset="0"/>
                <a:ea typeface="Arial" pitchFamily="34" charset="-122"/>
                <a:cs typeface="Arial" pitchFamily="34" charset="-120"/>
              </a:rPr>
              <a:t>Datadog SRE Tier — Structured Hop 4+5 CLEF Span</a:t>
            </a:r>
            <a:endParaRPr lang="en-US" sz="920" dirty="0"/>
          </a:p>
        </p:txBody>
      </p:sp>
      <p:sp>
        <p:nvSpPr>
          <p:cNvPr id="47" name="Text 43"/>
          <p:cNvSpPr/>
          <p:nvPr/>
        </p:nvSpPr>
        <p:spPr>
          <a:xfrm>
            <a:off x="7626096" y="1581912"/>
            <a:ext cx="3980383" cy="164592"/>
          </a:xfrm>
          <a:prstGeom prst="rect">
            <a:avLst/>
          </a:prstGeom>
          <a:noFill/>
          <a:ln/>
        </p:spPr>
        <p:txBody>
          <a:bodyPr wrap="square" lIns="0" tIns="0" rIns="0" bIns="0" rtlCol="0" anchor="ctr"/>
          <a:lstStyle/>
          <a:p>
            <a:pPr indent="0" marL="0">
              <a:lnSpc>
                <a:spcPct val="100000"/>
              </a:lnSpc>
              <a:buNone/>
            </a:pPr>
            <a:r>
              <a:rPr lang="en-US" sz="650" b="1" dirty="0">
                <a:solidFill>
                  <a:srgbClr val="1D4ED8"/>
                </a:solidFill>
                <a:latin typeface="Courier New" pitchFamily="34" charset="0"/>
                <a:ea typeface="Courier New" pitchFamily="34" charset="-122"/>
                <a:cs typeface="Courier New" pitchFamily="34" charset="-120"/>
              </a:rPr>
              <a:t>MCP: query_tenant_apm_logs  •  datalust/seq:2024.3</a:t>
            </a:r>
            <a:endParaRPr lang="en-US" sz="650" dirty="0"/>
          </a:p>
        </p:txBody>
      </p:sp>
      <p:sp>
        <p:nvSpPr>
          <p:cNvPr id="48" name="Text 44"/>
          <p:cNvSpPr/>
          <p:nvPr/>
        </p:nvSpPr>
        <p:spPr>
          <a:xfrm>
            <a:off x="7626096" y="1783080"/>
            <a:ext cx="3980383" cy="1133856"/>
          </a:xfrm>
          <a:prstGeom prst="rect">
            <a:avLst/>
          </a:prstGeom>
          <a:noFill/>
          <a:ln/>
        </p:spPr>
        <p:txBody>
          <a:bodyPr wrap="square" lIns="0" tIns="0" rIns="0" bIns="0" rtlCol="0" anchor="t"/>
          <a:lstStyle/>
          <a:p>
            <a:pPr indent="0" marL="0">
              <a:lnSpc>
                <a:spcPct val="110000"/>
              </a:lnSpc>
              <a:buNone/>
            </a:pPr>
            <a:r>
              <a:rPr lang="en-US" sz="720" b="1" dirty="0">
                <a:solidFill>
                  <a:srgbClr val="B91C1C"/>
                </a:solidFill>
                <a:latin typeface="Arial" pitchFamily="34" charset="0"/>
                <a:ea typeface="Arial" pitchFamily="34" charset="-122"/>
                <a:cs typeface="Arial" pitchFamily="34" charset="-120"/>
              </a:rPr>
              <a:t>• BEFORE: </a:t>
            </a:r>
            <a:pPr indent="0" marL="0">
              <a:lnSpc>
                <a:spcPct val="110000"/>
              </a:lnSpc>
              <a:buNone/>
            </a:pPr>
            <a:r>
              <a:rPr lang="en-US" sz="720" dirty="0">
                <a:solidFill>
                  <a:srgbClr val="334155"/>
                </a:solidFill>
                <a:latin typeface="Arial" pitchFamily="34" charset="0"/>
                <a:ea typeface="Arial" pitchFamily="34" charset="-122"/>
                <a:cs typeface="Arial" pitchFamily="34" charset="-120"/>
              </a:rPr>
              <a:t>Seq /#/events view in filtered pre-turn baseline prior to ingesting the live target G767QR3TQZ structured audit event.
</a:t>
            </a:r>
            <a:pPr indent="0" marL="0">
              <a:lnSpc>
                <a:spcPct val="110000"/>
              </a:lnSpc>
              <a:buNone/>
            </a:pPr>
            <a:r>
              <a:rPr lang="en-US" sz="720" b="1" dirty="0">
                <a:solidFill>
                  <a:srgbClr val="047857"/>
                </a:solidFill>
                <a:latin typeface="Arial" pitchFamily="34" charset="0"/>
                <a:ea typeface="Arial" pitchFamily="34" charset="-122"/>
                <a:cs typeface="Arial" pitchFamily="34" charset="-120"/>
              </a:rPr>
              <a:t>• AFTER: </a:t>
            </a:r>
            <a:pPr indent="0" marL="0">
              <a:lnSpc>
                <a:spcPct val="110000"/>
              </a:lnSpc>
              <a:buNone/>
            </a:pPr>
            <a:r>
              <a:rPr lang="en-US" sz="720" dirty="0">
                <a:solidFill>
                  <a:srgbClr val="0F172A"/>
                </a:solidFill>
                <a:latin typeface="Arial" pitchFamily="34" charset="0"/>
                <a:ea typeface="Arial" pitchFamily="34" charset="-122"/>
                <a:cs typeface="Arial" pitchFamily="34" charset="-120"/>
              </a:rPr>
              <a:t>POST /api/events/raw?clef ingests and expands the live trace proving Hop4ModelArmor=PASS_ZERO_PROMPT_INJECTION &amp; ZeroPiiAttested=true.</a:t>
            </a:r>
            <a:endParaRPr lang="en-US" sz="720" dirty="0"/>
          </a:p>
        </p:txBody>
      </p:sp>
      <p:sp>
        <p:nvSpPr>
          <p:cNvPr id="49" name="Shape 45"/>
          <p:cNvSpPr/>
          <p:nvPr/>
        </p:nvSpPr>
        <p:spPr>
          <a:xfrm>
            <a:off x="7626096" y="2980944"/>
            <a:ext cx="3980383" cy="201168"/>
          </a:xfrm>
          <a:prstGeom prst="roundRect">
            <a:avLst>
              <a:gd name="adj" fmla="val 36364"/>
            </a:avLst>
          </a:prstGeom>
          <a:solidFill>
            <a:srgbClr val="F1F5F9"/>
          </a:solidFill>
          <a:ln w="9525">
            <a:solidFill>
              <a:srgbClr val="CBD5E1"/>
            </a:solidFill>
            <a:prstDash val="solid"/>
          </a:ln>
        </p:spPr>
      </p:sp>
      <p:sp>
        <p:nvSpPr>
          <p:cNvPr id="50" name="Text 46"/>
          <p:cNvSpPr/>
          <p:nvPr/>
        </p:nvSpPr>
        <p:spPr>
          <a:xfrm>
            <a:off x="7626096" y="2980944"/>
            <a:ext cx="3980383" cy="201168"/>
          </a:xfrm>
          <a:prstGeom prst="rect">
            <a:avLst/>
          </a:prstGeom>
          <a:noFill/>
          <a:ln/>
        </p:spPr>
        <p:txBody>
          <a:bodyPr wrap="square" lIns="0" tIns="0" rIns="0" bIns="0" rtlCol="0" anchor="ctr"/>
          <a:lstStyle/>
          <a:p>
            <a:pPr algn="ctr" indent="0" marL="0">
              <a:lnSpc>
                <a:spcPct val="105000"/>
              </a:lnSpc>
              <a:buNone/>
            </a:pPr>
            <a:r>
              <a:rPr lang="en-US" sz="610" b="1" dirty="0">
                <a:solidFill>
                  <a:srgbClr val="475569"/>
                </a:solidFill>
                <a:latin typeface="Arial" pitchFamily="34" charset="0"/>
                <a:ea typeface="Arial" pitchFamily="34" charset="-122"/>
                <a:cs typeface="Arial" pitchFamily="34" charset="-120"/>
              </a:rPr>
              <a:t>SHA-256: ace89a1b (Before) → 1633de1b (After)  •  Pair 09/10</a:t>
            </a:r>
            <a:endParaRPr lang="en-US" sz="610" dirty="0"/>
          </a:p>
        </p:txBody>
      </p:sp>
      <p:sp>
        <p:nvSpPr>
          <p:cNvPr id="51" name="Shape 47"/>
          <p:cNvSpPr/>
          <p:nvPr/>
        </p:nvSpPr>
        <p:spPr>
          <a:xfrm>
            <a:off x="461772" y="3518611"/>
            <a:ext cx="3218688" cy="2231136"/>
          </a:xfrm>
          <a:prstGeom prst="roundRect">
            <a:avLst>
              <a:gd name="adj" fmla="val 2869"/>
            </a:avLst>
          </a:prstGeom>
          <a:solidFill>
            <a:srgbClr val="E2E8F0"/>
          </a:solidFill>
          <a:ln/>
        </p:spPr>
      </p:sp>
      <p:sp>
        <p:nvSpPr>
          <p:cNvPr id="52" name="Shape 48"/>
          <p:cNvSpPr/>
          <p:nvPr/>
        </p:nvSpPr>
        <p:spPr>
          <a:xfrm>
            <a:off x="438912" y="3493008"/>
            <a:ext cx="3218688" cy="2231136"/>
          </a:xfrm>
          <a:prstGeom prst="roundRect">
            <a:avLst>
              <a:gd name="adj" fmla="val 2869"/>
            </a:avLst>
          </a:prstGeom>
          <a:solidFill>
            <a:srgbClr val="FFFFFF"/>
          </a:solidFill>
          <a:ln w="10795">
            <a:solidFill>
              <a:srgbClr val="FECACA"/>
            </a:solidFill>
            <a:prstDash val="solid"/>
          </a:ln>
        </p:spPr>
      </p:sp>
      <p:sp>
        <p:nvSpPr>
          <p:cNvPr id="53" name="Shape 49"/>
          <p:cNvSpPr/>
          <p:nvPr/>
        </p:nvSpPr>
        <p:spPr>
          <a:xfrm>
            <a:off x="438912" y="3493008"/>
            <a:ext cx="3218688" cy="219456"/>
          </a:xfrm>
          <a:prstGeom prst="rect">
            <a:avLst/>
          </a:prstGeom>
          <a:solidFill>
            <a:srgbClr val="FEF2F2"/>
          </a:solidFill>
          <a:ln w="7620">
            <a:solidFill>
              <a:srgbClr val="FECACA"/>
            </a:solidFill>
            <a:prstDash val="solid"/>
          </a:ln>
        </p:spPr>
      </p:sp>
      <p:sp>
        <p:nvSpPr>
          <p:cNvPr id="54" name="Shape 50"/>
          <p:cNvSpPr/>
          <p:nvPr/>
        </p:nvSpPr>
        <p:spPr>
          <a:xfrm>
            <a:off x="512064" y="3566160"/>
            <a:ext cx="68580" cy="68580"/>
          </a:xfrm>
          <a:prstGeom prst="ellipse">
            <a:avLst/>
          </a:prstGeom>
          <a:solidFill>
            <a:srgbClr val="EF4444"/>
          </a:solidFill>
          <a:ln/>
        </p:spPr>
      </p:sp>
      <p:sp>
        <p:nvSpPr>
          <p:cNvPr id="55" name="Shape 51"/>
          <p:cNvSpPr/>
          <p:nvPr/>
        </p:nvSpPr>
        <p:spPr>
          <a:xfrm>
            <a:off x="612648" y="3566160"/>
            <a:ext cx="68580" cy="68580"/>
          </a:xfrm>
          <a:prstGeom prst="ellipse">
            <a:avLst/>
          </a:prstGeom>
          <a:solidFill>
            <a:srgbClr val="F59E0B"/>
          </a:solidFill>
          <a:ln/>
        </p:spPr>
      </p:sp>
      <p:sp>
        <p:nvSpPr>
          <p:cNvPr id="56" name="Shape 52"/>
          <p:cNvSpPr/>
          <p:nvPr/>
        </p:nvSpPr>
        <p:spPr>
          <a:xfrm>
            <a:off x="713232" y="3566160"/>
            <a:ext cx="68580" cy="68580"/>
          </a:xfrm>
          <a:prstGeom prst="ellipse">
            <a:avLst/>
          </a:prstGeom>
          <a:solidFill>
            <a:srgbClr val="10B981"/>
          </a:solidFill>
          <a:ln/>
        </p:spPr>
      </p:sp>
      <p:sp>
        <p:nvSpPr>
          <p:cNvPr id="57" name="Text 53"/>
          <p:cNvSpPr/>
          <p:nvPr/>
        </p:nvSpPr>
        <p:spPr>
          <a:xfrm>
            <a:off x="841248" y="3511296"/>
            <a:ext cx="2761488" cy="182880"/>
          </a:xfrm>
          <a:prstGeom prst="rect">
            <a:avLst/>
          </a:prstGeom>
          <a:noFill/>
          <a:ln/>
        </p:spPr>
        <p:txBody>
          <a:bodyPr wrap="square" lIns="0" tIns="0" rIns="0" bIns="0" rtlCol="0" anchor="ctr"/>
          <a:lstStyle/>
          <a:p>
            <a:pPr algn="l" indent="0" marL="0">
              <a:lnSpc>
                <a:spcPct val="100000"/>
              </a:lnSpc>
              <a:buNone/>
            </a:pPr>
            <a:r>
              <a:rPr lang="en-US" sz="640" b="1" dirty="0">
                <a:solidFill>
                  <a:srgbClr val="B91C1C"/>
                </a:solidFill>
                <a:latin typeface="Arial" pitchFamily="34" charset="0"/>
                <a:ea typeface="Arial" pitchFamily="34" charset="-122"/>
                <a:cs typeface="Arial" pitchFamily="34" charset="-120"/>
              </a:rPr>
              <a:t>BEFORE: Secret v1 (PENDING_HOP5_DPOP)</a:t>
            </a:r>
            <a:endParaRPr lang="en-US" sz="640" dirty="0"/>
          </a:p>
        </p:txBody>
      </p:sp>
      <p:pic>
        <p:nvPicPr>
          <p:cNvPr id="58" name="Image 2" descr="preencoded.png">    </p:cNvPr>
          <p:cNvPicPr>
            <a:picLocks noChangeAspect="1"/>
          </p:cNvPicPr>
          <p:nvPr/>
        </p:nvPicPr>
        <p:blipFill>
          <a:blip r:embed="rId3"/>
          <a:stretch>
            <a:fillRect/>
          </a:stretch>
        </p:blipFill>
        <p:spPr>
          <a:xfrm>
            <a:off x="438912" y="3712464"/>
            <a:ext cx="3218688" cy="2011680"/>
          </a:xfrm>
          <a:prstGeom prst="rect">
            <a:avLst/>
          </a:prstGeom>
        </p:spPr>
      </p:pic>
      <p:sp>
        <p:nvSpPr>
          <p:cNvPr id="59" name="Shape 54"/>
          <p:cNvSpPr/>
          <p:nvPr/>
        </p:nvSpPr>
        <p:spPr>
          <a:xfrm>
            <a:off x="438912" y="3493008"/>
            <a:ext cx="3218688" cy="2231136"/>
          </a:xfrm>
          <a:prstGeom prst="rect">
            <a:avLst/>
          </a:prstGeom>
          <a:ln w="11430">
            <a:solidFill>
              <a:srgbClr val="B91C1C"/>
            </a:solidFill>
            <a:prstDash val="solid"/>
          </a:ln>
        </p:spPr>
      </p:sp>
      <p:sp>
        <p:nvSpPr>
          <p:cNvPr id="60" name="Shape 55"/>
          <p:cNvSpPr/>
          <p:nvPr/>
        </p:nvSpPr>
        <p:spPr>
          <a:xfrm>
            <a:off x="3694176" y="4608576"/>
            <a:ext cx="310896" cy="0"/>
          </a:xfrm>
          <a:prstGeom prst="line">
            <a:avLst/>
          </a:prstGeom>
          <a:noFill/>
          <a:ln w="22860">
            <a:solidFill>
              <a:srgbClr val="B91C1C"/>
            </a:solidFill>
            <a:prstDash val="solid"/>
            <a:tailEnd type="triangle" w="sm" len="sm"/>
          </a:ln>
        </p:spPr>
      </p:sp>
      <p:sp>
        <p:nvSpPr>
          <p:cNvPr id="61" name="Shape 56"/>
          <p:cNvSpPr/>
          <p:nvPr/>
        </p:nvSpPr>
        <p:spPr>
          <a:xfrm>
            <a:off x="4064508" y="3518611"/>
            <a:ext cx="3218688" cy="2231136"/>
          </a:xfrm>
          <a:prstGeom prst="roundRect">
            <a:avLst>
              <a:gd name="adj" fmla="val 2869"/>
            </a:avLst>
          </a:prstGeom>
          <a:solidFill>
            <a:srgbClr val="E2E8F0"/>
          </a:solidFill>
          <a:ln/>
        </p:spPr>
      </p:sp>
      <p:sp>
        <p:nvSpPr>
          <p:cNvPr id="62" name="Shape 57"/>
          <p:cNvSpPr/>
          <p:nvPr/>
        </p:nvSpPr>
        <p:spPr>
          <a:xfrm>
            <a:off x="4041648" y="3493008"/>
            <a:ext cx="3218688" cy="2231136"/>
          </a:xfrm>
          <a:prstGeom prst="roundRect">
            <a:avLst>
              <a:gd name="adj" fmla="val 2869"/>
            </a:avLst>
          </a:prstGeom>
          <a:solidFill>
            <a:srgbClr val="FFFFFF"/>
          </a:solidFill>
          <a:ln w="10795">
            <a:solidFill>
              <a:srgbClr val="A7F3D0"/>
            </a:solidFill>
            <a:prstDash val="solid"/>
          </a:ln>
        </p:spPr>
      </p:sp>
      <p:sp>
        <p:nvSpPr>
          <p:cNvPr id="63" name="Shape 58"/>
          <p:cNvSpPr/>
          <p:nvPr/>
        </p:nvSpPr>
        <p:spPr>
          <a:xfrm>
            <a:off x="4041648" y="3493008"/>
            <a:ext cx="3218688" cy="219456"/>
          </a:xfrm>
          <a:prstGeom prst="rect">
            <a:avLst/>
          </a:prstGeom>
          <a:solidFill>
            <a:srgbClr val="ECFDF5"/>
          </a:solidFill>
          <a:ln w="7620">
            <a:solidFill>
              <a:srgbClr val="A7F3D0"/>
            </a:solidFill>
            <a:prstDash val="solid"/>
          </a:ln>
        </p:spPr>
      </p:sp>
      <p:sp>
        <p:nvSpPr>
          <p:cNvPr id="64" name="Shape 59"/>
          <p:cNvSpPr/>
          <p:nvPr/>
        </p:nvSpPr>
        <p:spPr>
          <a:xfrm>
            <a:off x="4114800" y="3566160"/>
            <a:ext cx="68580" cy="68580"/>
          </a:xfrm>
          <a:prstGeom prst="ellipse">
            <a:avLst/>
          </a:prstGeom>
          <a:solidFill>
            <a:srgbClr val="EF4444"/>
          </a:solidFill>
          <a:ln/>
        </p:spPr>
      </p:sp>
      <p:sp>
        <p:nvSpPr>
          <p:cNvPr id="65" name="Shape 60"/>
          <p:cNvSpPr/>
          <p:nvPr/>
        </p:nvSpPr>
        <p:spPr>
          <a:xfrm>
            <a:off x="4215384" y="3566160"/>
            <a:ext cx="68580" cy="68580"/>
          </a:xfrm>
          <a:prstGeom prst="ellipse">
            <a:avLst/>
          </a:prstGeom>
          <a:solidFill>
            <a:srgbClr val="F59E0B"/>
          </a:solidFill>
          <a:ln/>
        </p:spPr>
      </p:sp>
      <p:sp>
        <p:nvSpPr>
          <p:cNvPr id="66" name="Shape 61"/>
          <p:cNvSpPr/>
          <p:nvPr/>
        </p:nvSpPr>
        <p:spPr>
          <a:xfrm>
            <a:off x="4315968" y="3566160"/>
            <a:ext cx="68580" cy="68580"/>
          </a:xfrm>
          <a:prstGeom prst="ellipse">
            <a:avLst/>
          </a:prstGeom>
          <a:solidFill>
            <a:srgbClr val="10B981"/>
          </a:solidFill>
          <a:ln/>
        </p:spPr>
      </p:sp>
      <p:sp>
        <p:nvSpPr>
          <p:cNvPr id="67" name="Text 62"/>
          <p:cNvSpPr/>
          <p:nvPr/>
        </p:nvSpPr>
        <p:spPr>
          <a:xfrm>
            <a:off x="4443984" y="3511296"/>
            <a:ext cx="2761488" cy="182880"/>
          </a:xfrm>
          <a:prstGeom prst="rect">
            <a:avLst/>
          </a:prstGeom>
          <a:noFill/>
          <a:ln/>
        </p:spPr>
        <p:txBody>
          <a:bodyPr wrap="square" lIns="0" tIns="0" rIns="0" bIns="0" rtlCol="0" anchor="ctr"/>
          <a:lstStyle/>
          <a:p>
            <a:pPr algn="l" indent="0" marL="0">
              <a:lnSpc>
                <a:spcPct val="100000"/>
              </a:lnSpc>
              <a:buNone/>
            </a:pPr>
            <a:r>
              <a:rPr lang="en-US" sz="640" b="1" dirty="0">
                <a:solidFill>
                  <a:srgbClr val="047857"/>
                </a:solidFill>
                <a:latin typeface="Arial" pitchFamily="34" charset="0"/>
                <a:ea typeface="Arial" pitchFamily="34" charset="-122"/>
                <a:cs typeface="Arial" pitchFamily="34" charset="-120"/>
              </a:rPr>
              <a:t>AFTER: Rotated Secret v2 (DPOP_VERIFIED_200)</a:t>
            </a:r>
            <a:endParaRPr lang="en-US" sz="640" dirty="0"/>
          </a:p>
        </p:txBody>
      </p:sp>
      <p:pic>
        <p:nvPicPr>
          <p:cNvPr id="68" name="Image 3" descr="preencoded.png">    </p:cNvPr>
          <p:cNvPicPr>
            <a:picLocks noChangeAspect="1"/>
          </p:cNvPicPr>
          <p:nvPr/>
        </p:nvPicPr>
        <p:blipFill>
          <a:blip r:embed="rId4"/>
          <a:stretch>
            <a:fillRect/>
          </a:stretch>
        </p:blipFill>
        <p:spPr>
          <a:xfrm>
            <a:off x="4041648" y="3712464"/>
            <a:ext cx="3218688" cy="2011680"/>
          </a:xfrm>
          <a:prstGeom prst="rect">
            <a:avLst/>
          </a:prstGeom>
        </p:spPr>
      </p:pic>
      <p:sp>
        <p:nvSpPr>
          <p:cNvPr id="69" name="Shape 63"/>
          <p:cNvSpPr/>
          <p:nvPr/>
        </p:nvSpPr>
        <p:spPr>
          <a:xfrm>
            <a:off x="4041648" y="3493008"/>
            <a:ext cx="3218688" cy="2231136"/>
          </a:xfrm>
          <a:prstGeom prst="rect">
            <a:avLst/>
          </a:prstGeom>
          <a:ln w="11430">
            <a:solidFill>
              <a:srgbClr val="047857"/>
            </a:solidFill>
            <a:prstDash val="solid"/>
          </a:ln>
        </p:spPr>
      </p:sp>
      <p:sp>
        <p:nvSpPr>
          <p:cNvPr id="70" name="Shape 64"/>
          <p:cNvSpPr/>
          <p:nvPr/>
        </p:nvSpPr>
        <p:spPr>
          <a:xfrm>
            <a:off x="7502652" y="3518611"/>
            <a:ext cx="4272991" cy="2231136"/>
          </a:xfrm>
          <a:prstGeom prst="roundRect">
            <a:avLst>
              <a:gd name="adj" fmla="val 2869"/>
            </a:avLst>
          </a:prstGeom>
          <a:solidFill>
            <a:srgbClr val="E2E8F0"/>
          </a:solidFill>
          <a:ln/>
        </p:spPr>
      </p:sp>
      <p:sp>
        <p:nvSpPr>
          <p:cNvPr id="71" name="Shape 65"/>
          <p:cNvSpPr/>
          <p:nvPr/>
        </p:nvSpPr>
        <p:spPr>
          <a:xfrm>
            <a:off x="7479792" y="3493008"/>
            <a:ext cx="4272991" cy="2231136"/>
          </a:xfrm>
          <a:prstGeom prst="roundRect">
            <a:avLst>
              <a:gd name="adj" fmla="val 2869"/>
            </a:avLst>
          </a:prstGeom>
          <a:solidFill>
            <a:srgbClr val="FFFFFF"/>
          </a:solidFill>
          <a:ln w="10795">
            <a:solidFill>
              <a:srgbClr val="FECACA"/>
            </a:solidFill>
            <a:prstDash val="solid"/>
          </a:ln>
        </p:spPr>
      </p:sp>
      <p:sp>
        <p:nvSpPr>
          <p:cNvPr id="72" name="Shape 66"/>
          <p:cNvSpPr/>
          <p:nvPr/>
        </p:nvSpPr>
        <p:spPr>
          <a:xfrm>
            <a:off x="7479792" y="3493008"/>
            <a:ext cx="54864" cy="2231136"/>
          </a:xfrm>
          <a:prstGeom prst="roundRect">
            <a:avLst>
              <a:gd name="adj" fmla="val 33333"/>
            </a:avLst>
          </a:prstGeom>
          <a:solidFill>
            <a:srgbClr val="B91C1C"/>
          </a:solidFill>
          <a:ln/>
        </p:spPr>
      </p:sp>
      <p:sp>
        <p:nvSpPr>
          <p:cNvPr id="73" name="Shape 67"/>
          <p:cNvSpPr/>
          <p:nvPr/>
        </p:nvSpPr>
        <p:spPr>
          <a:xfrm>
            <a:off x="7626096" y="3584448"/>
            <a:ext cx="3980383" cy="201168"/>
          </a:xfrm>
          <a:prstGeom prst="roundRect">
            <a:avLst>
              <a:gd name="adj" fmla="val 36364"/>
            </a:avLst>
          </a:prstGeom>
          <a:solidFill>
            <a:srgbClr val="FEF2F2"/>
          </a:solidFill>
          <a:ln w="9525">
            <a:solidFill>
              <a:srgbClr val="FECACA"/>
            </a:solidFill>
            <a:prstDash val="solid"/>
          </a:ln>
        </p:spPr>
      </p:sp>
      <p:sp>
        <p:nvSpPr>
          <p:cNvPr id="74" name="Text 68"/>
          <p:cNvSpPr/>
          <p:nvPr/>
        </p:nvSpPr>
        <p:spPr>
          <a:xfrm>
            <a:off x="7626096" y="3584448"/>
            <a:ext cx="3980383" cy="201168"/>
          </a:xfrm>
          <a:prstGeom prst="rect">
            <a:avLst/>
          </a:prstGeom>
          <a:noFill/>
          <a:ln/>
        </p:spPr>
        <p:txBody>
          <a:bodyPr wrap="square" lIns="0" tIns="0" rIns="0" bIns="0" rtlCol="0" anchor="ctr"/>
          <a:lstStyle/>
          <a:p>
            <a:pPr algn="ctr" indent="0" marL="0">
              <a:lnSpc>
                <a:spcPct val="105000"/>
              </a:lnSpc>
              <a:buNone/>
            </a:pPr>
            <a:r>
              <a:rPr lang="en-US" sz="620" b="1" dirty="0">
                <a:solidFill>
                  <a:srgbClr val="B91C1C"/>
                </a:solidFill>
                <a:latin typeface="Arial" pitchFamily="34" charset="0"/>
                <a:ea typeface="Arial" pitchFamily="34" charset="-122"/>
                <a:cs typeface="Arial" pitchFamily="34" charset="-120"/>
              </a:rPr>
              <a:t>SAAS-10  •  HASHICORP VAULT v1.13.3  •  TARGET C7EYM614F2</a:t>
            </a:r>
            <a:endParaRPr lang="en-US" sz="620" dirty="0"/>
          </a:p>
        </p:txBody>
      </p:sp>
      <p:sp>
        <p:nvSpPr>
          <p:cNvPr id="75" name="Text 69"/>
          <p:cNvSpPr/>
          <p:nvPr/>
        </p:nvSpPr>
        <p:spPr>
          <a:xfrm>
            <a:off x="7626096" y="3822192"/>
            <a:ext cx="3980383" cy="201168"/>
          </a:xfrm>
          <a:prstGeom prst="rect">
            <a:avLst/>
          </a:prstGeom>
          <a:noFill/>
          <a:ln/>
        </p:spPr>
        <p:txBody>
          <a:bodyPr wrap="square" lIns="0" tIns="0" rIns="0" bIns="0" rtlCol="0" anchor="ctr"/>
          <a:lstStyle/>
          <a:p>
            <a:pPr indent="0" marL="0">
              <a:lnSpc>
                <a:spcPct val="105000"/>
              </a:lnSpc>
              <a:buNone/>
            </a:pPr>
            <a:r>
              <a:rPr lang="en-US" sz="920" b="1" dirty="0">
                <a:solidFill>
                  <a:srgbClr val="0F172A"/>
                </a:solidFill>
                <a:latin typeface="Arial" pitchFamily="34" charset="0"/>
                <a:ea typeface="Arial" pitchFamily="34" charset="-122"/>
                <a:cs typeface="Arial" pitchFamily="34" charset="-120"/>
              </a:rPr>
              <a:t>CrowdStrike / Okta Tier — Hardware DPoP Secret Rotation</a:t>
            </a:r>
            <a:endParaRPr lang="en-US" sz="920" dirty="0"/>
          </a:p>
        </p:txBody>
      </p:sp>
      <p:sp>
        <p:nvSpPr>
          <p:cNvPr id="76" name="Text 70"/>
          <p:cNvSpPr/>
          <p:nvPr/>
        </p:nvSpPr>
        <p:spPr>
          <a:xfrm>
            <a:off x="7626096" y="4032504"/>
            <a:ext cx="3980383" cy="164592"/>
          </a:xfrm>
          <a:prstGeom prst="rect">
            <a:avLst/>
          </a:prstGeom>
          <a:noFill/>
          <a:ln/>
        </p:spPr>
        <p:txBody>
          <a:bodyPr wrap="square" lIns="0" tIns="0" rIns="0" bIns="0" rtlCol="0" anchor="ctr"/>
          <a:lstStyle/>
          <a:p>
            <a:pPr indent="0" marL="0">
              <a:lnSpc>
                <a:spcPct val="100000"/>
              </a:lnSpc>
              <a:buNone/>
            </a:pPr>
            <a:r>
              <a:rPr lang="en-US" sz="650" b="1" dirty="0">
                <a:solidFill>
                  <a:srgbClr val="B91C1C"/>
                </a:solidFill>
                <a:latin typeface="Courier New" pitchFamily="34" charset="0"/>
                <a:ea typeface="Courier New" pitchFamily="34" charset="-122"/>
                <a:cs typeface="Courier New" pitchFamily="34" charset="-120"/>
              </a:rPr>
              <a:t>MCP: contain_xdr_host_with_dpop  •  hashicorp/vault:1.13.3</a:t>
            </a:r>
            <a:endParaRPr lang="en-US" sz="650" dirty="0"/>
          </a:p>
        </p:txBody>
      </p:sp>
      <p:sp>
        <p:nvSpPr>
          <p:cNvPr id="77" name="Text 71"/>
          <p:cNvSpPr/>
          <p:nvPr/>
        </p:nvSpPr>
        <p:spPr>
          <a:xfrm>
            <a:off x="7626096" y="4233672"/>
            <a:ext cx="3980383" cy="1133856"/>
          </a:xfrm>
          <a:prstGeom prst="rect">
            <a:avLst/>
          </a:prstGeom>
          <a:noFill/>
          <a:ln/>
        </p:spPr>
        <p:txBody>
          <a:bodyPr wrap="square" lIns="0" tIns="0" rIns="0" bIns="0" rtlCol="0" anchor="t"/>
          <a:lstStyle/>
          <a:p>
            <a:pPr indent="0" marL="0">
              <a:lnSpc>
                <a:spcPct val="110000"/>
              </a:lnSpc>
              <a:buNone/>
            </a:pPr>
            <a:r>
              <a:rPr lang="en-US" sz="720" b="1" dirty="0">
                <a:solidFill>
                  <a:srgbClr val="B91C1C"/>
                </a:solidFill>
                <a:latin typeface="Arial" pitchFamily="34" charset="0"/>
                <a:ea typeface="Arial" pitchFamily="34" charset="-122"/>
                <a:cs typeface="Arial" pitchFamily="34" charset="-120"/>
              </a:rPr>
              <a:t>• BEFORE: </a:t>
            </a:r>
            <a:pPr indent="0" marL="0">
              <a:lnSpc>
                <a:spcPct val="110000"/>
              </a:lnSpc>
              <a:buNone/>
            </a:pPr>
            <a:r>
              <a:rPr lang="en-US" sz="720" dirty="0">
                <a:solidFill>
                  <a:srgbClr val="334155"/>
                </a:solidFill>
                <a:latin typeface="Arial" pitchFamily="34" charset="0"/>
                <a:ea typeface="Arial" pitchFamily="34" charset="-122"/>
                <a:cs typeface="Arial" pitchFamily="34" charset="-120"/>
              </a:rPr>
              <a:t>Vault secret tenants/finvault at Version 1 (JSON toggle on) shows pre-containment state PENDING_HOP5_DPOP_CONTAINMENT.
</a:t>
            </a:r>
            <a:pPr indent="0" marL="0">
              <a:lnSpc>
                <a:spcPct val="110000"/>
              </a:lnSpc>
              <a:buNone/>
            </a:pPr>
            <a:r>
              <a:rPr lang="en-US" sz="720" b="1" dirty="0">
                <a:solidFill>
                  <a:srgbClr val="047857"/>
                </a:solidFill>
                <a:latin typeface="Arial" pitchFamily="34" charset="0"/>
                <a:ea typeface="Arial" pitchFamily="34" charset="-122"/>
                <a:cs typeface="Arial" pitchFamily="34" charset="-120"/>
              </a:rPr>
              <a:t>• AFTER: </a:t>
            </a:r>
            <a:pPr indent="0" marL="0">
              <a:lnSpc>
                <a:spcPct val="110000"/>
              </a:lnSpc>
              <a:buNone/>
            </a:pPr>
            <a:r>
              <a:rPr lang="en-US" sz="720" dirty="0">
                <a:solidFill>
                  <a:srgbClr val="0F172A"/>
                </a:solidFill>
                <a:latin typeface="Arial" pitchFamily="34" charset="0"/>
                <a:ea typeface="Arial" pitchFamily="34" charset="-122"/>
                <a:cs typeface="Arial" pitchFamily="34" charset="-120"/>
              </a:rPr>
              <a:t>MCP verifies RFC 9449 DPoP thumbprint (sha256:f8a92c4e...) and rotates secret to Version 2 with HOST_CONTAINED_DPOP_VERIFIED_200.</a:t>
            </a:r>
            <a:endParaRPr lang="en-US" sz="720" dirty="0"/>
          </a:p>
        </p:txBody>
      </p:sp>
      <p:sp>
        <p:nvSpPr>
          <p:cNvPr id="78" name="Shape 72"/>
          <p:cNvSpPr/>
          <p:nvPr/>
        </p:nvSpPr>
        <p:spPr>
          <a:xfrm>
            <a:off x="7626096" y="5431536"/>
            <a:ext cx="3980383" cy="201168"/>
          </a:xfrm>
          <a:prstGeom prst="roundRect">
            <a:avLst>
              <a:gd name="adj" fmla="val 36364"/>
            </a:avLst>
          </a:prstGeom>
          <a:solidFill>
            <a:srgbClr val="F1F5F9"/>
          </a:solidFill>
          <a:ln w="9525">
            <a:solidFill>
              <a:srgbClr val="CBD5E1"/>
            </a:solidFill>
            <a:prstDash val="solid"/>
          </a:ln>
        </p:spPr>
      </p:sp>
      <p:sp>
        <p:nvSpPr>
          <p:cNvPr id="79" name="Text 73"/>
          <p:cNvSpPr/>
          <p:nvPr/>
        </p:nvSpPr>
        <p:spPr>
          <a:xfrm>
            <a:off x="7626096" y="5431536"/>
            <a:ext cx="3980383" cy="201168"/>
          </a:xfrm>
          <a:prstGeom prst="rect">
            <a:avLst/>
          </a:prstGeom>
          <a:noFill/>
          <a:ln/>
        </p:spPr>
        <p:txBody>
          <a:bodyPr wrap="square" lIns="0" tIns="0" rIns="0" bIns="0" rtlCol="0" anchor="ctr"/>
          <a:lstStyle/>
          <a:p>
            <a:pPr algn="ctr" indent="0" marL="0">
              <a:lnSpc>
                <a:spcPct val="105000"/>
              </a:lnSpc>
              <a:buNone/>
            </a:pPr>
            <a:r>
              <a:rPr lang="en-US" sz="610" b="1" dirty="0">
                <a:solidFill>
                  <a:srgbClr val="475569"/>
                </a:solidFill>
                <a:latin typeface="Arial" pitchFamily="34" charset="0"/>
                <a:ea typeface="Arial" pitchFamily="34" charset="-122"/>
                <a:cs typeface="Arial" pitchFamily="34" charset="-120"/>
              </a:rPr>
              <a:t>SHA-256: 95fbae1e (Before) → a0156ef0 (After)  •  Pair 10/10</a:t>
            </a:r>
            <a:endParaRPr lang="en-US" sz="610" dirty="0"/>
          </a:p>
        </p:txBody>
      </p:sp>
      <p:sp>
        <p:nvSpPr>
          <p:cNvPr id="80" name="Shape 74"/>
          <p:cNvSpPr/>
          <p:nvPr/>
        </p:nvSpPr>
        <p:spPr>
          <a:xfrm>
            <a:off x="438912" y="5943600"/>
            <a:ext cx="11313871" cy="420624"/>
          </a:xfrm>
          <a:prstGeom prst="roundRect">
            <a:avLst>
              <a:gd name="adj" fmla="val 13043"/>
            </a:avLst>
          </a:prstGeom>
          <a:solidFill>
            <a:srgbClr val="EFF6FF"/>
          </a:solidFill>
          <a:ln w="11430">
            <a:solidFill>
              <a:srgbClr val="BFDBFE"/>
            </a:solidFill>
            <a:prstDash val="solid"/>
          </a:ln>
        </p:spPr>
      </p:sp>
      <p:sp>
        <p:nvSpPr>
          <p:cNvPr id="81" name="Shape 75"/>
          <p:cNvSpPr/>
          <p:nvPr/>
        </p:nvSpPr>
        <p:spPr>
          <a:xfrm>
            <a:off x="530352" y="6025896"/>
            <a:ext cx="1353312" cy="256032"/>
          </a:xfrm>
          <a:prstGeom prst="roundRect">
            <a:avLst>
              <a:gd name="adj" fmla="val 17857"/>
            </a:avLst>
          </a:prstGeom>
          <a:solidFill>
            <a:srgbClr val="1D4ED8"/>
          </a:solidFill>
          <a:ln/>
        </p:spPr>
      </p:sp>
      <p:sp>
        <p:nvSpPr>
          <p:cNvPr id="82" name="Text 76"/>
          <p:cNvSpPr/>
          <p:nvPr/>
        </p:nvSpPr>
        <p:spPr>
          <a:xfrm>
            <a:off x="530352" y="6025896"/>
            <a:ext cx="1353312" cy="256032"/>
          </a:xfrm>
          <a:prstGeom prst="rect">
            <a:avLst/>
          </a:prstGeom>
          <a:noFill/>
          <a:ln/>
        </p:spPr>
        <p:txBody>
          <a:bodyPr wrap="square" lIns="0" tIns="0" rIns="0" bIns="0" rtlCol="0" anchor="ctr"/>
          <a:lstStyle/>
          <a:p>
            <a:pPr algn="ctr" indent="0" marL="0">
              <a:lnSpc>
                <a:spcPct val="105000"/>
              </a:lnSpc>
              <a:buNone/>
            </a:pPr>
            <a:r>
              <a:rPr lang="en-US" sz="650" b="1" dirty="0">
                <a:solidFill>
                  <a:srgbClr val="FFFFFF"/>
                </a:solidFill>
                <a:latin typeface="Arial" pitchFamily="34" charset="0"/>
                <a:ea typeface="Arial" pitchFamily="34" charset="-122"/>
                <a:cs typeface="Arial" pitchFamily="34" charset="-120"/>
              </a:rPr>
              <a:t>ALL 10 SAAS PROVEN</a:t>
            </a:r>
            <a:endParaRPr lang="en-US" sz="650" dirty="0"/>
          </a:p>
        </p:txBody>
      </p:sp>
      <p:sp>
        <p:nvSpPr>
          <p:cNvPr id="83" name="Text 77"/>
          <p:cNvSpPr/>
          <p:nvPr/>
        </p:nvSpPr>
        <p:spPr>
          <a:xfrm>
            <a:off x="1993392" y="5980176"/>
            <a:ext cx="7555687" cy="347472"/>
          </a:xfrm>
          <a:prstGeom prst="rect">
            <a:avLst/>
          </a:prstGeom>
          <a:noFill/>
          <a:ln/>
        </p:spPr>
        <p:txBody>
          <a:bodyPr wrap="square" lIns="0" tIns="0" rIns="0" bIns="0" rtlCol="0" anchor="ctr"/>
          <a:lstStyle/>
          <a:p>
            <a:pPr algn="l" indent="0" marL="0">
              <a:lnSpc>
                <a:spcPct val="108000"/>
              </a:lnSpc>
              <a:buNone/>
            </a:pPr>
            <a:r>
              <a:rPr lang="en-US" sz="860" b="1" dirty="0">
                <a:solidFill>
                  <a:srgbClr val="0F172A"/>
                </a:solidFill>
                <a:latin typeface="Arial" pitchFamily="34" charset="0"/>
                <a:ea typeface="Arial" pitchFamily="34" charset="-122"/>
                <a:cs typeface="Arial" pitchFamily="34" charset="-120"/>
              </a:rPr>
              <a:t>All 20 Before/After Retina screenshots have distinct verified SHA-256 digests and zero DOM tampering—completing 10-of-10 third-party SaaS visual proof.</a:t>
            </a:r>
            <a:endParaRPr lang="en-US" sz="860" dirty="0"/>
          </a:p>
        </p:txBody>
      </p:sp>
      <p:sp>
        <p:nvSpPr>
          <p:cNvPr id="84" name="Shape 78"/>
          <p:cNvSpPr/>
          <p:nvPr/>
        </p:nvSpPr>
        <p:spPr>
          <a:xfrm>
            <a:off x="9695383" y="6025896"/>
            <a:ext cx="1965960" cy="256032"/>
          </a:xfrm>
          <a:prstGeom prst="roundRect">
            <a:avLst>
              <a:gd name="adj" fmla="val 17857"/>
            </a:avLst>
          </a:prstGeom>
          <a:solidFill>
            <a:srgbClr val="FFFFFF"/>
          </a:solidFill>
          <a:ln w="10795">
            <a:solidFill>
              <a:srgbClr val="1D4ED8"/>
            </a:solidFill>
            <a:prstDash val="solid"/>
          </a:ln>
        </p:spPr>
      </p:sp>
      <p:sp>
        <p:nvSpPr>
          <p:cNvPr id="85" name="Text 79"/>
          <p:cNvSpPr/>
          <p:nvPr/>
        </p:nvSpPr>
        <p:spPr>
          <a:xfrm>
            <a:off x="9695383" y="6025896"/>
            <a:ext cx="1965960" cy="256032"/>
          </a:xfrm>
          <a:prstGeom prst="rect">
            <a:avLst/>
          </a:prstGeom>
          <a:noFill/>
          <a:ln/>
        </p:spPr>
        <p:txBody>
          <a:bodyPr wrap="square" lIns="0" tIns="0" rIns="0" bIns="0" rtlCol="0" anchor="ctr"/>
          <a:lstStyle/>
          <a:p>
            <a:pPr algn="ctr" indent="0" marL="0">
              <a:lnSpc>
                <a:spcPct val="105000"/>
              </a:lnSpc>
              <a:buNone/>
            </a:pPr>
            <a:r>
              <a:rPr lang="en-US" sz="740" b="1" dirty="0">
                <a:solidFill>
                  <a:srgbClr val="1D4ED8"/>
                </a:solidFill>
                <a:latin typeface="Arial" pitchFamily="34" charset="0"/>
                <a:ea typeface="Arial" pitchFamily="34" charset="-122"/>
                <a:cs typeface="Arial" pitchFamily="34" charset="-120"/>
              </a:rPr>
              <a:t>20/20 PNGs • 10/10 SaaS PASS</a:t>
            </a:r>
            <a:endParaRPr lang="en-US" sz="74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1148"/>
          </a:xfrm>
          <a:prstGeom prst="rect">
            <a:avLst/>
          </a:prstGeom>
          <a:solidFill>
            <a:srgbClr val="2563EB"/>
          </a:solidFill>
          <a:ln/>
        </p:spPr>
      </p:sp>
      <p:sp>
        <p:nvSpPr>
          <p:cNvPr id="3" name="Shape 1"/>
          <p:cNvSpPr/>
          <p:nvPr/>
        </p:nvSpPr>
        <p:spPr>
          <a:xfrm>
            <a:off x="438912" y="192024"/>
            <a:ext cx="59436" cy="621792"/>
          </a:xfrm>
          <a:prstGeom prst="roundRect">
            <a:avLst>
              <a:gd name="adj" fmla="val 46154"/>
            </a:avLst>
          </a:prstGeom>
          <a:solidFill>
            <a:srgbClr val="2563EB"/>
          </a:solidFill>
          <a:ln/>
        </p:spPr>
      </p:sp>
      <p:sp>
        <p:nvSpPr>
          <p:cNvPr id="4" name="Text 2"/>
          <p:cNvSpPr/>
          <p:nvPr/>
        </p:nvSpPr>
        <p:spPr>
          <a:xfrm>
            <a:off x="576072" y="173736"/>
            <a:ext cx="4389120" cy="146304"/>
          </a:xfrm>
          <a:prstGeom prst="rect">
            <a:avLst/>
          </a:prstGeom>
          <a:noFill/>
          <a:ln/>
        </p:spPr>
        <p:txBody>
          <a:bodyPr wrap="square" lIns="0" tIns="0" rIns="0" bIns="0" rtlCol="0" anchor="ctr"/>
          <a:lstStyle/>
          <a:p>
            <a:pPr algn="l" indent="0" marL="0">
              <a:lnSpc>
                <a:spcPct val="105000"/>
              </a:lnSpc>
              <a:buNone/>
            </a:pPr>
            <a:r>
              <a:rPr lang="en-US" sz="750" b="1" spc="110" kern="0" dirty="0">
                <a:solidFill>
                  <a:srgbClr val="2563EB"/>
                </a:solidFill>
                <a:latin typeface="Arial" pitchFamily="34" charset="0"/>
                <a:ea typeface="Arial" pitchFamily="34" charset="-122"/>
                <a:cs typeface="Arial" pitchFamily="34" charset="-120"/>
              </a:rPr>
              <a:t>07 / ROI &amp; ACTION PLAN</a:t>
            </a:r>
            <a:endParaRPr lang="en-US" sz="750" dirty="0"/>
          </a:p>
        </p:txBody>
      </p:sp>
      <p:sp>
        <p:nvSpPr>
          <p:cNvPr id="5" name="Shape 3"/>
          <p:cNvSpPr/>
          <p:nvPr/>
        </p:nvSpPr>
        <p:spPr>
          <a:xfrm>
            <a:off x="8183880" y="219456"/>
            <a:ext cx="228600" cy="59436"/>
          </a:xfrm>
          <a:prstGeom prst="roundRect">
            <a:avLst>
              <a:gd name="adj" fmla="val 46154"/>
            </a:avLst>
          </a:prstGeom>
          <a:solidFill>
            <a:srgbClr val="94A3B8"/>
          </a:solidFill>
          <a:ln/>
        </p:spPr>
      </p:sp>
      <p:sp>
        <p:nvSpPr>
          <p:cNvPr id="6" name="Shape 4"/>
          <p:cNvSpPr/>
          <p:nvPr/>
        </p:nvSpPr>
        <p:spPr>
          <a:xfrm>
            <a:off x="8453628" y="219456"/>
            <a:ext cx="228600" cy="59436"/>
          </a:xfrm>
          <a:prstGeom prst="roundRect">
            <a:avLst>
              <a:gd name="adj" fmla="val 46154"/>
            </a:avLst>
          </a:prstGeom>
          <a:solidFill>
            <a:srgbClr val="94A3B8"/>
          </a:solidFill>
          <a:ln/>
        </p:spPr>
      </p:sp>
      <p:sp>
        <p:nvSpPr>
          <p:cNvPr id="7" name="Shape 5"/>
          <p:cNvSpPr/>
          <p:nvPr/>
        </p:nvSpPr>
        <p:spPr>
          <a:xfrm>
            <a:off x="8723376" y="219456"/>
            <a:ext cx="228600" cy="59436"/>
          </a:xfrm>
          <a:prstGeom prst="roundRect">
            <a:avLst>
              <a:gd name="adj" fmla="val 46154"/>
            </a:avLst>
          </a:prstGeom>
          <a:solidFill>
            <a:srgbClr val="94A3B8"/>
          </a:solidFill>
          <a:ln/>
        </p:spPr>
      </p:sp>
      <p:sp>
        <p:nvSpPr>
          <p:cNvPr id="8" name="Shape 6"/>
          <p:cNvSpPr/>
          <p:nvPr/>
        </p:nvSpPr>
        <p:spPr>
          <a:xfrm>
            <a:off x="8993124" y="219456"/>
            <a:ext cx="228600" cy="59436"/>
          </a:xfrm>
          <a:prstGeom prst="roundRect">
            <a:avLst>
              <a:gd name="adj" fmla="val 46154"/>
            </a:avLst>
          </a:prstGeom>
          <a:solidFill>
            <a:srgbClr val="94A3B8"/>
          </a:solidFill>
          <a:ln/>
        </p:spPr>
      </p:sp>
      <p:sp>
        <p:nvSpPr>
          <p:cNvPr id="9" name="Shape 7"/>
          <p:cNvSpPr/>
          <p:nvPr/>
        </p:nvSpPr>
        <p:spPr>
          <a:xfrm>
            <a:off x="9262872" y="219456"/>
            <a:ext cx="228600" cy="59436"/>
          </a:xfrm>
          <a:prstGeom prst="roundRect">
            <a:avLst>
              <a:gd name="adj" fmla="val 46154"/>
            </a:avLst>
          </a:prstGeom>
          <a:solidFill>
            <a:srgbClr val="94A3B8"/>
          </a:solidFill>
          <a:ln/>
        </p:spPr>
      </p:sp>
      <p:sp>
        <p:nvSpPr>
          <p:cNvPr id="10" name="Shape 8"/>
          <p:cNvSpPr/>
          <p:nvPr/>
        </p:nvSpPr>
        <p:spPr>
          <a:xfrm>
            <a:off x="9532620" y="219456"/>
            <a:ext cx="228600" cy="59436"/>
          </a:xfrm>
          <a:prstGeom prst="roundRect">
            <a:avLst>
              <a:gd name="adj" fmla="val 46154"/>
            </a:avLst>
          </a:prstGeom>
          <a:solidFill>
            <a:srgbClr val="94A3B8"/>
          </a:solidFill>
          <a:ln/>
        </p:spPr>
      </p:sp>
      <p:sp>
        <p:nvSpPr>
          <p:cNvPr id="11" name="Shape 9"/>
          <p:cNvSpPr/>
          <p:nvPr/>
        </p:nvSpPr>
        <p:spPr>
          <a:xfrm>
            <a:off x="9802368" y="219456"/>
            <a:ext cx="228600" cy="59436"/>
          </a:xfrm>
          <a:prstGeom prst="roundRect">
            <a:avLst>
              <a:gd name="adj" fmla="val 46154"/>
            </a:avLst>
          </a:prstGeom>
          <a:solidFill>
            <a:srgbClr val="2563EB"/>
          </a:solidFill>
          <a:ln/>
        </p:spPr>
      </p:sp>
      <p:sp>
        <p:nvSpPr>
          <p:cNvPr id="12" name="Shape 10"/>
          <p:cNvSpPr/>
          <p:nvPr/>
        </p:nvSpPr>
        <p:spPr>
          <a:xfrm>
            <a:off x="10131552" y="146304"/>
            <a:ext cx="1621231" cy="192024"/>
          </a:xfrm>
          <a:prstGeom prst="roundRect">
            <a:avLst>
              <a:gd name="adj" fmla="val 23810"/>
            </a:avLst>
          </a:prstGeom>
          <a:solidFill>
            <a:srgbClr val="FFFFFF"/>
          </a:solidFill>
          <a:ln w="9525">
            <a:solidFill>
              <a:srgbClr val="CBD5E1"/>
            </a:solidFill>
            <a:prstDash val="solid"/>
          </a:ln>
        </p:spPr>
      </p:sp>
      <p:sp>
        <p:nvSpPr>
          <p:cNvPr id="13" name="Text 11"/>
          <p:cNvSpPr/>
          <p:nvPr/>
        </p:nvSpPr>
        <p:spPr>
          <a:xfrm>
            <a:off x="10131552" y="146304"/>
            <a:ext cx="1621231" cy="192024"/>
          </a:xfrm>
          <a:prstGeom prst="rect">
            <a:avLst/>
          </a:prstGeom>
          <a:noFill/>
          <a:ln/>
        </p:spPr>
        <p:txBody>
          <a:bodyPr wrap="square" lIns="0" tIns="0" rIns="0" bIns="0" rtlCol="0" anchor="ctr"/>
          <a:lstStyle/>
          <a:p>
            <a:pPr algn="ctr" indent="0" marL="0">
              <a:lnSpc>
                <a:spcPct val="105000"/>
              </a:lnSpc>
              <a:buNone/>
            </a:pPr>
            <a:r>
              <a:rPr lang="en-US" sz="680" b="1" spc="60" kern="0" dirty="0">
                <a:solidFill>
                  <a:srgbClr val="2563EB"/>
                </a:solidFill>
                <a:latin typeface="Arial" pitchFamily="34" charset="0"/>
                <a:ea typeface="Arial" pitchFamily="34" charset="-122"/>
                <a:cs typeface="Arial" pitchFamily="34" charset="-120"/>
              </a:rPr>
              <a:t>EXECUTIVE ROI &amp; VALUE</a:t>
            </a:r>
            <a:endParaRPr lang="en-US" sz="680" dirty="0"/>
          </a:p>
        </p:txBody>
      </p:sp>
      <p:sp>
        <p:nvSpPr>
          <p:cNvPr id="14" name="Text 12"/>
          <p:cNvSpPr/>
          <p:nvPr/>
        </p:nvSpPr>
        <p:spPr>
          <a:xfrm>
            <a:off x="576072" y="338328"/>
            <a:ext cx="11176711" cy="310896"/>
          </a:xfrm>
          <a:prstGeom prst="rect">
            <a:avLst/>
          </a:prstGeom>
          <a:noFill/>
          <a:ln/>
        </p:spPr>
        <p:txBody>
          <a:bodyPr wrap="square" lIns="0" tIns="0" rIns="0" bIns="0" rtlCol="0" anchor="ctr"/>
          <a:lstStyle/>
          <a:p>
            <a:pPr algn="l" indent="0" marL="0">
              <a:lnSpc>
                <a:spcPct val="104000"/>
              </a:lnSpc>
              <a:buNone/>
            </a:pPr>
            <a:r>
              <a:rPr lang="en-US" sz="1750" b="1" dirty="0">
                <a:solidFill>
                  <a:srgbClr val="0F172A"/>
                </a:solidFill>
                <a:latin typeface="Arial" pitchFamily="34" charset="0"/>
                <a:ea typeface="Arial" pitchFamily="34" charset="-122"/>
                <a:cs typeface="Arial" pitchFamily="34" charset="-120"/>
              </a:rPr>
              <a:t>Quantified Benefits: 84.7% Token Savings, ~74% Lower TCO &amp; Bank-Grade Compliance</a:t>
            </a:r>
            <a:endParaRPr lang="en-US" sz="1750" dirty="0"/>
          </a:p>
        </p:txBody>
      </p:sp>
      <p:sp>
        <p:nvSpPr>
          <p:cNvPr id="15" name="Text 13"/>
          <p:cNvSpPr/>
          <p:nvPr/>
        </p:nvSpPr>
        <p:spPr>
          <a:xfrm>
            <a:off x="576072" y="658368"/>
            <a:ext cx="11176711" cy="192024"/>
          </a:xfrm>
          <a:prstGeom prst="rect">
            <a:avLst/>
          </a:prstGeom>
          <a:noFill/>
          <a:ln/>
        </p:spPr>
        <p:txBody>
          <a:bodyPr wrap="square" lIns="0" tIns="0" rIns="0" bIns="0" rtlCol="0" anchor="ctr"/>
          <a:lstStyle/>
          <a:p>
            <a:pPr algn="l" indent="0" marL="0">
              <a:lnSpc>
                <a:spcPct val="104000"/>
              </a:lnSpc>
              <a:buNone/>
            </a:pPr>
            <a:r>
              <a:rPr lang="en-US" sz="900" dirty="0">
                <a:solidFill>
                  <a:srgbClr val="64748B"/>
                </a:solidFill>
                <a:latin typeface="Arial" pitchFamily="34" charset="0"/>
                <a:ea typeface="Arial" pitchFamily="34" charset="-122"/>
                <a:cs typeface="Arial" pitchFamily="34" charset="-120"/>
              </a:rPr>
              <a:t>Measured business, financial, and operational outcomes unlocked by adopting the tiered Pattern A + B + C architecture on a single codebase.</a:t>
            </a:r>
            <a:endParaRPr lang="en-US" sz="900" dirty="0"/>
          </a:p>
        </p:txBody>
      </p:sp>
      <p:sp>
        <p:nvSpPr>
          <p:cNvPr id="16" name="Shape 14"/>
          <p:cNvSpPr/>
          <p:nvPr/>
        </p:nvSpPr>
        <p:spPr>
          <a:xfrm>
            <a:off x="438912" y="914400"/>
            <a:ext cx="11313871" cy="0"/>
          </a:xfrm>
          <a:prstGeom prst="line">
            <a:avLst/>
          </a:prstGeom>
          <a:noFill/>
          <a:ln w="10795">
            <a:solidFill>
              <a:srgbClr val="E2E8F0"/>
            </a:solidFill>
            <a:prstDash val="solid"/>
          </a:ln>
        </p:spPr>
      </p:sp>
      <p:sp>
        <p:nvSpPr>
          <p:cNvPr id="17" name="Shape 15"/>
          <p:cNvSpPr/>
          <p:nvPr/>
        </p:nvSpPr>
        <p:spPr>
          <a:xfrm>
            <a:off x="438912" y="6455664"/>
            <a:ext cx="11313871" cy="0"/>
          </a:xfrm>
          <a:prstGeom prst="line">
            <a:avLst/>
          </a:prstGeom>
          <a:noFill/>
          <a:ln w="9525">
            <a:solidFill>
              <a:srgbClr val="E2E8F0"/>
            </a:solidFill>
            <a:prstDash val="solid"/>
          </a:ln>
        </p:spPr>
      </p:sp>
      <p:sp>
        <p:nvSpPr>
          <p:cNvPr id="18" name="Text 16"/>
          <p:cNvSpPr/>
          <p:nvPr/>
        </p:nvSpPr>
        <p:spPr>
          <a:xfrm>
            <a:off x="438912" y="6501384"/>
            <a:ext cx="5852160" cy="192024"/>
          </a:xfrm>
          <a:prstGeom prst="rect">
            <a:avLst/>
          </a:prstGeom>
          <a:noFill/>
          <a:ln/>
        </p:spPr>
        <p:txBody>
          <a:bodyPr wrap="square" lIns="0" tIns="0" rIns="0" bIns="0" rtlCol="0" anchor="ctr"/>
          <a:lstStyle/>
          <a:p>
            <a:pPr algn="l" indent="0" marL="0">
              <a:lnSpc>
                <a:spcPct val="105000"/>
              </a:lnSpc>
              <a:buNone/>
            </a:pPr>
            <a:r>
              <a:rPr lang="en-US" sz="680" b="1" spc="40" kern="0" dirty="0">
                <a:solidFill>
                  <a:srgbClr val="64748B"/>
                </a:solidFill>
                <a:latin typeface="Arial" pitchFamily="34" charset="0"/>
                <a:ea typeface="Arial" pitchFamily="34" charset="-122"/>
                <a:cs typeface="Arial" pitchFamily="34" charset="-120"/>
              </a:rPr>
              <a:t>GOOGLE CLOUD AI ARCHITECTURE  •  BLOG 1: MULTI-TENANT AGENTIC AI TAXONOMY &amp; 5-HOP BASELINE</a:t>
            </a:r>
            <a:endParaRPr lang="en-US" sz="680" dirty="0"/>
          </a:p>
        </p:txBody>
      </p:sp>
      <p:sp>
        <p:nvSpPr>
          <p:cNvPr id="19" name="Text 17"/>
          <p:cNvSpPr/>
          <p:nvPr/>
        </p:nvSpPr>
        <p:spPr>
          <a:xfrm>
            <a:off x="6355080" y="6501384"/>
            <a:ext cx="4206240" cy="192024"/>
          </a:xfrm>
          <a:prstGeom prst="rect">
            <a:avLst/>
          </a:prstGeom>
          <a:noFill/>
          <a:ln/>
        </p:spPr>
        <p:txBody>
          <a:bodyPr wrap="square" lIns="0" tIns="0" rIns="0" bIns="0" rtlCol="0" anchor="ctr"/>
          <a:lstStyle/>
          <a:p>
            <a:pPr algn="r" indent="0" marL="0">
              <a:lnSpc>
                <a:spcPct val="105000"/>
              </a:lnSpc>
              <a:buNone/>
            </a:pPr>
            <a:r>
              <a:rPr lang="en-US" sz="680" dirty="0">
                <a:solidFill>
                  <a:srgbClr val="64748B"/>
                </a:solidFill>
                <a:latin typeface="Arial" pitchFamily="34" charset="0"/>
                <a:ea typeface="Arial" pitchFamily="34" charset="-122"/>
                <a:cs typeface="Arial" pitchFamily="34" charset="-120"/>
              </a:rPr>
              <a:t>Executive Business Case  •  Unit Economics &amp; Stakeholder Outcomes</a:t>
            </a:r>
            <a:endParaRPr lang="en-US" sz="680" dirty="0"/>
          </a:p>
        </p:txBody>
      </p:sp>
      <p:sp>
        <p:nvSpPr>
          <p:cNvPr id="20" name="Shape 18"/>
          <p:cNvSpPr/>
          <p:nvPr/>
        </p:nvSpPr>
        <p:spPr>
          <a:xfrm>
            <a:off x="11002975" y="6501384"/>
            <a:ext cx="749808" cy="192024"/>
          </a:xfrm>
          <a:prstGeom prst="roundRect">
            <a:avLst>
              <a:gd name="adj" fmla="val 19048"/>
            </a:avLst>
          </a:prstGeom>
          <a:solidFill>
            <a:srgbClr val="F1F5F9"/>
          </a:solidFill>
          <a:ln w="7620">
            <a:solidFill>
              <a:srgbClr val="E2E8F0"/>
            </a:solidFill>
            <a:prstDash val="solid"/>
          </a:ln>
        </p:spPr>
      </p:sp>
      <p:sp>
        <p:nvSpPr>
          <p:cNvPr id="21" name="Text 19"/>
          <p:cNvSpPr/>
          <p:nvPr/>
        </p:nvSpPr>
        <p:spPr>
          <a:xfrm>
            <a:off x="11002975" y="6501384"/>
            <a:ext cx="749808" cy="192024"/>
          </a:xfrm>
          <a:prstGeom prst="rect">
            <a:avLst/>
          </a:prstGeom>
          <a:noFill/>
          <a:ln/>
        </p:spPr>
        <p:txBody>
          <a:bodyPr wrap="square" lIns="0" tIns="0" rIns="0" bIns="0" rtlCol="0" anchor="ctr"/>
          <a:lstStyle/>
          <a:p>
            <a:pPr algn="ctr" indent="0" marL="0">
              <a:lnSpc>
                <a:spcPct val="105000"/>
              </a:lnSpc>
              <a:buNone/>
            </a:pPr>
            <a:r>
              <a:rPr lang="en-US" sz="700" b="1" dirty="0">
                <a:solidFill>
                  <a:srgbClr val="334155"/>
                </a:solidFill>
                <a:latin typeface="Arial" pitchFamily="34" charset="0"/>
                <a:ea typeface="Arial" pitchFamily="34" charset="-122"/>
                <a:cs typeface="Arial" pitchFamily="34" charset="-120"/>
              </a:rPr>
              <a:t>22 / 23</a:t>
            </a:r>
            <a:endParaRPr lang="en-US" sz="700" dirty="0"/>
          </a:p>
        </p:txBody>
      </p:sp>
      <p:sp>
        <p:nvSpPr>
          <p:cNvPr id="22" name="Shape 20"/>
          <p:cNvSpPr/>
          <p:nvPr/>
        </p:nvSpPr>
        <p:spPr>
          <a:xfrm>
            <a:off x="461772" y="1068019"/>
            <a:ext cx="2691079" cy="1207008"/>
          </a:xfrm>
          <a:prstGeom prst="roundRect">
            <a:avLst>
              <a:gd name="adj" fmla="val 5303"/>
            </a:avLst>
          </a:prstGeom>
          <a:solidFill>
            <a:srgbClr val="E2E8F0"/>
          </a:solidFill>
          <a:ln/>
        </p:spPr>
      </p:sp>
      <p:sp>
        <p:nvSpPr>
          <p:cNvPr id="23" name="Shape 21"/>
          <p:cNvSpPr/>
          <p:nvPr/>
        </p:nvSpPr>
        <p:spPr>
          <a:xfrm>
            <a:off x="438912" y="1042416"/>
            <a:ext cx="2691079" cy="1207008"/>
          </a:xfrm>
          <a:prstGeom prst="roundRect">
            <a:avLst>
              <a:gd name="adj" fmla="val 5303"/>
            </a:avLst>
          </a:prstGeom>
          <a:solidFill>
            <a:srgbClr val="FFFFFF"/>
          </a:solidFill>
          <a:ln w="10795">
            <a:solidFill>
              <a:srgbClr val="CBD5E1"/>
            </a:solidFill>
            <a:prstDash val="solid"/>
          </a:ln>
        </p:spPr>
      </p:sp>
      <p:sp>
        <p:nvSpPr>
          <p:cNvPr id="24" name="Shape 22"/>
          <p:cNvSpPr/>
          <p:nvPr/>
        </p:nvSpPr>
        <p:spPr>
          <a:xfrm>
            <a:off x="438912" y="1042416"/>
            <a:ext cx="2691079" cy="50292"/>
          </a:xfrm>
          <a:prstGeom prst="roundRect">
            <a:avLst>
              <a:gd name="adj" fmla="val 36364"/>
            </a:avLst>
          </a:prstGeom>
          <a:solidFill>
            <a:srgbClr val="047857"/>
          </a:solidFill>
          <a:ln/>
        </p:spPr>
      </p:sp>
      <p:sp>
        <p:nvSpPr>
          <p:cNvPr id="25" name="Text 23"/>
          <p:cNvSpPr/>
          <p:nvPr/>
        </p:nvSpPr>
        <p:spPr>
          <a:xfrm>
            <a:off x="585216" y="1152144"/>
            <a:ext cx="2398471" cy="402336"/>
          </a:xfrm>
          <a:prstGeom prst="rect">
            <a:avLst/>
          </a:prstGeom>
          <a:noFill/>
          <a:ln/>
        </p:spPr>
        <p:txBody>
          <a:bodyPr wrap="square" lIns="0" tIns="0" rIns="0" bIns="0" rtlCol="0" anchor="ctr"/>
          <a:lstStyle/>
          <a:p>
            <a:pPr indent="0" marL="0">
              <a:lnSpc>
                <a:spcPct val="105000"/>
              </a:lnSpc>
              <a:buNone/>
            </a:pPr>
            <a:r>
              <a:rPr lang="en-US" sz="2100" b="1" dirty="0">
                <a:solidFill>
                  <a:srgbClr val="047857"/>
                </a:solidFill>
                <a:latin typeface="Arial" pitchFamily="34" charset="0"/>
                <a:ea typeface="Arial" pitchFamily="34" charset="-122"/>
                <a:cs typeface="Arial" pitchFamily="34" charset="-120"/>
              </a:rPr>
              <a:t>84.7%</a:t>
            </a:r>
            <a:endParaRPr lang="en-US" sz="2100" dirty="0"/>
          </a:p>
        </p:txBody>
      </p:sp>
      <p:sp>
        <p:nvSpPr>
          <p:cNvPr id="26" name="Text 24"/>
          <p:cNvSpPr/>
          <p:nvPr/>
        </p:nvSpPr>
        <p:spPr>
          <a:xfrm>
            <a:off x="585216" y="1572768"/>
            <a:ext cx="2398471" cy="201168"/>
          </a:xfrm>
          <a:prstGeom prst="rect">
            <a:avLst/>
          </a:prstGeom>
          <a:noFill/>
          <a:ln/>
        </p:spPr>
        <p:txBody>
          <a:bodyPr wrap="square" lIns="0" tIns="0" rIns="0" bIns="0" rtlCol="0" anchor="ctr"/>
          <a:lstStyle/>
          <a:p>
            <a:pPr indent="0" marL="0">
              <a:lnSpc>
                <a:spcPct val="105000"/>
              </a:lnSpc>
              <a:buNone/>
            </a:pPr>
            <a:r>
              <a:rPr lang="en-US" sz="850" b="1" dirty="0">
                <a:solidFill>
                  <a:srgbClr val="0F172A"/>
                </a:solidFill>
                <a:latin typeface="Arial" pitchFamily="34" charset="0"/>
                <a:ea typeface="Arial" pitchFamily="34" charset="-122"/>
                <a:cs typeface="Arial" pitchFamily="34" charset="-120"/>
              </a:rPr>
              <a:t>Lower Net Token Cost / Turn</a:t>
            </a:r>
            <a:endParaRPr lang="en-US" sz="850" dirty="0"/>
          </a:p>
        </p:txBody>
      </p:sp>
      <p:sp>
        <p:nvSpPr>
          <p:cNvPr id="27" name="Text 25"/>
          <p:cNvSpPr/>
          <p:nvPr/>
        </p:nvSpPr>
        <p:spPr>
          <a:xfrm>
            <a:off x="585216" y="1792224"/>
            <a:ext cx="2398471" cy="365760"/>
          </a:xfrm>
          <a:prstGeom prst="rect">
            <a:avLst/>
          </a:prstGeom>
          <a:noFill/>
          <a:ln/>
        </p:spPr>
        <p:txBody>
          <a:bodyPr wrap="square" lIns="0" tIns="0" rIns="0" bIns="0" rtlCol="0" anchor="ctr"/>
          <a:lstStyle/>
          <a:p>
            <a:pPr indent="0" marL="0">
              <a:lnSpc>
                <a:spcPct val="108000"/>
              </a:lnSpc>
              <a:buNone/>
            </a:pPr>
            <a:r>
              <a:rPr lang="en-US" sz="710" dirty="0">
                <a:solidFill>
                  <a:srgbClr val="64748B"/>
                </a:solidFill>
                <a:latin typeface="Arial" pitchFamily="34" charset="0"/>
                <a:ea typeface="Arial" pitchFamily="34" charset="-122"/>
                <a:cs typeface="Arial" pitchFamily="34" charset="-120"/>
              </a:rPr>
              <a:t>90% Gemini 2.5 Pro 32k prefix cache reuse across pooled Pattern A turns</a:t>
            </a:r>
            <a:endParaRPr lang="en-US" sz="710" dirty="0"/>
          </a:p>
        </p:txBody>
      </p:sp>
      <p:sp>
        <p:nvSpPr>
          <p:cNvPr id="28" name="Shape 26"/>
          <p:cNvSpPr/>
          <p:nvPr/>
        </p:nvSpPr>
        <p:spPr>
          <a:xfrm>
            <a:off x="3335731" y="1068019"/>
            <a:ext cx="2691079" cy="1207008"/>
          </a:xfrm>
          <a:prstGeom prst="roundRect">
            <a:avLst>
              <a:gd name="adj" fmla="val 5303"/>
            </a:avLst>
          </a:prstGeom>
          <a:solidFill>
            <a:srgbClr val="E2E8F0"/>
          </a:solidFill>
          <a:ln/>
        </p:spPr>
      </p:sp>
      <p:sp>
        <p:nvSpPr>
          <p:cNvPr id="29" name="Shape 27"/>
          <p:cNvSpPr/>
          <p:nvPr/>
        </p:nvSpPr>
        <p:spPr>
          <a:xfrm>
            <a:off x="3312871" y="1042416"/>
            <a:ext cx="2691079" cy="1207008"/>
          </a:xfrm>
          <a:prstGeom prst="roundRect">
            <a:avLst>
              <a:gd name="adj" fmla="val 5303"/>
            </a:avLst>
          </a:prstGeom>
          <a:solidFill>
            <a:srgbClr val="FFFFFF"/>
          </a:solidFill>
          <a:ln w="10795">
            <a:solidFill>
              <a:srgbClr val="CBD5E1"/>
            </a:solidFill>
            <a:prstDash val="solid"/>
          </a:ln>
        </p:spPr>
      </p:sp>
      <p:sp>
        <p:nvSpPr>
          <p:cNvPr id="30" name="Shape 28"/>
          <p:cNvSpPr/>
          <p:nvPr/>
        </p:nvSpPr>
        <p:spPr>
          <a:xfrm>
            <a:off x="3312871" y="1042416"/>
            <a:ext cx="2691079" cy="50292"/>
          </a:xfrm>
          <a:prstGeom prst="roundRect">
            <a:avLst>
              <a:gd name="adj" fmla="val 36364"/>
            </a:avLst>
          </a:prstGeom>
          <a:solidFill>
            <a:srgbClr val="1D4ED8"/>
          </a:solidFill>
          <a:ln/>
        </p:spPr>
      </p:sp>
      <p:sp>
        <p:nvSpPr>
          <p:cNvPr id="31" name="Text 29"/>
          <p:cNvSpPr/>
          <p:nvPr/>
        </p:nvSpPr>
        <p:spPr>
          <a:xfrm>
            <a:off x="3459175" y="1152144"/>
            <a:ext cx="2398471" cy="402336"/>
          </a:xfrm>
          <a:prstGeom prst="rect">
            <a:avLst/>
          </a:prstGeom>
          <a:noFill/>
          <a:ln/>
        </p:spPr>
        <p:txBody>
          <a:bodyPr wrap="square" lIns="0" tIns="0" rIns="0" bIns="0" rtlCol="0" anchor="ctr"/>
          <a:lstStyle/>
          <a:p>
            <a:pPr indent="0" marL="0">
              <a:lnSpc>
                <a:spcPct val="105000"/>
              </a:lnSpc>
              <a:buNone/>
            </a:pPr>
            <a:r>
              <a:rPr lang="en-US" sz="2100" b="1" dirty="0">
                <a:solidFill>
                  <a:srgbClr val="1D4ED8"/>
                </a:solidFill>
                <a:latin typeface="Arial" pitchFamily="34" charset="0"/>
                <a:ea typeface="Arial" pitchFamily="34" charset="-122"/>
                <a:cs typeface="Arial" pitchFamily="34" charset="-120"/>
              </a:rPr>
              <a:t>~74%</a:t>
            </a:r>
            <a:endParaRPr lang="en-US" sz="2100" dirty="0"/>
          </a:p>
        </p:txBody>
      </p:sp>
      <p:sp>
        <p:nvSpPr>
          <p:cNvPr id="32" name="Text 30"/>
          <p:cNvSpPr/>
          <p:nvPr/>
        </p:nvSpPr>
        <p:spPr>
          <a:xfrm>
            <a:off x="3459175" y="1572768"/>
            <a:ext cx="2398471" cy="201168"/>
          </a:xfrm>
          <a:prstGeom prst="rect">
            <a:avLst/>
          </a:prstGeom>
          <a:noFill/>
          <a:ln/>
        </p:spPr>
        <p:txBody>
          <a:bodyPr wrap="square" lIns="0" tIns="0" rIns="0" bIns="0" rtlCol="0" anchor="ctr"/>
          <a:lstStyle/>
          <a:p>
            <a:pPr indent="0" marL="0">
              <a:lnSpc>
                <a:spcPct val="105000"/>
              </a:lnSpc>
              <a:buNone/>
            </a:pPr>
            <a:r>
              <a:rPr lang="en-US" sz="850" b="1" dirty="0">
                <a:solidFill>
                  <a:srgbClr val="0F172A"/>
                </a:solidFill>
                <a:latin typeface="Arial" pitchFamily="34" charset="0"/>
                <a:ea typeface="Arial" pitchFamily="34" charset="-122"/>
                <a:cs typeface="Arial" pitchFamily="34" charset="-120"/>
              </a:rPr>
              <a:t>Lower 1,000-Tenant Infra TCO</a:t>
            </a:r>
            <a:endParaRPr lang="en-US" sz="850" dirty="0"/>
          </a:p>
        </p:txBody>
      </p:sp>
      <p:sp>
        <p:nvSpPr>
          <p:cNvPr id="33" name="Text 31"/>
          <p:cNvSpPr/>
          <p:nvPr/>
        </p:nvSpPr>
        <p:spPr>
          <a:xfrm>
            <a:off x="3459175" y="1792224"/>
            <a:ext cx="2398471" cy="365760"/>
          </a:xfrm>
          <a:prstGeom prst="rect">
            <a:avLst/>
          </a:prstGeom>
          <a:noFill/>
          <a:ln/>
        </p:spPr>
        <p:txBody>
          <a:bodyPr wrap="square" lIns="0" tIns="0" rIns="0" bIns="0" rtlCol="0" anchor="ctr"/>
          <a:lstStyle/>
          <a:p>
            <a:pPr indent="0" marL="0">
              <a:lnSpc>
                <a:spcPct val="108000"/>
              </a:lnSpc>
              <a:buNone/>
            </a:pPr>
            <a:r>
              <a:rPr lang="en-US" sz="710" dirty="0">
                <a:solidFill>
                  <a:srgbClr val="64748B"/>
                </a:solidFill>
                <a:latin typeface="Arial" pitchFamily="34" charset="0"/>
                <a:ea typeface="Arial" pitchFamily="34" charset="-122"/>
                <a:cs typeface="Arial" pitchFamily="34" charset="-120"/>
              </a:rPr>
              <a:t>1.04x tiered portfolio run-rate vs. 4.0x dedicated project sprawl</a:t>
            </a:r>
            <a:endParaRPr lang="en-US" sz="710" dirty="0"/>
          </a:p>
        </p:txBody>
      </p:sp>
      <p:sp>
        <p:nvSpPr>
          <p:cNvPr id="34" name="Shape 32"/>
          <p:cNvSpPr/>
          <p:nvPr/>
        </p:nvSpPr>
        <p:spPr>
          <a:xfrm>
            <a:off x="6209690" y="1068019"/>
            <a:ext cx="2691079" cy="1207008"/>
          </a:xfrm>
          <a:prstGeom prst="roundRect">
            <a:avLst>
              <a:gd name="adj" fmla="val 5303"/>
            </a:avLst>
          </a:prstGeom>
          <a:solidFill>
            <a:srgbClr val="E2E8F0"/>
          </a:solidFill>
          <a:ln/>
        </p:spPr>
      </p:sp>
      <p:sp>
        <p:nvSpPr>
          <p:cNvPr id="35" name="Shape 33"/>
          <p:cNvSpPr/>
          <p:nvPr/>
        </p:nvSpPr>
        <p:spPr>
          <a:xfrm>
            <a:off x="6186830" y="1042416"/>
            <a:ext cx="2691079" cy="1207008"/>
          </a:xfrm>
          <a:prstGeom prst="roundRect">
            <a:avLst>
              <a:gd name="adj" fmla="val 5303"/>
            </a:avLst>
          </a:prstGeom>
          <a:solidFill>
            <a:srgbClr val="FFFFFF"/>
          </a:solidFill>
          <a:ln w="10795">
            <a:solidFill>
              <a:srgbClr val="CBD5E1"/>
            </a:solidFill>
            <a:prstDash val="solid"/>
          </a:ln>
        </p:spPr>
      </p:sp>
      <p:sp>
        <p:nvSpPr>
          <p:cNvPr id="36" name="Shape 34"/>
          <p:cNvSpPr/>
          <p:nvPr/>
        </p:nvSpPr>
        <p:spPr>
          <a:xfrm>
            <a:off x="6186830" y="1042416"/>
            <a:ext cx="2691079" cy="50292"/>
          </a:xfrm>
          <a:prstGeom prst="roundRect">
            <a:avLst>
              <a:gd name="adj" fmla="val 36364"/>
            </a:avLst>
          </a:prstGeom>
          <a:solidFill>
            <a:srgbClr val="0F766E"/>
          </a:solidFill>
          <a:ln/>
        </p:spPr>
      </p:sp>
      <p:sp>
        <p:nvSpPr>
          <p:cNvPr id="37" name="Text 35"/>
          <p:cNvSpPr/>
          <p:nvPr/>
        </p:nvSpPr>
        <p:spPr>
          <a:xfrm>
            <a:off x="6333134" y="1152144"/>
            <a:ext cx="2398471" cy="402336"/>
          </a:xfrm>
          <a:prstGeom prst="rect">
            <a:avLst/>
          </a:prstGeom>
          <a:noFill/>
          <a:ln/>
        </p:spPr>
        <p:txBody>
          <a:bodyPr wrap="square" lIns="0" tIns="0" rIns="0" bIns="0" rtlCol="0" anchor="ctr"/>
          <a:lstStyle/>
          <a:p>
            <a:pPr indent="0" marL="0">
              <a:lnSpc>
                <a:spcPct val="105000"/>
              </a:lnSpc>
              <a:buNone/>
            </a:pPr>
            <a:r>
              <a:rPr lang="en-US" sz="2100" b="1" dirty="0">
                <a:solidFill>
                  <a:srgbClr val="0F766E"/>
                </a:solidFill>
                <a:latin typeface="Arial" pitchFamily="34" charset="0"/>
                <a:ea typeface="Arial" pitchFamily="34" charset="-122"/>
                <a:cs typeface="Arial" pitchFamily="34" charset="-120"/>
              </a:rPr>
              <a:t>~420ms</a:t>
            </a:r>
            <a:endParaRPr lang="en-US" sz="2100" dirty="0"/>
          </a:p>
        </p:txBody>
      </p:sp>
      <p:sp>
        <p:nvSpPr>
          <p:cNvPr id="38" name="Text 36"/>
          <p:cNvSpPr/>
          <p:nvPr/>
        </p:nvSpPr>
        <p:spPr>
          <a:xfrm>
            <a:off x="6333134" y="1572768"/>
            <a:ext cx="2398471" cy="201168"/>
          </a:xfrm>
          <a:prstGeom prst="rect">
            <a:avLst/>
          </a:prstGeom>
          <a:noFill/>
          <a:ln/>
        </p:spPr>
        <p:txBody>
          <a:bodyPr wrap="square" lIns="0" tIns="0" rIns="0" bIns="0" rtlCol="0" anchor="ctr"/>
          <a:lstStyle/>
          <a:p>
            <a:pPr indent="0" marL="0">
              <a:lnSpc>
                <a:spcPct val="105000"/>
              </a:lnSpc>
              <a:buNone/>
            </a:pPr>
            <a:r>
              <a:rPr lang="en-US" sz="850" b="1" dirty="0">
                <a:solidFill>
                  <a:srgbClr val="0F172A"/>
                </a:solidFill>
                <a:latin typeface="Arial" pitchFamily="34" charset="0"/>
                <a:ea typeface="Arial" pitchFamily="34" charset="-122"/>
                <a:cs typeface="Arial" pitchFamily="34" charset="-120"/>
              </a:rPr>
              <a:t>Warm Pooled TTFT (p95)</a:t>
            </a:r>
            <a:endParaRPr lang="en-US" sz="850" dirty="0"/>
          </a:p>
        </p:txBody>
      </p:sp>
      <p:sp>
        <p:nvSpPr>
          <p:cNvPr id="39" name="Text 37"/>
          <p:cNvSpPr/>
          <p:nvPr/>
        </p:nvSpPr>
        <p:spPr>
          <a:xfrm>
            <a:off x="6333134" y="1792224"/>
            <a:ext cx="2398471" cy="365760"/>
          </a:xfrm>
          <a:prstGeom prst="rect">
            <a:avLst/>
          </a:prstGeom>
          <a:noFill/>
          <a:ln/>
        </p:spPr>
        <p:txBody>
          <a:bodyPr wrap="square" lIns="0" tIns="0" rIns="0" bIns="0" rtlCol="0" anchor="ctr"/>
          <a:lstStyle/>
          <a:p>
            <a:pPr indent="0" marL="0">
              <a:lnSpc>
                <a:spcPct val="108000"/>
              </a:lnSpc>
              <a:buNone/>
            </a:pPr>
            <a:r>
              <a:rPr lang="en-US" sz="710" dirty="0">
                <a:solidFill>
                  <a:srgbClr val="64748B"/>
                </a:solidFill>
                <a:latin typeface="Arial" pitchFamily="34" charset="0"/>
                <a:ea typeface="Arial" pitchFamily="34" charset="-122"/>
                <a:cs typeface="Arial" pitchFamily="34" charset="-120"/>
              </a:rPr>
              <a:t>Includes ~42ms full 5-Hop governance; 0ms hot-path chargeback penalty</a:t>
            </a:r>
            <a:endParaRPr lang="en-US" sz="710" dirty="0"/>
          </a:p>
        </p:txBody>
      </p:sp>
      <p:sp>
        <p:nvSpPr>
          <p:cNvPr id="40" name="Shape 38"/>
          <p:cNvSpPr/>
          <p:nvPr/>
        </p:nvSpPr>
        <p:spPr>
          <a:xfrm>
            <a:off x="9083650" y="1068019"/>
            <a:ext cx="2691079" cy="1207008"/>
          </a:xfrm>
          <a:prstGeom prst="roundRect">
            <a:avLst>
              <a:gd name="adj" fmla="val 5303"/>
            </a:avLst>
          </a:prstGeom>
          <a:solidFill>
            <a:srgbClr val="E2E8F0"/>
          </a:solidFill>
          <a:ln/>
        </p:spPr>
      </p:sp>
      <p:sp>
        <p:nvSpPr>
          <p:cNvPr id="41" name="Shape 39"/>
          <p:cNvSpPr/>
          <p:nvPr/>
        </p:nvSpPr>
        <p:spPr>
          <a:xfrm>
            <a:off x="9060790" y="1042416"/>
            <a:ext cx="2691079" cy="1207008"/>
          </a:xfrm>
          <a:prstGeom prst="roundRect">
            <a:avLst>
              <a:gd name="adj" fmla="val 5303"/>
            </a:avLst>
          </a:prstGeom>
          <a:solidFill>
            <a:srgbClr val="FFFFFF"/>
          </a:solidFill>
          <a:ln w="10795">
            <a:solidFill>
              <a:srgbClr val="CBD5E1"/>
            </a:solidFill>
            <a:prstDash val="solid"/>
          </a:ln>
        </p:spPr>
      </p:sp>
      <p:sp>
        <p:nvSpPr>
          <p:cNvPr id="42" name="Shape 40"/>
          <p:cNvSpPr/>
          <p:nvPr/>
        </p:nvSpPr>
        <p:spPr>
          <a:xfrm>
            <a:off x="9060790" y="1042416"/>
            <a:ext cx="2691079" cy="50292"/>
          </a:xfrm>
          <a:prstGeom prst="roundRect">
            <a:avLst>
              <a:gd name="adj" fmla="val 36364"/>
            </a:avLst>
          </a:prstGeom>
          <a:solidFill>
            <a:srgbClr val="4338CA"/>
          </a:solidFill>
          <a:ln/>
        </p:spPr>
      </p:sp>
      <p:sp>
        <p:nvSpPr>
          <p:cNvPr id="43" name="Text 41"/>
          <p:cNvSpPr/>
          <p:nvPr/>
        </p:nvSpPr>
        <p:spPr>
          <a:xfrm>
            <a:off x="9207094" y="1152144"/>
            <a:ext cx="2398471" cy="402336"/>
          </a:xfrm>
          <a:prstGeom prst="rect">
            <a:avLst/>
          </a:prstGeom>
          <a:noFill/>
          <a:ln/>
        </p:spPr>
        <p:txBody>
          <a:bodyPr wrap="square" lIns="0" tIns="0" rIns="0" bIns="0" rtlCol="0" anchor="ctr"/>
          <a:lstStyle/>
          <a:p>
            <a:pPr indent="0" marL="0">
              <a:lnSpc>
                <a:spcPct val="105000"/>
              </a:lnSpc>
              <a:buNone/>
            </a:pPr>
            <a:r>
              <a:rPr lang="en-US" sz="2100" b="1" dirty="0">
                <a:solidFill>
                  <a:srgbClr val="4338CA"/>
                </a:solidFill>
                <a:latin typeface="Arial" pitchFamily="34" charset="0"/>
                <a:ea typeface="Arial" pitchFamily="34" charset="-122"/>
                <a:cs typeface="Arial" pitchFamily="34" charset="-120"/>
              </a:rPr>
              <a:t>1 Codebase</a:t>
            </a:r>
            <a:endParaRPr lang="en-US" sz="2100" dirty="0"/>
          </a:p>
        </p:txBody>
      </p:sp>
      <p:sp>
        <p:nvSpPr>
          <p:cNvPr id="44" name="Text 42"/>
          <p:cNvSpPr/>
          <p:nvPr/>
        </p:nvSpPr>
        <p:spPr>
          <a:xfrm>
            <a:off x="9207094" y="1572768"/>
            <a:ext cx="2398471" cy="201168"/>
          </a:xfrm>
          <a:prstGeom prst="rect">
            <a:avLst/>
          </a:prstGeom>
          <a:noFill/>
          <a:ln/>
        </p:spPr>
        <p:txBody>
          <a:bodyPr wrap="square" lIns="0" tIns="0" rIns="0" bIns="0" rtlCol="0" anchor="ctr"/>
          <a:lstStyle/>
          <a:p>
            <a:pPr indent="0" marL="0">
              <a:lnSpc>
                <a:spcPct val="105000"/>
              </a:lnSpc>
              <a:buNone/>
            </a:pPr>
            <a:r>
              <a:rPr lang="en-US" sz="850" b="1" dirty="0">
                <a:solidFill>
                  <a:srgbClr val="0F172A"/>
                </a:solidFill>
                <a:latin typeface="Arial" pitchFamily="34" charset="0"/>
                <a:ea typeface="Arial" pitchFamily="34" charset="-122"/>
                <a:cs typeface="Arial" pitchFamily="34" charset="-120"/>
              </a:rPr>
              <a:t>80% Shared ADK Pipeline</a:t>
            </a:r>
            <a:endParaRPr lang="en-US" sz="850" dirty="0"/>
          </a:p>
        </p:txBody>
      </p:sp>
      <p:sp>
        <p:nvSpPr>
          <p:cNvPr id="45" name="Text 43"/>
          <p:cNvSpPr/>
          <p:nvPr/>
        </p:nvSpPr>
        <p:spPr>
          <a:xfrm>
            <a:off x="9207094" y="1792224"/>
            <a:ext cx="2398471" cy="365760"/>
          </a:xfrm>
          <a:prstGeom prst="rect">
            <a:avLst/>
          </a:prstGeom>
          <a:noFill/>
          <a:ln/>
        </p:spPr>
        <p:txBody>
          <a:bodyPr wrap="square" lIns="0" tIns="0" rIns="0" bIns="0" rtlCol="0" anchor="ctr"/>
          <a:lstStyle/>
          <a:p>
            <a:pPr indent="0" marL="0">
              <a:lnSpc>
                <a:spcPct val="108000"/>
              </a:lnSpc>
              <a:buNone/>
            </a:pPr>
            <a:r>
              <a:rPr lang="en-US" sz="710" dirty="0">
                <a:solidFill>
                  <a:srgbClr val="64748B"/>
                </a:solidFill>
                <a:latin typeface="Arial" pitchFamily="34" charset="0"/>
                <a:ea typeface="Arial" pitchFamily="34" charset="-122"/>
                <a:cs typeface="Arial" pitchFamily="34" charset="-120"/>
              </a:rPr>
              <a:t>Ship prompt, tool &amp; guardrail upgrades once across A, B &amp; C tiers</a:t>
            </a:r>
            <a:endParaRPr lang="en-US" sz="710" dirty="0"/>
          </a:p>
        </p:txBody>
      </p:sp>
      <p:sp>
        <p:nvSpPr>
          <p:cNvPr id="46" name="Shape 44"/>
          <p:cNvSpPr/>
          <p:nvPr/>
        </p:nvSpPr>
        <p:spPr>
          <a:xfrm>
            <a:off x="461772" y="2457907"/>
            <a:ext cx="5532120" cy="3383280"/>
          </a:xfrm>
          <a:prstGeom prst="roundRect">
            <a:avLst>
              <a:gd name="adj" fmla="val 1892"/>
            </a:avLst>
          </a:prstGeom>
          <a:solidFill>
            <a:srgbClr val="E2E8F0"/>
          </a:solidFill>
          <a:ln/>
        </p:spPr>
      </p:sp>
      <p:sp>
        <p:nvSpPr>
          <p:cNvPr id="47" name="Shape 45"/>
          <p:cNvSpPr/>
          <p:nvPr/>
        </p:nvSpPr>
        <p:spPr>
          <a:xfrm>
            <a:off x="438912" y="2432304"/>
            <a:ext cx="5532120" cy="3383280"/>
          </a:xfrm>
          <a:prstGeom prst="roundRect">
            <a:avLst>
              <a:gd name="adj" fmla="val 1892"/>
            </a:avLst>
          </a:prstGeom>
          <a:solidFill>
            <a:srgbClr val="FFFFFF"/>
          </a:solidFill>
          <a:ln w="10795">
            <a:solidFill>
              <a:srgbClr val="CBD5E1"/>
            </a:solidFill>
            <a:prstDash val="solid"/>
          </a:ln>
        </p:spPr>
      </p:sp>
      <p:sp>
        <p:nvSpPr>
          <p:cNvPr id="48" name="Shape 46"/>
          <p:cNvSpPr/>
          <p:nvPr/>
        </p:nvSpPr>
        <p:spPr>
          <a:xfrm>
            <a:off x="438912" y="2432304"/>
            <a:ext cx="5532120" cy="50292"/>
          </a:xfrm>
          <a:prstGeom prst="roundRect">
            <a:avLst>
              <a:gd name="adj" fmla="val 36364"/>
            </a:avLst>
          </a:prstGeom>
          <a:solidFill>
            <a:srgbClr val="1D4ED8"/>
          </a:solidFill>
          <a:ln/>
        </p:spPr>
      </p:sp>
      <p:sp>
        <p:nvSpPr>
          <p:cNvPr id="49" name="Text 47"/>
          <p:cNvSpPr/>
          <p:nvPr/>
        </p:nvSpPr>
        <p:spPr>
          <a:xfrm>
            <a:off x="603504" y="2560320"/>
            <a:ext cx="5202936" cy="182880"/>
          </a:xfrm>
          <a:prstGeom prst="rect">
            <a:avLst/>
          </a:prstGeom>
          <a:noFill/>
          <a:ln/>
        </p:spPr>
        <p:txBody>
          <a:bodyPr wrap="square" lIns="0" tIns="0" rIns="0" bIns="0" rtlCol="0" anchor="ctr"/>
          <a:lstStyle/>
          <a:p>
            <a:pPr indent="0" marL="0">
              <a:lnSpc>
                <a:spcPct val="105000"/>
              </a:lnSpc>
              <a:buNone/>
            </a:pPr>
            <a:r>
              <a:rPr lang="en-US" sz="740" b="1" spc="60" kern="0" dirty="0">
                <a:solidFill>
                  <a:srgbClr val="1D4ED8"/>
                </a:solidFill>
                <a:latin typeface="Arial" pitchFamily="34" charset="0"/>
                <a:ea typeface="Arial" pitchFamily="34" charset="-122"/>
                <a:cs typeface="Arial" pitchFamily="34" charset="-120"/>
              </a:rPr>
              <a:t>UNIT ECONOMICS COMPARISON (VISUALIZED AT SCALE)</a:t>
            </a:r>
            <a:endParaRPr lang="en-US" sz="740" dirty="0"/>
          </a:p>
        </p:txBody>
      </p:sp>
      <p:sp>
        <p:nvSpPr>
          <p:cNvPr id="50" name="Text 48"/>
          <p:cNvSpPr/>
          <p:nvPr/>
        </p:nvSpPr>
        <p:spPr>
          <a:xfrm>
            <a:off x="603504" y="2889504"/>
            <a:ext cx="5202936" cy="201168"/>
          </a:xfrm>
          <a:prstGeom prst="rect">
            <a:avLst/>
          </a:prstGeom>
          <a:noFill/>
          <a:ln/>
        </p:spPr>
        <p:txBody>
          <a:bodyPr wrap="square" lIns="0" tIns="0" rIns="0" bIns="0" rtlCol="0" anchor="ctr"/>
          <a:lstStyle/>
          <a:p>
            <a:pPr indent="0" marL="0">
              <a:lnSpc>
                <a:spcPct val="105000"/>
              </a:lnSpc>
              <a:buNone/>
            </a:pPr>
            <a:r>
              <a:rPr lang="en-US" sz="840" b="1" dirty="0">
                <a:solidFill>
                  <a:srgbClr val="0F172A"/>
                </a:solidFill>
                <a:latin typeface="Arial" pitchFamily="34" charset="0"/>
                <a:ea typeface="Arial" pitchFamily="34" charset="-122"/>
                <a:cs typeface="Arial" pitchFamily="34" charset="-120"/>
              </a:rPr>
              <a:t>Monthly Run-Rate (1,000 Tenants)</a:t>
            </a:r>
            <a:endParaRPr lang="en-US" sz="840" dirty="0"/>
          </a:p>
        </p:txBody>
      </p:sp>
      <p:sp>
        <p:nvSpPr>
          <p:cNvPr id="51" name="Text 49"/>
          <p:cNvSpPr/>
          <p:nvPr/>
        </p:nvSpPr>
        <p:spPr>
          <a:xfrm>
            <a:off x="603504" y="3163824"/>
            <a:ext cx="1508760" cy="329184"/>
          </a:xfrm>
          <a:prstGeom prst="rect">
            <a:avLst/>
          </a:prstGeom>
          <a:noFill/>
          <a:ln/>
        </p:spPr>
        <p:txBody>
          <a:bodyPr wrap="square" lIns="0" tIns="0" rIns="0" bIns="0" rtlCol="0" anchor="ctr"/>
          <a:lstStyle/>
          <a:p>
            <a:pPr indent="0" marL="0">
              <a:lnSpc>
                <a:spcPct val="105000"/>
              </a:lnSpc>
              <a:buNone/>
            </a:pPr>
            <a:r>
              <a:rPr lang="en-US" sz="710" b="1" dirty="0">
                <a:solidFill>
                  <a:srgbClr val="334155"/>
                </a:solidFill>
                <a:latin typeface="Arial" pitchFamily="34" charset="0"/>
                <a:ea typeface="Arial" pitchFamily="34" charset="-122"/>
                <a:cs typeface="Arial" pitchFamily="34" charset="-120"/>
              </a:rPr>
              <a:t>1,000 Dedicated Silos</a:t>
            </a:r>
            <a:endParaRPr lang="en-US" sz="710" dirty="0"/>
          </a:p>
        </p:txBody>
      </p:sp>
      <p:sp>
        <p:nvSpPr>
          <p:cNvPr id="52" name="Shape 50"/>
          <p:cNvSpPr/>
          <p:nvPr/>
        </p:nvSpPr>
        <p:spPr>
          <a:xfrm>
            <a:off x="2157984" y="3182112"/>
            <a:ext cx="3611880" cy="310896"/>
          </a:xfrm>
          <a:prstGeom prst="roundRect">
            <a:avLst>
              <a:gd name="adj" fmla="val 11765"/>
            </a:avLst>
          </a:prstGeom>
          <a:solidFill>
            <a:srgbClr val="B91C1C"/>
          </a:solidFill>
          <a:ln/>
        </p:spPr>
      </p:sp>
      <p:sp>
        <p:nvSpPr>
          <p:cNvPr id="53" name="Text 51"/>
          <p:cNvSpPr/>
          <p:nvPr/>
        </p:nvSpPr>
        <p:spPr>
          <a:xfrm>
            <a:off x="2267712" y="3182112"/>
            <a:ext cx="3392424" cy="310896"/>
          </a:xfrm>
          <a:prstGeom prst="rect">
            <a:avLst/>
          </a:prstGeom>
          <a:noFill/>
          <a:ln/>
        </p:spPr>
        <p:txBody>
          <a:bodyPr wrap="square" lIns="0" tIns="0" rIns="0" bIns="0" rtlCol="0" anchor="ctr"/>
          <a:lstStyle/>
          <a:p>
            <a:pPr algn="r" indent="0" marL="0">
              <a:lnSpc>
                <a:spcPct val="100000"/>
              </a:lnSpc>
              <a:buNone/>
            </a:pPr>
            <a:r>
              <a:rPr lang="en-US" sz="740" b="1" dirty="0">
                <a:solidFill>
                  <a:srgbClr val="FFFFFF"/>
                </a:solidFill>
                <a:latin typeface="Arial" pitchFamily="34" charset="0"/>
                <a:ea typeface="Arial" pitchFamily="34" charset="-122"/>
                <a:cs typeface="Arial" pitchFamily="34" charset="-120"/>
              </a:rPr>
              <a:t>4.0x Run-Rate (100% Baseline)</a:t>
            </a:r>
            <a:endParaRPr lang="en-US" sz="740" dirty="0"/>
          </a:p>
        </p:txBody>
      </p:sp>
      <p:sp>
        <p:nvSpPr>
          <p:cNvPr id="54" name="Text 52"/>
          <p:cNvSpPr/>
          <p:nvPr/>
        </p:nvSpPr>
        <p:spPr>
          <a:xfrm>
            <a:off x="603504" y="3602736"/>
            <a:ext cx="1508760" cy="329184"/>
          </a:xfrm>
          <a:prstGeom prst="rect">
            <a:avLst/>
          </a:prstGeom>
          <a:noFill/>
          <a:ln/>
        </p:spPr>
        <p:txBody>
          <a:bodyPr wrap="square" lIns="0" tIns="0" rIns="0" bIns="0" rtlCol="0" anchor="ctr"/>
          <a:lstStyle/>
          <a:p>
            <a:pPr indent="0" marL="0">
              <a:lnSpc>
                <a:spcPct val="105000"/>
              </a:lnSpc>
              <a:buNone/>
            </a:pPr>
            <a:r>
              <a:rPr lang="en-US" sz="710" b="1" dirty="0">
                <a:solidFill>
                  <a:srgbClr val="047857"/>
                </a:solidFill>
                <a:latin typeface="Arial" pitchFamily="34" charset="0"/>
                <a:ea typeface="Arial" pitchFamily="34" charset="-122"/>
                <a:cs typeface="Arial" pitchFamily="34" charset="-120"/>
              </a:rPr>
              <a:t>Tiered A (950) + B/C (50)</a:t>
            </a:r>
            <a:endParaRPr lang="en-US" sz="710" dirty="0"/>
          </a:p>
        </p:txBody>
      </p:sp>
      <p:sp>
        <p:nvSpPr>
          <p:cNvPr id="55" name="Shape 53"/>
          <p:cNvSpPr/>
          <p:nvPr/>
        </p:nvSpPr>
        <p:spPr>
          <a:xfrm>
            <a:off x="2157984" y="3621024"/>
            <a:ext cx="939089" cy="310896"/>
          </a:xfrm>
          <a:prstGeom prst="roundRect">
            <a:avLst>
              <a:gd name="adj" fmla="val 11765"/>
            </a:avLst>
          </a:prstGeom>
          <a:solidFill>
            <a:srgbClr val="047857"/>
          </a:solidFill>
          <a:ln/>
        </p:spPr>
      </p:sp>
      <p:sp>
        <p:nvSpPr>
          <p:cNvPr id="56" name="Text 54"/>
          <p:cNvSpPr/>
          <p:nvPr/>
        </p:nvSpPr>
        <p:spPr>
          <a:xfrm>
            <a:off x="3188513" y="3621024"/>
            <a:ext cx="2148840" cy="310896"/>
          </a:xfrm>
          <a:prstGeom prst="rect">
            <a:avLst/>
          </a:prstGeom>
          <a:noFill/>
          <a:ln/>
        </p:spPr>
        <p:txBody>
          <a:bodyPr wrap="square" lIns="0" tIns="0" rIns="0" bIns="0" rtlCol="0" anchor="ctr"/>
          <a:lstStyle/>
          <a:p>
            <a:pPr indent="0" marL="0">
              <a:lnSpc>
                <a:spcPct val="100000"/>
              </a:lnSpc>
              <a:buNone/>
            </a:pPr>
            <a:r>
              <a:rPr lang="en-US" sz="760" b="1" dirty="0">
                <a:solidFill>
                  <a:srgbClr val="047857"/>
                </a:solidFill>
                <a:latin typeface="Arial" pitchFamily="34" charset="0"/>
                <a:ea typeface="Arial" pitchFamily="34" charset="-122"/>
                <a:cs typeface="Arial" pitchFamily="34" charset="-120"/>
              </a:rPr>
              <a:t>1.04x Run-Rate (-74% TCO)</a:t>
            </a:r>
            <a:endParaRPr lang="en-US" sz="760" dirty="0"/>
          </a:p>
        </p:txBody>
      </p:sp>
      <p:sp>
        <p:nvSpPr>
          <p:cNvPr id="57" name="Text 55"/>
          <p:cNvSpPr/>
          <p:nvPr/>
        </p:nvSpPr>
        <p:spPr>
          <a:xfrm>
            <a:off x="603504" y="4315968"/>
            <a:ext cx="5202936" cy="201168"/>
          </a:xfrm>
          <a:prstGeom prst="rect">
            <a:avLst/>
          </a:prstGeom>
          <a:noFill/>
          <a:ln/>
        </p:spPr>
        <p:txBody>
          <a:bodyPr wrap="square" lIns="0" tIns="0" rIns="0" bIns="0" rtlCol="0" anchor="ctr"/>
          <a:lstStyle/>
          <a:p>
            <a:pPr indent="0" marL="0">
              <a:lnSpc>
                <a:spcPct val="105000"/>
              </a:lnSpc>
              <a:buNone/>
            </a:pPr>
            <a:r>
              <a:rPr lang="en-US" sz="840" b="1" dirty="0">
                <a:solidFill>
                  <a:srgbClr val="0F172A"/>
                </a:solidFill>
                <a:latin typeface="Arial" pitchFamily="34" charset="0"/>
                <a:ea typeface="Arial" pitchFamily="34" charset="-122"/>
                <a:cs typeface="Arial" pitchFamily="34" charset="-120"/>
              </a:rPr>
              <a:t>Relative LLM Input Cost (32k Context)</a:t>
            </a:r>
            <a:endParaRPr lang="en-US" sz="840" dirty="0"/>
          </a:p>
        </p:txBody>
      </p:sp>
      <p:sp>
        <p:nvSpPr>
          <p:cNvPr id="58" name="Text 56"/>
          <p:cNvSpPr/>
          <p:nvPr/>
        </p:nvSpPr>
        <p:spPr>
          <a:xfrm>
            <a:off x="603504" y="4590288"/>
            <a:ext cx="1508760" cy="329184"/>
          </a:xfrm>
          <a:prstGeom prst="rect">
            <a:avLst/>
          </a:prstGeom>
          <a:noFill/>
          <a:ln/>
        </p:spPr>
        <p:txBody>
          <a:bodyPr wrap="square" lIns="0" tIns="0" rIns="0" bIns="0" rtlCol="0" anchor="ctr"/>
          <a:lstStyle/>
          <a:p>
            <a:pPr indent="0" marL="0">
              <a:lnSpc>
                <a:spcPct val="105000"/>
              </a:lnSpc>
              <a:buNone/>
            </a:pPr>
            <a:r>
              <a:rPr lang="en-US" sz="710" b="1" dirty="0">
                <a:solidFill>
                  <a:srgbClr val="334155"/>
                </a:solidFill>
                <a:latin typeface="Arial" pitchFamily="34" charset="0"/>
                <a:ea typeface="Arial" pitchFamily="34" charset="-122"/>
                <a:cs typeface="Arial" pitchFamily="34" charset="-120"/>
              </a:rPr>
              <a:t>Uncached Cold Context</a:t>
            </a:r>
            <a:endParaRPr lang="en-US" sz="710" dirty="0"/>
          </a:p>
        </p:txBody>
      </p:sp>
      <p:sp>
        <p:nvSpPr>
          <p:cNvPr id="59" name="Shape 57"/>
          <p:cNvSpPr/>
          <p:nvPr/>
        </p:nvSpPr>
        <p:spPr>
          <a:xfrm>
            <a:off x="2157984" y="4608576"/>
            <a:ext cx="3611880" cy="310896"/>
          </a:xfrm>
          <a:prstGeom prst="roundRect">
            <a:avLst>
              <a:gd name="adj" fmla="val 11765"/>
            </a:avLst>
          </a:prstGeom>
          <a:solidFill>
            <a:srgbClr val="D97706"/>
          </a:solidFill>
          <a:ln/>
        </p:spPr>
      </p:sp>
      <p:sp>
        <p:nvSpPr>
          <p:cNvPr id="60" name="Text 58"/>
          <p:cNvSpPr/>
          <p:nvPr/>
        </p:nvSpPr>
        <p:spPr>
          <a:xfrm>
            <a:off x="2267712" y="4608576"/>
            <a:ext cx="3392424" cy="310896"/>
          </a:xfrm>
          <a:prstGeom prst="rect">
            <a:avLst/>
          </a:prstGeom>
          <a:noFill/>
          <a:ln/>
        </p:spPr>
        <p:txBody>
          <a:bodyPr wrap="square" lIns="0" tIns="0" rIns="0" bIns="0" rtlCol="0" anchor="ctr"/>
          <a:lstStyle/>
          <a:p>
            <a:pPr algn="r" indent="0" marL="0">
              <a:lnSpc>
                <a:spcPct val="100000"/>
              </a:lnSpc>
              <a:buNone/>
            </a:pPr>
            <a:r>
              <a:rPr lang="en-US" sz="740" b="1" dirty="0">
                <a:solidFill>
                  <a:srgbClr val="FFFFFF"/>
                </a:solidFill>
                <a:latin typeface="Arial" pitchFamily="34" charset="0"/>
                <a:ea typeface="Arial" pitchFamily="34" charset="-122"/>
                <a:cs typeface="Arial" pitchFamily="34" charset="-120"/>
              </a:rPr>
              <a:t>100% Baseline Cost</a:t>
            </a:r>
            <a:endParaRPr lang="en-US" sz="740" dirty="0"/>
          </a:p>
        </p:txBody>
      </p:sp>
      <p:sp>
        <p:nvSpPr>
          <p:cNvPr id="61" name="Text 59"/>
          <p:cNvSpPr/>
          <p:nvPr/>
        </p:nvSpPr>
        <p:spPr>
          <a:xfrm>
            <a:off x="603504" y="5029200"/>
            <a:ext cx="1508760" cy="329184"/>
          </a:xfrm>
          <a:prstGeom prst="rect">
            <a:avLst/>
          </a:prstGeom>
          <a:noFill/>
          <a:ln/>
        </p:spPr>
        <p:txBody>
          <a:bodyPr wrap="square" lIns="0" tIns="0" rIns="0" bIns="0" rtlCol="0" anchor="ctr"/>
          <a:lstStyle/>
          <a:p>
            <a:pPr indent="0" marL="0">
              <a:lnSpc>
                <a:spcPct val="105000"/>
              </a:lnSpc>
              <a:buNone/>
            </a:pPr>
            <a:r>
              <a:rPr lang="en-US" sz="710" b="1" dirty="0">
                <a:solidFill>
                  <a:srgbClr val="1D4ED8"/>
                </a:solidFill>
                <a:latin typeface="Arial" pitchFamily="34" charset="0"/>
                <a:ea typeface="Arial" pitchFamily="34" charset="-122"/>
                <a:cs typeface="Arial" pitchFamily="34" charset="-120"/>
              </a:rPr>
              <a:t>90% Pooled Prefix Cache</a:t>
            </a:r>
            <a:endParaRPr lang="en-US" sz="710" dirty="0"/>
          </a:p>
        </p:txBody>
      </p:sp>
      <p:sp>
        <p:nvSpPr>
          <p:cNvPr id="62" name="Shape 60"/>
          <p:cNvSpPr/>
          <p:nvPr/>
        </p:nvSpPr>
        <p:spPr>
          <a:xfrm>
            <a:off x="2157984" y="5047488"/>
            <a:ext cx="594360" cy="310896"/>
          </a:xfrm>
          <a:prstGeom prst="roundRect">
            <a:avLst>
              <a:gd name="adj" fmla="val 11765"/>
            </a:avLst>
          </a:prstGeom>
          <a:solidFill>
            <a:srgbClr val="1D4ED8"/>
          </a:solidFill>
          <a:ln/>
        </p:spPr>
      </p:sp>
      <p:sp>
        <p:nvSpPr>
          <p:cNvPr id="63" name="Text 61"/>
          <p:cNvSpPr/>
          <p:nvPr/>
        </p:nvSpPr>
        <p:spPr>
          <a:xfrm>
            <a:off x="2843784" y="5047488"/>
            <a:ext cx="2148840" cy="310896"/>
          </a:xfrm>
          <a:prstGeom prst="rect">
            <a:avLst/>
          </a:prstGeom>
          <a:noFill/>
          <a:ln/>
        </p:spPr>
        <p:txBody>
          <a:bodyPr wrap="square" lIns="0" tIns="0" rIns="0" bIns="0" rtlCol="0" anchor="ctr"/>
          <a:lstStyle/>
          <a:p>
            <a:pPr indent="0" marL="0">
              <a:lnSpc>
                <a:spcPct val="100000"/>
              </a:lnSpc>
              <a:buNone/>
            </a:pPr>
            <a:r>
              <a:rPr lang="en-US" sz="760" b="1" dirty="0">
                <a:solidFill>
                  <a:srgbClr val="1D4ED8"/>
                </a:solidFill>
                <a:latin typeface="Arial" pitchFamily="34" charset="0"/>
                <a:ea typeface="Arial" pitchFamily="34" charset="-122"/>
                <a:cs typeface="Arial" pitchFamily="34" charset="-120"/>
              </a:rPr>
              <a:t>15.3% Cost (-84.7%)</a:t>
            </a:r>
            <a:endParaRPr lang="en-US" sz="760" dirty="0"/>
          </a:p>
        </p:txBody>
      </p:sp>
      <p:sp>
        <p:nvSpPr>
          <p:cNvPr id="64" name="Shape 62"/>
          <p:cNvSpPr/>
          <p:nvPr/>
        </p:nvSpPr>
        <p:spPr>
          <a:xfrm>
            <a:off x="6213348" y="2457907"/>
            <a:ext cx="5562295" cy="1042416"/>
          </a:xfrm>
          <a:prstGeom prst="roundRect">
            <a:avLst>
              <a:gd name="adj" fmla="val 6140"/>
            </a:avLst>
          </a:prstGeom>
          <a:solidFill>
            <a:srgbClr val="E2E8F0"/>
          </a:solidFill>
          <a:ln/>
        </p:spPr>
      </p:sp>
      <p:sp>
        <p:nvSpPr>
          <p:cNvPr id="65" name="Shape 63"/>
          <p:cNvSpPr/>
          <p:nvPr/>
        </p:nvSpPr>
        <p:spPr>
          <a:xfrm>
            <a:off x="6190488" y="2432304"/>
            <a:ext cx="5562295" cy="1042416"/>
          </a:xfrm>
          <a:prstGeom prst="roundRect">
            <a:avLst>
              <a:gd name="adj" fmla="val 6140"/>
            </a:avLst>
          </a:prstGeom>
          <a:solidFill>
            <a:srgbClr val="FFFFFF"/>
          </a:solidFill>
          <a:ln w="10795">
            <a:solidFill>
              <a:srgbClr val="FECACA"/>
            </a:solidFill>
            <a:prstDash val="solid"/>
          </a:ln>
        </p:spPr>
      </p:sp>
      <p:sp>
        <p:nvSpPr>
          <p:cNvPr id="66" name="Shape 64"/>
          <p:cNvSpPr/>
          <p:nvPr/>
        </p:nvSpPr>
        <p:spPr>
          <a:xfrm>
            <a:off x="6190488" y="2432304"/>
            <a:ext cx="54864" cy="1042416"/>
          </a:xfrm>
          <a:prstGeom prst="roundRect">
            <a:avLst>
              <a:gd name="adj" fmla="val 33333"/>
            </a:avLst>
          </a:prstGeom>
          <a:solidFill>
            <a:srgbClr val="B91C1C"/>
          </a:solidFill>
          <a:ln/>
        </p:spPr>
      </p:sp>
      <p:sp>
        <p:nvSpPr>
          <p:cNvPr id="67" name="Shape 65"/>
          <p:cNvSpPr/>
          <p:nvPr/>
        </p:nvSpPr>
        <p:spPr>
          <a:xfrm>
            <a:off x="6336792" y="2523744"/>
            <a:ext cx="2423160" cy="182880"/>
          </a:xfrm>
          <a:prstGeom prst="roundRect">
            <a:avLst>
              <a:gd name="adj" fmla="val 40000"/>
            </a:avLst>
          </a:prstGeom>
          <a:solidFill>
            <a:srgbClr val="FEF2F2"/>
          </a:solidFill>
          <a:ln/>
        </p:spPr>
      </p:sp>
      <p:sp>
        <p:nvSpPr>
          <p:cNvPr id="68" name="Text 66"/>
          <p:cNvSpPr/>
          <p:nvPr/>
        </p:nvSpPr>
        <p:spPr>
          <a:xfrm>
            <a:off x="6336792" y="2523744"/>
            <a:ext cx="2423160" cy="182880"/>
          </a:xfrm>
          <a:prstGeom prst="rect">
            <a:avLst/>
          </a:prstGeom>
          <a:noFill/>
          <a:ln/>
        </p:spPr>
        <p:txBody>
          <a:bodyPr wrap="square" lIns="0" tIns="0" rIns="0" bIns="0" rtlCol="0" anchor="ctr"/>
          <a:lstStyle/>
          <a:p>
            <a:pPr algn="ctr" indent="0" marL="0">
              <a:lnSpc>
                <a:spcPct val="105000"/>
              </a:lnSpc>
              <a:buNone/>
            </a:pPr>
            <a:r>
              <a:rPr lang="en-US" sz="610" b="1" dirty="0">
                <a:solidFill>
                  <a:srgbClr val="B91C1C"/>
                </a:solidFill>
                <a:latin typeface="Arial" pitchFamily="34" charset="0"/>
                <a:ea typeface="Arial" pitchFamily="34" charset="-122"/>
                <a:cs typeface="Arial" pitchFamily="34" charset="-120"/>
              </a:rPr>
              <a:t>FOR THE CISO &amp; COMPLIANCE LEAD</a:t>
            </a:r>
            <a:endParaRPr lang="en-US" sz="610" dirty="0"/>
          </a:p>
        </p:txBody>
      </p:sp>
      <p:sp>
        <p:nvSpPr>
          <p:cNvPr id="69" name="Text 67"/>
          <p:cNvSpPr/>
          <p:nvPr/>
        </p:nvSpPr>
        <p:spPr>
          <a:xfrm>
            <a:off x="6336792" y="2743200"/>
            <a:ext cx="5287975" cy="201168"/>
          </a:xfrm>
          <a:prstGeom prst="rect">
            <a:avLst/>
          </a:prstGeom>
          <a:noFill/>
          <a:ln/>
        </p:spPr>
        <p:txBody>
          <a:bodyPr wrap="square" lIns="0" tIns="0" rIns="0" bIns="0" rtlCol="0" anchor="ctr"/>
          <a:lstStyle/>
          <a:p>
            <a:pPr indent="0" marL="0">
              <a:lnSpc>
                <a:spcPct val="105000"/>
              </a:lnSpc>
              <a:buNone/>
            </a:pPr>
            <a:r>
              <a:rPr lang="en-US" sz="880" b="1" dirty="0">
                <a:solidFill>
                  <a:srgbClr val="0F172A"/>
                </a:solidFill>
                <a:latin typeface="Arial" pitchFamily="34" charset="0"/>
                <a:ea typeface="Arial" pitchFamily="34" charset="-122"/>
                <a:cs typeface="Arial" pitchFamily="34" charset="-120"/>
              </a:rPr>
              <a:t>Unblock Regulated Enterprise Deals Immediately</a:t>
            </a:r>
            <a:endParaRPr lang="en-US" sz="880" dirty="0"/>
          </a:p>
        </p:txBody>
      </p:sp>
      <p:sp>
        <p:nvSpPr>
          <p:cNvPr id="70" name="Text 68"/>
          <p:cNvSpPr/>
          <p:nvPr/>
        </p:nvSpPr>
        <p:spPr>
          <a:xfrm>
            <a:off x="6336792" y="2962656"/>
            <a:ext cx="5287975" cy="438912"/>
          </a:xfrm>
          <a:prstGeom prst="rect">
            <a:avLst/>
          </a:prstGeom>
          <a:noFill/>
          <a:ln/>
        </p:spPr>
        <p:txBody>
          <a:bodyPr wrap="square" lIns="0" tIns="0" rIns="0" bIns="0" rtlCol="0" anchor="ctr"/>
          <a:lstStyle/>
          <a:p>
            <a:pPr indent="0" marL="0">
              <a:lnSpc>
                <a:spcPct val="107000"/>
              </a:lnSpc>
              <a:buNone/>
            </a:pPr>
            <a:r>
              <a:rPr lang="en-US" sz="710" dirty="0">
                <a:solidFill>
                  <a:srgbClr val="334155"/>
                </a:solidFill>
                <a:latin typeface="Arial" pitchFamily="34" charset="0"/>
                <a:ea typeface="Arial" pitchFamily="34" charset="-122"/>
                <a:cs typeface="Arial" pitchFamily="34" charset="-120"/>
              </a:rPr>
              <a:t>Hand OCC, HIPAA, and SOC2 auditors mathematical proofs: KMS P-256 signed JWTs, IAM PAB perimeters, composite 3LO vaults, and a verified &lt;60s HTTP 423 customer CMEK kill-switch.</a:t>
            </a:r>
            <a:endParaRPr lang="en-US" sz="710" dirty="0"/>
          </a:p>
        </p:txBody>
      </p:sp>
      <p:sp>
        <p:nvSpPr>
          <p:cNvPr id="71" name="Shape 69"/>
          <p:cNvSpPr/>
          <p:nvPr/>
        </p:nvSpPr>
        <p:spPr>
          <a:xfrm>
            <a:off x="6213348" y="3610051"/>
            <a:ext cx="5562295" cy="1042416"/>
          </a:xfrm>
          <a:prstGeom prst="roundRect">
            <a:avLst>
              <a:gd name="adj" fmla="val 6140"/>
            </a:avLst>
          </a:prstGeom>
          <a:solidFill>
            <a:srgbClr val="E2E8F0"/>
          </a:solidFill>
          <a:ln/>
        </p:spPr>
      </p:sp>
      <p:sp>
        <p:nvSpPr>
          <p:cNvPr id="72" name="Shape 70"/>
          <p:cNvSpPr/>
          <p:nvPr/>
        </p:nvSpPr>
        <p:spPr>
          <a:xfrm>
            <a:off x="6190488" y="3584448"/>
            <a:ext cx="5562295" cy="1042416"/>
          </a:xfrm>
          <a:prstGeom prst="roundRect">
            <a:avLst>
              <a:gd name="adj" fmla="val 6140"/>
            </a:avLst>
          </a:prstGeom>
          <a:solidFill>
            <a:srgbClr val="FFFFFF"/>
          </a:solidFill>
          <a:ln w="10795">
            <a:solidFill>
              <a:srgbClr val="A7F3D0"/>
            </a:solidFill>
            <a:prstDash val="solid"/>
          </a:ln>
        </p:spPr>
      </p:sp>
      <p:sp>
        <p:nvSpPr>
          <p:cNvPr id="73" name="Shape 71"/>
          <p:cNvSpPr/>
          <p:nvPr/>
        </p:nvSpPr>
        <p:spPr>
          <a:xfrm>
            <a:off x="6190488" y="3584448"/>
            <a:ext cx="54864" cy="1042416"/>
          </a:xfrm>
          <a:prstGeom prst="roundRect">
            <a:avLst>
              <a:gd name="adj" fmla="val 33333"/>
            </a:avLst>
          </a:prstGeom>
          <a:solidFill>
            <a:srgbClr val="047857"/>
          </a:solidFill>
          <a:ln/>
        </p:spPr>
      </p:sp>
      <p:sp>
        <p:nvSpPr>
          <p:cNvPr id="74" name="Shape 72"/>
          <p:cNvSpPr/>
          <p:nvPr/>
        </p:nvSpPr>
        <p:spPr>
          <a:xfrm>
            <a:off x="6336792" y="3675888"/>
            <a:ext cx="2423160" cy="182880"/>
          </a:xfrm>
          <a:prstGeom prst="roundRect">
            <a:avLst>
              <a:gd name="adj" fmla="val 40000"/>
            </a:avLst>
          </a:prstGeom>
          <a:solidFill>
            <a:srgbClr val="ECFDF5"/>
          </a:solidFill>
          <a:ln/>
        </p:spPr>
      </p:sp>
      <p:sp>
        <p:nvSpPr>
          <p:cNvPr id="75" name="Text 73"/>
          <p:cNvSpPr/>
          <p:nvPr/>
        </p:nvSpPr>
        <p:spPr>
          <a:xfrm>
            <a:off x="6336792" y="3675888"/>
            <a:ext cx="2423160" cy="182880"/>
          </a:xfrm>
          <a:prstGeom prst="rect">
            <a:avLst/>
          </a:prstGeom>
          <a:noFill/>
          <a:ln/>
        </p:spPr>
        <p:txBody>
          <a:bodyPr wrap="square" lIns="0" tIns="0" rIns="0" bIns="0" rtlCol="0" anchor="ctr"/>
          <a:lstStyle/>
          <a:p>
            <a:pPr algn="ctr" indent="0" marL="0">
              <a:lnSpc>
                <a:spcPct val="105000"/>
              </a:lnSpc>
              <a:buNone/>
            </a:pPr>
            <a:r>
              <a:rPr lang="en-US" sz="610" b="1" dirty="0">
                <a:solidFill>
                  <a:srgbClr val="047857"/>
                </a:solidFill>
                <a:latin typeface="Arial" pitchFamily="34" charset="0"/>
                <a:ea typeface="Arial" pitchFamily="34" charset="-122"/>
                <a:cs typeface="Arial" pitchFamily="34" charset="-120"/>
              </a:rPr>
              <a:t>FOR THE CFO &amp; FINOPS ARCHITECT</a:t>
            </a:r>
            <a:endParaRPr lang="en-US" sz="610" dirty="0"/>
          </a:p>
        </p:txBody>
      </p:sp>
      <p:sp>
        <p:nvSpPr>
          <p:cNvPr id="76" name="Text 74"/>
          <p:cNvSpPr/>
          <p:nvPr/>
        </p:nvSpPr>
        <p:spPr>
          <a:xfrm>
            <a:off x="6336792" y="3895344"/>
            <a:ext cx="5287975" cy="201168"/>
          </a:xfrm>
          <a:prstGeom prst="rect">
            <a:avLst/>
          </a:prstGeom>
          <a:noFill/>
          <a:ln/>
        </p:spPr>
        <p:txBody>
          <a:bodyPr wrap="square" lIns="0" tIns="0" rIns="0" bIns="0" rtlCol="0" anchor="ctr"/>
          <a:lstStyle/>
          <a:p>
            <a:pPr indent="0" marL="0">
              <a:lnSpc>
                <a:spcPct val="105000"/>
              </a:lnSpc>
              <a:buNone/>
            </a:pPr>
            <a:r>
              <a:rPr lang="en-US" sz="880" b="1" dirty="0">
                <a:solidFill>
                  <a:srgbClr val="0F172A"/>
                </a:solidFill>
                <a:latin typeface="Arial" pitchFamily="34" charset="0"/>
                <a:ea typeface="Arial" pitchFamily="34" charset="-122"/>
                <a:cs typeface="Arial" pitchFamily="34" charset="-120"/>
              </a:rPr>
              <a:t>Protect SaaS Gross Margins &amp; Price Premium Tiers</a:t>
            </a:r>
            <a:endParaRPr lang="en-US" sz="880" dirty="0"/>
          </a:p>
        </p:txBody>
      </p:sp>
      <p:sp>
        <p:nvSpPr>
          <p:cNvPr id="77" name="Text 75"/>
          <p:cNvSpPr/>
          <p:nvPr/>
        </p:nvSpPr>
        <p:spPr>
          <a:xfrm>
            <a:off x="6336792" y="4114800"/>
            <a:ext cx="5287975" cy="438912"/>
          </a:xfrm>
          <a:prstGeom prst="rect">
            <a:avLst/>
          </a:prstGeom>
          <a:noFill/>
          <a:ln/>
        </p:spPr>
        <p:txBody>
          <a:bodyPr wrap="square" lIns="0" tIns="0" rIns="0" bIns="0" rtlCol="0" anchor="ctr"/>
          <a:lstStyle/>
          <a:p>
            <a:pPr indent="0" marL="0">
              <a:lnSpc>
                <a:spcPct val="107000"/>
              </a:lnSpc>
              <a:buNone/>
            </a:pPr>
            <a:r>
              <a:rPr lang="en-US" sz="710" dirty="0">
                <a:solidFill>
                  <a:srgbClr val="334155"/>
                </a:solidFill>
                <a:latin typeface="Arial" pitchFamily="34" charset="0"/>
                <a:ea typeface="Arial" pitchFamily="34" charset="-122"/>
                <a:cs typeface="Arial" pitchFamily="34" charset="-120"/>
              </a:rPr>
              <a:t>Keep 95% of commercial tenants safely inside Pattern A with 90% cache reuse while monetizing Pattern B/C silos cleanly using exact BigQuery OTel cached + thinking token ledgers.</a:t>
            </a:r>
            <a:endParaRPr lang="en-US" sz="710" dirty="0"/>
          </a:p>
        </p:txBody>
      </p:sp>
      <p:sp>
        <p:nvSpPr>
          <p:cNvPr id="78" name="Shape 76"/>
          <p:cNvSpPr/>
          <p:nvPr/>
        </p:nvSpPr>
        <p:spPr>
          <a:xfrm>
            <a:off x="6213348" y="4762195"/>
            <a:ext cx="5562295" cy="1042416"/>
          </a:xfrm>
          <a:prstGeom prst="roundRect">
            <a:avLst>
              <a:gd name="adj" fmla="val 6140"/>
            </a:avLst>
          </a:prstGeom>
          <a:solidFill>
            <a:srgbClr val="E2E8F0"/>
          </a:solidFill>
          <a:ln/>
        </p:spPr>
      </p:sp>
      <p:sp>
        <p:nvSpPr>
          <p:cNvPr id="79" name="Shape 77"/>
          <p:cNvSpPr/>
          <p:nvPr/>
        </p:nvSpPr>
        <p:spPr>
          <a:xfrm>
            <a:off x="6190488" y="4736592"/>
            <a:ext cx="5562295" cy="1042416"/>
          </a:xfrm>
          <a:prstGeom prst="roundRect">
            <a:avLst>
              <a:gd name="adj" fmla="val 6140"/>
            </a:avLst>
          </a:prstGeom>
          <a:solidFill>
            <a:srgbClr val="FFFFFF"/>
          </a:solidFill>
          <a:ln w="10795">
            <a:solidFill>
              <a:srgbClr val="C7D2FE"/>
            </a:solidFill>
            <a:prstDash val="solid"/>
          </a:ln>
        </p:spPr>
      </p:sp>
      <p:sp>
        <p:nvSpPr>
          <p:cNvPr id="80" name="Shape 78"/>
          <p:cNvSpPr/>
          <p:nvPr/>
        </p:nvSpPr>
        <p:spPr>
          <a:xfrm>
            <a:off x="6190488" y="4736592"/>
            <a:ext cx="54864" cy="1042416"/>
          </a:xfrm>
          <a:prstGeom prst="roundRect">
            <a:avLst>
              <a:gd name="adj" fmla="val 33333"/>
            </a:avLst>
          </a:prstGeom>
          <a:solidFill>
            <a:srgbClr val="4338CA"/>
          </a:solidFill>
          <a:ln/>
        </p:spPr>
      </p:sp>
      <p:sp>
        <p:nvSpPr>
          <p:cNvPr id="81" name="Shape 79"/>
          <p:cNvSpPr/>
          <p:nvPr/>
        </p:nvSpPr>
        <p:spPr>
          <a:xfrm>
            <a:off x="6336792" y="4828032"/>
            <a:ext cx="2423160" cy="182880"/>
          </a:xfrm>
          <a:prstGeom prst="roundRect">
            <a:avLst>
              <a:gd name="adj" fmla="val 40000"/>
            </a:avLst>
          </a:prstGeom>
          <a:solidFill>
            <a:srgbClr val="EEF2FF"/>
          </a:solidFill>
          <a:ln/>
        </p:spPr>
      </p:sp>
      <p:sp>
        <p:nvSpPr>
          <p:cNvPr id="82" name="Text 80"/>
          <p:cNvSpPr/>
          <p:nvPr/>
        </p:nvSpPr>
        <p:spPr>
          <a:xfrm>
            <a:off x="6336792" y="4828032"/>
            <a:ext cx="2423160" cy="182880"/>
          </a:xfrm>
          <a:prstGeom prst="rect">
            <a:avLst/>
          </a:prstGeom>
          <a:noFill/>
          <a:ln/>
        </p:spPr>
        <p:txBody>
          <a:bodyPr wrap="square" lIns="0" tIns="0" rIns="0" bIns="0" rtlCol="0" anchor="ctr"/>
          <a:lstStyle/>
          <a:p>
            <a:pPr algn="ctr" indent="0" marL="0">
              <a:lnSpc>
                <a:spcPct val="105000"/>
              </a:lnSpc>
              <a:buNone/>
            </a:pPr>
            <a:r>
              <a:rPr lang="en-US" sz="610" b="1" dirty="0">
                <a:solidFill>
                  <a:srgbClr val="4338CA"/>
                </a:solidFill>
                <a:latin typeface="Arial" pitchFamily="34" charset="0"/>
                <a:ea typeface="Arial" pitchFamily="34" charset="-122"/>
                <a:cs typeface="Arial" pitchFamily="34" charset="-120"/>
              </a:rPr>
              <a:t>FOR THE VP OF AI ENGINEERING</a:t>
            </a:r>
            <a:endParaRPr lang="en-US" sz="610" dirty="0"/>
          </a:p>
        </p:txBody>
      </p:sp>
      <p:sp>
        <p:nvSpPr>
          <p:cNvPr id="83" name="Text 81"/>
          <p:cNvSpPr/>
          <p:nvPr/>
        </p:nvSpPr>
        <p:spPr>
          <a:xfrm>
            <a:off x="6336792" y="5047488"/>
            <a:ext cx="5287975" cy="201168"/>
          </a:xfrm>
          <a:prstGeom prst="rect">
            <a:avLst/>
          </a:prstGeom>
          <a:noFill/>
          <a:ln/>
        </p:spPr>
        <p:txBody>
          <a:bodyPr wrap="square" lIns="0" tIns="0" rIns="0" bIns="0" rtlCol="0" anchor="ctr"/>
          <a:lstStyle/>
          <a:p>
            <a:pPr indent="0" marL="0">
              <a:lnSpc>
                <a:spcPct val="105000"/>
              </a:lnSpc>
              <a:buNone/>
            </a:pPr>
            <a:r>
              <a:rPr lang="en-US" sz="880" b="1" dirty="0">
                <a:solidFill>
                  <a:srgbClr val="0F172A"/>
                </a:solidFill>
                <a:latin typeface="Arial" pitchFamily="34" charset="0"/>
                <a:ea typeface="Arial" pitchFamily="34" charset="-122"/>
                <a:cs typeface="Arial" pitchFamily="34" charset="-120"/>
              </a:rPr>
              <a:t>Eliminate Codebase Forks &amp; Zero-Downtime Upgrades</a:t>
            </a:r>
            <a:endParaRPr lang="en-US" sz="880" dirty="0"/>
          </a:p>
        </p:txBody>
      </p:sp>
      <p:sp>
        <p:nvSpPr>
          <p:cNvPr id="84" name="Text 82"/>
          <p:cNvSpPr/>
          <p:nvPr/>
        </p:nvSpPr>
        <p:spPr>
          <a:xfrm>
            <a:off x="6336792" y="5266944"/>
            <a:ext cx="5287975" cy="438912"/>
          </a:xfrm>
          <a:prstGeom prst="rect">
            <a:avLst/>
          </a:prstGeom>
          <a:noFill/>
          <a:ln/>
        </p:spPr>
        <p:txBody>
          <a:bodyPr wrap="square" lIns="0" tIns="0" rIns="0" bIns="0" rtlCol="0" anchor="ctr"/>
          <a:lstStyle/>
          <a:p>
            <a:pPr indent="0" marL="0">
              <a:lnSpc>
                <a:spcPct val="107000"/>
              </a:lnSpc>
              <a:buNone/>
            </a:pPr>
            <a:r>
              <a:rPr lang="en-US" sz="710" dirty="0">
                <a:solidFill>
                  <a:srgbClr val="334155"/>
                </a:solidFill>
                <a:latin typeface="Arial" pitchFamily="34" charset="0"/>
                <a:ea typeface="Arial" pitchFamily="34" charset="-122"/>
                <a:cs typeface="Arial" pitchFamily="34" charset="-120"/>
              </a:rPr>
              <a:t>One Python ADK pipeline powers every customer. Promote fast-growing tenants from Pooled Pattern A to Hybrid PSC Pattern C in 0ms via routing data—never a weekend migration.</a:t>
            </a:r>
            <a:endParaRPr lang="en-US" sz="710" dirty="0"/>
          </a:p>
        </p:txBody>
      </p:sp>
      <p:sp>
        <p:nvSpPr>
          <p:cNvPr id="85" name="Shape 83"/>
          <p:cNvSpPr/>
          <p:nvPr/>
        </p:nvSpPr>
        <p:spPr>
          <a:xfrm>
            <a:off x="438912" y="5943600"/>
            <a:ext cx="11313871" cy="420624"/>
          </a:xfrm>
          <a:prstGeom prst="roundRect">
            <a:avLst>
              <a:gd name="adj" fmla="val 13043"/>
            </a:avLst>
          </a:prstGeom>
          <a:solidFill>
            <a:srgbClr val="ECFDF5"/>
          </a:solidFill>
          <a:ln w="11430">
            <a:solidFill>
              <a:srgbClr val="A7F3D0"/>
            </a:solidFill>
            <a:prstDash val="solid"/>
          </a:ln>
        </p:spPr>
      </p:sp>
      <p:sp>
        <p:nvSpPr>
          <p:cNvPr id="86" name="Shape 84"/>
          <p:cNvSpPr/>
          <p:nvPr/>
        </p:nvSpPr>
        <p:spPr>
          <a:xfrm>
            <a:off x="530352" y="6025896"/>
            <a:ext cx="1353312" cy="256032"/>
          </a:xfrm>
          <a:prstGeom prst="roundRect">
            <a:avLst>
              <a:gd name="adj" fmla="val 17857"/>
            </a:avLst>
          </a:prstGeom>
          <a:solidFill>
            <a:srgbClr val="047857"/>
          </a:solidFill>
          <a:ln/>
        </p:spPr>
      </p:sp>
      <p:sp>
        <p:nvSpPr>
          <p:cNvPr id="87" name="Text 85"/>
          <p:cNvSpPr/>
          <p:nvPr/>
        </p:nvSpPr>
        <p:spPr>
          <a:xfrm>
            <a:off x="530352" y="6025896"/>
            <a:ext cx="1353312" cy="256032"/>
          </a:xfrm>
          <a:prstGeom prst="rect">
            <a:avLst/>
          </a:prstGeom>
          <a:noFill/>
          <a:ln/>
        </p:spPr>
        <p:txBody>
          <a:bodyPr wrap="square" lIns="0" tIns="0" rIns="0" bIns="0" rtlCol="0" anchor="ctr"/>
          <a:lstStyle/>
          <a:p>
            <a:pPr algn="ctr" indent="0" marL="0">
              <a:lnSpc>
                <a:spcPct val="105000"/>
              </a:lnSpc>
              <a:buNone/>
            </a:pPr>
            <a:r>
              <a:rPr lang="en-US" sz="650" b="1" dirty="0">
                <a:solidFill>
                  <a:srgbClr val="FFFFFF"/>
                </a:solidFill>
                <a:latin typeface="Arial" pitchFamily="34" charset="0"/>
                <a:ea typeface="Arial" pitchFamily="34" charset="-122"/>
                <a:cs typeface="Arial" pitchFamily="34" charset="-120"/>
              </a:rPr>
              <a:t>BOTTOM-LINE ROI</a:t>
            </a:r>
            <a:endParaRPr lang="en-US" sz="650" dirty="0"/>
          </a:p>
        </p:txBody>
      </p:sp>
      <p:sp>
        <p:nvSpPr>
          <p:cNvPr id="88" name="Text 86"/>
          <p:cNvSpPr/>
          <p:nvPr/>
        </p:nvSpPr>
        <p:spPr>
          <a:xfrm>
            <a:off x="1993392" y="5980176"/>
            <a:ext cx="7555687" cy="347472"/>
          </a:xfrm>
          <a:prstGeom prst="rect">
            <a:avLst/>
          </a:prstGeom>
          <a:noFill/>
          <a:ln/>
        </p:spPr>
        <p:txBody>
          <a:bodyPr wrap="square" lIns="0" tIns="0" rIns="0" bIns="0" rtlCol="0" anchor="ctr"/>
          <a:lstStyle/>
          <a:p>
            <a:pPr algn="l" indent="0" marL="0">
              <a:lnSpc>
                <a:spcPct val="108000"/>
              </a:lnSpc>
              <a:buNone/>
            </a:pPr>
            <a:r>
              <a:rPr lang="en-US" sz="860" b="1" dirty="0">
                <a:solidFill>
                  <a:srgbClr val="0F172A"/>
                </a:solidFill>
                <a:latin typeface="Arial" pitchFamily="34" charset="0"/>
                <a:ea typeface="Arial" pitchFamily="34" charset="-122"/>
                <a:cs typeface="Arial" pitchFamily="34" charset="-120"/>
              </a:rPr>
              <a:t>Multi-tenant governance stops being a pure security tax and becomes your pricing moat—turning Sovereign Silos and Hybrid PSC into high-margin enterprise SKUs.</a:t>
            </a:r>
            <a:endParaRPr lang="en-US" sz="860" dirty="0"/>
          </a:p>
        </p:txBody>
      </p:sp>
      <p:sp>
        <p:nvSpPr>
          <p:cNvPr id="89" name="Shape 87"/>
          <p:cNvSpPr/>
          <p:nvPr/>
        </p:nvSpPr>
        <p:spPr>
          <a:xfrm>
            <a:off x="9695383" y="6025896"/>
            <a:ext cx="1965960" cy="256032"/>
          </a:xfrm>
          <a:prstGeom prst="roundRect">
            <a:avLst>
              <a:gd name="adj" fmla="val 17857"/>
            </a:avLst>
          </a:prstGeom>
          <a:solidFill>
            <a:srgbClr val="FFFFFF"/>
          </a:solidFill>
          <a:ln w="10795">
            <a:solidFill>
              <a:srgbClr val="047857"/>
            </a:solidFill>
            <a:prstDash val="solid"/>
          </a:ln>
        </p:spPr>
      </p:sp>
      <p:sp>
        <p:nvSpPr>
          <p:cNvPr id="90" name="Text 88"/>
          <p:cNvSpPr/>
          <p:nvPr/>
        </p:nvSpPr>
        <p:spPr>
          <a:xfrm>
            <a:off x="9695383" y="6025896"/>
            <a:ext cx="1965960" cy="256032"/>
          </a:xfrm>
          <a:prstGeom prst="rect">
            <a:avLst/>
          </a:prstGeom>
          <a:noFill/>
          <a:ln/>
        </p:spPr>
        <p:txBody>
          <a:bodyPr wrap="square" lIns="0" tIns="0" rIns="0" bIns="0" rtlCol="0" anchor="ctr"/>
          <a:lstStyle/>
          <a:p>
            <a:pPr algn="ctr" indent="0" marL="0">
              <a:lnSpc>
                <a:spcPct val="105000"/>
              </a:lnSpc>
              <a:buNone/>
            </a:pPr>
            <a:r>
              <a:rPr lang="en-US" sz="740" b="1" dirty="0">
                <a:solidFill>
                  <a:srgbClr val="047857"/>
                </a:solidFill>
                <a:latin typeface="Arial" pitchFamily="34" charset="0"/>
                <a:ea typeface="Arial" pitchFamily="34" charset="-122"/>
                <a:cs typeface="Arial" pitchFamily="34" charset="-120"/>
              </a:rPr>
              <a:t>~74% Lower Infra Run-Rate</a:t>
            </a:r>
            <a:endParaRPr lang="en-US" sz="74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1148"/>
          </a:xfrm>
          <a:prstGeom prst="rect">
            <a:avLst/>
          </a:prstGeom>
          <a:solidFill>
            <a:srgbClr val="2563EB"/>
          </a:solidFill>
          <a:ln/>
        </p:spPr>
      </p:sp>
      <p:sp>
        <p:nvSpPr>
          <p:cNvPr id="3" name="Shape 1"/>
          <p:cNvSpPr/>
          <p:nvPr/>
        </p:nvSpPr>
        <p:spPr>
          <a:xfrm>
            <a:off x="438912" y="192024"/>
            <a:ext cx="59436" cy="621792"/>
          </a:xfrm>
          <a:prstGeom prst="roundRect">
            <a:avLst>
              <a:gd name="adj" fmla="val 46154"/>
            </a:avLst>
          </a:prstGeom>
          <a:solidFill>
            <a:srgbClr val="2563EB"/>
          </a:solidFill>
          <a:ln/>
        </p:spPr>
      </p:sp>
      <p:sp>
        <p:nvSpPr>
          <p:cNvPr id="4" name="Text 2"/>
          <p:cNvSpPr/>
          <p:nvPr/>
        </p:nvSpPr>
        <p:spPr>
          <a:xfrm>
            <a:off x="576072" y="173736"/>
            <a:ext cx="4389120" cy="146304"/>
          </a:xfrm>
          <a:prstGeom prst="rect">
            <a:avLst/>
          </a:prstGeom>
          <a:noFill/>
          <a:ln/>
        </p:spPr>
        <p:txBody>
          <a:bodyPr wrap="square" lIns="0" tIns="0" rIns="0" bIns="0" rtlCol="0" anchor="ctr"/>
          <a:lstStyle/>
          <a:p>
            <a:pPr algn="l" indent="0" marL="0">
              <a:lnSpc>
                <a:spcPct val="105000"/>
              </a:lnSpc>
              <a:buNone/>
            </a:pPr>
            <a:r>
              <a:rPr lang="en-US" sz="750" b="1" spc="110" kern="0" dirty="0">
                <a:solidFill>
                  <a:srgbClr val="2563EB"/>
                </a:solidFill>
                <a:latin typeface="Arial" pitchFamily="34" charset="0"/>
                <a:ea typeface="Arial" pitchFamily="34" charset="-122"/>
                <a:cs typeface="Arial" pitchFamily="34" charset="-120"/>
              </a:rPr>
              <a:t>07 / ROI &amp; ACTION PLAN</a:t>
            </a:r>
            <a:endParaRPr lang="en-US" sz="750" dirty="0"/>
          </a:p>
        </p:txBody>
      </p:sp>
      <p:sp>
        <p:nvSpPr>
          <p:cNvPr id="5" name="Shape 3"/>
          <p:cNvSpPr/>
          <p:nvPr/>
        </p:nvSpPr>
        <p:spPr>
          <a:xfrm>
            <a:off x="8183880" y="219456"/>
            <a:ext cx="228600" cy="59436"/>
          </a:xfrm>
          <a:prstGeom prst="roundRect">
            <a:avLst>
              <a:gd name="adj" fmla="val 46154"/>
            </a:avLst>
          </a:prstGeom>
          <a:solidFill>
            <a:srgbClr val="94A3B8"/>
          </a:solidFill>
          <a:ln/>
        </p:spPr>
      </p:sp>
      <p:sp>
        <p:nvSpPr>
          <p:cNvPr id="6" name="Shape 4"/>
          <p:cNvSpPr/>
          <p:nvPr/>
        </p:nvSpPr>
        <p:spPr>
          <a:xfrm>
            <a:off x="8453628" y="219456"/>
            <a:ext cx="228600" cy="59436"/>
          </a:xfrm>
          <a:prstGeom prst="roundRect">
            <a:avLst>
              <a:gd name="adj" fmla="val 46154"/>
            </a:avLst>
          </a:prstGeom>
          <a:solidFill>
            <a:srgbClr val="94A3B8"/>
          </a:solidFill>
          <a:ln/>
        </p:spPr>
      </p:sp>
      <p:sp>
        <p:nvSpPr>
          <p:cNvPr id="7" name="Shape 5"/>
          <p:cNvSpPr/>
          <p:nvPr/>
        </p:nvSpPr>
        <p:spPr>
          <a:xfrm>
            <a:off x="8723376" y="219456"/>
            <a:ext cx="228600" cy="59436"/>
          </a:xfrm>
          <a:prstGeom prst="roundRect">
            <a:avLst>
              <a:gd name="adj" fmla="val 46154"/>
            </a:avLst>
          </a:prstGeom>
          <a:solidFill>
            <a:srgbClr val="94A3B8"/>
          </a:solidFill>
          <a:ln/>
        </p:spPr>
      </p:sp>
      <p:sp>
        <p:nvSpPr>
          <p:cNvPr id="8" name="Shape 6"/>
          <p:cNvSpPr/>
          <p:nvPr/>
        </p:nvSpPr>
        <p:spPr>
          <a:xfrm>
            <a:off x="8993124" y="219456"/>
            <a:ext cx="228600" cy="59436"/>
          </a:xfrm>
          <a:prstGeom prst="roundRect">
            <a:avLst>
              <a:gd name="adj" fmla="val 46154"/>
            </a:avLst>
          </a:prstGeom>
          <a:solidFill>
            <a:srgbClr val="94A3B8"/>
          </a:solidFill>
          <a:ln/>
        </p:spPr>
      </p:sp>
      <p:sp>
        <p:nvSpPr>
          <p:cNvPr id="9" name="Shape 7"/>
          <p:cNvSpPr/>
          <p:nvPr/>
        </p:nvSpPr>
        <p:spPr>
          <a:xfrm>
            <a:off x="9262872" y="219456"/>
            <a:ext cx="228600" cy="59436"/>
          </a:xfrm>
          <a:prstGeom prst="roundRect">
            <a:avLst>
              <a:gd name="adj" fmla="val 46154"/>
            </a:avLst>
          </a:prstGeom>
          <a:solidFill>
            <a:srgbClr val="94A3B8"/>
          </a:solidFill>
          <a:ln/>
        </p:spPr>
      </p:sp>
      <p:sp>
        <p:nvSpPr>
          <p:cNvPr id="10" name="Shape 8"/>
          <p:cNvSpPr/>
          <p:nvPr/>
        </p:nvSpPr>
        <p:spPr>
          <a:xfrm>
            <a:off x="9532620" y="219456"/>
            <a:ext cx="228600" cy="59436"/>
          </a:xfrm>
          <a:prstGeom prst="roundRect">
            <a:avLst>
              <a:gd name="adj" fmla="val 46154"/>
            </a:avLst>
          </a:prstGeom>
          <a:solidFill>
            <a:srgbClr val="94A3B8"/>
          </a:solidFill>
          <a:ln/>
        </p:spPr>
      </p:sp>
      <p:sp>
        <p:nvSpPr>
          <p:cNvPr id="11" name="Shape 9"/>
          <p:cNvSpPr/>
          <p:nvPr/>
        </p:nvSpPr>
        <p:spPr>
          <a:xfrm>
            <a:off x="9802368" y="219456"/>
            <a:ext cx="228600" cy="59436"/>
          </a:xfrm>
          <a:prstGeom prst="roundRect">
            <a:avLst>
              <a:gd name="adj" fmla="val 46154"/>
            </a:avLst>
          </a:prstGeom>
          <a:solidFill>
            <a:srgbClr val="2563EB"/>
          </a:solidFill>
          <a:ln/>
        </p:spPr>
      </p:sp>
      <p:sp>
        <p:nvSpPr>
          <p:cNvPr id="12" name="Shape 10"/>
          <p:cNvSpPr/>
          <p:nvPr/>
        </p:nvSpPr>
        <p:spPr>
          <a:xfrm>
            <a:off x="10131552" y="146304"/>
            <a:ext cx="1621231" cy="192024"/>
          </a:xfrm>
          <a:prstGeom prst="roundRect">
            <a:avLst>
              <a:gd name="adj" fmla="val 23810"/>
            </a:avLst>
          </a:prstGeom>
          <a:solidFill>
            <a:srgbClr val="FFFFFF"/>
          </a:solidFill>
          <a:ln w="9525">
            <a:solidFill>
              <a:srgbClr val="CBD5E1"/>
            </a:solidFill>
            <a:prstDash val="solid"/>
          </a:ln>
        </p:spPr>
      </p:sp>
      <p:sp>
        <p:nvSpPr>
          <p:cNvPr id="13" name="Text 11"/>
          <p:cNvSpPr/>
          <p:nvPr/>
        </p:nvSpPr>
        <p:spPr>
          <a:xfrm>
            <a:off x="10131552" y="146304"/>
            <a:ext cx="1621231" cy="192024"/>
          </a:xfrm>
          <a:prstGeom prst="rect">
            <a:avLst/>
          </a:prstGeom>
          <a:noFill/>
          <a:ln/>
        </p:spPr>
        <p:txBody>
          <a:bodyPr wrap="square" lIns="0" tIns="0" rIns="0" bIns="0" rtlCol="0" anchor="ctr"/>
          <a:lstStyle/>
          <a:p>
            <a:pPr algn="ctr" indent="0" marL="0">
              <a:lnSpc>
                <a:spcPct val="105000"/>
              </a:lnSpc>
              <a:buNone/>
            </a:pPr>
            <a:r>
              <a:rPr lang="en-US" sz="680" b="1" spc="60" kern="0" dirty="0">
                <a:solidFill>
                  <a:srgbClr val="2563EB"/>
                </a:solidFill>
                <a:latin typeface="Arial" pitchFamily="34" charset="0"/>
                <a:ea typeface="Arial" pitchFamily="34" charset="-122"/>
                <a:cs typeface="Arial" pitchFamily="34" charset="-120"/>
              </a:rPr>
              <a:t>CALL TO ACTION &amp; ROADMAP</a:t>
            </a:r>
            <a:endParaRPr lang="en-US" sz="680" dirty="0"/>
          </a:p>
        </p:txBody>
      </p:sp>
      <p:sp>
        <p:nvSpPr>
          <p:cNvPr id="14" name="Text 12"/>
          <p:cNvSpPr/>
          <p:nvPr/>
        </p:nvSpPr>
        <p:spPr>
          <a:xfrm>
            <a:off x="576072" y="338328"/>
            <a:ext cx="11176711" cy="310896"/>
          </a:xfrm>
          <a:prstGeom prst="rect">
            <a:avLst/>
          </a:prstGeom>
          <a:noFill/>
          <a:ln/>
        </p:spPr>
        <p:txBody>
          <a:bodyPr wrap="square" lIns="0" tIns="0" rIns="0" bIns="0" rtlCol="0" anchor="ctr"/>
          <a:lstStyle/>
          <a:p>
            <a:pPr algn="l" indent="0" marL="0">
              <a:lnSpc>
                <a:spcPct val="104000"/>
              </a:lnSpc>
              <a:buNone/>
            </a:pPr>
            <a:r>
              <a:rPr lang="en-US" sz="1750" b="1" dirty="0">
                <a:solidFill>
                  <a:srgbClr val="0F172A"/>
                </a:solidFill>
                <a:latin typeface="Arial" pitchFamily="34" charset="0"/>
                <a:ea typeface="Arial" pitchFamily="34" charset="-122"/>
                <a:cs typeface="Arial" pitchFamily="34" charset="-120"/>
              </a:rPr>
              <a:t>Call to Action: Execute the 14-Day Implementation Playbook &amp; Continue the Series</a:t>
            </a:r>
            <a:endParaRPr lang="en-US" sz="1750" dirty="0"/>
          </a:p>
        </p:txBody>
      </p:sp>
      <p:sp>
        <p:nvSpPr>
          <p:cNvPr id="15" name="Text 13"/>
          <p:cNvSpPr/>
          <p:nvPr/>
        </p:nvSpPr>
        <p:spPr>
          <a:xfrm>
            <a:off x="576072" y="658368"/>
            <a:ext cx="11176711" cy="192024"/>
          </a:xfrm>
          <a:prstGeom prst="rect">
            <a:avLst/>
          </a:prstGeom>
          <a:noFill/>
          <a:ln/>
        </p:spPr>
        <p:txBody>
          <a:bodyPr wrap="square" lIns="0" tIns="0" rIns="0" bIns="0" rtlCol="0" anchor="ctr"/>
          <a:lstStyle/>
          <a:p>
            <a:pPr algn="l" indent="0" marL="0">
              <a:lnSpc>
                <a:spcPct val="104000"/>
              </a:lnSpc>
              <a:buNone/>
            </a:pPr>
            <a:r>
              <a:rPr lang="en-US" sz="900" dirty="0">
                <a:solidFill>
                  <a:srgbClr val="64748B"/>
                </a:solidFill>
                <a:latin typeface="Arial" pitchFamily="34" charset="0"/>
                <a:ea typeface="Arial" pitchFamily="34" charset="-122"/>
                <a:cs typeface="Arial" pitchFamily="34" charset="-120"/>
              </a:rPr>
              <a:t>Four concrete engineering milestones to deploy this baseline in your own GCP org—followed by where each upcoming blog goes deeper.</a:t>
            </a:r>
            <a:endParaRPr lang="en-US" sz="900" dirty="0"/>
          </a:p>
        </p:txBody>
      </p:sp>
      <p:sp>
        <p:nvSpPr>
          <p:cNvPr id="16" name="Shape 14"/>
          <p:cNvSpPr/>
          <p:nvPr/>
        </p:nvSpPr>
        <p:spPr>
          <a:xfrm>
            <a:off x="438912" y="914400"/>
            <a:ext cx="11313871" cy="0"/>
          </a:xfrm>
          <a:prstGeom prst="line">
            <a:avLst/>
          </a:prstGeom>
          <a:noFill/>
          <a:ln w="10795">
            <a:solidFill>
              <a:srgbClr val="E2E8F0"/>
            </a:solidFill>
            <a:prstDash val="solid"/>
          </a:ln>
        </p:spPr>
      </p:sp>
      <p:sp>
        <p:nvSpPr>
          <p:cNvPr id="17" name="Shape 15"/>
          <p:cNvSpPr/>
          <p:nvPr/>
        </p:nvSpPr>
        <p:spPr>
          <a:xfrm>
            <a:off x="438912" y="6455664"/>
            <a:ext cx="11313871" cy="0"/>
          </a:xfrm>
          <a:prstGeom prst="line">
            <a:avLst/>
          </a:prstGeom>
          <a:noFill/>
          <a:ln w="9525">
            <a:solidFill>
              <a:srgbClr val="E2E8F0"/>
            </a:solidFill>
            <a:prstDash val="solid"/>
          </a:ln>
        </p:spPr>
      </p:sp>
      <p:sp>
        <p:nvSpPr>
          <p:cNvPr id="18" name="Text 16"/>
          <p:cNvSpPr/>
          <p:nvPr/>
        </p:nvSpPr>
        <p:spPr>
          <a:xfrm>
            <a:off x="438912" y="6501384"/>
            <a:ext cx="5852160" cy="192024"/>
          </a:xfrm>
          <a:prstGeom prst="rect">
            <a:avLst/>
          </a:prstGeom>
          <a:noFill/>
          <a:ln/>
        </p:spPr>
        <p:txBody>
          <a:bodyPr wrap="square" lIns="0" tIns="0" rIns="0" bIns="0" rtlCol="0" anchor="ctr"/>
          <a:lstStyle/>
          <a:p>
            <a:pPr algn="l" indent="0" marL="0">
              <a:lnSpc>
                <a:spcPct val="105000"/>
              </a:lnSpc>
              <a:buNone/>
            </a:pPr>
            <a:r>
              <a:rPr lang="en-US" sz="680" b="1" spc="40" kern="0" dirty="0">
                <a:solidFill>
                  <a:srgbClr val="64748B"/>
                </a:solidFill>
                <a:latin typeface="Arial" pitchFamily="34" charset="0"/>
                <a:ea typeface="Arial" pitchFamily="34" charset="-122"/>
                <a:cs typeface="Arial" pitchFamily="34" charset="-120"/>
              </a:rPr>
              <a:t>GOOGLE CLOUD AI ARCHITECTURE  •  BLOG 1: MULTI-TENANT AGENTIC AI TAXONOMY &amp; 5-HOP BASELINE</a:t>
            </a:r>
            <a:endParaRPr lang="en-US" sz="680" dirty="0"/>
          </a:p>
        </p:txBody>
      </p:sp>
      <p:sp>
        <p:nvSpPr>
          <p:cNvPr id="19" name="Text 17"/>
          <p:cNvSpPr/>
          <p:nvPr/>
        </p:nvSpPr>
        <p:spPr>
          <a:xfrm>
            <a:off x="6355080" y="6501384"/>
            <a:ext cx="4206240" cy="192024"/>
          </a:xfrm>
          <a:prstGeom prst="rect">
            <a:avLst/>
          </a:prstGeom>
          <a:noFill/>
          <a:ln/>
        </p:spPr>
        <p:txBody>
          <a:bodyPr wrap="square" lIns="0" tIns="0" rIns="0" bIns="0" rtlCol="0" anchor="ctr"/>
          <a:lstStyle/>
          <a:p>
            <a:pPr algn="r" indent="0" marL="0">
              <a:lnSpc>
                <a:spcPct val="105000"/>
              </a:lnSpc>
              <a:buNone/>
            </a:pPr>
            <a:r>
              <a:rPr lang="en-US" sz="680" dirty="0">
                <a:solidFill>
                  <a:srgbClr val="64748B"/>
                </a:solidFill>
                <a:latin typeface="Arial" pitchFamily="34" charset="0"/>
                <a:ea typeface="Arial" pitchFamily="34" charset="-122"/>
                <a:cs typeface="Arial" pitchFamily="34" charset="-120"/>
              </a:rPr>
              <a:t>Actionable Adoption Plan  •  27-File Workbench + Terraform Modules + 5-Blog Series</a:t>
            </a:r>
            <a:endParaRPr lang="en-US" sz="680" dirty="0"/>
          </a:p>
        </p:txBody>
      </p:sp>
      <p:sp>
        <p:nvSpPr>
          <p:cNvPr id="20" name="Shape 18"/>
          <p:cNvSpPr/>
          <p:nvPr/>
        </p:nvSpPr>
        <p:spPr>
          <a:xfrm>
            <a:off x="11002975" y="6501384"/>
            <a:ext cx="749808" cy="192024"/>
          </a:xfrm>
          <a:prstGeom prst="roundRect">
            <a:avLst>
              <a:gd name="adj" fmla="val 19048"/>
            </a:avLst>
          </a:prstGeom>
          <a:solidFill>
            <a:srgbClr val="F1F5F9"/>
          </a:solidFill>
          <a:ln w="7620">
            <a:solidFill>
              <a:srgbClr val="E2E8F0"/>
            </a:solidFill>
            <a:prstDash val="solid"/>
          </a:ln>
        </p:spPr>
      </p:sp>
      <p:sp>
        <p:nvSpPr>
          <p:cNvPr id="21" name="Text 19"/>
          <p:cNvSpPr/>
          <p:nvPr/>
        </p:nvSpPr>
        <p:spPr>
          <a:xfrm>
            <a:off x="11002975" y="6501384"/>
            <a:ext cx="749808" cy="192024"/>
          </a:xfrm>
          <a:prstGeom prst="rect">
            <a:avLst/>
          </a:prstGeom>
          <a:noFill/>
          <a:ln/>
        </p:spPr>
        <p:txBody>
          <a:bodyPr wrap="square" lIns="0" tIns="0" rIns="0" bIns="0" rtlCol="0" anchor="ctr"/>
          <a:lstStyle/>
          <a:p>
            <a:pPr algn="ctr" indent="0" marL="0">
              <a:lnSpc>
                <a:spcPct val="105000"/>
              </a:lnSpc>
              <a:buNone/>
            </a:pPr>
            <a:r>
              <a:rPr lang="en-US" sz="700" b="1" dirty="0">
                <a:solidFill>
                  <a:srgbClr val="334155"/>
                </a:solidFill>
                <a:latin typeface="Arial" pitchFamily="34" charset="0"/>
                <a:ea typeface="Arial" pitchFamily="34" charset="-122"/>
                <a:cs typeface="Arial" pitchFamily="34" charset="-120"/>
              </a:rPr>
              <a:t>23 / 23</a:t>
            </a:r>
            <a:endParaRPr lang="en-US" sz="700" dirty="0"/>
          </a:p>
        </p:txBody>
      </p:sp>
      <p:sp>
        <p:nvSpPr>
          <p:cNvPr id="22" name="Shape 20"/>
          <p:cNvSpPr/>
          <p:nvPr/>
        </p:nvSpPr>
        <p:spPr>
          <a:xfrm>
            <a:off x="461772" y="1049731"/>
            <a:ext cx="11313871" cy="2670048"/>
          </a:xfrm>
          <a:prstGeom prst="roundRect">
            <a:avLst>
              <a:gd name="adj" fmla="val 2397"/>
            </a:avLst>
          </a:prstGeom>
          <a:solidFill>
            <a:srgbClr val="E2E8F0"/>
          </a:solidFill>
          <a:ln/>
        </p:spPr>
      </p:sp>
      <p:sp>
        <p:nvSpPr>
          <p:cNvPr id="23" name="Shape 21"/>
          <p:cNvSpPr/>
          <p:nvPr/>
        </p:nvSpPr>
        <p:spPr>
          <a:xfrm>
            <a:off x="438912" y="1024128"/>
            <a:ext cx="11313871" cy="2670048"/>
          </a:xfrm>
          <a:prstGeom prst="roundRect">
            <a:avLst>
              <a:gd name="adj" fmla="val 2397"/>
            </a:avLst>
          </a:prstGeom>
          <a:solidFill>
            <a:srgbClr val="FFFFFF"/>
          </a:solidFill>
          <a:ln w="10795">
            <a:solidFill>
              <a:srgbClr val="BFDBFE"/>
            </a:solidFill>
            <a:prstDash val="solid"/>
          </a:ln>
        </p:spPr>
      </p:sp>
      <p:sp>
        <p:nvSpPr>
          <p:cNvPr id="24" name="Shape 22"/>
          <p:cNvSpPr/>
          <p:nvPr/>
        </p:nvSpPr>
        <p:spPr>
          <a:xfrm>
            <a:off x="438912" y="1024128"/>
            <a:ext cx="11313871" cy="50292"/>
          </a:xfrm>
          <a:prstGeom prst="roundRect">
            <a:avLst>
              <a:gd name="adj" fmla="val 36364"/>
            </a:avLst>
          </a:prstGeom>
          <a:solidFill>
            <a:srgbClr val="2563EB"/>
          </a:solidFill>
          <a:ln/>
        </p:spPr>
      </p:sp>
      <p:sp>
        <p:nvSpPr>
          <p:cNvPr id="25" name="Text 23"/>
          <p:cNvSpPr/>
          <p:nvPr/>
        </p:nvSpPr>
        <p:spPr>
          <a:xfrm>
            <a:off x="603504" y="1133856"/>
            <a:ext cx="7772400" cy="182880"/>
          </a:xfrm>
          <a:prstGeom prst="rect">
            <a:avLst/>
          </a:prstGeom>
          <a:noFill/>
          <a:ln/>
        </p:spPr>
        <p:txBody>
          <a:bodyPr wrap="square" lIns="0" tIns="0" rIns="0" bIns="0" rtlCol="0" anchor="ctr"/>
          <a:lstStyle/>
          <a:p>
            <a:pPr indent="0" marL="0">
              <a:lnSpc>
                <a:spcPct val="105000"/>
              </a:lnSpc>
              <a:buNone/>
            </a:pPr>
            <a:r>
              <a:rPr lang="en-US" sz="740" b="1" spc="70" kern="0" dirty="0">
                <a:solidFill>
                  <a:srgbClr val="2563EB"/>
                </a:solidFill>
                <a:latin typeface="Arial" pitchFamily="34" charset="0"/>
                <a:ea typeface="Arial" pitchFamily="34" charset="-122"/>
                <a:cs typeface="Arial" pitchFamily="34" charset="-120"/>
              </a:rPr>
              <a:t>YOUR 14-DAY MULTI-TENANT AGENTIC AI IMPLEMENTATION PLAYBOOK</a:t>
            </a:r>
            <a:endParaRPr lang="en-US" sz="740" dirty="0"/>
          </a:p>
        </p:txBody>
      </p:sp>
      <p:sp>
        <p:nvSpPr>
          <p:cNvPr id="26" name="Shape 24"/>
          <p:cNvSpPr/>
          <p:nvPr/>
        </p:nvSpPr>
        <p:spPr>
          <a:xfrm>
            <a:off x="3198571" y="2478024"/>
            <a:ext cx="201168" cy="0"/>
          </a:xfrm>
          <a:prstGeom prst="line">
            <a:avLst/>
          </a:prstGeom>
          <a:noFill/>
          <a:ln w="19050">
            <a:solidFill>
              <a:srgbClr val="1E293B"/>
            </a:solidFill>
            <a:prstDash val="solid"/>
            <a:tailEnd type="triangle" w="sm" len="sm"/>
          </a:ln>
        </p:spPr>
      </p:sp>
      <p:sp>
        <p:nvSpPr>
          <p:cNvPr id="27" name="Shape 25"/>
          <p:cNvSpPr/>
          <p:nvPr/>
        </p:nvSpPr>
        <p:spPr>
          <a:xfrm>
            <a:off x="603504" y="1408176"/>
            <a:ext cx="2595067" cy="2139696"/>
          </a:xfrm>
          <a:prstGeom prst="roundRect">
            <a:avLst>
              <a:gd name="adj" fmla="val 2991"/>
            </a:avLst>
          </a:prstGeom>
          <a:solidFill>
            <a:srgbClr val="F0FDFA"/>
          </a:solidFill>
          <a:ln w="10795">
            <a:solidFill>
              <a:srgbClr val="99F6E4"/>
            </a:solidFill>
            <a:prstDash val="solid"/>
          </a:ln>
        </p:spPr>
      </p:sp>
      <p:sp>
        <p:nvSpPr>
          <p:cNvPr id="28" name="Shape 26"/>
          <p:cNvSpPr/>
          <p:nvPr/>
        </p:nvSpPr>
        <p:spPr>
          <a:xfrm>
            <a:off x="603504" y="1408176"/>
            <a:ext cx="2595067" cy="50292"/>
          </a:xfrm>
          <a:prstGeom prst="roundRect">
            <a:avLst>
              <a:gd name="adj" fmla="val 36364"/>
            </a:avLst>
          </a:prstGeom>
          <a:solidFill>
            <a:srgbClr val="0F766E"/>
          </a:solidFill>
          <a:ln/>
        </p:spPr>
      </p:sp>
      <p:sp>
        <p:nvSpPr>
          <p:cNvPr id="29" name="Shape 27"/>
          <p:cNvSpPr/>
          <p:nvPr/>
        </p:nvSpPr>
        <p:spPr>
          <a:xfrm>
            <a:off x="713232" y="1536192"/>
            <a:ext cx="2375611" cy="201168"/>
          </a:xfrm>
          <a:prstGeom prst="roundRect">
            <a:avLst>
              <a:gd name="adj" fmla="val 36364"/>
            </a:avLst>
          </a:prstGeom>
          <a:solidFill>
            <a:srgbClr val="0F766E"/>
          </a:solidFill>
          <a:ln/>
        </p:spPr>
      </p:sp>
      <p:sp>
        <p:nvSpPr>
          <p:cNvPr id="30" name="Text 28"/>
          <p:cNvSpPr/>
          <p:nvPr/>
        </p:nvSpPr>
        <p:spPr>
          <a:xfrm>
            <a:off x="713232" y="1536192"/>
            <a:ext cx="2375611" cy="201168"/>
          </a:xfrm>
          <a:prstGeom prst="rect">
            <a:avLst/>
          </a:prstGeom>
          <a:noFill/>
          <a:ln/>
        </p:spPr>
        <p:txBody>
          <a:bodyPr wrap="square" lIns="0" tIns="0" rIns="0" bIns="0" rtlCol="0" anchor="ctr"/>
          <a:lstStyle/>
          <a:p>
            <a:pPr algn="ctr" indent="0" marL="0">
              <a:lnSpc>
                <a:spcPct val="105000"/>
              </a:lnSpc>
              <a:buNone/>
            </a:pPr>
            <a:r>
              <a:rPr lang="en-US" sz="640" b="1" dirty="0">
                <a:solidFill>
                  <a:srgbClr val="FFFFFF"/>
                </a:solidFill>
                <a:latin typeface="Arial" pitchFamily="34" charset="0"/>
                <a:ea typeface="Arial" pitchFamily="34" charset="-122"/>
                <a:cs typeface="Arial" pitchFamily="34" charset="-120"/>
              </a:rPr>
              <a:t>STEP 1  •  DAY 1</a:t>
            </a:r>
            <a:endParaRPr lang="en-US" sz="640" dirty="0"/>
          </a:p>
        </p:txBody>
      </p:sp>
      <p:sp>
        <p:nvSpPr>
          <p:cNvPr id="31" name="Text 29"/>
          <p:cNvSpPr/>
          <p:nvPr/>
        </p:nvSpPr>
        <p:spPr>
          <a:xfrm>
            <a:off x="713232" y="1810512"/>
            <a:ext cx="2375611" cy="329184"/>
          </a:xfrm>
          <a:prstGeom prst="rect">
            <a:avLst/>
          </a:prstGeom>
          <a:noFill/>
          <a:ln/>
        </p:spPr>
        <p:txBody>
          <a:bodyPr wrap="square" lIns="0" tIns="0" rIns="0" bIns="0" rtlCol="0" anchor="ctr"/>
          <a:lstStyle/>
          <a:p>
            <a:pPr indent="0" marL="0">
              <a:lnSpc>
                <a:spcPct val="105000"/>
              </a:lnSpc>
              <a:buNone/>
            </a:pPr>
            <a:r>
              <a:rPr lang="en-US" sz="880" b="1" dirty="0">
                <a:solidFill>
                  <a:srgbClr val="0F172A"/>
                </a:solidFill>
                <a:latin typeface="Arial" pitchFamily="34" charset="0"/>
                <a:ea typeface="Arial" pitchFamily="34" charset="-122"/>
                <a:cs typeface="Arial" pitchFamily="34" charset="-120"/>
              </a:rPr>
              <a:t>Classify Your Tenant Portfolio</a:t>
            </a:r>
            <a:endParaRPr lang="en-US" sz="880" dirty="0"/>
          </a:p>
        </p:txBody>
      </p:sp>
      <p:sp>
        <p:nvSpPr>
          <p:cNvPr id="32" name="Text 30"/>
          <p:cNvSpPr/>
          <p:nvPr/>
        </p:nvSpPr>
        <p:spPr>
          <a:xfrm>
            <a:off x="713232" y="2176272"/>
            <a:ext cx="2375611" cy="859536"/>
          </a:xfrm>
          <a:prstGeom prst="rect">
            <a:avLst/>
          </a:prstGeom>
          <a:noFill/>
          <a:ln/>
        </p:spPr>
        <p:txBody>
          <a:bodyPr wrap="square" lIns="0" tIns="0" rIns="0" bIns="0" rtlCol="0" anchor="ctr"/>
          <a:lstStyle/>
          <a:p>
            <a:pPr indent="0" marL="0">
              <a:lnSpc>
                <a:spcPct val="108000"/>
              </a:lnSpc>
              <a:buNone/>
            </a:pPr>
            <a:r>
              <a:rPr lang="en-US" sz="720" dirty="0">
                <a:solidFill>
                  <a:srgbClr val="334155"/>
                </a:solidFill>
                <a:latin typeface="Arial" pitchFamily="34" charset="0"/>
                <a:ea typeface="Arial" pitchFamily="34" charset="-122"/>
                <a:cs typeface="Arial" pitchFamily="34" charset="-120"/>
              </a:rPr>
              <a:t>Run every customer through the 2-Question Decision Tree (Slide 6) to tag Pooled (A), Silo (B), or Hybrid PSC (C) contracts.</a:t>
            </a:r>
            <a:endParaRPr lang="en-US" sz="720" dirty="0"/>
          </a:p>
        </p:txBody>
      </p:sp>
      <p:sp>
        <p:nvSpPr>
          <p:cNvPr id="33" name="Shape 31"/>
          <p:cNvSpPr/>
          <p:nvPr/>
        </p:nvSpPr>
        <p:spPr>
          <a:xfrm>
            <a:off x="694944" y="3108960"/>
            <a:ext cx="2412187" cy="347472"/>
          </a:xfrm>
          <a:prstGeom prst="roundRect">
            <a:avLst>
              <a:gd name="adj" fmla="val 18421"/>
            </a:avLst>
          </a:prstGeom>
          <a:solidFill>
            <a:srgbClr val="FFFFFF"/>
          </a:solidFill>
          <a:ln w="10795">
            <a:solidFill>
              <a:srgbClr val="99F6E4"/>
            </a:solidFill>
            <a:prstDash val="solid"/>
          </a:ln>
        </p:spPr>
      </p:sp>
      <p:sp>
        <p:nvSpPr>
          <p:cNvPr id="34" name="Text 32"/>
          <p:cNvSpPr/>
          <p:nvPr/>
        </p:nvSpPr>
        <p:spPr>
          <a:xfrm>
            <a:off x="749808" y="3136392"/>
            <a:ext cx="2302459" cy="292608"/>
          </a:xfrm>
          <a:prstGeom prst="rect">
            <a:avLst/>
          </a:prstGeom>
          <a:noFill/>
          <a:ln/>
        </p:spPr>
        <p:txBody>
          <a:bodyPr wrap="square" lIns="0" tIns="0" rIns="0" bIns="0" rtlCol="0" anchor="ctr"/>
          <a:lstStyle/>
          <a:p>
            <a:pPr indent="0" marL="0">
              <a:lnSpc>
                <a:spcPct val="104000"/>
              </a:lnSpc>
              <a:buNone/>
            </a:pPr>
            <a:r>
              <a:rPr lang="en-US" sz="660" b="1" dirty="0">
                <a:solidFill>
                  <a:srgbClr val="0F766E"/>
                </a:solidFill>
                <a:latin typeface="Arial" pitchFamily="34" charset="0"/>
                <a:ea typeface="Arial" pitchFamily="34" charset="-122"/>
                <a:cs typeface="Arial" pitchFamily="34" charset="-120"/>
              </a:rPr>
              <a:t>Exit: Signed tenant tier matrix + RPM &amp; CMEK SLA policy.</a:t>
            </a:r>
            <a:endParaRPr lang="en-US" sz="660" dirty="0"/>
          </a:p>
        </p:txBody>
      </p:sp>
      <p:sp>
        <p:nvSpPr>
          <p:cNvPr id="35" name="Shape 33"/>
          <p:cNvSpPr/>
          <p:nvPr/>
        </p:nvSpPr>
        <p:spPr>
          <a:xfrm>
            <a:off x="5994806" y="2478024"/>
            <a:ext cx="201168" cy="0"/>
          </a:xfrm>
          <a:prstGeom prst="line">
            <a:avLst/>
          </a:prstGeom>
          <a:noFill/>
          <a:ln w="19050">
            <a:solidFill>
              <a:srgbClr val="1E293B"/>
            </a:solidFill>
            <a:prstDash val="solid"/>
            <a:tailEnd type="triangle" w="sm" len="sm"/>
          </a:ln>
        </p:spPr>
      </p:sp>
      <p:sp>
        <p:nvSpPr>
          <p:cNvPr id="36" name="Shape 34"/>
          <p:cNvSpPr/>
          <p:nvPr/>
        </p:nvSpPr>
        <p:spPr>
          <a:xfrm>
            <a:off x="3399739" y="1408176"/>
            <a:ext cx="2595067" cy="2139696"/>
          </a:xfrm>
          <a:prstGeom prst="roundRect">
            <a:avLst>
              <a:gd name="adj" fmla="val 2991"/>
            </a:avLst>
          </a:prstGeom>
          <a:solidFill>
            <a:srgbClr val="EEF2FF"/>
          </a:solidFill>
          <a:ln w="10795">
            <a:solidFill>
              <a:srgbClr val="C7D2FE"/>
            </a:solidFill>
            <a:prstDash val="solid"/>
          </a:ln>
        </p:spPr>
      </p:sp>
      <p:sp>
        <p:nvSpPr>
          <p:cNvPr id="37" name="Shape 35"/>
          <p:cNvSpPr/>
          <p:nvPr/>
        </p:nvSpPr>
        <p:spPr>
          <a:xfrm>
            <a:off x="3399739" y="1408176"/>
            <a:ext cx="2595067" cy="50292"/>
          </a:xfrm>
          <a:prstGeom prst="roundRect">
            <a:avLst>
              <a:gd name="adj" fmla="val 36364"/>
            </a:avLst>
          </a:prstGeom>
          <a:solidFill>
            <a:srgbClr val="4338CA"/>
          </a:solidFill>
          <a:ln/>
        </p:spPr>
      </p:sp>
      <p:sp>
        <p:nvSpPr>
          <p:cNvPr id="38" name="Shape 36"/>
          <p:cNvSpPr/>
          <p:nvPr/>
        </p:nvSpPr>
        <p:spPr>
          <a:xfrm>
            <a:off x="3509467" y="1536192"/>
            <a:ext cx="2375611" cy="201168"/>
          </a:xfrm>
          <a:prstGeom prst="roundRect">
            <a:avLst>
              <a:gd name="adj" fmla="val 36364"/>
            </a:avLst>
          </a:prstGeom>
          <a:solidFill>
            <a:srgbClr val="4338CA"/>
          </a:solidFill>
          <a:ln/>
        </p:spPr>
      </p:sp>
      <p:sp>
        <p:nvSpPr>
          <p:cNvPr id="39" name="Text 37"/>
          <p:cNvSpPr/>
          <p:nvPr/>
        </p:nvSpPr>
        <p:spPr>
          <a:xfrm>
            <a:off x="3509467" y="1536192"/>
            <a:ext cx="2375611" cy="201168"/>
          </a:xfrm>
          <a:prstGeom prst="rect">
            <a:avLst/>
          </a:prstGeom>
          <a:noFill/>
          <a:ln/>
        </p:spPr>
        <p:txBody>
          <a:bodyPr wrap="square" lIns="0" tIns="0" rIns="0" bIns="0" rtlCol="0" anchor="ctr"/>
          <a:lstStyle/>
          <a:p>
            <a:pPr algn="ctr" indent="0" marL="0">
              <a:lnSpc>
                <a:spcPct val="105000"/>
              </a:lnSpc>
              <a:buNone/>
            </a:pPr>
            <a:r>
              <a:rPr lang="en-US" sz="640" b="1" dirty="0">
                <a:solidFill>
                  <a:srgbClr val="FFFFFF"/>
                </a:solidFill>
                <a:latin typeface="Arial" pitchFamily="34" charset="0"/>
                <a:ea typeface="Arial" pitchFamily="34" charset="-122"/>
                <a:cs typeface="Arial" pitchFamily="34" charset="-120"/>
              </a:rPr>
              <a:t>STEP 2  •  DAY 2</a:t>
            </a:r>
            <a:endParaRPr lang="en-US" sz="640" dirty="0"/>
          </a:p>
        </p:txBody>
      </p:sp>
      <p:sp>
        <p:nvSpPr>
          <p:cNvPr id="40" name="Text 38"/>
          <p:cNvSpPr/>
          <p:nvPr/>
        </p:nvSpPr>
        <p:spPr>
          <a:xfrm>
            <a:off x="3509467" y="1810512"/>
            <a:ext cx="2375611" cy="329184"/>
          </a:xfrm>
          <a:prstGeom prst="rect">
            <a:avLst/>
          </a:prstGeom>
          <a:noFill/>
          <a:ln/>
        </p:spPr>
        <p:txBody>
          <a:bodyPr wrap="square" lIns="0" tIns="0" rIns="0" bIns="0" rtlCol="0" anchor="ctr"/>
          <a:lstStyle/>
          <a:p>
            <a:pPr indent="0" marL="0">
              <a:lnSpc>
                <a:spcPct val="105000"/>
              </a:lnSpc>
              <a:buNone/>
            </a:pPr>
            <a:r>
              <a:rPr lang="en-US" sz="880" b="1" dirty="0">
                <a:solidFill>
                  <a:srgbClr val="0F172A"/>
                </a:solidFill>
                <a:latin typeface="Arial" pitchFamily="34" charset="0"/>
                <a:ea typeface="Arial" pitchFamily="34" charset="-122"/>
                <a:cs typeface="Arial" pitchFamily="34" charset="-120"/>
              </a:rPr>
              <a:t>Boot the 27-File ADK Workbench</a:t>
            </a:r>
            <a:endParaRPr lang="en-US" sz="880" dirty="0"/>
          </a:p>
        </p:txBody>
      </p:sp>
      <p:sp>
        <p:nvSpPr>
          <p:cNvPr id="41" name="Text 39"/>
          <p:cNvSpPr/>
          <p:nvPr/>
        </p:nvSpPr>
        <p:spPr>
          <a:xfrm>
            <a:off x="3509467" y="2176272"/>
            <a:ext cx="2375611" cy="859536"/>
          </a:xfrm>
          <a:prstGeom prst="rect">
            <a:avLst/>
          </a:prstGeom>
          <a:noFill/>
          <a:ln/>
        </p:spPr>
        <p:txBody>
          <a:bodyPr wrap="square" lIns="0" tIns="0" rIns="0" bIns="0" rtlCol="0" anchor="ctr"/>
          <a:lstStyle/>
          <a:p>
            <a:pPr indent="0" marL="0">
              <a:lnSpc>
                <a:spcPct val="108000"/>
              </a:lnSpc>
              <a:buNone/>
            </a:pPr>
            <a:r>
              <a:rPr lang="en-US" sz="720" dirty="0">
                <a:solidFill>
                  <a:srgbClr val="334155"/>
                </a:solidFill>
                <a:latin typeface="Arial" pitchFamily="34" charset="0"/>
                <a:ea typeface="Arial" pitchFamily="34" charset="-122"/>
                <a:cs typeface="Arial" pitchFamily="34" charset="-120"/>
              </a:rPr>
              <a:t>Clone core-cymbal-agent/ and run the local 5-Hop test harness validating ES256 JWT minting, ARD pruning, and composite 3LO keys.</a:t>
            </a:r>
            <a:endParaRPr lang="en-US" sz="720" dirty="0"/>
          </a:p>
        </p:txBody>
      </p:sp>
      <p:sp>
        <p:nvSpPr>
          <p:cNvPr id="42" name="Shape 40"/>
          <p:cNvSpPr/>
          <p:nvPr/>
        </p:nvSpPr>
        <p:spPr>
          <a:xfrm>
            <a:off x="3491179" y="3108960"/>
            <a:ext cx="2412187" cy="347472"/>
          </a:xfrm>
          <a:prstGeom prst="roundRect">
            <a:avLst>
              <a:gd name="adj" fmla="val 18421"/>
            </a:avLst>
          </a:prstGeom>
          <a:solidFill>
            <a:srgbClr val="FFFFFF"/>
          </a:solidFill>
          <a:ln w="10795">
            <a:solidFill>
              <a:srgbClr val="C7D2FE"/>
            </a:solidFill>
            <a:prstDash val="solid"/>
          </a:ln>
        </p:spPr>
      </p:sp>
      <p:sp>
        <p:nvSpPr>
          <p:cNvPr id="43" name="Text 41"/>
          <p:cNvSpPr/>
          <p:nvPr/>
        </p:nvSpPr>
        <p:spPr>
          <a:xfrm>
            <a:off x="3546043" y="3136392"/>
            <a:ext cx="2302459" cy="292608"/>
          </a:xfrm>
          <a:prstGeom prst="rect">
            <a:avLst/>
          </a:prstGeom>
          <a:noFill/>
          <a:ln/>
        </p:spPr>
        <p:txBody>
          <a:bodyPr wrap="square" lIns="0" tIns="0" rIns="0" bIns="0" rtlCol="0" anchor="ctr"/>
          <a:lstStyle/>
          <a:p>
            <a:pPr indent="0" marL="0">
              <a:lnSpc>
                <a:spcPct val="104000"/>
              </a:lnSpc>
              <a:buNone/>
            </a:pPr>
            <a:r>
              <a:rPr lang="en-US" sz="660" b="1" dirty="0">
                <a:solidFill>
                  <a:srgbClr val="4338CA"/>
                </a:solidFill>
                <a:latin typeface="Arial" pitchFamily="34" charset="0"/>
                <a:ea typeface="Arial" pitchFamily="34" charset="-122"/>
                <a:cs typeface="Arial" pitchFamily="34" charset="-120"/>
              </a:rPr>
              <a:t>Exit: Local Hop 1–5 unit &amp; Confused-Deputy tests green.</a:t>
            </a:r>
            <a:endParaRPr lang="en-US" sz="660" dirty="0"/>
          </a:p>
        </p:txBody>
      </p:sp>
      <p:sp>
        <p:nvSpPr>
          <p:cNvPr id="44" name="Shape 42"/>
          <p:cNvSpPr/>
          <p:nvPr/>
        </p:nvSpPr>
        <p:spPr>
          <a:xfrm>
            <a:off x="8791042" y="2478024"/>
            <a:ext cx="201168" cy="0"/>
          </a:xfrm>
          <a:prstGeom prst="line">
            <a:avLst/>
          </a:prstGeom>
          <a:noFill/>
          <a:ln w="19050">
            <a:solidFill>
              <a:srgbClr val="1E293B"/>
            </a:solidFill>
            <a:prstDash val="solid"/>
            <a:tailEnd type="triangle" w="sm" len="sm"/>
          </a:ln>
        </p:spPr>
      </p:sp>
      <p:sp>
        <p:nvSpPr>
          <p:cNvPr id="45" name="Shape 43"/>
          <p:cNvSpPr/>
          <p:nvPr/>
        </p:nvSpPr>
        <p:spPr>
          <a:xfrm>
            <a:off x="6195974" y="1408176"/>
            <a:ext cx="2595067" cy="2139696"/>
          </a:xfrm>
          <a:prstGeom prst="roundRect">
            <a:avLst>
              <a:gd name="adj" fmla="val 2991"/>
            </a:avLst>
          </a:prstGeom>
          <a:solidFill>
            <a:srgbClr val="EFF6FF"/>
          </a:solidFill>
          <a:ln w="10795">
            <a:solidFill>
              <a:srgbClr val="BFDBFE"/>
            </a:solidFill>
            <a:prstDash val="solid"/>
          </a:ln>
        </p:spPr>
      </p:sp>
      <p:sp>
        <p:nvSpPr>
          <p:cNvPr id="46" name="Shape 44"/>
          <p:cNvSpPr/>
          <p:nvPr/>
        </p:nvSpPr>
        <p:spPr>
          <a:xfrm>
            <a:off x="6195974" y="1408176"/>
            <a:ext cx="2595067" cy="50292"/>
          </a:xfrm>
          <a:prstGeom prst="roundRect">
            <a:avLst>
              <a:gd name="adj" fmla="val 36364"/>
            </a:avLst>
          </a:prstGeom>
          <a:solidFill>
            <a:srgbClr val="1D4ED8"/>
          </a:solidFill>
          <a:ln/>
        </p:spPr>
      </p:sp>
      <p:sp>
        <p:nvSpPr>
          <p:cNvPr id="47" name="Shape 45"/>
          <p:cNvSpPr/>
          <p:nvPr/>
        </p:nvSpPr>
        <p:spPr>
          <a:xfrm>
            <a:off x="6305702" y="1536192"/>
            <a:ext cx="2375611" cy="201168"/>
          </a:xfrm>
          <a:prstGeom prst="roundRect">
            <a:avLst>
              <a:gd name="adj" fmla="val 36364"/>
            </a:avLst>
          </a:prstGeom>
          <a:solidFill>
            <a:srgbClr val="1D4ED8"/>
          </a:solidFill>
          <a:ln/>
        </p:spPr>
      </p:sp>
      <p:sp>
        <p:nvSpPr>
          <p:cNvPr id="48" name="Text 46"/>
          <p:cNvSpPr/>
          <p:nvPr/>
        </p:nvSpPr>
        <p:spPr>
          <a:xfrm>
            <a:off x="6305702" y="1536192"/>
            <a:ext cx="2375611" cy="201168"/>
          </a:xfrm>
          <a:prstGeom prst="rect">
            <a:avLst/>
          </a:prstGeom>
          <a:noFill/>
          <a:ln/>
        </p:spPr>
        <p:txBody>
          <a:bodyPr wrap="square" lIns="0" tIns="0" rIns="0" bIns="0" rtlCol="0" anchor="ctr"/>
          <a:lstStyle/>
          <a:p>
            <a:pPr algn="ctr" indent="0" marL="0">
              <a:lnSpc>
                <a:spcPct val="105000"/>
              </a:lnSpc>
              <a:buNone/>
            </a:pPr>
            <a:r>
              <a:rPr lang="en-US" sz="640" b="1" dirty="0">
                <a:solidFill>
                  <a:srgbClr val="FFFFFF"/>
                </a:solidFill>
                <a:latin typeface="Arial" pitchFamily="34" charset="0"/>
                <a:ea typeface="Arial" pitchFamily="34" charset="-122"/>
                <a:cs typeface="Arial" pitchFamily="34" charset="-120"/>
              </a:rPr>
              <a:t>STEP 3  •  WEEK 1</a:t>
            </a:r>
            <a:endParaRPr lang="en-US" sz="640" dirty="0"/>
          </a:p>
        </p:txBody>
      </p:sp>
      <p:sp>
        <p:nvSpPr>
          <p:cNvPr id="49" name="Text 47"/>
          <p:cNvSpPr/>
          <p:nvPr/>
        </p:nvSpPr>
        <p:spPr>
          <a:xfrm>
            <a:off x="6305702" y="1810512"/>
            <a:ext cx="2375611" cy="329184"/>
          </a:xfrm>
          <a:prstGeom prst="rect">
            <a:avLst/>
          </a:prstGeom>
          <a:noFill/>
          <a:ln/>
        </p:spPr>
        <p:txBody>
          <a:bodyPr wrap="square" lIns="0" tIns="0" rIns="0" bIns="0" rtlCol="0" anchor="ctr"/>
          <a:lstStyle/>
          <a:p>
            <a:pPr indent="0" marL="0">
              <a:lnSpc>
                <a:spcPct val="105000"/>
              </a:lnSpc>
              <a:buNone/>
            </a:pPr>
            <a:r>
              <a:rPr lang="en-US" sz="880" b="1" dirty="0">
                <a:solidFill>
                  <a:srgbClr val="0F172A"/>
                </a:solidFill>
                <a:latin typeface="Arial" pitchFamily="34" charset="0"/>
                <a:ea typeface="Arial" pitchFamily="34" charset="-122"/>
                <a:cs typeface="Arial" pitchFamily="34" charset="-120"/>
              </a:rPr>
              <a:t>Apply Perimeter Terraform &amp; OTel</a:t>
            </a:r>
            <a:endParaRPr lang="en-US" sz="880" dirty="0"/>
          </a:p>
        </p:txBody>
      </p:sp>
      <p:sp>
        <p:nvSpPr>
          <p:cNvPr id="50" name="Text 48"/>
          <p:cNvSpPr/>
          <p:nvPr/>
        </p:nvSpPr>
        <p:spPr>
          <a:xfrm>
            <a:off x="6305702" y="2176272"/>
            <a:ext cx="2375611" cy="859536"/>
          </a:xfrm>
          <a:prstGeom prst="rect">
            <a:avLst/>
          </a:prstGeom>
          <a:noFill/>
          <a:ln/>
        </p:spPr>
        <p:txBody>
          <a:bodyPr wrap="square" lIns="0" tIns="0" rIns="0" bIns="0" rtlCol="0" anchor="ctr"/>
          <a:lstStyle/>
          <a:p>
            <a:pPr indent="0" marL="0">
              <a:lnSpc>
                <a:spcPct val="108000"/>
              </a:lnSpc>
              <a:buNone/>
            </a:pPr>
            <a:r>
              <a:rPr lang="en-US" sz="720" dirty="0">
                <a:solidFill>
                  <a:srgbClr val="334155"/>
                </a:solidFill>
                <a:latin typeface="Arial" pitchFamily="34" charset="0"/>
                <a:ea typeface="Arial" pitchFamily="34" charset="-122"/>
                <a:cs typeface="Arial" pitchFamily="34" charset="-120"/>
              </a:rPr>
              <a:t>Deploy Cloud Armor header strip, Valkey Lua token buckets, AlloyDB FORCE RLS, and BigQuery cymbal_agentic_finops_otel sink.</a:t>
            </a:r>
            <a:endParaRPr lang="en-US" sz="720" dirty="0"/>
          </a:p>
        </p:txBody>
      </p:sp>
      <p:sp>
        <p:nvSpPr>
          <p:cNvPr id="51" name="Shape 49"/>
          <p:cNvSpPr/>
          <p:nvPr/>
        </p:nvSpPr>
        <p:spPr>
          <a:xfrm>
            <a:off x="6287414" y="3108960"/>
            <a:ext cx="2412187" cy="347472"/>
          </a:xfrm>
          <a:prstGeom prst="roundRect">
            <a:avLst>
              <a:gd name="adj" fmla="val 18421"/>
            </a:avLst>
          </a:prstGeom>
          <a:solidFill>
            <a:srgbClr val="FFFFFF"/>
          </a:solidFill>
          <a:ln w="10795">
            <a:solidFill>
              <a:srgbClr val="BFDBFE"/>
            </a:solidFill>
            <a:prstDash val="solid"/>
          </a:ln>
        </p:spPr>
      </p:sp>
      <p:sp>
        <p:nvSpPr>
          <p:cNvPr id="52" name="Text 50"/>
          <p:cNvSpPr/>
          <p:nvPr/>
        </p:nvSpPr>
        <p:spPr>
          <a:xfrm>
            <a:off x="6342278" y="3136392"/>
            <a:ext cx="2302459" cy="292608"/>
          </a:xfrm>
          <a:prstGeom prst="rect">
            <a:avLst/>
          </a:prstGeom>
          <a:noFill/>
          <a:ln/>
        </p:spPr>
        <p:txBody>
          <a:bodyPr wrap="square" lIns="0" tIns="0" rIns="0" bIns="0" rtlCol="0" anchor="ctr"/>
          <a:lstStyle/>
          <a:p>
            <a:pPr indent="0" marL="0">
              <a:lnSpc>
                <a:spcPct val="104000"/>
              </a:lnSpc>
              <a:buNone/>
            </a:pPr>
            <a:r>
              <a:rPr lang="en-US" sz="660" b="1" dirty="0">
                <a:solidFill>
                  <a:srgbClr val="1D4ED8"/>
                </a:solidFill>
                <a:latin typeface="Arial" pitchFamily="34" charset="0"/>
                <a:ea typeface="Arial" pitchFamily="34" charset="-122"/>
                <a:cs typeface="Arial" pitchFamily="34" charset="-120"/>
              </a:rPr>
              <a:t>Exit: ~42ms p95 gate + live BigQuery per-tenant SQL ledger.</a:t>
            </a:r>
            <a:endParaRPr lang="en-US" sz="660" dirty="0"/>
          </a:p>
        </p:txBody>
      </p:sp>
      <p:sp>
        <p:nvSpPr>
          <p:cNvPr id="53" name="Shape 51"/>
          <p:cNvSpPr/>
          <p:nvPr/>
        </p:nvSpPr>
        <p:spPr>
          <a:xfrm>
            <a:off x="8992210" y="1408176"/>
            <a:ext cx="2595067" cy="2139696"/>
          </a:xfrm>
          <a:prstGeom prst="roundRect">
            <a:avLst>
              <a:gd name="adj" fmla="val 2991"/>
            </a:avLst>
          </a:prstGeom>
          <a:solidFill>
            <a:srgbClr val="ECFDF5"/>
          </a:solidFill>
          <a:ln w="10795">
            <a:solidFill>
              <a:srgbClr val="A7F3D0"/>
            </a:solidFill>
            <a:prstDash val="solid"/>
          </a:ln>
        </p:spPr>
      </p:sp>
      <p:sp>
        <p:nvSpPr>
          <p:cNvPr id="54" name="Shape 52"/>
          <p:cNvSpPr/>
          <p:nvPr/>
        </p:nvSpPr>
        <p:spPr>
          <a:xfrm>
            <a:off x="8992210" y="1408176"/>
            <a:ext cx="2595067" cy="50292"/>
          </a:xfrm>
          <a:prstGeom prst="roundRect">
            <a:avLst>
              <a:gd name="adj" fmla="val 36364"/>
            </a:avLst>
          </a:prstGeom>
          <a:solidFill>
            <a:srgbClr val="047857"/>
          </a:solidFill>
          <a:ln/>
        </p:spPr>
      </p:sp>
      <p:sp>
        <p:nvSpPr>
          <p:cNvPr id="55" name="Shape 53"/>
          <p:cNvSpPr/>
          <p:nvPr/>
        </p:nvSpPr>
        <p:spPr>
          <a:xfrm>
            <a:off x="9101938" y="1536192"/>
            <a:ext cx="2375611" cy="201168"/>
          </a:xfrm>
          <a:prstGeom prst="roundRect">
            <a:avLst>
              <a:gd name="adj" fmla="val 36364"/>
            </a:avLst>
          </a:prstGeom>
          <a:solidFill>
            <a:srgbClr val="047857"/>
          </a:solidFill>
          <a:ln/>
        </p:spPr>
      </p:sp>
      <p:sp>
        <p:nvSpPr>
          <p:cNvPr id="56" name="Text 54"/>
          <p:cNvSpPr/>
          <p:nvPr/>
        </p:nvSpPr>
        <p:spPr>
          <a:xfrm>
            <a:off x="9101938" y="1536192"/>
            <a:ext cx="2375611" cy="201168"/>
          </a:xfrm>
          <a:prstGeom prst="rect">
            <a:avLst/>
          </a:prstGeom>
          <a:noFill/>
          <a:ln/>
        </p:spPr>
        <p:txBody>
          <a:bodyPr wrap="square" lIns="0" tIns="0" rIns="0" bIns="0" rtlCol="0" anchor="ctr"/>
          <a:lstStyle/>
          <a:p>
            <a:pPr algn="ctr" indent="0" marL="0">
              <a:lnSpc>
                <a:spcPct val="105000"/>
              </a:lnSpc>
              <a:buNone/>
            </a:pPr>
            <a:r>
              <a:rPr lang="en-US" sz="640" b="1" dirty="0">
                <a:solidFill>
                  <a:srgbClr val="FFFFFF"/>
                </a:solidFill>
                <a:latin typeface="Arial" pitchFamily="34" charset="0"/>
                <a:ea typeface="Arial" pitchFamily="34" charset="-122"/>
                <a:cs typeface="Arial" pitchFamily="34" charset="-120"/>
              </a:rPr>
              <a:t>STEP 4  •  WEEK 2</a:t>
            </a:r>
            <a:endParaRPr lang="en-US" sz="640" dirty="0"/>
          </a:p>
        </p:txBody>
      </p:sp>
      <p:sp>
        <p:nvSpPr>
          <p:cNvPr id="57" name="Text 55"/>
          <p:cNvSpPr/>
          <p:nvPr/>
        </p:nvSpPr>
        <p:spPr>
          <a:xfrm>
            <a:off x="9101938" y="1810512"/>
            <a:ext cx="2375611" cy="329184"/>
          </a:xfrm>
          <a:prstGeom prst="rect">
            <a:avLst/>
          </a:prstGeom>
          <a:noFill/>
          <a:ln/>
        </p:spPr>
        <p:txBody>
          <a:bodyPr wrap="square" lIns="0" tIns="0" rIns="0" bIns="0" rtlCol="0" anchor="ctr"/>
          <a:lstStyle/>
          <a:p>
            <a:pPr indent="0" marL="0">
              <a:lnSpc>
                <a:spcPct val="105000"/>
              </a:lnSpc>
              <a:buNone/>
            </a:pPr>
            <a:r>
              <a:rPr lang="en-US" sz="880" b="1" dirty="0">
                <a:solidFill>
                  <a:srgbClr val="0F172A"/>
                </a:solidFill>
                <a:latin typeface="Arial" pitchFamily="34" charset="0"/>
                <a:ea typeface="Arial" pitchFamily="34" charset="-122"/>
                <a:cs typeface="Arial" pitchFamily="34" charset="-120"/>
              </a:rPr>
              <a:t>Run Dual-Tenant Red-Team Canary</a:t>
            </a:r>
            <a:endParaRPr lang="en-US" sz="880" dirty="0"/>
          </a:p>
        </p:txBody>
      </p:sp>
      <p:sp>
        <p:nvSpPr>
          <p:cNvPr id="58" name="Text 56"/>
          <p:cNvSpPr/>
          <p:nvPr/>
        </p:nvSpPr>
        <p:spPr>
          <a:xfrm>
            <a:off x="9101938" y="2176272"/>
            <a:ext cx="2375611" cy="859536"/>
          </a:xfrm>
          <a:prstGeom prst="rect">
            <a:avLst/>
          </a:prstGeom>
          <a:noFill/>
          <a:ln/>
        </p:spPr>
        <p:txBody>
          <a:bodyPr wrap="square" lIns="0" tIns="0" rIns="0" bIns="0" rtlCol="0" anchor="ctr"/>
          <a:lstStyle/>
          <a:p>
            <a:pPr indent="0" marL="0">
              <a:lnSpc>
                <a:spcPct val="108000"/>
              </a:lnSpc>
              <a:buNone/>
            </a:pPr>
            <a:r>
              <a:rPr lang="en-US" sz="720" dirty="0">
                <a:solidFill>
                  <a:srgbClr val="334155"/>
                </a:solidFill>
                <a:latin typeface="Arial" pitchFamily="34" charset="0"/>
                <a:ea typeface="Arial" pitchFamily="34" charset="-122"/>
                <a:cs typeface="Arial" pitchFamily="34" charset="-120"/>
              </a:rPr>
              <a:t>Execute the 20-point FinVault + RetailStream adversarial canary (spoof, flood, KMS disable) before promoting production traffic.</a:t>
            </a:r>
            <a:endParaRPr lang="en-US" sz="720" dirty="0"/>
          </a:p>
        </p:txBody>
      </p:sp>
      <p:sp>
        <p:nvSpPr>
          <p:cNvPr id="59" name="Shape 57"/>
          <p:cNvSpPr/>
          <p:nvPr/>
        </p:nvSpPr>
        <p:spPr>
          <a:xfrm>
            <a:off x="9083650" y="3108960"/>
            <a:ext cx="2412187" cy="347472"/>
          </a:xfrm>
          <a:prstGeom prst="roundRect">
            <a:avLst>
              <a:gd name="adj" fmla="val 18421"/>
            </a:avLst>
          </a:prstGeom>
          <a:solidFill>
            <a:srgbClr val="FFFFFF"/>
          </a:solidFill>
          <a:ln w="10795">
            <a:solidFill>
              <a:srgbClr val="A7F3D0"/>
            </a:solidFill>
            <a:prstDash val="solid"/>
          </a:ln>
        </p:spPr>
      </p:sp>
      <p:sp>
        <p:nvSpPr>
          <p:cNvPr id="60" name="Text 58"/>
          <p:cNvSpPr/>
          <p:nvPr/>
        </p:nvSpPr>
        <p:spPr>
          <a:xfrm>
            <a:off x="9138514" y="3136392"/>
            <a:ext cx="2302459" cy="292608"/>
          </a:xfrm>
          <a:prstGeom prst="rect">
            <a:avLst/>
          </a:prstGeom>
          <a:noFill/>
          <a:ln/>
        </p:spPr>
        <p:txBody>
          <a:bodyPr wrap="square" lIns="0" tIns="0" rIns="0" bIns="0" rtlCol="0" anchor="ctr"/>
          <a:lstStyle/>
          <a:p>
            <a:pPr indent="0" marL="0">
              <a:lnSpc>
                <a:spcPct val="104000"/>
              </a:lnSpc>
              <a:buNone/>
            </a:pPr>
            <a:r>
              <a:rPr lang="en-US" sz="660" b="1" dirty="0">
                <a:solidFill>
                  <a:srgbClr val="047857"/>
                </a:solidFill>
                <a:latin typeface="Arial" pitchFamily="34" charset="0"/>
                <a:ea typeface="Arial" pitchFamily="34" charset="-122"/>
                <a:cs typeface="Arial" pitchFamily="34" charset="-120"/>
              </a:rPr>
              <a:t>Exit: 20/20 isolation pass + &lt;60s HTTP 423 audit receipt.</a:t>
            </a:r>
            <a:endParaRPr lang="en-US" sz="660" dirty="0"/>
          </a:p>
        </p:txBody>
      </p:sp>
      <p:sp>
        <p:nvSpPr>
          <p:cNvPr id="61" name="Shape 59"/>
          <p:cNvSpPr/>
          <p:nvPr/>
        </p:nvSpPr>
        <p:spPr>
          <a:xfrm>
            <a:off x="461772" y="3866083"/>
            <a:ext cx="11313871" cy="1975104"/>
          </a:xfrm>
          <a:prstGeom prst="roundRect">
            <a:avLst>
              <a:gd name="adj" fmla="val 3241"/>
            </a:avLst>
          </a:prstGeom>
          <a:solidFill>
            <a:srgbClr val="E2E8F0"/>
          </a:solidFill>
          <a:ln/>
        </p:spPr>
      </p:sp>
      <p:sp>
        <p:nvSpPr>
          <p:cNvPr id="62" name="Shape 60"/>
          <p:cNvSpPr/>
          <p:nvPr/>
        </p:nvSpPr>
        <p:spPr>
          <a:xfrm>
            <a:off x="438912" y="3840480"/>
            <a:ext cx="11313871" cy="1975104"/>
          </a:xfrm>
          <a:prstGeom prst="roundRect">
            <a:avLst>
              <a:gd name="adj" fmla="val 3241"/>
            </a:avLst>
          </a:prstGeom>
          <a:solidFill>
            <a:srgbClr val="FFFFFF"/>
          </a:solidFill>
          <a:ln w="10795">
            <a:solidFill>
              <a:srgbClr val="CBD5E1"/>
            </a:solidFill>
            <a:prstDash val="solid"/>
          </a:ln>
        </p:spPr>
      </p:sp>
      <p:sp>
        <p:nvSpPr>
          <p:cNvPr id="63" name="Shape 61"/>
          <p:cNvSpPr/>
          <p:nvPr/>
        </p:nvSpPr>
        <p:spPr>
          <a:xfrm>
            <a:off x="438912" y="3840480"/>
            <a:ext cx="11313871" cy="50292"/>
          </a:xfrm>
          <a:prstGeom prst="roundRect">
            <a:avLst>
              <a:gd name="adj" fmla="val 36364"/>
            </a:avLst>
          </a:prstGeom>
          <a:solidFill>
            <a:srgbClr val="4338CA"/>
          </a:solidFill>
          <a:ln/>
        </p:spPr>
      </p:sp>
      <p:sp>
        <p:nvSpPr>
          <p:cNvPr id="64" name="Text 62"/>
          <p:cNvSpPr/>
          <p:nvPr/>
        </p:nvSpPr>
        <p:spPr>
          <a:xfrm>
            <a:off x="603504" y="3950208"/>
            <a:ext cx="8229600" cy="182880"/>
          </a:xfrm>
          <a:prstGeom prst="rect">
            <a:avLst/>
          </a:prstGeom>
          <a:noFill/>
          <a:ln/>
        </p:spPr>
        <p:txBody>
          <a:bodyPr wrap="square" lIns="0" tIns="0" rIns="0" bIns="0" rtlCol="0" anchor="ctr"/>
          <a:lstStyle/>
          <a:p>
            <a:pPr indent="0" marL="0">
              <a:lnSpc>
                <a:spcPct val="105000"/>
              </a:lnSpc>
              <a:buNone/>
            </a:pPr>
            <a:r>
              <a:rPr lang="en-US" sz="740" b="1" spc="60" kern="0" dirty="0">
                <a:solidFill>
                  <a:srgbClr val="4338CA"/>
                </a:solidFill>
                <a:latin typeface="Arial" pitchFamily="34" charset="0"/>
                <a:ea typeface="Arial" pitchFamily="34" charset="-122"/>
                <a:cs typeface="Arial" pitchFamily="34" charset="-120"/>
              </a:rPr>
              <a:t>WHERE TO GO NEXT  •  THE 5-PART MULTI-TENANT AGENTIC AI ARCHITECTURE SERIES</a:t>
            </a:r>
            <a:endParaRPr lang="en-US" sz="740" dirty="0"/>
          </a:p>
        </p:txBody>
      </p:sp>
      <p:sp>
        <p:nvSpPr>
          <p:cNvPr id="65" name="Shape 63"/>
          <p:cNvSpPr/>
          <p:nvPr/>
        </p:nvSpPr>
        <p:spPr>
          <a:xfrm>
            <a:off x="2683764" y="4937760"/>
            <a:ext cx="146304" cy="0"/>
          </a:xfrm>
          <a:prstGeom prst="line">
            <a:avLst/>
          </a:prstGeom>
          <a:noFill/>
          <a:ln w="15240">
            <a:solidFill>
              <a:srgbClr val="94A3B8"/>
            </a:solidFill>
            <a:prstDash val="solid"/>
            <a:tailEnd type="triangle" w="sm" len="sm"/>
          </a:ln>
        </p:spPr>
      </p:sp>
      <p:sp>
        <p:nvSpPr>
          <p:cNvPr id="66" name="Shape 64"/>
          <p:cNvSpPr/>
          <p:nvPr/>
        </p:nvSpPr>
        <p:spPr>
          <a:xfrm>
            <a:off x="603504" y="4224528"/>
            <a:ext cx="2080260" cy="1426464"/>
          </a:xfrm>
          <a:prstGeom prst="roundRect">
            <a:avLst>
              <a:gd name="adj" fmla="val 4487"/>
            </a:avLst>
          </a:prstGeom>
          <a:solidFill>
            <a:srgbClr val="EFF6FF"/>
          </a:solidFill>
          <a:ln w="19050">
            <a:solidFill>
              <a:srgbClr val="2563EB"/>
            </a:solidFill>
            <a:prstDash val="solid"/>
          </a:ln>
        </p:spPr>
      </p:sp>
      <p:sp>
        <p:nvSpPr>
          <p:cNvPr id="67" name="Shape 65"/>
          <p:cNvSpPr/>
          <p:nvPr/>
        </p:nvSpPr>
        <p:spPr>
          <a:xfrm>
            <a:off x="603504" y="4224528"/>
            <a:ext cx="2080260" cy="50292"/>
          </a:xfrm>
          <a:prstGeom prst="roundRect">
            <a:avLst>
              <a:gd name="adj" fmla="val 36364"/>
            </a:avLst>
          </a:prstGeom>
          <a:solidFill>
            <a:srgbClr val="2563EB"/>
          </a:solidFill>
          <a:ln/>
        </p:spPr>
      </p:sp>
      <p:sp>
        <p:nvSpPr>
          <p:cNvPr id="68" name="Shape 66"/>
          <p:cNvSpPr/>
          <p:nvPr/>
        </p:nvSpPr>
        <p:spPr>
          <a:xfrm>
            <a:off x="694944" y="4334256"/>
            <a:ext cx="1897380" cy="192024"/>
          </a:xfrm>
          <a:prstGeom prst="roundRect">
            <a:avLst>
              <a:gd name="adj" fmla="val 38095"/>
            </a:avLst>
          </a:prstGeom>
          <a:solidFill>
            <a:srgbClr val="2563EB"/>
          </a:solidFill>
          <a:ln/>
        </p:spPr>
      </p:sp>
      <p:sp>
        <p:nvSpPr>
          <p:cNvPr id="69" name="Text 67"/>
          <p:cNvSpPr/>
          <p:nvPr/>
        </p:nvSpPr>
        <p:spPr>
          <a:xfrm>
            <a:off x="694944" y="4334256"/>
            <a:ext cx="1897380" cy="192024"/>
          </a:xfrm>
          <a:prstGeom prst="rect">
            <a:avLst/>
          </a:prstGeom>
          <a:noFill/>
          <a:ln/>
        </p:spPr>
        <p:txBody>
          <a:bodyPr wrap="square" lIns="0" tIns="0" rIns="0" bIns="0" rtlCol="0" anchor="ctr"/>
          <a:lstStyle/>
          <a:p>
            <a:pPr algn="ctr" indent="0" marL="0">
              <a:lnSpc>
                <a:spcPct val="105000"/>
              </a:lnSpc>
              <a:buNone/>
            </a:pPr>
            <a:r>
              <a:rPr lang="en-US" sz="610" b="1" dirty="0">
                <a:solidFill>
                  <a:srgbClr val="FFFFFF"/>
                </a:solidFill>
                <a:latin typeface="Arial" pitchFamily="34" charset="0"/>
                <a:ea typeface="Arial" pitchFamily="34" charset="-122"/>
                <a:cs typeface="Arial" pitchFamily="34" charset="-120"/>
              </a:rPr>
              <a:t>BLOG 1 • CURRENT</a:t>
            </a:r>
            <a:endParaRPr lang="en-US" sz="610" dirty="0"/>
          </a:p>
        </p:txBody>
      </p:sp>
      <p:sp>
        <p:nvSpPr>
          <p:cNvPr id="70" name="Text 68"/>
          <p:cNvSpPr/>
          <p:nvPr/>
        </p:nvSpPr>
        <p:spPr>
          <a:xfrm>
            <a:off x="694944" y="4608576"/>
            <a:ext cx="1897380" cy="310896"/>
          </a:xfrm>
          <a:prstGeom prst="rect">
            <a:avLst/>
          </a:prstGeom>
          <a:noFill/>
          <a:ln/>
        </p:spPr>
        <p:txBody>
          <a:bodyPr wrap="square" lIns="0" tIns="0" rIns="0" bIns="0" rtlCol="0" anchor="ctr"/>
          <a:lstStyle/>
          <a:p>
            <a:pPr algn="ctr" indent="0" marL="0">
              <a:lnSpc>
                <a:spcPct val="105000"/>
              </a:lnSpc>
              <a:buNone/>
            </a:pPr>
            <a:r>
              <a:rPr lang="en-US" sz="820" b="1" dirty="0">
                <a:solidFill>
                  <a:srgbClr val="0F172A"/>
                </a:solidFill>
                <a:latin typeface="Arial" pitchFamily="34" charset="0"/>
                <a:ea typeface="Arial" pitchFamily="34" charset="-122"/>
                <a:cs typeface="Arial" pitchFamily="34" charset="-120"/>
              </a:rPr>
              <a:t>Taxonomy &amp; 5-Hop Baseline</a:t>
            </a:r>
            <a:endParaRPr lang="en-US" sz="820" dirty="0"/>
          </a:p>
        </p:txBody>
      </p:sp>
      <p:sp>
        <p:nvSpPr>
          <p:cNvPr id="71" name="Text 69"/>
          <p:cNvSpPr/>
          <p:nvPr/>
        </p:nvSpPr>
        <p:spPr>
          <a:xfrm>
            <a:off x="694944" y="4956048"/>
            <a:ext cx="1897380" cy="603504"/>
          </a:xfrm>
          <a:prstGeom prst="rect">
            <a:avLst/>
          </a:prstGeom>
          <a:noFill/>
          <a:ln/>
        </p:spPr>
        <p:txBody>
          <a:bodyPr wrap="square" lIns="0" tIns="0" rIns="0" bIns="0" rtlCol="0" anchor="ctr"/>
          <a:lstStyle/>
          <a:p>
            <a:pPr algn="ctr" indent="0" marL="0">
              <a:lnSpc>
                <a:spcPct val="107000"/>
              </a:lnSpc>
              <a:buNone/>
            </a:pPr>
            <a:r>
              <a:rPr lang="en-US" sz="690" dirty="0">
                <a:solidFill>
                  <a:srgbClr val="334155"/>
                </a:solidFill>
                <a:latin typeface="Arial" pitchFamily="34" charset="0"/>
                <a:ea typeface="Arial" pitchFamily="34" charset="-122"/>
                <a:cs typeface="Arial" pitchFamily="34" charset="-120"/>
              </a:rPr>
              <a:t>Conceptual OS model, Figures 1–2, ~42ms chain &amp; GAP-01..05.</a:t>
            </a:r>
            <a:endParaRPr lang="en-US" sz="690" dirty="0"/>
          </a:p>
        </p:txBody>
      </p:sp>
      <p:sp>
        <p:nvSpPr>
          <p:cNvPr id="72" name="Shape 70"/>
          <p:cNvSpPr/>
          <p:nvPr/>
        </p:nvSpPr>
        <p:spPr>
          <a:xfrm>
            <a:off x="4910328" y="4937760"/>
            <a:ext cx="146304" cy="0"/>
          </a:xfrm>
          <a:prstGeom prst="line">
            <a:avLst/>
          </a:prstGeom>
          <a:noFill/>
          <a:ln w="15240">
            <a:solidFill>
              <a:srgbClr val="94A3B8"/>
            </a:solidFill>
            <a:prstDash val="solid"/>
            <a:tailEnd type="triangle" w="sm" len="sm"/>
          </a:ln>
        </p:spPr>
      </p:sp>
      <p:sp>
        <p:nvSpPr>
          <p:cNvPr id="73" name="Shape 71"/>
          <p:cNvSpPr/>
          <p:nvPr/>
        </p:nvSpPr>
        <p:spPr>
          <a:xfrm>
            <a:off x="2830068" y="4224528"/>
            <a:ext cx="2080260" cy="1426464"/>
          </a:xfrm>
          <a:prstGeom prst="roundRect">
            <a:avLst>
              <a:gd name="adj" fmla="val 4487"/>
            </a:avLst>
          </a:prstGeom>
          <a:solidFill>
            <a:srgbClr val="F8FAFC"/>
          </a:solidFill>
          <a:ln w="10795">
            <a:solidFill>
              <a:srgbClr val="CBD5E1"/>
            </a:solidFill>
            <a:prstDash val="solid"/>
          </a:ln>
        </p:spPr>
      </p:sp>
      <p:sp>
        <p:nvSpPr>
          <p:cNvPr id="74" name="Shape 72"/>
          <p:cNvSpPr/>
          <p:nvPr/>
        </p:nvSpPr>
        <p:spPr>
          <a:xfrm>
            <a:off x="2830068" y="4224528"/>
            <a:ext cx="2080260" cy="50292"/>
          </a:xfrm>
          <a:prstGeom prst="roundRect">
            <a:avLst>
              <a:gd name="adj" fmla="val 36364"/>
            </a:avLst>
          </a:prstGeom>
          <a:solidFill>
            <a:srgbClr val="1D4ED8"/>
          </a:solidFill>
          <a:ln/>
        </p:spPr>
      </p:sp>
      <p:sp>
        <p:nvSpPr>
          <p:cNvPr id="75" name="Shape 73"/>
          <p:cNvSpPr/>
          <p:nvPr/>
        </p:nvSpPr>
        <p:spPr>
          <a:xfrm>
            <a:off x="2921508" y="4334256"/>
            <a:ext cx="1897380" cy="192024"/>
          </a:xfrm>
          <a:prstGeom prst="roundRect">
            <a:avLst>
              <a:gd name="adj" fmla="val 38095"/>
            </a:avLst>
          </a:prstGeom>
          <a:solidFill>
            <a:srgbClr val="FFFFFF"/>
          </a:solidFill>
          <a:ln w="9525">
            <a:solidFill>
              <a:srgbClr val="CBD5E1"/>
            </a:solidFill>
            <a:prstDash val="solid"/>
          </a:ln>
        </p:spPr>
      </p:sp>
      <p:sp>
        <p:nvSpPr>
          <p:cNvPr id="76" name="Text 74"/>
          <p:cNvSpPr/>
          <p:nvPr/>
        </p:nvSpPr>
        <p:spPr>
          <a:xfrm>
            <a:off x="2921508" y="4334256"/>
            <a:ext cx="1897380" cy="192024"/>
          </a:xfrm>
          <a:prstGeom prst="rect">
            <a:avLst/>
          </a:prstGeom>
          <a:noFill/>
          <a:ln/>
        </p:spPr>
        <p:txBody>
          <a:bodyPr wrap="square" lIns="0" tIns="0" rIns="0" bIns="0" rtlCol="0" anchor="ctr"/>
          <a:lstStyle/>
          <a:p>
            <a:pPr algn="ctr" indent="0" marL="0">
              <a:lnSpc>
                <a:spcPct val="105000"/>
              </a:lnSpc>
              <a:buNone/>
            </a:pPr>
            <a:r>
              <a:rPr lang="en-US" sz="610" b="1" dirty="0">
                <a:solidFill>
                  <a:srgbClr val="1D4ED8"/>
                </a:solidFill>
                <a:latin typeface="Arial" pitchFamily="34" charset="0"/>
                <a:ea typeface="Arial" pitchFamily="34" charset="-122"/>
                <a:cs typeface="Arial" pitchFamily="34" charset="-120"/>
              </a:rPr>
              <a:t>BLOG 2 • PATTERN A</a:t>
            </a:r>
            <a:endParaRPr lang="en-US" sz="610" dirty="0"/>
          </a:p>
        </p:txBody>
      </p:sp>
      <p:sp>
        <p:nvSpPr>
          <p:cNvPr id="77" name="Text 75"/>
          <p:cNvSpPr/>
          <p:nvPr/>
        </p:nvSpPr>
        <p:spPr>
          <a:xfrm>
            <a:off x="2921508" y="4608576"/>
            <a:ext cx="1897380" cy="310896"/>
          </a:xfrm>
          <a:prstGeom prst="rect">
            <a:avLst/>
          </a:prstGeom>
          <a:noFill/>
          <a:ln/>
        </p:spPr>
        <p:txBody>
          <a:bodyPr wrap="square" lIns="0" tIns="0" rIns="0" bIns="0" rtlCol="0" anchor="ctr"/>
          <a:lstStyle/>
          <a:p>
            <a:pPr algn="ctr" indent="0" marL="0">
              <a:lnSpc>
                <a:spcPct val="105000"/>
              </a:lnSpc>
              <a:buNone/>
            </a:pPr>
            <a:r>
              <a:rPr lang="en-US" sz="820" b="1" dirty="0">
                <a:solidFill>
                  <a:srgbClr val="0F172A"/>
                </a:solidFill>
                <a:latin typeface="Arial" pitchFamily="34" charset="0"/>
                <a:ea typeface="Arial" pitchFamily="34" charset="-122"/>
                <a:cs typeface="Arial" pitchFamily="34" charset="-120"/>
              </a:rPr>
              <a:t>Pooled Shared Runtime</a:t>
            </a:r>
            <a:endParaRPr lang="en-US" sz="820" dirty="0"/>
          </a:p>
        </p:txBody>
      </p:sp>
      <p:sp>
        <p:nvSpPr>
          <p:cNvPr id="78" name="Text 76"/>
          <p:cNvSpPr/>
          <p:nvPr/>
        </p:nvSpPr>
        <p:spPr>
          <a:xfrm>
            <a:off x="2921508" y="4956048"/>
            <a:ext cx="1897380" cy="603504"/>
          </a:xfrm>
          <a:prstGeom prst="rect">
            <a:avLst/>
          </a:prstGeom>
          <a:noFill/>
          <a:ln/>
        </p:spPr>
        <p:txBody>
          <a:bodyPr wrap="square" lIns="0" tIns="0" rIns="0" bIns="0" rtlCol="0" anchor="ctr"/>
          <a:lstStyle/>
          <a:p>
            <a:pPr algn="ctr" indent="0" marL="0">
              <a:lnSpc>
                <a:spcPct val="107000"/>
              </a:lnSpc>
              <a:buNone/>
            </a:pPr>
            <a:r>
              <a:rPr lang="en-US" sz="690" dirty="0">
                <a:solidFill>
                  <a:srgbClr val="334155"/>
                </a:solidFill>
                <a:latin typeface="Arial" pitchFamily="34" charset="0"/>
                <a:ea typeface="Arial" pitchFamily="34" charset="-122"/>
                <a:cs typeface="Arial" pitchFamily="34" charset="-120"/>
              </a:rPr>
              <a:t>Deep dive into AlloyDB RLS, 90% prefix cache &amp; Valkey Lua RPM.</a:t>
            </a:r>
            <a:endParaRPr lang="en-US" sz="690" dirty="0"/>
          </a:p>
        </p:txBody>
      </p:sp>
      <p:sp>
        <p:nvSpPr>
          <p:cNvPr id="79" name="Shape 77"/>
          <p:cNvSpPr/>
          <p:nvPr/>
        </p:nvSpPr>
        <p:spPr>
          <a:xfrm>
            <a:off x="7136892" y="4937760"/>
            <a:ext cx="146304" cy="0"/>
          </a:xfrm>
          <a:prstGeom prst="line">
            <a:avLst/>
          </a:prstGeom>
          <a:noFill/>
          <a:ln w="15240">
            <a:solidFill>
              <a:srgbClr val="94A3B8"/>
            </a:solidFill>
            <a:prstDash val="solid"/>
            <a:tailEnd type="triangle" w="sm" len="sm"/>
          </a:ln>
        </p:spPr>
      </p:sp>
      <p:sp>
        <p:nvSpPr>
          <p:cNvPr id="80" name="Shape 78"/>
          <p:cNvSpPr/>
          <p:nvPr/>
        </p:nvSpPr>
        <p:spPr>
          <a:xfrm>
            <a:off x="5056632" y="4224528"/>
            <a:ext cx="2080260" cy="1426464"/>
          </a:xfrm>
          <a:prstGeom prst="roundRect">
            <a:avLst>
              <a:gd name="adj" fmla="val 4487"/>
            </a:avLst>
          </a:prstGeom>
          <a:solidFill>
            <a:srgbClr val="F8FAFC"/>
          </a:solidFill>
          <a:ln w="10795">
            <a:solidFill>
              <a:srgbClr val="CBD5E1"/>
            </a:solidFill>
            <a:prstDash val="solid"/>
          </a:ln>
        </p:spPr>
      </p:sp>
      <p:sp>
        <p:nvSpPr>
          <p:cNvPr id="81" name="Shape 79"/>
          <p:cNvSpPr/>
          <p:nvPr/>
        </p:nvSpPr>
        <p:spPr>
          <a:xfrm>
            <a:off x="5056632" y="4224528"/>
            <a:ext cx="2080260" cy="50292"/>
          </a:xfrm>
          <a:prstGeom prst="roundRect">
            <a:avLst>
              <a:gd name="adj" fmla="val 36364"/>
            </a:avLst>
          </a:prstGeom>
          <a:solidFill>
            <a:srgbClr val="B45309"/>
          </a:solidFill>
          <a:ln/>
        </p:spPr>
      </p:sp>
      <p:sp>
        <p:nvSpPr>
          <p:cNvPr id="82" name="Shape 80"/>
          <p:cNvSpPr/>
          <p:nvPr/>
        </p:nvSpPr>
        <p:spPr>
          <a:xfrm>
            <a:off x="5148072" y="4334256"/>
            <a:ext cx="1897380" cy="192024"/>
          </a:xfrm>
          <a:prstGeom prst="roundRect">
            <a:avLst>
              <a:gd name="adj" fmla="val 38095"/>
            </a:avLst>
          </a:prstGeom>
          <a:solidFill>
            <a:srgbClr val="FFFFFF"/>
          </a:solidFill>
          <a:ln w="9525">
            <a:solidFill>
              <a:srgbClr val="CBD5E1"/>
            </a:solidFill>
            <a:prstDash val="solid"/>
          </a:ln>
        </p:spPr>
      </p:sp>
      <p:sp>
        <p:nvSpPr>
          <p:cNvPr id="83" name="Text 81"/>
          <p:cNvSpPr/>
          <p:nvPr/>
        </p:nvSpPr>
        <p:spPr>
          <a:xfrm>
            <a:off x="5148072" y="4334256"/>
            <a:ext cx="1897380" cy="192024"/>
          </a:xfrm>
          <a:prstGeom prst="rect">
            <a:avLst/>
          </a:prstGeom>
          <a:noFill/>
          <a:ln/>
        </p:spPr>
        <p:txBody>
          <a:bodyPr wrap="square" lIns="0" tIns="0" rIns="0" bIns="0" rtlCol="0" anchor="ctr"/>
          <a:lstStyle/>
          <a:p>
            <a:pPr algn="ctr" indent="0" marL="0">
              <a:lnSpc>
                <a:spcPct val="105000"/>
              </a:lnSpc>
              <a:buNone/>
            </a:pPr>
            <a:r>
              <a:rPr lang="en-US" sz="610" b="1" dirty="0">
                <a:solidFill>
                  <a:srgbClr val="B45309"/>
                </a:solidFill>
                <a:latin typeface="Arial" pitchFamily="34" charset="0"/>
                <a:ea typeface="Arial" pitchFamily="34" charset="-122"/>
                <a:cs typeface="Arial" pitchFamily="34" charset="-120"/>
              </a:rPr>
              <a:t>BLOG 3 • PATTERN B</a:t>
            </a:r>
            <a:endParaRPr lang="en-US" sz="610" dirty="0"/>
          </a:p>
        </p:txBody>
      </p:sp>
      <p:sp>
        <p:nvSpPr>
          <p:cNvPr id="84" name="Text 82"/>
          <p:cNvSpPr/>
          <p:nvPr/>
        </p:nvSpPr>
        <p:spPr>
          <a:xfrm>
            <a:off x="5148072" y="4608576"/>
            <a:ext cx="1897380" cy="310896"/>
          </a:xfrm>
          <a:prstGeom prst="rect">
            <a:avLst/>
          </a:prstGeom>
          <a:noFill/>
          <a:ln/>
        </p:spPr>
        <p:txBody>
          <a:bodyPr wrap="square" lIns="0" tIns="0" rIns="0" bIns="0" rtlCol="0" anchor="ctr"/>
          <a:lstStyle/>
          <a:p>
            <a:pPr algn="ctr" indent="0" marL="0">
              <a:lnSpc>
                <a:spcPct val="105000"/>
              </a:lnSpc>
              <a:buNone/>
            </a:pPr>
            <a:r>
              <a:rPr lang="en-US" sz="820" b="1" dirty="0">
                <a:solidFill>
                  <a:srgbClr val="0F172A"/>
                </a:solidFill>
                <a:latin typeface="Arial" pitchFamily="34" charset="0"/>
                <a:ea typeface="Arial" pitchFamily="34" charset="-122"/>
                <a:cs typeface="Arial" pitchFamily="34" charset="-120"/>
              </a:rPr>
              <a:t>Sovereign Tenant Silos</a:t>
            </a:r>
            <a:endParaRPr lang="en-US" sz="820" dirty="0"/>
          </a:p>
        </p:txBody>
      </p:sp>
      <p:sp>
        <p:nvSpPr>
          <p:cNvPr id="85" name="Text 83"/>
          <p:cNvSpPr/>
          <p:nvPr/>
        </p:nvSpPr>
        <p:spPr>
          <a:xfrm>
            <a:off x="5148072" y="4956048"/>
            <a:ext cx="1897380" cy="603504"/>
          </a:xfrm>
          <a:prstGeom prst="rect">
            <a:avLst/>
          </a:prstGeom>
          <a:noFill/>
          <a:ln/>
        </p:spPr>
        <p:txBody>
          <a:bodyPr wrap="square" lIns="0" tIns="0" rIns="0" bIns="0" rtlCol="0" anchor="ctr"/>
          <a:lstStyle/>
          <a:p>
            <a:pPr algn="ctr" indent="0" marL="0">
              <a:lnSpc>
                <a:spcPct val="107000"/>
              </a:lnSpc>
              <a:buNone/>
            </a:pPr>
            <a:r>
              <a:rPr lang="en-US" sz="690" dirty="0">
                <a:solidFill>
                  <a:srgbClr val="334155"/>
                </a:solidFill>
                <a:latin typeface="Arial" pitchFamily="34" charset="0"/>
                <a:ea typeface="Arial" pitchFamily="34" charset="-122"/>
                <a:cs typeface="Arial" pitchFamily="34" charset="-120"/>
              </a:rPr>
              <a:t>Per-tenant VPC-SC, IAM PAB, GKE Gemma 3 27B &amp; &lt;60s CMEK lock.</a:t>
            </a:r>
            <a:endParaRPr lang="en-US" sz="690" dirty="0"/>
          </a:p>
        </p:txBody>
      </p:sp>
      <p:sp>
        <p:nvSpPr>
          <p:cNvPr id="86" name="Shape 84"/>
          <p:cNvSpPr/>
          <p:nvPr/>
        </p:nvSpPr>
        <p:spPr>
          <a:xfrm>
            <a:off x="9363456" y="4937760"/>
            <a:ext cx="146304" cy="0"/>
          </a:xfrm>
          <a:prstGeom prst="line">
            <a:avLst/>
          </a:prstGeom>
          <a:noFill/>
          <a:ln w="15240">
            <a:solidFill>
              <a:srgbClr val="94A3B8"/>
            </a:solidFill>
            <a:prstDash val="solid"/>
            <a:tailEnd type="triangle" w="sm" len="sm"/>
          </a:ln>
        </p:spPr>
      </p:sp>
      <p:sp>
        <p:nvSpPr>
          <p:cNvPr id="87" name="Shape 85"/>
          <p:cNvSpPr/>
          <p:nvPr/>
        </p:nvSpPr>
        <p:spPr>
          <a:xfrm>
            <a:off x="7283196" y="4224528"/>
            <a:ext cx="2080260" cy="1426464"/>
          </a:xfrm>
          <a:prstGeom prst="roundRect">
            <a:avLst>
              <a:gd name="adj" fmla="val 4487"/>
            </a:avLst>
          </a:prstGeom>
          <a:solidFill>
            <a:srgbClr val="F8FAFC"/>
          </a:solidFill>
          <a:ln w="10795">
            <a:solidFill>
              <a:srgbClr val="CBD5E1"/>
            </a:solidFill>
            <a:prstDash val="solid"/>
          </a:ln>
        </p:spPr>
      </p:sp>
      <p:sp>
        <p:nvSpPr>
          <p:cNvPr id="88" name="Shape 86"/>
          <p:cNvSpPr/>
          <p:nvPr/>
        </p:nvSpPr>
        <p:spPr>
          <a:xfrm>
            <a:off x="7283196" y="4224528"/>
            <a:ext cx="2080260" cy="50292"/>
          </a:xfrm>
          <a:prstGeom prst="roundRect">
            <a:avLst>
              <a:gd name="adj" fmla="val 36364"/>
            </a:avLst>
          </a:prstGeom>
          <a:solidFill>
            <a:srgbClr val="0F766E"/>
          </a:solidFill>
          <a:ln/>
        </p:spPr>
      </p:sp>
      <p:sp>
        <p:nvSpPr>
          <p:cNvPr id="89" name="Shape 87"/>
          <p:cNvSpPr/>
          <p:nvPr/>
        </p:nvSpPr>
        <p:spPr>
          <a:xfrm>
            <a:off x="7374636" y="4334256"/>
            <a:ext cx="1897380" cy="192024"/>
          </a:xfrm>
          <a:prstGeom prst="roundRect">
            <a:avLst>
              <a:gd name="adj" fmla="val 38095"/>
            </a:avLst>
          </a:prstGeom>
          <a:solidFill>
            <a:srgbClr val="FFFFFF"/>
          </a:solidFill>
          <a:ln w="9525">
            <a:solidFill>
              <a:srgbClr val="CBD5E1"/>
            </a:solidFill>
            <a:prstDash val="solid"/>
          </a:ln>
        </p:spPr>
      </p:sp>
      <p:sp>
        <p:nvSpPr>
          <p:cNvPr id="90" name="Text 88"/>
          <p:cNvSpPr/>
          <p:nvPr/>
        </p:nvSpPr>
        <p:spPr>
          <a:xfrm>
            <a:off x="7374636" y="4334256"/>
            <a:ext cx="1897380" cy="192024"/>
          </a:xfrm>
          <a:prstGeom prst="rect">
            <a:avLst/>
          </a:prstGeom>
          <a:noFill/>
          <a:ln/>
        </p:spPr>
        <p:txBody>
          <a:bodyPr wrap="square" lIns="0" tIns="0" rIns="0" bIns="0" rtlCol="0" anchor="ctr"/>
          <a:lstStyle/>
          <a:p>
            <a:pPr algn="ctr" indent="0" marL="0">
              <a:lnSpc>
                <a:spcPct val="105000"/>
              </a:lnSpc>
              <a:buNone/>
            </a:pPr>
            <a:r>
              <a:rPr lang="en-US" sz="610" b="1" dirty="0">
                <a:solidFill>
                  <a:srgbClr val="0F766E"/>
                </a:solidFill>
                <a:latin typeface="Arial" pitchFamily="34" charset="0"/>
                <a:ea typeface="Arial" pitchFamily="34" charset="-122"/>
                <a:cs typeface="Arial" pitchFamily="34" charset="-120"/>
              </a:rPr>
              <a:t>BLOG 4 • PATTERN C</a:t>
            </a:r>
            <a:endParaRPr lang="en-US" sz="610" dirty="0"/>
          </a:p>
        </p:txBody>
      </p:sp>
      <p:sp>
        <p:nvSpPr>
          <p:cNvPr id="91" name="Text 89"/>
          <p:cNvSpPr/>
          <p:nvPr/>
        </p:nvSpPr>
        <p:spPr>
          <a:xfrm>
            <a:off x="7374636" y="4608576"/>
            <a:ext cx="1897380" cy="310896"/>
          </a:xfrm>
          <a:prstGeom prst="rect">
            <a:avLst/>
          </a:prstGeom>
          <a:noFill/>
          <a:ln/>
        </p:spPr>
        <p:txBody>
          <a:bodyPr wrap="square" lIns="0" tIns="0" rIns="0" bIns="0" rtlCol="0" anchor="ctr"/>
          <a:lstStyle/>
          <a:p>
            <a:pPr algn="ctr" indent="0" marL="0">
              <a:lnSpc>
                <a:spcPct val="105000"/>
              </a:lnSpc>
              <a:buNone/>
            </a:pPr>
            <a:r>
              <a:rPr lang="en-US" sz="820" b="1" dirty="0">
                <a:solidFill>
                  <a:srgbClr val="0F172A"/>
                </a:solidFill>
                <a:latin typeface="Arial" pitchFamily="34" charset="0"/>
                <a:ea typeface="Arial" pitchFamily="34" charset="-122"/>
                <a:cs typeface="Arial" pitchFamily="34" charset="-120"/>
              </a:rPr>
              <a:t>Dynamic Hybrid PSC</a:t>
            </a:r>
            <a:endParaRPr lang="en-US" sz="820" dirty="0"/>
          </a:p>
        </p:txBody>
      </p:sp>
      <p:sp>
        <p:nvSpPr>
          <p:cNvPr id="92" name="Text 90"/>
          <p:cNvSpPr/>
          <p:nvPr/>
        </p:nvSpPr>
        <p:spPr>
          <a:xfrm>
            <a:off x="7374636" y="4956048"/>
            <a:ext cx="1897380" cy="603504"/>
          </a:xfrm>
          <a:prstGeom prst="rect">
            <a:avLst/>
          </a:prstGeom>
          <a:noFill/>
          <a:ln/>
        </p:spPr>
        <p:txBody>
          <a:bodyPr wrap="square" lIns="0" tIns="0" rIns="0" bIns="0" rtlCol="0" anchor="ctr"/>
          <a:lstStyle/>
          <a:p>
            <a:pPr algn="ctr" indent="0" marL="0">
              <a:lnSpc>
                <a:spcPct val="107000"/>
              </a:lnSpc>
              <a:buNone/>
            </a:pPr>
            <a:r>
              <a:rPr lang="en-US" sz="690" dirty="0">
                <a:solidFill>
                  <a:srgbClr val="334155"/>
                </a:solidFill>
                <a:latin typeface="Arial" pitchFamily="34" charset="0"/>
                <a:ea typeface="Arial" pitchFamily="34" charset="-122"/>
                <a:cs typeface="Arial" pitchFamily="34" charset="-120"/>
              </a:rPr>
              <a:t>Split control/data planes over /28 PSC NAT &amp; 0ms live upgrades.</a:t>
            </a:r>
            <a:endParaRPr lang="en-US" sz="690" dirty="0"/>
          </a:p>
        </p:txBody>
      </p:sp>
      <p:sp>
        <p:nvSpPr>
          <p:cNvPr id="93" name="Shape 91"/>
          <p:cNvSpPr/>
          <p:nvPr/>
        </p:nvSpPr>
        <p:spPr>
          <a:xfrm>
            <a:off x="9509760" y="4224528"/>
            <a:ext cx="2080260" cy="1426464"/>
          </a:xfrm>
          <a:prstGeom prst="roundRect">
            <a:avLst>
              <a:gd name="adj" fmla="val 4487"/>
            </a:avLst>
          </a:prstGeom>
          <a:solidFill>
            <a:srgbClr val="F8FAFC"/>
          </a:solidFill>
          <a:ln w="10795">
            <a:solidFill>
              <a:srgbClr val="CBD5E1"/>
            </a:solidFill>
            <a:prstDash val="solid"/>
          </a:ln>
        </p:spPr>
      </p:sp>
      <p:sp>
        <p:nvSpPr>
          <p:cNvPr id="94" name="Shape 92"/>
          <p:cNvSpPr/>
          <p:nvPr/>
        </p:nvSpPr>
        <p:spPr>
          <a:xfrm>
            <a:off x="9509760" y="4224528"/>
            <a:ext cx="2080260" cy="50292"/>
          </a:xfrm>
          <a:prstGeom prst="roundRect">
            <a:avLst>
              <a:gd name="adj" fmla="val 36364"/>
            </a:avLst>
          </a:prstGeom>
          <a:solidFill>
            <a:srgbClr val="4338CA"/>
          </a:solidFill>
          <a:ln/>
        </p:spPr>
      </p:sp>
      <p:sp>
        <p:nvSpPr>
          <p:cNvPr id="95" name="Shape 93"/>
          <p:cNvSpPr/>
          <p:nvPr/>
        </p:nvSpPr>
        <p:spPr>
          <a:xfrm>
            <a:off x="9601200" y="4334256"/>
            <a:ext cx="1897380" cy="192024"/>
          </a:xfrm>
          <a:prstGeom prst="roundRect">
            <a:avLst>
              <a:gd name="adj" fmla="val 38095"/>
            </a:avLst>
          </a:prstGeom>
          <a:solidFill>
            <a:srgbClr val="FFFFFF"/>
          </a:solidFill>
          <a:ln w="9525">
            <a:solidFill>
              <a:srgbClr val="CBD5E1"/>
            </a:solidFill>
            <a:prstDash val="solid"/>
          </a:ln>
        </p:spPr>
      </p:sp>
      <p:sp>
        <p:nvSpPr>
          <p:cNvPr id="96" name="Text 94"/>
          <p:cNvSpPr/>
          <p:nvPr/>
        </p:nvSpPr>
        <p:spPr>
          <a:xfrm>
            <a:off x="9601200" y="4334256"/>
            <a:ext cx="1897380" cy="192024"/>
          </a:xfrm>
          <a:prstGeom prst="rect">
            <a:avLst/>
          </a:prstGeom>
          <a:noFill/>
          <a:ln/>
        </p:spPr>
        <p:txBody>
          <a:bodyPr wrap="square" lIns="0" tIns="0" rIns="0" bIns="0" rtlCol="0" anchor="ctr"/>
          <a:lstStyle/>
          <a:p>
            <a:pPr algn="ctr" indent="0" marL="0">
              <a:lnSpc>
                <a:spcPct val="105000"/>
              </a:lnSpc>
              <a:buNone/>
            </a:pPr>
            <a:r>
              <a:rPr lang="en-US" sz="610" b="1" dirty="0">
                <a:solidFill>
                  <a:srgbClr val="4338CA"/>
                </a:solidFill>
                <a:latin typeface="Arial" pitchFamily="34" charset="0"/>
                <a:ea typeface="Arial" pitchFamily="34" charset="-122"/>
                <a:cs typeface="Arial" pitchFamily="34" charset="-120"/>
              </a:rPr>
              <a:t>BLOG 5 • COMPENDIUM</a:t>
            </a:r>
            <a:endParaRPr lang="en-US" sz="610" dirty="0"/>
          </a:p>
        </p:txBody>
      </p:sp>
      <p:sp>
        <p:nvSpPr>
          <p:cNvPr id="97" name="Text 95"/>
          <p:cNvSpPr/>
          <p:nvPr/>
        </p:nvSpPr>
        <p:spPr>
          <a:xfrm>
            <a:off x="9601200" y="4608576"/>
            <a:ext cx="1897380" cy="310896"/>
          </a:xfrm>
          <a:prstGeom prst="rect">
            <a:avLst/>
          </a:prstGeom>
          <a:noFill/>
          <a:ln/>
        </p:spPr>
        <p:txBody>
          <a:bodyPr wrap="square" lIns="0" tIns="0" rIns="0" bIns="0" rtlCol="0" anchor="ctr"/>
          <a:lstStyle/>
          <a:p>
            <a:pPr algn="ctr" indent="0" marL="0">
              <a:lnSpc>
                <a:spcPct val="105000"/>
              </a:lnSpc>
              <a:buNone/>
            </a:pPr>
            <a:r>
              <a:rPr lang="en-US" sz="820" b="1" dirty="0">
                <a:solidFill>
                  <a:srgbClr val="0F172A"/>
                </a:solidFill>
                <a:latin typeface="Arial" pitchFamily="34" charset="0"/>
                <a:ea typeface="Arial" pitchFamily="34" charset="-122"/>
                <a:cs typeface="Arial" pitchFamily="34" charset="-120"/>
              </a:rPr>
              <a:t>Executive Decision Guide</a:t>
            </a:r>
            <a:endParaRPr lang="en-US" sz="820" dirty="0"/>
          </a:p>
        </p:txBody>
      </p:sp>
      <p:sp>
        <p:nvSpPr>
          <p:cNvPr id="98" name="Text 96"/>
          <p:cNvSpPr/>
          <p:nvPr/>
        </p:nvSpPr>
        <p:spPr>
          <a:xfrm>
            <a:off x="9601200" y="4956048"/>
            <a:ext cx="1897380" cy="603504"/>
          </a:xfrm>
          <a:prstGeom prst="rect">
            <a:avLst/>
          </a:prstGeom>
          <a:noFill/>
          <a:ln/>
        </p:spPr>
        <p:txBody>
          <a:bodyPr wrap="square" lIns="0" tIns="0" rIns="0" bIns="0" rtlCol="0" anchor="ctr"/>
          <a:lstStyle/>
          <a:p>
            <a:pPr algn="ctr" indent="0" marL="0">
              <a:lnSpc>
                <a:spcPct val="107000"/>
              </a:lnSpc>
              <a:buNone/>
            </a:pPr>
            <a:r>
              <a:rPr lang="en-US" sz="690" dirty="0">
                <a:solidFill>
                  <a:srgbClr val="334155"/>
                </a:solidFill>
                <a:latin typeface="Arial" pitchFamily="34" charset="0"/>
                <a:ea typeface="Arial" pitchFamily="34" charset="-122"/>
                <a:cs typeface="Arial" pitchFamily="34" charset="-120"/>
              </a:rPr>
              <a:t>Portfolio FinOps calculator, CISO audit checklist &amp; full matrix.</a:t>
            </a:r>
            <a:endParaRPr lang="en-US" sz="690" dirty="0"/>
          </a:p>
        </p:txBody>
      </p:sp>
      <p:sp>
        <p:nvSpPr>
          <p:cNvPr id="99" name="Shape 97"/>
          <p:cNvSpPr/>
          <p:nvPr/>
        </p:nvSpPr>
        <p:spPr>
          <a:xfrm>
            <a:off x="438912" y="5943600"/>
            <a:ext cx="11313871" cy="420624"/>
          </a:xfrm>
          <a:prstGeom prst="roundRect">
            <a:avLst>
              <a:gd name="adj" fmla="val 13043"/>
            </a:avLst>
          </a:prstGeom>
          <a:solidFill>
            <a:srgbClr val="EFF6FF"/>
          </a:solidFill>
          <a:ln w="11430">
            <a:solidFill>
              <a:srgbClr val="BFDBFE"/>
            </a:solidFill>
            <a:prstDash val="solid"/>
          </a:ln>
        </p:spPr>
      </p:sp>
      <p:sp>
        <p:nvSpPr>
          <p:cNvPr id="100" name="Shape 98"/>
          <p:cNvSpPr/>
          <p:nvPr/>
        </p:nvSpPr>
        <p:spPr>
          <a:xfrm>
            <a:off x="530352" y="6025896"/>
            <a:ext cx="1353312" cy="256032"/>
          </a:xfrm>
          <a:prstGeom prst="roundRect">
            <a:avLst>
              <a:gd name="adj" fmla="val 17857"/>
            </a:avLst>
          </a:prstGeom>
          <a:solidFill>
            <a:srgbClr val="2563EB"/>
          </a:solidFill>
          <a:ln/>
        </p:spPr>
      </p:sp>
      <p:sp>
        <p:nvSpPr>
          <p:cNvPr id="101" name="Text 99"/>
          <p:cNvSpPr/>
          <p:nvPr/>
        </p:nvSpPr>
        <p:spPr>
          <a:xfrm>
            <a:off x="530352" y="6025896"/>
            <a:ext cx="1353312" cy="256032"/>
          </a:xfrm>
          <a:prstGeom prst="rect">
            <a:avLst/>
          </a:prstGeom>
          <a:noFill/>
          <a:ln/>
        </p:spPr>
        <p:txBody>
          <a:bodyPr wrap="square" lIns="0" tIns="0" rIns="0" bIns="0" rtlCol="0" anchor="ctr"/>
          <a:lstStyle/>
          <a:p>
            <a:pPr algn="ctr" indent="0" marL="0">
              <a:lnSpc>
                <a:spcPct val="105000"/>
              </a:lnSpc>
              <a:buNone/>
            </a:pPr>
            <a:r>
              <a:rPr lang="en-US" sz="650" b="1" dirty="0">
                <a:solidFill>
                  <a:srgbClr val="FFFFFF"/>
                </a:solidFill>
                <a:latin typeface="Arial" pitchFamily="34" charset="0"/>
                <a:ea typeface="Arial" pitchFamily="34" charset="-122"/>
                <a:cs typeface="Arial" pitchFamily="34" charset="-120"/>
              </a:rPr>
              <a:t>START TODAY</a:t>
            </a:r>
            <a:endParaRPr lang="en-US" sz="650" dirty="0"/>
          </a:p>
        </p:txBody>
      </p:sp>
      <p:sp>
        <p:nvSpPr>
          <p:cNvPr id="102" name="Text 100"/>
          <p:cNvSpPr/>
          <p:nvPr/>
        </p:nvSpPr>
        <p:spPr>
          <a:xfrm>
            <a:off x="1993392" y="5980176"/>
            <a:ext cx="7555687" cy="347472"/>
          </a:xfrm>
          <a:prstGeom prst="rect">
            <a:avLst/>
          </a:prstGeom>
          <a:noFill/>
          <a:ln/>
        </p:spPr>
        <p:txBody>
          <a:bodyPr wrap="square" lIns="0" tIns="0" rIns="0" bIns="0" rtlCol="0" anchor="ctr"/>
          <a:lstStyle/>
          <a:p>
            <a:pPr algn="l" indent="0" marL="0">
              <a:lnSpc>
                <a:spcPct val="108000"/>
              </a:lnSpc>
              <a:buNone/>
            </a:pPr>
            <a:r>
              <a:rPr lang="en-US" sz="860" b="1" dirty="0">
                <a:solidFill>
                  <a:srgbClr val="0F172A"/>
                </a:solidFill>
                <a:latin typeface="Arial" pitchFamily="34" charset="0"/>
                <a:ea typeface="Arial" pitchFamily="34" charset="-122"/>
                <a:cs typeface="Arial" pitchFamily="34" charset="-120"/>
              </a:rPr>
              <a:t>Live Portal: ge-blogs-248990048888.cr.gclb.goog  •  GitHub: github.com/cloud-ai-fde/ge-blogs  •  Next: Blog 2 (Pattern A)</a:t>
            </a:r>
            <a:endParaRPr lang="en-US" sz="860" dirty="0"/>
          </a:p>
        </p:txBody>
      </p:sp>
      <p:sp>
        <p:nvSpPr>
          <p:cNvPr id="103" name="Shape 101"/>
          <p:cNvSpPr/>
          <p:nvPr/>
        </p:nvSpPr>
        <p:spPr>
          <a:xfrm>
            <a:off x="9695383" y="6025896"/>
            <a:ext cx="1965960" cy="256032"/>
          </a:xfrm>
          <a:prstGeom prst="roundRect">
            <a:avLst>
              <a:gd name="adj" fmla="val 17857"/>
            </a:avLst>
          </a:prstGeom>
          <a:solidFill>
            <a:srgbClr val="FFFFFF"/>
          </a:solidFill>
          <a:ln w="10795">
            <a:solidFill>
              <a:srgbClr val="2563EB"/>
            </a:solidFill>
            <a:prstDash val="solid"/>
          </a:ln>
        </p:spPr>
      </p:sp>
      <p:sp>
        <p:nvSpPr>
          <p:cNvPr id="104" name="Text 102"/>
          <p:cNvSpPr/>
          <p:nvPr/>
        </p:nvSpPr>
        <p:spPr>
          <a:xfrm>
            <a:off x="9695383" y="6025896"/>
            <a:ext cx="1965960" cy="256032"/>
          </a:xfrm>
          <a:prstGeom prst="rect">
            <a:avLst/>
          </a:prstGeom>
          <a:noFill/>
          <a:ln/>
        </p:spPr>
        <p:txBody>
          <a:bodyPr wrap="square" lIns="0" tIns="0" rIns="0" bIns="0" rtlCol="0" anchor="ctr"/>
          <a:lstStyle/>
          <a:p>
            <a:pPr algn="ctr" indent="0" marL="0">
              <a:lnSpc>
                <a:spcPct val="105000"/>
              </a:lnSpc>
              <a:buNone/>
            </a:pPr>
            <a:r>
              <a:rPr lang="en-US" sz="740" b="1" dirty="0">
                <a:solidFill>
                  <a:srgbClr val="2563EB"/>
                </a:solidFill>
                <a:latin typeface="Arial" pitchFamily="34" charset="0"/>
                <a:ea typeface="Arial" pitchFamily="34" charset="-122"/>
                <a:cs typeface="Arial" pitchFamily="34" charset="-120"/>
              </a:rPr>
              <a:t>Ready for Production Canary</a:t>
            </a:r>
            <a:endParaRPr lang="en-US" sz="7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Google Cloud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Blog 1 — Multi-Tenant Agentic AI: Executive &amp; Architecture Presentation (New Visual Design)</dc:title>
  <dc:subject>Blog 1: Multi-Tenant Agentic AI Executive &amp; Architecture Presentation</dc:subject>
  <dc:creator>Cloud Solutions Architecture Team</dc:creator>
  <cp:lastModifiedBy>Cloud Solutions Architecture Team</cp:lastModifiedBy>
  <cp:revision>1</cp:revision>
  <dcterms:created xsi:type="dcterms:W3CDTF">2026-10-30T23:39:24Z</dcterms:created>
  <dcterms:modified xsi:type="dcterms:W3CDTF">2026-10-30T23:39:24Z</dcterms:modified>
</cp:coreProperties>
</file>