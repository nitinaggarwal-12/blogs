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2-14.png"/><Relationship Id="rId15" Type="http://schemas.openxmlformats.org/officeDocument/2006/relationships/image" Target="../media/image-2-15.png"/><Relationship Id="rId16" Type="http://schemas.openxmlformats.org/officeDocument/2006/relationships/image" Target="../media/image-2-16.png"/><Relationship Id="rId17" Type="http://schemas.openxmlformats.org/officeDocument/2006/relationships/image" Target="../media/image-2-17.png"/><Relationship Id="rId18" Type="http://schemas.openxmlformats.org/officeDocument/2006/relationships/image" Target="../media/image-2-18.png"/><Relationship Id="rId19" Type="http://schemas.openxmlformats.org/officeDocument/2006/relationships/image" Target="../media/image-2-19.png"/><Relationship Id="rId20" Type="http://schemas.openxmlformats.org/officeDocument/2006/relationships/image" Target="../media/image-2-20.png"/><Relationship Id="rId21" Type="http://schemas.openxmlformats.org/officeDocument/2006/relationships/slideLayout" Target="../slideLayouts/slideLayout1.xml"/><Relationship Id="rId2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804672" y="438912"/>
            <a:ext cx="6766560" cy="219456"/>
          </a:xfrm>
          <a:prstGeom prst="rect">
            <a:avLst/>
          </a:prstGeom>
          <a:noFill/>
          <a:ln/>
        </p:spPr>
        <p:txBody>
          <a:bodyPr wrap="square" rtlCol="0" anchor="ctr"/>
          <a:lstStyle/>
          <a:p>
            <a:pPr indent="0" marL="0">
              <a:buNone/>
            </a:pPr>
            <a:r>
              <a:rPr lang="en-US" sz="920" b="1" dirty="0">
                <a:solidFill>
                  <a:srgbClr val="5F6368"/>
                </a:solidFill>
                <a:latin typeface="Arial" pitchFamily="34" charset="0"/>
                <a:ea typeface="Arial" pitchFamily="34" charset="-122"/>
                <a:cs typeface="Arial" pitchFamily="34" charset="-120"/>
              </a:rPr>
              <a:t>Cloud Architecture Center   ›   Part 6 of 6 • Red-Team Verification &amp; Runbook</a:t>
            </a:r>
            <a:endParaRPr lang="en-US" sz="920" dirty="0"/>
          </a:p>
        </p:txBody>
      </p:sp>
      <p:sp>
        <p:nvSpPr>
          <p:cNvPr id="4" name="Shape 2"/>
          <p:cNvSpPr/>
          <p:nvPr/>
        </p:nvSpPr>
        <p:spPr>
          <a:xfrm>
            <a:off x="7973568" y="429768"/>
            <a:ext cx="841248" cy="219456"/>
          </a:xfrm>
          <a:prstGeom prst="roundRect">
            <a:avLst>
              <a:gd name="adj" fmla="val 16667"/>
            </a:avLst>
          </a:prstGeom>
          <a:solidFill>
            <a:srgbClr val="F1F5F9"/>
          </a:solidFill>
          <a:ln w="9525">
            <a:solidFill>
              <a:srgbClr val="CBD5E1"/>
            </a:solidFill>
            <a:prstDash val="solid"/>
          </a:ln>
        </p:spPr>
      </p:sp>
      <p:sp>
        <p:nvSpPr>
          <p:cNvPr id="5" name="Text 3"/>
          <p:cNvSpPr/>
          <p:nvPr/>
        </p:nvSpPr>
        <p:spPr>
          <a:xfrm>
            <a:off x="7973568" y="429768"/>
            <a:ext cx="841248" cy="219456"/>
          </a:xfrm>
          <a:prstGeom prst="rect">
            <a:avLst/>
          </a:prstGeom>
          <a:noFill/>
          <a:ln/>
        </p:spPr>
        <p:txBody>
          <a:bodyPr wrap="square" rtlCol="0" anchor="ctr"/>
          <a:lstStyle/>
          <a:p>
            <a:pPr algn="ctr" indent="0" marL="0">
              <a:buNone/>
            </a:pPr>
            <a:r>
              <a:rPr lang="en-US" sz="780" b="1" dirty="0">
                <a:solidFill>
                  <a:srgbClr val="334155"/>
                </a:solidFill>
                <a:latin typeface="Courier New" pitchFamily="34" charset="0"/>
                <a:ea typeface="Courier New" pitchFamily="34" charset="-122"/>
                <a:cs typeface="Courier New" pitchFamily="34" charset="-120"/>
              </a:rPr>
              <a:t>DOC-MT-06</a:t>
            </a:r>
            <a:endParaRPr lang="en-US" sz="780" dirty="0"/>
          </a:p>
        </p:txBody>
      </p:sp>
      <p:sp>
        <p:nvSpPr>
          <p:cNvPr id="6" name="Text 4"/>
          <p:cNvSpPr/>
          <p:nvPr/>
        </p:nvSpPr>
        <p:spPr>
          <a:xfrm>
            <a:off x="8869680" y="438912"/>
            <a:ext cx="2514600" cy="219456"/>
          </a:xfrm>
          <a:prstGeom prst="rect">
            <a:avLst/>
          </a:prstGeom>
          <a:noFill/>
          <a:ln/>
        </p:spPr>
        <p:txBody>
          <a:bodyPr wrap="square" rtlCol="0" anchor="ctr"/>
          <a:lstStyle/>
          <a:p>
            <a:pPr algn="r" indent="0" marL="0">
              <a:buNone/>
            </a:pPr>
            <a:r>
              <a:rPr lang="en-US" sz="880" dirty="0">
                <a:solidFill>
                  <a:srgbClr val="5F6368"/>
                </a:solidFill>
                <a:latin typeface="Arial" pitchFamily="34" charset="0"/>
                <a:ea typeface="Arial" pitchFamily="34" charset="-122"/>
                <a:cs typeface="Arial" pitchFamily="34" charset="-120"/>
              </a:rPr>
              <a:t>·   14 min read   ·   Last reviewed 2026-10-15</a:t>
            </a:r>
            <a:endParaRPr lang="en-US" sz="880" dirty="0"/>
          </a:p>
        </p:txBody>
      </p:sp>
      <p:sp>
        <p:nvSpPr>
          <p:cNvPr id="7" name="Text 5"/>
          <p:cNvSpPr/>
          <p:nvPr/>
        </p:nvSpPr>
        <p:spPr>
          <a:xfrm>
            <a:off x="804672" y="768096"/>
            <a:ext cx="10570464" cy="877824"/>
          </a:xfrm>
          <a:prstGeom prst="rect">
            <a:avLst/>
          </a:prstGeom>
          <a:noFill/>
          <a:ln/>
        </p:spPr>
        <p:txBody>
          <a:bodyPr wrap="square" rtlCol="0" anchor="ctr"/>
          <a:lstStyle/>
          <a:p>
            <a:pPr indent="0" marL="0">
              <a:buNone/>
            </a:pPr>
            <a:r>
              <a:rPr lang="en-US" sz="2150" dirty="0">
                <a:solidFill>
                  <a:srgbClr val="202124"/>
                </a:solidFill>
                <a:latin typeface="Arial" pitchFamily="34" charset="0"/>
                <a:ea typeface="Arial" pitchFamily="34" charset="-122"/>
                <a:cs typeface="Arial" pitchFamily="34" charset="-120"/>
              </a:rPr>
              <a:t>Production Verification: 10-Point Red-Team Breach Simulation &amp; Cloud Console Runbook</a:t>
            </a:r>
            <a:endParaRPr lang="en-US" sz="2150" dirty="0"/>
          </a:p>
        </p:txBody>
      </p:sp>
      <p:sp>
        <p:nvSpPr>
          <p:cNvPr id="8" name="Shape 6"/>
          <p:cNvSpPr/>
          <p:nvPr/>
        </p:nvSpPr>
        <p:spPr>
          <a:xfrm>
            <a:off x="384048" y="1773936"/>
            <a:ext cx="11420856" cy="0"/>
          </a:xfrm>
          <a:prstGeom prst="line">
            <a:avLst/>
          </a:prstGeom>
          <a:noFill/>
          <a:ln w="9525">
            <a:solidFill>
              <a:srgbClr val="DADCE0"/>
            </a:solidFill>
            <a:prstDash val="solid"/>
          </a:ln>
        </p:spPr>
      </p:sp>
      <p:sp>
        <p:nvSpPr>
          <p:cNvPr id="9" name="Text 7"/>
          <p:cNvSpPr/>
          <p:nvPr/>
        </p:nvSpPr>
        <p:spPr>
          <a:xfrm>
            <a:off x="804672" y="1938528"/>
            <a:ext cx="10570464" cy="585216"/>
          </a:xfrm>
          <a:prstGeom prst="rect">
            <a:avLst/>
          </a:prstGeom>
          <a:noFill/>
          <a:ln/>
        </p:spPr>
        <p:txBody>
          <a:bodyPr wrap="square" rtlCol="0" anchor="t"/>
          <a:lstStyle/>
          <a:p>
            <a:pPr indent="0" marL="0">
              <a:lnSpc>
                <a:spcPct val="122000"/>
              </a:lnSpc>
              <a:buNone/>
            </a:pPr>
            <a:r>
              <a:rPr lang="en-US" sz="980" dirty="0">
                <a:solidFill>
                  <a:srgbClr val="3C4043"/>
                </a:solidFill>
                <a:latin typeface="Arial" pitchFamily="34" charset="0"/>
                <a:ea typeface="Arial" pitchFamily="34" charset="-122"/>
                <a:cs typeface="Arial" pitchFamily="34" charset="-120"/>
              </a:rPr>
              <a:t>In conventional SaaS, a unit test on a WHERE tenant_id = ? clause was sufficient to prove tenant isolation. In an autonomous agentic platform, an attacker can attempt to spoof HTTP headers at ingress, trick the LLM into overriding SQL session variables, poison shared RAG chunks, hijack 3LO OAuth tokens, or exhaust shared token quotas.</a:t>
            </a:r>
            <a:endParaRPr lang="en-US" sz="980" dirty="0"/>
          </a:p>
        </p:txBody>
      </p:sp>
      <p:sp>
        <p:nvSpPr>
          <p:cNvPr id="10" name="Text 8"/>
          <p:cNvSpPr/>
          <p:nvPr/>
        </p:nvSpPr>
        <p:spPr>
          <a:xfrm>
            <a:off x="804672" y="2633472"/>
            <a:ext cx="10570464" cy="877824"/>
          </a:xfrm>
          <a:prstGeom prst="rect">
            <a:avLst/>
          </a:prstGeom>
          <a:noFill/>
          <a:ln/>
        </p:spPr>
        <p:txBody>
          <a:bodyPr wrap="square" rtlCol="0" anchor="t"/>
          <a:lstStyle/>
          <a:p>
            <a:pPr indent="0" marL="0">
              <a:lnSpc>
                <a:spcPct val="122000"/>
              </a:lnSpc>
              <a:buNone/>
            </a:pPr>
            <a:r>
              <a:rPr lang="en-US" sz="980" dirty="0">
                <a:solidFill>
                  <a:srgbClr val="3C4043"/>
                </a:solidFill>
                <a:latin typeface="Arial" pitchFamily="34" charset="0"/>
                <a:ea typeface="Arial" pitchFamily="34" charset="-122"/>
                <a:cs typeface="Arial" pitchFamily="34" charset="-120"/>
              </a:rPr>
              <a:t>To provide deterministic, auditor-verifiable proof across Pattern 1, Pattern 2, and Pattern 3, we deploy a live verification harness on Google Cloud Run, BigQuery, Cloud KMS, and VPC/PSC and execute 10 automated red-team breach simulations on every build.</a:t>
            </a:r>
            <a:endParaRPr lang="en-US" sz="980" dirty="0"/>
          </a:p>
        </p:txBody>
      </p:sp>
      <p:sp>
        <p:nvSpPr>
          <p:cNvPr id="11" name="Shape 9"/>
          <p:cNvSpPr/>
          <p:nvPr/>
        </p:nvSpPr>
        <p:spPr>
          <a:xfrm>
            <a:off x="804672" y="4553712"/>
            <a:ext cx="10570464" cy="0"/>
          </a:xfrm>
          <a:prstGeom prst="line">
            <a:avLst/>
          </a:prstGeom>
          <a:noFill/>
          <a:ln w="9525">
            <a:solidFill>
              <a:srgbClr val="DADCE0"/>
            </a:solidFill>
            <a:prstDash val="solid"/>
          </a:ln>
        </p:spPr>
      </p:sp>
      <p:sp>
        <p:nvSpPr>
          <p:cNvPr id="12" name="Text 10"/>
          <p:cNvSpPr/>
          <p:nvPr/>
        </p:nvSpPr>
        <p:spPr>
          <a:xfrm>
            <a:off x="804672" y="4700016"/>
            <a:ext cx="10570464" cy="347472"/>
          </a:xfrm>
          <a:prstGeom prst="rect">
            <a:avLst/>
          </a:prstGeom>
          <a:noFill/>
          <a:ln/>
        </p:spPr>
        <p:txBody>
          <a:bodyPr wrap="square" rtlCol="0" anchor="ctr"/>
          <a:lstStyle/>
          <a:p>
            <a:pPr indent="0" marL="0">
              <a:buNone/>
            </a:pPr>
            <a:r>
              <a:rPr lang="en-US" sz="1650" dirty="0">
                <a:solidFill>
                  <a:srgbClr val="202124"/>
                </a:solidFill>
                <a:latin typeface="Arial" pitchFamily="34" charset="0"/>
                <a:ea typeface="Arial" pitchFamily="34" charset="-122"/>
                <a:cs typeface="Arial" pitchFamily="34" charset="-120"/>
              </a:rPr>
              <a:t>Architecture</a:t>
            </a:r>
            <a:endParaRPr lang="en-US" sz="1650" dirty="0"/>
          </a:p>
        </p:txBody>
      </p:sp>
      <p:sp>
        <p:nvSpPr>
          <p:cNvPr id="13" name="Text 11"/>
          <p:cNvSpPr/>
          <p:nvPr/>
        </p:nvSpPr>
        <p:spPr>
          <a:xfrm>
            <a:off x="804672" y="5120640"/>
            <a:ext cx="10570464" cy="1353312"/>
          </a:xfrm>
          <a:prstGeom prst="rect">
            <a:avLst/>
          </a:prstGeom>
          <a:noFill/>
          <a:ln/>
        </p:spPr>
        <p:txBody>
          <a:bodyPr wrap="square" rtlCol="0" anchor="t"/>
          <a:lstStyle/>
          <a:p>
            <a:pPr indent="0" marL="0">
              <a:lnSpc>
                <a:spcPct val="122000"/>
              </a:lnSpc>
              <a:buNone/>
            </a:pPr>
            <a:r>
              <a:rPr lang="en-US" sz="960" dirty="0">
                <a:solidFill>
                  <a:srgbClr val="3C4043"/>
                </a:solidFill>
                <a:latin typeface="Arial" pitchFamily="34" charset="0"/>
                <a:ea typeface="Arial" pitchFamily="34" charset="-122"/>
                <a:cs typeface="Arial" pitchFamily="34" charset="-120"/>
              </a:rPr>
              <a:t>Every release pipeline executes the following 10 adversarial attack vectors against the live multi-tenant harness. Any non-blocked response fails the build immediately.
</a:t>
            </a:r>
            <a:pPr indent="0" marL="0">
              <a:lnSpc>
                <a:spcPct val="122000"/>
              </a:lnSpc>
              <a:buNone/>
            </a:pPr>
            <a:r>
              <a:rPr lang="en-US" sz="960" dirty="0">
                <a:solidFill>
                  <a:srgbClr val="3C4043"/>
                </a:solidFill>
                <a:latin typeface="Arial" pitchFamily="34" charset="0"/>
                <a:ea typeface="Arial" pitchFamily="34" charset="-122"/>
                <a:cs typeface="Arial" pitchFamily="34" charset="-120"/>
              </a:rPr>
              <a:t>The topology separates centralized ingress and governance (Hop 1 &amp; Hop 2 Gates and Hop 3 &amp; 5 FinOps &amp; Audit Gates) from isolated execution spokes (Hop 4 Guardrail Gates • Prompt, Safety Filter &amp; SDP DLP and Hop 3 &amp; Hop 5 Storage Gates • Memory, Skills &amp; RLS), ensuring deterministic policy enforcement and unified observability across the Google Cloud organization.</a:t>
            </a:r>
            <a:endParaRPr lang="en-US" sz="96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6 of 6 • Red-Team Verification &amp; Runbook  ›  Architecture  ›  Figure 1</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DOC-MT-06  ·  Page 2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Shape 4"/>
          <p:cNvSpPr/>
          <p:nvPr/>
        </p:nvSpPr>
        <p:spPr>
          <a:xfrm>
            <a:off x="658368" y="640080"/>
            <a:ext cx="10872216" cy="5852160"/>
          </a:xfrm>
          <a:prstGeom prst="roundRect">
            <a:avLst>
              <a:gd name="adj" fmla="val 625"/>
            </a:avLst>
          </a:prstGeom>
          <a:solidFill>
            <a:srgbClr val="FFFFFF"/>
          </a:solidFill>
          <a:ln w="10795">
            <a:solidFill>
              <a:srgbClr val="DADCE0"/>
            </a:solidFill>
            <a:prstDash val="solid"/>
          </a:ln>
        </p:spPr>
      </p:sp>
      <p:sp>
        <p:nvSpPr>
          <p:cNvPr id="7" name="Shape 5"/>
          <p:cNvSpPr/>
          <p:nvPr/>
        </p:nvSpPr>
        <p:spPr>
          <a:xfrm>
            <a:off x="658368" y="640080"/>
            <a:ext cx="10872216" cy="310896"/>
          </a:xfrm>
          <a:prstGeom prst="rect">
            <a:avLst/>
          </a:prstGeom>
          <a:solidFill>
            <a:srgbClr val="F8F9FA"/>
          </a:solidFill>
          <a:ln w="9525">
            <a:solidFill>
              <a:srgbClr val="DADCE0"/>
            </a:solidFill>
            <a:prstDash val="solid"/>
          </a:ln>
        </p:spPr>
      </p:sp>
      <p:sp>
        <p:nvSpPr>
          <p:cNvPr id="8" name="Text 6"/>
          <p:cNvSpPr/>
          <p:nvPr/>
        </p:nvSpPr>
        <p:spPr>
          <a:xfrm>
            <a:off x="822960" y="640080"/>
            <a:ext cx="10515600" cy="310896"/>
          </a:xfrm>
          <a:prstGeom prst="rect">
            <a:avLst/>
          </a:prstGeom>
          <a:noFill/>
          <a:ln/>
        </p:spPr>
        <p:txBody>
          <a:bodyPr wrap="square" rtlCol="0" anchor="ctr"/>
          <a:lstStyle/>
          <a:p>
            <a:pPr indent="0" marL="0">
              <a:buNone/>
            </a:pPr>
            <a:r>
              <a:rPr lang="en-US" sz="900" b="1" dirty="0">
                <a:solidFill>
                  <a:srgbClr val="202124"/>
                </a:solidFill>
                <a:latin typeface="Arial" pitchFamily="34" charset="0"/>
                <a:ea typeface="Arial" pitchFamily="34" charset="-122"/>
                <a:cs typeface="Arial" pitchFamily="34" charset="-120"/>
              </a:rPr>
              <a:t>Figure 1: 10-Point Automated Red-Team Breach Defense &amp; Verification Sequence</a:t>
            </a:r>
            <a:endParaRPr lang="en-US" sz="900" dirty="0"/>
          </a:p>
        </p:txBody>
      </p:sp>
      <p:sp>
        <p:nvSpPr>
          <p:cNvPr id="9" name="Shape 7"/>
          <p:cNvSpPr/>
          <p:nvPr/>
        </p:nvSpPr>
        <p:spPr>
          <a:xfrm>
            <a:off x="658368" y="6163056"/>
            <a:ext cx="10872216" cy="329184"/>
          </a:xfrm>
          <a:prstGeom prst="rect">
            <a:avLst/>
          </a:prstGeom>
          <a:solidFill>
            <a:srgbClr val="F8F9FA"/>
          </a:solidFill>
          <a:ln w="9525">
            <a:solidFill>
              <a:srgbClr val="DADCE0"/>
            </a:solidFill>
            <a:prstDash val="solid"/>
          </a:ln>
        </p:spPr>
      </p:sp>
      <p:sp>
        <p:nvSpPr>
          <p:cNvPr id="10" name="Text 8"/>
          <p:cNvSpPr/>
          <p:nvPr/>
        </p:nvSpPr>
        <p:spPr>
          <a:xfrm>
            <a:off x="822960" y="6163056"/>
            <a:ext cx="10515600" cy="329184"/>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Figure 1. Defense-in-depth sequence showing exactly where SIM 1 through SIM 10 are intercepted and logged across the 5-hop multi-tenant architecture.</a:t>
            </a:r>
            <a:endParaRPr lang="en-US" sz="820" dirty="0"/>
          </a:p>
        </p:txBody>
      </p:sp>
      <p:sp>
        <p:nvSpPr>
          <p:cNvPr id="11" name="Shape 9"/>
          <p:cNvSpPr/>
          <p:nvPr/>
        </p:nvSpPr>
        <p:spPr>
          <a:xfrm>
            <a:off x="3922776" y="1664208"/>
            <a:ext cx="4344314" cy="4389120"/>
          </a:xfrm>
          <a:prstGeom prst="roundRect">
            <a:avLst>
              <a:gd name="adj" fmla="val 737"/>
            </a:avLst>
          </a:prstGeom>
          <a:solidFill>
            <a:srgbClr val="1A73E8"/>
          </a:solidFill>
          <a:ln w="15875">
            <a:solidFill>
              <a:srgbClr val="9AA0A6"/>
            </a:solidFill>
            <a:prstDash val="solid"/>
          </a:ln>
        </p:spPr>
      </p:sp>
      <p:sp>
        <p:nvSpPr>
          <p:cNvPr id="12" name="Shape 10"/>
          <p:cNvSpPr/>
          <p:nvPr/>
        </p:nvSpPr>
        <p:spPr>
          <a:xfrm>
            <a:off x="3982212" y="1851660"/>
            <a:ext cx="4224528" cy="4134917"/>
          </a:xfrm>
          <a:prstGeom prst="roundRect">
            <a:avLst>
              <a:gd name="adj" fmla="val 774"/>
            </a:avLst>
          </a:prstGeom>
          <a:solidFill>
            <a:srgbClr val="FFFFFF"/>
          </a:solidFill>
          <a:ln w="10795">
            <a:solidFill>
              <a:srgbClr val="9AA0A6"/>
            </a:solidFill>
            <a:prstDash val="solid"/>
          </a:ln>
        </p:spPr>
      </p:sp>
      <p:sp>
        <p:nvSpPr>
          <p:cNvPr id="13" name="Text 11"/>
          <p:cNvSpPr/>
          <p:nvPr/>
        </p:nvSpPr>
        <p:spPr>
          <a:xfrm>
            <a:off x="4027932" y="1858975"/>
            <a:ext cx="1773936" cy="105156"/>
          </a:xfrm>
          <a:prstGeom prst="rect">
            <a:avLst/>
          </a:prstGeom>
          <a:noFill/>
          <a:ln/>
        </p:spPr>
        <p:txBody>
          <a:bodyPr wrap="none" lIns="0" tIns="0" rIns="0" bIns="0" rtlCol="0" anchor="t">
            <a:normAutofit/>
          </a:bodyPr>
          <a:lstStyle/>
          <a:p>
            <a:pPr algn="l" indent="0" marL="0">
              <a:lnSpc>
                <a:spcPct val="88000"/>
              </a:lnSpc>
              <a:buNone/>
            </a:pPr>
            <a:r>
              <a:rPr lang="en-US" sz="420" b="1" dirty="0">
                <a:solidFill>
                  <a:srgbClr val="202124"/>
                </a:solidFill>
                <a:latin typeface="Arial" pitchFamily="34" charset="0"/>
                <a:ea typeface="Arial" pitchFamily="34" charset="-122"/>
                <a:cs typeface="Arial" pitchFamily="34" charset="-120"/>
              </a:rPr>
              <a:t>Adversarial Breach Verification Harness</a:t>
            </a:r>
            <a:endParaRPr lang="en-US" sz="420" dirty="0"/>
          </a:p>
        </p:txBody>
      </p:sp>
      <p:sp>
        <p:nvSpPr>
          <p:cNvPr id="14" name="Shape 12"/>
          <p:cNvSpPr/>
          <p:nvPr/>
        </p:nvSpPr>
        <p:spPr>
          <a:xfrm>
            <a:off x="4042562" y="1986077"/>
            <a:ext cx="4104742" cy="3931920"/>
          </a:xfrm>
          <a:prstGeom prst="roundRect">
            <a:avLst>
              <a:gd name="adj" fmla="val 814"/>
            </a:avLst>
          </a:prstGeom>
          <a:solidFill>
            <a:srgbClr val="FFFFFF"/>
          </a:solidFill>
          <a:ln w="10795">
            <a:solidFill>
              <a:srgbClr val="9AA0A6"/>
            </a:solidFill>
            <a:prstDash val="solid"/>
          </a:ln>
        </p:spPr>
      </p:sp>
      <p:sp>
        <p:nvSpPr>
          <p:cNvPr id="15" name="Text 13"/>
          <p:cNvSpPr/>
          <p:nvPr/>
        </p:nvSpPr>
        <p:spPr>
          <a:xfrm>
            <a:off x="4088282" y="1993392"/>
            <a:ext cx="1723644" cy="105156"/>
          </a:xfrm>
          <a:prstGeom prst="rect">
            <a:avLst/>
          </a:prstGeom>
          <a:noFill/>
          <a:ln/>
        </p:spPr>
        <p:txBody>
          <a:bodyPr wrap="none" lIns="0" tIns="0" rIns="0" bIns="0" rtlCol="0" anchor="t">
            <a:normAutofit/>
          </a:bodyPr>
          <a:lstStyle/>
          <a:p>
            <a:pPr algn="l" indent="0" marL="0">
              <a:lnSpc>
                <a:spcPct val="88000"/>
              </a:lnSpc>
              <a:buNone/>
            </a:pPr>
            <a:r>
              <a:rPr lang="en-US" sz="420" b="1" dirty="0">
                <a:solidFill>
                  <a:srgbClr val="202124"/>
                </a:solidFill>
                <a:latin typeface="Arial" pitchFamily="34" charset="0"/>
                <a:ea typeface="Arial" pitchFamily="34" charset="-122"/>
                <a:cs typeface="Arial" pitchFamily="34" charset="-120"/>
              </a:rPr>
              <a:t>VPC • Zero-Trust 5-Hop Enforcement Pipeline</a:t>
            </a:r>
            <a:endParaRPr lang="en-US" sz="420" dirty="0"/>
          </a:p>
        </p:txBody>
      </p:sp>
      <p:sp>
        <p:nvSpPr>
          <p:cNvPr id="16" name="Shape 14"/>
          <p:cNvSpPr/>
          <p:nvPr/>
        </p:nvSpPr>
        <p:spPr>
          <a:xfrm>
            <a:off x="4109314" y="3738982"/>
            <a:ext cx="1932127" cy="2097634"/>
          </a:xfrm>
          <a:prstGeom prst="roundRect">
            <a:avLst>
              <a:gd name="adj" fmla="val 1656"/>
            </a:avLst>
          </a:prstGeom>
          <a:solidFill>
            <a:srgbClr val="FFFFFF"/>
          </a:solidFill>
          <a:ln w="10795">
            <a:solidFill>
              <a:srgbClr val="9AA0A6"/>
            </a:solidFill>
            <a:prstDash val="solid"/>
          </a:ln>
        </p:spPr>
      </p:sp>
      <p:sp>
        <p:nvSpPr>
          <p:cNvPr id="17" name="Text 15"/>
          <p:cNvSpPr/>
          <p:nvPr/>
        </p:nvSpPr>
        <p:spPr>
          <a:xfrm>
            <a:off x="4155034" y="3746297"/>
            <a:ext cx="1255471" cy="105156"/>
          </a:xfrm>
          <a:prstGeom prst="rect">
            <a:avLst/>
          </a:prstGeom>
          <a:noFill/>
          <a:ln/>
        </p:spPr>
        <p:txBody>
          <a:bodyPr wrap="none" lIns="0" tIns="0" rIns="0" bIns="0" rtlCol="0" anchor="t">
            <a:normAutofit/>
          </a:bodyPr>
          <a:lstStyle/>
          <a:p>
            <a:pPr algn="l" indent="0" marL="0">
              <a:lnSpc>
                <a:spcPct val="88000"/>
              </a:lnSpc>
              <a:buNone/>
            </a:pPr>
            <a:r>
              <a:rPr lang="en-US" sz="385" b="1" dirty="0">
                <a:solidFill>
                  <a:srgbClr val="202124"/>
                </a:solidFill>
                <a:latin typeface="Arial" pitchFamily="34" charset="0"/>
                <a:ea typeface="Arial" pitchFamily="34" charset="-122"/>
                <a:cs typeface="Arial" pitchFamily="34" charset="-120"/>
              </a:rPr>
              <a:t>Hop 4 Guardrail Gates (Vectors 4, 5 &amp; 8)</a:t>
            </a:r>
            <a:endParaRPr lang="en-US" sz="385" dirty="0"/>
          </a:p>
        </p:txBody>
      </p:sp>
      <p:sp>
        <p:nvSpPr>
          <p:cNvPr id="18" name="Shape 16"/>
          <p:cNvSpPr/>
          <p:nvPr/>
        </p:nvSpPr>
        <p:spPr>
          <a:xfrm>
            <a:off x="6146597" y="3738982"/>
            <a:ext cx="1932127" cy="2097634"/>
          </a:xfrm>
          <a:prstGeom prst="roundRect">
            <a:avLst>
              <a:gd name="adj" fmla="val 1656"/>
            </a:avLst>
          </a:prstGeom>
          <a:solidFill>
            <a:srgbClr val="FFFFFF"/>
          </a:solidFill>
          <a:ln w="10795">
            <a:solidFill>
              <a:srgbClr val="9AA0A6"/>
            </a:solidFill>
            <a:prstDash val="solid"/>
          </a:ln>
        </p:spPr>
      </p:sp>
      <p:sp>
        <p:nvSpPr>
          <p:cNvPr id="19" name="Text 17"/>
          <p:cNvSpPr/>
          <p:nvPr/>
        </p:nvSpPr>
        <p:spPr>
          <a:xfrm>
            <a:off x="6192317" y="3746297"/>
            <a:ext cx="1255471" cy="105156"/>
          </a:xfrm>
          <a:prstGeom prst="rect">
            <a:avLst/>
          </a:prstGeom>
          <a:noFill/>
          <a:ln/>
        </p:spPr>
        <p:txBody>
          <a:bodyPr wrap="none" lIns="0" tIns="0" rIns="0" bIns="0" rtlCol="0" anchor="t">
            <a:normAutofit/>
          </a:bodyPr>
          <a:lstStyle/>
          <a:p>
            <a:pPr algn="l" indent="0" marL="0">
              <a:lnSpc>
                <a:spcPct val="88000"/>
              </a:lnSpc>
              <a:buNone/>
            </a:pPr>
            <a:r>
              <a:rPr lang="en-US" sz="385" b="1" dirty="0">
                <a:solidFill>
                  <a:srgbClr val="202124"/>
                </a:solidFill>
                <a:latin typeface="Arial" pitchFamily="34" charset="0"/>
                <a:ea typeface="Arial" pitchFamily="34" charset="-122"/>
                <a:cs typeface="Arial" pitchFamily="34" charset="-120"/>
              </a:rPr>
              <a:t>Hop 3 &amp; Hop 5 Storage Gates (Vectors 7 &amp; 9)</a:t>
            </a:r>
            <a:endParaRPr lang="en-US" sz="385" dirty="0"/>
          </a:p>
        </p:txBody>
      </p:sp>
      <p:sp>
        <p:nvSpPr>
          <p:cNvPr id="20" name="Shape 18"/>
          <p:cNvSpPr/>
          <p:nvPr/>
        </p:nvSpPr>
        <p:spPr>
          <a:xfrm>
            <a:off x="4169664" y="3873398"/>
            <a:ext cx="1812341" cy="1902866"/>
          </a:xfrm>
          <a:prstGeom prst="roundRect">
            <a:avLst>
              <a:gd name="adj" fmla="val 1766"/>
            </a:avLst>
          </a:prstGeom>
          <a:solidFill>
            <a:srgbClr val="FEEFC3"/>
          </a:solidFill>
          <a:ln w="10795">
            <a:solidFill>
              <a:srgbClr val="9AA0A6"/>
            </a:solidFill>
            <a:prstDash val="solid"/>
          </a:ln>
        </p:spPr>
      </p:sp>
      <p:sp>
        <p:nvSpPr>
          <p:cNvPr id="21" name="Text 19"/>
          <p:cNvSpPr/>
          <p:nvPr/>
        </p:nvSpPr>
        <p:spPr>
          <a:xfrm>
            <a:off x="4215384" y="3891686"/>
            <a:ext cx="1730045" cy="256032"/>
          </a:xfrm>
          <a:prstGeom prst="rect">
            <a:avLst/>
          </a:prstGeom>
          <a:noFill/>
          <a:ln/>
        </p:spPr>
        <p:txBody>
          <a:bodyPr wrap="square" lIns="0" tIns="0" rIns="0" bIns="0" rtlCol="0" anchor="t">
            <a:normAutofit/>
          </a:bodyPr>
          <a:lstStyle/>
          <a:p>
            <a:pPr algn="l" indent="0" marL="0">
              <a:lnSpc>
                <a:spcPct val="88000"/>
              </a:lnSpc>
              <a:buNone/>
            </a:pPr>
            <a:r>
              <a:rPr lang="en-US" sz="540" b="1" dirty="0">
                <a:solidFill>
                  <a:srgbClr val="202124"/>
                </a:solidFill>
                <a:latin typeface="Arial" pitchFamily="34" charset="0"/>
                <a:ea typeface="Arial" pitchFamily="34" charset="-122"/>
                <a:cs typeface="Arial" pitchFamily="34" charset="-120"/>
              </a:rPr>
              <a:t>Model Armor &amp; Safety Filters</a:t>
            </a:r>
            <a:endParaRPr lang="en-US" sz="540" dirty="0"/>
          </a:p>
          <a:p>
            <a:pPr algn="l" indent="0" marL="0">
              <a:lnSpc>
                <a:spcPct val="88000"/>
              </a:lnSpc>
              <a:buNone/>
            </a:pPr>
            <a:r>
              <a:rPr lang="en-US" sz="450" dirty="0">
                <a:solidFill>
                  <a:srgbClr val="202124"/>
                </a:solidFill>
                <a:latin typeface="Arial" pitchFamily="34" charset="0"/>
                <a:ea typeface="Arial" pitchFamily="34" charset="-122"/>
                <a:cs typeface="Arial" pitchFamily="34" charset="-120"/>
              </a:rPr>
              <a:t>Ingress Injection Screen &amp; Egress SDP Redaction</a:t>
            </a:r>
            <a:endParaRPr lang="en-US" sz="540" dirty="0"/>
          </a:p>
        </p:txBody>
      </p:sp>
      <p:sp>
        <p:nvSpPr>
          <p:cNvPr id="22" name="Shape 20"/>
          <p:cNvSpPr/>
          <p:nvPr/>
        </p:nvSpPr>
        <p:spPr>
          <a:xfrm>
            <a:off x="6206947" y="3873398"/>
            <a:ext cx="1812341" cy="1902866"/>
          </a:xfrm>
          <a:prstGeom prst="roundRect">
            <a:avLst>
              <a:gd name="adj" fmla="val 1766"/>
            </a:avLst>
          </a:prstGeom>
          <a:solidFill>
            <a:srgbClr val="FAD2CF"/>
          </a:solidFill>
          <a:ln w="10795">
            <a:solidFill>
              <a:srgbClr val="9AA0A6"/>
            </a:solidFill>
            <a:prstDash val="solid"/>
          </a:ln>
        </p:spPr>
      </p:sp>
      <p:sp>
        <p:nvSpPr>
          <p:cNvPr id="23" name="Text 21"/>
          <p:cNvSpPr/>
          <p:nvPr/>
        </p:nvSpPr>
        <p:spPr>
          <a:xfrm>
            <a:off x="6252667" y="3891686"/>
            <a:ext cx="1730045" cy="256032"/>
          </a:xfrm>
          <a:prstGeom prst="rect">
            <a:avLst/>
          </a:prstGeom>
          <a:noFill/>
          <a:ln/>
        </p:spPr>
        <p:txBody>
          <a:bodyPr wrap="square" lIns="0" tIns="0" rIns="0" bIns="0" rtlCol="0" anchor="t">
            <a:normAutofit/>
          </a:bodyPr>
          <a:lstStyle/>
          <a:p>
            <a:pPr algn="l" indent="0" marL="0">
              <a:lnSpc>
                <a:spcPct val="88000"/>
              </a:lnSpc>
              <a:buNone/>
            </a:pPr>
            <a:r>
              <a:rPr lang="en-US" sz="540" b="1" dirty="0">
                <a:solidFill>
                  <a:srgbClr val="202124"/>
                </a:solidFill>
                <a:latin typeface="Arial" pitchFamily="34" charset="0"/>
                <a:ea typeface="Arial" pitchFamily="34" charset="-122"/>
                <a:cs typeface="Arial" pitchFamily="34" charset="-120"/>
              </a:rPr>
              <a:t>Memory Bank, Skills &amp; AlloyDB RLS</a:t>
            </a:r>
            <a:endParaRPr lang="en-US" sz="540" dirty="0"/>
          </a:p>
          <a:p>
            <a:pPr algn="l" indent="0" marL="0">
              <a:lnSpc>
                <a:spcPct val="88000"/>
              </a:lnSpc>
              <a:buNone/>
            </a:pPr>
            <a:r>
              <a:rPr lang="en-US" sz="450" dirty="0">
                <a:solidFill>
                  <a:srgbClr val="202124"/>
                </a:solidFill>
                <a:latin typeface="Arial" pitchFamily="34" charset="0"/>
                <a:ea typeface="Arial" pitchFamily="34" charset="-122"/>
                <a:cs typeface="Arial" pitchFamily="34" charset="-120"/>
              </a:rPr>
              <a:t>Cryptographic Namespace &amp; Storage-Engine Isolation</a:t>
            </a:r>
            <a:endParaRPr lang="en-US" sz="540" dirty="0"/>
          </a:p>
        </p:txBody>
      </p:sp>
      <p:sp>
        <p:nvSpPr>
          <p:cNvPr id="24" name="Shape 22"/>
          <p:cNvSpPr/>
          <p:nvPr/>
        </p:nvSpPr>
        <p:spPr>
          <a:xfrm>
            <a:off x="4101998" y="2113178"/>
            <a:ext cx="2487168" cy="1236269"/>
          </a:xfrm>
          <a:prstGeom prst="roundRect">
            <a:avLst>
              <a:gd name="adj" fmla="val 2589"/>
            </a:avLst>
          </a:prstGeom>
          <a:solidFill>
            <a:srgbClr val="AECBFA"/>
          </a:solidFill>
          <a:ln w="10795">
            <a:solidFill>
              <a:srgbClr val="9AA0A6"/>
            </a:solidFill>
            <a:prstDash val="solid"/>
          </a:ln>
        </p:spPr>
      </p:sp>
      <p:sp>
        <p:nvSpPr>
          <p:cNvPr id="25" name="Text 23"/>
          <p:cNvSpPr/>
          <p:nvPr/>
        </p:nvSpPr>
        <p:spPr>
          <a:xfrm>
            <a:off x="4147718" y="2131466"/>
            <a:ext cx="2404872" cy="256032"/>
          </a:xfrm>
          <a:prstGeom prst="rect">
            <a:avLst/>
          </a:prstGeom>
          <a:noFill/>
          <a:ln/>
        </p:spPr>
        <p:txBody>
          <a:bodyPr wrap="square" lIns="0" tIns="0" rIns="0" bIns="0" rtlCol="0" anchor="t">
            <a:normAutofit/>
          </a:bodyPr>
          <a:lstStyle/>
          <a:p>
            <a:pPr algn="l" indent="0" marL="0">
              <a:lnSpc>
                <a:spcPct val="88000"/>
              </a:lnSpc>
              <a:buNone/>
            </a:pPr>
            <a:r>
              <a:rPr lang="en-US" sz="480" b="1" dirty="0">
                <a:solidFill>
                  <a:srgbClr val="202124"/>
                </a:solidFill>
                <a:latin typeface="Arial" pitchFamily="34" charset="0"/>
                <a:ea typeface="Arial" pitchFamily="34" charset="-122"/>
                <a:cs typeface="Arial" pitchFamily="34" charset="-120"/>
              </a:rPr>
              <a:t>Hop 1 &amp; Hop 2 Gates (Vectors 1, 2, 3 &amp; 10)</a:t>
            </a:r>
            <a:endParaRPr lang="en-US" sz="480" dirty="0"/>
          </a:p>
          <a:p>
            <a:pPr algn="l" indent="0" marL="0">
              <a:lnSpc>
                <a:spcPct val="88000"/>
              </a:lnSpc>
              <a:buNone/>
            </a:pPr>
            <a:r>
              <a:rPr lang="en-US" sz="410" dirty="0">
                <a:solidFill>
                  <a:srgbClr val="202124"/>
                </a:solidFill>
                <a:latin typeface="Arial" pitchFamily="34" charset="0"/>
                <a:ea typeface="Arial" pitchFamily="34" charset="-122"/>
                <a:cs typeface="Arial" pitchFamily="34" charset="-120"/>
              </a:rPr>
              <a:t>Neutralizes header spoofing, Agent Alpha &amp; MCP leaks</a:t>
            </a:r>
            <a:endParaRPr lang="en-US" sz="480" dirty="0"/>
          </a:p>
        </p:txBody>
      </p:sp>
      <p:sp>
        <p:nvSpPr>
          <p:cNvPr id="26" name="Shape 24"/>
          <p:cNvSpPr/>
          <p:nvPr/>
        </p:nvSpPr>
        <p:spPr>
          <a:xfrm>
            <a:off x="6836054" y="2143354"/>
            <a:ext cx="1228039" cy="1198778"/>
          </a:xfrm>
          <a:prstGeom prst="roundRect">
            <a:avLst>
              <a:gd name="adj" fmla="val 2670"/>
            </a:avLst>
          </a:prstGeom>
          <a:solidFill>
            <a:srgbClr val="CEEAD6"/>
          </a:solidFill>
          <a:ln w="10795">
            <a:solidFill>
              <a:srgbClr val="9AA0A6"/>
            </a:solidFill>
            <a:prstDash val="solid"/>
          </a:ln>
        </p:spPr>
      </p:sp>
      <p:sp>
        <p:nvSpPr>
          <p:cNvPr id="27" name="Text 25"/>
          <p:cNvSpPr/>
          <p:nvPr/>
        </p:nvSpPr>
        <p:spPr>
          <a:xfrm>
            <a:off x="6881774" y="2161642"/>
            <a:ext cx="1145743" cy="137160"/>
          </a:xfrm>
          <a:prstGeom prst="rect">
            <a:avLst/>
          </a:prstGeom>
          <a:noFill/>
          <a:ln/>
        </p:spPr>
        <p:txBody>
          <a:bodyPr wrap="square" lIns="0" tIns="0" rIns="0" bIns="0" rtlCol="0" anchor="t">
            <a:normAutofit/>
          </a:bodyPr>
          <a:lstStyle/>
          <a:p>
            <a:pPr algn="l" indent="0" marL="0">
              <a:lnSpc>
                <a:spcPct val="88000"/>
              </a:lnSpc>
              <a:buNone/>
            </a:pPr>
            <a:r>
              <a:rPr lang="en-US" sz="460" b="1" dirty="0">
                <a:solidFill>
                  <a:srgbClr val="202124"/>
                </a:solidFill>
                <a:latin typeface="Arial" pitchFamily="34" charset="0"/>
                <a:ea typeface="Arial" pitchFamily="34" charset="-122"/>
                <a:cs typeface="Arial" pitchFamily="34" charset="-120"/>
              </a:rPr>
              <a:t>Hop 3 &amp; 5 FinOps &amp; Audit Gates (Vectors 6 &amp; 9)</a:t>
            </a:r>
            <a:endParaRPr lang="en-US" sz="460" dirty="0"/>
          </a:p>
        </p:txBody>
      </p:sp>
      <p:pic>
        <p:nvPicPr>
          <p:cNvPr id="28" name="Image 0" descr="preencoded.png">    </p:cNvPr>
          <p:cNvPicPr>
            <a:picLocks noChangeAspect="1"/>
          </p:cNvPicPr>
          <p:nvPr/>
        </p:nvPicPr>
        <p:blipFill>
          <a:blip r:embed="rId1"/>
          <a:stretch>
            <a:fillRect/>
          </a:stretch>
        </p:blipFill>
        <p:spPr>
          <a:xfrm>
            <a:off x="3982212" y="1707185"/>
            <a:ext cx="561442" cy="100584"/>
          </a:xfrm>
          <a:prstGeom prst="rect">
            <a:avLst/>
          </a:prstGeom>
        </p:spPr>
      </p:pic>
      <p:sp>
        <p:nvSpPr>
          <p:cNvPr id="29" name="Shape 26"/>
          <p:cNvSpPr/>
          <p:nvPr/>
        </p:nvSpPr>
        <p:spPr>
          <a:xfrm>
            <a:off x="5967374" y="1364285"/>
            <a:ext cx="0" cy="1093622"/>
          </a:xfrm>
          <a:prstGeom prst="line">
            <a:avLst/>
          </a:prstGeom>
          <a:noFill/>
          <a:ln w="12700">
            <a:solidFill>
              <a:srgbClr val="5F6368"/>
            </a:solidFill>
            <a:prstDash val="solid"/>
            <a:tailEnd type="triangle" w="sm" len="sm"/>
          </a:ln>
        </p:spPr>
      </p:sp>
      <p:sp>
        <p:nvSpPr>
          <p:cNvPr id="30" name="Shape 27"/>
          <p:cNvSpPr/>
          <p:nvPr/>
        </p:nvSpPr>
        <p:spPr>
          <a:xfrm flipV="1">
            <a:off x="6139282" y="1371600"/>
            <a:ext cx="0" cy="1093622"/>
          </a:xfrm>
          <a:prstGeom prst="line">
            <a:avLst/>
          </a:prstGeom>
          <a:noFill/>
          <a:ln w="12700">
            <a:solidFill>
              <a:srgbClr val="5F6368"/>
            </a:solidFill>
            <a:prstDash val="solid"/>
            <a:tailEnd type="triangle" w="sm" len="sm"/>
          </a:ln>
        </p:spPr>
      </p:sp>
      <p:sp>
        <p:nvSpPr>
          <p:cNvPr id="31" name="Shape 28"/>
          <p:cNvSpPr/>
          <p:nvPr/>
        </p:nvSpPr>
        <p:spPr>
          <a:xfrm flipH="1">
            <a:off x="5413248" y="2607869"/>
            <a:ext cx="127102" cy="0"/>
          </a:xfrm>
          <a:prstGeom prst="line">
            <a:avLst/>
          </a:prstGeom>
          <a:noFill/>
          <a:ln w="12700">
            <a:solidFill>
              <a:srgbClr val="5F6368"/>
            </a:solidFill>
            <a:prstDash val="solid"/>
          </a:ln>
        </p:spPr>
      </p:sp>
      <p:sp>
        <p:nvSpPr>
          <p:cNvPr id="32" name="Shape 29"/>
          <p:cNvSpPr/>
          <p:nvPr/>
        </p:nvSpPr>
        <p:spPr>
          <a:xfrm flipV="1">
            <a:off x="5413248" y="2461565"/>
            <a:ext cx="0" cy="146304"/>
          </a:xfrm>
          <a:prstGeom prst="line">
            <a:avLst/>
          </a:prstGeom>
          <a:noFill/>
          <a:ln w="12700">
            <a:solidFill>
              <a:srgbClr val="5F6368"/>
            </a:solidFill>
            <a:prstDash val="solid"/>
          </a:ln>
        </p:spPr>
      </p:sp>
      <p:sp>
        <p:nvSpPr>
          <p:cNvPr id="33" name="Shape 30"/>
          <p:cNvSpPr/>
          <p:nvPr/>
        </p:nvSpPr>
        <p:spPr>
          <a:xfrm flipH="1">
            <a:off x="4941418" y="2461565"/>
            <a:ext cx="471830" cy="0"/>
          </a:xfrm>
          <a:prstGeom prst="line">
            <a:avLst/>
          </a:prstGeom>
          <a:noFill/>
          <a:ln w="12700">
            <a:solidFill>
              <a:srgbClr val="5F6368"/>
            </a:solidFill>
            <a:prstDash val="solid"/>
            <a:tailEnd type="triangle" w="sm" len="sm"/>
          </a:ln>
        </p:spPr>
      </p:sp>
      <p:sp>
        <p:nvSpPr>
          <p:cNvPr id="34" name="Shape 31"/>
          <p:cNvSpPr/>
          <p:nvPr/>
        </p:nvSpPr>
        <p:spPr>
          <a:xfrm flipH="1">
            <a:off x="5413248" y="2607869"/>
            <a:ext cx="127102" cy="0"/>
          </a:xfrm>
          <a:prstGeom prst="line">
            <a:avLst/>
          </a:prstGeom>
          <a:noFill/>
          <a:ln w="12700">
            <a:solidFill>
              <a:srgbClr val="5F6368"/>
            </a:solidFill>
            <a:prstDash val="solid"/>
          </a:ln>
        </p:spPr>
      </p:sp>
      <p:sp>
        <p:nvSpPr>
          <p:cNvPr id="35" name="Shape 32"/>
          <p:cNvSpPr/>
          <p:nvPr/>
        </p:nvSpPr>
        <p:spPr>
          <a:xfrm>
            <a:off x="5413248" y="2607869"/>
            <a:ext cx="0" cy="168250"/>
          </a:xfrm>
          <a:prstGeom prst="line">
            <a:avLst/>
          </a:prstGeom>
          <a:noFill/>
          <a:ln w="12700">
            <a:solidFill>
              <a:srgbClr val="5F6368"/>
            </a:solidFill>
            <a:prstDash val="solid"/>
          </a:ln>
        </p:spPr>
      </p:sp>
      <p:sp>
        <p:nvSpPr>
          <p:cNvPr id="36" name="Shape 33"/>
          <p:cNvSpPr/>
          <p:nvPr/>
        </p:nvSpPr>
        <p:spPr>
          <a:xfrm flipH="1">
            <a:off x="4941418" y="2776118"/>
            <a:ext cx="471830" cy="0"/>
          </a:xfrm>
          <a:prstGeom prst="line">
            <a:avLst/>
          </a:prstGeom>
          <a:noFill/>
          <a:ln w="12700">
            <a:solidFill>
              <a:srgbClr val="5F6368"/>
            </a:solidFill>
            <a:prstDash val="solid"/>
            <a:tailEnd type="triangle" w="sm" len="sm"/>
          </a:ln>
        </p:spPr>
      </p:sp>
      <p:sp>
        <p:nvSpPr>
          <p:cNvPr id="37" name="Shape 34"/>
          <p:cNvSpPr/>
          <p:nvPr/>
        </p:nvSpPr>
        <p:spPr>
          <a:xfrm>
            <a:off x="4941418" y="3143707"/>
            <a:ext cx="688543" cy="0"/>
          </a:xfrm>
          <a:prstGeom prst="line">
            <a:avLst/>
          </a:prstGeom>
          <a:noFill/>
          <a:ln w="12700">
            <a:solidFill>
              <a:srgbClr val="5F6368"/>
            </a:solidFill>
            <a:prstDash val="solid"/>
            <a:headEnd type="triangle" w="sm" len="sm"/>
            <a:tailEnd type="triangle" w="sm" len="sm"/>
          </a:ln>
        </p:spPr>
      </p:sp>
      <p:sp>
        <p:nvSpPr>
          <p:cNvPr id="38" name="Shape 35"/>
          <p:cNvSpPr/>
          <p:nvPr/>
        </p:nvSpPr>
        <p:spPr>
          <a:xfrm>
            <a:off x="5967374" y="2750515"/>
            <a:ext cx="0" cy="269748"/>
          </a:xfrm>
          <a:prstGeom prst="line">
            <a:avLst/>
          </a:prstGeom>
          <a:noFill/>
          <a:ln w="12700">
            <a:solidFill>
              <a:srgbClr val="5F6368"/>
            </a:solidFill>
            <a:prstDash val="solid"/>
            <a:tailEnd type="triangle" w="sm" len="sm"/>
          </a:ln>
        </p:spPr>
      </p:sp>
      <p:sp>
        <p:nvSpPr>
          <p:cNvPr id="39" name="Shape 36"/>
          <p:cNvSpPr/>
          <p:nvPr/>
        </p:nvSpPr>
        <p:spPr>
          <a:xfrm flipV="1">
            <a:off x="6139282" y="2750515"/>
            <a:ext cx="0" cy="269748"/>
          </a:xfrm>
          <a:prstGeom prst="line">
            <a:avLst/>
          </a:prstGeom>
          <a:noFill/>
          <a:ln w="12700">
            <a:solidFill>
              <a:srgbClr val="5F6368"/>
            </a:solidFill>
            <a:prstDash val="solid"/>
            <a:tailEnd type="triangle" w="sm" len="sm"/>
          </a:ln>
        </p:spPr>
      </p:sp>
      <p:sp>
        <p:nvSpPr>
          <p:cNvPr id="40" name="Shape 37"/>
          <p:cNvSpPr/>
          <p:nvPr/>
        </p:nvSpPr>
        <p:spPr>
          <a:xfrm flipV="1">
            <a:off x="5529377" y="3633826"/>
            <a:ext cx="0" cy="673913"/>
          </a:xfrm>
          <a:prstGeom prst="line">
            <a:avLst/>
          </a:prstGeom>
          <a:noFill/>
          <a:ln w="12700">
            <a:solidFill>
              <a:srgbClr val="5F6368"/>
            </a:solidFill>
            <a:prstDash val="solid"/>
          </a:ln>
        </p:spPr>
      </p:sp>
      <p:sp>
        <p:nvSpPr>
          <p:cNvPr id="41" name="Shape 38"/>
          <p:cNvSpPr/>
          <p:nvPr/>
        </p:nvSpPr>
        <p:spPr>
          <a:xfrm>
            <a:off x="5529377" y="3633826"/>
            <a:ext cx="512978" cy="0"/>
          </a:xfrm>
          <a:prstGeom prst="line">
            <a:avLst/>
          </a:prstGeom>
          <a:noFill/>
          <a:ln w="12700">
            <a:solidFill>
              <a:srgbClr val="5F6368"/>
            </a:solidFill>
            <a:prstDash val="solid"/>
          </a:ln>
        </p:spPr>
      </p:sp>
      <p:sp>
        <p:nvSpPr>
          <p:cNvPr id="42" name="Shape 39"/>
          <p:cNvSpPr/>
          <p:nvPr/>
        </p:nvSpPr>
        <p:spPr>
          <a:xfrm flipV="1">
            <a:off x="6042355" y="3267151"/>
            <a:ext cx="0" cy="366674"/>
          </a:xfrm>
          <a:prstGeom prst="line">
            <a:avLst/>
          </a:prstGeom>
          <a:noFill/>
          <a:ln w="12700">
            <a:solidFill>
              <a:srgbClr val="5F6368"/>
            </a:solidFill>
            <a:prstDash val="solid"/>
            <a:tailEnd type="triangle" w="sm" len="sm"/>
          </a:ln>
        </p:spPr>
      </p:sp>
      <p:sp>
        <p:nvSpPr>
          <p:cNvPr id="43" name="Shape 40"/>
          <p:cNvSpPr/>
          <p:nvPr/>
        </p:nvSpPr>
        <p:spPr>
          <a:xfrm flipV="1">
            <a:off x="5529377" y="3633826"/>
            <a:ext cx="0" cy="673913"/>
          </a:xfrm>
          <a:prstGeom prst="line">
            <a:avLst/>
          </a:prstGeom>
          <a:noFill/>
          <a:ln w="12700">
            <a:solidFill>
              <a:srgbClr val="5F6368"/>
            </a:solidFill>
            <a:prstDash val="solid"/>
            <a:headEnd type="triangle" w="sm" len="sm"/>
          </a:ln>
        </p:spPr>
      </p:sp>
      <p:sp>
        <p:nvSpPr>
          <p:cNvPr id="44" name="Shape 41"/>
          <p:cNvSpPr/>
          <p:nvPr/>
        </p:nvSpPr>
        <p:spPr>
          <a:xfrm>
            <a:off x="5529377" y="3633826"/>
            <a:ext cx="2037283" cy="0"/>
          </a:xfrm>
          <a:prstGeom prst="line">
            <a:avLst/>
          </a:prstGeom>
          <a:noFill/>
          <a:ln w="12700">
            <a:solidFill>
              <a:srgbClr val="5F6368"/>
            </a:solidFill>
            <a:prstDash val="solid"/>
          </a:ln>
        </p:spPr>
      </p:sp>
      <p:sp>
        <p:nvSpPr>
          <p:cNvPr id="45" name="Shape 42"/>
          <p:cNvSpPr/>
          <p:nvPr/>
        </p:nvSpPr>
        <p:spPr>
          <a:xfrm>
            <a:off x="7566660" y="3633826"/>
            <a:ext cx="0" cy="673913"/>
          </a:xfrm>
          <a:prstGeom prst="line">
            <a:avLst/>
          </a:prstGeom>
          <a:noFill/>
          <a:ln w="12700">
            <a:solidFill>
              <a:srgbClr val="5F6368"/>
            </a:solidFill>
            <a:prstDash val="solid"/>
            <a:tailEnd type="triangle" w="sm" len="sm"/>
          </a:ln>
        </p:spPr>
      </p:sp>
      <p:sp>
        <p:nvSpPr>
          <p:cNvPr id="46" name="Shape 43"/>
          <p:cNvSpPr/>
          <p:nvPr/>
        </p:nvSpPr>
        <p:spPr>
          <a:xfrm flipV="1">
            <a:off x="5075834" y="3581705"/>
            <a:ext cx="0" cy="157277"/>
          </a:xfrm>
          <a:prstGeom prst="line">
            <a:avLst/>
          </a:prstGeom>
          <a:noFill/>
          <a:ln w="12700">
            <a:solidFill>
              <a:srgbClr val="5F6368"/>
            </a:solidFill>
            <a:prstDash val="dash"/>
            <a:headEnd type="triangle" w="sm" len="sm"/>
          </a:ln>
        </p:spPr>
      </p:sp>
      <p:sp>
        <p:nvSpPr>
          <p:cNvPr id="47" name="Shape 44"/>
          <p:cNvSpPr/>
          <p:nvPr/>
        </p:nvSpPr>
        <p:spPr>
          <a:xfrm>
            <a:off x="5075834" y="3581705"/>
            <a:ext cx="2374697" cy="0"/>
          </a:xfrm>
          <a:prstGeom prst="line">
            <a:avLst/>
          </a:prstGeom>
          <a:noFill/>
          <a:ln w="12700">
            <a:solidFill>
              <a:srgbClr val="5F6368"/>
            </a:solidFill>
            <a:prstDash val="dash"/>
          </a:ln>
        </p:spPr>
      </p:sp>
      <p:sp>
        <p:nvSpPr>
          <p:cNvPr id="48" name="Shape 45"/>
          <p:cNvSpPr/>
          <p:nvPr/>
        </p:nvSpPr>
        <p:spPr>
          <a:xfrm flipV="1">
            <a:off x="7450531" y="3342132"/>
            <a:ext cx="0" cy="239573"/>
          </a:xfrm>
          <a:prstGeom prst="line">
            <a:avLst/>
          </a:prstGeom>
          <a:noFill/>
          <a:ln w="12700">
            <a:solidFill>
              <a:srgbClr val="5F6368"/>
            </a:solidFill>
            <a:prstDash val="dash"/>
            <a:tailEnd type="triangle" w="sm" len="sm"/>
          </a:ln>
        </p:spPr>
      </p:sp>
      <p:sp>
        <p:nvSpPr>
          <p:cNvPr id="49" name="Shape 46"/>
          <p:cNvSpPr/>
          <p:nvPr/>
        </p:nvSpPr>
        <p:spPr>
          <a:xfrm>
            <a:off x="7450531" y="3342132"/>
            <a:ext cx="0" cy="239573"/>
          </a:xfrm>
          <a:prstGeom prst="line">
            <a:avLst/>
          </a:prstGeom>
          <a:noFill/>
          <a:ln w="12700">
            <a:solidFill>
              <a:srgbClr val="5F6368"/>
            </a:solidFill>
            <a:prstDash val="dash"/>
          </a:ln>
        </p:spPr>
      </p:sp>
      <p:sp>
        <p:nvSpPr>
          <p:cNvPr id="50" name="Shape 47"/>
          <p:cNvSpPr/>
          <p:nvPr/>
        </p:nvSpPr>
        <p:spPr>
          <a:xfrm flipH="1">
            <a:off x="7113118" y="3581705"/>
            <a:ext cx="337414" cy="0"/>
          </a:xfrm>
          <a:prstGeom prst="line">
            <a:avLst/>
          </a:prstGeom>
          <a:noFill/>
          <a:ln w="12700">
            <a:solidFill>
              <a:srgbClr val="5F6368"/>
            </a:solidFill>
            <a:prstDash val="dash"/>
          </a:ln>
        </p:spPr>
      </p:sp>
      <p:sp>
        <p:nvSpPr>
          <p:cNvPr id="51" name="Shape 48"/>
          <p:cNvSpPr/>
          <p:nvPr/>
        </p:nvSpPr>
        <p:spPr>
          <a:xfrm>
            <a:off x="7113118" y="3581705"/>
            <a:ext cx="0" cy="157277"/>
          </a:xfrm>
          <a:prstGeom prst="line">
            <a:avLst/>
          </a:prstGeom>
          <a:noFill/>
          <a:ln w="12700">
            <a:solidFill>
              <a:srgbClr val="5F6368"/>
            </a:solidFill>
            <a:prstDash val="dash"/>
            <a:tailEnd type="triangle" w="sm" len="sm"/>
          </a:ln>
        </p:spPr>
      </p:sp>
      <p:sp>
        <p:nvSpPr>
          <p:cNvPr id="52" name="Shape 49"/>
          <p:cNvSpPr/>
          <p:nvPr/>
        </p:nvSpPr>
        <p:spPr>
          <a:xfrm>
            <a:off x="4933188" y="4255618"/>
            <a:ext cx="82296" cy="0"/>
          </a:xfrm>
          <a:prstGeom prst="line">
            <a:avLst/>
          </a:prstGeom>
          <a:noFill/>
          <a:ln w="12700">
            <a:solidFill>
              <a:srgbClr val="5F6368"/>
            </a:solidFill>
            <a:prstDash val="solid"/>
          </a:ln>
        </p:spPr>
      </p:sp>
      <p:sp>
        <p:nvSpPr>
          <p:cNvPr id="53" name="Shape 50"/>
          <p:cNvSpPr/>
          <p:nvPr/>
        </p:nvSpPr>
        <p:spPr>
          <a:xfrm>
            <a:off x="5015484" y="4255618"/>
            <a:ext cx="0" cy="127102"/>
          </a:xfrm>
          <a:prstGeom prst="line">
            <a:avLst/>
          </a:prstGeom>
          <a:noFill/>
          <a:ln w="12700">
            <a:solidFill>
              <a:srgbClr val="5F6368"/>
            </a:solidFill>
            <a:prstDash val="solid"/>
          </a:ln>
        </p:spPr>
      </p:sp>
      <p:sp>
        <p:nvSpPr>
          <p:cNvPr id="54" name="Shape 51"/>
          <p:cNvSpPr/>
          <p:nvPr/>
        </p:nvSpPr>
        <p:spPr>
          <a:xfrm>
            <a:off x="5015484" y="4382719"/>
            <a:ext cx="112471" cy="0"/>
          </a:xfrm>
          <a:prstGeom prst="line">
            <a:avLst/>
          </a:prstGeom>
          <a:noFill/>
          <a:ln w="12700">
            <a:solidFill>
              <a:srgbClr val="5F6368"/>
            </a:solidFill>
            <a:prstDash val="solid"/>
          </a:ln>
        </p:spPr>
      </p:sp>
      <p:sp>
        <p:nvSpPr>
          <p:cNvPr id="55" name="Shape 52"/>
          <p:cNvSpPr/>
          <p:nvPr/>
        </p:nvSpPr>
        <p:spPr>
          <a:xfrm>
            <a:off x="4933188" y="5139842"/>
            <a:ext cx="112471" cy="0"/>
          </a:xfrm>
          <a:prstGeom prst="line">
            <a:avLst/>
          </a:prstGeom>
          <a:noFill/>
          <a:ln w="12700">
            <a:solidFill>
              <a:srgbClr val="5F6368"/>
            </a:solidFill>
            <a:prstDash val="solid"/>
          </a:ln>
        </p:spPr>
      </p:sp>
      <p:sp>
        <p:nvSpPr>
          <p:cNvPr id="56" name="Shape 53"/>
          <p:cNvSpPr/>
          <p:nvPr/>
        </p:nvSpPr>
        <p:spPr>
          <a:xfrm flipV="1">
            <a:off x="5045659" y="4502506"/>
            <a:ext cx="0" cy="637337"/>
          </a:xfrm>
          <a:prstGeom prst="line">
            <a:avLst/>
          </a:prstGeom>
          <a:noFill/>
          <a:ln w="12700">
            <a:solidFill>
              <a:srgbClr val="5F6368"/>
            </a:solidFill>
            <a:prstDash val="solid"/>
          </a:ln>
        </p:spPr>
      </p:sp>
      <p:sp>
        <p:nvSpPr>
          <p:cNvPr id="57" name="Shape 54"/>
          <p:cNvSpPr/>
          <p:nvPr/>
        </p:nvSpPr>
        <p:spPr>
          <a:xfrm>
            <a:off x="5045659" y="4502506"/>
            <a:ext cx="82296" cy="0"/>
          </a:xfrm>
          <a:prstGeom prst="line">
            <a:avLst/>
          </a:prstGeom>
          <a:noFill/>
          <a:ln w="12700">
            <a:solidFill>
              <a:srgbClr val="5F6368"/>
            </a:solidFill>
            <a:prstDash val="solid"/>
          </a:ln>
        </p:spPr>
      </p:sp>
      <p:sp>
        <p:nvSpPr>
          <p:cNvPr id="58" name="Shape 55"/>
          <p:cNvSpPr/>
          <p:nvPr/>
        </p:nvSpPr>
        <p:spPr>
          <a:xfrm flipV="1">
            <a:off x="5529377" y="4795114"/>
            <a:ext cx="0" cy="52121"/>
          </a:xfrm>
          <a:prstGeom prst="line">
            <a:avLst/>
          </a:prstGeom>
          <a:noFill/>
          <a:ln w="12700">
            <a:solidFill>
              <a:srgbClr val="5F6368"/>
            </a:solidFill>
            <a:prstDash val="solid"/>
            <a:headEnd type="triangle" w="sm" len="sm"/>
          </a:ln>
        </p:spPr>
      </p:sp>
      <p:sp>
        <p:nvSpPr>
          <p:cNvPr id="59" name="Shape 56"/>
          <p:cNvSpPr/>
          <p:nvPr/>
        </p:nvSpPr>
        <p:spPr>
          <a:xfrm flipV="1">
            <a:off x="5529377" y="4593031"/>
            <a:ext cx="0" cy="52121"/>
          </a:xfrm>
          <a:prstGeom prst="line">
            <a:avLst/>
          </a:prstGeom>
          <a:noFill/>
          <a:ln w="12700">
            <a:solidFill>
              <a:srgbClr val="5F6368"/>
            </a:solidFill>
            <a:prstDash val="solid"/>
            <a:tailEnd type="triangle" w="sm" len="sm"/>
          </a:ln>
        </p:spPr>
      </p:sp>
      <p:sp>
        <p:nvSpPr>
          <p:cNvPr id="60" name="Shape 57"/>
          <p:cNvSpPr/>
          <p:nvPr/>
        </p:nvSpPr>
        <p:spPr>
          <a:xfrm flipV="1">
            <a:off x="5529377" y="5356555"/>
            <a:ext cx="0" cy="53035"/>
          </a:xfrm>
          <a:prstGeom prst="line">
            <a:avLst/>
          </a:prstGeom>
          <a:noFill/>
          <a:ln w="12700">
            <a:solidFill>
              <a:srgbClr val="5F6368"/>
            </a:solidFill>
            <a:prstDash val="solid"/>
            <a:headEnd type="triangle" w="sm" len="sm"/>
          </a:ln>
        </p:spPr>
      </p:sp>
      <p:sp>
        <p:nvSpPr>
          <p:cNvPr id="61" name="Shape 58"/>
          <p:cNvSpPr/>
          <p:nvPr/>
        </p:nvSpPr>
        <p:spPr>
          <a:xfrm flipV="1">
            <a:off x="5529377" y="5131613"/>
            <a:ext cx="0" cy="53035"/>
          </a:xfrm>
          <a:prstGeom prst="line">
            <a:avLst/>
          </a:prstGeom>
          <a:noFill/>
          <a:ln w="12700">
            <a:solidFill>
              <a:srgbClr val="5F6368"/>
            </a:solidFill>
            <a:prstDash val="solid"/>
            <a:tailEnd type="triangle" w="sm" len="sm"/>
          </a:ln>
        </p:spPr>
      </p:sp>
      <p:sp>
        <p:nvSpPr>
          <p:cNvPr id="62" name="Shape 59"/>
          <p:cNvSpPr/>
          <p:nvPr/>
        </p:nvSpPr>
        <p:spPr>
          <a:xfrm>
            <a:off x="6970471" y="4255618"/>
            <a:ext cx="82296" cy="0"/>
          </a:xfrm>
          <a:prstGeom prst="line">
            <a:avLst/>
          </a:prstGeom>
          <a:noFill/>
          <a:ln w="12700">
            <a:solidFill>
              <a:srgbClr val="5F6368"/>
            </a:solidFill>
            <a:prstDash val="solid"/>
          </a:ln>
        </p:spPr>
      </p:sp>
      <p:sp>
        <p:nvSpPr>
          <p:cNvPr id="63" name="Shape 60"/>
          <p:cNvSpPr/>
          <p:nvPr/>
        </p:nvSpPr>
        <p:spPr>
          <a:xfrm>
            <a:off x="7052767" y="4255618"/>
            <a:ext cx="0" cy="127102"/>
          </a:xfrm>
          <a:prstGeom prst="line">
            <a:avLst/>
          </a:prstGeom>
          <a:noFill/>
          <a:ln w="12700">
            <a:solidFill>
              <a:srgbClr val="5F6368"/>
            </a:solidFill>
            <a:prstDash val="solid"/>
          </a:ln>
        </p:spPr>
      </p:sp>
      <p:sp>
        <p:nvSpPr>
          <p:cNvPr id="64" name="Shape 61"/>
          <p:cNvSpPr/>
          <p:nvPr/>
        </p:nvSpPr>
        <p:spPr>
          <a:xfrm>
            <a:off x="7052767" y="4382719"/>
            <a:ext cx="112471" cy="0"/>
          </a:xfrm>
          <a:prstGeom prst="line">
            <a:avLst/>
          </a:prstGeom>
          <a:noFill/>
          <a:ln w="12700">
            <a:solidFill>
              <a:srgbClr val="5F6368"/>
            </a:solidFill>
            <a:prstDash val="solid"/>
          </a:ln>
        </p:spPr>
      </p:sp>
      <p:sp>
        <p:nvSpPr>
          <p:cNvPr id="65" name="Shape 62"/>
          <p:cNvSpPr/>
          <p:nvPr/>
        </p:nvSpPr>
        <p:spPr>
          <a:xfrm>
            <a:off x="6970471" y="4637837"/>
            <a:ext cx="112471" cy="0"/>
          </a:xfrm>
          <a:prstGeom prst="line">
            <a:avLst/>
          </a:prstGeom>
          <a:noFill/>
          <a:ln w="12700">
            <a:solidFill>
              <a:srgbClr val="5F6368"/>
            </a:solidFill>
            <a:prstDash val="solid"/>
          </a:ln>
        </p:spPr>
      </p:sp>
      <p:sp>
        <p:nvSpPr>
          <p:cNvPr id="66" name="Shape 63"/>
          <p:cNvSpPr/>
          <p:nvPr/>
        </p:nvSpPr>
        <p:spPr>
          <a:xfrm flipV="1">
            <a:off x="7082942" y="4502506"/>
            <a:ext cx="0" cy="135331"/>
          </a:xfrm>
          <a:prstGeom prst="line">
            <a:avLst/>
          </a:prstGeom>
          <a:noFill/>
          <a:ln w="12700">
            <a:solidFill>
              <a:srgbClr val="5F6368"/>
            </a:solidFill>
            <a:prstDash val="solid"/>
          </a:ln>
        </p:spPr>
      </p:sp>
      <p:sp>
        <p:nvSpPr>
          <p:cNvPr id="67" name="Shape 64"/>
          <p:cNvSpPr/>
          <p:nvPr/>
        </p:nvSpPr>
        <p:spPr>
          <a:xfrm>
            <a:off x="7082942" y="4502506"/>
            <a:ext cx="82296" cy="0"/>
          </a:xfrm>
          <a:prstGeom prst="line">
            <a:avLst/>
          </a:prstGeom>
          <a:noFill/>
          <a:ln w="12700">
            <a:solidFill>
              <a:srgbClr val="5F6368"/>
            </a:solidFill>
            <a:prstDash val="solid"/>
          </a:ln>
        </p:spPr>
      </p:sp>
      <p:sp>
        <p:nvSpPr>
          <p:cNvPr id="68" name="Shape 65"/>
          <p:cNvSpPr/>
          <p:nvPr/>
        </p:nvSpPr>
        <p:spPr>
          <a:xfrm flipV="1">
            <a:off x="7566660" y="4795114"/>
            <a:ext cx="0" cy="52121"/>
          </a:xfrm>
          <a:prstGeom prst="line">
            <a:avLst/>
          </a:prstGeom>
          <a:noFill/>
          <a:ln w="12700">
            <a:solidFill>
              <a:srgbClr val="5F6368"/>
            </a:solidFill>
            <a:prstDash val="solid"/>
            <a:headEnd type="triangle" w="sm" len="sm"/>
          </a:ln>
        </p:spPr>
      </p:sp>
      <p:sp>
        <p:nvSpPr>
          <p:cNvPr id="69" name="Shape 66"/>
          <p:cNvSpPr/>
          <p:nvPr/>
        </p:nvSpPr>
        <p:spPr>
          <a:xfrm flipV="1">
            <a:off x="7566660" y="4593031"/>
            <a:ext cx="0" cy="52121"/>
          </a:xfrm>
          <a:prstGeom prst="line">
            <a:avLst/>
          </a:prstGeom>
          <a:noFill/>
          <a:ln w="12700">
            <a:solidFill>
              <a:srgbClr val="5F6368"/>
            </a:solidFill>
            <a:prstDash val="solid"/>
            <a:tailEnd type="triangle" w="sm" len="sm"/>
          </a:ln>
        </p:spPr>
      </p:sp>
      <p:sp>
        <p:nvSpPr>
          <p:cNvPr id="70" name="Shape 67"/>
          <p:cNvSpPr/>
          <p:nvPr/>
        </p:nvSpPr>
        <p:spPr>
          <a:xfrm flipV="1">
            <a:off x="7566660" y="5356555"/>
            <a:ext cx="0" cy="53035"/>
          </a:xfrm>
          <a:prstGeom prst="line">
            <a:avLst/>
          </a:prstGeom>
          <a:noFill/>
          <a:ln w="12700">
            <a:solidFill>
              <a:srgbClr val="5F6368"/>
            </a:solidFill>
            <a:prstDash val="solid"/>
            <a:headEnd type="triangle" w="sm" len="sm"/>
          </a:ln>
        </p:spPr>
      </p:sp>
      <p:sp>
        <p:nvSpPr>
          <p:cNvPr id="71" name="Shape 68"/>
          <p:cNvSpPr/>
          <p:nvPr/>
        </p:nvSpPr>
        <p:spPr>
          <a:xfrm flipV="1">
            <a:off x="7566660" y="5131613"/>
            <a:ext cx="0" cy="53035"/>
          </a:xfrm>
          <a:prstGeom prst="line">
            <a:avLst/>
          </a:prstGeom>
          <a:noFill/>
          <a:ln w="12700">
            <a:solidFill>
              <a:srgbClr val="5F6368"/>
            </a:solidFill>
            <a:prstDash val="solid"/>
            <a:tailEnd type="triangle" w="sm" len="sm"/>
          </a:ln>
        </p:spPr>
      </p:sp>
      <p:sp>
        <p:nvSpPr>
          <p:cNvPr id="72" name="Shape 69"/>
          <p:cNvSpPr/>
          <p:nvPr/>
        </p:nvSpPr>
        <p:spPr>
          <a:xfrm>
            <a:off x="5588813" y="1042416"/>
            <a:ext cx="936346" cy="321869"/>
          </a:xfrm>
          <a:prstGeom prst="roundRect">
            <a:avLst>
              <a:gd name="adj" fmla="val 12784"/>
            </a:avLst>
          </a:prstGeom>
          <a:solidFill>
            <a:srgbClr val="FFFFFF"/>
          </a:solidFill>
          <a:ln w="10795">
            <a:solidFill>
              <a:srgbClr val="DADCE0"/>
            </a:solidFill>
            <a:prstDash val="solid"/>
          </a:ln>
        </p:spPr>
      </p:sp>
      <p:pic>
        <p:nvPicPr>
          <p:cNvPr id="73" name="Image 1" descr="preencoded.png">    </p:cNvPr>
          <p:cNvPicPr>
            <a:picLocks noChangeAspect="1"/>
          </p:cNvPicPr>
          <p:nvPr/>
        </p:nvPicPr>
        <p:blipFill>
          <a:blip r:embed="rId2"/>
          <a:stretch>
            <a:fillRect/>
          </a:stretch>
        </p:blipFill>
        <p:spPr>
          <a:xfrm>
            <a:off x="5629961" y="1132942"/>
            <a:ext cx="141732" cy="141732"/>
          </a:xfrm>
          <a:prstGeom prst="rect">
            <a:avLst/>
          </a:prstGeom>
        </p:spPr>
      </p:pic>
      <p:sp>
        <p:nvSpPr>
          <p:cNvPr id="74" name="Text 70"/>
          <p:cNvSpPr/>
          <p:nvPr/>
        </p:nvSpPr>
        <p:spPr>
          <a:xfrm>
            <a:off x="5808269" y="1051560"/>
            <a:ext cx="680314" cy="303581"/>
          </a:xfrm>
          <a:prstGeom prst="rect">
            <a:avLst/>
          </a:prstGeom>
          <a:noFill/>
          <a:ln/>
        </p:spPr>
        <p:txBody>
          <a:bodyPr wrap="square" lIns="0" tIns="0" rIns="0" bIns="0" rtlCol="0" anchor="ctr">
            <a:normAutofit/>
          </a:bodyPr>
          <a:lstStyle/>
          <a:p>
            <a:pPr algn="l" indent="0" marL="0">
              <a:lnSpc>
                <a:spcPct val="88000"/>
              </a:lnSpc>
              <a:buNone/>
            </a:pPr>
            <a:r>
              <a:rPr lang="en-US" sz="560" b="1" dirty="0">
                <a:solidFill>
                  <a:srgbClr val="202124"/>
                </a:solidFill>
                <a:latin typeface="Arial" pitchFamily="34" charset="0"/>
                <a:ea typeface="Arial" pitchFamily="34" charset="-122"/>
                <a:cs typeface="Arial" pitchFamily="34" charset="-120"/>
              </a:rPr>
              <a:t>Red-Team Attacker</a:t>
            </a:r>
            <a:endParaRPr lang="en-US" sz="560" dirty="0"/>
          </a:p>
          <a:p>
            <a:pPr algn="l" indent="0" marL="0">
              <a:lnSpc>
                <a:spcPct val="88000"/>
              </a:lnSpc>
              <a:buNone/>
            </a:pPr>
            <a:r>
              <a:rPr lang="en-US" sz="480" dirty="0">
                <a:solidFill>
                  <a:srgbClr val="3C4043"/>
                </a:solidFill>
                <a:latin typeface="Arial" pitchFamily="34" charset="0"/>
                <a:ea typeface="Arial" pitchFamily="34" charset="-122"/>
                <a:cs typeface="Arial" pitchFamily="34" charset="-120"/>
              </a:rPr>
              <a:t>Spoofed Headers &amp; Injections</a:t>
            </a:r>
            <a:endParaRPr lang="en-US" sz="560" dirty="0"/>
          </a:p>
        </p:txBody>
      </p:sp>
      <p:sp>
        <p:nvSpPr>
          <p:cNvPr id="75" name="Shape 71"/>
          <p:cNvSpPr/>
          <p:nvPr/>
        </p:nvSpPr>
        <p:spPr>
          <a:xfrm>
            <a:off x="5540350" y="2465222"/>
            <a:ext cx="981151" cy="284378"/>
          </a:xfrm>
          <a:prstGeom prst="roundRect">
            <a:avLst>
              <a:gd name="adj" fmla="val 14469"/>
            </a:avLst>
          </a:prstGeom>
          <a:solidFill>
            <a:srgbClr val="FFFFFF"/>
          </a:solidFill>
          <a:ln w="10795">
            <a:solidFill>
              <a:srgbClr val="DADCE0"/>
            </a:solidFill>
            <a:prstDash val="solid"/>
          </a:ln>
        </p:spPr>
      </p:sp>
      <p:pic>
        <p:nvPicPr>
          <p:cNvPr id="76" name="Image 2" descr="preencoded.png">    </p:cNvPr>
          <p:cNvPicPr>
            <a:picLocks noChangeAspect="1"/>
          </p:cNvPicPr>
          <p:nvPr/>
        </p:nvPicPr>
        <p:blipFill>
          <a:blip r:embed="rId3"/>
          <a:stretch>
            <a:fillRect/>
          </a:stretch>
        </p:blipFill>
        <p:spPr>
          <a:xfrm>
            <a:off x="5563210" y="2536546"/>
            <a:ext cx="141732" cy="141732"/>
          </a:xfrm>
          <a:prstGeom prst="rect">
            <a:avLst/>
          </a:prstGeom>
        </p:spPr>
      </p:pic>
      <p:sp>
        <p:nvSpPr>
          <p:cNvPr id="77" name="Text 72"/>
          <p:cNvSpPr/>
          <p:nvPr/>
        </p:nvSpPr>
        <p:spPr>
          <a:xfrm>
            <a:off x="5727802" y="2470709"/>
            <a:ext cx="779069" cy="273406"/>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External Application Load Balancer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Cloud Armor Edge PEP</a:t>
            </a:r>
            <a:endParaRPr lang="en-US" sz="435" dirty="0"/>
          </a:p>
        </p:txBody>
      </p:sp>
      <p:sp>
        <p:nvSpPr>
          <p:cNvPr id="78" name="Shape 73"/>
          <p:cNvSpPr/>
          <p:nvPr/>
        </p:nvSpPr>
        <p:spPr>
          <a:xfrm>
            <a:off x="6932981" y="2368296"/>
            <a:ext cx="1033272" cy="269748"/>
          </a:xfrm>
          <a:prstGeom prst="roundRect">
            <a:avLst>
              <a:gd name="adj" fmla="val 15254"/>
            </a:avLst>
          </a:prstGeom>
          <a:solidFill>
            <a:srgbClr val="FFFFFF"/>
          </a:solidFill>
          <a:ln w="10795">
            <a:solidFill>
              <a:srgbClr val="DADCE0"/>
            </a:solidFill>
            <a:prstDash val="solid"/>
          </a:ln>
        </p:spPr>
      </p:sp>
      <p:pic>
        <p:nvPicPr>
          <p:cNvPr id="79" name="Image 3" descr="preencoded.png">    </p:cNvPr>
          <p:cNvPicPr>
            <a:picLocks noChangeAspect="1"/>
          </p:cNvPicPr>
          <p:nvPr/>
        </p:nvPicPr>
        <p:blipFill>
          <a:blip r:embed="rId4"/>
          <a:stretch>
            <a:fillRect/>
          </a:stretch>
        </p:blipFill>
        <p:spPr>
          <a:xfrm>
            <a:off x="6955841" y="2435962"/>
            <a:ext cx="134417" cy="134417"/>
          </a:xfrm>
          <a:prstGeom prst="rect">
            <a:avLst/>
          </a:prstGeom>
        </p:spPr>
      </p:pic>
      <p:sp>
        <p:nvSpPr>
          <p:cNvPr id="80" name="Text 74"/>
          <p:cNvSpPr/>
          <p:nvPr/>
        </p:nvSpPr>
        <p:spPr>
          <a:xfrm>
            <a:off x="7113118" y="2373782"/>
            <a:ext cx="838505"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Vector 6: Valkey 429 &amp; 4k Token Clamp</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Blocks 250 RPM Flood &amp; 16k</a:t>
            </a:r>
            <a:endParaRPr lang="en-US" sz="435" dirty="0"/>
          </a:p>
        </p:txBody>
      </p:sp>
      <p:sp>
        <p:nvSpPr>
          <p:cNvPr id="81" name="Shape 75"/>
          <p:cNvSpPr/>
          <p:nvPr/>
        </p:nvSpPr>
        <p:spPr>
          <a:xfrm>
            <a:off x="6948526" y="2997403"/>
            <a:ext cx="1004011" cy="255118"/>
          </a:xfrm>
          <a:prstGeom prst="roundRect">
            <a:avLst>
              <a:gd name="adj" fmla="val 16129"/>
            </a:avLst>
          </a:prstGeom>
          <a:solidFill>
            <a:srgbClr val="FFFFFF"/>
          </a:solidFill>
          <a:ln w="10795">
            <a:solidFill>
              <a:srgbClr val="DADCE0"/>
            </a:solidFill>
            <a:prstDash val="solid"/>
          </a:ln>
        </p:spPr>
      </p:sp>
      <p:pic>
        <p:nvPicPr>
          <p:cNvPr id="82" name="Image 4" descr="preencoded.png">    </p:cNvPr>
          <p:cNvPicPr>
            <a:picLocks noChangeAspect="1"/>
          </p:cNvPicPr>
          <p:nvPr/>
        </p:nvPicPr>
        <p:blipFill>
          <a:blip r:embed="rId5"/>
          <a:stretch>
            <a:fillRect/>
          </a:stretch>
        </p:blipFill>
        <p:spPr>
          <a:xfrm>
            <a:off x="6971386" y="3061411"/>
            <a:ext cx="128016" cy="128016"/>
          </a:xfrm>
          <a:prstGeom prst="rect">
            <a:avLst/>
          </a:prstGeom>
        </p:spPr>
      </p:pic>
      <p:sp>
        <p:nvSpPr>
          <p:cNvPr id="83" name="Text 76"/>
          <p:cNvSpPr/>
          <p:nvPr/>
        </p:nvSpPr>
        <p:spPr>
          <a:xfrm>
            <a:off x="7121347" y="3002890"/>
            <a:ext cx="817474" cy="24414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BigQuery OTel Audit</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Logs Every Blocked Vector</a:t>
            </a:r>
            <a:endParaRPr lang="en-US" sz="435" dirty="0"/>
          </a:p>
        </p:txBody>
      </p:sp>
      <p:sp>
        <p:nvSpPr>
          <p:cNvPr id="84" name="Shape 77"/>
          <p:cNvSpPr/>
          <p:nvPr/>
        </p:nvSpPr>
        <p:spPr>
          <a:xfrm>
            <a:off x="6955841" y="2690165"/>
            <a:ext cx="988466" cy="255118"/>
          </a:xfrm>
          <a:prstGeom prst="roundRect">
            <a:avLst>
              <a:gd name="adj" fmla="val 16129"/>
            </a:avLst>
          </a:prstGeom>
          <a:solidFill>
            <a:srgbClr val="FFFFFF"/>
          </a:solidFill>
          <a:ln w="10795">
            <a:solidFill>
              <a:srgbClr val="DADCE0"/>
            </a:solidFill>
            <a:prstDash val="solid"/>
          </a:ln>
        </p:spPr>
      </p:sp>
      <p:pic>
        <p:nvPicPr>
          <p:cNvPr id="85" name="Image 5" descr="preencoded.png">    </p:cNvPr>
          <p:cNvPicPr>
            <a:picLocks noChangeAspect="1"/>
          </p:cNvPicPr>
          <p:nvPr/>
        </p:nvPicPr>
        <p:blipFill>
          <a:blip r:embed="rId6"/>
          <a:stretch>
            <a:fillRect/>
          </a:stretch>
        </p:blipFill>
        <p:spPr>
          <a:xfrm>
            <a:off x="6978701" y="2754173"/>
            <a:ext cx="128016" cy="128016"/>
          </a:xfrm>
          <a:prstGeom prst="rect">
            <a:avLst/>
          </a:prstGeom>
        </p:spPr>
      </p:pic>
      <p:sp>
        <p:nvSpPr>
          <p:cNvPr id="86" name="Text 78"/>
          <p:cNvSpPr/>
          <p:nvPr/>
        </p:nvSpPr>
        <p:spPr>
          <a:xfrm>
            <a:off x="7128662" y="2695651"/>
            <a:ext cx="801014" cy="24414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Vector 10: Inline 3LO</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HTTP 401 Entra OAuth Challenge</a:t>
            </a:r>
            <a:endParaRPr lang="en-US" sz="435" dirty="0"/>
          </a:p>
        </p:txBody>
      </p:sp>
      <p:sp>
        <p:nvSpPr>
          <p:cNvPr id="87" name="Shape 79"/>
          <p:cNvSpPr/>
          <p:nvPr/>
        </p:nvSpPr>
        <p:spPr>
          <a:xfrm>
            <a:off x="5127955" y="4307738"/>
            <a:ext cx="801014" cy="277063"/>
          </a:xfrm>
          <a:prstGeom prst="roundRect">
            <a:avLst>
              <a:gd name="adj" fmla="val 14851"/>
            </a:avLst>
          </a:prstGeom>
          <a:solidFill>
            <a:srgbClr val="FFFFFF"/>
          </a:solidFill>
          <a:ln w="10795">
            <a:solidFill>
              <a:srgbClr val="DADCE0"/>
            </a:solidFill>
            <a:prstDash val="solid"/>
          </a:ln>
        </p:spPr>
      </p:sp>
      <p:pic>
        <p:nvPicPr>
          <p:cNvPr id="88" name="Image 6" descr="preencoded.png">    </p:cNvPr>
          <p:cNvPicPr>
            <a:picLocks noChangeAspect="1"/>
          </p:cNvPicPr>
          <p:nvPr/>
        </p:nvPicPr>
        <p:blipFill>
          <a:blip r:embed="rId7"/>
          <a:stretch>
            <a:fillRect/>
          </a:stretch>
        </p:blipFill>
        <p:spPr>
          <a:xfrm>
            <a:off x="5150815" y="4377233"/>
            <a:ext cx="138074" cy="138074"/>
          </a:xfrm>
          <a:prstGeom prst="rect">
            <a:avLst/>
          </a:prstGeom>
        </p:spPr>
      </p:pic>
      <p:sp>
        <p:nvSpPr>
          <p:cNvPr id="89" name="Text 80"/>
          <p:cNvSpPr/>
          <p:nvPr/>
        </p:nvSpPr>
        <p:spPr>
          <a:xfrm>
            <a:off x="5311750" y="4313225"/>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Vertex AI Agent Engine</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Executes Only Clean Turns</a:t>
            </a:r>
            <a:endParaRPr lang="en-US" sz="435" dirty="0"/>
          </a:p>
        </p:txBody>
      </p:sp>
      <p:sp>
        <p:nvSpPr>
          <p:cNvPr id="90" name="Shape 81"/>
          <p:cNvSpPr/>
          <p:nvPr/>
        </p:nvSpPr>
        <p:spPr>
          <a:xfrm>
            <a:off x="5127955" y="4847234"/>
            <a:ext cx="801014" cy="277063"/>
          </a:xfrm>
          <a:prstGeom prst="roundRect">
            <a:avLst>
              <a:gd name="adj" fmla="val 14851"/>
            </a:avLst>
          </a:prstGeom>
          <a:solidFill>
            <a:srgbClr val="FFFFFF"/>
          </a:solidFill>
          <a:ln w="10795">
            <a:solidFill>
              <a:srgbClr val="DADCE0"/>
            </a:solidFill>
            <a:prstDash val="solid"/>
          </a:ln>
        </p:spPr>
      </p:sp>
      <p:pic>
        <p:nvPicPr>
          <p:cNvPr id="91" name="Image 7" descr="preencoded.png">    </p:cNvPr>
          <p:cNvPicPr>
            <a:picLocks noChangeAspect="1"/>
          </p:cNvPicPr>
          <p:nvPr/>
        </p:nvPicPr>
        <p:blipFill>
          <a:blip r:embed="rId8"/>
          <a:stretch>
            <a:fillRect/>
          </a:stretch>
        </p:blipFill>
        <p:spPr>
          <a:xfrm>
            <a:off x="5150815" y="4916729"/>
            <a:ext cx="138074" cy="138074"/>
          </a:xfrm>
          <a:prstGeom prst="rect">
            <a:avLst/>
          </a:prstGeom>
        </p:spPr>
      </p:pic>
      <p:sp>
        <p:nvSpPr>
          <p:cNvPr id="92" name="Text 82"/>
          <p:cNvSpPr/>
          <p:nvPr/>
        </p:nvSpPr>
        <p:spPr>
          <a:xfrm>
            <a:off x="5311750" y="4852721"/>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Vector 8: SDP Mask</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Redacts IBAN, SWIFT &amp; PAN</a:t>
            </a:r>
            <a:endParaRPr lang="en-US" sz="435" dirty="0"/>
          </a:p>
        </p:txBody>
      </p:sp>
      <p:sp>
        <p:nvSpPr>
          <p:cNvPr id="93" name="Shape 83"/>
          <p:cNvSpPr/>
          <p:nvPr/>
        </p:nvSpPr>
        <p:spPr>
          <a:xfrm>
            <a:off x="5127955" y="5409590"/>
            <a:ext cx="801014" cy="277063"/>
          </a:xfrm>
          <a:prstGeom prst="roundRect">
            <a:avLst>
              <a:gd name="adj" fmla="val 14851"/>
            </a:avLst>
          </a:prstGeom>
          <a:solidFill>
            <a:srgbClr val="FFFFFF"/>
          </a:solidFill>
          <a:ln w="10795">
            <a:solidFill>
              <a:srgbClr val="DADCE0"/>
            </a:solidFill>
            <a:prstDash val="solid"/>
          </a:ln>
        </p:spPr>
      </p:sp>
      <p:pic>
        <p:nvPicPr>
          <p:cNvPr id="94" name="Image 8" descr="preencoded.png">    </p:cNvPr>
          <p:cNvPicPr>
            <a:picLocks noChangeAspect="1"/>
          </p:cNvPicPr>
          <p:nvPr/>
        </p:nvPicPr>
        <p:blipFill>
          <a:blip r:embed="rId9"/>
          <a:stretch>
            <a:fillRect/>
          </a:stretch>
        </p:blipFill>
        <p:spPr>
          <a:xfrm>
            <a:off x="5150815" y="5479085"/>
            <a:ext cx="138074" cy="138074"/>
          </a:xfrm>
          <a:prstGeom prst="rect">
            <a:avLst/>
          </a:prstGeom>
        </p:spPr>
      </p:pic>
      <p:sp>
        <p:nvSpPr>
          <p:cNvPr id="95" name="Text 84"/>
          <p:cNvSpPr/>
          <p:nvPr/>
        </p:nvSpPr>
        <p:spPr>
          <a:xfrm>
            <a:off x="5311750" y="5415077"/>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Zero Raw PII Egress</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[REDACTED-FINVAULT-*]</a:t>
            </a:r>
            <a:endParaRPr lang="en-US" sz="435" dirty="0"/>
          </a:p>
        </p:txBody>
      </p:sp>
      <p:sp>
        <p:nvSpPr>
          <p:cNvPr id="96" name="Shape 85"/>
          <p:cNvSpPr/>
          <p:nvPr/>
        </p:nvSpPr>
        <p:spPr>
          <a:xfrm>
            <a:off x="7165238" y="4307738"/>
            <a:ext cx="801014" cy="277063"/>
          </a:xfrm>
          <a:prstGeom prst="roundRect">
            <a:avLst>
              <a:gd name="adj" fmla="val 14851"/>
            </a:avLst>
          </a:prstGeom>
          <a:solidFill>
            <a:srgbClr val="FFFFFF"/>
          </a:solidFill>
          <a:ln w="10795">
            <a:solidFill>
              <a:srgbClr val="DADCE0"/>
            </a:solidFill>
            <a:prstDash val="solid"/>
          </a:ln>
        </p:spPr>
      </p:sp>
      <p:pic>
        <p:nvPicPr>
          <p:cNvPr id="97" name="Image 9" descr="preencoded.png">    </p:cNvPr>
          <p:cNvPicPr>
            <a:picLocks noChangeAspect="1"/>
          </p:cNvPicPr>
          <p:nvPr/>
        </p:nvPicPr>
        <p:blipFill>
          <a:blip r:embed="rId10"/>
          <a:stretch>
            <a:fillRect/>
          </a:stretch>
        </p:blipFill>
        <p:spPr>
          <a:xfrm>
            <a:off x="7188098" y="4377233"/>
            <a:ext cx="138074" cy="138074"/>
          </a:xfrm>
          <a:prstGeom prst="rect">
            <a:avLst/>
          </a:prstGeom>
        </p:spPr>
      </p:pic>
      <p:sp>
        <p:nvSpPr>
          <p:cNvPr id="98" name="Text 86"/>
          <p:cNvSpPr/>
          <p:nvPr/>
        </p:nvSpPr>
        <p:spPr>
          <a:xfrm>
            <a:off x="7349033" y="4313225"/>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Vector 9: Prefix Cache</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READ_ONLY_IMMUTABLE_PREFIX</a:t>
            </a:r>
            <a:endParaRPr lang="en-US" sz="435" dirty="0"/>
          </a:p>
        </p:txBody>
      </p:sp>
      <p:sp>
        <p:nvSpPr>
          <p:cNvPr id="99" name="Shape 87"/>
          <p:cNvSpPr/>
          <p:nvPr/>
        </p:nvSpPr>
        <p:spPr>
          <a:xfrm>
            <a:off x="7165238" y="4847234"/>
            <a:ext cx="801014" cy="277063"/>
          </a:xfrm>
          <a:prstGeom prst="roundRect">
            <a:avLst>
              <a:gd name="adj" fmla="val 14851"/>
            </a:avLst>
          </a:prstGeom>
          <a:solidFill>
            <a:srgbClr val="FFFFFF"/>
          </a:solidFill>
          <a:ln w="10795">
            <a:solidFill>
              <a:srgbClr val="DADCE0"/>
            </a:solidFill>
            <a:prstDash val="solid"/>
          </a:ln>
        </p:spPr>
      </p:sp>
      <p:pic>
        <p:nvPicPr>
          <p:cNvPr id="100" name="Image 10" descr="preencoded.png">    </p:cNvPr>
          <p:cNvPicPr>
            <a:picLocks noChangeAspect="1"/>
          </p:cNvPicPr>
          <p:nvPr/>
        </p:nvPicPr>
        <p:blipFill>
          <a:blip r:embed="rId11"/>
          <a:stretch>
            <a:fillRect/>
          </a:stretch>
        </p:blipFill>
        <p:spPr>
          <a:xfrm>
            <a:off x="7188098" y="4916729"/>
            <a:ext cx="138074" cy="138074"/>
          </a:xfrm>
          <a:prstGeom prst="rect">
            <a:avLst/>
          </a:prstGeom>
        </p:spPr>
      </p:pic>
      <p:sp>
        <p:nvSpPr>
          <p:cNvPr id="101" name="Text 88"/>
          <p:cNvSpPr/>
          <p:nvPr/>
        </p:nvSpPr>
        <p:spPr>
          <a:xfrm>
            <a:off x="7349033" y="4852721"/>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Auth Manager Vault</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Tenant-Scoped OAuth Tokens</a:t>
            </a:r>
            <a:endParaRPr lang="en-US" sz="435" dirty="0"/>
          </a:p>
        </p:txBody>
      </p:sp>
      <p:sp>
        <p:nvSpPr>
          <p:cNvPr id="102" name="Shape 89"/>
          <p:cNvSpPr/>
          <p:nvPr/>
        </p:nvSpPr>
        <p:spPr>
          <a:xfrm>
            <a:off x="7165238" y="5409590"/>
            <a:ext cx="801014" cy="277063"/>
          </a:xfrm>
          <a:prstGeom prst="roundRect">
            <a:avLst>
              <a:gd name="adj" fmla="val 14851"/>
            </a:avLst>
          </a:prstGeom>
          <a:solidFill>
            <a:srgbClr val="FFFFFF"/>
          </a:solidFill>
          <a:ln w="10795">
            <a:solidFill>
              <a:srgbClr val="DADCE0"/>
            </a:solidFill>
            <a:prstDash val="solid"/>
          </a:ln>
        </p:spPr>
      </p:sp>
      <p:pic>
        <p:nvPicPr>
          <p:cNvPr id="103" name="Image 11" descr="preencoded.png">    </p:cNvPr>
          <p:cNvPicPr>
            <a:picLocks noChangeAspect="1"/>
          </p:cNvPicPr>
          <p:nvPr/>
        </p:nvPicPr>
        <p:blipFill>
          <a:blip r:embed="rId12"/>
          <a:stretch>
            <a:fillRect/>
          </a:stretch>
        </p:blipFill>
        <p:spPr>
          <a:xfrm>
            <a:off x="7188098" y="5479085"/>
            <a:ext cx="138074" cy="138074"/>
          </a:xfrm>
          <a:prstGeom prst="rect">
            <a:avLst/>
          </a:prstGeom>
        </p:spPr>
      </p:pic>
      <p:sp>
        <p:nvSpPr>
          <p:cNvPr id="104" name="Text 90"/>
          <p:cNvSpPr/>
          <p:nvPr/>
        </p:nvSpPr>
        <p:spPr>
          <a:xfrm>
            <a:off x="7349033" y="5415077"/>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Vector 7C: AlloyDB RLS</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0 Cross-Tenant Rows Returned</a:t>
            </a:r>
            <a:endParaRPr lang="en-US" sz="435" dirty="0"/>
          </a:p>
        </p:txBody>
      </p:sp>
      <p:sp>
        <p:nvSpPr>
          <p:cNvPr id="105" name="Shape 91"/>
          <p:cNvSpPr/>
          <p:nvPr/>
        </p:nvSpPr>
        <p:spPr>
          <a:xfrm>
            <a:off x="5629961" y="3020263"/>
            <a:ext cx="838505" cy="246888"/>
          </a:xfrm>
          <a:prstGeom prst="roundRect">
            <a:avLst>
              <a:gd name="adj" fmla="val 16667"/>
            </a:avLst>
          </a:prstGeom>
          <a:solidFill>
            <a:srgbClr val="FFFFFF"/>
          </a:solidFill>
          <a:ln w="10795">
            <a:solidFill>
              <a:srgbClr val="DADCE0"/>
            </a:solidFill>
            <a:prstDash val="solid"/>
          </a:ln>
        </p:spPr>
      </p:sp>
      <p:pic>
        <p:nvPicPr>
          <p:cNvPr id="106" name="Image 12" descr="preencoded.png">    </p:cNvPr>
          <p:cNvPicPr>
            <a:picLocks noChangeAspect="1"/>
          </p:cNvPicPr>
          <p:nvPr/>
        </p:nvPicPr>
        <p:blipFill>
          <a:blip r:embed="rId13"/>
          <a:stretch>
            <a:fillRect/>
          </a:stretch>
        </p:blipFill>
        <p:spPr>
          <a:xfrm>
            <a:off x="5652821" y="3081528"/>
            <a:ext cx="123444" cy="123444"/>
          </a:xfrm>
          <a:prstGeom prst="rect">
            <a:avLst/>
          </a:prstGeom>
        </p:spPr>
      </p:pic>
      <p:sp>
        <p:nvSpPr>
          <p:cNvPr id="107" name="Text 92"/>
          <p:cNvSpPr/>
          <p:nvPr/>
        </p:nvSpPr>
        <p:spPr>
          <a:xfrm>
            <a:off x="5799125" y="3025750"/>
            <a:ext cx="655625"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Hop 2 Catalog PDP</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Discovery Catalog + ADK Callback</a:t>
            </a:r>
            <a:endParaRPr lang="en-US" sz="435" dirty="0"/>
          </a:p>
        </p:txBody>
      </p:sp>
      <p:sp>
        <p:nvSpPr>
          <p:cNvPr id="108" name="Shape 93"/>
          <p:cNvSpPr/>
          <p:nvPr/>
        </p:nvSpPr>
        <p:spPr>
          <a:xfrm>
            <a:off x="4207154" y="4121201"/>
            <a:ext cx="726948" cy="269748"/>
          </a:xfrm>
          <a:prstGeom prst="roundRect">
            <a:avLst>
              <a:gd name="adj" fmla="val 15254"/>
            </a:avLst>
          </a:prstGeom>
          <a:solidFill>
            <a:srgbClr val="FFFFFF"/>
          </a:solidFill>
          <a:ln w="10795">
            <a:solidFill>
              <a:srgbClr val="DADCE0"/>
            </a:solidFill>
            <a:prstDash val="solid"/>
          </a:ln>
        </p:spPr>
      </p:sp>
      <p:pic>
        <p:nvPicPr>
          <p:cNvPr id="109" name="Image 13" descr="preencoded.png">    </p:cNvPr>
          <p:cNvPicPr>
            <a:picLocks noChangeAspect="1"/>
          </p:cNvPicPr>
          <p:nvPr/>
        </p:nvPicPr>
        <p:blipFill>
          <a:blip r:embed="rId14"/>
          <a:stretch>
            <a:fillRect/>
          </a:stretch>
        </p:blipFill>
        <p:spPr>
          <a:xfrm>
            <a:off x="4230014" y="4190695"/>
            <a:ext cx="130759" cy="130759"/>
          </a:xfrm>
          <a:prstGeom prst="rect">
            <a:avLst/>
          </a:prstGeom>
        </p:spPr>
      </p:pic>
      <p:sp>
        <p:nvSpPr>
          <p:cNvPr id="110" name="Text 94"/>
          <p:cNvSpPr/>
          <p:nvPr/>
        </p:nvSpPr>
        <p:spPr>
          <a:xfrm>
            <a:off x="4383634" y="4126687"/>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Vector 4: HTTP 400</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Blocks SQLi &amp; Cache Dump</a:t>
            </a:r>
            <a:endParaRPr lang="en-US" sz="435" dirty="0"/>
          </a:p>
        </p:txBody>
      </p:sp>
      <p:sp>
        <p:nvSpPr>
          <p:cNvPr id="111" name="Shape 95"/>
          <p:cNvSpPr/>
          <p:nvPr/>
        </p:nvSpPr>
        <p:spPr>
          <a:xfrm>
            <a:off x="4207154" y="5004511"/>
            <a:ext cx="726948" cy="269748"/>
          </a:xfrm>
          <a:prstGeom prst="roundRect">
            <a:avLst>
              <a:gd name="adj" fmla="val 15254"/>
            </a:avLst>
          </a:prstGeom>
          <a:solidFill>
            <a:srgbClr val="FFFFFF"/>
          </a:solidFill>
          <a:ln w="10795">
            <a:solidFill>
              <a:srgbClr val="DADCE0"/>
            </a:solidFill>
            <a:prstDash val="solid"/>
          </a:ln>
        </p:spPr>
      </p:sp>
      <p:pic>
        <p:nvPicPr>
          <p:cNvPr id="112" name="Image 14" descr="preencoded.png">    </p:cNvPr>
          <p:cNvPicPr>
            <a:picLocks noChangeAspect="1"/>
          </p:cNvPicPr>
          <p:nvPr/>
        </p:nvPicPr>
        <p:blipFill>
          <a:blip r:embed="rId15"/>
          <a:stretch>
            <a:fillRect/>
          </a:stretch>
        </p:blipFill>
        <p:spPr>
          <a:xfrm>
            <a:off x="4230014" y="5074006"/>
            <a:ext cx="130759" cy="130759"/>
          </a:xfrm>
          <a:prstGeom prst="rect">
            <a:avLst/>
          </a:prstGeom>
        </p:spPr>
      </p:pic>
      <p:sp>
        <p:nvSpPr>
          <p:cNvPr id="113" name="Text 96"/>
          <p:cNvSpPr/>
          <p:nvPr/>
        </p:nvSpPr>
        <p:spPr>
          <a:xfrm>
            <a:off x="4383634" y="5009998"/>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Vector 5: HTTP 422</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Blocks FINRA Escalation Bypass</a:t>
            </a:r>
            <a:endParaRPr lang="en-US" sz="435" dirty="0"/>
          </a:p>
        </p:txBody>
      </p:sp>
      <p:sp>
        <p:nvSpPr>
          <p:cNvPr id="114" name="Shape 97"/>
          <p:cNvSpPr/>
          <p:nvPr/>
        </p:nvSpPr>
        <p:spPr>
          <a:xfrm>
            <a:off x="6244438" y="4121201"/>
            <a:ext cx="726948" cy="269748"/>
          </a:xfrm>
          <a:prstGeom prst="roundRect">
            <a:avLst>
              <a:gd name="adj" fmla="val 15254"/>
            </a:avLst>
          </a:prstGeom>
          <a:solidFill>
            <a:srgbClr val="FFFFFF"/>
          </a:solidFill>
          <a:ln w="10795">
            <a:solidFill>
              <a:srgbClr val="DADCE0"/>
            </a:solidFill>
            <a:prstDash val="solid"/>
          </a:ln>
        </p:spPr>
      </p:sp>
      <p:pic>
        <p:nvPicPr>
          <p:cNvPr id="115" name="Image 15" descr="preencoded.png">    </p:cNvPr>
          <p:cNvPicPr>
            <a:picLocks noChangeAspect="1"/>
          </p:cNvPicPr>
          <p:nvPr/>
        </p:nvPicPr>
        <p:blipFill>
          <a:blip r:embed="rId16"/>
          <a:stretch>
            <a:fillRect/>
          </a:stretch>
        </p:blipFill>
        <p:spPr>
          <a:xfrm>
            <a:off x="6267298" y="4190695"/>
            <a:ext cx="130759" cy="130759"/>
          </a:xfrm>
          <a:prstGeom prst="rect">
            <a:avLst/>
          </a:prstGeom>
        </p:spPr>
      </p:pic>
      <p:sp>
        <p:nvSpPr>
          <p:cNvPr id="116" name="Text 98"/>
          <p:cNvSpPr/>
          <p:nvPr/>
        </p:nvSpPr>
        <p:spPr>
          <a:xfrm>
            <a:off x="6420917" y="4126687"/>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Vector 7A: L4 Memory</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PermissionError on Cross-Read</a:t>
            </a:r>
            <a:endParaRPr lang="en-US" sz="435" dirty="0"/>
          </a:p>
        </p:txBody>
      </p:sp>
      <p:sp>
        <p:nvSpPr>
          <p:cNvPr id="117" name="Shape 99"/>
          <p:cNvSpPr/>
          <p:nvPr/>
        </p:nvSpPr>
        <p:spPr>
          <a:xfrm>
            <a:off x="6244438" y="4502506"/>
            <a:ext cx="726948" cy="269748"/>
          </a:xfrm>
          <a:prstGeom prst="roundRect">
            <a:avLst>
              <a:gd name="adj" fmla="val 15254"/>
            </a:avLst>
          </a:prstGeom>
          <a:solidFill>
            <a:srgbClr val="FFFFFF"/>
          </a:solidFill>
          <a:ln w="10795">
            <a:solidFill>
              <a:srgbClr val="DADCE0"/>
            </a:solidFill>
            <a:prstDash val="solid"/>
          </a:ln>
        </p:spPr>
      </p:sp>
      <p:pic>
        <p:nvPicPr>
          <p:cNvPr id="118" name="Image 16" descr="preencoded.png">    </p:cNvPr>
          <p:cNvPicPr>
            <a:picLocks noChangeAspect="1"/>
          </p:cNvPicPr>
          <p:nvPr/>
        </p:nvPicPr>
        <p:blipFill>
          <a:blip r:embed="rId17"/>
          <a:stretch>
            <a:fillRect/>
          </a:stretch>
        </p:blipFill>
        <p:spPr>
          <a:xfrm>
            <a:off x="6267298" y="4572000"/>
            <a:ext cx="130759" cy="130759"/>
          </a:xfrm>
          <a:prstGeom prst="rect">
            <a:avLst/>
          </a:prstGeom>
        </p:spPr>
      </p:pic>
      <p:sp>
        <p:nvSpPr>
          <p:cNvPr id="119" name="Text 100"/>
          <p:cNvSpPr/>
          <p:nvPr/>
        </p:nvSpPr>
        <p:spPr>
          <a:xfrm>
            <a:off x="6420917" y="4507992"/>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Vector 7B: GCS Skills</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Blocks gs://cymbal-skills-fv</a:t>
            </a:r>
            <a:endParaRPr lang="en-US" sz="435" dirty="0"/>
          </a:p>
        </p:txBody>
      </p:sp>
      <p:sp>
        <p:nvSpPr>
          <p:cNvPr id="120" name="Shape 101"/>
          <p:cNvSpPr/>
          <p:nvPr/>
        </p:nvSpPr>
        <p:spPr>
          <a:xfrm>
            <a:off x="4176979" y="2338121"/>
            <a:ext cx="764438" cy="246888"/>
          </a:xfrm>
          <a:prstGeom prst="roundRect">
            <a:avLst>
              <a:gd name="adj" fmla="val 16667"/>
            </a:avLst>
          </a:prstGeom>
          <a:solidFill>
            <a:srgbClr val="FFFFFF"/>
          </a:solidFill>
          <a:ln w="10795">
            <a:solidFill>
              <a:srgbClr val="DADCE0"/>
            </a:solidFill>
            <a:prstDash val="solid"/>
          </a:ln>
        </p:spPr>
      </p:sp>
      <p:pic>
        <p:nvPicPr>
          <p:cNvPr id="121" name="Image 17" descr="preencoded.png">    </p:cNvPr>
          <p:cNvPicPr>
            <a:picLocks noChangeAspect="1"/>
          </p:cNvPicPr>
          <p:nvPr/>
        </p:nvPicPr>
        <p:blipFill>
          <a:blip r:embed="rId18"/>
          <a:stretch>
            <a:fillRect/>
          </a:stretch>
        </p:blipFill>
        <p:spPr>
          <a:xfrm>
            <a:off x="4199839" y="2399386"/>
            <a:ext cx="123444" cy="123444"/>
          </a:xfrm>
          <a:prstGeom prst="rect">
            <a:avLst/>
          </a:prstGeom>
        </p:spPr>
      </p:pic>
      <p:sp>
        <p:nvSpPr>
          <p:cNvPr id="122" name="Text 102"/>
          <p:cNvSpPr/>
          <p:nvPr/>
        </p:nvSpPr>
        <p:spPr>
          <a:xfrm>
            <a:off x="4346143" y="2343607"/>
            <a:ext cx="581558"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Vector 1: Cloud Armor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WAF Drops Forged X-Tenant-ID</a:t>
            </a:r>
            <a:endParaRPr lang="en-US" sz="435" dirty="0"/>
          </a:p>
        </p:txBody>
      </p:sp>
      <p:sp>
        <p:nvSpPr>
          <p:cNvPr id="123" name="Shape 103"/>
          <p:cNvSpPr/>
          <p:nvPr/>
        </p:nvSpPr>
        <p:spPr>
          <a:xfrm>
            <a:off x="4176979" y="2652674"/>
            <a:ext cx="764438" cy="246888"/>
          </a:xfrm>
          <a:prstGeom prst="roundRect">
            <a:avLst>
              <a:gd name="adj" fmla="val 16667"/>
            </a:avLst>
          </a:prstGeom>
          <a:solidFill>
            <a:srgbClr val="FFFFFF"/>
          </a:solidFill>
          <a:ln w="10795">
            <a:solidFill>
              <a:srgbClr val="DADCE0"/>
            </a:solidFill>
            <a:prstDash val="solid"/>
          </a:ln>
        </p:spPr>
      </p:sp>
      <p:pic>
        <p:nvPicPr>
          <p:cNvPr id="124" name="Image 18" descr="preencoded.png">    </p:cNvPr>
          <p:cNvPicPr>
            <a:picLocks noChangeAspect="1"/>
          </p:cNvPicPr>
          <p:nvPr/>
        </p:nvPicPr>
        <p:blipFill>
          <a:blip r:embed="rId19"/>
          <a:stretch>
            <a:fillRect/>
          </a:stretch>
        </p:blipFill>
        <p:spPr>
          <a:xfrm>
            <a:off x="4199839" y="2713939"/>
            <a:ext cx="123444" cy="123444"/>
          </a:xfrm>
          <a:prstGeom prst="rect">
            <a:avLst/>
          </a:prstGeom>
        </p:spPr>
      </p:pic>
      <p:sp>
        <p:nvSpPr>
          <p:cNvPr id="125" name="Text 104"/>
          <p:cNvSpPr/>
          <p:nvPr/>
        </p:nvSpPr>
        <p:spPr>
          <a:xfrm>
            <a:off x="4346143" y="2658161"/>
            <a:ext cx="581558"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Vector 2: Agent 403</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Blocks Retail -&gt; Agent Alpha</a:t>
            </a:r>
            <a:endParaRPr lang="en-US" sz="435" dirty="0"/>
          </a:p>
        </p:txBody>
      </p:sp>
      <p:sp>
        <p:nvSpPr>
          <p:cNvPr id="126" name="Shape 105"/>
          <p:cNvSpPr/>
          <p:nvPr/>
        </p:nvSpPr>
        <p:spPr>
          <a:xfrm>
            <a:off x="4207154" y="3020263"/>
            <a:ext cx="734263" cy="246888"/>
          </a:xfrm>
          <a:prstGeom prst="roundRect">
            <a:avLst>
              <a:gd name="adj" fmla="val 16667"/>
            </a:avLst>
          </a:prstGeom>
          <a:solidFill>
            <a:srgbClr val="FFFFFF"/>
          </a:solidFill>
          <a:ln w="10795">
            <a:solidFill>
              <a:srgbClr val="DADCE0"/>
            </a:solidFill>
            <a:prstDash val="solid"/>
          </a:ln>
        </p:spPr>
      </p:sp>
      <p:pic>
        <p:nvPicPr>
          <p:cNvPr id="127" name="Image 19" descr="preencoded.png">    </p:cNvPr>
          <p:cNvPicPr>
            <a:picLocks noChangeAspect="1"/>
          </p:cNvPicPr>
          <p:nvPr/>
        </p:nvPicPr>
        <p:blipFill>
          <a:blip r:embed="rId20"/>
          <a:stretch>
            <a:fillRect/>
          </a:stretch>
        </p:blipFill>
        <p:spPr>
          <a:xfrm>
            <a:off x="4230014" y="3081528"/>
            <a:ext cx="123444" cy="123444"/>
          </a:xfrm>
          <a:prstGeom prst="rect">
            <a:avLst/>
          </a:prstGeom>
        </p:spPr>
      </p:pic>
      <p:sp>
        <p:nvSpPr>
          <p:cNvPr id="128" name="Text 106"/>
          <p:cNvSpPr/>
          <p:nvPr/>
        </p:nvSpPr>
        <p:spPr>
          <a:xfrm>
            <a:off x="4376318" y="3025750"/>
            <a:ext cx="551383"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Vector 3: Tool Prune</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Prunes FinVault Jira MCP</a:t>
            </a:r>
            <a:endParaRPr lang="en-US" sz="435" dirty="0"/>
          </a:p>
        </p:txBody>
      </p:sp>
      <p:sp>
        <p:nvSpPr>
          <p:cNvPr id="129" name="Shape 107"/>
          <p:cNvSpPr/>
          <p:nvPr/>
        </p:nvSpPr>
        <p:spPr>
          <a:xfrm>
            <a:off x="5904281" y="1458468"/>
            <a:ext cx="127102" cy="127102"/>
          </a:xfrm>
          <a:prstGeom prst="ellipse">
            <a:avLst/>
          </a:prstGeom>
          <a:solidFill>
            <a:srgbClr val="174EA6"/>
          </a:solidFill>
          <a:ln w="10795">
            <a:solidFill>
              <a:srgbClr val="174EA6"/>
            </a:solidFill>
            <a:prstDash val="solid"/>
          </a:ln>
        </p:spPr>
      </p:sp>
      <p:sp>
        <p:nvSpPr>
          <p:cNvPr id="130" name="Text 108"/>
          <p:cNvSpPr/>
          <p:nvPr/>
        </p:nvSpPr>
        <p:spPr>
          <a:xfrm>
            <a:off x="5904281" y="1458468"/>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31" name="Shape 109"/>
          <p:cNvSpPr/>
          <p:nvPr/>
        </p:nvSpPr>
        <p:spPr>
          <a:xfrm>
            <a:off x="6076188" y="1458468"/>
            <a:ext cx="127102" cy="127102"/>
          </a:xfrm>
          <a:prstGeom prst="ellipse">
            <a:avLst/>
          </a:prstGeom>
          <a:solidFill>
            <a:srgbClr val="174EA6"/>
          </a:solidFill>
          <a:ln w="10795">
            <a:solidFill>
              <a:srgbClr val="174EA6"/>
            </a:solidFill>
            <a:prstDash val="solid"/>
          </a:ln>
        </p:spPr>
      </p:sp>
      <p:sp>
        <p:nvSpPr>
          <p:cNvPr id="132" name="Text 110"/>
          <p:cNvSpPr/>
          <p:nvPr/>
        </p:nvSpPr>
        <p:spPr>
          <a:xfrm>
            <a:off x="6076188" y="1458468"/>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33" name="Shape 111"/>
          <p:cNvSpPr/>
          <p:nvPr/>
        </p:nvSpPr>
        <p:spPr>
          <a:xfrm>
            <a:off x="5904281" y="2817266"/>
            <a:ext cx="127102" cy="127102"/>
          </a:xfrm>
          <a:prstGeom prst="ellipse">
            <a:avLst/>
          </a:prstGeom>
          <a:solidFill>
            <a:srgbClr val="174EA6"/>
          </a:solidFill>
          <a:ln w="10795">
            <a:solidFill>
              <a:srgbClr val="174EA6"/>
            </a:solidFill>
            <a:prstDash val="solid"/>
          </a:ln>
        </p:spPr>
      </p:sp>
      <p:sp>
        <p:nvSpPr>
          <p:cNvPr id="134" name="Text 112"/>
          <p:cNvSpPr/>
          <p:nvPr/>
        </p:nvSpPr>
        <p:spPr>
          <a:xfrm>
            <a:off x="5904281" y="2817266"/>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35" name="Shape 113"/>
          <p:cNvSpPr/>
          <p:nvPr/>
        </p:nvSpPr>
        <p:spPr>
          <a:xfrm>
            <a:off x="6076188" y="2817266"/>
            <a:ext cx="127102" cy="127102"/>
          </a:xfrm>
          <a:prstGeom prst="ellipse">
            <a:avLst/>
          </a:prstGeom>
          <a:solidFill>
            <a:srgbClr val="174EA6"/>
          </a:solidFill>
          <a:ln w="10795">
            <a:solidFill>
              <a:srgbClr val="174EA6"/>
            </a:solidFill>
            <a:prstDash val="solid"/>
          </a:ln>
        </p:spPr>
      </p:sp>
      <p:sp>
        <p:nvSpPr>
          <p:cNvPr id="136" name="Text 114"/>
          <p:cNvSpPr/>
          <p:nvPr/>
        </p:nvSpPr>
        <p:spPr>
          <a:xfrm>
            <a:off x="6076188" y="2817266"/>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37" name="Shape 115"/>
          <p:cNvSpPr/>
          <p:nvPr/>
        </p:nvSpPr>
        <p:spPr>
          <a:xfrm>
            <a:off x="5297119" y="3397910"/>
            <a:ext cx="127102" cy="127102"/>
          </a:xfrm>
          <a:prstGeom prst="ellipse">
            <a:avLst/>
          </a:prstGeom>
          <a:solidFill>
            <a:srgbClr val="174EA6"/>
          </a:solidFill>
          <a:ln w="10795">
            <a:solidFill>
              <a:srgbClr val="174EA6"/>
            </a:solidFill>
            <a:prstDash val="solid"/>
          </a:ln>
        </p:spPr>
      </p:sp>
      <p:sp>
        <p:nvSpPr>
          <p:cNvPr id="138" name="Text 116"/>
          <p:cNvSpPr/>
          <p:nvPr/>
        </p:nvSpPr>
        <p:spPr>
          <a:xfrm>
            <a:off x="5297119" y="3397910"/>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39" name="Shape 117"/>
          <p:cNvSpPr/>
          <p:nvPr/>
        </p:nvSpPr>
        <p:spPr>
          <a:xfrm>
            <a:off x="6091733" y="3397910"/>
            <a:ext cx="127102" cy="127102"/>
          </a:xfrm>
          <a:prstGeom prst="ellipse">
            <a:avLst/>
          </a:prstGeom>
          <a:solidFill>
            <a:srgbClr val="174EA6"/>
          </a:solidFill>
          <a:ln w="10795">
            <a:solidFill>
              <a:srgbClr val="174EA6"/>
            </a:solidFill>
            <a:prstDash val="solid"/>
          </a:ln>
        </p:spPr>
      </p:sp>
      <p:sp>
        <p:nvSpPr>
          <p:cNvPr id="140" name="Text 118"/>
          <p:cNvSpPr/>
          <p:nvPr/>
        </p:nvSpPr>
        <p:spPr>
          <a:xfrm>
            <a:off x="6091733" y="3397910"/>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41" name="Shape 119"/>
          <p:cNvSpPr/>
          <p:nvPr/>
        </p:nvSpPr>
        <p:spPr>
          <a:xfrm>
            <a:off x="4233672" y="4439412"/>
            <a:ext cx="127102" cy="127102"/>
          </a:xfrm>
          <a:prstGeom prst="ellipse">
            <a:avLst/>
          </a:prstGeom>
          <a:solidFill>
            <a:srgbClr val="174EA6"/>
          </a:solidFill>
          <a:ln w="10795">
            <a:solidFill>
              <a:srgbClr val="174EA6"/>
            </a:solidFill>
            <a:prstDash val="solid"/>
          </a:ln>
        </p:spPr>
      </p:sp>
      <p:sp>
        <p:nvSpPr>
          <p:cNvPr id="142" name="Text 120"/>
          <p:cNvSpPr/>
          <p:nvPr/>
        </p:nvSpPr>
        <p:spPr>
          <a:xfrm>
            <a:off x="4233672" y="4439412"/>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43" name="Shape 121"/>
          <p:cNvSpPr/>
          <p:nvPr/>
        </p:nvSpPr>
        <p:spPr>
          <a:xfrm>
            <a:off x="4233672" y="4619549"/>
            <a:ext cx="127102" cy="127102"/>
          </a:xfrm>
          <a:prstGeom prst="ellipse">
            <a:avLst/>
          </a:prstGeom>
          <a:solidFill>
            <a:srgbClr val="174EA6"/>
          </a:solidFill>
          <a:ln w="10795">
            <a:solidFill>
              <a:srgbClr val="174EA6"/>
            </a:solidFill>
            <a:prstDash val="solid"/>
          </a:ln>
        </p:spPr>
      </p:sp>
      <p:sp>
        <p:nvSpPr>
          <p:cNvPr id="144" name="Text 122"/>
          <p:cNvSpPr/>
          <p:nvPr/>
        </p:nvSpPr>
        <p:spPr>
          <a:xfrm>
            <a:off x="4233672" y="4619549"/>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145" name="Shape 123"/>
          <p:cNvSpPr/>
          <p:nvPr/>
        </p:nvSpPr>
        <p:spPr>
          <a:xfrm>
            <a:off x="4233672" y="5330952"/>
            <a:ext cx="127102" cy="127102"/>
          </a:xfrm>
          <a:prstGeom prst="ellipse">
            <a:avLst/>
          </a:prstGeom>
          <a:solidFill>
            <a:srgbClr val="174EA6"/>
          </a:solidFill>
          <a:ln w="10795">
            <a:solidFill>
              <a:srgbClr val="174EA6"/>
            </a:solidFill>
            <a:prstDash val="solid"/>
          </a:ln>
        </p:spPr>
      </p:sp>
      <p:sp>
        <p:nvSpPr>
          <p:cNvPr id="146" name="Text 124"/>
          <p:cNvSpPr/>
          <p:nvPr/>
        </p:nvSpPr>
        <p:spPr>
          <a:xfrm>
            <a:off x="4233672" y="5330952"/>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147" name="Text 125"/>
          <p:cNvSpPr/>
          <p:nvPr/>
        </p:nvSpPr>
        <p:spPr>
          <a:xfrm>
            <a:off x="7416698"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Real-time security violation spans</a:t>
            </a:r>
            <a:endParaRPr lang="en-US" sz="420" dirty="0"/>
          </a:p>
        </p:txBody>
      </p:sp>
      <p:sp>
        <p:nvSpPr>
          <p:cNvPr id="148" name="Text 126"/>
          <p:cNvSpPr/>
          <p:nvPr/>
        </p:nvSpPr>
        <p:spPr>
          <a:xfrm>
            <a:off x="5282489" y="4659782"/>
            <a:ext cx="49286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DLP Egress Filter</a:t>
            </a:r>
            <a:endParaRPr lang="en-US" sz="420" dirty="0"/>
          </a:p>
        </p:txBody>
      </p:sp>
      <p:sp>
        <p:nvSpPr>
          <p:cNvPr id="149" name="Text 127"/>
          <p:cNvSpPr/>
          <p:nvPr/>
        </p:nvSpPr>
        <p:spPr>
          <a:xfrm>
            <a:off x="5221224" y="5206594"/>
            <a:ext cx="616306"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Zero PII in Completion</a:t>
            </a:r>
            <a:endParaRPr lang="en-US" sz="420" dirty="0"/>
          </a:p>
        </p:txBody>
      </p:sp>
      <p:sp>
        <p:nvSpPr>
          <p:cNvPr id="150" name="Text 128"/>
          <p:cNvSpPr/>
          <p:nvPr/>
        </p:nvSpPr>
        <p:spPr>
          <a:xfrm>
            <a:off x="7271309" y="4659782"/>
            <a:ext cx="591617"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Isolated Prefix Cache</a:t>
            </a:r>
            <a:endParaRPr lang="en-US" sz="420" dirty="0"/>
          </a:p>
        </p:txBody>
      </p:sp>
      <p:sp>
        <p:nvSpPr>
          <p:cNvPr id="151" name="Text 129"/>
          <p:cNvSpPr/>
          <p:nvPr/>
        </p:nvSpPr>
        <p:spPr>
          <a:xfrm>
            <a:off x="7233818" y="5206594"/>
            <a:ext cx="665683"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SET LOCAL current_tenant</a:t>
            </a:r>
            <a:endParaRPr lang="en-US" sz="420" dirty="0"/>
          </a:p>
        </p:txBody>
      </p:sp>
      <p:sp>
        <p:nvSpPr>
          <p:cNvPr id="152" name="Text 130"/>
          <p:cNvSpPr/>
          <p:nvPr/>
        </p:nvSpPr>
        <p:spPr>
          <a:xfrm>
            <a:off x="4387291" y="5337353"/>
            <a:ext cx="591617"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Evaluate Safety rules</a:t>
            </a:r>
            <a:endParaRPr lang="en-US" sz="420" dirty="0"/>
          </a:p>
        </p:txBody>
      </p:sp>
      <p:sp>
        <p:nvSpPr>
          <p:cNvPr id="153" name="Text 131"/>
          <p:cNvSpPr/>
          <p:nvPr/>
        </p:nvSpPr>
        <p:spPr>
          <a:xfrm>
            <a:off x="6326734"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Zero cross-tenant data/cache bleed</a:t>
            </a:r>
            <a:endParaRPr lang="en-US" sz="420" dirty="0"/>
          </a:p>
        </p:txBody>
      </p:sp>
      <p:sp>
        <p:nvSpPr>
          <p:cNvPr id="154" name="Text 132"/>
          <p:cNvSpPr/>
          <p:nvPr/>
        </p:nvSpPr>
        <p:spPr>
          <a:xfrm>
            <a:off x="5338267"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Verified context enters Hop 3–5</a:t>
            </a:r>
            <a:endParaRPr lang="en-US" sz="420" dirty="0"/>
          </a:p>
        </p:txBody>
      </p:sp>
      <p:sp>
        <p:nvSpPr>
          <p:cNvPr id="155" name="Text 133"/>
          <p:cNvSpPr/>
          <p:nvPr/>
        </p:nvSpPr>
        <p:spPr>
          <a:xfrm>
            <a:off x="5014570" y="2980944"/>
            <a:ext cx="542239"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Prune 3LO MCP tools</a:t>
            </a:r>
            <a:endParaRPr lang="en-US" sz="420" dirty="0"/>
          </a:p>
        </p:txBody>
      </p:sp>
      <p:sp>
        <p:nvSpPr>
          <p:cNvPr id="156" name="Text 134"/>
          <p:cNvSpPr/>
          <p:nvPr/>
        </p:nvSpPr>
        <p:spPr>
          <a:xfrm>
            <a:off x="4486046" y="4445813"/>
            <a:ext cx="394106"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Screen prompt</a:t>
            </a:r>
            <a:endParaRPr lang="en-US" sz="420" dirty="0"/>
          </a:p>
        </p:txBody>
      </p:sp>
      <p:sp>
        <p:nvSpPr>
          <p:cNvPr id="157" name="Text 135"/>
          <p:cNvSpPr/>
          <p:nvPr/>
        </p:nvSpPr>
        <p:spPr>
          <a:xfrm>
            <a:off x="4508906" y="4625950"/>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Redact PII</a:t>
            </a:r>
            <a:endParaRPr lang="en-US" sz="420" dirty="0"/>
          </a:p>
        </p:txBody>
      </p:sp>
      <p:sp>
        <p:nvSpPr>
          <p:cNvPr id="158" name="Text 136"/>
          <p:cNvSpPr/>
          <p:nvPr/>
        </p:nvSpPr>
        <p:spPr>
          <a:xfrm>
            <a:off x="4901184" y="2299716"/>
            <a:ext cx="566928"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Strip spoofed header</a:t>
            </a:r>
            <a:endParaRPr lang="en-US" sz="420" dirty="0"/>
          </a:p>
        </p:txBody>
      </p:sp>
      <p:sp>
        <p:nvSpPr>
          <p:cNvPr id="159" name="Text 137"/>
          <p:cNvSpPr/>
          <p:nvPr/>
        </p:nvSpPr>
        <p:spPr>
          <a:xfrm>
            <a:off x="5003597" y="2816352"/>
            <a:ext cx="6903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Return HTTP 403 Forbidden</a:t>
            </a:r>
            <a:endParaRPr lang="en-US" sz="420" dirty="0"/>
          </a:p>
        </p:txBody>
      </p:sp>
      <p:sp>
        <p:nvSpPr>
          <p:cNvPr id="160" name="Text 138"/>
          <p:cNvSpPr/>
          <p:nvPr/>
        </p:nvSpPr>
        <p:spPr>
          <a:xfrm>
            <a:off x="6367882" y="1463954"/>
            <a:ext cx="418795"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Blocked / Safe</a:t>
            </a:r>
            <a:endParaRPr lang="en-US" sz="420" dirty="0"/>
          </a:p>
        </p:txBody>
      </p:sp>
      <p:sp>
        <p:nvSpPr>
          <p:cNvPr id="161" name="Text 139"/>
          <p:cNvSpPr/>
          <p:nvPr/>
        </p:nvSpPr>
        <p:spPr>
          <a:xfrm>
            <a:off x="6238951" y="2823667"/>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403 / 200</a:t>
            </a:r>
            <a:endParaRPr lang="en-US" sz="420" dirty="0"/>
          </a:p>
        </p:txBody>
      </p:sp>
      <p:sp>
        <p:nvSpPr>
          <p:cNvPr id="162" name="Text 140"/>
          <p:cNvSpPr/>
          <p:nvPr/>
        </p:nvSpPr>
        <p:spPr>
          <a:xfrm>
            <a:off x="5520233" y="1463954"/>
            <a:ext cx="369418"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Attack Probe</a:t>
            </a:r>
            <a:endParaRPr lang="en-US" sz="420" dirty="0"/>
          </a:p>
        </p:txBody>
      </p:sp>
      <p:sp>
        <p:nvSpPr>
          <p:cNvPr id="163" name="Text 141"/>
          <p:cNvSpPr/>
          <p:nvPr/>
        </p:nvSpPr>
        <p:spPr>
          <a:xfrm>
            <a:off x="5531206" y="2823667"/>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Probe</a:t>
            </a:r>
            <a:endParaRPr lang="en-US" sz="4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6 of 6 • Red-Team Verification &amp; Runbook  ›  Architecture  ›  Components &amp; Agentic flow</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DOC-MT-06  ·  Page 3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03504"/>
            <a:ext cx="10680192" cy="201168"/>
          </a:xfrm>
          <a:prstGeom prst="rect">
            <a:avLst/>
          </a:prstGeom>
          <a:noFill/>
          <a:ln/>
        </p:spPr>
        <p:txBody>
          <a:bodyPr wrap="square" rtlCol="0" anchor="ctr"/>
          <a:lstStyle/>
          <a:p>
            <a:pPr indent="0" marL="0">
              <a:buNone/>
            </a:pPr>
            <a:r>
              <a:rPr lang="en-US" sz="920" dirty="0">
                <a:solidFill>
                  <a:srgbClr val="3C4043"/>
                </a:solidFill>
                <a:latin typeface="Arial" pitchFamily="34" charset="0"/>
                <a:ea typeface="Arial" pitchFamily="34" charset="-122"/>
                <a:cs typeface="Arial" pitchFamily="34" charset="-120"/>
              </a:rPr>
              <a:t>The architecture consists of the following components:</a:t>
            </a:r>
            <a:endParaRPr lang="en-US" sz="920" dirty="0"/>
          </a:p>
        </p:txBody>
      </p:sp>
      <p:sp>
        <p:nvSpPr>
          <p:cNvPr id="7" name="Shape 5"/>
          <p:cNvSpPr/>
          <p:nvPr/>
        </p:nvSpPr>
        <p:spPr>
          <a:xfrm>
            <a:off x="749808" y="841248"/>
            <a:ext cx="2889504" cy="256032"/>
          </a:xfrm>
          <a:prstGeom prst="rect">
            <a:avLst/>
          </a:prstGeom>
          <a:solidFill>
            <a:srgbClr val="F8F9FA"/>
          </a:solidFill>
          <a:ln w="9525">
            <a:solidFill>
              <a:srgbClr val="DADCE0"/>
            </a:solidFill>
            <a:prstDash val="solid"/>
          </a:ln>
        </p:spPr>
      </p:sp>
      <p:sp>
        <p:nvSpPr>
          <p:cNvPr id="8" name="Text 6"/>
          <p:cNvSpPr/>
          <p:nvPr/>
        </p:nvSpPr>
        <p:spPr>
          <a:xfrm>
            <a:off x="841248" y="841248"/>
            <a:ext cx="2706624" cy="256032"/>
          </a:xfrm>
          <a:prstGeom prst="rect">
            <a:avLst/>
          </a:prstGeom>
          <a:noFill/>
          <a:ln/>
        </p:spPr>
        <p:txBody>
          <a:bodyPr wrap="square" rtlCol="0" anchor="ctr"/>
          <a:lstStyle/>
          <a:p>
            <a:pPr indent="0" marL="0">
              <a:buNone/>
            </a:pPr>
            <a:r>
              <a:rPr lang="en-US" sz="840" b="1" dirty="0">
                <a:solidFill>
                  <a:srgbClr val="202124"/>
                </a:solidFill>
                <a:latin typeface="Arial" pitchFamily="34" charset="0"/>
                <a:ea typeface="Arial" pitchFamily="34" charset="-122"/>
                <a:cs typeface="Arial" pitchFamily="34" charset="-120"/>
              </a:rPr>
              <a:t>Component</a:t>
            </a:r>
            <a:endParaRPr lang="en-US" sz="840" dirty="0"/>
          </a:p>
        </p:txBody>
      </p:sp>
      <p:sp>
        <p:nvSpPr>
          <p:cNvPr id="9" name="Shape 7"/>
          <p:cNvSpPr/>
          <p:nvPr/>
        </p:nvSpPr>
        <p:spPr>
          <a:xfrm>
            <a:off x="3639312" y="841248"/>
            <a:ext cx="7790688" cy="256032"/>
          </a:xfrm>
          <a:prstGeom prst="rect">
            <a:avLst/>
          </a:prstGeom>
          <a:solidFill>
            <a:srgbClr val="F8F9FA"/>
          </a:solidFill>
          <a:ln w="9525">
            <a:solidFill>
              <a:srgbClr val="DADCE0"/>
            </a:solidFill>
            <a:prstDash val="solid"/>
          </a:ln>
        </p:spPr>
      </p:sp>
      <p:sp>
        <p:nvSpPr>
          <p:cNvPr id="10" name="Text 8"/>
          <p:cNvSpPr/>
          <p:nvPr/>
        </p:nvSpPr>
        <p:spPr>
          <a:xfrm>
            <a:off x="3749040" y="841248"/>
            <a:ext cx="7571232" cy="256032"/>
          </a:xfrm>
          <a:prstGeom prst="rect">
            <a:avLst/>
          </a:prstGeom>
          <a:noFill/>
          <a:ln/>
        </p:spPr>
        <p:txBody>
          <a:bodyPr wrap="square" rtlCol="0" anchor="ctr"/>
          <a:lstStyle/>
          <a:p>
            <a:pPr indent="0" marL="0">
              <a:buNone/>
            </a:pPr>
            <a:r>
              <a:rPr lang="en-US" sz="840" b="1" dirty="0">
                <a:solidFill>
                  <a:srgbClr val="202124"/>
                </a:solidFill>
                <a:latin typeface="Arial" pitchFamily="34" charset="0"/>
                <a:ea typeface="Arial" pitchFamily="34" charset="-122"/>
                <a:cs typeface="Arial" pitchFamily="34" charset="-120"/>
              </a:rPr>
              <a:t>Description</a:t>
            </a:r>
            <a:endParaRPr lang="en-US" sz="840" dirty="0"/>
          </a:p>
        </p:txBody>
      </p:sp>
      <p:sp>
        <p:nvSpPr>
          <p:cNvPr id="11" name="Shape 9"/>
          <p:cNvSpPr/>
          <p:nvPr/>
        </p:nvSpPr>
        <p:spPr>
          <a:xfrm>
            <a:off x="749808" y="1097280"/>
            <a:ext cx="2889504" cy="338328"/>
          </a:xfrm>
          <a:prstGeom prst="rect">
            <a:avLst/>
          </a:prstGeom>
          <a:solidFill>
            <a:srgbClr val="FFFFFF"/>
          </a:solidFill>
          <a:ln w="9525">
            <a:solidFill>
              <a:srgbClr val="DADCE0"/>
            </a:solidFill>
            <a:prstDash val="solid"/>
          </a:ln>
        </p:spPr>
      </p:sp>
      <p:sp>
        <p:nvSpPr>
          <p:cNvPr id="12" name="Text 10"/>
          <p:cNvSpPr/>
          <p:nvPr/>
        </p:nvSpPr>
        <p:spPr>
          <a:xfrm>
            <a:off x="841248" y="1115568"/>
            <a:ext cx="2706624" cy="301752"/>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Adversarial Breach Verification Harness
</a:t>
            </a:r>
            <a:pPr indent="0" marL="0">
              <a:buNone/>
            </a:pPr>
            <a:r>
              <a:rPr lang="en-US" sz="650" dirty="0">
                <a:solidFill>
                  <a:srgbClr val="5F6368"/>
                </a:solidFill>
                <a:latin typeface="Arial" pitchFamily="34" charset="0"/>
                <a:ea typeface="Arial" pitchFamily="34" charset="-122"/>
                <a:cs typeface="Arial" pitchFamily="34" charset="-120"/>
              </a:rPr>
              <a:t>Outer security and governance boundary that prevents unauthorized data.</a:t>
            </a:r>
            <a:endParaRPr lang="en-US" sz="750" dirty="0"/>
          </a:p>
        </p:txBody>
      </p:sp>
      <p:sp>
        <p:nvSpPr>
          <p:cNvPr id="13" name="Shape 11"/>
          <p:cNvSpPr/>
          <p:nvPr/>
        </p:nvSpPr>
        <p:spPr>
          <a:xfrm>
            <a:off x="3639312" y="1097280"/>
            <a:ext cx="7790688" cy="338328"/>
          </a:xfrm>
          <a:prstGeom prst="rect">
            <a:avLst/>
          </a:prstGeom>
          <a:solidFill>
            <a:srgbClr val="FFFFFF"/>
          </a:solidFill>
          <a:ln w="9525">
            <a:solidFill>
              <a:srgbClr val="DADCE0"/>
            </a:solidFill>
            <a:prstDash val="solid"/>
          </a:ln>
        </p:spPr>
      </p:sp>
      <p:sp>
        <p:nvSpPr>
          <p:cNvPr id="14" name="Text 12"/>
          <p:cNvSpPr/>
          <p:nvPr/>
        </p:nvSpPr>
        <p:spPr>
          <a:xfrm>
            <a:off x="3749040" y="1115568"/>
            <a:ext cx="7571232" cy="301752"/>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Adversarial Breach Verification Harness: </a:t>
            </a:r>
            <a:pPr indent="0" marL="0">
              <a:lnSpc>
                <a:spcPct val="102000"/>
              </a:lnSpc>
              <a:buNone/>
            </a:pPr>
            <a:r>
              <a:rPr lang="en-US" sz="670" dirty="0">
                <a:solidFill>
                  <a:srgbClr val="3C4043"/>
                </a:solidFill>
                <a:latin typeface="Arial" pitchFamily="34" charset="0"/>
                <a:ea typeface="Arial" pitchFamily="34" charset="-122"/>
                <a:cs typeface="Arial" pitchFamily="34" charset="-120"/>
              </a:rPr>
              <a:t>Enforces VPC Service Controls service perimeters around hub and spoke projects to block unauthorized cross-perimeter data movement.</a:t>
            </a:r>
            <a:endParaRPr lang="en-US" sz="690" dirty="0"/>
          </a:p>
        </p:txBody>
      </p:sp>
      <p:sp>
        <p:nvSpPr>
          <p:cNvPr id="15" name="Shape 13"/>
          <p:cNvSpPr/>
          <p:nvPr/>
        </p:nvSpPr>
        <p:spPr>
          <a:xfrm>
            <a:off x="749808" y="1435608"/>
            <a:ext cx="2889504" cy="822960"/>
          </a:xfrm>
          <a:prstGeom prst="rect">
            <a:avLst/>
          </a:prstGeom>
          <a:solidFill>
            <a:srgbClr val="FFFFFF"/>
          </a:solidFill>
          <a:ln w="9525">
            <a:solidFill>
              <a:srgbClr val="DADCE0"/>
            </a:solidFill>
            <a:prstDash val="solid"/>
          </a:ln>
        </p:spPr>
      </p:sp>
      <p:sp>
        <p:nvSpPr>
          <p:cNvPr id="16" name="Text 14"/>
          <p:cNvSpPr/>
          <p:nvPr/>
        </p:nvSpPr>
        <p:spPr>
          <a:xfrm>
            <a:off x="841248" y="1453896"/>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Hop 1 &amp; Hop 2 Gates
</a:t>
            </a:r>
            <a:pPr indent="0" marL="0">
              <a:buNone/>
            </a:pPr>
            <a:r>
              <a:rPr lang="en-US" sz="650" dirty="0">
                <a:solidFill>
                  <a:srgbClr val="5F6368"/>
                </a:solidFill>
                <a:latin typeface="Arial" pitchFamily="34" charset="0"/>
                <a:ea typeface="Arial" pitchFamily="34" charset="-122"/>
                <a:cs typeface="Arial" pitchFamily="34" charset="-120"/>
              </a:rPr>
              <a:t>Centralized ingress and control plane managing edge security, identity verification, and request routing.</a:t>
            </a:r>
            <a:endParaRPr lang="en-US" sz="750" dirty="0"/>
          </a:p>
        </p:txBody>
      </p:sp>
      <p:sp>
        <p:nvSpPr>
          <p:cNvPr id="17" name="Shape 15"/>
          <p:cNvSpPr/>
          <p:nvPr/>
        </p:nvSpPr>
        <p:spPr>
          <a:xfrm>
            <a:off x="3639312" y="1435608"/>
            <a:ext cx="7790688" cy="822960"/>
          </a:xfrm>
          <a:prstGeom prst="rect">
            <a:avLst/>
          </a:prstGeom>
          <a:solidFill>
            <a:srgbClr val="FFFFFF"/>
          </a:solidFill>
          <a:ln w="9525">
            <a:solidFill>
              <a:srgbClr val="DADCE0"/>
            </a:solidFill>
            <a:prstDash val="solid"/>
          </a:ln>
        </p:spPr>
      </p:sp>
      <p:sp>
        <p:nvSpPr>
          <p:cNvPr id="18" name="Text 16"/>
          <p:cNvSpPr/>
          <p:nvPr/>
        </p:nvSpPr>
        <p:spPr>
          <a:xfrm>
            <a:off x="3749040" y="1453896"/>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External Application Load Balancer: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Acts as the unified global entry point for incoming requests.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Vector 1: Cloud Armor: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Enforces edge policy rules before reaching the runtime.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Vector 2: Agent 403: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Screens incoming prompts and verifies policy constraints at the routing hub.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Vector 3: Tool Prune: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Authenticates callers and binds cryptographic identity and scope claims before routing.</a:t>
            </a:r>
            <a:endParaRPr lang="en-US" sz="690" dirty="0"/>
          </a:p>
        </p:txBody>
      </p:sp>
      <p:sp>
        <p:nvSpPr>
          <p:cNvPr id="19" name="Shape 17"/>
          <p:cNvSpPr/>
          <p:nvPr/>
        </p:nvSpPr>
        <p:spPr>
          <a:xfrm>
            <a:off x="749808" y="2258568"/>
            <a:ext cx="2889504" cy="822960"/>
          </a:xfrm>
          <a:prstGeom prst="rect">
            <a:avLst/>
          </a:prstGeom>
          <a:solidFill>
            <a:srgbClr val="FFFFFF"/>
          </a:solidFill>
          <a:ln w="9525">
            <a:solidFill>
              <a:srgbClr val="DADCE0"/>
            </a:solidFill>
            <a:prstDash val="solid"/>
          </a:ln>
        </p:spPr>
      </p:sp>
      <p:sp>
        <p:nvSpPr>
          <p:cNvPr id="20" name="Text 18"/>
          <p:cNvSpPr/>
          <p:nvPr/>
        </p:nvSpPr>
        <p:spPr>
          <a:xfrm>
            <a:off x="841248" y="2276856"/>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Hop 3 &amp; 5 FinOps &amp; Audit Gates
</a:t>
            </a:r>
            <a:pPr indent="0" marL="0">
              <a:buNone/>
            </a:pPr>
            <a:r>
              <a:rPr lang="en-US" sz="650" dirty="0">
                <a:solidFill>
                  <a:srgbClr val="5F6368"/>
                </a:solidFill>
                <a:latin typeface="Arial" pitchFamily="34" charset="0"/>
                <a:ea typeface="Arial" pitchFamily="34" charset="-122"/>
                <a:cs typeface="Arial" pitchFamily="34" charset="-120"/>
              </a:rPr>
              <a:t>Dedicated governance plane providing unified security posture, cryptographic key management, and OpenTelemetry observability.</a:t>
            </a:r>
            <a:endParaRPr lang="en-US" sz="750" dirty="0"/>
          </a:p>
        </p:txBody>
      </p:sp>
      <p:sp>
        <p:nvSpPr>
          <p:cNvPr id="21" name="Shape 19"/>
          <p:cNvSpPr/>
          <p:nvPr/>
        </p:nvSpPr>
        <p:spPr>
          <a:xfrm>
            <a:off x="3639312" y="2258568"/>
            <a:ext cx="7790688" cy="822960"/>
          </a:xfrm>
          <a:prstGeom prst="rect">
            <a:avLst/>
          </a:prstGeom>
          <a:solidFill>
            <a:srgbClr val="FFFFFF"/>
          </a:solidFill>
          <a:ln w="9525">
            <a:solidFill>
              <a:srgbClr val="DADCE0"/>
            </a:solidFill>
            <a:prstDash val="solid"/>
          </a:ln>
        </p:spPr>
      </p:sp>
      <p:sp>
        <p:nvSpPr>
          <p:cNvPr id="22" name="Text 20"/>
          <p:cNvSpPr/>
          <p:nvPr/>
        </p:nvSpPr>
        <p:spPr>
          <a:xfrm>
            <a:off x="3749040" y="2276856"/>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Vector 6: Valkey 429 &amp; 4k Token Clamp: </a:t>
            </a:r>
            <a:pPr indent="0" marL="0">
              <a:lnSpc>
                <a:spcPct val="102000"/>
              </a:lnSpc>
              <a:buNone/>
            </a:pPr>
            <a:r>
              <a:rPr lang="en-US" sz="670" dirty="0">
                <a:solidFill>
                  <a:srgbClr val="3C4043"/>
                </a:solidFill>
                <a:latin typeface="Arial" pitchFamily="34" charset="0"/>
                <a:ea typeface="Arial" pitchFamily="34" charset="-122"/>
                <a:cs typeface="Arial" pitchFamily="34" charset="-120"/>
              </a:rPr>
              <a:t>Provides centralized threat detection, posture management, and continuous compliance verification.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Vector 10: Inline 3LO: </a:t>
            </a:r>
            <a:pPr indent="0" marL="0">
              <a:lnSpc>
                <a:spcPct val="102000"/>
              </a:lnSpc>
              <a:buNone/>
            </a:pPr>
            <a:r>
              <a:rPr lang="en-US" sz="670" dirty="0">
                <a:solidFill>
                  <a:srgbClr val="3C4043"/>
                </a:solidFill>
                <a:latin typeface="Arial" pitchFamily="34" charset="0"/>
                <a:ea typeface="Arial" pitchFamily="34" charset="-122"/>
                <a:cs typeface="Arial" pitchFamily="34" charset="-120"/>
              </a:rPr>
              <a:t>Manages access policies, cryptographic signing keys, and entitlement registries.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BigQuery OTel Audit: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Aggregates audit logs, execution traces, and OpenTelemetry FinOps telemetry into BigQuery.</a:t>
            </a:r>
            <a:endParaRPr lang="en-US" sz="690" dirty="0"/>
          </a:p>
        </p:txBody>
      </p:sp>
      <p:sp>
        <p:nvSpPr>
          <p:cNvPr id="23" name="Shape 21"/>
          <p:cNvSpPr/>
          <p:nvPr/>
        </p:nvSpPr>
        <p:spPr>
          <a:xfrm>
            <a:off x="749808" y="3081528"/>
            <a:ext cx="2889504" cy="338328"/>
          </a:xfrm>
          <a:prstGeom prst="rect">
            <a:avLst/>
          </a:prstGeom>
          <a:solidFill>
            <a:srgbClr val="FFFFFF"/>
          </a:solidFill>
          <a:ln w="9525">
            <a:solidFill>
              <a:srgbClr val="DADCE0"/>
            </a:solidFill>
            <a:prstDash val="solid"/>
          </a:ln>
        </p:spPr>
      </p:sp>
      <p:sp>
        <p:nvSpPr>
          <p:cNvPr id="24" name="Text 22"/>
          <p:cNvSpPr/>
          <p:nvPr/>
        </p:nvSpPr>
        <p:spPr>
          <a:xfrm>
            <a:off x="841248" y="3099816"/>
            <a:ext cx="2706624" cy="301752"/>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Principal Access Boundary Policy
</a:t>
            </a:r>
            <a:pPr indent="0" marL="0">
              <a:buNone/>
            </a:pPr>
            <a:r>
              <a:rPr lang="en-US" sz="650" dirty="0">
                <a:solidFill>
                  <a:srgbClr val="5F6368"/>
                </a:solidFill>
                <a:latin typeface="Arial" pitchFamily="34" charset="0"/>
                <a:ea typeface="Arial" pitchFamily="34" charset="-122"/>
                <a:cs typeface="Arial" pitchFamily="34" charset="-120"/>
              </a:rPr>
              <a:t>Identity and resource isolation boundary restricting principal access so workloads.</a:t>
            </a:r>
            <a:endParaRPr lang="en-US" sz="750" dirty="0"/>
          </a:p>
        </p:txBody>
      </p:sp>
      <p:sp>
        <p:nvSpPr>
          <p:cNvPr id="25" name="Shape 23"/>
          <p:cNvSpPr/>
          <p:nvPr/>
        </p:nvSpPr>
        <p:spPr>
          <a:xfrm>
            <a:off x="3639312" y="3081528"/>
            <a:ext cx="7790688" cy="338328"/>
          </a:xfrm>
          <a:prstGeom prst="rect">
            <a:avLst/>
          </a:prstGeom>
          <a:solidFill>
            <a:srgbClr val="FFFFFF"/>
          </a:solidFill>
          <a:ln w="9525">
            <a:solidFill>
              <a:srgbClr val="DADCE0"/>
            </a:solidFill>
            <a:prstDash val="solid"/>
          </a:ln>
        </p:spPr>
      </p:sp>
      <p:sp>
        <p:nvSpPr>
          <p:cNvPr id="26" name="Text 24"/>
          <p:cNvSpPr/>
          <p:nvPr/>
        </p:nvSpPr>
        <p:spPr>
          <a:xfrm>
            <a:off x="3749040" y="3099816"/>
            <a:ext cx="7571232" cy="301752"/>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VPC • Zero-Trust 5-Hop Enforcement Pipeline: </a:t>
            </a:r>
            <a:pPr indent="0" marL="0">
              <a:lnSpc>
                <a:spcPct val="102000"/>
              </a:lnSpc>
              <a:buNone/>
            </a:pPr>
            <a:r>
              <a:rPr lang="en-US" sz="670" dirty="0">
                <a:solidFill>
                  <a:srgbClr val="3C4043"/>
                </a:solidFill>
                <a:latin typeface="Arial" pitchFamily="34" charset="0"/>
                <a:ea typeface="Arial" pitchFamily="34" charset="-122"/>
                <a:cs typeface="Arial" pitchFamily="34" charset="-120"/>
              </a:rPr>
              <a:t>Binds IAM Principal Access Boundary (PAB) policies to spoke principals so credentials and tool calls remain strictly scoped to their authorized boundary.</a:t>
            </a:r>
            <a:endParaRPr lang="en-US" sz="690" dirty="0"/>
          </a:p>
        </p:txBody>
      </p:sp>
      <p:sp>
        <p:nvSpPr>
          <p:cNvPr id="27" name="Shape 25"/>
          <p:cNvSpPr/>
          <p:nvPr/>
        </p:nvSpPr>
        <p:spPr>
          <a:xfrm>
            <a:off x="749808" y="3419856"/>
            <a:ext cx="2889504" cy="822960"/>
          </a:xfrm>
          <a:prstGeom prst="rect">
            <a:avLst/>
          </a:prstGeom>
          <a:solidFill>
            <a:srgbClr val="FFFFFF"/>
          </a:solidFill>
          <a:ln w="9525">
            <a:solidFill>
              <a:srgbClr val="DADCE0"/>
            </a:solidFill>
            <a:prstDash val="solid"/>
          </a:ln>
        </p:spPr>
      </p:sp>
      <p:sp>
        <p:nvSpPr>
          <p:cNvPr id="28" name="Text 26"/>
          <p:cNvSpPr/>
          <p:nvPr/>
        </p:nvSpPr>
        <p:spPr>
          <a:xfrm>
            <a:off x="841248" y="3438144"/>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Model Armor &amp; Safety Filters &amp; Memory Bank, Skills &amp; AlloyDB RLS
</a:t>
            </a:r>
            <a:pPr indent="0" marL="0">
              <a:buNone/>
            </a:pPr>
            <a:r>
              <a:rPr lang="en-US" sz="650" dirty="0">
                <a:solidFill>
                  <a:srgbClr val="5F6368"/>
                </a:solidFill>
                <a:latin typeface="Arial" pitchFamily="34" charset="0"/>
                <a:ea typeface="Arial" pitchFamily="34" charset="-122"/>
                <a:cs typeface="Arial" pitchFamily="34" charset="-120"/>
              </a:rPr>
              <a:t>Isolated Google Cloud execution spokes.</a:t>
            </a:r>
            <a:endParaRPr lang="en-US" sz="750" dirty="0"/>
          </a:p>
        </p:txBody>
      </p:sp>
      <p:sp>
        <p:nvSpPr>
          <p:cNvPr id="29" name="Shape 27"/>
          <p:cNvSpPr/>
          <p:nvPr/>
        </p:nvSpPr>
        <p:spPr>
          <a:xfrm>
            <a:off x="3639312" y="3419856"/>
            <a:ext cx="7790688" cy="822960"/>
          </a:xfrm>
          <a:prstGeom prst="rect">
            <a:avLst/>
          </a:prstGeom>
          <a:solidFill>
            <a:srgbClr val="FFFFFF"/>
          </a:solidFill>
          <a:ln w="9525">
            <a:solidFill>
              <a:srgbClr val="DADCE0"/>
            </a:solidFill>
            <a:prstDash val="solid"/>
          </a:ln>
        </p:spPr>
      </p:sp>
      <p:sp>
        <p:nvSpPr>
          <p:cNvPr id="30" name="Text 28"/>
          <p:cNvSpPr/>
          <p:nvPr/>
        </p:nvSpPr>
        <p:spPr>
          <a:xfrm>
            <a:off x="3749040" y="3438144"/>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Vertex AI Agent Engine / Vector 9: Prefix Cache: </a:t>
            </a:r>
            <a:pPr indent="0" marL="0">
              <a:lnSpc>
                <a:spcPct val="102000"/>
              </a:lnSpc>
              <a:buNone/>
            </a:pPr>
            <a:r>
              <a:rPr lang="en-US" sz="670" dirty="0">
                <a:solidFill>
                  <a:srgbClr val="3C4043"/>
                </a:solidFill>
                <a:latin typeface="Arial" pitchFamily="34" charset="0"/>
                <a:ea typeface="Arial" pitchFamily="34" charset="-122"/>
                <a:cs typeface="Arial" pitchFamily="34" charset="-120"/>
              </a:rPr>
              <a:t>Core execution environments orchestrating reasoning, memory, and tool execution across left and right spokes.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Vector 4: HTTP 400 / Vector 7A: L4 Memory: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Screens prompts and model outputs within each spoke boundary to enforce safety and DLP policies.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Vector 8: SDP Mask / Auth Manager Vault: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Serverless tool interfaces providing standardized, scoped access to enterprise systems.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Zero Raw PII Egress / Vector 7C: AlloyDB RLS: </a:t>
            </a:r>
            <a:pPr indent="0" marL="0">
              <a:lnSpc>
                <a:spcPct val="102000"/>
              </a:lnSpc>
              <a:buNone/>
            </a:pPr>
            <a:r>
              <a:rPr lang="en-US" sz="670" dirty="0">
                <a:solidFill>
                  <a:srgbClr val="3C4043"/>
                </a:solidFill>
                <a:latin typeface="Arial" pitchFamily="34" charset="0"/>
                <a:ea typeface="Arial" pitchFamily="34" charset="-122"/>
                <a:cs typeface="Arial" pitchFamily="34" charset="-120"/>
              </a:rPr>
              <a:t>Isolated persistence layers enforcing access boundaries, vector namespaces, and encryption at rest.</a:t>
            </a:r>
            <a:endParaRPr lang="en-US" sz="690" dirty="0"/>
          </a:p>
        </p:txBody>
      </p:sp>
      <p:sp>
        <p:nvSpPr>
          <p:cNvPr id="31" name="Shape 29"/>
          <p:cNvSpPr/>
          <p:nvPr/>
        </p:nvSpPr>
        <p:spPr>
          <a:xfrm>
            <a:off x="749808" y="4315968"/>
            <a:ext cx="10680192" cy="0"/>
          </a:xfrm>
          <a:prstGeom prst="line">
            <a:avLst/>
          </a:prstGeom>
          <a:noFill/>
          <a:ln w="9525">
            <a:solidFill>
              <a:srgbClr val="DADCE0"/>
            </a:solidFill>
            <a:prstDash val="solid"/>
          </a:ln>
        </p:spPr>
      </p:sp>
      <p:sp>
        <p:nvSpPr>
          <p:cNvPr id="32" name="Text 30"/>
          <p:cNvSpPr/>
          <p:nvPr/>
        </p:nvSpPr>
        <p:spPr>
          <a:xfrm>
            <a:off x="749808" y="4370832"/>
            <a:ext cx="10680192" cy="237744"/>
          </a:xfrm>
          <a:prstGeom prst="rect">
            <a:avLst/>
          </a:prstGeom>
          <a:noFill/>
          <a:ln/>
        </p:spPr>
        <p:txBody>
          <a:bodyPr wrap="square" rtlCol="0" anchor="ctr"/>
          <a:lstStyle/>
          <a:p>
            <a:pPr indent="0" marL="0">
              <a:buNone/>
            </a:pPr>
            <a:r>
              <a:rPr lang="en-US" sz="1250" dirty="0">
                <a:solidFill>
                  <a:srgbClr val="202124"/>
                </a:solidFill>
                <a:latin typeface="Arial" pitchFamily="34" charset="0"/>
                <a:ea typeface="Arial" pitchFamily="34" charset="-122"/>
                <a:cs typeface="Arial" pitchFamily="34" charset="-120"/>
              </a:rPr>
              <a:t>Agentic flow</a:t>
            </a:r>
            <a:endParaRPr lang="en-US" sz="1250" dirty="0"/>
          </a:p>
        </p:txBody>
      </p:sp>
      <p:sp>
        <p:nvSpPr>
          <p:cNvPr id="33" name="Text 31"/>
          <p:cNvSpPr/>
          <p:nvPr/>
        </p:nvSpPr>
        <p:spPr>
          <a:xfrm>
            <a:off x="749808" y="4626864"/>
            <a:ext cx="10680192" cy="1901952"/>
          </a:xfrm>
          <a:prstGeom prst="rect">
            <a:avLst/>
          </a:prstGeom>
          <a:noFill/>
          <a:ln/>
        </p:spPr>
        <p:txBody>
          <a:bodyPr wrap="square" rtlCol="0" anchor="t">
            <a:normAutofit/>
          </a:bodyPr>
          <a:lstStyle/>
          <a:p>
            <a:pPr indent="0" marL="0">
              <a:lnSpc>
                <a:spcPct val="106000"/>
              </a:lnSpc>
              <a:buNone/>
            </a:pPr>
            <a:r>
              <a:rPr lang="en-US" sz="730" b="1" dirty="0">
                <a:solidFill>
                  <a:srgbClr val="202124"/>
                </a:solidFill>
                <a:latin typeface="Arial" pitchFamily="34" charset="0"/>
                <a:ea typeface="Arial" pitchFamily="34" charset="-122"/>
                <a:cs typeface="Arial" pitchFamily="34" charset="-120"/>
              </a:rPr>
              <a:t>1. </a:t>
            </a:r>
            <a:pPr indent="0" marL="0">
              <a:lnSpc>
                <a:spcPct val="106000"/>
              </a:lnSpc>
              <a:buNone/>
            </a:pPr>
            <a:r>
              <a:rPr lang="en-US" sz="720" dirty="0">
                <a:solidFill>
                  <a:srgbClr val="3C4043"/>
                </a:solidFill>
                <a:latin typeface="Arial" pitchFamily="34" charset="0"/>
                <a:ea typeface="Arial" pitchFamily="34" charset="-122"/>
                <a:cs typeface="Arial" pitchFamily="34" charset="-120"/>
              </a:rPr>
              <a:t>A caller sends a request to External Application Load Balancer in the Hop 1 &amp; Hop 2 Gates.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2. </a:t>
            </a:r>
            <a:pPr indent="0" marL="0">
              <a:lnSpc>
                <a:spcPct val="106000"/>
              </a:lnSpc>
              <a:buNone/>
            </a:pPr>
            <a:r>
              <a:rPr lang="en-US" sz="720" dirty="0">
                <a:solidFill>
                  <a:srgbClr val="3C4043"/>
                </a:solidFill>
                <a:latin typeface="Arial" pitchFamily="34" charset="0"/>
                <a:ea typeface="Arial" pitchFamily="34" charset="-122"/>
                <a:cs typeface="Arial" pitchFamily="34" charset="-120"/>
              </a:rPr>
              <a:t>After passing policy and security checks across Vector 1: Cloud Armor, Vector 2: Agent 403, and Vector 3: Tool Prune, the request is forwarded to Hop 2 Catalog PDP.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3. </a:t>
            </a:r>
            <a:pPr indent="0" marL="0">
              <a:lnSpc>
                <a:spcPct val="106000"/>
              </a:lnSpc>
              <a:buNone/>
            </a:pPr>
            <a:r>
              <a:rPr lang="en-US" sz="720" dirty="0">
                <a:solidFill>
                  <a:srgbClr val="3C4043"/>
                </a:solidFill>
                <a:latin typeface="Arial" pitchFamily="34" charset="0"/>
                <a:ea typeface="Arial" pitchFamily="34" charset="-122"/>
                <a:cs typeface="Arial" pitchFamily="34" charset="-120"/>
              </a:rPr>
              <a:t>Hop 2 Catalog PDP verifies the caller's identity claims, attaches scoped execution metadata, and routes the request to the target execution spoke.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4. </a:t>
            </a:r>
            <a:pPr indent="0" marL="0">
              <a:lnSpc>
                <a:spcPct val="106000"/>
              </a:lnSpc>
              <a:buNone/>
            </a:pPr>
            <a:r>
              <a:rPr lang="en-US" sz="720" dirty="0">
                <a:solidFill>
                  <a:srgbClr val="3C4043"/>
                </a:solidFill>
                <a:latin typeface="Arial" pitchFamily="34" charset="0"/>
                <a:ea typeface="Arial" pitchFamily="34" charset="-122"/>
                <a:cs typeface="Arial" pitchFamily="34" charset="-120"/>
              </a:rPr>
              <a:t>Within Model Armor &amp; Safety Filters, the runtime orchestrates execution across four deterministic sub-steps.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4a. </a:t>
            </a:r>
            <a:pPr indent="0" marL="0">
              <a:lnSpc>
                <a:spcPct val="106000"/>
              </a:lnSpc>
              <a:buNone/>
            </a:pPr>
            <a:r>
              <a:rPr lang="en-US" sz="680" dirty="0">
                <a:solidFill>
                  <a:srgbClr val="3C4043"/>
                </a:solidFill>
                <a:latin typeface="Arial" pitchFamily="34" charset="0"/>
                <a:ea typeface="Arial" pitchFamily="34" charset="-122"/>
                <a:cs typeface="Arial" pitchFamily="34" charset="-120"/>
              </a:rPr>
              <a:t>Input policy validation: Screens the incoming payload against safety and DLP policies.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4b. </a:t>
            </a:r>
            <a:pPr indent="0" marL="0">
              <a:lnSpc>
                <a:spcPct val="106000"/>
              </a:lnSpc>
              <a:buNone/>
            </a:pPr>
            <a:r>
              <a:rPr lang="en-US" sz="680" dirty="0">
                <a:solidFill>
                  <a:srgbClr val="3C4043"/>
                </a:solidFill>
                <a:latin typeface="Arial" pitchFamily="34" charset="0"/>
                <a:ea typeface="Arial" pitchFamily="34" charset="-122"/>
                <a:cs typeface="Arial" pitchFamily="34" charset="-120"/>
              </a:rPr>
              <a:t>Grounded context retrieval: Queries the datastore via DLP Egress Filter.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4c. </a:t>
            </a:r>
            <a:pPr indent="0" marL="0">
              <a:lnSpc>
                <a:spcPct val="106000"/>
              </a:lnSpc>
              <a:buNone/>
            </a:pPr>
            <a:r>
              <a:rPr lang="en-US" sz="680" dirty="0">
                <a:solidFill>
                  <a:srgbClr val="3C4043"/>
                </a:solidFill>
                <a:latin typeface="Arial" pitchFamily="34" charset="0"/>
                <a:ea typeface="Arial" pitchFamily="34" charset="-122"/>
                <a:cs typeface="Arial" pitchFamily="34" charset="-120"/>
              </a:rPr>
              <a:t>Scoped tool invocation: Executes external tool operations via Zero PII in Completion.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4d. </a:t>
            </a:r>
            <a:pPr indent="0" marL="0">
              <a:lnSpc>
                <a:spcPct val="106000"/>
              </a:lnSpc>
              <a:buNone/>
            </a:pPr>
            <a:r>
              <a:rPr lang="en-US" sz="680" dirty="0">
                <a:solidFill>
                  <a:srgbClr val="3C4043"/>
                </a:solidFill>
                <a:latin typeface="Arial" pitchFamily="34" charset="0"/>
                <a:ea typeface="Arial" pitchFamily="34" charset="-122"/>
                <a:cs typeface="Arial" pitchFamily="34" charset="-120"/>
              </a:rPr>
              <a:t>Transactional state persistence: Commits verified state updates under strict isolation boundaries.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5. </a:t>
            </a:r>
            <a:pPr indent="0" marL="0">
              <a:lnSpc>
                <a:spcPct val="106000"/>
              </a:lnSpc>
              <a:buNone/>
            </a:pPr>
            <a:r>
              <a:rPr lang="en-US" sz="720" dirty="0">
                <a:solidFill>
                  <a:srgbClr val="3C4043"/>
                </a:solidFill>
                <a:latin typeface="Arial" pitchFamily="34" charset="0"/>
                <a:ea typeface="Arial" pitchFamily="34" charset="-122"/>
                <a:cs typeface="Arial" pitchFamily="34" charset="-120"/>
              </a:rPr>
              <a:t>Vertex AI Agent Engine sends the validated, context-enriched prompt to Vector 5: HTTP 422 to synthesize a grounded response.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6. </a:t>
            </a:r>
            <a:pPr indent="0" marL="0">
              <a:lnSpc>
                <a:spcPct val="106000"/>
              </a:lnSpc>
              <a:buNone/>
            </a:pPr>
            <a:r>
              <a:rPr lang="en-US" sz="720" dirty="0">
                <a:solidFill>
                  <a:srgbClr val="3C4043"/>
                </a:solidFill>
                <a:latin typeface="Arial" pitchFamily="34" charset="0"/>
                <a:ea typeface="Arial" pitchFamily="34" charset="-122"/>
                <a:cs typeface="Arial" pitchFamily="34" charset="-120"/>
              </a:rPr>
              <a:t>Vertex AI Agent Engine passes the generated output through Vector 4: HTTP 400 for final output sanitization and policy enforcement.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7. </a:t>
            </a:r>
            <a:pPr indent="0" marL="0">
              <a:lnSpc>
                <a:spcPct val="106000"/>
              </a:lnSpc>
              <a:buNone/>
            </a:pPr>
            <a:r>
              <a:rPr lang="en-US" sz="720" dirty="0">
                <a:solidFill>
                  <a:srgbClr val="3C4043"/>
                </a:solidFill>
                <a:latin typeface="Arial" pitchFamily="34" charset="0"/>
                <a:ea typeface="Arial" pitchFamily="34" charset="-122"/>
                <a:cs typeface="Arial" pitchFamily="34" charset="-120"/>
              </a:rPr>
              <a:t>The verified response returns to the caller through the Hop 1 &amp; Hop 2 Gates, while structured OpenTelemetry audit and FinOps spans stream to the Hop 3 &amp; 5 FinOps &amp; Audit Gates.
</a:t>
            </a:r>
            <a:endParaRPr lang="en-US" sz="73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6 of 6 • Red-Team Verification &amp; Runbook  ›  Products used  &amp;  Use case</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DOC-MT-06  ·  Page 4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500" dirty="0">
                <a:solidFill>
                  <a:srgbClr val="202124"/>
                </a:solidFill>
                <a:latin typeface="Arial" pitchFamily="34" charset="0"/>
                <a:ea typeface="Arial" pitchFamily="34" charset="-122"/>
                <a:cs typeface="Arial" pitchFamily="34" charset="-120"/>
              </a:rPr>
              <a:t>Products used</a:t>
            </a:r>
            <a:endParaRPr lang="en-US" sz="1500" dirty="0"/>
          </a:p>
        </p:txBody>
      </p:sp>
      <p:sp>
        <p:nvSpPr>
          <p:cNvPr id="7" name="Text 5"/>
          <p:cNvSpPr/>
          <p:nvPr/>
        </p:nvSpPr>
        <p:spPr>
          <a:xfrm>
            <a:off x="749808" y="914400"/>
            <a:ext cx="10680192" cy="329184"/>
          </a:xfrm>
          <a:prstGeom prst="rect">
            <a:avLst/>
          </a:prstGeom>
          <a:noFill/>
          <a:ln/>
        </p:spPr>
        <p:txBody>
          <a:bodyPr wrap="square" rtlCol="0" anchor="t"/>
          <a:lstStyle/>
          <a:p>
            <a:pPr indent="0" marL="0">
              <a:buNone/>
            </a:pPr>
            <a:r>
              <a:rPr lang="en-US" sz="860" dirty="0">
                <a:solidFill>
                  <a:srgbClr val="3C4043"/>
                </a:solidFill>
                <a:latin typeface="Arial" pitchFamily="34" charset="0"/>
                <a:ea typeface="Arial" pitchFamily="34" charset="-122"/>
                <a:cs typeface="Arial" pitchFamily="34" charset="-120"/>
              </a:rPr>
              <a:t>This reference architecture uses the following Google Cloud services and open-source frameworks to implement Production Verification: 10-Point Red-Team Breach Simulation &amp; Cloud Console Runbook.</a:t>
            </a:r>
            <a:endParaRPr lang="en-US" sz="860" dirty="0"/>
          </a:p>
        </p:txBody>
      </p:sp>
      <p:sp>
        <p:nvSpPr>
          <p:cNvPr id="8" name="Text 6"/>
          <p:cNvSpPr/>
          <p:nvPr/>
        </p:nvSpPr>
        <p:spPr>
          <a:xfrm>
            <a:off x="877824" y="1261872"/>
            <a:ext cx="10552176" cy="2011680"/>
          </a:xfrm>
          <a:prstGeom prst="rect">
            <a:avLst/>
          </a:prstGeom>
          <a:noFill/>
          <a:ln/>
        </p:spPr>
        <p:txBody>
          <a:bodyPr wrap="square" rtlCol="0" anchor="t">
            <a:normAutofit/>
          </a:bodyPr>
          <a:lstStyle/>
          <a:p>
            <a:pPr indent="0" marL="0">
              <a:lnSpc>
                <a:spcPct val="118000"/>
              </a:lnSpc>
              <a:buNone/>
            </a:pPr>
            <a:r>
              <a:rPr lang="en-US" sz="810" b="1" dirty="0">
                <a:solidFill>
                  <a:srgbClr val="1A73E8"/>
                </a:solidFill>
                <a:latin typeface="Arial" pitchFamily="34" charset="0"/>
                <a:ea typeface="Arial" pitchFamily="34" charset="-122"/>
                <a:cs typeface="Arial" pitchFamily="34" charset="-120"/>
              </a:rPr>
              <a:t>•  Cloud Run: </a:t>
            </a:r>
            <a:pPr indent="0" marL="0">
              <a:lnSpc>
                <a:spcPct val="118000"/>
              </a:lnSpc>
              <a:buNone/>
            </a:pPr>
            <a:r>
              <a:rPr lang="en-US" sz="790" dirty="0">
                <a:solidFill>
                  <a:srgbClr val="3C4043"/>
                </a:solidFill>
                <a:latin typeface="Arial" pitchFamily="34" charset="0"/>
                <a:ea typeface="Arial" pitchFamily="34" charset="-122"/>
                <a:cs typeface="Arial" pitchFamily="34" charset="-120"/>
              </a:rPr>
              <a:t>Serverless container platform used to host stateless ingress routers and Model Context Protocol (MCP) tool servers inside gVisor sandboxes.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BigQuery: </a:t>
            </a:r>
            <a:pPr indent="0" marL="0">
              <a:lnSpc>
                <a:spcPct val="118000"/>
              </a:lnSpc>
              <a:buNone/>
            </a:pPr>
            <a:r>
              <a:rPr lang="en-US" sz="790" dirty="0">
                <a:solidFill>
                  <a:srgbClr val="3C4043"/>
                </a:solidFill>
                <a:latin typeface="Arial" pitchFamily="34" charset="0"/>
                <a:ea typeface="Arial" pitchFamily="34" charset="-122"/>
                <a:cs typeface="Arial" pitchFamily="34" charset="-120"/>
              </a:rPr>
              <a:t>Serverless enterprise data warehouse aggregating OpenTelemetry execution spans, audit logs, and token chargeback analytics.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Cloud KMS HSM: </a:t>
            </a:r>
            <a:pPr indent="0" marL="0">
              <a:lnSpc>
                <a:spcPct val="118000"/>
              </a:lnSpc>
              <a:buNone/>
            </a:pPr>
            <a:r>
              <a:rPr lang="en-US" sz="790" dirty="0">
                <a:solidFill>
                  <a:srgbClr val="3C4043"/>
                </a:solidFill>
                <a:latin typeface="Arial" pitchFamily="34" charset="0"/>
                <a:ea typeface="Arial" pitchFamily="34" charset="-122"/>
                <a:cs typeface="Arial" pitchFamily="34" charset="-120"/>
              </a:rPr>
              <a:t>Manages Customer-Managed Encryption Keys (CMEK) and asymmetric signing keys for cryptographic isolation and auditability.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VPC &amp; Private Service Connect: </a:t>
            </a:r>
            <a:pPr indent="0" marL="0">
              <a:lnSpc>
                <a:spcPct val="118000"/>
              </a:lnSpc>
              <a:buNone/>
            </a:pPr>
            <a:r>
              <a:rPr lang="en-US" sz="790" dirty="0">
                <a:solidFill>
                  <a:srgbClr val="3C4043"/>
                </a:solidFill>
                <a:latin typeface="Arial" pitchFamily="34" charset="0"/>
                <a:ea typeface="Arial" pitchFamily="34" charset="-122"/>
                <a:cs typeface="Arial" pitchFamily="34" charset="-120"/>
              </a:rPr>
              <a:t>Core Google Cloud service used in DOC-MT-06 to enforce production security, scalability, and observability.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Cloud Logging &amp; Cloud Trace: </a:t>
            </a:r>
            <a:pPr indent="0" marL="0">
              <a:lnSpc>
                <a:spcPct val="118000"/>
              </a:lnSpc>
              <a:buNone/>
            </a:pPr>
            <a:r>
              <a:rPr lang="en-US" sz="790" dirty="0">
                <a:solidFill>
                  <a:srgbClr val="3C4043"/>
                </a:solidFill>
                <a:latin typeface="Arial" pitchFamily="34" charset="0"/>
                <a:ea typeface="Arial" pitchFamily="34" charset="-122"/>
                <a:cs typeface="Arial" pitchFamily="34" charset="-120"/>
              </a:rPr>
              <a:t>Distributed tracing system capturing end-to-end latency and token usage spans across routers, agents, and MCP servers.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Security Command Center: </a:t>
            </a:r>
            <a:pPr indent="0" marL="0">
              <a:lnSpc>
                <a:spcPct val="118000"/>
              </a:lnSpc>
              <a:buNone/>
            </a:pPr>
            <a:r>
              <a:rPr lang="en-US" sz="790" dirty="0">
                <a:solidFill>
                  <a:srgbClr val="3C4043"/>
                </a:solidFill>
                <a:latin typeface="Arial" pitchFamily="34" charset="0"/>
                <a:ea typeface="Arial" pitchFamily="34" charset="-122"/>
                <a:cs typeface="Arial" pitchFamily="34" charset="-120"/>
              </a:rPr>
              <a:t>Centralized posture management and threat detection across IAM, VPC Service Controls, and Vertex AI workloads.</a:t>
            </a:r>
            <a:endParaRPr lang="en-US" sz="810" dirty="0"/>
          </a:p>
        </p:txBody>
      </p:sp>
      <p:sp>
        <p:nvSpPr>
          <p:cNvPr id="9" name="Shape 7"/>
          <p:cNvSpPr/>
          <p:nvPr/>
        </p:nvSpPr>
        <p:spPr>
          <a:xfrm>
            <a:off x="749808" y="3346704"/>
            <a:ext cx="10680192" cy="0"/>
          </a:xfrm>
          <a:prstGeom prst="line">
            <a:avLst/>
          </a:prstGeom>
          <a:noFill/>
          <a:ln w="9525">
            <a:solidFill>
              <a:srgbClr val="DADCE0"/>
            </a:solidFill>
            <a:prstDash val="solid"/>
          </a:ln>
        </p:spPr>
      </p:sp>
      <p:sp>
        <p:nvSpPr>
          <p:cNvPr id="10" name="Text 8"/>
          <p:cNvSpPr/>
          <p:nvPr/>
        </p:nvSpPr>
        <p:spPr>
          <a:xfrm>
            <a:off x="749808" y="3419856"/>
            <a:ext cx="10680192" cy="274320"/>
          </a:xfrm>
          <a:prstGeom prst="rect">
            <a:avLst/>
          </a:prstGeom>
          <a:noFill/>
          <a:ln/>
        </p:spPr>
        <p:txBody>
          <a:bodyPr wrap="square" rtlCol="0" anchor="ctr"/>
          <a:lstStyle/>
          <a:p>
            <a:pPr indent="0" marL="0">
              <a:buNone/>
            </a:pPr>
            <a:r>
              <a:rPr lang="en-US" sz="1500" dirty="0">
                <a:solidFill>
                  <a:srgbClr val="202124"/>
                </a:solidFill>
                <a:latin typeface="Arial" pitchFamily="34" charset="0"/>
                <a:ea typeface="Arial" pitchFamily="34" charset="-122"/>
                <a:cs typeface="Arial" pitchFamily="34" charset="-120"/>
              </a:rPr>
              <a:t>Use case</a:t>
            </a:r>
            <a:endParaRPr lang="en-US" sz="1500" dirty="0"/>
          </a:p>
        </p:txBody>
      </p:sp>
      <p:sp>
        <p:nvSpPr>
          <p:cNvPr id="11" name="Text 9"/>
          <p:cNvSpPr/>
          <p:nvPr/>
        </p:nvSpPr>
        <p:spPr>
          <a:xfrm>
            <a:off x="749808" y="3712464"/>
            <a:ext cx="10680192" cy="237744"/>
          </a:xfrm>
          <a:prstGeom prst="rect">
            <a:avLst/>
          </a:prstGeom>
          <a:noFill/>
          <a:ln/>
        </p:spPr>
        <p:txBody>
          <a:bodyPr wrap="square" rtlCol="0" anchor="ctr"/>
          <a:lstStyle/>
          <a:p>
            <a:pPr indent="0" marL="0">
              <a:buNone/>
            </a:pPr>
            <a:r>
              <a:rPr lang="en-US" sz="1100" b="1" dirty="0">
                <a:solidFill>
                  <a:srgbClr val="202124"/>
                </a:solidFill>
                <a:latin typeface="Arial" pitchFamily="34" charset="0"/>
                <a:ea typeface="Arial" pitchFamily="34" charset="-122"/>
                <a:cs typeface="Arial" pitchFamily="34" charset="-120"/>
              </a:rPr>
              <a:t>Live Google Cloud Console, Cloud Shell SSH &amp; BigQuery Audit Verification Runbook</a:t>
            </a:r>
            <a:endParaRPr lang="en-US" sz="1100" dirty="0"/>
          </a:p>
        </p:txBody>
      </p:sp>
      <p:sp>
        <p:nvSpPr>
          <p:cNvPr id="12" name="Text 10"/>
          <p:cNvSpPr/>
          <p:nvPr/>
        </p:nvSpPr>
        <p:spPr>
          <a:xfrm>
            <a:off x="749808" y="3986784"/>
            <a:ext cx="10680192" cy="749808"/>
          </a:xfrm>
          <a:prstGeom prst="rect">
            <a:avLst/>
          </a:prstGeom>
          <a:noFill/>
          <a:ln/>
        </p:spPr>
        <p:txBody>
          <a:bodyPr wrap="square" rtlCol="0" anchor="t">
            <a:normAutofit/>
          </a:bodyPr>
          <a:lstStyle/>
          <a:p>
            <a:pPr indent="0" marL="0">
              <a:lnSpc>
                <a:spcPct val="114000"/>
              </a:lnSpc>
              <a:buNone/>
            </a:pPr>
            <a:r>
              <a:rPr lang="en-US" sz="840" dirty="0">
                <a:solidFill>
                  <a:srgbClr val="3C4043"/>
                </a:solidFill>
                <a:latin typeface="Arial" pitchFamily="34" charset="0"/>
                <a:ea typeface="Arial" pitchFamily="34" charset="-122"/>
                <a:cs typeface="Arial" pitchFamily="34" charset="-120"/>
              </a:rPr>
              <a:t>Every security control in the 10-point red-team suite is backed by deterministic audit receipts in BigQuery and Cloud Logging across ramp-portal-dev and nitina-ggarwal-sandbox-647724.</a:t>
            </a:r>
            <a:endParaRPr lang="en-US" sz="840" dirty="0"/>
          </a:p>
        </p:txBody>
      </p:sp>
      <p:sp>
        <p:nvSpPr>
          <p:cNvPr id="13" name="Text 11"/>
          <p:cNvSpPr/>
          <p:nvPr/>
        </p:nvSpPr>
        <p:spPr>
          <a:xfrm>
            <a:off x="749808" y="4773168"/>
            <a:ext cx="10680192" cy="201168"/>
          </a:xfrm>
          <a:prstGeom prst="rect">
            <a:avLst/>
          </a:prstGeom>
          <a:noFill/>
          <a:ln/>
        </p:spPr>
        <p:txBody>
          <a:bodyPr wrap="square" rtlCol="0" anchor="ctr"/>
          <a:lstStyle/>
          <a:p>
            <a:pPr indent="0" marL="0">
              <a:buNone/>
            </a:pPr>
            <a:r>
              <a:rPr lang="en-US" sz="860" dirty="0">
                <a:solidFill>
                  <a:srgbClr val="3C4043"/>
                </a:solidFill>
                <a:latin typeface="Arial" pitchFamily="34" charset="0"/>
                <a:ea typeface="Arial" pitchFamily="34" charset="-122"/>
                <a:cs typeface="Arial" pitchFamily="34" charset="-120"/>
              </a:rPr>
              <a:t>For this use case, the architecture provides the following benefits:</a:t>
            </a:r>
            <a:endParaRPr lang="en-US" sz="860" dirty="0"/>
          </a:p>
        </p:txBody>
      </p:sp>
      <p:sp>
        <p:nvSpPr>
          <p:cNvPr id="14" name="Text 12"/>
          <p:cNvSpPr/>
          <p:nvPr/>
        </p:nvSpPr>
        <p:spPr>
          <a:xfrm>
            <a:off x="877824" y="5010912"/>
            <a:ext cx="10552176" cy="1481328"/>
          </a:xfrm>
          <a:prstGeom prst="rect">
            <a:avLst/>
          </a:prstGeom>
          <a:noFill/>
          <a:ln/>
        </p:spPr>
        <p:txBody>
          <a:bodyPr wrap="square" rtlCol="0" anchor="t">
            <a:normAutofit/>
          </a:bodyPr>
          <a:lstStyle/>
          <a:p>
            <a:pPr indent="0" marL="0">
              <a:lnSpc>
                <a:spcPct val="116000"/>
              </a:lnSpc>
              <a:buNone/>
            </a:pPr>
            <a:r>
              <a:rPr lang="en-US" sz="800" b="1" dirty="0">
                <a:solidFill>
                  <a:srgbClr val="202124"/>
                </a:solidFill>
                <a:latin typeface="Arial" pitchFamily="34" charset="0"/>
                <a:ea typeface="Arial" pitchFamily="34" charset="-122"/>
                <a:cs typeface="Arial" pitchFamily="34" charset="-120"/>
              </a:rPr>
              <a:t>•  Strict data isolation: </a:t>
            </a:r>
            <a:pPr indent="0" marL="0">
              <a:lnSpc>
                <a:spcPct val="116000"/>
              </a:lnSpc>
              <a:buNone/>
            </a:pPr>
            <a:r>
              <a:rPr lang="en-US" sz="780" dirty="0">
                <a:solidFill>
                  <a:srgbClr val="3C4043"/>
                </a:solidFill>
                <a:latin typeface="Arial" pitchFamily="34" charset="0"/>
                <a:ea typeface="Arial" pitchFamily="34" charset="-122"/>
                <a:cs typeface="Arial" pitchFamily="34" charset="-120"/>
              </a:rPr>
              <a:t>Enforces deterministic tenant and domain boundaries via VPC • Zero-Trust 5-Hop Enforcement Pipeline and Zero Raw PII Egress, preventing cross-spoke state or credential leakage.
</a:t>
            </a:r>
            <a:pPr indent="0" marL="0">
              <a:lnSpc>
                <a:spcPct val="116000"/>
              </a:lnSpc>
              <a:buNone/>
            </a:pPr>
            <a:r>
              <a:rPr lang="en-US" sz="800" b="1" dirty="0">
                <a:solidFill>
                  <a:srgbClr val="202124"/>
                </a:solidFill>
                <a:latin typeface="Arial" pitchFamily="34" charset="0"/>
                <a:ea typeface="Arial" pitchFamily="34" charset="-122"/>
                <a:cs typeface="Arial" pitchFamily="34" charset="-120"/>
              </a:rPr>
              <a:t>•  Perimeter &amp; ingress defense: </a:t>
            </a:r>
            <a:pPr indent="0" marL="0">
              <a:lnSpc>
                <a:spcPct val="116000"/>
              </a:lnSpc>
              <a:buNone/>
            </a:pPr>
            <a:r>
              <a:rPr lang="en-US" sz="780" dirty="0">
                <a:solidFill>
                  <a:srgbClr val="3C4043"/>
                </a:solidFill>
                <a:latin typeface="Arial" pitchFamily="34" charset="0"/>
                <a:ea typeface="Arial" pitchFamily="34" charset="-122"/>
                <a:cs typeface="Arial" pitchFamily="34" charset="-120"/>
              </a:rPr>
              <a:t>Screens all incoming traffic through Vector 1: Cloud Armor and Vector 2: Agent 403 before reaching Hop 2 Catalog PDP.
</a:t>
            </a:r>
            <a:pPr indent="0" marL="0">
              <a:lnSpc>
                <a:spcPct val="116000"/>
              </a:lnSpc>
              <a:buNone/>
            </a:pPr>
            <a:r>
              <a:rPr lang="en-US" sz="800" b="1" dirty="0">
                <a:solidFill>
                  <a:srgbClr val="202124"/>
                </a:solidFill>
                <a:latin typeface="Arial" pitchFamily="34" charset="0"/>
                <a:ea typeface="Arial" pitchFamily="34" charset="-122"/>
                <a:cs typeface="Arial" pitchFamily="34" charset="-120"/>
              </a:rPr>
              <a:t>•  Deterministic agent orchestration: </a:t>
            </a:r>
            <a:pPr indent="0" marL="0">
              <a:lnSpc>
                <a:spcPct val="116000"/>
              </a:lnSpc>
              <a:buNone/>
            </a:pPr>
            <a:r>
              <a:rPr lang="en-US" sz="780" dirty="0">
                <a:solidFill>
                  <a:srgbClr val="3C4043"/>
                </a:solidFill>
                <a:latin typeface="Arial" pitchFamily="34" charset="0"/>
                <a:ea typeface="Arial" pitchFamily="34" charset="-122"/>
                <a:cs typeface="Arial" pitchFamily="34" charset="-120"/>
              </a:rPr>
              <a:t>Pairs Vertex AI Agent Engine with Vector 4: HTTP 400 and Vector 8: SDP Mask.
</a:t>
            </a:r>
            <a:pPr indent="0" marL="0">
              <a:lnSpc>
                <a:spcPct val="116000"/>
              </a:lnSpc>
              <a:buNone/>
            </a:pPr>
            <a:r>
              <a:rPr lang="en-US" sz="800" b="1" dirty="0">
                <a:solidFill>
                  <a:srgbClr val="202124"/>
                </a:solidFill>
                <a:latin typeface="Arial" pitchFamily="34" charset="0"/>
                <a:ea typeface="Arial" pitchFamily="34" charset="-122"/>
                <a:cs typeface="Arial" pitchFamily="34" charset="-120"/>
              </a:rPr>
              <a:t>•  Centralized governance &amp; cost attribution: </a:t>
            </a:r>
            <a:pPr indent="0" marL="0">
              <a:lnSpc>
                <a:spcPct val="116000"/>
              </a:lnSpc>
              <a:buNone/>
            </a:pPr>
            <a:r>
              <a:rPr lang="en-US" sz="780" dirty="0">
                <a:solidFill>
                  <a:srgbClr val="3C4043"/>
                </a:solidFill>
                <a:latin typeface="Arial" pitchFamily="34" charset="0"/>
                <a:ea typeface="Arial" pitchFamily="34" charset="-122"/>
                <a:cs typeface="Arial" pitchFamily="34" charset="-120"/>
              </a:rPr>
              <a:t>Streams zero-PII audit logs and OpenTelemetry token spans into BigQuery OTel Audit and Vector 6: Valkey 429 &amp; 4k Token Clamp.</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6 of 6 • Red-Team Verification &amp; Runbook  ›  Design alternatives  &amp;  Design considerations</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DOC-MT-06  ·  Page 5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Design alternatives</a:t>
            </a:r>
            <a:endParaRPr lang="en-US" sz="1450" dirty="0"/>
          </a:p>
        </p:txBody>
      </p:sp>
      <p:sp>
        <p:nvSpPr>
          <p:cNvPr id="7" name="Text 5"/>
          <p:cNvSpPr/>
          <p:nvPr/>
        </p:nvSpPr>
        <p:spPr>
          <a:xfrm>
            <a:off x="749808" y="914400"/>
            <a:ext cx="10680192" cy="1810512"/>
          </a:xfrm>
          <a:prstGeom prst="rect">
            <a:avLst/>
          </a:prstGeom>
          <a:noFill/>
          <a:ln/>
        </p:spPr>
        <p:txBody>
          <a:bodyPr wrap="square" rtlCol="0" anchor="t">
            <a:normAutofit/>
          </a:bodyPr>
          <a:lstStyle/>
          <a:p>
            <a:pPr indent="0" marL="0">
              <a:lnSpc>
                <a:spcPct val="112000"/>
              </a:lnSpc>
              <a:buNone/>
            </a:pPr>
            <a:r>
              <a:rPr lang="en-US" sz="810" b="1" dirty="0">
                <a:solidFill>
                  <a:srgbClr val="202124"/>
                </a:solidFill>
                <a:latin typeface="Arial" pitchFamily="34" charset="0"/>
                <a:ea typeface="Arial" pitchFamily="34" charset="-122"/>
                <a:cs typeface="Arial" pitchFamily="34" charset="-120"/>
              </a:rPr>
              <a:t>Private access deployment &amp; network isolation — </a:t>
            </a:r>
            <a:pPr indent="0" marL="0">
              <a:lnSpc>
                <a:spcPct val="112000"/>
              </a:lnSpc>
              <a:buNone/>
            </a:pPr>
            <a:r>
              <a:rPr lang="en-US" sz="780" dirty="0">
                <a:solidFill>
                  <a:srgbClr val="3C4043"/>
                </a:solidFill>
                <a:latin typeface="Arial" pitchFamily="34" charset="0"/>
                <a:ea typeface="Arial" pitchFamily="34" charset="-122"/>
                <a:cs typeface="Arial" pitchFamily="34" charset="-120"/>
              </a:rPr>
              <a:t>The baseline topology routes traffic through External Application Load Balancer and Hop 2 Catalog PDP under Adversarial Breach Verification Harness.
</a:t>
            </a:r>
            <a:pPr indent="0" marL="0">
              <a:lnSpc>
                <a:spcPct val="112000"/>
              </a:lnSpc>
              <a:buNone/>
            </a:pPr>
            <a:r>
              <a:rPr lang="en-US" sz="750" b="1" dirty="0">
                <a:solidFill>
                  <a:srgbClr val="202124"/>
                </a:solidFill>
                <a:latin typeface="Arial" pitchFamily="34" charset="0"/>
                <a:ea typeface="Arial" pitchFamily="34" charset="-122"/>
                <a:cs typeface="Arial" pitchFamily="34" charset="-120"/>
              </a:rPr>
              <a:t>    •  External vs. internal private ingress: </a:t>
            </a:r>
            <a:pPr indent="0" marL="0">
              <a:lnSpc>
                <a:spcPct val="112000"/>
              </a:lnSpc>
              <a:buNone/>
            </a:pPr>
            <a:r>
              <a:rPr lang="en-US" sz="740" dirty="0">
                <a:solidFill>
                  <a:srgbClr val="3C4043"/>
                </a:solidFill>
                <a:latin typeface="Arial" pitchFamily="34" charset="0"/>
                <a:ea typeface="Arial" pitchFamily="34" charset="-122"/>
                <a:cs typeface="Arial" pitchFamily="34" charset="-120"/>
              </a:rPr>
              <a:t>For internet-facing workloads, retain the global External Application Load Balancer with Vector 1: Cloud Armor and Vector 2: Agent 403.
</a:t>
            </a:r>
            <a:pPr indent="0" marL="0">
              <a:lnSpc>
                <a:spcPct val="112000"/>
              </a:lnSpc>
              <a:buNone/>
            </a:pPr>
            <a:r>
              <a:rPr lang="en-US" sz="810" b="1" dirty="0">
                <a:solidFill>
                  <a:srgbClr val="202124"/>
                </a:solidFill>
                <a:latin typeface="Arial" pitchFamily="34" charset="0"/>
                <a:ea typeface="Arial" pitchFamily="34" charset="-122"/>
                <a:cs typeface="Arial" pitchFamily="34" charset="-120"/>
              </a:rPr>
              <a:t>Vertex AI Agent Engine &amp; Vector 8: SDP Mask placement — </a:t>
            </a:r>
            <a:pPr indent="0" marL="0">
              <a:lnSpc>
                <a:spcPct val="112000"/>
              </a:lnSpc>
              <a:buNone/>
            </a:pPr>
            <a:r>
              <a:rPr lang="en-US" sz="780" dirty="0">
                <a:solidFill>
                  <a:srgbClr val="3C4043"/>
                </a:solidFill>
                <a:latin typeface="Arial" pitchFamily="34" charset="0"/>
                <a:ea typeface="Arial" pitchFamily="34" charset="-122"/>
                <a:cs typeface="Arial" pitchFamily="34" charset="-120"/>
              </a:rPr>
              <a:t>Each execution spoke pairs Vertex AI Agent Engine with Vector 8: SDP Mask and Zero Raw PII Egress.
</a:t>
            </a:r>
            <a:pPr indent="0" marL="0">
              <a:lnSpc>
                <a:spcPct val="112000"/>
              </a:lnSpc>
              <a:buNone/>
            </a:pPr>
            <a:r>
              <a:rPr lang="en-US" sz="750" b="1" dirty="0">
                <a:solidFill>
                  <a:srgbClr val="202124"/>
                </a:solidFill>
                <a:latin typeface="Arial" pitchFamily="34" charset="0"/>
                <a:ea typeface="Arial" pitchFamily="34" charset="-122"/>
                <a:cs typeface="Arial" pitchFamily="34" charset="-120"/>
              </a:rPr>
              <a:t>    •  Dedicated spoke vs. shared tool gateways: </a:t>
            </a:r>
            <a:pPr indent="0" marL="0">
              <a:lnSpc>
                <a:spcPct val="112000"/>
              </a:lnSpc>
              <a:buNone/>
            </a:pPr>
            <a:r>
              <a:rPr lang="en-US" sz="740" dirty="0">
                <a:solidFill>
                  <a:srgbClr val="3C4043"/>
                </a:solidFill>
                <a:latin typeface="Arial" pitchFamily="34" charset="0"/>
                <a:ea typeface="Arial" pitchFamily="34" charset="-122"/>
                <a:cs typeface="Arial" pitchFamily="34" charset="-120"/>
              </a:rPr>
              <a:t>Spoke-local Vector 8: SDP Mask: Maximizes blast-radius containment by keeping credentials, service accounts, and data access strictly inside Hop.; Shared enterprise tool gateway: Consolidates stateless, non-tenant-specific MCP tools into a central hub project via Private Service Connect.
</a:t>
            </a:r>
            <a:endParaRPr lang="en-US" sz="810" dirty="0"/>
          </a:p>
        </p:txBody>
      </p:sp>
      <p:sp>
        <p:nvSpPr>
          <p:cNvPr id="8" name="Shape 6"/>
          <p:cNvSpPr/>
          <p:nvPr/>
        </p:nvSpPr>
        <p:spPr>
          <a:xfrm>
            <a:off x="749808" y="2779776"/>
            <a:ext cx="10680192" cy="0"/>
          </a:xfrm>
          <a:prstGeom prst="line">
            <a:avLst/>
          </a:prstGeom>
          <a:noFill/>
          <a:ln w="9525">
            <a:solidFill>
              <a:srgbClr val="DADCE0"/>
            </a:solidFill>
            <a:prstDash val="solid"/>
          </a:ln>
        </p:spPr>
      </p:sp>
      <p:sp>
        <p:nvSpPr>
          <p:cNvPr id="9" name="Text 7"/>
          <p:cNvSpPr/>
          <p:nvPr/>
        </p:nvSpPr>
        <p:spPr>
          <a:xfrm>
            <a:off x="749808" y="2852928"/>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Design considerations</a:t>
            </a:r>
            <a:endParaRPr lang="en-US" sz="1450" dirty="0"/>
          </a:p>
        </p:txBody>
      </p:sp>
      <p:sp>
        <p:nvSpPr>
          <p:cNvPr id="10" name="Text 8"/>
          <p:cNvSpPr/>
          <p:nvPr/>
        </p:nvSpPr>
        <p:spPr>
          <a:xfrm>
            <a:off x="749808" y="3127248"/>
            <a:ext cx="10680192" cy="201168"/>
          </a:xfrm>
          <a:prstGeom prst="rect">
            <a:avLst/>
          </a:prstGeom>
          <a:noFill/>
          <a:ln/>
        </p:spPr>
        <p:txBody>
          <a:bodyPr wrap="square" rtlCol="0" anchor="ctr"/>
          <a:lstStyle/>
          <a:p>
            <a:pPr indent="0" marL="0">
              <a:buNone/>
            </a:pPr>
            <a:r>
              <a:rPr lang="en-US" sz="820" dirty="0">
                <a:solidFill>
                  <a:srgbClr val="3C4043"/>
                </a:solidFill>
                <a:latin typeface="Arial" pitchFamily="34" charset="0"/>
                <a:ea typeface="Arial" pitchFamily="34" charset="-122"/>
                <a:cs typeface="Arial" pitchFamily="34" charset="-120"/>
              </a:rPr>
              <a:t>This section aligns the reference architecture with the Google Cloud Well-Architected Framework across security, reliability, operational excellence, and cost optimization, alongside production failure-mode mitigations.</a:t>
            </a:r>
            <a:endParaRPr lang="en-US" sz="820" dirty="0"/>
          </a:p>
        </p:txBody>
      </p:sp>
      <p:sp>
        <p:nvSpPr>
          <p:cNvPr id="11" name="Shape 9"/>
          <p:cNvSpPr/>
          <p:nvPr/>
        </p:nvSpPr>
        <p:spPr>
          <a:xfrm>
            <a:off x="749808" y="3364992"/>
            <a:ext cx="2048256" cy="256032"/>
          </a:xfrm>
          <a:prstGeom prst="rect">
            <a:avLst/>
          </a:prstGeom>
          <a:solidFill>
            <a:srgbClr val="F8F9FA"/>
          </a:solidFill>
          <a:ln w="9525">
            <a:solidFill>
              <a:srgbClr val="DADCE0"/>
            </a:solidFill>
            <a:prstDash val="solid"/>
          </a:ln>
        </p:spPr>
      </p:sp>
      <p:sp>
        <p:nvSpPr>
          <p:cNvPr id="12" name="Text 10"/>
          <p:cNvSpPr/>
          <p:nvPr/>
        </p:nvSpPr>
        <p:spPr>
          <a:xfrm>
            <a:off x="841248" y="3364992"/>
            <a:ext cx="1865376"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Well-Architected pillar</a:t>
            </a:r>
            <a:endParaRPr lang="en-US" sz="800" dirty="0"/>
          </a:p>
        </p:txBody>
      </p:sp>
      <p:sp>
        <p:nvSpPr>
          <p:cNvPr id="13" name="Shape 11"/>
          <p:cNvSpPr/>
          <p:nvPr/>
        </p:nvSpPr>
        <p:spPr>
          <a:xfrm>
            <a:off x="2798064" y="3364992"/>
            <a:ext cx="2322576" cy="256032"/>
          </a:xfrm>
          <a:prstGeom prst="rect">
            <a:avLst/>
          </a:prstGeom>
          <a:solidFill>
            <a:srgbClr val="F8F9FA"/>
          </a:solidFill>
          <a:ln w="9525">
            <a:solidFill>
              <a:srgbClr val="DADCE0"/>
            </a:solidFill>
            <a:prstDash val="solid"/>
          </a:ln>
        </p:spPr>
      </p:sp>
      <p:sp>
        <p:nvSpPr>
          <p:cNvPr id="14" name="Text 12"/>
          <p:cNvSpPr/>
          <p:nvPr/>
        </p:nvSpPr>
        <p:spPr>
          <a:xfrm>
            <a:off x="2889504" y="3364992"/>
            <a:ext cx="2139696"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Component</a:t>
            </a:r>
            <a:endParaRPr lang="en-US" sz="800" dirty="0"/>
          </a:p>
        </p:txBody>
      </p:sp>
      <p:sp>
        <p:nvSpPr>
          <p:cNvPr id="15" name="Shape 13"/>
          <p:cNvSpPr/>
          <p:nvPr/>
        </p:nvSpPr>
        <p:spPr>
          <a:xfrm>
            <a:off x="5120640" y="3364992"/>
            <a:ext cx="6309360" cy="256032"/>
          </a:xfrm>
          <a:prstGeom prst="rect">
            <a:avLst/>
          </a:prstGeom>
          <a:solidFill>
            <a:srgbClr val="F8F9FA"/>
          </a:solidFill>
          <a:ln w="9525">
            <a:solidFill>
              <a:srgbClr val="DADCE0"/>
            </a:solidFill>
            <a:prstDash val="solid"/>
          </a:ln>
        </p:spPr>
      </p:sp>
      <p:sp>
        <p:nvSpPr>
          <p:cNvPr id="16" name="Text 14"/>
          <p:cNvSpPr/>
          <p:nvPr/>
        </p:nvSpPr>
        <p:spPr>
          <a:xfrm>
            <a:off x="5212080" y="3364992"/>
            <a:ext cx="6126480"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Design considerations and recommendations</a:t>
            </a:r>
            <a:endParaRPr lang="en-US" sz="800" dirty="0"/>
          </a:p>
        </p:txBody>
      </p:sp>
      <p:sp>
        <p:nvSpPr>
          <p:cNvPr id="17" name="Shape 15"/>
          <p:cNvSpPr/>
          <p:nvPr/>
        </p:nvSpPr>
        <p:spPr>
          <a:xfrm>
            <a:off x="749808" y="3621024"/>
            <a:ext cx="2048256" cy="722376"/>
          </a:xfrm>
          <a:prstGeom prst="rect">
            <a:avLst/>
          </a:prstGeom>
          <a:solidFill>
            <a:srgbClr val="FFFFFF"/>
          </a:solidFill>
          <a:ln w="9525">
            <a:solidFill>
              <a:srgbClr val="DADCE0"/>
            </a:solidFill>
            <a:prstDash val="solid"/>
          </a:ln>
        </p:spPr>
      </p:sp>
      <p:sp>
        <p:nvSpPr>
          <p:cNvPr id="18" name="Text 16"/>
          <p:cNvSpPr/>
          <p:nvPr/>
        </p:nvSpPr>
        <p:spPr>
          <a:xfrm>
            <a:off x="841248" y="3648456"/>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Security, privacy, and compliance</a:t>
            </a:r>
            <a:endParaRPr lang="en-US" sz="780" dirty="0"/>
          </a:p>
        </p:txBody>
      </p:sp>
      <p:sp>
        <p:nvSpPr>
          <p:cNvPr id="19" name="Shape 17"/>
          <p:cNvSpPr/>
          <p:nvPr/>
        </p:nvSpPr>
        <p:spPr>
          <a:xfrm>
            <a:off x="2798064" y="3621024"/>
            <a:ext cx="2322576" cy="722376"/>
          </a:xfrm>
          <a:prstGeom prst="rect">
            <a:avLst/>
          </a:prstGeom>
          <a:solidFill>
            <a:srgbClr val="FFFFFF"/>
          </a:solidFill>
          <a:ln w="9525">
            <a:solidFill>
              <a:srgbClr val="DADCE0"/>
            </a:solidFill>
            <a:prstDash val="solid"/>
          </a:ln>
        </p:spPr>
      </p:sp>
      <p:sp>
        <p:nvSpPr>
          <p:cNvPr id="20" name="Text 18"/>
          <p:cNvSpPr/>
          <p:nvPr/>
        </p:nvSpPr>
        <p:spPr>
          <a:xfrm>
            <a:off x="2889504" y="3648456"/>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VPC Service Controls &amp; Access Boundaries</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Vector 1: Cloud Armor &amp; Vector 2: Agent 403 &amp; Vector 4: HTTP 400</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Zero Raw PII Egress &amp; Vector 10: Inline 3LO</a:t>
            </a:r>
            <a:endParaRPr lang="en-US" sz="710" dirty="0"/>
          </a:p>
        </p:txBody>
      </p:sp>
      <p:sp>
        <p:nvSpPr>
          <p:cNvPr id="21" name="Shape 19"/>
          <p:cNvSpPr/>
          <p:nvPr/>
        </p:nvSpPr>
        <p:spPr>
          <a:xfrm>
            <a:off x="5120640" y="3621024"/>
            <a:ext cx="6309360" cy="722376"/>
          </a:xfrm>
          <a:prstGeom prst="rect">
            <a:avLst/>
          </a:prstGeom>
          <a:solidFill>
            <a:srgbClr val="FFFFFF"/>
          </a:solidFill>
          <a:ln w="9525">
            <a:solidFill>
              <a:srgbClr val="DADCE0"/>
            </a:solidFill>
            <a:prstDash val="solid"/>
          </a:ln>
        </p:spPr>
      </p:sp>
      <p:sp>
        <p:nvSpPr>
          <p:cNvPr id="22" name="Text 20"/>
          <p:cNvSpPr/>
          <p:nvPr/>
        </p:nvSpPr>
        <p:spPr>
          <a:xfrm>
            <a:off x="5230368" y="3648456"/>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VPC Service Controls &amp; Access Boundaries: </a:t>
            </a:r>
            <a:pPr indent="0" marL="0">
              <a:buNone/>
            </a:pPr>
            <a:r>
              <a:rPr lang="en-US" sz="690" dirty="0">
                <a:solidFill>
                  <a:srgbClr val="3C4043"/>
                </a:solidFill>
                <a:latin typeface="Arial" pitchFamily="34" charset="0"/>
                <a:ea typeface="Arial" pitchFamily="34" charset="-122"/>
                <a:cs typeface="Arial" pitchFamily="34" charset="-120"/>
              </a:rPr>
              <a:t>Enforce VPC Service Controls perimeters around hub and spoke projects to block unauthorized data exfiltration, and bind Principal Access Boundary (PAB) policies to spoke principals.
</a:t>
            </a:r>
            <a:pPr indent="0" marL="0">
              <a:buNone/>
            </a:pPr>
            <a:r>
              <a:rPr lang="en-US" sz="700" b="1" dirty="0">
                <a:solidFill>
                  <a:srgbClr val="202124"/>
                </a:solidFill>
                <a:latin typeface="Arial" pitchFamily="34" charset="0"/>
                <a:ea typeface="Arial" pitchFamily="34" charset="-122"/>
                <a:cs typeface="Arial" pitchFamily="34" charset="-120"/>
              </a:rPr>
              <a:t>• Vector 1: Cloud Armor &amp; Vector 2: Agent 403 &amp; Vector 4: HTTP 400: </a:t>
            </a:r>
            <a:pPr indent="0" marL="0">
              <a:buNone/>
            </a:pPr>
            <a:r>
              <a:rPr lang="en-US" sz="690" dirty="0">
                <a:solidFill>
                  <a:srgbClr val="3C4043"/>
                </a:solidFill>
                <a:latin typeface="Arial" pitchFamily="34" charset="0"/>
                <a:ea typeface="Arial" pitchFamily="34" charset="-122"/>
                <a:cs typeface="Arial" pitchFamily="34" charset="-120"/>
              </a:rPr>
              <a:t>Strip client-supplied privilege headers at the edge, verify caller identity claims, and screen prompts and completions with Vector 4: HTTP 400.
</a:t>
            </a:r>
            <a:pPr indent="0" marL="0">
              <a:buNone/>
            </a:pPr>
            <a:r>
              <a:rPr lang="en-US" sz="700" b="1" dirty="0">
                <a:solidFill>
                  <a:srgbClr val="202124"/>
                </a:solidFill>
                <a:latin typeface="Arial" pitchFamily="34" charset="0"/>
                <a:ea typeface="Arial" pitchFamily="34" charset="-122"/>
                <a:cs typeface="Arial" pitchFamily="34" charset="-120"/>
              </a:rPr>
              <a:t>• Zero Raw PII Egress &amp; Vector 10: Inline 3LO: </a:t>
            </a:r>
            <a:pPr indent="0" marL="0">
              <a:buNone/>
            </a:pPr>
            <a:r>
              <a:rPr lang="en-US" sz="690" dirty="0">
                <a:solidFill>
                  <a:srgbClr val="3C4043"/>
                </a:solidFill>
                <a:latin typeface="Arial" pitchFamily="34" charset="0"/>
                <a:ea typeface="Arial" pitchFamily="34" charset="-122"/>
                <a:cs typeface="Arial" pitchFamily="34" charset="-120"/>
              </a:rPr>
              <a:t>Encrypt state at rest with Customer-Managed Encryption Keys and enforce least-privilege access scopes on Zero Raw PII Egress.</a:t>
            </a:r>
            <a:endParaRPr lang="en-US" sz="700" dirty="0"/>
          </a:p>
        </p:txBody>
      </p:sp>
      <p:sp>
        <p:nvSpPr>
          <p:cNvPr id="23" name="Shape 21"/>
          <p:cNvSpPr/>
          <p:nvPr/>
        </p:nvSpPr>
        <p:spPr>
          <a:xfrm>
            <a:off x="749808" y="4343400"/>
            <a:ext cx="2048256" cy="722376"/>
          </a:xfrm>
          <a:prstGeom prst="rect">
            <a:avLst/>
          </a:prstGeom>
          <a:solidFill>
            <a:srgbClr val="FFFFFF"/>
          </a:solidFill>
          <a:ln w="9525">
            <a:solidFill>
              <a:srgbClr val="DADCE0"/>
            </a:solidFill>
            <a:prstDash val="solid"/>
          </a:ln>
        </p:spPr>
      </p:sp>
      <p:sp>
        <p:nvSpPr>
          <p:cNvPr id="24" name="Text 22"/>
          <p:cNvSpPr/>
          <p:nvPr/>
        </p:nvSpPr>
        <p:spPr>
          <a:xfrm>
            <a:off x="841248" y="4370832"/>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Reliability</a:t>
            </a:r>
            <a:endParaRPr lang="en-US" sz="780" dirty="0"/>
          </a:p>
        </p:txBody>
      </p:sp>
      <p:sp>
        <p:nvSpPr>
          <p:cNvPr id="25" name="Shape 23"/>
          <p:cNvSpPr/>
          <p:nvPr/>
        </p:nvSpPr>
        <p:spPr>
          <a:xfrm>
            <a:off x="2798064" y="4343400"/>
            <a:ext cx="2322576" cy="722376"/>
          </a:xfrm>
          <a:prstGeom prst="rect">
            <a:avLst/>
          </a:prstGeom>
          <a:solidFill>
            <a:srgbClr val="FFFFFF"/>
          </a:solidFill>
          <a:ln w="9525">
            <a:solidFill>
              <a:srgbClr val="DADCE0"/>
            </a:solidFill>
            <a:prstDash val="solid"/>
          </a:ln>
        </p:spPr>
      </p:sp>
      <p:sp>
        <p:nvSpPr>
          <p:cNvPr id="26" name="Text 24"/>
          <p:cNvSpPr/>
          <p:nvPr/>
        </p:nvSpPr>
        <p:spPr>
          <a:xfrm>
            <a:off x="2889504" y="4370832"/>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External Application Load Balancer &amp; Hop 2 Catalog PDP</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Vertex AI Agent Engine &amp; Vector 8: SDP Mask</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Zero Raw PII Egress</a:t>
            </a:r>
            <a:endParaRPr lang="en-US" sz="710" dirty="0"/>
          </a:p>
        </p:txBody>
      </p:sp>
      <p:sp>
        <p:nvSpPr>
          <p:cNvPr id="27" name="Shape 25"/>
          <p:cNvSpPr/>
          <p:nvPr/>
        </p:nvSpPr>
        <p:spPr>
          <a:xfrm>
            <a:off x="5120640" y="4343400"/>
            <a:ext cx="6309360" cy="722376"/>
          </a:xfrm>
          <a:prstGeom prst="rect">
            <a:avLst/>
          </a:prstGeom>
          <a:solidFill>
            <a:srgbClr val="FFFFFF"/>
          </a:solidFill>
          <a:ln w="9525">
            <a:solidFill>
              <a:srgbClr val="DADCE0"/>
            </a:solidFill>
            <a:prstDash val="solid"/>
          </a:ln>
        </p:spPr>
      </p:sp>
      <p:sp>
        <p:nvSpPr>
          <p:cNvPr id="28" name="Text 26"/>
          <p:cNvSpPr/>
          <p:nvPr/>
        </p:nvSpPr>
        <p:spPr>
          <a:xfrm>
            <a:off x="5230368" y="4370832"/>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External Application Load Balancer &amp; Hop 2 Catalog PDP: </a:t>
            </a:r>
            <a:pPr indent="0" marL="0">
              <a:buNone/>
            </a:pPr>
            <a:r>
              <a:rPr lang="en-US" sz="690" dirty="0">
                <a:solidFill>
                  <a:srgbClr val="3C4043"/>
                </a:solidFill>
                <a:latin typeface="Arial" pitchFamily="34" charset="0"/>
                <a:ea typeface="Arial" pitchFamily="34" charset="-122"/>
                <a:cs typeface="Arial" pitchFamily="34" charset="-120"/>
              </a:rPr>
              <a:t>Deploy Hop 2 Catalog PDP across multi-region serverless Network Endpoint Groups (NEGs) with minimum warm instances to eliminate cold-start latency spikes.
</a:t>
            </a:r>
            <a:pPr indent="0" marL="0">
              <a:buNone/>
            </a:pPr>
            <a:r>
              <a:rPr lang="en-US" sz="700" b="1" dirty="0">
                <a:solidFill>
                  <a:srgbClr val="202124"/>
                </a:solidFill>
                <a:latin typeface="Arial" pitchFamily="34" charset="0"/>
                <a:ea typeface="Arial" pitchFamily="34" charset="-122"/>
                <a:cs typeface="Arial" pitchFamily="34" charset="-120"/>
              </a:rPr>
              <a:t>• Vertex AI Agent Engine &amp; Vector 8: SDP Mask: </a:t>
            </a:r>
            <a:pPr indent="0" marL="0">
              <a:buNone/>
            </a:pPr>
            <a:r>
              <a:rPr lang="en-US" sz="690" dirty="0">
                <a:solidFill>
                  <a:srgbClr val="3C4043"/>
                </a:solidFill>
                <a:latin typeface="Arial" pitchFamily="34" charset="0"/>
                <a:ea typeface="Arial" pitchFamily="34" charset="-122"/>
                <a:cs typeface="Arial" pitchFamily="34" charset="-120"/>
              </a:rPr>
              <a:t>Enforce bounded retry budgets with exponential backoff, per-tool execution timeouts, and stateless horizontal scaling on Vector 8: SDP Mask.
</a:t>
            </a:r>
            <a:pPr indent="0" marL="0">
              <a:buNone/>
            </a:pPr>
            <a:r>
              <a:rPr lang="en-US" sz="700" b="1" dirty="0">
                <a:solidFill>
                  <a:srgbClr val="202124"/>
                </a:solidFill>
                <a:latin typeface="Arial" pitchFamily="34" charset="0"/>
                <a:ea typeface="Arial" pitchFamily="34" charset="-122"/>
                <a:cs typeface="Arial" pitchFamily="34" charset="-120"/>
              </a:rPr>
              <a:t>• Zero Raw PII Egress: </a:t>
            </a:r>
            <a:pPr indent="0" marL="0">
              <a:buNone/>
            </a:pPr>
            <a:r>
              <a:rPr lang="en-US" sz="690" dirty="0">
                <a:solidFill>
                  <a:srgbClr val="3C4043"/>
                </a:solidFill>
                <a:latin typeface="Arial" pitchFamily="34" charset="0"/>
                <a:ea typeface="Arial" pitchFamily="34" charset="-122"/>
                <a:cs typeface="Arial" pitchFamily="34" charset="-120"/>
              </a:rPr>
              <a:t>Enable regional high availability and Point-in-Time Recovery on Zero Raw PII Egress with automated backup verification.</a:t>
            </a:r>
            <a:endParaRPr lang="en-US" sz="700" dirty="0"/>
          </a:p>
        </p:txBody>
      </p:sp>
      <p:sp>
        <p:nvSpPr>
          <p:cNvPr id="29" name="Shape 27"/>
          <p:cNvSpPr/>
          <p:nvPr/>
        </p:nvSpPr>
        <p:spPr>
          <a:xfrm>
            <a:off x="749808" y="5065776"/>
            <a:ext cx="2048256" cy="722376"/>
          </a:xfrm>
          <a:prstGeom prst="rect">
            <a:avLst/>
          </a:prstGeom>
          <a:solidFill>
            <a:srgbClr val="FFFFFF"/>
          </a:solidFill>
          <a:ln w="9525">
            <a:solidFill>
              <a:srgbClr val="DADCE0"/>
            </a:solidFill>
            <a:prstDash val="solid"/>
          </a:ln>
        </p:spPr>
      </p:sp>
      <p:sp>
        <p:nvSpPr>
          <p:cNvPr id="30" name="Text 28"/>
          <p:cNvSpPr/>
          <p:nvPr/>
        </p:nvSpPr>
        <p:spPr>
          <a:xfrm>
            <a:off x="841248" y="5093208"/>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Operational efficiency</a:t>
            </a:r>
            <a:endParaRPr lang="en-US" sz="780" dirty="0"/>
          </a:p>
        </p:txBody>
      </p:sp>
      <p:sp>
        <p:nvSpPr>
          <p:cNvPr id="31" name="Shape 29"/>
          <p:cNvSpPr/>
          <p:nvPr/>
        </p:nvSpPr>
        <p:spPr>
          <a:xfrm>
            <a:off x="2798064" y="5065776"/>
            <a:ext cx="2322576" cy="722376"/>
          </a:xfrm>
          <a:prstGeom prst="rect">
            <a:avLst/>
          </a:prstGeom>
          <a:solidFill>
            <a:srgbClr val="FFFFFF"/>
          </a:solidFill>
          <a:ln w="9525">
            <a:solidFill>
              <a:srgbClr val="DADCE0"/>
            </a:solidFill>
            <a:prstDash val="solid"/>
          </a:ln>
        </p:spPr>
      </p:sp>
      <p:sp>
        <p:nvSpPr>
          <p:cNvPr id="32" name="Text 30"/>
          <p:cNvSpPr/>
          <p:nvPr/>
        </p:nvSpPr>
        <p:spPr>
          <a:xfrm>
            <a:off x="2889504" y="5093208"/>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Infrastructure as Code</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Vector 6: Valkey 429 &amp; 4k Token Clamp &amp; BigQuery OTel Audit</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Automated CI/CD &amp; Red-Team Gates</a:t>
            </a:r>
            <a:endParaRPr lang="en-US" sz="710" dirty="0"/>
          </a:p>
        </p:txBody>
      </p:sp>
      <p:sp>
        <p:nvSpPr>
          <p:cNvPr id="33" name="Shape 31"/>
          <p:cNvSpPr/>
          <p:nvPr/>
        </p:nvSpPr>
        <p:spPr>
          <a:xfrm>
            <a:off x="5120640" y="5065776"/>
            <a:ext cx="6309360" cy="722376"/>
          </a:xfrm>
          <a:prstGeom prst="rect">
            <a:avLst/>
          </a:prstGeom>
          <a:solidFill>
            <a:srgbClr val="FFFFFF"/>
          </a:solidFill>
          <a:ln w="9525">
            <a:solidFill>
              <a:srgbClr val="DADCE0"/>
            </a:solidFill>
            <a:prstDash val="solid"/>
          </a:ln>
        </p:spPr>
      </p:sp>
      <p:sp>
        <p:nvSpPr>
          <p:cNvPr id="34" name="Text 32"/>
          <p:cNvSpPr/>
          <p:nvPr/>
        </p:nvSpPr>
        <p:spPr>
          <a:xfrm>
            <a:off x="5230368" y="5093208"/>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Infrastructure as Code: </a:t>
            </a:r>
            <a:pPr indent="0" marL="0">
              <a:buNone/>
            </a:pPr>
            <a:r>
              <a:rPr lang="en-US" sz="690" dirty="0">
                <a:solidFill>
                  <a:srgbClr val="3C4043"/>
                </a:solidFill>
                <a:latin typeface="Arial" pitchFamily="34" charset="0"/>
                <a:ea typeface="Arial" pitchFamily="34" charset="-122"/>
                <a:cs typeface="Arial" pitchFamily="34" charset="-120"/>
              </a:rPr>
              <a:t>Provision Model Armor &amp; Safety Filters and Memory Bank, Skills &amp; AlloyDB RLS spokes through versioned Terraform modules that atomically bind perimeters, IAM roles, and runtime configurations.
</a:t>
            </a:r>
            <a:pPr indent="0" marL="0">
              <a:buNone/>
            </a:pPr>
            <a:r>
              <a:rPr lang="en-US" sz="700" b="1" dirty="0">
                <a:solidFill>
                  <a:srgbClr val="202124"/>
                </a:solidFill>
                <a:latin typeface="Arial" pitchFamily="34" charset="0"/>
                <a:ea typeface="Arial" pitchFamily="34" charset="-122"/>
                <a:cs typeface="Arial" pitchFamily="34" charset="-120"/>
              </a:rPr>
              <a:t>• Vector 6: Valkey 429 &amp; 4k Token Clamp &amp; BigQuery OTel Audit: </a:t>
            </a:r>
            <a:pPr indent="0" marL="0">
              <a:buNone/>
            </a:pPr>
            <a:r>
              <a:rPr lang="en-US" sz="690" dirty="0">
                <a:solidFill>
                  <a:srgbClr val="3C4043"/>
                </a:solidFill>
                <a:latin typeface="Arial" pitchFamily="34" charset="0"/>
                <a:ea typeface="Arial" pitchFamily="34" charset="-122"/>
                <a:cs typeface="Arial" pitchFamily="34" charset="-120"/>
              </a:rPr>
              <a:t>Stream structured OpenTelemetry traces and zero-PII audit logs to BigQuery OTel Audit and monitor posture drift in Vector 6: Valkey 429 &amp; 4k Token Clamp.
</a:t>
            </a:r>
            <a:pPr indent="0" marL="0">
              <a:buNone/>
            </a:pPr>
            <a:r>
              <a:rPr lang="en-US" sz="700" b="1" dirty="0">
                <a:solidFill>
                  <a:srgbClr val="202124"/>
                </a:solidFill>
                <a:latin typeface="Arial" pitchFamily="34" charset="0"/>
                <a:ea typeface="Arial" pitchFamily="34" charset="-122"/>
                <a:cs typeface="Arial" pitchFamily="34" charset="-120"/>
              </a:rPr>
              <a:t>• Automated CI/CD &amp; Red-Team Gates: </a:t>
            </a:r>
            <a:pPr indent="0" marL="0">
              <a:buNone/>
            </a:pPr>
            <a:r>
              <a:rPr lang="en-US" sz="690" dirty="0">
                <a:solidFill>
                  <a:srgbClr val="3C4043"/>
                </a:solidFill>
                <a:latin typeface="Arial" pitchFamily="34" charset="0"/>
                <a:ea typeface="Arial" pitchFamily="34" charset="-122"/>
                <a:cs typeface="Arial" pitchFamily="34" charset="-120"/>
              </a:rPr>
              <a:t>Gate every prompt, model, or tool change on automated Vertex AI Gen AI Evaluation Service benchmarks and security regression checks before production rollout.</a:t>
            </a:r>
            <a:endParaRPr lang="en-US" sz="700" dirty="0"/>
          </a:p>
        </p:txBody>
      </p:sp>
      <p:sp>
        <p:nvSpPr>
          <p:cNvPr id="35" name="Shape 33"/>
          <p:cNvSpPr/>
          <p:nvPr/>
        </p:nvSpPr>
        <p:spPr>
          <a:xfrm>
            <a:off x="749808" y="5788152"/>
            <a:ext cx="2048256" cy="722376"/>
          </a:xfrm>
          <a:prstGeom prst="rect">
            <a:avLst/>
          </a:prstGeom>
          <a:solidFill>
            <a:srgbClr val="FFFFFF"/>
          </a:solidFill>
          <a:ln w="9525">
            <a:solidFill>
              <a:srgbClr val="DADCE0"/>
            </a:solidFill>
            <a:prstDash val="solid"/>
          </a:ln>
        </p:spPr>
      </p:sp>
      <p:sp>
        <p:nvSpPr>
          <p:cNvPr id="36" name="Text 34"/>
          <p:cNvSpPr/>
          <p:nvPr/>
        </p:nvSpPr>
        <p:spPr>
          <a:xfrm>
            <a:off x="841248" y="5815584"/>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Cost optimization</a:t>
            </a:r>
            <a:endParaRPr lang="en-US" sz="780" dirty="0"/>
          </a:p>
        </p:txBody>
      </p:sp>
      <p:sp>
        <p:nvSpPr>
          <p:cNvPr id="37" name="Shape 35"/>
          <p:cNvSpPr/>
          <p:nvPr/>
        </p:nvSpPr>
        <p:spPr>
          <a:xfrm>
            <a:off x="2798064" y="5788152"/>
            <a:ext cx="2322576" cy="722376"/>
          </a:xfrm>
          <a:prstGeom prst="rect">
            <a:avLst/>
          </a:prstGeom>
          <a:solidFill>
            <a:srgbClr val="FFFFFF"/>
          </a:solidFill>
          <a:ln w="9525">
            <a:solidFill>
              <a:srgbClr val="DADCE0"/>
            </a:solidFill>
            <a:prstDash val="solid"/>
          </a:ln>
        </p:spPr>
      </p:sp>
      <p:sp>
        <p:nvSpPr>
          <p:cNvPr id="38" name="Text 36"/>
          <p:cNvSpPr/>
          <p:nvPr/>
        </p:nvSpPr>
        <p:spPr>
          <a:xfrm>
            <a:off x="2889504" y="5815584"/>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Vector 5: HTTP 422 Context Caching</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Vector 3: Tool Prune &amp; Vector 8: SDP Mask</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BigQuery OTel Audit FinOps Attribution</a:t>
            </a:r>
            <a:endParaRPr lang="en-US" sz="710" dirty="0"/>
          </a:p>
        </p:txBody>
      </p:sp>
      <p:sp>
        <p:nvSpPr>
          <p:cNvPr id="39" name="Shape 37"/>
          <p:cNvSpPr/>
          <p:nvPr/>
        </p:nvSpPr>
        <p:spPr>
          <a:xfrm>
            <a:off x="5120640" y="5788152"/>
            <a:ext cx="6309360" cy="722376"/>
          </a:xfrm>
          <a:prstGeom prst="rect">
            <a:avLst/>
          </a:prstGeom>
          <a:solidFill>
            <a:srgbClr val="FFFFFF"/>
          </a:solidFill>
          <a:ln w="9525">
            <a:solidFill>
              <a:srgbClr val="DADCE0"/>
            </a:solidFill>
            <a:prstDash val="solid"/>
          </a:ln>
        </p:spPr>
      </p:sp>
      <p:sp>
        <p:nvSpPr>
          <p:cNvPr id="40" name="Text 38"/>
          <p:cNvSpPr/>
          <p:nvPr/>
        </p:nvSpPr>
        <p:spPr>
          <a:xfrm>
            <a:off x="5230368" y="5815584"/>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Vector 5: HTTP 422 Context Caching: </a:t>
            </a:r>
            <a:pPr indent="0" marL="0">
              <a:buNone/>
            </a:pPr>
            <a:r>
              <a:rPr lang="en-US" sz="690" dirty="0">
                <a:solidFill>
                  <a:srgbClr val="3C4043"/>
                </a:solidFill>
                <a:latin typeface="Arial" pitchFamily="34" charset="0"/>
                <a:ea typeface="Arial" pitchFamily="34" charset="-122"/>
                <a:cs typeface="Arial" pitchFamily="34" charset="-120"/>
              </a:rPr>
              <a:t>Enable Vertex AI Context Caching on shared system instructions, tool schemas, and reference rubrics to reduce repeated input token costs by up to 90%.
</a:t>
            </a:r>
            <a:pPr indent="0" marL="0">
              <a:buNone/>
            </a:pPr>
            <a:r>
              <a:rPr lang="en-US" sz="700" b="1" dirty="0">
                <a:solidFill>
                  <a:srgbClr val="202124"/>
                </a:solidFill>
                <a:latin typeface="Arial" pitchFamily="34" charset="0"/>
                <a:ea typeface="Arial" pitchFamily="34" charset="-122"/>
                <a:cs typeface="Arial" pitchFamily="34" charset="-120"/>
              </a:rPr>
              <a:t>• Vector 3: Tool Prune &amp; Vector 8: SDP Mask: </a:t>
            </a:r>
            <a:pPr indent="0" marL="0">
              <a:buNone/>
            </a:pPr>
            <a:r>
              <a:rPr lang="en-US" sz="690" dirty="0">
                <a:solidFill>
                  <a:srgbClr val="3C4043"/>
                </a:solidFill>
                <a:latin typeface="Arial" pitchFamily="34" charset="0"/>
                <a:ea typeface="Arial" pitchFamily="34" charset="-122"/>
                <a:cs typeface="Arial" pitchFamily="34" charset="-120"/>
              </a:rPr>
              <a:t>Reject malformed or adversarial requests at the edge before invoking downstream models, and scale idle stateless tool containers down to zero.
</a:t>
            </a:r>
            <a:pPr indent="0" marL="0">
              <a:buNone/>
            </a:pPr>
            <a:r>
              <a:rPr lang="en-US" sz="700" b="1" dirty="0">
                <a:solidFill>
                  <a:srgbClr val="202124"/>
                </a:solidFill>
                <a:latin typeface="Arial" pitchFamily="34" charset="0"/>
                <a:ea typeface="Arial" pitchFamily="34" charset="-122"/>
                <a:cs typeface="Arial" pitchFamily="34" charset="-120"/>
              </a:rPr>
              <a:t>• BigQuery OTel Audit FinOps Attribution: </a:t>
            </a:r>
            <a:pPr indent="0" marL="0">
              <a:buNone/>
            </a:pPr>
            <a:r>
              <a:rPr lang="en-US" sz="690" dirty="0">
                <a:solidFill>
                  <a:srgbClr val="3C4043"/>
                </a:solidFill>
                <a:latin typeface="Arial" pitchFamily="34" charset="0"/>
                <a:ea typeface="Arial" pitchFamily="34" charset="-122"/>
                <a:cs typeface="Arial" pitchFamily="34" charset="-120"/>
              </a:rPr>
              <a:t>Export OpenTelemetry token usage spans and Cloud Billing records to BigQuery to enforce per-spoke quota budgets and automated spend alerts.</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6 of 6 • Red-Team Verification &amp; Runbook  ›  Deployment,  What's next  &amp;  Contributors</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DOC-MT-06  ·  Page 6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Deployment</a:t>
            </a:r>
            <a:endParaRPr lang="en-US" sz="1450" dirty="0"/>
          </a:p>
        </p:txBody>
      </p:sp>
      <p:sp>
        <p:nvSpPr>
          <p:cNvPr id="7" name="Text 5"/>
          <p:cNvSpPr/>
          <p:nvPr/>
        </p:nvSpPr>
        <p:spPr>
          <a:xfrm>
            <a:off x="749808" y="914400"/>
            <a:ext cx="10680192" cy="292608"/>
          </a:xfrm>
          <a:prstGeom prst="rect">
            <a:avLst/>
          </a:prstGeom>
          <a:noFill/>
          <a:ln/>
        </p:spPr>
        <p:txBody>
          <a:bodyPr wrap="square" rtlCol="0" anchor="ctr"/>
          <a:lstStyle/>
          <a:p>
            <a:pPr indent="0" marL="0">
              <a:buNone/>
            </a:pPr>
            <a:r>
              <a:rPr lang="en-US" sz="860" dirty="0">
                <a:solidFill>
                  <a:srgbClr val="3C4043"/>
                </a:solidFill>
                <a:latin typeface="Arial" pitchFamily="34" charset="0"/>
                <a:ea typeface="Arial" pitchFamily="34" charset="-122"/>
                <a:cs typeface="Arial" pitchFamily="34" charset="-120"/>
              </a:rPr>
              <a:t>To deploy and verify the Production Verification: 10-Point Red-Team Breach Simulation &amp; Cloud Console Runbook pattern on Google Cloud, use the following production implementation reference.</a:t>
            </a:r>
            <a:endParaRPr lang="en-US" sz="860" dirty="0"/>
          </a:p>
        </p:txBody>
      </p:sp>
      <p:sp>
        <p:nvSpPr>
          <p:cNvPr id="8" name="Shape 6"/>
          <p:cNvSpPr/>
          <p:nvPr/>
        </p:nvSpPr>
        <p:spPr>
          <a:xfrm>
            <a:off x="749808" y="1243584"/>
            <a:ext cx="10680192" cy="256032"/>
          </a:xfrm>
          <a:prstGeom prst="rect">
            <a:avLst/>
          </a:prstGeom>
          <a:solidFill>
            <a:srgbClr val="F8F9FA"/>
          </a:solidFill>
          <a:ln w="9525">
            <a:solidFill>
              <a:srgbClr val="DADCE0"/>
            </a:solidFill>
            <a:prstDash val="solid"/>
          </a:ln>
        </p:spPr>
      </p:sp>
      <p:sp>
        <p:nvSpPr>
          <p:cNvPr id="9" name="Text 7"/>
          <p:cNvSpPr/>
          <p:nvPr/>
        </p:nvSpPr>
        <p:spPr>
          <a:xfrm>
            <a:off x="877824" y="1243584"/>
            <a:ext cx="7772400" cy="256032"/>
          </a:xfrm>
          <a:prstGeom prst="rect">
            <a:avLst/>
          </a:prstGeom>
          <a:noFill/>
          <a:ln/>
        </p:spPr>
        <p:txBody>
          <a:bodyPr wrap="square" rtlCol="0" anchor="ctr"/>
          <a:lstStyle/>
          <a:p>
            <a:pPr indent="0" marL="0">
              <a:buNone/>
            </a:pPr>
            <a:r>
              <a:rPr lang="en-US" sz="800" b="1" dirty="0">
                <a:solidFill>
                  <a:srgbClr val="3C4043"/>
                </a:solidFill>
                <a:latin typeface="Courier New" pitchFamily="34" charset="0"/>
                <a:ea typeface="Courier New" pitchFamily="34" charset="-122"/>
                <a:cs typeface="Courier New" pitchFamily="34" charset="-120"/>
              </a:rPr>
              <a:t>sql/verify_10_point_breach_audit_log.sql</a:t>
            </a:r>
            <a:endParaRPr lang="en-US" sz="800" dirty="0"/>
          </a:p>
        </p:txBody>
      </p:sp>
      <p:sp>
        <p:nvSpPr>
          <p:cNvPr id="10" name="Text 8"/>
          <p:cNvSpPr/>
          <p:nvPr/>
        </p:nvSpPr>
        <p:spPr>
          <a:xfrm>
            <a:off x="8778240" y="1243584"/>
            <a:ext cx="2514600" cy="256032"/>
          </a:xfrm>
          <a:prstGeom prst="rect">
            <a:avLst/>
          </a:prstGeom>
          <a:noFill/>
          <a:ln/>
        </p:spPr>
        <p:txBody>
          <a:bodyPr wrap="square" rtlCol="0" anchor="ctr"/>
          <a:lstStyle/>
          <a:p>
            <a:pPr algn="r" indent="0" marL="0">
              <a:buNone/>
            </a:pPr>
            <a:r>
              <a:rPr lang="en-US" sz="720" b="1" dirty="0">
                <a:solidFill>
                  <a:srgbClr val="5F6368"/>
                </a:solidFill>
                <a:latin typeface="Arial" pitchFamily="34" charset="0"/>
                <a:ea typeface="Arial" pitchFamily="34" charset="-122"/>
                <a:cs typeface="Arial" pitchFamily="34" charset="-120"/>
              </a:rPr>
              <a:t>SQL</a:t>
            </a:r>
            <a:endParaRPr lang="en-US" sz="720" dirty="0"/>
          </a:p>
        </p:txBody>
      </p:sp>
      <p:sp>
        <p:nvSpPr>
          <p:cNvPr id="11" name="Shape 9"/>
          <p:cNvSpPr/>
          <p:nvPr/>
        </p:nvSpPr>
        <p:spPr>
          <a:xfrm>
            <a:off x="749808" y="1499616"/>
            <a:ext cx="10680192" cy="2029968"/>
          </a:xfrm>
          <a:prstGeom prst="rect">
            <a:avLst/>
          </a:prstGeom>
          <a:solidFill>
            <a:srgbClr val="F8FAFC"/>
          </a:solidFill>
          <a:ln w="9525">
            <a:solidFill>
              <a:srgbClr val="DADCE0"/>
            </a:solidFill>
            <a:prstDash val="solid"/>
          </a:ln>
        </p:spPr>
      </p:sp>
      <p:sp>
        <p:nvSpPr>
          <p:cNvPr id="12" name="Text 10"/>
          <p:cNvSpPr/>
          <p:nvPr/>
        </p:nvSpPr>
        <p:spPr>
          <a:xfrm>
            <a:off x="877824" y="1536192"/>
            <a:ext cx="10424160" cy="1956816"/>
          </a:xfrm>
          <a:prstGeom prst="rect">
            <a:avLst/>
          </a:prstGeom>
          <a:noFill/>
          <a:ln/>
        </p:spPr>
        <p:txBody>
          <a:bodyPr wrap="square" rtlCol="0" anchor="t">
            <a:normAutofit/>
          </a:bodyPr>
          <a:lstStyle/>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SELECT sim_id, attack_vector, enforcement_hop, http_status_code, verdict, verified_at</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FROM `nitina-ggarwal-sandbox-647724.cymbal_agentic_finops_otel.security_breach_audit_log`</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ORDER BY sim_id ASC;</a:t>
            </a:r>
            <a:endParaRPr lang="en-US" sz="690" dirty="0"/>
          </a:p>
        </p:txBody>
      </p:sp>
      <p:sp>
        <p:nvSpPr>
          <p:cNvPr id="13" name="Shape 11"/>
          <p:cNvSpPr/>
          <p:nvPr/>
        </p:nvSpPr>
        <p:spPr>
          <a:xfrm>
            <a:off x="749808" y="3621024"/>
            <a:ext cx="10680192" cy="0"/>
          </a:xfrm>
          <a:prstGeom prst="line">
            <a:avLst/>
          </a:prstGeom>
          <a:noFill/>
          <a:ln w="9525">
            <a:solidFill>
              <a:srgbClr val="DADCE0"/>
            </a:solidFill>
            <a:prstDash val="solid"/>
          </a:ln>
        </p:spPr>
      </p:sp>
      <p:sp>
        <p:nvSpPr>
          <p:cNvPr id="14" name="Text 12"/>
          <p:cNvSpPr/>
          <p:nvPr/>
        </p:nvSpPr>
        <p:spPr>
          <a:xfrm>
            <a:off x="749808" y="3694176"/>
            <a:ext cx="10680192" cy="256032"/>
          </a:xfrm>
          <a:prstGeom prst="rect">
            <a:avLst/>
          </a:prstGeom>
          <a:noFill/>
          <a:ln/>
        </p:spPr>
        <p:txBody>
          <a:bodyPr wrap="square" rtlCol="0" anchor="ctr"/>
          <a:lstStyle/>
          <a:p>
            <a:pPr indent="0" marL="0">
              <a:buNone/>
            </a:pPr>
            <a:r>
              <a:rPr lang="en-US" sz="1400" dirty="0">
                <a:solidFill>
                  <a:srgbClr val="202124"/>
                </a:solidFill>
                <a:latin typeface="Arial" pitchFamily="34" charset="0"/>
                <a:ea typeface="Arial" pitchFamily="34" charset="-122"/>
                <a:cs typeface="Arial" pitchFamily="34" charset="-120"/>
              </a:rPr>
              <a:t>What's next</a:t>
            </a:r>
            <a:endParaRPr lang="en-US" sz="1400" dirty="0"/>
          </a:p>
        </p:txBody>
      </p:sp>
      <p:sp>
        <p:nvSpPr>
          <p:cNvPr id="15" name="Text 13"/>
          <p:cNvSpPr/>
          <p:nvPr/>
        </p:nvSpPr>
        <p:spPr>
          <a:xfrm>
            <a:off x="877824" y="3968496"/>
            <a:ext cx="10552176" cy="1115568"/>
          </a:xfrm>
          <a:prstGeom prst="rect">
            <a:avLst/>
          </a:prstGeom>
          <a:noFill/>
          <a:ln/>
        </p:spPr>
        <p:txBody>
          <a:bodyPr wrap="square" rtlCol="0" anchor="t"/>
          <a:lstStyle/>
          <a:p>
            <a:pPr indent="0" marL="0">
              <a:lnSpc>
                <a:spcPct val="118000"/>
              </a:lnSpc>
              <a:buNone/>
            </a:pPr>
            <a:r>
              <a:rPr lang="en-US" sz="800" b="1" dirty="0">
                <a:solidFill>
                  <a:srgbClr val="1A73E8"/>
                </a:solidFill>
                <a:latin typeface="Arial" pitchFamily="34" charset="0"/>
                <a:ea typeface="Arial" pitchFamily="34" charset="-122"/>
                <a:cs typeface="Arial" pitchFamily="34" charset="-120"/>
              </a:rPr>
              <a:t>•  Multi-tenant agentic AI system on Google Cloud: </a:t>
            </a:r>
            <a:pPr indent="0" marL="0">
              <a:lnSpc>
                <a:spcPct val="118000"/>
              </a:lnSpc>
              <a:buNone/>
            </a:pPr>
            <a:r>
              <a:rPr lang="en-US" sz="780" dirty="0">
                <a:solidFill>
                  <a:srgbClr val="3C4043"/>
                </a:solidFill>
                <a:latin typeface="Arial" pitchFamily="34" charset="0"/>
                <a:ea typeface="Arial" pitchFamily="34" charset="-122"/>
                <a:cs typeface="Arial" pitchFamily="34" charset="-120"/>
              </a:rPr>
              <a:t>Read the canonical Google Cloud Architecture Center reference architecture.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Agent Development Kit (ADK) Documentation: </a:t>
            </a:r>
            <a:pPr indent="0" marL="0">
              <a:lnSpc>
                <a:spcPct val="118000"/>
              </a:lnSpc>
              <a:buNone/>
            </a:pPr>
            <a:r>
              <a:rPr lang="en-US" sz="780" dirty="0">
                <a:solidFill>
                  <a:srgbClr val="3C4043"/>
                </a:solidFill>
                <a:latin typeface="Arial" pitchFamily="34" charset="0"/>
                <a:ea typeface="Arial" pitchFamily="34" charset="-122"/>
                <a:cs typeface="Arial" pitchFamily="34" charset="-120"/>
              </a:rPr>
              <a:t>Build hierarchical multi-agent systems, deterministic callbacks, and MCP toolsets.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Vertex AI Agent Engine Overview: </a:t>
            </a:r>
            <a:pPr indent="0" marL="0">
              <a:lnSpc>
                <a:spcPct val="118000"/>
              </a:lnSpc>
              <a:buNone/>
            </a:pPr>
            <a:r>
              <a:rPr lang="en-US" sz="780" dirty="0">
                <a:solidFill>
                  <a:srgbClr val="3C4043"/>
                </a:solidFill>
                <a:latin typeface="Arial" pitchFamily="34" charset="0"/>
                <a:ea typeface="Arial" pitchFamily="34" charset="-122"/>
                <a:cs typeface="Arial" pitchFamily="34" charset="-120"/>
              </a:rPr>
              <a:t>Explore managed runtime deployment, Sessions, Memory Bank, and Context Caching.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Google Cloud Well-Architected Framework: AI and ML perspective: </a:t>
            </a:r>
            <a:pPr indent="0" marL="0">
              <a:lnSpc>
                <a:spcPct val="118000"/>
              </a:lnSpc>
              <a:buNone/>
            </a:pPr>
            <a:r>
              <a:rPr lang="en-US" sz="780" dirty="0">
                <a:solidFill>
                  <a:srgbClr val="3C4043"/>
                </a:solidFill>
                <a:latin typeface="Arial" pitchFamily="34" charset="0"/>
                <a:ea typeface="Arial" pitchFamily="34" charset="-122"/>
                <a:cs typeface="Arial" pitchFamily="34" charset="-120"/>
              </a:rPr>
              <a:t>Review best practices for security, reliability, operational efficiency, and cost optimization.</a:t>
            </a:r>
            <a:endParaRPr lang="en-US" sz="800" dirty="0"/>
          </a:p>
        </p:txBody>
      </p:sp>
      <p:sp>
        <p:nvSpPr>
          <p:cNvPr id="16" name="Shape 14"/>
          <p:cNvSpPr/>
          <p:nvPr/>
        </p:nvSpPr>
        <p:spPr>
          <a:xfrm>
            <a:off x="749808" y="5157216"/>
            <a:ext cx="10680192" cy="0"/>
          </a:xfrm>
          <a:prstGeom prst="line">
            <a:avLst/>
          </a:prstGeom>
          <a:noFill/>
          <a:ln w="9525">
            <a:solidFill>
              <a:srgbClr val="DADCE0"/>
            </a:solidFill>
            <a:prstDash val="solid"/>
          </a:ln>
        </p:spPr>
      </p:sp>
      <p:sp>
        <p:nvSpPr>
          <p:cNvPr id="17" name="Text 15"/>
          <p:cNvSpPr/>
          <p:nvPr/>
        </p:nvSpPr>
        <p:spPr>
          <a:xfrm>
            <a:off x="749808" y="5230368"/>
            <a:ext cx="10680192" cy="256032"/>
          </a:xfrm>
          <a:prstGeom prst="rect">
            <a:avLst/>
          </a:prstGeom>
          <a:noFill/>
          <a:ln/>
        </p:spPr>
        <p:txBody>
          <a:bodyPr wrap="square" rtlCol="0" anchor="ctr"/>
          <a:lstStyle/>
          <a:p>
            <a:pPr indent="0" marL="0">
              <a:buNone/>
            </a:pPr>
            <a:r>
              <a:rPr lang="en-US" sz="1400" dirty="0">
                <a:solidFill>
                  <a:srgbClr val="202124"/>
                </a:solidFill>
                <a:latin typeface="Arial" pitchFamily="34" charset="0"/>
                <a:ea typeface="Arial" pitchFamily="34" charset="-122"/>
                <a:cs typeface="Arial" pitchFamily="34" charset="-120"/>
              </a:rPr>
              <a:t>Contributors</a:t>
            </a:r>
            <a:endParaRPr lang="en-US" sz="1400" dirty="0"/>
          </a:p>
        </p:txBody>
      </p:sp>
      <p:sp>
        <p:nvSpPr>
          <p:cNvPr id="18" name="Text 16"/>
          <p:cNvSpPr/>
          <p:nvPr/>
        </p:nvSpPr>
        <p:spPr>
          <a:xfrm>
            <a:off x="749808" y="5504688"/>
            <a:ext cx="10680192" cy="1042416"/>
          </a:xfrm>
          <a:prstGeom prst="rect">
            <a:avLst/>
          </a:prstGeom>
          <a:noFill/>
          <a:ln/>
        </p:spPr>
        <p:txBody>
          <a:bodyPr wrap="square" rtlCol="0" anchor="t"/>
          <a:lstStyle/>
          <a:p>
            <a:pPr indent="0" marL="0">
              <a:lnSpc>
                <a:spcPct val="122000"/>
              </a:lnSpc>
              <a:buNone/>
            </a:pPr>
            <a:r>
              <a:rPr lang="en-US" sz="780" dirty="0">
                <a:solidFill>
                  <a:srgbClr val="5F6368"/>
                </a:solidFill>
                <a:latin typeface="Arial" pitchFamily="34" charset="0"/>
                <a:ea typeface="Arial" pitchFamily="34" charset="-122"/>
                <a:cs typeface="Arial" pitchFamily="34" charset="-120"/>
              </a:rPr>
              <a:t>Except as otherwise noted, the content of this page is licensed under the Creative Commons Attribution 4.0 License, and code samples are licensed under the Apache 2.0 License.
</a:t>
            </a:r>
            <a:pPr indent="0" marL="0">
              <a:lnSpc>
                <a:spcPct val="122000"/>
              </a:lnSpc>
              <a:buNone/>
            </a:pPr>
            <a:r>
              <a:rPr lang="en-US" sz="820" b="1" dirty="0">
                <a:solidFill>
                  <a:srgbClr val="202124"/>
                </a:solidFill>
                <a:latin typeface="Arial" pitchFamily="34" charset="0"/>
                <a:ea typeface="Arial" pitchFamily="34" charset="-122"/>
                <a:cs typeface="Arial" pitchFamily="34" charset="-120"/>
              </a:rPr>
              <a:t>Authors: </a:t>
            </a:r>
            <a:pPr indent="0" marL="0">
              <a:lnSpc>
                <a:spcPct val="122000"/>
              </a:lnSpc>
              <a:buNone/>
            </a:pPr>
            <a:r>
              <a:rPr lang="en-US" sz="820" dirty="0">
                <a:solidFill>
                  <a:srgbClr val="3C4043"/>
                </a:solidFill>
                <a:latin typeface="Arial" pitchFamily="34" charset="0"/>
                <a:ea typeface="Arial" pitchFamily="34" charset="-122"/>
                <a:cs typeface="Arial" pitchFamily="34" charset="-120"/>
              </a:rPr>
              <a:t>Principal AI Architect • Cloud Solutions Architecture • Enterprise AI Field Engineering
</a:t>
            </a:r>
            <a:pPr indent="0" marL="0">
              <a:lnSpc>
                <a:spcPct val="122000"/>
              </a:lnSpc>
              <a:buNone/>
            </a:pPr>
            <a:r>
              <a:rPr lang="en-US" sz="820" b="1" dirty="0">
                <a:solidFill>
                  <a:srgbClr val="202124"/>
                </a:solidFill>
                <a:latin typeface="Arial" pitchFamily="34" charset="0"/>
                <a:ea typeface="Arial" pitchFamily="34" charset="-122"/>
                <a:cs typeface="Arial" pitchFamily="34" charset="-120"/>
              </a:rPr>
              <a:t>Other contributors: </a:t>
            </a:r>
            <a:pPr indent="0" marL="0">
              <a:lnSpc>
                <a:spcPct val="122000"/>
              </a:lnSpc>
              <a:buNone/>
            </a:pPr>
            <a:r>
              <a:rPr lang="en-US" sz="820" dirty="0">
                <a:solidFill>
                  <a:srgbClr val="3C4043"/>
                </a:solidFill>
                <a:latin typeface="Arial" pitchFamily="34" charset="0"/>
                <a:ea typeface="Arial" pitchFamily="34" charset="-122"/>
                <a:cs typeface="Arial" pitchFamily="34" charset="-120"/>
              </a:rPr>
              <a:t>Principal AI Architect &amp; Field Deployment Engineering • Google Cloud Architecture Center Engineering Team
</a:t>
            </a:r>
            <a:pPr indent="0" marL="0">
              <a:lnSpc>
                <a:spcPct val="122000"/>
              </a:lnSpc>
              <a:buNone/>
            </a:pPr>
            <a:r>
              <a:rPr lang="en-US" sz="760" i="1" dirty="0">
                <a:solidFill>
                  <a:srgbClr val="5F6368"/>
                </a:solidFill>
                <a:latin typeface="Arial" pitchFamily="34" charset="0"/>
                <a:ea typeface="Arial" pitchFamily="34" charset="-122"/>
                <a:cs typeface="Arial" pitchFamily="34" charset="-120"/>
              </a:rPr>
              <a:t>Last updated 2026-10-15 UTC.</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DOC-MT-06: Production Verification: 10-Point Red-Team Breach Simulation &amp; Cloud Console Runbook (DOC-MT-06)</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2026-10-16T15:02:59Z</dcterms:created>
  <dcterms:modified xsi:type="dcterms:W3CDTF">2026-10-16T15:02:59Z</dcterms:modified>
</cp:coreProperties>
</file>