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In this six-slide executive and technical briefing, we are walking through Multi-Tenant AI Agents (Part 6): Executive Decision Matrix &amp; Multi-Tenant Topology TCO Calculator.</a:t>
            </a:r>
            <a:endParaRPr lang="en-US" dirty="0"/>
          </a:p>
          <a:p>
            <a:r>
              <a:rPr lang="en-US" dirty="0"/>
              <a:t>In Part 6—the executive capstone to our multi-tenant AI series—we synthesize Patterns A, B, and C into a deterministic architecture decision tree and quantitative total-cost-of-ownership model for CTOs, CISOs, and FinOps leaders.</a:t>
            </a:r>
            <a:endParaRPr lang="en-US" dirty="0"/>
          </a:p>
          <a:p>
            <a:r>
              <a:rPr lang="en-US" dirty="0"/>
              <a:t>With our business goal and architectural thesis set, let's turn to Slide 2 to examine the complete Figure 1 Google Cloud Hub-and-Spoke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executive overview we just covered on Slide 1, this diagram gives us the complete end-to-end physical map of the system on Google Cloud.</a:t>
            </a:r>
            <a:endParaRPr lang="en-US" dirty="0"/>
          </a:p>
          <a:p>
            <a:r>
              <a:rPr lang="en-US" dirty="0"/>
              <a:t>Figure 1 presents our three-outcome executive decision-tree blueprint on Google Cloud, routing every customer segment from regulatory residency, Cloud KMS key-revocation SLAs, and Private Service Connect network requirements directly to Pattern A Pooled, Pattern B Sovereign Silo, or Pattern C Hybrid Split.</a:t>
            </a:r>
            <a:endParaRPr lang="en-US" dirty="0"/>
          </a:p>
          <a:p>
            <a:r>
              <a:rPr lang="en-US" dirty="0"/>
              <a:t>Now that we see where each component sits in Figure 1, let's move to Slide 3 to walk through how a live request flows across these services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from the Figure 1 blueprint on Slide 2, this slide unpacks the exact step-by-step runtime workflow.</a:t>
            </a:r>
            <a:endParaRPr lang="en-US" dirty="0"/>
          </a:p>
          <a:p>
            <a:r>
              <a:rPr lang="en-US" dirty="0"/>
              <a:t>Following the six decision gates on this slide shows how product, security, and finance teams evaluate tenant tiering objectively—combining eighty percent shared ADK code reuse with zero-downtime promotion paths as commercial customers grow into enterprise contracts.</a:t>
            </a:r>
            <a:endParaRPr lang="en-US" dirty="0"/>
          </a:p>
          <a:p>
            <a:r>
              <a:rPr lang="en-US" dirty="0"/>
              <a:t>Having seen how the components interact step by step on Slide 3, let's turn to Slide 4 to see how this architecture solves a concrete enterprise customer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step-by-step technical workflow on Slide 3, this slide connects the architecture directly to tangible business value and the managed Google Cloud services that power it.</a:t>
            </a:r>
            <a:endParaRPr lang="en-US" dirty="0"/>
          </a:p>
          <a:p>
            <a:r>
              <a:rPr lang="en-US" dirty="0"/>
              <a:t>This slide grounds executive portfolio planning in concrete unit economics across one thousand tenants—demonstrating how combining prompt-prefix caching with Pattern C hybrid spokes preserves seventy-eight percent gross margins without compromising sovereign compliance.</a:t>
            </a:r>
            <a:endParaRPr lang="en-US" dirty="0"/>
          </a:p>
          <a:p>
            <a:r>
              <a:rPr lang="en-US" dirty="0"/>
              <a:t>Once business and technical leaders see how the use case works on Slide 4, the natural next question is: how does this compare to alternative designs, and what are the trade-offs? Let's look at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customer use case from Slide 4, this slide evaluates our architectural trade-offs so decision-makers have full confidence in why this design is recommended.</a:t>
            </a:r>
            <a:endParaRPr lang="en-US" dirty="0"/>
          </a:p>
          <a:p>
            <a:r>
              <a:rPr lang="en-US" dirty="0"/>
              <a:t>Here is our side-by-side executive decision matrix comparing Pattern A, Pattern B, and Pattern C across monthly infrastructure floor per tenant, noisy-neighbor blast radius, cryptographic offboarding SLAs, and ideal customer profile.</a:t>
            </a:r>
            <a:endParaRPr lang="en-US" dirty="0"/>
          </a:p>
          <a:p>
            <a:r>
              <a:rPr lang="en-US" dirty="0"/>
              <a:t>With the architectural trade-offs clear here on Slide 5, let's turn to our final slide—Slide 6—to walk through the deployment checklist and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design trade-offs from Slide 5, our closing slide transitions from architecture into hands-on production deployment.</a:t>
            </a:r>
            <a:endParaRPr lang="en-US" dirty="0"/>
          </a:p>
          <a:p>
            <a:r>
              <a:rPr lang="en-US" dirty="0"/>
              <a:t>To close out the series, here is the executive adoption roadmap for rolling out your multi-tenant AI platform across commercial, hybrid, and sovereign tiers on Google Cloud.</a:t>
            </a:r>
            <a:endParaRPr lang="en-US" dirty="0"/>
          </a:p>
          <a:p>
            <a:r>
              <a:rPr lang="en-US" dirty="0"/>
              <a:t>That concludes our six-slide briefing—let's open the floor for your questions or launch the interactive codebase workbench to inspect the implementation files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Part 6 of 6 • Red-Team Verification &amp; Runbook</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DOC-MT-06</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14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Production Verification: 10-Point Red-Team Breach Simulation &amp; Cloud Console Runbook</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In conventional SaaS, a unit test on a WHERE tenant_id = ? clause was sufficient to prove tenant isolation. In an autonomous agentic platform, an attacker can attempt to spoof HTTP headers at ingress, trick the LLM into overriding SQL session variables, poison shared RAG chunks, hijack 3LO OAuth tokens, or exhaust shared token quotas.</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To provide deterministic, auditor-verifiable proof across Pattern 1, Pattern 2, and Pattern 3, we deploy a live verification harness on Google Cloud Run, BigQuery, Cloud KMS, and VPC/PSC and execute 10 automated red-team breach simulations on every build.</a:t>
            </a:r>
            <a:endParaRPr lang="en-US" sz="980" dirty="0"/>
          </a:p>
        </p:txBody>
      </p:sp>
      <p:sp>
        <p:nvSpPr>
          <p:cNvPr id="11" name="Shape 9"/>
          <p:cNvSpPr/>
          <p:nvPr/>
        </p:nvSpPr>
        <p:spPr>
          <a:xfrm>
            <a:off x="804672" y="4553712"/>
            <a:ext cx="10570464" cy="0"/>
          </a:xfrm>
          <a:prstGeom prst="line">
            <a:avLst/>
          </a:prstGeom>
          <a:noFill/>
          <a:ln w="9525">
            <a:solidFill>
              <a:srgbClr val="DADCE0"/>
            </a:solidFill>
            <a:prstDash val="solid"/>
          </a:ln>
        </p:spPr>
      </p:sp>
      <p:sp>
        <p:nvSpPr>
          <p:cNvPr id="12" name="Text 10"/>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3" name="Text 11"/>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Every release pipeline executes the following 10 adversarial attack vectors against the live multi-tenant harness. Any non-blocked response fails the build immediately.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(Hop 1 &amp; Hop 2 Gates and Hop 3 &amp; 5 FinOps &amp; Audit Gates) from isolated execution spokes (Hop 4 Guardrail Gates • Prompt, Safety Filter &amp; SDP DLP and Hop 3 &amp; Hop 5 Storage Gates • Memory, Skills &amp; RLS),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6 of 6 • Red-Team Verification &amp; Runbook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DOC-MT-06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10-Point Automated Red-Team Breach Defense &amp; Verification Sequence</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Defense-in-depth sequence showing exactly where SIM 1 through SIM 10 are intercepted and logged across the 5-hop multi-tenant architecture.</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Adversarial Breach Verification Harness</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VPC • Zero-Trust 5-Hop Enforcement Pipeline</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Hop 4 Guardrail Gates (Vectors 4, 5 &amp; 8)</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Hop 3 &amp; Hop 5 Storage Gates (Vectors 7 &amp; 9)</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Model Armor &amp; Safety Filters</a:t>
            </a:r>
            <a:endParaRPr lang="en-US" sz="540" dirty="0"/>
          </a:p>
          <a:p>
            <a:pPr algn="l" indent="0" marL="0">
              <a:lnSpc>
                <a:spcPct val="88000"/>
              </a:lnSpc>
              <a:buNone/>
            </a:pPr>
            <a:r>
              <a:rPr lang="en-US" sz="450" b="1" dirty="0">
                <a:solidFill>
                  <a:srgbClr val="202124"/>
                </a:solidFill>
                <a:latin typeface="Arial" pitchFamily="34" charset="0"/>
                <a:ea typeface="Arial" pitchFamily="34" charset="-122"/>
                <a:cs typeface="Arial" pitchFamily="34" charset="-120"/>
              </a:rPr>
              <a:t>Ingress Injection Screen &amp; Egress SDP Redaction</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Memory Bank, Skills &amp; AlloyDB RLS</a:t>
            </a:r>
            <a:endParaRPr lang="en-US" sz="540" dirty="0"/>
          </a:p>
          <a:p>
            <a:pPr algn="l" indent="0" marL="0">
              <a:lnSpc>
                <a:spcPct val="88000"/>
              </a:lnSpc>
              <a:buNone/>
            </a:pPr>
            <a:r>
              <a:rPr lang="en-US" sz="450" b="1" dirty="0">
                <a:solidFill>
                  <a:srgbClr val="202124"/>
                </a:solidFill>
                <a:latin typeface="Arial" pitchFamily="34" charset="0"/>
                <a:ea typeface="Arial" pitchFamily="34" charset="-122"/>
                <a:cs typeface="Arial" pitchFamily="34" charset="-120"/>
              </a:rPr>
              <a:t>Cryptographic Namespace &amp; Storage-Engine Isolation</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Hop 1 &amp; Hop 2 Gates (Vectors 1, 2, 3 &amp; 10)</a:t>
            </a:r>
            <a:endParaRPr lang="en-US" sz="480" dirty="0"/>
          </a:p>
          <a:p>
            <a:pPr algn="l" indent="0" marL="0">
              <a:lnSpc>
                <a:spcPct val="88000"/>
              </a:lnSpc>
              <a:buNone/>
            </a:pPr>
            <a:r>
              <a:rPr lang="en-US" sz="410" b="1" dirty="0">
                <a:solidFill>
                  <a:srgbClr val="202124"/>
                </a:solidFill>
                <a:latin typeface="Arial" pitchFamily="34" charset="0"/>
                <a:ea typeface="Arial" pitchFamily="34" charset="-122"/>
                <a:cs typeface="Arial" pitchFamily="34" charset="-120"/>
              </a:rPr>
              <a:t>Neutralizes header spoofing, Agent Alpha &amp; MCP leaks</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Hop 3 &amp; 5 FinOps &amp; Audit Gates (Vectors 6 &amp; 9)</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headEnd type="triangle" w="sm" len="sm"/>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headEnd type="triangle" w="sm" len="sm"/>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headEnd type="triangle" w="sm" len="sm"/>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headEnd type="triangle" w="sm" len="sm"/>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Red-Team Attacker</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Spoofed Headers &amp; Injections</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Cloud Armor Edge PEP</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6: Valkey 429 &amp; 4k Token Clamp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Blocks 250 RPM Flood &amp; 16k</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BigQuery OTel Audit</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Logs Every Blocked Vector</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10: Inline 3LO</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HTTP 401 Entra OAuth Challenge</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Vertex AI Agent Engine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Executes Only Clean Turns</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8: SDP Mask</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Redacts IBAN, SWIFT &amp; PAN</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Zero Raw PII Egress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[REDACTED-FINVAULT-*]</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9: Prefix Cache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READ_ONLY_IMMUTABLE_PREFIX</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Auth Manager Vault</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Tenant-Scoped OAuth Tokens</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7C: AlloyDB RLS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0 Cross-Tenant Rows Returned</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Hop 2 Catalog PDP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Discovery Catalog + ADK Callback</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4: HTTP 400</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Blocks SQLi &amp; Cache Dump</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5: HTTP 422</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Blocks FINRA Escalation Bypass</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7A: L4 Memory</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PermissionError on Cross-Read</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7B: GCS Skills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Blocks gs://cymbal-skills-fv</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1: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WAF Drops Forged X-Tenant-ID</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2: Agent 403</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Blocks Retail -&gt; Agent Alpha</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3: Tool Prune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Prunes FinVault Jira MCP</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Real-time security violation spans</a:t>
            </a:r>
            <a:endParaRPr lang="en-US" sz="420" dirty="0"/>
          </a:p>
        </p:txBody>
      </p:sp>
      <p:sp>
        <p:nvSpPr>
          <p:cNvPr id="148" name="Text 126"/>
          <p:cNvSpPr/>
          <p:nvPr/>
        </p:nvSpPr>
        <p:spPr>
          <a:xfrm>
            <a:off x="5282489" y="4659782"/>
            <a:ext cx="49286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DLP Egress Filter</a:t>
            </a:r>
            <a:endParaRPr lang="en-US" sz="420" dirty="0"/>
          </a:p>
        </p:txBody>
      </p:sp>
      <p:sp>
        <p:nvSpPr>
          <p:cNvPr id="149" name="Text 127"/>
          <p:cNvSpPr/>
          <p:nvPr/>
        </p:nvSpPr>
        <p:spPr>
          <a:xfrm>
            <a:off x="5221224" y="5206594"/>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Zero PII in Completion</a:t>
            </a:r>
            <a:endParaRPr lang="en-US" sz="420" dirty="0"/>
          </a:p>
        </p:txBody>
      </p:sp>
      <p:sp>
        <p:nvSpPr>
          <p:cNvPr id="150" name="Text 128"/>
          <p:cNvSpPr/>
          <p:nvPr/>
        </p:nvSpPr>
        <p:spPr>
          <a:xfrm>
            <a:off x="7271309" y="4659782"/>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Isolated Prefix Cache</a:t>
            </a:r>
            <a:endParaRPr lang="en-US" sz="420" dirty="0"/>
          </a:p>
        </p:txBody>
      </p:sp>
      <p:sp>
        <p:nvSpPr>
          <p:cNvPr id="151" name="Text 129"/>
          <p:cNvSpPr/>
          <p:nvPr/>
        </p:nvSpPr>
        <p:spPr>
          <a:xfrm>
            <a:off x="7233818" y="5206594"/>
            <a:ext cx="66568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SET LOCAL current_tenant</a:t>
            </a:r>
            <a:endParaRPr lang="en-US" sz="420" dirty="0"/>
          </a:p>
        </p:txBody>
      </p:sp>
      <p:sp>
        <p:nvSpPr>
          <p:cNvPr id="152" name="Text 130"/>
          <p:cNvSpPr/>
          <p:nvPr/>
        </p:nvSpPr>
        <p:spPr>
          <a:xfrm>
            <a:off x="4387291" y="5337353"/>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Evaluate Safety rules</a:t>
            </a:r>
            <a:endParaRPr lang="en-US" sz="420" dirty="0"/>
          </a:p>
        </p:txBody>
      </p:sp>
      <p:sp>
        <p:nvSpPr>
          <p:cNvPr id="153" name="Text 131"/>
          <p:cNvSpPr/>
          <p:nvPr/>
        </p:nvSpPr>
        <p:spPr>
          <a:xfrm>
            <a:off x="6326734"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Zero cross-tenant data/cache bleed</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Verified context enters Hop 3–5</a:t>
            </a:r>
            <a:endParaRPr lang="en-US" sz="420" dirty="0"/>
          </a:p>
        </p:txBody>
      </p:sp>
      <p:sp>
        <p:nvSpPr>
          <p:cNvPr id="155" name="Text 133"/>
          <p:cNvSpPr/>
          <p:nvPr/>
        </p:nvSpPr>
        <p:spPr>
          <a:xfrm>
            <a:off x="5014570" y="2980944"/>
            <a:ext cx="542239"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Prune 3LO MCP tools</a:t>
            </a:r>
            <a:endParaRPr lang="en-US" sz="420" dirty="0"/>
          </a:p>
        </p:txBody>
      </p:sp>
      <p:sp>
        <p:nvSpPr>
          <p:cNvPr id="156" name="Text 134"/>
          <p:cNvSpPr/>
          <p:nvPr/>
        </p:nvSpPr>
        <p:spPr>
          <a:xfrm>
            <a:off x="4486046" y="4445813"/>
            <a:ext cx="3941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Screen prompt</a:t>
            </a:r>
            <a:endParaRPr lang="en-US" sz="420" dirty="0"/>
          </a:p>
        </p:txBody>
      </p:sp>
      <p:sp>
        <p:nvSpPr>
          <p:cNvPr id="157" name="Text 135"/>
          <p:cNvSpPr/>
          <p:nvPr/>
        </p:nvSpPr>
        <p:spPr>
          <a:xfrm>
            <a:off x="4508906" y="4625950"/>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Redact PII</a:t>
            </a:r>
            <a:endParaRPr lang="en-US" sz="420" dirty="0"/>
          </a:p>
        </p:txBody>
      </p:sp>
      <p:sp>
        <p:nvSpPr>
          <p:cNvPr id="158" name="Text 136"/>
          <p:cNvSpPr/>
          <p:nvPr/>
        </p:nvSpPr>
        <p:spPr>
          <a:xfrm>
            <a:off x="4901184" y="2299716"/>
            <a:ext cx="56692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Strip spoofed header</a:t>
            </a:r>
            <a:endParaRPr lang="en-US" sz="420" dirty="0"/>
          </a:p>
        </p:txBody>
      </p:sp>
      <p:sp>
        <p:nvSpPr>
          <p:cNvPr id="159" name="Text 137"/>
          <p:cNvSpPr/>
          <p:nvPr/>
        </p:nvSpPr>
        <p:spPr>
          <a:xfrm>
            <a:off x="5003597" y="2816352"/>
            <a:ext cx="6903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Return HTTP 403 Forbidden</a:t>
            </a:r>
            <a:endParaRPr lang="en-US" sz="420" dirty="0"/>
          </a:p>
        </p:txBody>
      </p:sp>
      <p:sp>
        <p:nvSpPr>
          <p:cNvPr id="160" name="Text 138"/>
          <p:cNvSpPr/>
          <p:nvPr/>
        </p:nvSpPr>
        <p:spPr>
          <a:xfrm>
            <a:off x="6367882" y="1463954"/>
            <a:ext cx="418795"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Blocked / Safe</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403 / 200</a:t>
            </a:r>
            <a:endParaRPr lang="en-US" sz="420" dirty="0"/>
          </a:p>
        </p:txBody>
      </p:sp>
      <p:sp>
        <p:nvSpPr>
          <p:cNvPr id="162" name="Text 140"/>
          <p:cNvSpPr/>
          <p:nvPr/>
        </p:nvSpPr>
        <p:spPr>
          <a:xfrm>
            <a:off x="5520233" y="1463954"/>
            <a:ext cx="36941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Attack Probe</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Probe</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6 of 6 • Red-Team Verification &amp; Runbook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DOC-MT-06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Adversarial Breach Verification Harness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Adversarial Breach Verification Harness: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Hop 1 &amp; Hop 2 Gates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1: Cloud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2: Agent 403: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incoming prompts and verifies policy constraints at the routing hub.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3: Tool Prune: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binds cryptographic identity and scope claims before routing.</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Hop 3 &amp; 5 FinOps &amp; Audit Gates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6: Valkey 429 &amp; 4k Token Clamp: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10: Inline 3LO: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BigQuery OTel Audit: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VPC • Zero-Trust 5-Hop Enforcement Pipeline: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Model Armor &amp; Safety Filters &amp; Memory Bank, Skills &amp; AlloyDB RLS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Vertex AI Agent Engine / Vector 9: Prefix Cache: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environments orchestrating reasoning, memory, and tool execution across left and right spokes.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4: HTTP 400 / Vector 7A: L4 Memory: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each spoke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8: SDP Mask / Auth Manager Vault: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interfaces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Zero Raw PII Egress / Vector 7C: AlloyDB RLS: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layers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Hop 1 &amp; Hop 2 Gates.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Vector 1: Cloud Armor, Vector 2: Agent 403, and Vector 3: Tool Prune, the request is forwarded to Hop 2 Catalog PDP.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Hop 2 Catalog PDP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Model Armor &amp; Safety Filters,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DLP Egress Filter.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Zero PII in Completion.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Vertex AI Agent Engine sends the validated, context-enriched prompt to Vector 5: HTTP 422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Vertex AI Agent Engine passes the generated output through Vector 4: HTTP 400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Hop 1 &amp; Hop 2 Gates, while structured OpenTelemetry audit and FinOps spans stream to the Hop 3 &amp; 5 FinOps &amp; Audit Gates.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6 of 6 • Red-Team Verification &amp; Runbook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DOC-MT-06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Production Verification: 10-Point Red-Team Breach Simulation &amp; Cloud Console Runbook.</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Run: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container platform used to host stateless ingress routers and Model Context Protocol (MCP) tool servers inside gVisor sandboxes.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BigQuery: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enterprise data warehouse aggregating OpenTelemetry execution spans, audit logs, and token chargeback analytics.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KMS HSM: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Manages Customer-Managed Encryption Keys (CMEK) and asymmetric signing keys for cryptographic isolation and auditability.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VPC &amp; Private Service Connect: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DOC-MT-06 to enforce production security, scalability, and observability.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Logging &amp; Cloud Trace: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Distributed tracing system capturing end-to-end latency and token usage spans across routers, agents, and MCP servers.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Security Command Center: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Centralized posture management and threat detection across IAM, VPC Service Controls, and Vertex AI workloads.</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Live Google Cloud Console, Cloud Shell SSH &amp; BigQuery Audit Verification Runbook</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Every security control in the 10-point red-team suite is backed by deterministic audit receipts in BigQuery and Cloud Logging across ramp-portal-dev and cymbal-build-sandbox.</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VPC • Zero-Trust 5-Hop Enforcement Pipeline and Zero Raw PII Egress,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Perimeter &amp; ingress defense: </a:t>
            </a:r>
            <a:pPr indent="0" marL="0">
              <a:lnSpc>
                <a:spcPct val="116000"/>
              </a:lnSpc>
              <a:buNone/>
            </a:pPr>
            <a:r>
              <a:rPr lang="en-US" sz="780" dirty="0">
                <a:solidFill>
                  <a:srgbClr val="3C4043"/>
                </a:solidFill>
                <a:latin typeface="Arial" pitchFamily="34" charset="0"/>
                <a:ea typeface="Arial" pitchFamily="34" charset="-122"/>
                <a:cs typeface="Arial" pitchFamily="34" charset="-120"/>
              </a:rPr>
              <a:t>Screens all incoming traffic through Vector 1: Cloud Armor and Vector 2: Agent 403 before reaching Hop 2 Catalog PDP.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Deterministic agent orchestration: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Pairs Vertex AI Agent Engine with Vector 4: HTTP 400 and Vector 8: SDP Mask.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Centralized governance &amp; cost attribution: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Streams zero-PII audit logs and OpenTelemetry token spans into BigQuery OTel Audit and Vector 6: Valkey 429 &amp; 4k Token Clamp.</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6 of 6 • Red-Team Verification &amp; Runbook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DOC-MT-06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Hop 2 Catalog PDP under Adversarial Breach Verification Harness.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Vector 1: Cloud Armor and Vector 2: Agent 403.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Vertex AI Agent Engine &amp; Vector 8: SDP Mask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Vertex AI Agent Engine with Vector 8: SDP Mask and Zero Raw PII Egress.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Vector 8: SDP Mask: Maximizes blast-radius containment by keeping credentials, service accounts, and data access strictly inside Hop.;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Vector 1: Cloud Armor &amp; Vector 2: Agent 403 &amp; Vector 4: HTTP 400</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Zero Raw PII Egress &amp; Vector 10: Inline 3LO</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Vector 1: Cloud Armor &amp; Vector 2: Agent 403 &amp; Vector 4: HTTP 400: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Vector 4: HTTP 400.
</a:t>
            </a:r>
            <a:pPr indent="0" marL="0">
              <a:buNone/>
            </a:pPr>
            <a:r>
              <a:rPr lang="en-US" sz="700" b="1" dirty="0">
                <a:solidFill>
                  <a:srgbClr val="202124"/>
                </a:solidFill>
                <a:latin typeface="Arial" pitchFamily="34" charset="0"/>
                <a:ea typeface="Arial" pitchFamily="34" charset="-122"/>
                <a:cs typeface="Arial" pitchFamily="34" charset="-120"/>
              </a:rPr>
              <a:t>• Zero Raw PII Egress &amp; Vector 10: Inline 3LO: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Zero Raw PII Egress.</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Hop 2 Catalog PDP</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Vertex AI Agent Engine &amp; Vector 8: SDP Mask</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Zero Raw PII Egress</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Hop 2 Catalog PDP: </a:t>
            </a:r>
            <a:pPr indent="0" marL="0">
              <a:buNone/>
            </a:pPr>
            <a:r>
              <a:rPr lang="en-US" sz="690" dirty="0">
                <a:solidFill>
                  <a:srgbClr val="3C4043"/>
                </a:solidFill>
                <a:latin typeface="Arial" pitchFamily="34" charset="0"/>
                <a:ea typeface="Arial" pitchFamily="34" charset="-122"/>
                <a:cs typeface="Arial" pitchFamily="34" charset="-120"/>
              </a:rPr>
              <a:t>Deploy Hop 2 Catalog PDP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Vertex AI Agent Engine &amp; Vector 8: SDP Mask: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Vector 8: SDP Mask.
</a:t>
            </a:r>
            <a:pPr indent="0" marL="0">
              <a:buNone/>
            </a:pPr>
            <a:r>
              <a:rPr lang="en-US" sz="700" b="1" dirty="0">
                <a:solidFill>
                  <a:srgbClr val="202124"/>
                </a:solidFill>
                <a:latin typeface="Arial" pitchFamily="34" charset="0"/>
                <a:ea typeface="Arial" pitchFamily="34" charset="-122"/>
                <a:cs typeface="Arial" pitchFamily="34" charset="-120"/>
              </a:rPr>
              <a:t>• Zero Raw PII Egress: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Zero Raw PII Egress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Vector 6: Valkey 429 &amp; 4k Token Clamp &amp; BigQuery OTel Audit</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Model Armor &amp; Safety Filters and Memory Bank, Skills &amp; AlloyDB RLS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Vector 6: Valkey 429 &amp; 4k Token Clamp &amp; BigQuery OTel Audit: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BigQuery OTel Audit and monitor posture drift in Vector 6: Valkey 429 &amp; 4k Token Clamp.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Vector 5: HTTP 422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Vector 3: Tool Prune &amp; Vector 8: SDP Mask</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BigQuery OTel Audit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Vector 5: HTTP 422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Vector 3: Tool Prune &amp; Vector 8: SDP Mask: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BigQuery OTel Audit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6 of 6 • Red-Team Verification &amp; Runbook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DOC-MT-06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Production Verification: 10-Point Red-Team Breach Simulation &amp; Cloud Console Runbook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sql/verify_10_point_breach_audit_log.sql</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SQL</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rtlCol="0" anchor="t">
            <a:normAutofit/>
          </a:bodyPr>
          <a:lstStyle/>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SELECT sim_id, attack_vector, enforcement_hop, http_status_code, verdict, verified_at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FROM `cymbal-build-sandbox.cymbal_agentic_finops_otel.security_breach_audit_log`</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ORDER BY sim_id ASC;</a:t>
            </a:r>
            <a:endParaRPr lang="en-US" sz="69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rtlCol="0" anchor="t"/>
          <a:lstStyle/>
          <a:p>
            <a:pPr indent="0" marL="0">
              <a:lnSpc>
                <a:spcPct val="118000"/>
              </a:lnSpc>
              <a:buNone/>
            </a:pPr>
            <a:r>
              <a:rPr lang="en-US" sz="80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Read the canonical Google Cloud Architecture Center reference architecture.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Agent Development Kit (ADK) Documentation: </a:t>
            </a:r>
            <a:pPr indent="0" marL="0">
              <a:lnSpc>
                <a:spcPct val="118000"/>
              </a:lnSpc>
              <a:buNone/>
            </a:pPr>
            <a:r>
              <a:rPr lang="en-US" sz="780" dirty="0">
                <a:solidFill>
                  <a:srgbClr val="3C4043"/>
                </a:solidFill>
                <a:latin typeface="Arial" pitchFamily="34" charset="0"/>
                <a:ea typeface="Arial" pitchFamily="34" charset="-122"/>
                <a:cs typeface="Arial" pitchFamily="34" charset="-120"/>
              </a:rPr>
              <a:t>Build hierarchical multi-agent systems, deterministic callbacks, and MCP toolsets.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Vertex AI Agent Engine Overview: </a:t>
            </a:r>
            <a:pPr indent="0" marL="0">
              <a:lnSpc>
                <a:spcPct val="118000"/>
              </a:lnSpc>
              <a:buNone/>
            </a:pPr>
            <a:r>
              <a:rPr lang="en-US" sz="780" dirty="0">
                <a:solidFill>
                  <a:srgbClr val="3C4043"/>
                </a:solidFill>
                <a:latin typeface="Arial" pitchFamily="34" charset="0"/>
                <a:ea typeface="Arial" pitchFamily="34" charset="-122"/>
                <a:cs typeface="Arial" pitchFamily="34" charset="-120"/>
              </a:rPr>
              <a:t>Explore managed runtime deployment, Sessions, Memory Bank, and Context Caching.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80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rtlCol="0" anchor="t"/>
          <a:lstStyle/>
          <a:p>
            <a:pPr indent="0" marL="0">
              <a:lnSpc>
                <a:spcPct val="122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Authors: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 Cloud Solutions Architecture • Enterprise AI Field Engineering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Other contributors: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
</a:t>
            </a:r>
            <a:pPr indent="0" marL="0">
              <a:lnSpc>
                <a:spcPct val="122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DOC-MT-06: Production Verification: 10-Point Red-Team Breach Simulation &amp; Cloud Console Runbook (DOC-MT-06)</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2026-10-28T13:34:30Z</dcterms:created>
  <dcterms:modified xsi:type="dcterms:W3CDTF">2026-10-28T13:34:30Z</dcterms:modified>
</cp:coreProperties>
</file>