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Gemini 2.5 Pro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2-Question Topology Decision Tree (Patterns A, B &amp; C)
• Decision Gate 1 — Universal Regulatory Sovereignty Mandate: Do 100% of your customers legally require dedicated GCP projects, VPC Service Controls, and customer-revocable CMEK kill-switches? If YES, standardize on Pattern B.
• Decision Gate 2 — Single-Tier vs. Multi-Tier SaaS Packaging: If not all customers require physical silos, do you sell a single commercial tier or both Standard and Enterprise tiers? Choose Pattern A for one tier, or Pattern C for both.
• Non-Destructive Architectural Evolution: Launching on Pattern A in Week 4 never creates technical debt—you evolve into Pattern C in Week 10 by attaching Private Service Connect spokes without rewriting your agent.
• Built-In Mid-Contract Upsell Engine: Only Pattern C embeds the 3-phase zero-downtime migration state machine that promotes a live Standard tenant into a dedicated Enterprise spoke without dropping active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WS5 • 80/20 Code Reuse Architecture &amp; Multi-Tenant Agentic Triad: Workstream 5 Executive Decision Guide  •  80% Reusable 5-Hop ADK Core + 20% Parameterized Terraform Topologies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WS5 • Uncached Multi-Tenant Prompt vs. 90% Prefix Cache &amp; Zero-PII OTel Span: Workstream 5 FinOps &amp; Telemetry  •  84.7% Net Token Savings via 90% Shared Prefix Cache + Zero-PII OTel Spans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WS5 • 5-Actor UML Sequence: Multi-Tenant Agentic Triad &amp; FinOps Chargeback: Workstream 5 Agentic Triad Sequence  •  Shared + Private Agents + Dynamic GCS Skills + Zero-PII FinOps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WS5 • ACT II: EXECUTIVE 2-QUESTION TOPOLOGY SELECTOR &amp; LIVE PROMOTION LOOP: Workstream 5 Decision &amp; Promotion Loop  •  2-Question Selector + 80/20 Terraform Deployment + Live Tier Promotion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Multi-Tenant Topology Comparison Matrix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5 • Decision Guide, Agentic Triad &amp; Program Wrap-up.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ACT III: 10-WEEK ENTERPRISE MULTI-TENANT ROLLOUT ROADMAP: Workstream 5 Program Roadmap  •  Weeks 1–3 (Pattern A MVP) → Weeks 4–6 (FinOps &amp; OTel) → Weeks 7–10 (Silos &amp; PSC)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ACT III: 80/20 CODE REUSE, AGENTIC TRIAD &amp;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Resolve Regulatory Mandates Before Product Packaging: Always evaluate whether compliance requires physical per-tenant projects (Gate 1 -&gt; Pattern B) before choosing between single-tier (Pattern A) and multi-tier (Pattern C).
• Standardize on One 5-Hop Security Pipeline Across All Tiers: Keep 80% of your Python ADK 2.0 application code identical across Pooled, Siloed, and Hybrid environments.
• Treat Pooled ($), Hybrid ($$), and Siloed ($$$) as One Continuous Platform: Use Firestore routing metadata and Private Service Connect to move tenants across tiers without changing URLs or rewriting agents.
• Balance All Three Pillars of the Agentic Triad: Combining 5-hop zero-trust security, 90% prefix caching + Valkey bulkheads, and zero-PII BigQuery OTel chargeback protects both CISO compliance and CFO margins.
• Gate Every Production Release on the 12-Point Forensic &amp; 20-Test Simulation Suite: Run `python3 -B scripts/run_deep_forensic_audit.py` to certify code, diagrams, Terraform blueprints, and live GCP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Two Architectural Questions Select Your Pattern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evaluate whether 100% of tenants legally require dedicated cloud projects (Pattern B); second evaluate whether you sell one uniform tier (Pattern A) or multiple tiers (Pattern C).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80% Reusable 5-Hop Codebase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Engineering writes the 5-hop ADK 2.0 security and governance pipeline once; Patterns A, B, and C merely parameterize the surrounding Google Cloud isolation boundary.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Triad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Sustainable enterprise AI platforms balance three interdependent pillars—Zero-Trust Cryptographic Security, Predictable Unit Economics, and Zero-PII FinOps Chargeback.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Proven 1,000-Tenant Portfolio Economics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950 Standard and 50 Enterprise tenants, Pattern C reduces Gemini 2.5 Pro input token spend by 84.7%, lowers total cloud TCO by 74% vs. all-siloed, and maintains a 99.99% SLA.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Master Blueprint (#78) &amp; SLO Scorecard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Decomposes Figure 1 into 56 editable vector shapes + 23 connectors, quantified unit economics ($42 vs. $1,850/mo) &amp; GCP stack.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3-Zone Boundaries, UML &amp; Fail-Closed Loops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Walks through 3-zone physical/logical boundaries, Hop 1 OBO+DPoP wire transformation, 5-Actor UML sequence &amp; HTTP 401–429 circuit breakers.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9–12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A/B/C Matrix, GAP-01..05 &amp; Live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Compares Pooled, Siloed &amp; Hybrid PSC trade-offs, closes 5 EAP product gaps, embeds 16:9 Cloud Console captures &amp; 6-week rollout.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13–14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Day-2 RACI Operating Model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Assigns Security, SRE &amp; FinOps ownership SLAs and maps runnable deliverables across Workstreams 1–5 (24 files + 20/20 gates).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Zero-PII OTel &amp; FinOps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Gemini 2.5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90595"/>
            <a:ext cx="760781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99739"/>
            <a:ext cx="72420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87391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05679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839773" y="4608576"/>
            <a:ext cx="522122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858061" y="4617720"/>
            <a:ext cx="4855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853489" y="4817059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871777" y="4826203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713025"/>
            <a:ext cx="495605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722169"/>
            <a:ext cx="45902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Reusable Python ADK 2.0 Application Codebase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5-hop security pipeline (core-cymbal-agent/), parameterizing only 20% Terraform boundaries.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Codebase • 3 Topologies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2-Q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Topology Decision Tree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Maps Contractual Blast-Radius / CMEK Kill-Switch (Q1) and Dynamic Tier Promotion (Q2) directly to Pattern A, B, or C.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Selector Framework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10-Wk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Phased Production Rollout Roadmap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from Pooled MVP (Weeks 1–3) to 5-Hop Hardening (Weeks 4–6), Sovereign Silos (Weeks 7–8), and Hybrid PSC (Weeks 9–10).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Implementation Playbook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14/14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Certified Architecture Center (#78) Blueprints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topology ships with 56 native editable Draw.io shapes, 23 vertex-bound connectors, and 14-slide 3-Act executive walkthroughs.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Editable Vector Assets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2-Question Topology Decision Tree (Patterns A, B &amp; 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1 — Universal Regulatory Sovereignty Mandate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 100% of your customers legally require dedicated GCP projects, VPC Service Controls, and customer-revocable CMEK kill-switches? If YES, standardize on Pattern B.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Mandate: OCC / HIPAA / FedRAMP High / Sovereign Cloud Across 100% of Tenants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B (Zero-Trust Sovereign Silos) • $1,850/mo Baseline Floor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1: Yes -&gt; Pattern 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2 — Single-Tier vs. Multi-Tier SaaS Packaging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not all customers require physical silos, do you sell a single commercial tier or both Standard and Enterprise tiers? Choose Pattern A for one tier, or Pattern C for both.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Uniform Commercial B2B SaaS -&gt; Pattern A • Multi-Tier Enterprise SaaS -&gt;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A ($42/mo Pool) or Pattern C (Blended Pool + PSC Spokes)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2: Pattern A vs. Pattern C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Non-Destructive Architectural Evolution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Launching on Pattern A in Week 4 never creates technical debt—you evolve into Pattern C in Week 10 by attaching Private Service Connect spokes without rewriting your agent.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Shared 5-Hop Runtime Interface (core-cymbal-agent/runtime_pipeline.py)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Add PSC ServiceAttachment Spokes Declaratively via Terraform (4.6)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Zero-Rewrite Evolution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Built-In Mid-Contract Upsell Engine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Only Pattern C embeds the 3-phase zero-downtime migration state machine that promotes a live Standard tenant into a dedicated Enterprise spoke without dropping active sessions.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SHADOW_SYNC (0ms Lag) -&gt; ATOMIC_CUTOVER (Firestore)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Turns Enterprise Tier Upgrades into a Same-Day Automated Product Capability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 Architecture &amp; Multi-Tenant Agentic Triad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2-QUESTION TOPOLOGY SELECTOR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(Executive Decision Inputs)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Silo?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Contractual Project /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/ CMEK Mandate?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Hybrid?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Control Plane +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Upgrades?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1,000-Tenant Portfolio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 Target ($313k/mo)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Selects Pattern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A, B, or C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Shared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Core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INVARIANT 5-HOP ADK 2.0 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(runtime_pipeline.py — 80% Reusable)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Agentic Triad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Private Agents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90%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Prefix Cache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Telemetry &amp; 3LO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Workspace MCP Hub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20% Terraform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Topology Adapter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20/20 Automated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CI/CD Gates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PARAMETERIZED TERRAFORM TARGETS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(Modules 2.6, 3.6 &amp; 4.6)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2.6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Module 2.6: Pooled Cloud Run v2 + AlloyDB RLS Starter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3.6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4.6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&amp; Hybrid PSC Spoke Blueprints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Zero-PII BigQuery Chargeback &amp; 10-Week Rollout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Executive Decision Guide  •  80% Reusable 5-Hop ADK Core + 20% Parameterized Terraform Topologies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Uncached Multi-Tenant Prompt vs. 90% Prefix Cache &amp; Zero-PII OTel Span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Uncached Raw Prompt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Unhashed Telemetry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"sys_prompt": "32,000 tok"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"billing_mode"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"100% full input token rate"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"raw_log_payload"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&lt;unredacted tenant PII&gt;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&amp; OTel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Normalizer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Immutable Prefix Cache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 &amp; Think Cap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Hasher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Chargeback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 Span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"finvault",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"cached_tokens": 32000,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"dynamic_tokens": 1800,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"net_savings": "84.7%",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"prompt_sha256": "e3b0c44298fc",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"raw_pii_logged": false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FinOps &amp; Telemetry  •  84.7% Net Token Savings via 90% Shared Prefix Cache + Zero-PII OTel Spans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5-Actor UML Sequence: Multi-Tenant Agentic Triad &amp; FinOps Chargeback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DIAG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Agent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Tenant Agent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 MCP Hub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FinOps OTel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submits complex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risk query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ADK 2.0 runtime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Authenticated Query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Agent checks ARD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registry &amp; delegates to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Private Agent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 ARD Visibility → A2A Scoped Delegation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Agent hot-loads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GCS skill with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container rebuild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GCS • Dynamic Skill Hot-Swap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Hits 90% shared 32k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within 8k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thinking token budget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Prefix Cache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+ 8k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Savings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Invokes 2LO Telemetry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3LO Workspace MCP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OBO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Scoped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Hashes prompt (SHA-256)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zero-PII span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BigQuery chargeback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SHA-256 Prompt Hash (Zero Raw PII)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Tenant Cost Row (BigQuery Ledger)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BQ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Agentic Triad Sequence  •  Shared + Private Agents + Dynamic GCS Skills + Zero-PII FinOps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II: EXECUTIVE 2-QUESTION TOPOLOGY SELECTOR &amp; LIVE PROMOTION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Dynamic Architecture Selection &amp; Lifecycle Promotion Across Patterns A, B &amp; C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Contractual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/ CMEK?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Single Hub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Upgrades?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(2.6 / 3.6 / 4.6)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 Certified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Runtime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Evaluates regulatory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blast-radius mandate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If Q1=Yes &amp; single-org,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Pattern B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Silo ($1,850/mo)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Evaluates portfolio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mix: Pattern A ($42/mo)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vs. Pattern C Hybrid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Provisions 80% shared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2.0 core + 20%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infrastructure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Commercial tenants onboarded 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seamlessly promote to Pattern C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spokes as enterprise requirements grow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Decision &amp; Promotion Loop  •  2-Question Selector + 80/20 Terraform Deployment + Live Tier Promotion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TRADE-OFF &amp; ISOLATION SELECTION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Q1: Regulatory Blast-Radius Gate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customer contracts mandate dedicated GCP projects, VPC-SC, or &lt;60s CMEK kill-switches, route to Pattern B or Pattern C Spoke.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Q2: Portfolio Mobility &amp; Upsell Gate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operating a multi-tier SaaS platform with self-service Standard-to-Enterprise upgrades, deploy Pattern C Dynamic Hybrid PSC.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74% Blended Portfolio TCO Savings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850–950 Standard tenants in Pattern A ($42/mo) and 50–150 Enterprise spokes saves $1.53M/mo vs. an all-silo footprint.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Continuous 12/12 + 20/20 CI/CD Gate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pull request executes 12 forensic checks and 20 live security/migration assertions before promoting revisions to Cloud Run.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TRADE-OFF &amp; ISOLATION SELECTION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Topology Comparison Matrix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Evaluation Criterion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 Isolation &amp; Network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Logical isolation in 1 shared GCP project via signed OBO/DPoP JWTs &amp; AlloyDB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Physical isolation in dedicated per-tenant GCP projects with VPC-SC &amp; IAM PAB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+ Shared Pool (Std) + Unidirectional PSC Spokes (Ent)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Hosting &amp; Prefix Caching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Gemini 2.5 Pro with 90% ContextCacheConfig discount (4k/8k token caps)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Gemini 2.5 Pro PT or air-gapped Gemma 3 (27B) on private GKE GPUs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90% shared prefix cache for Standard pool; dedicated PT / Gemma 3 in Enterprise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Encryption Sovereignty &amp;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Project/envelope KMS encryption + L1–L5 Memory Bank namespace separation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tenant Cloud KMS CMEK with &lt;60s HTTP 423 kill-switch across all stores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dedicated CMEK kill-switch + 0ms live upgrade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1,000-Tenant Portfolio Monthly TCO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$42,000 / mo (1,000 Pooled tenants @ $42/mo;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$1,850,000 / mo (1,000 Dedicated Silo projects @ $1,850/mo sovereign floor)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$132,400 / mo (950 Pooled + 50 PSC Spokes -&gt; 74% lower TCO vs. all-siloed)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Automated Verification Gate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PASS (run_breach_simulations.py — header spoof, ARD, NLC, DLP, RLS)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6/6 PASS (run_silo_security_tests.py — mTLS, PAB, VPC-SC, HTTP 423 CMEK)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4/4 PASS (run_tier_migration_suite.py — 0ms CDC lag, 0 dropped sessions)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Q1: Regulatory Blast-Radius Gate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customer contracts mandate dedicated GCP projects, VPC-SC, or &lt;60s CMEK kill-switches, route to Pattern B or Pattern C Spoke.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Q2: Portfolio Mobility &amp; Upsell Gate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operating a multi-tier SaaS platform with self-service Standard-to-Enterprise upgrades, deploy Pattern C Dynamic Hybrid PSC.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74% Blended Portfolio TCO Savings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850–950 Standard tenants in Pattern A ($42/mo) and 50–150 Enterprise spokes saves $1.53M/mo vs. an all-silo footprint.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Continuous 12/12 + 20/20 CI/CD Gate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pull request executes 12 forensic checks and 20 live security/migration assertions before promoting revisions to Cloud Run.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Compensating Controls, Terraform Blueprint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20/20 SIMULATION AUDIT LEDGER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20/20 security &amp; migration telemetry across Patterns A, B &amp; C in Cloud Logging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PANTHEON LIVE VERIFICATION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Authentic Pantheon console &amp; SSH runtime attestation across 3 Google Cloud projects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screenshots/cloud-console/pantheon_live_user_capture_ssh_verify.png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80/20 UNIFIED CODEBASE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Identical 5-Hop Python Pipeline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runtime_pipeline.py executes unchanged across Pattern A Pool, Pattern B Silo, and Pattern C Hybrid PSC.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MULTI-TENANT AGENTIC TRIAD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+ Private Agents + Dynamic GCS Skills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Shared Diagnostic Agent with Tenant Private Agents and runtime GCS skill hot-swapping.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ZERO-PII BIGQUERY FINOPS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Hashing &amp; Token Chargeback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Logs cached vs. dynamic token counts and latency per tenant_id to BigQuery with zero raw PII text.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COMPLETE 24-FILE WORKBENCH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/ 3.6 / 4.6 &amp; 20/20 Test Suite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Ships production Terraform modules, ADK 2.0 runtime code, and 20/20 automated verification gates.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10-WEEK ENTERPRISE MULTI-TENANT ROLLOUT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10-Week Phased Production Rollout Across Patterns A, B &amp; C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Pooled MVP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Core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Pipeline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1–3)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Commercial Tenants at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$42/mo with 10/10 Breach Gate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Safety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Valkey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BigQuery OTel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4–6)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Activate 90% Prefix Cache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Zero-PII Chargeback Ledger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Sovereign &amp; PSC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Silos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PSC Spokes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7–10)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Regulated Tenants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0ms Live Tier Upgrades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Roadmap  •  Weeks 1–3 (Pattern A MVP) → Weeks 4–6 (FinOps &amp; OTel) → Weeks 7–10 (Silos &amp; PSC)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80/20 CODE REUSE, AGENTIC TRIAD &amp;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Day-2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Resolve Regulatory Mandates Before Product Packaging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Always evaluate whether compliance requires physical per-tenant projects (Gate 1 -&gt; Pattern B) before choosing between single-tier (Pattern A) and multi-tier (Pattern C).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Gate 1: Physical Silo Mandate? -&gt; Gate 2: Single vs. Multi-Tier SaaS Packaging?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Provides CISO, CFO &amp; VP Engineering Alignment in Under 15 Minutes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Executive Decision Tree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Standardize on One 5-Hop Security Pipeline Across All Tiers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80% of your Python ADK 2.0 application code identical across Pooled, Siloed, and Hybrid environments.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• Hops 1–5 Enforced Identically in Patterns A, B &amp;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Eliminates Multi-Branch Maintenance &amp; Guarantees Uniform Security Posture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80% Reusable Core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Treat Pooled ($), Hybrid ($$), and Siloed ($$$) as One Continuous Platform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Firestore routing metadata and Private Service Connect to move tenants across tiers without changing URLs or rewriting agents.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Service Connect (PSC) + 3-Phase Live Tier Migration Engine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Zero-Downtime Tenant Promotion from $42/mo Pool to $1,850/mo Dedicated Spoke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Elastic Tier Mobility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Balance All Three Pillars of the Agentic Triad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5-hop zero-trust security, 90% prefix caching + Valkey bulkheads, and zero-PII BigQuery OTel chargeback protects both CISO compliance and CFO margins.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Security (5 Hops) + Economics (90% Cache / Valkey) + FinOps (BigQuery OTel)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Token Cost Reduction • 74% Portfolio Cloud Savings • 99.99%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The Agentic Triad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Every Production Release on the 12-Point Forensic &amp; 20-Test Simulation Suite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python3 -B scripts/run_deep_forensic_audit.py to certify code, diagrams, Terraform blueprints, and live GCP resources.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Automated Verification Across Code, Diagrams, Slides &amp; Live GCP Resources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Continuous Governance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 through the 2-question topology decision tree with your architecture and security review boards, execute the 20-assertion verification suite, and initiate your 10-week production rollout.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Pooled, Siloed, or Hybrid? Executive Decision Guide &amp; Multi-Tenant Agentic Triad (Workstream 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2026-10-19T06:31:35Z</dcterms:created>
  <dcterms:modified xsi:type="dcterms:W3CDTF">2026-10-19T06:31:35Z</dcterms:modified>
</cp:coreProperties>
</file>