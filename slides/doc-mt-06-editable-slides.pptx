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our complete executive and technical briefing on the Gemini Enterprise Agent Platform Multi-Tenancy Program.</a:t>
            </a:r>
            <a:endParaRPr lang="en-US" dirty="0"/>
          </a:p>
          <a:p>
            <a:r>
              <a:rPr lang="en-US" dirty="0"/>
              <a:t>Over the next twenty-five slides, we will show how software providers and enterprise platform teams build, secure, and scale multi-tenant AI agents on Google Cloud—protecting SaaS gross margins for commercial accounts while delivering uncompromising sovereignty for regulated enterprises.</a:t>
            </a:r>
            <a:endParaRPr lang="en-US" dirty="0"/>
          </a:p>
          <a:p>
            <a:r>
              <a:rPr lang="en-US" dirty="0"/>
              <a:t>Let's move to Slide 2 to look at our five-workstream program map so everyone can see how the five chapters of this briefing connect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opening thesis from Slide 1, this program map acts as our executive roadmap for the entire twenty-five-slide deck.</a:t>
            </a:r>
            <a:endParaRPr lang="en-US" dirty="0"/>
          </a:p>
          <a:p>
            <a:r>
              <a:rPr lang="en-US" dirty="0"/>
              <a:t>Notice how the five chapters progress logically: Workstream 1 establishes our five-hop security baseline and three-pattern taxonomy; Workstream 2 builds Pattern A, our High-Density Shared Pool; Workstream 3 builds Pattern B, our Zero-Trust Sovereign Silos; Workstream 4 connects them via Pattern C with zero-downtime live customer upgrades; and Workstream 5 gives leadership our twelve-dimension decision matrix and eighty-percent shared codebase.</a:t>
            </a:r>
            <a:endParaRPr lang="en-US" dirty="0"/>
          </a:p>
          <a:p>
            <a:r>
              <a:rPr lang="en-US" dirty="0"/>
              <a:t>With that five-part roadmap in place, let's turn to Slide 3 to open our first chapter: Workstream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directly out of the five-workstream program map on Slide 2, we now begin Workstream 1 (Foundation &amp; Reference Taxonomy).</a:t>
            </a:r>
            <a:endParaRPr lang="en-US" dirty="0"/>
          </a:p>
          <a:p>
            <a:r>
              <a:rPr lang="en-US" dirty="0"/>
              <a:t>In this first chapter on Workstream 1, we establish the foundational five-hop security architecture and the three multi-tenant deployment patterns—Shared Pool, Sovereign Silos, and Hybrid Bridge—that anchor the entire program.</a:t>
            </a:r>
            <a:endParaRPr lang="en-US" dirty="0"/>
          </a:p>
          <a:p>
            <a:r>
              <a:rPr lang="en-US" dirty="0"/>
              <a:t>Let's advance to Slide 4 to examine the authoritative Figure 1 Google Cloud architecture blueprint for WS1 before we zoom into its core runtime mechanism on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3, we start at the top with the complete Figure 1 Google Cloud architecture blueprint so everyone sees the end-to-end system map first.</a:t>
            </a:r>
            <a:endParaRPr lang="en-US" dirty="0"/>
          </a:p>
          <a:p>
            <a:r>
              <a:rPr lang="en-US" dirty="0"/>
              <a:t>Zooming into Figure 1, here is our master Google Cloud physical blueprint. Requests enter the blue Routing Hub at the top, pass through the green Five-Hop Governance Hub in the center, and branch into either the yellow Shared Pool Spoke on the left for high-density commercial accounts or the red Sovereign Silo Spoke on the right for regulated enterprise accounts.</a:t>
            </a:r>
            <a:endParaRPr lang="en-US" dirty="0"/>
          </a:p>
          <a:p>
            <a:r>
              <a:rPr lang="en-US" dirty="0"/>
              <a:t>Now that we have the end-to-end Figure 1 architecture map here on Slide 4, let's zoom in on Slide 5 to examine the core security and runtime mechanism that powers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4, this diagram shows how WS1 enforces isolation and reliability in action.</a:t>
            </a:r>
            <a:endParaRPr lang="en-US" dirty="0"/>
          </a:p>
          <a:p>
            <a:r>
              <a:rPr lang="en-US" dirty="0"/>
              <a:t>Look at the three logical security zones from left to right: customer requests enter through our Front Door in Zone 1, receive an unforgeable cryptographic tenant passport inside our Five-Hop Control Plane in Zone 2, and execute inside isolated data and model lanes in Zone 3. For both business and technical leaders, this means every tenant is governed by the exact same security discipline regardless of tier.</a:t>
            </a:r>
            <a:endParaRPr lang="en-US" dirty="0"/>
          </a:p>
          <a:p>
            <a:r>
              <a:rPr lang="en-US" dirty="0"/>
              <a:t>With both the physical blueprint and runtime mechanism clear, let's turn to Slide 6 to review the architectural trade-offs, selection rules, and verification results for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5, this slide closes our four-slide chapter on WS1 by summarizing the business decision rules and automated test outcomes.</a:t>
            </a:r>
            <a:endParaRPr lang="en-US" dirty="0"/>
          </a:p>
          <a:p>
            <a:r>
              <a:rPr lang="en-US" dirty="0"/>
              <a:t>This comparison table gives executives and architects the four simple rules at the bottom for matching any customer contract to the right pattern—balancing SaaS gross margins in Pattern A against dedicated regulatory isolation in Pattern B and seamless live tier upgrades in Pattern C.</a:t>
            </a:r>
            <a:endParaRPr lang="en-US" dirty="0"/>
          </a:p>
          <a:p>
            <a:r>
              <a:rPr lang="en-US" dirty="0"/>
              <a:t>That completes our chapter on Workstream 1 (Foundation &amp; Reference Taxonomy). Next, on Slide 7, we move directly into Workstream 2, where we dive deep into Pattern A—our High-Density Shared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1 (Foundation &amp; Reference Taxonomy) on Slide 6, we now transition into Workstream 2 (Pattern A — High-Density Shared Pool).</a:t>
            </a:r>
            <a:endParaRPr lang="en-US" dirty="0"/>
          </a:p>
          <a:p>
            <a:r>
              <a:rPr lang="en-US" dirty="0"/>
              <a:t>Here in Chapter 2, we focus on Pattern A—answering how a SaaS business can host hundreds of commercial customers on a single shared Google Cloud environment to achieve up to ninety percent prompt-caching cost savings without ever risking cross-tenant data bleed.</a:t>
            </a:r>
            <a:endParaRPr lang="en-US" dirty="0"/>
          </a:p>
          <a:p>
            <a:r>
              <a:rPr lang="en-US" dirty="0"/>
              <a:t>Let's advance to Slide 8 to examine the authoritative Figure 1 Google Cloud architecture blueprint for WS2 before we zoom into its core runtime mechanism on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7, we start at the top with the complete Figure 1 Google Cloud architecture blueprint so everyone sees the end-to-end system map first.</a:t>
            </a:r>
            <a:endParaRPr lang="en-US" dirty="0"/>
          </a:p>
          <a:p>
            <a:r>
              <a:rPr lang="en-US" dirty="0"/>
              <a:t>Figure 1 shows the complete Pattern A shared-pool physical blueprint on Google Cloud. Federated users from Google OIDC and Microsoft Entra arrive through the blue Routing Hub, get rate-limited by per-tenant Valkey bulkheads and served from a shared thirty-two-thousand-token Vertex AI prefix cache in the green Governance Hub, and query tenant-locked rows inside the yellow Shared Pool Spoke.</a:t>
            </a:r>
            <a:endParaRPr lang="en-US" dirty="0"/>
          </a:p>
          <a:p>
            <a:r>
              <a:rPr lang="en-US" dirty="0"/>
              <a:t>Now that we have the end-to-end Figure 1 architecture map here on Slide 8, let's zoom in on Slide 9 to examine the core security and runtime mechanism that powers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8, this diagram shows how WS2 enforces isolation and reliability in action.</a:t>
            </a:r>
            <a:endParaRPr lang="en-US" dirty="0"/>
          </a:p>
          <a:p>
            <a:r>
              <a:rPr lang="en-US" dirty="0"/>
              <a:t>Zooming in from Figure 1 to the wire packet level, these three stages show how we stop cross-tenant spoofing before it ever touches our shared pool. Even if a caller from RetailStream injects a fake header claiming to be FinVault on the left, our Hop 1 gate in the center strips it out and binds their verified login identity directly into the AlloyDB Row-Level Security session on the right.</a:t>
            </a:r>
            <a:endParaRPr lang="en-US" dirty="0"/>
          </a:p>
          <a:p>
            <a:r>
              <a:rPr lang="en-US" dirty="0"/>
              <a:t>With both the physical blueprint and runtime mechanism clear, let's turn to Slide 10 to review the architectural trade-offs, selection rules, and verification results for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9, this slide closes our four-slide chapter on WS2 by summarizing the business decision rules and automated test outcomes.</a:t>
            </a:r>
            <a:endParaRPr lang="en-US" dirty="0"/>
          </a:p>
          <a:p>
            <a:r>
              <a:rPr lang="en-US" dirty="0"/>
              <a:t>Our ten-point red-team verification matrix confirms that every common multi-tenant failure mode—from header spoofing and prompt-cache poisoning to noisy-neighbor traffic floods—is 100% blocked while preserving shared-pool unit economics.</a:t>
            </a:r>
            <a:endParaRPr lang="en-US" dirty="0"/>
          </a:p>
          <a:p>
            <a:r>
              <a:rPr lang="en-US" dirty="0"/>
              <a:t>That completes our chapter on Workstream 2 (Pattern A — High-Density Shared Pool). Next, on Slide 11, we move directly into Workstream 3, where we examine Pattern B for regulated customers who legally require their own dedicated cloud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2 (Pattern A — High-Density Shared Pool) on Slide 10, we now transition into Workstream 3 (Pattern B — Zero-Trust Sovereign Silos).</a:t>
            </a:r>
            <a:endParaRPr lang="en-US" dirty="0"/>
          </a:p>
          <a:p>
            <a:r>
              <a:rPr lang="en-US" dirty="0"/>
              <a:t>In Chapter 3, we move to Pattern B—our Zero-Trust Sovereign Silo architecture—built for regulated banking, healthcare, and public-sector customers whose compliance officers mandate zero physical blast radius and customer-controlled encryption kill-switches.</a:t>
            </a:r>
            <a:endParaRPr lang="en-US" dirty="0"/>
          </a:p>
          <a:p>
            <a:r>
              <a:rPr lang="en-US" dirty="0"/>
              <a:t>Let's advance to Slide 12 to examine the authoritative Figure 1 Google Cloud architecture blueprint for WS3 before we zoom into its core runtime mechanism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11, we start at the top with the complete Figure 1 Google Cloud architecture blueprint so everyone sees the end-to-end system map first.</a:t>
            </a:r>
            <a:endParaRPr lang="en-US" dirty="0"/>
          </a:p>
          <a:p>
            <a:r>
              <a:rPr lang="en-US" dirty="0"/>
              <a:t>In Figure 1, you can see how the Pattern B sovereign vault is physically isolated on Google Cloud. A dedicated single-tenant project is wrapped inside a VPC Service Controls perimeter and Principal Access Boundary, with every database table, memory bank, and optional air-gapped GKE Gemma 3 GPU node encrypted by the customer’s own Cloud KMS key.</a:t>
            </a:r>
            <a:endParaRPr lang="en-US" dirty="0"/>
          </a:p>
          <a:p>
            <a:r>
              <a:rPr lang="en-US" dirty="0"/>
              <a:t>Now that we have the end-to-end Figure 1 architecture map here on Slide 12, let's zoom in on Slide 13 to examine the core security and runtime mechanism that powers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12, this diagram shows how WS3 enforces isolation and reliability in action.</a:t>
            </a:r>
            <a:endParaRPr lang="en-US" dirty="0"/>
          </a:p>
          <a:p>
            <a:r>
              <a:rPr lang="en-US" dirty="0"/>
              <a:t>Zooming in from Figure 1 to the runtime timeline, this sequence illustrates our sub-sixty-second Cloud KMS kill-switch guarantee. The moment a bank security officer revokes their encryption key, our health probe detects the change, immediately flushes the customer’s volatile memory cache in Valkey, blocks all active sessions with HTTP 423 Locked, and cleanly recovers from AlloyDB once the customer restores their key.</a:t>
            </a:r>
            <a:endParaRPr lang="en-US" dirty="0"/>
          </a:p>
          <a:p>
            <a:r>
              <a:rPr lang="en-US" dirty="0"/>
              <a:t>With both the physical blueprint and runtime mechanism clear, let's turn to Slide 14 to review the architectural trade-offs, selection rules, and verification results for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13, this slide closes our four-slide chapter on WS3 by summarizing the business decision rules and automated test outcomes.</a:t>
            </a:r>
            <a:endParaRPr lang="en-US" dirty="0"/>
          </a:p>
          <a:p>
            <a:r>
              <a:rPr lang="en-US" dirty="0"/>
              <a:t>This sovereign hosting matrix compares dedicated Vertex AI endpoints against air-gapped Gemma 3 on GKE and summarizes our six passing perimeter and encryption kill-switch verification tests.</a:t>
            </a:r>
            <a:endParaRPr lang="en-US" dirty="0"/>
          </a:p>
          <a:p>
            <a:r>
              <a:rPr lang="en-US" dirty="0"/>
              <a:t>That completes our chapter on Workstream 3 (Pattern B — Zero-Trust Sovereign Silos). Next, on Slide 15, we move directly into Workstream 4, where we show how Pattern C bridges our Shared Pool and Sovereign Silos behind one unified front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3 (Pattern B — Zero-Trust Sovereign Silos) on Slide 14, we now transition into Workstream 4 (Pattern C — Dynamic Hybrid &amp; Zero-Downtime Upgrade).</a:t>
            </a:r>
            <a:endParaRPr lang="en-US" dirty="0"/>
          </a:p>
          <a:p>
            <a:r>
              <a:rPr lang="en-US" dirty="0"/>
              <a:t>Chapter 4 introduces Pattern C—our Dynamic Hybrid Hub-and-Spoke architecture—designed so customers can start in our cost-effective Shared Pool and graduate into a dedicated Sovereign Silo mid-contract with zero downtime and zero URL or login changes.</a:t>
            </a:r>
            <a:endParaRPr lang="en-US" dirty="0"/>
          </a:p>
          <a:p>
            <a:r>
              <a:rPr lang="en-US" dirty="0"/>
              <a:t>Let's advance to Slide 16 to examine the authoritative Figure 1 Google Cloud architecture blueprint for WS4 before we zoom into its core runtime mechanism on Slide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15, we start at the top with the complete Figure 1 Google Cloud architecture blueprint so everyone sees the end-to-end system map first.</a:t>
            </a:r>
            <a:endParaRPr lang="en-US" dirty="0"/>
          </a:p>
          <a:p>
            <a:r>
              <a:rPr lang="en-US" dirty="0"/>
              <a:t>Figure 1 maps out the Pattern C hybrid physical blueprint. A single shared Routing and Governance Hub inspects each tenant’s live tier and routes standard tenants locally to the yellow Shared Pool Spoke while dispatching enterprise tenants across a one-way Private Service Connect `/28` NAT tunnel into their red Dedicated Sovereign Spoke.</a:t>
            </a:r>
            <a:endParaRPr lang="en-US" dirty="0"/>
          </a:p>
          <a:p>
            <a:r>
              <a:rPr lang="en-US" dirty="0"/>
              <a:t>Now that we have the end-to-end Figure 1 architecture map here on Slide 16, let's zoom in on Slide 17 to examine the core security and runtime mechanism that powers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16, this diagram shows how WS4 enforces isolation and reliability in action.</a:t>
            </a:r>
            <a:endParaRPr lang="en-US" dirty="0"/>
          </a:p>
          <a:p>
            <a:r>
              <a:rPr lang="en-US" dirty="0"/>
              <a:t>Zooming in from Figure 1 to our live migration engine, this four-stage state machine shows how we upgrade a customer from the Shared Pool into their Sovereign Spoke without dropping a single active conversation. We replicate their historical data in the background during Shadow Sync, verify 100% cryptographic hash parity, flip their routing pointer in zero milliseconds during Atomic Cutover, and automatically roll back to the shared pool if any pre-cutover health check fails.</a:t>
            </a:r>
            <a:endParaRPr lang="en-US" dirty="0"/>
          </a:p>
          <a:p>
            <a:r>
              <a:rPr lang="en-US" dirty="0"/>
              <a:t>With both the physical blueprint and runtime mechanism clear, let's turn to Slide 18 to review the architectural trade-offs, selection rules, and verification results for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17, this slide closes our four-slide chapter on WS4 by summarizing the business decision rules and automated test outcomes.</a:t>
            </a:r>
            <a:endParaRPr lang="en-US" dirty="0"/>
          </a:p>
          <a:p>
            <a:r>
              <a:rPr lang="en-US" dirty="0"/>
              <a:t>This comparison and four-point verification matrix shows why one-way Private Service Connect outperforms legacy VPC peering—eliminating IP address conflicts and preventing any spoke from initiating reverse connections back into the central hub.</a:t>
            </a:r>
            <a:endParaRPr lang="en-US" dirty="0"/>
          </a:p>
          <a:p>
            <a:r>
              <a:rPr lang="en-US" dirty="0"/>
              <a:t>That completes our chapter on Workstream 4 (Pattern C — Dynamic Hybrid &amp; Zero-Downtime Upgrade). Next, on Slide 19, we move directly into Workstream 5, our capstone chapter on the Executive Decision Guide and the 80/20 shared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4 (Pattern C — Dynamic Hybrid &amp; Zero-Downtime Upgrade) on Slide 18, we now transition into Workstream 5 (Capstone Decision Guide &amp; Agentic Triad).</a:t>
            </a:r>
            <a:endParaRPr lang="en-US" dirty="0"/>
          </a:p>
          <a:p>
            <a:r>
              <a:rPr lang="en-US" dirty="0"/>
              <a:t>Our fifth and final chapter, Workstream 5, brings the entire program together—showing how executive and engineering teams govern all three patterns simultaneously while reusing eighty percent of the same core Python application code.</a:t>
            </a:r>
            <a:endParaRPr lang="en-US" dirty="0"/>
          </a:p>
          <a:p>
            <a:r>
              <a:rPr lang="en-US" dirty="0"/>
              <a:t>Let's advance to Slide 20 to examine the authoritative Figure 1 Google Cloud architecture blueprint for WS5 before we zoom into its core runtime mechanism on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19, we start at the top with the complete Figure 1 Google Cloud architecture blueprint so everyone sees the end-to-end system map first.</a:t>
            </a:r>
            <a:endParaRPr lang="en-US" dirty="0"/>
          </a:p>
          <a:p>
            <a:r>
              <a:rPr lang="en-US" dirty="0"/>
              <a:t>Our capstone Figure 1 blueprint unites the two-question topology decision tree with the Multi-Tenant Agentic Triad—allowing every enterprise customer to combine Shared Platform Agents, Private Tenant-Only Agents, and dynamically loaded Cloud Storage Skills without ever forking our core container image.</a:t>
            </a:r>
            <a:endParaRPr lang="en-US" dirty="0"/>
          </a:p>
          <a:p>
            <a:r>
              <a:rPr lang="en-US" dirty="0"/>
              <a:t>Now that we have the end-to-end Figure 1 architecture map here on Slide 20, let's zoom in on Slide 21 to examine the core security and runtime mechanism that powers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20, this diagram shows how WS5 enforces isolation and reliability in action.</a:t>
            </a:r>
            <a:endParaRPr lang="en-US" dirty="0"/>
          </a:p>
          <a:p>
            <a:r>
              <a:rPr lang="en-US" dirty="0"/>
              <a:t>Zooming in from Figure 1 to our software architecture, look at the 80/20 split across these three zones: eighty percent of our codebase—the entire five-hop security pipeline, ADK 2.0 reasoning engine, and Model Context Protocol hub in Zones 1 and 2—stays 100% identical across every customer tier, while only the twenty percent infrastructure adapter in Zone 3 swaps between Pool, Silo, and Hybrid.</a:t>
            </a:r>
            <a:endParaRPr lang="en-US" dirty="0"/>
          </a:p>
          <a:p>
            <a:r>
              <a:rPr lang="en-US" dirty="0"/>
              <a:t>With both the physical blueprint and runtime mechanism clear, let's turn to Slide 22 to review the architectural trade-offs, selection rules, and verification results for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21, this slide closes our four-slide chapter on WS5 by summarizing the business decision rules and automated test outcomes.</a:t>
            </a:r>
            <a:endParaRPr lang="en-US" dirty="0"/>
          </a:p>
          <a:p>
            <a:r>
              <a:rPr lang="en-US" dirty="0"/>
              <a:t>This master twelve-dimension decision matrix serves as your single executive scorecard across Patterns A, B, and C, backed by all twenty passing automated breach, kill-switch, and zero-downtime migration tests.</a:t>
            </a:r>
            <a:endParaRPr lang="en-US" dirty="0"/>
          </a:p>
          <a:p>
            <a:r>
              <a:rPr lang="en-US" dirty="0"/>
              <a:t>That completes our chapter on Workstream 5 (Capstone Decision Guide &amp; Agentic Triad). Next, on Slide 23, we move directly into our three closing program capstone slides covering live Google Cloud Console proof, our three Well-Architected executive guarantees, and the complete deliverables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completed all five workstream chapters on Slide 22, we move to Slide 23 to show the live Dual-Plane visual evidence captured directly from our Google Cloud and AWS environments—proving that every pattern we just reviewed is running and verified in production.</a:t>
            </a:r>
            <a:endParaRPr lang="en-US" dirty="0"/>
          </a:p>
          <a:p>
            <a:r>
              <a:rPr lang="en-US" dirty="0"/>
              <a:t>On the left, you can see our active Cloud Run revisions, enabled Google Cloud security APIs, and Cloud Logging traces; on the right, the summary cards confirm that all 20/20 Intra-Cloud Google Cloud breach, sovereign kill-switch, and zero-downtime tier migration tests plus all 30/30 Inter-Cloud 10-SaaS AWS Bedrock AgentCore MCP and live EC2 execution twin flows (60/60 assertions across ports 3001 through 3010) pass with zero cross-tenant data leakage.</a:t>
            </a:r>
            <a:endParaRPr lang="en-US" dirty="0"/>
          </a:p>
          <a:p>
            <a:r>
              <a:rPr lang="en-US" dirty="0"/>
              <a:t>With live Dual-Plane verification confirmed here on Slide 23, let's turn to Slide 24 to synthesize the entire program into our three executive Well-Architected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Backed by the live Google Cloud verification proof from Slide 23, this slide distills our entire five-workstream architecture into three executive guarantees aligned with the Google Cloud Well-Architected Framework.</a:t>
            </a:r>
            <a:endParaRPr lang="en-US" dirty="0"/>
          </a:p>
          <a:p>
            <a:r>
              <a:rPr lang="en-US" dirty="0"/>
              <a:t>For our leadership and engineering teams, these three pillars summarize what we have built: first, eighty percent shared Python application code across Pooled, Sovereign Silo, and Hybrid deployments; second, safe per-customer customization through the Agentic Triad of shared agents, private agents, and dynamic Cloud Storage skills; and third, up to ninety percent prompt-cache efficiency paired with deterministic five-hop security.</a:t>
            </a:r>
            <a:endParaRPr lang="en-US" dirty="0"/>
          </a:p>
          <a:p>
            <a:r>
              <a:rPr lang="en-US" dirty="0"/>
              <a:t>Finally, let's move to our closing slide—Slide 25—for the complete index of all fourteen editable architecture blueprints and runnable engineering deliverables.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our three Well-Architected executive guarantees from Slide 24, our closing slide serves as your single reference directory for every engineering asset produced across the five workstreams.</a:t>
            </a:r>
            <a:endParaRPr lang="en-US" dirty="0"/>
          </a:p>
          <a:p>
            <a:r>
              <a:rPr lang="en-US" dirty="0"/>
              <a:t>Here you can see how all fourteen editable Draw.io and Google Slides blueprints, our twenty-four-file Python runtime, our three Terraform infrastructure starters, and our twenty-test simulation suite map across Workstreams 1 through 5 so your team can adopt them immediately.</a:t>
            </a:r>
            <a:endParaRPr lang="en-US" dirty="0"/>
          </a:p>
          <a:p>
            <a:r>
              <a:rPr lang="en-US" dirty="0"/>
              <a:t>Thank you all for your time—let's open the floor for executive, business, and technical questions, or dive into any individual workstream or live simulation in the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image" Target="../media/image-12-17.png"/><Relationship Id="rId18" Type="http://schemas.openxmlformats.org/officeDocument/2006/relationships/image" Target="../media/image-12-18.png"/><Relationship Id="rId19" Type="http://schemas.openxmlformats.org/officeDocument/2006/relationships/image" Target="../media/image-12-19.png"/><Relationship Id="rId20" Type="http://schemas.openxmlformats.org/officeDocument/2006/relationships/image" Target="../media/image-12-20.png"/><Relationship Id="rId21" Type="http://schemas.openxmlformats.org/officeDocument/2006/relationships/slideLayout" Target="../slideLayouts/slideLayout1.xml"/><Relationship Id="rId2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image" Target="../media/image-16-15.png"/><Relationship Id="rId16" Type="http://schemas.openxmlformats.org/officeDocument/2006/relationships/image" Target="../media/image-16-16.png"/><Relationship Id="rId17" Type="http://schemas.openxmlformats.org/officeDocument/2006/relationships/image" Target="../media/image-16-17.png"/><Relationship Id="rId18" Type="http://schemas.openxmlformats.org/officeDocument/2006/relationships/image" Target="../media/image-16-18.png"/><Relationship Id="rId19" Type="http://schemas.openxmlformats.org/officeDocument/2006/relationships/image" Target="../media/image-16-19.png"/><Relationship Id="rId20" Type="http://schemas.openxmlformats.org/officeDocument/2006/relationships/image" Target="../media/image-16-20.png"/><Relationship Id="rId21" Type="http://schemas.openxmlformats.org/officeDocument/2006/relationships/slideLayout" Target="../slideLayouts/slideLayout1.xml"/><Relationship Id="rId2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png"/><Relationship Id="rId16" Type="http://schemas.openxmlformats.org/officeDocument/2006/relationships/image" Target="../media/image-20-16.png"/><Relationship Id="rId17" Type="http://schemas.openxmlformats.org/officeDocument/2006/relationships/image" Target="../media/image-20-17.png"/><Relationship Id="rId18" Type="http://schemas.openxmlformats.org/officeDocument/2006/relationships/image" Target="../media/image-20-18.png"/><Relationship Id="rId19" Type="http://schemas.openxmlformats.org/officeDocument/2006/relationships/slideLayout" Target="../slideLayouts/slideLayout1.xml"/><Relationship Id="rId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COMPLETE PROGRAM DECK • WORKSTREAMS 1–5</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Google Cloud Multi-Tenant Agentic AI: Pooled, Sovereign Silos &amp; Hybrid — Complete Program Deck</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Cohesive 5-Workstream Executive Program Deck: Reference Taxonomy (WS1), Pooled Pattern A (WS2), Sovereign Silos Pattern B (WS3), Hybrid PSC Pattern C (WS4) &amp; Decision Guide (WS5)</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1 Reference Taxonomy</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Defines Pattern A (Pooled), Pattern B (Sovereign Silos), and Pattern C (Dynamic Hybrid) built on one 80% reusable 5-hop ADK 2.0 security codebase.</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2 Pattern A Pooled</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Serves hundreds of commercial tenants inside one shared Google Cloud project with 90% shared prefix cache savings and 10/10 red-team attacks blocked.</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3 Pattern B Sovereign Silos</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Gives regulated banking and healthcare enterprises a dedicated GCP project, VPC Service Controls perimeter, IAM PAB, and &lt;60s CMEK kill-switch.</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4 Pattern C Dynamic Hybrid</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Routes Standard tenants to the shared pool and Enterprise tenants over Private Service Connect with zero-downtime live tier upgrades (4/4 PASS).</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1–2</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Cover &amp; 5-Workstream Progression</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Opens the 25-slide Master Program Deck and maps how WS1 (Taxonomy), WS2 (Pooled), WS3 (Sovereign Silos), WS4 (Hybrid PSC) and WS5 (Decision Guide) build on one 5-Hop codebase (Slide 2).</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3–22</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5 Chapters × 4 Slides: Divider -&gt; Figure 1 -&gt; Deep-Dive -&gt; Matrix</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chapter opens with a section divider, its authoritative Figure 1 blueprint (Slides 4, 8, 12, 16, 20), its signature deep-dive mechanism (Slides 5, 9, 13, 17, 21) and its verification matrix (Slides 6, 10, 14, 18, 22).</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23–24</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Live Console Proof &amp; Program Operating Model</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Proves the program live with Cloud Run revisions and the 20/20 Logs Explorer ledger (Slide 23) and distills the 80/20 code-reuse, Agentic Triad and CI/CD governance operating model (Slide 24).</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 25</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Blueprint Lineage &amp; Deliverables Index</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the architecture blueprint summary and reference lineage table indexing all 14 Figure 1 diagrams, Terraform 2.6 / 3.6 / 4.6 modules and the 20/20 simulation suites (Slide 25).</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5-WORKSTREAM PROGRAM ARCHITECTURE PROGRESSION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OVERVIEW</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Program Map • Workstreams 1–5 Cohesive Architecture Progression</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SKUs, runtime isolation boundaries, and production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1 Reference Taxonomy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Defines Pattern A (Pooled), Pattern B (Sovereign Silos), and Pattern C (Dynamic Hybrid) built on one 80% reusable 5-hop ADK 2.0 security codebase.</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Quota • 90% Shared Prompt Cache Efficiency</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Pattern A: Pooled Runtime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2 Pattern A Pooled</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Serves hundreds of commercial tenants inside one shared Google Cloud project with 90% shared prefix cache savings and 10/10 red-team attacks blocked.</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Quota • 90% Shared Prompt Cache Efficiency</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Pattern A: Pooled Runtime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3 Pattern B Sovereign Silos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Gives regulated banking and healthcare enterprises a dedicated GCP project, VPC Service Controls perimeter, IAM PAB, and &lt;60s CMEK kill-switch.</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Per-Tenant GCP Project • VPC-SC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600 RPM Dedicated Vault • &lt;60s HTTP 423 Kill-Switch</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Pattern B: Sovereign Silos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4 Pattern C Dynamic Hybrid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Routes Standard tenants to the shared pool and Enterprise tenants over Private Service Connect with zero-downtime live tier upgrades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Hub ALB • Firestore Tier Router • Private Service Connect
</a:t>
            </a:r>
            <a:pPr indent="0" marL="0">
              <a:buNone/>
            </a:pPr>
            <a:r>
              <a:rPr lang="en-US" sz="730" dirty="0">
                <a:solidFill>
                  <a:srgbClr val="5F6368"/>
                </a:solidFill>
                <a:latin typeface="Roboto" pitchFamily="34" charset="0"/>
                <a:ea typeface="Roboto" pitchFamily="34" charset="-122"/>
                <a:cs typeface="Roboto" pitchFamily="34" charset="-120"/>
              </a:rPr>
              <a:t>Target &amp; SLA: 0ms Lag Live Tier Migration • 0 Dropped Active Sessions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Pattern C: Dynamic Hybrid PSC</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5 Executive Decision Guide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Provides a 2-question topology selector, Well-Architected comparison matrix, 1,000-tenant FinOps TCO model, and 10-week rollout roadmap.</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Registry • ARD Visibility Proxy
</a:t>
            </a:r>
            <a:pPr indent="0" marL="0">
              <a:buNone/>
            </a:pPr>
            <a:r>
              <a:rPr lang="en-US" sz="730" dirty="0">
                <a:solidFill>
                  <a:srgbClr val="5F6368"/>
                </a:solidFill>
                <a:latin typeface="Roboto" pitchFamily="34" charset="0"/>
                <a:ea typeface="Roboto" pitchFamily="34" charset="-122"/>
                <a:cs typeface="Roboto" pitchFamily="34" charset="-120"/>
              </a:rPr>
              <a:t>Target &amp; SLA: Blocks Cross-Tenant Agent &amp; MCP Discovery (HTTP 403)</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Hop 2: Agent Registry Filter</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Complete 5-Workstream Google Cloud Architecture Center Program Deck — 100% Native Editable Shapes &amp; Verified Live Telemetry.</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WS1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Solving the SaaS AI Dilemma: Prevent tool-schema leaks and rogue-tenant quota starvation using Agent Development Kit (ADK 2.0), Model Context Protocol (MCP) &amp; Agent Registry Discovery (ARD) across Pooled, Silo &amp; Hybrid tiers</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Routing Hub (Ingress &amp;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&amp; Security Hub</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Pattern A: Pooled Shared Runtime Spoke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Blue Perimeter 1 (Routing Hub — Hop 1 Edge PEP): Global ALB, Cloud Armor header strip, and IAP OIDC/DPoP exchange (~8ms p95) mint the KMS-signed STS JWT TenantContext.</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Yellow Perimeter 3 (Pattern A Pool — Hops 3 &amp; 4): Cloud Run Gen2 / Agent Engine gVisor (runsc) kernel sandbox, Valkey RPM bulkheads (~3ms), 90% 32k prefix cache, streaming Model Armor/DLP (~22ms) &amp; AlloyDB RLS.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cymbal-control-plane</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Control Plane (cymbal-control-plane /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Dedicated Spoke archetype — Pattern B silo project OR Pattern C PSC 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Pool (Shared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 (8k Cap) &amp; RetailStream (4k Cap)</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Sovereign Tenant Silo</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VPC-SC + IAM PAB + finvault-silo-cmek + 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 PEP/PDP)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FinOps observability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Competing B2B Tenants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(OIDC) &amp; RetailStream (Entra)</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423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PT or Private GKE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 OTel &amp; FinOps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chargeback telemetry</a:t>
            </a:r>
            <a:endParaRPr lang="en-US" sz="470" dirty="0"/>
          </a:p>
        </p:txBody>
      </p:sp>
      <p:sp>
        <p:nvSpPr>
          <p:cNvPr id="205" name="Shape 183"/>
          <p:cNvSpPr/>
          <p:nvPr/>
        </p:nvSpPr>
        <p:spPr>
          <a:xfrm>
            <a:off x="2836469" y="4833518"/>
            <a:ext cx="493776"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54757"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Scoped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MCP &amp; RAG</a:t>
            </a:r>
            <a:endParaRPr lang="en-US" sz="470" dirty="0"/>
          </a:p>
        </p:txBody>
      </p:sp>
      <p:sp>
        <p:nvSpPr>
          <p:cNvPr id="207" name="Shape 185"/>
          <p:cNvSpPr/>
          <p:nvPr/>
        </p:nvSpPr>
        <p:spPr>
          <a:xfrm>
            <a:off x="2766060" y="5468112"/>
            <a:ext cx="63459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84348"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SET LOCAL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current_tenant</a:t>
            </a:r>
            <a:endParaRPr lang="en-US" sz="470" dirty="0"/>
          </a:p>
        </p:txBody>
      </p:sp>
      <p:sp>
        <p:nvSpPr>
          <p:cNvPr id="209" name="Shape 187"/>
          <p:cNvSpPr/>
          <p:nvPr/>
        </p:nvSpPr>
        <p:spPr>
          <a:xfrm>
            <a:off x="5201107" y="4833518"/>
            <a:ext cx="493776"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219395"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Silo RAG</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State &amp; Tools</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Generates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response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with SDP redaction</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by tenant tier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Silo or PSC)</a:t>
            </a:r>
            <a:endParaRPr lang="en-US" sz="470" dirty="0"/>
          </a:p>
        </p:txBody>
      </p:sp>
      <p:sp>
        <p:nvSpPr>
          <p:cNvPr id="219" name="Shape 197"/>
          <p:cNvSpPr/>
          <p:nvPr/>
        </p:nvSpPr>
        <p:spPr>
          <a:xfrm>
            <a:off x="2554834" y="2885846"/>
            <a:ext cx="493776"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73122" y="2894990"/>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OBO + KMS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ECDSA sign</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Header &amp; WAF</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2.0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 6)  •  ~42ms p95 5-Hop Control Plane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EXECUTIVE AGENDA &amp; 5-PART ARCHITECTURAL SERIES NAVIGATION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Agenda &amp; 5-Part Series Navigation — Streamlined 11-Slide Architecture Roadmap</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Streamlined 11-slide executive deck &amp; 5-part blog series roadmap: macro-to-micro L1→L2→L3→L4 hierarchy with zero redundant slides.</a:t>
            </a:r>
            <a:endParaRPr lang="en-US" sz="98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926080"/>
                <a:gridCol w="3200400"/>
                <a:gridCol w="327629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Series Part &amp; Slides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Editorial Blog &amp; Briefing Focus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Core Engineering Question Answered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Key Architectural Deliverable &amp; SLA</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1 • Slides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Isolation Topologies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The SaaS AI Architect's Dilemma: High-Density Pooled (A) vs. Sovereign Silos (B) vs. Dynamic Hybrid (C)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serve 950 commercial tenants and 50 regulated banks without margin erosion or 500-silo IaC sprawl?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12-Dimension Decision Matrix • 80/20 ADK 2.0 Code Reuse • {tenant}:{user} DPoP 3LO Vault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2 • Slides 5, 6 &amp; 8</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5-Hop Pipeline (L1/L2/L4)</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Securing the Agent Loop: L1 3 Logical Security Layers → L2 4 Physical VPC-SC Perimeters → L4 Wire STS JWT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enforce cryptographic tenant identity from edge ingress down to wire packets without per-hop KMS latency?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&lt;0.15ms Cached-JWKS STS JWT • ~3ms Valkey JTI Deny-List • ~42ms p95 5-Hop Control Plane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3 • Slide 7</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L3 Sequence &amp; Breakers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Operational Resilience: Merged L3 5-Actor UML Sequence, Fail-Closed Circuit Breakers &amp; Valkey L1 Flushes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What happens chronologically during a live turn—and how do we fail closed on RPM floods or CMEK key revocation?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HTTP 401/403/429/422/423 Breakers • &lt;5s Valkey SCAN+UNLINK (cache:{tenant}:*) • SET NX PX 5000 Recovery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4 • Slide 9</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Mind the Gap (GAP-01..05)</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Compensating Controls for Vertex AI EAP: Custom Token Buckets, Envelope CMEK &amp; Zero-PII BigQuery OTel FinOps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close current preview platform gaps today while guaranteeing clean retirement at native GCP GA?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Feature-Flagged GAP-01..05 Sunset Hooks (Q4 2026 / Q1 2027) • BigQuery OTel Chargeback SQL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5 • Slides 10–11</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CI/CD Audit &amp; SLAs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Automating Compliance &amp; Well-Architected SLAs: Live GCP Console Receipts, 5 Milestones &amp; Forensic CI/CD Gate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prove zero cross-tenant data bleed continuously in CI/CD and map every Well-Architected SLA to code?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12/12 Forensic + 107/107 Runtime Assertions PASS • 84.7% Token &amp; 74% TCO Savings • &lt;30s HA RTO</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Macro-to-Micro L1 → L2 → L3 → L4 Flow</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Restores strict top-down abstraction: L1 Logical (Slide 5) → L2 Physical Blueprint (Slide 6) → L3 Process &amp; Breakers (Slide 7) → L4 Wire JWT (Slide 8).</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Unified Layer vs. Perimeter Taxonomy</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Separates Slide 5’s 3 Logical Security Layers (Ingress, 5-Hop Control Plane, Data Planes) from Slide 6’s 4 Physical VPC-SC Network Perimeters.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Merged L3 UML &amp; Circuit Breakers (Slide 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Unifies the 5-Hop happy path (~42ms p95) with fail-closed HTTP 401/403/429/422/423 breakers, &lt;5s Valkey SCAN+UNLINK, and SET NX PX 5000 recovery.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Merged SLAs &amp; 5-Part Roadmap (Slide 11)</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Consolidates all Well-Architected SLAs (~42ms 5-Hop, 84.7% token savings, 74% TCO reduction, &lt;30s RTO) directly into the 5 runnable milestones.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SERIES ROADMAP</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WS2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Shared Edge PEP &amp; Identity (Hop 1)</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 (SUB-PLANE A)</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shared ADK 2.0 agents in one unified pooled runtime with Memorystore Valkey RPM bulkheads (120/600 RPM), ContextCacheConfig (90% savings), and inline Model Armor.</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SUB-PLANE B</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60 Editable Shapes • 20 Connectors • GCP: cymbal-build-sandbox</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GCP Project: cymbal-build-sandbox / cymbal-pooled-saas-prod</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VPC</a:t>
            </a:r>
            <a:endParaRPr lang="en-US" sz="46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Text 71"/>
          <p:cNvSpPr/>
          <p:nvPr/>
        </p:nvSpPr>
        <p:spPr>
          <a:xfrm>
            <a:off x="1491386" y="3798418"/>
            <a:ext cx="4497934"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10" dirty="0"/>
          </a:p>
        </p:txBody>
      </p:sp>
      <p:sp>
        <p:nvSpPr>
          <p:cNvPr id="74" name="Shape 72"/>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5" name="Text 73"/>
          <p:cNvSpPr/>
          <p:nvPr/>
        </p:nvSpPr>
        <p:spPr>
          <a:xfrm>
            <a:off x="1560881" y="3955694"/>
            <a:ext cx="21159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 Pooled Agent Runtime (shared by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90" dirty="0"/>
          </a:p>
        </p:txBody>
      </p:sp>
      <p:sp>
        <p:nvSpPr>
          <p:cNvPr id="76" name="Shape 74"/>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7" name="Text 75"/>
          <p:cNvSpPr/>
          <p:nvPr/>
        </p:nvSpPr>
        <p:spPr>
          <a:xfrm>
            <a:off x="3856025" y="3955694"/>
            <a:ext cx="2063801"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4. Shared Data &amp; Tool Plane (RLS-partitioned)</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9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Edge PEP &amp; Agent Catalog 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9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Shared FinOps, Cache &amp; OTel Hub</a:t>
            </a:r>
            <a:endParaRPr lang="en-US" sz="490" dirty="0"/>
          </a:p>
        </p:txBody>
      </p:sp>
      <p:sp>
        <p:nvSpPr>
          <p:cNvPr id="82" name="Shape 80"/>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3" name="Image 0" descr="preencoded.png">    </p:cNvPr>
          <p:cNvPicPr>
            <a:picLocks noChangeAspect="1"/>
          </p:cNvPicPr>
          <p:nvPr/>
        </p:nvPicPr>
        <p:blipFill>
          <a:blip r:embed="rId1"/>
          <a:stretch>
            <a:fillRect/>
          </a:stretch>
        </p:blipFill>
        <p:spPr>
          <a:xfrm>
            <a:off x="3902659" y="4253789"/>
            <a:ext cx="164592" cy="164592"/>
          </a:xfrm>
          <a:prstGeom prst="rect">
            <a:avLst/>
          </a:prstGeom>
        </p:spPr>
      </p:pic>
      <p:sp>
        <p:nvSpPr>
          <p:cNvPr id="84" name="Text 81"/>
          <p:cNvSpPr/>
          <p:nvPr/>
        </p:nvSpPr>
        <p:spPr>
          <a:xfrm>
            <a:off x="4135831" y="4241902"/>
            <a:ext cx="172273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AlloyDB (ONE schema) + BigQuery (ONE dataset)</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pattern_a_pooled_rls_entities • FORCE ROW LEVEL SECURITY</a:t>
            </a:r>
            <a:endParaRPr lang="en-US" sz="550" dirty="0"/>
          </a:p>
        </p:txBody>
      </p:sp>
      <p:sp>
        <p:nvSpPr>
          <p:cNvPr id="85" name="Shape 82"/>
          <p:cNvSpPr/>
          <p:nvPr/>
        </p:nvSpPr>
        <p:spPr>
          <a:xfrm>
            <a:off x="1566367" y="5291633"/>
            <a:ext cx="2104034" cy="730606"/>
          </a:xfrm>
          <a:prstGeom prst="roundRect">
            <a:avLst>
              <a:gd name="adj" fmla="val 3755"/>
            </a:avLst>
          </a:prstGeom>
          <a:solidFill>
            <a:srgbClr val="FFFFFF"/>
          </a:solidFill>
          <a:ln w="10795">
            <a:solidFill>
              <a:srgbClr val="9AA0A6"/>
            </a:solidFill>
            <a:prstDash val="solid"/>
          </a:ln>
        </p:spPr>
      </p:sp>
      <p:pic>
        <p:nvPicPr>
          <p:cNvPr id="86" name="Image 1" descr="preencoded.png">    </p:cNvPr>
          <p:cNvPicPr>
            <a:picLocks noChangeAspect="1"/>
          </p:cNvPicPr>
          <p:nvPr/>
        </p:nvPicPr>
        <p:blipFill>
          <a:blip r:embed="rId2"/>
          <a:stretch>
            <a:fillRect/>
          </a:stretch>
        </p:blipFill>
        <p:spPr>
          <a:xfrm>
            <a:off x="1607515" y="5314493"/>
            <a:ext cx="164592" cy="164592"/>
          </a:xfrm>
          <a:prstGeom prst="rect">
            <a:avLst/>
          </a:prstGeom>
        </p:spPr>
      </p:pic>
      <p:sp>
        <p:nvSpPr>
          <p:cNvPr id="87" name="Text 83"/>
          <p:cNvSpPr/>
          <p:nvPr/>
        </p:nvSpPr>
        <p:spPr>
          <a:xfrm>
            <a:off x="1840687" y="5302606"/>
            <a:ext cx="177485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5-Level Memory Bank (ONE bank)</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Namespaced per tenant — same service, disjoint keys</a:t>
            </a:r>
            <a:endParaRPr lang="en-US" sz="550" dirty="0"/>
          </a:p>
        </p:txBody>
      </p:sp>
      <p:pic>
        <p:nvPicPr>
          <p:cNvPr id="88"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9" name="Shape 84"/>
          <p:cNvSpPr/>
          <p:nvPr/>
        </p:nvSpPr>
        <p:spPr>
          <a:xfrm>
            <a:off x="3591763" y="1032358"/>
            <a:ext cx="0" cy="1269187"/>
          </a:xfrm>
          <a:prstGeom prst="line">
            <a:avLst/>
          </a:prstGeom>
          <a:noFill/>
          <a:ln w="12700">
            <a:solidFill>
              <a:srgbClr val="5F6368"/>
            </a:solidFill>
            <a:prstDash val="solid"/>
            <a:tailEnd type="triangle" w="sm" len="sm"/>
          </a:ln>
        </p:spPr>
      </p:sp>
      <p:sp>
        <p:nvSpPr>
          <p:cNvPr id="90" name="Shape 85"/>
          <p:cNvSpPr/>
          <p:nvPr/>
        </p:nvSpPr>
        <p:spPr>
          <a:xfrm flipV="1">
            <a:off x="3792017" y="1040587"/>
            <a:ext cx="0" cy="1269187"/>
          </a:xfrm>
          <a:prstGeom prst="line">
            <a:avLst/>
          </a:prstGeom>
          <a:noFill/>
          <a:ln w="12700">
            <a:solidFill>
              <a:srgbClr val="5F6368"/>
            </a:solidFill>
            <a:prstDash val="solid"/>
            <a:tailEnd type="triangle" w="sm" len="sm"/>
          </a:ln>
        </p:spPr>
      </p:sp>
      <p:sp>
        <p:nvSpPr>
          <p:cNvPr id="91" name="Shape 86"/>
          <p:cNvSpPr/>
          <p:nvPr/>
        </p:nvSpPr>
        <p:spPr>
          <a:xfrm flipH="1">
            <a:off x="2948940" y="2475281"/>
            <a:ext cx="148133" cy="0"/>
          </a:xfrm>
          <a:prstGeom prst="line">
            <a:avLst/>
          </a:prstGeom>
          <a:noFill/>
          <a:ln w="12700">
            <a:solidFill>
              <a:srgbClr val="5F6368"/>
            </a:solidFill>
            <a:prstDash val="solid"/>
            <a:headEnd type="triangle" w="sm" len="sm"/>
          </a:ln>
        </p:spPr>
      </p:sp>
      <p:sp>
        <p:nvSpPr>
          <p:cNvPr id="92" name="Shape 87"/>
          <p:cNvSpPr/>
          <p:nvPr/>
        </p:nvSpPr>
        <p:spPr>
          <a:xfrm flipV="1">
            <a:off x="2948940" y="2306117"/>
            <a:ext cx="0" cy="169164"/>
          </a:xfrm>
          <a:prstGeom prst="line">
            <a:avLst/>
          </a:prstGeom>
          <a:noFill/>
          <a:ln w="12700">
            <a:solidFill>
              <a:srgbClr val="5F6368"/>
            </a:solidFill>
            <a:prstDash val="solid"/>
          </a:ln>
        </p:spPr>
      </p:sp>
      <p:sp>
        <p:nvSpPr>
          <p:cNvPr id="93" name="Shape 88"/>
          <p:cNvSpPr/>
          <p:nvPr/>
        </p:nvSpPr>
        <p:spPr>
          <a:xfrm flipH="1">
            <a:off x="2401214" y="2306117"/>
            <a:ext cx="547726" cy="0"/>
          </a:xfrm>
          <a:prstGeom prst="line">
            <a:avLst/>
          </a:prstGeom>
          <a:noFill/>
          <a:ln w="12700">
            <a:solidFill>
              <a:srgbClr val="5F6368"/>
            </a:solidFill>
            <a:prstDash val="solid"/>
            <a:tailEnd type="triangle" w="sm" len="sm"/>
          </a:ln>
        </p:spPr>
      </p:sp>
      <p:sp>
        <p:nvSpPr>
          <p:cNvPr id="94" name="Shape 89"/>
          <p:cNvSpPr/>
          <p:nvPr/>
        </p:nvSpPr>
        <p:spPr>
          <a:xfrm flipH="1">
            <a:off x="2948940" y="2475281"/>
            <a:ext cx="148133" cy="0"/>
          </a:xfrm>
          <a:prstGeom prst="line">
            <a:avLst/>
          </a:prstGeom>
          <a:noFill/>
          <a:ln w="12700">
            <a:solidFill>
              <a:srgbClr val="5F6368"/>
            </a:solidFill>
            <a:prstDash val="solid"/>
            <a:headEnd type="triangle" w="sm" len="sm"/>
          </a:ln>
        </p:spPr>
      </p:sp>
      <p:sp>
        <p:nvSpPr>
          <p:cNvPr id="95" name="Shape 90"/>
          <p:cNvSpPr/>
          <p:nvPr/>
        </p:nvSpPr>
        <p:spPr>
          <a:xfrm>
            <a:off x="2948940" y="2475281"/>
            <a:ext cx="0" cy="195682"/>
          </a:xfrm>
          <a:prstGeom prst="line">
            <a:avLst/>
          </a:prstGeom>
          <a:noFill/>
          <a:ln w="12700">
            <a:solidFill>
              <a:srgbClr val="5F6368"/>
            </a:solidFill>
            <a:prstDash val="solid"/>
          </a:ln>
        </p:spPr>
      </p:sp>
      <p:sp>
        <p:nvSpPr>
          <p:cNvPr id="96" name="Shape 91"/>
          <p:cNvSpPr/>
          <p:nvPr/>
        </p:nvSpPr>
        <p:spPr>
          <a:xfrm flipH="1">
            <a:off x="2401214" y="2670962"/>
            <a:ext cx="547726" cy="0"/>
          </a:xfrm>
          <a:prstGeom prst="line">
            <a:avLst/>
          </a:prstGeom>
          <a:noFill/>
          <a:ln w="12700">
            <a:solidFill>
              <a:srgbClr val="5F6368"/>
            </a:solidFill>
            <a:prstDash val="solid"/>
            <a:tailEnd type="triangle" w="sm" len="sm"/>
          </a:ln>
        </p:spPr>
      </p:sp>
      <p:sp>
        <p:nvSpPr>
          <p:cNvPr id="97" name="Shape 92"/>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8" name="Shape 93"/>
          <p:cNvSpPr/>
          <p:nvPr/>
        </p:nvSpPr>
        <p:spPr>
          <a:xfrm>
            <a:off x="3591763" y="2640787"/>
            <a:ext cx="0" cy="312725"/>
          </a:xfrm>
          <a:prstGeom prst="line">
            <a:avLst/>
          </a:prstGeom>
          <a:noFill/>
          <a:ln w="12700">
            <a:solidFill>
              <a:srgbClr val="5F6368"/>
            </a:solidFill>
            <a:prstDash val="solid"/>
            <a:tailEnd type="triangle" w="sm" len="sm"/>
          </a:ln>
        </p:spPr>
      </p:sp>
      <p:sp>
        <p:nvSpPr>
          <p:cNvPr id="99" name="Shape 94"/>
          <p:cNvSpPr/>
          <p:nvPr/>
        </p:nvSpPr>
        <p:spPr>
          <a:xfrm flipV="1">
            <a:off x="3792017" y="2640787"/>
            <a:ext cx="0" cy="312725"/>
          </a:xfrm>
          <a:prstGeom prst="line">
            <a:avLst/>
          </a:prstGeom>
          <a:noFill/>
          <a:ln w="12700">
            <a:solidFill>
              <a:srgbClr val="5F6368"/>
            </a:solidFill>
            <a:prstDash val="solid"/>
            <a:tailEnd type="triangle" w="sm" len="sm"/>
          </a:ln>
        </p:spPr>
      </p:sp>
      <p:sp>
        <p:nvSpPr>
          <p:cNvPr id="100" name="Shape 95"/>
          <p:cNvSpPr/>
          <p:nvPr/>
        </p:nvSpPr>
        <p:spPr>
          <a:xfrm>
            <a:off x="3678631" y="3239719"/>
            <a:ext cx="0" cy="408737"/>
          </a:xfrm>
          <a:prstGeom prst="line">
            <a:avLst/>
          </a:prstGeom>
          <a:noFill/>
          <a:ln w="12700">
            <a:solidFill>
              <a:srgbClr val="5F6368"/>
            </a:solidFill>
            <a:prstDash val="solid"/>
          </a:ln>
        </p:spPr>
      </p:sp>
      <p:sp>
        <p:nvSpPr>
          <p:cNvPr id="101" name="Shape 96"/>
          <p:cNvSpPr/>
          <p:nvPr/>
        </p:nvSpPr>
        <p:spPr>
          <a:xfrm flipH="1">
            <a:off x="3196742" y="3648456"/>
            <a:ext cx="481889" cy="0"/>
          </a:xfrm>
          <a:prstGeom prst="line">
            <a:avLst/>
          </a:prstGeom>
          <a:noFill/>
          <a:ln w="12700">
            <a:solidFill>
              <a:srgbClr val="5F6368"/>
            </a:solidFill>
            <a:prstDash val="solid"/>
          </a:ln>
        </p:spPr>
      </p:sp>
      <p:sp>
        <p:nvSpPr>
          <p:cNvPr id="102" name="Shape 97"/>
          <p:cNvSpPr/>
          <p:nvPr/>
        </p:nvSpPr>
        <p:spPr>
          <a:xfrm>
            <a:off x="3196742" y="3648456"/>
            <a:ext cx="0" cy="574243"/>
          </a:xfrm>
          <a:prstGeom prst="line">
            <a:avLst/>
          </a:prstGeom>
          <a:noFill/>
          <a:ln w="12700">
            <a:solidFill>
              <a:srgbClr val="5F6368"/>
            </a:solidFill>
            <a:prstDash val="solid"/>
            <a:tailEnd type="triangle" w="sm" len="sm"/>
          </a:ln>
        </p:spPr>
      </p:sp>
      <p:sp>
        <p:nvSpPr>
          <p:cNvPr id="103" name="Shape 98"/>
          <p:cNvSpPr/>
          <p:nvPr/>
        </p:nvSpPr>
        <p:spPr>
          <a:xfrm>
            <a:off x="2462479" y="4387291"/>
            <a:ext cx="260604" cy="0"/>
          </a:xfrm>
          <a:prstGeom prst="line">
            <a:avLst/>
          </a:prstGeom>
          <a:noFill/>
          <a:ln w="12700">
            <a:solidFill>
              <a:srgbClr val="5F6368"/>
            </a:solidFill>
            <a:prstDash val="solid"/>
            <a:headEnd type="triangle" w="sm" len="sm"/>
            <a:tailEnd type="triangle" w="sm" len="sm"/>
          </a:ln>
        </p:spPr>
      </p:sp>
      <p:sp>
        <p:nvSpPr>
          <p:cNvPr id="104" name="Shape 99"/>
          <p:cNvSpPr/>
          <p:nvPr/>
        </p:nvSpPr>
        <p:spPr>
          <a:xfrm>
            <a:off x="2462479" y="4892040"/>
            <a:ext cx="260604" cy="0"/>
          </a:xfrm>
          <a:prstGeom prst="line">
            <a:avLst/>
          </a:prstGeom>
          <a:noFill/>
          <a:ln w="12700">
            <a:solidFill>
              <a:srgbClr val="5F6368"/>
            </a:solidFill>
            <a:prstDash val="solid"/>
            <a:headEnd type="triangle" w="sm" len="sm"/>
            <a:tailEnd type="triangle" w="sm" len="sm"/>
          </a:ln>
        </p:spPr>
      </p:sp>
      <p:sp>
        <p:nvSpPr>
          <p:cNvPr id="105" name="Shape 100"/>
          <p:cNvSpPr/>
          <p:nvPr/>
        </p:nvSpPr>
        <p:spPr>
          <a:xfrm>
            <a:off x="3196742" y="4552798"/>
            <a:ext cx="0" cy="173736"/>
          </a:xfrm>
          <a:prstGeom prst="line">
            <a:avLst/>
          </a:prstGeom>
          <a:noFill/>
          <a:ln w="12700">
            <a:solidFill>
              <a:srgbClr val="5F6368"/>
            </a:solidFill>
            <a:prstDash val="solid"/>
            <a:tailEnd type="triangle" w="sm" len="sm"/>
          </a:ln>
        </p:spPr>
      </p:sp>
      <p:sp>
        <p:nvSpPr>
          <p:cNvPr id="106" name="Shape 101"/>
          <p:cNvSpPr/>
          <p:nvPr/>
        </p:nvSpPr>
        <p:spPr>
          <a:xfrm>
            <a:off x="3196742" y="5056632"/>
            <a:ext cx="0" cy="226771"/>
          </a:xfrm>
          <a:prstGeom prst="line">
            <a:avLst/>
          </a:prstGeom>
          <a:noFill/>
          <a:ln w="12700">
            <a:solidFill>
              <a:srgbClr val="5F6368"/>
            </a:solidFill>
            <a:prstDash val="solid"/>
            <a:headEnd type="triangle" w="sm" len="sm"/>
            <a:tailEnd type="triangle" w="sm" len="sm"/>
          </a:ln>
        </p:spPr>
      </p:sp>
      <p:sp>
        <p:nvSpPr>
          <p:cNvPr id="107" name="Shape 102"/>
          <p:cNvSpPr/>
          <p:nvPr/>
        </p:nvSpPr>
        <p:spPr>
          <a:xfrm>
            <a:off x="3670402" y="4326941"/>
            <a:ext cx="191110" cy="0"/>
          </a:xfrm>
          <a:prstGeom prst="line">
            <a:avLst/>
          </a:prstGeom>
          <a:noFill/>
          <a:ln w="12700">
            <a:solidFill>
              <a:srgbClr val="5F6368"/>
            </a:solidFill>
            <a:prstDash val="solid"/>
            <a:tailEnd type="triangle" w="sm" len="sm"/>
          </a:ln>
        </p:spPr>
      </p:sp>
      <p:sp>
        <p:nvSpPr>
          <p:cNvPr id="108" name="Shape 103"/>
          <p:cNvSpPr/>
          <p:nvPr/>
        </p:nvSpPr>
        <p:spPr>
          <a:xfrm>
            <a:off x="4347972" y="5056632"/>
            <a:ext cx="0" cy="139903"/>
          </a:xfrm>
          <a:prstGeom prst="line">
            <a:avLst/>
          </a:prstGeom>
          <a:noFill/>
          <a:ln w="12700">
            <a:solidFill>
              <a:srgbClr val="5F6368"/>
            </a:solidFill>
            <a:prstDash val="solid"/>
            <a:tailEnd type="triangle" w="sm" len="sm"/>
          </a:ln>
        </p:spPr>
      </p:sp>
      <p:sp>
        <p:nvSpPr>
          <p:cNvPr id="109" name="Shape 104"/>
          <p:cNvSpPr/>
          <p:nvPr/>
        </p:nvSpPr>
        <p:spPr>
          <a:xfrm flipV="1">
            <a:off x="5426050" y="5056632"/>
            <a:ext cx="0" cy="139903"/>
          </a:xfrm>
          <a:prstGeom prst="line">
            <a:avLst/>
          </a:prstGeom>
          <a:noFill/>
          <a:ln w="12700">
            <a:solidFill>
              <a:srgbClr val="5F6368"/>
            </a:solidFill>
            <a:prstDash val="solid"/>
            <a:headEnd type="triangle" w="sm" len="sm"/>
          </a:ln>
        </p:spPr>
      </p:sp>
      <p:sp>
        <p:nvSpPr>
          <p:cNvPr id="110" name="Shape 105"/>
          <p:cNvSpPr/>
          <p:nvPr/>
        </p:nvSpPr>
        <p:spPr>
          <a:xfrm>
            <a:off x="4347972" y="5517490"/>
            <a:ext cx="0" cy="130759"/>
          </a:xfrm>
          <a:prstGeom prst="line">
            <a:avLst/>
          </a:prstGeom>
          <a:noFill/>
          <a:ln w="12700">
            <a:solidFill>
              <a:srgbClr val="5F6368"/>
            </a:solidFill>
            <a:prstDash val="solid"/>
            <a:tailEnd type="triangle" w="sm" len="sm"/>
          </a:ln>
        </p:spPr>
      </p:sp>
      <p:sp>
        <p:nvSpPr>
          <p:cNvPr id="111" name="Shape 106"/>
          <p:cNvSpPr/>
          <p:nvPr/>
        </p:nvSpPr>
        <p:spPr>
          <a:xfrm>
            <a:off x="5426050" y="5517490"/>
            <a:ext cx="0" cy="130759"/>
          </a:xfrm>
          <a:prstGeom prst="line">
            <a:avLst/>
          </a:prstGeom>
          <a:noFill/>
          <a:ln w="12700">
            <a:solidFill>
              <a:srgbClr val="5F6368"/>
            </a:solidFill>
            <a:prstDash val="solid"/>
            <a:tailEnd type="triangle" w="sm" len="sm"/>
          </a:ln>
        </p:spPr>
      </p:sp>
      <p:sp>
        <p:nvSpPr>
          <p:cNvPr id="112" name="Shape 107"/>
          <p:cNvSpPr/>
          <p:nvPr/>
        </p:nvSpPr>
        <p:spPr>
          <a:xfrm>
            <a:off x="4347972" y="5970118"/>
            <a:ext cx="0" cy="95098"/>
          </a:xfrm>
          <a:prstGeom prst="line">
            <a:avLst/>
          </a:prstGeom>
          <a:noFill/>
          <a:ln w="12700">
            <a:solidFill>
              <a:srgbClr val="5F6368"/>
            </a:solidFill>
            <a:prstDash val="solid"/>
          </a:ln>
        </p:spPr>
      </p:sp>
      <p:sp>
        <p:nvSpPr>
          <p:cNvPr id="113" name="Shape 108"/>
          <p:cNvSpPr/>
          <p:nvPr/>
        </p:nvSpPr>
        <p:spPr>
          <a:xfrm>
            <a:off x="4347972" y="6065215"/>
            <a:ext cx="1660550" cy="0"/>
          </a:xfrm>
          <a:prstGeom prst="line">
            <a:avLst/>
          </a:prstGeom>
          <a:noFill/>
          <a:ln w="12700">
            <a:solidFill>
              <a:srgbClr val="5F6368"/>
            </a:solidFill>
            <a:prstDash val="solid"/>
          </a:ln>
        </p:spPr>
      </p:sp>
      <p:sp>
        <p:nvSpPr>
          <p:cNvPr id="114" name="Shape 109"/>
          <p:cNvSpPr/>
          <p:nvPr/>
        </p:nvSpPr>
        <p:spPr>
          <a:xfrm flipV="1">
            <a:off x="6008522" y="3509467"/>
            <a:ext cx="0" cy="2555748"/>
          </a:xfrm>
          <a:prstGeom prst="line">
            <a:avLst/>
          </a:prstGeom>
          <a:noFill/>
          <a:ln w="12700">
            <a:solidFill>
              <a:srgbClr val="5F6368"/>
            </a:solidFill>
            <a:prstDash val="solid"/>
          </a:ln>
        </p:spPr>
      </p:sp>
      <p:sp>
        <p:nvSpPr>
          <p:cNvPr id="115" name="Shape 110"/>
          <p:cNvSpPr/>
          <p:nvPr/>
        </p:nvSpPr>
        <p:spPr>
          <a:xfrm flipH="1">
            <a:off x="4069994" y="3509467"/>
            <a:ext cx="1938528" cy="0"/>
          </a:xfrm>
          <a:prstGeom prst="line">
            <a:avLst/>
          </a:prstGeom>
          <a:noFill/>
          <a:ln w="12700">
            <a:solidFill>
              <a:srgbClr val="5F6368"/>
            </a:solidFill>
            <a:prstDash val="solid"/>
          </a:ln>
        </p:spPr>
      </p:sp>
      <p:sp>
        <p:nvSpPr>
          <p:cNvPr id="116" name="Shape 111"/>
          <p:cNvSpPr/>
          <p:nvPr/>
        </p:nvSpPr>
        <p:spPr>
          <a:xfrm flipV="1">
            <a:off x="4069994" y="3239719"/>
            <a:ext cx="0" cy="269748"/>
          </a:xfrm>
          <a:prstGeom prst="line">
            <a:avLst/>
          </a:prstGeom>
          <a:noFill/>
          <a:ln w="12700">
            <a:solidFill>
              <a:srgbClr val="5F6368"/>
            </a:solidFill>
            <a:prstDash val="solid"/>
            <a:tailEnd type="triangle" w="sm" len="sm"/>
          </a:ln>
        </p:spPr>
      </p:sp>
      <p:sp>
        <p:nvSpPr>
          <p:cNvPr id="117" name="Shape 112"/>
          <p:cNvSpPr/>
          <p:nvPr/>
        </p:nvSpPr>
        <p:spPr>
          <a:xfrm>
            <a:off x="5182819" y="3335731"/>
            <a:ext cx="0" cy="364846"/>
          </a:xfrm>
          <a:prstGeom prst="line">
            <a:avLst/>
          </a:prstGeom>
          <a:noFill/>
          <a:ln w="12700">
            <a:solidFill>
              <a:srgbClr val="5F6368"/>
            </a:solidFill>
            <a:prstDash val="dash"/>
          </a:ln>
        </p:spPr>
      </p:sp>
      <p:sp>
        <p:nvSpPr>
          <p:cNvPr id="118" name="Shape 113"/>
          <p:cNvSpPr/>
          <p:nvPr/>
        </p:nvSpPr>
        <p:spPr>
          <a:xfrm flipH="1">
            <a:off x="2609698" y="3700577"/>
            <a:ext cx="2573122" cy="0"/>
          </a:xfrm>
          <a:prstGeom prst="line">
            <a:avLst/>
          </a:prstGeom>
          <a:noFill/>
          <a:ln w="12700">
            <a:solidFill>
              <a:srgbClr val="5F6368"/>
            </a:solidFill>
            <a:prstDash val="dash"/>
          </a:ln>
        </p:spPr>
      </p:sp>
      <p:sp>
        <p:nvSpPr>
          <p:cNvPr id="119" name="Shape 114"/>
          <p:cNvSpPr/>
          <p:nvPr/>
        </p:nvSpPr>
        <p:spPr>
          <a:xfrm>
            <a:off x="2609698" y="3700577"/>
            <a:ext cx="0" cy="235001"/>
          </a:xfrm>
          <a:prstGeom prst="line">
            <a:avLst/>
          </a:prstGeom>
          <a:noFill/>
          <a:ln w="12700">
            <a:solidFill>
              <a:srgbClr val="5F6368"/>
            </a:solidFill>
            <a:prstDash val="dash"/>
            <a:tailEnd type="triangle" w="sm" len="sm"/>
          </a:ln>
        </p:spPr>
      </p:sp>
      <p:sp>
        <p:nvSpPr>
          <p:cNvPr id="120" name="Shape 115"/>
          <p:cNvSpPr/>
          <p:nvPr/>
        </p:nvSpPr>
        <p:spPr>
          <a:xfrm>
            <a:off x="5182819" y="3700577"/>
            <a:ext cx="0" cy="235001"/>
          </a:xfrm>
          <a:prstGeom prst="line">
            <a:avLst/>
          </a:prstGeom>
          <a:noFill/>
          <a:ln w="12700">
            <a:solidFill>
              <a:srgbClr val="5F6368"/>
            </a:solidFill>
            <a:prstDash val="dash"/>
            <a:tailEnd type="triangle" w="sm" len="sm"/>
          </a:ln>
        </p:spPr>
      </p:sp>
      <p:sp>
        <p:nvSpPr>
          <p:cNvPr id="121" name="Shape 116"/>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2"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3" name="Text 117"/>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FinVault &amp; RetailStream</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Competing SaaS Tenants</a:t>
            </a:r>
            <a:endParaRPr lang="en-US" sz="520" dirty="0"/>
          </a:p>
        </p:txBody>
      </p:sp>
      <p:sp>
        <p:nvSpPr>
          <p:cNvPr id="124" name="Shape 118"/>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25"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26" name="Text 119"/>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27" name="Shape 120"/>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28"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29" name="Text 121"/>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130" name="Shape 122"/>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1"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2" name="Text 123"/>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33" name="Shape 124"/>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4"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35" name="Text 125"/>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136" name="Shape 126"/>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37"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38" name="Text 127"/>
          <p:cNvSpPr/>
          <p:nvPr/>
        </p:nvSpPr>
        <p:spPr>
          <a:xfrm>
            <a:off x="4092854"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ROW ACCESS 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SESSION_USER tenant filter</a:t>
            </a:r>
            <a:endParaRPr lang="en-US" sz="500" dirty="0"/>
          </a:p>
        </p:txBody>
      </p:sp>
      <p:sp>
        <p:nvSpPr>
          <p:cNvPr id="139" name="Shape 128"/>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0"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1" name="Text 129"/>
          <p:cNvSpPr/>
          <p:nvPr/>
        </p:nvSpPr>
        <p:spPr>
          <a:xfrm>
            <a:off x="5170932"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Hub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service + per-tenant 3LO consent</a:t>
            </a:r>
            <a:endParaRPr lang="en-US" sz="500" dirty="0"/>
          </a:p>
        </p:txBody>
      </p:sp>
      <p:sp>
        <p:nvSpPr>
          <p:cNvPr id="142" name="Shape 130"/>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3"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4" name="Text 131"/>
          <p:cNvSpPr/>
          <p:nvPr/>
        </p:nvSpPr>
        <p:spPr>
          <a:xfrm>
            <a:off x="4092854"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SDP Egress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IBAN / SWIFT / PAN masking</a:t>
            </a:r>
            <a:endParaRPr lang="en-US" sz="500" dirty="0"/>
          </a:p>
        </p:txBody>
      </p:sp>
      <p:sp>
        <p:nvSpPr>
          <p:cNvPr id="145" name="Shape 132"/>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46"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47" name="Text 133"/>
          <p:cNvSpPr/>
          <p:nvPr/>
        </p:nvSpPr>
        <p:spPr>
          <a:xfrm>
            <a:off x="5170932"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adk-agent-signing-key • per-tenant claims</a:t>
            </a:r>
            <a:endParaRPr lang="en-US" sz="500" dirty="0"/>
          </a:p>
        </p:txBody>
      </p:sp>
      <p:sp>
        <p:nvSpPr>
          <p:cNvPr id="148" name="Shape 134"/>
          <p:cNvSpPr/>
          <p:nvPr/>
        </p:nvSpPr>
        <p:spPr>
          <a:xfrm>
            <a:off x="2723083" y="4230929"/>
            <a:ext cx="947318" cy="321869"/>
          </a:xfrm>
          <a:prstGeom prst="roundRect">
            <a:avLst>
              <a:gd name="adj" fmla="val 11364"/>
            </a:avLst>
          </a:prstGeom>
          <a:solidFill>
            <a:srgbClr val="FFFFFF"/>
          </a:solidFill>
          <a:ln w="10795">
            <a:solidFill>
              <a:srgbClr val="DADCE0"/>
            </a:solidFill>
            <a:prstDash val="solid"/>
          </a:ln>
        </p:spPr>
      </p:sp>
      <p:pic>
        <p:nvPicPr>
          <p:cNvPr id="149" name="Image 12" descr="preencoded.png">    </p:cNvPr>
          <p:cNvPicPr>
            <a:picLocks noChangeAspect="1"/>
          </p:cNvPicPr>
          <p:nvPr/>
        </p:nvPicPr>
        <p:blipFill>
          <a:blip r:embed="rId13"/>
          <a:stretch>
            <a:fillRect/>
          </a:stretch>
        </p:blipFill>
        <p:spPr>
          <a:xfrm>
            <a:off x="2764231" y="4308653"/>
            <a:ext cx="167335" cy="167335"/>
          </a:xfrm>
          <a:prstGeom prst="rect">
            <a:avLst/>
          </a:prstGeom>
        </p:spPr>
      </p:pic>
      <p:sp>
        <p:nvSpPr>
          <p:cNvPr id="150" name="Text 135"/>
          <p:cNvSpPr/>
          <p:nvPr/>
        </p:nvSpPr>
        <p:spPr>
          <a:xfrm>
            <a:off x="2954426" y="4230929"/>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ONE gVisor pool • temp:tenant_id</a:t>
            </a:r>
            <a:endParaRPr lang="en-US" sz="500" dirty="0"/>
          </a:p>
        </p:txBody>
      </p:sp>
      <p:sp>
        <p:nvSpPr>
          <p:cNvPr id="151" name="Shape 136"/>
          <p:cNvSpPr/>
          <p:nvPr/>
        </p:nvSpPr>
        <p:spPr>
          <a:xfrm>
            <a:off x="2723083" y="4735678"/>
            <a:ext cx="947318" cy="321869"/>
          </a:xfrm>
          <a:prstGeom prst="roundRect">
            <a:avLst>
              <a:gd name="adj" fmla="val 11364"/>
            </a:avLst>
          </a:prstGeom>
          <a:solidFill>
            <a:srgbClr val="FFFFFF"/>
          </a:solidFill>
          <a:ln w="10795">
            <a:solidFill>
              <a:srgbClr val="DADCE0"/>
            </a:solidFill>
            <a:prstDash val="solid"/>
          </a:ln>
        </p:spPr>
      </p:sp>
      <p:pic>
        <p:nvPicPr>
          <p:cNvPr id="152" name="Image 13" descr="preencoded.png">    </p:cNvPr>
          <p:cNvPicPr>
            <a:picLocks noChangeAspect="1"/>
          </p:cNvPicPr>
          <p:nvPr/>
        </p:nvPicPr>
        <p:blipFill>
          <a:blip r:embed="rId14"/>
          <a:stretch>
            <a:fillRect/>
          </a:stretch>
        </p:blipFill>
        <p:spPr>
          <a:xfrm>
            <a:off x="2764231" y="4813402"/>
            <a:ext cx="167335" cy="167335"/>
          </a:xfrm>
          <a:prstGeom prst="rect">
            <a:avLst/>
          </a:prstGeom>
        </p:spPr>
      </p:pic>
      <p:sp>
        <p:nvSpPr>
          <p:cNvPr id="153" name="Text 137"/>
          <p:cNvSpPr/>
          <p:nvPr/>
        </p:nvSpPr>
        <p:spPr>
          <a:xfrm>
            <a:off x="2954426" y="4735678"/>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RPM bulkheads 120 Std / 600 Ent</a:t>
            </a:r>
            <a:endParaRPr lang="en-US" sz="500" dirty="0"/>
          </a:p>
        </p:txBody>
      </p:sp>
      <p:sp>
        <p:nvSpPr>
          <p:cNvPr id="154" name="Shape 138"/>
          <p:cNvSpPr/>
          <p:nvPr/>
        </p:nvSpPr>
        <p:spPr>
          <a:xfrm>
            <a:off x="1566367" y="4230929"/>
            <a:ext cx="895198" cy="312725"/>
          </a:xfrm>
          <a:prstGeom prst="roundRect">
            <a:avLst>
              <a:gd name="adj" fmla="val 11696"/>
            </a:avLst>
          </a:prstGeom>
          <a:solidFill>
            <a:srgbClr val="FFFFFF"/>
          </a:solidFill>
          <a:ln w="10795">
            <a:solidFill>
              <a:srgbClr val="DADCE0"/>
            </a:solidFill>
            <a:prstDash val="solid"/>
          </a:ln>
        </p:spPr>
      </p:sp>
      <p:pic>
        <p:nvPicPr>
          <p:cNvPr id="155" name="Image 14" descr="preencoded.png">    </p:cNvPr>
          <p:cNvPicPr>
            <a:picLocks noChangeAspect="1"/>
          </p:cNvPicPr>
          <p:nvPr/>
        </p:nvPicPr>
        <p:blipFill>
          <a:blip r:embed="rId15"/>
          <a:stretch>
            <a:fillRect/>
          </a:stretch>
        </p:blipFill>
        <p:spPr>
          <a:xfrm>
            <a:off x="1607515" y="4305910"/>
            <a:ext cx="162763" cy="162763"/>
          </a:xfrm>
          <a:prstGeom prst="rect">
            <a:avLst/>
          </a:prstGeom>
        </p:spPr>
      </p:pic>
      <p:sp>
        <p:nvSpPr>
          <p:cNvPr id="156" name="Text 139"/>
          <p:cNvSpPr/>
          <p:nvPr/>
        </p:nvSpPr>
        <p:spPr>
          <a:xfrm>
            <a:off x="1793138" y="4230929"/>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Per-tenant templates: FINRA / PCI</a:t>
            </a:r>
            <a:endParaRPr lang="en-US" sz="500" dirty="0"/>
          </a:p>
        </p:txBody>
      </p:sp>
      <p:sp>
        <p:nvSpPr>
          <p:cNvPr id="157" name="Shape 140"/>
          <p:cNvSpPr/>
          <p:nvPr/>
        </p:nvSpPr>
        <p:spPr>
          <a:xfrm>
            <a:off x="1566367" y="4735678"/>
            <a:ext cx="895198" cy="312725"/>
          </a:xfrm>
          <a:prstGeom prst="roundRect">
            <a:avLst>
              <a:gd name="adj" fmla="val 11696"/>
            </a:avLst>
          </a:prstGeom>
          <a:solidFill>
            <a:srgbClr val="FFFFFF"/>
          </a:solidFill>
          <a:ln w="10795">
            <a:solidFill>
              <a:srgbClr val="DADCE0"/>
            </a:solidFill>
            <a:prstDash val="solid"/>
          </a:ln>
        </p:spPr>
      </p:sp>
      <p:pic>
        <p:nvPicPr>
          <p:cNvPr id="158" name="Image 15" descr="preencoded.png">    </p:cNvPr>
          <p:cNvPicPr>
            <a:picLocks noChangeAspect="1"/>
          </p:cNvPicPr>
          <p:nvPr/>
        </p:nvPicPr>
        <p:blipFill>
          <a:blip r:embed="rId16"/>
          <a:stretch>
            <a:fillRect/>
          </a:stretch>
        </p:blipFill>
        <p:spPr>
          <a:xfrm>
            <a:off x="1607515" y="4810658"/>
            <a:ext cx="162763" cy="162763"/>
          </a:xfrm>
          <a:prstGeom prst="rect">
            <a:avLst/>
          </a:prstGeom>
        </p:spPr>
      </p:pic>
      <p:sp>
        <p:nvSpPr>
          <p:cNvPr id="159" name="Text 141"/>
          <p:cNvSpPr/>
          <p:nvPr/>
        </p:nvSpPr>
        <p:spPr>
          <a:xfrm>
            <a:off x="1793138" y="4735678"/>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32k prefix • 4k / 8k caps</a:t>
            </a:r>
            <a:endParaRPr lang="en-US" sz="500" dirty="0"/>
          </a:p>
        </p:txBody>
      </p:sp>
      <p:sp>
        <p:nvSpPr>
          <p:cNvPr id="160" name="Shape 142"/>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1"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2" name="Text 143"/>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63" name="Shape 144"/>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4"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65" name="Text 145"/>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66" name="Shape 146"/>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67"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68" name="Text 147"/>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69" name="Shape 148"/>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0"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1" name="Text 149"/>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72" name="Shape 150"/>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3" name="Text 151"/>
          <p:cNvSpPr/>
          <p:nvPr/>
        </p:nvSpPr>
        <p:spPr>
          <a:xfrm>
            <a:off x="3922776" y="4726534"/>
            <a:ext cx="1929384" cy="121615"/>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420" dirty="0"/>
          </a:p>
        </p:txBody>
      </p:sp>
      <p:sp>
        <p:nvSpPr>
          <p:cNvPr id="174" name="Shape 152"/>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75" name="Text 153"/>
          <p:cNvSpPr/>
          <p:nvPr/>
        </p:nvSpPr>
        <p:spPr>
          <a:xfrm>
            <a:off x="3922776"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tenant_id = 'finvault' • 2 rows</a:t>
            </a:r>
            <a:endParaRPr lang="en-US" sz="420" dirty="0"/>
          </a:p>
        </p:txBody>
      </p:sp>
      <p:sp>
        <p:nvSpPr>
          <p:cNvPr id="176" name="Shape 154"/>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77" name="Text 155"/>
          <p:cNvSpPr/>
          <p:nvPr/>
        </p:nvSpPr>
        <p:spPr>
          <a:xfrm>
            <a:off x="4922215"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tenant_id = 'retailstream' • 2 rows</a:t>
            </a:r>
            <a:endParaRPr lang="en-US" sz="420" dirty="0"/>
          </a:p>
        </p:txBody>
      </p:sp>
      <p:sp>
        <p:nvSpPr>
          <p:cNvPr id="178" name="Shape 156"/>
          <p:cNvSpPr/>
          <p:nvPr/>
        </p:nvSpPr>
        <p:spPr>
          <a:xfrm>
            <a:off x="1627632" y="5586984"/>
            <a:ext cx="634594" cy="130759"/>
          </a:xfrm>
          <a:prstGeom prst="roundRect">
            <a:avLst>
              <a:gd name="adj" fmla="val 27972"/>
            </a:avLst>
          </a:prstGeom>
          <a:solidFill>
            <a:srgbClr val="E8F0FE"/>
          </a:solidFill>
          <a:ln w="10795">
            <a:solidFill>
              <a:srgbClr val="174EA6"/>
            </a:solidFill>
            <a:prstDash val="solid"/>
          </a:ln>
        </p:spPr>
      </p:sp>
      <p:sp>
        <p:nvSpPr>
          <p:cNvPr id="179" name="Text 157"/>
          <p:cNvSpPr/>
          <p:nvPr/>
        </p:nvSpPr>
        <p:spPr>
          <a:xfrm>
            <a:off x="1627632"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finvault:{user}:{session}</a:t>
            </a:r>
            <a:endParaRPr lang="en-US" sz="420" dirty="0"/>
          </a:p>
        </p:txBody>
      </p:sp>
      <p:sp>
        <p:nvSpPr>
          <p:cNvPr id="180" name="Shape 158"/>
          <p:cNvSpPr/>
          <p:nvPr/>
        </p:nvSpPr>
        <p:spPr>
          <a:xfrm>
            <a:off x="2301545" y="5586984"/>
            <a:ext cx="634594" cy="130759"/>
          </a:xfrm>
          <a:prstGeom prst="roundRect">
            <a:avLst>
              <a:gd name="adj" fmla="val 27972"/>
            </a:avLst>
          </a:prstGeom>
          <a:solidFill>
            <a:srgbClr val="FCE8E6"/>
          </a:solidFill>
          <a:ln w="10795">
            <a:solidFill>
              <a:srgbClr val="C5221F"/>
            </a:solidFill>
            <a:prstDash val="solid"/>
          </a:ln>
        </p:spPr>
      </p:sp>
      <p:sp>
        <p:nvSpPr>
          <p:cNvPr id="181" name="Text 159"/>
          <p:cNvSpPr/>
          <p:nvPr/>
        </p:nvSpPr>
        <p:spPr>
          <a:xfrm>
            <a:off x="2301545"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retailstream:{user}:{session}</a:t>
            </a:r>
            <a:endParaRPr lang="en-US" sz="420" dirty="0"/>
          </a:p>
        </p:txBody>
      </p:sp>
      <p:sp>
        <p:nvSpPr>
          <p:cNvPr id="182" name="Shape 160"/>
          <p:cNvSpPr/>
          <p:nvPr/>
        </p:nvSpPr>
        <p:spPr>
          <a:xfrm>
            <a:off x="2974543" y="5586984"/>
            <a:ext cx="634594" cy="130759"/>
          </a:xfrm>
          <a:prstGeom prst="roundRect">
            <a:avLst>
              <a:gd name="adj" fmla="val 27972"/>
            </a:avLst>
          </a:prstGeom>
          <a:solidFill>
            <a:srgbClr val="E6F4EA"/>
          </a:solidFill>
          <a:ln w="10795">
            <a:solidFill>
              <a:srgbClr val="137333"/>
            </a:solidFill>
            <a:prstDash val="solid"/>
          </a:ln>
        </p:spPr>
      </p:sp>
      <p:sp>
        <p:nvSpPr>
          <p:cNvPr id="183" name="Text 161"/>
          <p:cNvSpPr/>
          <p:nvPr/>
        </p:nvSpPr>
        <p:spPr>
          <a:xfrm>
            <a:off x="2974543"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L1 shared prefix (read-only)</a:t>
            </a:r>
            <a:endParaRPr lang="en-US" sz="420" dirty="0"/>
          </a:p>
        </p:txBody>
      </p:sp>
      <p:sp>
        <p:nvSpPr>
          <p:cNvPr id="184" name="Shape 162"/>
          <p:cNvSpPr/>
          <p:nvPr/>
        </p:nvSpPr>
        <p:spPr>
          <a:xfrm>
            <a:off x="3517697" y="1140257"/>
            <a:ext cx="148133" cy="148133"/>
          </a:xfrm>
          <a:prstGeom prst="ellipse">
            <a:avLst/>
          </a:prstGeom>
          <a:solidFill>
            <a:srgbClr val="174EA6"/>
          </a:solidFill>
          <a:ln w="10795">
            <a:solidFill>
              <a:srgbClr val="174EA6"/>
            </a:solidFill>
            <a:prstDash val="solid"/>
          </a:ln>
        </p:spPr>
      </p:sp>
      <p:sp>
        <p:nvSpPr>
          <p:cNvPr id="185" name="Text 163"/>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6" name="Shape 164"/>
          <p:cNvSpPr/>
          <p:nvPr/>
        </p:nvSpPr>
        <p:spPr>
          <a:xfrm>
            <a:off x="3717950" y="1140257"/>
            <a:ext cx="148133" cy="148133"/>
          </a:xfrm>
          <a:prstGeom prst="ellipse">
            <a:avLst/>
          </a:prstGeom>
          <a:solidFill>
            <a:srgbClr val="174EA6"/>
          </a:solidFill>
          <a:ln w="10795">
            <a:solidFill>
              <a:srgbClr val="174EA6"/>
            </a:solidFill>
            <a:prstDash val="solid"/>
          </a:ln>
        </p:spPr>
      </p:sp>
      <p:sp>
        <p:nvSpPr>
          <p:cNvPr id="187" name="Text 165"/>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8" name="Shape 166"/>
          <p:cNvSpPr/>
          <p:nvPr/>
        </p:nvSpPr>
        <p:spPr>
          <a:xfrm>
            <a:off x="3517697" y="2718511"/>
            <a:ext cx="148133" cy="148133"/>
          </a:xfrm>
          <a:prstGeom prst="ellipse">
            <a:avLst/>
          </a:prstGeom>
          <a:solidFill>
            <a:srgbClr val="174EA6"/>
          </a:solidFill>
          <a:ln w="10795">
            <a:solidFill>
              <a:srgbClr val="174EA6"/>
            </a:solidFill>
            <a:prstDash val="solid"/>
          </a:ln>
        </p:spPr>
      </p:sp>
      <p:sp>
        <p:nvSpPr>
          <p:cNvPr id="189" name="Text 167"/>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0" name="Shape 168"/>
          <p:cNvSpPr/>
          <p:nvPr/>
        </p:nvSpPr>
        <p:spPr>
          <a:xfrm>
            <a:off x="3717950" y="2718511"/>
            <a:ext cx="148133" cy="148133"/>
          </a:xfrm>
          <a:prstGeom prst="ellipse">
            <a:avLst/>
          </a:prstGeom>
          <a:solidFill>
            <a:srgbClr val="174EA6"/>
          </a:solidFill>
          <a:ln w="10795">
            <a:solidFill>
              <a:srgbClr val="174EA6"/>
            </a:solidFill>
            <a:prstDash val="solid"/>
          </a:ln>
        </p:spPr>
      </p:sp>
      <p:sp>
        <p:nvSpPr>
          <p:cNvPr id="191" name="Text 169"/>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2" name="Shape 170"/>
          <p:cNvSpPr/>
          <p:nvPr/>
        </p:nvSpPr>
        <p:spPr>
          <a:xfrm>
            <a:off x="2674620" y="3400654"/>
            <a:ext cx="148133" cy="148133"/>
          </a:xfrm>
          <a:prstGeom prst="ellipse">
            <a:avLst/>
          </a:prstGeom>
          <a:solidFill>
            <a:srgbClr val="174EA6"/>
          </a:solidFill>
          <a:ln w="10795">
            <a:solidFill>
              <a:srgbClr val="174EA6"/>
            </a:solidFill>
            <a:prstDash val="solid"/>
          </a:ln>
        </p:spPr>
      </p:sp>
      <p:sp>
        <p:nvSpPr>
          <p:cNvPr id="193" name="Text 171"/>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4" name="Shape 172"/>
          <p:cNvSpPr/>
          <p:nvPr/>
        </p:nvSpPr>
        <p:spPr>
          <a:xfrm>
            <a:off x="1579169" y="4565599"/>
            <a:ext cx="148133" cy="148133"/>
          </a:xfrm>
          <a:prstGeom prst="ellipse">
            <a:avLst/>
          </a:prstGeom>
          <a:solidFill>
            <a:srgbClr val="174EA6"/>
          </a:solidFill>
          <a:ln w="10795">
            <a:solidFill>
              <a:srgbClr val="174EA6"/>
            </a:solidFill>
            <a:prstDash val="solid"/>
          </a:ln>
        </p:spPr>
      </p:sp>
      <p:sp>
        <p:nvSpPr>
          <p:cNvPr id="195" name="Text 173"/>
          <p:cNvSpPr/>
          <p:nvPr/>
        </p:nvSpPr>
        <p:spPr>
          <a:xfrm>
            <a:off x="1579169" y="4565599"/>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6" name="Shape 174"/>
          <p:cNvSpPr/>
          <p:nvPr/>
        </p:nvSpPr>
        <p:spPr>
          <a:xfrm>
            <a:off x="1579169" y="5095951"/>
            <a:ext cx="148133" cy="148133"/>
          </a:xfrm>
          <a:prstGeom prst="ellipse">
            <a:avLst/>
          </a:prstGeom>
          <a:solidFill>
            <a:srgbClr val="174EA6"/>
          </a:solidFill>
          <a:ln w="10795">
            <a:solidFill>
              <a:srgbClr val="174EA6"/>
            </a:solidFill>
            <a:prstDash val="solid"/>
          </a:ln>
        </p:spPr>
      </p:sp>
      <p:sp>
        <p:nvSpPr>
          <p:cNvPr id="197" name="Text 175"/>
          <p:cNvSpPr/>
          <p:nvPr/>
        </p:nvSpPr>
        <p:spPr>
          <a:xfrm>
            <a:off x="1579169" y="509595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98" name="Shape 176"/>
          <p:cNvSpPr/>
          <p:nvPr/>
        </p:nvSpPr>
        <p:spPr>
          <a:xfrm>
            <a:off x="3692347" y="4252874"/>
            <a:ext cx="148133" cy="148133"/>
          </a:xfrm>
          <a:prstGeom prst="ellipse">
            <a:avLst/>
          </a:prstGeom>
          <a:solidFill>
            <a:srgbClr val="174EA6"/>
          </a:solidFill>
          <a:ln w="10795">
            <a:solidFill>
              <a:srgbClr val="174EA6"/>
            </a:solidFill>
            <a:prstDash val="solid"/>
          </a:ln>
        </p:spPr>
      </p:sp>
      <p:sp>
        <p:nvSpPr>
          <p:cNvPr id="199" name="Text 177"/>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0" name="Shape 178"/>
          <p:cNvSpPr/>
          <p:nvPr/>
        </p:nvSpPr>
        <p:spPr>
          <a:xfrm>
            <a:off x="5212994" y="3566160"/>
            <a:ext cx="148133" cy="148133"/>
          </a:xfrm>
          <a:prstGeom prst="ellipse">
            <a:avLst/>
          </a:prstGeom>
          <a:solidFill>
            <a:srgbClr val="174EA6"/>
          </a:solidFill>
          <a:ln w="10795">
            <a:solidFill>
              <a:srgbClr val="174EA6"/>
            </a:solidFill>
            <a:prstDash val="solid"/>
          </a:ln>
        </p:spPr>
      </p:sp>
      <p:sp>
        <p:nvSpPr>
          <p:cNvPr id="201" name="Text 179"/>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2" name="Text 180"/>
          <p:cNvSpPr/>
          <p:nvPr/>
        </p:nvSpPr>
        <p:spPr>
          <a:xfrm>
            <a:off x="1618488" y="5752490"/>
            <a:ext cx="1999793" cy="235001"/>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10" dirty="0"/>
          </a:p>
          <a:p>
            <a:pPr algn="l" indent="0" marL="0">
              <a:lnSpc>
                <a:spcPct val="88000"/>
              </a:lnSpc>
              <a:buNone/>
            </a:pPr>
            <a:r>
              <a:rPr lang="en-US" sz="40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10" dirty="0"/>
          </a:p>
        </p:txBody>
      </p:sp>
      <p:sp>
        <p:nvSpPr>
          <p:cNvPr id="203" name="Text 181"/>
          <p:cNvSpPr/>
          <p:nvPr/>
        </p:nvSpPr>
        <p:spPr>
          <a:xfrm>
            <a:off x="3913632" y="4874666"/>
            <a:ext cx="1947672" cy="138989"/>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10" dirty="0"/>
          </a:p>
        </p:txBody>
      </p:sp>
      <p:sp>
        <p:nvSpPr>
          <p:cNvPr id="204" name="Shape 182"/>
          <p:cNvSpPr/>
          <p:nvPr/>
        </p:nvSpPr>
        <p:spPr>
          <a:xfrm>
            <a:off x="3696005" y="3565246"/>
            <a:ext cx="1390802" cy="132588"/>
          </a:xfrm>
          <a:prstGeom prst="roundRect">
            <a:avLst>
              <a:gd name="adj" fmla="val 34483"/>
            </a:avLst>
          </a:prstGeom>
          <a:solidFill>
            <a:srgbClr val="FFFFFF"/>
          </a:solidFill>
          <a:ln w="5715">
            <a:solidFill>
              <a:srgbClr val="DADCE0"/>
            </a:solidFill>
            <a:prstDash val="solid"/>
          </a:ln>
        </p:spPr>
      </p:sp>
      <p:sp>
        <p:nvSpPr>
          <p:cNvPr id="205" name="Text 183"/>
          <p:cNvSpPr/>
          <p:nvPr/>
        </p:nvSpPr>
        <p:spPr>
          <a:xfrm>
            <a:off x="3714293" y="3574390"/>
            <a:ext cx="1354226"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Cache hits • RPM • per-tenant span cost → BigQuery</a:t>
            </a:r>
            <a:endParaRPr lang="en-US" sz="470" dirty="0"/>
          </a:p>
        </p:txBody>
      </p:sp>
      <p:sp>
        <p:nvSpPr>
          <p:cNvPr id="206" name="Shape 184"/>
          <p:cNvSpPr/>
          <p:nvPr/>
        </p:nvSpPr>
        <p:spPr>
          <a:xfrm>
            <a:off x="2844698" y="3376879"/>
            <a:ext cx="738835" cy="178308"/>
          </a:xfrm>
          <a:prstGeom prst="roundRect">
            <a:avLst>
              <a:gd name="adj" fmla="val 25641"/>
            </a:avLst>
          </a:prstGeom>
          <a:solidFill>
            <a:srgbClr val="FFFFFF"/>
          </a:solidFill>
          <a:ln w="5715">
            <a:solidFill>
              <a:srgbClr val="DADCE0"/>
            </a:solidFill>
            <a:prstDash val="solid"/>
          </a:ln>
        </p:spPr>
      </p:sp>
      <p:sp>
        <p:nvSpPr>
          <p:cNvPr id="207" name="Text 185"/>
          <p:cNvSpPr/>
          <p:nvPr/>
        </p:nvSpPr>
        <p:spPr>
          <a:xfrm>
            <a:off x="2862986" y="3386023"/>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Allocate gVisor sandbox</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Valkey quota check</a:t>
            </a:r>
            <a:endParaRPr lang="en-US" sz="470" dirty="0"/>
          </a:p>
        </p:txBody>
      </p:sp>
      <p:sp>
        <p:nvSpPr>
          <p:cNvPr id="208" name="Shape 186"/>
          <p:cNvSpPr/>
          <p:nvPr/>
        </p:nvSpPr>
        <p:spPr>
          <a:xfrm>
            <a:off x="1757477" y="4564685"/>
            <a:ext cx="686714" cy="178308"/>
          </a:xfrm>
          <a:prstGeom prst="roundRect">
            <a:avLst>
              <a:gd name="adj" fmla="val 25641"/>
            </a:avLst>
          </a:prstGeom>
          <a:solidFill>
            <a:srgbClr val="FFFFFF"/>
          </a:solidFill>
          <a:ln w="5715">
            <a:solidFill>
              <a:srgbClr val="DADCE0"/>
            </a:solidFill>
            <a:prstDash val="solid"/>
          </a:ln>
        </p:spPr>
      </p:sp>
      <p:sp>
        <p:nvSpPr>
          <p:cNvPr id="209" name="Text 187"/>
          <p:cNvSpPr/>
          <p:nvPr/>
        </p:nvSpPr>
        <p:spPr>
          <a:xfrm>
            <a:off x="1775765" y="4573829"/>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Screen prompt with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tenant's Armor template</a:t>
            </a:r>
            <a:endParaRPr lang="en-US" sz="470" dirty="0"/>
          </a:p>
        </p:txBody>
      </p:sp>
      <p:sp>
        <p:nvSpPr>
          <p:cNvPr id="210" name="Shape 188"/>
          <p:cNvSpPr/>
          <p:nvPr/>
        </p:nvSpPr>
        <p:spPr>
          <a:xfrm>
            <a:off x="1757477" y="5094122"/>
            <a:ext cx="686714" cy="178308"/>
          </a:xfrm>
          <a:prstGeom prst="roundRect">
            <a:avLst>
              <a:gd name="adj" fmla="val 25641"/>
            </a:avLst>
          </a:prstGeom>
          <a:solidFill>
            <a:srgbClr val="FFFFFF"/>
          </a:solidFill>
          <a:ln w="5715">
            <a:solidFill>
              <a:srgbClr val="DADCE0"/>
            </a:solidFill>
            <a:prstDash val="solid"/>
          </a:ln>
        </p:spPr>
      </p:sp>
      <p:sp>
        <p:nvSpPr>
          <p:cNvPr id="211" name="Text 189"/>
          <p:cNvSpPr/>
          <p:nvPr/>
        </p:nvSpPr>
        <p:spPr>
          <a:xfrm>
            <a:off x="1775765" y="5103266"/>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90% cached prefix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namespaced memory</a:t>
            </a:r>
            <a:endParaRPr lang="en-US" sz="470" dirty="0"/>
          </a:p>
        </p:txBody>
      </p:sp>
      <p:sp>
        <p:nvSpPr>
          <p:cNvPr id="212" name="Shape 190"/>
          <p:cNvSpPr/>
          <p:nvPr/>
        </p:nvSpPr>
        <p:spPr>
          <a:xfrm>
            <a:off x="2502713" y="2885846"/>
            <a:ext cx="597103" cy="178308"/>
          </a:xfrm>
          <a:prstGeom prst="roundRect">
            <a:avLst>
              <a:gd name="adj" fmla="val 25641"/>
            </a:avLst>
          </a:prstGeom>
          <a:solidFill>
            <a:srgbClr val="FFFFFF"/>
          </a:solidFill>
          <a:ln w="5715">
            <a:solidFill>
              <a:srgbClr val="DADCE0"/>
            </a:solidFill>
            <a:prstDash val="solid"/>
          </a:ln>
        </p:spPr>
      </p:sp>
      <p:sp>
        <p:nvSpPr>
          <p:cNvPr id="213" name="Text 191"/>
          <p:cNvSpPr/>
          <p:nvPr/>
        </p:nvSpPr>
        <p:spPr>
          <a:xfrm>
            <a:off x="2521001" y="2894990"/>
            <a:ext cx="56052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Mint OBO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KMS P-256 sig</a:t>
            </a:r>
            <a:endParaRPr lang="en-US" sz="470" dirty="0"/>
          </a:p>
        </p:txBody>
      </p:sp>
      <p:sp>
        <p:nvSpPr>
          <p:cNvPr id="214" name="Shape 192"/>
          <p:cNvSpPr/>
          <p:nvPr/>
        </p:nvSpPr>
        <p:spPr>
          <a:xfrm>
            <a:off x="5383073" y="3546043"/>
            <a:ext cx="617220" cy="178308"/>
          </a:xfrm>
          <a:prstGeom prst="roundRect">
            <a:avLst>
              <a:gd name="adj" fmla="val 25641"/>
            </a:avLst>
          </a:prstGeom>
          <a:solidFill>
            <a:srgbClr val="FFFFFF"/>
          </a:solidFill>
          <a:ln w="5715">
            <a:solidFill>
              <a:srgbClr val="DADCE0"/>
            </a:solidFill>
            <a:prstDash val="solid"/>
          </a:ln>
        </p:spPr>
      </p:sp>
      <p:sp>
        <p:nvSpPr>
          <p:cNvPr id="215" name="Text 193"/>
          <p:cNvSpPr/>
          <p:nvPr/>
        </p:nvSpPr>
        <p:spPr>
          <a:xfrm>
            <a:off x="5401361" y="3555187"/>
            <a:ext cx="580644"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SDP-redacted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per-turn OTel span</a:t>
            </a:r>
            <a:endParaRPr lang="en-US" sz="470" dirty="0"/>
          </a:p>
        </p:txBody>
      </p:sp>
      <p:sp>
        <p:nvSpPr>
          <p:cNvPr id="216" name="Shape 194"/>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17" name="Text 195"/>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Strip header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X-Tenant-ID</a:t>
            </a:r>
            <a:endParaRPr lang="en-US" sz="470" dirty="0"/>
          </a:p>
        </p:txBody>
      </p:sp>
      <p:sp>
        <p:nvSpPr>
          <p:cNvPr id="218" name="Shape 196"/>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19" name="Text 197"/>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Filter Agent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Catalog</a:t>
            </a:r>
            <a:endParaRPr lang="en-US" sz="470" dirty="0"/>
          </a:p>
        </p:txBody>
      </p:sp>
      <p:sp>
        <p:nvSpPr>
          <p:cNvPr id="220" name="Shape 198"/>
          <p:cNvSpPr/>
          <p:nvPr/>
        </p:nvSpPr>
        <p:spPr>
          <a:xfrm>
            <a:off x="5435194" y="5064862"/>
            <a:ext cx="493776" cy="132588"/>
          </a:xfrm>
          <a:prstGeom prst="roundRect">
            <a:avLst>
              <a:gd name="adj" fmla="val 34483"/>
            </a:avLst>
          </a:prstGeom>
          <a:solidFill>
            <a:srgbClr val="FFFFFF"/>
          </a:solidFill>
          <a:ln w="5715">
            <a:solidFill>
              <a:srgbClr val="DADCE0"/>
            </a:solidFill>
            <a:prstDash val="solid"/>
          </a:ln>
        </p:spPr>
      </p:sp>
      <p:sp>
        <p:nvSpPr>
          <p:cNvPr id="221" name="Text 199"/>
          <p:cNvSpPr/>
          <p:nvPr/>
        </p:nvSpPr>
        <p:spPr>
          <a:xfrm>
            <a:off x="5453482" y="507400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3LO consent</a:t>
            </a:r>
            <a:endParaRPr lang="en-US" sz="470" dirty="0"/>
          </a:p>
        </p:txBody>
      </p:sp>
      <p:sp>
        <p:nvSpPr>
          <p:cNvPr id="222" name="Shape 200"/>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23" name="Text 201"/>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4" name="Shape 202"/>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25" name="Text 203"/>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6" name="Shape 204"/>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27" name="Text 205"/>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28" name="Shape 206"/>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29" name="Text 207"/>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0" name="Shape 208"/>
          <p:cNvSpPr/>
          <p:nvPr/>
        </p:nvSpPr>
        <p:spPr>
          <a:xfrm>
            <a:off x="3240634" y="5116982"/>
            <a:ext cx="493776" cy="132588"/>
          </a:xfrm>
          <a:prstGeom prst="roundRect">
            <a:avLst>
              <a:gd name="adj" fmla="val 34483"/>
            </a:avLst>
          </a:prstGeom>
          <a:solidFill>
            <a:srgbClr val="FFFFFF"/>
          </a:solidFill>
          <a:ln w="5715">
            <a:solidFill>
              <a:srgbClr val="DADCE0"/>
            </a:solidFill>
            <a:prstDash val="solid"/>
          </a:ln>
        </p:spPr>
      </p:sp>
      <p:sp>
        <p:nvSpPr>
          <p:cNvPr id="231" name="Text 209"/>
          <p:cNvSpPr/>
          <p:nvPr/>
        </p:nvSpPr>
        <p:spPr>
          <a:xfrm>
            <a:off x="3258922" y="512612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namespace</a:t>
            </a:r>
            <a:endParaRPr lang="en-US" sz="470" dirty="0"/>
          </a:p>
        </p:txBody>
      </p:sp>
      <p:sp>
        <p:nvSpPr>
          <p:cNvPr id="232" name="Text 21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WS3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2.0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Topology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Central mTLS Routing &amp; Governance 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Alpha</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Beta</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Silo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Silo (RetailStream Corp)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retailstream-silo-cmek</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mTLS &amp; SPIFFE Routing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Client certificate pinning (HTTP 401 on SAN mismatch)</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KMS CMEK &amp; Sovereign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mTLS SPIFFE Clients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&amp; RetailStream</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SNI Silo Routing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&amp; PAB Violation Feed</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Per-silo audit sink (CMEK state, VPC-SC denials)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 Lock)</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Workspace &amp; Jira (0 Egress)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RetailStream Silo</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Entra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(medcore test)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Sovereign Hub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Routes to Dedicated Silo</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FinVault Perimeter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GKE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vLLM + Dedicated PT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 PCI Perimeter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Provisioned Quota</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mTLS • SPIFFE Cert Pinning</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&amp; DDoS Filter</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Verifier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403 Cross-Project Block</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state &amp; VPC-SC</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audit monitoring</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Private GKE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Zero Egress</a:t>
            </a:r>
            <a:endParaRPr lang="en-US" sz="470" dirty="0"/>
          </a:p>
        </p:txBody>
      </p:sp>
      <p:sp>
        <p:nvSpPr>
          <p:cNvPr id="207" name="Shape 185"/>
          <p:cNvSpPr/>
          <p:nvPr/>
        </p:nvSpPr>
        <p:spPr>
          <a:xfrm>
            <a:off x="2691994" y="5468112"/>
            <a:ext cx="782726"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10282" y="5477256"/>
            <a:ext cx="74615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finvault-silo-cmek</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Ready</a:t>
            </a:r>
            <a:endParaRPr lang="en-US" sz="470" dirty="0"/>
          </a:p>
        </p:txBody>
      </p:sp>
      <p:sp>
        <p:nvSpPr>
          <p:cNvPr id="209" name="Shape 187"/>
          <p:cNvSpPr/>
          <p:nvPr/>
        </p:nvSpPr>
        <p:spPr>
          <a:xfrm>
            <a:off x="5168189" y="4833518"/>
            <a:ext cx="559613"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86477" y="4842662"/>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VPC-SC Bound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Secure RAG</a:t>
            </a:r>
            <a:endParaRPr lang="en-US" sz="470" dirty="0"/>
          </a:p>
        </p:txBody>
      </p:sp>
      <p:sp>
        <p:nvSpPr>
          <p:cNvPr id="211" name="Shape 189"/>
          <p:cNvSpPr/>
          <p:nvPr/>
        </p:nvSpPr>
        <p:spPr>
          <a:xfrm>
            <a:off x="5074920" y="5468112"/>
            <a:ext cx="747065"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093208" y="5477256"/>
            <a:ext cx="71048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Kill-Switch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Verified</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Sovereign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HTTP 423 Locked)</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to isolated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VPC-SC tenant project</a:t>
            </a:r>
            <a:endParaRPr lang="en-US" sz="470" dirty="0"/>
          </a:p>
        </p:txBody>
      </p:sp>
      <p:sp>
        <p:nvSpPr>
          <p:cNvPr id="219" name="Shape 197"/>
          <p:cNvSpPr/>
          <p:nvPr/>
        </p:nvSpPr>
        <p:spPr>
          <a:xfrm>
            <a:off x="2541118" y="2885846"/>
            <a:ext cx="522122"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59406" y="2894990"/>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Enforce org</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PAB policy</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Verify client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SPIFFE SAN</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Silo 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200 / 423</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Valid</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Purge L1</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Purges in-memory L1</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session cache &amp; halts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AlloyDB / Memory I/O</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Purge L1 &amp; Halt I/O</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WS4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3-Phase Zero-Downtime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Tier Routing &amp; Live Migration Control Plane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Standard &amp; Enterprise</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Single Unified SaaS URL</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 (atomic tier pointer)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 pool | psc://10.10.0.5x</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tenant_promotion_migrations • routing_plane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Migration Coordinator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 via PSC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ServiceAttachment ← /28 consumer endpoint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 prompt screen + SDP</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IAP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46497" y="3365906"/>
            <a:ext cx="747065"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64785" y="3375050"/>
            <a:ext cx="710489"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Live promotion:</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-&gt; PSC Spoke</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Shared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RAG</a:t>
            </a:r>
            <a:endParaRPr lang="en-US" sz="470" dirty="0"/>
          </a:p>
        </p:txBody>
      </p:sp>
      <p:sp>
        <p:nvSpPr>
          <p:cNvPr id="207" name="Shape 185"/>
          <p:cNvSpPr/>
          <p:nvPr/>
        </p:nvSpPr>
        <p:spPr>
          <a:xfrm>
            <a:off x="2728570" y="5468112"/>
            <a:ext cx="70957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46858" y="5477256"/>
            <a:ext cx="67299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Streams State to</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Spoke</a:t>
            </a:r>
            <a:endParaRPr lang="en-US" sz="470" dirty="0"/>
          </a:p>
        </p:txBody>
      </p:sp>
      <p:sp>
        <p:nvSpPr>
          <p:cNvPr id="209" name="Shape 187"/>
          <p:cNvSpPr/>
          <p:nvPr/>
        </p:nvSpPr>
        <p:spPr>
          <a:xfrm>
            <a:off x="5130698" y="4833518"/>
            <a:ext cx="634594"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48986" y="4842662"/>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Unidirectional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Bridge</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Spoke Storage</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Pooled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Seamless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(0 dropped sessions)</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Standard to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Enterprise via PSC</a:t>
            </a:r>
            <a:endParaRPr lang="en-US" sz="470" dirty="0"/>
          </a:p>
        </p:txBody>
      </p:sp>
      <p:sp>
        <p:nvSpPr>
          <p:cNvPr id="219" name="Shape 197"/>
          <p:cNvSpPr/>
          <p:nvPr/>
        </p:nvSpPr>
        <p:spPr>
          <a:xfrm>
            <a:off x="2521915" y="2885846"/>
            <a:ext cx="559613"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40203" y="2894990"/>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Atomic route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lookup</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6876" y="2094890"/>
            <a:ext cx="493776"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5164" y="2104034"/>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Resolve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agent route</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WS5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 (TOP-LEFT)</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 (TOP-RIGHT)</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The Agentic Triad (80% reusable core)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EA4335"/>
          </a:solidFill>
          <a:ln/>
        </p:spPr>
      </p:sp>
      <p:sp>
        <p:nvSpPr>
          <p:cNvPr id="38" name="Shape 36"/>
          <p:cNvSpPr/>
          <p:nvPr/>
        </p:nvSpPr>
        <p:spPr>
          <a:xfrm>
            <a:off x="7552944" y="2880360"/>
            <a:ext cx="804672" cy="155448"/>
          </a:xfrm>
          <a:prstGeom prst="roundRect">
            <a:avLst>
              <a:gd name="adj" fmla="val 23529"/>
            </a:avLst>
          </a:prstGeom>
          <a:solidFill>
            <a:srgbClr val="FCE8E6"/>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OUTCOME COLUMN (LEFT)</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B — Sovereign Silos • $$$ • Terraform module 3.6</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FBBC04"/>
          </a:solidFill>
          <a:ln/>
        </p:spPr>
      </p:sp>
      <p:sp>
        <p:nvSpPr>
          <p:cNvPr id="44" name="Shape 42"/>
          <p:cNvSpPr/>
          <p:nvPr/>
        </p:nvSpPr>
        <p:spPr>
          <a:xfrm>
            <a:off x="7552944" y="3447288"/>
            <a:ext cx="804672" cy="155448"/>
          </a:xfrm>
          <a:prstGeom prst="roundRect">
            <a:avLst>
              <a:gd name="adj" fmla="val 23529"/>
            </a:avLst>
          </a:prstGeom>
          <a:solidFill>
            <a:srgbClr val="FEF7E0"/>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&amp; SLATE OUTCOME COLUMNS (CENTER &amp; RIGHT)</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A — Pooled ($) &amp; Pattern C — Hybrid PSC ($$)</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B Outcome Column (Q1 = YES -&gt; Step 4 • Coral #fad2cf): Provisions Per-Tenant Project &amp; VPC-SC (IAM PAB + KMS CMEK 423) and Dedicated Agent &amp; Gemma 3 (600 RPM • 8k budget • 6/6 tests).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A Outcome Column (Q2 = NO -&gt; Step 5 • Amber #feefc3): Provisions Shared Agent Engine Pool (120 RPM • 4k cap • 90% cache) and Shared AlloyDB &amp; BigQuery RLS (FORCE RLS • 10/10 breach tests).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46 Editable Shapes • 19 Connectors • GCP: cymbal-control-plane</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Executive Topology Selector: 2 questions → 3 outcomes</a:t>
            </a:r>
            <a:endParaRPr lang="en-US" sz="46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Text 6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1. The 2-Question Executive Topology Selector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Answer in order — Q1 settles compliance, Q2 settles tier mix</a:t>
            </a:r>
            <a:endParaRPr lang="en-US" sz="490" dirty="0"/>
          </a:p>
        </p:txBody>
      </p:sp>
      <p:sp>
        <p:nvSpPr>
          <p:cNvPr id="72" name="Shape 70"/>
          <p:cNvSpPr/>
          <p:nvPr/>
        </p:nvSpPr>
        <p:spPr>
          <a:xfrm>
            <a:off x="1436522" y="3866083"/>
            <a:ext cx="1477670" cy="2355494"/>
          </a:xfrm>
          <a:prstGeom prst="roundRect">
            <a:avLst>
              <a:gd name="adj" fmla="val 1856"/>
            </a:avLst>
          </a:prstGeom>
          <a:solidFill>
            <a:srgbClr val="FFFFFF"/>
          </a:solidFill>
          <a:ln w="10795">
            <a:solidFill>
              <a:srgbClr val="9AA0A6"/>
            </a:solidFill>
            <a:prstDash val="solid"/>
          </a:ln>
        </p:spPr>
      </p:sp>
      <p:sp>
        <p:nvSpPr>
          <p:cNvPr id="73" name="Text 71"/>
          <p:cNvSpPr/>
          <p:nvPr/>
        </p:nvSpPr>
        <p:spPr>
          <a:xfrm>
            <a:off x="1491386"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B — Sovereign Silos • $$$ • Terraform module 3.6</a:t>
            </a:r>
            <a:endParaRPr lang="en-US" sz="370" dirty="0"/>
          </a:p>
        </p:txBody>
      </p:sp>
      <p:sp>
        <p:nvSpPr>
          <p:cNvPr id="74" name="Shape 72"/>
          <p:cNvSpPr/>
          <p:nvPr/>
        </p:nvSpPr>
        <p:spPr>
          <a:xfrm>
            <a:off x="3001061" y="3866083"/>
            <a:ext cx="1477670" cy="2355494"/>
          </a:xfrm>
          <a:prstGeom prst="roundRect">
            <a:avLst>
              <a:gd name="adj" fmla="val 1856"/>
            </a:avLst>
          </a:prstGeom>
          <a:solidFill>
            <a:srgbClr val="FFFFFF"/>
          </a:solidFill>
          <a:ln w="10795">
            <a:solidFill>
              <a:srgbClr val="9AA0A6"/>
            </a:solidFill>
            <a:prstDash val="solid"/>
          </a:ln>
        </p:spPr>
      </p:sp>
      <p:sp>
        <p:nvSpPr>
          <p:cNvPr id="75" name="Text 73"/>
          <p:cNvSpPr/>
          <p:nvPr/>
        </p:nvSpPr>
        <p:spPr>
          <a:xfrm>
            <a:off x="3055925"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A — Pooled • $ • Terraform module 2.6</a:t>
            </a:r>
            <a:endParaRPr lang="en-US" sz="370" dirty="0"/>
          </a:p>
        </p:txBody>
      </p:sp>
      <p:sp>
        <p:nvSpPr>
          <p:cNvPr id="76" name="Shape 74"/>
          <p:cNvSpPr/>
          <p:nvPr/>
        </p:nvSpPr>
        <p:spPr>
          <a:xfrm>
            <a:off x="4565599" y="3866083"/>
            <a:ext cx="1477670" cy="2355494"/>
          </a:xfrm>
          <a:prstGeom prst="roundRect">
            <a:avLst>
              <a:gd name="adj" fmla="val 1856"/>
            </a:avLst>
          </a:prstGeom>
          <a:solidFill>
            <a:srgbClr val="FFFFFF"/>
          </a:solidFill>
          <a:ln w="10795">
            <a:solidFill>
              <a:srgbClr val="9AA0A6"/>
            </a:solidFill>
            <a:prstDash val="solid"/>
          </a:ln>
        </p:spPr>
      </p:sp>
      <p:sp>
        <p:nvSpPr>
          <p:cNvPr id="77" name="Text 75"/>
          <p:cNvSpPr/>
          <p:nvPr/>
        </p:nvSpPr>
        <p:spPr>
          <a:xfrm>
            <a:off x="4620463"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C — Hybrid PSC • $$ • Terraform module 4.6</a:t>
            </a:r>
            <a:endParaRPr lang="en-US" sz="370" dirty="0"/>
          </a:p>
        </p:txBody>
      </p:sp>
      <p:sp>
        <p:nvSpPr>
          <p:cNvPr id="78" name="Shape 76"/>
          <p:cNvSpPr/>
          <p:nvPr/>
        </p:nvSpPr>
        <p:spPr>
          <a:xfrm>
            <a:off x="1506017" y="4014216"/>
            <a:ext cx="1338682" cy="2138782"/>
          </a:xfrm>
          <a:prstGeom prst="roundRect">
            <a:avLst>
              <a:gd name="adj" fmla="val 2049"/>
            </a:avLst>
          </a:prstGeom>
          <a:solidFill>
            <a:srgbClr val="FAD2CF"/>
          </a:solidFill>
          <a:ln w="10795">
            <a:solidFill>
              <a:srgbClr val="9AA0A6"/>
            </a:solidFill>
            <a:prstDash val="solid"/>
          </a:ln>
        </p:spPr>
      </p:sp>
      <p:sp>
        <p:nvSpPr>
          <p:cNvPr id="79" name="Text 77"/>
          <p:cNvSpPr/>
          <p:nvPr/>
        </p:nvSpPr>
        <p:spPr>
          <a:xfrm>
            <a:off x="1560881"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dedicated project per tenant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Zero blast radius • customer holds the key</a:t>
            </a:r>
            <a:endParaRPr lang="en-US" sz="490" dirty="0"/>
          </a:p>
        </p:txBody>
      </p:sp>
      <p:sp>
        <p:nvSpPr>
          <p:cNvPr id="80" name="Shape 78"/>
          <p:cNvSpPr/>
          <p:nvPr/>
        </p:nvSpPr>
        <p:spPr>
          <a:xfrm>
            <a:off x="3070555" y="4014216"/>
            <a:ext cx="1338682" cy="2138782"/>
          </a:xfrm>
          <a:prstGeom prst="roundRect">
            <a:avLst>
              <a:gd name="adj" fmla="val 2049"/>
            </a:avLst>
          </a:prstGeom>
          <a:solidFill>
            <a:srgbClr val="FEEFC3"/>
          </a:solidFill>
          <a:ln w="10795">
            <a:solidFill>
              <a:srgbClr val="9AA0A6"/>
            </a:solidFill>
            <a:prstDash val="solid"/>
          </a:ln>
        </p:spPr>
      </p:sp>
      <p:sp>
        <p:nvSpPr>
          <p:cNvPr id="81" name="Text 79"/>
          <p:cNvSpPr/>
          <p:nvPr/>
        </p:nvSpPr>
        <p:spPr>
          <a:xfrm>
            <a:off x="3125419"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shared plane for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Lowest COGS • logical isolation only</a:t>
            </a:r>
            <a:endParaRPr lang="en-US" sz="490" dirty="0"/>
          </a:p>
        </p:txBody>
      </p:sp>
      <p:sp>
        <p:nvSpPr>
          <p:cNvPr id="82" name="Shape 80"/>
          <p:cNvSpPr/>
          <p:nvPr/>
        </p:nvSpPr>
        <p:spPr>
          <a:xfrm>
            <a:off x="4635094" y="4014216"/>
            <a:ext cx="1338682" cy="2138782"/>
          </a:xfrm>
          <a:prstGeom prst="roundRect">
            <a:avLst>
              <a:gd name="adj" fmla="val 2049"/>
            </a:avLst>
          </a:prstGeom>
          <a:solidFill>
            <a:srgbClr val="E8D9F7"/>
          </a:solidFill>
          <a:ln w="10795">
            <a:solidFill>
              <a:srgbClr val="9AA0A6"/>
            </a:solidFill>
            <a:prstDash val="solid"/>
          </a:ln>
        </p:spPr>
      </p:sp>
      <p:sp>
        <p:nvSpPr>
          <p:cNvPr id="83" name="Text 81"/>
          <p:cNvSpPr/>
          <p:nvPr/>
        </p:nvSpPr>
        <p:spPr>
          <a:xfrm>
            <a:off x="4689958" y="4025189"/>
            <a:ext cx="1228954"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Shared pool + private spokes</a:t>
            </a:r>
            <a:endParaRPr lang="en-US" sz="55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Standard pooled, Enterprise over PSC</a:t>
            </a:r>
            <a:endParaRPr lang="en-US" sz="550" dirty="0"/>
          </a:p>
        </p:txBody>
      </p:sp>
      <p:sp>
        <p:nvSpPr>
          <p:cNvPr id="84" name="Shape 82"/>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5" name="Text 83"/>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2. The Agentic Triad (80% reusable core)</a:t>
            </a:r>
            <a:endParaRPr lang="en-US" sz="490" dirty="0"/>
          </a:p>
        </p:txBody>
      </p:sp>
      <p:pic>
        <p:nvPicPr>
          <p:cNvPr id="86"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7" name="Shape 84"/>
          <p:cNvSpPr/>
          <p:nvPr/>
        </p:nvSpPr>
        <p:spPr>
          <a:xfrm>
            <a:off x="1697126" y="4544568"/>
            <a:ext cx="0" cy="60350"/>
          </a:xfrm>
          <a:prstGeom prst="line">
            <a:avLst/>
          </a:prstGeom>
          <a:noFill/>
          <a:ln w="12700">
            <a:solidFill>
              <a:srgbClr val="5F6368"/>
            </a:solidFill>
            <a:prstDash val="solid"/>
            <a:tailEnd type="triangle" w="sm" len="sm"/>
          </a:ln>
        </p:spPr>
      </p:sp>
      <p:sp>
        <p:nvSpPr>
          <p:cNvPr id="88" name="Shape 85"/>
          <p:cNvSpPr/>
          <p:nvPr/>
        </p:nvSpPr>
        <p:spPr>
          <a:xfrm>
            <a:off x="1697126" y="4909414"/>
            <a:ext cx="0" cy="60350"/>
          </a:xfrm>
          <a:prstGeom prst="line">
            <a:avLst/>
          </a:prstGeom>
          <a:noFill/>
          <a:ln w="12700">
            <a:solidFill>
              <a:srgbClr val="5F6368"/>
            </a:solidFill>
            <a:prstDash val="solid"/>
            <a:tailEnd type="triangle" w="sm" len="sm"/>
          </a:ln>
        </p:spPr>
      </p:sp>
      <p:sp>
        <p:nvSpPr>
          <p:cNvPr id="89" name="Shape 86"/>
          <p:cNvSpPr/>
          <p:nvPr/>
        </p:nvSpPr>
        <p:spPr>
          <a:xfrm>
            <a:off x="1697126" y="5274259"/>
            <a:ext cx="0" cy="61265"/>
          </a:xfrm>
          <a:prstGeom prst="line">
            <a:avLst/>
          </a:prstGeom>
          <a:noFill/>
          <a:ln w="12700">
            <a:solidFill>
              <a:srgbClr val="5F6368"/>
            </a:solidFill>
            <a:prstDash val="solid"/>
            <a:tailEnd type="triangle" w="sm" len="sm"/>
          </a:ln>
        </p:spPr>
      </p:sp>
      <p:sp>
        <p:nvSpPr>
          <p:cNvPr id="90" name="Shape 87"/>
          <p:cNvSpPr/>
          <p:nvPr/>
        </p:nvSpPr>
        <p:spPr>
          <a:xfrm>
            <a:off x="2175358" y="3761842"/>
            <a:ext cx="0" cy="104242"/>
          </a:xfrm>
          <a:prstGeom prst="line">
            <a:avLst/>
          </a:prstGeom>
          <a:noFill/>
          <a:ln w="12700">
            <a:solidFill>
              <a:srgbClr val="5F6368"/>
            </a:solidFill>
            <a:prstDash val="solid"/>
            <a:tailEnd type="triangle" w="sm" len="sm"/>
          </a:ln>
        </p:spPr>
      </p:sp>
      <p:sp>
        <p:nvSpPr>
          <p:cNvPr id="91" name="Shape 88"/>
          <p:cNvSpPr/>
          <p:nvPr/>
        </p:nvSpPr>
        <p:spPr>
          <a:xfrm>
            <a:off x="3261665" y="4544568"/>
            <a:ext cx="0" cy="60350"/>
          </a:xfrm>
          <a:prstGeom prst="line">
            <a:avLst/>
          </a:prstGeom>
          <a:noFill/>
          <a:ln w="12700">
            <a:solidFill>
              <a:srgbClr val="5F6368"/>
            </a:solidFill>
            <a:prstDash val="solid"/>
            <a:tailEnd type="triangle" w="sm" len="sm"/>
          </a:ln>
        </p:spPr>
      </p:sp>
      <p:sp>
        <p:nvSpPr>
          <p:cNvPr id="92" name="Shape 89"/>
          <p:cNvSpPr/>
          <p:nvPr/>
        </p:nvSpPr>
        <p:spPr>
          <a:xfrm>
            <a:off x="3261665" y="4909414"/>
            <a:ext cx="0" cy="60350"/>
          </a:xfrm>
          <a:prstGeom prst="line">
            <a:avLst/>
          </a:prstGeom>
          <a:noFill/>
          <a:ln w="12700">
            <a:solidFill>
              <a:srgbClr val="5F6368"/>
            </a:solidFill>
            <a:prstDash val="solid"/>
            <a:tailEnd type="triangle" w="sm" len="sm"/>
          </a:ln>
        </p:spPr>
      </p:sp>
      <p:sp>
        <p:nvSpPr>
          <p:cNvPr id="93" name="Shape 90"/>
          <p:cNvSpPr/>
          <p:nvPr/>
        </p:nvSpPr>
        <p:spPr>
          <a:xfrm>
            <a:off x="3261665" y="5274259"/>
            <a:ext cx="0" cy="61265"/>
          </a:xfrm>
          <a:prstGeom prst="line">
            <a:avLst/>
          </a:prstGeom>
          <a:noFill/>
          <a:ln w="12700">
            <a:solidFill>
              <a:srgbClr val="5F6368"/>
            </a:solidFill>
            <a:prstDash val="solid"/>
            <a:tailEnd type="triangle" w="sm" len="sm"/>
          </a:ln>
        </p:spPr>
      </p:sp>
      <p:sp>
        <p:nvSpPr>
          <p:cNvPr id="94" name="Shape 91"/>
          <p:cNvSpPr/>
          <p:nvPr/>
        </p:nvSpPr>
        <p:spPr>
          <a:xfrm>
            <a:off x="3739896" y="3761842"/>
            <a:ext cx="0" cy="104242"/>
          </a:xfrm>
          <a:prstGeom prst="line">
            <a:avLst/>
          </a:prstGeom>
          <a:noFill/>
          <a:ln w="12700">
            <a:solidFill>
              <a:srgbClr val="5F6368"/>
            </a:solidFill>
            <a:prstDash val="solid"/>
            <a:tailEnd type="triangle" w="sm" len="sm"/>
          </a:ln>
        </p:spPr>
      </p:sp>
      <p:sp>
        <p:nvSpPr>
          <p:cNvPr id="95" name="Shape 92"/>
          <p:cNvSpPr/>
          <p:nvPr/>
        </p:nvSpPr>
        <p:spPr>
          <a:xfrm>
            <a:off x="4826203" y="4544568"/>
            <a:ext cx="0" cy="60350"/>
          </a:xfrm>
          <a:prstGeom prst="line">
            <a:avLst/>
          </a:prstGeom>
          <a:noFill/>
          <a:ln w="12700">
            <a:solidFill>
              <a:srgbClr val="5F6368"/>
            </a:solidFill>
            <a:prstDash val="solid"/>
            <a:tailEnd type="triangle" w="sm" len="sm"/>
          </a:ln>
        </p:spPr>
      </p:sp>
      <p:sp>
        <p:nvSpPr>
          <p:cNvPr id="96" name="Shape 93"/>
          <p:cNvSpPr/>
          <p:nvPr/>
        </p:nvSpPr>
        <p:spPr>
          <a:xfrm>
            <a:off x="4826203" y="4909414"/>
            <a:ext cx="0" cy="60350"/>
          </a:xfrm>
          <a:prstGeom prst="line">
            <a:avLst/>
          </a:prstGeom>
          <a:noFill/>
          <a:ln w="12700">
            <a:solidFill>
              <a:srgbClr val="5F6368"/>
            </a:solidFill>
            <a:prstDash val="solid"/>
            <a:tailEnd type="triangle" w="sm" len="sm"/>
          </a:ln>
        </p:spPr>
      </p:sp>
      <p:sp>
        <p:nvSpPr>
          <p:cNvPr id="97" name="Shape 94"/>
          <p:cNvSpPr/>
          <p:nvPr/>
        </p:nvSpPr>
        <p:spPr>
          <a:xfrm>
            <a:off x="4826203" y="5274259"/>
            <a:ext cx="0" cy="61265"/>
          </a:xfrm>
          <a:prstGeom prst="line">
            <a:avLst/>
          </a:prstGeom>
          <a:noFill/>
          <a:ln w="12700">
            <a:solidFill>
              <a:srgbClr val="5F6368"/>
            </a:solidFill>
            <a:prstDash val="solid"/>
            <a:tailEnd type="triangle" w="sm" len="sm"/>
          </a:ln>
        </p:spPr>
      </p:sp>
      <p:sp>
        <p:nvSpPr>
          <p:cNvPr id="98" name="Shape 95"/>
          <p:cNvSpPr/>
          <p:nvPr/>
        </p:nvSpPr>
        <p:spPr>
          <a:xfrm>
            <a:off x="5304434" y="3761842"/>
            <a:ext cx="0" cy="104242"/>
          </a:xfrm>
          <a:prstGeom prst="line">
            <a:avLst/>
          </a:prstGeom>
          <a:noFill/>
          <a:ln w="12700">
            <a:solidFill>
              <a:srgbClr val="5F6368"/>
            </a:solidFill>
            <a:prstDash val="solid"/>
            <a:tailEnd type="triangle" w="sm" len="sm"/>
          </a:ln>
        </p:spPr>
      </p:sp>
      <p:sp>
        <p:nvSpPr>
          <p:cNvPr id="99" name="Shape 96"/>
          <p:cNvSpPr/>
          <p:nvPr/>
        </p:nvSpPr>
        <p:spPr>
          <a:xfrm>
            <a:off x="3696005" y="1032358"/>
            <a:ext cx="0" cy="1086307"/>
          </a:xfrm>
          <a:prstGeom prst="line">
            <a:avLst/>
          </a:prstGeom>
          <a:noFill/>
          <a:ln w="12700">
            <a:solidFill>
              <a:srgbClr val="5F6368"/>
            </a:solidFill>
            <a:prstDash val="solid"/>
            <a:tailEnd type="triangle" w="sm" len="sm"/>
          </a:ln>
        </p:spPr>
      </p:sp>
      <p:sp>
        <p:nvSpPr>
          <p:cNvPr id="100" name="Shape 97"/>
          <p:cNvSpPr/>
          <p:nvPr/>
        </p:nvSpPr>
        <p:spPr>
          <a:xfrm>
            <a:off x="2175358" y="2371039"/>
            <a:ext cx="0" cy="121615"/>
          </a:xfrm>
          <a:prstGeom prst="line">
            <a:avLst/>
          </a:prstGeom>
          <a:noFill/>
          <a:ln w="12700">
            <a:solidFill>
              <a:srgbClr val="5F6368"/>
            </a:solidFill>
            <a:prstDash val="solid"/>
            <a:tailEnd type="triangle" w="sm" len="sm"/>
          </a:ln>
        </p:spPr>
      </p:sp>
      <p:sp>
        <p:nvSpPr>
          <p:cNvPr id="101" name="Shape 98"/>
          <p:cNvSpPr/>
          <p:nvPr/>
        </p:nvSpPr>
        <p:spPr>
          <a:xfrm>
            <a:off x="2783434" y="2710282"/>
            <a:ext cx="173736" cy="0"/>
          </a:xfrm>
          <a:prstGeom prst="line">
            <a:avLst/>
          </a:prstGeom>
          <a:noFill/>
          <a:ln w="12700">
            <a:solidFill>
              <a:srgbClr val="5F6368"/>
            </a:solidFill>
            <a:prstDash val="solid"/>
            <a:tailEnd type="triangle" w="sm" len="sm"/>
          </a:ln>
        </p:spPr>
      </p:sp>
      <p:sp>
        <p:nvSpPr>
          <p:cNvPr id="102" name="Shape 99"/>
          <p:cNvSpPr/>
          <p:nvPr/>
        </p:nvSpPr>
        <p:spPr>
          <a:xfrm>
            <a:off x="2175358" y="2926994"/>
            <a:ext cx="0" cy="704088"/>
          </a:xfrm>
          <a:prstGeom prst="line">
            <a:avLst/>
          </a:prstGeom>
          <a:noFill/>
          <a:ln w="12700">
            <a:solidFill>
              <a:srgbClr val="5F6368"/>
            </a:solidFill>
            <a:prstDash val="solid"/>
            <a:tailEnd type="triangle" w="sm" len="sm"/>
          </a:ln>
        </p:spPr>
      </p:sp>
      <p:sp>
        <p:nvSpPr>
          <p:cNvPr id="103" name="Shape 100"/>
          <p:cNvSpPr/>
          <p:nvPr/>
        </p:nvSpPr>
        <p:spPr>
          <a:xfrm>
            <a:off x="3288182" y="2926994"/>
            <a:ext cx="0" cy="704088"/>
          </a:xfrm>
          <a:prstGeom prst="line">
            <a:avLst/>
          </a:prstGeom>
          <a:noFill/>
          <a:ln w="12700">
            <a:solidFill>
              <a:srgbClr val="5F6368"/>
            </a:solidFill>
            <a:prstDash val="solid"/>
            <a:tailEnd type="triangle" w="sm" len="sm"/>
          </a:ln>
        </p:spPr>
      </p:sp>
      <p:sp>
        <p:nvSpPr>
          <p:cNvPr id="104" name="Shape 101"/>
          <p:cNvSpPr/>
          <p:nvPr/>
        </p:nvSpPr>
        <p:spPr>
          <a:xfrm>
            <a:off x="4113886" y="2926994"/>
            <a:ext cx="0" cy="556870"/>
          </a:xfrm>
          <a:prstGeom prst="line">
            <a:avLst/>
          </a:prstGeom>
          <a:noFill/>
          <a:ln w="12700">
            <a:solidFill>
              <a:srgbClr val="5F6368"/>
            </a:solidFill>
            <a:prstDash val="solid"/>
          </a:ln>
        </p:spPr>
      </p:sp>
      <p:sp>
        <p:nvSpPr>
          <p:cNvPr id="105" name="Shape 102"/>
          <p:cNvSpPr/>
          <p:nvPr/>
        </p:nvSpPr>
        <p:spPr>
          <a:xfrm>
            <a:off x="4113886" y="3483864"/>
            <a:ext cx="1364285" cy="0"/>
          </a:xfrm>
          <a:prstGeom prst="line">
            <a:avLst/>
          </a:prstGeom>
          <a:noFill/>
          <a:ln w="12700">
            <a:solidFill>
              <a:srgbClr val="5F6368"/>
            </a:solidFill>
            <a:prstDash val="solid"/>
          </a:ln>
        </p:spPr>
      </p:sp>
      <p:sp>
        <p:nvSpPr>
          <p:cNvPr id="106" name="Shape 103"/>
          <p:cNvSpPr/>
          <p:nvPr/>
        </p:nvSpPr>
        <p:spPr>
          <a:xfrm>
            <a:off x="5478170" y="3483864"/>
            <a:ext cx="914" cy="147218"/>
          </a:xfrm>
          <a:prstGeom prst="line">
            <a:avLst/>
          </a:prstGeom>
          <a:noFill/>
          <a:ln w="12700">
            <a:solidFill>
              <a:srgbClr val="5F6368"/>
            </a:solidFill>
            <a:prstDash val="solid"/>
            <a:tailEnd type="triangle" w="sm" len="sm"/>
          </a:ln>
        </p:spPr>
      </p:sp>
      <p:sp>
        <p:nvSpPr>
          <p:cNvPr id="107" name="Shape 104"/>
          <p:cNvSpPr/>
          <p:nvPr/>
        </p:nvSpPr>
        <p:spPr>
          <a:xfrm>
            <a:off x="5869534" y="3327502"/>
            <a:ext cx="0" cy="303581"/>
          </a:xfrm>
          <a:prstGeom prst="line">
            <a:avLst/>
          </a:prstGeom>
          <a:noFill/>
          <a:ln w="12700">
            <a:solidFill>
              <a:srgbClr val="5F6368"/>
            </a:solidFill>
            <a:prstDash val="dash"/>
            <a:tailEnd type="triangle" w="sm" len="sm"/>
          </a:ln>
        </p:spPr>
      </p:sp>
      <p:sp>
        <p:nvSpPr>
          <p:cNvPr id="108" name="Shape 105"/>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09"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0" name="Text 106"/>
          <p:cNvSpPr/>
          <p:nvPr/>
        </p:nvSpPr>
        <p:spPr>
          <a:xfrm>
            <a:off x="1796796" y="2118665"/>
            <a:ext cx="2354580" cy="252374"/>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Decision inputs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500" dirty="0"/>
          </a:p>
        </p:txBody>
      </p:sp>
      <p:sp>
        <p:nvSpPr>
          <p:cNvPr id="111" name="Shape 107"/>
          <p:cNvSpPr/>
          <p:nvPr/>
        </p:nvSpPr>
        <p:spPr>
          <a:xfrm>
            <a:off x="1436522" y="3631082"/>
            <a:ext cx="4607662" cy="130759"/>
          </a:xfrm>
          <a:prstGeom prst="roundRect">
            <a:avLst>
              <a:gd name="adj" fmla="val 27972"/>
            </a:avLst>
          </a:prstGeom>
          <a:solidFill>
            <a:srgbClr val="E6F4EA"/>
          </a:solidFill>
          <a:ln w="10795">
            <a:solidFill>
              <a:srgbClr val="137333"/>
            </a:solidFill>
            <a:prstDash val="dash"/>
          </a:ln>
        </p:spPr>
      </p:sp>
      <p:sp>
        <p:nvSpPr>
          <p:cNvPr id="112" name="Text 108"/>
          <p:cNvSpPr/>
          <p:nvPr/>
        </p:nvSpPr>
        <p:spPr>
          <a:xfrm>
            <a:off x="1436522" y="3631082"/>
            <a:ext cx="4607662"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20" dirty="0"/>
          </a:p>
        </p:txBody>
      </p:sp>
      <p:sp>
        <p:nvSpPr>
          <p:cNvPr id="113" name="Shape 109"/>
          <p:cNvSpPr/>
          <p:nvPr/>
        </p:nvSpPr>
        <p:spPr>
          <a:xfrm>
            <a:off x="2957170" y="2492654"/>
            <a:ext cx="1217066" cy="434340"/>
          </a:xfrm>
          <a:prstGeom prst="roundRect">
            <a:avLst>
              <a:gd name="adj" fmla="val 8421"/>
            </a:avLst>
          </a:prstGeom>
          <a:solidFill>
            <a:srgbClr val="FFFFFF"/>
          </a:solidFill>
          <a:ln w="10795">
            <a:solidFill>
              <a:srgbClr val="DADCE0"/>
            </a:solidFill>
            <a:prstDash val="solid"/>
          </a:ln>
        </p:spPr>
      </p:sp>
      <p:sp>
        <p:nvSpPr>
          <p:cNvPr id="114" name="Text 110"/>
          <p:cNvSpPr/>
          <p:nvPr/>
        </p:nvSpPr>
        <p:spPr>
          <a:xfrm>
            <a:off x="2957170" y="2492654"/>
            <a:ext cx="1217066"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Q2 · Tier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50" dirty="0"/>
          </a:p>
        </p:txBody>
      </p:sp>
      <p:sp>
        <p:nvSpPr>
          <p:cNvPr id="115" name="Shape 111"/>
          <p:cNvSpPr/>
          <p:nvPr/>
        </p:nvSpPr>
        <p:spPr>
          <a:xfrm>
            <a:off x="1601114" y="2492654"/>
            <a:ext cx="1182319" cy="434340"/>
          </a:xfrm>
          <a:prstGeom prst="roundRect">
            <a:avLst>
              <a:gd name="adj" fmla="val 8421"/>
            </a:avLst>
          </a:prstGeom>
          <a:solidFill>
            <a:srgbClr val="FFFFFF"/>
          </a:solidFill>
          <a:ln w="10795">
            <a:solidFill>
              <a:srgbClr val="DADCE0"/>
            </a:solidFill>
            <a:prstDash val="solid"/>
          </a:ln>
        </p:spPr>
      </p:sp>
      <p:sp>
        <p:nvSpPr>
          <p:cNvPr id="116" name="Text 112"/>
          <p:cNvSpPr/>
          <p:nvPr/>
        </p:nvSpPr>
        <p:spPr>
          <a:xfrm>
            <a:off x="1601114" y="2492654"/>
            <a:ext cx="1182319"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Q1 · Compliance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50" dirty="0"/>
          </a:p>
        </p:txBody>
      </p:sp>
      <p:sp>
        <p:nvSpPr>
          <p:cNvPr id="117" name="Shape 113"/>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18"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19" name="Text 114"/>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Chief Architect • CISO • CFO</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1,000 tenants • 950 Standard + 50 Enterprise</a:t>
            </a:r>
            <a:endParaRPr lang="en-US" sz="520" dirty="0"/>
          </a:p>
        </p:txBody>
      </p:sp>
      <p:sp>
        <p:nvSpPr>
          <p:cNvPr id="120" name="Shape 115"/>
          <p:cNvSpPr/>
          <p:nvPr/>
        </p:nvSpPr>
        <p:spPr>
          <a:xfrm>
            <a:off x="1523390" y="4240073"/>
            <a:ext cx="1303934" cy="304495"/>
          </a:xfrm>
          <a:prstGeom prst="roundRect">
            <a:avLst>
              <a:gd name="adj" fmla="val 12012"/>
            </a:avLst>
          </a:prstGeom>
          <a:solidFill>
            <a:srgbClr val="FFFFFF"/>
          </a:solidFill>
          <a:ln w="10795">
            <a:solidFill>
              <a:srgbClr val="DADCE0"/>
            </a:solidFill>
            <a:prstDash val="solid"/>
          </a:ln>
        </p:spPr>
      </p:sp>
      <p:pic>
        <p:nvPicPr>
          <p:cNvPr id="121" name="Image 3" descr="preencoded.png">    </p:cNvPr>
          <p:cNvPicPr>
            <a:picLocks noChangeAspect="1"/>
          </p:cNvPicPr>
          <p:nvPr/>
        </p:nvPicPr>
        <p:blipFill>
          <a:blip r:embed="rId4"/>
          <a:stretch>
            <a:fillRect/>
          </a:stretch>
        </p:blipFill>
        <p:spPr>
          <a:xfrm>
            <a:off x="1564538" y="4313225"/>
            <a:ext cx="158191" cy="158191"/>
          </a:xfrm>
          <a:prstGeom prst="rect">
            <a:avLst/>
          </a:prstGeom>
        </p:spPr>
      </p:pic>
      <p:sp>
        <p:nvSpPr>
          <p:cNvPr id="122" name="Text 116"/>
          <p:cNvSpPr/>
          <p:nvPr/>
        </p:nvSpPr>
        <p:spPr>
          <a:xfrm>
            <a:off x="1745590"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 + IAM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project • 0 cross-perimeter egress</a:t>
            </a:r>
            <a:endParaRPr lang="en-US" sz="500" dirty="0"/>
          </a:p>
        </p:txBody>
      </p:sp>
      <p:sp>
        <p:nvSpPr>
          <p:cNvPr id="123" name="Shape 117"/>
          <p:cNvSpPr/>
          <p:nvPr/>
        </p:nvSpPr>
        <p:spPr>
          <a:xfrm>
            <a:off x="1523390" y="4604918"/>
            <a:ext cx="1303934" cy="304495"/>
          </a:xfrm>
          <a:prstGeom prst="roundRect">
            <a:avLst>
              <a:gd name="adj" fmla="val 12012"/>
            </a:avLst>
          </a:prstGeom>
          <a:solidFill>
            <a:srgbClr val="FFFFFF"/>
          </a:solidFill>
          <a:ln w="10795">
            <a:solidFill>
              <a:srgbClr val="DADCE0"/>
            </a:solidFill>
            <a:prstDash val="solid"/>
          </a:ln>
        </p:spPr>
      </p:sp>
      <p:pic>
        <p:nvPicPr>
          <p:cNvPr id="124" name="Image 4" descr="preencoded.png">    </p:cNvPr>
          <p:cNvPicPr>
            <a:picLocks noChangeAspect="1"/>
          </p:cNvPicPr>
          <p:nvPr/>
        </p:nvPicPr>
        <p:blipFill>
          <a:blip r:embed="rId5"/>
          <a:stretch>
            <a:fillRect/>
          </a:stretch>
        </p:blipFill>
        <p:spPr>
          <a:xfrm>
            <a:off x="1564538" y="4678070"/>
            <a:ext cx="158191" cy="158191"/>
          </a:xfrm>
          <a:prstGeom prst="rect">
            <a:avLst/>
          </a:prstGeom>
        </p:spPr>
      </p:pic>
      <p:sp>
        <p:nvSpPr>
          <p:cNvPr id="125" name="Text 118"/>
          <p:cNvSpPr/>
          <p:nvPr/>
        </p:nvSpPr>
        <p:spPr>
          <a:xfrm>
            <a:off x="1745590"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Customer CMEK Kill-Switch</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in &lt;60s</a:t>
            </a:r>
            <a:endParaRPr lang="en-US" sz="500" dirty="0"/>
          </a:p>
        </p:txBody>
      </p:sp>
      <p:sp>
        <p:nvSpPr>
          <p:cNvPr id="126" name="Shape 119"/>
          <p:cNvSpPr/>
          <p:nvPr/>
        </p:nvSpPr>
        <p:spPr>
          <a:xfrm>
            <a:off x="1523390" y="4969764"/>
            <a:ext cx="1303934" cy="304495"/>
          </a:xfrm>
          <a:prstGeom prst="roundRect">
            <a:avLst>
              <a:gd name="adj" fmla="val 12012"/>
            </a:avLst>
          </a:prstGeom>
          <a:solidFill>
            <a:srgbClr val="FFFFFF"/>
          </a:solidFill>
          <a:ln w="10795">
            <a:solidFill>
              <a:srgbClr val="DADCE0"/>
            </a:solidFill>
            <a:prstDash val="solid"/>
          </a:ln>
        </p:spPr>
      </p:sp>
      <p:pic>
        <p:nvPicPr>
          <p:cNvPr id="127" name="Image 5" descr="preencoded.png">    </p:cNvPr>
          <p:cNvPicPr>
            <a:picLocks noChangeAspect="1"/>
          </p:cNvPicPr>
          <p:nvPr/>
        </p:nvPicPr>
        <p:blipFill>
          <a:blip r:embed="rId6"/>
          <a:stretch>
            <a:fillRect/>
          </a:stretch>
        </p:blipFill>
        <p:spPr>
          <a:xfrm>
            <a:off x="1564538" y="5042916"/>
            <a:ext cx="158191" cy="158191"/>
          </a:xfrm>
          <a:prstGeom prst="rect">
            <a:avLst/>
          </a:prstGeom>
        </p:spPr>
      </p:pic>
      <p:sp>
        <p:nvSpPr>
          <p:cNvPr id="128" name="Text 120"/>
          <p:cNvSpPr/>
          <p:nvPr/>
        </p:nvSpPr>
        <p:spPr>
          <a:xfrm>
            <a:off x="1745590"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 27B / Dedicated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inference, no shared cache</a:t>
            </a:r>
            <a:endParaRPr lang="en-US" sz="500" dirty="0"/>
          </a:p>
        </p:txBody>
      </p:sp>
      <p:sp>
        <p:nvSpPr>
          <p:cNvPr id="129" name="Shape 121"/>
          <p:cNvSpPr/>
          <p:nvPr/>
        </p:nvSpPr>
        <p:spPr>
          <a:xfrm>
            <a:off x="1523390" y="5335524"/>
            <a:ext cx="1303934" cy="304495"/>
          </a:xfrm>
          <a:prstGeom prst="roundRect">
            <a:avLst>
              <a:gd name="adj" fmla="val 12012"/>
            </a:avLst>
          </a:prstGeom>
          <a:solidFill>
            <a:srgbClr val="FFFFFF"/>
          </a:solidFill>
          <a:ln w="10795">
            <a:solidFill>
              <a:srgbClr val="DADCE0"/>
            </a:solidFill>
            <a:prstDash val="solid"/>
          </a:ln>
        </p:spPr>
      </p:sp>
      <p:pic>
        <p:nvPicPr>
          <p:cNvPr id="130" name="Image 6" descr="preencoded.png">    </p:cNvPr>
          <p:cNvPicPr>
            <a:picLocks noChangeAspect="1"/>
          </p:cNvPicPr>
          <p:nvPr/>
        </p:nvPicPr>
        <p:blipFill>
          <a:blip r:embed="rId7"/>
          <a:stretch>
            <a:fillRect/>
          </a:stretch>
        </p:blipFill>
        <p:spPr>
          <a:xfrm>
            <a:off x="1564538" y="5408676"/>
            <a:ext cx="158191" cy="158191"/>
          </a:xfrm>
          <a:prstGeom prst="rect">
            <a:avLst/>
          </a:prstGeom>
        </p:spPr>
      </p:pic>
      <p:sp>
        <p:nvSpPr>
          <p:cNvPr id="131" name="Text 122"/>
          <p:cNvSpPr/>
          <p:nvPr/>
        </p:nvSpPr>
        <p:spPr>
          <a:xfrm>
            <a:off x="1745590"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 + AlloyDB 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Tools &amp; state never leave the perimeter</a:t>
            </a:r>
            <a:endParaRPr lang="en-US" sz="500" dirty="0"/>
          </a:p>
        </p:txBody>
      </p:sp>
      <p:sp>
        <p:nvSpPr>
          <p:cNvPr id="132" name="Shape 123"/>
          <p:cNvSpPr/>
          <p:nvPr/>
        </p:nvSpPr>
        <p:spPr>
          <a:xfrm>
            <a:off x="3087929" y="4240073"/>
            <a:ext cx="1303934" cy="304495"/>
          </a:xfrm>
          <a:prstGeom prst="roundRect">
            <a:avLst>
              <a:gd name="adj" fmla="val 12012"/>
            </a:avLst>
          </a:prstGeom>
          <a:solidFill>
            <a:srgbClr val="FFFFFF"/>
          </a:solidFill>
          <a:ln w="10795">
            <a:solidFill>
              <a:srgbClr val="DADCE0"/>
            </a:solidFill>
            <a:prstDash val="solid"/>
          </a:ln>
        </p:spPr>
      </p:sp>
      <p:pic>
        <p:nvPicPr>
          <p:cNvPr id="133" name="Image 7" descr="preencoded.png">    </p:cNvPr>
          <p:cNvPicPr>
            <a:picLocks noChangeAspect="1"/>
          </p:cNvPicPr>
          <p:nvPr/>
        </p:nvPicPr>
        <p:blipFill>
          <a:blip r:embed="rId8"/>
          <a:stretch>
            <a:fillRect/>
          </a:stretch>
        </p:blipFill>
        <p:spPr>
          <a:xfrm>
            <a:off x="3129077" y="4313225"/>
            <a:ext cx="158191" cy="158191"/>
          </a:xfrm>
          <a:prstGeom prst="rect">
            <a:avLst/>
          </a:prstGeom>
        </p:spPr>
      </p:pic>
      <p:sp>
        <p:nvSpPr>
          <p:cNvPr id="134" name="Text 124"/>
          <p:cNvSpPr/>
          <p:nvPr/>
        </p:nvSpPr>
        <p:spPr>
          <a:xfrm>
            <a:off x="3310128"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Agent Engine gVisor Pool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temp:tenant_id bound per request</a:t>
            </a:r>
            <a:endParaRPr lang="en-US" sz="500" dirty="0"/>
          </a:p>
        </p:txBody>
      </p:sp>
      <p:sp>
        <p:nvSpPr>
          <p:cNvPr id="135" name="Shape 125"/>
          <p:cNvSpPr/>
          <p:nvPr/>
        </p:nvSpPr>
        <p:spPr>
          <a:xfrm>
            <a:off x="3087929" y="4604918"/>
            <a:ext cx="1303934" cy="304495"/>
          </a:xfrm>
          <a:prstGeom prst="roundRect">
            <a:avLst>
              <a:gd name="adj" fmla="val 12012"/>
            </a:avLst>
          </a:prstGeom>
          <a:solidFill>
            <a:srgbClr val="FFFFFF"/>
          </a:solidFill>
          <a:ln w="10795">
            <a:solidFill>
              <a:srgbClr val="DADCE0"/>
            </a:solidFill>
            <a:prstDash val="solid"/>
          </a:ln>
        </p:spPr>
      </p:sp>
      <p:pic>
        <p:nvPicPr>
          <p:cNvPr id="136" name="Image 8" descr="preencoded.png">    </p:cNvPr>
          <p:cNvPicPr>
            <a:picLocks noChangeAspect="1"/>
          </p:cNvPicPr>
          <p:nvPr/>
        </p:nvPicPr>
        <p:blipFill>
          <a:blip r:embed="rId9"/>
          <a:stretch>
            <a:fillRect/>
          </a:stretch>
        </p:blipFill>
        <p:spPr>
          <a:xfrm>
            <a:off x="3129077" y="4678070"/>
            <a:ext cx="158191" cy="158191"/>
          </a:xfrm>
          <a:prstGeom prst="rect">
            <a:avLst/>
          </a:prstGeom>
        </p:spPr>
      </p:pic>
      <p:sp>
        <p:nvSpPr>
          <p:cNvPr id="137" name="Text 126"/>
          <p:cNvSpPr/>
          <p:nvPr/>
        </p:nvSpPr>
        <p:spPr>
          <a:xfrm>
            <a:off x="3310128"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 BigQuery FORCE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rows • 0 cross-tenant rows</a:t>
            </a:r>
            <a:endParaRPr lang="en-US" sz="500" dirty="0"/>
          </a:p>
        </p:txBody>
      </p:sp>
      <p:sp>
        <p:nvSpPr>
          <p:cNvPr id="138" name="Shape 127"/>
          <p:cNvSpPr/>
          <p:nvPr/>
        </p:nvSpPr>
        <p:spPr>
          <a:xfrm>
            <a:off x="3087929" y="4969764"/>
            <a:ext cx="1303934" cy="304495"/>
          </a:xfrm>
          <a:prstGeom prst="roundRect">
            <a:avLst>
              <a:gd name="adj" fmla="val 12012"/>
            </a:avLst>
          </a:prstGeom>
          <a:solidFill>
            <a:srgbClr val="FFFFFF"/>
          </a:solidFill>
          <a:ln w="10795">
            <a:solidFill>
              <a:srgbClr val="DADCE0"/>
            </a:solidFill>
            <a:prstDash val="solid"/>
          </a:ln>
        </p:spPr>
      </p:sp>
      <p:pic>
        <p:nvPicPr>
          <p:cNvPr id="139" name="Image 9" descr="preencoded.png">    </p:cNvPr>
          <p:cNvPicPr>
            <a:picLocks noChangeAspect="1"/>
          </p:cNvPicPr>
          <p:nvPr/>
        </p:nvPicPr>
        <p:blipFill>
          <a:blip r:embed="rId10"/>
          <a:stretch>
            <a:fillRect/>
          </a:stretch>
        </p:blipFill>
        <p:spPr>
          <a:xfrm>
            <a:off x="3129077" y="5042916"/>
            <a:ext cx="158191" cy="158191"/>
          </a:xfrm>
          <a:prstGeom prst="rect">
            <a:avLst/>
          </a:prstGeom>
        </p:spPr>
      </p:pic>
      <p:sp>
        <p:nvSpPr>
          <p:cNvPr id="140" name="Text 128"/>
          <p:cNvSpPr/>
          <p:nvPr/>
        </p:nvSpPr>
        <p:spPr>
          <a:xfrm>
            <a:off x="3310128"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Namespaced Memory + 90% ContextCache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prefix • -84.7% input tokens</a:t>
            </a:r>
            <a:endParaRPr lang="en-US" sz="500" dirty="0"/>
          </a:p>
        </p:txBody>
      </p:sp>
      <p:sp>
        <p:nvSpPr>
          <p:cNvPr id="141" name="Shape 129"/>
          <p:cNvSpPr/>
          <p:nvPr/>
        </p:nvSpPr>
        <p:spPr>
          <a:xfrm>
            <a:off x="3087929" y="5335524"/>
            <a:ext cx="1303934" cy="304495"/>
          </a:xfrm>
          <a:prstGeom prst="roundRect">
            <a:avLst>
              <a:gd name="adj" fmla="val 12012"/>
            </a:avLst>
          </a:prstGeom>
          <a:solidFill>
            <a:srgbClr val="FFFFFF"/>
          </a:solidFill>
          <a:ln w="10795">
            <a:solidFill>
              <a:srgbClr val="DADCE0"/>
            </a:solidFill>
            <a:prstDash val="solid"/>
          </a:ln>
        </p:spPr>
      </p:sp>
      <p:pic>
        <p:nvPicPr>
          <p:cNvPr id="142" name="Image 10" descr="preencoded.png">    </p:cNvPr>
          <p:cNvPicPr>
            <a:picLocks noChangeAspect="1"/>
          </p:cNvPicPr>
          <p:nvPr/>
        </p:nvPicPr>
        <p:blipFill>
          <a:blip r:embed="rId11"/>
          <a:stretch>
            <a:fillRect/>
          </a:stretch>
        </p:blipFill>
        <p:spPr>
          <a:xfrm>
            <a:off x="3129077" y="5408676"/>
            <a:ext cx="158191" cy="158191"/>
          </a:xfrm>
          <a:prstGeom prst="rect">
            <a:avLst/>
          </a:prstGeom>
        </p:spPr>
      </p:pic>
      <p:sp>
        <p:nvSpPr>
          <p:cNvPr id="143" name="Text 130"/>
          <p:cNvSpPr/>
          <p:nvPr/>
        </p:nvSpPr>
        <p:spPr>
          <a:xfrm>
            <a:off x="3310128"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Valkey Bulkheads + Thinking Caps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120 / 600 RPM • 4k / 8k tokens</a:t>
            </a:r>
            <a:endParaRPr lang="en-US" sz="500" dirty="0"/>
          </a:p>
        </p:txBody>
      </p:sp>
      <p:sp>
        <p:nvSpPr>
          <p:cNvPr id="144" name="Shape 131"/>
          <p:cNvSpPr/>
          <p:nvPr/>
        </p:nvSpPr>
        <p:spPr>
          <a:xfrm>
            <a:off x="4652467" y="4240073"/>
            <a:ext cx="1303934" cy="304495"/>
          </a:xfrm>
          <a:prstGeom prst="roundRect">
            <a:avLst>
              <a:gd name="adj" fmla="val 12012"/>
            </a:avLst>
          </a:prstGeom>
          <a:solidFill>
            <a:srgbClr val="FFFFFF"/>
          </a:solidFill>
          <a:ln w="10795">
            <a:solidFill>
              <a:srgbClr val="DADCE0"/>
            </a:solidFill>
            <a:prstDash val="solid"/>
          </a:ln>
        </p:spPr>
      </p:sp>
      <p:pic>
        <p:nvPicPr>
          <p:cNvPr id="145" name="Image 11" descr="preencoded.png">    </p:cNvPr>
          <p:cNvPicPr>
            <a:picLocks noChangeAspect="1"/>
          </p:cNvPicPr>
          <p:nvPr/>
        </p:nvPicPr>
        <p:blipFill>
          <a:blip r:embed="rId12"/>
          <a:stretch>
            <a:fillRect/>
          </a:stretch>
        </p:blipFill>
        <p:spPr>
          <a:xfrm>
            <a:off x="4693615" y="4313225"/>
            <a:ext cx="158191" cy="158191"/>
          </a:xfrm>
          <a:prstGeom prst="rect">
            <a:avLst/>
          </a:prstGeom>
        </p:spPr>
      </p:pic>
      <p:sp>
        <p:nvSpPr>
          <p:cNvPr id="146" name="Text 132"/>
          <p:cNvSpPr/>
          <p:nvPr/>
        </p:nvSpPr>
        <p:spPr>
          <a:xfrm>
            <a:off x="4874666"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Hub Tier Router + 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Atomic tier pointer per tenant</a:t>
            </a:r>
            <a:endParaRPr lang="en-US" sz="500" dirty="0"/>
          </a:p>
        </p:txBody>
      </p:sp>
      <p:sp>
        <p:nvSpPr>
          <p:cNvPr id="147" name="Shape 133"/>
          <p:cNvSpPr/>
          <p:nvPr/>
        </p:nvSpPr>
        <p:spPr>
          <a:xfrm>
            <a:off x="4652467" y="4604918"/>
            <a:ext cx="1303934" cy="304495"/>
          </a:xfrm>
          <a:prstGeom prst="roundRect">
            <a:avLst>
              <a:gd name="adj" fmla="val 12012"/>
            </a:avLst>
          </a:prstGeom>
          <a:solidFill>
            <a:srgbClr val="FFFFFF"/>
          </a:solidFill>
          <a:ln w="10795">
            <a:solidFill>
              <a:srgbClr val="DADCE0"/>
            </a:solidFill>
            <a:prstDash val="solid"/>
          </a:ln>
        </p:spPr>
      </p:sp>
      <p:pic>
        <p:nvPicPr>
          <p:cNvPr id="148" name="Image 12" descr="preencoded.png">    </p:cNvPr>
          <p:cNvPicPr>
            <a:picLocks noChangeAspect="1"/>
          </p:cNvPicPr>
          <p:nvPr/>
        </p:nvPicPr>
        <p:blipFill>
          <a:blip r:embed="rId13"/>
          <a:stretch>
            <a:fillRect/>
          </a:stretch>
        </p:blipFill>
        <p:spPr>
          <a:xfrm>
            <a:off x="4693615" y="4678070"/>
            <a:ext cx="158191" cy="158191"/>
          </a:xfrm>
          <a:prstGeom prst="rect">
            <a:avLst/>
          </a:prstGeom>
        </p:spPr>
      </p:pic>
      <p:sp>
        <p:nvSpPr>
          <p:cNvPr id="149" name="Text 134"/>
          <p:cNvSpPr/>
          <p:nvPr/>
        </p:nvSpPr>
        <p:spPr>
          <a:xfrm>
            <a:off x="4874666"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Standard → Shared Pool (Pattern A plane)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950 tenants • 120 RPM pooled path</a:t>
            </a:r>
            <a:endParaRPr lang="en-US" sz="500" dirty="0"/>
          </a:p>
        </p:txBody>
      </p:sp>
      <p:sp>
        <p:nvSpPr>
          <p:cNvPr id="150" name="Shape 135"/>
          <p:cNvSpPr/>
          <p:nvPr/>
        </p:nvSpPr>
        <p:spPr>
          <a:xfrm>
            <a:off x="4652467" y="4969764"/>
            <a:ext cx="1303934" cy="304495"/>
          </a:xfrm>
          <a:prstGeom prst="roundRect">
            <a:avLst>
              <a:gd name="adj" fmla="val 12012"/>
            </a:avLst>
          </a:prstGeom>
          <a:solidFill>
            <a:srgbClr val="FFFFFF"/>
          </a:solidFill>
          <a:ln w="10795">
            <a:solidFill>
              <a:srgbClr val="DADCE0"/>
            </a:solidFill>
            <a:prstDash val="solid"/>
          </a:ln>
        </p:spPr>
      </p:sp>
      <p:pic>
        <p:nvPicPr>
          <p:cNvPr id="151" name="Image 13" descr="preencoded.png">    </p:cNvPr>
          <p:cNvPicPr>
            <a:picLocks noChangeAspect="1"/>
          </p:cNvPicPr>
          <p:nvPr/>
        </p:nvPicPr>
        <p:blipFill>
          <a:blip r:embed="rId14"/>
          <a:stretch>
            <a:fillRect/>
          </a:stretch>
        </p:blipFill>
        <p:spPr>
          <a:xfrm>
            <a:off x="4693615" y="5042916"/>
            <a:ext cx="158191" cy="158191"/>
          </a:xfrm>
          <a:prstGeom prst="rect">
            <a:avLst/>
          </a:prstGeom>
        </p:spPr>
      </p:pic>
      <p:sp>
        <p:nvSpPr>
          <p:cNvPr id="152" name="Text 136"/>
          <p:cNvSpPr/>
          <p:nvPr/>
        </p:nvSpPr>
        <p:spPr>
          <a:xfrm>
            <a:off x="4874666"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 → PSC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Consumer /28 endpoint → ServiceAttachment</a:t>
            </a:r>
            <a:endParaRPr lang="en-US" sz="500" dirty="0"/>
          </a:p>
        </p:txBody>
      </p:sp>
      <p:sp>
        <p:nvSpPr>
          <p:cNvPr id="153" name="Shape 137"/>
          <p:cNvSpPr/>
          <p:nvPr/>
        </p:nvSpPr>
        <p:spPr>
          <a:xfrm>
            <a:off x="4652467" y="5335524"/>
            <a:ext cx="1303934" cy="304495"/>
          </a:xfrm>
          <a:prstGeom prst="roundRect">
            <a:avLst>
              <a:gd name="adj" fmla="val 12012"/>
            </a:avLst>
          </a:prstGeom>
          <a:solidFill>
            <a:srgbClr val="FFFFFF"/>
          </a:solidFill>
          <a:ln w="10795">
            <a:solidFill>
              <a:srgbClr val="DADCE0"/>
            </a:solidFill>
            <a:prstDash val="solid"/>
          </a:ln>
        </p:spPr>
      </p:sp>
      <p:pic>
        <p:nvPicPr>
          <p:cNvPr id="154" name="Image 14" descr="preencoded.png">    </p:cNvPr>
          <p:cNvPicPr>
            <a:picLocks noChangeAspect="1"/>
          </p:cNvPicPr>
          <p:nvPr/>
        </p:nvPicPr>
        <p:blipFill>
          <a:blip r:embed="rId15"/>
          <a:stretch>
            <a:fillRect/>
          </a:stretch>
        </p:blipFill>
        <p:spPr>
          <a:xfrm>
            <a:off x="4693615" y="5408676"/>
            <a:ext cx="158191" cy="158191"/>
          </a:xfrm>
          <a:prstGeom prst="rect">
            <a:avLst/>
          </a:prstGeom>
        </p:spPr>
      </p:pic>
      <p:sp>
        <p:nvSpPr>
          <p:cNvPr id="155" name="Text 138"/>
          <p:cNvSpPr/>
          <p:nvPr/>
        </p:nvSpPr>
        <p:spPr>
          <a:xfrm>
            <a:off x="4874666"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Zero-Downtime Promotion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56" name="Shape 13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57"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58" name="Text 14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1 • Zero-Trust 5-Hop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Hops 1, 2 &amp; 4: OBO/DPoP • Catalog PDP • Model Armor</a:t>
            </a:r>
            <a:endParaRPr lang="en-US" sz="500" dirty="0"/>
          </a:p>
        </p:txBody>
      </p:sp>
      <p:sp>
        <p:nvSpPr>
          <p:cNvPr id="159" name="Shape 141"/>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0"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1" name="Text 142"/>
          <p:cNvSpPr/>
          <p:nvPr/>
        </p:nvSpPr>
        <p:spPr>
          <a:xfrm>
            <a:off x="4940503" y="257037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2 • Predictable FinOps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ContextCache 90% • Valkey • thinking caps</a:t>
            </a:r>
            <a:endParaRPr lang="en-US" sz="500" dirty="0"/>
          </a:p>
        </p:txBody>
      </p:sp>
      <p:sp>
        <p:nvSpPr>
          <p:cNvPr id="162" name="Shape 143"/>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63"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64" name="Text 144"/>
          <p:cNvSpPr/>
          <p:nvPr/>
        </p:nvSpPr>
        <p:spPr>
          <a:xfrm>
            <a:off x="4940503" y="294436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3 • Zero-PII OTel Chargeback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 • Even / Proportional / Tiered</a:t>
            </a:r>
            <a:endParaRPr lang="en-US" sz="500" dirty="0"/>
          </a:p>
        </p:txBody>
      </p:sp>
      <p:sp>
        <p:nvSpPr>
          <p:cNvPr id="165" name="Shape 145"/>
          <p:cNvSpPr/>
          <p:nvPr/>
        </p:nvSpPr>
        <p:spPr>
          <a:xfrm>
            <a:off x="1523390" y="5743346"/>
            <a:ext cx="1303934" cy="277978"/>
          </a:xfrm>
          <a:prstGeom prst="roundRect">
            <a:avLst>
              <a:gd name="adj" fmla="val 13158"/>
            </a:avLst>
          </a:prstGeom>
          <a:solidFill>
            <a:srgbClr val="FFFFFF"/>
          </a:solidFill>
          <a:ln w="10795">
            <a:solidFill>
              <a:srgbClr val="C5221F"/>
            </a:solidFill>
            <a:prstDash val="solid"/>
          </a:ln>
        </p:spPr>
      </p:sp>
      <p:sp>
        <p:nvSpPr>
          <p:cNvPr id="166" name="Text 146"/>
          <p:cNvSpPr/>
          <p:nvPr/>
        </p:nvSpPr>
        <p:spPr>
          <a:xfrm>
            <a:off x="1523390"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C5221F"/>
                </a:solidFill>
                <a:latin typeface="Arial" pitchFamily="34" charset="0"/>
                <a:ea typeface="Arial" pitchFamily="34" charset="-122"/>
                <a:cs typeface="Arial" pitchFamily="34" charset="-120"/>
              </a:rPr>
              <a:t>Choose when regulators mandate isolation</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6/6 sovereign tests PASS • highest unit cost</a:t>
            </a:r>
            <a:endParaRPr lang="en-US" sz="520" dirty="0"/>
          </a:p>
        </p:txBody>
      </p:sp>
      <p:sp>
        <p:nvSpPr>
          <p:cNvPr id="167" name="Shape 147"/>
          <p:cNvSpPr/>
          <p:nvPr/>
        </p:nvSpPr>
        <p:spPr>
          <a:xfrm>
            <a:off x="3087929" y="5743346"/>
            <a:ext cx="1303934" cy="277978"/>
          </a:xfrm>
          <a:prstGeom prst="roundRect">
            <a:avLst>
              <a:gd name="adj" fmla="val 13158"/>
            </a:avLst>
          </a:prstGeom>
          <a:solidFill>
            <a:srgbClr val="FFFFFF"/>
          </a:solidFill>
          <a:ln w="10795">
            <a:solidFill>
              <a:srgbClr val="B06000"/>
            </a:solidFill>
            <a:prstDash val="solid"/>
          </a:ln>
        </p:spPr>
      </p:sp>
      <p:sp>
        <p:nvSpPr>
          <p:cNvPr id="168" name="Text 148"/>
          <p:cNvSpPr/>
          <p:nvPr/>
        </p:nvSpPr>
        <p:spPr>
          <a:xfrm>
            <a:off x="3087929"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B06000"/>
                </a:solidFill>
                <a:latin typeface="Arial" pitchFamily="34" charset="0"/>
                <a:ea typeface="Arial" pitchFamily="34" charset="-122"/>
                <a:cs typeface="Arial" pitchFamily="34" charset="-120"/>
              </a:rPr>
              <a:t>Choose when one commercial tier is enough</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10/10 breach vectors blocked • lowest unit cost</a:t>
            </a:r>
            <a:endParaRPr lang="en-US" sz="520" dirty="0"/>
          </a:p>
        </p:txBody>
      </p:sp>
      <p:sp>
        <p:nvSpPr>
          <p:cNvPr id="169" name="Shape 149"/>
          <p:cNvSpPr/>
          <p:nvPr/>
        </p:nvSpPr>
        <p:spPr>
          <a:xfrm>
            <a:off x="4652467" y="5743346"/>
            <a:ext cx="1303934" cy="277978"/>
          </a:xfrm>
          <a:prstGeom prst="roundRect">
            <a:avLst>
              <a:gd name="adj" fmla="val 13158"/>
            </a:avLst>
          </a:prstGeom>
          <a:solidFill>
            <a:srgbClr val="FFFFFF"/>
          </a:solidFill>
          <a:ln w="10795">
            <a:solidFill>
              <a:srgbClr val="6A1B9A"/>
            </a:solidFill>
            <a:prstDash val="solid"/>
          </a:ln>
        </p:spPr>
      </p:sp>
      <p:sp>
        <p:nvSpPr>
          <p:cNvPr id="170" name="Text 150"/>
          <p:cNvSpPr/>
          <p:nvPr/>
        </p:nvSpPr>
        <p:spPr>
          <a:xfrm>
            <a:off x="4652467"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6A1B9A"/>
                </a:solidFill>
                <a:latin typeface="Arial" pitchFamily="34" charset="0"/>
                <a:ea typeface="Arial" pitchFamily="34" charset="-122"/>
                <a:cs typeface="Arial" pitchFamily="34" charset="-120"/>
              </a:rPr>
              <a:t>Choose when tiers must coexist and promote live</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4/4 migration tests PASS • 74% TCO vs all-dedicated</a:t>
            </a:r>
            <a:endParaRPr lang="en-US" sz="520" dirty="0"/>
          </a:p>
        </p:txBody>
      </p:sp>
      <p:sp>
        <p:nvSpPr>
          <p:cNvPr id="171" name="Shape 151"/>
          <p:cNvSpPr/>
          <p:nvPr/>
        </p:nvSpPr>
        <p:spPr>
          <a:xfrm>
            <a:off x="2101291" y="3739896"/>
            <a:ext cx="148133" cy="148133"/>
          </a:xfrm>
          <a:prstGeom prst="ellipse">
            <a:avLst/>
          </a:prstGeom>
          <a:solidFill>
            <a:srgbClr val="174EA6"/>
          </a:solidFill>
          <a:ln w="10795">
            <a:solidFill>
              <a:srgbClr val="174EA6"/>
            </a:solidFill>
            <a:prstDash val="solid"/>
          </a:ln>
        </p:spPr>
      </p:sp>
      <p:sp>
        <p:nvSpPr>
          <p:cNvPr id="172" name="Text 152"/>
          <p:cNvSpPr/>
          <p:nvPr/>
        </p:nvSpPr>
        <p:spPr>
          <a:xfrm>
            <a:off x="2101291"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73" name="Shape 153"/>
          <p:cNvSpPr/>
          <p:nvPr/>
        </p:nvSpPr>
        <p:spPr>
          <a:xfrm>
            <a:off x="3665830" y="3739896"/>
            <a:ext cx="148133" cy="148133"/>
          </a:xfrm>
          <a:prstGeom prst="ellipse">
            <a:avLst/>
          </a:prstGeom>
          <a:solidFill>
            <a:srgbClr val="174EA6"/>
          </a:solidFill>
          <a:ln w="10795">
            <a:solidFill>
              <a:srgbClr val="174EA6"/>
            </a:solidFill>
            <a:prstDash val="solid"/>
          </a:ln>
        </p:spPr>
      </p:sp>
      <p:sp>
        <p:nvSpPr>
          <p:cNvPr id="174" name="Text 154"/>
          <p:cNvSpPr/>
          <p:nvPr/>
        </p:nvSpPr>
        <p:spPr>
          <a:xfrm>
            <a:off x="3665830"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75" name="Shape 155"/>
          <p:cNvSpPr/>
          <p:nvPr/>
        </p:nvSpPr>
        <p:spPr>
          <a:xfrm>
            <a:off x="5230368" y="3739896"/>
            <a:ext cx="148133" cy="148133"/>
          </a:xfrm>
          <a:prstGeom prst="ellipse">
            <a:avLst/>
          </a:prstGeom>
          <a:solidFill>
            <a:srgbClr val="174EA6"/>
          </a:solidFill>
          <a:ln w="10795">
            <a:solidFill>
              <a:srgbClr val="174EA6"/>
            </a:solidFill>
            <a:prstDash val="solid"/>
          </a:ln>
        </p:spPr>
      </p:sp>
      <p:sp>
        <p:nvSpPr>
          <p:cNvPr id="176" name="Text 156"/>
          <p:cNvSpPr/>
          <p:nvPr/>
        </p:nvSpPr>
        <p:spPr>
          <a:xfrm>
            <a:off x="5230368"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77" name="Shape 157"/>
          <p:cNvSpPr/>
          <p:nvPr/>
        </p:nvSpPr>
        <p:spPr>
          <a:xfrm>
            <a:off x="3621938" y="1140257"/>
            <a:ext cx="148133" cy="148133"/>
          </a:xfrm>
          <a:prstGeom prst="ellipse">
            <a:avLst/>
          </a:prstGeom>
          <a:solidFill>
            <a:srgbClr val="174EA6"/>
          </a:solidFill>
          <a:ln w="10795">
            <a:solidFill>
              <a:srgbClr val="174EA6"/>
            </a:solidFill>
            <a:prstDash val="solid"/>
          </a:ln>
        </p:spPr>
      </p:sp>
      <p:sp>
        <p:nvSpPr>
          <p:cNvPr id="178" name="Text 158"/>
          <p:cNvSpPr/>
          <p:nvPr/>
        </p:nvSpPr>
        <p:spPr>
          <a:xfrm>
            <a:off x="3621938"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79" name="Shape 159"/>
          <p:cNvSpPr/>
          <p:nvPr/>
        </p:nvSpPr>
        <p:spPr>
          <a:xfrm>
            <a:off x="1440180" y="2636215"/>
            <a:ext cx="148133" cy="148133"/>
          </a:xfrm>
          <a:prstGeom prst="ellipse">
            <a:avLst/>
          </a:prstGeom>
          <a:solidFill>
            <a:srgbClr val="174EA6"/>
          </a:solidFill>
          <a:ln w="10795">
            <a:solidFill>
              <a:srgbClr val="174EA6"/>
            </a:solidFill>
            <a:prstDash val="solid"/>
          </a:ln>
        </p:spPr>
      </p:sp>
      <p:sp>
        <p:nvSpPr>
          <p:cNvPr id="180" name="Text 160"/>
          <p:cNvSpPr/>
          <p:nvPr/>
        </p:nvSpPr>
        <p:spPr>
          <a:xfrm>
            <a:off x="1440180"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1" name="Shape 161"/>
          <p:cNvSpPr/>
          <p:nvPr/>
        </p:nvSpPr>
        <p:spPr>
          <a:xfrm>
            <a:off x="4169664" y="2636215"/>
            <a:ext cx="148133" cy="148133"/>
          </a:xfrm>
          <a:prstGeom prst="ellipse">
            <a:avLst/>
          </a:prstGeom>
          <a:solidFill>
            <a:srgbClr val="174EA6"/>
          </a:solidFill>
          <a:ln w="10795">
            <a:solidFill>
              <a:srgbClr val="174EA6"/>
            </a:solidFill>
            <a:prstDash val="solid"/>
          </a:ln>
        </p:spPr>
      </p:sp>
      <p:sp>
        <p:nvSpPr>
          <p:cNvPr id="182" name="Text 162"/>
          <p:cNvSpPr/>
          <p:nvPr/>
        </p:nvSpPr>
        <p:spPr>
          <a:xfrm>
            <a:off x="4169664"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83" name="Shape 163"/>
          <p:cNvSpPr/>
          <p:nvPr/>
        </p:nvSpPr>
        <p:spPr>
          <a:xfrm>
            <a:off x="4609490" y="3324758"/>
            <a:ext cx="834847" cy="178308"/>
          </a:xfrm>
          <a:prstGeom prst="roundRect">
            <a:avLst>
              <a:gd name="adj" fmla="val 25641"/>
            </a:avLst>
          </a:prstGeom>
          <a:solidFill>
            <a:srgbClr val="FFFFFF"/>
          </a:solidFill>
          <a:ln w="5715">
            <a:solidFill>
              <a:srgbClr val="DADCE0"/>
            </a:solidFill>
            <a:prstDash val="solid"/>
          </a:ln>
        </p:spPr>
      </p:sp>
      <p:sp>
        <p:nvSpPr>
          <p:cNvPr id="184" name="Text 164"/>
          <p:cNvSpPr/>
          <p:nvPr/>
        </p:nvSpPr>
        <p:spPr>
          <a:xfrm>
            <a:off x="4627778" y="3333902"/>
            <a:ext cx="79827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Standard + Enterprise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Pattern C (hybrid)</a:t>
            </a:r>
            <a:endParaRPr lang="en-US" sz="470" dirty="0"/>
          </a:p>
        </p:txBody>
      </p:sp>
      <p:sp>
        <p:nvSpPr>
          <p:cNvPr id="185" name="Shape 165"/>
          <p:cNvSpPr/>
          <p:nvPr/>
        </p:nvSpPr>
        <p:spPr>
          <a:xfrm>
            <a:off x="3340303" y="3012034"/>
            <a:ext cx="678485" cy="178308"/>
          </a:xfrm>
          <a:prstGeom prst="roundRect">
            <a:avLst>
              <a:gd name="adj" fmla="val 25641"/>
            </a:avLst>
          </a:prstGeom>
          <a:solidFill>
            <a:srgbClr val="FFFFFF"/>
          </a:solidFill>
          <a:ln w="5715">
            <a:solidFill>
              <a:srgbClr val="DADCE0"/>
            </a:solidFill>
            <a:prstDash val="solid"/>
          </a:ln>
        </p:spPr>
      </p:sp>
      <p:sp>
        <p:nvSpPr>
          <p:cNvPr id="186" name="Text 166"/>
          <p:cNvSpPr/>
          <p:nvPr/>
        </p:nvSpPr>
        <p:spPr>
          <a:xfrm>
            <a:off x="3358591" y="3021178"/>
            <a:ext cx="64190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Single shared tier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Pattern A (pooled)</a:t>
            </a:r>
            <a:endParaRPr lang="en-US" sz="470" dirty="0"/>
          </a:p>
        </p:txBody>
      </p:sp>
      <p:sp>
        <p:nvSpPr>
          <p:cNvPr id="187" name="Shape 167"/>
          <p:cNvSpPr/>
          <p:nvPr/>
        </p:nvSpPr>
        <p:spPr>
          <a:xfrm>
            <a:off x="2218334" y="3012034"/>
            <a:ext cx="651967" cy="178308"/>
          </a:xfrm>
          <a:prstGeom prst="roundRect">
            <a:avLst>
              <a:gd name="adj" fmla="val 25641"/>
            </a:avLst>
          </a:prstGeom>
          <a:solidFill>
            <a:srgbClr val="FFFFFF"/>
          </a:solidFill>
          <a:ln w="5715">
            <a:solidFill>
              <a:srgbClr val="DADCE0"/>
            </a:solidFill>
            <a:prstDash val="solid"/>
          </a:ln>
        </p:spPr>
      </p:sp>
      <p:sp>
        <p:nvSpPr>
          <p:cNvPr id="188" name="Text 168"/>
          <p:cNvSpPr/>
          <p:nvPr/>
        </p:nvSpPr>
        <p:spPr>
          <a:xfrm>
            <a:off x="2236622" y="3021178"/>
            <a:ext cx="61539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YES → Pattern B</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every tenant sovereign</a:t>
            </a:r>
            <a:endParaRPr lang="en-US" sz="470" dirty="0"/>
          </a:p>
        </p:txBody>
      </p:sp>
      <p:sp>
        <p:nvSpPr>
          <p:cNvPr id="189" name="Shape 169"/>
          <p:cNvSpPr/>
          <p:nvPr/>
        </p:nvSpPr>
        <p:spPr>
          <a:xfrm>
            <a:off x="3792017" y="1148486"/>
            <a:ext cx="521208" cy="132588"/>
          </a:xfrm>
          <a:prstGeom prst="roundRect">
            <a:avLst>
              <a:gd name="adj" fmla="val 34483"/>
            </a:avLst>
          </a:prstGeom>
          <a:solidFill>
            <a:srgbClr val="FFFFFF"/>
          </a:solidFill>
          <a:ln w="5715">
            <a:solidFill>
              <a:srgbClr val="DADCE0"/>
            </a:solidFill>
            <a:prstDash val="solid"/>
          </a:ln>
        </p:spPr>
      </p:sp>
      <p:sp>
        <p:nvSpPr>
          <p:cNvPr id="190" name="Text 170"/>
          <p:cNvSpPr/>
          <p:nvPr/>
        </p:nvSpPr>
        <p:spPr>
          <a:xfrm>
            <a:off x="3810305" y="1157630"/>
            <a:ext cx="484632"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Decision inputs</a:t>
            </a:r>
            <a:endParaRPr lang="en-US" sz="470" dirty="0"/>
          </a:p>
        </p:txBody>
      </p:sp>
      <p:sp>
        <p:nvSpPr>
          <p:cNvPr id="191" name="Shape 171"/>
          <p:cNvSpPr/>
          <p:nvPr/>
        </p:nvSpPr>
        <p:spPr>
          <a:xfrm>
            <a:off x="2678278" y="2569464"/>
            <a:ext cx="201168" cy="132588"/>
          </a:xfrm>
          <a:prstGeom prst="roundRect">
            <a:avLst>
              <a:gd name="adj" fmla="val 34483"/>
            </a:avLst>
          </a:prstGeom>
          <a:solidFill>
            <a:srgbClr val="FFFFFF"/>
          </a:solidFill>
          <a:ln w="5715">
            <a:solidFill>
              <a:srgbClr val="DADCE0"/>
            </a:solidFill>
            <a:prstDash val="solid"/>
          </a:ln>
        </p:spPr>
      </p:sp>
      <p:sp>
        <p:nvSpPr>
          <p:cNvPr id="192" name="Text 172"/>
          <p:cNvSpPr/>
          <p:nvPr/>
        </p:nvSpPr>
        <p:spPr>
          <a:xfrm>
            <a:off x="2696566" y="2578608"/>
            <a:ext cx="20116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NO</a:t>
            </a:r>
            <a:endParaRPr lang="en-US" sz="470" dirty="0"/>
          </a:p>
        </p:txBody>
      </p:sp>
      <p:sp>
        <p:nvSpPr>
          <p:cNvPr id="193" name="Text 17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2.0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2.0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cymbal-control-plane (#248990048888) &amp; cymbal-pooled-prod (#638420508320) serving Pattern A/B/C endpoints (HTTP 200)</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Projects: cymbal-control-plane • cymbal-pooled-prod</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Runtime: Cloud Run Gen2 (gVisor runsc, 100% traffic)</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CLI Gate: run_deep_forensic_audit.py (12/12 PASS)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screenshots/cloud-console/gcp_console_02_cloud_run_revisions_deploy.png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DUAL-PLANE GCP 20/20 &amp; SAAS 30/30 PASS</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Cloud Logging Explorer &amp; Dual-Plane Harness verifying 20/20 GCP suites + 30/30 Inter-Cloud 10-SaaS MCP flows</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Query: rls_cross_tenant_rows=0 AND status=(200..429)</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Dual-Plane: 20/20 GCP + 30/30 10-SaaS MCP PASS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Twins: 13.220.94.209:3001..3010 (HTTP 200 • 60/60)</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screenshots/cloud-console/gcp_console_07_logs_explorer_20_20_pass.png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3 GCP Projects</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cymbal-control-plane (#248990048888), cymbal-pooled-prod (#638420508320) &amp; cymbal-build-sandbox (#887605034827) inside gVisor sandboxes.</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&lt;0.15ms JWKS &amp; JTI DENY-LIST</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~3ms Valkey Revoke Check</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verifies KMS ECDSA P-256 STS JWT via cached JWKS (&lt;0.15ms), and checks ~3ms Valkey JTI deny-list.</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~42ms p95 &amp; &lt;5s SCAN+UNLINK</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Single-Flight Recovery</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~42ms p95 5-Hop overhead (Hop 4 DLP ~22ms), HTTP 429 Retry-After jitter, &lt;5s targeted Valkey SCAN+UNLINK &amp; SET NX single-flight re-hydration.</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DUAL-PLANE 20/20 GCP + 30/30 SAAS</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Intra-Cloud GCP + Inter-Cloud 10-SaaS MCP Proof</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Certifies 20/20 GCP runtime suites plus 30/30 Inter-Cloud AWS AgentCore MCP &amp; :3001..3010 Execution Twin flows (60/60 assertions, 12/12 forensic gates).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2.0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Blueprint Summary &amp; Reference Lineage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LINEAGE</a:t>
            </a:r>
            <a:endParaRPr lang="en-US" sz="750" dirty="0"/>
          </a:p>
        </p:txBody>
      </p:sp>
      <p:sp>
        <p:nvSpPr>
          <p:cNvPr id="17" name="Text 15"/>
          <p:cNvSpPr/>
          <p:nvPr/>
        </p:nvSpPr>
        <p:spPr>
          <a:xfrm>
            <a:off x="411480" y="658368"/>
            <a:ext cx="11368735" cy="384048"/>
          </a:xfrm>
          <a:prstGeom prst="rect">
            <a:avLst/>
          </a:prstGeom>
          <a:noFill/>
          <a:ln/>
        </p:spPr>
        <p:txBody>
          <a:bodyPr wrap="square" rtlCol="0" anchor="ctr"/>
          <a:lstStyle/>
          <a:p>
            <a:pPr indent="0" marL="0">
              <a:buNone/>
            </a:pPr>
            <a:r>
              <a:rPr lang="en-US" sz="1650" b="1" dirty="0">
                <a:solidFill>
                  <a:srgbClr val="3C4043"/>
                </a:solidFill>
                <a:latin typeface="Google Sans" pitchFamily="34" charset="0"/>
                <a:ea typeface="Google Sans" pitchFamily="34" charset="-122"/>
                <a:cs typeface="Google Sans" pitchFamily="34" charset="-120"/>
              </a:rPr>
              <a:t>At-a-Glance Blueprint Index: Architectural Questions, Verified Outcomes &amp; Google Cloud Services</a:t>
            </a:r>
            <a:endParaRPr lang="en-US" sz="16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33856"/>
          <a:ext cx="11368735" cy="3675888"/>
        </p:xfrm>
        <a:graphic>
          <a:graphicData uri="http://schemas.openxmlformats.org/drawingml/2006/table">
            <a:tbl>
              <a:tblPr/>
              <a:tblGrid>
                <a:gridCol w="2788920"/>
                <a:gridCol w="2788920"/>
                <a:gridCol w="3200400"/>
                <a:gridCol w="2590495"/>
              </a:tblGrid>
              <a:tr h="347472">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Architecture Blueprint (#78 Hub &amp; Spoke)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Architectural Question Answered</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Google Cloud Solution &amp; Verification Outcome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Core Google Cloud Stack</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1.1 BLUEPRINT — Multi-Tenant Agentic AI Taxonomy: Pooled (Pattern A), Sovereign Silos (Pattern B) &amp; Hybrid (Pattern C)</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B2B SaaS platforms and large enterprises serve thousands of tenants across Pooled (Pattern A), Sovereign Silo (Pattern B), and Dynamic Hybrid (Pattern C) isolation models using one 80% reusable agentic codebase?</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Unified Hub-and-Spoke Control Plane Across Three Tenant Isolation Tiers.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Application Load Balancer • Cloud Armor • Identity-Aware Proxy (IAP) • Cloud Run • Vertex AI Agent Engine (ADK 2.0) • Model Armor • AlloyDB &amp;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1.3 DOC PR BLUEPRINT — Cloud Architecture Center: Multi-Tenant Agentic AI System with 5-Hop Cryptographic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extend the official Google Cloud Architecture Center multi-tenant hub-and-spoke blueprint with a 5-Hop Cryptographic Context Chain that prevents confused-deputy tool calls, cache bleed, and noisy neighbors?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Five Sequential Policy Enforcement Points (Hops 1–5) Eliminate Cross-Tenant Bleed.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 Identity-Aware Proxy • Cloud KMS • Discovery Engine Agent Catalog • Vertex AI Agent Engine • Model Armor • AlloyDB RLS •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2.1 — Pattern A: High-Density Pooled Multi-Tenant Architecture &amp; Shared Runtime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host thousands of Standard and commercial SaaS tenants inside a single shared Google Cloud project at a 120 RPM Pooled unit cost footprint while guaranteeing cryptographic and row-level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High-Density SaaS Unit Economics (120 RPM Pool) with Cryptographic 5-Hop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ALB • Cloud Armor • Identity-Aware Proxy • Cloud Run Gen2 • Memorystore for Valkey • Vertex AI Model Armor • Gemini 2.5 Pro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2.5 — Pattern A: 10-Point Cross-Tenant Breach Simulation &amp; Cryptographic Defense Matrix</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the 5-Hop Cryptographic Context Chain deterministically block all 10 adversarial cross-tenant attack vectors?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10/10 Red-Team Cross-Tenant Attack Vectors Deterministically Blocked.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WAF • Identity-Aware Proxy • Cloud KMS • Discovery Engine Catalog • Memorystore for Valkey • Model Armor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2.2 — Pattern A Demo Environment &amp; 3P Auth Sandbox: Pooled Project, Federated IdPs, OAuth 2LO/3LO Apps, Valkey &amp; Firestore Tenant Config</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a single pooled Google Cloud project federate heterogeneous corporate identity providers (Google Workspace OIDC and Microsoft Entra ID) and broker tenant-scoped 2LO and 3LO OAuth tokens to external MCP tools without confused-deputy risks?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Zero-Shadow-Account Federation &amp; Scoped 2LO/3LO MCP Tool Execution.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Identity-Aware Proxy • Workforce Identity Federation • Secret Manager • Cloud KMS • Vertex AI Agent Engine • Memorystore for Valkey • Firestore</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2.6 — Pattern A 1-Click Terraform Starter: Provider → Google Cloud Armor → Cloud Run v2 Agent Gateway → Valkey / KMS CMEK → BigQuery OTel Resource Graph</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platform engineering teams declaratively provision the entire Pattern A pooled multi-tenant stack?</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Declarative 1-Click Terraform DAG Provisions Pattern A in Under 4 Minutes.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Terraform Google Provider • Cloud Armor WAF • Cloud KMS (90-Day Rotation) • Memorystore for Valkey • Cloud Run v2 • AlloyDB &amp; BigQuery OTel</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19" name="Shape 16"/>
          <p:cNvSpPr/>
          <p:nvPr/>
        </p:nvSpPr>
        <p:spPr>
          <a:xfrm>
            <a:off x="411480" y="4956048"/>
            <a:ext cx="2718511" cy="1408176"/>
          </a:xfrm>
          <a:prstGeom prst="roundRect">
            <a:avLst>
              <a:gd name="adj" fmla="val 5195"/>
            </a:avLst>
          </a:prstGeom>
          <a:solidFill>
            <a:srgbClr val="F8F9FA"/>
          </a:solidFill>
          <a:ln w="12700">
            <a:solidFill>
              <a:srgbClr val="DADCE0"/>
            </a:solidFill>
            <a:prstDash val="solid"/>
          </a:ln>
        </p:spPr>
      </p:sp>
      <p:sp>
        <p:nvSpPr>
          <p:cNvPr id="20" name="Shape 17"/>
          <p:cNvSpPr/>
          <p:nvPr/>
        </p:nvSpPr>
        <p:spPr>
          <a:xfrm>
            <a:off x="411480" y="4956048"/>
            <a:ext cx="2718511" cy="54864"/>
          </a:xfrm>
          <a:prstGeom prst="rect">
            <a:avLst/>
          </a:prstGeom>
          <a:solidFill>
            <a:srgbClr val="4285F4"/>
          </a:solidFill>
          <a:ln/>
        </p:spPr>
      </p:sp>
      <p:sp>
        <p:nvSpPr>
          <p:cNvPr id="21" name="Text 18"/>
          <p:cNvSpPr/>
          <p:nvPr/>
        </p:nvSpPr>
        <p:spPr>
          <a:xfrm>
            <a:off x="521208"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1. 3-Act Executive Deck Structure</a:t>
            </a:r>
            <a:endParaRPr lang="en-US" sz="920" dirty="0"/>
          </a:p>
        </p:txBody>
      </p:sp>
      <p:sp>
        <p:nvSpPr>
          <p:cNvPr id="22" name="Text 19"/>
          <p:cNvSpPr/>
          <p:nvPr/>
        </p:nvSpPr>
        <p:spPr>
          <a:xfrm>
            <a:off x="521208"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deck weaves Act I (Thesis &amp; #78 Blueprint), Act II (3-Zone, Payload, UML &amp; State Loops), and Act III (Matrices, Live Proof &amp; Roadmap).</a:t>
            </a:r>
            <a:endParaRPr lang="en-US" sz="780" dirty="0"/>
          </a:p>
        </p:txBody>
      </p:sp>
      <p:sp>
        <p:nvSpPr>
          <p:cNvPr id="23" name="Shape 20"/>
          <p:cNvSpPr/>
          <p:nvPr/>
        </p:nvSpPr>
        <p:spPr>
          <a:xfrm>
            <a:off x="539496" y="6099048"/>
            <a:ext cx="2462479" cy="192024"/>
          </a:xfrm>
          <a:prstGeom prst="roundRect">
            <a:avLst>
              <a:gd name="adj" fmla="val 23810"/>
            </a:avLst>
          </a:prstGeom>
          <a:solidFill>
            <a:srgbClr val="E8F0FE"/>
          </a:solidFill>
          <a:ln/>
        </p:spPr>
      </p:sp>
      <p:sp>
        <p:nvSpPr>
          <p:cNvPr id="24" name="Text 21"/>
          <p:cNvSpPr/>
          <p:nvPr/>
        </p:nvSpPr>
        <p:spPr>
          <a:xfrm>
            <a:off x="594360" y="6099048"/>
            <a:ext cx="2352751" cy="192024"/>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56 Editable Shapes + 23 Connectors per Diagram</a:t>
            </a:r>
            <a:endParaRPr lang="en-US" sz="740" dirty="0"/>
          </a:p>
        </p:txBody>
      </p:sp>
      <p:sp>
        <p:nvSpPr>
          <p:cNvPr id="25" name="Shape 22"/>
          <p:cNvSpPr/>
          <p:nvPr/>
        </p:nvSpPr>
        <p:spPr>
          <a:xfrm>
            <a:off x="3294583" y="4956048"/>
            <a:ext cx="2718511" cy="1408176"/>
          </a:xfrm>
          <a:prstGeom prst="roundRect">
            <a:avLst>
              <a:gd name="adj" fmla="val 5195"/>
            </a:avLst>
          </a:prstGeom>
          <a:solidFill>
            <a:srgbClr val="F8F9FA"/>
          </a:solidFill>
          <a:ln w="12700">
            <a:solidFill>
              <a:srgbClr val="DADCE0"/>
            </a:solidFill>
            <a:prstDash val="solid"/>
          </a:ln>
        </p:spPr>
      </p:sp>
      <p:sp>
        <p:nvSpPr>
          <p:cNvPr id="26" name="Shape 23"/>
          <p:cNvSpPr/>
          <p:nvPr/>
        </p:nvSpPr>
        <p:spPr>
          <a:xfrm>
            <a:off x="3294583" y="4956048"/>
            <a:ext cx="2718511" cy="54864"/>
          </a:xfrm>
          <a:prstGeom prst="rect">
            <a:avLst/>
          </a:prstGeom>
          <a:solidFill>
            <a:srgbClr val="EA4335"/>
          </a:solidFill>
          <a:ln/>
        </p:spPr>
      </p:sp>
      <p:sp>
        <p:nvSpPr>
          <p:cNvPr id="27" name="Text 24"/>
          <p:cNvSpPr/>
          <p:nvPr/>
        </p:nvSpPr>
        <p:spPr>
          <a:xfrm>
            <a:off x="3404311"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2. Automated Security &amp; FinOps Proof</a:t>
            </a:r>
            <a:endParaRPr lang="en-US" sz="920" dirty="0"/>
          </a:p>
        </p:txBody>
      </p:sp>
      <p:sp>
        <p:nvSpPr>
          <p:cNvPr id="28" name="Text 25"/>
          <p:cNvSpPr/>
          <p:nvPr/>
        </p:nvSpPr>
        <p:spPr>
          <a:xfrm>
            <a:off x="3404311"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All patterns are certified by 12 forensic checks and 20 simulation assertions—proving zero cross-tenant data bleed and 90% shared prefix caching.</a:t>
            </a:r>
            <a:endParaRPr lang="en-US" sz="780" dirty="0"/>
          </a:p>
        </p:txBody>
      </p:sp>
      <p:sp>
        <p:nvSpPr>
          <p:cNvPr id="29" name="Shape 26"/>
          <p:cNvSpPr/>
          <p:nvPr/>
        </p:nvSpPr>
        <p:spPr>
          <a:xfrm>
            <a:off x="3422599" y="6099048"/>
            <a:ext cx="2462479" cy="192024"/>
          </a:xfrm>
          <a:prstGeom prst="roundRect">
            <a:avLst>
              <a:gd name="adj" fmla="val 23810"/>
            </a:avLst>
          </a:prstGeom>
          <a:solidFill>
            <a:srgbClr val="FCE8E6"/>
          </a:solidFill>
          <a:ln/>
        </p:spPr>
      </p:sp>
      <p:sp>
        <p:nvSpPr>
          <p:cNvPr id="30" name="Text 27"/>
          <p:cNvSpPr/>
          <p:nvPr/>
        </p:nvSpPr>
        <p:spPr>
          <a:xfrm>
            <a:off x="3477463" y="6099048"/>
            <a:ext cx="2352751" cy="192024"/>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12/12 Forensic Gates • 20/20 Simulations PASS</a:t>
            </a:r>
            <a:endParaRPr lang="en-US" sz="740" dirty="0"/>
          </a:p>
        </p:txBody>
      </p:sp>
      <p:sp>
        <p:nvSpPr>
          <p:cNvPr id="31" name="Shape 28"/>
          <p:cNvSpPr/>
          <p:nvPr/>
        </p:nvSpPr>
        <p:spPr>
          <a:xfrm>
            <a:off x="6178601" y="4956048"/>
            <a:ext cx="2718511" cy="1408176"/>
          </a:xfrm>
          <a:prstGeom prst="roundRect">
            <a:avLst>
              <a:gd name="adj" fmla="val 5195"/>
            </a:avLst>
          </a:prstGeom>
          <a:solidFill>
            <a:srgbClr val="F8F9FA"/>
          </a:solidFill>
          <a:ln w="12700">
            <a:solidFill>
              <a:srgbClr val="DADCE0"/>
            </a:solidFill>
            <a:prstDash val="solid"/>
          </a:ln>
        </p:spPr>
      </p:sp>
      <p:sp>
        <p:nvSpPr>
          <p:cNvPr id="32" name="Shape 29"/>
          <p:cNvSpPr/>
          <p:nvPr/>
        </p:nvSpPr>
        <p:spPr>
          <a:xfrm>
            <a:off x="6178601" y="4956048"/>
            <a:ext cx="2718511" cy="54864"/>
          </a:xfrm>
          <a:prstGeom prst="rect">
            <a:avLst/>
          </a:prstGeom>
          <a:solidFill>
            <a:srgbClr val="FBBC04"/>
          </a:solidFill>
          <a:ln/>
        </p:spPr>
      </p:sp>
      <p:sp>
        <p:nvSpPr>
          <p:cNvPr id="33" name="Text 30"/>
          <p:cNvSpPr/>
          <p:nvPr/>
        </p:nvSpPr>
        <p:spPr>
          <a:xfrm>
            <a:off x="6288329"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3. Official Architecture Center (#78)</a:t>
            </a:r>
            <a:endParaRPr lang="en-US" sz="920" dirty="0"/>
          </a:p>
        </p:txBody>
      </p:sp>
      <p:sp>
        <p:nvSpPr>
          <p:cNvPr id="34" name="Text 31"/>
          <p:cNvSpPr/>
          <p:nvPr/>
        </p:nvSpPr>
        <p:spPr>
          <a:xfrm>
            <a:off x="6288329"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Extends the official Google Cloud Architecture Center multi-tenant agentic AI blueprint (#78) with production-ready code for Pooled, Siloed, and Hybrid SaaS.</a:t>
            </a:r>
            <a:endParaRPr lang="en-US" sz="780" dirty="0"/>
          </a:p>
        </p:txBody>
      </p:sp>
      <p:sp>
        <p:nvSpPr>
          <p:cNvPr id="35" name="Shape 32"/>
          <p:cNvSpPr/>
          <p:nvPr/>
        </p:nvSpPr>
        <p:spPr>
          <a:xfrm>
            <a:off x="6306617" y="6099048"/>
            <a:ext cx="2462479" cy="192024"/>
          </a:xfrm>
          <a:prstGeom prst="roundRect">
            <a:avLst>
              <a:gd name="adj" fmla="val 23810"/>
            </a:avLst>
          </a:prstGeom>
          <a:solidFill>
            <a:srgbClr val="FEF7E0"/>
          </a:solidFill>
          <a:ln/>
        </p:spPr>
      </p:sp>
      <p:sp>
        <p:nvSpPr>
          <p:cNvPr id="36" name="Text 33"/>
          <p:cNvSpPr/>
          <p:nvPr/>
        </p:nvSpPr>
        <p:spPr>
          <a:xfrm>
            <a:off x="6361481" y="6099048"/>
            <a:ext cx="2352751" cy="192024"/>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Google Cloud Architecture Center • Hub &amp; Spoke</a:t>
            </a:r>
            <a:endParaRPr lang="en-US" sz="740" dirty="0"/>
          </a:p>
        </p:txBody>
      </p:sp>
      <p:sp>
        <p:nvSpPr>
          <p:cNvPr id="37" name="Shape 34"/>
          <p:cNvSpPr/>
          <p:nvPr/>
        </p:nvSpPr>
        <p:spPr>
          <a:xfrm>
            <a:off x="9061704" y="4956048"/>
            <a:ext cx="2718511" cy="1408176"/>
          </a:xfrm>
          <a:prstGeom prst="roundRect">
            <a:avLst>
              <a:gd name="adj" fmla="val 5195"/>
            </a:avLst>
          </a:prstGeom>
          <a:solidFill>
            <a:srgbClr val="F8F9FA"/>
          </a:solidFill>
          <a:ln w="12700">
            <a:solidFill>
              <a:srgbClr val="DADCE0"/>
            </a:solidFill>
            <a:prstDash val="solid"/>
          </a:ln>
        </p:spPr>
      </p:sp>
      <p:sp>
        <p:nvSpPr>
          <p:cNvPr id="38" name="Shape 35"/>
          <p:cNvSpPr/>
          <p:nvPr/>
        </p:nvSpPr>
        <p:spPr>
          <a:xfrm>
            <a:off x="9061704" y="4956048"/>
            <a:ext cx="2718511" cy="54864"/>
          </a:xfrm>
          <a:prstGeom prst="rect">
            <a:avLst/>
          </a:prstGeom>
          <a:solidFill>
            <a:srgbClr val="34A853"/>
          </a:solidFill>
          <a:ln/>
        </p:spPr>
      </p:sp>
      <p:sp>
        <p:nvSpPr>
          <p:cNvPr id="39" name="Text 36"/>
          <p:cNvSpPr/>
          <p:nvPr/>
        </p:nvSpPr>
        <p:spPr>
          <a:xfrm>
            <a:off x="9171432"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4. Grounded Live Cloud Console Proof</a:t>
            </a:r>
            <a:endParaRPr lang="en-US" sz="920" dirty="0"/>
          </a:p>
        </p:txBody>
      </p:sp>
      <p:sp>
        <p:nvSpPr>
          <p:cNvPr id="40" name="Text 37"/>
          <p:cNvSpPr/>
          <p:nvPr/>
        </p:nvSpPr>
        <p:spPr>
          <a:xfrm>
            <a:off x="9171432"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Pairs 100% native editable vector shapes with authentic Google Cloud Console &amp; Pantheon verification captures across 3 live GCP projects.</a:t>
            </a:r>
            <a:endParaRPr lang="en-US" sz="780" dirty="0"/>
          </a:p>
        </p:txBody>
      </p:sp>
      <p:sp>
        <p:nvSpPr>
          <p:cNvPr id="41" name="Shape 38"/>
          <p:cNvSpPr/>
          <p:nvPr/>
        </p:nvSpPr>
        <p:spPr>
          <a:xfrm>
            <a:off x="9189720" y="6099048"/>
            <a:ext cx="2462479" cy="192024"/>
          </a:xfrm>
          <a:prstGeom prst="roundRect">
            <a:avLst>
              <a:gd name="adj" fmla="val 23810"/>
            </a:avLst>
          </a:prstGeom>
          <a:solidFill>
            <a:srgbClr val="E6F4EA"/>
          </a:solidFill>
          <a:ln/>
        </p:spPr>
      </p:sp>
      <p:sp>
        <p:nvSpPr>
          <p:cNvPr id="42" name="Text 39"/>
          <p:cNvSpPr/>
          <p:nvPr/>
        </p:nvSpPr>
        <p:spPr>
          <a:xfrm>
            <a:off x="9244584" y="6099048"/>
            <a:ext cx="2352751" cy="192024"/>
          </a:xfrm>
          <a:prstGeom prst="rect">
            <a:avLst/>
          </a:prstGeom>
          <a:noFill/>
          <a:ln/>
        </p:spPr>
        <p:txBody>
          <a:bodyPr wrap="square" rtlCol="0" anchor="ctr"/>
          <a:lstStyle/>
          <a:p>
            <a:pPr indent="0" marL="0">
              <a:buNone/>
            </a:pPr>
            <a:r>
              <a:rPr lang="en-US" sz="740" b="1" dirty="0">
                <a:solidFill>
                  <a:srgbClr val="0D652D"/>
                </a:solidFill>
                <a:latin typeface="Google Sans" pitchFamily="34" charset="0"/>
                <a:ea typeface="Google Sans" pitchFamily="34" charset="-122"/>
                <a:cs typeface="Google Sans" pitchFamily="34" charset="-120"/>
              </a:rPr>
              <a:t>9 Verified Cloud Console Captures • 24 Code Files</a:t>
            </a:r>
            <a:endParaRPr lang="en-US" sz="740" dirty="0"/>
          </a:p>
        </p:txBody>
      </p:sp>
      <p:sp>
        <p:nvSpPr>
          <p:cNvPr id="43" name="Text 4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Complete 5-Workstream Google Cloud Architecture Center Program Deck — 100% Native Editable Shapes &amp; Verified Live Telemetry.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Multi-Tenant Agentic AI: Pooled, Sovereign Silos &amp; Hybrid — Complete Program Deck</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2026-10-21T15:27:52Z</dcterms:created>
  <dcterms:modified xsi:type="dcterms:W3CDTF">2026-10-21T15:27:52Z</dcterms:modified>
</cp:coreProperties>
</file>