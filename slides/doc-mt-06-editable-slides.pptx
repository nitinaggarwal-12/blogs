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69948"/>
            <a:ext cx="185897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Adversarial Breach Verification Harness (10/10 Deterministic Security Gates PASS)</a:t>
            </a:r>
            <a:endParaRPr lang="en-US" sz="46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2004365"/>
            <a:ext cx="18059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 • Zero-Trust 5-Hop Enforcement Pipeline</a:t>
            </a:r>
            <a:endParaRPr lang="en-US" sz="46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 • Prompt, Safety Filter &amp; SDP DLP</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 • Memory, Skills &amp; RLS</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76926" y="2516429"/>
            <a:ext cx="181966" cy="181966"/>
          </a:xfrm>
          <a:prstGeom prst="rect">
            <a:avLst/>
          </a:prstGeom>
        </p:spPr>
      </p:pic>
      <p:sp>
        <p:nvSpPr>
          <p:cNvPr id="77" name="Text 72"/>
          <p:cNvSpPr/>
          <p:nvPr/>
        </p:nvSpPr>
        <p:spPr>
          <a:xfrm>
            <a:off x="5795467" y="2474366"/>
            <a:ext cx="689458" cy="26609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Armor Edge PEP</a:t>
            </a:r>
            <a:endParaRPr lang="en-US" sz="500"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69557" y="2416759"/>
            <a:ext cx="172822" cy="172822"/>
          </a:xfrm>
          <a:prstGeom prst="rect">
            <a:avLst/>
          </a:prstGeom>
        </p:spPr>
      </p:pic>
      <p:sp>
        <p:nvSpPr>
          <p:cNvPr id="80" name="Text 74"/>
          <p:cNvSpPr/>
          <p:nvPr/>
        </p:nvSpPr>
        <p:spPr>
          <a:xfrm>
            <a:off x="7178954" y="2377440"/>
            <a:ext cx="750722"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6: Valkey 429 &amp; 4k Token Clamp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250 RPM Flood &amp; 16k</a:t>
            </a:r>
            <a:endParaRPr lang="en-US" sz="500"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85102" y="3043123"/>
            <a:ext cx="163678" cy="163678"/>
          </a:xfrm>
          <a:prstGeom prst="rect">
            <a:avLst/>
          </a:prstGeom>
        </p:spPr>
      </p:pic>
      <p:sp>
        <p:nvSpPr>
          <p:cNvPr id="83" name="Text 76"/>
          <p:cNvSpPr/>
          <p:nvPr/>
        </p:nvSpPr>
        <p:spPr>
          <a:xfrm>
            <a:off x="7185355" y="3006547"/>
            <a:ext cx="730606"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Audit</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Logs Every Blocked Vector</a:t>
            </a:r>
            <a:endParaRPr lang="en-US" sz="500"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92417" y="2735885"/>
            <a:ext cx="163678" cy="163678"/>
          </a:xfrm>
          <a:prstGeom prst="rect">
            <a:avLst/>
          </a:prstGeom>
        </p:spPr>
      </p:pic>
      <p:sp>
        <p:nvSpPr>
          <p:cNvPr id="86" name="Text 78"/>
          <p:cNvSpPr/>
          <p:nvPr/>
        </p:nvSpPr>
        <p:spPr>
          <a:xfrm>
            <a:off x="7192670" y="2699309"/>
            <a:ext cx="715061"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10: Inline 3LO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HTTP 401 Entra OAuth Challenge</a:t>
            </a:r>
            <a:endParaRPr lang="en-US" sz="500"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64531" y="4358030"/>
            <a:ext cx="177394" cy="177394"/>
          </a:xfrm>
          <a:prstGeom prst="rect">
            <a:avLst/>
          </a:prstGeom>
        </p:spPr>
      </p:pic>
      <p:sp>
        <p:nvSpPr>
          <p:cNvPr id="89" name="Text 80"/>
          <p:cNvSpPr/>
          <p:nvPr/>
        </p:nvSpPr>
        <p:spPr>
          <a:xfrm>
            <a:off x="5378501"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Executes Only Clean Turns</a:t>
            </a:r>
            <a:endParaRPr lang="en-US" sz="500"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64531" y="4897526"/>
            <a:ext cx="177394" cy="177394"/>
          </a:xfrm>
          <a:prstGeom prst="rect">
            <a:avLst/>
          </a:prstGeom>
        </p:spPr>
      </p:pic>
      <p:sp>
        <p:nvSpPr>
          <p:cNvPr id="92" name="Text 82"/>
          <p:cNvSpPr/>
          <p:nvPr/>
        </p:nvSpPr>
        <p:spPr>
          <a:xfrm>
            <a:off x="5378501"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8: SDP Mask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Redacts IBAN, SWIFT &amp; PAN</a:t>
            </a:r>
            <a:endParaRPr lang="en-US" sz="500"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64531" y="5459882"/>
            <a:ext cx="177394" cy="177394"/>
          </a:xfrm>
          <a:prstGeom prst="rect">
            <a:avLst/>
          </a:prstGeom>
        </p:spPr>
      </p:pic>
      <p:sp>
        <p:nvSpPr>
          <p:cNvPr id="95" name="Text 84"/>
          <p:cNvSpPr/>
          <p:nvPr/>
        </p:nvSpPr>
        <p:spPr>
          <a:xfrm>
            <a:off x="5378501"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Zero Raw PII Egress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[REDACTED-FINVAULT-*]</a:t>
            </a:r>
            <a:endParaRPr lang="en-US" sz="500"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201814" y="4358030"/>
            <a:ext cx="177394" cy="177394"/>
          </a:xfrm>
          <a:prstGeom prst="rect">
            <a:avLst/>
          </a:prstGeom>
        </p:spPr>
      </p:pic>
      <p:sp>
        <p:nvSpPr>
          <p:cNvPr id="98" name="Text 86"/>
          <p:cNvSpPr/>
          <p:nvPr/>
        </p:nvSpPr>
        <p:spPr>
          <a:xfrm>
            <a:off x="7415784"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9: Prefix Cache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READ_ONLY_IMMUTABLE_PREFIX</a:t>
            </a:r>
            <a:endParaRPr lang="en-US" sz="500"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201814" y="4897526"/>
            <a:ext cx="177394" cy="177394"/>
          </a:xfrm>
          <a:prstGeom prst="rect">
            <a:avLst/>
          </a:prstGeom>
        </p:spPr>
      </p:pic>
      <p:sp>
        <p:nvSpPr>
          <p:cNvPr id="101" name="Text 88"/>
          <p:cNvSpPr/>
          <p:nvPr/>
        </p:nvSpPr>
        <p:spPr>
          <a:xfrm>
            <a:off x="7415784"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Auth Manager Vault</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Tenant-Scoped OAuth Tokens</a:t>
            </a:r>
            <a:endParaRPr lang="en-US" sz="500"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201814" y="5459882"/>
            <a:ext cx="177394" cy="177394"/>
          </a:xfrm>
          <a:prstGeom prst="rect">
            <a:avLst/>
          </a:prstGeom>
        </p:spPr>
      </p:pic>
      <p:sp>
        <p:nvSpPr>
          <p:cNvPr id="104" name="Text 90"/>
          <p:cNvSpPr/>
          <p:nvPr/>
        </p:nvSpPr>
        <p:spPr>
          <a:xfrm>
            <a:off x="7415784"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7C: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0 Cross-Tenant Rows Returned</a:t>
            </a:r>
            <a:endParaRPr lang="en-US" sz="500"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66537" y="3065069"/>
            <a:ext cx="158191" cy="158191"/>
          </a:xfrm>
          <a:prstGeom prst="rect">
            <a:avLst/>
          </a:prstGeom>
        </p:spPr>
      </p:pic>
      <p:sp>
        <p:nvSpPr>
          <p:cNvPr id="107" name="Text 92"/>
          <p:cNvSpPr/>
          <p:nvPr/>
        </p:nvSpPr>
        <p:spPr>
          <a:xfrm>
            <a:off x="5861304" y="3029407"/>
            <a:ext cx="570586"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Discovery Catalog + ADK Callback</a:t>
            </a:r>
            <a:endParaRPr lang="en-US" sz="500"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43730" y="4169664"/>
            <a:ext cx="172822" cy="172822"/>
          </a:xfrm>
          <a:prstGeom prst="rect">
            <a:avLst/>
          </a:prstGeom>
        </p:spPr>
      </p:pic>
      <p:sp>
        <p:nvSpPr>
          <p:cNvPr id="110" name="Text 94"/>
          <p:cNvSpPr/>
          <p:nvPr/>
        </p:nvSpPr>
        <p:spPr>
          <a:xfrm>
            <a:off x="4453128"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4: HTTP 400</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SQLi &amp; Cache Dump</a:t>
            </a:r>
            <a:endParaRPr lang="en-US" sz="500"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43730" y="5052974"/>
            <a:ext cx="172822" cy="172822"/>
          </a:xfrm>
          <a:prstGeom prst="rect">
            <a:avLst/>
          </a:prstGeom>
        </p:spPr>
      </p:pic>
      <p:sp>
        <p:nvSpPr>
          <p:cNvPr id="113" name="Text 96"/>
          <p:cNvSpPr/>
          <p:nvPr/>
        </p:nvSpPr>
        <p:spPr>
          <a:xfrm>
            <a:off x="4453128" y="501365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5: HTTP 422</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FINRA Escalation Bypass</a:t>
            </a:r>
            <a:endParaRPr lang="en-US" sz="500"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81014" y="4169664"/>
            <a:ext cx="172822" cy="172822"/>
          </a:xfrm>
          <a:prstGeom prst="rect">
            <a:avLst/>
          </a:prstGeom>
        </p:spPr>
      </p:pic>
      <p:sp>
        <p:nvSpPr>
          <p:cNvPr id="116" name="Text 98"/>
          <p:cNvSpPr/>
          <p:nvPr/>
        </p:nvSpPr>
        <p:spPr>
          <a:xfrm>
            <a:off x="6490411"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7A: L4 Memory</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PermissionError on Cross-Read</a:t>
            </a:r>
            <a:endParaRPr lang="en-US" sz="500"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81014" y="4550969"/>
            <a:ext cx="172822" cy="172822"/>
          </a:xfrm>
          <a:prstGeom prst="rect">
            <a:avLst/>
          </a:prstGeom>
        </p:spPr>
      </p:pic>
      <p:sp>
        <p:nvSpPr>
          <p:cNvPr id="119" name="Text 100"/>
          <p:cNvSpPr/>
          <p:nvPr/>
        </p:nvSpPr>
        <p:spPr>
          <a:xfrm>
            <a:off x="6490411" y="4511650"/>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7B: GCS Skills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gs://cymbal-skills-fv</a:t>
            </a:r>
            <a:endParaRPr lang="en-US" sz="500"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213555" y="2382926"/>
            <a:ext cx="158191" cy="158191"/>
          </a:xfrm>
          <a:prstGeom prst="rect">
            <a:avLst/>
          </a:prstGeom>
        </p:spPr>
      </p:pic>
      <p:sp>
        <p:nvSpPr>
          <p:cNvPr id="122" name="Text 102"/>
          <p:cNvSpPr/>
          <p:nvPr/>
        </p:nvSpPr>
        <p:spPr>
          <a:xfrm>
            <a:off x="4408322" y="2347265"/>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1: Header Strip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Drops Forged X-Tenant-ID</a:t>
            </a:r>
            <a:endParaRPr lang="en-US" sz="500"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213555" y="2697480"/>
            <a:ext cx="158191" cy="158191"/>
          </a:xfrm>
          <a:prstGeom prst="rect">
            <a:avLst/>
          </a:prstGeom>
        </p:spPr>
      </p:pic>
      <p:sp>
        <p:nvSpPr>
          <p:cNvPr id="125" name="Text 104"/>
          <p:cNvSpPr/>
          <p:nvPr/>
        </p:nvSpPr>
        <p:spPr>
          <a:xfrm>
            <a:off x="4408322" y="2661818"/>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2: Agent 403</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Retail -&gt; Agent Alpha</a:t>
            </a:r>
            <a:endParaRPr lang="en-US" sz="500"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43730" y="3065069"/>
            <a:ext cx="158191" cy="158191"/>
          </a:xfrm>
          <a:prstGeom prst="rect">
            <a:avLst/>
          </a:prstGeom>
        </p:spPr>
      </p:pic>
      <p:sp>
        <p:nvSpPr>
          <p:cNvPr id="128" name="Text 106"/>
          <p:cNvSpPr/>
          <p:nvPr/>
        </p:nvSpPr>
        <p:spPr>
          <a:xfrm>
            <a:off x="4438498" y="3029407"/>
            <a:ext cx="466344"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3: Tool Prune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Prunes FinVault Jira MCP</a:t>
            </a:r>
            <a:endParaRPr lang="en-US" sz="500" dirty="0"/>
          </a:p>
        </p:txBody>
      </p:sp>
      <p:sp>
        <p:nvSpPr>
          <p:cNvPr id="129" name="Text 107"/>
          <p:cNvSpPr/>
          <p:nvPr/>
        </p:nvSpPr>
        <p:spPr>
          <a:xfrm>
            <a:off x="7541057" y="3373222"/>
            <a:ext cx="546811" cy="16184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security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violation spans</a:t>
            </a:r>
            <a:endParaRPr lang="en-US" sz="500" dirty="0"/>
          </a:p>
        </p:txBody>
      </p:sp>
      <p:sp>
        <p:nvSpPr>
          <p:cNvPr id="130" name="Text 108"/>
          <p:cNvSpPr/>
          <p:nvPr/>
        </p:nvSpPr>
        <p:spPr>
          <a:xfrm>
            <a:off x="5237683"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DLP Egress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Filter</a:t>
            </a:r>
            <a:endParaRPr lang="en-US" sz="500" dirty="0"/>
          </a:p>
        </p:txBody>
      </p:sp>
      <p:sp>
        <p:nvSpPr>
          <p:cNvPr id="131" name="Text 109"/>
          <p:cNvSpPr/>
          <p:nvPr/>
        </p:nvSpPr>
        <p:spPr>
          <a:xfrm>
            <a:off x="5237683"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PII in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Completion</a:t>
            </a:r>
            <a:endParaRPr lang="en-US" sz="500" dirty="0"/>
          </a:p>
        </p:txBody>
      </p:sp>
      <p:sp>
        <p:nvSpPr>
          <p:cNvPr id="132" name="Text 110"/>
          <p:cNvSpPr/>
          <p:nvPr/>
        </p:nvSpPr>
        <p:spPr>
          <a:xfrm>
            <a:off x="7274966"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Isolated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Prefix Cache</a:t>
            </a:r>
            <a:endParaRPr lang="en-US" sz="500" dirty="0"/>
          </a:p>
        </p:txBody>
      </p:sp>
      <p:sp>
        <p:nvSpPr>
          <p:cNvPr id="133" name="Text 111"/>
          <p:cNvSpPr/>
          <p:nvPr/>
        </p:nvSpPr>
        <p:spPr>
          <a:xfrm>
            <a:off x="7274966"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34" name="Text 112"/>
          <p:cNvSpPr/>
          <p:nvPr/>
        </p:nvSpPr>
        <p:spPr>
          <a:xfrm>
            <a:off x="4432097" y="5328209"/>
            <a:ext cx="509321" cy="131674"/>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Evaluate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Safety rules</a:t>
            </a:r>
            <a:endParaRPr lang="en-US" sz="500" dirty="0"/>
          </a:p>
        </p:txBody>
      </p:sp>
      <p:sp>
        <p:nvSpPr>
          <p:cNvPr id="135" name="Text 113"/>
          <p:cNvSpPr/>
          <p:nvPr/>
        </p:nvSpPr>
        <p:spPr>
          <a:xfrm>
            <a:off x="6282842" y="3396082"/>
            <a:ext cx="554126"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Zero cross-tenant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data/cache bleed</a:t>
            </a:r>
            <a:endParaRPr lang="en-US" sz="500" dirty="0"/>
          </a:p>
        </p:txBody>
      </p:sp>
      <p:sp>
        <p:nvSpPr>
          <p:cNvPr id="136" name="Text 114"/>
          <p:cNvSpPr/>
          <p:nvPr/>
        </p:nvSpPr>
        <p:spPr>
          <a:xfrm>
            <a:off x="5488229" y="3396082"/>
            <a:ext cx="494690"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context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enters Hop 3–5</a:t>
            </a:r>
            <a:endParaRPr lang="en-US" sz="500" dirty="0"/>
          </a:p>
        </p:txBody>
      </p:sp>
      <p:sp>
        <p:nvSpPr>
          <p:cNvPr id="137" name="Text 115"/>
          <p:cNvSpPr/>
          <p:nvPr/>
        </p:nvSpPr>
        <p:spPr>
          <a:xfrm>
            <a:off x="5039258" y="2983687"/>
            <a:ext cx="502006"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3LO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tools</a:t>
            </a:r>
            <a:endParaRPr lang="en-US" sz="500" dirty="0"/>
          </a:p>
        </p:txBody>
      </p:sp>
      <p:sp>
        <p:nvSpPr>
          <p:cNvPr id="138" name="Text 116"/>
          <p:cNvSpPr/>
          <p:nvPr/>
        </p:nvSpPr>
        <p:spPr>
          <a:xfrm>
            <a:off x="4432097" y="4459529"/>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Screen prompt</a:t>
            </a:r>
            <a:endParaRPr lang="en-US" sz="500" dirty="0"/>
          </a:p>
        </p:txBody>
      </p:sp>
      <p:sp>
        <p:nvSpPr>
          <p:cNvPr id="139" name="Text 117"/>
          <p:cNvSpPr/>
          <p:nvPr/>
        </p:nvSpPr>
        <p:spPr>
          <a:xfrm>
            <a:off x="4432097" y="4639666"/>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Redact PII</a:t>
            </a:r>
            <a:endParaRPr lang="en-US" sz="500" dirty="0"/>
          </a:p>
        </p:txBody>
      </p:sp>
      <p:sp>
        <p:nvSpPr>
          <p:cNvPr id="140" name="Text 118"/>
          <p:cNvSpPr/>
          <p:nvPr/>
        </p:nvSpPr>
        <p:spPr>
          <a:xfrm>
            <a:off x="5016398" y="2302459"/>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spoofed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header</a:t>
            </a:r>
            <a:endParaRPr lang="en-US" sz="500" dirty="0"/>
          </a:p>
        </p:txBody>
      </p:sp>
      <p:sp>
        <p:nvSpPr>
          <p:cNvPr id="141" name="Text 119"/>
          <p:cNvSpPr/>
          <p:nvPr/>
        </p:nvSpPr>
        <p:spPr>
          <a:xfrm>
            <a:off x="5016398" y="2819095"/>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Return HTTP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403 Forbidden</a:t>
            </a:r>
            <a:endParaRPr lang="en-US" sz="500" dirty="0"/>
          </a:p>
        </p:txBody>
      </p:sp>
      <p:sp>
        <p:nvSpPr>
          <p:cNvPr id="142" name="Text 120"/>
          <p:cNvSpPr/>
          <p:nvPr/>
        </p:nvSpPr>
        <p:spPr>
          <a:xfrm>
            <a:off x="6267298" y="1478585"/>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Blocked / Safe</a:t>
            </a:r>
            <a:endParaRPr lang="en-US" sz="500" dirty="0"/>
          </a:p>
        </p:txBody>
      </p:sp>
      <p:sp>
        <p:nvSpPr>
          <p:cNvPr id="143" name="Text 121"/>
          <p:cNvSpPr/>
          <p:nvPr/>
        </p:nvSpPr>
        <p:spPr>
          <a:xfrm>
            <a:off x="6267298" y="2838298"/>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403 / 200</a:t>
            </a:r>
            <a:endParaRPr lang="en-US" sz="500" dirty="0"/>
          </a:p>
        </p:txBody>
      </p:sp>
      <p:sp>
        <p:nvSpPr>
          <p:cNvPr id="144" name="Text 122"/>
          <p:cNvSpPr/>
          <p:nvPr/>
        </p:nvSpPr>
        <p:spPr>
          <a:xfrm>
            <a:off x="5578754" y="1478585"/>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Attack Probe</a:t>
            </a:r>
            <a:endParaRPr lang="en-US" sz="500" dirty="0"/>
          </a:p>
        </p:txBody>
      </p:sp>
      <p:sp>
        <p:nvSpPr>
          <p:cNvPr id="145" name="Text 123"/>
          <p:cNvSpPr/>
          <p:nvPr/>
        </p:nvSpPr>
        <p:spPr>
          <a:xfrm>
            <a:off x="5578754" y="2838298"/>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Probe</a:t>
            </a:r>
            <a:endParaRPr lang="en-US" sz="500" dirty="0"/>
          </a:p>
        </p:txBody>
      </p:sp>
      <p:sp>
        <p:nvSpPr>
          <p:cNvPr id="146" name="Shape 124"/>
          <p:cNvSpPr/>
          <p:nvPr/>
        </p:nvSpPr>
        <p:spPr>
          <a:xfrm>
            <a:off x="5904281" y="1458468"/>
            <a:ext cx="127102" cy="127102"/>
          </a:xfrm>
          <a:prstGeom prst="ellipse">
            <a:avLst/>
          </a:prstGeom>
          <a:solidFill>
            <a:srgbClr val="174EA6"/>
          </a:solidFill>
          <a:ln w="10795">
            <a:solidFill>
              <a:srgbClr val="174EA6"/>
            </a:solidFill>
            <a:prstDash val="solid"/>
          </a:ln>
        </p:spPr>
      </p:sp>
      <p:sp>
        <p:nvSpPr>
          <p:cNvPr id="147" name="Text 125"/>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48" name="Shape 126"/>
          <p:cNvSpPr/>
          <p:nvPr/>
        </p:nvSpPr>
        <p:spPr>
          <a:xfrm>
            <a:off x="6076188" y="1458468"/>
            <a:ext cx="127102" cy="127102"/>
          </a:xfrm>
          <a:prstGeom prst="ellipse">
            <a:avLst/>
          </a:prstGeom>
          <a:solidFill>
            <a:srgbClr val="174EA6"/>
          </a:solidFill>
          <a:ln w="10795">
            <a:solidFill>
              <a:srgbClr val="174EA6"/>
            </a:solidFill>
            <a:prstDash val="solid"/>
          </a:ln>
        </p:spPr>
      </p:sp>
      <p:sp>
        <p:nvSpPr>
          <p:cNvPr id="149" name="Text 127"/>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0" name="Shape 128"/>
          <p:cNvSpPr/>
          <p:nvPr/>
        </p:nvSpPr>
        <p:spPr>
          <a:xfrm>
            <a:off x="5904281" y="2817266"/>
            <a:ext cx="127102" cy="127102"/>
          </a:xfrm>
          <a:prstGeom prst="ellipse">
            <a:avLst/>
          </a:prstGeom>
          <a:solidFill>
            <a:srgbClr val="174EA6"/>
          </a:solidFill>
          <a:ln w="10795">
            <a:solidFill>
              <a:srgbClr val="174EA6"/>
            </a:solidFill>
            <a:prstDash val="solid"/>
          </a:ln>
        </p:spPr>
      </p:sp>
      <p:sp>
        <p:nvSpPr>
          <p:cNvPr id="151" name="Text 129"/>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52" name="Shape 130"/>
          <p:cNvSpPr/>
          <p:nvPr/>
        </p:nvSpPr>
        <p:spPr>
          <a:xfrm>
            <a:off x="6076188" y="2817266"/>
            <a:ext cx="127102" cy="127102"/>
          </a:xfrm>
          <a:prstGeom prst="ellipse">
            <a:avLst/>
          </a:prstGeom>
          <a:solidFill>
            <a:srgbClr val="174EA6"/>
          </a:solidFill>
          <a:ln w="10795">
            <a:solidFill>
              <a:srgbClr val="174EA6"/>
            </a:solidFill>
            <a:prstDash val="solid"/>
          </a:ln>
        </p:spPr>
      </p:sp>
      <p:sp>
        <p:nvSpPr>
          <p:cNvPr id="153" name="Text 131"/>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4" name="Shape 132"/>
          <p:cNvSpPr/>
          <p:nvPr/>
        </p:nvSpPr>
        <p:spPr>
          <a:xfrm>
            <a:off x="5297119" y="3397910"/>
            <a:ext cx="127102" cy="127102"/>
          </a:xfrm>
          <a:prstGeom prst="ellipse">
            <a:avLst/>
          </a:prstGeom>
          <a:solidFill>
            <a:srgbClr val="174EA6"/>
          </a:solidFill>
          <a:ln w="10795">
            <a:solidFill>
              <a:srgbClr val="174EA6"/>
            </a:solidFill>
            <a:prstDash val="solid"/>
          </a:ln>
        </p:spPr>
      </p:sp>
      <p:sp>
        <p:nvSpPr>
          <p:cNvPr id="155" name="Text 133"/>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56" name="Shape 134"/>
          <p:cNvSpPr/>
          <p:nvPr/>
        </p:nvSpPr>
        <p:spPr>
          <a:xfrm>
            <a:off x="6091733" y="3397910"/>
            <a:ext cx="127102" cy="127102"/>
          </a:xfrm>
          <a:prstGeom prst="ellipse">
            <a:avLst/>
          </a:prstGeom>
          <a:solidFill>
            <a:srgbClr val="174EA6"/>
          </a:solidFill>
          <a:ln w="10795">
            <a:solidFill>
              <a:srgbClr val="174EA6"/>
            </a:solidFill>
            <a:prstDash val="solid"/>
          </a:ln>
        </p:spPr>
      </p:sp>
      <p:sp>
        <p:nvSpPr>
          <p:cNvPr id="157" name="Text 135"/>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8" name="Shape 136"/>
          <p:cNvSpPr/>
          <p:nvPr/>
        </p:nvSpPr>
        <p:spPr>
          <a:xfrm>
            <a:off x="4233672" y="4439412"/>
            <a:ext cx="127102" cy="127102"/>
          </a:xfrm>
          <a:prstGeom prst="ellipse">
            <a:avLst/>
          </a:prstGeom>
          <a:solidFill>
            <a:srgbClr val="174EA6"/>
          </a:solidFill>
          <a:ln w="10795">
            <a:solidFill>
              <a:srgbClr val="174EA6"/>
            </a:solidFill>
            <a:prstDash val="solid"/>
          </a:ln>
        </p:spPr>
      </p:sp>
      <p:sp>
        <p:nvSpPr>
          <p:cNvPr id="159" name="Text 137"/>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60" name="Shape 138"/>
          <p:cNvSpPr/>
          <p:nvPr/>
        </p:nvSpPr>
        <p:spPr>
          <a:xfrm>
            <a:off x="4233672" y="4619549"/>
            <a:ext cx="127102" cy="127102"/>
          </a:xfrm>
          <a:prstGeom prst="ellipse">
            <a:avLst/>
          </a:prstGeom>
          <a:solidFill>
            <a:srgbClr val="174EA6"/>
          </a:solidFill>
          <a:ln w="10795">
            <a:solidFill>
              <a:srgbClr val="174EA6"/>
            </a:solidFill>
            <a:prstDash val="solid"/>
          </a:ln>
        </p:spPr>
      </p:sp>
      <p:sp>
        <p:nvSpPr>
          <p:cNvPr id="161" name="Text 139"/>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62" name="Shape 140"/>
          <p:cNvSpPr/>
          <p:nvPr/>
        </p:nvSpPr>
        <p:spPr>
          <a:xfrm>
            <a:off x="4233672" y="5330952"/>
            <a:ext cx="127102" cy="127102"/>
          </a:xfrm>
          <a:prstGeom prst="ellipse">
            <a:avLst/>
          </a:prstGeom>
          <a:solidFill>
            <a:srgbClr val="174EA6"/>
          </a:solidFill>
          <a:ln w="10795">
            <a:solidFill>
              <a:srgbClr val="174EA6"/>
            </a:solidFill>
            <a:prstDash val="solid"/>
          </a:ln>
        </p:spPr>
      </p:sp>
      <p:sp>
        <p:nvSpPr>
          <p:cNvPr id="163" name="Text 141"/>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19456"/>
          </a:xfrm>
          <a:prstGeom prst="rect">
            <a:avLst/>
          </a:prstGeom>
          <a:noFill/>
          <a:ln/>
        </p:spPr>
        <p:txBody>
          <a:bodyPr wrap="square" rtlCol="0" anchor="ctr"/>
          <a:lstStyle/>
          <a:p>
            <a:pPr indent="0" marL="0">
              <a:buNone/>
            </a:pPr>
            <a:r>
              <a:rPr lang="en-US" sz="940" dirty="0">
                <a:solidFill>
                  <a:srgbClr val="3C4043"/>
                </a:solidFill>
                <a:latin typeface="Arial" pitchFamily="34" charset="0"/>
                <a:ea typeface="Arial" pitchFamily="34" charset="-122"/>
                <a:cs typeface="Arial" pitchFamily="34" charset="-120"/>
              </a:rPr>
              <a:t>The architecture consists of the following components:</a:t>
            </a:r>
            <a:endParaRPr lang="en-US" sz="940" dirty="0"/>
          </a:p>
        </p:txBody>
      </p:sp>
      <p:sp>
        <p:nvSpPr>
          <p:cNvPr id="7" name="Shape 5"/>
          <p:cNvSpPr/>
          <p:nvPr/>
        </p:nvSpPr>
        <p:spPr>
          <a:xfrm>
            <a:off x="749808" y="877824"/>
            <a:ext cx="2889504" cy="274320"/>
          </a:xfrm>
          <a:prstGeom prst="rect">
            <a:avLst/>
          </a:prstGeom>
          <a:solidFill>
            <a:srgbClr val="F8F9FA"/>
          </a:solidFill>
          <a:ln w="9525">
            <a:solidFill>
              <a:srgbClr val="DADCE0"/>
            </a:solidFill>
            <a:prstDash val="solid"/>
          </a:ln>
        </p:spPr>
      </p:sp>
      <p:sp>
        <p:nvSpPr>
          <p:cNvPr id="8" name="Text 6"/>
          <p:cNvSpPr/>
          <p:nvPr/>
        </p:nvSpPr>
        <p:spPr>
          <a:xfrm>
            <a:off x="841248" y="877824"/>
            <a:ext cx="2706624"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77824"/>
            <a:ext cx="7790688" cy="274320"/>
          </a:xfrm>
          <a:prstGeom prst="rect">
            <a:avLst/>
          </a:prstGeom>
          <a:solidFill>
            <a:srgbClr val="F8F9FA"/>
          </a:solidFill>
          <a:ln w="9525">
            <a:solidFill>
              <a:srgbClr val="DADCE0"/>
            </a:solidFill>
            <a:prstDash val="solid"/>
          </a:ln>
        </p:spPr>
      </p:sp>
      <p:sp>
        <p:nvSpPr>
          <p:cNvPr id="10" name="Text 8"/>
          <p:cNvSpPr/>
          <p:nvPr/>
        </p:nvSpPr>
        <p:spPr>
          <a:xfrm>
            <a:off x="3749040" y="877824"/>
            <a:ext cx="7571232"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152144"/>
            <a:ext cx="2889504" cy="296266"/>
          </a:xfrm>
          <a:prstGeom prst="rect">
            <a:avLst/>
          </a:prstGeom>
          <a:solidFill>
            <a:srgbClr val="FFFFFF"/>
          </a:solidFill>
          <a:ln w="9525">
            <a:solidFill>
              <a:srgbClr val="DADCE0"/>
            </a:solidFill>
            <a:prstDash val="solid"/>
          </a:ln>
        </p:spPr>
      </p:sp>
      <p:sp>
        <p:nvSpPr>
          <p:cNvPr id="12" name="Text 10"/>
          <p:cNvSpPr/>
          <p:nvPr/>
        </p:nvSpPr>
        <p:spPr>
          <a:xfrm>
            <a:off x="841248" y="1170432"/>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70" dirty="0">
                <a:solidFill>
                  <a:srgbClr val="5F6368"/>
                </a:solidFill>
                <a:latin typeface="Arial" pitchFamily="34" charset="0"/>
                <a:ea typeface="Arial" pitchFamily="34" charset="-122"/>
                <a:cs typeface="Arial" pitchFamily="34" charset="-120"/>
              </a:rPr>
              <a:t>Outer security and governance boundary that prevents unauthorized data exfiltration.</a:t>
            </a:r>
            <a:endParaRPr lang="en-US" sz="780" dirty="0"/>
          </a:p>
        </p:txBody>
      </p:sp>
      <p:sp>
        <p:nvSpPr>
          <p:cNvPr id="13" name="Shape 11"/>
          <p:cNvSpPr/>
          <p:nvPr/>
        </p:nvSpPr>
        <p:spPr>
          <a:xfrm>
            <a:off x="3639312" y="1152144"/>
            <a:ext cx="7790688" cy="296266"/>
          </a:xfrm>
          <a:prstGeom prst="rect">
            <a:avLst/>
          </a:prstGeom>
          <a:solidFill>
            <a:srgbClr val="FFFFFF"/>
          </a:solidFill>
          <a:ln w="9525">
            <a:solidFill>
              <a:srgbClr val="DADCE0"/>
            </a:solidFill>
            <a:prstDash val="solid"/>
          </a:ln>
        </p:spPr>
      </p:sp>
      <p:sp>
        <p:nvSpPr>
          <p:cNvPr id="14" name="Text 12"/>
          <p:cNvSpPr/>
          <p:nvPr/>
        </p:nvSpPr>
        <p:spPr>
          <a:xfrm>
            <a:off x="3749040" y="1170432"/>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Adversarial Breach Verification Harness: </a:t>
            </a:r>
            <a:pPr indent="0" marL="0">
              <a:buNone/>
            </a:pPr>
            <a:r>
              <a:rPr lang="en-US" sz="70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720" dirty="0"/>
          </a:p>
        </p:txBody>
      </p:sp>
      <p:sp>
        <p:nvSpPr>
          <p:cNvPr id="15" name="Shape 13"/>
          <p:cNvSpPr/>
          <p:nvPr/>
        </p:nvSpPr>
        <p:spPr>
          <a:xfrm>
            <a:off x="749808" y="1448410"/>
            <a:ext cx="2889504" cy="786384"/>
          </a:xfrm>
          <a:prstGeom prst="rect">
            <a:avLst/>
          </a:prstGeom>
          <a:solidFill>
            <a:srgbClr val="FFFFFF"/>
          </a:solidFill>
          <a:ln w="9525">
            <a:solidFill>
              <a:srgbClr val="DADCE0"/>
            </a:solidFill>
            <a:prstDash val="solid"/>
          </a:ln>
        </p:spPr>
      </p:sp>
      <p:sp>
        <p:nvSpPr>
          <p:cNvPr id="16" name="Text 14"/>
          <p:cNvSpPr/>
          <p:nvPr/>
        </p:nvSpPr>
        <p:spPr>
          <a:xfrm>
            <a:off x="841248" y="1466698"/>
            <a:ext cx="2706624" cy="749808"/>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Hop 1 &amp; Hop 2 Gates
</a:t>
            </a:r>
            <a:pPr indent="0" marL="0">
              <a:buNone/>
            </a:pPr>
            <a:r>
              <a:rPr lang="en-US" sz="67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80" dirty="0"/>
          </a:p>
        </p:txBody>
      </p:sp>
      <p:sp>
        <p:nvSpPr>
          <p:cNvPr id="17" name="Shape 15"/>
          <p:cNvSpPr/>
          <p:nvPr/>
        </p:nvSpPr>
        <p:spPr>
          <a:xfrm>
            <a:off x="3639312" y="1448410"/>
            <a:ext cx="7790688" cy="786384"/>
          </a:xfrm>
          <a:prstGeom prst="rect">
            <a:avLst/>
          </a:prstGeom>
          <a:solidFill>
            <a:srgbClr val="FFFFFF"/>
          </a:solidFill>
          <a:ln w="9525">
            <a:solidFill>
              <a:srgbClr val="DADCE0"/>
            </a:solidFill>
            <a:prstDash val="solid"/>
          </a:ln>
        </p:spPr>
      </p:sp>
      <p:sp>
        <p:nvSpPr>
          <p:cNvPr id="18" name="Text 16"/>
          <p:cNvSpPr/>
          <p:nvPr/>
        </p:nvSpPr>
        <p:spPr>
          <a:xfrm>
            <a:off x="3749040" y="1466698"/>
            <a:ext cx="7571232" cy="749808"/>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t>
            </a:r>
            <a:pPr indent="0" marL="0">
              <a:buNone/>
            </a:pPr>
            <a:r>
              <a:rPr lang="en-US" sz="700" dirty="0">
                <a:solidFill>
                  <a:srgbClr val="3C4043"/>
                </a:solidFill>
                <a:latin typeface="Arial" pitchFamily="34" charset="0"/>
                <a:ea typeface="Arial" pitchFamily="34" charset="-122"/>
                <a:cs typeface="Arial" pitchFamily="34" charset="-120"/>
              </a:rPr>
              <a:t>Acts as the unified global entry point for incoming requests.
</a:t>
            </a:r>
            <a:pPr indent="0" marL="0">
              <a:buNone/>
            </a:pPr>
            <a:r>
              <a:rPr lang="en-US" sz="720" b="1" dirty="0">
                <a:solidFill>
                  <a:srgbClr val="202124"/>
                </a:solidFill>
                <a:latin typeface="Arial" pitchFamily="34" charset="0"/>
                <a:ea typeface="Arial" pitchFamily="34" charset="-122"/>
                <a:cs typeface="Arial" pitchFamily="34" charset="-120"/>
              </a:rPr>
              <a:t>• Vector 1: Header Strip &amp; Vector 3: Tool Prune: </a:t>
            </a:r>
            <a:pPr indent="0" marL="0">
              <a:buNone/>
            </a:pPr>
            <a:r>
              <a:rPr lang="en-US" sz="70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buNone/>
            </a:pPr>
            <a:r>
              <a:rPr lang="en-US" sz="720" b="1" dirty="0">
                <a:solidFill>
                  <a:srgbClr val="202124"/>
                </a:solidFill>
                <a:latin typeface="Arial" pitchFamily="34" charset="0"/>
                <a:ea typeface="Arial" pitchFamily="34" charset="-122"/>
                <a:cs typeface="Arial" pitchFamily="34" charset="-120"/>
              </a:rPr>
              <a:t>• Vector 2: Agent 403: </a:t>
            </a:r>
            <a:pPr indent="0" marL="0">
              <a:buNone/>
            </a:pPr>
            <a:r>
              <a:rPr lang="en-US" sz="70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buNone/>
            </a:pPr>
            <a:r>
              <a:rPr lang="en-US" sz="720" b="1" dirty="0">
                <a:solidFill>
                  <a:srgbClr val="202124"/>
                </a:solidFill>
                <a:latin typeface="Arial" pitchFamily="34" charset="0"/>
                <a:ea typeface="Arial" pitchFamily="34" charset="-122"/>
                <a:cs typeface="Arial" pitchFamily="34" charset="-120"/>
              </a:rPr>
              <a:t>• Hop 2 Catalog PDP: </a:t>
            </a:r>
            <a:pPr indent="0" marL="0">
              <a:buNone/>
            </a:pPr>
            <a:r>
              <a:rPr lang="en-US" sz="70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720" dirty="0"/>
          </a:p>
        </p:txBody>
      </p:sp>
      <p:sp>
        <p:nvSpPr>
          <p:cNvPr id="19" name="Shape 17"/>
          <p:cNvSpPr/>
          <p:nvPr/>
        </p:nvSpPr>
        <p:spPr>
          <a:xfrm>
            <a:off x="749808" y="2234794"/>
            <a:ext cx="2889504" cy="615391"/>
          </a:xfrm>
          <a:prstGeom prst="rect">
            <a:avLst/>
          </a:prstGeom>
          <a:solidFill>
            <a:srgbClr val="FFFFFF"/>
          </a:solidFill>
          <a:ln w="9525">
            <a:solidFill>
              <a:srgbClr val="DADCE0"/>
            </a:solidFill>
            <a:prstDash val="solid"/>
          </a:ln>
        </p:spPr>
      </p:sp>
      <p:sp>
        <p:nvSpPr>
          <p:cNvPr id="20" name="Text 18"/>
          <p:cNvSpPr/>
          <p:nvPr/>
        </p:nvSpPr>
        <p:spPr>
          <a:xfrm>
            <a:off x="841248" y="2253082"/>
            <a:ext cx="2706624" cy="578815"/>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7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80" dirty="0"/>
          </a:p>
        </p:txBody>
      </p:sp>
      <p:sp>
        <p:nvSpPr>
          <p:cNvPr id="21" name="Shape 19"/>
          <p:cNvSpPr/>
          <p:nvPr/>
        </p:nvSpPr>
        <p:spPr>
          <a:xfrm>
            <a:off x="3639312" y="2234794"/>
            <a:ext cx="7790688" cy="615391"/>
          </a:xfrm>
          <a:prstGeom prst="rect">
            <a:avLst/>
          </a:prstGeom>
          <a:solidFill>
            <a:srgbClr val="FFFFFF"/>
          </a:solidFill>
          <a:ln w="9525">
            <a:solidFill>
              <a:srgbClr val="DADCE0"/>
            </a:solidFill>
            <a:prstDash val="solid"/>
          </a:ln>
        </p:spPr>
      </p:sp>
      <p:sp>
        <p:nvSpPr>
          <p:cNvPr id="22" name="Text 20"/>
          <p:cNvSpPr/>
          <p:nvPr/>
        </p:nvSpPr>
        <p:spPr>
          <a:xfrm>
            <a:off x="3749040" y="2253082"/>
            <a:ext cx="7571232" cy="578815"/>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Vector 6: Valkey 429 &amp; 4k Token Clamp: </a:t>
            </a:r>
            <a:pPr indent="0" marL="0">
              <a:buNone/>
            </a:pPr>
            <a:r>
              <a:rPr lang="en-US" sz="70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buNone/>
            </a:pPr>
            <a:r>
              <a:rPr lang="en-US" sz="720" b="1" dirty="0">
                <a:solidFill>
                  <a:srgbClr val="202124"/>
                </a:solidFill>
                <a:latin typeface="Arial" pitchFamily="34" charset="0"/>
                <a:ea typeface="Arial" pitchFamily="34" charset="-122"/>
                <a:cs typeface="Arial" pitchFamily="34" charset="-120"/>
              </a:rPr>
              <a:t>• Vector 10: Inline 3LO: </a:t>
            </a:r>
            <a:pPr indent="0" marL="0">
              <a:buNone/>
            </a:pPr>
            <a:r>
              <a:rPr lang="en-US" sz="70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buNone/>
            </a:pPr>
            <a:r>
              <a:rPr lang="en-US" sz="720" b="1" dirty="0">
                <a:solidFill>
                  <a:srgbClr val="202124"/>
                </a:solidFill>
                <a:latin typeface="Arial" pitchFamily="34" charset="0"/>
                <a:ea typeface="Arial" pitchFamily="34" charset="-122"/>
                <a:cs typeface="Arial" pitchFamily="34" charset="-120"/>
              </a:rPr>
              <a:t>• BigQuery OTel Audit: </a:t>
            </a:r>
            <a:pPr indent="0" marL="0">
              <a:buNone/>
            </a:pPr>
            <a:r>
              <a:rPr lang="en-US" sz="70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720" dirty="0"/>
          </a:p>
        </p:txBody>
      </p:sp>
      <p:sp>
        <p:nvSpPr>
          <p:cNvPr id="23" name="Shape 21"/>
          <p:cNvSpPr/>
          <p:nvPr/>
        </p:nvSpPr>
        <p:spPr>
          <a:xfrm>
            <a:off x="749808" y="2850185"/>
            <a:ext cx="2889504" cy="296266"/>
          </a:xfrm>
          <a:prstGeom prst="rect">
            <a:avLst/>
          </a:prstGeom>
          <a:solidFill>
            <a:srgbClr val="FFFFFF"/>
          </a:solidFill>
          <a:ln w="9525">
            <a:solidFill>
              <a:srgbClr val="DADCE0"/>
            </a:solidFill>
            <a:prstDash val="solid"/>
          </a:ln>
        </p:spPr>
      </p:sp>
      <p:sp>
        <p:nvSpPr>
          <p:cNvPr id="24" name="Text 22"/>
          <p:cNvSpPr/>
          <p:nvPr/>
        </p:nvSpPr>
        <p:spPr>
          <a:xfrm>
            <a:off x="841248" y="2868473"/>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7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80" dirty="0"/>
          </a:p>
        </p:txBody>
      </p:sp>
      <p:sp>
        <p:nvSpPr>
          <p:cNvPr id="25" name="Shape 23"/>
          <p:cNvSpPr/>
          <p:nvPr/>
        </p:nvSpPr>
        <p:spPr>
          <a:xfrm>
            <a:off x="3639312" y="2850185"/>
            <a:ext cx="7790688" cy="296266"/>
          </a:xfrm>
          <a:prstGeom prst="rect">
            <a:avLst/>
          </a:prstGeom>
          <a:solidFill>
            <a:srgbClr val="FFFFFF"/>
          </a:solidFill>
          <a:ln w="9525">
            <a:solidFill>
              <a:srgbClr val="DADCE0"/>
            </a:solidFill>
            <a:prstDash val="solid"/>
          </a:ln>
        </p:spPr>
      </p:sp>
      <p:sp>
        <p:nvSpPr>
          <p:cNvPr id="26" name="Text 24"/>
          <p:cNvSpPr/>
          <p:nvPr/>
        </p:nvSpPr>
        <p:spPr>
          <a:xfrm>
            <a:off x="3749040" y="2868473"/>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VPC • Zero-Trust 5-Hop Enforcement Pipeline: </a:t>
            </a:r>
            <a:pPr indent="0" marL="0">
              <a:buNone/>
            </a:pPr>
            <a:r>
              <a:rPr lang="en-US" sz="70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720" dirty="0"/>
          </a:p>
        </p:txBody>
      </p:sp>
      <p:sp>
        <p:nvSpPr>
          <p:cNvPr id="27" name="Shape 25"/>
          <p:cNvSpPr/>
          <p:nvPr/>
        </p:nvSpPr>
        <p:spPr>
          <a:xfrm>
            <a:off x="749808" y="3146450"/>
            <a:ext cx="2889504" cy="785470"/>
          </a:xfrm>
          <a:prstGeom prst="rect">
            <a:avLst/>
          </a:prstGeom>
          <a:solidFill>
            <a:srgbClr val="FFFFFF"/>
          </a:solidFill>
          <a:ln w="9525">
            <a:solidFill>
              <a:srgbClr val="DADCE0"/>
            </a:solidFill>
            <a:prstDash val="solid"/>
          </a:ln>
        </p:spPr>
      </p:sp>
      <p:sp>
        <p:nvSpPr>
          <p:cNvPr id="28" name="Text 26"/>
          <p:cNvSpPr/>
          <p:nvPr/>
        </p:nvSpPr>
        <p:spPr>
          <a:xfrm>
            <a:off x="841248" y="3164738"/>
            <a:ext cx="2706624" cy="748894"/>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70" dirty="0">
                <a:solidFill>
                  <a:srgbClr val="5F6368"/>
                </a:solidFill>
                <a:latin typeface="Arial" pitchFamily="34" charset="0"/>
                <a:ea typeface="Arial" pitchFamily="34" charset="-122"/>
                <a:cs typeface="Arial" pitchFamily="34" charset="-120"/>
              </a:rPr>
              <a:t>Isolated Google Cloud execution spokes.</a:t>
            </a:r>
            <a:endParaRPr lang="en-US" sz="780" dirty="0"/>
          </a:p>
        </p:txBody>
      </p:sp>
      <p:sp>
        <p:nvSpPr>
          <p:cNvPr id="29" name="Shape 27"/>
          <p:cNvSpPr/>
          <p:nvPr/>
        </p:nvSpPr>
        <p:spPr>
          <a:xfrm>
            <a:off x="3639312" y="3146450"/>
            <a:ext cx="7790688" cy="785470"/>
          </a:xfrm>
          <a:prstGeom prst="rect">
            <a:avLst/>
          </a:prstGeom>
          <a:solidFill>
            <a:srgbClr val="FFFFFF"/>
          </a:solidFill>
          <a:ln w="9525">
            <a:solidFill>
              <a:srgbClr val="DADCE0"/>
            </a:solidFill>
            <a:prstDash val="solid"/>
          </a:ln>
        </p:spPr>
      </p:sp>
      <p:sp>
        <p:nvSpPr>
          <p:cNvPr id="30" name="Text 28"/>
          <p:cNvSpPr/>
          <p:nvPr/>
        </p:nvSpPr>
        <p:spPr>
          <a:xfrm>
            <a:off x="3749040" y="3164738"/>
            <a:ext cx="7571232" cy="74889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Vertex AI Agent Engine: </a:t>
            </a:r>
            <a:pPr indent="0" marL="0">
              <a:buNone/>
            </a:pPr>
            <a:r>
              <a:rPr lang="en-US" sz="70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buNone/>
            </a:pPr>
            <a:r>
              <a:rPr lang="en-US" sz="720" b="1" dirty="0">
                <a:solidFill>
                  <a:srgbClr val="202124"/>
                </a:solidFill>
                <a:latin typeface="Arial" pitchFamily="34" charset="0"/>
                <a:ea typeface="Arial" pitchFamily="34" charset="-122"/>
                <a:cs typeface="Arial" pitchFamily="34" charset="-120"/>
              </a:rPr>
              <a:t>• Vector 4: HTTP 400: </a:t>
            </a:r>
            <a:pPr indent="0" marL="0">
              <a:buNone/>
            </a:pPr>
            <a:r>
              <a:rPr lang="en-US" sz="70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buNone/>
            </a:pPr>
            <a:r>
              <a:rPr lang="en-US" sz="720" b="1" dirty="0">
                <a:solidFill>
                  <a:srgbClr val="202124"/>
                </a:solidFill>
                <a:latin typeface="Arial" pitchFamily="34" charset="0"/>
                <a:ea typeface="Arial" pitchFamily="34" charset="-122"/>
                <a:cs typeface="Arial" pitchFamily="34" charset="-120"/>
              </a:rPr>
              <a:t>• Vector 8: SDP Mask: </a:t>
            </a:r>
            <a:pPr indent="0" marL="0">
              <a:buNone/>
            </a:pPr>
            <a:r>
              <a:rPr lang="en-US" sz="70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buNone/>
            </a:pPr>
            <a:r>
              <a:rPr lang="en-US" sz="720" b="1" dirty="0">
                <a:solidFill>
                  <a:srgbClr val="202124"/>
                </a:solidFill>
                <a:latin typeface="Arial" pitchFamily="34" charset="0"/>
                <a:ea typeface="Arial" pitchFamily="34" charset="-122"/>
                <a:cs typeface="Arial" pitchFamily="34" charset="-120"/>
              </a:rPr>
              <a:t>• Zero Raw PII Egress: </a:t>
            </a:r>
            <a:pPr indent="0" marL="0">
              <a:buNone/>
            </a:pPr>
            <a:r>
              <a:rPr lang="en-US" sz="70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720" dirty="0"/>
          </a:p>
        </p:txBody>
      </p:sp>
      <p:sp>
        <p:nvSpPr>
          <p:cNvPr id="31" name="Shape 29"/>
          <p:cNvSpPr/>
          <p:nvPr/>
        </p:nvSpPr>
        <p:spPr>
          <a:xfrm>
            <a:off x="749808" y="4041648"/>
            <a:ext cx="10680192" cy="0"/>
          </a:xfrm>
          <a:prstGeom prst="line">
            <a:avLst/>
          </a:prstGeom>
          <a:noFill/>
          <a:ln w="9525">
            <a:solidFill>
              <a:srgbClr val="DADCE0"/>
            </a:solidFill>
            <a:prstDash val="solid"/>
          </a:ln>
        </p:spPr>
      </p:sp>
      <p:sp>
        <p:nvSpPr>
          <p:cNvPr id="32" name="Text 30"/>
          <p:cNvSpPr/>
          <p:nvPr/>
        </p:nvSpPr>
        <p:spPr>
          <a:xfrm>
            <a:off x="749808" y="4114800"/>
            <a:ext cx="10680192" cy="256032"/>
          </a:xfrm>
          <a:prstGeom prst="rect">
            <a:avLst/>
          </a:prstGeom>
          <a:noFill/>
          <a:ln/>
        </p:spPr>
        <p:txBody>
          <a:bodyPr wrap="square" rtlCol="0" anchor="ctr"/>
          <a:lstStyle/>
          <a:p>
            <a:pPr indent="0" marL="0">
              <a:buNone/>
            </a:pPr>
            <a:r>
              <a:rPr lang="en-US" sz="1300" dirty="0">
                <a:solidFill>
                  <a:srgbClr val="202124"/>
                </a:solidFill>
                <a:latin typeface="Arial" pitchFamily="34" charset="0"/>
                <a:ea typeface="Arial" pitchFamily="34" charset="-122"/>
                <a:cs typeface="Arial" pitchFamily="34" charset="-120"/>
              </a:rPr>
              <a:t>Agentic flow</a:t>
            </a:r>
            <a:endParaRPr lang="en-US" sz="1300" dirty="0"/>
          </a:p>
        </p:txBody>
      </p:sp>
      <p:sp>
        <p:nvSpPr>
          <p:cNvPr id="33" name="Text 31"/>
          <p:cNvSpPr/>
          <p:nvPr/>
        </p:nvSpPr>
        <p:spPr>
          <a:xfrm>
            <a:off x="749808" y="4407408"/>
            <a:ext cx="10680192" cy="2139696"/>
          </a:xfrm>
          <a:prstGeom prst="rect">
            <a:avLst/>
          </a:prstGeom>
          <a:noFill/>
          <a:ln/>
        </p:spPr>
        <p:txBody>
          <a:bodyPr wrap="square" rtlCol="0" anchor="t"/>
          <a:lstStyle/>
          <a:p>
            <a:pPr indent="0" marL="0">
              <a:lnSpc>
                <a:spcPct val="108000"/>
              </a:lnSpc>
              <a:buNone/>
            </a:pPr>
            <a:r>
              <a:rPr lang="en-US" sz="740" b="1" dirty="0">
                <a:solidFill>
                  <a:srgbClr val="202124"/>
                </a:solidFill>
                <a:latin typeface="Arial" pitchFamily="34" charset="0"/>
                <a:ea typeface="Arial" pitchFamily="34" charset="-122"/>
                <a:cs typeface="Arial" pitchFamily="34" charset="-120"/>
              </a:rPr>
              <a:t>1.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2.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After passing policy and security checks across Vector 1: Header Strip, Vector 2: Agent 403, and Vector 3: Tool Prune, the request is forwarded to Hop 2 Catalog PDP.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3. </a:t>
            </a:r>
            <a:pPr indent="0" marL="0">
              <a:lnSpc>
                <a:spcPct val="108000"/>
              </a:lnSpc>
              <a:buNone/>
            </a:pPr>
            <a:r>
              <a:rPr lang="en-US" sz="73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4. </a:t>
            </a:r>
            <a:pPr indent="0" marL="0">
              <a:lnSpc>
                <a:spcPct val="108000"/>
              </a:lnSpc>
              <a:buNone/>
            </a:pPr>
            <a:r>
              <a:rPr lang="en-US" sz="73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4a. </a:t>
            </a:r>
            <a:pPr indent="0" marL="0">
              <a:lnSpc>
                <a:spcPct val="108000"/>
              </a:lnSpc>
              <a:buNone/>
            </a:pPr>
            <a:r>
              <a:rPr lang="en-US" sz="69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4b. </a:t>
            </a:r>
            <a:pPr indent="0" marL="0">
              <a:lnSpc>
                <a:spcPct val="108000"/>
              </a:lnSpc>
              <a:buNone/>
            </a:pPr>
            <a:r>
              <a:rPr lang="en-US" sz="69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4c. </a:t>
            </a:r>
            <a:pPr indent="0" marL="0">
              <a:lnSpc>
                <a:spcPct val="108000"/>
              </a:lnSpc>
              <a:buNone/>
            </a:pPr>
            <a:r>
              <a:rPr lang="en-US" sz="69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4d. </a:t>
            </a:r>
            <a:pPr indent="0" marL="0">
              <a:lnSpc>
                <a:spcPct val="108000"/>
              </a:lnSpc>
              <a:buNone/>
            </a:pPr>
            <a:r>
              <a:rPr lang="en-US" sz="69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5. </a:t>
            </a:r>
            <a:pPr indent="0" marL="0">
              <a:lnSpc>
                <a:spcPct val="108000"/>
              </a:lnSpc>
              <a:buNone/>
            </a:pPr>
            <a:r>
              <a:rPr lang="en-US" sz="730" dirty="0">
                <a:solidFill>
                  <a:srgbClr val="3C4043"/>
                </a:solidFill>
                <a:latin typeface="Arial" pitchFamily="34" charset="0"/>
                <a:ea typeface="Arial" pitchFamily="34" charset="-122"/>
                <a:cs typeface="Arial" pitchFamily="34" charset="-120"/>
              </a:rPr>
              <a:t>Vertex AI Agent Engine sends the validated, context-enriched prompt to Vector 5: HTTP 422 to synthesize a grounded response.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6. </a:t>
            </a:r>
            <a:pPr indent="0" marL="0">
              <a:lnSpc>
                <a:spcPct val="108000"/>
              </a:lnSpc>
              <a:buNone/>
            </a:pPr>
            <a:r>
              <a:rPr lang="en-US" sz="73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7.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58368"/>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Products used</a:t>
            </a:r>
            <a:endParaRPr lang="en-US" sz="1550" dirty="0"/>
          </a:p>
        </p:txBody>
      </p:sp>
      <p:sp>
        <p:nvSpPr>
          <p:cNvPr id="7" name="Text 5"/>
          <p:cNvSpPr/>
          <p:nvPr/>
        </p:nvSpPr>
        <p:spPr>
          <a:xfrm>
            <a:off x="749808" y="1005840"/>
            <a:ext cx="10680192" cy="219456"/>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920" dirty="0"/>
          </a:p>
        </p:txBody>
      </p:sp>
      <p:sp>
        <p:nvSpPr>
          <p:cNvPr id="8" name="Text 6"/>
          <p:cNvSpPr/>
          <p:nvPr/>
        </p:nvSpPr>
        <p:spPr>
          <a:xfrm>
            <a:off x="877824" y="1280160"/>
            <a:ext cx="10552176" cy="1993392"/>
          </a:xfrm>
          <a:prstGeom prst="rect">
            <a:avLst/>
          </a:prstGeom>
          <a:noFill/>
          <a:ln/>
        </p:spPr>
        <p:txBody>
          <a:bodyPr wrap="square" rtlCol="0" anchor="t"/>
          <a:lstStyle/>
          <a:p>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Run: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BigQuery: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KMS HSM: </a:t>
            </a:r>
            <a:pPr indent="0" marL="0">
              <a:lnSpc>
                <a:spcPct val="124000"/>
              </a:lnSpc>
              <a:buNone/>
            </a:pPr>
            <a:r>
              <a:rPr lang="en-US" sz="82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VPC &amp; Private Service Connect: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DOC-MT-06 to enforce production security, scalability, and observability.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Logging &amp; Cloud Trace: </a:t>
            </a:r>
            <a:pPr indent="0" marL="0">
              <a:lnSpc>
                <a:spcPct val="124000"/>
              </a:lnSpc>
              <a:buNone/>
            </a:pPr>
            <a:r>
              <a:rPr lang="en-US" sz="82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Security Command Center: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40" dirty="0"/>
          </a:p>
        </p:txBody>
      </p:sp>
      <p:sp>
        <p:nvSpPr>
          <p:cNvPr id="9" name="Shape 7"/>
          <p:cNvSpPr/>
          <p:nvPr/>
        </p:nvSpPr>
        <p:spPr>
          <a:xfrm>
            <a:off x="749808" y="3383280"/>
            <a:ext cx="10680192" cy="0"/>
          </a:xfrm>
          <a:prstGeom prst="line">
            <a:avLst/>
          </a:prstGeom>
          <a:noFill/>
          <a:ln w="9525">
            <a:solidFill>
              <a:srgbClr val="DADCE0"/>
            </a:solidFill>
            <a:prstDash val="solid"/>
          </a:ln>
        </p:spPr>
      </p:sp>
      <p:sp>
        <p:nvSpPr>
          <p:cNvPr id="10" name="Text 8"/>
          <p:cNvSpPr/>
          <p:nvPr/>
        </p:nvSpPr>
        <p:spPr>
          <a:xfrm>
            <a:off x="749808" y="3511296"/>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Use case</a:t>
            </a:r>
            <a:endParaRPr lang="en-US" sz="1550" dirty="0"/>
          </a:p>
        </p:txBody>
      </p:sp>
      <p:sp>
        <p:nvSpPr>
          <p:cNvPr id="11" name="Text 9"/>
          <p:cNvSpPr/>
          <p:nvPr/>
        </p:nvSpPr>
        <p:spPr>
          <a:xfrm>
            <a:off x="749808" y="3858768"/>
            <a:ext cx="10680192" cy="256032"/>
          </a:xfrm>
          <a:prstGeom prst="rect">
            <a:avLst/>
          </a:prstGeom>
          <a:noFill/>
          <a:ln/>
        </p:spPr>
        <p:txBody>
          <a:bodyPr wrap="square" rtlCol="0" anchor="ctr"/>
          <a:lstStyle/>
          <a:p>
            <a:pPr indent="0" marL="0">
              <a:buNone/>
            </a:pPr>
            <a:r>
              <a:rPr lang="en-US" sz="115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50" dirty="0"/>
          </a:p>
        </p:txBody>
      </p:sp>
      <p:sp>
        <p:nvSpPr>
          <p:cNvPr id="12" name="Text 10"/>
          <p:cNvSpPr/>
          <p:nvPr/>
        </p:nvSpPr>
        <p:spPr>
          <a:xfrm>
            <a:off x="749808" y="4151376"/>
            <a:ext cx="10680192" cy="658368"/>
          </a:xfrm>
          <a:prstGeom prst="rect">
            <a:avLst/>
          </a:prstGeom>
          <a:noFill/>
          <a:ln/>
        </p:spPr>
        <p:txBody>
          <a:bodyPr wrap="square" rtlCol="0" anchor="t"/>
          <a:lstStyle/>
          <a:p>
            <a:pPr indent="0" marL="0">
              <a:lnSpc>
                <a:spcPct val="118000"/>
              </a:lnSpc>
              <a:buNone/>
            </a:pPr>
            <a:r>
              <a:rPr lang="en-US" sz="88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nitina-ggarwal-sandbox-647724.</a:t>
            </a:r>
            <a:endParaRPr lang="en-US" sz="880" dirty="0"/>
          </a:p>
        </p:txBody>
      </p:sp>
      <p:sp>
        <p:nvSpPr>
          <p:cNvPr id="13" name="Text 11"/>
          <p:cNvSpPr/>
          <p:nvPr/>
        </p:nvSpPr>
        <p:spPr>
          <a:xfrm>
            <a:off x="749808" y="4846320"/>
            <a:ext cx="10680192" cy="201168"/>
          </a:xfrm>
          <a:prstGeom prst="rect">
            <a:avLst/>
          </a:prstGeom>
          <a:noFill/>
          <a:ln/>
        </p:spPr>
        <p:txBody>
          <a:bodyPr wrap="square" rtlCol="0" anchor="ctr"/>
          <a:lstStyle/>
          <a:p>
            <a:pPr indent="0" marL="0">
              <a:buNone/>
            </a:pPr>
            <a:r>
              <a:rPr lang="en-US" sz="88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80" dirty="0"/>
          </a:p>
        </p:txBody>
      </p:sp>
      <p:sp>
        <p:nvSpPr>
          <p:cNvPr id="14" name="Text 12"/>
          <p:cNvSpPr/>
          <p:nvPr/>
        </p:nvSpPr>
        <p:spPr>
          <a:xfrm>
            <a:off x="877824" y="5084064"/>
            <a:ext cx="10552176" cy="1426464"/>
          </a:xfrm>
          <a:prstGeom prst="rect">
            <a:avLst/>
          </a:prstGeom>
          <a:noFill/>
          <a:ln/>
        </p:spPr>
        <p:txBody>
          <a:bodyPr wrap="square" rtlCol="0" anchor="t"/>
          <a:lstStyle/>
          <a:p>
            <a:pPr indent="0" marL="0">
              <a:lnSpc>
                <a:spcPct val="120000"/>
              </a:lnSpc>
              <a:buNone/>
            </a:pPr>
            <a:r>
              <a:rPr lang="en-US" sz="820" b="1" dirty="0">
                <a:solidFill>
                  <a:srgbClr val="202124"/>
                </a:solidFill>
                <a:latin typeface="Arial" pitchFamily="34" charset="0"/>
                <a:ea typeface="Arial" pitchFamily="34" charset="-122"/>
                <a:cs typeface="Arial" pitchFamily="34" charset="-120"/>
              </a:rPr>
              <a:t>•  Strict data isolation: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Perimeter &amp; ingress defense: </a:t>
            </a:r>
            <a:pPr indent="0" marL="0">
              <a:lnSpc>
                <a:spcPct val="120000"/>
              </a:lnSpc>
              <a:buNone/>
            </a:pPr>
            <a:r>
              <a:rPr lang="en-US" sz="800" dirty="0">
                <a:solidFill>
                  <a:srgbClr val="3C4043"/>
                </a:solidFill>
                <a:latin typeface="Arial" pitchFamily="34" charset="0"/>
                <a:ea typeface="Arial" pitchFamily="34" charset="-122"/>
                <a:cs typeface="Arial" pitchFamily="34" charset="-120"/>
              </a:rPr>
              <a:t>Screens all incoming traffic through Vector 1: Header Strip and Vector 2: Agent 403 before reaching Hop 2 Catalog PDP.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Deterministic agent orchestration: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Centralized governance &amp; cost attribution: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lstStyle/>
          <a:p>
            <a:pPr indent="0" marL="0">
              <a:lnSpc>
                <a:spcPct val="112000"/>
              </a:lnSpc>
              <a:buNone/>
            </a:pPr>
            <a:r>
              <a:rPr lang="en-US" sz="82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Header Strip and Vector 2: Agent 403.
</a:t>
            </a:r>
            <a:pPr indent="0" marL="0">
              <a:lnSpc>
                <a:spcPct val="112000"/>
              </a:lnSpc>
              <a:buNone/>
            </a:pPr>
            <a:pPr indent="0" marL="0">
              <a:lnSpc>
                <a:spcPct val="112000"/>
              </a:lnSpc>
              <a:buNone/>
            </a:pPr>
            <a:r>
              <a:rPr lang="en-US" sz="82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2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Adversarial Breach Verification Harness &amp; VPC • Zero-Trust 5-Hop Enforcement Pipeline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Vector 1: Header Strip, Vector 2: Agent 403 &amp; Vector 4: HTTP 400</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Zero Raw PII Egress &amp; Vector 10: Inline 3LO</a:t>
            </a:r>
            <a:endParaRPr lang="en-US" sz="72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Adversarial Breach Verification Harness &amp; VPC • Zero-Trust 5-Hop Enforcement Pipeline: </a:t>
            </a:r>
            <a:pPr indent="0" marL="0">
              <a:buNone/>
            </a:pPr>
            <a:r>
              <a:rPr lang="en-US" sz="700" dirty="0">
                <a:solidFill>
                  <a:srgbClr val="3C4043"/>
                </a:solidFill>
                <a:latin typeface="Arial" pitchFamily="34" charset="0"/>
                <a:ea typeface="Arial" pitchFamily="34" charset="-122"/>
                <a:cs typeface="Arial" pitchFamily="34" charset="-120"/>
              </a:rPr>
              <a:t>Enforce Adversarial Breach Verification Harness perimeters around hub and spoke projects to block unauthorized data exfiltration, and bind VPC • Zero-Trust 5-Hop Enforcement Pipeline.
</a:t>
            </a:r>
            <a:pPr indent="0" marL="0">
              <a:buNone/>
            </a:pPr>
            <a:r>
              <a:rPr lang="en-US" sz="710" b="1" dirty="0">
                <a:solidFill>
                  <a:srgbClr val="202124"/>
                </a:solidFill>
                <a:latin typeface="Arial" pitchFamily="34" charset="0"/>
                <a:ea typeface="Arial" pitchFamily="34" charset="-122"/>
                <a:cs typeface="Arial" pitchFamily="34" charset="-120"/>
              </a:rPr>
              <a:t>• Vector 1: Header Strip, Vector 2: Agent 403 &amp; Vector 4: HTTP 400: </a:t>
            </a:r>
            <a:pPr indent="0" marL="0">
              <a:buNone/>
            </a:pPr>
            <a:r>
              <a:rPr lang="en-US" sz="700" dirty="0">
                <a:solidFill>
                  <a:srgbClr val="3C4043"/>
                </a:solidFill>
                <a:latin typeface="Arial" pitchFamily="34" charset="0"/>
                <a:ea typeface="Arial" pitchFamily="34" charset="-122"/>
                <a:cs typeface="Arial" pitchFamily="34" charset="-120"/>
              </a:rPr>
              <a:t>Strip client-supplied privilege headers at the edge, verify caller identity claims, and screen both incoming prompts and outgoing completions with Vector 4: HTTP 400.
</a:t>
            </a:r>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70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1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&amp; Hop 2 Catalog PDP</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Vertex AI Agent Engine &amp; Vector 8: SDP Mask</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Zero Raw PII Egress</a:t>
            </a:r>
            <a:endParaRPr lang="en-US" sz="72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70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70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10" b="1" dirty="0">
                <a:solidFill>
                  <a:srgbClr val="202124"/>
                </a:solidFill>
                <a:latin typeface="Arial" pitchFamily="34" charset="0"/>
                <a:ea typeface="Arial" pitchFamily="34" charset="-122"/>
                <a:cs typeface="Arial" pitchFamily="34" charset="-120"/>
              </a:rPr>
              <a:t>• Zero Raw PII Egress: </a:t>
            </a:r>
            <a:pPr indent="0" marL="0">
              <a:buNone/>
            </a:pPr>
            <a:r>
              <a:rPr lang="en-US" sz="70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1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Infrastructure as Code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Automated CI/CD &amp; Red-Team Gates</a:t>
            </a:r>
            <a:endParaRPr lang="en-US" sz="72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 </a:t>
            </a:r>
            <a:pPr indent="0" marL="0">
              <a:buNone/>
            </a:pPr>
            <a:r>
              <a:rPr lang="en-US" sz="70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70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Vector 6: Valkey 429 &amp; 4k Token Clamp.
</a:t>
            </a:r>
            <a:pPr indent="0" marL="0">
              <a:buNone/>
            </a:pPr>
            <a:r>
              <a:rPr lang="en-US" sz="71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70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1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Vector 5: HTTP 422 Context Caching</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Vector 3: Tool Prune &amp; Vector 8: SDP Mask</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BigQuery OTel Audit FinOps Attribution</a:t>
            </a:r>
            <a:endParaRPr lang="en-US" sz="72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70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70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70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54480"/>
            <a:ext cx="10424160" cy="1920240"/>
          </a:xfrm>
          <a:prstGeom prst="rect">
            <a:avLst/>
          </a:prstGeom>
          <a:noFill/>
          <a:ln/>
        </p:spPr>
        <p:txBody>
          <a:bodyPr wrap="square" rtlCol="0" anchor="t"/>
          <a:lstStyle/>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SELECT sim_id, attack_vector, enforcement_hop, http_status_code, verdict, verified_at</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FROM `nitina-ggarwal-sandbox-647724.cymbal_agentic_finops_otel.security_breach_audit_log`</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ORDER BY sim_id ASC;</a:t>
            </a:r>
            <a:endParaRPr lang="en-US" sz="74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2026-10-15T23:20:24Z</dcterms:created>
  <dcterms:modified xsi:type="dcterms:W3CDTF">2026-10-15T23:20:24Z</dcterms:modified>
</cp:coreProperties>
</file>