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have structured this fifteen-slide flagship briefing for Blog 1 into a clear four-act progression—moving from the real multi-tenant problem and conceptual model, through our process and L1-to-L4 technical diagrams, to live dual-plane proofs, quantified benefits, and your 30-60-90 day call to action.</a:t>
            </a:r>
            <a:endParaRPr lang="en-US" dirty="0"/>
          </a:p>
          <a:p>
            <a:r>
              <a:rPr lang="en-US" dirty="0"/>
              <a:t>In this session, we are walking through our foundational reference architecture for running multi-tenant AI agents on Google Cloud. Right upfront, we define our three core building blocks using operating-system primitives—Google’s Agent Development Kit (ADK) as our OS syscall scheduler, the Model Context Protocol (MCP) as our POSIX tool driver ABI, and Agent Registry and Discovery (ARD) as our chrooted virtual filesystem catalog—and show how we solve the SaaS AI Architect’s Dilemma: avoiding the margin erosion of spinning up dedicated cloud projects for every small customer while preventing tool-schema data leaks and noisy-neighbor rate starvation in a shared pool.</a:t>
            </a:r>
            <a:endParaRPr lang="en-US" dirty="0"/>
          </a:p>
          <a:p>
            <a:r>
              <a:rPr lang="en-US" dirty="0"/>
              <a:t>With that roadmap in mind, let's turn to Slide 2 to review our agenda and how this deck maps directly to the five-part engineering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serves as our table of contents, connecting every section of our reference architecture to the corresponding deep-dive workstream.</a:t>
            </a:r>
            <a:endParaRPr lang="en-US" dirty="0"/>
          </a:p>
          <a:p>
            <a:r>
              <a:rPr lang="en-US" dirty="0"/>
              <a:t>This Table of Contents maps our streamlined eleven-slide deck directly to the five-part engineering blog series and follows a strict macro-to-micro hierarchy. Part 1 covers the SaaS AI Architect’s Dilemma and isolation topologies across Slides 1 through 4. Part 2 establishes the five-hop cryptographic pipeline from L1 Logical Security Layers on Slide 5 to L2 Physical Network Perimeters on Slide 6 and L4 Wire Packet transformation on Slide 8. Part 3 on Slide 7 merges our L3 chronological UML sequence with fail-closed circuit breakers, sub-five-second Valkey L1 cache eviction, and single-flight recovery. Part 4 on Slide 9 documents our five EAP product gap controls, and Part 5 across Slides 10 and 11 pairs live Google Cloud Console proof with our merged Well-Architected SLA scorecard and runnable GitHub milestones.</a:t>
            </a:r>
            <a:endParaRPr lang="en-US" dirty="0"/>
          </a:p>
          <a:p>
            <a:r>
              <a:rPr lang="en-US" dirty="0"/>
              <a:t>Now let's turn to Slide 3 to examine the real customer problem and competing tenant profiles that drive every architectural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always start with the customer problem first: why naive SaaS multi-tenancy fails for stateful AI agents, and why single-tenant silos destroy unit economics.</a:t>
            </a:r>
            <a:endParaRPr lang="en-US" dirty="0"/>
          </a:p>
          <a:p>
            <a:r>
              <a:rPr lang="en-US" dirty="0"/>
              <a:t>Here you can see that SaaS AI tension illustrated through two competing tenant personas on our Cymbal platform. On one side, FinVault Bank is a regulated financial institution at six hundred requests per minute that requires customer-controlled encryption keys and chooses between Managed Vertex AI Dedicated Provisioned Throughput for zero-ops Gemini 2.5 Pro capacity or self-managed, air-gapped Gemma 3 27B on Private GKE with zero internet egress. On the other side, RetailStream Corp runs on Microsoft Entra ID and ServiceNow at one hundred twenty requests per minute, where we isolate per-user Three-Legged OAuth tokens inside tenant-and-user DPoP-bound vaults to eliminate the Confused Deputy vulnerability across pooled workers.</a:t>
            </a:r>
            <a:endParaRPr lang="en-US" dirty="0"/>
          </a:p>
          <a:p>
            <a:r>
              <a:rPr lang="en-US" dirty="0"/>
              <a:t>To resolve that tension without maintaining two separate codebases, let's look at our Conceptual Diagram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conceptual diagram illustrates our core architectural thesis: decoupling the eighty-percent reusable five-hop agentic core from the twenty-percent per-tenant infrastructure perimeter.</a:t>
            </a:r>
            <a:endParaRPr lang="en-US" dirty="0"/>
          </a:p>
          <a:p>
            <a:r>
              <a:rPr lang="en-US" dirty="0"/>
              <a:t>On the left, competing commercial and regulated tenants enter the same core-cymbal-agent codebase in the center. Every request traverses the exact same five governance hops—Edge STS, ARD Catalog, Valkey Bulkhead, Model Armor, and AlloyDB RLS—while feature-flagged native adapters future-proof EAP capabilities. On the right, per-tenant infrastructure configuration deploys each customer into Pattern A Shared Pool, Pattern B Sovereign Silos, or Pattern C Dynamic Hybrid PSC.</a:t>
            </a:r>
            <a:endParaRPr lang="en-US" dirty="0"/>
          </a:p>
          <a:p>
            <a:r>
              <a:rPr lang="en-US" dirty="0"/>
              <a:t>Now that we see the conceptual separation of concerns, let's trace the end-to-end runtime process lifecycle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translates our conceptual model into a deterministic six-stage process diagram with explicit latency budgets and fail-closed circuit breakers.</a:t>
            </a:r>
            <a:endParaRPr lang="en-US" dirty="0"/>
          </a:p>
          <a:p>
            <a:r>
              <a:rPr lang="en-US" dirty="0"/>
              <a:t>Across Stages 1 through 5, a customer turn completes in roughly forty-two milliseconds of control-plane overhead: eight milliseconds at Hop 1 Edge STS, four milliseconds at Hop 2 ARD scoping, three milliseconds at Hop 3 Valkey revocation check, twenty-two milliseconds at Hop 4 regional Model Armor and Cloud DLP, and five milliseconds at Hop 5 AlloyDB RLS—followed by asynchronous Stage 6 OpenTelemetry export to BigQuery. Below, four red circuit breakers guarantee fail-closed HTTP 401, 403, 429, 422, and 423 enforcement.</a:t>
            </a:r>
            <a:endParaRPr lang="en-US" dirty="0"/>
          </a:p>
          <a:p>
            <a:r>
              <a:rPr lang="en-US" dirty="0"/>
              <a:t>With the conceptual and process flows clear, let's enter Act II on Slide 6 to examine our Level 1 Logical Security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Act II at Level 1 of our macro-to-micro zoom, Slide 6 organizes the platform into three logical security layers before we map physical VPC Service Controls perimeters.</a:t>
            </a:r>
            <a:endParaRPr lang="en-US" dirty="0"/>
          </a:p>
          <a:p>
            <a:r>
              <a:rPr lang="en-US" dirty="0"/>
              <a:t>Before we inspect individual cloud services, this Level 1 diagram organizes our entire architecture into three logical security layers from left to right—preventing any terminology clash with the four physical VPC-SC network perimeters on the next slide. Layer 1 on the left verifies federated identity and DPoP proofs at the Cloud Armor and IAP edge. Layer 2 in the center runs our Five-Hop ADK Control Plane, where regional gRPC callouts keep Hop 4 inline Model Armor and Cloud DLP inspection to roughly twenty-two milliseconds and total five-hop control-plane overhead to about forty-two milliseconds at p95. And to prevent security drift during a five-minute STS JWT window, every hop checks a three-millisecond Valkey JTI and CMEK revocation deny-list before routing into Layer 3 on the right.</a:t>
            </a:r>
            <a:endParaRPr lang="en-US" dirty="0"/>
          </a:p>
          <a:p>
            <a:r>
              <a:rPr lang="en-US" dirty="0"/>
              <a:t>Before we inspect the physical blueprints, let's review our twelve-dimension Pattern A, B, and C decision matrix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gives architects and FinOps leads a concrete twelve-dimension rubric to assign each tenant to Pattern A, Pattern B, or Pattern C.</a:t>
            </a:r>
            <a:endParaRPr lang="en-US" dirty="0"/>
          </a:p>
          <a:p>
            <a:r>
              <a:rPr lang="en-US" dirty="0"/>
              <a:t>To serve both ends of that customer spectrum, this twelve-dimension matrix compares Pattern A, our High-Density Shared Pool; Pattern B, our Zero-Trust Sovereign Silos; and Pattern C, our Dynamic Hybrid Bridge. Notice the operational fleet-scale trade-off in the table: managing five hundred enterprise customers in Pattern B means maintaining five hundred separate VPC Service Controls perimeters, KMS keys, and AlloyDB instances—which is why Pattern C hosts nine hundred fifty standard tenants in the shared pool and reserves fifty Private Service Connect spokes for regulated contracts. Also note our kill-switch distinction: while Google Cloud KMS key state propagation can take up to sixty seconds across storage, Hop 3 runs a targeted Valkey SCAN and UNLINK of the tenant’s cache prefix in under five seconds to enforce our HTTP 423 lock SLA.</a:t>
            </a:r>
            <a:endParaRPr lang="en-US" dirty="0"/>
          </a:p>
          <a:p>
            <a:r>
              <a:rPr lang="en-US" dirty="0"/>
              <a:t>Now let's zoom into Level 2 physical topology on Slide 8 with Figure 1: our four-zone Hub-and-Spoke VPC-SC taxonomy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maps our fifty-six-component Google Cloud reference topology across four physical VPC Service Controls network perimeters.</a:t>
            </a:r>
            <a:endParaRPr lang="en-US" dirty="0"/>
          </a:p>
          <a:p>
            <a:r>
              <a:rPr lang="en-US" dirty="0"/>
              <a:t>Zooming directly from those three logical security layers into the Level 2 physical topology, Figure 1 maps our fifty-six-shape Google Cloud blueprint across four physical VPC Service Controls network perimeters. Requests enter Blue Perimeter 1 (the Routing Hub for Steps 1 through 3 and Hop 1) at the top, traverse Green Perimeter 2 (the Five-Hop Governance Hub for Hops 2 and 5) in the center, and execute inside either Yellow Perimeter 3 (the Pattern A Shared Pool Spoke for Steps 4 through 7 and Hops 3 through 5) on the left or Red Perimeter 4 (the Pattern B Sovereign Silo and Pattern C PSC Spoke) on the right—with gVisor kernel sandboxing and composite tenant-user-session keys isolating every worker.</a:t>
            </a:r>
            <a:endParaRPr lang="en-US" dirty="0"/>
          </a:p>
          <a:p>
            <a:r>
              <a:rPr lang="en-US" dirty="0"/>
              <a:t>Next, let's examine Figure 2 on Slide 9: the official Cloud Architecture Center 5-Hop Cryptographic Context Chain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Complementing Figure 1, Figure 2 details the official Cloud Architecture Center 5-Hop Cryptographic Context Chain across routing, governance, and execution spokes.</a:t>
            </a:r>
            <a:endParaRPr lang="en-US" dirty="0"/>
          </a:p>
          <a:p>
            <a:r>
              <a:rPr lang="en-US" dirty="0"/>
              <a:t>Notice how every hop in Figure 2 enforces asymmetric KMS ECDSA P-256 verification, composite tenant-user-session key scoping, and gVisor kernel sandboxing so no compromised tool or prompt can pivot laterally across spokes.</a:t>
            </a:r>
            <a:endParaRPr lang="en-US" dirty="0"/>
          </a:p>
          <a:p>
            <a:r>
              <a:rPr lang="en-US" dirty="0"/>
              <a:t>Now let's zoom into Level 3 on Slide 10 to trace the five-actor UML sequence swimlane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traces the exact chronological message sequence across five system actors alongside our sub-five-second Valkey cache eviction and single-flight recovery.</a:t>
            </a:r>
            <a:endParaRPr lang="en-US" dirty="0"/>
          </a:p>
          <a:p>
            <a:r>
              <a:rPr lang="en-US" dirty="0"/>
              <a:t>Now that we have the L1 logical layers and L2 physical perimeters in place, this merged Level 3 process and operational resilience slide traces both the chronological happy path across five actors and every fail-closed circuit breaker in one unified view. Steps 1 through 6 trace a live customer turn in roughly forty-two milliseconds of control-plane overhead. And in the red fail-closed frame at the bottom, spoofed headers or ~3ms JTI revocations return HTTP 401 or 403, rate bursts over 120 or 600 RPM return HTTP 429 with Retry-After jitter, and a revoked Cloud KMS key triggers an HTTP 423 lock with a sub-five-second targeted Valkey SCAN and UNLINK of cache:{tenant}:*—followed by single-flight SET NX PX 5000 lazy re-hydration from AlloyDB RLS when the key is restored.</a:t>
            </a:r>
            <a:endParaRPr lang="en-US" dirty="0"/>
          </a:p>
          <a:p>
            <a:r>
              <a:rPr lang="en-US" dirty="0"/>
              <a:t>Completing our L1-to-L4 technical zoom, let's inspect the raw wire packet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opens the HTTP and gRPC wire payload before and after Hop 1 token exchange to show how spoofed tenant headers are neutralized.</a:t>
            </a:r>
            <a:endParaRPr lang="en-US" dirty="0"/>
          </a:p>
          <a:p>
            <a:r>
              <a:rPr lang="en-US" dirty="0"/>
              <a:t>Zooming all the way down to Level 4, here we open up the wire packet traveling across those hops. On the left, an untrusted client attempts to inject a spoofed X-Tenant-Id header claiming to be FinVault Bank. In the center, Cloud Armor and our Hop 1 Security Token Service strip that header, verify the caller’s OIDC and DPoP proof, and mint a KMS ECDSA P-256 signed STS JWT. On the right, downstream microservices verify that asymmetric signature locally in under 0.15 milliseconds using an in-memory cached JWKS public key—achieving mathematical non-repudiation with zero per-hop KMS network calls.</a:t>
            </a:r>
            <a:endParaRPr lang="en-US" dirty="0"/>
          </a:p>
          <a:p>
            <a:r>
              <a:rPr lang="en-US" dirty="0"/>
              <a:t>With the technical architecture proven from conceptual model down to wire packet, let's enter Act III on Slide 12 to review our genuine solution approach and EAP compensating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documents our transparent engineering ledger of five early-access platform boundaries and the feature-flagged compensating controls in core-cymbal-agent.</a:t>
            </a:r>
            <a:endParaRPr lang="en-US" dirty="0"/>
          </a:p>
          <a:p>
            <a:r>
              <a:rPr lang="en-US" dirty="0"/>
              <a:t>This register maps our five compensating production controls—GAP-01 through GAP-05—to the early-access platform boundaries engineering teams face today. Every custom Python, Valkey, or SQL control in core-cymbal-agent is wrapped in a feature-flagged native adapter hook (CYMBAL_NATIVE_ARD_GA, CYMBAL_NATIVE_KMS_PROBE_GA, CYMBAL_NATIVE_MEM_TTL_GA, CYMBAL_NATIVE_PSC_CUTOVER_GA, and CYMBAL_NATIVE_OTEL_FINOPS_GA) so teams can switch cleanly to native GCP primitives via configuration as they reach general availability. And in row five, our OpenTelemetry FinOps exporter streams SHA-256 prompt hashes and token counters directly into BigQuery so finance teams can run exact SQL chargeback queries across cached and thinking tokens with zero raw PII.</a:t>
            </a:r>
            <a:endParaRPr lang="en-US" dirty="0"/>
          </a:p>
          <a:p>
            <a:r>
              <a:rPr lang="en-US" dirty="0"/>
              <a:t>Now let's inspect our live dual-plane verification proofs, starting with grounded GCP and AWS CLI telemetry on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presents verifiable runtime receipts from our deployed Cloud Run services, AlloyDB RLS policies, and cross-cloud AWS Bedrock AgentCore MCP harness.</a:t>
            </a:r>
            <a:endParaRPr lang="en-US" dirty="0"/>
          </a:p>
          <a:p>
            <a:r>
              <a:rPr lang="en-US" dirty="0"/>
              <a:t>To prove this architecture is running live rather than just on slides, here are authentic captures from our deployed Cloud Run revisions in ramp-portal-dev and bbar-138hf0, Cloud Logging Explorer, Dual-Plane verification harness, and twenty before-versus-after 2880-by-1800 Retina third-party SaaS UIs including Metabase BI v0.50.26 and Trino Distributed SQL v440. On the Intra-Cloud plane, our 20/20 Google Cloud runtime suites verify zero cross-tenant RLS rows across HTTP 200, 403, 423, and 429 responses; on the Inter-Cloud plane, our 30/30 AWS Bedrock AgentCore MCP and 10-SaaS cross-cloud target harness passes all sixty assertions and all thirteen automated forensic gates.</a:t>
            </a:r>
            <a:endParaRPr lang="en-US" dirty="0"/>
          </a:p>
          <a:p>
            <a:r>
              <a:rPr lang="en-US" dirty="0"/>
              <a:t>Complementing our CLI telemetry, Slide 14 shows live 2880x1800 Retina before-and-after captures from third-party enterprise BI and SQL interfaces.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visually proves that third-party enterprise tools—Metabase BI v0.50.26 and Trino Distributed SQL v440—enforce strict tenant isolation once 5-Hop AlloyDB RLS is active.</a:t>
            </a:r>
            <a:endParaRPr lang="en-US" dirty="0"/>
          </a:p>
          <a:p>
            <a:r>
              <a:rPr lang="en-US" dirty="0"/>
              <a:t>On the left, Metabase BI transitions from an unscoped multi-tenant view exposing all customer records to a strictly filtered FinVault-only workspace. On the right, Trino Distributed SQL transitions from cross-tenant catalog enumeration to zero-leakage scoped execution.</a:t>
            </a:r>
            <a:endParaRPr lang="en-US" dirty="0"/>
          </a:p>
          <a:p>
            <a:r>
              <a:rPr lang="en-US" dirty="0"/>
              <a:t>Finally, let's turn to Slide 15 to summarize our quantified business benefits and your 30-60-90 day call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our briefing in Act IV, Slide 15 consolidates our quantified security, latency, and FinOps benefits alongside concrete next steps for your engineering team.</a:t>
            </a:r>
            <a:endParaRPr lang="en-US" dirty="0"/>
          </a:p>
          <a:p>
            <a:r>
              <a:rPr lang="en-US" dirty="0"/>
              <a:t>Finally, our closing slide consolidates the Google Cloud Well-Architected SLA scorecard directly into our five runnable GitHub milestones and five-part blog series launch plan. Every milestone card pairs its exact repository file path with its production SLA target: under 150-microsecond cached-JWKS verification and ~3ms JTI deny-lists in Part 1; ~42ms p95 five-hop overhead, ~420ms warm TTFT, and 84.7 percent token savings in Part 2; &lt;60s CMEK revocation, &lt;5s Valkey SCAN+UNLINK eviction, SET NX PX 5000 recovery, and &lt;30s cross-region failover RTO in Part 3; 74 percent portfolio TCO reduction and 0ms PSC cutover in Part 4; and 13/13 forensic plus 107/107 runtime assertions in Part 5.</a:t>
            </a:r>
            <a:endParaRPr lang="en-US" dirty="0"/>
          </a:p>
          <a:p>
            <a:r>
              <a:rPr lang="en-US" dirty="0"/>
              <a:t>Thank you—let's open the floor for your architecture questions or launch the interactive codebase workbench to inspect the Terraform and Python modules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slideLayout" Target="../slideLayouts/slideLayout1.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411480" y="347472"/>
            <a:ext cx="6812280" cy="5998464"/>
          </a:xfrm>
          <a:prstGeom prst="roundRect">
            <a:avLst>
              <a:gd name="adj" fmla="val 1220"/>
            </a:avLst>
          </a:prstGeom>
          <a:solidFill>
            <a:srgbClr val="F8F9FA"/>
          </a:solidFill>
          <a:ln w="12700">
            <a:solidFill>
              <a:srgbClr val="DADCE0"/>
            </a:solidFill>
            <a:prstDash val="solid"/>
          </a:ln>
        </p:spPr>
      </p:sp>
      <p:sp>
        <p:nvSpPr>
          <p:cNvPr id="7" name="Shape 5"/>
          <p:cNvSpPr/>
          <p:nvPr/>
        </p:nvSpPr>
        <p:spPr>
          <a:xfrm>
            <a:off x="411480" y="347472"/>
            <a:ext cx="100584" cy="5998464"/>
          </a:xfrm>
          <a:prstGeom prst="rect">
            <a:avLst/>
          </a:prstGeom>
          <a:solidFill>
            <a:srgbClr val="4285F4"/>
          </a:solidFill>
          <a:ln/>
        </p:spPr>
      </p:sp>
      <p:sp>
        <p:nvSpPr>
          <p:cNvPr id="8" name="Shape 6"/>
          <p:cNvSpPr/>
          <p:nvPr/>
        </p:nvSpPr>
        <p:spPr>
          <a:xfrm>
            <a:off x="768096" y="670255"/>
            <a:ext cx="86868" cy="86868"/>
          </a:xfrm>
          <a:prstGeom prst="ellipse">
            <a:avLst/>
          </a:prstGeom>
          <a:solidFill>
            <a:srgbClr val="4285F4"/>
          </a:solidFill>
          <a:ln/>
        </p:spPr>
      </p:sp>
      <p:sp>
        <p:nvSpPr>
          <p:cNvPr id="9" name="Shape 7"/>
          <p:cNvSpPr/>
          <p:nvPr/>
        </p:nvSpPr>
        <p:spPr>
          <a:xfrm>
            <a:off x="882396" y="670255"/>
            <a:ext cx="86868" cy="86868"/>
          </a:xfrm>
          <a:prstGeom prst="ellipse">
            <a:avLst/>
          </a:prstGeom>
          <a:solidFill>
            <a:srgbClr val="EA4335"/>
          </a:solidFill>
          <a:ln/>
        </p:spPr>
      </p:sp>
      <p:sp>
        <p:nvSpPr>
          <p:cNvPr id="10" name="Shape 8"/>
          <p:cNvSpPr/>
          <p:nvPr/>
        </p:nvSpPr>
        <p:spPr>
          <a:xfrm>
            <a:off x="996696" y="670255"/>
            <a:ext cx="86868" cy="86868"/>
          </a:xfrm>
          <a:prstGeom prst="ellipse">
            <a:avLst/>
          </a:prstGeom>
          <a:solidFill>
            <a:srgbClr val="FBBC04"/>
          </a:solidFill>
          <a:ln/>
        </p:spPr>
      </p:sp>
      <p:sp>
        <p:nvSpPr>
          <p:cNvPr id="11" name="Shape 9"/>
          <p:cNvSpPr/>
          <p:nvPr/>
        </p:nvSpPr>
        <p:spPr>
          <a:xfrm>
            <a:off x="1110996" y="670255"/>
            <a:ext cx="86868" cy="86868"/>
          </a:xfrm>
          <a:prstGeom prst="ellipse">
            <a:avLst/>
          </a:prstGeom>
          <a:solidFill>
            <a:srgbClr val="34A853"/>
          </a:solidFill>
          <a:ln/>
        </p:spPr>
      </p:sp>
      <p:sp>
        <p:nvSpPr>
          <p:cNvPr id="12" name="Text 10"/>
          <p:cNvSpPr/>
          <p:nvPr/>
        </p:nvSpPr>
        <p:spPr>
          <a:xfrm>
            <a:off x="1316736" y="585216"/>
            <a:ext cx="5669280" cy="256032"/>
          </a:xfrm>
          <a:prstGeom prst="rect">
            <a:avLst/>
          </a:prstGeom>
          <a:noFill/>
          <a:ln/>
        </p:spPr>
        <p:txBody>
          <a:bodyPr wrap="square" rtlCol="0" anchor="ctr"/>
          <a:lstStyle/>
          <a:p>
            <a:pPr indent="0" marL="0">
              <a:buNone/>
            </a:pPr>
            <a:r>
              <a:rPr lang="en-US" sz="920" b="1" dirty="0">
                <a:solidFill>
                  <a:srgbClr val="4285F4"/>
                </a:solidFill>
                <a:latin typeface="Google Sans" pitchFamily="34" charset="0"/>
                <a:ea typeface="Google Sans" pitchFamily="34" charset="-122"/>
                <a:cs typeface="Google Sans" pitchFamily="34" charset="-120"/>
              </a:rPr>
              <a:t>GOOGLE CLOUD ARCHITECTURE CENTER  •  REFERENCE BLUEPRINT</a:t>
            </a:r>
            <a:endParaRPr lang="en-US" sz="920" dirty="0"/>
          </a:p>
        </p:txBody>
      </p:sp>
      <p:sp>
        <p:nvSpPr>
          <p:cNvPr id="13" name="Shape 11"/>
          <p:cNvSpPr/>
          <p:nvPr/>
        </p:nvSpPr>
        <p:spPr>
          <a:xfrm>
            <a:off x="768096" y="950976"/>
            <a:ext cx="6144768" cy="310896"/>
          </a:xfrm>
          <a:prstGeom prst="roundRect">
            <a:avLst>
              <a:gd name="adj" fmla="val 23529"/>
            </a:avLst>
          </a:prstGeom>
          <a:solidFill>
            <a:srgbClr val="FFFFFF"/>
          </a:solidFill>
          <a:ln w="10795">
            <a:solidFill>
              <a:srgbClr val="DADCE0"/>
            </a:solidFill>
            <a:prstDash val="solid"/>
          </a:ln>
        </p:spPr>
      </p:sp>
      <p:sp>
        <p:nvSpPr>
          <p:cNvPr id="14" name="Text 12"/>
          <p:cNvSpPr/>
          <p:nvPr/>
        </p:nvSpPr>
        <p:spPr>
          <a:xfrm>
            <a:off x="877824" y="950976"/>
            <a:ext cx="5925312" cy="310896"/>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WORKSTREAM 1 • REFERENCE ARCHITECTURE &amp; CLOUD ARCHITECTURE CENTER DOC PR</a:t>
            </a:r>
            <a:endParaRPr lang="en-US" sz="850" dirty="0"/>
          </a:p>
        </p:txBody>
      </p:sp>
      <p:sp>
        <p:nvSpPr>
          <p:cNvPr id="15" name="Text 13"/>
          <p:cNvSpPr/>
          <p:nvPr/>
        </p:nvSpPr>
        <p:spPr>
          <a:xfrm>
            <a:off x="768096" y="1389888"/>
            <a:ext cx="6144768" cy="1371600"/>
          </a:xfrm>
          <a:prstGeom prst="rect">
            <a:avLst/>
          </a:prstGeom>
          <a:noFill/>
          <a:ln/>
        </p:spPr>
        <p:txBody>
          <a:bodyPr wrap="square" rtlCol="0" anchor="t"/>
          <a:lstStyle/>
          <a:p>
            <a:pPr indent="0" marL="0">
              <a:buNone/>
            </a:pPr>
            <a:r>
              <a:rPr lang="en-US" sz="2200" b="1" dirty="0">
                <a:solidFill>
                  <a:srgbClr val="3C4043"/>
                </a:solidFill>
                <a:latin typeface="Google Sans Display" pitchFamily="34" charset="0"/>
                <a:ea typeface="Google Sans Display" pitchFamily="34" charset="-122"/>
                <a:cs typeface="Google Sans Display" pitchFamily="34" charset="-120"/>
              </a:rPr>
              <a:t>Multi-Tenant Agentic AI on Google Cloud: Reference Taxonomy &amp; 5-Hop Governance (Workstream 1)</a:t>
            </a:r>
            <a:endParaRPr lang="en-US" sz="2200" dirty="0"/>
          </a:p>
        </p:txBody>
      </p:sp>
      <p:sp>
        <p:nvSpPr>
          <p:cNvPr id="16" name="Shape 14"/>
          <p:cNvSpPr/>
          <p:nvPr/>
        </p:nvSpPr>
        <p:spPr>
          <a:xfrm>
            <a:off x="768096" y="2852928"/>
            <a:ext cx="6144768" cy="1060704"/>
          </a:xfrm>
          <a:prstGeom prst="roundRect">
            <a:avLst>
              <a:gd name="adj" fmla="val 6897"/>
            </a:avLst>
          </a:prstGeom>
          <a:solidFill>
            <a:srgbClr val="FFFFFF"/>
          </a:solidFill>
          <a:ln w="12700">
            <a:solidFill>
              <a:srgbClr val="DADCE0"/>
            </a:solidFill>
            <a:prstDash val="solid"/>
          </a:ln>
        </p:spPr>
      </p:sp>
      <p:sp>
        <p:nvSpPr>
          <p:cNvPr id="17" name="Shape 15"/>
          <p:cNvSpPr/>
          <p:nvPr/>
        </p:nvSpPr>
        <p:spPr>
          <a:xfrm>
            <a:off x="768096" y="2852928"/>
            <a:ext cx="73152" cy="1060704"/>
          </a:xfrm>
          <a:prstGeom prst="rect">
            <a:avLst/>
          </a:prstGeom>
          <a:solidFill>
            <a:srgbClr val="4285F4"/>
          </a:solidFill>
          <a:ln/>
        </p:spPr>
      </p:sp>
      <p:sp>
        <p:nvSpPr>
          <p:cNvPr id="18" name="Text 16"/>
          <p:cNvSpPr/>
          <p:nvPr/>
        </p:nvSpPr>
        <p:spPr>
          <a:xfrm>
            <a:off x="950976" y="2926080"/>
            <a:ext cx="5833872"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KEY ARCHITECTURAL POINT</a:t>
            </a:r>
            <a:endParaRPr lang="en-US" sz="800" dirty="0"/>
          </a:p>
        </p:txBody>
      </p:sp>
      <p:sp>
        <p:nvSpPr>
          <p:cNvPr id="19" name="Text 17"/>
          <p:cNvSpPr/>
          <p:nvPr/>
        </p:nvSpPr>
        <p:spPr>
          <a:xfrm>
            <a:off x="950976" y="3145536"/>
            <a:ext cx="5833872" cy="694944"/>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Solving the SaaS AI Dilemma: Prevent tool-schema leaks and rogue-tenant quota starvation using Agent Development Kit (ADK), Model Context Protocol (MCP) &amp; Agent Registry Discovery (ARD) across Pooled, Silo &amp; Hybrid tiers</a:t>
            </a:r>
            <a:endParaRPr lang="en-US" sz="980" dirty="0"/>
          </a:p>
        </p:txBody>
      </p:sp>
      <p:sp>
        <p:nvSpPr>
          <p:cNvPr id="20" name="Shape 18"/>
          <p:cNvSpPr/>
          <p:nvPr/>
        </p:nvSpPr>
        <p:spPr>
          <a:xfrm>
            <a:off x="768096" y="4059936"/>
            <a:ext cx="1453896" cy="1572768"/>
          </a:xfrm>
          <a:prstGeom prst="roundRect">
            <a:avLst>
              <a:gd name="adj" fmla="val 5031"/>
            </a:avLst>
          </a:prstGeom>
          <a:solidFill>
            <a:srgbClr val="FFFFFF"/>
          </a:solidFill>
          <a:ln w="12700">
            <a:solidFill>
              <a:srgbClr val="DADCE0"/>
            </a:solidFill>
            <a:prstDash val="solid"/>
          </a:ln>
        </p:spPr>
      </p:sp>
      <p:sp>
        <p:nvSpPr>
          <p:cNvPr id="21" name="Shape 19"/>
          <p:cNvSpPr/>
          <p:nvPr/>
        </p:nvSpPr>
        <p:spPr>
          <a:xfrm>
            <a:off x="768096" y="4059936"/>
            <a:ext cx="1453896" cy="54864"/>
          </a:xfrm>
          <a:prstGeom prst="rect">
            <a:avLst/>
          </a:prstGeom>
          <a:solidFill>
            <a:srgbClr val="4285F4"/>
          </a:solidFill>
          <a:ln/>
        </p:spPr>
      </p:sp>
      <p:sp>
        <p:nvSpPr>
          <p:cNvPr id="22" name="Text 20"/>
          <p:cNvSpPr/>
          <p:nvPr/>
        </p:nvSpPr>
        <p:spPr>
          <a:xfrm>
            <a:off x="841248" y="4142232"/>
            <a:ext cx="1307592" cy="384048"/>
          </a:xfrm>
          <a:prstGeom prst="rect">
            <a:avLst/>
          </a:prstGeom>
          <a:noFill/>
          <a:ln/>
        </p:spPr>
        <p:txBody>
          <a:bodyPr wrap="square" rtlCol="0" anchor="ctr"/>
          <a:lstStyle/>
          <a:p>
            <a:pPr indent="0" marL="0">
              <a:buNone/>
            </a:pPr>
            <a:r>
              <a:rPr lang="en-US" sz="760" b="1" dirty="0">
                <a:solidFill>
                  <a:srgbClr val="3C4043"/>
                </a:solidFill>
                <a:latin typeface="Google Sans" pitchFamily="34" charset="0"/>
                <a:ea typeface="Google Sans" pitchFamily="34" charset="-122"/>
                <a:cs typeface="Google Sans" pitchFamily="34" charset="-120"/>
              </a:rPr>
              <a:t>Why It Matters (SaaS AI Dilemma)</a:t>
            </a:r>
            <a:endParaRPr lang="en-US" sz="760" dirty="0"/>
          </a:p>
        </p:txBody>
      </p:sp>
      <p:sp>
        <p:nvSpPr>
          <p:cNvPr id="23" name="Text 21"/>
          <p:cNvSpPr/>
          <p:nvPr/>
        </p:nvSpPr>
        <p:spPr>
          <a:xfrm>
            <a:off x="841248" y="4544568"/>
            <a:ext cx="1307592" cy="1024128"/>
          </a:xfrm>
          <a:prstGeom prst="rect">
            <a:avLst/>
          </a:prstGeom>
          <a:noFill/>
          <a:ln/>
        </p:spPr>
        <p:txBody>
          <a:bodyPr wrap="square" rtlCol="0" anchor="t">
            <a:normAutofit/>
          </a:bodyPr>
          <a:lstStyle/>
          <a:p>
            <a:pPr indent="0" marL="0">
              <a:buNone/>
            </a:pPr>
            <a:r>
              <a:rPr lang="en-US" sz="710" dirty="0">
                <a:solidFill>
                  <a:srgbClr val="5F6368"/>
                </a:solidFill>
                <a:latin typeface="Roboto" pitchFamily="34" charset="0"/>
                <a:ea typeface="Roboto" pitchFamily="34" charset="-122"/>
                <a:cs typeface="Roboto" pitchFamily="34" charset="-120"/>
              </a:rPr>
              <a:t>Dedicated projects erode SaaS gross margins, while naive shared agents leak tool schemas and allow quota starvation.</a:t>
            </a:r>
            <a:endParaRPr lang="en-US" sz="710" dirty="0"/>
          </a:p>
        </p:txBody>
      </p:sp>
      <p:sp>
        <p:nvSpPr>
          <p:cNvPr id="24" name="Shape 22"/>
          <p:cNvSpPr/>
          <p:nvPr/>
        </p:nvSpPr>
        <p:spPr>
          <a:xfrm>
            <a:off x="2331720" y="4059936"/>
            <a:ext cx="1453896" cy="1572768"/>
          </a:xfrm>
          <a:prstGeom prst="roundRect">
            <a:avLst>
              <a:gd name="adj" fmla="val 5031"/>
            </a:avLst>
          </a:prstGeom>
          <a:solidFill>
            <a:srgbClr val="FFFFFF"/>
          </a:solidFill>
          <a:ln w="12700">
            <a:solidFill>
              <a:srgbClr val="DADCE0"/>
            </a:solidFill>
            <a:prstDash val="solid"/>
          </a:ln>
        </p:spPr>
      </p:sp>
      <p:sp>
        <p:nvSpPr>
          <p:cNvPr id="25" name="Shape 23"/>
          <p:cNvSpPr/>
          <p:nvPr/>
        </p:nvSpPr>
        <p:spPr>
          <a:xfrm>
            <a:off x="2331720" y="4059936"/>
            <a:ext cx="1453896" cy="54864"/>
          </a:xfrm>
          <a:prstGeom prst="rect">
            <a:avLst/>
          </a:prstGeom>
          <a:solidFill>
            <a:srgbClr val="EA4335"/>
          </a:solidFill>
          <a:ln/>
        </p:spPr>
      </p:sp>
      <p:sp>
        <p:nvSpPr>
          <p:cNvPr id="26" name="Text 24"/>
          <p:cNvSpPr/>
          <p:nvPr/>
        </p:nvSpPr>
        <p:spPr>
          <a:xfrm>
            <a:off x="2404872" y="4142232"/>
            <a:ext cx="1307592" cy="384048"/>
          </a:xfrm>
          <a:prstGeom prst="rect">
            <a:avLst/>
          </a:prstGeom>
          <a:noFill/>
          <a:ln/>
        </p:spPr>
        <p:txBody>
          <a:bodyPr wrap="square" rtlCol="0" anchor="ctr"/>
          <a:lstStyle/>
          <a:p>
            <a:pPr indent="0" marL="0">
              <a:buNone/>
            </a:pPr>
            <a:r>
              <a:rPr lang="en-US" sz="760" b="1" dirty="0">
                <a:solidFill>
                  <a:srgbClr val="3C4043"/>
                </a:solidFill>
                <a:latin typeface="Google Sans" pitchFamily="34" charset="0"/>
                <a:ea typeface="Google Sans" pitchFamily="34" charset="-122"/>
                <a:cs typeface="Google Sans" pitchFamily="34" charset="-120"/>
              </a:rPr>
              <a:t>Core Primitives (ADK • MCP • ARD)</a:t>
            </a:r>
            <a:endParaRPr lang="en-US" sz="760" dirty="0"/>
          </a:p>
        </p:txBody>
      </p:sp>
      <p:sp>
        <p:nvSpPr>
          <p:cNvPr id="27" name="Text 25"/>
          <p:cNvSpPr/>
          <p:nvPr/>
        </p:nvSpPr>
        <p:spPr>
          <a:xfrm>
            <a:off x="2404872" y="4544568"/>
            <a:ext cx="1307592" cy="1024128"/>
          </a:xfrm>
          <a:prstGeom prst="rect">
            <a:avLst/>
          </a:prstGeom>
          <a:noFill/>
          <a:ln/>
        </p:spPr>
        <p:txBody>
          <a:bodyPr wrap="square" rtlCol="0" anchor="t">
            <a:normAutofit/>
          </a:bodyPr>
          <a:lstStyle/>
          <a:p>
            <a:pPr indent="0" marL="0">
              <a:buNone/>
            </a:pPr>
            <a:r>
              <a:rPr lang="en-US" sz="710" dirty="0">
                <a:solidFill>
                  <a:srgbClr val="5F6368"/>
                </a:solidFill>
                <a:latin typeface="Roboto" pitchFamily="34" charset="0"/>
                <a:ea typeface="Roboto" pitchFamily="34" charset="-122"/>
                <a:cs typeface="Roboto" pitchFamily="34" charset="-120"/>
              </a:rPr>
              <a:t>ADK (syscall scheduler), MCP (tool driver ABI) &amp; ARD (chrooted catalog) isolate every tenant across 5 hops.</a:t>
            </a:r>
            <a:endParaRPr lang="en-US" sz="710" dirty="0"/>
          </a:p>
        </p:txBody>
      </p:sp>
      <p:sp>
        <p:nvSpPr>
          <p:cNvPr id="28" name="Shape 26"/>
          <p:cNvSpPr/>
          <p:nvPr/>
        </p:nvSpPr>
        <p:spPr>
          <a:xfrm>
            <a:off x="3895344" y="4059936"/>
            <a:ext cx="1453896" cy="1572768"/>
          </a:xfrm>
          <a:prstGeom prst="roundRect">
            <a:avLst>
              <a:gd name="adj" fmla="val 5031"/>
            </a:avLst>
          </a:prstGeom>
          <a:solidFill>
            <a:srgbClr val="FFFFFF"/>
          </a:solidFill>
          <a:ln w="12700">
            <a:solidFill>
              <a:srgbClr val="DADCE0"/>
            </a:solidFill>
            <a:prstDash val="solid"/>
          </a:ln>
        </p:spPr>
      </p:sp>
      <p:sp>
        <p:nvSpPr>
          <p:cNvPr id="29" name="Shape 27"/>
          <p:cNvSpPr/>
          <p:nvPr/>
        </p:nvSpPr>
        <p:spPr>
          <a:xfrm>
            <a:off x="3895344" y="4059936"/>
            <a:ext cx="1453896" cy="54864"/>
          </a:xfrm>
          <a:prstGeom prst="rect">
            <a:avLst/>
          </a:prstGeom>
          <a:solidFill>
            <a:srgbClr val="FBBC04"/>
          </a:solidFill>
          <a:ln/>
        </p:spPr>
      </p:sp>
      <p:sp>
        <p:nvSpPr>
          <p:cNvPr id="30" name="Text 28"/>
          <p:cNvSpPr/>
          <p:nvPr/>
        </p:nvSpPr>
        <p:spPr>
          <a:xfrm>
            <a:off x="3968496" y="4142232"/>
            <a:ext cx="1307592" cy="384048"/>
          </a:xfrm>
          <a:prstGeom prst="rect">
            <a:avLst/>
          </a:prstGeom>
          <a:noFill/>
          <a:ln/>
        </p:spPr>
        <p:txBody>
          <a:bodyPr wrap="square" rtlCol="0" anchor="ctr"/>
          <a:lstStyle/>
          <a:p>
            <a:pPr indent="0" marL="0">
              <a:buNone/>
            </a:pPr>
            <a:r>
              <a:rPr lang="en-US" sz="760" b="1" dirty="0">
                <a:solidFill>
                  <a:srgbClr val="3C4043"/>
                </a:solidFill>
                <a:latin typeface="Google Sans" pitchFamily="34" charset="0"/>
                <a:ea typeface="Google Sans" pitchFamily="34" charset="-122"/>
                <a:cs typeface="Google Sans" pitchFamily="34" charset="-120"/>
              </a:rPr>
              <a:t>Three Topologies &amp; 80/20 Reuse</a:t>
            </a:r>
            <a:endParaRPr lang="en-US" sz="760" dirty="0"/>
          </a:p>
        </p:txBody>
      </p:sp>
      <p:sp>
        <p:nvSpPr>
          <p:cNvPr id="31" name="Text 29"/>
          <p:cNvSpPr/>
          <p:nvPr/>
        </p:nvSpPr>
        <p:spPr>
          <a:xfrm>
            <a:off x="3968496" y="4544568"/>
            <a:ext cx="1307592" cy="1024128"/>
          </a:xfrm>
          <a:prstGeom prst="rect">
            <a:avLst/>
          </a:prstGeom>
          <a:noFill/>
          <a:ln/>
        </p:spPr>
        <p:txBody>
          <a:bodyPr wrap="square" rtlCol="0" anchor="t">
            <a:normAutofit/>
          </a:bodyPr>
          <a:lstStyle/>
          <a:p>
            <a:pPr indent="0" marL="0">
              <a:buNone/>
            </a:pPr>
            <a:r>
              <a:rPr lang="en-US" sz="710" dirty="0">
                <a:solidFill>
                  <a:srgbClr val="5F6368"/>
                </a:solidFill>
                <a:latin typeface="Roboto" pitchFamily="34" charset="0"/>
                <a:ea typeface="Roboto" pitchFamily="34" charset="-122"/>
                <a:cs typeface="Roboto" pitchFamily="34" charset="-120"/>
              </a:rPr>
              <a:t>Pattern A (Pooled RLS), Pattern B (Sovereign Silos), and Pattern C (Hybrid PSC) share 80% identical Python ADK code.</a:t>
            </a:r>
            <a:endParaRPr lang="en-US" sz="710" dirty="0"/>
          </a:p>
        </p:txBody>
      </p:sp>
      <p:sp>
        <p:nvSpPr>
          <p:cNvPr id="32" name="Shape 30"/>
          <p:cNvSpPr/>
          <p:nvPr/>
        </p:nvSpPr>
        <p:spPr>
          <a:xfrm>
            <a:off x="5458968" y="4059936"/>
            <a:ext cx="1453896" cy="1572768"/>
          </a:xfrm>
          <a:prstGeom prst="roundRect">
            <a:avLst>
              <a:gd name="adj" fmla="val 5031"/>
            </a:avLst>
          </a:prstGeom>
          <a:solidFill>
            <a:srgbClr val="FFFFFF"/>
          </a:solidFill>
          <a:ln w="12700">
            <a:solidFill>
              <a:srgbClr val="DADCE0"/>
            </a:solidFill>
            <a:prstDash val="solid"/>
          </a:ln>
        </p:spPr>
      </p:sp>
      <p:sp>
        <p:nvSpPr>
          <p:cNvPr id="33" name="Shape 31"/>
          <p:cNvSpPr/>
          <p:nvPr/>
        </p:nvSpPr>
        <p:spPr>
          <a:xfrm>
            <a:off x="5458968" y="4059936"/>
            <a:ext cx="1453896" cy="54864"/>
          </a:xfrm>
          <a:prstGeom prst="rect">
            <a:avLst/>
          </a:prstGeom>
          <a:solidFill>
            <a:srgbClr val="34A853"/>
          </a:solidFill>
          <a:ln/>
        </p:spPr>
      </p:sp>
      <p:sp>
        <p:nvSpPr>
          <p:cNvPr id="34" name="Text 32"/>
          <p:cNvSpPr/>
          <p:nvPr/>
        </p:nvSpPr>
        <p:spPr>
          <a:xfrm>
            <a:off x="5532120" y="4142232"/>
            <a:ext cx="1307592" cy="384048"/>
          </a:xfrm>
          <a:prstGeom prst="rect">
            <a:avLst/>
          </a:prstGeom>
          <a:noFill/>
          <a:ln/>
        </p:spPr>
        <p:txBody>
          <a:bodyPr wrap="square" rtlCol="0" anchor="ctr"/>
          <a:lstStyle/>
          <a:p>
            <a:pPr indent="0" marL="0">
              <a:buNone/>
            </a:pPr>
            <a:r>
              <a:rPr lang="en-US" sz="760" b="1" dirty="0">
                <a:solidFill>
                  <a:srgbClr val="3C4043"/>
                </a:solidFill>
                <a:latin typeface="Google Sans" pitchFamily="34" charset="0"/>
                <a:ea typeface="Google Sans" pitchFamily="34" charset="-122"/>
                <a:cs typeface="Google Sans" pitchFamily="34" charset="-120"/>
              </a:rPr>
              <a:t>5-Hop Pipeline (~42ms p95 Gate)</a:t>
            </a:r>
            <a:endParaRPr lang="en-US" sz="760" dirty="0"/>
          </a:p>
        </p:txBody>
      </p:sp>
      <p:sp>
        <p:nvSpPr>
          <p:cNvPr id="35" name="Text 33"/>
          <p:cNvSpPr/>
          <p:nvPr/>
        </p:nvSpPr>
        <p:spPr>
          <a:xfrm>
            <a:off x="5532120" y="4544568"/>
            <a:ext cx="1307592" cy="1024128"/>
          </a:xfrm>
          <a:prstGeom prst="rect">
            <a:avLst/>
          </a:prstGeom>
          <a:noFill/>
          <a:ln/>
        </p:spPr>
        <p:txBody>
          <a:bodyPr wrap="square" rtlCol="0" anchor="t">
            <a:normAutofit/>
          </a:bodyPr>
          <a:lstStyle/>
          <a:p>
            <a:pPr indent="0" marL="0">
              <a:buNone/>
            </a:pPr>
            <a:r>
              <a:rPr lang="en-US" sz="710" dirty="0">
                <a:solidFill>
                  <a:srgbClr val="5F6368"/>
                </a:solidFill>
                <a:latin typeface="Roboto" pitchFamily="34" charset="0"/>
                <a:ea typeface="Roboto" pitchFamily="34" charset="-122"/>
                <a:cs typeface="Roboto" pitchFamily="34" charset="-120"/>
              </a:rPr>
              <a:t>Enforces KMS-signed OBO/DPoP tokens, ARD pruning, Valkey bulkheads, Model Armor DLP, and AlloyDB FORCE RLS.</a:t>
            </a:r>
            <a:endParaRPr lang="en-US" sz="710" dirty="0"/>
          </a:p>
        </p:txBody>
      </p:sp>
      <p:sp>
        <p:nvSpPr>
          <p:cNvPr id="36" name="Shape 34"/>
          <p:cNvSpPr/>
          <p:nvPr/>
        </p:nvSpPr>
        <p:spPr>
          <a:xfrm>
            <a:off x="768096" y="5779008"/>
            <a:ext cx="6144768" cy="384048"/>
          </a:xfrm>
          <a:prstGeom prst="roundRect">
            <a:avLst>
              <a:gd name="adj" fmla="val 19048"/>
            </a:avLst>
          </a:prstGeom>
          <a:solidFill>
            <a:srgbClr val="FFFFFF"/>
          </a:solidFill>
          <a:ln w="9525">
            <a:solidFill>
              <a:srgbClr val="DADCE0"/>
            </a:solidFill>
            <a:prstDash val="solid"/>
          </a:ln>
        </p:spPr>
      </p:sp>
      <p:sp>
        <p:nvSpPr>
          <p:cNvPr id="37" name="Text 35"/>
          <p:cNvSpPr/>
          <p:nvPr/>
        </p:nvSpPr>
        <p:spPr>
          <a:xfrm>
            <a:off x="896112" y="5779008"/>
            <a:ext cx="5888736" cy="384048"/>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Authors: Principal AI Architect • Cloud Solutions Architecture • Google Cloud  •  Date: October 2026  •  </a:t>
            </a:r>
            <a:pPr indent="0" marL="0">
              <a:buNone/>
            </a:pPr>
            <a:r>
              <a:rPr lang="en-US" sz="800" b="1" dirty="0">
                <a:solidFill>
                  <a:srgbClr val="3C4043"/>
                </a:solidFill>
                <a:latin typeface="Google Sans" pitchFamily="34" charset="0"/>
                <a:ea typeface="Google Sans" pitchFamily="34" charset="-122"/>
                <a:cs typeface="Google Sans" pitchFamily="34" charset="-120"/>
              </a:rPr>
              <a:t>Proprietary + Confidential</a:t>
            </a:r>
            <a:endParaRPr lang="en-US" sz="800" dirty="0"/>
          </a:p>
        </p:txBody>
      </p:sp>
      <p:sp>
        <p:nvSpPr>
          <p:cNvPr id="38" name="Shape 36"/>
          <p:cNvSpPr/>
          <p:nvPr/>
        </p:nvSpPr>
        <p:spPr>
          <a:xfrm>
            <a:off x="7406640" y="347472"/>
            <a:ext cx="4370832" cy="5998464"/>
          </a:xfrm>
          <a:prstGeom prst="roundRect">
            <a:avLst>
              <a:gd name="adj" fmla="val 1674"/>
            </a:avLst>
          </a:prstGeom>
          <a:solidFill>
            <a:srgbClr val="F8F9FA"/>
          </a:solidFill>
          <a:ln w="12700">
            <a:solidFill>
              <a:srgbClr val="DADCE0"/>
            </a:solidFill>
            <a:prstDash val="solid"/>
          </a:ln>
        </p:spPr>
      </p:sp>
      <p:sp>
        <p:nvSpPr>
          <p:cNvPr id="39" name="Text 37"/>
          <p:cNvSpPr/>
          <p:nvPr/>
        </p:nvSpPr>
        <p:spPr>
          <a:xfrm>
            <a:off x="7589520" y="493776"/>
            <a:ext cx="4005072" cy="310896"/>
          </a:xfrm>
          <a:prstGeom prst="rect">
            <a:avLst/>
          </a:prstGeom>
          <a:noFill/>
          <a:ln/>
        </p:spPr>
        <p:txBody>
          <a:bodyPr wrap="square" rtlCol="0" anchor="ctr"/>
          <a:lstStyle/>
          <a:p>
            <a:pPr algn="l" indent="0" marL="0">
              <a:buNone/>
            </a:pPr>
            <a:r>
              <a:rPr lang="en-US" sz="920" b="1" dirty="0">
                <a:solidFill>
                  <a:srgbClr val="3C4043"/>
                </a:solidFill>
                <a:latin typeface="Google Sans" pitchFamily="34" charset="0"/>
                <a:ea typeface="Google Sans" pitchFamily="34" charset="-122"/>
                <a:cs typeface="Google Sans" pitchFamily="34" charset="-120"/>
              </a:rPr>
              <a:t>3-ACT EXECUTIVE BRIEFING &amp; DELIVERABLE MAP</a:t>
            </a:r>
            <a:endParaRPr lang="en-US" sz="920" dirty="0"/>
          </a:p>
        </p:txBody>
      </p:sp>
      <p:sp>
        <p:nvSpPr>
          <p:cNvPr id="40" name="Shape 38"/>
          <p:cNvSpPr/>
          <p:nvPr/>
        </p:nvSpPr>
        <p:spPr>
          <a:xfrm>
            <a:off x="7571232" y="896112"/>
            <a:ext cx="4041648" cy="1060704"/>
          </a:xfrm>
          <a:prstGeom prst="roundRect">
            <a:avLst>
              <a:gd name="adj" fmla="val 6897"/>
            </a:avLst>
          </a:prstGeom>
          <a:solidFill>
            <a:srgbClr val="FFFFFF"/>
          </a:solidFill>
          <a:ln w="12700">
            <a:solidFill>
              <a:srgbClr val="DADCE0"/>
            </a:solidFill>
            <a:prstDash val="solid"/>
          </a:ln>
        </p:spPr>
      </p:sp>
      <p:sp>
        <p:nvSpPr>
          <p:cNvPr id="41" name="Shape 39"/>
          <p:cNvSpPr/>
          <p:nvPr/>
        </p:nvSpPr>
        <p:spPr>
          <a:xfrm>
            <a:off x="7571232" y="896112"/>
            <a:ext cx="82296" cy="1060704"/>
          </a:xfrm>
          <a:prstGeom prst="rect">
            <a:avLst/>
          </a:prstGeom>
          <a:solidFill>
            <a:srgbClr val="4285F4"/>
          </a:solidFill>
          <a:ln/>
        </p:spPr>
      </p:sp>
      <p:sp>
        <p:nvSpPr>
          <p:cNvPr id="42" name="Shape 40"/>
          <p:cNvSpPr/>
          <p:nvPr/>
        </p:nvSpPr>
        <p:spPr>
          <a:xfrm>
            <a:off x="7735824" y="1005840"/>
            <a:ext cx="1481328" cy="219456"/>
          </a:xfrm>
          <a:prstGeom prst="roundRect">
            <a:avLst>
              <a:gd name="adj" fmla="val 25000"/>
            </a:avLst>
          </a:prstGeom>
          <a:solidFill>
            <a:srgbClr val="E8F0FE"/>
          </a:solidFill>
          <a:ln/>
        </p:spPr>
      </p:sp>
      <p:sp>
        <p:nvSpPr>
          <p:cNvPr id="43" name="Text 41"/>
          <p:cNvSpPr/>
          <p:nvPr/>
        </p:nvSpPr>
        <p:spPr>
          <a:xfrm>
            <a:off x="7735824" y="1005840"/>
            <a:ext cx="1481328" cy="219456"/>
          </a:xfrm>
          <a:prstGeom prst="rect">
            <a:avLst/>
          </a:prstGeom>
          <a:noFill/>
          <a:ln/>
        </p:spPr>
        <p:txBody>
          <a:bodyPr wrap="square" rtlCol="0" anchor="ctr"/>
          <a:lstStyle/>
          <a:p>
            <a:pPr algn="ctr" indent="0" marL="0">
              <a:buNone/>
            </a:pPr>
            <a:r>
              <a:rPr lang="en-US" sz="660" b="1" dirty="0">
                <a:solidFill>
                  <a:srgbClr val="174EA6"/>
                </a:solidFill>
                <a:latin typeface="Google Sans" pitchFamily="34" charset="0"/>
                <a:ea typeface="Google Sans" pitchFamily="34" charset="-122"/>
                <a:cs typeface="Google Sans" pitchFamily="34" charset="-120"/>
              </a:rPr>
              <a:t>PART 1 • SLIDES 1–4</a:t>
            </a:r>
            <a:endParaRPr lang="en-US" sz="660" dirty="0"/>
          </a:p>
        </p:txBody>
      </p:sp>
      <p:sp>
        <p:nvSpPr>
          <p:cNvPr id="44" name="Text 42"/>
          <p:cNvSpPr/>
          <p:nvPr/>
        </p:nvSpPr>
        <p:spPr>
          <a:xfrm>
            <a:off x="9272016" y="98755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Problem, Personas &amp; Conceptual Model</a:t>
            </a:r>
            <a:endParaRPr lang="en-US" sz="850" dirty="0"/>
          </a:p>
        </p:txBody>
      </p:sp>
      <p:sp>
        <p:nvSpPr>
          <p:cNvPr id="45" name="Text 43"/>
          <p:cNvSpPr/>
          <p:nvPr/>
        </p:nvSpPr>
        <p:spPr>
          <a:xfrm>
            <a:off x="7735824" y="129844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Maps ADK/MCP/ARD to CS101 OS primitives; sets the 5-Part agenda (Slide 2), contrasts FinVault &amp; RetailStream (Slide 3), and decouples the 80% 5-Hop Core from 20% Perimeter Delta (Slide 4).</a:t>
            </a:r>
            <a:endParaRPr lang="en-US" sz="780" dirty="0"/>
          </a:p>
        </p:txBody>
      </p:sp>
      <p:sp>
        <p:nvSpPr>
          <p:cNvPr id="46" name="Shape 44"/>
          <p:cNvSpPr/>
          <p:nvPr/>
        </p:nvSpPr>
        <p:spPr>
          <a:xfrm>
            <a:off x="7571232" y="2084832"/>
            <a:ext cx="4041648" cy="1060704"/>
          </a:xfrm>
          <a:prstGeom prst="roundRect">
            <a:avLst>
              <a:gd name="adj" fmla="val 6897"/>
            </a:avLst>
          </a:prstGeom>
          <a:solidFill>
            <a:srgbClr val="FFFFFF"/>
          </a:solidFill>
          <a:ln w="12700">
            <a:solidFill>
              <a:srgbClr val="DADCE0"/>
            </a:solidFill>
            <a:prstDash val="solid"/>
          </a:ln>
        </p:spPr>
      </p:sp>
      <p:sp>
        <p:nvSpPr>
          <p:cNvPr id="47" name="Shape 45"/>
          <p:cNvSpPr/>
          <p:nvPr/>
        </p:nvSpPr>
        <p:spPr>
          <a:xfrm>
            <a:off x="7571232" y="2084832"/>
            <a:ext cx="82296" cy="1060704"/>
          </a:xfrm>
          <a:prstGeom prst="rect">
            <a:avLst/>
          </a:prstGeom>
          <a:solidFill>
            <a:srgbClr val="EA4335"/>
          </a:solidFill>
          <a:ln/>
        </p:spPr>
      </p:sp>
      <p:sp>
        <p:nvSpPr>
          <p:cNvPr id="48" name="Shape 46"/>
          <p:cNvSpPr/>
          <p:nvPr/>
        </p:nvSpPr>
        <p:spPr>
          <a:xfrm>
            <a:off x="7735824" y="2194560"/>
            <a:ext cx="1481328" cy="219456"/>
          </a:xfrm>
          <a:prstGeom prst="roundRect">
            <a:avLst>
              <a:gd name="adj" fmla="val 25000"/>
            </a:avLst>
          </a:prstGeom>
          <a:solidFill>
            <a:srgbClr val="FCE8E6"/>
          </a:solidFill>
          <a:ln/>
        </p:spPr>
      </p:sp>
      <p:sp>
        <p:nvSpPr>
          <p:cNvPr id="49" name="Text 47"/>
          <p:cNvSpPr/>
          <p:nvPr/>
        </p:nvSpPr>
        <p:spPr>
          <a:xfrm>
            <a:off x="7735824" y="2194560"/>
            <a:ext cx="1481328" cy="219456"/>
          </a:xfrm>
          <a:prstGeom prst="rect">
            <a:avLst/>
          </a:prstGeom>
          <a:noFill/>
          <a:ln/>
        </p:spPr>
        <p:txBody>
          <a:bodyPr wrap="square" rtlCol="0" anchor="ctr"/>
          <a:lstStyle/>
          <a:p>
            <a:pPr algn="ctr" indent="0" marL="0">
              <a:buNone/>
            </a:pPr>
            <a:r>
              <a:rPr lang="en-US" sz="660" b="1" dirty="0">
                <a:solidFill>
                  <a:srgbClr val="A50E0E"/>
                </a:solidFill>
                <a:latin typeface="Google Sans" pitchFamily="34" charset="0"/>
                <a:ea typeface="Google Sans" pitchFamily="34" charset="-122"/>
                <a:cs typeface="Google Sans" pitchFamily="34" charset="-120"/>
              </a:rPr>
              <a:t>PART 2 • SLIDES 5–9</a:t>
            </a:r>
            <a:endParaRPr lang="en-US" sz="660" dirty="0"/>
          </a:p>
        </p:txBody>
      </p:sp>
      <p:sp>
        <p:nvSpPr>
          <p:cNvPr id="50" name="Text 48"/>
          <p:cNvSpPr/>
          <p:nvPr/>
        </p:nvSpPr>
        <p:spPr>
          <a:xfrm>
            <a:off x="9272016" y="217627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Process Flow, L1 Layers, Matrix &amp; L2 Figures</a:t>
            </a:r>
            <a:endParaRPr lang="en-US" sz="850" dirty="0"/>
          </a:p>
        </p:txBody>
      </p:sp>
      <p:sp>
        <p:nvSpPr>
          <p:cNvPr id="51" name="Text 49"/>
          <p:cNvSpPr/>
          <p:nvPr/>
        </p:nvSpPr>
        <p:spPr>
          <a:xfrm>
            <a:off x="7735824" y="248716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Traces the ~42ms p95 6-stage lifecycle (Slide 5), L1 3 Security Layers (Slide 6), 12-Dim Pattern A/B/C Matrix (Slide 7), and L2 Physical Figures 1 &amp; 2 (Slides 8–9).</a:t>
            </a:r>
            <a:endParaRPr lang="en-US" sz="780" dirty="0"/>
          </a:p>
        </p:txBody>
      </p:sp>
      <p:sp>
        <p:nvSpPr>
          <p:cNvPr id="52" name="Shape 50"/>
          <p:cNvSpPr/>
          <p:nvPr/>
        </p:nvSpPr>
        <p:spPr>
          <a:xfrm>
            <a:off x="7571232" y="3273552"/>
            <a:ext cx="4041648" cy="1060704"/>
          </a:xfrm>
          <a:prstGeom prst="roundRect">
            <a:avLst>
              <a:gd name="adj" fmla="val 6897"/>
            </a:avLst>
          </a:prstGeom>
          <a:solidFill>
            <a:srgbClr val="FFFFFF"/>
          </a:solidFill>
          <a:ln w="12700">
            <a:solidFill>
              <a:srgbClr val="DADCE0"/>
            </a:solidFill>
            <a:prstDash val="solid"/>
          </a:ln>
        </p:spPr>
      </p:sp>
      <p:sp>
        <p:nvSpPr>
          <p:cNvPr id="53" name="Shape 51"/>
          <p:cNvSpPr/>
          <p:nvPr/>
        </p:nvSpPr>
        <p:spPr>
          <a:xfrm>
            <a:off x="7571232" y="3273552"/>
            <a:ext cx="82296" cy="1060704"/>
          </a:xfrm>
          <a:prstGeom prst="rect">
            <a:avLst/>
          </a:prstGeom>
          <a:solidFill>
            <a:srgbClr val="FBBC04"/>
          </a:solidFill>
          <a:ln/>
        </p:spPr>
      </p:sp>
      <p:sp>
        <p:nvSpPr>
          <p:cNvPr id="54" name="Shape 52"/>
          <p:cNvSpPr/>
          <p:nvPr/>
        </p:nvSpPr>
        <p:spPr>
          <a:xfrm>
            <a:off x="7735824" y="3383280"/>
            <a:ext cx="1481328" cy="219456"/>
          </a:xfrm>
          <a:prstGeom prst="roundRect">
            <a:avLst>
              <a:gd name="adj" fmla="val 25000"/>
            </a:avLst>
          </a:prstGeom>
          <a:solidFill>
            <a:srgbClr val="FEF7E0"/>
          </a:solidFill>
          <a:ln/>
        </p:spPr>
      </p:sp>
      <p:sp>
        <p:nvSpPr>
          <p:cNvPr id="55" name="Text 53"/>
          <p:cNvSpPr/>
          <p:nvPr/>
        </p:nvSpPr>
        <p:spPr>
          <a:xfrm>
            <a:off x="7735824" y="3383280"/>
            <a:ext cx="1481328" cy="219456"/>
          </a:xfrm>
          <a:prstGeom prst="rect">
            <a:avLst/>
          </a:prstGeom>
          <a:noFill/>
          <a:ln/>
        </p:spPr>
        <p:txBody>
          <a:bodyPr wrap="square" rtlCol="0" anchor="ctr"/>
          <a:lstStyle/>
          <a:p>
            <a:pPr algn="ctr" indent="0" marL="0">
              <a:buNone/>
            </a:pPr>
            <a:r>
              <a:rPr lang="en-US" sz="660" b="1" dirty="0">
                <a:solidFill>
                  <a:srgbClr val="B06000"/>
                </a:solidFill>
                <a:latin typeface="Google Sans" pitchFamily="34" charset="0"/>
                <a:ea typeface="Google Sans" pitchFamily="34" charset="-122"/>
                <a:cs typeface="Google Sans" pitchFamily="34" charset="-120"/>
              </a:rPr>
              <a:t>PART 3 • SLIDES 10–12</a:t>
            </a:r>
            <a:endParaRPr lang="en-US" sz="660" dirty="0"/>
          </a:p>
        </p:txBody>
      </p:sp>
      <p:sp>
        <p:nvSpPr>
          <p:cNvPr id="56" name="Text 54"/>
          <p:cNvSpPr/>
          <p:nvPr/>
        </p:nvSpPr>
        <p:spPr>
          <a:xfrm>
            <a:off x="9272016" y="336499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L3 UML, L4 Wire JWT &amp; GAP-01..05 Controls</a:t>
            </a:r>
            <a:endParaRPr lang="en-US" sz="850" dirty="0"/>
          </a:p>
        </p:txBody>
      </p:sp>
      <p:sp>
        <p:nvSpPr>
          <p:cNvPr id="57" name="Text 55"/>
          <p:cNvSpPr/>
          <p:nvPr/>
        </p:nvSpPr>
        <p:spPr>
          <a:xfrm>
            <a:off x="7735824" y="367588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Unifies the 5-Actor UML sequence &amp; &lt;5s Valkey eviction (Slide 10), &lt;0.15ms cached-JWKS STS JWT wire packet (Slide 11), and feature-flagged GAP-01..05 sunset hooks (Slide 12).</a:t>
            </a:r>
            <a:endParaRPr lang="en-US" sz="780" dirty="0"/>
          </a:p>
        </p:txBody>
      </p:sp>
      <p:sp>
        <p:nvSpPr>
          <p:cNvPr id="58" name="Shape 56"/>
          <p:cNvSpPr/>
          <p:nvPr/>
        </p:nvSpPr>
        <p:spPr>
          <a:xfrm>
            <a:off x="7571232" y="4462272"/>
            <a:ext cx="4041648" cy="1060704"/>
          </a:xfrm>
          <a:prstGeom prst="roundRect">
            <a:avLst>
              <a:gd name="adj" fmla="val 6897"/>
            </a:avLst>
          </a:prstGeom>
          <a:solidFill>
            <a:srgbClr val="FFFFFF"/>
          </a:solidFill>
          <a:ln w="12700">
            <a:solidFill>
              <a:srgbClr val="DADCE0"/>
            </a:solidFill>
            <a:prstDash val="solid"/>
          </a:ln>
        </p:spPr>
      </p:sp>
      <p:sp>
        <p:nvSpPr>
          <p:cNvPr id="59" name="Shape 57"/>
          <p:cNvSpPr/>
          <p:nvPr/>
        </p:nvSpPr>
        <p:spPr>
          <a:xfrm>
            <a:off x="7571232" y="4462272"/>
            <a:ext cx="82296" cy="1060704"/>
          </a:xfrm>
          <a:prstGeom prst="rect">
            <a:avLst/>
          </a:prstGeom>
          <a:solidFill>
            <a:srgbClr val="34A853"/>
          </a:solidFill>
          <a:ln/>
        </p:spPr>
      </p:sp>
      <p:sp>
        <p:nvSpPr>
          <p:cNvPr id="60" name="Shape 58"/>
          <p:cNvSpPr/>
          <p:nvPr/>
        </p:nvSpPr>
        <p:spPr>
          <a:xfrm>
            <a:off x="7735824" y="4572000"/>
            <a:ext cx="1481328" cy="219456"/>
          </a:xfrm>
          <a:prstGeom prst="roundRect">
            <a:avLst>
              <a:gd name="adj" fmla="val 25000"/>
            </a:avLst>
          </a:prstGeom>
          <a:solidFill>
            <a:srgbClr val="E6F4EA"/>
          </a:solidFill>
          <a:ln/>
        </p:spPr>
      </p:sp>
      <p:sp>
        <p:nvSpPr>
          <p:cNvPr id="61" name="Text 59"/>
          <p:cNvSpPr/>
          <p:nvPr/>
        </p:nvSpPr>
        <p:spPr>
          <a:xfrm>
            <a:off x="7735824" y="4572000"/>
            <a:ext cx="1481328" cy="219456"/>
          </a:xfrm>
          <a:prstGeom prst="rect">
            <a:avLst/>
          </a:prstGeom>
          <a:noFill/>
          <a:ln/>
        </p:spPr>
        <p:txBody>
          <a:bodyPr wrap="square" rtlCol="0" anchor="ctr"/>
          <a:lstStyle/>
          <a:p>
            <a:pPr algn="ctr" indent="0" marL="0">
              <a:buNone/>
            </a:pPr>
            <a:r>
              <a:rPr lang="en-US" sz="660" b="1" dirty="0">
                <a:solidFill>
                  <a:srgbClr val="0D652D"/>
                </a:solidFill>
                <a:latin typeface="Google Sans" pitchFamily="34" charset="0"/>
                <a:ea typeface="Google Sans" pitchFamily="34" charset="-122"/>
                <a:cs typeface="Google Sans" pitchFamily="34" charset="-120"/>
              </a:rPr>
              <a:t>PARTS 4–5 • SLIDES 13–15</a:t>
            </a:r>
            <a:endParaRPr lang="en-US" sz="660" dirty="0"/>
          </a:p>
        </p:txBody>
      </p:sp>
      <p:sp>
        <p:nvSpPr>
          <p:cNvPr id="62" name="Text 60"/>
          <p:cNvSpPr/>
          <p:nvPr/>
        </p:nvSpPr>
        <p:spPr>
          <a:xfrm>
            <a:off x="9272016" y="455371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Dual-Plane Proofs, Retina UIs &amp; SLAs</a:t>
            </a:r>
            <a:endParaRPr lang="en-US" sz="850" dirty="0"/>
          </a:p>
        </p:txBody>
      </p:sp>
      <p:sp>
        <p:nvSpPr>
          <p:cNvPr id="63" name="Text 61"/>
          <p:cNvSpPr/>
          <p:nvPr/>
        </p:nvSpPr>
        <p:spPr>
          <a:xfrm>
            <a:off x="7735824" y="486460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Presents grounded GCP/AWS CLI telemetry (Slide 13), live 2880x1800 Retina Before/After 3P SaaS UIs (Slide 14), and Well-Architected SLAs + 5 GitHub milestones (Slide 15).</a:t>
            </a:r>
            <a:endParaRPr lang="en-US" sz="780" dirty="0"/>
          </a:p>
        </p:txBody>
      </p:sp>
      <p:sp>
        <p:nvSpPr>
          <p:cNvPr id="64" name="Shape 62"/>
          <p:cNvSpPr/>
          <p:nvPr/>
        </p:nvSpPr>
        <p:spPr>
          <a:xfrm>
            <a:off x="7571232" y="5779008"/>
            <a:ext cx="4041648" cy="384048"/>
          </a:xfrm>
          <a:prstGeom prst="roundRect">
            <a:avLst>
              <a:gd name="adj" fmla="val 19048"/>
            </a:avLst>
          </a:prstGeom>
          <a:solidFill>
            <a:srgbClr val="FFFFFF"/>
          </a:solidFill>
          <a:ln w="10795">
            <a:solidFill>
              <a:srgbClr val="DADCE0"/>
            </a:solidFill>
            <a:prstDash val="solid"/>
          </a:ln>
        </p:spPr>
      </p:sp>
      <p:sp>
        <p:nvSpPr>
          <p:cNvPr id="65" name="Text 63"/>
          <p:cNvSpPr/>
          <p:nvPr/>
        </p:nvSpPr>
        <p:spPr>
          <a:xfrm>
            <a:off x="7626096" y="5779008"/>
            <a:ext cx="3931920" cy="384048"/>
          </a:xfrm>
          <a:prstGeom prst="rect">
            <a:avLst/>
          </a:prstGeom>
          <a:noFill/>
          <a:ln/>
        </p:spPr>
        <p:txBody>
          <a:bodyPr wrap="square" rtlCol="0" anchor="ctr"/>
          <a:lstStyle/>
          <a:p>
            <a:pPr algn="ctr" indent="0" marL="0">
              <a:buNone/>
            </a:pPr>
            <a:r>
              <a:rPr lang="en-US" sz="720" b="1" dirty="0">
                <a:solidFill>
                  <a:srgbClr val="3C4043"/>
                </a:solidFill>
                <a:latin typeface="Google Sans" pitchFamily="34" charset="0"/>
                <a:ea typeface="Google Sans" pitchFamily="34" charset="-122"/>
                <a:cs typeface="Google Sans" pitchFamily="34" charset="-120"/>
              </a:rPr>
              <a:t>Verified on Live GCP (#248990048888 • #48439189383) &amp; AWS (#393036065405) • 13/13 Forensic PASS</a:t>
            </a:r>
            <a:endParaRPr lang="en-US" sz="720" dirty="0"/>
          </a:p>
        </p:txBody>
      </p:sp>
      <p:sp>
        <p:nvSpPr>
          <p:cNvPr id="66" name="Text 64"/>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EXECUTIVE AGENDA &amp; 5-PART ARCHITECTURAL SERIES NAVIGATION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Agenda &amp; 5-Part Series Navigation — 15-Slide Architecture Roadmap</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Streamlined 11-slide executive deck &amp; 5-part blog series roadmap: macro-to-micro L1→L2→L3→L4 hierarchy with zero redundant slides.</a:t>
            </a:r>
            <a:endParaRPr lang="en-US" sz="98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1965960"/>
                <a:gridCol w="2926080"/>
                <a:gridCol w="3200400"/>
                <a:gridCol w="327629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Series Part &amp; Slides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Editorial Blog &amp; Briefing Focus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Core Engineering Question Answered</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Key Architectural Deliverable &amp; SLA</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1 • Slides 1–4</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Isolation Topologies &amp; Concepts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The SaaS AI Architect's Dilemma: High-Density Pooled (A) vs. Sovereign Silos (B) vs. Dynamic Hybrid (C)</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serve 950 commercial tenants and 50 regulated banks without margin erosion or 500-silo IaC sprawl?</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12-Dimension Decision Matrix • 80/20 ADK Code Reuse • {tenant}:{user} DPoP 3LO Vault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2 • Slides 5–9</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5-Hop Lifecycle &amp; L1/L2 Blueprints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Securing the Agent Loop: L1 3 Logical Security Layers → L2 4 Physical VPC-SC Perimeters → L4 Wire STS JWT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enforce cryptographic tenant identity from edge ingress down to wire packets without per-hop KMS latency?</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&lt;0.15ms Cached-JWKS STS JWT • ~3ms Valkey JTI Deny-List • ~42ms p95 5-Hop Control Plane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3 • Slide 10</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L3 Sequence &amp; Breakers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Operational Resilience: Merged L3 5-Actor UML Sequence, Fail-Closed Circuit Breakers &amp; Valkey L1 Flushes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What happens chronologically during a live turn—and how do we fail closed on RPM floods or CMEK key revocation?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HTTP 401/403/429/422/423 Breakers • &lt;5s Valkey SCAN+UNLINK (cache:{tenant}:*) • SET NX PX 5000 Recovery</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4 • Slides 11–12</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L4 Wire Protocol &amp; EAP Gap Controls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Compensating Controls for Vertex AI EAP: Custom Token Buckets, Envelope CMEK &amp; Zero-PII BigQuery OTel FinOps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close current preview platform gaps today while guaranteeing clean retirement at native GCP GA?</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Feature-Flagged GAP-01..05 Sunset Hooks (feature-flagged native adapter) • BigQuery OTel Chargeback SQL</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5 • Slides 13–15</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Retina UI Proofs &amp; Well-Architected SLAs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Automating Compliance &amp; Well-Architected SLAs: Live GCP Console Receipts, 5 Milestones &amp; Forensic CI/CD Gate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prove zero cross-tenant data bleed continuously in CI/CD and map every Well-Architected SLA to code?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13/13 Forensic + 107/107 Runtime Assertions PASS • 84.7% Token &amp; 74% TCO Savings • &lt;30s HA RTO</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Macro-to-Micro L1 → L2 → L3 → L4 Flow</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Restores strict top-down abstraction: L1 Logical (Slide 5) → L2 Physical Blueprint (Slide 6) → L3 Process &amp; Breakers (Slide 7) → L4 Wire JWT (Slide 8).</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Unified Layer vs. Perimeter Taxonomy</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Separates Slide 5’s 3 Logical Security Layers (Ingress, 5-Hop Control Plane, Data Planes) from Slide 6’s 4 Physical VPC-SC Network Perimeters.</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Merged L3 UML &amp; Circuit Breakers (Slide 7)</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Unifies the 5-Hop happy path (~42ms p95) with fail-closed HTTP 401/403/429/422/423 breakers, &lt;5s Valkey SCAN+UNLINK, and SET NX PX 5000 recovery.</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Merged SLAs &amp; 5-Part Roadmap (Slide 11)</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Consolidates all Well-Architected SLAs (~42ms 5-Hop, 84.7% token savings, 74% TCO reduction, &lt;30s RTO) directly into the 5 runnable milestones.</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SERIES ROADMAP</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15-Slide Executive Architecture Deck &amp; 5-Part Editorial Blog Series Roadmap</a:t>
            </a:r>
            <a:endParaRPr lang="en-US" sz="880" dirty="0"/>
          </a:p>
        </p:txBody>
      </p:sp>
      <p:sp>
        <p:nvSpPr>
          <p:cNvPr id="40" name="Text 37"/>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CUSTOMER USE CASES, TENANT PROFILES &amp; GOOGLE CLOUD STACK</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THREE-PILLAR • USE CASES</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Competing Enterprise Tenants (FinVault vs. RetailStream) &amp; Google Cloud Stack</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Concrete multi-tenant SaaS workload profiles, regulatory vs. commercial isolation requirements, and Google Cloud stack mapping.</a:t>
            </a:r>
            <a:endParaRPr lang="en-US" sz="1000" dirty="0"/>
          </a:p>
        </p:txBody>
      </p:sp>
      <p:sp>
        <p:nvSpPr>
          <p:cNvPr id="19" name="Shape 17"/>
          <p:cNvSpPr/>
          <p:nvPr/>
        </p:nvSpPr>
        <p:spPr>
          <a:xfrm>
            <a:off x="411480" y="1353312"/>
            <a:ext cx="5583326" cy="2258568"/>
          </a:xfrm>
          <a:prstGeom prst="roundRect">
            <a:avLst>
              <a:gd name="adj" fmla="val 3239"/>
            </a:avLst>
          </a:prstGeom>
          <a:solidFill>
            <a:srgbClr val="F8F9FA"/>
          </a:solidFill>
          <a:ln w="12700">
            <a:solidFill>
              <a:srgbClr val="DADCE0"/>
            </a:solidFill>
            <a:prstDash val="solid"/>
          </a:ln>
        </p:spPr>
      </p:sp>
      <p:sp>
        <p:nvSpPr>
          <p:cNvPr id="20" name="Shape 18"/>
          <p:cNvSpPr/>
          <p:nvPr/>
        </p:nvSpPr>
        <p:spPr>
          <a:xfrm>
            <a:off x="411480" y="1353312"/>
            <a:ext cx="5583326"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Cymbal SaaS Control Plane (Shared 32k Prefix Cache)</a:t>
            </a:r>
            <a:endParaRPr lang="en-US" sz="1140" dirty="0"/>
          </a:p>
        </p:txBody>
      </p:sp>
      <p:sp>
        <p:nvSpPr>
          <p:cNvPr id="24" name="Shape 22"/>
          <p:cNvSpPr/>
          <p:nvPr/>
        </p:nvSpPr>
        <p:spPr>
          <a:xfrm>
            <a:off x="557784" y="1847088"/>
            <a:ext cx="5290718" cy="9144"/>
          </a:xfrm>
          <a:prstGeom prst="rect">
            <a:avLst/>
          </a:prstGeom>
          <a:solidFill>
            <a:srgbClr val="DADCE0"/>
          </a:solidFill>
          <a:ln/>
        </p:spPr>
      </p:sp>
      <p:sp>
        <p:nvSpPr>
          <p:cNvPr id="25" name="Text 23"/>
          <p:cNvSpPr/>
          <p:nvPr/>
        </p:nvSpPr>
        <p:spPr>
          <a:xfrm>
            <a:off x="557784"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Operates a shared Incident Diagnostic Agent on Vertex AI Agent Engine (ADK, ARD Registry &amp; L1–L5 Memory Bank), caching a 32,000-token SRE runbook prefix once (90% discount -&gt; 84.7% net per-turn token cost reduction).</a:t>
            </a:r>
            <a:endParaRPr lang="en-US" sz="980" dirty="0"/>
          </a:p>
        </p:txBody>
      </p:sp>
      <p:sp>
        <p:nvSpPr>
          <p:cNvPr id="26" name="Shape 24"/>
          <p:cNvSpPr/>
          <p:nvPr/>
        </p:nvSpPr>
        <p:spPr>
          <a:xfrm>
            <a:off x="557784" y="2788920"/>
            <a:ext cx="5290718"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788920"/>
            <a:ext cx="54864" cy="493776"/>
          </a:xfrm>
          <a:prstGeom prst="rect">
            <a:avLst/>
          </a:prstGeom>
          <a:solidFill>
            <a:srgbClr val="4285F4"/>
          </a:solidFill>
          <a:ln/>
        </p:spPr>
      </p:sp>
      <p:sp>
        <p:nvSpPr>
          <p:cNvPr id="28" name="Text 26"/>
          <p:cNvSpPr/>
          <p:nvPr/>
        </p:nvSpPr>
        <p:spPr>
          <a:xfrm>
            <a:off x="649224"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Vertex AI Agent Engine (ADK, ARD, L1–L5 Memory) • Gemini 2.5 Pro (32k ContextCacheConfig)
</a:t>
            </a:r>
            <a:pPr indent="0" marL="0">
              <a:buNone/>
            </a:pPr>
            <a:r>
              <a:rPr lang="en-US" sz="730" dirty="0">
                <a:solidFill>
                  <a:srgbClr val="5F6368"/>
                </a:solidFill>
                <a:latin typeface="Roboto" pitchFamily="34" charset="0"/>
                <a:ea typeface="Roboto" pitchFamily="34" charset="-122"/>
                <a:cs typeface="Roboto" pitchFamily="34" charset="-120"/>
              </a:rPr>
              <a:t>Target &amp; SLA: Immutable 32k System Prefix Cache • 84.7% Net Per-Turn Token Cost Reduction • ~42ms 5-Hop Overhead</a:t>
            </a:r>
            <a:endParaRPr lang="en-US" sz="750" dirty="0"/>
          </a:p>
        </p:txBody>
      </p:sp>
      <p:sp>
        <p:nvSpPr>
          <p:cNvPr id="29" name="Shape 27"/>
          <p:cNvSpPr/>
          <p:nvPr/>
        </p:nvSpPr>
        <p:spPr>
          <a:xfrm>
            <a:off x="557784" y="3337560"/>
            <a:ext cx="5290718" cy="219456"/>
          </a:xfrm>
          <a:prstGeom prst="roundRect">
            <a:avLst>
              <a:gd name="adj" fmla="val 20833"/>
            </a:avLst>
          </a:prstGeom>
          <a:solidFill>
            <a:srgbClr val="E8F0FE"/>
          </a:solidFill>
          <a:ln/>
        </p:spPr>
      </p:sp>
      <p:sp>
        <p:nvSpPr>
          <p:cNvPr id="30" name="Text 28"/>
          <p:cNvSpPr/>
          <p:nvPr/>
        </p:nvSpPr>
        <p:spPr>
          <a:xfrm>
            <a:off x="612648" y="333756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1. Platform Control Plane: Cymbal SaaS</a:t>
            </a:r>
            <a:endParaRPr lang="en-US" sz="750" dirty="0"/>
          </a:p>
        </p:txBody>
      </p:sp>
      <p:sp>
        <p:nvSpPr>
          <p:cNvPr id="31" name="Shape 29"/>
          <p:cNvSpPr/>
          <p:nvPr/>
        </p:nvSpPr>
        <p:spPr>
          <a:xfrm>
            <a:off x="6195974" y="1353312"/>
            <a:ext cx="5583326" cy="2258568"/>
          </a:xfrm>
          <a:prstGeom prst="roundRect">
            <a:avLst>
              <a:gd name="adj" fmla="val 3239"/>
            </a:avLst>
          </a:prstGeom>
          <a:solidFill>
            <a:srgbClr val="F8F9FA"/>
          </a:solidFill>
          <a:ln w="12700">
            <a:solidFill>
              <a:srgbClr val="DADCE0"/>
            </a:solidFill>
            <a:prstDash val="solid"/>
          </a:ln>
        </p:spPr>
      </p:sp>
      <p:sp>
        <p:nvSpPr>
          <p:cNvPr id="32" name="Shape 30"/>
          <p:cNvSpPr/>
          <p:nvPr/>
        </p:nvSpPr>
        <p:spPr>
          <a:xfrm>
            <a:off x="6195974" y="1353312"/>
            <a:ext cx="5583326" cy="59436"/>
          </a:xfrm>
          <a:prstGeom prst="rect">
            <a:avLst/>
          </a:prstGeom>
          <a:solidFill>
            <a:srgbClr val="EA4335"/>
          </a:solidFill>
          <a:ln/>
        </p:spPr>
      </p:sp>
      <p:sp>
        <p:nvSpPr>
          <p:cNvPr id="33" name="Shape 31"/>
          <p:cNvSpPr/>
          <p:nvPr/>
        </p:nvSpPr>
        <p:spPr>
          <a:xfrm>
            <a:off x="6342278" y="1481328"/>
            <a:ext cx="365760" cy="256032"/>
          </a:xfrm>
          <a:prstGeom prst="roundRect">
            <a:avLst>
              <a:gd name="adj" fmla="val 21429"/>
            </a:avLst>
          </a:prstGeom>
          <a:solidFill>
            <a:srgbClr val="FCE8E6"/>
          </a:solidFill>
          <a:ln/>
        </p:spPr>
      </p:sp>
      <p:sp>
        <p:nvSpPr>
          <p:cNvPr id="34" name="Text 32"/>
          <p:cNvSpPr/>
          <p:nvPr/>
        </p:nvSpPr>
        <p:spPr>
          <a:xfrm>
            <a:off x="6342278"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6781190" y="146304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FinVault Bank (Dedicated PT vs. Private GKE Gemma 3)</a:t>
            </a:r>
            <a:endParaRPr lang="en-US" sz="1140" dirty="0"/>
          </a:p>
        </p:txBody>
      </p:sp>
      <p:sp>
        <p:nvSpPr>
          <p:cNvPr id="36" name="Shape 34"/>
          <p:cNvSpPr/>
          <p:nvPr/>
        </p:nvSpPr>
        <p:spPr>
          <a:xfrm>
            <a:off x="6342278" y="1847088"/>
            <a:ext cx="5290718" cy="9144"/>
          </a:xfrm>
          <a:prstGeom prst="rect">
            <a:avLst/>
          </a:prstGeom>
          <a:solidFill>
            <a:srgbClr val="DADCE0"/>
          </a:solidFill>
          <a:ln/>
        </p:spPr>
      </p:sp>
      <p:sp>
        <p:nvSpPr>
          <p:cNvPr id="37" name="Text 35"/>
          <p:cNvSpPr/>
          <p:nvPr/>
        </p:nvSpPr>
        <p:spPr>
          <a:xfrm>
            <a:off x="6342278" y="190195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Regulated bank (600 RPM / 8k thinking, VPC-SC, CMEK) choosing between Vertex AI Dedicated Provisioned Throughput (managed SaaS Gemini 2.5 Pro, 0 K8s ops) or Self-Managed Gemma 3 27B on Private GKE (air-gapped GPU nodes, 0 internet egress).</a:t>
            </a:r>
            <a:endParaRPr lang="en-US" sz="980" dirty="0"/>
          </a:p>
        </p:txBody>
      </p:sp>
      <p:sp>
        <p:nvSpPr>
          <p:cNvPr id="38" name="Shape 36"/>
          <p:cNvSpPr/>
          <p:nvPr/>
        </p:nvSpPr>
        <p:spPr>
          <a:xfrm>
            <a:off x="6342278" y="2788920"/>
            <a:ext cx="5290718"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6342278" y="2788920"/>
            <a:ext cx="54864" cy="493776"/>
          </a:xfrm>
          <a:prstGeom prst="rect">
            <a:avLst/>
          </a:prstGeom>
          <a:solidFill>
            <a:srgbClr val="EA4335"/>
          </a:solidFill>
          <a:ln/>
        </p:spPr>
      </p:sp>
      <p:sp>
        <p:nvSpPr>
          <p:cNvPr id="40" name="Text 38"/>
          <p:cNvSpPr/>
          <p:nvPr/>
        </p:nvSpPr>
        <p:spPr>
          <a:xfrm>
            <a:off x="6433718" y="281635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Managed Vertex AI Dedicated PT (SaaS SLA, 0 GPU Ops) vs. Air-Gapped GKE Gemma 3 27B (Customer GPU Nodes)
</a:t>
            </a:r>
            <a:pPr indent="0" marL="0">
              <a:buNone/>
            </a:pPr>
            <a:r>
              <a:rPr lang="en-US" sz="730" dirty="0">
                <a:solidFill>
                  <a:srgbClr val="5F6368"/>
                </a:solidFill>
                <a:latin typeface="Roboto" pitchFamily="34" charset="0"/>
                <a:ea typeface="Roboto" pitchFamily="34" charset="-122"/>
                <a:cs typeface="Roboto" pitchFamily="34" charset="-120"/>
              </a:rPr>
              <a:t>Target &amp; SLA: Tier: ENTERPRISE (600 RPM Silo) • 8,000 Thinking Budget • VPC-SC • Cloud KMS CMEK (finvault-silo-cmek)</a:t>
            </a:r>
            <a:endParaRPr lang="en-US" sz="750" dirty="0"/>
          </a:p>
        </p:txBody>
      </p:sp>
      <p:sp>
        <p:nvSpPr>
          <p:cNvPr id="41" name="Shape 39"/>
          <p:cNvSpPr/>
          <p:nvPr/>
        </p:nvSpPr>
        <p:spPr>
          <a:xfrm>
            <a:off x="6342278" y="3337560"/>
            <a:ext cx="5290718" cy="219456"/>
          </a:xfrm>
          <a:prstGeom prst="roundRect">
            <a:avLst>
              <a:gd name="adj" fmla="val 20833"/>
            </a:avLst>
          </a:prstGeom>
          <a:solidFill>
            <a:srgbClr val="FCE8E6"/>
          </a:solidFill>
          <a:ln/>
        </p:spPr>
      </p:sp>
      <p:sp>
        <p:nvSpPr>
          <p:cNvPr id="42" name="Text 40"/>
          <p:cNvSpPr/>
          <p:nvPr/>
        </p:nvSpPr>
        <p:spPr>
          <a:xfrm>
            <a:off x="6397142" y="3337560"/>
            <a:ext cx="5180990"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2. Regulated Silo: FinVault Hosting Trade-Off</a:t>
            </a:r>
            <a:endParaRPr lang="en-US" sz="750" dirty="0"/>
          </a:p>
        </p:txBody>
      </p:sp>
      <p:sp>
        <p:nvSpPr>
          <p:cNvPr id="43" name="Shape 41"/>
          <p:cNvSpPr/>
          <p:nvPr/>
        </p:nvSpPr>
        <p:spPr>
          <a:xfrm>
            <a:off x="411480" y="3776472"/>
            <a:ext cx="5583326" cy="2258568"/>
          </a:xfrm>
          <a:prstGeom prst="roundRect">
            <a:avLst>
              <a:gd name="adj" fmla="val 3239"/>
            </a:avLst>
          </a:prstGeom>
          <a:solidFill>
            <a:srgbClr val="F8F9FA"/>
          </a:solidFill>
          <a:ln w="12700">
            <a:solidFill>
              <a:srgbClr val="DADCE0"/>
            </a:solidFill>
            <a:prstDash val="solid"/>
          </a:ln>
        </p:spPr>
      </p:sp>
      <p:sp>
        <p:nvSpPr>
          <p:cNvPr id="44" name="Shape 42"/>
          <p:cNvSpPr/>
          <p:nvPr/>
        </p:nvSpPr>
        <p:spPr>
          <a:xfrm>
            <a:off x="411480" y="3776472"/>
            <a:ext cx="5583326" cy="59436"/>
          </a:xfrm>
          <a:prstGeom prst="rect">
            <a:avLst/>
          </a:prstGeom>
          <a:solidFill>
            <a:srgbClr val="FBBC04"/>
          </a:solidFill>
          <a:ln/>
        </p:spPr>
      </p:sp>
      <p:sp>
        <p:nvSpPr>
          <p:cNvPr id="45" name="Shape 43"/>
          <p:cNvSpPr/>
          <p:nvPr/>
        </p:nvSpPr>
        <p:spPr>
          <a:xfrm>
            <a:off x="557784" y="3904488"/>
            <a:ext cx="365760" cy="256032"/>
          </a:xfrm>
          <a:prstGeom prst="roundRect">
            <a:avLst>
              <a:gd name="adj" fmla="val 21429"/>
            </a:avLst>
          </a:prstGeom>
          <a:solidFill>
            <a:srgbClr val="FEF7E0"/>
          </a:solidFill>
          <a:ln/>
        </p:spPr>
      </p:sp>
      <p:sp>
        <p:nvSpPr>
          <p:cNvPr id="46" name="Text 44"/>
          <p:cNvSpPr/>
          <p:nvPr/>
        </p:nvSpPr>
        <p:spPr>
          <a:xfrm>
            <a:off x="557784" y="390448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996696"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RetailStream Corp (3LO Token Vault &amp; Anti-Confused-Deputy)</a:t>
            </a:r>
            <a:endParaRPr lang="en-US" sz="1140" dirty="0"/>
          </a:p>
        </p:txBody>
      </p:sp>
      <p:sp>
        <p:nvSpPr>
          <p:cNvPr id="48" name="Shape 46"/>
          <p:cNvSpPr/>
          <p:nvPr/>
        </p:nvSpPr>
        <p:spPr>
          <a:xfrm>
            <a:off x="557784" y="4270248"/>
            <a:ext cx="5290718" cy="9144"/>
          </a:xfrm>
          <a:prstGeom prst="rect">
            <a:avLst/>
          </a:prstGeom>
          <a:solidFill>
            <a:srgbClr val="DADCE0"/>
          </a:solidFill>
          <a:ln/>
        </p:spPr>
      </p:sp>
      <p:sp>
        <p:nvSpPr>
          <p:cNvPr id="49" name="Text 47"/>
          <p:cNvSpPr/>
          <p:nvPr/>
        </p:nvSpPr>
        <p:spPr>
          <a:xfrm>
            <a:off x="557784"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Pooled tenant (120 RPM / 4k thinking, Entra ID) invoking ServiceNow ITOM via 3LO step-up consent; per-user OAuth tokens are isolated in {tenant}:{user} DPoP-bound vaults (dpop_jkt verified) so pooled agents never act as a Confused Deputy.</a:t>
            </a:r>
            <a:endParaRPr lang="en-US" sz="980" dirty="0"/>
          </a:p>
        </p:txBody>
      </p:sp>
      <p:sp>
        <p:nvSpPr>
          <p:cNvPr id="50" name="Shape 48"/>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557784" y="5212080"/>
            <a:ext cx="54864" cy="493776"/>
          </a:xfrm>
          <a:prstGeom prst="rect">
            <a:avLst/>
          </a:prstGeom>
          <a:solidFill>
            <a:srgbClr val="FBBC04"/>
          </a:solidFill>
          <a:ln/>
        </p:spPr>
      </p:sp>
      <p:sp>
        <p:nvSpPr>
          <p:cNvPr id="52" name="Text 50"/>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Entra ID OIDC • Per-User DPoP-Bound 3LO Vault ({tenant}:{user}) • ServiceNow &amp; SharePoint MCP
</a:t>
            </a:r>
            <a:pPr indent="0" marL="0">
              <a:buNone/>
            </a:pPr>
            <a:r>
              <a:rPr lang="en-US" sz="730" dirty="0">
                <a:solidFill>
                  <a:srgbClr val="5F6368"/>
                </a:solidFill>
                <a:latin typeface="Roboto" pitchFamily="34" charset="0"/>
                <a:ea typeface="Roboto" pitchFamily="34" charset="-122"/>
                <a:cs typeface="Roboto" pitchFamily="34" charset="-120"/>
              </a:rPr>
              <a:t>Target &amp; SLA: Tier: STANDARD (120 RPM Pool) • 4,000 Thinking Cap • Eliminates Pooled Confused-Deputy Token Replay</a:t>
            </a:r>
            <a:endParaRPr lang="en-US" sz="750" dirty="0"/>
          </a:p>
        </p:txBody>
      </p:sp>
      <p:sp>
        <p:nvSpPr>
          <p:cNvPr id="53" name="Shape 51"/>
          <p:cNvSpPr/>
          <p:nvPr/>
        </p:nvSpPr>
        <p:spPr>
          <a:xfrm>
            <a:off x="557784" y="5760720"/>
            <a:ext cx="5290718" cy="219456"/>
          </a:xfrm>
          <a:prstGeom prst="roundRect">
            <a:avLst>
              <a:gd name="adj" fmla="val 20833"/>
            </a:avLst>
          </a:prstGeom>
          <a:solidFill>
            <a:srgbClr val="FEF7E0"/>
          </a:solidFill>
          <a:ln/>
        </p:spPr>
      </p:sp>
      <p:sp>
        <p:nvSpPr>
          <p:cNvPr id="54" name="Text 52"/>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3. Pooled Tenant: RetailStream &amp; 3LO Security</a:t>
            </a:r>
            <a:endParaRPr lang="en-US" sz="750" dirty="0"/>
          </a:p>
        </p:txBody>
      </p:sp>
      <p:sp>
        <p:nvSpPr>
          <p:cNvPr id="55" name="Shape 53"/>
          <p:cNvSpPr/>
          <p:nvPr/>
        </p:nvSpPr>
        <p:spPr>
          <a:xfrm>
            <a:off x="6195974" y="3776472"/>
            <a:ext cx="5583326" cy="2258568"/>
          </a:xfrm>
          <a:prstGeom prst="roundRect">
            <a:avLst>
              <a:gd name="adj" fmla="val 3239"/>
            </a:avLst>
          </a:prstGeom>
          <a:solidFill>
            <a:srgbClr val="F8F9FA"/>
          </a:solidFill>
          <a:ln w="12700">
            <a:solidFill>
              <a:srgbClr val="DADCE0"/>
            </a:solidFill>
            <a:prstDash val="solid"/>
          </a:ln>
        </p:spPr>
      </p:sp>
      <p:sp>
        <p:nvSpPr>
          <p:cNvPr id="56" name="Shape 54"/>
          <p:cNvSpPr/>
          <p:nvPr/>
        </p:nvSpPr>
        <p:spPr>
          <a:xfrm>
            <a:off x="6195974" y="3776472"/>
            <a:ext cx="5583326" cy="59436"/>
          </a:xfrm>
          <a:prstGeom prst="rect">
            <a:avLst/>
          </a:prstGeom>
          <a:solidFill>
            <a:srgbClr val="34A853"/>
          </a:solidFill>
          <a:ln/>
        </p:spPr>
      </p:sp>
      <p:sp>
        <p:nvSpPr>
          <p:cNvPr id="57" name="Shape 55"/>
          <p:cNvSpPr/>
          <p:nvPr/>
        </p:nvSpPr>
        <p:spPr>
          <a:xfrm>
            <a:off x="6342278" y="3904488"/>
            <a:ext cx="365760" cy="256032"/>
          </a:xfrm>
          <a:prstGeom prst="roundRect">
            <a:avLst>
              <a:gd name="adj" fmla="val 21429"/>
            </a:avLst>
          </a:prstGeom>
          <a:solidFill>
            <a:srgbClr val="E6F4EA"/>
          </a:solidFill>
          <a:ln/>
        </p:spPr>
      </p:sp>
      <p:sp>
        <p:nvSpPr>
          <p:cNvPr id="58" name="Text 56"/>
          <p:cNvSpPr/>
          <p:nvPr/>
        </p:nvSpPr>
        <p:spPr>
          <a:xfrm>
            <a:off x="6342278" y="3904488"/>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6781190" y="3886200"/>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Cryptographic Mutual Invisibility &amp; ~42ms 5-Hop Budget</a:t>
            </a:r>
            <a:endParaRPr lang="en-US" sz="1140" dirty="0"/>
          </a:p>
        </p:txBody>
      </p:sp>
      <p:sp>
        <p:nvSpPr>
          <p:cNvPr id="60" name="Shape 58"/>
          <p:cNvSpPr/>
          <p:nvPr/>
        </p:nvSpPr>
        <p:spPr>
          <a:xfrm>
            <a:off x="6342278" y="4270248"/>
            <a:ext cx="5290718" cy="9144"/>
          </a:xfrm>
          <a:prstGeom prst="rect">
            <a:avLst/>
          </a:prstGeom>
          <a:solidFill>
            <a:srgbClr val="DADCE0"/>
          </a:solidFill>
          <a:ln/>
        </p:spPr>
      </p:sp>
      <p:sp>
        <p:nvSpPr>
          <p:cNvPr id="61" name="Text 59"/>
          <p:cNvSpPr/>
          <p:nvPr/>
        </p:nvSpPr>
        <p:spPr>
          <a:xfrm>
            <a:off x="6342278" y="4325112"/>
            <a:ext cx="5290718" cy="850392"/>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Cloud Armor WAF, IAP OBO/DPoP, Valkey token buckets, streaming Model Armor/DLP (~22ms), and AlloyDB FORCE RLS run one 80% reusable ADK codebase—blocking cross-tenant probes (HTTP 403) with 0 cross-tenant rows.</a:t>
            </a:r>
            <a:endParaRPr lang="en-US" sz="980" dirty="0"/>
          </a:p>
        </p:txBody>
      </p:sp>
      <p:sp>
        <p:nvSpPr>
          <p:cNvPr id="62" name="Shape 60"/>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6342278" y="5212080"/>
            <a:ext cx="54864" cy="493776"/>
          </a:xfrm>
          <a:prstGeom prst="rect">
            <a:avLst/>
          </a:prstGeom>
          <a:solidFill>
            <a:srgbClr val="34A853"/>
          </a:solidFill>
          <a:ln/>
        </p:spPr>
      </p:sp>
      <p:sp>
        <p:nvSpPr>
          <p:cNvPr id="64" name="Text 62"/>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Cloud Armor • IAP STS (RFC 8693/9449) • Model Armor • Cloud DLP • AlloyDB RLS • BigQuery OTel
</a:t>
            </a:r>
            <a:pPr indent="0" marL="0">
              <a:buNone/>
            </a:pPr>
            <a:r>
              <a:rPr lang="en-US" sz="730" dirty="0">
                <a:solidFill>
                  <a:srgbClr val="5F6368"/>
                </a:solidFill>
                <a:latin typeface="Roboto" pitchFamily="34" charset="0"/>
                <a:ea typeface="Roboto" pitchFamily="34" charset="-122"/>
                <a:cs typeface="Roboto" pitchFamily="34" charset="-120"/>
              </a:rPr>
              <a:t>Target &amp; SLA: 80% Identical Python ADK Codebase • Verified by 107/107 Automated Security &amp; SaaS Assertions</a:t>
            </a:r>
            <a:endParaRPr lang="en-US" sz="750" dirty="0"/>
          </a:p>
        </p:txBody>
      </p:sp>
      <p:sp>
        <p:nvSpPr>
          <p:cNvPr id="65" name="Shape 63"/>
          <p:cNvSpPr/>
          <p:nvPr/>
        </p:nvSpPr>
        <p:spPr>
          <a:xfrm>
            <a:off x="6342278" y="5760720"/>
            <a:ext cx="5290718" cy="219456"/>
          </a:xfrm>
          <a:prstGeom prst="roundRect">
            <a:avLst>
              <a:gd name="adj" fmla="val 20833"/>
            </a:avLst>
          </a:prstGeom>
          <a:solidFill>
            <a:srgbClr val="E6F4EA"/>
          </a:solidFill>
          <a:ln/>
        </p:spPr>
      </p:sp>
      <p:sp>
        <p:nvSpPr>
          <p:cNvPr id="66" name="Text 64"/>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4. Cryptographic Invisibility Across Stack</a:t>
            </a:r>
            <a:endParaRPr lang="en-US" sz="750" dirty="0"/>
          </a:p>
        </p:txBody>
      </p:sp>
      <p:sp>
        <p:nvSpPr>
          <p:cNvPr id="67" name="Shape 65"/>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68" name="Shape 66"/>
          <p:cNvSpPr/>
          <p:nvPr/>
        </p:nvSpPr>
        <p:spPr>
          <a:xfrm>
            <a:off x="475488" y="6208776"/>
            <a:ext cx="1874520" cy="256032"/>
          </a:xfrm>
          <a:prstGeom prst="roundRect">
            <a:avLst>
              <a:gd name="adj" fmla="val 21429"/>
            </a:avLst>
          </a:prstGeom>
          <a:solidFill>
            <a:srgbClr val="4285F4"/>
          </a:solidFill>
          <a:ln/>
        </p:spPr>
      </p:sp>
      <p:sp>
        <p:nvSpPr>
          <p:cNvPr id="69" name="Text 67"/>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MANDATE</a:t>
            </a:r>
            <a:endParaRPr lang="en-US" sz="780" dirty="0"/>
          </a:p>
        </p:txBody>
      </p:sp>
      <p:sp>
        <p:nvSpPr>
          <p:cNvPr id="70" name="Text 68"/>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Customer Use Cases, Competing Tenant Profiles &amp; Google Cloud Stack</a:t>
            </a:r>
            <a:endParaRPr lang="en-US" sz="880" dirty="0"/>
          </a:p>
        </p:txBody>
      </p:sp>
      <p:sp>
        <p:nvSpPr>
          <p:cNvPr id="71" name="Text 69"/>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1920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1920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CONCEPTUAL-ARCHITECTURE</a:t>
            </a:r>
            <a:endParaRPr lang="en-US" sz="850" dirty="0"/>
          </a:p>
        </p:txBody>
      </p:sp>
      <p:sp>
        <p:nvSpPr>
          <p:cNvPr id="14" name="Text 12"/>
          <p:cNvSpPr/>
          <p:nvPr/>
        </p:nvSpPr>
        <p:spPr>
          <a:xfrm>
            <a:off x="5541264" y="132588"/>
            <a:ext cx="3861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Conceptual Architecture: Decoupling the 80% Reusable 5-Hop Core from 20% Perimeter Delta</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ACT I • CONCEPTUAL MODEL</a:t>
            </a:r>
            <a:endParaRPr lang="en-US" sz="750" dirty="0"/>
          </a:p>
        </p:txBody>
      </p:sp>
      <p:sp>
        <p:nvSpPr>
          <p:cNvPr id="17" name="Text 15"/>
          <p:cNvSpPr/>
          <p:nvPr/>
        </p:nvSpPr>
        <p:spPr>
          <a:xfrm>
            <a:off x="411480" y="621792"/>
            <a:ext cx="11365992" cy="329184"/>
          </a:xfrm>
          <a:prstGeom prst="rect">
            <a:avLst/>
          </a:prstGeom>
          <a:noFill/>
          <a:ln/>
        </p:spPr>
        <p:txBody>
          <a:bodyPr wrap="square" rtlCol="0" anchor="ctr"/>
          <a:lstStyle/>
          <a:p>
            <a:pPr indent="0" marL="0">
              <a:buNone/>
            </a:pPr>
            <a:r>
              <a:rPr lang="en-US" sz="1050" dirty="0">
                <a:solidFill>
                  <a:srgbClr val="5F6368"/>
                </a:solidFill>
                <a:latin typeface="Roboto" pitchFamily="34" charset="0"/>
                <a:ea typeface="Roboto" pitchFamily="34" charset="-122"/>
                <a:cs typeface="Roboto" pitchFamily="34" charset="-120"/>
              </a:rPr>
              <a:t>One shared agent codebase (core-cymbal-agent/) serves both commercial SaaS tenants and regulated sovereign contracts by isolating per-tenant network, KMS, and storage boundaries.</a:t>
            </a:r>
            <a:endParaRPr lang="en-US" sz="1050" dirty="0"/>
          </a:p>
        </p:txBody>
      </p:sp>
      <p:sp>
        <p:nvSpPr>
          <p:cNvPr id="18" name="Shape 16"/>
          <p:cNvSpPr/>
          <p:nvPr/>
        </p:nvSpPr>
        <p:spPr>
          <a:xfrm>
            <a:off x="411480" y="1051560"/>
            <a:ext cx="2880360" cy="5257800"/>
          </a:xfrm>
          <a:prstGeom prst="roundRect">
            <a:avLst>
              <a:gd name="adj" fmla="val 2540"/>
            </a:avLst>
          </a:prstGeom>
          <a:solidFill>
            <a:srgbClr val="F8F9FA"/>
          </a:solidFill>
          <a:ln w="12700">
            <a:solidFill>
              <a:srgbClr val="DADCE0"/>
            </a:solidFill>
            <a:prstDash val="solid"/>
          </a:ln>
        </p:spPr>
      </p:sp>
      <p:sp>
        <p:nvSpPr>
          <p:cNvPr id="19" name="Text 17"/>
          <p:cNvSpPr/>
          <p:nvPr/>
        </p:nvSpPr>
        <p:spPr>
          <a:xfrm>
            <a:off x="548640" y="1170432"/>
            <a:ext cx="2606040" cy="256032"/>
          </a:xfrm>
          <a:prstGeom prst="rect">
            <a:avLst/>
          </a:prstGeom>
          <a:noFill/>
          <a:ln/>
        </p:spPr>
        <p:txBody>
          <a:bodyPr wrap="square" rtlCol="0" anchor="ctr"/>
          <a:lstStyle/>
          <a:p>
            <a:pPr indent="0" marL="0">
              <a:buNone/>
            </a:pPr>
            <a:r>
              <a:rPr lang="en-US" sz="950" b="1" dirty="0">
                <a:solidFill>
                  <a:srgbClr val="174EA6"/>
                </a:solidFill>
                <a:latin typeface="Google Sans" pitchFamily="34" charset="0"/>
                <a:ea typeface="Google Sans" pitchFamily="34" charset="-122"/>
                <a:cs typeface="Google Sans" pitchFamily="34" charset="-120"/>
              </a:rPr>
              <a:t>1. COMPETING TENANT PROFILES</a:t>
            </a:r>
            <a:endParaRPr lang="en-US" sz="950" dirty="0"/>
          </a:p>
        </p:txBody>
      </p:sp>
      <p:sp>
        <p:nvSpPr>
          <p:cNvPr id="20" name="Shape 18"/>
          <p:cNvSpPr/>
          <p:nvPr/>
        </p:nvSpPr>
        <p:spPr>
          <a:xfrm>
            <a:off x="548640" y="1536192"/>
            <a:ext cx="2606040" cy="2194560"/>
          </a:xfrm>
          <a:prstGeom prst="roundRect">
            <a:avLst>
              <a:gd name="adj" fmla="val 2500"/>
            </a:avLst>
          </a:prstGeom>
          <a:solidFill>
            <a:srgbClr val="FFFFFF"/>
          </a:solidFill>
          <a:ln w="15875">
            <a:solidFill>
              <a:srgbClr val="EA4335"/>
            </a:solidFill>
            <a:prstDash val="solid"/>
          </a:ln>
        </p:spPr>
      </p:sp>
      <p:sp>
        <p:nvSpPr>
          <p:cNvPr id="21" name="Shape 19"/>
          <p:cNvSpPr/>
          <p:nvPr/>
        </p:nvSpPr>
        <p:spPr>
          <a:xfrm>
            <a:off x="548640" y="1536192"/>
            <a:ext cx="2606040" cy="310896"/>
          </a:xfrm>
          <a:prstGeom prst="rect">
            <a:avLst/>
          </a:prstGeom>
          <a:solidFill>
            <a:srgbClr val="FCE8E6"/>
          </a:solidFill>
          <a:ln/>
        </p:spPr>
      </p:sp>
      <p:sp>
        <p:nvSpPr>
          <p:cNvPr id="22" name="Text 20"/>
          <p:cNvSpPr/>
          <p:nvPr/>
        </p:nvSpPr>
        <p:spPr>
          <a:xfrm>
            <a:off x="640080" y="1572768"/>
            <a:ext cx="2423160" cy="237744"/>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FinVault Bank (Regulated)</a:t>
            </a:r>
            <a:endParaRPr lang="en-US" sz="950" dirty="0"/>
          </a:p>
        </p:txBody>
      </p:sp>
      <p:sp>
        <p:nvSpPr>
          <p:cNvPr id="23" name="Text 21"/>
          <p:cNvSpPr/>
          <p:nvPr/>
        </p:nvSpPr>
        <p:spPr>
          <a:xfrm>
            <a:off x="640080" y="1920240"/>
            <a:ext cx="2423160" cy="1719072"/>
          </a:xfrm>
          <a:prstGeom prst="rect">
            <a:avLst/>
          </a:prstGeom>
          <a:noFill/>
          <a:ln/>
        </p:spPr>
        <p:txBody>
          <a:bodyPr wrap="square" rtlCol="0" anchor="t"/>
          <a:lstStyle/>
          <a:p>
            <a:pPr indent="0" marL="0">
              <a:buNone/>
            </a:pPr>
            <a:r>
              <a:rPr lang="en-US" sz="860" dirty="0">
                <a:solidFill>
                  <a:srgbClr val="5F6368"/>
                </a:solidFill>
                <a:latin typeface="Roboto" pitchFamily="34" charset="0"/>
                <a:ea typeface="Roboto" pitchFamily="34" charset="-122"/>
                <a:cs typeface="Roboto" pitchFamily="34" charset="-120"/>
              </a:rPr>
              <a:t>• 600 RPM burst SLA, &lt;60s CMEK kill-switch</a:t>
            </a:r>
            <a:endParaRPr lang="en-US" sz="860" dirty="0"/>
          </a:p>
          <a:p>
            <a:pPr indent="0" marL="0">
              <a:buNone/>
            </a:pPr>
            <a:r>
              <a:rPr lang="en-US" sz="860" dirty="0">
                <a:solidFill>
                  <a:srgbClr val="5F6368"/>
                </a:solidFill>
                <a:latin typeface="Roboto" pitchFamily="34" charset="0"/>
                <a:ea typeface="Roboto" pitchFamily="34" charset="-122"/>
                <a:cs typeface="Roboto" pitchFamily="34" charset="-120"/>
              </a:rPr>
              <a:t>• Customer-managed Cloud KMS ECDSA keys</a:t>
            </a:r>
            <a:endParaRPr lang="en-US" sz="860" dirty="0"/>
          </a:p>
          <a:p>
            <a:pPr indent="0" marL="0">
              <a:buNone/>
            </a:pPr>
            <a:r>
              <a:rPr lang="en-US" sz="860" dirty="0">
                <a:solidFill>
                  <a:srgbClr val="5F6368"/>
                </a:solidFill>
                <a:latin typeface="Roboto" pitchFamily="34" charset="0"/>
                <a:ea typeface="Roboto" pitchFamily="34" charset="-122"/>
                <a:cs typeface="Roboto" pitchFamily="34" charset="-120"/>
              </a:rPr>
              <a:t>• Dedicated Vertex AI PT or air-gapped GKE</a:t>
            </a:r>
            <a:endParaRPr lang="en-US" sz="860" dirty="0"/>
          </a:p>
          <a:p>
            <a:pPr indent="0" marL="0">
              <a:buNone/>
            </a:pPr>
            <a:r>
              <a:rPr lang="en-US" sz="860" dirty="0">
                <a:solidFill>
                  <a:srgbClr val="5F6368"/>
                </a:solidFill>
                <a:latin typeface="Roboto" pitchFamily="34" charset="0"/>
                <a:ea typeface="Roboto" pitchFamily="34" charset="-122"/>
                <a:cs typeface="Roboto" pitchFamily="34" charset="-120"/>
              </a:rPr>
              <a:t>• Zero internet egress (VPC-SC perimeter)</a:t>
            </a:r>
            <a:endParaRPr lang="en-US" sz="860" dirty="0"/>
          </a:p>
        </p:txBody>
      </p:sp>
      <p:sp>
        <p:nvSpPr>
          <p:cNvPr id="24" name="Shape 22"/>
          <p:cNvSpPr/>
          <p:nvPr/>
        </p:nvSpPr>
        <p:spPr>
          <a:xfrm>
            <a:off x="548640" y="3886200"/>
            <a:ext cx="2606040" cy="2194560"/>
          </a:xfrm>
          <a:prstGeom prst="roundRect">
            <a:avLst>
              <a:gd name="adj" fmla="val 2500"/>
            </a:avLst>
          </a:prstGeom>
          <a:solidFill>
            <a:srgbClr val="FFFFFF"/>
          </a:solidFill>
          <a:ln w="15875">
            <a:solidFill>
              <a:srgbClr val="B06000"/>
            </a:solidFill>
            <a:prstDash val="solid"/>
          </a:ln>
        </p:spPr>
      </p:sp>
      <p:sp>
        <p:nvSpPr>
          <p:cNvPr id="25" name="Shape 23"/>
          <p:cNvSpPr/>
          <p:nvPr/>
        </p:nvSpPr>
        <p:spPr>
          <a:xfrm>
            <a:off x="548640" y="3886200"/>
            <a:ext cx="2606040" cy="310896"/>
          </a:xfrm>
          <a:prstGeom prst="rect">
            <a:avLst/>
          </a:prstGeom>
          <a:solidFill>
            <a:srgbClr val="FEF7E0"/>
          </a:solidFill>
          <a:ln/>
        </p:spPr>
      </p:sp>
      <p:sp>
        <p:nvSpPr>
          <p:cNvPr id="26" name="Text 24"/>
          <p:cNvSpPr/>
          <p:nvPr/>
        </p:nvSpPr>
        <p:spPr>
          <a:xfrm>
            <a:off x="640080" y="3922776"/>
            <a:ext cx="2423160" cy="237744"/>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RetailStream Corp (Commercial)</a:t>
            </a:r>
            <a:endParaRPr lang="en-US" sz="950" dirty="0"/>
          </a:p>
        </p:txBody>
      </p:sp>
      <p:sp>
        <p:nvSpPr>
          <p:cNvPr id="27" name="Text 25"/>
          <p:cNvSpPr/>
          <p:nvPr/>
        </p:nvSpPr>
        <p:spPr>
          <a:xfrm>
            <a:off x="640080" y="4270248"/>
            <a:ext cx="2423160" cy="1719072"/>
          </a:xfrm>
          <a:prstGeom prst="rect">
            <a:avLst/>
          </a:prstGeom>
          <a:noFill/>
          <a:ln/>
        </p:spPr>
        <p:txBody>
          <a:bodyPr wrap="square" rtlCol="0" anchor="t"/>
          <a:lstStyle/>
          <a:p>
            <a:pPr indent="0" marL="0">
              <a:buNone/>
            </a:pPr>
            <a:r>
              <a:rPr lang="en-US" sz="860" dirty="0">
                <a:solidFill>
                  <a:srgbClr val="5F6368"/>
                </a:solidFill>
                <a:latin typeface="Roboto" pitchFamily="34" charset="0"/>
                <a:ea typeface="Roboto" pitchFamily="34" charset="-122"/>
                <a:cs typeface="Roboto" pitchFamily="34" charset="-120"/>
              </a:rPr>
              <a:t>• 120 RPM commercial SaaS tier</a:t>
            </a:r>
            <a:endParaRPr lang="en-US" sz="860" dirty="0"/>
          </a:p>
          <a:p>
            <a:pPr indent="0" marL="0">
              <a:buNone/>
            </a:pPr>
            <a:r>
              <a:rPr lang="en-US" sz="860" dirty="0">
                <a:solidFill>
                  <a:srgbClr val="5F6368"/>
                </a:solidFill>
                <a:latin typeface="Roboto" pitchFamily="34" charset="0"/>
                <a:ea typeface="Roboto" pitchFamily="34" charset="-122"/>
                <a:cs typeface="Roboto" pitchFamily="34" charset="-120"/>
              </a:rPr>
              <a:t>• Microsoft Entra ID + ServiceNow 3LO</a:t>
            </a:r>
            <a:endParaRPr lang="en-US" sz="860" dirty="0"/>
          </a:p>
          <a:p>
            <a:pPr indent="0" marL="0">
              <a:buNone/>
            </a:pPr>
            <a:r>
              <a:rPr lang="en-US" sz="860" dirty="0">
                <a:solidFill>
                  <a:srgbClr val="5F6368"/>
                </a:solidFill>
                <a:latin typeface="Roboto" pitchFamily="34" charset="0"/>
                <a:ea typeface="Roboto" pitchFamily="34" charset="-122"/>
                <a:cs typeface="Roboto" pitchFamily="34" charset="-120"/>
              </a:rPr>
              <a:t>• DPoP-bound per-user token vault</a:t>
            </a:r>
            <a:endParaRPr lang="en-US" sz="860" dirty="0"/>
          </a:p>
          <a:p>
            <a:pPr indent="0" marL="0">
              <a:buNone/>
            </a:pPr>
            <a:r>
              <a:rPr lang="en-US" sz="860" dirty="0">
                <a:solidFill>
                  <a:srgbClr val="5F6368"/>
                </a:solidFill>
                <a:latin typeface="Roboto" pitchFamily="34" charset="0"/>
                <a:ea typeface="Roboto" pitchFamily="34" charset="-122"/>
                <a:cs typeface="Roboto" pitchFamily="34" charset="-120"/>
              </a:rPr>
              <a:t>• Shared prompt cache (84.7% token savings)</a:t>
            </a:r>
            <a:endParaRPr lang="en-US" sz="860" dirty="0"/>
          </a:p>
        </p:txBody>
      </p:sp>
      <p:sp>
        <p:nvSpPr>
          <p:cNvPr id="28" name="Shape 26"/>
          <p:cNvSpPr/>
          <p:nvPr/>
        </p:nvSpPr>
        <p:spPr>
          <a:xfrm>
            <a:off x="3639312" y="1051560"/>
            <a:ext cx="4160520" cy="5257800"/>
          </a:xfrm>
          <a:prstGeom prst="roundRect">
            <a:avLst>
              <a:gd name="adj" fmla="val 1758"/>
            </a:avLst>
          </a:prstGeom>
          <a:solidFill>
            <a:srgbClr val="E8F0FE"/>
          </a:solidFill>
          <a:ln w="19050">
            <a:solidFill>
              <a:srgbClr val="4285F4"/>
            </a:solidFill>
            <a:prstDash val="solid"/>
          </a:ln>
        </p:spPr>
      </p:sp>
      <p:sp>
        <p:nvSpPr>
          <p:cNvPr id="29" name="Text 27"/>
          <p:cNvSpPr/>
          <p:nvPr/>
        </p:nvSpPr>
        <p:spPr>
          <a:xfrm>
            <a:off x="3776472" y="1170432"/>
            <a:ext cx="3886200" cy="256032"/>
          </a:xfrm>
          <a:prstGeom prst="rect">
            <a:avLst/>
          </a:prstGeom>
          <a:noFill/>
          <a:ln/>
        </p:spPr>
        <p:txBody>
          <a:bodyPr wrap="square" rtlCol="0" anchor="ctr"/>
          <a:lstStyle/>
          <a:p>
            <a:pPr indent="0" marL="0">
              <a:buNone/>
            </a:pPr>
            <a:r>
              <a:rPr lang="en-US" sz="950" b="1" dirty="0">
                <a:solidFill>
                  <a:srgbClr val="174EA6"/>
                </a:solidFill>
                <a:latin typeface="Google Sans" pitchFamily="34" charset="0"/>
                <a:ea typeface="Google Sans" pitchFamily="34" charset="-122"/>
                <a:cs typeface="Google Sans" pitchFamily="34" charset="-120"/>
              </a:rPr>
              <a:t>2. 80% REUSABLE 5-HOP CORE (core-cymbal-agent/)</a:t>
            </a:r>
            <a:endParaRPr lang="en-US" sz="950" dirty="0"/>
          </a:p>
        </p:txBody>
      </p:sp>
      <p:sp>
        <p:nvSpPr>
          <p:cNvPr id="30" name="Shape 28"/>
          <p:cNvSpPr/>
          <p:nvPr/>
        </p:nvSpPr>
        <p:spPr>
          <a:xfrm>
            <a:off x="3776472" y="1536192"/>
            <a:ext cx="3886200" cy="694944"/>
          </a:xfrm>
          <a:prstGeom prst="roundRect">
            <a:avLst>
              <a:gd name="adj" fmla="val 6579"/>
            </a:avLst>
          </a:prstGeom>
          <a:solidFill>
            <a:srgbClr val="FFFFFF"/>
          </a:solidFill>
          <a:ln w="12700">
            <a:solidFill>
              <a:srgbClr val="4285F4"/>
            </a:solidFill>
            <a:prstDash val="solid"/>
          </a:ln>
        </p:spPr>
      </p:sp>
      <p:sp>
        <p:nvSpPr>
          <p:cNvPr id="31" name="Text 29"/>
          <p:cNvSpPr/>
          <p:nvPr/>
        </p:nvSpPr>
        <p:spPr>
          <a:xfrm>
            <a:off x="3886200" y="1591056"/>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1 • Edge Identity &amp; STS</a:t>
            </a:r>
            <a:endParaRPr lang="en-US" sz="920" dirty="0"/>
          </a:p>
        </p:txBody>
      </p:sp>
      <p:sp>
        <p:nvSpPr>
          <p:cNvPr id="32" name="Text 30"/>
          <p:cNvSpPr/>
          <p:nvPr/>
        </p:nvSpPr>
        <p:spPr>
          <a:xfrm>
            <a:off x="3886200" y="1828800"/>
            <a:ext cx="3657600" cy="347472"/>
          </a:xfrm>
          <a:prstGeom prst="rect">
            <a:avLst/>
          </a:prstGeom>
          <a:noFill/>
          <a:ln/>
        </p:spPr>
        <p:txBody>
          <a:bodyPr wrap="square" rtlCol="0" anchor="ctr"/>
          <a:lstStyle/>
          <a:p>
            <a:pPr indent="0" marL="0">
              <a:buNone/>
            </a:pPr>
            <a:r>
              <a:rPr lang="en-US" sz="820" dirty="0">
                <a:solidFill>
                  <a:srgbClr val="5F6368"/>
                </a:solidFill>
                <a:latin typeface="Roboto" pitchFamily="34" charset="0"/>
                <a:ea typeface="Roboto" pitchFamily="34" charset="-122"/>
                <a:cs typeface="Roboto" pitchFamily="34" charset="-120"/>
              </a:rPr>
              <a:t>Strip X-Tenant-Id; verify OIDC + DPoP; mint KMS JWT (&lt;0.15ms JWKS)</a:t>
            </a:r>
            <a:endParaRPr lang="en-US" sz="820" dirty="0"/>
          </a:p>
        </p:txBody>
      </p:sp>
      <p:sp>
        <p:nvSpPr>
          <p:cNvPr id="33" name="Shape 31"/>
          <p:cNvSpPr/>
          <p:nvPr/>
        </p:nvSpPr>
        <p:spPr>
          <a:xfrm>
            <a:off x="3776472" y="2340864"/>
            <a:ext cx="3886200" cy="694944"/>
          </a:xfrm>
          <a:prstGeom prst="roundRect">
            <a:avLst>
              <a:gd name="adj" fmla="val 6579"/>
            </a:avLst>
          </a:prstGeom>
          <a:solidFill>
            <a:srgbClr val="FFFFFF"/>
          </a:solidFill>
          <a:ln w="12700">
            <a:solidFill>
              <a:srgbClr val="4285F4"/>
            </a:solidFill>
            <a:prstDash val="solid"/>
          </a:ln>
        </p:spPr>
      </p:sp>
      <p:sp>
        <p:nvSpPr>
          <p:cNvPr id="34" name="Text 32"/>
          <p:cNvSpPr/>
          <p:nvPr/>
        </p:nvSpPr>
        <p:spPr>
          <a:xfrm>
            <a:off x="3886200" y="2395728"/>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2 • ARD Catalog Scoping</a:t>
            </a:r>
            <a:endParaRPr lang="en-US" sz="920" dirty="0"/>
          </a:p>
        </p:txBody>
      </p:sp>
      <p:sp>
        <p:nvSpPr>
          <p:cNvPr id="35" name="Text 33"/>
          <p:cNvSpPr/>
          <p:nvPr/>
        </p:nvSpPr>
        <p:spPr>
          <a:xfrm>
            <a:off x="3886200" y="2633472"/>
            <a:ext cx="3657600" cy="347472"/>
          </a:xfrm>
          <a:prstGeom prst="rect">
            <a:avLst/>
          </a:prstGeom>
          <a:noFill/>
          <a:ln/>
        </p:spPr>
        <p:txBody>
          <a:bodyPr wrap="square" rtlCol="0" anchor="ctr"/>
          <a:lstStyle/>
          <a:p>
            <a:pPr indent="0" marL="0">
              <a:buNone/>
            </a:pPr>
            <a:r>
              <a:rPr lang="en-US" sz="820" dirty="0">
                <a:solidFill>
                  <a:srgbClr val="5F6368"/>
                </a:solidFill>
                <a:latin typeface="Roboto" pitchFamily="34" charset="0"/>
                <a:ea typeface="Roboto" pitchFamily="34" charset="-122"/>
                <a:cs typeface="Roboto" pitchFamily="34" charset="-120"/>
              </a:rPr>
              <a:t>Chrooted agent/{tenant_id}/* VFS; bind {tenant}:{user} 3LO vault</a:t>
            </a:r>
            <a:endParaRPr lang="en-US" sz="820" dirty="0"/>
          </a:p>
        </p:txBody>
      </p:sp>
      <p:sp>
        <p:nvSpPr>
          <p:cNvPr id="36" name="Shape 34"/>
          <p:cNvSpPr/>
          <p:nvPr/>
        </p:nvSpPr>
        <p:spPr>
          <a:xfrm>
            <a:off x="3776472" y="3145536"/>
            <a:ext cx="3886200" cy="694944"/>
          </a:xfrm>
          <a:prstGeom prst="roundRect">
            <a:avLst>
              <a:gd name="adj" fmla="val 6579"/>
            </a:avLst>
          </a:prstGeom>
          <a:solidFill>
            <a:srgbClr val="FFFFFF"/>
          </a:solidFill>
          <a:ln w="12700">
            <a:solidFill>
              <a:srgbClr val="4285F4"/>
            </a:solidFill>
            <a:prstDash val="solid"/>
          </a:ln>
        </p:spPr>
      </p:sp>
      <p:sp>
        <p:nvSpPr>
          <p:cNvPr id="37" name="Text 35"/>
          <p:cNvSpPr/>
          <p:nvPr/>
        </p:nvSpPr>
        <p:spPr>
          <a:xfrm>
            <a:off x="3886200" y="3200400"/>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3 • Valkey Bulkhead &amp; Memory</a:t>
            </a:r>
            <a:endParaRPr lang="en-US" sz="920" dirty="0"/>
          </a:p>
        </p:txBody>
      </p:sp>
      <p:sp>
        <p:nvSpPr>
          <p:cNvPr id="38" name="Text 36"/>
          <p:cNvSpPr/>
          <p:nvPr/>
        </p:nvSpPr>
        <p:spPr>
          <a:xfrm>
            <a:off x="3886200" y="3438144"/>
            <a:ext cx="3657600" cy="347472"/>
          </a:xfrm>
          <a:prstGeom prst="rect">
            <a:avLst/>
          </a:prstGeom>
          <a:noFill/>
          <a:ln/>
        </p:spPr>
        <p:txBody>
          <a:bodyPr wrap="square" rtlCol="0" anchor="ctr"/>
          <a:lstStyle/>
          <a:p>
            <a:pPr indent="0" marL="0">
              <a:buNone/>
            </a:pPr>
            <a:r>
              <a:rPr lang="en-US" sz="820" dirty="0">
                <a:solidFill>
                  <a:srgbClr val="5F6368"/>
                </a:solidFill>
                <a:latin typeface="Roboto" pitchFamily="34" charset="0"/>
                <a:ea typeface="Roboto" pitchFamily="34" charset="-122"/>
                <a:cs typeface="Roboto" pitchFamily="34" charset="-120"/>
              </a:rPr>
              <a:t>3ms JTI/CMEK deny-list; RPM token bucket; &lt;5s SCAN+UNLINK evict</a:t>
            </a:r>
            <a:endParaRPr lang="en-US" sz="820" dirty="0"/>
          </a:p>
        </p:txBody>
      </p:sp>
      <p:sp>
        <p:nvSpPr>
          <p:cNvPr id="39" name="Shape 37"/>
          <p:cNvSpPr/>
          <p:nvPr/>
        </p:nvSpPr>
        <p:spPr>
          <a:xfrm>
            <a:off x="3776472" y="3950208"/>
            <a:ext cx="3886200" cy="694944"/>
          </a:xfrm>
          <a:prstGeom prst="roundRect">
            <a:avLst>
              <a:gd name="adj" fmla="val 6579"/>
            </a:avLst>
          </a:prstGeom>
          <a:solidFill>
            <a:srgbClr val="FFFFFF"/>
          </a:solidFill>
          <a:ln w="12700">
            <a:solidFill>
              <a:srgbClr val="4285F4"/>
            </a:solidFill>
            <a:prstDash val="solid"/>
          </a:ln>
        </p:spPr>
      </p:sp>
      <p:sp>
        <p:nvSpPr>
          <p:cNvPr id="40" name="Text 38"/>
          <p:cNvSpPr/>
          <p:nvPr/>
        </p:nvSpPr>
        <p:spPr>
          <a:xfrm>
            <a:off x="3886200" y="4005072"/>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4 • Model Armor &amp; Cloud DLP</a:t>
            </a:r>
            <a:endParaRPr lang="en-US" sz="920" dirty="0"/>
          </a:p>
        </p:txBody>
      </p:sp>
      <p:sp>
        <p:nvSpPr>
          <p:cNvPr id="41" name="Text 39"/>
          <p:cNvSpPr/>
          <p:nvPr/>
        </p:nvSpPr>
        <p:spPr>
          <a:xfrm>
            <a:off x="3886200" y="4242816"/>
            <a:ext cx="3657600" cy="347472"/>
          </a:xfrm>
          <a:prstGeom prst="rect">
            <a:avLst/>
          </a:prstGeom>
          <a:noFill/>
          <a:ln/>
        </p:spPr>
        <p:txBody>
          <a:bodyPr wrap="square" rtlCol="0" anchor="ctr"/>
          <a:lstStyle/>
          <a:p>
            <a:pPr indent="0" marL="0">
              <a:buNone/>
            </a:pPr>
            <a:r>
              <a:rPr lang="en-US" sz="820" dirty="0">
                <a:solidFill>
                  <a:srgbClr val="5F6368"/>
                </a:solidFill>
                <a:latin typeface="Roboto" pitchFamily="34" charset="0"/>
                <a:ea typeface="Roboto" pitchFamily="34" charset="-122"/>
                <a:cs typeface="Roboto" pitchFamily="34" charset="-120"/>
              </a:rPr>
              <a:t>22ms regional gRPC prompt-injection &amp; PII/PHI redaction</a:t>
            </a:r>
            <a:endParaRPr lang="en-US" sz="820" dirty="0"/>
          </a:p>
        </p:txBody>
      </p:sp>
      <p:sp>
        <p:nvSpPr>
          <p:cNvPr id="42" name="Shape 40"/>
          <p:cNvSpPr/>
          <p:nvPr/>
        </p:nvSpPr>
        <p:spPr>
          <a:xfrm>
            <a:off x="3776472" y="4754880"/>
            <a:ext cx="3886200" cy="694944"/>
          </a:xfrm>
          <a:prstGeom prst="roundRect">
            <a:avLst>
              <a:gd name="adj" fmla="val 6579"/>
            </a:avLst>
          </a:prstGeom>
          <a:solidFill>
            <a:srgbClr val="FFFFFF"/>
          </a:solidFill>
          <a:ln w="12700">
            <a:solidFill>
              <a:srgbClr val="4285F4"/>
            </a:solidFill>
            <a:prstDash val="solid"/>
          </a:ln>
        </p:spPr>
      </p:sp>
      <p:sp>
        <p:nvSpPr>
          <p:cNvPr id="43" name="Text 41"/>
          <p:cNvSpPr/>
          <p:nvPr/>
        </p:nvSpPr>
        <p:spPr>
          <a:xfrm>
            <a:off x="3886200" y="4809744"/>
            <a:ext cx="3657600" cy="219456"/>
          </a:xfrm>
          <a:prstGeom prst="rect">
            <a:avLst/>
          </a:prstGeom>
          <a:noFill/>
          <a:ln/>
        </p:spPr>
        <p:txBody>
          <a:bodyPr wrap="square" rtlCol="0" anchor="ctr"/>
          <a:lstStyle/>
          <a:p>
            <a:pPr indent="0" marL="0">
              <a:buNone/>
            </a:pPr>
            <a:r>
              <a:rPr lang="en-US" sz="920" b="1" dirty="0">
                <a:solidFill>
                  <a:srgbClr val="174EA6"/>
                </a:solidFill>
                <a:latin typeface="Google Sans" pitchFamily="34" charset="0"/>
                <a:ea typeface="Google Sans" pitchFamily="34" charset="-122"/>
                <a:cs typeface="Google Sans" pitchFamily="34" charset="-120"/>
              </a:rPr>
              <a:t>Hop 5 • AlloyDB RLS &amp; OTel FinOps</a:t>
            </a:r>
            <a:endParaRPr lang="en-US" sz="920" dirty="0"/>
          </a:p>
        </p:txBody>
      </p:sp>
      <p:sp>
        <p:nvSpPr>
          <p:cNvPr id="44" name="Text 42"/>
          <p:cNvSpPr/>
          <p:nvPr/>
        </p:nvSpPr>
        <p:spPr>
          <a:xfrm>
            <a:off x="3886200" y="5047488"/>
            <a:ext cx="3657600" cy="347472"/>
          </a:xfrm>
          <a:prstGeom prst="rect">
            <a:avLst/>
          </a:prstGeom>
          <a:noFill/>
          <a:ln/>
        </p:spPr>
        <p:txBody>
          <a:bodyPr wrap="square" rtlCol="0" anchor="ctr"/>
          <a:lstStyle/>
          <a:p>
            <a:pPr indent="0" marL="0">
              <a:buNone/>
            </a:pPr>
            <a:r>
              <a:rPr lang="en-US" sz="820" dirty="0">
                <a:solidFill>
                  <a:srgbClr val="5F6368"/>
                </a:solidFill>
                <a:latin typeface="Roboto" pitchFamily="34" charset="0"/>
                <a:ea typeface="Roboto" pitchFamily="34" charset="-122"/>
                <a:cs typeface="Roboto" pitchFamily="34" charset="-120"/>
              </a:rPr>
              <a:t>SET LOCAL app.current_tenant_id; BigQuery SHA-256 token ledger</a:t>
            </a:r>
            <a:endParaRPr lang="en-US" sz="820" dirty="0"/>
          </a:p>
        </p:txBody>
      </p:sp>
      <p:sp>
        <p:nvSpPr>
          <p:cNvPr id="45" name="Shape 43"/>
          <p:cNvSpPr/>
          <p:nvPr/>
        </p:nvSpPr>
        <p:spPr>
          <a:xfrm>
            <a:off x="3776472" y="5596128"/>
            <a:ext cx="3886200" cy="566928"/>
          </a:xfrm>
          <a:prstGeom prst="roundRect">
            <a:avLst>
              <a:gd name="adj" fmla="val 8065"/>
            </a:avLst>
          </a:prstGeom>
          <a:solidFill>
            <a:srgbClr val="FFFFFF"/>
          </a:solidFill>
          <a:ln w="15240">
            <a:solidFill>
              <a:srgbClr val="34A853"/>
            </a:solidFill>
            <a:prstDash val="solid"/>
          </a:ln>
        </p:spPr>
      </p:sp>
      <p:sp>
        <p:nvSpPr>
          <p:cNvPr id="46" name="Text 44"/>
          <p:cNvSpPr/>
          <p:nvPr/>
        </p:nvSpPr>
        <p:spPr>
          <a:xfrm>
            <a:off x="3886200" y="5650992"/>
            <a:ext cx="3657600" cy="457200"/>
          </a:xfrm>
          <a:prstGeom prst="rect">
            <a:avLst/>
          </a:prstGeom>
          <a:noFill/>
          <a:ln/>
        </p:spPr>
        <p:txBody>
          <a:bodyPr wrap="square" rtlCol="0" anchor="ctr"/>
          <a:lstStyle/>
          <a:p>
            <a:pPr algn="ctr" indent="0" marL="0">
              <a:buNone/>
            </a:pPr>
            <a:r>
              <a:rPr lang="en-US" sz="830" b="1" dirty="0">
                <a:solidFill>
                  <a:srgbClr val="0D652D"/>
                </a:solidFill>
                <a:latin typeface="Roboto" pitchFamily="34" charset="0"/>
                <a:ea typeface="Roboto" pitchFamily="34" charset="-122"/>
                <a:cs typeface="Roboto" pitchFamily="34" charset="-120"/>
              </a:rPr>
              <a:t>Feature-Flagged Native GCP Adapters (GAP-01..05)</a:t>
            </a:r>
            <a:endParaRPr lang="en-US" sz="830" dirty="0"/>
          </a:p>
          <a:p>
            <a:pPr algn="ctr" indent="0" marL="0">
              <a:buNone/>
            </a:pPr>
            <a:r>
              <a:rPr lang="en-US" sz="830" b="1" dirty="0">
                <a:solidFill>
                  <a:srgbClr val="0D652D"/>
                </a:solidFill>
                <a:latin typeface="Roboto" pitchFamily="34" charset="0"/>
                <a:ea typeface="Roboto" pitchFamily="34" charset="-122"/>
                <a:cs typeface="Roboto" pitchFamily="34" charset="-120"/>
              </a:rPr>
              <a:t>Zero application rewrite when EAP features reach GA</a:t>
            </a:r>
            <a:endParaRPr lang="en-US" sz="830" dirty="0"/>
          </a:p>
        </p:txBody>
      </p:sp>
      <p:sp>
        <p:nvSpPr>
          <p:cNvPr id="47" name="Shape 45"/>
          <p:cNvSpPr/>
          <p:nvPr/>
        </p:nvSpPr>
        <p:spPr>
          <a:xfrm>
            <a:off x="8147304" y="1051560"/>
            <a:ext cx="3630168" cy="5257800"/>
          </a:xfrm>
          <a:prstGeom prst="roundRect">
            <a:avLst>
              <a:gd name="adj" fmla="val 2015"/>
            </a:avLst>
          </a:prstGeom>
          <a:solidFill>
            <a:srgbClr val="F8F9FA"/>
          </a:solidFill>
          <a:ln w="12700">
            <a:solidFill>
              <a:srgbClr val="DADCE0"/>
            </a:solidFill>
            <a:prstDash val="solid"/>
          </a:ln>
        </p:spPr>
      </p:sp>
      <p:sp>
        <p:nvSpPr>
          <p:cNvPr id="48" name="Text 46"/>
          <p:cNvSpPr/>
          <p:nvPr/>
        </p:nvSpPr>
        <p:spPr>
          <a:xfrm>
            <a:off x="8284464" y="1170432"/>
            <a:ext cx="3355848" cy="256032"/>
          </a:xfrm>
          <a:prstGeom prst="rect">
            <a:avLst/>
          </a:prstGeom>
          <a:noFill/>
          <a:ln/>
        </p:spPr>
        <p:txBody>
          <a:bodyPr wrap="square" rtlCol="0" anchor="ctr"/>
          <a:lstStyle/>
          <a:p>
            <a:pPr indent="0" marL="0">
              <a:buNone/>
            </a:pPr>
            <a:r>
              <a:rPr lang="en-US" sz="950" b="1" dirty="0">
                <a:solidFill>
                  <a:srgbClr val="0D652D"/>
                </a:solidFill>
                <a:latin typeface="Google Sans" pitchFamily="34" charset="0"/>
                <a:ea typeface="Google Sans" pitchFamily="34" charset="-122"/>
                <a:cs typeface="Google Sans" pitchFamily="34" charset="-120"/>
              </a:rPr>
              <a:t>3. 20% PER-TENANT PERIMETER DELTA</a:t>
            </a:r>
            <a:endParaRPr lang="en-US" sz="950" dirty="0"/>
          </a:p>
        </p:txBody>
      </p:sp>
      <p:sp>
        <p:nvSpPr>
          <p:cNvPr id="49" name="Shape 47"/>
          <p:cNvSpPr/>
          <p:nvPr/>
        </p:nvSpPr>
        <p:spPr>
          <a:xfrm>
            <a:off x="8284464" y="1536192"/>
            <a:ext cx="3355848" cy="1408176"/>
          </a:xfrm>
          <a:prstGeom prst="roundRect">
            <a:avLst>
              <a:gd name="adj" fmla="val 3896"/>
            </a:avLst>
          </a:prstGeom>
          <a:solidFill>
            <a:srgbClr val="FFFFFF"/>
          </a:solidFill>
          <a:ln w="15875">
            <a:solidFill>
              <a:srgbClr val="B06000"/>
            </a:solidFill>
            <a:prstDash val="solid"/>
          </a:ln>
        </p:spPr>
      </p:sp>
      <p:sp>
        <p:nvSpPr>
          <p:cNvPr id="50" name="Shape 48"/>
          <p:cNvSpPr/>
          <p:nvPr/>
        </p:nvSpPr>
        <p:spPr>
          <a:xfrm>
            <a:off x="8284464" y="1536192"/>
            <a:ext cx="3355848" cy="310896"/>
          </a:xfrm>
          <a:prstGeom prst="rect">
            <a:avLst/>
          </a:prstGeom>
          <a:solidFill>
            <a:srgbClr val="FEF7E0"/>
          </a:solidFill>
          <a:ln/>
        </p:spPr>
      </p:sp>
      <p:sp>
        <p:nvSpPr>
          <p:cNvPr id="51" name="Text 49"/>
          <p:cNvSpPr/>
          <p:nvPr/>
        </p:nvSpPr>
        <p:spPr>
          <a:xfrm>
            <a:off x="8375904" y="1572768"/>
            <a:ext cx="3172968" cy="237744"/>
          </a:xfrm>
          <a:prstGeom prst="rect">
            <a:avLst/>
          </a:prstGeom>
          <a:noFill/>
          <a:ln/>
        </p:spPr>
        <p:txBody>
          <a:bodyPr wrap="square" rtlCol="0" anchor="ctr"/>
          <a:lstStyle/>
          <a:p>
            <a:pPr indent="0" marL="0">
              <a:buNone/>
            </a:pPr>
            <a:r>
              <a:rPr lang="en-US" sz="900" b="1" dirty="0">
                <a:solidFill>
                  <a:srgbClr val="3C4043"/>
                </a:solidFill>
                <a:latin typeface="Google Sans" pitchFamily="34" charset="0"/>
                <a:ea typeface="Google Sans" pitchFamily="34" charset="-122"/>
                <a:cs typeface="Google Sans" pitchFamily="34" charset="-120"/>
              </a:rPr>
              <a:t>Pattern A • High-Density Shared Pool</a:t>
            </a:r>
            <a:endParaRPr lang="en-US" sz="900" dirty="0"/>
          </a:p>
        </p:txBody>
      </p:sp>
      <p:sp>
        <p:nvSpPr>
          <p:cNvPr id="52" name="Text 50"/>
          <p:cNvSpPr/>
          <p:nvPr/>
        </p:nvSpPr>
        <p:spPr>
          <a:xfrm>
            <a:off x="8375904" y="1920240"/>
            <a:ext cx="3172968" cy="932688"/>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950 commercial tenants • Shared Cloud Run + AlloyDB RLS • 84.7% prompt-cache savings</a:t>
            </a:r>
            <a:endParaRPr lang="en-US" sz="850" dirty="0"/>
          </a:p>
        </p:txBody>
      </p:sp>
      <p:sp>
        <p:nvSpPr>
          <p:cNvPr id="53" name="Shape 51"/>
          <p:cNvSpPr/>
          <p:nvPr/>
        </p:nvSpPr>
        <p:spPr>
          <a:xfrm>
            <a:off x="8284464" y="3154680"/>
            <a:ext cx="3355848" cy="1408176"/>
          </a:xfrm>
          <a:prstGeom prst="roundRect">
            <a:avLst>
              <a:gd name="adj" fmla="val 3896"/>
            </a:avLst>
          </a:prstGeom>
          <a:solidFill>
            <a:srgbClr val="FFFFFF"/>
          </a:solidFill>
          <a:ln w="15875">
            <a:solidFill>
              <a:srgbClr val="EA4335"/>
            </a:solidFill>
            <a:prstDash val="solid"/>
          </a:ln>
        </p:spPr>
      </p:sp>
      <p:sp>
        <p:nvSpPr>
          <p:cNvPr id="54" name="Shape 52"/>
          <p:cNvSpPr/>
          <p:nvPr/>
        </p:nvSpPr>
        <p:spPr>
          <a:xfrm>
            <a:off x="8284464" y="3154680"/>
            <a:ext cx="3355848" cy="310896"/>
          </a:xfrm>
          <a:prstGeom prst="rect">
            <a:avLst/>
          </a:prstGeom>
          <a:solidFill>
            <a:srgbClr val="FCE8E6"/>
          </a:solidFill>
          <a:ln/>
        </p:spPr>
      </p:sp>
      <p:sp>
        <p:nvSpPr>
          <p:cNvPr id="55" name="Text 53"/>
          <p:cNvSpPr/>
          <p:nvPr/>
        </p:nvSpPr>
        <p:spPr>
          <a:xfrm>
            <a:off x="8375904" y="3191256"/>
            <a:ext cx="3172968" cy="237744"/>
          </a:xfrm>
          <a:prstGeom prst="rect">
            <a:avLst/>
          </a:prstGeom>
          <a:noFill/>
          <a:ln/>
        </p:spPr>
        <p:txBody>
          <a:bodyPr wrap="square" rtlCol="0" anchor="ctr"/>
          <a:lstStyle/>
          <a:p>
            <a:pPr indent="0" marL="0">
              <a:buNone/>
            </a:pPr>
            <a:r>
              <a:rPr lang="en-US" sz="900" b="1" dirty="0">
                <a:solidFill>
                  <a:srgbClr val="3C4043"/>
                </a:solidFill>
                <a:latin typeface="Google Sans" pitchFamily="34" charset="0"/>
                <a:ea typeface="Google Sans" pitchFamily="34" charset="-122"/>
                <a:cs typeface="Google Sans" pitchFamily="34" charset="-120"/>
              </a:rPr>
              <a:t>Pattern B • Zero-Trust Sovereign Silos</a:t>
            </a:r>
            <a:endParaRPr lang="en-US" sz="900" dirty="0"/>
          </a:p>
        </p:txBody>
      </p:sp>
      <p:sp>
        <p:nvSpPr>
          <p:cNvPr id="56" name="Text 54"/>
          <p:cNvSpPr/>
          <p:nvPr/>
        </p:nvSpPr>
        <p:spPr>
          <a:xfrm>
            <a:off x="8375904" y="3538728"/>
            <a:ext cx="3172968" cy="932688"/>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50 regulated tenants • Dedicated VPC-SC, CMEK KMS, AlloyDB &amp; GKE/Vertex PT</a:t>
            </a:r>
            <a:endParaRPr lang="en-US" sz="850" dirty="0"/>
          </a:p>
        </p:txBody>
      </p:sp>
      <p:sp>
        <p:nvSpPr>
          <p:cNvPr id="57" name="Shape 55"/>
          <p:cNvSpPr/>
          <p:nvPr/>
        </p:nvSpPr>
        <p:spPr>
          <a:xfrm>
            <a:off x="8284464" y="4773168"/>
            <a:ext cx="3355848" cy="1408176"/>
          </a:xfrm>
          <a:prstGeom prst="roundRect">
            <a:avLst>
              <a:gd name="adj" fmla="val 3896"/>
            </a:avLst>
          </a:prstGeom>
          <a:solidFill>
            <a:srgbClr val="FFFFFF"/>
          </a:solidFill>
          <a:ln w="15875">
            <a:solidFill>
              <a:srgbClr val="34A853"/>
            </a:solidFill>
            <a:prstDash val="solid"/>
          </a:ln>
        </p:spPr>
      </p:sp>
      <p:sp>
        <p:nvSpPr>
          <p:cNvPr id="58" name="Shape 56"/>
          <p:cNvSpPr/>
          <p:nvPr/>
        </p:nvSpPr>
        <p:spPr>
          <a:xfrm>
            <a:off x="8284464" y="4773168"/>
            <a:ext cx="3355848" cy="310896"/>
          </a:xfrm>
          <a:prstGeom prst="rect">
            <a:avLst/>
          </a:prstGeom>
          <a:solidFill>
            <a:srgbClr val="E6F4EA"/>
          </a:solidFill>
          <a:ln/>
        </p:spPr>
      </p:sp>
      <p:sp>
        <p:nvSpPr>
          <p:cNvPr id="59" name="Text 57"/>
          <p:cNvSpPr/>
          <p:nvPr/>
        </p:nvSpPr>
        <p:spPr>
          <a:xfrm>
            <a:off x="8375904" y="4809744"/>
            <a:ext cx="3172968" cy="237744"/>
          </a:xfrm>
          <a:prstGeom prst="rect">
            <a:avLst/>
          </a:prstGeom>
          <a:noFill/>
          <a:ln/>
        </p:spPr>
        <p:txBody>
          <a:bodyPr wrap="square" rtlCol="0" anchor="ctr"/>
          <a:lstStyle/>
          <a:p>
            <a:pPr indent="0" marL="0">
              <a:buNone/>
            </a:pPr>
            <a:r>
              <a:rPr lang="en-US" sz="900" b="1" dirty="0">
                <a:solidFill>
                  <a:srgbClr val="3C4043"/>
                </a:solidFill>
                <a:latin typeface="Google Sans" pitchFamily="34" charset="0"/>
                <a:ea typeface="Google Sans" pitchFamily="34" charset="-122"/>
                <a:cs typeface="Google Sans" pitchFamily="34" charset="-120"/>
              </a:rPr>
              <a:t>Pattern C • Dynamic Hybrid PSC Bridge</a:t>
            </a:r>
            <a:endParaRPr lang="en-US" sz="900" dirty="0"/>
          </a:p>
        </p:txBody>
      </p:sp>
      <p:sp>
        <p:nvSpPr>
          <p:cNvPr id="60" name="Text 58"/>
          <p:cNvSpPr/>
          <p:nvPr/>
        </p:nvSpPr>
        <p:spPr>
          <a:xfrm>
            <a:off x="8375904" y="5157216"/>
            <a:ext cx="3172968" cy="932688"/>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0ms live tier promotion from Pool to Private Service Connect spoke • 74% TCO savings</a:t>
            </a:r>
            <a:endParaRPr lang="en-US" sz="850" dirty="0"/>
          </a:p>
        </p:txBody>
      </p:sp>
      <p:sp>
        <p:nvSpPr>
          <p:cNvPr id="61" name="Shape 59"/>
          <p:cNvSpPr/>
          <p:nvPr/>
        </p:nvSpPr>
        <p:spPr>
          <a:xfrm>
            <a:off x="3291840" y="2606040"/>
            <a:ext cx="347472" cy="0"/>
          </a:xfrm>
          <a:prstGeom prst="line">
            <a:avLst/>
          </a:prstGeom>
          <a:noFill/>
          <a:ln w="22225">
            <a:solidFill>
              <a:srgbClr val="4285F4"/>
            </a:solidFill>
            <a:prstDash val="solid"/>
            <a:tailEnd type="arrow" w="sm" len="sm"/>
          </a:ln>
        </p:spPr>
      </p:sp>
      <p:sp>
        <p:nvSpPr>
          <p:cNvPr id="62" name="Shape 60"/>
          <p:cNvSpPr/>
          <p:nvPr/>
        </p:nvSpPr>
        <p:spPr>
          <a:xfrm>
            <a:off x="3291840" y="4800600"/>
            <a:ext cx="347472" cy="0"/>
          </a:xfrm>
          <a:prstGeom prst="line">
            <a:avLst/>
          </a:prstGeom>
          <a:noFill/>
          <a:ln w="22225">
            <a:solidFill>
              <a:srgbClr val="4285F4"/>
            </a:solidFill>
            <a:prstDash val="solid"/>
            <a:tailEnd type="arrow" w="sm" len="sm"/>
          </a:ln>
        </p:spPr>
      </p:sp>
      <p:sp>
        <p:nvSpPr>
          <p:cNvPr id="63" name="Shape 61"/>
          <p:cNvSpPr/>
          <p:nvPr/>
        </p:nvSpPr>
        <p:spPr>
          <a:xfrm>
            <a:off x="7799832" y="2240280"/>
            <a:ext cx="347472" cy="0"/>
          </a:xfrm>
          <a:prstGeom prst="line">
            <a:avLst/>
          </a:prstGeom>
          <a:noFill/>
          <a:ln w="22225">
            <a:solidFill>
              <a:srgbClr val="34A853"/>
            </a:solidFill>
            <a:prstDash val="solid"/>
            <a:tailEnd type="arrow" w="sm" len="sm"/>
          </a:ln>
        </p:spPr>
      </p:sp>
      <p:sp>
        <p:nvSpPr>
          <p:cNvPr id="64" name="Shape 62"/>
          <p:cNvSpPr/>
          <p:nvPr/>
        </p:nvSpPr>
        <p:spPr>
          <a:xfrm>
            <a:off x="7799832" y="3858768"/>
            <a:ext cx="347472" cy="0"/>
          </a:xfrm>
          <a:prstGeom prst="line">
            <a:avLst/>
          </a:prstGeom>
          <a:noFill/>
          <a:ln w="22225">
            <a:solidFill>
              <a:srgbClr val="34A853"/>
            </a:solidFill>
            <a:prstDash val="solid"/>
            <a:tailEnd type="arrow" w="sm" len="sm"/>
          </a:ln>
        </p:spPr>
      </p:sp>
      <p:sp>
        <p:nvSpPr>
          <p:cNvPr id="65" name="Shape 63"/>
          <p:cNvSpPr/>
          <p:nvPr/>
        </p:nvSpPr>
        <p:spPr>
          <a:xfrm>
            <a:off x="7799832" y="5468112"/>
            <a:ext cx="347472" cy="0"/>
          </a:xfrm>
          <a:prstGeom prst="line">
            <a:avLst/>
          </a:prstGeom>
          <a:noFill/>
          <a:ln w="22225">
            <a:solidFill>
              <a:srgbClr val="34A853"/>
            </a:solidFill>
            <a:prstDash val="solid"/>
            <a:tailEnd type="arrow" w="sm" len="sm"/>
          </a:ln>
        </p:spPr>
      </p:sp>
      <p:sp>
        <p:nvSpPr>
          <p:cNvPr id="66" name="Text 64"/>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Workstream 1 • Reference Architecture &amp; Cloud Architecture Center Doc PR  •  Conceptual Architecture: 80% Reusable 5-Hop Core vs. 20% Per-Tenant Perimeter Delta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16916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16916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PROCESS-LIFECYCLE</a:t>
            </a:r>
            <a:endParaRPr lang="en-US" sz="850" dirty="0"/>
          </a:p>
        </p:txBody>
      </p:sp>
      <p:sp>
        <p:nvSpPr>
          <p:cNvPr id="14" name="Text 12"/>
          <p:cNvSpPr/>
          <p:nvPr/>
        </p:nvSpPr>
        <p:spPr>
          <a:xfrm>
            <a:off x="5312664" y="132588"/>
            <a:ext cx="40901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Process Diagram: End-to-End 5-Hop Request, Governance, Execution &amp; FinOps Lifecycle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ACT I • PROCESS FLOW</a:t>
            </a:r>
            <a:endParaRPr lang="en-US" sz="750" dirty="0"/>
          </a:p>
        </p:txBody>
      </p:sp>
      <p:sp>
        <p:nvSpPr>
          <p:cNvPr id="17" name="Text 15"/>
          <p:cNvSpPr/>
          <p:nvPr/>
        </p:nvSpPr>
        <p:spPr>
          <a:xfrm>
            <a:off x="411480" y="621792"/>
            <a:ext cx="11365992" cy="329184"/>
          </a:xfrm>
          <a:prstGeom prst="rect">
            <a:avLst/>
          </a:prstGeom>
          <a:noFill/>
          <a:ln/>
        </p:spPr>
        <p:txBody>
          <a:bodyPr wrap="square" rtlCol="0" anchor="ctr"/>
          <a:lstStyle/>
          <a:p>
            <a:pPr indent="0" marL="0">
              <a:buNone/>
            </a:pPr>
            <a:r>
              <a:rPr lang="en-US" sz="1050" dirty="0">
                <a:solidFill>
                  <a:srgbClr val="5F6368"/>
                </a:solidFill>
                <a:latin typeface="Roboto" pitchFamily="34" charset="0"/>
                <a:ea typeface="Roboto" pitchFamily="34" charset="-122"/>
                <a:cs typeface="Roboto" pitchFamily="34" charset="-120"/>
              </a:rPr>
              <a:t>Deterministic ~42ms p95 control-plane pipeline from edge OIDC + DPoP verification through inline Model Armor screening to BigQuery OpenTelemetry FinOps chargeback.</a:t>
            </a:r>
            <a:endParaRPr lang="en-US" sz="1050" dirty="0"/>
          </a:p>
        </p:txBody>
      </p:sp>
      <p:sp>
        <p:nvSpPr>
          <p:cNvPr id="18" name="Shape 16"/>
          <p:cNvSpPr/>
          <p:nvPr/>
        </p:nvSpPr>
        <p:spPr>
          <a:xfrm>
            <a:off x="411480" y="1078992"/>
            <a:ext cx="1755648" cy="3246120"/>
          </a:xfrm>
          <a:prstGeom prst="roundRect">
            <a:avLst>
              <a:gd name="adj" fmla="val 3646"/>
            </a:avLst>
          </a:prstGeom>
          <a:solidFill>
            <a:srgbClr val="FFFFFF"/>
          </a:solidFill>
          <a:ln w="17145">
            <a:solidFill>
              <a:srgbClr val="4285F4"/>
            </a:solidFill>
            <a:prstDash val="solid"/>
          </a:ln>
        </p:spPr>
      </p:sp>
      <p:sp>
        <p:nvSpPr>
          <p:cNvPr id="19" name="Shape 17"/>
          <p:cNvSpPr/>
          <p:nvPr/>
        </p:nvSpPr>
        <p:spPr>
          <a:xfrm>
            <a:off x="411480" y="1078992"/>
            <a:ext cx="1755648" cy="310896"/>
          </a:xfrm>
          <a:prstGeom prst="rect">
            <a:avLst/>
          </a:prstGeom>
          <a:solidFill>
            <a:srgbClr val="E8F0FE"/>
          </a:solidFill>
          <a:ln/>
        </p:spPr>
      </p:sp>
      <p:sp>
        <p:nvSpPr>
          <p:cNvPr id="20" name="Text 18"/>
          <p:cNvSpPr/>
          <p:nvPr/>
        </p:nvSpPr>
        <p:spPr>
          <a:xfrm>
            <a:off x="466344" y="1115568"/>
            <a:ext cx="1645920" cy="237744"/>
          </a:xfrm>
          <a:prstGeom prst="rect">
            <a:avLst/>
          </a:prstGeom>
          <a:noFill/>
          <a:ln/>
        </p:spPr>
        <p:txBody>
          <a:bodyPr wrap="square" rtlCol="0" anchor="ctr"/>
          <a:lstStyle/>
          <a:p>
            <a:pPr algn="ctr" indent="0" marL="0">
              <a:buNone/>
            </a:pPr>
            <a:r>
              <a:rPr lang="en-US" sz="800" b="1" dirty="0">
                <a:solidFill>
                  <a:srgbClr val="4285F4"/>
                </a:solidFill>
                <a:latin typeface="Google Sans" pitchFamily="34" charset="0"/>
                <a:ea typeface="Google Sans" pitchFamily="34" charset="-122"/>
                <a:cs typeface="Google Sans" pitchFamily="34" charset="-120"/>
              </a:rPr>
              <a:t>STAGE 1 • HOP 1</a:t>
            </a:r>
            <a:endParaRPr lang="en-US" sz="800" dirty="0"/>
          </a:p>
        </p:txBody>
      </p:sp>
      <p:sp>
        <p:nvSpPr>
          <p:cNvPr id="21" name="Shape 19"/>
          <p:cNvSpPr/>
          <p:nvPr/>
        </p:nvSpPr>
        <p:spPr>
          <a:xfrm>
            <a:off x="649224" y="1463040"/>
            <a:ext cx="1280160" cy="219456"/>
          </a:xfrm>
          <a:prstGeom prst="roundRect">
            <a:avLst>
              <a:gd name="adj" fmla="val 25000"/>
            </a:avLst>
          </a:prstGeom>
          <a:solidFill>
            <a:srgbClr val="F8F9FA"/>
          </a:solidFill>
          <a:ln w="9525">
            <a:solidFill>
              <a:srgbClr val="DADCE0"/>
            </a:solidFill>
            <a:prstDash val="solid"/>
          </a:ln>
        </p:spPr>
      </p:sp>
      <p:sp>
        <p:nvSpPr>
          <p:cNvPr id="22" name="Text 20"/>
          <p:cNvSpPr/>
          <p:nvPr/>
        </p:nvSpPr>
        <p:spPr>
          <a:xfrm>
            <a:off x="649224" y="1463040"/>
            <a:ext cx="1280160" cy="219456"/>
          </a:xfrm>
          <a:prstGeom prst="rect">
            <a:avLst/>
          </a:prstGeom>
          <a:noFill/>
          <a:ln/>
        </p:spPr>
        <p:txBody>
          <a:bodyPr wrap="square" rtlCol="0" anchor="ctr"/>
          <a:lstStyle/>
          <a:p>
            <a:pPr algn="ctr" indent="0" marL="0">
              <a:buNone/>
            </a:pPr>
            <a:r>
              <a:rPr lang="en-US" sz="780" b="1" dirty="0">
                <a:solidFill>
                  <a:srgbClr val="3C4043"/>
                </a:solidFill>
                <a:latin typeface="Roboto" pitchFamily="34" charset="0"/>
                <a:ea typeface="Roboto" pitchFamily="34" charset="-122"/>
                <a:cs typeface="Roboto" pitchFamily="34" charset="-120"/>
              </a:rPr>
              <a:t>~8ms p95</a:t>
            </a:r>
            <a:endParaRPr lang="en-US" sz="780" dirty="0"/>
          </a:p>
        </p:txBody>
      </p:sp>
      <p:sp>
        <p:nvSpPr>
          <p:cNvPr id="23" name="Text 21"/>
          <p:cNvSpPr/>
          <p:nvPr/>
        </p:nvSpPr>
        <p:spPr>
          <a:xfrm>
            <a:off x="484632" y="1755648"/>
            <a:ext cx="1609344" cy="38404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Edge Auth &amp; STS Mint</a:t>
            </a:r>
            <a:endParaRPr lang="en-US" sz="940" dirty="0"/>
          </a:p>
        </p:txBody>
      </p:sp>
      <p:sp>
        <p:nvSpPr>
          <p:cNvPr id="24" name="Text 22"/>
          <p:cNvSpPr/>
          <p:nvPr/>
        </p:nvSpPr>
        <p:spPr>
          <a:xfrm>
            <a:off x="484632" y="2176272"/>
            <a:ext cx="1609344" cy="292608"/>
          </a:xfrm>
          <a:prstGeom prst="rect">
            <a:avLst/>
          </a:prstGeom>
          <a:noFill/>
          <a:ln/>
        </p:spPr>
        <p:txBody>
          <a:bodyPr wrap="square" rtlCol="0" anchor="ctr"/>
          <a:lstStyle/>
          <a:p>
            <a:pPr algn="ctr" indent="0" marL="0">
              <a:buNone/>
            </a:pPr>
            <a:r>
              <a:rPr lang="en-US" sz="800" b="1" dirty="0">
                <a:solidFill>
                  <a:srgbClr val="174EA6"/>
                </a:solidFill>
                <a:latin typeface="Roboto" pitchFamily="34" charset="0"/>
                <a:ea typeface="Roboto" pitchFamily="34" charset="-122"/>
                <a:cs typeface="Roboto" pitchFamily="34" charset="-120"/>
              </a:rPr>
              <a:t>Cloud Armor + IAP + STS</a:t>
            </a:r>
            <a:endParaRPr lang="en-US" sz="800" dirty="0"/>
          </a:p>
        </p:txBody>
      </p:sp>
      <p:sp>
        <p:nvSpPr>
          <p:cNvPr id="25" name="Text 23"/>
          <p:cNvSpPr/>
          <p:nvPr/>
        </p:nvSpPr>
        <p:spPr>
          <a:xfrm>
            <a:off x="484632" y="2523744"/>
            <a:ext cx="1609344" cy="1691640"/>
          </a:xfrm>
          <a:prstGeom prst="rect">
            <a:avLst/>
          </a:prstGeom>
          <a:noFill/>
          <a:ln/>
        </p:spPr>
        <p:txBody>
          <a:bodyPr wrap="square" rtlCol="0" anchor="t"/>
          <a:lstStyle/>
          <a:p>
            <a:pPr indent="0" marL="0">
              <a:buNone/>
            </a:pPr>
            <a:r>
              <a:rPr lang="en-US" sz="810" dirty="0">
                <a:solidFill>
                  <a:srgbClr val="5F6368"/>
                </a:solidFill>
                <a:latin typeface="Roboto" pitchFamily="34" charset="0"/>
                <a:ea typeface="Roboto" pitchFamily="34" charset="-122"/>
                <a:cs typeface="Roboto" pitchFamily="34" charset="-120"/>
              </a:rPr>
              <a:t>Strip spoofed X-Tenant-Id; verify OIDC + DPoP proof; mint ECDSA P-256 TenantContext JWT.</a:t>
            </a:r>
            <a:endParaRPr lang="en-US" sz="810" dirty="0"/>
          </a:p>
        </p:txBody>
      </p:sp>
      <p:sp>
        <p:nvSpPr>
          <p:cNvPr id="26" name="Shape 24"/>
          <p:cNvSpPr/>
          <p:nvPr/>
        </p:nvSpPr>
        <p:spPr>
          <a:xfrm>
            <a:off x="2167128" y="2697480"/>
            <a:ext cx="164592" cy="0"/>
          </a:xfrm>
          <a:prstGeom prst="line">
            <a:avLst/>
          </a:prstGeom>
          <a:noFill/>
          <a:ln w="20320">
            <a:solidFill>
              <a:srgbClr val="4285F4"/>
            </a:solidFill>
            <a:prstDash val="solid"/>
            <a:tailEnd type="arrow" w="sm" len="sm"/>
          </a:ln>
        </p:spPr>
      </p:sp>
      <p:sp>
        <p:nvSpPr>
          <p:cNvPr id="27" name="Shape 25"/>
          <p:cNvSpPr/>
          <p:nvPr/>
        </p:nvSpPr>
        <p:spPr>
          <a:xfrm>
            <a:off x="2331720" y="1078992"/>
            <a:ext cx="1755648" cy="3246120"/>
          </a:xfrm>
          <a:prstGeom prst="roundRect">
            <a:avLst>
              <a:gd name="adj" fmla="val 3646"/>
            </a:avLst>
          </a:prstGeom>
          <a:solidFill>
            <a:srgbClr val="FFFFFF"/>
          </a:solidFill>
          <a:ln w="17145">
            <a:solidFill>
              <a:srgbClr val="4285F4"/>
            </a:solidFill>
            <a:prstDash val="solid"/>
          </a:ln>
        </p:spPr>
      </p:sp>
      <p:sp>
        <p:nvSpPr>
          <p:cNvPr id="28" name="Shape 26"/>
          <p:cNvSpPr/>
          <p:nvPr/>
        </p:nvSpPr>
        <p:spPr>
          <a:xfrm>
            <a:off x="2331720" y="1078992"/>
            <a:ext cx="1755648" cy="310896"/>
          </a:xfrm>
          <a:prstGeom prst="rect">
            <a:avLst/>
          </a:prstGeom>
          <a:solidFill>
            <a:srgbClr val="E8F0FE"/>
          </a:solidFill>
          <a:ln/>
        </p:spPr>
      </p:sp>
      <p:sp>
        <p:nvSpPr>
          <p:cNvPr id="29" name="Text 27"/>
          <p:cNvSpPr/>
          <p:nvPr/>
        </p:nvSpPr>
        <p:spPr>
          <a:xfrm>
            <a:off x="2386584" y="1115568"/>
            <a:ext cx="1645920" cy="237744"/>
          </a:xfrm>
          <a:prstGeom prst="rect">
            <a:avLst/>
          </a:prstGeom>
          <a:noFill/>
          <a:ln/>
        </p:spPr>
        <p:txBody>
          <a:bodyPr wrap="square" rtlCol="0" anchor="ctr"/>
          <a:lstStyle/>
          <a:p>
            <a:pPr algn="ctr" indent="0" marL="0">
              <a:buNone/>
            </a:pPr>
            <a:r>
              <a:rPr lang="en-US" sz="800" b="1" dirty="0">
                <a:solidFill>
                  <a:srgbClr val="4285F4"/>
                </a:solidFill>
                <a:latin typeface="Google Sans" pitchFamily="34" charset="0"/>
                <a:ea typeface="Google Sans" pitchFamily="34" charset="-122"/>
                <a:cs typeface="Google Sans" pitchFamily="34" charset="-120"/>
              </a:rPr>
              <a:t>STAGE 2 • HOP 2</a:t>
            </a:r>
            <a:endParaRPr lang="en-US" sz="800" dirty="0"/>
          </a:p>
        </p:txBody>
      </p:sp>
      <p:sp>
        <p:nvSpPr>
          <p:cNvPr id="30" name="Shape 28"/>
          <p:cNvSpPr/>
          <p:nvPr/>
        </p:nvSpPr>
        <p:spPr>
          <a:xfrm>
            <a:off x="2569464" y="1463040"/>
            <a:ext cx="1280160" cy="219456"/>
          </a:xfrm>
          <a:prstGeom prst="roundRect">
            <a:avLst>
              <a:gd name="adj" fmla="val 25000"/>
            </a:avLst>
          </a:prstGeom>
          <a:solidFill>
            <a:srgbClr val="F8F9FA"/>
          </a:solidFill>
          <a:ln w="9525">
            <a:solidFill>
              <a:srgbClr val="DADCE0"/>
            </a:solidFill>
            <a:prstDash val="solid"/>
          </a:ln>
        </p:spPr>
      </p:sp>
      <p:sp>
        <p:nvSpPr>
          <p:cNvPr id="31" name="Text 29"/>
          <p:cNvSpPr/>
          <p:nvPr/>
        </p:nvSpPr>
        <p:spPr>
          <a:xfrm>
            <a:off x="2569464" y="1463040"/>
            <a:ext cx="1280160" cy="219456"/>
          </a:xfrm>
          <a:prstGeom prst="rect">
            <a:avLst/>
          </a:prstGeom>
          <a:noFill/>
          <a:ln/>
        </p:spPr>
        <p:txBody>
          <a:bodyPr wrap="square" rtlCol="0" anchor="ctr"/>
          <a:lstStyle/>
          <a:p>
            <a:pPr algn="ctr" indent="0" marL="0">
              <a:buNone/>
            </a:pPr>
            <a:r>
              <a:rPr lang="en-US" sz="780" b="1" dirty="0">
                <a:solidFill>
                  <a:srgbClr val="3C4043"/>
                </a:solidFill>
                <a:latin typeface="Roboto" pitchFamily="34" charset="0"/>
                <a:ea typeface="Roboto" pitchFamily="34" charset="-122"/>
                <a:cs typeface="Roboto" pitchFamily="34" charset="-120"/>
              </a:rPr>
              <a:t>~4ms p95</a:t>
            </a:r>
            <a:endParaRPr lang="en-US" sz="780" dirty="0"/>
          </a:p>
        </p:txBody>
      </p:sp>
      <p:sp>
        <p:nvSpPr>
          <p:cNvPr id="32" name="Text 30"/>
          <p:cNvSpPr/>
          <p:nvPr/>
        </p:nvSpPr>
        <p:spPr>
          <a:xfrm>
            <a:off x="2404872" y="1755648"/>
            <a:ext cx="1609344" cy="38404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Catalog &amp; Tool Scope</a:t>
            </a:r>
            <a:endParaRPr lang="en-US" sz="940" dirty="0"/>
          </a:p>
        </p:txBody>
      </p:sp>
      <p:sp>
        <p:nvSpPr>
          <p:cNvPr id="33" name="Text 31"/>
          <p:cNvSpPr/>
          <p:nvPr/>
        </p:nvSpPr>
        <p:spPr>
          <a:xfrm>
            <a:off x="2404872" y="2176272"/>
            <a:ext cx="1609344" cy="292608"/>
          </a:xfrm>
          <a:prstGeom prst="rect">
            <a:avLst/>
          </a:prstGeom>
          <a:noFill/>
          <a:ln/>
        </p:spPr>
        <p:txBody>
          <a:bodyPr wrap="square" rtlCol="0" anchor="ctr"/>
          <a:lstStyle/>
          <a:p>
            <a:pPr algn="ctr" indent="0" marL="0">
              <a:buNone/>
            </a:pPr>
            <a:r>
              <a:rPr lang="en-US" sz="800" b="1" dirty="0">
                <a:solidFill>
                  <a:srgbClr val="174EA6"/>
                </a:solidFill>
                <a:latin typeface="Roboto" pitchFamily="34" charset="0"/>
                <a:ea typeface="Roboto" pitchFamily="34" charset="-122"/>
                <a:cs typeface="Roboto" pitchFamily="34" charset="-120"/>
              </a:rPr>
              <a:t>ARD + MCP Gateway</a:t>
            </a:r>
            <a:endParaRPr lang="en-US" sz="800" dirty="0"/>
          </a:p>
        </p:txBody>
      </p:sp>
      <p:sp>
        <p:nvSpPr>
          <p:cNvPr id="34" name="Text 32"/>
          <p:cNvSpPr/>
          <p:nvPr/>
        </p:nvSpPr>
        <p:spPr>
          <a:xfrm>
            <a:off x="2404872" y="2523744"/>
            <a:ext cx="1609344" cy="1691640"/>
          </a:xfrm>
          <a:prstGeom prst="rect">
            <a:avLst/>
          </a:prstGeom>
          <a:noFill/>
          <a:ln/>
        </p:spPr>
        <p:txBody>
          <a:bodyPr wrap="square" rtlCol="0" anchor="t"/>
          <a:lstStyle/>
          <a:p>
            <a:pPr indent="0" marL="0">
              <a:buNone/>
            </a:pPr>
            <a:r>
              <a:rPr lang="en-US" sz="810" dirty="0">
                <a:solidFill>
                  <a:srgbClr val="5F6368"/>
                </a:solidFill>
                <a:latin typeface="Roboto" pitchFamily="34" charset="0"/>
                <a:ea typeface="Roboto" pitchFamily="34" charset="-122"/>
                <a:cs typeface="Roboto" pitchFamily="34" charset="-120"/>
              </a:rPr>
              <a:t>Resolve chrooted agent/{tenant}/* VFS; bind composite {tenant}:{user} 3LO vault token.</a:t>
            </a:r>
            <a:endParaRPr lang="en-US" sz="810" dirty="0"/>
          </a:p>
        </p:txBody>
      </p:sp>
      <p:sp>
        <p:nvSpPr>
          <p:cNvPr id="35" name="Shape 33"/>
          <p:cNvSpPr/>
          <p:nvPr/>
        </p:nvSpPr>
        <p:spPr>
          <a:xfrm>
            <a:off x="4087368" y="2697480"/>
            <a:ext cx="164592" cy="0"/>
          </a:xfrm>
          <a:prstGeom prst="line">
            <a:avLst/>
          </a:prstGeom>
          <a:noFill/>
          <a:ln w="20320">
            <a:solidFill>
              <a:srgbClr val="4285F4"/>
            </a:solidFill>
            <a:prstDash val="solid"/>
            <a:tailEnd type="arrow" w="sm" len="sm"/>
          </a:ln>
        </p:spPr>
      </p:sp>
      <p:sp>
        <p:nvSpPr>
          <p:cNvPr id="36" name="Shape 34"/>
          <p:cNvSpPr/>
          <p:nvPr/>
        </p:nvSpPr>
        <p:spPr>
          <a:xfrm>
            <a:off x="4251960" y="1078992"/>
            <a:ext cx="1755648" cy="3246120"/>
          </a:xfrm>
          <a:prstGeom prst="roundRect">
            <a:avLst>
              <a:gd name="adj" fmla="val 3646"/>
            </a:avLst>
          </a:prstGeom>
          <a:solidFill>
            <a:srgbClr val="FFFFFF"/>
          </a:solidFill>
          <a:ln w="17145">
            <a:solidFill>
              <a:srgbClr val="34A853"/>
            </a:solidFill>
            <a:prstDash val="solid"/>
          </a:ln>
        </p:spPr>
      </p:sp>
      <p:sp>
        <p:nvSpPr>
          <p:cNvPr id="37" name="Shape 35"/>
          <p:cNvSpPr/>
          <p:nvPr/>
        </p:nvSpPr>
        <p:spPr>
          <a:xfrm>
            <a:off x="4251960" y="1078992"/>
            <a:ext cx="1755648" cy="310896"/>
          </a:xfrm>
          <a:prstGeom prst="rect">
            <a:avLst/>
          </a:prstGeom>
          <a:solidFill>
            <a:srgbClr val="E6F4EA"/>
          </a:solidFill>
          <a:ln/>
        </p:spPr>
      </p:sp>
      <p:sp>
        <p:nvSpPr>
          <p:cNvPr id="38" name="Text 36"/>
          <p:cNvSpPr/>
          <p:nvPr/>
        </p:nvSpPr>
        <p:spPr>
          <a:xfrm>
            <a:off x="4306824" y="1115568"/>
            <a:ext cx="1645920" cy="237744"/>
          </a:xfrm>
          <a:prstGeom prst="rect">
            <a:avLst/>
          </a:prstGeom>
          <a:noFill/>
          <a:ln/>
        </p:spPr>
        <p:txBody>
          <a:bodyPr wrap="square" rtlCol="0" anchor="ctr"/>
          <a:lstStyle/>
          <a:p>
            <a:pPr algn="ctr" indent="0" marL="0">
              <a:buNone/>
            </a:pPr>
            <a:r>
              <a:rPr lang="en-US" sz="800" b="1" dirty="0">
                <a:solidFill>
                  <a:srgbClr val="34A853"/>
                </a:solidFill>
                <a:latin typeface="Google Sans" pitchFamily="34" charset="0"/>
                <a:ea typeface="Google Sans" pitchFamily="34" charset="-122"/>
                <a:cs typeface="Google Sans" pitchFamily="34" charset="-120"/>
              </a:rPr>
              <a:t>STAGE 3 • HOP 3</a:t>
            </a:r>
            <a:endParaRPr lang="en-US" sz="800" dirty="0"/>
          </a:p>
        </p:txBody>
      </p:sp>
      <p:sp>
        <p:nvSpPr>
          <p:cNvPr id="39" name="Shape 37"/>
          <p:cNvSpPr/>
          <p:nvPr/>
        </p:nvSpPr>
        <p:spPr>
          <a:xfrm>
            <a:off x="4489704" y="1463040"/>
            <a:ext cx="1280160" cy="219456"/>
          </a:xfrm>
          <a:prstGeom prst="roundRect">
            <a:avLst>
              <a:gd name="adj" fmla="val 25000"/>
            </a:avLst>
          </a:prstGeom>
          <a:solidFill>
            <a:srgbClr val="F8F9FA"/>
          </a:solidFill>
          <a:ln w="9525">
            <a:solidFill>
              <a:srgbClr val="DADCE0"/>
            </a:solidFill>
            <a:prstDash val="solid"/>
          </a:ln>
        </p:spPr>
      </p:sp>
      <p:sp>
        <p:nvSpPr>
          <p:cNvPr id="40" name="Text 38"/>
          <p:cNvSpPr/>
          <p:nvPr/>
        </p:nvSpPr>
        <p:spPr>
          <a:xfrm>
            <a:off x="4489704" y="1463040"/>
            <a:ext cx="1280160" cy="219456"/>
          </a:xfrm>
          <a:prstGeom prst="rect">
            <a:avLst/>
          </a:prstGeom>
          <a:noFill/>
          <a:ln/>
        </p:spPr>
        <p:txBody>
          <a:bodyPr wrap="square" rtlCol="0" anchor="ctr"/>
          <a:lstStyle/>
          <a:p>
            <a:pPr algn="ctr" indent="0" marL="0">
              <a:buNone/>
            </a:pPr>
            <a:r>
              <a:rPr lang="en-US" sz="780" b="1" dirty="0">
                <a:solidFill>
                  <a:srgbClr val="3C4043"/>
                </a:solidFill>
                <a:latin typeface="Roboto" pitchFamily="34" charset="0"/>
                <a:ea typeface="Roboto" pitchFamily="34" charset="-122"/>
                <a:cs typeface="Roboto" pitchFamily="34" charset="-120"/>
              </a:rPr>
              <a:t>~3ms p95</a:t>
            </a:r>
            <a:endParaRPr lang="en-US" sz="780" dirty="0"/>
          </a:p>
        </p:txBody>
      </p:sp>
      <p:sp>
        <p:nvSpPr>
          <p:cNvPr id="41" name="Text 39"/>
          <p:cNvSpPr/>
          <p:nvPr/>
        </p:nvSpPr>
        <p:spPr>
          <a:xfrm>
            <a:off x="4325112" y="1755648"/>
            <a:ext cx="1609344" cy="38404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Quota &amp; Revocation</a:t>
            </a:r>
            <a:endParaRPr lang="en-US" sz="940" dirty="0"/>
          </a:p>
        </p:txBody>
      </p:sp>
      <p:sp>
        <p:nvSpPr>
          <p:cNvPr id="42" name="Text 40"/>
          <p:cNvSpPr/>
          <p:nvPr/>
        </p:nvSpPr>
        <p:spPr>
          <a:xfrm>
            <a:off x="4325112" y="2176272"/>
            <a:ext cx="1609344" cy="292608"/>
          </a:xfrm>
          <a:prstGeom prst="rect">
            <a:avLst/>
          </a:prstGeom>
          <a:noFill/>
          <a:ln/>
        </p:spPr>
        <p:txBody>
          <a:bodyPr wrap="square" rtlCol="0" anchor="ctr"/>
          <a:lstStyle/>
          <a:p>
            <a:pPr algn="ctr" indent="0" marL="0">
              <a:buNone/>
            </a:pPr>
            <a:r>
              <a:rPr lang="en-US" sz="800" b="1" dirty="0">
                <a:solidFill>
                  <a:srgbClr val="174EA6"/>
                </a:solidFill>
                <a:latin typeface="Roboto" pitchFamily="34" charset="0"/>
                <a:ea typeface="Roboto" pitchFamily="34" charset="-122"/>
                <a:cs typeface="Roboto" pitchFamily="34" charset="-120"/>
              </a:rPr>
              <a:t>Memorystore Valkey</a:t>
            </a:r>
            <a:endParaRPr lang="en-US" sz="800" dirty="0"/>
          </a:p>
        </p:txBody>
      </p:sp>
      <p:sp>
        <p:nvSpPr>
          <p:cNvPr id="43" name="Text 41"/>
          <p:cNvSpPr/>
          <p:nvPr/>
        </p:nvSpPr>
        <p:spPr>
          <a:xfrm>
            <a:off x="4325112" y="2523744"/>
            <a:ext cx="1609344" cy="1691640"/>
          </a:xfrm>
          <a:prstGeom prst="rect">
            <a:avLst/>
          </a:prstGeom>
          <a:noFill/>
          <a:ln/>
        </p:spPr>
        <p:txBody>
          <a:bodyPr wrap="square" rtlCol="0" anchor="t"/>
          <a:lstStyle/>
          <a:p>
            <a:pPr indent="0" marL="0">
              <a:buNone/>
            </a:pPr>
            <a:r>
              <a:rPr lang="en-US" sz="810" dirty="0">
                <a:solidFill>
                  <a:srgbClr val="5F6368"/>
                </a:solidFill>
                <a:latin typeface="Roboto" pitchFamily="34" charset="0"/>
                <a:ea typeface="Roboto" pitchFamily="34" charset="-122"/>
                <a:cs typeface="Roboto" pitchFamily="34" charset="-120"/>
              </a:rPr>
              <a:t>Check JTI/CMEK deny-list &amp; RPM token bucket; enforce &lt;5s SCAN+UNLINK cache eviction.</a:t>
            </a:r>
            <a:endParaRPr lang="en-US" sz="810" dirty="0"/>
          </a:p>
        </p:txBody>
      </p:sp>
      <p:sp>
        <p:nvSpPr>
          <p:cNvPr id="44" name="Shape 42"/>
          <p:cNvSpPr/>
          <p:nvPr/>
        </p:nvSpPr>
        <p:spPr>
          <a:xfrm>
            <a:off x="6007608" y="2697480"/>
            <a:ext cx="164592" cy="0"/>
          </a:xfrm>
          <a:prstGeom prst="line">
            <a:avLst/>
          </a:prstGeom>
          <a:noFill/>
          <a:ln w="20320">
            <a:solidFill>
              <a:srgbClr val="4285F4"/>
            </a:solidFill>
            <a:prstDash val="solid"/>
            <a:tailEnd type="arrow" w="sm" len="sm"/>
          </a:ln>
        </p:spPr>
      </p:sp>
      <p:sp>
        <p:nvSpPr>
          <p:cNvPr id="45" name="Shape 43"/>
          <p:cNvSpPr/>
          <p:nvPr/>
        </p:nvSpPr>
        <p:spPr>
          <a:xfrm>
            <a:off x="6172200" y="1078992"/>
            <a:ext cx="1755648" cy="3246120"/>
          </a:xfrm>
          <a:prstGeom prst="roundRect">
            <a:avLst>
              <a:gd name="adj" fmla="val 3646"/>
            </a:avLst>
          </a:prstGeom>
          <a:solidFill>
            <a:srgbClr val="FFFFFF"/>
          </a:solidFill>
          <a:ln w="17145">
            <a:solidFill>
              <a:srgbClr val="B06000"/>
            </a:solidFill>
            <a:prstDash val="solid"/>
          </a:ln>
        </p:spPr>
      </p:sp>
      <p:sp>
        <p:nvSpPr>
          <p:cNvPr id="46" name="Shape 44"/>
          <p:cNvSpPr/>
          <p:nvPr/>
        </p:nvSpPr>
        <p:spPr>
          <a:xfrm>
            <a:off x="6172200" y="1078992"/>
            <a:ext cx="1755648" cy="310896"/>
          </a:xfrm>
          <a:prstGeom prst="rect">
            <a:avLst/>
          </a:prstGeom>
          <a:solidFill>
            <a:srgbClr val="FEF7E0"/>
          </a:solidFill>
          <a:ln/>
        </p:spPr>
      </p:sp>
      <p:sp>
        <p:nvSpPr>
          <p:cNvPr id="47" name="Text 45"/>
          <p:cNvSpPr/>
          <p:nvPr/>
        </p:nvSpPr>
        <p:spPr>
          <a:xfrm>
            <a:off x="6227064" y="1115568"/>
            <a:ext cx="1645920" cy="237744"/>
          </a:xfrm>
          <a:prstGeom prst="rect">
            <a:avLst/>
          </a:prstGeom>
          <a:noFill/>
          <a:ln/>
        </p:spPr>
        <p:txBody>
          <a:bodyPr wrap="square" rtlCol="0" anchor="ctr"/>
          <a:lstStyle/>
          <a:p>
            <a:pPr algn="ctr" indent="0" marL="0">
              <a:buNone/>
            </a:pPr>
            <a:r>
              <a:rPr lang="en-US" sz="800" b="1" dirty="0">
                <a:solidFill>
                  <a:srgbClr val="B06000"/>
                </a:solidFill>
                <a:latin typeface="Google Sans" pitchFamily="34" charset="0"/>
                <a:ea typeface="Google Sans" pitchFamily="34" charset="-122"/>
                <a:cs typeface="Google Sans" pitchFamily="34" charset="-120"/>
              </a:rPr>
              <a:t>STAGE 4 • HOP 4</a:t>
            </a:r>
            <a:endParaRPr lang="en-US" sz="800" dirty="0"/>
          </a:p>
        </p:txBody>
      </p:sp>
      <p:sp>
        <p:nvSpPr>
          <p:cNvPr id="48" name="Shape 46"/>
          <p:cNvSpPr/>
          <p:nvPr/>
        </p:nvSpPr>
        <p:spPr>
          <a:xfrm>
            <a:off x="6409944" y="1463040"/>
            <a:ext cx="1280160" cy="219456"/>
          </a:xfrm>
          <a:prstGeom prst="roundRect">
            <a:avLst>
              <a:gd name="adj" fmla="val 25000"/>
            </a:avLst>
          </a:prstGeom>
          <a:solidFill>
            <a:srgbClr val="F8F9FA"/>
          </a:solidFill>
          <a:ln w="9525">
            <a:solidFill>
              <a:srgbClr val="DADCE0"/>
            </a:solidFill>
            <a:prstDash val="solid"/>
          </a:ln>
        </p:spPr>
      </p:sp>
      <p:sp>
        <p:nvSpPr>
          <p:cNvPr id="49" name="Text 47"/>
          <p:cNvSpPr/>
          <p:nvPr/>
        </p:nvSpPr>
        <p:spPr>
          <a:xfrm>
            <a:off x="6409944" y="1463040"/>
            <a:ext cx="1280160" cy="219456"/>
          </a:xfrm>
          <a:prstGeom prst="rect">
            <a:avLst/>
          </a:prstGeom>
          <a:noFill/>
          <a:ln/>
        </p:spPr>
        <p:txBody>
          <a:bodyPr wrap="square" rtlCol="0" anchor="ctr"/>
          <a:lstStyle/>
          <a:p>
            <a:pPr algn="ctr" indent="0" marL="0">
              <a:buNone/>
            </a:pPr>
            <a:r>
              <a:rPr lang="en-US" sz="780" b="1" dirty="0">
                <a:solidFill>
                  <a:srgbClr val="3C4043"/>
                </a:solidFill>
                <a:latin typeface="Roboto" pitchFamily="34" charset="0"/>
                <a:ea typeface="Roboto" pitchFamily="34" charset="-122"/>
                <a:cs typeface="Roboto" pitchFamily="34" charset="-120"/>
              </a:rPr>
              <a:t>~22ms p95</a:t>
            </a:r>
            <a:endParaRPr lang="en-US" sz="780" dirty="0"/>
          </a:p>
        </p:txBody>
      </p:sp>
      <p:sp>
        <p:nvSpPr>
          <p:cNvPr id="50" name="Text 48"/>
          <p:cNvSpPr/>
          <p:nvPr/>
        </p:nvSpPr>
        <p:spPr>
          <a:xfrm>
            <a:off x="6245352" y="1755648"/>
            <a:ext cx="1609344" cy="38404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Prompt &amp; DLP Guard</a:t>
            </a:r>
            <a:endParaRPr lang="en-US" sz="940" dirty="0"/>
          </a:p>
        </p:txBody>
      </p:sp>
      <p:sp>
        <p:nvSpPr>
          <p:cNvPr id="51" name="Text 49"/>
          <p:cNvSpPr/>
          <p:nvPr/>
        </p:nvSpPr>
        <p:spPr>
          <a:xfrm>
            <a:off x="6245352" y="2176272"/>
            <a:ext cx="1609344" cy="292608"/>
          </a:xfrm>
          <a:prstGeom prst="rect">
            <a:avLst/>
          </a:prstGeom>
          <a:noFill/>
          <a:ln/>
        </p:spPr>
        <p:txBody>
          <a:bodyPr wrap="square" rtlCol="0" anchor="ctr"/>
          <a:lstStyle/>
          <a:p>
            <a:pPr algn="ctr" indent="0" marL="0">
              <a:buNone/>
            </a:pPr>
            <a:r>
              <a:rPr lang="en-US" sz="800" b="1" dirty="0">
                <a:solidFill>
                  <a:srgbClr val="174EA6"/>
                </a:solidFill>
                <a:latin typeface="Roboto" pitchFamily="34" charset="0"/>
                <a:ea typeface="Roboto" pitchFamily="34" charset="-122"/>
                <a:cs typeface="Roboto" pitchFamily="34" charset="-120"/>
              </a:rPr>
              <a:t>Model Armor + Cloud DLP</a:t>
            </a:r>
            <a:endParaRPr lang="en-US" sz="800" dirty="0"/>
          </a:p>
        </p:txBody>
      </p:sp>
      <p:sp>
        <p:nvSpPr>
          <p:cNvPr id="52" name="Text 50"/>
          <p:cNvSpPr/>
          <p:nvPr/>
        </p:nvSpPr>
        <p:spPr>
          <a:xfrm>
            <a:off x="6245352" y="2523744"/>
            <a:ext cx="1609344" cy="1691640"/>
          </a:xfrm>
          <a:prstGeom prst="rect">
            <a:avLst/>
          </a:prstGeom>
          <a:noFill/>
          <a:ln/>
        </p:spPr>
        <p:txBody>
          <a:bodyPr wrap="square" rtlCol="0" anchor="t"/>
          <a:lstStyle/>
          <a:p>
            <a:pPr indent="0" marL="0">
              <a:buNone/>
            </a:pPr>
            <a:r>
              <a:rPr lang="en-US" sz="810" dirty="0">
                <a:solidFill>
                  <a:srgbClr val="5F6368"/>
                </a:solidFill>
                <a:latin typeface="Roboto" pitchFamily="34" charset="0"/>
                <a:ea typeface="Roboto" pitchFamily="34" charset="-122"/>
                <a:cs typeface="Roboto" pitchFamily="34" charset="-120"/>
              </a:rPr>
              <a:t>Regional gRPC screen for prompt injection, jailbreaks &amp; PII/PHI redaction; reuse prefix cache.</a:t>
            </a:r>
            <a:endParaRPr lang="en-US" sz="810" dirty="0"/>
          </a:p>
        </p:txBody>
      </p:sp>
      <p:sp>
        <p:nvSpPr>
          <p:cNvPr id="53" name="Shape 51"/>
          <p:cNvSpPr/>
          <p:nvPr/>
        </p:nvSpPr>
        <p:spPr>
          <a:xfrm>
            <a:off x="7927848" y="2697480"/>
            <a:ext cx="164592" cy="0"/>
          </a:xfrm>
          <a:prstGeom prst="line">
            <a:avLst/>
          </a:prstGeom>
          <a:noFill/>
          <a:ln w="20320">
            <a:solidFill>
              <a:srgbClr val="4285F4"/>
            </a:solidFill>
            <a:prstDash val="solid"/>
            <a:tailEnd type="arrow" w="sm" len="sm"/>
          </a:ln>
        </p:spPr>
      </p:sp>
      <p:sp>
        <p:nvSpPr>
          <p:cNvPr id="54" name="Shape 52"/>
          <p:cNvSpPr/>
          <p:nvPr/>
        </p:nvSpPr>
        <p:spPr>
          <a:xfrm>
            <a:off x="8092440" y="1078992"/>
            <a:ext cx="1755648" cy="3246120"/>
          </a:xfrm>
          <a:prstGeom prst="roundRect">
            <a:avLst>
              <a:gd name="adj" fmla="val 3646"/>
            </a:avLst>
          </a:prstGeom>
          <a:solidFill>
            <a:srgbClr val="FFFFFF"/>
          </a:solidFill>
          <a:ln w="17145">
            <a:solidFill>
              <a:srgbClr val="EA4335"/>
            </a:solidFill>
            <a:prstDash val="solid"/>
          </a:ln>
        </p:spPr>
      </p:sp>
      <p:sp>
        <p:nvSpPr>
          <p:cNvPr id="55" name="Shape 53"/>
          <p:cNvSpPr/>
          <p:nvPr/>
        </p:nvSpPr>
        <p:spPr>
          <a:xfrm>
            <a:off x="8092440" y="1078992"/>
            <a:ext cx="1755648" cy="310896"/>
          </a:xfrm>
          <a:prstGeom prst="rect">
            <a:avLst/>
          </a:prstGeom>
          <a:solidFill>
            <a:srgbClr val="FCE8E6"/>
          </a:solidFill>
          <a:ln/>
        </p:spPr>
      </p:sp>
      <p:sp>
        <p:nvSpPr>
          <p:cNvPr id="56" name="Text 54"/>
          <p:cNvSpPr/>
          <p:nvPr/>
        </p:nvSpPr>
        <p:spPr>
          <a:xfrm>
            <a:off x="8147304" y="1115568"/>
            <a:ext cx="1645920" cy="237744"/>
          </a:xfrm>
          <a:prstGeom prst="rect">
            <a:avLst/>
          </a:prstGeom>
          <a:noFill/>
          <a:ln/>
        </p:spPr>
        <p:txBody>
          <a:bodyPr wrap="square" rtlCol="0" anchor="ctr"/>
          <a:lstStyle/>
          <a:p>
            <a:pPr algn="ctr" indent="0" marL="0">
              <a:buNone/>
            </a:pPr>
            <a:r>
              <a:rPr lang="en-US" sz="800" b="1" dirty="0">
                <a:solidFill>
                  <a:srgbClr val="EA4335"/>
                </a:solidFill>
                <a:latin typeface="Google Sans" pitchFamily="34" charset="0"/>
                <a:ea typeface="Google Sans" pitchFamily="34" charset="-122"/>
                <a:cs typeface="Google Sans" pitchFamily="34" charset="-120"/>
              </a:rPr>
              <a:t>STAGE 5 • HOP 5</a:t>
            </a:r>
            <a:endParaRPr lang="en-US" sz="800" dirty="0"/>
          </a:p>
        </p:txBody>
      </p:sp>
      <p:sp>
        <p:nvSpPr>
          <p:cNvPr id="57" name="Shape 55"/>
          <p:cNvSpPr/>
          <p:nvPr/>
        </p:nvSpPr>
        <p:spPr>
          <a:xfrm>
            <a:off x="8330184" y="1463040"/>
            <a:ext cx="1280160" cy="219456"/>
          </a:xfrm>
          <a:prstGeom prst="roundRect">
            <a:avLst>
              <a:gd name="adj" fmla="val 25000"/>
            </a:avLst>
          </a:prstGeom>
          <a:solidFill>
            <a:srgbClr val="F8F9FA"/>
          </a:solidFill>
          <a:ln w="9525">
            <a:solidFill>
              <a:srgbClr val="DADCE0"/>
            </a:solidFill>
            <a:prstDash val="solid"/>
          </a:ln>
        </p:spPr>
      </p:sp>
      <p:sp>
        <p:nvSpPr>
          <p:cNvPr id="58" name="Text 56"/>
          <p:cNvSpPr/>
          <p:nvPr/>
        </p:nvSpPr>
        <p:spPr>
          <a:xfrm>
            <a:off x="8330184" y="1463040"/>
            <a:ext cx="1280160" cy="219456"/>
          </a:xfrm>
          <a:prstGeom prst="rect">
            <a:avLst/>
          </a:prstGeom>
          <a:noFill/>
          <a:ln/>
        </p:spPr>
        <p:txBody>
          <a:bodyPr wrap="square" rtlCol="0" anchor="ctr"/>
          <a:lstStyle/>
          <a:p>
            <a:pPr algn="ctr" indent="0" marL="0">
              <a:buNone/>
            </a:pPr>
            <a:r>
              <a:rPr lang="en-US" sz="780" b="1" dirty="0">
                <a:solidFill>
                  <a:srgbClr val="3C4043"/>
                </a:solidFill>
                <a:latin typeface="Roboto" pitchFamily="34" charset="0"/>
                <a:ea typeface="Roboto" pitchFamily="34" charset="-122"/>
                <a:cs typeface="Roboto" pitchFamily="34" charset="-120"/>
              </a:rPr>
              <a:t>~5ms p95</a:t>
            </a:r>
            <a:endParaRPr lang="en-US" sz="780" dirty="0"/>
          </a:p>
        </p:txBody>
      </p:sp>
      <p:sp>
        <p:nvSpPr>
          <p:cNvPr id="59" name="Text 57"/>
          <p:cNvSpPr/>
          <p:nvPr/>
        </p:nvSpPr>
        <p:spPr>
          <a:xfrm>
            <a:off x="8165592" y="1755648"/>
            <a:ext cx="1609344" cy="38404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RLS Data &amp; Inference</a:t>
            </a:r>
            <a:endParaRPr lang="en-US" sz="940" dirty="0"/>
          </a:p>
        </p:txBody>
      </p:sp>
      <p:sp>
        <p:nvSpPr>
          <p:cNvPr id="60" name="Text 58"/>
          <p:cNvSpPr/>
          <p:nvPr/>
        </p:nvSpPr>
        <p:spPr>
          <a:xfrm>
            <a:off x="8165592" y="2176272"/>
            <a:ext cx="1609344" cy="292608"/>
          </a:xfrm>
          <a:prstGeom prst="rect">
            <a:avLst/>
          </a:prstGeom>
          <a:noFill/>
          <a:ln/>
        </p:spPr>
        <p:txBody>
          <a:bodyPr wrap="square" rtlCol="0" anchor="ctr"/>
          <a:lstStyle/>
          <a:p>
            <a:pPr algn="ctr" indent="0" marL="0">
              <a:buNone/>
            </a:pPr>
            <a:r>
              <a:rPr lang="en-US" sz="800" b="1" dirty="0">
                <a:solidFill>
                  <a:srgbClr val="174EA6"/>
                </a:solidFill>
                <a:latin typeface="Roboto" pitchFamily="34" charset="0"/>
                <a:ea typeface="Roboto" pitchFamily="34" charset="-122"/>
                <a:cs typeface="Roboto" pitchFamily="34" charset="-120"/>
              </a:rPr>
              <a:t>AlloyDB RLS + Vertex AI</a:t>
            </a:r>
            <a:endParaRPr lang="en-US" sz="800" dirty="0"/>
          </a:p>
        </p:txBody>
      </p:sp>
      <p:sp>
        <p:nvSpPr>
          <p:cNvPr id="61" name="Text 59"/>
          <p:cNvSpPr/>
          <p:nvPr/>
        </p:nvSpPr>
        <p:spPr>
          <a:xfrm>
            <a:off x="8165592" y="2523744"/>
            <a:ext cx="1609344" cy="1691640"/>
          </a:xfrm>
          <a:prstGeom prst="rect">
            <a:avLst/>
          </a:prstGeom>
          <a:noFill/>
          <a:ln/>
        </p:spPr>
        <p:txBody>
          <a:bodyPr wrap="square" rtlCol="0" anchor="t"/>
          <a:lstStyle/>
          <a:p>
            <a:pPr indent="0" marL="0">
              <a:buNone/>
            </a:pPr>
            <a:r>
              <a:rPr lang="en-US" sz="810" dirty="0">
                <a:solidFill>
                  <a:srgbClr val="5F6368"/>
                </a:solidFill>
                <a:latin typeface="Roboto" pitchFamily="34" charset="0"/>
                <a:ea typeface="Roboto" pitchFamily="34" charset="-122"/>
                <a:cs typeface="Roboto" pitchFamily="34" charset="-120"/>
              </a:rPr>
              <a:t>SET LOCAL app.current_tenant_id; execute Gemini 2.5 Pro PT or air-gapped Gemma 3 27B.</a:t>
            </a:r>
            <a:endParaRPr lang="en-US" sz="810" dirty="0"/>
          </a:p>
        </p:txBody>
      </p:sp>
      <p:sp>
        <p:nvSpPr>
          <p:cNvPr id="62" name="Shape 60"/>
          <p:cNvSpPr/>
          <p:nvPr/>
        </p:nvSpPr>
        <p:spPr>
          <a:xfrm>
            <a:off x="9848088" y="2697480"/>
            <a:ext cx="164592" cy="0"/>
          </a:xfrm>
          <a:prstGeom prst="line">
            <a:avLst/>
          </a:prstGeom>
          <a:noFill/>
          <a:ln w="20320">
            <a:solidFill>
              <a:srgbClr val="4285F4"/>
            </a:solidFill>
            <a:prstDash val="solid"/>
            <a:tailEnd type="arrow" w="sm" len="sm"/>
          </a:ln>
        </p:spPr>
      </p:sp>
      <p:sp>
        <p:nvSpPr>
          <p:cNvPr id="63" name="Shape 61"/>
          <p:cNvSpPr/>
          <p:nvPr/>
        </p:nvSpPr>
        <p:spPr>
          <a:xfrm>
            <a:off x="10012680" y="1078992"/>
            <a:ext cx="1755648" cy="3246120"/>
          </a:xfrm>
          <a:prstGeom prst="roundRect">
            <a:avLst>
              <a:gd name="adj" fmla="val 3646"/>
            </a:avLst>
          </a:prstGeom>
          <a:solidFill>
            <a:srgbClr val="FFFFFF"/>
          </a:solidFill>
          <a:ln w="17145">
            <a:solidFill>
              <a:srgbClr val="34A853"/>
            </a:solidFill>
            <a:prstDash val="solid"/>
          </a:ln>
        </p:spPr>
      </p:sp>
      <p:sp>
        <p:nvSpPr>
          <p:cNvPr id="64" name="Shape 62"/>
          <p:cNvSpPr/>
          <p:nvPr/>
        </p:nvSpPr>
        <p:spPr>
          <a:xfrm>
            <a:off x="10012680" y="1078992"/>
            <a:ext cx="1755648" cy="310896"/>
          </a:xfrm>
          <a:prstGeom prst="rect">
            <a:avLst/>
          </a:prstGeom>
          <a:solidFill>
            <a:srgbClr val="E6F4EA"/>
          </a:solidFill>
          <a:ln/>
        </p:spPr>
      </p:sp>
      <p:sp>
        <p:nvSpPr>
          <p:cNvPr id="65" name="Text 63"/>
          <p:cNvSpPr/>
          <p:nvPr/>
        </p:nvSpPr>
        <p:spPr>
          <a:xfrm>
            <a:off x="10067544" y="1115568"/>
            <a:ext cx="1645920" cy="237744"/>
          </a:xfrm>
          <a:prstGeom prst="rect">
            <a:avLst/>
          </a:prstGeom>
          <a:noFill/>
          <a:ln/>
        </p:spPr>
        <p:txBody>
          <a:bodyPr wrap="square" rtlCol="0" anchor="ctr"/>
          <a:lstStyle/>
          <a:p>
            <a:pPr algn="ctr" indent="0" marL="0">
              <a:buNone/>
            </a:pPr>
            <a:r>
              <a:rPr lang="en-US" sz="800" b="1" dirty="0">
                <a:solidFill>
                  <a:srgbClr val="34A853"/>
                </a:solidFill>
                <a:latin typeface="Google Sans" pitchFamily="34" charset="0"/>
                <a:ea typeface="Google Sans" pitchFamily="34" charset="-122"/>
                <a:cs typeface="Google Sans" pitchFamily="34" charset="-120"/>
              </a:rPr>
              <a:t>STAGE 6 • ASYNC</a:t>
            </a:r>
            <a:endParaRPr lang="en-US" sz="800" dirty="0"/>
          </a:p>
        </p:txBody>
      </p:sp>
      <p:sp>
        <p:nvSpPr>
          <p:cNvPr id="66" name="Shape 64"/>
          <p:cNvSpPr/>
          <p:nvPr/>
        </p:nvSpPr>
        <p:spPr>
          <a:xfrm>
            <a:off x="10250424" y="1463040"/>
            <a:ext cx="1280160" cy="219456"/>
          </a:xfrm>
          <a:prstGeom prst="roundRect">
            <a:avLst>
              <a:gd name="adj" fmla="val 25000"/>
            </a:avLst>
          </a:prstGeom>
          <a:solidFill>
            <a:srgbClr val="F8F9FA"/>
          </a:solidFill>
          <a:ln w="9525">
            <a:solidFill>
              <a:srgbClr val="DADCE0"/>
            </a:solidFill>
            <a:prstDash val="solid"/>
          </a:ln>
        </p:spPr>
      </p:sp>
      <p:sp>
        <p:nvSpPr>
          <p:cNvPr id="67" name="Text 65"/>
          <p:cNvSpPr/>
          <p:nvPr/>
        </p:nvSpPr>
        <p:spPr>
          <a:xfrm>
            <a:off x="10250424" y="1463040"/>
            <a:ext cx="1280160" cy="219456"/>
          </a:xfrm>
          <a:prstGeom prst="rect">
            <a:avLst/>
          </a:prstGeom>
          <a:noFill/>
          <a:ln/>
        </p:spPr>
        <p:txBody>
          <a:bodyPr wrap="square" rtlCol="0" anchor="ctr"/>
          <a:lstStyle/>
          <a:p>
            <a:pPr algn="ctr" indent="0" marL="0">
              <a:buNone/>
            </a:pPr>
            <a:r>
              <a:rPr lang="en-US" sz="780" b="1" dirty="0">
                <a:solidFill>
                  <a:srgbClr val="3C4043"/>
                </a:solidFill>
                <a:latin typeface="Roboto" pitchFamily="34" charset="0"/>
                <a:ea typeface="Roboto" pitchFamily="34" charset="-122"/>
                <a:cs typeface="Roboto" pitchFamily="34" charset="-120"/>
              </a:rPr>
              <a:t>0ms hot-path</a:t>
            </a:r>
            <a:endParaRPr lang="en-US" sz="780" dirty="0"/>
          </a:p>
        </p:txBody>
      </p:sp>
      <p:sp>
        <p:nvSpPr>
          <p:cNvPr id="68" name="Text 66"/>
          <p:cNvSpPr/>
          <p:nvPr/>
        </p:nvSpPr>
        <p:spPr>
          <a:xfrm>
            <a:off x="10085832" y="1755648"/>
            <a:ext cx="1609344" cy="38404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OTel FinOps Ledger</a:t>
            </a:r>
            <a:endParaRPr lang="en-US" sz="940" dirty="0"/>
          </a:p>
        </p:txBody>
      </p:sp>
      <p:sp>
        <p:nvSpPr>
          <p:cNvPr id="69" name="Text 67"/>
          <p:cNvSpPr/>
          <p:nvPr/>
        </p:nvSpPr>
        <p:spPr>
          <a:xfrm>
            <a:off x="10085832" y="2176272"/>
            <a:ext cx="1609344" cy="292608"/>
          </a:xfrm>
          <a:prstGeom prst="rect">
            <a:avLst/>
          </a:prstGeom>
          <a:noFill/>
          <a:ln/>
        </p:spPr>
        <p:txBody>
          <a:bodyPr wrap="square" rtlCol="0" anchor="ctr"/>
          <a:lstStyle/>
          <a:p>
            <a:pPr algn="ctr" indent="0" marL="0">
              <a:buNone/>
            </a:pPr>
            <a:r>
              <a:rPr lang="en-US" sz="800" b="1" dirty="0">
                <a:solidFill>
                  <a:srgbClr val="174EA6"/>
                </a:solidFill>
                <a:latin typeface="Roboto" pitchFamily="34" charset="0"/>
                <a:ea typeface="Roboto" pitchFamily="34" charset="-122"/>
                <a:cs typeface="Roboto" pitchFamily="34" charset="-120"/>
              </a:rPr>
              <a:t>BigQuery OTel Sink</a:t>
            </a:r>
            <a:endParaRPr lang="en-US" sz="800" dirty="0"/>
          </a:p>
        </p:txBody>
      </p:sp>
      <p:sp>
        <p:nvSpPr>
          <p:cNvPr id="70" name="Text 68"/>
          <p:cNvSpPr/>
          <p:nvPr/>
        </p:nvSpPr>
        <p:spPr>
          <a:xfrm>
            <a:off x="10085832" y="2523744"/>
            <a:ext cx="1609344" cy="1691640"/>
          </a:xfrm>
          <a:prstGeom prst="rect">
            <a:avLst/>
          </a:prstGeom>
          <a:noFill/>
          <a:ln/>
        </p:spPr>
        <p:txBody>
          <a:bodyPr wrap="square" rtlCol="0" anchor="t"/>
          <a:lstStyle/>
          <a:p>
            <a:pPr indent="0" marL="0">
              <a:buNone/>
            </a:pPr>
            <a:r>
              <a:rPr lang="en-US" sz="810" dirty="0">
                <a:solidFill>
                  <a:srgbClr val="5F6368"/>
                </a:solidFill>
                <a:latin typeface="Roboto" pitchFamily="34" charset="0"/>
                <a:ea typeface="Roboto" pitchFamily="34" charset="-122"/>
                <a:cs typeface="Roboto" pitchFamily="34" charset="-120"/>
              </a:rPr>
              <a:t>Export SHA-256 prompt hash + cached &amp; thinking token counters for exact SQL chargeback.</a:t>
            </a:r>
            <a:endParaRPr lang="en-US" sz="810" dirty="0"/>
          </a:p>
        </p:txBody>
      </p:sp>
      <p:sp>
        <p:nvSpPr>
          <p:cNvPr id="71" name="Shape 69"/>
          <p:cNvSpPr/>
          <p:nvPr/>
        </p:nvSpPr>
        <p:spPr>
          <a:xfrm>
            <a:off x="411480" y="4526280"/>
            <a:ext cx="11365992" cy="1783080"/>
          </a:xfrm>
          <a:prstGeom prst="roundRect">
            <a:avLst>
              <a:gd name="adj" fmla="val 4103"/>
            </a:avLst>
          </a:prstGeom>
          <a:solidFill>
            <a:srgbClr val="FCE8E6"/>
          </a:solidFill>
          <a:ln w="15875">
            <a:solidFill>
              <a:srgbClr val="EA4335"/>
            </a:solidFill>
            <a:prstDash val="solid"/>
          </a:ln>
        </p:spPr>
      </p:sp>
      <p:sp>
        <p:nvSpPr>
          <p:cNvPr id="72" name="Text 70"/>
          <p:cNvSpPr/>
          <p:nvPr/>
        </p:nvSpPr>
        <p:spPr>
          <a:xfrm>
            <a:off x="594360" y="4626864"/>
            <a:ext cx="10972800" cy="256032"/>
          </a:xfrm>
          <a:prstGeom prst="rect">
            <a:avLst/>
          </a:prstGeom>
          <a:noFill/>
          <a:ln/>
        </p:spPr>
        <p:txBody>
          <a:bodyPr wrap="square" rtlCol="0" anchor="ctr"/>
          <a:lstStyle/>
          <a:p>
            <a:pPr indent="0" marL="0">
              <a:buNone/>
            </a:pPr>
            <a:r>
              <a:rPr lang="en-US" sz="950" b="1" dirty="0">
                <a:solidFill>
                  <a:srgbClr val="A50E0E"/>
                </a:solidFill>
                <a:latin typeface="Google Sans" pitchFamily="34" charset="0"/>
                <a:ea typeface="Google Sans" pitchFamily="34" charset="-122"/>
                <a:cs typeface="Google Sans" pitchFamily="34" charset="-120"/>
              </a:rPr>
              <a:t>DETERMINISTIC FAIL-CLOSED CIRCUIT BREAKERS (ZERO CROSS-TENANT FALLBACK)</a:t>
            </a:r>
            <a:endParaRPr lang="en-US" sz="950" dirty="0"/>
          </a:p>
        </p:txBody>
      </p:sp>
      <p:sp>
        <p:nvSpPr>
          <p:cNvPr id="73" name="Shape 71"/>
          <p:cNvSpPr/>
          <p:nvPr/>
        </p:nvSpPr>
        <p:spPr>
          <a:xfrm>
            <a:off x="594360" y="4956048"/>
            <a:ext cx="2633472" cy="1225296"/>
          </a:xfrm>
          <a:prstGeom prst="roundRect">
            <a:avLst>
              <a:gd name="adj" fmla="val 4478"/>
            </a:avLst>
          </a:prstGeom>
          <a:solidFill>
            <a:srgbClr val="FFFFFF"/>
          </a:solidFill>
          <a:ln w="12700">
            <a:solidFill>
              <a:srgbClr val="EA4335"/>
            </a:solidFill>
            <a:prstDash val="solid"/>
          </a:ln>
        </p:spPr>
      </p:sp>
      <p:sp>
        <p:nvSpPr>
          <p:cNvPr id="74" name="Text 72"/>
          <p:cNvSpPr/>
          <p:nvPr/>
        </p:nvSpPr>
        <p:spPr>
          <a:xfrm>
            <a:off x="685800" y="5029200"/>
            <a:ext cx="2450592" cy="256032"/>
          </a:xfrm>
          <a:prstGeom prst="rect">
            <a:avLst/>
          </a:prstGeom>
          <a:noFill/>
          <a:ln/>
        </p:spPr>
        <p:txBody>
          <a:bodyPr wrap="square" rtlCol="0" anchor="ctr"/>
          <a:lstStyle/>
          <a:p>
            <a:pPr indent="0" marL="0">
              <a:buNone/>
            </a:pPr>
            <a:r>
              <a:rPr lang="en-US" sz="860" b="1" dirty="0">
                <a:solidFill>
                  <a:srgbClr val="A50E0E"/>
                </a:solidFill>
                <a:latin typeface="Google Sans" pitchFamily="34" charset="0"/>
                <a:ea typeface="Google Sans" pitchFamily="34" charset="-122"/>
                <a:cs typeface="Google Sans" pitchFamily="34" charset="-120"/>
              </a:rPr>
              <a:t>HTTP 401 / 403  •  Identity or JTI Revoked</a:t>
            </a:r>
            <a:endParaRPr lang="en-US" sz="860" dirty="0"/>
          </a:p>
        </p:txBody>
      </p:sp>
      <p:sp>
        <p:nvSpPr>
          <p:cNvPr id="75" name="Text 73"/>
          <p:cNvSpPr/>
          <p:nvPr/>
        </p:nvSpPr>
        <p:spPr>
          <a:xfrm>
            <a:off x="685800" y="5321808"/>
            <a:ext cx="2450592" cy="77724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Spoofed X-Tenant-Id, invalid DPoP proof, or ~3ms Valkey JTI deny-list hit.</a:t>
            </a:r>
            <a:endParaRPr lang="en-US" sz="800" dirty="0"/>
          </a:p>
        </p:txBody>
      </p:sp>
      <p:sp>
        <p:nvSpPr>
          <p:cNvPr id="76" name="Shape 74"/>
          <p:cNvSpPr/>
          <p:nvPr/>
        </p:nvSpPr>
        <p:spPr>
          <a:xfrm>
            <a:off x="3374136" y="4956048"/>
            <a:ext cx="2633472" cy="1225296"/>
          </a:xfrm>
          <a:prstGeom prst="roundRect">
            <a:avLst>
              <a:gd name="adj" fmla="val 4478"/>
            </a:avLst>
          </a:prstGeom>
          <a:solidFill>
            <a:srgbClr val="FFFFFF"/>
          </a:solidFill>
          <a:ln w="12700">
            <a:solidFill>
              <a:srgbClr val="EA4335"/>
            </a:solidFill>
            <a:prstDash val="solid"/>
          </a:ln>
        </p:spPr>
      </p:sp>
      <p:sp>
        <p:nvSpPr>
          <p:cNvPr id="77" name="Text 75"/>
          <p:cNvSpPr/>
          <p:nvPr/>
        </p:nvSpPr>
        <p:spPr>
          <a:xfrm>
            <a:off x="3465576" y="5029200"/>
            <a:ext cx="2450592" cy="256032"/>
          </a:xfrm>
          <a:prstGeom prst="rect">
            <a:avLst/>
          </a:prstGeom>
          <a:noFill/>
          <a:ln/>
        </p:spPr>
        <p:txBody>
          <a:bodyPr wrap="square" rtlCol="0" anchor="ctr"/>
          <a:lstStyle/>
          <a:p>
            <a:pPr indent="0" marL="0">
              <a:buNone/>
            </a:pPr>
            <a:r>
              <a:rPr lang="en-US" sz="860" b="1" dirty="0">
                <a:solidFill>
                  <a:srgbClr val="A50E0E"/>
                </a:solidFill>
                <a:latin typeface="Google Sans" pitchFamily="34" charset="0"/>
                <a:ea typeface="Google Sans" pitchFamily="34" charset="-122"/>
                <a:cs typeface="Google Sans" pitchFamily="34" charset="-120"/>
              </a:rPr>
              <a:t>HTTP 429  •  Noisy-Neighbor Bulkhead</a:t>
            </a:r>
            <a:endParaRPr lang="en-US" sz="860" dirty="0"/>
          </a:p>
        </p:txBody>
      </p:sp>
      <p:sp>
        <p:nvSpPr>
          <p:cNvPr id="78" name="Text 76"/>
          <p:cNvSpPr/>
          <p:nvPr/>
        </p:nvSpPr>
        <p:spPr>
          <a:xfrm>
            <a:off x="3465576" y="5321808"/>
            <a:ext cx="2450592" cy="77724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Tenant exceeds 120 or 600 RPM bucket; returns Retry-After with jitter.</a:t>
            </a:r>
            <a:endParaRPr lang="en-US" sz="800" dirty="0"/>
          </a:p>
        </p:txBody>
      </p:sp>
      <p:sp>
        <p:nvSpPr>
          <p:cNvPr id="79" name="Shape 77"/>
          <p:cNvSpPr/>
          <p:nvPr/>
        </p:nvSpPr>
        <p:spPr>
          <a:xfrm>
            <a:off x="6153912" y="4956048"/>
            <a:ext cx="2633472" cy="1225296"/>
          </a:xfrm>
          <a:prstGeom prst="roundRect">
            <a:avLst>
              <a:gd name="adj" fmla="val 4478"/>
            </a:avLst>
          </a:prstGeom>
          <a:solidFill>
            <a:srgbClr val="FFFFFF"/>
          </a:solidFill>
          <a:ln w="12700">
            <a:solidFill>
              <a:srgbClr val="EA4335"/>
            </a:solidFill>
            <a:prstDash val="solid"/>
          </a:ln>
        </p:spPr>
      </p:sp>
      <p:sp>
        <p:nvSpPr>
          <p:cNvPr id="80" name="Text 78"/>
          <p:cNvSpPr/>
          <p:nvPr/>
        </p:nvSpPr>
        <p:spPr>
          <a:xfrm>
            <a:off x="6245352" y="5029200"/>
            <a:ext cx="2450592" cy="256032"/>
          </a:xfrm>
          <a:prstGeom prst="rect">
            <a:avLst/>
          </a:prstGeom>
          <a:noFill/>
          <a:ln/>
        </p:spPr>
        <p:txBody>
          <a:bodyPr wrap="square" rtlCol="0" anchor="ctr"/>
          <a:lstStyle/>
          <a:p>
            <a:pPr indent="0" marL="0">
              <a:buNone/>
            </a:pPr>
            <a:r>
              <a:rPr lang="en-US" sz="860" b="1" dirty="0">
                <a:solidFill>
                  <a:srgbClr val="A50E0E"/>
                </a:solidFill>
                <a:latin typeface="Google Sans" pitchFamily="34" charset="0"/>
                <a:ea typeface="Google Sans" pitchFamily="34" charset="-122"/>
                <a:cs typeface="Google Sans" pitchFamily="34" charset="-120"/>
              </a:rPr>
              <a:t>HTTP 422  •  Model Armor / DLP Block</a:t>
            </a:r>
            <a:endParaRPr lang="en-US" sz="860" dirty="0"/>
          </a:p>
        </p:txBody>
      </p:sp>
      <p:sp>
        <p:nvSpPr>
          <p:cNvPr id="81" name="Text 79"/>
          <p:cNvSpPr/>
          <p:nvPr/>
        </p:nvSpPr>
        <p:spPr>
          <a:xfrm>
            <a:off x="6245352" y="5321808"/>
            <a:ext cx="2450592" cy="77724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Prompt injection, jailbreak, or unredacted PHI/PCI blocked before LLM call.</a:t>
            </a:r>
            <a:endParaRPr lang="en-US" sz="800" dirty="0"/>
          </a:p>
        </p:txBody>
      </p:sp>
      <p:sp>
        <p:nvSpPr>
          <p:cNvPr id="82" name="Shape 80"/>
          <p:cNvSpPr/>
          <p:nvPr/>
        </p:nvSpPr>
        <p:spPr>
          <a:xfrm>
            <a:off x="8933688" y="4956048"/>
            <a:ext cx="2633472" cy="1225296"/>
          </a:xfrm>
          <a:prstGeom prst="roundRect">
            <a:avLst>
              <a:gd name="adj" fmla="val 4478"/>
            </a:avLst>
          </a:prstGeom>
          <a:solidFill>
            <a:srgbClr val="FFFFFF"/>
          </a:solidFill>
          <a:ln w="12700">
            <a:solidFill>
              <a:srgbClr val="EA4335"/>
            </a:solidFill>
            <a:prstDash val="solid"/>
          </a:ln>
        </p:spPr>
      </p:sp>
      <p:sp>
        <p:nvSpPr>
          <p:cNvPr id="83" name="Text 81"/>
          <p:cNvSpPr/>
          <p:nvPr/>
        </p:nvSpPr>
        <p:spPr>
          <a:xfrm>
            <a:off x="9025128" y="5029200"/>
            <a:ext cx="2450592" cy="256032"/>
          </a:xfrm>
          <a:prstGeom prst="rect">
            <a:avLst/>
          </a:prstGeom>
          <a:noFill/>
          <a:ln/>
        </p:spPr>
        <p:txBody>
          <a:bodyPr wrap="square" rtlCol="0" anchor="ctr"/>
          <a:lstStyle/>
          <a:p>
            <a:pPr indent="0" marL="0">
              <a:buNone/>
            </a:pPr>
            <a:r>
              <a:rPr lang="en-US" sz="860" b="1" dirty="0">
                <a:solidFill>
                  <a:srgbClr val="A50E0E"/>
                </a:solidFill>
                <a:latin typeface="Google Sans" pitchFamily="34" charset="0"/>
                <a:ea typeface="Google Sans" pitchFamily="34" charset="-122"/>
                <a:cs typeface="Google Sans" pitchFamily="34" charset="-120"/>
              </a:rPr>
              <a:t>HTTP 423  •  CMEK Key Revoked Lock</a:t>
            </a:r>
            <a:endParaRPr lang="en-US" sz="860" dirty="0"/>
          </a:p>
        </p:txBody>
      </p:sp>
      <p:sp>
        <p:nvSpPr>
          <p:cNvPr id="84" name="Text 82"/>
          <p:cNvSpPr/>
          <p:nvPr/>
        </p:nvSpPr>
        <p:spPr>
          <a:xfrm>
            <a:off x="9025128" y="5321808"/>
            <a:ext cx="2450592" cy="777240"/>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&lt;60s KMS state + &lt;5s Valkey SCAN+UNLINK eviction; SET NX PX 5000 recovery.</a:t>
            </a:r>
            <a:endParaRPr lang="en-US" sz="800" dirty="0"/>
          </a:p>
        </p:txBody>
      </p:sp>
      <p:sp>
        <p:nvSpPr>
          <p:cNvPr id="85" name="Text 83"/>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Workstream 1 • Reference Architecture &amp; Cloud Architecture Center Doc PR  •  End-to-End 5-Hop Process Lifecycle (~42ms p95 Control-Plane Overhead) &amp; Fail-Closed Gates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 (L1 LOGICAL): Reference Taxonomy — 3 Logical Security Layers &amp; Signed STS JWT</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3-layer logical security taxonomy: Layer 1 (Tenant Identity &amp; Ingress) → Layer 2 (Vertex AI Agent Engine &amp; ~3ms Valkey JTI Deny-List) → Layer 3 (Isolation Data Planes)</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LAYER 1: TENANT IDENTITY &amp; INGRESS</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(Competing Enterprise Callers)</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FinVault</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Google Cloud Identity</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(Enterprise Tier)</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Retail</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Microsoft Entra ID</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(Standard Tier)</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Partner</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Cloud Identity SAML</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(Federated Caller)</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OIDC JWT +</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DPoP Proof</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Cloud Armor</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 IAP Edge</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LAYER 2: 5-HOP ADK CONTROL PLANE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(Shared 80% Core • ~42ms p95)</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Vertex AI Agent Engine &amp; ~3ms Valkey JTI Deny-List</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STS</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 1: IAM STS OBO,</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DPoP &amp; JTI Deny-List</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ARD</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Hops 2–3: ARD Filter</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&amp; L1–L5 Memory Scope</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DLP</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 4: Model Armor &amp;</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Inline DLP (~22ms p95)</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5-Min STS JWT +</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&lt;0.15ms JWKS Verify</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Zero Re-Auth + ~3ms</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Valkey JTI Revoke Check</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LAYER 3: ISOLATION DATA PLANES</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(Maps to 4 Physical VPC-SC Perimeters)</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PAT A</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Pattern A: Shared Pool &amp; AlloyDB RLS (Perimeter 3)</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PAT B • VPC-SC</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PAT C • /28 PSC</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Sovereign Silo &amp; Hybrid PSC Spokes (Perimeter 4)</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OTel</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5: 2LO/3LO MCP &amp; Governance Hub (Perimeters 1–2)</a:t>
            </a:r>
            <a:endParaRPr lang="en-US" sz="940" dirty="0"/>
          </a:p>
        </p:txBody>
      </p:sp>
      <p:sp>
        <p:nvSpPr>
          <p:cNvPr id="90" name="Text 88"/>
          <p:cNvSpPr/>
          <p:nvPr/>
        </p:nvSpPr>
        <p:spPr>
          <a:xfrm>
            <a:off x="365760" y="6601968"/>
            <a:ext cx="11460175" cy="201168"/>
          </a:xfrm>
          <a:prstGeom prst="rect">
            <a:avLst/>
          </a:prstGeom>
          <a:noFill/>
          <a:ln/>
        </p:spPr>
        <p:txBody>
          <a:bodyPr wrap="none" rtlCol="0" anchor="ctr"/>
          <a:lstStyle/>
          <a:p>
            <a:pPr algn="l" indent="0" marL="0">
              <a:buNone/>
            </a:pPr>
            <a:r>
              <a:rPr lang="en-US" sz="74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20" dirty="0">
                <a:solidFill>
                  <a:srgbClr val="5F6368"/>
                </a:solidFill>
                <a:latin typeface="Roboto" pitchFamily="34" charset="0"/>
                <a:ea typeface="Roboto" pitchFamily="34" charset="-122"/>
                <a:cs typeface="Roboto" pitchFamily="34" charset="-120"/>
              </a:rPr>
              <a:t>Workstream 1 L1 Logical Taxonomy (3 Logical Security Layers → 4 Physical VPC-SC Perimeters on Slide 6)  •  ~42ms p95 5-Hop Control Plane  •  </a:t>
            </a:r>
            <a:pPr algn="l" indent="0" marL="0">
              <a:buNone/>
            </a:pPr>
            <a:r>
              <a:rPr lang="en-US" sz="740" b="1" dirty="0">
                <a:solidFill>
                  <a:srgbClr val="3C4043"/>
                </a:solidFill>
                <a:latin typeface="Google Sans" pitchFamily="34" charset="0"/>
                <a:ea typeface="Google Sans" pitchFamily="34" charset="-122"/>
                <a:cs typeface="Google Sans" pitchFamily="34" charset="-120"/>
              </a:rPr>
              <a:t>Proprietary + Confidential</a:t>
            </a:r>
            <a:endParaRPr lang="en-US" sz="7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ARCHITECTURAL OPTIONS &amp; PATTERN A / B / C DECISION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Comparison of Multi-Tenant Isolation Patterns (A, B &amp; C)</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Side-by-side Google Cloud Well-Architected trade-off analysis, isolation boundaries, and unit economics.</a:t>
            </a:r>
            <a:endParaRPr lang="en-US" sz="98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057400"/>
                <a:gridCol w="3063240"/>
                <a:gridCol w="3154680"/>
                <a:gridCol w="3184855"/>
              </a:tblGrid>
              <a:tr h="365760">
                <a:tc>
                  <a:txBody>
                    <a:bodyPr/>
                    <a:lstStyle/>
                    <a:p>
                      <a:pPr indent="0" marL="0">
                        <a:buNone/>
                      </a:pPr>
                      <a:r>
                        <a:rPr lang="en-US" sz="900" b="1" dirty="0">
                          <a:solidFill>
                            <a:srgbClr val="FFFFFF"/>
                          </a:solidFill>
                          <a:latin typeface="Google Sans" pitchFamily="34" charset="0"/>
                          <a:ea typeface="Google Sans" pitchFamily="34" charset="-122"/>
                          <a:cs typeface="Google Sans" pitchFamily="34" charset="-120"/>
                        </a:rPr>
                        <a:t>Architectural Dimension</a:t>
                      </a:r>
                      <a:endParaRPr lang="en-US" sz="90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00" b="1" dirty="0">
                          <a:solidFill>
                            <a:srgbClr val="FFFFFF"/>
                          </a:solidFill>
                          <a:latin typeface="Google Sans" pitchFamily="34" charset="0"/>
                          <a:ea typeface="Google Sans" pitchFamily="34" charset="-122"/>
                          <a:cs typeface="Google Sans" pitchFamily="34" charset="-120"/>
                        </a:rPr>
                        <a:t>Pattern A: High-Density Pooled (WS2)</a:t>
                      </a:r>
                      <a:endParaRPr lang="en-US" sz="90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00" b="1" dirty="0">
                          <a:solidFill>
                            <a:srgbClr val="FFFFFF"/>
                          </a:solidFill>
                          <a:latin typeface="Google Sans" pitchFamily="34" charset="0"/>
                          <a:ea typeface="Google Sans" pitchFamily="34" charset="-122"/>
                          <a:cs typeface="Google Sans" pitchFamily="34" charset="-120"/>
                        </a:rPr>
                        <a:t>Pattern B: Sovereign Silos (WS3)</a:t>
                      </a:r>
                      <a:endParaRPr lang="en-US" sz="90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00" b="1" dirty="0">
                          <a:solidFill>
                            <a:srgbClr val="FFFFFF"/>
                          </a:solidFill>
                          <a:latin typeface="Google Sans" pitchFamily="34" charset="0"/>
                          <a:ea typeface="Google Sans" pitchFamily="34" charset="-122"/>
                          <a:cs typeface="Google Sans" pitchFamily="34" charset="-120"/>
                        </a:rPr>
                        <a:t>Pattern C: Dynamic Hybrid PSC (WS4)</a:t>
                      </a:r>
                      <a:endParaRPr lang="en-US" sz="90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Control plane &amp; SRE fleet scale</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Single shared GCP project (cymbal-control-plane); 1 Terraform state with zero fleet sprawl</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Dedicated GCP project per tenant (cymbal-{tenant}-silo-prod); 500 tenants = 500 VPC-SC/KMS/DB states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Central Hub + Shared Pool (950 Std) + Dedicated PSC Spokes (50 Ent); avoids 500-silo IaC drift</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Compute &amp; gVisor sandbox</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Shared Cloud Run v2 &amp; Agent Engine gVisor (runsc) worker pool with temp:tenant_id</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Dedicated Agent Engine or self-managed air-gapped GKE GPU cluster (Gemma 3 27B)</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JWT-driven Firestore router dispatches Standard -&gt; Pool, Enterprise -&gt; unidirectional PSC Spoke</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Network &amp; perimeter isolation</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Shared VPC protected by Cloud Armor L7 WAF header stripping</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Per-tenant VPC Service Controls (VPC-SC) perimeter + BeyondCorp mTLS pinning</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Unidirectional Private Service Connect (PSC) endpoints (10.10.0.50 -&gt; /28 NAT subnet)</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Identity &amp; confused-deputy guard</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IAP OIDC + IAM STS RFC 8693 OBO &amp; RFC 9449 DPoP (&lt;0.15ms cached JWKS verify)</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IAM Principal Access Boundaries (PAB) + dedicated per-silo service accounts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Unified Hub OIDC + tier-scoped OBO/DPoP JWT forwarding &amp; Valkey JTI revocation list</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Data, memory &amp; CMEK L1 eviction</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Shared AlloyDB FORCE ROW LEVEL SECURITY + {tenant}:{user}:{session} L1–L5 Memory</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Dedicated AlloyDB &amp; CMEK (&lt;60s KMS SLA + &lt;5s Valkey SCAN+UNLINK L1 cache purge -&gt; 423)</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Pooled RLS for Standard; CMEK spoke vault + 3-phase zero-downtime live tier migration</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Model hosting &amp; FinOps COGS</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Shared 32k prefix cache (90% discount -&gt; 84.7% net per-turn token savings)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Managed Vertex AI Dedicated PT (0 K8s ops) or self-hosted GKE GPU node pool</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Blended portfolio (74% lower total cloud spend across 950 Std + 50 Ent tenants)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447142">
                <a:tc>
                  <a:txBody>
                    <a:bodyPr/>
                    <a:lstStyle/>
                    <a:p>
                      <a:pPr indent="0" marL="0">
                        <a:buNone/>
                      </a:pPr>
                      <a:r>
                        <a:rPr lang="en-US" sz="840" b="1" dirty="0">
                          <a:solidFill>
                            <a:srgbClr val="3C4043"/>
                          </a:solidFill>
                          <a:latin typeface="Google Sans" pitchFamily="34" charset="0"/>
                          <a:ea typeface="Google Sans" pitchFamily="34" charset="-122"/>
                          <a:cs typeface="Google Sans" pitchFamily="34" charset="-120"/>
                        </a:rPr>
                        <a:t>Target tier &amp; verification suite</a:t>
                      </a:r>
                      <a:endParaRPr lang="en-US" sz="840" dirty="0">
                        <a:latin typeface="Google Sans" charset="0"/>
                        <a:ea typeface="Google Sans" charset="0"/>
                        <a:cs typeface="Google Sans"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120 RPM Pool • High-volume commercial B2B SaaS (10/10 red-team breach tests PASS)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dirty="0">
                          <a:solidFill>
                            <a:srgbClr val="5F6368"/>
                          </a:solidFill>
                          <a:latin typeface="Roboto" pitchFamily="34" charset="0"/>
                          <a:ea typeface="Roboto" pitchFamily="34" charset="-122"/>
                          <a:cs typeface="Roboto" pitchFamily="34" charset="-120"/>
                        </a:rPr>
                        <a:t>600 RPM Silo • Regulated Banking, Healthcare &amp; Public Sector (6/6 silo tests PASS)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20" b="1" dirty="0">
                          <a:solidFill>
                            <a:srgbClr val="0D652D"/>
                          </a:solidFill>
                          <a:latin typeface="Roboto" pitchFamily="34" charset="0"/>
                          <a:ea typeface="Roboto" pitchFamily="34" charset="-122"/>
                          <a:cs typeface="Roboto" pitchFamily="34" charset="-120"/>
                        </a:rPr>
                        <a:t>120 RPM Pool (Std) / 600 RPM Spoke (Ent) • Live tier graduation (4/4 migration PASS)</a:t>
                      </a:r>
                      <a:endParaRPr lang="en-US" sz="820" dirty="0">
                        <a:latin typeface="Roboto" charset="0"/>
                        <a:ea typeface="Roboto" charset="0"/>
                        <a:cs typeface="Roboto" charset="0"/>
                      </a:endParaRPr>
                    </a:p>
                  </a:txBody>
                  <a:tcPr marL="91440" marR="91440" marT="68580" marB="6858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1. When to Choose Pattern A (Pooled)</a:t>
            </a:r>
            <a:endParaRPr lang="en-US" sz="82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High-density commercial B2B SaaS tiers requiring 90% shared 32k prefix cache savings, zero IaC sprawl (1 project), and AlloyDB FORCE RLS.</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Pattern B Silos &amp; SRE Fleet Scale Trade-Off</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Mandated for OCC/HIPAA/DORA 1:1 project + VPC-SC + CMEK silos, but 500 silos = 500 VPC-SC/KMS/DB states—reserve for premium regulated contracts.</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CMEK Propagation (~60s) vs. &lt;5s L1 Eviction</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While GCP KMS key disable takes up to 60s to propagate across storage, Hop 3 runs targeted Valkey SCAN+UNLINK (cache:{tenant}:*) in &lt;5s for HTTP 423.</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Pattern C Hybrid &amp; 80/20 Codebase Reuse</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Co-hosts 950 Pool + 50 PSC Spokes (74% TCO savings, 0ms cutover) using 80% identical ADK Python code (runtime_pipeline.py) across Terraform 2.6/3.6/4.6.</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Side-by-Side Architectural Options, Selection Rules &amp; Google Cloud Stack</a:t>
            </a:r>
            <a:endParaRPr lang="en-US" sz="880" dirty="0"/>
          </a:p>
        </p:txBody>
      </p:sp>
      <p:sp>
        <p:nvSpPr>
          <p:cNvPr id="40" name="Text 37"/>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Vertex AI Agent Engine Multi-Tenant Taxonomy: Pooled (A), Sovereign Silos (B) &amp; Hybrid (C)</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B2B SaaS platforms and large enterprises serve thousands of tenants across Pooled (Pattern A), Sovereign Silo (Pattern B), and Dynamic Hybrid (Pattern C) isolation models using one 80% reusable agentic codebase?</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Routing Hub (Ingress &amp; Identity PEP)</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Terminates TLS at External ALB, enforces Cloud Armor WAF &amp; Model Armor screening, authenticates via IAP, and resolves tenant tier.</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Central Governance &amp; Security Hub</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Centralizes Security Command Center posture monitoring, IAM Principal Access Boundaries, Cloud KMS keys, and BigQuery OTel FinOps.</a:t>
            </a:r>
            <a:endParaRPr lang="en-US" sz="660"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Pattern A: Pooled Shared Runtime Spoke</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Executes high-density multi-tenant workloads on shared Cloud Run / Agent Engine with 90% shared prompt caching and AlloyDB RLS.</a:t>
            </a:r>
            <a:endParaRPr lang="en-US" sz="660"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Pattern B Silos &amp; Pattern C PSC Spokes</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Isolates regulated tenants inside dedicated VPC-SC projects with Cloud KMS CMEK kill-switches or unidirectional PSC service attachments.</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Blue Perimeter 1 (Routing Hub — Steps 1–3 / Hop 1): Global ALB, Cloud Armor header strip, and IAP OIDC/DPoP exchange (~8ms p95) mint the KMS-signed STS JWT and route by tenant tier.</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Green Perimeter 2 (Governance Hub — Hops 2 &amp; 5): Discovery Engine ARD catalog filter (~4ms), Cloud KMS CMEK liveness, Security Command Center, and async BigQuery OTel FinOps (~5ms).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Yellow Perimeter 3 (Pattern A Pool — Steps 4–7 / Hops 3–5): gVisor (runsc) sandbox, Valkey RPM bulkheads (~3ms), Model Armor/DLP screening (Steps 4 &amp; 6, ~22ms), Gemini 2.5 Pro 90% cache (Step 5) &amp; AlloyDB RLS.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Red Perimeter 4 (Pattern B Silos &amp; Pattern C PSC Spokes): Per-tenant VPC-SC perimeters, IAM PAB, Managed Vertex Dedicated PT vs. Private GKE Gemma 3 27B GPUs, &lt;60s CMEK kill-switch &amp; /28 PSC NAT.</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ramp-portal-dev (#248990048888) &amp; bbar-138hf0 (#48439189383)</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Control Plane (cymbal-pooled-prod)</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VPC &amp; 5-Hop Cryptographic Context Chain</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1926641"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Pattern A: Pooled Shared Runtime (pattern_a_pooled_rls_entities)</a:t>
            </a:r>
            <a:endParaRPr lang="en-US" sz="400" dirty="0"/>
          </a:p>
        </p:txBody>
      </p:sp>
      <p:sp>
        <p:nvSpPr>
          <p:cNvPr id="124" name="Shape 121"/>
          <p:cNvSpPr/>
          <p:nvPr/>
        </p:nvSpPr>
        <p:spPr>
          <a:xfrm>
            <a:off x="3842309" y="3802075"/>
            <a:ext cx="1636776"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Dedicated Spoke: Pattern B Silo or Pattern C PSC Spoke</a:t>
            </a:r>
            <a:endParaRPr lang="en-US" sz="400" dirty="0"/>
          </a:p>
        </p:txBody>
      </p:sp>
      <p:sp>
        <p:nvSpPr>
          <p:cNvPr id="126" name="Shape 123"/>
          <p:cNvSpPr/>
          <p:nvPr/>
        </p:nvSpPr>
        <p:spPr>
          <a:xfrm>
            <a:off x="1547165" y="3964838"/>
            <a:ext cx="1239926"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Pool (Shared Runtime)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FinVault (8k Cap) &amp; RetailStream (4k Cap)</a:t>
            </a:r>
            <a:endParaRPr lang="en-US" sz="470" dirty="0"/>
          </a:p>
        </p:txBody>
      </p:sp>
      <p:sp>
        <p:nvSpPr>
          <p:cNvPr id="128" name="Shape 125"/>
          <p:cNvSpPr/>
          <p:nvPr/>
        </p:nvSpPr>
        <p:spPr>
          <a:xfrm>
            <a:off x="3911803" y="3964838"/>
            <a:ext cx="1296619"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Dedicated Sovereign Tenant Silo</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VPC-SC + IAM PAB + finvault-silo-cmek + PSC</a:t>
            </a:r>
            <a:endParaRPr lang="en-US" sz="470" dirty="0"/>
          </a:p>
        </p:txBody>
      </p:sp>
      <p:sp>
        <p:nvSpPr>
          <p:cNvPr id="130" name="Shape 127"/>
          <p:cNvSpPr/>
          <p:nvPr/>
        </p:nvSpPr>
        <p:spPr>
          <a:xfrm>
            <a:off x="1468526" y="1921154"/>
            <a:ext cx="1901952"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Routing hub (Hop 1 &amp; Hop 2 PEP/PDP)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Central ingress, OBO+DPoP KMS Sign &amp; Discovery Engine Catalog filter</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Central governance and FinOps observability hub</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Competing B2B Tenants</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FinVault (OIDC) &amp; RetailStream (Entra)</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Cloud Load Balancing</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Security Command Center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security_breach_audit_log</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Logging &amp; BQ</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tenant_telemetry_spans</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Central IAM &amp; PAB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Agent Identity (2LO/3LO)</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gVisor + temp:tenant_id</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MCP servers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2LO + 3LO OIDC/Entra</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AlloyDB &amp; BQ RLS</a:t>
            </a:r>
            <a:endParaRPr lang="en-US" sz="490" dirty="0"/>
          </a:p>
          <a:p>
            <a:pPr algn="l" indent="0" marL="0">
              <a:lnSpc>
                <a:spcPct val="100000"/>
              </a:lnSpc>
              <a:buNone/>
            </a:pPr>
            <a:r>
              <a:rPr lang="en-US" sz="373" dirty="0">
                <a:solidFill>
                  <a:srgbClr val="3C4043"/>
                </a:solidFill>
                <a:latin typeface="Arial" pitchFamily="34" charset="0"/>
                <a:ea typeface="Arial" pitchFamily="34" charset="-122"/>
                <a:cs typeface="Arial" pitchFamily="34" charset="-120"/>
              </a:rPr>
              <a:t>tenant_pooled_rls_policy</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Silo + Agent Alpha</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MCP servers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Local Silo 3LO Connectors</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finvault-silo-cmek &amp; 423 Lock</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a:t>
            </a:r>
            <a:endParaRPr lang="en-US" sz="490" dirty="0"/>
          </a:p>
          <a:p>
            <a:pPr algn="l" indent="0" marL="0">
              <a:lnSpc>
                <a:spcPct val="100000"/>
              </a:lnSpc>
              <a:buNone/>
            </a:pPr>
            <a:r>
              <a:rPr lang="en-US" sz="350" dirty="0">
                <a:solidFill>
                  <a:srgbClr val="3C4043"/>
                </a:solidFill>
                <a:latin typeface="Arial" pitchFamily="34" charset="0"/>
                <a:ea typeface="Arial" pitchFamily="34" charset="-122"/>
                <a:cs typeface="Arial" pitchFamily="34" charset="-120"/>
              </a:rPr>
              <a:t>cymbal-multi-tenant-patterns</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 Rai Filters &amp; SDP PII</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90% Prefix Cache Savings</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VPC-SC &amp;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Sovereign Silo Guardrails</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 Gemma 3</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PT or Private GKE</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DDoS • Strips X-Tenant-ID</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Ingress Prompt Screen</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RFC 8693 OBO + DPoP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KMS ECDSA P-256 Sign</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736092"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69951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 OTel &amp; FinOps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chargeback telemetry</a:t>
            </a:r>
            <a:endParaRPr lang="en-US" sz="385" dirty="0"/>
          </a:p>
        </p:txBody>
      </p:sp>
      <p:sp>
        <p:nvSpPr>
          <p:cNvPr id="211" name="Shape 189"/>
          <p:cNvSpPr/>
          <p:nvPr/>
        </p:nvSpPr>
        <p:spPr>
          <a:xfrm>
            <a:off x="2896819" y="4850892"/>
            <a:ext cx="372161"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915107" y="4856378"/>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Scoped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MCP &amp; RAG</a:t>
            </a:r>
            <a:endParaRPr lang="en-US" sz="385" dirty="0"/>
          </a:p>
        </p:txBody>
      </p:sp>
      <p:sp>
        <p:nvSpPr>
          <p:cNvPr id="213" name="Shape 191"/>
          <p:cNvSpPr/>
          <p:nvPr/>
        </p:nvSpPr>
        <p:spPr>
          <a:xfrm>
            <a:off x="2831897" y="5485486"/>
            <a:ext cx="502006"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50185"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SET LOCAL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current_tenant</a:t>
            </a:r>
            <a:endParaRPr lang="en-US" sz="385" dirty="0"/>
          </a:p>
        </p:txBody>
      </p:sp>
      <p:sp>
        <p:nvSpPr>
          <p:cNvPr id="215" name="Shape 193"/>
          <p:cNvSpPr/>
          <p:nvPr/>
        </p:nvSpPr>
        <p:spPr>
          <a:xfrm>
            <a:off x="5248656" y="4850892"/>
            <a:ext cx="397764"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66944" y="4856378"/>
            <a:ext cx="36118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Air-Gapped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Silo RAG</a:t>
            </a:r>
            <a:endParaRPr lang="en-US" sz="385" dirty="0"/>
          </a:p>
        </p:txBody>
      </p:sp>
      <p:sp>
        <p:nvSpPr>
          <p:cNvPr id="217" name="Shape 195"/>
          <p:cNvSpPr/>
          <p:nvPr/>
        </p:nvSpPr>
        <p:spPr>
          <a:xfrm>
            <a:off x="5197450" y="5485486"/>
            <a:ext cx="502006"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15738"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CMEK-Encrypted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State &amp; Tools</a:t>
            </a:r>
            <a:endParaRPr lang="en-US" sz="385" dirty="0"/>
          </a:p>
        </p:txBody>
      </p:sp>
      <p:sp>
        <p:nvSpPr>
          <p:cNvPr id="219" name="Shape 197"/>
          <p:cNvSpPr/>
          <p:nvPr/>
        </p:nvSpPr>
        <p:spPr>
          <a:xfrm>
            <a:off x="1757477" y="5637276"/>
            <a:ext cx="372161"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Generates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response</a:t>
            </a:r>
            <a:endParaRPr lang="en-US" sz="385" dirty="0"/>
          </a:p>
        </p:txBody>
      </p:sp>
      <p:sp>
        <p:nvSpPr>
          <p:cNvPr id="221" name="Shape 199"/>
          <p:cNvSpPr/>
          <p:nvPr/>
        </p:nvSpPr>
        <p:spPr>
          <a:xfrm>
            <a:off x="3905402" y="3389681"/>
            <a:ext cx="606247"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69671"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Sanitized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with SDP redaction</a:t>
            </a:r>
            <a:endParaRPr lang="en-US" sz="385" dirty="0"/>
          </a:p>
        </p:txBody>
      </p:sp>
      <p:sp>
        <p:nvSpPr>
          <p:cNvPr id="223" name="Shape 201"/>
          <p:cNvSpPr/>
          <p:nvPr/>
        </p:nvSpPr>
        <p:spPr>
          <a:xfrm>
            <a:off x="2983687" y="3389681"/>
            <a:ext cx="658368"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621792"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by tenant tier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(Pool, Silo or PSC)</a:t>
            </a:r>
            <a:endParaRPr lang="en-US" sz="385" dirty="0"/>
          </a:p>
        </p:txBody>
      </p:sp>
      <p:sp>
        <p:nvSpPr>
          <p:cNvPr id="225" name="Shape 203"/>
          <p:cNvSpPr/>
          <p:nvPr/>
        </p:nvSpPr>
        <p:spPr>
          <a:xfrm>
            <a:off x="2603297" y="2908706"/>
            <a:ext cx="397764"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621585" y="2914193"/>
            <a:ext cx="361188"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OBO + KMS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ECDSA sign</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229" name="Shape 207"/>
          <p:cNvSpPr/>
          <p:nvPr/>
        </p:nvSpPr>
        <p:spPr>
          <a:xfrm>
            <a:off x="1757477" y="4831690"/>
            <a:ext cx="58064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54406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231" name="Shape 209"/>
          <p:cNvSpPr/>
          <p:nvPr/>
        </p:nvSpPr>
        <p:spPr>
          <a:xfrm>
            <a:off x="2458822" y="2117750"/>
            <a:ext cx="449885"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77110" y="2123237"/>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Header &amp; WAF</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policies</a:t>
            </a:r>
            <a:endParaRPr lang="en-US" sz="385" dirty="0"/>
          </a:p>
        </p:txBody>
      </p:sp>
      <p:sp>
        <p:nvSpPr>
          <p:cNvPr id="233" name="Shape 211"/>
          <p:cNvSpPr/>
          <p:nvPr/>
        </p:nvSpPr>
        <p:spPr>
          <a:xfrm>
            <a:off x="2510942" y="2717597"/>
            <a:ext cx="345643"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529230" y="2723083"/>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prompt</a:t>
            </a:r>
            <a:endParaRPr lang="en-US" sz="385" dirty="0"/>
          </a:p>
        </p:txBody>
      </p:sp>
      <p:sp>
        <p:nvSpPr>
          <p:cNvPr id="235" name="Shape 213"/>
          <p:cNvSpPr/>
          <p:nvPr/>
        </p:nvSpPr>
        <p:spPr>
          <a:xfrm>
            <a:off x="3888029" y="1163117"/>
            <a:ext cx="345643"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7" name="Shape 215"/>
          <p:cNvSpPr/>
          <p:nvPr/>
        </p:nvSpPr>
        <p:spPr>
          <a:xfrm>
            <a:off x="3888029" y="2740457"/>
            <a:ext cx="345643"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9" name="Shape 217"/>
          <p:cNvSpPr/>
          <p:nvPr/>
        </p:nvSpPr>
        <p:spPr>
          <a:xfrm>
            <a:off x="3167482" y="1163117"/>
            <a:ext cx="320040"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85770"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1" name="Shape 219"/>
          <p:cNvSpPr/>
          <p:nvPr/>
        </p:nvSpPr>
        <p:spPr>
          <a:xfrm>
            <a:off x="3167482" y="2740457"/>
            <a:ext cx="320040"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85770"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VIS-WS1-MULTI-TENANT-TAXONOMY-OVERVIEW (diagrams/ws1-multi-tenant-taxonomy-overview.drawio)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2 (L2 Physical) — Google Cloud Architecture Center (#78): Multi-Tenant Agentic AI with 5-Hop Governance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2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extend the official Google Cloud Architecture Center multi-tenant hub-and-spoke blueprint with a 5-Hop Cryptographic Context Chain that prevents confused-deputy tool calls, cache bleed, and noisy neighbors?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Hops 1 &amp; 2: Edge PEP &amp; Catalog PDP</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Strips forged headers, verifies OIDC + DPoP identity at Hop 1, and prunes unauthorized agents and MCP tools at Hop 2.</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Central KMS Signing &amp; OTel Governance</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Signs non-replayable tenant context tokens via Cloud KMS, brokers 2LO/3LO OAuth tokens, and records BigQuery FinOps audit trails.</a:t>
            </a:r>
            <a:endParaRPr lang="en-US" sz="660"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Hops 3–5 (Tenant A): FinVault Bank Spoke</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Enforces gVisor sandbox isolation, 8,000-token thinking cap, OCC/FINRA Model Armor NLCs, Workspace/Jira 3LO MCP, and AlloyDB RLS.</a:t>
            </a:r>
            <a:endParaRPr lang="en-US" sz="660"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Hops 3–5 (Tenant B): RetailStream Corp Spoke</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Enforces gVisor sandbox isolation, 4,000-token thinking cap, PCI PAN Model Armor NLCs, SharePoint/ServiceNow 3LO MCP, and AlloyDB RLS.</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Extends the canonical Google Cloud Architecture Center hub-and-spoke diagram with 5 mandatory cryptographic tenant isolation hops.</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Zone 1 (Hops 1 &amp; 2): Cloud Armor, IAP OBO/DPoP (&lt;0.15ms cached JWKS verify), and Agent Engine Registry authenticate callers and prune unauthorized tools before model invocation.</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Zone 2 (Hop 5 FinOps &amp; 3LO Vault): DPoP-bound {tenant}:{user} 3LO Auth Broker prevents Confused Deputy calls while BigQuery OTel SQL attributes per-tenant token COGS.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Zone 3 (FinVault Enterprise Workload): Executes with an 8,000-token thinking budget, Managed Dedicated PT or GKE Gemma 3, OCC semantic NLCs, IBAN/SWIFT SDP masking, and Workspace/Jira 3LO.</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hubs (VPC Service Controls Organization Perimeter)</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VPC</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1433779"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PAB • Hop 3–5 Isolation Boundary (Tenant Alpha)</a:t>
            </a:r>
            <a:endParaRPr lang="en-US" sz="400" dirty="0"/>
          </a:p>
        </p:txBody>
      </p:sp>
      <p:sp>
        <p:nvSpPr>
          <p:cNvPr id="124" name="Shape 121"/>
          <p:cNvSpPr/>
          <p:nvPr/>
        </p:nvSpPr>
        <p:spPr>
          <a:xfrm>
            <a:off x="3842309" y="3802075"/>
            <a:ext cx="1505102"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PAB • Hop 3–5 Isolation Boundary (Tenant Beta)</a:t>
            </a:r>
            <a:endParaRPr lang="en-US" sz="430" dirty="0"/>
          </a:p>
        </p:txBody>
      </p:sp>
      <p:sp>
        <p:nvSpPr>
          <p:cNvPr id="126" name="Shape 123"/>
          <p:cNvSpPr/>
          <p:nvPr/>
        </p:nvSpPr>
        <p:spPr>
          <a:xfrm>
            <a:off x="1547165" y="3964838"/>
            <a:ext cx="1381658"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A (FinVault Bank)</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Tenant project • Enterprise Tier (Google OIDC)</a:t>
            </a:r>
            <a:endParaRPr lang="en-US" sz="470" dirty="0"/>
          </a:p>
        </p:txBody>
      </p:sp>
      <p:sp>
        <p:nvSpPr>
          <p:cNvPr id="128" name="Shape 125"/>
          <p:cNvSpPr/>
          <p:nvPr/>
        </p:nvSpPr>
        <p:spPr>
          <a:xfrm>
            <a:off x="3911803" y="3964838"/>
            <a:ext cx="1239926"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B (RetailStream Corp)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Tenant project • Standard Tier (Entra ID)</a:t>
            </a:r>
            <a:endParaRPr lang="en-US" sz="470" dirty="0"/>
          </a:p>
        </p:txBody>
      </p:sp>
      <p:sp>
        <p:nvSpPr>
          <p:cNvPr id="130" name="Shape 127"/>
          <p:cNvSpPr/>
          <p:nvPr/>
        </p:nvSpPr>
        <p:spPr>
          <a:xfrm>
            <a:off x="1468526" y="1921154"/>
            <a:ext cx="1381658"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Routing hub (Hop 1 &amp; Hop 2)</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Central ingress &amp; cryptographic token exchange</a:t>
            </a:r>
            <a:endParaRPr lang="en-US" sz="470" dirty="0"/>
          </a:p>
        </p:txBody>
      </p:sp>
      <p:sp>
        <p:nvSpPr>
          <p:cNvPr id="132" name="Shape 129"/>
          <p:cNvSpPr/>
          <p:nvPr/>
        </p:nvSpPr>
        <p:spPr>
          <a:xfrm>
            <a:off x="4641494" y="1955902"/>
            <a:ext cx="116220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Central governance and security hub</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User</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OIDC / Entra JWT</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Cloud Load Balancing</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Security Command Center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Continuous Threat Detection</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Logging &amp; BQ</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cymbal_agentic_finops_otel</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Central IAM</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Auth Manager (2LO / 3LO)</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 3: Shared + Agent Alpha</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MCP servers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 5: Workspace &amp; Jira 3LO</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BQ RLS, AlloyDB &amp; CMEK</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 3: Shared Diagnostic</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MCP servers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 5: SharePoint &amp; SNOW</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BQ RLS, AlloyDB &amp; Valkey</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a:t>
            </a:r>
            <a:endParaRPr lang="en-US" sz="490" dirty="0"/>
          </a:p>
          <a:p>
            <a:pPr algn="l" indent="0" marL="0">
              <a:lnSpc>
                <a:spcPct val="100000"/>
              </a:lnSpc>
              <a:buNone/>
            </a:pPr>
            <a:r>
              <a:rPr lang="en-US" sz="350" dirty="0">
                <a:solidFill>
                  <a:srgbClr val="3C4043"/>
                </a:solidFill>
                <a:latin typeface="Arial" pitchFamily="34" charset="0"/>
                <a:ea typeface="Arial" pitchFamily="34" charset="-122"/>
                <a:cs typeface="Arial" pitchFamily="34" charset="-120"/>
              </a:rPr>
              <a:t>cymbal-multi-tenant-patterns</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 4: Bank SDP &amp; FINRA Filter</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Agent Engine (8k Budget)</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 4: PCI PAN SDP &amp; Filter</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Agent Engine (4k Cap)</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DDoS • Strips X-Tenant-ID</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Edge Prompt Injection Gate</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IAP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OBO + DPoP + KMS ECDSA Sign</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760781"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72420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 and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observability • monitoring</a:t>
            </a:r>
            <a:endParaRPr lang="en-US" sz="385" dirty="0"/>
          </a:p>
        </p:txBody>
      </p:sp>
      <p:sp>
        <p:nvSpPr>
          <p:cNvPr id="211" name="Shape 189"/>
          <p:cNvSpPr/>
          <p:nvPr/>
        </p:nvSpPr>
        <p:spPr>
          <a:xfrm>
            <a:off x="2937053" y="4850892"/>
            <a:ext cx="293522"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955341" y="4856378"/>
            <a:ext cx="25694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RAG</a:t>
            </a:r>
            <a:endParaRPr lang="en-US" sz="385" dirty="0"/>
          </a:p>
        </p:txBody>
      </p:sp>
      <p:sp>
        <p:nvSpPr>
          <p:cNvPr id="213" name="Shape 191"/>
          <p:cNvSpPr/>
          <p:nvPr/>
        </p:nvSpPr>
        <p:spPr>
          <a:xfrm>
            <a:off x="2871216" y="5485486"/>
            <a:ext cx="424282"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89504" y="5490972"/>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Agent-tool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interaction</a:t>
            </a:r>
            <a:endParaRPr lang="en-US" sz="385" dirty="0"/>
          </a:p>
        </p:txBody>
      </p:sp>
      <p:sp>
        <p:nvSpPr>
          <p:cNvPr id="215" name="Shape 193"/>
          <p:cNvSpPr/>
          <p:nvPr/>
        </p:nvSpPr>
        <p:spPr>
          <a:xfrm>
            <a:off x="5301691" y="4850892"/>
            <a:ext cx="293522"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319979" y="4856378"/>
            <a:ext cx="25694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RAG</a:t>
            </a:r>
            <a:endParaRPr lang="en-US" sz="385" dirty="0"/>
          </a:p>
        </p:txBody>
      </p:sp>
      <p:sp>
        <p:nvSpPr>
          <p:cNvPr id="217" name="Shape 195"/>
          <p:cNvSpPr/>
          <p:nvPr/>
        </p:nvSpPr>
        <p:spPr>
          <a:xfrm>
            <a:off x="5235854" y="5485486"/>
            <a:ext cx="424282"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54142" y="5490972"/>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Agent-tool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interaction</a:t>
            </a:r>
            <a:endParaRPr lang="en-US" sz="385" dirty="0"/>
          </a:p>
        </p:txBody>
      </p:sp>
      <p:sp>
        <p:nvSpPr>
          <p:cNvPr id="219" name="Shape 197"/>
          <p:cNvSpPr/>
          <p:nvPr/>
        </p:nvSpPr>
        <p:spPr>
          <a:xfrm>
            <a:off x="1757477" y="5637276"/>
            <a:ext cx="372161"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Generates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response</a:t>
            </a:r>
            <a:endParaRPr lang="en-US" sz="385" dirty="0"/>
          </a:p>
        </p:txBody>
      </p:sp>
      <p:sp>
        <p:nvSpPr>
          <p:cNvPr id="221" name="Shape 199"/>
          <p:cNvSpPr/>
          <p:nvPr/>
        </p:nvSpPr>
        <p:spPr>
          <a:xfrm>
            <a:off x="3905402" y="3389681"/>
            <a:ext cx="606247"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69671"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Sanitized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from tenant</a:t>
            </a:r>
            <a:endParaRPr lang="en-US" sz="385" dirty="0"/>
          </a:p>
        </p:txBody>
      </p:sp>
      <p:sp>
        <p:nvSpPr>
          <p:cNvPr id="223" name="Shape 201"/>
          <p:cNvSpPr/>
          <p:nvPr/>
        </p:nvSpPr>
        <p:spPr>
          <a:xfrm>
            <a:off x="2983687" y="3389681"/>
            <a:ext cx="475488"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438912"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request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to tenant</a:t>
            </a:r>
            <a:endParaRPr lang="en-US" sz="385" dirty="0"/>
          </a:p>
        </p:txBody>
      </p:sp>
      <p:sp>
        <p:nvSpPr>
          <p:cNvPr id="225" name="Shape 203"/>
          <p:cNvSpPr/>
          <p:nvPr/>
        </p:nvSpPr>
        <p:spPr>
          <a:xfrm>
            <a:off x="2550262" y="2908706"/>
            <a:ext cx="502006"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568550" y="2914193"/>
            <a:ext cx="465430"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User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authentication</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229" name="Shape 207"/>
          <p:cNvSpPr/>
          <p:nvPr/>
        </p:nvSpPr>
        <p:spPr>
          <a:xfrm>
            <a:off x="1757477" y="4831690"/>
            <a:ext cx="58064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54406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231" name="Shape 209"/>
          <p:cNvSpPr/>
          <p:nvPr/>
        </p:nvSpPr>
        <p:spPr>
          <a:xfrm>
            <a:off x="2510942" y="2117750"/>
            <a:ext cx="345643"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529230" y="2123237"/>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policies</a:t>
            </a:r>
            <a:endParaRPr lang="en-US" sz="385" dirty="0"/>
          </a:p>
        </p:txBody>
      </p:sp>
      <p:sp>
        <p:nvSpPr>
          <p:cNvPr id="233" name="Shape 211"/>
          <p:cNvSpPr/>
          <p:nvPr/>
        </p:nvSpPr>
        <p:spPr>
          <a:xfrm>
            <a:off x="2510942" y="2717597"/>
            <a:ext cx="345643"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529230" y="2723083"/>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prompt</a:t>
            </a:r>
            <a:endParaRPr lang="en-US" sz="385" dirty="0"/>
          </a:p>
        </p:txBody>
      </p:sp>
      <p:sp>
        <p:nvSpPr>
          <p:cNvPr id="235" name="Shape 213"/>
          <p:cNvSpPr/>
          <p:nvPr/>
        </p:nvSpPr>
        <p:spPr>
          <a:xfrm>
            <a:off x="3888029" y="1163117"/>
            <a:ext cx="345643"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7" name="Shape 215"/>
          <p:cNvSpPr/>
          <p:nvPr/>
        </p:nvSpPr>
        <p:spPr>
          <a:xfrm>
            <a:off x="3888029" y="2740457"/>
            <a:ext cx="345643"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9" name="Shape 217"/>
          <p:cNvSpPr/>
          <p:nvPr/>
        </p:nvSpPr>
        <p:spPr>
          <a:xfrm>
            <a:off x="3167482" y="1163117"/>
            <a:ext cx="320040"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85770"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1" name="Shape 219"/>
          <p:cNvSpPr/>
          <p:nvPr/>
        </p:nvSpPr>
        <p:spPr>
          <a:xfrm>
            <a:off x="3167482" y="2740457"/>
            <a:ext cx="320040"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85770"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VIS-WS1-CLOUD-ARCH-CENTER-5HOP-BASELINE (diagrams/ws1-cloud-arch-center-5hop-baseline.drawio)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 (L3 PROCESS): 5-Actor UML Sequence, Fail-Closed Circuit Breakers &amp; Stampede Recovery</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ACT 1</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Tenant Caller</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HOP 1</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1: Edge &amp; IAM STS</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HOP 2-3</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Hops 2–3: ARD &amp; Memory</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HOP 4</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4: Model Armor &amp; LLM</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HOP 5</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5: MCP &amp; AlloyDB</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Caller sends OIDC</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JWT + DPoP proof</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HTTPS + DPoP JWT</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Hop 1 strips spoofed</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headers &amp; mints 5-min</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STS TenantContext</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Verify OBO + ~3ms JTI → Mint 5-Min STS JWT (&lt;0.15ms Cached JWKS)</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Hops 2–3 filter ARD,</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cap 120/600 RPM &amp; scope</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cache:{tenant}:*</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ARD ACL • 120/600 RPM &amp; 4k/8k Think Clamp</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Hop 4 Model Armor +</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Inline DLP (~22ms p95)</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&amp; 90% prefix cache</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90% Shared Prefix</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Cache Hit (32k Tok)</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84.7% Net Token Cost Reduction</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0740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425696"/>
            <a:ext cx="859536" cy="256032"/>
          </a:xfrm>
          <a:prstGeom prst="roundRect">
            <a:avLst>
              <a:gd name="adj" fmla="val 17857"/>
            </a:avLst>
          </a:prstGeom>
          <a:solidFill>
            <a:srgbClr val="54728C"/>
          </a:solidFill>
          <a:ln/>
        </p:spPr>
      </p:sp>
      <p:sp>
        <p:nvSpPr>
          <p:cNvPr id="72" name="Text 70"/>
          <p:cNvSpPr/>
          <p:nvPr/>
        </p:nvSpPr>
        <p:spPr>
          <a:xfrm>
            <a:off x="6272784" y="4425696"/>
            <a:ext cx="859536"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RLS + 3LO</a:t>
            </a:r>
            <a:endParaRPr lang="en-US" sz="780" dirty="0"/>
          </a:p>
        </p:txBody>
      </p:sp>
      <p:sp>
        <p:nvSpPr>
          <p:cNvPr id="73" name="Text 71"/>
          <p:cNvSpPr/>
          <p:nvPr/>
        </p:nvSpPr>
        <p:spPr>
          <a:xfrm>
            <a:off x="5248656" y="4718304"/>
            <a:ext cx="1938528" cy="411480"/>
          </a:xfrm>
          <a:prstGeom prst="rect">
            <a:avLst/>
          </a:prstGeom>
          <a:noFill/>
          <a:ln/>
        </p:spPr>
        <p:txBody>
          <a:bodyPr wrap="square" rtlCol="0" anchor="ctr"/>
          <a:lstStyle/>
          <a:p>
            <a:pPr indent="0" marL="0">
              <a:buNone/>
            </a:pPr>
            <a:r>
              <a:rPr lang="en-US" sz="770" b="1" dirty="0">
                <a:solidFill>
                  <a:srgbClr val="3C4043"/>
                </a:solidFill>
                <a:latin typeface="Google Sans" pitchFamily="34" charset="0"/>
                <a:ea typeface="Google Sans" pitchFamily="34" charset="-122"/>
                <a:cs typeface="Google Sans" pitchFamily="34" charset="-120"/>
              </a:rPr>
              <a:t>Hop 5 binds AlloyDB</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RLS &amp; vaults per-user</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3LO ({tenant}:{user})</a:t>
            </a:r>
            <a:endParaRPr lang="en-US" sz="770" dirty="0"/>
          </a:p>
        </p:txBody>
      </p:sp>
      <p:sp>
        <p:nvSpPr>
          <p:cNvPr id="74" name="Shape 72"/>
          <p:cNvSpPr/>
          <p:nvPr/>
        </p:nvSpPr>
        <p:spPr>
          <a:xfrm>
            <a:off x="7342632" y="4809744"/>
            <a:ext cx="2139696" cy="0"/>
          </a:xfrm>
          <a:prstGeom prst="line">
            <a:avLst/>
          </a:prstGeom>
          <a:noFill/>
          <a:ln w="19050">
            <a:solidFill>
              <a:srgbClr val="0F2942"/>
            </a:solidFill>
            <a:prstDash val="solid"/>
            <a:tailEnd type="triangle" w="sm" len="sm"/>
          </a:ln>
        </p:spPr>
      </p:sp>
      <p:sp>
        <p:nvSpPr>
          <p:cNvPr id="75" name="Text 73"/>
          <p:cNvSpPr/>
          <p:nvPr/>
        </p:nvSpPr>
        <p:spPr>
          <a:xfrm>
            <a:off x="7735824" y="4590288"/>
            <a:ext cx="1682496" cy="182880"/>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SET LOCAL tenant_id</a:t>
            </a:r>
            <a:endParaRPr lang="en-US" sz="78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Executes parameterized</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SQL (0 cross-tenant rows)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&amp; streams OTel span</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Enforce RLS Predicate (0 Foreign Rows)</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Stream Zero-PII Span (BigQuery OTel)</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OTel</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200</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(0 Downstream Exec) | Single-Flight SET NX PX 5000 Recovery</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Hop 1–3 Breakers: Bad OBO/DPoP, ~3ms JTI revoke or ARD probe → HTTP 401/403 | • Rate Cap: &gt;120/600 RPM → HTTP 429 Retry-After jitter &amp; 4k/8k clamp</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Hop 4–5 &amp; Recovery: NLC (422) or KMS revoke → &lt;60s HTTP 423 + &lt;5s SCAN+UNLINK (cache:{tenant}:*) | • Restore: SET NX PX 5000 AlloyDB RLS re-hydrate</a:t>
            </a:r>
            <a:endParaRPr lang="en-US" sz="680" dirty="0"/>
          </a:p>
        </p:txBody>
      </p:sp>
      <p:sp>
        <p:nvSpPr>
          <p:cNvPr id="88" name="Text 86"/>
          <p:cNvSpPr/>
          <p:nvPr/>
        </p:nvSpPr>
        <p:spPr>
          <a:xfrm>
            <a:off x="365760" y="6601968"/>
            <a:ext cx="11460175" cy="201168"/>
          </a:xfrm>
          <a:prstGeom prst="rect">
            <a:avLst/>
          </a:prstGeom>
          <a:noFill/>
          <a:ln/>
        </p:spPr>
        <p:txBody>
          <a:bodyPr wrap="none" rtlCol="0" anchor="ctr"/>
          <a:lstStyle/>
          <a:p>
            <a:pPr algn="l" indent="0" marL="0">
              <a:buNone/>
            </a:pPr>
            <a:r>
              <a:rPr lang="en-US" sz="74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20" dirty="0">
                <a:solidFill>
                  <a:srgbClr val="5F6368"/>
                </a:solidFill>
                <a:latin typeface="Roboto" pitchFamily="34" charset="0"/>
                <a:ea typeface="Roboto" pitchFamily="34" charset="-122"/>
                <a:cs typeface="Roboto" pitchFamily="34" charset="-120"/>
              </a:rPr>
              <a:t>Workstream 1 L3 Sequence &amp; Circuit Breakers  •  Steps 1–6 (~42ms p95) + [Alt] HTTP 401/403/429/422/423 + &lt;5s SCAN+UNLINK &amp; SET NX PX 5000 Recovery  •  </a:t>
            </a:r>
            <a:pPr algn="l" indent="0" marL="0">
              <a:buNone/>
            </a:pPr>
            <a:r>
              <a:rPr lang="en-US" sz="740" b="1" dirty="0">
                <a:solidFill>
                  <a:srgbClr val="3C4043"/>
                </a:solidFill>
                <a:latin typeface="Google Sans" pitchFamily="34" charset="0"/>
                <a:ea typeface="Google Sans" pitchFamily="34" charset="-122"/>
                <a:cs typeface="Google Sans" pitchFamily="34" charset="-120"/>
              </a:rPr>
              <a:t>Proprietary + Confidential</a:t>
            </a:r>
            <a:endParaRPr lang="en-US" sz="7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 (L4 WIRE): Hop 1 Spoofed Header Stripping &amp; Signed STS JWT Context</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Wire-level protocol normalization: an untrusted ingress payload is stripped at Hop 1 and exits as a KMS-signed STS JWT verified locally via cached JWKS in sub-150 microseconds (0 per-hop KMS network calls).</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Untrusted Caller</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Ingress Request</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"Authorization": "Bearer &lt;jwt&gt;"</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"client_headers"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"X-Tenant-Id: finvault" ,</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"override_attempt"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&lt;spoofed tenant header&gt;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Unverified Client Claims • Blocked at Edge</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Hop 1 IAM STS &amp;</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DPoP Security Gate</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Cloud Armor Header Strip</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RFC 8693 OBO + DPoP JKT</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KMS P-256 Sign (Cached JWKS)</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Signed STS JWT</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TenantContext</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"tenant_id": "retailstream",</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"tier": "STANDARD",</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"dpop_jkt": "sha256:9f86d081",</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"memory_ns": "/tenants/retail",</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"rls_tag": "current_tenant_id",</a:t>
            </a:r>
            <a:endParaRPr lang="en-US" sz="960" dirty="0"/>
          </a:p>
        </p:txBody>
      </p:sp>
      <p:sp>
        <p:nvSpPr>
          <p:cNvPr id="56" name="Shape 54"/>
          <p:cNvSpPr/>
          <p:nvPr/>
        </p:nvSpPr>
        <p:spPr>
          <a:xfrm>
            <a:off x="8851392" y="4517136"/>
            <a:ext cx="2615184" cy="365760"/>
          </a:xfrm>
          <a:prstGeom prst="roundRect">
            <a:avLst>
              <a:gd name="adj" fmla="val 10000"/>
            </a:avLst>
          </a:prstGeom>
          <a:solidFill>
            <a:srgbClr val="CEEAD6"/>
          </a:solidFill>
          <a:ln w="7620">
            <a:solidFill>
              <a:srgbClr val="1E8E3E"/>
            </a:solidFill>
            <a:prstDash val="solid"/>
          </a:ln>
        </p:spPr>
      </p:sp>
      <p:sp>
        <p:nvSpPr>
          <p:cNvPr id="57" name="Text 55"/>
          <p:cNvSpPr/>
          <p:nvPr/>
        </p:nvSpPr>
        <p:spPr>
          <a:xfrm>
            <a:off x="8924544" y="451713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"jwt_sig": "kms_ecdsa_p256"</a:t>
            </a:r>
            <a:endParaRPr lang="en-US" sz="960" dirty="0"/>
          </a:p>
        </p:txBody>
      </p:sp>
      <p:sp>
        <p:nvSpPr>
          <p:cNvPr id="58" name="Text 56"/>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9" name="Shape 57"/>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60" name="Text 58"/>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&lt;0.15ms Cached-JWKS Verify • 0 KMS Network Calls</a:t>
            </a:r>
            <a:endParaRPr lang="en-US" sz="840" dirty="0"/>
          </a:p>
        </p:txBody>
      </p:sp>
      <p:sp>
        <p:nvSpPr>
          <p:cNvPr id="61" name="Text 59"/>
          <p:cNvSpPr/>
          <p:nvPr/>
        </p:nvSpPr>
        <p:spPr>
          <a:xfrm>
            <a:off x="365760" y="6601968"/>
            <a:ext cx="11460175" cy="201168"/>
          </a:xfrm>
          <a:prstGeom prst="rect">
            <a:avLst/>
          </a:prstGeom>
          <a:noFill/>
          <a:ln/>
        </p:spPr>
        <p:txBody>
          <a:bodyPr wrap="none" rtlCol="0" anchor="ctr"/>
          <a:lstStyle/>
          <a:p>
            <a:pPr algn="l" indent="0" marL="0">
              <a:buNone/>
            </a:pPr>
            <a:r>
              <a:rPr lang="en-US" sz="74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20" dirty="0">
                <a:solidFill>
                  <a:srgbClr val="5F6368"/>
                </a:solidFill>
                <a:latin typeface="Roboto" pitchFamily="34" charset="0"/>
                <a:ea typeface="Roboto" pitchFamily="34" charset="-122"/>
                <a:cs typeface="Roboto" pitchFamily="34" charset="-120"/>
              </a:rPr>
              <a:t>Workstream 1 L4 Wire Packet  •  Strips Spoofed Headers &amp; Mints KMS ECDSA P-256 STS JWT (&lt;0.15ms In-Memory Cached-JWKS Verify, 0 KMS RPCs/Hop)  •  </a:t>
            </a:r>
            <a:pPr algn="l" indent="0" marL="0">
              <a:buNone/>
            </a:pPr>
            <a:r>
              <a:rPr lang="en-US" sz="740" b="1" dirty="0">
                <a:solidFill>
                  <a:srgbClr val="3C4043"/>
                </a:solidFill>
                <a:latin typeface="Google Sans" pitchFamily="34" charset="0"/>
                <a:ea typeface="Google Sans" pitchFamily="34" charset="-122"/>
                <a:cs typeface="Google Sans" pitchFamily="34" charset="-120"/>
              </a:rPr>
              <a:t>Proprietary + Confidential</a:t>
            </a:r>
            <a:endParaRPr lang="en-US" sz="7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IV • EAP PRODUCT GAP REGISTER (GAP-01..05) &amp; COMPENSATING CONTROLS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Compensating Controls for EAP Product Gaps (GAP-01..05)</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Production compensating controls in core-cymbal-agent/ closing all 5 multi-tenant EAP limitations with fail-closed gates.</a:t>
            </a:r>
            <a:endParaRPr lang="en-US" sz="98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1965960"/>
                <a:gridCol w="2880360"/>
                <a:gridCol w="3886200"/>
                <a:gridCol w="272765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Gap ID &amp; Component</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Current Preview / EAP Limitation</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Production Compensating Control (core-cymbal-agent/)</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Verification Gate &amp; GA Sunset</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GAP-01 (Hop 2)</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Agent Engine Registry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Shared Agent Engine Registry lacks native per-tenant IAM condition predicates on ListAgents discovery calls.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Hop2RegistryPDP.authorize_agent_and_prune_tools filters ARD by signed JWT tenant_id + ADK before_agent_callback pruning.</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WS2 Test 2 PASS (HTTP 403 on cross-tenant Agent Alpha probe) • Sunset at Native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GAP-02 (Hop 3)</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Memory Bank CMEK</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Pooled Vertex AI Memory Bank supports project-level CMEK rather than distinct per-tenant KMS keys in one shared pool.</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Envelope encryption + &lt;5s tenant-prefixed Valkey SCAN+UNLINK (cache:{tenant_id}:*) on KMS disable (&lt;60s HTTP 423) + SET NX single-flight re-hydration.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WS3 Tests 4A/4B/6 PASS (HTTP 423 Locked &lt;60s, 0 peer cache evictions) • Sunset at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GAP-03 (Hop 3)</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Per-Tenant Rate Quotas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Vertex AI quota system enforces regional project-level RPM/TPM limits rather than native per-tenant sub-quotas.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Hop3ComputeFinOpsBulkhead enforces atomic Lua token-bucket RPM limits in Valkey (120 vs. 600 RPM, HTTP 429 Retry-After) + 4k/8k thinking clamps.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WS2 Test 6 PASS (HTTP 429 on 500-RPM flood; budget clamped to 4k) • Sunset at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GAP-04 (Hop 1/4)</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Multi-IdP 3LO Broker</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External Microsoft Entra ID OIDC tokens require claims normalization and anti-confused-deputy isolation for 3LO MCP tools.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1 normalizes Entra tid/sub into DPoP-bound {tenant}:{user} 3LO token vaults with -32042 step-up consent &amp; dpop_jkt verification.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WS2 Test 10 &amp; 10-SaaS Matrix PASS (HTTP 401 step-up -&gt; 200 OK ServiceNow) • Sunset at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GAP-05 (Hop 5)</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Zero-PII Token Billing</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Cloud Billing exports aggregate Vertex AI SKU charges by GCP project rather than individual logical SaaS tenant_id.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Hop5DataPlaneRLSAndOTel streams SHA-256 zero-PII OTel spans to BigQuery (SELECT tenant_id, SUM(cached_tokens*0.1 + thinking_tokens) GROUP BY tenant_id).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Forensic Check F-08 PASS (BigQuery OTel chargeback SQL verified) • Sunset at GA: Feature-Flagged Native Hook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Identity &amp; 3LO Vault Gates (GAP-01 / GAP-04)</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Filters Agent Engine Registry discovery by signed STS JWT tenant_id (HTTP 403) and vaults per-user Entra/ServiceNow 3LO tokens ({tenant}:{user}) with -32042 step-up.</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&lt;5s L1 Eviction &amp; Single-Flight (GAP-02)</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Intercepts KMS disable for &lt;60s HTTP 423 + &lt;5s targeted Valkey SCAN+UNLINK (cache:{tenant}:*); re-hydrates via SET NX PX 5000 single-flight lock from AlloyDB RLS.</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Valkey Bulkheads &amp; GA Sunset Hooks (GAP-03)</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Enforces 120/600 RPM Valkey token buckets (HTTP 429 Retry-After jitter) with feature-flagged GA sunset hooks (feature-flagged native adapter) in core-cymbal-agent/.</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Zero-PII BigQuery FinOps SQL (GAP-05)</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Streams SHA-256 prompt hashes + OTel spans to BigQuery for exact chargeback: SELECT tenant_id, SUM(cached_tokens*0.1 + thinking_tokens) GROUP BY tenant_id.</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Compensating Controls, Automated Security Verification &amp; FinOps Economics</a:t>
            </a:r>
            <a:endParaRPr lang="en-US" sz="880" dirty="0"/>
          </a:p>
        </p:txBody>
      </p:sp>
      <p:sp>
        <p:nvSpPr>
          <p:cNvPr id="40" name="Text 37"/>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III FORENSIC VERIFICATION AUDIT: GROUNDED GCP TELEMETRY &amp; 20/20 LOGS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LIVE-SCREENSHOT-CALLOUT</a:t>
            </a:r>
            <a:endParaRPr lang="en-US" sz="750" dirty="0"/>
          </a:p>
        </p:txBody>
      </p:sp>
      <p:sp>
        <p:nvSpPr>
          <p:cNvPr id="17" name="Shape 15"/>
          <p:cNvSpPr/>
          <p:nvPr/>
        </p:nvSpPr>
        <p:spPr>
          <a:xfrm>
            <a:off x="384048" y="749808"/>
            <a:ext cx="6784848" cy="2615184"/>
          </a:xfrm>
          <a:prstGeom prst="roundRect">
            <a:avLst>
              <a:gd name="adj" fmla="val 2098"/>
            </a:avLst>
          </a:prstGeom>
          <a:solidFill>
            <a:srgbClr val="F8F9FA"/>
          </a:solidFill>
          <a:ln w="12700">
            <a:solidFill>
              <a:srgbClr val="DADCE0"/>
            </a:solidFill>
            <a:prstDash val="solid"/>
          </a:ln>
        </p:spPr>
      </p:sp>
      <p:sp>
        <p:nvSpPr>
          <p:cNvPr id="18" name="Shape 16"/>
          <p:cNvSpPr/>
          <p:nvPr/>
        </p:nvSpPr>
        <p:spPr>
          <a:xfrm>
            <a:off x="384048" y="749808"/>
            <a:ext cx="6784848" cy="45720"/>
          </a:xfrm>
          <a:prstGeom prst="rect">
            <a:avLst/>
          </a:prstGeom>
          <a:solidFill>
            <a:srgbClr val="4285F4"/>
          </a:solidFill>
          <a:ln/>
        </p:spPr>
      </p:sp>
      <p:sp>
        <p:nvSpPr>
          <p:cNvPr id="19" name="Text 17"/>
          <p:cNvSpPr/>
          <p:nvPr/>
        </p:nvSpPr>
        <p:spPr>
          <a:xfrm>
            <a:off x="493776" y="822960"/>
            <a:ext cx="6565392" cy="219456"/>
          </a:xfrm>
          <a:prstGeom prst="rect">
            <a:avLst/>
          </a:prstGeom>
          <a:noFill/>
          <a:ln/>
        </p:spPr>
        <p:txBody>
          <a:bodyPr wrap="square" rtlCol="0" anchor="ctr"/>
          <a:lstStyle/>
          <a:p>
            <a:pPr indent="0" marL="0">
              <a:buNone/>
            </a:pPr>
            <a:r>
              <a:rPr lang="en-US" sz="820" b="1" dirty="0">
                <a:solidFill>
                  <a:srgbClr val="174EA6"/>
                </a:solidFill>
                <a:latin typeface="Google Sans" pitchFamily="34" charset="0"/>
                <a:ea typeface="Google Sans" pitchFamily="34" charset="-122"/>
                <a:cs typeface="Google Sans" pitchFamily="34" charset="-120"/>
              </a:rPr>
              <a:t>ACT III FORENSIC AUDIT 01 • LIVE CLOUD RUN REVISIONS</a:t>
            </a:r>
            <a:endParaRPr lang="en-US" sz="820" dirty="0"/>
          </a:p>
        </p:txBody>
      </p:sp>
      <p:sp>
        <p:nvSpPr>
          <p:cNvPr id="20" name="Shape 18"/>
          <p:cNvSpPr/>
          <p:nvPr/>
        </p:nvSpPr>
        <p:spPr>
          <a:xfrm>
            <a:off x="493776" y="1097280"/>
            <a:ext cx="6565392" cy="2048256"/>
          </a:xfrm>
          <a:prstGeom prst="roundRect">
            <a:avLst>
              <a:gd name="adj" fmla="val 2232"/>
            </a:avLst>
          </a:prstGeom>
          <a:solidFill>
            <a:srgbClr val="FFFFFF"/>
          </a:solidFill>
          <a:ln w="10160">
            <a:solidFill>
              <a:srgbClr val="DADCE0"/>
            </a:solidFill>
            <a:prstDash val="solid"/>
          </a:ln>
        </p:spPr>
      </p:sp>
      <p:sp>
        <p:nvSpPr>
          <p:cNvPr id="21" name="Text 19"/>
          <p:cNvSpPr/>
          <p:nvPr/>
        </p:nvSpPr>
        <p:spPr>
          <a:xfrm>
            <a:off x="621792" y="1170432"/>
            <a:ext cx="6309360" cy="512064"/>
          </a:xfrm>
          <a:prstGeom prst="rect">
            <a:avLst/>
          </a:prstGeom>
          <a:noFill/>
          <a:ln/>
        </p:spPr>
        <p:txBody>
          <a:bodyPr wrap="square" rtlCol="0" anchor="t"/>
          <a:lstStyle/>
          <a:p>
            <a:pPr indent="0" marL="0">
              <a:buNone/>
            </a:pPr>
            <a:r>
              <a:rPr lang="en-US" sz="920" b="1" dirty="0">
                <a:solidFill>
                  <a:srgbClr val="3C4043"/>
                </a:solidFill>
                <a:latin typeface="Google Sans" pitchFamily="34" charset="0"/>
                <a:ea typeface="Google Sans" pitchFamily="34" charset="-122"/>
                <a:cs typeface="Google Sans" pitchFamily="34" charset="-120"/>
              </a:rPr>
              <a:t>ramp-portal-dev (#248990048888) &amp; bbar-138hf0 (#48439189383) serving Pattern A/B/C endpoints (HTTP 200)</a:t>
            </a:r>
            <a:endParaRPr lang="en-US" sz="920" dirty="0"/>
          </a:p>
        </p:txBody>
      </p:sp>
      <p:sp>
        <p:nvSpPr>
          <p:cNvPr id="22" name="Text 20"/>
          <p:cNvSpPr/>
          <p:nvPr/>
        </p:nvSpPr>
        <p:spPr>
          <a:xfrm>
            <a:off x="621792" y="1719072"/>
            <a:ext cx="6309360" cy="1060704"/>
          </a:xfrm>
          <a:prstGeom prst="rect">
            <a:avLst/>
          </a:prstGeom>
          <a:noFill/>
          <a:ln/>
        </p:spPr>
        <p:txBody>
          <a:bodyPr wrap="square" rtlCol="0" anchor="t"/>
          <a:lstStyle/>
          <a:p>
            <a:pPr indent="0" marL="0">
              <a:buNone/>
            </a:pPr>
            <a:r>
              <a:rPr lang="en-US" sz="840" dirty="0">
                <a:solidFill>
                  <a:srgbClr val="5F6368"/>
                </a:solidFill>
                <a:latin typeface="Roboto" pitchFamily="34" charset="0"/>
                <a:ea typeface="Roboto" pitchFamily="34" charset="-122"/>
                <a:cs typeface="Roboto" pitchFamily="34" charset="-120"/>
              </a:rPr>
              <a:t>• Live GCP: ramp-portal-dev (#248990048888) • bbar-138hf0 (#48439189383)</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Runtime: Cloud Run Gen2 (gVisor runsc, 100% traffic)</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CLI Gate: run_deep_forensic_audit.py (13/13 PASS)</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Artifact: core-cymbal-agent/runtime_pipeline.py</a:t>
            </a:r>
            <a:endParaRPr lang="en-US" sz="840" dirty="0"/>
          </a:p>
        </p:txBody>
      </p:sp>
      <p:sp>
        <p:nvSpPr>
          <p:cNvPr id="23" name="Text 21"/>
          <p:cNvSpPr/>
          <p:nvPr/>
        </p:nvSpPr>
        <p:spPr>
          <a:xfrm>
            <a:off x="621792" y="2852928"/>
            <a:ext cx="6309360" cy="201168"/>
          </a:xfrm>
          <a:prstGeom prst="rect">
            <a:avLst/>
          </a:prstGeom>
          <a:noFill/>
          <a:ln/>
        </p:spPr>
        <p:txBody>
          <a:bodyPr wrap="square" rtlCol="0" anchor="ctr"/>
          <a:lstStyle/>
          <a:p>
            <a:pPr indent="0" marL="0">
              <a:buNone/>
            </a:pPr>
            <a:r>
              <a:rPr lang="en-US" sz="720" dirty="0">
                <a:solidFill>
                  <a:srgbClr val="5F6368"/>
                </a:solidFill>
                <a:latin typeface="Courier New" pitchFamily="34" charset="0"/>
                <a:ea typeface="Courier New" pitchFamily="34" charset="-122"/>
                <a:cs typeface="Courier New" pitchFamily="34" charset="-120"/>
              </a:rPr>
              <a:t>Source Module: core-cymbal-agent/runtime_pipeline.py</a:t>
            </a:r>
            <a:endParaRPr lang="en-US" sz="720" dirty="0"/>
          </a:p>
        </p:txBody>
      </p:sp>
      <p:sp>
        <p:nvSpPr>
          <p:cNvPr id="24" name="Shape 22"/>
          <p:cNvSpPr/>
          <p:nvPr/>
        </p:nvSpPr>
        <p:spPr>
          <a:xfrm>
            <a:off x="384048" y="3511296"/>
            <a:ext cx="6784848" cy="2615184"/>
          </a:xfrm>
          <a:prstGeom prst="roundRect">
            <a:avLst>
              <a:gd name="adj" fmla="val 2098"/>
            </a:avLst>
          </a:prstGeom>
          <a:solidFill>
            <a:srgbClr val="F8F9FA"/>
          </a:solidFill>
          <a:ln w="12700">
            <a:solidFill>
              <a:srgbClr val="DADCE0"/>
            </a:solidFill>
            <a:prstDash val="solid"/>
          </a:ln>
        </p:spPr>
      </p:sp>
      <p:sp>
        <p:nvSpPr>
          <p:cNvPr id="25" name="Shape 23"/>
          <p:cNvSpPr/>
          <p:nvPr/>
        </p:nvSpPr>
        <p:spPr>
          <a:xfrm>
            <a:off x="384048" y="3511296"/>
            <a:ext cx="6784848" cy="45720"/>
          </a:xfrm>
          <a:prstGeom prst="rect">
            <a:avLst/>
          </a:prstGeom>
          <a:solidFill>
            <a:srgbClr val="EA4335"/>
          </a:solidFill>
          <a:ln/>
        </p:spPr>
      </p:sp>
      <p:sp>
        <p:nvSpPr>
          <p:cNvPr id="26" name="Text 24"/>
          <p:cNvSpPr/>
          <p:nvPr/>
        </p:nvSpPr>
        <p:spPr>
          <a:xfrm>
            <a:off x="493776" y="3584448"/>
            <a:ext cx="6565392" cy="219456"/>
          </a:xfrm>
          <a:prstGeom prst="rect">
            <a:avLst/>
          </a:prstGeom>
          <a:noFill/>
          <a:ln/>
        </p:spPr>
        <p:txBody>
          <a:bodyPr wrap="square" rtlCol="0" anchor="ctr"/>
          <a:lstStyle/>
          <a:p>
            <a:pPr indent="0" marL="0">
              <a:buNone/>
            </a:pPr>
            <a:r>
              <a:rPr lang="en-US" sz="820" b="1" dirty="0">
                <a:solidFill>
                  <a:srgbClr val="A50E0E"/>
                </a:solidFill>
                <a:latin typeface="Google Sans" pitchFamily="34" charset="0"/>
                <a:ea typeface="Google Sans" pitchFamily="34" charset="-122"/>
                <a:cs typeface="Google Sans" pitchFamily="34" charset="-120"/>
              </a:rPr>
              <a:t>ACT III FORENSIC AUDIT 02 • DUAL-PLANE GCP 20/20, SAAS 30/30 &amp; BEFORE/AFTER 3P UIs</a:t>
            </a:r>
            <a:endParaRPr lang="en-US" sz="820" dirty="0"/>
          </a:p>
        </p:txBody>
      </p:sp>
      <p:sp>
        <p:nvSpPr>
          <p:cNvPr id="27" name="Shape 25"/>
          <p:cNvSpPr/>
          <p:nvPr/>
        </p:nvSpPr>
        <p:spPr>
          <a:xfrm>
            <a:off x="493776" y="3858768"/>
            <a:ext cx="6565392" cy="2048256"/>
          </a:xfrm>
          <a:prstGeom prst="roundRect">
            <a:avLst>
              <a:gd name="adj" fmla="val 2232"/>
            </a:avLst>
          </a:prstGeom>
          <a:solidFill>
            <a:srgbClr val="FFFFFF"/>
          </a:solidFill>
          <a:ln w="10160">
            <a:solidFill>
              <a:srgbClr val="DADCE0"/>
            </a:solidFill>
            <a:prstDash val="solid"/>
          </a:ln>
        </p:spPr>
      </p:sp>
      <p:sp>
        <p:nvSpPr>
          <p:cNvPr id="28" name="Text 26"/>
          <p:cNvSpPr/>
          <p:nvPr/>
        </p:nvSpPr>
        <p:spPr>
          <a:xfrm>
            <a:off x="621792" y="3931920"/>
            <a:ext cx="6309360" cy="512064"/>
          </a:xfrm>
          <a:prstGeom prst="rect">
            <a:avLst/>
          </a:prstGeom>
          <a:noFill/>
          <a:ln/>
        </p:spPr>
        <p:txBody>
          <a:bodyPr wrap="square" rtlCol="0" anchor="t"/>
          <a:lstStyle/>
          <a:p>
            <a:pPr indent="0" marL="0">
              <a:buNone/>
            </a:pPr>
            <a:r>
              <a:rPr lang="en-US" sz="920" b="1" dirty="0">
                <a:solidFill>
                  <a:srgbClr val="3C4043"/>
                </a:solidFill>
                <a:latin typeface="Google Sans" pitchFamily="34" charset="0"/>
                <a:ea typeface="Google Sans" pitchFamily="34" charset="-122"/>
                <a:cs typeface="Google Sans" pitchFamily="34" charset="-120"/>
              </a:rPr>
              <a:t>Cloud Logging MQL + Metabase BI v0.50.26 &amp; Trino SQL v440 Before/After Retina UI captures (2880×1800)</a:t>
            </a:r>
            <a:endParaRPr lang="en-US" sz="920" dirty="0"/>
          </a:p>
        </p:txBody>
      </p:sp>
      <p:sp>
        <p:nvSpPr>
          <p:cNvPr id="29" name="Text 27"/>
          <p:cNvSpPr/>
          <p:nvPr/>
        </p:nvSpPr>
        <p:spPr>
          <a:xfrm>
            <a:off x="621792" y="4480560"/>
            <a:ext cx="6309360" cy="1060704"/>
          </a:xfrm>
          <a:prstGeom prst="rect">
            <a:avLst/>
          </a:prstGeom>
          <a:noFill/>
          <a:ln/>
        </p:spPr>
        <p:txBody>
          <a:bodyPr wrap="square" rtlCol="0" anchor="t"/>
          <a:lstStyle/>
          <a:p>
            <a:pPr indent="0" marL="0">
              <a:buNone/>
            </a:pPr>
            <a:r>
              <a:rPr lang="en-US" sz="840" dirty="0">
                <a:solidFill>
                  <a:srgbClr val="5F6368"/>
                </a:solidFill>
                <a:latin typeface="Roboto" pitchFamily="34" charset="0"/>
                <a:ea typeface="Roboto" pitchFamily="34" charset="-122"/>
                <a:cs typeface="Roboto" pitchFamily="34" charset="-120"/>
              </a:rPr>
              <a:t>• Dual-Plane: 20/20 GCP + 30/30 10-SaaS MCP PASS</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3P UIs (2880×1800): Metabase BI v0.50.26 &amp; Trino SQL v440</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Ledger: s3://cymbal-aws-federation-393036065405-us-east-1</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Artifact: docs/genuine_3p_before_after_provenance_receipt.json</a:t>
            </a:r>
            <a:endParaRPr lang="en-US" sz="840" dirty="0"/>
          </a:p>
        </p:txBody>
      </p:sp>
      <p:sp>
        <p:nvSpPr>
          <p:cNvPr id="30" name="Text 28"/>
          <p:cNvSpPr/>
          <p:nvPr/>
        </p:nvSpPr>
        <p:spPr>
          <a:xfrm>
            <a:off x="621792" y="5614416"/>
            <a:ext cx="6309360" cy="201168"/>
          </a:xfrm>
          <a:prstGeom prst="rect">
            <a:avLst/>
          </a:prstGeom>
          <a:noFill/>
          <a:ln/>
        </p:spPr>
        <p:txBody>
          <a:bodyPr wrap="square" rtlCol="0" anchor="ctr"/>
          <a:lstStyle/>
          <a:p>
            <a:pPr indent="0" marL="0">
              <a:buNone/>
            </a:pPr>
            <a:r>
              <a:rPr lang="en-US" sz="720" dirty="0">
                <a:solidFill>
                  <a:srgbClr val="5F6368"/>
                </a:solidFill>
                <a:latin typeface="Courier New" pitchFamily="34" charset="0"/>
                <a:ea typeface="Courier New" pitchFamily="34" charset="-122"/>
                <a:cs typeface="Courier New" pitchFamily="34" charset="-120"/>
              </a:rPr>
              <a:t>Source Module: scripts/capture_genuine_3p_before_after_uis.mjs</a:t>
            </a:r>
            <a:endParaRPr lang="en-US" sz="720" dirty="0"/>
          </a:p>
        </p:txBody>
      </p:sp>
      <p:sp>
        <p:nvSpPr>
          <p:cNvPr id="31" name="Shape 29"/>
          <p:cNvSpPr/>
          <p:nvPr/>
        </p:nvSpPr>
        <p:spPr>
          <a:xfrm>
            <a:off x="7351776" y="749808"/>
            <a:ext cx="4443984" cy="1243584"/>
          </a:xfrm>
          <a:prstGeom prst="roundRect">
            <a:avLst>
              <a:gd name="adj" fmla="val 5882"/>
            </a:avLst>
          </a:prstGeom>
          <a:solidFill>
            <a:srgbClr val="F8F9FA"/>
          </a:solidFill>
          <a:ln w="12700">
            <a:solidFill>
              <a:srgbClr val="DADCE0"/>
            </a:solidFill>
            <a:prstDash val="solid"/>
          </a:ln>
        </p:spPr>
      </p:sp>
      <p:sp>
        <p:nvSpPr>
          <p:cNvPr id="32" name="Shape 30"/>
          <p:cNvSpPr/>
          <p:nvPr/>
        </p:nvSpPr>
        <p:spPr>
          <a:xfrm>
            <a:off x="7351776" y="749808"/>
            <a:ext cx="82296" cy="1243584"/>
          </a:xfrm>
          <a:prstGeom prst="rect">
            <a:avLst/>
          </a:prstGeom>
          <a:solidFill>
            <a:srgbClr val="4285F4"/>
          </a:solidFill>
          <a:ln/>
        </p:spPr>
      </p:sp>
      <p:sp>
        <p:nvSpPr>
          <p:cNvPr id="33" name="Shape 31"/>
          <p:cNvSpPr/>
          <p:nvPr/>
        </p:nvSpPr>
        <p:spPr>
          <a:xfrm>
            <a:off x="7534656" y="841248"/>
            <a:ext cx="2615184" cy="219456"/>
          </a:xfrm>
          <a:prstGeom prst="roundRect">
            <a:avLst>
              <a:gd name="adj" fmla="val 16667"/>
            </a:avLst>
          </a:prstGeom>
          <a:solidFill>
            <a:srgbClr val="E8F0FE"/>
          </a:solidFill>
          <a:ln/>
        </p:spPr>
      </p:sp>
      <p:sp>
        <p:nvSpPr>
          <p:cNvPr id="34" name="Text 32"/>
          <p:cNvSpPr/>
          <p:nvPr/>
        </p:nvSpPr>
        <p:spPr>
          <a:xfrm>
            <a:off x="7534656" y="841248"/>
            <a:ext cx="2615184" cy="219456"/>
          </a:xfrm>
          <a:prstGeom prst="rect">
            <a:avLst/>
          </a:prstGeom>
          <a:noFill/>
          <a:ln/>
        </p:spPr>
        <p:txBody>
          <a:bodyPr wrap="square" rtlCol="0" anchor="ctr"/>
          <a:lstStyle/>
          <a:p>
            <a:pPr algn="ctr" indent="0" marL="0">
              <a:buNone/>
            </a:pPr>
            <a:r>
              <a:rPr lang="en-US" sz="740" b="1" dirty="0">
                <a:solidFill>
                  <a:srgbClr val="174EA6"/>
                </a:solidFill>
                <a:latin typeface="Google Sans" pitchFamily="34" charset="0"/>
                <a:ea typeface="Google Sans" pitchFamily="34" charset="-122"/>
                <a:cs typeface="Google Sans" pitchFamily="34" charset="-120"/>
              </a:rPr>
              <a:t>AUDIT 01 • 3-PATTERN TAXONOMY LIVE</a:t>
            </a:r>
            <a:endParaRPr lang="en-US" sz="740" dirty="0"/>
          </a:p>
        </p:txBody>
      </p:sp>
      <p:sp>
        <p:nvSpPr>
          <p:cNvPr id="35" name="Text 33"/>
          <p:cNvSpPr/>
          <p:nvPr/>
        </p:nvSpPr>
        <p:spPr>
          <a:xfrm>
            <a:off x="7534656" y="1097280"/>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Patterns A, B &amp; C Verified Across Live GCP &amp; AWS</a:t>
            </a:r>
            <a:endParaRPr lang="en-US" sz="1050" dirty="0"/>
          </a:p>
        </p:txBody>
      </p:sp>
      <p:sp>
        <p:nvSpPr>
          <p:cNvPr id="36" name="Text 34"/>
          <p:cNvSpPr/>
          <p:nvPr/>
        </p:nvSpPr>
        <p:spPr>
          <a:xfrm>
            <a:off x="7534656" y="1371600"/>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Live across ramp-portal-dev (#248990048888), bbar-138hf0 (#48439189383) &amp; AWS Account #393036065405 inside gVisor sandboxes.</a:t>
            </a:r>
            <a:endParaRPr lang="en-US" sz="860" dirty="0"/>
          </a:p>
        </p:txBody>
      </p:sp>
      <p:sp>
        <p:nvSpPr>
          <p:cNvPr id="37" name="Shape 35"/>
          <p:cNvSpPr/>
          <p:nvPr/>
        </p:nvSpPr>
        <p:spPr>
          <a:xfrm>
            <a:off x="7351776" y="2103120"/>
            <a:ext cx="4443984" cy="1243584"/>
          </a:xfrm>
          <a:prstGeom prst="roundRect">
            <a:avLst>
              <a:gd name="adj" fmla="val 5882"/>
            </a:avLst>
          </a:prstGeom>
          <a:solidFill>
            <a:srgbClr val="F8F9FA"/>
          </a:solidFill>
          <a:ln w="12700">
            <a:solidFill>
              <a:srgbClr val="DADCE0"/>
            </a:solidFill>
            <a:prstDash val="solid"/>
          </a:ln>
        </p:spPr>
      </p:sp>
      <p:sp>
        <p:nvSpPr>
          <p:cNvPr id="38" name="Shape 36"/>
          <p:cNvSpPr/>
          <p:nvPr/>
        </p:nvSpPr>
        <p:spPr>
          <a:xfrm>
            <a:off x="7351776" y="2103120"/>
            <a:ext cx="82296" cy="1243584"/>
          </a:xfrm>
          <a:prstGeom prst="rect">
            <a:avLst/>
          </a:prstGeom>
          <a:solidFill>
            <a:srgbClr val="EA4335"/>
          </a:solidFill>
          <a:ln/>
        </p:spPr>
      </p:sp>
      <p:sp>
        <p:nvSpPr>
          <p:cNvPr id="39" name="Shape 37"/>
          <p:cNvSpPr/>
          <p:nvPr/>
        </p:nvSpPr>
        <p:spPr>
          <a:xfrm>
            <a:off x="7534656" y="2194560"/>
            <a:ext cx="2615184" cy="219456"/>
          </a:xfrm>
          <a:prstGeom prst="roundRect">
            <a:avLst>
              <a:gd name="adj" fmla="val 16667"/>
            </a:avLst>
          </a:prstGeom>
          <a:solidFill>
            <a:srgbClr val="FCE8E6"/>
          </a:solidFill>
          <a:ln/>
        </p:spPr>
      </p:sp>
      <p:sp>
        <p:nvSpPr>
          <p:cNvPr id="40" name="Text 38"/>
          <p:cNvSpPr/>
          <p:nvPr/>
        </p:nvSpPr>
        <p:spPr>
          <a:xfrm>
            <a:off x="7534656" y="2194560"/>
            <a:ext cx="2615184" cy="219456"/>
          </a:xfrm>
          <a:prstGeom prst="rect">
            <a:avLst/>
          </a:prstGeom>
          <a:noFill/>
          <a:ln/>
        </p:spPr>
        <p:txBody>
          <a:bodyPr wrap="square" rtlCol="0" anchor="ctr"/>
          <a:lstStyle/>
          <a:p>
            <a:pPr algn="ctr" indent="0" marL="0">
              <a:buNone/>
            </a:pPr>
            <a:r>
              <a:rPr lang="en-US" sz="740" b="1" dirty="0">
                <a:solidFill>
                  <a:srgbClr val="A50E0E"/>
                </a:solidFill>
                <a:latin typeface="Google Sans" pitchFamily="34" charset="0"/>
                <a:ea typeface="Google Sans" pitchFamily="34" charset="-122"/>
                <a:cs typeface="Google Sans" pitchFamily="34" charset="-120"/>
              </a:rPr>
              <a:t>AUDIT 02 • &lt;0.15ms JWKS &amp; JTI DENY-LIST</a:t>
            </a:r>
            <a:endParaRPr lang="en-US" sz="740" dirty="0"/>
          </a:p>
        </p:txBody>
      </p:sp>
      <p:sp>
        <p:nvSpPr>
          <p:cNvPr id="41" name="Text 39"/>
          <p:cNvSpPr/>
          <p:nvPr/>
        </p:nvSpPr>
        <p:spPr>
          <a:xfrm>
            <a:off x="7534656" y="2450592"/>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RFC 8693 OBO + DPoP &amp; ~3ms Valkey Revoke Check</a:t>
            </a:r>
            <a:endParaRPr lang="en-US" sz="1050" dirty="0"/>
          </a:p>
        </p:txBody>
      </p:sp>
      <p:sp>
        <p:nvSpPr>
          <p:cNvPr id="42" name="Text 40"/>
          <p:cNvSpPr/>
          <p:nvPr/>
        </p:nvSpPr>
        <p:spPr>
          <a:xfrm>
            <a:off x="7534656" y="2724912"/>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Strips spoofed X-Tenant-Id headers at Cloud Armor edge, verifies KMS ECDSA P-256 STS JWT via cached JWKS (&lt;0.15ms), and checks ~3ms Valkey JTI deny-list.</a:t>
            </a:r>
            <a:endParaRPr lang="en-US" sz="860" dirty="0"/>
          </a:p>
        </p:txBody>
      </p:sp>
      <p:sp>
        <p:nvSpPr>
          <p:cNvPr id="43" name="Shape 41"/>
          <p:cNvSpPr/>
          <p:nvPr/>
        </p:nvSpPr>
        <p:spPr>
          <a:xfrm>
            <a:off x="7351776" y="3456432"/>
            <a:ext cx="4443984" cy="1243584"/>
          </a:xfrm>
          <a:prstGeom prst="roundRect">
            <a:avLst>
              <a:gd name="adj" fmla="val 5882"/>
            </a:avLst>
          </a:prstGeom>
          <a:solidFill>
            <a:srgbClr val="F8F9FA"/>
          </a:solidFill>
          <a:ln w="12700">
            <a:solidFill>
              <a:srgbClr val="DADCE0"/>
            </a:solidFill>
            <a:prstDash val="solid"/>
          </a:ln>
        </p:spPr>
      </p:sp>
      <p:sp>
        <p:nvSpPr>
          <p:cNvPr id="44" name="Shape 42"/>
          <p:cNvSpPr/>
          <p:nvPr/>
        </p:nvSpPr>
        <p:spPr>
          <a:xfrm>
            <a:off x="7351776" y="3456432"/>
            <a:ext cx="82296" cy="1243584"/>
          </a:xfrm>
          <a:prstGeom prst="rect">
            <a:avLst/>
          </a:prstGeom>
          <a:solidFill>
            <a:srgbClr val="FBBC04"/>
          </a:solidFill>
          <a:ln/>
        </p:spPr>
      </p:sp>
      <p:sp>
        <p:nvSpPr>
          <p:cNvPr id="45" name="Shape 43"/>
          <p:cNvSpPr/>
          <p:nvPr/>
        </p:nvSpPr>
        <p:spPr>
          <a:xfrm>
            <a:off x="7534656" y="3547872"/>
            <a:ext cx="2615184" cy="219456"/>
          </a:xfrm>
          <a:prstGeom prst="roundRect">
            <a:avLst>
              <a:gd name="adj" fmla="val 16667"/>
            </a:avLst>
          </a:prstGeom>
          <a:solidFill>
            <a:srgbClr val="FEF7E0"/>
          </a:solidFill>
          <a:ln/>
        </p:spPr>
      </p:sp>
      <p:sp>
        <p:nvSpPr>
          <p:cNvPr id="46" name="Text 44"/>
          <p:cNvSpPr/>
          <p:nvPr/>
        </p:nvSpPr>
        <p:spPr>
          <a:xfrm>
            <a:off x="7534656" y="3547872"/>
            <a:ext cx="2615184" cy="219456"/>
          </a:xfrm>
          <a:prstGeom prst="rect">
            <a:avLst/>
          </a:prstGeom>
          <a:noFill/>
          <a:ln/>
        </p:spPr>
        <p:txBody>
          <a:bodyPr wrap="square" rtlCol="0" anchor="ctr"/>
          <a:lstStyle/>
          <a:p>
            <a:pPr algn="ctr" indent="0" marL="0">
              <a:buNone/>
            </a:pPr>
            <a:r>
              <a:rPr lang="en-US" sz="740" b="1" dirty="0">
                <a:solidFill>
                  <a:srgbClr val="B06000"/>
                </a:solidFill>
                <a:latin typeface="Google Sans" pitchFamily="34" charset="0"/>
                <a:ea typeface="Google Sans" pitchFamily="34" charset="-122"/>
                <a:cs typeface="Google Sans" pitchFamily="34" charset="-120"/>
              </a:rPr>
              <a:t>AUDIT 03 • ~42ms p95 &amp; &lt;5s SCAN+UNLINK</a:t>
            </a:r>
            <a:endParaRPr lang="en-US" sz="740" dirty="0"/>
          </a:p>
        </p:txBody>
      </p:sp>
      <p:sp>
        <p:nvSpPr>
          <p:cNvPr id="47" name="Text 45"/>
          <p:cNvSpPr/>
          <p:nvPr/>
        </p:nvSpPr>
        <p:spPr>
          <a:xfrm>
            <a:off x="7534656" y="3803904"/>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120/600 RPM Bulkheads &amp; Single-Flight Recovery</a:t>
            </a:r>
            <a:endParaRPr lang="en-US" sz="1050" dirty="0"/>
          </a:p>
        </p:txBody>
      </p:sp>
      <p:sp>
        <p:nvSpPr>
          <p:cNvPr id="48" name="Text 46"/>
          <p:cNvSpPr/>
          <p:nvPr/>
        </p:nvSpPr>
        <p:spPr>
          <a:xfrm>
            <a:off x="7534656" y="4078224"/>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Proves ~42ms p95 5-Hop overhead (Hop 4 DLP ~22ms), HTTP 429 Retry-After jitter, &lt;5s targeted Valkey SCAN+UNLINK &amp; SET NX single-flight re-hydration.</a:t>
            </a:r>
            <a:endParaRPr lang="en-US" sz="860" dirty="0"/>
          </a:p>
        </p:txBody>
      </p:sp>
      <p:sp>
        <p:nvSpPr>
          <p:cNvPr id="49" name="Shape 47"/>
          <p:cNvSpPr/>
          <p:nvPr/>
        </p:nvSpPr>
        <p:spPr>
          <a:xfrm>
            <a:off x="7351776" y="4809744"/>
            <a:ext cx="4443984" cy="1243584"/>
          </a:xfrm>
          <a:prstGeom prst="roundRect">
            <a:avLst>
              <a:gd name="adj" fmla="val 5882"/>
            </a:avLst>
          </a:prstGeom>
          <a:solidFill>
            <a:srgbClr val="F8F9FA"/>
          </a:solidFill>
          <a:ln w="12700">
            <a:solidFill>
              <a:srgbClr val="DADCE0"/>
            </a:solidFill>
            <a:prstDash val="solid"/>
          </a:ln>
        </p:spPr>
      </p:sp>
      <p:sp>
        <p:nvSpPr>
          <p:cNvPr id="50" name="Shape 48"/>
          <p:cNvSpPr/>
          <p:nvPr/>
        </p:nvSpPr>
        <p:spPr>
          <a:xfrm>
            <a:off x="7351776" y="4809744"/>
            <a:ext cx="82296" cy="1243584"/>
          </a:xfrm>
          <a:prstGeom prst="rect">
            <a:avLst/>
          </a:prstGeom>
          <a:solidFill>
            <a:srgbClr val="34A853"/>
          </a:solidFill>
          <a:ln/>
        </p:spPr>
      </p:sp>
      <p:sp>
        <p:nvSpPr>
          <p:cNvPr id="51" name="Shape 49"/>
          <p:cNvSpPr/>
          <p:nvPr/>
        </p:nvSpPr>
        <p:spPr>
          <a:xfrm>
            <a:off x="7534656" y="4901184"/>
            <a:ext cx="2615184" cy="219456"/>
          </a:xfrm>
          <a:prstGeom prst="roundRect">
            <a:avLst>
              <a:gd name="adj" fmla="val 16667"/>
            </a:avLst>
          </a:prstGeom>
          <a:solidFill>
            <a:srgbClr val="E6F4EA"/>
          </a:solidFill>
          <a:ln/>
        </p:spPr>
      </p:sp>
      <p:sp>
        <p:nvSpPr>
          <p:cNvPr id="52" name="Text 50"/>
          <p:cNvSpPr/>
          <p:nvPr/>
        </p:nvSpPr>
        <p:spPr>
          <a:xfrm>
            <a:off x="7534656" y="4901184"/>
            <a:ext cx="2615184" cy="219456"/>
          </a:xfrm>
          <a:prstGeom prst="rect">
            <a:avLst/>
          </a:prstGeom>
          <a:noFill/>
          <a:ln/>
        </p:spPr>
        <p:txBody>
          <a:bodyPr wrap="square" rtlCol="0" anchor="ctr"/>
          <a:lstStyle/>
          <a:p>
            <a:pPr algn="ctr" indent="0" marL="0">
              <a:buNone/>
            </a:pPr>
            <a:r>
              <a:rPr lang="en-US" sz="740" b="1" dirty="0">
                <a:solidFill>
                  <a:srgbClr val="0D652D"/>
                </a:solidFill>
                <a:latin typeface="Google Sans" pitchFamily="34" charset="0"/>
                <a:ea typeface="Google Sans" pitchFamily="34" charset="-122"/>
                <a:cs typeface="Google Sans" pitchFamily="34" charset="-120"/>
              </a:rPr>
              <a:t>AUDIT 04 • 20 BEFORE/AFTER 3P UIs &amp; 30/30 SAAS</a:t>
            </a:r>
            <a:endParaRPr lang="en-US" sz="740" dirty="0"/>
          </a:p>
        </p:txBody>
      </p:sp>
      <p:sp>
        <p:nvSpPr>
          <p:cNvPr id="53" name="Text 51"/>
          <p:cNvSpPr/>
          <p:nvPr/>
        </p:nvSpPr>
        <p:spPr>
          <a:xfrm>
            <a:off x="7534656" y="5157216"/>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Metabase + Trino Before/After UIs &amp; 30/30 MCP PASS</a:t>
            </a:r>
            <a:endParaRPr lang="en-US" sz="1050" dirty="0"/>
          </a:p>
        </p:txBody>
      </p:sp>
      <p:sp>
        <p:nvSpPr>
          <p:cNvPr id="54" name="Text 52"/>
          <p:cNvSpPr/>
          <p:nvPr/>
        </p:nvSpPr>
        <p:spPr>
          <a:xfrm>
            <a:off x="7534656" y="5431536"/>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Pairs 20/20 GCP + 30/30 AWS AgentCore MCP assertions with 20 genuine 2880×1800 Before/After Retina 3P SaaS UI proofs.</a:t>
            </a:r>
            <a:endParaRPr lang="en-US" sz="860" dirty="0"/>
          </a:p>
        </p:txBody>
      </p:sp>
      <p:sp>
        <p:nvSpPr>
          <p:cNvPr id="55" name="Text 53"/>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Workstream 1 • Reference Architecture &amp; Cloud Architecture Center Doc PR  •  Act III Forensic Verification Audit: Grounded Google Cloud CLI &amp; Telemetry Receipts + 100%…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1920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1920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BEFORE-AFTER-SAAS-PROOF</a:t>
            </a:r>
            <a:endParaRPr lang="en-US" sz="850" dirty="0"/>
          </a:p>
        </p:txBody>
      </p:sp>
      <p:sp>
        <p:nvSpPr>
          <p:cNvPr id="14" name="Text 12"/>
          <p:cNvSpPr/>
          <p:nvPr/>
        </p:nvSpPr>
        <p:spPr>
          <a:xfrm>
            <a:off x="5541264" y="132588"/>
            <a:ext cx="3861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Proof 2: Live 2880x1800 Retina Before -&gt; After 3P SaaS UI Isolation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ACT III • VISUAL PROOF</a:t>
            </a:r>
            <a:endParaRPr lang="en-US" sz="750" dirty="0"/>
          </a:p>
        </p:txBody>
      </p:sp>
      <p:sp>
        <p:nvSpPr>
          <p:cNvPr id="17" name="Text 15"/>
          <p:cNvSpPr/>
          <p:nvPr/>
        </p:nvSpPr>
        <p:spPr>
          <a:xfrm>
            <a:off x="411480" y="621792"/>
            <a:ext cx="11365992" cy="310896"/>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captures proving zero cross-tenant leakage across live third-party enterprise BI and SQL surfaces before and after 5-Hop RLS enforcement.</a:t>
            </a:r>
            <a:endParaRPr lang="en-US" sz="1020" dirty="0"/>
          </a:p>
        </p:txBody>
      </p:sp>
      <p:sp>
        <p:nvSpPr>
          <p:cNvPr id="18" name="Shape 16"/>
          <p:cNvSpPr/>
          <p:nvPr/>
        </p:nvSpPr>
        <p:spPr>
          <a:xfrm>
            <a:off x="411480" y="1024128"/>
            <a:ext cx="5532120" cy="5321808"/>
          </a:xfrm>
          <a:prstGeom prst="roundRect">
            <a:avLst>
              <a:gd name="adj" fmla="val 1375"/>
            </a:avLst>
          </a:prstGeom>
          <a:solidFill>
            <a:srgbClr val="F8F9FA"/>
          </a:solidFill>
          <a:ln w="12700">
            <a:solidFill>
              <a:srgbClr val="DADCE0"/>
            </a:solidFill>
            <a:prstDash val="solid"/>
          </a:ln>
        </p:spPr>
      </p:sp>
      <p:sp>
        <p:nvSpPr>
          <p:cNvPr id="19" name="Text 17"/>
          <p:cNvSpPr/>
          <p:nvPr/>
        </p:nvSpPr>
        <p:spPr>
          <a:xfrm>
            <a:off x="548640" y="1097280"/>
            <a:ext cx="5257800" cy="256032"/>
          </a:xfrm>
          <a:prstGeom prst="rect">
            <a:avLst/>
          </a:prstGeom>
          <a:noFill/>
          <a:ln/>
        </p:spPr>
        <p:txBody>
          <a:bodyPr wrap="square" rtlCol="0" anchor="ctr"/>
          <a:lstStyle/>
          <a:p>
            <a:pPr indent="0" marL="0">
              <a:buNone/>
            </a:pPr>
            <a:r>
              <a:rPr lang="en-US" sz="960" b="1" dirty="0">
                <a:solidFill>
                  <a:srgbClr val="174EA6"/>
                </a:solidFill>
                <a:latin typeface="Google Sans" pitchFamily="34" charset="0"/>
                <a:ea typeface="Google Sans" pitchFamily="34" charset="-122"/>
                <a:cs typeface="Google Sans" pitchFamily="34" charset="-120"/>
              </a:rPr>
              <a:t>Metabase Enterprise BI v0.50.26 — Tenant Analytics Isolation</a:t>
            </a:r>
            <a:endParaRPr lang="en-US" sz="960" dirty="0"/>
          </a:p>
        </p:txBody>
      </p:sp>
      <p:sp>
        <p:nvSpPr>
          <p:cNvPr id="20" name="Shape 18"/>
          <p:cNvSpPr/>
          <p:nvPr/>
        </p:nvSpPr>
        <p:spPr>
          <a:xfrm>
            <a:off x="548640" y="1408176"/>
            <a:ext cx="5257800" cy="237744"/>
          </a:xfrm>
          <a:prstGeom prst="rect">
            <a:avLst/>
          </a:prstGeom>
          <a:solidFill>
            <a:srgbClr val="FCE8E6"/>
          </a:solidFill>
          <a:ln/>
        </p:spPr>
      </p:sp>
      <p:sp>
        <p:nvSpPr>
          <p:cNvPr id="21" name="Text 19"/>
          <p:cNvSpPr/>
          <p:nvPr/>
        </p:nvSpPr>
        <p:spPr>
          <a:xfrm>
            <a:off x="612648" y="1408176"/>
            <a:ext cx="5120640" cy="237744"/>
          </a:xfrm>
          <a:prstGeom prst="rect">
            <a:avLst/>
          </a:prstGeom>
          <a:noFill/>
          <a:ln/>
        </p:spPr>
        <p:txBody>
          <a:bodyPr wrap="square" rtlCol="0" anchor="ctr"/>
          <a:lstStyle/>
          <a:p>
            <a:pPr indent="0" marL="0">
              <a:buNone/>
            </a:pPr>
            <a:r>
              <a:rPr lang="en-US" sz="800" b="1" dirty="0">
                <a:solidFill>
                  <a:srgbClr val="A50E0E"/>
                </a:solidFill>
                <a:latin typeface="Roboto" pitchFamily="34" charset="0"/>
                <a:ea typeface="Roboto" pitchFamily="34" charset="-122"/>
                <a:cs typeface="Roboto" pitchFamily="34" charset="-120"/>
              </a:rPr>
              <a:t>BEFORE: Unscoped Multi-Tenant Query (All Tenants Exposed)</a:t>
            </a:r>
            <a:endParaRPr lang="en-US" sz="800" dirty="0"/>
          </a:p>
        </p:txBody>
      </p:sp>
      <p:pic>
        <p:nvPicPr>
          <p:cNvPr id="22" name="Image 0" descr="/usr/local/google/home/nitinagga/Documents/blogs/screenshots/genuine-multicloud-3p-uis/before-after/before_01_metabase_bi.png">    </p:cNvPr>
          <p:cNvPicPr>
            <a:picLocks noChangeAspect="1"/>
          </p:cNvPicPr>
          <p:nvPr/>
        </p:nvPicPr>
        <p:blipFill>
          <a:blip r:embed="rId1"/>
          <a:stretch>
            <a:fillRect/>
          </a:stretch>
        </p:blipFill>
        <p:spPr>
          <a:xfrm>
            <a:off x="548640" y="1664208"/>
            <a:ext cx="5257800" cy="2029968"/>
          </a:xfrm>
          <a:prstGeom prst="rect">
            <a:avLst/>
          </a:prstGeom>
        </p:spPr>
      </p:pic>
      <p:sp>
        <p:nvSpPr>
          <p:cNvPr id="23" name="Shape 20"/>
          <p:cNvSpPr/>
          <p:nvPr/>
        </p:nvSpPr>
        <p:spPr>
          <a:xfrm>
            <a:off x="548640" y="3785616"/>
            <a:ext cx="5257800" cy="237744"/>
          </a:xfrm>
          <a:prstGeom prst="rect">
            <a:avLst/>
          </a:prstGeom>
          <a:solidFill>
            <a:srgbClr val="E6F4EA"/>
          </a:solidFill>
          <a:ln/>
        </p:spPr>
      </p:sp>
      <p:sp>
        <p:nvSpPr>
          <p:cNvPr id="24" name="Text 21"/>
          <p:cNvSpPr/>
          <p:nvPr/>
        </p:nvSpPr>
        <p:spPr>
          <a:xfrm>
            <a:off x="612648" y="3785616"/>
            <a:ext cx="5120640" cy="237744"/>
          </a:xfrm>
          <a:prstGeom prst="rect">
            <a:avLst/>
          </a:prstGeom>
          <a:noFill/>
          <a:ln/>
        </p:spPr>
        <p:txBody>
          <a:bodyPr wrap="square" rtlCol="0" anchor="ctr"/>
          <a:lstStyle/>
          <a:p>
            <a:pPr indent="0" marL="0">
              <a:buNone/>
            </a:pPr>
            <a:r>
              <a:rPr lang="en-US" sz="800" b="1" dirty="0">
                <a:solidFill>
                  <a:srgbClr val="0D652D"/>
                </a:solidFill>
                <a:latin typeface="Roboto" pitchFamily="34" charset="0"/>
                <a:ea typeface="Roboto" pitchFamily="34" charset="-122"/>
                <a:cs typeface="Roboto" pitchFamily="34" charset="-120"/>
              </a:rPr>
              <a:t>AFTER: 5-Hop AlloyDB RLS + TenantContext JWT (FinVault Only)</a:t>
            </a:r>
            <a:endParaRPr lang="en-US" sz="800" dirty="0"/>
          </a:p>
        </p:txBody>
      </p:sp>
      <p:pic>
        <p:nvPicPr>
          <p:cNvPr id="25" name="Image 1" descr="/usr/local/google/home/nitinagga/Documents/blogs/screenshots/genuine-multicloud-3p-uis/before-after/after_01_metabase_bi.png">    </p:cNvPr>
          <p:cNvPicPr>
            <a:picLocks noChangeAspect="1"/>
          </p:cNvPicPr>
          <p:nvPr/>
        </p:nvPicPr>
        <p:blipFill>
          <a:blip r:embed="rId2"/>
          <a:stretch>
            <a:fillRect/>
          </a:stretch>
        </p:blipFill>
        <p:spPr>
          <a:xfrm>
            <a:off x="548640" y="4041648"/>
            <a:ext cx="5257800" cy="2029968"/>
          </a:xfrm>
          <a:prstGeom prst="rect">
            <a:avLst/>
          </a:prstGeom>
        </p:spPr>
      </p:pic>
      <p:sp>
        <p:nvSpPr>
          <p:cNvPr id="26" name="Shape 22"/>
          <p:cNvSpPr/>
          <p:nvPr/>
        </p:nvSpPr>
        <p:spPr>
          <a:xfrm>
            <a:off x="6245352" y="1024128"/>
            <a:ext cx="5532120" cy="5321808"/>
          </a:xfrm>
          <a:prstGeom prst="roundRect">
            <a:avLst>
              <a:gd name="adj" fmla="val 1375"/>
            </a:avLst>
          </a:prstGeom>
          <a:solidFill>
            <a:srgbClr val="F8F9FA"/>
          </a:solidFill>
          <a:ln w="12700">
            <a:solidFill>
              <a:srgbClr val="DADCE0"/>
            </a:solidFill>
            <a:prstDash val="solid"/>
          </a:ln>
        </p:spPr>
      </p:sp>
      <p:sp>
        <p:nvSpPr>
          <p:cNvPr id="27" name="Text 23"/>
          <p:cNvSpPr/>
          <p:nvPr/>
        </p:nvSpPr>
        <p:spPr>
          <a:xfrm>
            <a:off x="6382512" y="1097280"/>
            <a:ext cx="5257800" cy="256032"/>
          </a:xfrm>
          <a:prstGeom prst="rect">
            <a:avLst/>
          </a:prstGeom>
          <a:noFill/>
          <a:ln/>
        </p:spPr>
        <p:txBody>
          <a:bodyPr wrap="square" rtlCol="0" anchor="ctr"/>
          <a:lstStyle/>
          <a:p>
            <a:pPr indent="0" marL="0">
              <a:buNone/>
            </a:pPr>
            <a:r>
              <a:rPr lang="en-US" sz="960" b="1" dirty="0">
                <a:solidFill>
                  <a:srgbClr val="174EA6"/>
                </a:solidFill>
                <a:latin typeface="Google Sans" pitchFamily="34" charset="0"/>
                <a:ea typeface="Google Sans" pitchFamily="34" charset="-122"/>
                <a:cs typeface="Google Sans" pitchFamily="34" charset="-120"/>
              </a:rPr>
              <a:t>Trino Distributed SQL v440 — Federated Catalog &amp; Query Scoping</a:t>
            </a:r>
            <a:endParaRPr lang="en-US" sz="960" dirty="0"/>
          </a:p>
        </p:txBody>
      </p:sp>
      <p:sp>
        <p:nvSpPr>
          <p:cNvPr id="28" name="Shape 24"/>
          <p:cNvSpPr/>
          <p:nvPr/>
        </p:nvSpPr>
        <p:spPr>
          <a:xfrm>
            <a:off x="6382512" y="1408176"/>
            <a:ext cx="5257800" cy="237744"/>
          </a:xfrm>
          <a:prstGeom prst="rect">
            <a:avLst/>
          </a:prstGeom>
          <a:solidFill>
            <a:srgbClr val="FCE8E6"/>
          </a:solidFill>
          <a:ln/>
        </p:spPr>
      </p:sp>
      <p:sp>
        <p:nvSpPr>
          <p:cNvPr id="29" name="Text 25"/>
          <p:cNvSpPr/>
          <p:nvPr/>
        </p:nvSpPr>
        <p:spPr>
          <a:xfrm>
            <a:off x="6446520" y="1408176"/>
            <a:ext cx="5120640" cy="237744"/>
          </a:xfrm>
          <a:prstGeom prst="rect">
            <a:avLst/>
          </a:prstGeom>
          <a:noFill/>
          <a:ln/>
        </p:spPr>
        <p:txBody>
          <a:bodyPr wrap="square" rtlCol="0" anchor="ctr"/>
          <a:lstStyle/>
          <a:p>
            <a:pPr indent="0" marL="0">
              <a:buNone/>
            </a:pPr>
            <a:r>
              <a:rPr lang="en-US" sz="800" b="1" dirty="0">
                <a:solidFill>
                  <a:srgbClr val="A50E0E"/>
                </a:solidFill>
                <a:latin typeface="Roboto" pitchFamily="34" charset="0"/>
                <a:ea typeface="Roboto" pitchFamily="34" charset="-122"/>
                <a:cs typeface="Roboto" pitchFamily="34" charset="-120"/>
              </a:rPr>
              <a:t>BEFORE: Cross-Tenant Schema &amp; Catalog Enumeration</a:t>
            </a:r>
            <a:endParaRPr lang="en-US" sz="800" dirty="0"/>
          </a:p>
        </p:txBody>
      </p:sp>
      <p:pic>
        <p:nvPicPr>
          <p:cNvPr id="30" name="Image 2" descr="/usr/local/google/home/nitinagga/Documents/blogs/screenshots/genuine-multicloud-3p-uis/before-after/before_06_trino_sql.png">    </p:cNvPr>
          <p:cNvPicPr>
            <a:picLocks noChangeAspect="1"/>
          </p:cNvPicPr>
          <p:nvPr/>
        </p:nvPicPr>
        <p:blipFill>
          <a:blip r:embed="rId3"/>
          <a:stretch>
            <a:fillRect/>
          </a:stretch>
        </p:blipFill>
        <p:spPr>
          <a:xfrm>
            <a:off x="6382512" y="1664208"/>
            <a:ext cx="5257800" cy="2029968"/>
          </a:xfrm>
          <a:prstGeom prst="rect">
            <a:avLst/>
          </a:prstGeom>
        </p:spPr>
      </p:pic>
      <p:sp>
        <p:nvSpPr>
          <p:cNvPr id="31" name="Shape 26"/>
          <p:cNvSpPr/>
          <p:nvPr/>
        </p:nvSpPr>
        <p:spPr>
          <a:xfrm>
            <a:off x="6382512" y="3785616"/>
            <a:ext cx="5257800" cy="237744"/>
          </a:xfrm>
          <a:prstGeom prst="rect">
            <a:avLst/>
          </a:prstGeom>
          <a:solidFill>
            <a:srgbClr val="E6F4EA"/>
          </a:solidFill>
          <a:ln/>
        </p:spPr>
      </p:sp>
      <p:sp>
        <p:nvSpPr>
          <p:cNvPr id="32" name="Text 27"/>
          <p:cNvSpPr/>
          <p:nvPr/>
        </p:nvSpPr>
        <p:spPr>
          <a:xfrm>
            <a:off x="6446520" y="3785616"/>
            <a:ext cx="5120640" cy="237744"/>
          </a:xfrm>
          <a:prstGeom prst="rect">
            <a:avLst/>
          </a:prstGeom>
          <a:noFill/>
          <a:ln/>
        </p:spPr>
        <p:txBody>
          <a:bodyPr wrap="square" rtlCol="0" anchor="ctr"/>
          <a:lstStyle/>
          <a:p>
            <a:pPr indent="0" marL="0">
              <a:buNone/>
            </a:pPr>
            <a:r>
              <a:rPr lang="en-US" sz="800" b="1" dirty="0">
                <a:solidFill>
                  <a:srgbClr val="0D652D"/>
                </a:solidFill>
                <a:latin typeface="Roboto" pitchFamily="34" charset="0"/>
                <a:ea typeface="Roboto" pitchFamily="34" charset="-122"/>
                <a:cs typeface="Roboto" pitchFamily="34" charset="-120"/>
              </a:rPr>
              <a:t>AFTER: ARD + MCP + RLS Scoped Execution (0 Leaked Rows)</a:t>
            </a:r>
            <a:endParaRPr lang="en-US" sz="800" dirty="0"/>
          </a:p>
        </p:txBody>
      </p:sp>
      <p:pic>
        <p:nvPicPr>
          <p:cNvPr id="33" name="Image 3" descr="/usr/local/google/home/nitinagga/Documents/blogs/screenshots/genuine-multicloud-3p-uis/before-after/after_06_trino_sql.png">    </p:cNvPr>
          <p:cNvPicPr>
            <a:picLocks noChangeAspect="1"/>
          </p:cNvPicPr>
          <p:nvPr/>
        </p:nvPicPr>
        <p:blipFill>
          <a:blip r:embed="rId4"/>
          <a:stretch>
            <a:fillRect/>
          </a:stretch>
        </p:blipFill>
        <p:spPr>
          <a:xfrm>
            <a:off x="6382512" y="4041648"/>
            <a:ext cx="5257800" cy="2029968"/>
          </a:xfrm>
          <a:prstGeom prst="rect">
            <a:avLst/>
          </a:prstGeom>
        </p:spPr>
      </p:pic>
      <p:sp>
        <p:nvSpPr>
          <p:cNvPr id="34" name="Text 28"/>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Workstream 1 • Reference Architecture &amp; Cloud Architecture Center Doc PR  •  Live 2880x1800 Retina Before/After 3P SaaS UI Isolation Proof (10/10 SaaS Targets Verified)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V • WELL-ARCHITECTED SLA SCORECARD &amp; 5-PART ENGINEERING ROADMAP</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NEXT-STEPS • ACTION PLAN</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Well-Architected SLA Scorecard &amp; 5-Part Engineering Roadmap</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Well-Architected SLAs (~42ms 5-Hop • ~1.8s cold / ~420ms warm TTFT • &lt;60s CMEK / &lt;5s L1 purge • &lt;30s cross-region RTO • 84.7% token &amp; 74% TCO savings) + 5 Runnable Milestones.</a:t>
            </a:r>
            <a:endParaRPr lang="en-US" sz="1000" dirty="0"/>
          </a:p>
        </p:txBody>
      </p:sp>
      <p:sp>
        <p:nvSpPr>
          <p:cNvPr id="19" name="Shape 17"/>
          <p:cNvSpPr/>
          <p:nvPr/>
        </p:nvSpPr>
        <p:spPr>
          <a:xfrm>
            <a:off x="411480" y="1353312"/>
            <a:ext cx="3655771" cy="2282342"/>
          </a:xfrm>
          <a:prstGeom prst="roundRect">
            <a:avLst>
              <a:gd name="adj" fmla="val 3205"/>
            </a:avLst>
          </a:prstGeom>
          <a:solidFill>
            <a:srgbClr val="F8F9FA"/>
          </a:solidFill>
          <a:ln w="12700">
            <a:solidFill>
              <a:srgbClr val="DADCE0"/>
            </a:solidFill>
            <a:prstDash val="solid"/>
          </a:ln>
        </p:spPr>
      </p:sp>
      <p:sp>
        <p:nvSpPr>
          <p:cNvPr id="20" name="Shape 18"/>
          <p:cNvSpPr/>
          <p:nvPr/>
        </p:nvSpPr>
        <p:spPr>
          <a:xfrm>
            <a:off x="411480" y="1353312"/>
            <a:ext cx="3655771"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Part 1 (Slides 1–4) — Isolation Topologies &amp; 5-Hop Core</a:t>
            </a:r>
            <a:endParaRPr lang="en-US" sz="1040" dirty="0"/>
          </a:p>
        </p:txBody>
      </p:sp>
      <p:sp>
        <p:nvSpPr>
          <p:cNvPr id="24" name="Shape 22"/>
          <p:cNvSpPr/>
          <p:nvPr/>
        </p:nvSpPr>
        <p:spPr>
          <a:xfrm>
            <a:off x="557784" y="1847088"/>
            <a:ext cx="3363163" cy="9144"/>
          </a:xfrm>
          <a:prstGeom prst="rect">
            <a:avLst/>
          </a:prstGeom>
          <a:solidFill>
            <a:srgbClr val="DADCE0"/>
          </a:solidFill>
          <a:ln/>
        </p:spPr>
      </p:sp>
      <p:sp>
        <p:nvSpPr>
          <p:cNvPr id="25" name="Text 23"/>
          <p:cNvSpPr/>
          <p:nvPr/>
        </p:nvSpPr>
        <p:spPr>
          <a:xfrm>
            <a:off x="557784"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Deploy core-cymbal-agent/ (27-File Reference Workbench) with &lt;0.15ms cached-JWKS STS JWT verification, ~3ms Valkey JTI deny-list, and {tenant}:{user} 3LO token vaulting.</a:t>
            </a:r>
            <a:endParaRPr lang="en-US" sz="900" dirty="0"/>
          </a:p>
        </p:txBody>
      </p:sp>
      <p:sp>
        <p:nvSpPr>
          <p:cNvPr id="26" name="Shape 24"/>
          <p:cNvSpPr/>
          <p:nvPr/>
        </p:nvSpPr>
        <p:spPr>
          <a:xfrm>
            <a:off x="557784" y="2812694"/>
            <a:ext cx="3363163"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812694"/>
            <a:ext cx="54864" cy="493776"/>
          </a:xfrm>
          <a:prstGeom prst="rect">
            <a:avLst/>
          </a:prstGeom>
          <a:solidFill>
            <a:srgbClr val="4285F4"/>
          </a:solidFill>
          <a:ln/>
        </p:spPr>
      </p:sp>
      <p:sp>
        <p:nvSpPr>
          <p:cNvPr id="28" name="Text 26"/>
          <p:cNvSpPr/>
          <p:nvPr/>
        </p:nvSpPr>
        <p:spPr>
          <a:xfrm>
            <a:off x="649224"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core-cymbal-agent/ • runtime_pipeline.py • models.py
</a:t>
            </a:r>
            <a:pPr indent="0" marL="0">
              <a:buNone/>
            </a:pPr>
            <a:r>
              <a:rPr lang="en-US" sz="730" dirty="0">
                <a:solidFill>
                  <a:srgbClr val="5F6368"/>
                </a:solidFill>
                <a:latin typeface="Roboto" pitchFamily="34" charset="0"/>
                <a:ea typeface="Roboto" pitchFamily="34" charset="-122"/>
                <a:cs typeface="Roboto" pitchFamily="34" charset="-120"/>
              </a:rPr>
              <a:t>Target &amp; SLA: SLA: &lt;0.15ms Cached JWKS • ~3ms JTI Deny-List • 3LO Vault</a:t>
            </a:r>
            <a:endParaRPr lang="en-US" sz="750" dirty="0"/>
          </a:p>
        </p:txBody>
      </p:sp>
      <p:sp>
        <p:nvSpPr>
          <p:cNvPr id="29" name="Shape 27"/>
          <p:cNvSpPr/>
          <p:nvPr/>
        </p:nvSpPr>
        <p:spPr>
          <a:xfrm>
            <a:off x="557784" y="3361334"/>
            <a:ext cx="3363163" cy="219456"/>
          </a:xfrm>
          <a:prstGeom prst="roundRect">
            <a:avLst>
              <a:gd name="adj" fmla="val 20833"/>
            </a:avLst>
          </a:prstGeom>
          <a:solidFill>
            <a:srgbClr val="E8F0FE"/>
          </a:solidFill>
          <a:ln/>
        </p:spPr>
      </p:sp>
      <p:sp>
        <p:nvSpPr>
          <p:cNvPr id="30" name="Text 28"/>
          <p:cNvSpPr/>
          <p:nvPr/>
        </p:nvSpPr>
        <p:spPr>
          <a:xfrm>
            <a:off x="612648" y="3361334"/>
            <a:ext cx="3253435"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Platform Architecture  •  Part 1: Topologies &amp; Core (Slides 1–4)</a:t>
            </a:r>
            <a:endParaRPr lang="en-US" sz="750" dirty="0"/>
          </a:p>
        </p:txBody>
      </p:sp>
      <p:sp>
        <p:nvSpPr>
          <p:cNvPr id="31" name="Shape 29"/>
          <p:cNvSpPr/>
          <p:nvPr/>
        </p:nvSpPr>
        <p:spPr>
          <a:xfrm>
            <a:off x="4268419" y="1353312"/>
            <a:ext cx="3655771" cy="2282342"/>
          </a:xfrm>
          <a:prstGeom prst="roundRect">
            <a:avLst>
              <a:gd name="adj" fmla="val 3205"/>
            </a:avLst>
          </a:prstGeom>
          <a:solidFill>
            <a:srgbClr val="F8F9FA"/>
          </a:solidFill>
          <a:ln w="12700">
            <a:solidFill>
              <a:srgbClr val="DADCE0"/>
            </a:solidFill>
            <a:prstDash val="solid"/>
          </a:ln>
        </p:spPr>
      </p:sp>
      <p:sp>
        <p:nvSpPr>
          <p:cNvPr id="32" name="Shape 30"/>
          <p:cNvSpPr/>
          <p:nvPr/>
        </p:nvSpPr>
        <p:spPr>
          <a:xfrm>
            <a:off x="4268419" y="1353312"/>
            <a:ext cx="3655771" cy="59436"/>
          </a:xfrm>
          <a:prstGeom prst="rect">
            <a:avLst/>
          </a:prstGeom>
          <a:solidFill>
            <a:srgbClr val="EA4335"/>
          </a:solidFill>
          <a:ln/>
        </p:spPr>
      </p:sp>
      <p:sp>
        <p:nvSpPr>
          <p:cNvPr id="33" name="Shape 31"/>
          <p:cNvSpPr/>
          <p:nvPr/>
        </p:nvSpPr>
        <p:spPr>
          <a:xfrm>
            <a:off x="4414723" y="1481328"/>
            <a:ext cx="365760" cy="256032"/>
          </a:xfrm>
          <a:prstGeom prst="roundRect">
            <a:avLst>
              <a:gd name="adj" fmla="val 21429"/>
            </a:avLst>
          </a:prstGeom>
          <a:solidFill>
            <a:srgbClr val="FCE8E6"/>
          </a:solidFill>
          <a:ln/>
        </p:spPr>
      </p:sp>
      <p:sp>
        <p:nvSpPr>
          <p:cNvPr id="34" name="Text 32"/>
          <p:cNvSpPr/>
          <p:nvPr/>
        </p:nvSpPr>
        <p:spPr>
          <a:xfrm>
            <a:off x="4414723"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4853635"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Part 2 (Slides 5–9) — 5-Hop Pipeline &amp; Pattern A Pool</a:t>
            </a:r>
            <a:endParaRPr lang="en-US" sz="1040" dirty="0"/>
          </a:p>
        </p:txBody>
      </p:sp>
      <p:sp>
        <p:nvSpPr>
          <p:cNvPr id="36" name="Shape 34"/>
          <p:cNvSpPr/>
          <p:nvPr/>
        </p:nvSpPr>
        <p:spPr>
          <a:xfrm>
            <a:off x="4414723" y="1847088"/>
            <a:ext cx="3363163" cy="9144"/>
          </a:xfrm>
          <a:prstGeom prst="rect">
            <a:avLst/>
          </a:prstGeom>
          <a:solidFill>
            <a:srgbClr val="DADCE0"/>
          </a:solidFill>
          <a:ln/>
        </p:spPr>
      </p:sp>
      <p:sp>
        <p:nvSpPr>
          <p:cNvPr id="37" name="Text 35"/>
          <p:cNvSpPr/>
          <p:nvPr/>
        </p:nvSpPr>
        <p:spPr>
          <a:xfrm>
            <a:off x="4414723"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Apply Terraform 2.6 (2.6-terraform-starter/), certify ~42ms p95 5-Hop overhead (~22ms DLP), ~1.8s cold / ~420ms warm TTFT, 84.7% token savings (90% 32k prefix cache), and pass run_breach_simulations.py (10/10 PASS).</a:t>
            </a:r>
            <a:endParaRPr lang="en-US" sz="900" dirty="0"/>
          </a:p>
        </p:txBody>
      </p:sp>
      <p:sp>
        <p:nvSpPr>
          <p:cNvPr id="38" name="Shape 36"/>
          <p:cNvSpPr/>
          <p:nvPr/>
        </p:nvSpPr>
        <p:spPr>
          <a:xfrm>
            <a:off x="4414723" y="2812694"/>
            <a:ext cx="3363163"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4414723" y="2812694"/>
            <a:ext cx="54864" cy="493776"/>
          </a:xfrm>
          <a:prstGeom prst="rect">
            <a:avLst/>
          </a:prstGeom>
          <a:solidFill>
            <a:srgbClr val="EA4335"/>
          </a:solidFill>
          <a:ln/>
        </p:spPr>
      </p:sp>
      <p:sp>
        <p:nvSpPr>
          <p:cNvPr id="40" name="Text 38"/>
          <p:cNvSpPr/>
          <p:nvPr/>
        </p:nvSpPr>
        <p:spPr>
          <a:xfrm>
            <a:off x="4506163"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2.6-terraform-starter/ • run_breach_simulations.py
</a:t>
            </a:r>
            <a:pPr indent="0" marL="0">
              <a:buNone/>
            </a:pPr>
            <a:r>
              <a:rPr lang="en-US" sz="730" dirty="0">
                <a:solidFill>
                  <a:srgbClr val="5F6368"/>
                </a:solidFill>
                <a:latin typeface="Roboto" pitchFamily="34" charset="0"/>
                <a:ea typeface="Roboto" pitchFamily="34" charset="-122"/>
                <a:cs typeface="Roboto" pitchFamily="34" charset="-120"/>
              </a:rPr>
              <a:t>Target &amp; SLA: SLA: ~42ms 5-Hop • ~420ms Warm TTFT • 84.7% Savings (10/10)</a:t>
            </a:r>
            <a:endParaRPr lang="en-US" sz="750" dirty="0"/>
          </a:p>
        </p:txBody>
      </p:sp>
      <p:sp>
        <p:nvSpPr>
          <p:cNvPr id="41" name="Shape 39"/>
          <p:cNvSpPr/>
          <p:nvPr/>
        </p:nvSpPr>
        <p:spPr>
          <a:xfrm>
            <a:off x="4414723" y="3361334"/>
            <a:ext cx="3363163" cy="219456"/>
          </a:xfrm>
          <a:prstGeom prst="roundRect">
            <a:avLst>
              <a:gd name="adj" fmla="val 20833"/>
            </a:avLst>
          </a:prstGeom>
          <a:solidFill>
            <a:srgbClr val="FCE8E6"/>
          </a:solidFill>
          <a:ln/>
        </p:spPr>
      </p:sp>
      <p:sp>
        <p:nvSpPr>
          <p:cNvPr id="42" name="Text 40"/>
          <p:cNvSpPr/>
          <p:nvPr/>
        </p:nvSpPr>
        <p:spPr>
          <a:xfrm>
            <a:off x="4469587" y="3361334"/>
            <a:ext cx="3253435"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Owner: Cloud Security &amp; IAM  •  Part 2: 5-Hop &amp; Pattern A (Slides 5–9)</a:t>
            </a:r>
            <a:endParaRPr lang="en-US" sz="750" dirty="0"/>
          </a:p>
        </p:txBody>
      </p:sp>
      <p:sp>
        <p:nvSpPr>
          <p:cNvPr id="43" name="Shape 41"/>
          <p:cNvSpPr/>
          <p:nvPr/>
        </p:nvSpPr>
        <p:spPr>
          <a:xfrm>
            <a:off x="8124444" y="1353312"/>
            <a:ext cx="3655771" cy="2282342"/>
          </a:xfrm>
          <a:prstGeom prst="roundRect">
            <a:avLst>
              <a:gd name="adj" fmla="val 3205"/>
            </a:avLst>
          </a:prstGeom>
          <a:solidFill>
            <a:srgbClr val="F8F9FA"/>
          </a:solidFill>
          <a:ln w="12700">
            <a:solidFill>
              <a:srgbClr val="DADCE0"/>
            </a:solidFill>
            <a:prstDash val="solid"/>
          </a:ln>
        </p:spPr>
      </p:sp>
      <p:sp>
        <p:nvSpPr>
          <p:cNvPr id="44" name="Shape 42"/>
          <p:cNvSpPr/>
          <p:nvPr/>
        </p:nvSpPr>
        <p:spPr>
          <a:xfrm>
            <a:off x="8124444" y="1353312"/>
            <a:ext cx="3655771" cy="59436"/>
          </a:xfrm>
          <a:prstGeom prst="rect">
            <a:avLst/>
          </a:prstGeom>
          <a:solidFill>
            <a:srgbClr val="FBBC04"/>
          </a:solidFill>
          <a:ln/>
        </p:spPr>
      </p:sp>
      <p:sp>
        <p:nvSpPr>
          <p:cNvPr id="45" name="Shape 43"/>
          <p:cNvSpPr/>
          <p:nvPr/>
        </p:nvSpPr>
        <p:spPr>
          <a:xfrm>
            <a:off x="8270748" y="1481328"/>
            <a:ext cx="365760" cy="256032"/>
          </a:xfrm>
          <a:prstGeom prst="roundRect">
            <a:avLst>
              <a:gd name="adj" fmla="val 21429"/>
            </a:avLst>
          </a:prstGeom>
          <a:solidFill>
            <a:srgbClr val="FEF7E0"/>
          </a:solidFill>
          <a:ln/>
        </p:spPr>
      </p:sp>
      <p:sp>
        <p:nvSpPr>
          <p:cNvPr id="46" name="Text 44"/>
          <p:cNvSpPr/>
          <p:nvPr/>
        </p:nvSpPr>
        <p:spPr>
          <a:xfrm>
            <a:off x="8270748" y="148132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8709660"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Part 3 (Slide 10) — Circuit Breakers, CMEK &amp; Valkey L1 Flush</a:t>
            </a:r>
            <a:endParaRPr lang="en-US" sz="1040" dirty="0"/>
          </a:p>
        </p:txBody>
      </p:sp>
      <p:sp>
        <p:nvSpPr>
          <p:cNvPr id="48" name="Shape 46"/>
          <p:cNvSpPr/>
          <p:nvPr/>
        </p:nvSpPr>
        <p:spPr>
          <a:xfrm>
            <a:off x="8270748" y="1847088"/>
            <a:ext cx="3363163" cy="9144"/>
          </a:xfrm>
          <a:prstGeom prst="rect">
            <a:avLst/>
          </a:prstGeom>
          <a:solidFill>
            <a:srgbClr val="DADCE0"/>
          </a:solidFill>
          <a:ln/>
        </p:spPr>
      </p:sp>
      <p:sp>
        <p:nvSpPr>
          <p:cNvPr id="49" name="Text 47"/>
          <p:cNvSpPr/>
          <p:nvPr/>
        </p:nvSpPr>
        <p:spPr>
          <a:xfrm>
            <a:off x="8270748"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Apply Terraform 3.6 (3.6-terraform-silo-blueprint/), certify gVisor sandbox, &lt;60s HTTP 423 CMEK kill-switch, &lt;5s Valkey SCAN+UNLINK (cache:{tenant}:*), SET NX PX 5000 recovery, and &lt;30s cross-region RTO (6/6 PASS).</a:t>
            </a:r>
            <a:endParaRPr lang="en-US" sz="900" dirty="0"/>
          </a:p>
        </p:txBody>
      </p:sp>
      <p:sp>
        <p:nvSpPr>
          <p:cNvPr id="50" name="Shape 48"/>
          <p:cNvSpPr/>
          <p:nvPr/>
        </p:nvSpPr>
        <p:spPr>
          <a:xfrm>
            <a:off x="8270748" y="2812694"/>
            <a:ext cx="3363163"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8270748" y="2812694"/>
            <a:ext cx="54864" cy="493776"/>
          </a:xfrm>
          <a:prstGeom prst="rect">
            <a:avLst/>
          </a:prstGeom>
          <a:solidFill>
            <a:srgbClr val="FBBC04"/>
          </a:solidFill>
          <a:ln/>
        </p:spPr>
      </p:sp>
      <p:sp>
        <p:nvSpPr>
          <p:cNvPr id="52" name="Text 50"/>
          <p:cNvSpPr/>
          <p:nvPr/>
        </p:nvSpPr>
        <p:spPr>
          <a:xfrm>
            <a:off x="8362188"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3.6-terraform-silo-blueprint/ • run_silo_security_tests.py
</a:t>
            </a:r>
            <a:pPr indent="0" marL="0">
              <a:buNone/>
            </a:pPr>
            <a:r>
              <a:rPr lang="en-US" sz="730" dirty="0">
                <a:solidFill>
                  <a:srgbClr val="5F6368"/>
                </a:solidFill>
                <a:latin typeface="Roboto" pitchFamily="34" charset="0"/>
                <a:ea typeface="Roboto" pitchFamily="34" charset="-122"/>
                <a:cs typeface="Roboto" pitchFamily="34" charset="-120"/>
              </a:rPr>
              <a:t>Target &amp; SLA: SLA: &lt;60s CMEK (423) • &lt;5s SCAN+UNLINK • &lt;30s RTO (6/6)</a:t>
            </a:r>
            <a:endParaRPr lang="en-US" sz="750" dirty="0"/>
          </a:p>
        </p:txBody>
      </p:sp>
      <p:sp>
        <p:nvSpPr>
          <p:cNvPr id="53" name="Shape 51"/>
          <p:cNvSpPr/>
          <p:nvPr/>
        </p:nvSpPr>
        <p:spPr>
          <a:xfrm>
            <a:off x="8270748" y="3361334"/>
            <a:ext cx="3363163" cy="219456"/>
          </a:xfrm>
          <a:prstGeom prst="roundRect">
            <a:avLst>
              <a:gd name="adj" fmla="val 20833"/>
            </a:avLst>
          </a:prstGeom>
          <a:solidFill>
            <a:srgbClr val="FEF7E0"/>
          </a:solidFill>
          <a:ln/>
        </p:spPr>
      </p:sp>
      <p:sp>
        <p:nvSpPr>
          <p:cNvPr id="54" name="Text 52"/>
          <p:cNvSpPr/>
          <p:nvPr/>
        </p:nvSpPr>
        <p:spPr>
          <a:xfrm>
            <a:off x="8325612" y="3361334"/>
            <a:ext cx="3253435"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Owner: Data &amp; FinOps SRE  •  Part 3: Breakers &amp; Silos (Slide 10)</a:t>
            </a:r>
            <a:endParaRPr lang="en-US" sz="750" dirty="0"/>
          </a:p>
        </p:txBody>
      </p:sp>
      <p:sp>
        <p:nvSpPr>
          <p:cNvPr id="55" name="Shape 53"/>
          <p:cNvSpPr/>
          <p:nvPr/>
        </p:nvSpPr>
        <p:spPr>
          <a:xfrm>
            <a:off x="411480" y="3800246"/>
            <a:ext cx="5583326" cy="2234794"/>
          </a:xfrm>
          <a:prstGeom prst="roundRect">
            <a:avLst>
              <a:gd name="adj" fmla="val 3273"/>
            </a:avLst>
          </a:prstGeom>
          <a:solidFill>
            <a:srgbClr val="F8F9FA"/>
          </a:solidFill>
          <a:ln w="12700">
            <a:solidFill>
              <a:srgbClr val="DADCE0"/>
            </a:solidFill>
            <a:prstDash val="solid"/>
          </a:ln>
        </p:spPr>
      </p:sp>
      <p:sp>
        <p:nvSpPr>
          <p:cNvPr id="56" name="Shape 54"/>
          <p:cNvSpPr/>
          <p:nvPr/>
        </p:nvSpPr>
        <p:spPr>
          <a:xfrm>
            <a:off x="411480" y="3800246"/>
            <a:ext cx="5583326" cy="59436"/>
          </a:xfrm>
          <a:prstGeom prst="rect">
            <a:avLst/>
          </a:prstGeom>
          <a:solidFill>
            <a:srgbClr val="34A853"/>
          </a:solidFill>
          <a:ln/>
        </p:spPr>
      </p:sp>
      <p:sp>
        <p:nvSpPr>
          <p:cNvPr id="57" name="Shape 55"/>
          <p:cNvSpPr/>
          <p:nvPr/>
        </p:nvSpPr>
        <p:spPr>
          <a:xfrm>
            <a:off x="557784" y="3928262"/>
            <a:ext cx="365760" cy="256032"/>
          </a:xfrm>
          <a:prstGeom prst="roundRect">
            <a:avLst>
              <a:gd name="adj" fmla="val 21429"/>
            </a:avLst>
          </a:prstGeom>
          <a:solidFill>
            <a:srgbClr val="E6F4EA"/>
          </a:solidFill>
          <a:ln/>
        </p:spPr>
      </p:sp>
      <p:sp>
        <p:nvSpPr>
          <p:cNvPr id="58" name="Text 56"/>
          <p:cNvSpPr/>
          <p:nvPr/>
        </p:nvSpPr>
        <p:spPr>
          <a:xfrm>
            <a:off x="557784" y="3928262"/>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996696"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Part 4 (Slides 11–12) — EAP Gap Controls &amp; Pattern C Hybrid FinOps</a:t>
            </a:r>
            <a:endParaRPr lang="en-US" sz="1140" dirty="0"/>
          </a:p>
        </p:txBody>
      </p:sp>
      <p:sp>
        <p:nvSpPr>
          <p:cNvPr id="60" name="Shape 58"/>
          <p:cNvSpPr/>
          <p:nvPr/>
        </p:nvSpPr>
        <p:spPr>
          <a:xfrm>
            <a:off x="557784" y="4294022"/>
            <a:ext cx="5290718" cy="9144"/>
          </a:xfrm>
          <a:prstGeom prst="rect">
            <a:avLst/>
          </a:prstGeom>
          <a:solidFill>
            <a:srgbClr val="DADCE0"/>
          </a:solidFill>
          <a:ln/>
        </p:spPr>
      </p:sp>
      <p:sp>
        <p:nvSpPr>
          <p:cNvPr id="61" name="Text 59"/>
          <p:cNvSpPr/>
          <p:nvPr/>
        </p:nvSpPr>
        <p:spPr>
          <a:xfrm>
            <a:off x="557784"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Apply Terraform 4.6 (4.6-terraform-hybrid-psc-blueprint/), certify 74% portfolio TCO reduction (950 Pooled + 50 PSC Spokes), feature-flagged GAP-01..05 sunset hooks, BigQuery OTel FinOps SQL, and 0ms PSC cutover (4/4 PASS).</a:t>
            </a:r>
            <a:endParaRPr lang="en-US" sz="980" dirty="0"/>
          </a:p>
        </p:txBody>
      </p:sp>
      <p:sp>
        <p:nvSpPr>
          <p:cNvPr id="62" name="Shape 60"/>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557784" y="5212080"/>
            <a:ext cx="54864" cy="493776"/>
          </a:xfrm>
          <a:prstGeom prst="rect">
            <a:avLst/>
          </a:prstGeom>
          <a:solidFill>
            <a:srgbClr val="34A853"/>
          </a:solidFill>
          <a:ln/>
        </p:spPr>
      </p:sp>
      <p:sp>
        <p:nvSpPr>
          <p:cNvPr id="64" name="Text 62"/>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4.6-terraform-hybrid-psc-blueprint/ • run_tier_migration_suite.py
</a:t>
            </a:r>
            <a:pPr indent="0" marL="0">
              <a:buNone/>
            </a:pPr>
            <a:r>
              <a:rPr lang="en-US" sz="730" dirty="0">
                <a:solidFill>
                  <a:srgbClr val="5F6368"/>
                </a:solidFill>
                <a:latin typeface="Roboto" pitchFamily="34" charset="0"/>
                <a:ea typeface="Roboto" pitchFamily="34" charset="-122"/>
                <a:cs typeface="Roboto" pitchFamily="34" charset="-120"/>
              </a:rPr>
              <a:t>Target &amp; SLA: SLA: 74% TCO Savings (950 Pool + 50 PSC) • 0ms Cutover (4/4)</a:t>
            </a:r>
            <a:endParaRPr lang="en-US" sz="750" dirty="0"/>
          </a:p>
        </p:txBody>
      </p:sp>
      <p:sp>
        <p:nvSpPr>
          <p:cNvPr id="65" name="Shape 63"/>
          <p:cNvSpPr/>
          <p:nvPr/>
        </p:nvSpPr>
        <p:spPr>
          <a:xfrm>
            <a:off x="557784" y="5760720"/>
            <a:ext cx="5290718" cy="219456"/>
          </a:xfrm>
          <a:prstGeom prst="roundRect">
            <a:avLst>
              <a:gd name="adj" fmla="val 20833"/>
            </a:avLst>
          </a:prstGeom>
          <a:solidFill>
            <a:srgbClr val="E6F4EA"/>
          </a:solidFill>
          <a:ln/>
        </p:spPr>
      </p:sp>
      <p:sp>
        <p:nvSpPr>
          <p:cNvPr id="66" name="Text 64"/>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Owner: Tenant Onboarding  •  Part 4: Gaps &amp; Hybrid PSC (Slides 11–12)</a:t>
            </a:r>
            <a:endParaRPr lang="en-US" sz="750" dirty="0"/>
          </a:p>
        </p:txBody>
      </p:sp>
      <p:sp>
        <p:nvSpPr>
          <p:cNvPr id="67" name="Shape 65"/>
          <p:cNvSpPr/>
          <p:nvPr/>
        </p:nvSpPr>
        <p:spPr>
          <a:xfrm>
            <a:off x="6195974" y="3800246"/>
            <a:ext cx="5583326" cy="2234794"/>
          </a:xfrm>
          <a:prstGeom prst="roundRect">
            <a:avLst>
              <a:gd name="adj" fmla="val 3273"/>
            </a:avLst>
          </a:prstGeom>
          <a:solidFill>
            <a:srgbClr val="F8F9FA"/>
          </a:solidFill>
          <a:ln w="12700">
            <a:solidFill>
              <a:srgbClr val="DADCE0"/>
            </a:solidFill>
            <a:prstDash val="solid"/>
          </a:ln>
        </p:spPr>
      </p:sp>
      <p:sp>
        <p:nvSpPr>
          <p:cNvPr id="68" name="Shape 66"/>
          <p:cNvSpPr/>
          <p:nvPr/>
        </p:nvSpPr>
        <p:spPr>
          <a:xfrm>
            <a:off x="6195974" y="3800246"/>
            <a:ext cx="5583326" cy="59436"/>
          </a:xfrm>
          <a:prstGeom prst="rect">
            <a:avLst/>
          </a:prstGeom>
          <a:solidFill>
            <a:srgbClr val="4285F4"/>
          </a:solidFill>
          <a:ln/>
        </p:spPr>
      </p:sp>
      <p:sp>
        <p:nvSpPr>
          <p:cNvPr id="69" name="Shape 67"/>
          <p:cNvSpPr/>
          <p:nvPr/>
        </p:nvSpPr>
        <p:spPr>
          <a:xfrm>
            <a:off x="6342278" y="3928262"/>
            <a:ext cx="365760" cy="256032"/>
          </a:xfrm>
          <a:prstGeom prst="roundRect">
            <a:avLst>
              <a:gd name="adj" fmla="val 21429"/>
            </a:avLst>
          </a:prstGeom>
          <a:solidFill>
            <a:srgbClr val="E8F0FE"/>
          </a:solidFill>
          <a:ln/>
        </p:spPr>
      </p:sp>
      <p:sp>
        <p:nvSpPr>
          <p:cNvPr id="70" name="Text 68"/>
          <p:cNvSpPr/>
          <p:nvPr/>
        </p:nvSpPr>
        <p:spPr>
          <a:xfrm>
            <a:off x="6342278" y="3928262"/>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05</a:t>
            </a:r>
            <a:endParaRPr lang="en-US" sz="920" dirty="0"/>
          </a:p>
        </p:txBody>
      </p:sp>
      <p:sp>
        <p:nvSpPr>
          <p:cNvPr id="71" name="Text 69"/>
          <p:cNvSpPr/>
          <p:nvPr/>
        </p:nvSpPr>
        <p:spPr>
          <a:xfrm>
            <a:off x="6781190"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Part 5 (Slides 13–15) — Dual-Plane CI/CD Forensic Audit &amp; Day-2 Operations</a:t>
            </a:r>
            <a:endParaRPr lang="en-US" sz="1140" dirty="0"/>
          </a:p>
        </p:txBody>
      </p:sp>
      <p:sp>
        <p:nvSpPr>
          <p:cNvPr id="72" name="Shape 70"/>
          <p:cNvSpPr/>
          <p:nvPr/>
        </p:nvSpPr>
        <p:spPr>
          <a:xfrm>
            <a:off x="6342278" y="4294022"/>
            <a:ext cx="5290718" cy="9144"/>
          </a:xfrm>
          <a:prstGeom prst="rect">
            <a:avLst/>
          </a:prstGeom>
          <a:solidFill>
            <a:srgbClr val="DADCE0"/>
          </a:solidFill>
          <a:ln/>
        </p:spPr>
      </p:sp>
      <p:sp>
        <p:nvSpPr>
          <p:cNvPr id="73" name="Text 71"/>
          <p:cNvSpPr/>
          <p:nvPr/>
        </p:nvSpPr>
        <p:spPr>
          <a:xfrm>
            <a:off x="6342278"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Enforce python3 -B scripts/run_deep_forensic_audit.py (13/13 PASS • 107/107 Assertions) across 20/20 GCP suites and 30/30 Inter-Cloud 10-SaaS MCP target assertions.</a:t>
            </a:r>
            <a:endParaRPr lang="en-US" sz="980" dirty="0"/>
          </a:p>
        </p:txBody>
      </p:sp>
      <p:sp>
        <p:nvSpPr>
          <p:cNvPr id="74" name="Shape 72"/>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75" name="Shape 73"/>
          <p:cNvSpPr/>
          <p:nvPr/>
        </p:nvSpPr>
        <p:spPr>
          <a:xfrm>
            <a:off x="6342278" y="5212080"/>
            <a:ext cx="54864" cy="493776"/>
          </a:xfrm>
          <a:prstGeom prst="rect">
            <a:avLst/>
          </a:prstGeom>
          <a:solidFill>
            <a:srgbClr val="4285F4"/>
          </a:solidFill>
          <a:ln/>
        </p:spPr>
      </p:sp>
      <p:sp>
        <p:nvSpPr>
          <p:cNvPr id="76" name="Text 74"/>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run_deep_forensic_audit.py • verify_5_third_party_saas_products.py
</a:t>
            </a:r>
            <a:pPr indent="0" marL="0">
              <a:buNone/>
            </a:pPr>
            <a:r>
              <a:rPr lang="en-US" sz="730" dirty="0">
                <a:solidFill>
                  <a:srgbClr val="5F6368"/>
                </a:solidFill>
                <a:latin typeface="Roboto" pitchFamily="34" charset="0"/>
                <a:ea typeface="Roboto" pitchFamily="34" charset="-122"/>
                <a:cs typeface="Roboto" pitchFamily="34" charset="-120"/>
              </a:rPr>
              <a:t>Target &amp; SLA: SLA: 13/13 Forensic (107/107) • 20/20 GCP + 30/30 10-SaaS MCP</a:t>
            </a:r>
            <a:endParaRPr lang="en-US" sz="750" dirty="0"/>
          </a:p>
        </p:txBody>
      </p:sp>
      <p:sp>
        <p:nvSpPr>
          <p:cNvPr id="77" name="Shape 75"/>
          <p:cNvSpPr/>
          <p:nvPr/>
        </p:nvSpPr>
        <p:spPr>
          <a:xfrm>
            <a:off x="6342278" y="5760720"/>
            <a:ext cx="5290718" cy="219456"/>
          </a:xfrm>
          <a:prstGeom prst="roundRect">
            <a:avLst>
              <a:gd name="adj" fmla="val 20833"/>
            </a:avLst>
          </a:prstGeom>
          <a:solidFill>
            <a:srgbClr val="E8F0FE"/>
          </a:solidFill>
          <a:ln/>
        </p:spPr>
      </p:sp>
      <p:sp>
        <p:nvSpPr>
          <p:cNvPr id="78" name="Text 76"/>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Owner: Governance &amp; CISO  •  Part 5: Dual-Plane CI/CD Gate (Slides 13–15)</a:t>
            </a:r>
            <a:endParaRPr lang="en-US" sz="750" dirty="0"/>
          </a:p>
        </p:txBody>
      </p:sp>
      <p:sp>
        <p:nvSpPr>
          <p:cNvPr id="79" name="Shape 77"/>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80" name="Shape 78"/>
          <p:cNvSpPr/>
          <p:nvPr/>
        </p:nvSpPr>
        <p:spPr>
          <a:xfrm>
            <a:off x="475488" y="6208776"/>
            <a:ext cx="1874520" cy="256032"/>
          </a:xfrm>
          <a:prstGeom prst="roundRect">
            <a:avLst>
              <a:gd name="adj" fmla="val 21429"/>
            </a:avLst>
          </a:prstGeom>
          <a:solidFill>
            <a:srgbClr val="34A853"/>
          </a:solidFill>
          <a:ln/>
        </p:spPr>
      </p:sp>
      <p:sp>
        <p:nvSpPr>
          <p:cNvPr id="81" name="Text 79"/>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WELL-ARCHITECTED SLAs</a:t>
            </a:r>
            <a:endParaRPr lang="en-US" sz="780" dirty="0"/>
          </a:p>
        </p:txBody>
      </p:sp>
      <p:sp>
        <p:nvSpPr>
          <p:cNvPr id="82" name="Text 80"/>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Well-Architected SLA Scorecard &amp; 5-Part Roadmap  •  ~42ms 5-Hop  •  ~420ms Warm TTFT  •  &lt;5s L1 Evict  •  &lt;30s RTO  •  84.7% Token &amp; 74% TCO Savings</a:t>
            </a:r>
            <a:endParaRPr lang="en-US" sz="880" dirty="0"/>
          </a:p>
        </p:txBody>
      </p:sp>
      <p:sp>
        <p:nvSpPr>
          <p:cNvPr id="83" name="Text 81"/>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Multi-Tenant Agentic AI on Google Cloud: Reference Taxonomy &amp; 5-Hop Governance (Workstream 1)</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2026-10-30T21:18:24Z</dcterms:created>
  <dcterms:modified xsi:type="dcterms:W3CDTF">2026-10-30T21:18:24Z</dcterms:modified>
</cp:coreProperties>
</file>