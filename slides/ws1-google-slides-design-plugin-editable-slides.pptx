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Multi-Tenant Agentic AI on Google Cloud: Reference Taxonomy &amp; 5-Hop Governance (Workstream 1)
Official Google Cloud Architecture Center hub-and-spoke reference architecture comparing Pooled (Pattern A), Sovereign Silos (Pattern B), and Dynamic Hybrid (Pattern C) isolation models
Series: Multi-Tenant Agentic AI on Google Cloud • Vertex AI Agent Engine, Gemini Enterprise &amp; ADK 2.0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cases — Competing Enterprise Tenants (FinVault vs. RetailStream) &amp; Google Cloud Stack
• Cymbal Multi-Tenant Platform (Control Plane): Operates a shared Incident Diagnostic Agent on Vertex AI Agent Engine (ADK 2.0, Registry &amp; L1–L5 Memory Bank) and Gemini 2.5 Pro, caching a 32,000-token SRE runbook prefix once (90% discount -&gt; 84.7% net token savings).
• FinVault Bank (Regulated Enterprise Tenant): Authenticates via Google Workspace OIDC, provisions a private Gemini 2.5 Pro (Dedicated PT) / Gemma 3 27B regulatory agent (Agent Alpha), receives a 600 RPM / 8,000-token thinking budget, and mandates VPC-SC &amp; Cloud KMS CMEK.
• RetailStream Corp (Standard Commercial Tenant): Authenticates via Microsoft Entra ID OIDC, runs on the pooled Cloud Run v2 &amp; AlloyDB RLS Diagnostic Agent ($42/mo floor) with a 120 RPM / 4,000-token thinking cap, and invokes ServiceNow ITOM via 3LO step-up consent.
• Cryptographic Mutual Invisibility &amp; 80% Shared Stack: Cloud Armor WAF, IAP OBO/DPoP, Memorystore Valkey, Model Armor, Cloud DLP, AlloyDB RLS, and BigQuery OTel run one 80% reusable ADK codebase—blocking cross-tenant probes (HTTP 403) with 0 cross-tenant rows.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Design alternatives — Comparison of Multi-Tenant Isolation Patterns (A, B &amp; C)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[architecture-zone-topology] WS1 • 3-Zone Multi-Tenant Reference Taxonomy &amp; 5-Hop Control Plane: Workstream 1 Reference Taxonomy  •  Zone 1 (Tenant Ingress) → Zone 2 (5-Hop Control Plane) → Zone 3 (Patterns A, B &amp; C)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 1 — Vertex AI Agent Engine Multi-Tenant Taxonomy: Pooled (A), Sovereign Silos (B) &amp; Hybrid (C)
• Step 1 &amp; 2 (Zone 1 Routing Hub): Global ALB, Cloud Armor WAF, and IAP authenticate tenant callers, strip spoofed headers, and look up the tenant isolation pattern.
• Zone 2 (Central Governance Hub): Security Command Center, Cloud KMS CMEK, and BigQuery OTel centralize threat detection, key lifecycle, and zero-PII chargeback.
• Step 3 Tier Dispatch: The 80% reusable ADK control plane routes requests dynamically to Pattern A (Yellow Spoke) or Pattern B/C (Red Spoke).
• Zone 3 (Pattern A Pooled Spoke): Enforces Model Armor screening (4/6), Gemini 2.5 Pro 90% prefix caching (5), Valkey RPM bulkheads, and AlloyDB RLS.
• Zone 4 (Pattern B Silos &amp; Pattern C PSC Spoke): Enforces VPC-SC perimeters, IAM PAB, air-gapped Gemma 3 / Gemini 2.5 Pro endpoints, and tenant CMEK kill-switches.
Editable source: diagrams/ws1-multi-tenant-taxonomy-overview.drawio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[uml-sequence-swimlane] WS1 • 5-Actor UML Sequence: End-to-End 5-Hop Request Lifecycle (Steps 1–6): Workstream 1 5-Hop Sequence  •  Chronological Execution Across Edge STS, ARD/Memory, Model Armor &amp; AlloyDB RLS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[payload-transformation-triptych] WS1 • Hop 1 Spoofed Header Stripping &amp; OBO + DPoP Context Minting: Workstream 1 Hop 1 Identity Gate  •  Strips Spoofed Headers &amp; Mints Sender-Constrained TenantContext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[async-state-flow-pipeline] WS1 • ACT III: DETERMINISTIC FAIL-CLOSED CIRCUIT BREAKERS &amp; FEEDBACK LOOP: Workstream 1 Exception &amp; Feedback Loop  •  Fail-Closed Circuit Breakers (HTTP 401/403/422/423/429) + Closed-Loop BigQuery OTel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Design alternatives — Compensating Controls for EAP Product Gaps (GAP-01..05)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[live-screenshot-callout] Authentic Google Cloud Console verification screenshots paired with 4 native editable callout cards for Workstream 1 • Reference Architecture &amp; Cloud Architecture Center Doc PR.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[phased-roadmap-timeline] WS1 • ACT III: 3-STAGE TENANT TIER EVOLUTION &amp; ZERO-DOWNTIME PROMOTION: Workstream 1 Tenant Lifecycle  •  Stage 1 Pattern A Pool ($42/mo) → Stage 2 Pattern C 0ms Live Promotion → Stage 3 Pattern B Silo ($1,850/mo)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[strategic-operating-model-pillars] WS1 • ACT III: GOOGLE CLOUD WELL-ARCHITECTED SOLUTION PILLARS &amp; SLAs: Workstream 1 Well-Architected Pillars  •  5-Hop Zero-Trust Security + Valkey Bulkheads &amp; 0ms Mobility + 84.7% Token Savings &amp; 80% Code Reuse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What's next — Series Navigation &amp; Engineering Deliverables
• 1. Shared 5-Hop ADK 2.0 Core Engine (All Patterns): Deploy core-cymbal-agent/ (models.py, runtime_pipeline.py, tenant_profiles.py) once to enforce Hops 1–5 across Pooled, Siloed, and Hybrid tiers with 80% code reuse.
• 2. Proceed to Workstream 2 — Pattern A High-Density Pooled ($42/mo): Provision workstream-2-pattern-a-pooled/2.6-terraform-starter/ and run 2.5-breach-simulation-suite/run_breach_simulations.py (10/10 breach tests PASS).
• 3. Proceed to Workstream 3 — Pattern B Zero-Trust Sovereign Silos ($1,850/mo): Provision workstream-3-pattern-b-siloed/3.6-terraform-silo-blueprint/ (VPC-SC, IAM PAB, CMEK) and run run_silo_security_tests.py (6/6 PASS).
• 4. Proceed to Workstream 4 — Pattern C Dynamic Hybrid PSC &amp; Live Migration: Provision workstream-4-pattern-c-hybrid/4.6-terraform-hybrid-psc-blueprint/ (/28 PSC NAT) and run run_tier_migration_suite.py (4/4 PASS, 0ms lag).
• 5. Proceed to Workstream 5 — Executive Decision Guide &amp; CI/CD Certification: Apply the 2-Question Topology Selector (5.1-pattern-comparison-and-decision-guide.md) and execute scripts/run_deep_forensic_audit.py (12/12 PASS).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image" Target="../media/image-6-7.png"/><Relationship Id="rId8" Type="http://schemas.openxmlformats.org/officeDocument/2006/relationships/image" Target="../media/image-6-8.png"/><Relationship Id="rId9" Type="http://schemas.openxmlformats.org/officeDocument/2006/relationships/image" Target="../media/image-6-9.png"/><Relationship Id="rId10" Type="http://schemas.openxmlformats.org/officeDocument/2006/relationships/image" Target="../media/image-6-10.png"/><Relationship Id="rId11" Type="http://schemas.openxmlformats.org/officeDocument/2006/relationships/image" Target="../media/image-6-11.png"/><Relationship Id="rId12" Type="http://schemas.openxmlformats.org/officeDocument/2006/relationships/image" Target="../media/image-6-12.png"/><Relationship Id="rId13" Type="http://schemas.openxmlformats.org/officeDocument/2006/relationships/image" Target="../media/image-6-13.png"/><Relationship Id="rId14" Type="http://schemas.openxmlformats.org/officeDocument/2006/relationships/image" Target="../media/image-6-14.png"/><Relationship Id="rId15" Type="http://schemas.openxmlformats.org/officeDocument/2006/relationships/image" Target="../media/image-6-15.png"/><Relationship Id="rId16" Type="http://schemas.openxmlformats.org/officeDocument/2006/relationships/image" Target="../media/image-6-16.png"/><Relationship Id="rId17" Type="http://schemas.openxmlformats.org/officeDocument/2006/relationships/image" Target="../media/image-6-17.png"/><Relationship Id="rId18" Type="http://schemas.openxmlformats.org/officeDocument/2006/relationships/image" Target="../media/image-6-18.png"/><Relationship Id="rId19" Type="http://schemas.openxmlformats.org/officeDocument/2006/relationships/image" Target="../media/image-6-19.png"/><Relationship Id="rId20" Type="http://schemas.openxmlformats.org/officeDocument/2006/relationships/image" Target="../media/image-6-20.png"/><Relationship Id="rId21" Type="http://schemas.openxmlformats.org/officeDocument/2006/relationships/slideLayout" Target="../slideLayouts/slideLayout1.xml"/><Relationship Id="rId2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047695" cy="7772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3" name="Shape 1"/>
          <p:cNvSpPr/>
          <p:nvPr/>
        </p:nvSpPr>
        <p:spPr>
          <a:xfrm>
            <a:off x="3047695" y="0"/>
            <a:ext cx="3047695" cy="77724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4" name="Shape 2"/>
          <p:cNvSpPr/>
          <p:nvPr/>
        </p:nvSpPr>
        <p:spPr>
          <a:xfrm>
            <a:off x="6095390" y="0"/>
            <a:ext cx="3047695" cy="77724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5" name="Shape 3"/>
          <p:cNvSpPr/>
          <p:nvPr/>
        </p:nvSpPr>
        <p:spPr>
          <a:xfrm>
            <a:off x="9143086" y="0"/>
            <a:ext cx="3048610" cy="77724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6" name="Shape 4"/>
          <p:cNvSpPr/>
          <p:nvPr/>
        </p:nvSpPr>
        <p:spPr>
          <a:xfrm>
            <a:off x="411480" y="347472"/>
            <a:ext cx="6812280" cy="5998464"/>
          </a:xfrm>
          <a:prstGeom prst="roundRect">
            <a:avLst>
              <a:gd name="adj" fmla="val 1220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11480" y="347472"/>
            <a:ext cx="100584" cy="599846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768096" y="670255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9" name="Shape 7"/>
          <p:cNvSpPr/>
          <p:nvPr/>
        </p:nvSpPr>
        <p:spPr>
          <a:xfrm>
            <a:off x="882396" y="670255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10" name="Shape 8"/>
          <p:cNvSpPr/>
          <p:nvPr/>
        </p:nvSpPr>
        <p:spPr>
          <a:xfrm>
            <a:off x="996696" y="670255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1" name="Shape 9"/>
          <p:cNvSpPr/>
          <p:nvPr/>
        </p:nvSpPr>
        <p:spPr>
          <a:xfrm>
            <a:off x="1110996" y="670255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2" name="Text 10"/>
          <p:cNvSpPr/>
          <p:nvPr/>
        </p:nvSpPr>
        <p:spPr>
          <a:xfrm>
            <a:off x="1316736" y="585216"/>
            <a:ext cx="5669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REFERENCE BLUEPRINT</a:t>
            </a:r>
            <a:endParaRPr lang="en-US" sz="920" dirty="0"/>
          </a:p>
        </p:txBody>
      </p:sp>
      <p:sp>
        <p:nvSpPr>
          <p:cNvPr id="13" name="Shape 11"/>
          <p:cNvSpPr/>
          <p:nvPr/>
        </p:nvSpPr>
        <p:spPr>
          <a:xfrm>
            <a:off x="768096" y="950976"/>
            <a:ext cx="6144768" cy="310896"/>
          </a:xfrm>
          <a:prstGeom prst="roundRect">
            <a:avLst>
              <a:gd name="adj" fmla="val 2352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77824" y="950976"/>
            <a:ext cx="592531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WORKSTREAM 1 • REFERENCE ARCHITECTURE &amp; CLOUD ARCHITECTURE CENTER DOC PR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768096" y="1389888"/>
            <a:ext cx="6144768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3C4043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Multi-Tenant Agentic AI on Google Cloud: Reference Taxonomy &amp; 5-Hop Governance (Workstream 1)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768096" y="2852928"/>
            <a:ext cx="6144768" cy="1060704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68096" y="2852928"/>
            <a:ext cx="73152" cy="106070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" y="2926080"/>
            <a:ext cx="583387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KEY ARCHITECTURAL POINT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950976" y="3145536"/>
            <a:ext cx="5833872" cy="6949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Official Google Cloud Architecture Center hub-and-spoke reference architecture comparing Pooled (Pattern A), Sovereign Silos (Pattern B), and Dynamic Hybrid (Pattern C) isolation models</a:t>
            </a:r>
            <a:endParaRPr lang="en-US" sz="980" dirty="0"/>
          </a:p>
        </p:txBody>
      </p:sp>
      <p:sp>
        <p:nvSpPr>
          <p:cNvPr id="20" name="Shape 18"/>
          <p:cNvSpPr/>
          <p:nvPr/>
        </p:nvSpPr>
        <p:spPr>
          <a:xfrm>
            <a:off x="768096" y="4059936"/>
            <a:ext cx="1453896" cy="1572768"/>
          </a:xfrm>
          <a:prstGeom prst="roundRect">
            <a:avLst>
              <a:gd name="adj" fmla="val 5031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68096" y="4059936"/>
            <a:ext cx="1453896" cy="5486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2" name="Text 20"/>
          <p:cNvSpPr/>
          <p:nvPr/>
        </p:nvSpPr>
        <p:spPr>
          <a:xfrm>
            <a:off x="841248" y="4151376"/>
            <a:ext cx="13075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The Multi-Tenant Agentic Challenge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841248" y="4535424"/>
            <a:ext cx="1307592" cy="102412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2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Provisioning dedicated cloud projects for $500/month commercial tenants erodes SaaS gross margins, whereas naive shared runtimes expose cross-tenant tool, memory, and quota surfaces.</a:t>
            </a:r>
            <a:endParaRPr lang="en-US" sz="720" dirty="0"/>
          </a:p>
        </p:txBody>
      </p:sp>
      <p:sp>
        <p:nvSpPr>
          <p:cNvPr id="24" name="Shape 22"/>
          <p:cNvSpPr/>
          <p:nvPr/>
        </p:nvSpPr>
        <p:spPr>
          <a:xfrm>
            <a:off x="2331720" y="4059936"/>
            <a:ext cx="1453896" cy="1572768"/>
          </a:xfrm>
          <a:prstGeom prst="roundRect">
            <a:avLst>
              <a:gd name="adj" fmla="val 5031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31720" y="4059936"/>
            <a:ext cx="1453896" cy="54864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26" name="Text 24"/>
          <p:cNvSpPr/>
          <p:nvPr/>
        </p:nvSpPr>
        <p:spPr>
          <a:xfrm>
            <a:off x="2404872" y="4151376"/>
            <a:ext cx="13075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Four Agentic Threat Vectors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2404872" y="4535424"/>
            <a:ext cx="1307592" cy="102412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2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Unlike deterministic CRUD applications, autonomous ADK agents dynamically discover MCP tools, persist episodic Memory Bank state, share prompt caches, and consume variable reasoning tokens.</a:t>
            </a:r>
            <a:endParaRPr lang="en-US" sz="720" dirty="0"/>
          </a:p>
        </p:txBody>
      </p:sp>
      <p:sp>
        <p:nvSpPr>
          <p:cNvPr id="28" name="Shape 26"/>
          <p:cNvSpPr/>
          <p:nvPr/>
        </p:nvSpPr>
        <p:spPr>
          <a:xfrm>
            <a:off x="3895344" y="4059936"/>
            <a:ext cx="1453896" cy="1572768"/>
          </a:xfrm>
          <a:prstGeom prst="roundRect">
            <a:avLst>
              <a:gd name="adj" fmla="val 5031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895344" y="4059936"/>
            <a:ext cx="1453896" cy="54864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30" name="Text 28"/>
          <p:cNvSpPr/>
          <p:nvPr/>
        </p:nvSpPr>
        <p:spPr>
          <a:xfrm>
            <a:off x="3968496" y="4151376"/>
            <a:ext cx="13075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Three Production Isolation Topologies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3968496" y="4535424"/>
            <a:ext cx="1307592" cy="102412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2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Pattern A (High-Density Pooled), Pattern B (Zero-Trust Sovereign Silos), and Pattern C (Dynamic Hybrid PSC Spokes) reuse 80% of the same Python ADK 2.0 application codebase.</a:t>
            </a:r>
            <a:endParaRPr lang="en-US" sz="720" dirty="0"/>
          </a:p>
        </p:txBody>
      </p:sp>
      <p:sp>
        <p:nvSpPr>
          <p:cNvPr id="32" name="Shape 30"/>
          <p:cNvSpPr/>
          <p:nvPr/>
        </p:nvSpPr>
        <p:spPr>
          <a:xfrm>
            <a:off x="5458968" y="4059936"/>
            <a:ext cx="1453896" cy="1572768"/>
          </a:xfrm>
          <a:prstGeom prst="roundRect">
            <a:avLst>
              <a:gd name="adj" fmla="val 5031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458968" y="4059936"/>
            <a:ext cx="1453896" cy="54864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34" name="Text 32"/>
          <p:cNvSpPr/>
          <p:nvPr/>
        </p:nvSpPr>
        <p:spPr>
          <a:xfrm>
            <a:off x="5532120" y="4151376"/>
            <a:ext cx="13075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Five-Hop Cryptographic Defense-in-Depth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5532120" y="4535424"/>
            <a:ext cx="1307592" cy="102412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2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Every agent turn enforces verified tenant context across Edge OBO/DPoP (Hop 1), Registry Discovery (Hop 2), Memory &amp; Quotas (Hop 3), Model Armor/SDP (Hop 4), and AlloyDB RLS (Hop 5).</a:t>
            </a:r>
            <a:endParaRPr lang="en-US" sz="720" dirty="0"/>
          </a:p>
        </p:txBody>
      </p:sp>
      <p:sp>
        <p:nvSpPr>
          <p:cNvPr id="36" name="Shape 34"/>
          <p:cNvSpPr/>
          <p:nvPr/>
        </p:nvSpPr>
        <p:spPr>
          <a:xfrm>
            <a:off x="768096" y="5779008"/>
            <a:ext cx="6144768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896112" y="5779008"/>
            <a:ext cx="588873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Authors: Principal AI Architect • Cloud Solutions Architecture • Google Cloud  •  Date: October 2026  •  </a:t>
            </a:r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7406640" y="347472"/>
            <a:ext cx="4370832" cy="5998464"/>
          </a:xfrm>
          <a:prstGeom prst="roundRect">
            <a:avLst>
              <a:gd name="adj" fmla="val 1674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7589520" y="493776"/>
            <a:ext cx="400507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3-ACT EXECUTIVE BRIEFING &amp; DELIVERABLE MAP</a:t>
            </a:r>
            <a:endParaRPr lang="en-US" sz="920" dirty="0"/>
          </a:p>
        </p:txBody>
      </p:sp>
      <p:sp>
        <p:nvSpPr>
          <p:cNvPr id="40" name="Shape 38"/>
          <p:cNvSpPr/>
          <p:nvPr/>
        </p:nvSpPr>
        <p:spPr>
          <a:xfrm>
            <a:off x="7571232" y="896112"/>
            <a:ext cx="4041648" cy="1060704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7571232" y="896112"/>
            <a:ext cx="82296" cy="106070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2" name="Shape 40"/>
          <p:cNvSpPr/>
          <p:nvPr/>
        </p:nvSpPr>
        <p:spPr>
          <a:xfrm>
            <a:off x="7735824" y="1005840"/>
            <a:ext cx="1481328" cy="219456"/>
          </a:xfrm>
          <a:prstGeom prst="roundRect">
            <a:avLst>
              <a:gd name="adj" fmla="val 25000"/>
            </a:avLst>
          </a:prstGeom>
          <a:solidFill>
            <a:srgbClr val="E8F0FE"/>
          </a:solidFill>
          <a:ln/>
        </p:spPr>
      </p:sp>
      <p:sp>
        <p:nvSpPr>
          <p:cNvPr id="43" name="Text 41"/>
          <p:cNvSpPr/>
          <p:nvPr/>
        </p:nvSpPr>
        <p:spPr>
          <a:xfrm>
            <a:off x="7735824" y="1005840"/>
            <a:ext cx="148132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6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 • SLIDES 1–4</a:t>
            </a:r>
            <a:endParaRPr lang="en-US" sz="660" dirty="0"/>
          </a:p>
        </p:txBody>
      </p:sp>
      <p:sp>
        <p:nvSpPr>
          <p:cNvPr id="44" name="Text 42"/>
          <p:cNvSpPr/>
          <p:nvPr/>
        </p:nvSpPr>
        <p:spPr>
          <a:xfrm>
            <a:off x="9272016" y="987552"/>
            <a:ext cx="22494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ROI Scorecard, Use Cases &amp; Pattern Options</a:t>
            </a:r>
            <a:endParaRPr lang="en-US" sz="850" dirty="0"/>
          </a:p>
        </p:txBody>
      </p:sp>
      <p:sp>
        <p:nvSpPr>
          <p:cNvPr id="45" name="Text 43"/>
          <p:cNvSpPr/>
          <p:nvPr/>
        </p:nvSpPr>
        <p:spPr>
          <a:xfrm>
            <a:off x="7735824" y="1298448"/>
            <a:ext cx="3749040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Establishes quantified unit economics ($42 vs. $1,850/mo, 84.7% token savings), competing tenant profiles (FinVault vs. RetailStream) &amp; Pattern A/B/C matrix.</a:t>
            </a:r>
            <a:endParaRPr lang="en-US" sz="780" dirty="0"/>
          </a:p>
        </p:txBody>
      </p:sp>
      <p:sp>
        <p:nvSpPr>
          <p:cNvPr id="46" name="Shape 44"/>
          <p:cNvSpPr/>
          <p:nvPr/>
        </p:nvSpPr>
        <p:spPr>
          <a:xfrm>
            <a:off x="7571232" y="2084832"/>
            <a:ext cx="4041648" cy="1060704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7571232" y="2084832"/>
            <a:ext cx="82296" cy="1060704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48" name="Shape 46"/>
          <p:cNvSpPr/>
          <p:nvPr/>
        </p:nvSpPr>
        <p:spPr>
          <a:xfrm>
            <a:off x="7735824" y="2194560"/>
            <a:ext cx="1481328" cy="219456"/>
          </a:xfrm>
          <a:prstGeom prst="roundRect">
            <a:avLst>
              <a:gd name="adj" fmla="val 25000"/>
            </a:avLst>
          </a:prstGeom>
          <a:solidFill>
            <a:srgbClr val="FCE8E6"/>
          </a:solidFill>
          <a:ln/>
        </p:spPr>
      </p:sp>
      <p:sp>
        <p:nvSpPr>
          <p:cNvPr id="49" name="Text 47"/>
          <p:cNvSpPr/>
          <p:nvPr/>
        </p:nvSpPr>
        <p:spPr>
          <a:xfrm>
            <a:off x="7735824" y="2194560"/>
            <a:ext cx="148132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6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II • SLIDES 5–8</a:t>
            </a:r>
            <a:endParaRPr lang="en-US" sz="660" dirty="0"/>
          </a:p>
        </p:txBody>
      </p:sp>
      <p:sp>
        <p:nvSpPr>
          <p:cNvPr id="50" name="Text 48"/>
          <p:cNvSpPr/>
          <p:nvPr/>
        </p:nvSpPr>
        <p:spPr>
          <a:xfrm>
            <a:off x="9272016" y="2176272"/>
            <a:ext cx="22494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Logical Zones -&gt; #78 Blueprint -&gt; Flow -&gt; Wire</a:t>
            </a:r>
            <a:endParaRPr lang="en-US" sz="850" dirty="0"/>
          </a:p>
        </p:txBody>
      </p:sp>
      <p:sp>
        <p:nvSpPr>
          <p:cNvPr id="51" name="Text 49"/>
          <p:cNvSpPr/>
          <p:nvPr/>
        </p:nvSpPr>
        <p:spPr>
          <a:xfrm>
            <a:off x="7735824" y="2487168"/>
            <a:ext cx="3749040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Progresses top-down from 3-Zone Logical Architecture (Slide 5) to Detailed 56-Shape #78 Blueprint (Slide 6), 5-Actor Process (Slide 7) &amp; OBO/DPoP Wire Payload (Slide 8).</a:t>
            </a:r>
            <a:endParaRPr lang="en-US" sz="780" dirty="0"/>
          </a:p>
        </p:txBody>
      </p:sp>
      <p:sp>
        <p:nvSpPr>
          <p:cNvPr id="52" name="Shape 50"/>
          <p:cNvSpPr/>
          <p:nvPr/>
        </p:nvSpPr>
        <p:spPr>
          <a:xfrm>
            <a:off x="7571232" y="3273552"/>
            <a:ext cx="4041648" cy="1060704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7571232" y="3273552"/>
            <a:ext cx="82296" cy="1060704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54" name="Shape 52"/>
          <p:cNvSpPr/>
          <p:nvPr/>
        </p:nvSpPr>
        <p:spPr>
          <a:xfrm>
            <a:off x="7735824" y="3383280"/>
            <a:ext cx="1481328" cy="219456"/>
          </a:xfrm>
          <a:prstGeom prst="roundRect">
            <a:avLst>
              <a:gd name="adj" fmla="val 25000"/>
            </a:avLst>
          </a:prstGeom>
          <a:solidFill>
            <a:srgbClr val="FEF7E0"/>
          </a:solidFill>
          <a:ln/>
        </p:spPr>
      </p:sp>
      <p:sp>
        <p:nvSpPr>
          <p:cNvPr id="55" name="Text 53"/>
          <p:cNvSpPr/>
          <p:nvPr/>
        </p:nvSpPr>
        <p:spPr>
          <a:xfrm>
            <a:off x="7735824" y="3383280"/>
            <a:ext cx="148132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6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III • SLIDES 9–11</a:t>
            </a:r>
            <a:endParaRPr lang="en-US" sz="660" dirty="0"/>
          </a:p>
        </p:txBody>
      </p:sp>
      <p:sp>
        <p:nvSpPr>
          <p:cNvPr id="56" name="Text 54"/>
          <p:cNvSpPr/>
          <p:nvPr/>
        </p:nvSpPr>
        <p:spPr>
          <a:xfrm>
            <a:off x="9272016" y="3364992"/>
            <a:ext cx="22494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Circuit Breakers, EAP Gaps &amp; Live GCP Proof</a:t>
            </a:r>
            <a:endParaRPr lang="en-US" sz="850" dirty="0"/>
          </a:p>
        </p:txBody>
      </p:sp>
      <p:sp>
        <p:nvSpPr>
          <p:cNvPr id="57" name="Text 55"/>
          <p:cNvSpPr/>
          <p:nvPr/>
        </p:nvSpPr>
        <p:spPr>
          <a:xfrm>
            <a:off x="7735824" y="3675888"/>
            <a:ext cx="3749040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Proves fail-closed HTTP 401–429 exception circuit breakers, closes GAP-01..05 EAP limitations in core-cymbal-agent/, and embeds 16:9 Cloud Console proof.</a:t>
            </a:r>
            <a:endParaRPr lang="en-US" sz="780" dirty="0"/>
          </a:p>
        </p:txBody>
      </p:sp>
      <p:sp>
        <p:nvSpPr>
          <p:cNvPr id="58" name="Shape 56"/>
          <p:cNvSpPr/>
          <p:nvPr/>
        </p:nvSpPr>
        <p:spPr>
          <a:xfrm>
            <a:off x="7571232" y="4462272"/>
            <a:ext cx="4041648" cy="1060704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7571232" y="4462272"/>
            <a:ext cx="82296" cy="1060704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60" name="Shape 58"/>
          <p:cNvSpPr/>
          <p:nvPr/>
        </p:nvSpPr>
        <p:spPr>
          <a:xfrm>
            <a:off x="7735824" y="4572000"/>
            <a:ext cx="1481328" cy="219456"/>
          </a:xfrm>
          <a:prstGeom prst="roundRect">
            <a:avLst>
              <a:gd name="adj" fmla="val 25000"/>
            </a:avLst>
          </a:prstGeom>
          <a:solidFill>
            <a:srgbClr val="E6F4EA"/>
          </a:solidFill>
          <a:ln/>
        </p:spPr>
      </p:sp>
      <p:sp>
        <p:nvSpPr>
          <p:cNvPr id="61" name="Text 59"/>
          <p:cNvSpPr/>
          <p:nvPr/>
        </p:nvSpPr>
        <p:spPr>
          <a:xfrm>
            <a:off x="7735824" y="4572000"/>
            <a:ext cx="148132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6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SOLUTION • SLIDES 12–14</a:t>
            </a:r>
            <a:endParaRPr lang="en-US" sz="660" dirty="0"/>
          </a:p>
        </p:txBody>
      </p:sp>
      <p:sp>
        <p:nvSpPr>
          <p:cNvPr id="62" name="Text 60"/>
          <p:cNvSpPr/>
          <p:nvPr/>
        </p:nvSpPr>
        <p:spPr>
          <a:xfrm>
            <a:off x="9272016" y="4553712"/>
            <a:ext cx="22494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Tier Evolution, Well-Architected Pillars &amp; Series Map</a:t>
            </a:r>
            <a:endParaRPr lang="en-US" sz="850" dirty="0"/>
          </a:p>
        </p:txBody>
      </p:sp>
      <p:sp>
        <p:nvSpPr>
          <p:cNvPr id="63" name="Text 61"/>
          <p:cNvSpPr/>
          <p:nvPr/>
        </p:nvSpPr>
        <p:spPr>
          <a:xfrm>
            <a:off x="7735824" y="4864608"/>
            <a:ext cx="3749040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Demonstrates 3-stage tenant tier evolution (Pool -&gt; 0ms PSC Cutover -&gt; Silo), Google Cloud Well-Architected guarantees, and Workstream 1–5 deliverables.</a:t>
            </a:r>
            <a:endParaRPr lang="en-US" sz="780" dirty="0"/>
          </a:p>
        </p:txBody>
      </p:sp>
      <p:sp>
        <p:nvSpPr>
          <p:cNvPr id="64" name="Shape 62"/>
          <p:cNvSpPr/>
          <p:nvPr/>
        </p:nvSpPr>
        <p:spPr>
          <a:xfrm>
            <a:off x="7571232" y="5779008"/>
            <a:ext cx="4041648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7626096" y="5779008"/>
            <a:ext cx="3931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Verified Across 3 GCP Projects (#248990048888 • #638420508320 • #887605034827) • 12/12 Forensic PASS</a:t>
            </a:r>
            <a:endParaRPr lang="en-US" sz="720" dirty="0"/>
          </a:p>
        </p:txBody>
      </p:sp>
      <p:sp>
        <p:nvSpPr>
          <p:cNvPr id="66" name="Text 64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Multi-Tenant Agentic AI on Google Cloud • Vertex AI Agent Engine, Gemini Enterprise &amp; ADK 2.0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WS1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 • EXECUTIVE SCORECARD &amp; PRODUCTION SLO BASELINE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QUAD-METRICS • KPI SCORECARD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411480" y="676656"/>
            <a:ext cx="11368735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Quantified Unit Economics, 90% Prefix Cache Savings &amp; 20/20 Security Verification</a:t>
            </a:r>
            <a:endParaRPr lang="en-US" sz="1950" dirty="0"/>
          </a:p>
        </p:txBody>
      </p:sp>
      <p:sp>
        <p:nvSpPr>
          <p:cNvPr id="18" name="Text 16"/>
          <p:cNvSpPr/>
          <p:nvPr/>
        </p:nvSpPr>
        <p:spPr>
          <a:xfrm>
            <a:off x="411480" y="1078992"/>
            <a:ext cx="11368735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Empirical production metrics certified across Pattern A ($42/mo pool), Pattern B ($1,850/mo sovereign silo), and Pattern C (hybrid PSC spokes).</a:t>
            </a:r>
            <a:endParaRPr lang="en-US" sz="1020" dirty="0"/>
          </a:p>
        </p:txBody>
      </p:sp>
      <p:sp>
        <p:nvSpPr>
          <p:cNvPr id="19" name="Shape 17"/>
          <p:cNvSpPr/>
          <p:nvPr/>
        </p:nvSpPr>
        <p:spPr>
          <a:xfrm>
            <a:off x="411480" y="1499616"/>
            <a:ext cx="2691079" cy="4224528"/>
          </a:xfrm>
          <a:prstGeom prst="roundRect">
            <a:avLst>
              <a:gd name="adj" fmla="val 2718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11480" y="1499616"/>
            <a:ext cx="2691079" cy="73152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1" name="Shape 19"/>
          <p:cNvSpPr/>
          <p:nvPr/>
        </p:nvSpPr>
        <p:spPr>
          <a:xfrm>
            <a:off x="576072" y="1719072"/>
            <a:ext cx="402336" cy="256032"/>
          </a:xfrm>
          <a:prstGeom prst="roundRect">
            <a:avLst>
              <a:gd name="adj" fmla="val 21429"/>
            </a:avLst>
          </a:prstGeom>
          <a:solidFill>
            <a:srgbClr val="E8F0FE"/>
          </a:solidFill>
          <a:ln/>
        </p:spPr>
      </p:sp>
      <p:sp>
        <p:nvSpPr>
          <p:cNvPr id="22" name="Text 20"/>
          <p:cNvSpPr/>
          <p:nvPr/>
        </p:nvSpPr>
        <p:spPr>
          <a:xfrm>
            <a:off x="576072" y="1719072"/>
            <a:ext cx="40233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01</a:t>
            </a:r>
            <a:endParaRPr lang="en-US" sz="880" dirty="0"/>
          </a:p>
        </p:txBody>
      </p:sp>
      <p:sp>
        <p:nvSpPr>
          <p:cNvPr id="23" name="Text 21"/>
          <p:cNvSpPr/>
          <p:nvPr/>
        </p:nvSpPr>
        <p:spPr>
          <a:xfrm>
            <a:off x="576072" y="2121408"/>
            <a:ext cx="236189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3C4043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3</a:t>
            </a:r>
            <a:endParaRPr lang="en-US" sz="4800" dirty="0"/>
          </a:p>
        </p:txBody>
      </p:sp>
      <p:sp>
        <p:nvSpPr>
          <p:cNvPr id="24" name="Text 22"/>
          <p:cNvSpPr/>
          <p:nvPr/>
        </p:nvSpPr>
        <p:spPr>
          <a:xfrm>
            <a:off x="576072" y="3163824"/>
            <a:ext cx="2361895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Production Multi-Tenant Isolation Topologies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76072" y="3675888"/>
            <a:ext cx="2361895" cy="10973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26" name="Text 24"/>
          <p:cNvSpPr/>
          <p:nvPr/>
        </p:nvSpPr>
        <p:spPr>
          <a:xfrm>
            <a:off x="576072" y="3803904"/>
            <a:ext cx="2361895" cy="13350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Pattern A Pooled ($42/mo), Pattern B Sovereign Silos ($1,850/mo), and Pattern C Dynamic Hybrid PSC sharing one 80% reusable ADK 2.0 core.</a:t>
            </a:r>
            <a:endParaRPr lang="en-US" sz="880" dirty="0"/>
          </a:p>
        </p:txBody>
      </p:sp>
      <p:sp>
        <p:nvSpPr>
          <p:cNvPr id="27" name="Shape 25"/>
          <p:cNvSpPr/>
          <p:nvPr/>
        </p:nvSpPr>
        <p:spPr>
          <a:xfrm>
            <a:off x="576072" y="5303520"/>
            <a:ext cx="2361895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30936" y="5303520"/>
            <a:ext cx="2252167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6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Patterns A, B &amp; C • Template #78</a:t>
            </a:r>
            <a:endParaRPr lang="en-US" sz="760" dirty="0"/>
          </a:p>
        </p:txBody>
      </p:sp>
      <p:sp>
        <p:nvSpPr>
          <p:cNvPr id="29" name="Shape 27"/>
          <p:cNvSpPr/>
          <p:nvPr/>
        </p:nvSpPr>
        <p:spPr>
          <a:xfrm>
            <a:off x="3303727" y="1499616"/>
            <a:ext cx="2691079" cy="4224528"/>
          </a:xfrm>
          <a:prstGeom prst="roundRect">
            <a:avLst>
              <a:gd name="adj" fmla="val 2718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303727" y="1499616"/>
            <a:ext cx="2691079" cy="73152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31" name="Shape 29"/>
          <p:cNvSpPr/>
          <p:nvPr/>
        </p:nvSpPr>
        <p:spPr>
          <a:xfrm>
            <a:off x="3468319" y="1719072"/>
            <a:ext cx="402336" cy="256032"/>
          </a:xfrm>
          <a:prstGeom prst="roundRect">
            <a:avLst>
              <a:gd name="adj" fmla="val 21429"/>
            </a:avLst>
          </a:prstGeom>
          <a:solidFill>
            <a:srgbClr val="FCE8E6"/>
          </a:solidFill>
          <a:ln/>
        </p:spPr>
      </p:sp>
      <p:sp>
        <p:nvSpPr>
          <p:cNvPr id="32" name="Text 30"/>
          <p:cNvSpPr/>
          <p:nvPr/>
        </p:nvSpPr>
        <p:spPr>
          <a:xfrm>
            <a:off x="3468319" y="1719072"/>
            <a:ext cx="40233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02</a:t>
            </a:r>
            <a:endParaRPr lang="en-US" sz="880" dirty="0"/>
          </a:p>
        </p:txBody>
      </p:sp>
      <p:sp>
        <p:nvSpPr>
          <p:cNvPr id="33" name="Text 31"/>
          <p:cNvSpPr/>
          <p:nvPr/>
        </p:nvSpPr>
        <p:spPr>
          <a:xfrm>
            <a:off x="3468319" y="2121408"/>
            <a:ext cx="236189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3C4043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5</a:t>
            </a:r>
            <a:endParaRPr lang="en-US" sz="4800" dirty="0"/>
          </a:p>
        </p:txBody>
      </p:sp>
      <p:sp>
        <p:nvSpPr>
          <p:cNvPr id="34" name="Text 32"/>
          <p:cNvSpPr/>
          <p:nvPr/>
        </p:nvSpPr>
        <p:spPr>
          <a:xfrm>
            <a:off x="3468319" y="3163824"/>
            <a:ext cx="2361895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Cryptographic Defense-in-Depth Hops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3468319" y="3675888"/>
            <a:ext cx="2361895" cy="10973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36" name="Text 34"/>
          <p:cNvSpPr/>
          <p:nvPr/>
        </p:nvSpPr>
        <p:spPr>
          <a:xfrm>
            <a:off x="3468319" y="3803904"/>
            <a:ext cx="2361895" cy="13350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Every request enforces tenant identity across Edge OBO/DPoP, Agent Engine Registry, Memory Bank, Model Armor, and AlloyDB RLS.</a:t>
            </a:r>
            <a:endParaRPr lang="en-US" sz="880" dirty="0"/>
          </a:p>
        </p:txBody>
      </p:sp>
      <p:sp>
        <p:nvSpPr>
          <p:cNvPr id="37" name="Shape 35"/>
          <p:cNvSpPr/>
          <p:nvPr/>
        </p:nvSpPr>
        <p:spPr>
          <a:xfrm>
            <a:off x="3468319" y="5303520"/>
            <a:ext cx="2361895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523183" y="5303520"/>
            <a:ext cx="2252167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6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Hops 1–5 • Fail-Closed Guardrails</a:t>
            </a:r>
            <a:endParaRPr lang="en-US" sz="760" dirty="0"/>
          </a:p>
        </p:txBody>
      </p:sp>
      <p:sp>
        <p:nvSpPr>
          <p:cNvPr id="39" name="Shape 37"/>
          <p:cNvSpPr/>
          <p:nvPr/>
        </p:nvSpPr>
        <p:spPr>
          <a:xfrm>
            <a:off x="6195974" y="1499616"/>
            <a:ext cx="2691079" cy="4224528"/>
          </a:xfrm>
          <a:prstGeom prst="roundRect">
            <a:avLst>
              <a:gd name="adj" fmla="val 2718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6195974" y="1499616"/>
            <a:ext cx="2691079" cy="73152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41" name="Shape 39"/>
          <p:cNvSpPr/>
          <p:nvPr/>
        </p:nvSpPr>
        <p:spPr>
          <a:xfrm>
            <a:off x="6360566" y="1719072"/>
            <a:ext cx="402336" cy="256032"/>
          </a:xfrm>
          <a:prstGeom prst="roundRect">
            <a:avLst>
              <a:gd name="adj" fmla="val 21429"/>
            </a:avLst>
          </a:prstGeom>
          <a:solidFill>
            <a:srgbClr val="FEF7E0"/>
          </a:solidFill>
          <a:ln/>
        </p:spPr>
      </p:sp>
      <p:sp>
        <p:nvSpPr>
          <p:cNvPr id="42" name="Text 40"/>
          <p:cNvSpPr/>
          <p:nvPr/>
        </p:nvSpPr>
        <p:spPr>
          <a:xfrm>
            <a:off x="6360566" y="1719072"/>
            <a:ext cx="40233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03</a:t>
            </a:r>
            <a:endParaRPr lang="en-US" sz="880" dirty="0"/>
          </a:p>
        </p:txBody>
      </p:sp>
      <p:sp>
        <p:nvSpPr>
          <p:cNvPr id="43" name="Text 41"/>
          <p:cNvSpPr/>
          <p:nvPr/>
        </p:nvSpPr>
        <p:spPr>
          <a:xfrm>
            <a:off x="6360566" y="2121408"/>
            <a:ext cx="236189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3C4043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84.7%</a:t>
            </a:r>
            <a:endParaRPr lang="en-US" sz="4800" dirty="0"/>
          </a:p>
        </p:txBody>
      </p:sp>
      <p:sp>
        <p:nvSpPr>
          <p:cNvPr id="44" name="Text 42"/>
          <p:cNvSpPr/>
          <p:nvPr/>
        </p:nvSpPr>
        <p:spPr>
          <a:xfrm>
            <a:off x="6360566" y="3163824"/>
            <a:ext cx="2361895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Net Per-Turn Token Cost Reduction</a:t>
            </a:r>
            <a:endParaRPr lang="en-US" sz="1050" dirty="0"/>
          </a:p>
        </p:txBody>
      </p:sp>
      <p:sp>
        <p:nvSpPr>
          <p:cNvPr id="45" name="Shape 43"/>
          <p:cNvSpPr/>
          <p:nvPr/>
        </p:nvSpPr>
        <p:spPr>
          <a:xfrm>
            <a:off x="6360566" y="3675888"/>
            <a:ext cx="2361895" cy="10973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46" name="Text 44"/>
          <p:cNvSpPr/>
          <p:nvPr/>
        </p:nvSpPr>
        <p:spPr>
          <a:xfrm>
            <a:off x="6360566" y="3803904"/>
            <a:ext cx="2361895" cy="13350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Gemini 2.5 Pro ContextCacheConfig caches the 32,000-token SRE system prefix once at a 90% discount across pooled commercial tenants.</a:t>
            </a:r>
            <a:endParaRPr lang="en-US" sz="880" dirty="0"/>
          </a:p>
        </p:txBody>
      </p:sp>
      <p:sp>
        <p:nvSpPr>
          <p:cNvPr id="47" name="Shape 45"/>
          <p:cNvSpPr/>
          <p:nvPr/>
        </p:nvSpPr>
        <p:spPr>
          <a:xfrm>
            <a:off x="6360566" y="5303520"/>
            <a:ext cx="2361895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415430" y="5303520"/>
            <a:ext cx="2252167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6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Gemini 2.5 Pro • ContextCacheConfig</a:t>
            </a:r>
            <a:endParaRPr lang="en-US" sz="760" dirty="0"/>
          </a:p>
        </p:txBody>
      </p:sp>
      <p:sp>
        <p:nvSpPr>
          <p:cNvPr id="49" name="Shape 47"/>
          <p:cNvSpPr/>
          <p:nvPr/>
        </p:nvSpPr>
        <p:spPr>
          <a:xfrm>
            <a:off x="9088222" y="1499616"/>
            <a:ext cx="2691079" cy="4224528"/>
          </a:xfrm>
          <a:prstGeom prst="roundRect">
            <a:avLst>
              <a:gd name="adj" fmla="val 2718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9088222" y="1499616"/>
            <a:ext cx="2691079" cy="73152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51" name="Shape 49"/>
          <p:cNvSpPr/>
          <p:nvPr/>
        </p:nvSpPr>
        <p:spPr>
          <a:xfrm>
            <a:off x="9252814" y="1719072"/>
            <a:ext cx="402336" cy="256032"/>
          </a:xfrm>
          <a:prstGeom prst="roundRect">
            <a:avLst>
              <a:gd name="adj" fmla="val 21429"/>
            </a:avLst>
          </a:prstGeom>
          <a:solidFill>
            <a:srgbClr val="E6F4EA"/>
          </a:solidFill>
          <a:ln/>
        </p:spPr>
      </p:sp>
      <p:sp>
        <p:nvSpPr>
          <p:cNvPr id="52" name="Text 50"/>
          <p:cNvSpPr/>
          <p:nvPr/>
        </p:nvSpPr>
        <p:spPr>
          <a:xfrm>
            <a:off x="9252814" y="1719072"/>
            <a:ext cx="40233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04</a:t>
            </a:r>
            <a:endParaRPr lang="en-US" sz="880" dirty="0"/>
          </a:p>
        </p:txBody>
      </p:sp>
      <p:sp>
        <p:nvSpPr>
          <p:cNvPr id="53" name="Text 51"/>
          <p:cNvSpPr/>
          <p:nvPr/>
        </p:nvSpPr>
        <p:spPr>
          <a:xfrm>
            <a:off x="9252814" y="2121408"/>
            <a:ext cx="236189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3C4043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20/20</a:t>
            </a:r>
            <a:endParaRPr lang="en-US" sz="4800" dirty="0"/>
          </a:p>
        </p:txBody>
      </p:sp>
      <p:sp>
        <p:nvSpPr>
          <p:cNvPr id="54" name="Text 52"/>
          <p:cNvSpPr/>
          <p:nvPr/>
        </p:nvSpPr>
        <p:spPr>
          <a:xfrm>
            <a:off x="9252814" y="3163824"/>
            <a:ext cx="2361895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Automated Security &amp; Migration Gates PASS</a:t>
            </a:r>
            <a:endParaRPr lang="en-US" sz="1050" dirty="0"/>
          </a:p>
        </p:txBody>
      </p:sp>
      <p:sp>
        <p:nvSpPr>
          <p:cNvPr id="55" name="Shape 53"/>
          <p:cNvSpPr/>
          <p:nvPr/>
        </p:nvSpPr>
        <p:spPr>
          <a:xfrm>
            <a:off x="9252814" y="3675888"/>
            <a:ext cx="2361895" cy="10973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56" name="Text 54"/>
          <p:cNvSpPr/>
          <p:nvPr/>
        </p:nvSpPr>
        <p:spPr>
          <a:xfrm>
            <a:off x="9252814" y="3803904"/>
            <a:ext cx="2361895" cy="13350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Verified across 10 Pattern A red-team breach tests, 6 Pattern B CMEK kill-switch tests, and 4 Pattern C zero-downtime live upgrade tests.</a:t>
            </a:r>
            <a:endParaRPr lang="en-US" sz="880" dirty="0"/>
          </a:p>
        </p:txBody>
      </p:sp>
      <p:sp>
        <p:nvSpPr>
          <p:cNvPr id="57" name="Shape 55"/>
          <p:cNvSpPr/>
          <p:nvPr/>
        </p:nvSpPr>
        <p:spPr>
          <a:xfrm>
            <a:off x="9252814" y="5303520"/>
            <a:ext cx="2361895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9307678" y="5303520"/>
            <a:ext cx="2252167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6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12/12 Forensic Audit • 20/20 Sims</a:t>
            </a:r>
            <a:endParaRPr lang="en-US" sz="760" dirty="0"/>
          </a:p>
        </p:txBody>
      </p:sp>
      <p:sp>
        <p:nvSpPr>
          <p:cNvPr id="59" name="Shape 57"/>
          <p:cNvSpPr/>
          <p:nvPr/>
        </p:nvSpPr>
        <p:spPr>
          <a:xfrm>
            <a:off x="365760" y="6144768"/>
            <a:ext cx="11460175" cy="384048"/>
          </a:xfrm>
          <a:prstGeom prst="roundRect">
            <a:avLst>
              <a:gd name="adj" fmla="val 19048"/>
            </a:avLst>
          </a:prstGeom>
          <a:solidFill>
            <a:srgbClr val="F8F9FA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475488" y="6208776"/>
            <a:ext cx="1874520" cy="256032"/>
          </a:xfrm>
          <a:prstGeom prst="roundRect">
            <a:avLst>
              <a:gd name="adj" fmla="val 21429"/>
            </a:avLst>
          </a:prstGeom>
          <a:solidFill>
            <a:srgbClr val="34A853"/>
          </a:solidFill>
          <a:ln/>
        </p:spPr>
      </p:sp>
      <p:sp>
        <p:nvSpPr>
          <p:cNvPr id="61" name="Text 59"/>
          <p:cNvSpPr/>
          <p:nvPr/>
        </p:nvSpPr>
        <p:spPr>
          <a:xfrm>
            <a:off x="475488" y="6208776"/>
            <a:ext cx="1874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VERIFIED TELEMETRY</a:t>
            </a:r>
            <a:endParaRPr lang="en-US" sz="780" dirty="0"/>
          </a:p>
        </p:txBody>
      </p:sp>
      <p:sp>
        <p:nvSpPr>
          <p:cNvPr id="62" name="Text 60"/>
          <p:cNvSpPr/>
          <p:nvPr/>
        </p:nvSpPr>
        <p:spPr>
          <a:xfrm>
            <a:off x="2468880" y="6190488"/>
            <a:ext cx="921989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1 • Reference Architecture &amp; Cloud Architecture Center Doc PR • Certified by 12 Forensic Checks &amp; 20 Simulation Assertions</a:t>
            </a:r>
            <a:endParaRPr lang="en-US" sz="880" dirty="0"/>
          </a:p>
        </p:txBody>
      </p:sp>
      <p:sp>
        <p:nvSpPr>
          <p:cNvPr id="63" name="Text 61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Multi-Tenant Agentic AI on Google Cloud • Vertex AI Agent Engine, Gemini Enterprise &amp; ADK 2.0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WS1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 • CUSTOMER USE CASES, TENANT PROFILES &amp; GOOGLE CLOUD STACK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THREE-PILLAR • USE CASES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411480" y="658368"/>
            <a:ext cx="1136873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Competing Enterprise Tenants (FinVault vs. RetailStream) &amp; Google Cloud Stack</a:t>
            </a:r>
            <a:endParaRPr lang="en-US" sz="1900" dirty="0"/>
          </a:p>
        </p:txBody>
      </p:sp>
      <p:sp>
        <p:nvSpPr>
          <p:cNvPr id="18" name="Text 16"/>
          <p:cNvSpPr/>
          <p:nvPr/>
        </p:nvSpPr>
        <p:spPr>
          <a:xfrm>
            <a:off x="411480" y="1024128"/>
            <a:ext cx="11368735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Concrete multi-tenant SaaS workload profiles, regulatory vs. commercial isolation requirements, and Google Cloud stack mapping.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11480" y="1353312"/>
            <a:ext cx="5583326" cy="2258568"/>
          </a:xfrm>
          <a:prstGeom prst="roundRect">
            <a:avLst>
              <a:gd name="adj" fmla="val 3239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11480" y="1353312"/>
            <a:ext cx="5583326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1" name="Shape 19"/>
          <p:cNvSpPr/>
          <p:nvPr/>
        </p:nvSpPr>
        <p:spPr>
          <a:xfrm>
            <a:off x="557784" y="1481328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E8F0FE"/>
          </a:solidFill>
          <a:ln/>
        </p:spPr>
      </p:sp>
      <p:sp>
        <p:nvSpPr>
          <p:cNvPr id="22" name="Text 20"/>
          <p:cNvSpPr/>
          <p:nvPr/>
        </p:nvSpPr>
        <p:spPr>
          <a:xfrm>
            <a:off x="557784" y="148132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01</a:t>
            </a:r>
            <a:endParaRPr lang="en-US" sz="920" dirty="0"/>
          </a:p>
        </p:txBody>
      </p:sp>
      <p:sp>
        <p:nvSpPr>
          <p:cNvPr id="23" name="Text 21"/>
          <p:cNvSpPr/>
          <p:nvPr/>
        </p:nvSpPr>
        <p:spPr>
          <a:xfrm>
            <a:off x="996696" y="1463040"/>
            <a:ext cx="485180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Cymbal Multi-Tenant Platform (Control Plane)</a:t>
            </a:r>
            <a:endParaRPr lang="en-US" sz="1140" dirty="0"/>
          </a:p>
        </p:txBody>
      </p:sp>
      <p:sp>
        <p:nvSpPr>
          <p:cNvPr id="24" name="Shape 22"/>
          <p:cNvSpPr/>
          <p:nvPr/>
        </p:nvSpPr>
        <p:spPr>
          <a:xfrm>
            <a:off x="557784" y="1847088"/>
            <a:ext cx="5290718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25" name="Text 23"/>
          <p:cNvSpPr/>
          <p:nvPr/>
        </p:nvSpPr>
        <p:spPr>
          <a:xfrm>
            <a:off x="557784" y="1901952"/>
            <a:ext cx="5290718" cy="850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Operates a shared Incident Diagnostic Agent on Vertex AI Agent Engine (ADK 2.0, Registry &amp; L1–L5 Memory Bank) and Gemini 2.5 Pro, caching a 32,000-token SRE runbook prefix once (90% discount -&gt; 84.7% net token savings).</a:t>
            </a:r>
            <a:endParaRPr lang="en-US" sz="980" dirty="0"/>
          </a:p>
        </p:txBody>
      </p:sp>
      <p:sp>
        <p:nvSpPr>
          <p:cNvPr id="26" name="Shape 24"/>
          <p:cNvSpPr/>
          <p:nvPr/>
        </p:nvSpPr>
        <p:spPr>
          <a:xfrm>
            <a:off x="557784" y="2788920"/>
            <a:ext cx="5290718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57784" y="2788920"/>
            <a:ext cx="54864" cy="49377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8" name="Text 26"/>
          <p:cNvSpPr/>
          <p:nvPr/>
        </p:nvSpPr>
        <p:spPr>
          <a:xfrm>
            <a:off x="649224" y="2816352"/>
            <a:ext cx="516270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Vertex AI Agent Engine (ADK 2.0, Registry, L1–L5 Memory) • Gemini 2.5 Pro (32k Prefix Cache)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Immutable 32k System Prefix Cache • 84.7% Net Per-Turn Token Cost Reduction</a:t>
            </a:r>
            <a:endParaRPr lang="en-US" sz="750" dirty="0"/>
          </a:p>
        </p:txBody>
      </p:sp>
      <p:sp>
        <p:nvSpPr>
          <p:cNvPr id="29" name="Shape 27"/>
          <p:cNvSpPr/>
          <p:nvPr/>
        </p:nvSpPr>
        <p:spPr>
          <a:xfrm>
            <a:off x="557784" y="3337560"/>
            <a:ext cx="5290718" cy="219456"/>
          </a:xfrm>
          <a:prstGeom prst="roundRect">
            <a:avLst>
              <a:gd name="adj" fmla="val 20833"/>
            </a:avLst>
          </a:prstGeom>
          <a:solidFill>
            <a:srgbClr val="E8F0FE"/>
          </a:solidFill>
          <a:ln/>
        </p:spPr>
      </p:sp>
      <p:sp>
        <p:nvSpPr>
          <p:cNvPr id="30" name="Text 28"/>
          <p:cNvSpPr/>
          <p:nvPr/>
        </p:nvSpPr>
        <p:spPr>
          <a:xfrm>
            <a:off x="612648" y="3337560"/>
            <a:ext cx="518099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1. Platform Control Plane: Cymbal SaaS</a:t>
            </a:r>
            <a:endParaRPr lang="en-US" sz="750" dirty="0"/>
          </a:p>
        </p:txBody>
      </p:sp>
      <p:sp>
        <p:nvSpPr>
          <p:cNvPr id="31" name="Shape 29"/>
          <p:cNvSpPr/>
          <p:nvPr/>
        </p:nvSpPr>
        <p:spPr>
          <a:xfrm>
            <a:off x="6195974" y="1353312"/>
            <a:ext cx="5583326" cy="2258568"/>
          </a:xfrm>
          <a:prstGeom prst="roundRect">
            <a:avLst>
              <a:gd name="adj" fmla="val 3239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195974" y="1353312"/>
            <a:ext cx="5583326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33" name="Shape 31"/>
          <p:cNvSpPr/>
          <p:nvPr/>
        </p:nvSpPr>
        <p:spPr>
          <a:xfrm>
            <a:off x="6342278" y="1481328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FCE8E6"/>
          </a:solidFill>
          <a:ln/>
        </p:spPr>
      </p:sp>
      <p:sp>
        <p:nvSpPr>
          <p:cNvPr id="34" name="Text 32"/>
          <p:cNvSpPr/>
          <p:nvPr/>
        </p:nvSpPr>
        <p:spPr>
          <a:xfrm>
            <a:off x="6342278" y="148132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02</a:t>
            </a:r>
            <a:endParaRPr lang="en-US" sz="920" dirty="0"/>
          </a:p>
        </p:txBody>
      </p:sp>
      <p:sp>
        <p:nvSpPr>
          <p:cNvPr id="35" name="Text 33"/>
          <p:cNvSpPr/>
          <p:nvPr/>
        </p:nvSpPr>
        <p:spPr>
          <a:xfrm>
            <a:off x="6781190" y="1463040"/>
            <a:ext cx="485180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FinVault Bank (Regulated Enterprise Tenant)</a:t>
            </a:r>
            <a:endParaRPr lang="en-US" sz="1140" dirty="0"/>
          </a:p>
        </p:txBody>
      </p:sp>
      <p:sp>
        <p:nvSpPr>
          <p:cNvPr id="36" name="Shape 34"/>
          <p:cNvSpPr/>
          <p:nvPr/>
        </p:nvSpPr>
        <p:spPr>
          <a:xfrm>
            <a:off x="6342278" y="1847088"/>
            <a:ext cx="5290718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37" name="Text 35"/>
          <p:cNvSpPr/>
          <p:nvPr/>
        </p:nvSpPr>
        <p:spPr>
          <a:xfrm>
            <a:off x="6342278" y="1901952"/>
            <a:ext cx="5290718" cy="850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Authenticates via Google Workspace OIDC, provisions a private Gemini 2.5 Pro (Dedicated PT) / Gemma 3 27B regulatory agent (Agent Alpha), receives a 600 RPM / 8,000-token thinking budget, and mandates VPC-SC &amp; Cloud KMS CMEK.</a:t>
            </a:r>
            <a:endParaRPr lang="en-US" sz="980" dirty="0"/>
          </a:p>
        </p:txBody>
      </p:sp>
      <p:sp>
        <p:nvSpPr>
          <p:cNvPr id="38" name="Shape 36"/>
          <p:cNvSpPr/>
          <p:nvPr/>
        </p:nvSpPr>
        <p:spPr>
          <a:xfrm>
            <a:off x="6342278" y="2788920"/>
            <a:ext cx="5290718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342278" y="2788920"/>
            <a:ext cx="54864" cy="49377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40" name="Text 38"/>
          <p:cNvSpPr/>
          <p:nvPr/>
        </p:nvSpPr>
        <p:spPr>
          <a:xfrm>
            <a:off x="6433718" y="2816352"/>
            <a:ext cx="516270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Google Workspace OIDC • Dedicated PT / Gemma 3 27B • VPC-SC • Cloud KMS CMEK (finvault-silo-cmek)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Tier: ENTERPRISE ($1,850/mo Silo) • 600 RPM • 8,000 Thinking Budget • OCC/IBAN DLP Masking</a:t>
            </a:r>
            <a:endParaRPr lang="en-US" sz="750" dirty="0"/>
          </a:p>
        </p:txBody>
      </p:sp>
      <p:sp>
        <p:nvSpPr>
          <p:cNvPr id="41" name="Shape 39"/>
          <p:cNvSpPr/>
          <p:nvPr/>
        </p:nvSpPr>
        <p:spPr>
          <a:xfrm>
            <a:off x="6342278" y="3337560"/>
            <a:ext cx="5290718" cy="219456"/>
          </a:xfrm>
          <a:prstGeom prst="roundRect">
            <a:avLst>
              <a:gd name="adj" fmla="val 20833"/>
            </a:avLst>
          </a:prstGeom>
          <a:solidFill>
            <a:srgbClr val="FCE8E6"/>
          </a:solidFill>
          <a:ln/>
        </p:spPr>
      </p:sp>
      <p:sp>
        <p:nvSpPr>
          <p:cNvPr id="42" name="Text 40"/>
          <p:cNvSpPr/>
          <p:nvPr/>
        </p:nvSpPr>
        <p:spPr>
          <a:xfrm>
            <a:off x="6397142" y="3337560"/>
            <a:ext cx="518099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2. Regulated Tenant A: FinVault Bank</a:t>
            </a:r>
            <a:endParaRPr lang="en-US" sz="750" dirty="0"/>
          </a:p>
        </p:txBody>
      </p:sp>
      <p:sp>
        <p:nvSpPr>
          <p:cNvPr id="43" name="Shape 41"/>
          <p:cNvSpPr/>
          <p:nvPr/>
        </p:nvSpPr>
        <p:spPr>
          <a:xfrm>
            <a:off x="411480" y="3776472"/>
            <a:ext cx="5583326" cy="2258568"/>
          </a:xfrm>
          <a:prstGeom prst="roundRect">
            <a:avLst>
              <a:gd name="adj" fmla="val 3239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11480" y="3776472"/>
            <a:ext cx="5583326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45" name="Shape 43"/>
          <p:cNvSpPr/>
          <p:nvPr/>
        </p:nvSpPr>
        <p:spPr>
          <a:xfrm>
            <a:off x="557784" y="3904488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FEF7E0"/>
          </a:solidFill>
          <a:ln/>
        </p:spPr>
      </p:sp>
      <p:sp>
        <p:nvSpPr>
          <p:cNvPr id="46" name="Text 44"/>
          <p:cNvSpPr/>
          <p:nvPr/>
        </p:nvSpPr>
        <p:spPr>
          <a:xfrm>
            <a:off x="557784" y="390448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03</a:t>
            </a:r>
            <a:endParaRPr lang="en-US" sz="920" dirty="0"/>
          </a:p>
        </p:txBody>
      </p:sp>
      <p:sp>
        <p:nvSpPr>
          <p:cNvPr id="47" name="Text 45"/>
          <p:cNvSpPr/>
          <p:nvPr/>
        </p:nvSpPr>
        <p:spPr>
          <a:xfrm>
            <a:off x="996696" y="3886200"/>
            <a:ext cx="485180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RetailStream Corp (Standard Commercial Tenant)</a:t>
            </a:r>
            <a:endParaRPr lang="en-US" sz="1140" dirty="0"/>
          </a:p>
        </p:txBody>
      </p:sp>
      <p:sp>
        <p:nvSpPr>
          <p:cNvPr id="48" name="Shape 46"/>
          <p:cNvSpPr/>
          <p:nvPr/>
        </p:nvSpPr>
        <p:spPr>
          <a:xfrm>
            <a:off x="557784" y="4270248"/>
            <a:ext cx="5290718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49" name="Text 47"/>
          <p:cNvSpPr/>
          <p:nvPr/>
        </p:nvSpPr>
        <p:spPr>
          <a:xfrm>
            <a:off x="557784" y="4325112"/>
            <a:ext cx="5290718" cy="850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Authenticates via Microsoft Entra ID OIDC, runs on the pooled Cloud Run v2 &amp; AlloyDB RLS Diagnostic Agent ($42/mo floor) with a 120 RPM / 4,000-token thinking cap, and invokes ServiceNow ITOM via 3LO step-up consent.</a:t>
            </a:r>
            <a:endParaRPr lang="en-US" sz="980" dirty="0"/>
          </a:p>
        </p:txBody>
      </p:sp>
      <p:sp>
        <p:nvSpPr>
          <p:cNvPr id="50" name="Shape 48"/>
          <p:cNvSpPr/>
          <p:nvPr/>
        </p:nvSpPr>
        <p:spPr>
          <a:xfrm>
            <a:off x="557784" y="5212080"/>
            <a:ext cx="5290718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557784" y="5212080"/>
            <a:ext cx="54864" cy="49377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52" name="Text 50"/>
          <p:cNvSpPr/>
          <p:nvPr/>
        </p:nvSpPr>
        <p:spPr>
          <a:xfrm>
            <a:off x="649224" y="5239512"/>
            <a:ext cx="516270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Microsoft Entra ID OIDC • Cloud Run v2 • Memorystore Valkey • SharePoint &amp; ServiceNow 3LO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Tier: STANDARD ($42/mo Pool) • 120 RPM • 4,000 Thinking Budget • PCI-DSS PAN/SSN DLP Masking</a:t>
            </a:r>
            <a:endParaRPr lang="en-US" sz="750" dirty="0"/>
          </a:p>
        </p:txBody>
      </p:sp>
      <p:sp>
        <p:nvSpPr>
          <p:cNvPr id="53" name="Shape 51"/>
          <p:cNvSpPr/>
          <p:nvPr/>
        </p:nvSpPr>
        <p:spPr>
          <a:xfrm>
            <a:off x="557784" y="5760720"/>
            <a:ext cx="5290718" cy="219456"/>
          </a:xfrm>
          <a:prstGeom prst="roundRect">
            <a:avLst>
              <a:gd name="adj" fmla="val 20833"/>
            </a:avLst>
          </a:prstGeom>
          <a:solidFill>
            <a:srgbClr val="FEF7E0"/>
          </a:solidFill>
          <a:ln/>
        </p:spPr>
      </p:sp>
      <p:sp>
        <p:nvSpPr>
          <p:cNvPr id="54" name="Text 52"/>
          <p:cNvSpPr/>
          <p:nvPr/>
        </p:nvSpPr>
        <p:spPr>
          <a:xfrm>
            <a:off x="612648" y="5760720"/>
            <a:ext cx="518099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3. Commercial Tenant B: RetailStream</a:t>
            </a:r>
            <a:endParaRPr lang="en-US" sz="750" dirty="0"/>
          </a:p>
        </p:txBody>
      </p:sp>
      <p:sp>
        <p:nvSpPr>
          <p:cNvPr id="55" name="Shape 53"/>
          <p:cNvSpPr/>
          <p:nvPr/>
        </p:nvSpPr>
        <p:spPr>
          <a:xfrm>
            <a:off x="6195974" y="3776472"/>
            <a:ext cx="5583326" cy="2258568"/>
          </a:xfrm>
          <a:prstGeom prst="roundRect">
            <a:avLst>
              <a:gd name="adj" fmla="val 3239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6195974" y="3776472"/>
            <a:ext cx="5583326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57" name="Shape 55"/>
          <p:cNvSpPr/>
          <p:nvPr/>
        </p:nvSpPr>
        <p:spPr>
          <a:xfrm>
            <a:off x="6342278" y="3904488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E6F4EA"/>
          </a:solidFill>
          <a:ln/>
        </p:spPr>
      </p:sp>
      <p:sp>
        <p:nvSpPr>
          <p:cNvPr id="58" name="Text 56"/>
          <p:cNvSpPr/>
          <p:nvPr/>
        </p:nvSpPr>
        <p:spPr>
          <a:xfrm>
            <a:off x="6342278" y="390448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04</a:t>
            </a:r>
            <a:endParaRPr lang="en-US" sz="920" dirty="0"/>
          </a:p>
        </p:txBody>
      </p:sp>
      <p:sp>
        <p:nvSpPr>
          <p:cNvPr id="59" name="Text 57"/>
          <p:cNvSpPr/>
          <p:nvPr/>
        </p:nvSpPr>
        <p:spPr>
          <a:xfrm>
            <a:off x="6781190" y="3886200"/>
            <a:ext cx="485180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Cryptographic Mutual Invisibility &amp; 80% Shared Stack</a:t>
            </a:r>
            <a:endParaRPr lang="en-US" sz="1140" dirty="0"/>
          </a:p>
        </p:txBody>
      </p:sp>
      <p:sp>
        <p:nvSpPr>
          <p:cNvPr id="60" name="Shape 58"/>
          <p:cNvSpPr/>
          <p:nvPr/>
        </p:nvSpPr>
        <p:spPr>
          <a:xfrm>
            <a:off x="6342278" y="4270248"/>
            <a:ext cx="5290718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61" name="Text 59"/>
          <p:cNvSpPr/>
          <p:nvPr/>
        </p:nvSpPr>
        <p:spPr>
          <a:xfrm>
            <a:off x="6342278" y="4325112"/>
            <a:ext cx="5290718" cy="850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Cloud Armor WAF, IAP OBO/DPoP, Memorystore Valkey, Model Armor, Cloud DLP, AlloyDB RLS, and BigQuery OTel run one 80% reusable ADK codebase—blocking cross-tenant probes (HTTP 403) with 0 cross-tenant rows.</a:t>
            </a:r>
            <a:endParaRPr lang="en-US" sz="980" dirty="0"/>
          </a:p>
        </p:txBody>
      </p:sp>
      <p:sp>
        <p:nvSpPr>
          <p:cNvPr id="62" name="Shape 60"/>
          <p:cNvSpPr/>
          <p:nvPr/>
        </p:nvSpPr>
        <p:spPr>
          <a:xfrm>
            <a:off x="6342278" y="5212080"/>
            <a:ext cx="5290718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6342278" y="5212080"/>
            <a:ext cx="54864" cy="49377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64" name="Text 62"/>
          <p:cNvSpPr/>
          <p:nvPr/>
        </p:nvSpPr>
        <p:spPr>
          <a:xfrm>
            <a:off x="6433718" y="5239512"/>
            <a:ext cx="516270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Cloud Armor • IAP STS (RFC 8693/9449) • Model Armor • Cloud DLP • AlloyDB RLS • BigQuery OTel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80% Identical Python ADK 2.0 Codebase • Verified by 20/20 Automated Security &amp; Migration Tests</a:t>
            </a:r>
            <a:endParaRPr lang="en-US" sz="750" dirty="0"/>
          </a:p>
        </p:txBody>
      </p:sp>
      <p:sp>
        <p:nvSpPr>
          <p:cNvPr id="65" name="Shape 63"/>
          <p:cNvSpPr/>
          <p:nvPr/>
        </p:nvSpPr>
        <p:spPr>
          <a:xfrm>
            <a:off x="6342278" y="5760720"/>
            <a:ext cx="5290718" cy="219456"/>
          </a:xfrm>
          <a:prstGeom prst="roundRect">
            <a:avLst>
              <a:gd name="adj" fmla="val 20833"/>
            </a:avLst>
          </a:prstGeom>
          <a:solidFill>
            <a:srgbClr val="E6F4EA"/>
          </a:solidFill>
          <a:ln/>
        </p:spPr>
      </p:sp>
      <p:sp>
        <p:nvSpPr>
          <p:cNvPr id="66" name="Text 64"/>
          <p:cNvSpPr/>
          <p:nvPr/>
        </p:nvSpPr>
        <p:spPr>
          <a:xfrm>
            <a:off x="6397142" y="5760720"/>
            <a:ext cx="518099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4. Unified 5-Hop Google Cloud Stack</a:t>
            </a:r>
            <a:endParaRPr lang="en-US" sz="750" dirty="0"/>
          </a:p>
        </p:txBody>
      </p:sp>
      <p:sp>
        <p:nvSpPr>
          <p:cNvPr id="67" name="Shape 65"/>
          <p:cNvSpPr/>
          <p:nvPr/>
        </p:nvSpPr>
        <p:spPr>
          <a:xfrm>
            <a:off x="365760" y="6144768"/>
            <a:ext cx="11460175" cy="384048"/>
          </a:xfrm>
          <a:prstGeom prst="roundRect">
            <a:avLst>
              <a:gd name="adj" fmla="val 19048"/>
            </a:avLst>
          </a:prstGeom>
          <a:solidFill>
            <a:srgbClr val="F8F9FA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475488" y="6208776"/>
            <a:ext cx="1874520" cy="256032"/>
          </a:xfrm>
          <a:prstGeom prst="roundRect">
            <a:avLst>
              <a:gd name="adj" fmla="val 21429"/>
            </a:avLst>
          </a:prstGeom>
          <a:solidFill>
            <a:srgbClr val="4285F4"/>
          </a:solidFill>
          <a:ln/>
        </p:spPr>
      </p:sp>
      <p:sp>
        <p:nvSpPr>
          <p:cNvPr id="69" name="Text 67"/>
          <p:cNvSpPr/>
          <p:nvPr/>
        </p:nvSpPr>
        <p:spPr>
          <a:xfrm>
            <a:off x="475488" y="6208776"/>
            <a:ext cx="1874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ARCHITECTURAL MANDATE</a:t>
            </a:r>
            <a:endParaRPr lang="en-US" sz="780" dirty="0"/>
          </a:p>
        </p:txBody>
      </p:sp>
      <p:sp>
        <p:nvSpPr>
          <p:cNvPr id="70" name="Text 68"/>
          <p:cNvSpPr/>
          <p:nvPr/>
        </p:nvSpPr>
        <p:spPr>
          <a:xfrm>
            <a:off x="2468880" y="6190488"/>
            <a:ext cx="921989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1 • Reference Architecture &amp; Cloud Architecture Center Doc PR  •  Customer Use Cases, Competing Tenant Profiles &amp; Google Cloud Stack</a:t>
            </a:r>
            <a:endParaRPr lang="en-US" sz="880" dirty="0"/>
          </a:p>
        </p:txBody>
      </p:sp>
      <p:sp>
        <p:nvSpPr>
          <p:cNvPr id="71" name="Text 69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Multi-Tenant Agentic AI on Google Cloud • Vertex AI Agent Engine, Gemini Enterprise &amp; ADK 2.0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WS1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 • ARCHITECTURAL OPTIONS &amp; PATTERN A / B / C DECISION MATRIX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COMPARISON-GRID • MATRIX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411480" y="640080"/>
            <a:ext cx="11368735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Comparison of Multi-Tenant Isolation Patterns (A, B &amp; C)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411480" y="987552"/>
            <a:ext cx="1136873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Side-by-side Google Cloud Well-Architected trade-off analysis, isolation boundaries, and unit economics.</a:t>
            </a:r>
            <a:endParaRPr lang="en-US" sz="98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243584"/>
          <a:ext cx="11368735" cy="914400"/>
        </p:xfrm>
        <a:graphic>
          <a:graphicData uri="http://schemas.openxmlformats.org/drawingml/2006/table">
            <a:tbl>
              <a:tblPr/>
              <a:tblGrid>
                <a:gridCol w="2057400"/>
                <a:gridCol w="3063240"/>
                <a:gridCol w="3154680"/>
                <a:gridCol w="318485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Architectural Dimension</a:t>
                      </a:r>
                      <a:endParaRPr lang="en-US" sz="85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Pattern A: High-Density Pooled (WS2)</a:t>
                      </a:r>
                      <a:endParaRPr lang="en-US" sz="85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Pattern B: Sovereign Silos (WS3)</a:t>
                      </a:r>
                      <a:endParaRPr lang="en-US" sz="85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Pattern C: Dynamic Hybrid PSC (WS4)</a:t>
                      </a:r>
                      <a:endParaRPr lang="en-US" sz="85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Control plane &amp; project boundary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Single shared GCP project (ramp-portal-dev); logical separation in software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Dedicated GCP project per tenant (cymbal-{tenant}-silo-prod) under org folder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Central Ingress Hub project + Shared Pool + Dedicated Enterprise Spoke projects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Compute &amp; agent runtime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Shared Cloud Run v2 &amp; shared Vertex AI Agent Engine worker pool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Dedicated Agent Engine &amp; private GKE GPU cluster (172.16.0.2/28, Gemma 3 27B)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Firestore dynamic tier router dispatches Standard -&gt; Pool, Enterprise -&gt; PSC Spoke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Network &amp; perimeter isolation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Shared VPC protected by Cloud Armor L7 WAF header sanitization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Per-tenant VPC Service Controls (VPC-SC) perimeter + BeyondCorp mTLS pinning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Unidirectional Private Service Connect (PSC) endpoints (10.10.0.50 -&gt; /24 NAT)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Identity &amp; access control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IAP OIDC + IAM STS RFC 8693 OBO &amp; RFC 9449 DPoP sender-constrained tokens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IAM Principal Access Boundaries (PAB) + dedicated per-silo service accounts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Unified Hub OIDC verification + tier-scoped OBO/DPoP token forwarding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Data, memory &amp; state plane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Shared AlloyDB with FORCE ROW LEVEL SECURITY + namespaced L1–L5 Memory Bank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Dedicated AlloyDB &amp; Memory Bank encrypted by tenant Cloud KMS CMEK (HTTP 423)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Pooled RLS for Standard; CMEK spoke vault + 3-phase zero-downtime live migration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Model &amp; FinOps COGS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Shared 32k prefix cache (90% discount -&gt; 84.7% net token cost reduction)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Dedicated Vertex AI Provisioned Throughput or air-gapped GKE GPU node pool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Blended portfolio (74% lower total cloud spend across 950 Std + 50 Ent tenants)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Baseline unit cost &amp; target tier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$42 / tenant / month • High-volume commercial B2B SaaS (10/10 breach tests PASS)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$1,850 / tenant / month • Regulated Banking, Healthcare &amp; Public Sector (6/6 PASS)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b="1" dirty="0">
                          <a:solidFill>
                            <a:srgbClr val="0D652D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$42 (Std) / $1,850 (Ent) • Multi-tier SaaS with live tier upsell (4/4 PASS)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0" name="Shape 17"/>
          <p:cNvSpPr/>
          <p:nvPr/>
        </p:nvSpPr>
        <p:spPr>
          <a:xfrm>
            <a:off x="411480" y="4837176"/>
            <a:ext cx="2718511" cy="1234440"/>
          </a:xfrm>
          <a:prstGeom prst="roundRect">
            <a:avLst>
              <a:gd name="adj" fmla="val 5926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411480" y="4837176"/>
            <a:ext cx="2718511" cy="50292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2" name="Text 19"/>
          <p:cNvSpPr/>
          <p:nvPr/>
        </p:nvSpPr>
        <p:spPr>
          <a:xfrm>
            <a:off x="521208" y="4910328"/>
            <a:ext cx="2499055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1. When to Choose Pattern A ($42/mo)</a:t>
            </a:r>
            <a:endParaRPr lang="en-US" sz="820" dirty="0"/>
          </a:p>
        </p:txBody>
      </p:sp>
      <p:sp>
        <p:nvSpPr>
          <p:cNvPr id="23" name="Text 20"/>
          <p:cNvSpPr/>
          <p:nvPr/>
        </p:nvSpPr>
        <p:spPr>
          <a:xfrm>
            <a:off x="521208" y="5166360"/>
            <a:ext cx="2499055" cy="85039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High-density commercial B2B SaaS tiers requiring 90% shared 32k prefix cache savings and transactional AlloyDB FORCE ROW LEVEL SECURITY.</a:t>
            </a:r>
            <a:endParaRPr lang="en-US" sz="740" dirty="0"/>
          </a:p>
        </p:txBody>
      </p:sp>
      <p:sp>
        <p:nvSpPr>
          <p:cNvPr id="24" name="Shape 21"/>
          <p:cNvSpPr/>
          <p:nvPr/>
        </p:nvSpPr>
        <p:spPr>
          <a:xfrm>
            <a:off x="3294583" y="4837176"/>
            <a:ext cx="2718511" cy="1234440"/>
          </a:xfrm>
          <a:prstGeom prst="roundRect">
            <a:avLst>
              <a:gd name="adj" fmla="val 5926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3294583" y="4837176"/>
            <a:ext cx="2718511" cy="50292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26" name="Text 23"/>
          <p:cNvSpPr/>
          <p:nvPr/>
        </p:nvSpPr>
        <p:spPr>
          <a:xfrm>
            <a:off x="3404311" y="4910328"/>
            <a:ext cx="2499055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76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2. When to Choose Pattern B ($1,850/mo)</a:t>
            </a:r>
            <a:endParaRPr lang="en-US" sz="760" dirty="0"/>
          </a:p>
        </p:txBody>
      </p:sp>
      <p:sp>
        <p:nvSpPr>
          <p:cNvPr id="27" name="Text 24"/>
          <p:cNvSpPr/>
          <p:nvPr/>
        </p:nvSpPr>
        <p:spPr>
          <a:xfrm>
            <a:off x="3404311" y="5166360"/>
            <a:ext cx="2499055" cy="85039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Regulated banking, healthcare &amp; public-sector tenants mandating a 1:1 GCP project, VPC Service Controls, IAM PAB &amp; &lt;60s CMEK kill-switch.</a:t>
            </a:r>
            <a:endParaRPr lang="en-US" sz="740" dirty="0"/>
          </a:p>
        </p:txBody>
      </p:sp>
      <p:sp>
        <p:nvSpPr>
          <p:cNvPr id="28" name="Shape 25"/>
          <p:cNvSpPr/>
          <p:nvPr/>
        </p:nvSpPr>
        <p:spPr>
          <a:xfrm>
            <a:off x="6177686" y="4837176"/>
            <a:ext cx="2718511" cy="1234440"/>
          </a:xfrm>
          <a:prstGeom prst="roundRect">
            <a:avLst>
              <a:gd name="adj" fmla="val 5926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6177686" y="4837176"/>
            <a:ext cx="2718511" cy="50292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30" name="Text 27"/>
          <p:cNvSpPr/>
          <p:nvPr/>
        </p:nvSpPr>
        <p:spPr>
          <a:xfrm>
            <a:off x="6287414" y="4910328"/>
            <a:ext cx="2499055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76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3. When to Choose Pattern C (74% Savings)</a:t>
            </a:r>
            <a:endParaRPr lang="en-US" sz="760" dirty="0"/>
          </a:p>
        </p:txBody>
      </p:sp>
      <p:sp>
        <p:nvSpPr>
          <p:cNvPr id="31" name="Text 28"/>
          <p:cNvSpPr/>
          <p:nvPr/>
        </p:nvSpPr>
        <p:spPr>
          <a:xfrm>
            <a:off x="6287414" y="5166360"/>
            <a:ext cx="2499055" cy="85039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Multi-tier SaaS portfolios co-hosting 85–95% Standard tenants in the pool and 5–15% Enterprise tenants in PSC spokes with 0ms live upgrades.</a:t>
            </a:r>
            <a:endParaRPr lang="en-US" sz="740" dirty="0"/>
          </a:p>
        </p:txBody>
      </p:sp>
      <p:sp>
        <p:nvSpPr>
          <p:cNvPr id="32" name="Shape 29"/>
          <p:cNvSpPr/>
          <p:nvPr/>
        </p:nvSpPr>
        <p:spPr>
          <a:xfrm>
            <a:off x="9060790" y="4837176"/>
            <a:ext cx="2718511" cy="1234440"/>
          </a:xfrm>
          <a:prstGeom prst="roundRect">
            <a:avLst>
              <a:gd name="adj" fmla="val 5926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9060790" y="4837176"/>
            <a:ext cx="2718511" cy="50292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34" name="Text 31"/>
          <p:cNvSpPr/>
          <p:nvPr/>
        </p:nvSpPr>
        <p:spPr>
          <a:xfrm>
            <a:off x="9170518" y="4910328"/>
            <a:ext cx="2499055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4. 80/20 Unified Codebase Invariant</a:t>
            </a:r>
            <a:endParaRPr lang="en-US" sz="820" dirty="0"/>
          </a:p>
        </p:txBody>
      </p:sp>
      <p:sp>
        <p:nvSpPr>
          <p:cNvPr id="35" name="Text 32"/>
          <p:cNvSpPr/>
          <p:nvPr/>
        </p:nvSpPr>
        <p:spPr>
          <a:xfrm>
            <a:off x="9170518" y="5166360"/>
            <a:ext cx="2499055" cy="85039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All three patterns execute the identical Python ADK 2.0 5-hop pipeline (runtime_pipeline.py), parameterizing only 20% Terraform modules (2.6/3.6/4.6).</a:t>
            </a:r>
            <a:endParaRPr lang="en-US" sz="740" dirty="0"/>
          </a:p>
        </p:txBody>
      </p:sp>
      <p:sp>
        <p:nvSpPr>
          <p:cNvPr id="36" name="Shape 33"/>
          <p:cNvSpPr/>
          <p:nvPr/>
        </p:nvSpPr>
        <p:spPr>
          <a:xfrm>
            <a:off x="365760" y="6144768"/>
            <a:ext cx="11460175" cy="384048"/>
          </a:xfrm>
          <a:prstGeom prst="roundRect">
            <a:avLst>
              <a:gd name="adj" fmla="val 19048"/>
            </a:avLst>
          </a:prstGeom>
          <a:solidFill>
            <a:srgbClr val="F8F9FA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475488" y="6208776"/>
            <a:ext cx="1874520" cy="256032"/>
          </a:xfrm>
          <a:prstGeom prst="roundRect">
            <a:avLst>
              <a:gd name="adj" fmla="val 21429"/>
            </a:avLst>
          </a:prstGeom>
          <a:solidFill>
            <a:srgbClr val="4285F4"/>
          </a:solidFill>
          <a:ln/>
        </p:spPr>
      </p:sp>
      <p:sp>
        <p:nvSpPr>
          <p:cNvPr id="38" name="Text 35"/>
          <p:cNvSpPr/>
          <p:nvPr/>
        </p:nvSpPr>
        <p:spPr>
          <a:xfrm>
            <a:off x="475488" y="6208776"/>
            <a:ext cx="1874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ARCHITECTURAL DECISION</a:t>
            </a:r>
            <a:endParaRPr lang="en-US" sz="780" dirty="0"/>
          </a:p>
        </p:txBody>
      </p:sp>
      <p:sp>
        <p:nvSpPr>
          <p:cNvPr id="39" name="Text 36"/>
          <p:cNvSpPr/>
          <p:nvPr/>
        </p:nvSpPr>
        <p:spPr>
          <a:xfrm>
            <a:off x="2468880" y="6190488"/>
            <a:ext cx="921989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1 • Reference Architecture &amp; Cloud Architecture Center Doc PR  •  Side-by-Side Architectural Options, Selection Rules &amp; Google Cloud Stack</a:t>
            </a:r>
            <a:endParaRPr lang="en-US" sz="880" dirty="0"/>
          </a:p>
        </p:txBody>
      </p:sp>
      <p:sp>
        <p:nvSpPr>
          <p:cNvPr id="40" name="Text 37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Multi-Tenant Agentic AI on Google Cloud • Vertex AI Agent Engine, Gemini Enterprise &amp; ADK 2.0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WS1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WS1 • 3-Zone Multi-Tenant Reference Taxonomy &amp; 5-Hop Control Plane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ARCHITECTURE-ZONE-TOPOLOGY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384048" y="585216"/>
            <a:ext cx="114117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End-to-end 3-zone security &amp; runtime boundary: Zone 1 (Tenant Ingress) → Zone 2 (5-Hop Control Plane) → Zone 3 (Isolated Data Planes)</a:t>
            </a:r>
            <a:endParaRPr lang="en-US" sz="1020" dirty="0"/>
          </a:p>
        </p:txBody>
      </p:sp>
      <p:sp>
        <p:nvSpPr>
          <p:cNvPr id="18" name="Shape 16"/>
          <p:cNvSpPr/>
          <p:nvPr/>
        </p:nvSpPr>
        <p:spPr>
          <a:xfrm>
            <a:off x="384048" y="896112"/>
            <a:ext cx="3255264" cy="5266944"/>
          </a:xfrm>
          <a:prstGeom prst="roundRect">
            <a:avLst>
              <a:gd name="adj" fmla="val 1124"/>
            </a:avLst>
          </a:prstGeom>
          <a:solidFill>
            <a:srgbClr val="F8F9FA"/>
          </a:solidFill>
          <a:ln w="22225">
            <a:solidFill>
              <a:srgbClr val="0F294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75488" y="1005840"/>
            <a:ext cx="3072384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2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TENANT IDENTITY &amp; EDGE INGRESS</a:t>
            </a:r>
            <a:endParaRPr lang="en-US" sz="1120" dirty="0"/>
          </a:p>
          <a:p>
            <a:pPr algn="ctr" indent="0" marL="0">
              <a:buNone/>
            </a:pPr>
            <a:r>
              <a:rPr lang="en-US" sz="112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(Competing Enterprise Callers)</a:t>
            </a:r>
            <a:endParaRPr lang="en-US" sz="1120" dirty="0"/>
          </a:p>
        </p:txBody>
      </p:sp>
      <p:sp>
        <p:nvSpPr>
          <p:cNvPr id="20" name="Shape 18"/>
          <p:cNvSpPr/>
          <p:nvPr/>
        </p:nvSpPr>
        <p:spPr>
          <a:xfrm>
            <a:off x="932688" y="1700784"/>
            <a:ext cx="1078992" cy="621792"/>
          </a:xfrm>
          <a:prstGeom prst="roundRect">
            <a:avLst>
              <a:gd name="adj" fmla="val 8824"/>
            </a:avLst>
          </a:prstGeom>
          <a:solidFill>
            <a:srgbClr val="0F2942"/>
          </a:solidFill>
          <a:ln w="12700">
            <a:solidFill>
              <a:srgbClr val="0F2942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05840" y="1792224"/>
            <a:ext cx="932688" cy="438912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/>
        </p:spPr>
      </p:sp>
      <p:sp>
        <p:nvSpPr>
          <p:cNvPr id="22" name="Text 20"/>
          <p:cNvSpPr/>
          <p:nvPr/>
        </p:nvSpPr>
        <p:spPr>
          <a:xfrm>
            <a:off x="1005840" y="1792224"/>
            <a:ext cx="93268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D7A7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FinVault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21792" y="2359152"/>
            <a:ext cx="1700784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Identity</a:t>
            </a:r>
            <a:endParaRPr lang="en-US" sz="920" dirty="0"/>
          </a:p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(Enterprise Tier)</a:t>
            </a:r>
            <a:endParaRPr lang="en-US" sz="920" dirty="0"/>
          </a:p>
        </p:txBody>
      </p:sp>
      <p:sp>
        <p:nvSpPr>
          <p:cNvPr id="24" name="Shape 22"/>
          <p:cNvSpPr/>
          <p:nvPr/>
        </p:nvSpPr>
        <p:spPr>
          <a:xfrm>
            <a:off x="2048256" y="2011680"/>
            <a:ext cx="804672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32688" y="3017520"/>
            <a:ext cx="1078992" cy="621792"/>
          </a:xfrm>
          <a:prstGeom prst="roundRect">
            <a:avLst>
              <a:gd name="adj" fmla="val 8824"/>
            </a:avLst>
          </a:prstGeom>
          <a:solidFill>
            <a:srgbClr val="475569"/>
          </a:solidFill>
          <a:ln w="12700">
            <a:solidFill>
              <a:srgbClr val="0F2942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005840" y="3108960"/>
            <a:ext cx="932688" cy="438912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/>
        </p:spPr>
      </p:sp>
      <p:sp>
        <p:nvSpPr>
          <p:cNvPr id="27" name="Text 25"/>
          <p:cNvSpPr/>
          <p:nvPr/>
        </p:nvSpPr>
        <p:spPr>
          <a:xfrm>
            <a:off x="1005840" y="3108960"/>
            <a:ext cx="93268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Retail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621792" y="3675888"/>
            <a:ext cx="1700784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Microsoft Entra ID</a:t>
            </a:r>
            <a:endParaRPr lang="en-US" sz="920" dirty="0"/>
          </a:p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(Standard Tier)</a:t>
            </a:r>
            <a:endParaRPr lang="en-US" sz="920" dirty="0"/>
          </a:p>
        </p:txBody>
      </p:sp>
      <p:sp>
        <p:nvSpPr>
          <p:cNvPr id="29" name="Shape 27"/>
          <p:cNvSpPr/>
          <p:nvPr/>
        </p:nvSpPr>
        <p:spPr>
          <a:xfrm>
            <a:off x="2048256" y="3328416"/>
            <a:ext cx="804672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932688" y="4334256"/>
            <a:ext cx="1078992" cy="621792"/>
          </a:xfrm>
          <a:prstGeom prst="roundRect">
            <a:avLst>
              <a:gd name="adj" fmla="val 8824"/>
            </a:avLst>
          </a:prstGeom>
          <a:solidFill>
            <a:srgbClr val="475569"/>
          </a:solidFill>
          <a:ln w="12700">
            <a:solidFill>
              <a:srgbClr val="0F2942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005840" y="4425696"/>
            <a:ext cx="932688" cy="438912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/>
        </p:spPr>
      </p:sp>
      <p:sp>
        <p:nvSpPr>
          <p:cNvPr id="32" name="Text 30"/>
          <p:cNvSpPr/>
          <p:nvPr/>
        </p:nvSpPr>
        <p:spPr>
          <a:xfrm>
            <a:off x="1005840" y="4425696"/>
            <a:ext cx="93268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Partner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621792" y="4992624"/>
            <a:ext cx="1700784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Identity SAML</a:t>
            </a:r>
            <a:endParaRPr lang="en-US" sz="920" dirty="0"/>
          </a:p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(Federated Caller)</a:t>
            </a:r>
            <a:endParaRPr lang="en-US" sz="920" dirty="0"/>
          </a:p>
        </p:txBody>
      </p:sp>
      <p:sp>
        <p:nvSpPr>
          <p:cNvPr id="34" name="Shape 32"/>
          <p:cNvSpPr/>
          <p:nvPr/>
        </p:nvSpPr>
        <p:spPr>
          <a:xfrm>
            <a:off x="2048256" y="4645152"/>
            <a:ext cx="804672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2852928" y="2011680"/>
            <a:ext cx="0" cy="2633472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852928" y="3328416"/>
            <a:ext cx="1572768" cy="0"/>
          </a:xfrm>
          <a:prstGeom prst="line">
            <a:avLst/>
          </a:prstGeom>
          <a:noFill/>
          <a:ln w="19050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37" name="Text 35"/>
          <p:cNvSpPr/>
          <p:nvPr/>
        </p:nvSpPr>
        <p:spPr>
          <a:xfrm>
            <a:off x="3648456" y="2743200"/>
            <a:ext cx="804672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OIDC JWT +</a:t>
            </a:r>
            <a:endParaRPr lang="en-US" sz="820" dirty="0"/>
          </a:p>
          <a:p>
            <a:pPr algn="ctr" indent="0" marL="0">
              <a:buNone/>
            </a:pPr>
            <a:r>
              <a:rPr lang="en-US" sz="82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DPoP Proof</a:t>
            </a:r>
            <a:endParaRPr lang="en-US" sz="820" dirty="0"/>
          </a:p>
        </p:txBody>
      </p:sp>
      <p:sp>
        <p:nvSpPr>
          <p:cNvPr id="38" name="Text 36"/>
          <p:cNvSpPr/>
          <p:nvPr/>
        </p:nvSpPr>
        <p:spPr>
          <a:xfrm>
            <a:off x="3648456" y="3401568"/>
            <a:ext cx="804672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Cloud Armor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+ IAP Edge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4462272" y="896112"/>
            <a:ext cx="2962656" cy="5266944"/>
          </a:xfrm>
          <a:prstGeom prst="roundRect">
            <a:avLst>
              <a:gd name="adj" fmla="val 1235"/>
            </a:avLst>
          </a:prstGeom>
          <a:solidFill>
            <a:srgbClr val="F8F9FA"/>
          </a:solidFill>
          <a:ln w="22225">
            <a:solidFill>
              <a:srgbClr val="0D7A75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535424" y="1005840"/>
            <a:ext cx="281635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5-HOP ADK 2.0 CONTROL PLANE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(Shared 80% Core Pipeline)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4608576" y="1536192"/>
            <a:ext cx="2670048" cy="4462272"/>
          </a:xfrm>
          <a:prstGeom prst="roundRect">
            <a:avLst>
              <a:gd name="adj" fmla="val 1712"/>
            </a:avLst>
          </a:prstGeom>
          <a:solidFill>
            <a:srgbClr val="EBEEF2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4718304" y="1645920"/>
            <a:ext cx="310896" cy="256032"/>
          </a:xfrm>
          <a:prstGeom prst="roundRect">
            <a:avLst>
              <a:gd name="adj" fmla="val 14286"/>
            </a:avLst>
          </a:prstGeom>
          <a:solidFill>
            <a:srgbClr val="4285F4"/>
          </a:solidFill>
          <a:ln/>
        </p:spPr>
      </p:sp>
      <p:sp>
        <p:nvSpPr>
          <p:cNvPr id="43" name="Text 41"/>
          <p:cNvSpPr/>
          <p:nvPr/>
        </p:nvSpPr>
        <p:spPr>
          <a:xfrm>
            <a:off x="4718304" y="1645920"/>
            <a:ext cx="31089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ADK</a:t>
            </a:r>
            <a:endParaRPr lang="en-US" sz="740" dirty="0"/>
          </a:p>
        </p:txBody>
      </p:sp>
      <p:sp>
        <p:nvSpPr>
          <p:cNvPr id="44" name="Text 42"/>
          <p:cNvSpPr/>
          <p:nvPr/>
        </p:nvSpPr>
        <p:spPr>
          <a:xfrm>
            <a:off x="5084064" y="1627632"/>
            <a:ext cx="213969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4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Vertex AI Agent Engine &amp; Cloud Run</a:t>
            </a:r>
            <a:endParaRPr lang="en-US" sz="940" dirty="0"/>
          </a:p>
        </p:txBody>
      </p:sp>
      <p:sp>
        <p:nvSpPr>
          <p:cNvPr id="45" name="Shape 43"/>
          <p:cNvSpPr/>
          <p:nvPr/>
        </p:nvSpPr>
        <p:spPr>
          <a:xfrm>
            <a:off x="4974336" y="2029968"/>
            <a:ext cx="1938528" cy="100584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5614416" y="2121408"/>
            <a:ext cx="658368" cy="310896"/>
          </a:xfrm>
          <a:prstGeom prst="roundRect">
            <a:avLst>
              <a:gd name="adj" fmla="val 14706"/>
            </a:avLst>
          </a:prstGeom>
          <a:solidFill>
            <a:srgbClr val="E8F0FE"/>
          </a:solidFill>
          <a:ln w="10160">
            <a:solidFill>
              <a:srgbClr val="4285F4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614416" y="2121408"/>
            <a:ext cx="65836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STS</a:t>
            </a:r>
            <a:endParaRPr lang="en-US" sz="880" dirty="0"/>
          </a:p>
        </p:txBody>
      </p:sp>
      <p:sp>
        <p:nvSpPr>
          <p:cNvPr id="48" name="Text 46"/>
          <p:cNvSpPr/>
          <p:nvPr/>
        </p:nvSpPr>
        <p:spPr>
          <a:xfrm>
            <a:off x="5029200" y="2468880"/>
            <a:ext cx="182880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 1: IAM STS OBO</a:t>
            </a:r>
            <a:endParaRPr lang="en-US" sz="920" dirty="0"/>
          </a:p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&amp; RFC 9449 DPoP</a:t>
            </a:r>
            <a:endParaRPr lang="en-US" sz="920" dirty="0"/>
          </a:p>
        </p:txBody>
      </p:sp>
      <p:sp>
        <p:nvSpPr>
          <p:cNvPr id="49" name="Shape 47"/>
          <p:cNvSpPr/>
          <p:nvPr/>
        </p:nvSpPr>
        <p:spPr>
          <a:xfrm>
            <a:off x="5943600" y="3035808"/>
            <a:ext cx="0" cy="256032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50" name="Shape 48"/>
          <p:cNvSpPr/>
          <p:nvPr/>
        </p:nvSpPr>
        <p:spPr>
          <a:xfrm>
            <a:off x="4974336" y="3291840"/>
            <a:ext cx="1938528" cy="100584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5614416" y="3383280"/>
            <a:ext cx="658368" cy="310896"/>
          </a:xfrm>
          <a:prstGeom prst="roundRect">
            <a:avLst>
              <a:gd name="adj" fmla="val 14706"/>
            </a:avLst>
          </a:prstGeom>
          <a:solidFill>
            <a:srgbClr val="FCE8E6"/>
          </a:solidFill>
          <a:ln w="10160">
            <a:solidFill>
              <a:srgbClr val="EA4335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5614416" y="3383280"/>
            <a:ext cx="65836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ARD</a:t>
            </a:r>
            <a:endParaRPr lang="en-US" sz="880" dirty="0"/>
          </a:p>
        </p:txBody>
      </p:sp>
      <p:sp>
        <p:nvSpPr>
          <p:cNvPr id="53" name="Text 51"/>
          <p:cNvSpPr/>
          <p:nvPr/>
        </p:nvSpPr>
        <p:spPr>
          <a:xfrm>
            <a:off x="5029200" y="3730752"/>
            <a:ext cx="182880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Hops 2–3: ARD Filter</a:t>
            </a:r>
            <a:endParaRPr lang="en-US" sz="920" dirty="0"/>
          </a:p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&amp; L1–L5 Memory Scope</a:t>
            </a:r>
            <a:endParaRPr lang="en-US" sz="920" dirty="0"/>
          </a:p>
        </p:txBody>
      </p:sp>
      <p:sp>
        <p:nvSpPr>
          <p:cNvPr id="54" name="Shape 52"/>
          <p:cNvSpPr/>
          <p:nvPr/>
        </p:nvSpPr>
        <p:spPr>
          <a:xfrm>
            <a:off x="5943600" y="4297680"/>
            <a:ext cx="0" cy="256032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55" name="Shape 53"/>
          <p:cNvSpPr/>
          <p:nvPr/>
        </p:nvSpPr>
        <p:spPr>
          <a:xfrm>
            <a:off x="4974336" y="4553712"/>
            <a:ext cx="1938528" cy="100584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5614416" y="4645152"/>
            <a:ext cx="658368" cy="310896"/>
          </a:xfrm>
          <a:prstGeom prst="roundRect">
            <a:avLst>
              <a:gd name="adj" fmla="val 14706"/>
            </a:avLst>
          </a:prstGeom>
          <a:solidFill>
            <a:srgbClr val="FEF7E0"/>
          </a:solidFill>
          <a:ln w="10160">
            <a:solidFill>
              <a:srgbClr val="FBBC04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5614416" y="4645152"/>
            <a:ext cx="65836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DLP</a:t>
            </a:r>
            <a:endParaRPr lang="en-US" sz="880" dirty="0"/>
          </a:p>
        </p:txBody>
      </p:sp>
      <p:sp>
        <p:nvSpPr>
          <p:cNvPr id="58" name="Text 56"/>
          <p:cNvSpPr/>
          <p:nvPr/>
        </p:nvSpPr>
        <p:spPr>
          <a:xfrm>
            <a:off x="5029200" y="4992624"/>
            <a:ext cx="182880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 4: Model Armor,</a:t>
            </a:r>
            <a:endParaRPr lang="en-US" sz="920" dirty="0"/>
          </a:p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DLP &amp; 90% Cache</a:t>
            </a:r>
            <a:endParaRPr lang="en-US" sz="920" dirty="0"/>
          </a:p>
        </p:txBody>
      </p:sp>
      <p:sp>
        <p:nvSpPr>
          <p:cNvPr id="59" name="Shape 57"/>
          <p:cNvSpPr/>
          <p:nvPr/>
        </p:nvSpPr>
        <p:spPr>
          <a:xfrm>
            <a:off x="4791456" y="2523744"/>
            <a:ext cx="0" cy="2542032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4791456" y="2523744"/>
            <a:ext cx="182880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61" name="Shape 59"/>
          <p:cNvSpPr/>
          <p:nvPr/>
        </p:nvSpPr>
        <p:spPr>
          <a:xfrm>
            <a:off x="4791456" y="3785616"/>
            <a:ext cx="182880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62" name="Shape 60"/>
          <p:cNvSpPr/>
          <p:nvPr/>
        </p:nvSpPr>
        <p:spPr>
          <a:xfrm>
            <a:off x="4791456" y="5065776"/>
            <a:ext cx="182880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63" name="Shape 61"/>
          <p:cNvSpPr/>
          <p:nvPr/>
        </p:nvSpPr>
        <p:spPr>
          <a:xfrm>
            <a:off x="6912864" y="2523744"/>
            <a:ext cx="201168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6912864" y="5065776"/>
            <a:ext cx="201168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7114032" y="2523744"/>
            <a:ext cx="0" cy="2542032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7114032" y="3785616"/>
            <a:ext cx="1243584" cy="0"/>
          </a:xfrm>
          <a:prstGeom prst="line">
            <a:avLst/>
          </a:prstGeom>
          <a:noFill/>
          <a:ln w="19050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67" name="Text 65"/>
          <p:cNvSpPr/>
          <p:nvPr/>
        </p:nvSpPr>
        <p:spPr>
          <a:xfrm>
            <a:off x="7443216" y="3072384"/>
            <a:ext cx="932688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Sealed TenantContext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Envelope</a:t>
            </a:r>
            <a:endParaRPr lang="en-US" sz="800" dirty="0"/>
          </a:p>
        </p:txBody>
      </p:sp>
      <p:sp>
        <p:nvSpPr>
          <p:cNvPr id="68" name="Text 66"/>
          <p:cNvSpPr/>
          <p:nvPr/>
        </p:nvSpPr>
        <p:spPr>
          <a:xfrm>
            <a:off x="7443216" y="3858768"/>
            <a:ext cx="932688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Tier-Aware Routing</a:t>
            </a:r>
            <a:endParaRPr lang="en-US" sz="780" dirty="0"/>
          </a:p>
          <a:p>
            <a:pPr algn="ctr"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(Pool / Silo / PSC)</a:t>
            </a:r>
            <a:endParaRPr lang="en-US" sz="780" dirty="0"/>
          </a:p>
        </p:txBody>
      </p:sp>
      <p:sp>
        <p:nvSpPr>
          <p:cNvPr id="69" name="Shape 67"/>
          <p:cNvSpPr/>
          <p:nvPr/>
        </p:nvSpPr>
        <p:spPr>
          <a:xfrm>
            <a:off x="8394192" y="896112"/>
            <a:ext cx="3419856" cy="5266944"/>
          </a:xfrm>
          <a:prstGeom prst="roundRect">
            <a:avLst>
              <a:gd name="adj" fmla="val 1070"/>
            </a:avLst>
          </a:prstGeom>
          <a:solidFill>
            <a:srgbClr val="F8F9FA"/>
          </a:solidFill>
          <a:ln w="22225">
            <a:solidFill>
              <a:srgbClr val="0D7A75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8467344" y="1005840"/>
            <a:ext cx="327355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 ISOLATION DATA PLANES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(Patterns A, B &amp; C Execution)</a:t>
            </a:r>
            <a:endParaRPr lang="en-US" sz="1100" dirty="0"/>
          </a:p>
        </p:txBody>
      </p:sp>
      <p:sp>
        <p:nvSpPr>
          <p:cNvPr id="71" name="Shape 69"/>
          <p:cNvSpPr/>
          <p:nvPr/>
        </p:nvSpPr>
        <p:spPr>
          <a:xfrm>
            <a:off x="8558784" y="1536192"/>
            <a:ext cx="3090672" cy="4462272"/>
          </a:xfrm>
          <a:prstGeom prst="roundRect">
            <a:avLst>
              <a:gd name="adj" fmla="val 1479"/>
            </a:avLst>
          </a:prstGeom>
          <a:solidFill>
            <a:srgbClr val="0B2545"/>
          </a:solidFill>
          <a:ln w="12700">
            <a:solidFill>
              <a:srgbClr val="0F2942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8723376" y="1719072"/>
            <a:ext cx="2761488" cy="1078992"/>
          </a:xfrm>
          <a:prstGeom prst="roundRect">
            <a:avLst>
              <a:gd name="adj" fmla="val 5085"/>
            </a:avLst>
          </a:prstGeom>
          <a:solidFill>
            <a:srgbClr val="FFFFFF"/>
          </a:solidFill>
          <a:ln/>
        </p:spPr>
      </p:sp>
      <p:sp>
        <p:nvSpPr>
          <p:cNvPr id="73" name="Shape 71"/>
          <p:cNvSpPr/>
          <p:nvPr/>
        </p:nvSpPr>
        <p:spPr>
          <a:xfrm>
            <a:off x="9692640" y="1810512"/>
            <a:ext cx="822960" cy="365760"/>
          </a:xfrm>
          <a:prstGeom prst="roundRect">
            <a:avLst>
              <a:gd name="adj" fmla="val 12500"/>
            </a:avLst>
          </a:prstGeom>
          <a:solidFill>
            <a:srgbClr val="0D7A75"/>
          </a:solidFill>
          <a:ln/>
        </p:spPr>
      </p:sp>
      <p:sp>
        <p:nvSpPr>
          <p:cNvPr id="74" name="Text 72"/>
          <p:cNvSpPr/>
          <p:nvPr/>
        </p:nvSpPr>
        <p:spPr>
          <a:xfrm>
            <a:off x="9692640" y="1810512"/>
            <a:ext cx="822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PAT A</a:t>
            </a:r>
            <a:endParaRPr lang="en-US" sz="980" dirty="0"/>
          </a:p>
        </p:txBody>
      </p:sp>
      <p:sp>
        <p:nvSpPr>
          <p:cNvPr id="75" name="Text 73"/>
          <p:cNvSpPr/>
          <p:nvPr/>
        </p:nvSpPr>
        <p:spPr>
          <a:xfrm>
            <a:off x="8796528" y="2249424"/>
            <a:ext cx="2615184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Pattern A: Shared Pool &amp; AlloyDB RLS ($42/mo)</a:t>
            </a:r>
            <a:endParaRPr lang="en-US" sz="940" dirty="0"/>
          </a:p>
        </p:txBody>
      </p:sp>
      <p:sp>
        <p:nvSpPr>
          <p:cNvPr id="76" name="Shape 74"/>
          <p:cNvSpPr/>
          <p:nvPr/>
        </p:nvSpPr>
        <p:spPr>
          <a:xfrm>
            <a:off x="10104120" y="2798064"/>
            <a:ext cx="0" cy="256032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  <a:tailEnd type="triangle" w="sm" len="sm"/>
          </a:ln>
        </p:spPr>
      </p:sp>
      <p:sp>
        <p:nvSpPr>
          <p:cNvPr id="77" name="Shape 75"/>
          <p:cNvSpPr/>
          <p:nvPr/>
        </p:nvSpPr>
        <p:spPr>
          <a:xfrm>
            <a:off x="8723376" y="3054096"/>
            <a:ext cx="2761488" cy="11887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/>
        </p:spPr>
      </p:sp>
      <p:sp>
        <p:nvSpPr>
          <p:cNvPr id="78" name="Shape 76"/>
          <p:cNvSpPr/>
          <p:nvPr/>
        </p:nvSpPr>
        <p:spPr>
          <a:xfrm>
            <a:off x="8869680" y="3163824"/>
            <a:ext cx="1152144" cy="365760"/>
          </a:xfrm>
          <a:prstGeom prst="roundRect">
            <a:avLst>
              <a:gd name="adj" fmla="val 12500"/>
            </a:avLst>
          </a:prstGeom>
          <a:solidFill>
            <a:srgbClr val="E8F0FE"/>
          </a:solidFill>
          <a:ln w="10160">
            <a:solidFill>
              <a:srgbClr val="4285F4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8869680" y="3163824"/>
            <a:ext cx="115214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PAT B • Silo</a:t>
            </a:r>
            <a:endParaRPr lang="en-US" sz="820" dirty="0"/>
          </a:p>
        </p:txBody>
      </p:sp>
      <p:sp>
        <p:nvSpPr>
          <p:cNvPr id="80" name="Shape 78"/>
          <p:cNvSpPr/>
          <p:nvPr/>
        </p:nvSpPr>
        <p:spPr>
          <a:xfrm>
            <a:off x="10186416" y="3163824"/>
            <a:ext cx="1152144" cy="365760"/>
          </a:xfrm>
          <a:prstGeom prst="roundRect">
            <a:avLst>
              <a:gd name="adj" fmla="val 12500"/>
            </a:avLst>
          </a:prstGeom>
          <a:solidFill>
            <a:srgbClr val="E6F4EA"/>
          </a:solidFill>
          <a:ln w="10160">
            <a:solidFill>
              <a:srgbClr val="34A853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10186416" y="3163824"/>
            <a:ext cx="115214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PAT C • PSC</a:t>
            </a:r>
            <a:endParaRPr lang="en-US" sz="820" dirty="0"/>
          </a:p>
        </p:txBody>
      </p:sp>
      <p:sp>
        <p:nvSpPr>
          <p:cNvPr id="82" name="Text 80"/>
          <p:cNvSpPr/>
          <p:nvPr/>
        </p:nvSpPr>
        <p:spPr>
          <a:xfrm>
            <a:off x="8796528" y="3621024"/>
            <a:ext cx="261518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Dedicated Sovereign VPC-SC &amp; Hybrid PSC Spokes</a:t>
            </a:r>
            <a:endParaRPr lang="en-US" sz="940" dirty="0"/>
          </a:p>
        </p:txBody>
      </p:sp>
      <p:sp>
        <p:nvSpPr>
          <p:cNvPr id="83" name="Shape 81"/>
          <p:cNvSpPr/>
          <p:nvPr/>
        </p:nvSpPr>
        <p:spPr>
          <a:xfrm>
            <a:off x="9464040" y="4242816"/>
            <a:ext cx="0" cy="292608"/>
          </a:xfrm>
          <a:prstGeom prst="line">
            <a:avLst/>
          </a:prstGeom>
          <a:noFill/>
          <a:ln w="17145">
            <a:solidFill>
              <a:srgbClr val="FFFFFF"/>
            </a:solidFill>
            <a:prstDash val="solid"/>
            <a:headEnd type="triangle" w="sm" len="sm"/>
            <a:tailEnd type="triangle" w="sm" len="sm"/>
          </a:ln>
        </p:spPr>
      </p:sp>
      <p:sp>
        <p:nvSpPr>
          <p:cNvPr id="84" name="Shape 82"/>
          <p:cNvSpPr/>
          <p:nvPr/>
        </p:nvSpPr>
        <p:spPr>
          <a:xfrm>
            <a:off x="10104120" y="4242816"/>
            <a:ext cx="0" cy="292608"/>
          </a:xfrm>
          <a:prstGeom prst="line">
            <a:avLst/>
          </a:prstGeom>
          <a:noFill/>
          <a:ln w="17145">
            <a:solidFill>
              <a:srgbClr val="FFFFFF"/>
            </a:solidFill>
            <a:prstDash val="solid"/>
            <a:headEnd type="triangle" w="sm" len="sm"/>
            <a:tailEnd type="triangle" w="sm" len="sm"/>
          </a:ln>
        </p:spPr>
      </p:sp>
      <p:sp>
        <p:nvSpPr>
          <p:cNvPr id="85" name="Shape 83"/>
          <p:cNvSpPr/>
          <p:nvPr/>
        </p:nvSpPr>
        <p:spPr>
          <a:xfrm>
            <a:off x="10744200" y="4242816"/>
            <a:ext cx="0" cy="292608"/>
          </a:xfrm>
          <a:prstGeom prst="line">
            <a:avLst/>
          </a:prstGeom>
          <a:noFill/>
          <a:ln w="17145">
            <a:solidFill>
              <a:srgbClr val="FFFFFF"/>
            </a:solidFill>
            <a:prstDash val="solid"/>
            <a:headEnd type="triangle" w="sm" len="sm"/>
            <a:tailEnd type="triangle" w="sm" len="sm"/>
          </a:ln>
        </p:spPr>
      </p:sp>
      <p:sp>
        <p:nvSpPr>
          <p:cNvPr id="86" name="Shape 84"/>
          <p:cNvSpPr/>
          <p:nvPr/>
        </p:nvSpPr>
        <p:spPr>
          <a:xfrm>
            <a:off x="8723376" y="4535424"/>
            <a:ext cx="2761488" cy="1243584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/>
        </p:spPr>
      </p:sp>
      <p:sp>
        <p:nvSpPr>
          <p:cNvPr id="87" name="Shape 85"/>
          <p:cNvSpPr/>
          <p:nvPr/>
        </p:nvSpPr>
        <p:spPr>
          <a:xfrm>
            <a:off x="9692640" y="4645152"/>
            <a:ext cx="822960" cy="365760"/>
          </a:xfrm>
          <a:prstGeom prst="roundRect">
            <a:avLst>
              <a:gd name="adj" fmla="val 12500"/>
            </a:avLst>
          </a:prstGeom>
          <a:solidFill>
            <a:srgbClr val="475569"/>
          </a:solidFill>
          <a:ln/>
        </p:spPr>
      </p:sp>
      <p:sp>
        <p:nvSpPr>
          <p:cNvPr id="88" name="Text 86"/>
          <p:cNvSpPr/>
          <p:nvPr/>
        </p:nvSpPr>
        <p:spPr>
          <a:xfrm>
            <a:off x="9692640" y="4645152"/>
            <a:ext cx="822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OTel</a:t>
            </a:r>
            <a:endParaRPr lang="en-US" sz="920" dirty="0"/>
          </a:p>
        </p:txBody>
      </p:sp>
      <p:sp>
        <p:nvSpPr>
          <p:cNvPr id="89" name="Text 87"/>
          <p:cNvSpPr/>
          <p:nvPr/>
        </p:nvSpPr>
        <p:spPr>
          <a:xfrm>
            <a:off x="8796528" y="5065776"/>
            <a:ext cx="2615184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 5: 2LO/3LO MCP Hub &amp; BigQuery FinOps Ledger</a:t>
            </a:r>
            <a:endParaRPr lang="en-US" sz="940" dirty="0"/>
          </a:p>
        </p:txBody>
      </p:sp>
      <p:sp>
        <p:nvSpPr>
          <p:cNvPr id="90" name="Text 88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1 Reference Taxonomy  •  Zone 1 (Tenant Ingress) → Zone 2 (5-Hop Control Plane) → Zone 3 (Patterns A, B &amp; C)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WS1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Figure 1 — Vertex AI Agent Engine Multi-Tenant Taxonomy: Pooled (A), Sovereign Silos (B) &amp; Hybrid (C) (100% Native Editable Shapes)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56 SHAPES • 23 CONNECTORS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256032" y="585216"/>
            <a:ext cx="6967728" cy="5961888"/>
          </a:xfrm>
          <a:prstGeom prst="roundRect">
            <a:avLst>
              <a:gd name="adj" fmla="val 122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333488" y="585216"/>
            <a:ext cx="4602175" cy="5961888"/>
          </a:xfrm>
          <a:prstGeom prst="roundRect">
            <a:avLst>
              <a:gd name="adj" fmla="val 1590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443216" y="676656"/>
            <a:ext cx="4382719" cy="786384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443216" y="676656"/>
            <a:ext cx="73152" cy="78638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1" name="Text 19"/>
          <p:cNvSpPr/>
          <p:nvPr/>
        </p:nvSpPr>
        <p:spPr>
          <a:xfrm>
            <a:off x="7571232" y="713232"/>
            <a:ext cx="4199839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FIGURE 1 • ARCHITECTURE CENTER GUIDE (#78)</a:t>
            </a:r>
            <a:endParaRPr lang="en-US" sz="740" dirty="0"/>
          </a:p>
        </p:txBody>
      </p:sp>
      <p:sp>
        <p:nvSpPr>
          <p:cNvPr id="22" name="Text 20"/>
          <p:cNvSpPr/>
          <p:nvPr/>
        </p:nvSpPr>
        <p:spPr>
          <a:xfrm>
            <a:off x="7571232" y="886968"/>
            <a:ext cx="4199839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1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How do B2B SaaS platforms and large enterprises serve thousands of tenants across Pooled (Pattern A), Sovereign Silo (Pattern B), and Dynamic Hybrid (Pattern C) isolation models using one 80% reusable agentic codebase?</a:t>
            </a:r>
            <a:endParaRPr lang="en-US" sz="810" dirty="0"/>
          </a:p>
        </p:txBody>
      </p:sp>
      <p:sp>
        <p:nvSpPr>
          <p:cNvPr id="23" name="Text 21"/>
          <p:cNvSpPr/>
          <p:nvPr/>
        </p:nvSpPr>
        <p:spPr>
          <a:xfrm>
            <a:off x="7461504" y="1517904"/>
            <a:ext cx="4346143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4-ZONE HUB-AND-SPOKE BOUNDARIES</a:t>
            </a:r>
            <a:endParaRPr lang="en-US" sz="720" dirty="0"/>
          </a:p>
        </p:txBody>
      </p:sp>
      <p:sp>
        <p:nvSpPr>
          <p:cNvPr id="24" name="Shape 22"/>
          <p:cNvSpPr/>
          <p:nvPr/>
        </p:nvSpPr>
        <p:spPr>
          <a:xfrm>
            <a:off x="7443216" y="1700784"/>
            <a:ext cx="4382719" cy="512064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443216" y="1700784"/>
            <a:ext cx="64008" cy="51206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6" name="Shape 24"/>
          <p:cNvSpPr/>
          <p:nvPr/>
        </p:nvSpPr>
        <p:spPr>
          <a:xfrm>
            <a:off x="7552944" y="1746504"/>
            <a:ext cx="804672" cy="155448"/>
          </a:xfrm>
          <a:prstGeom prst="roundRect">
            <a:avLst>
              <a:gd name="adj" fmla="val 23529"/>
            </a:avLst>
          </a:prstGeom>
          <a:solidFill>
            <a:srgbClr val="E8F0FE"/>
          </a:solidFill>
          <a:ln/>
        </p:spPr>
      </p:sp>
      <p:sp>
        <p:nvSpPr>
          <p:cNvPr id="27" name="Text 25"/>
          <p:cNvSpPr/>
          <p:nvPr/>
        </p:nvSpPr>
        <p:spPr>
          <a:xfrm>
            <a:off x="7552944" y="1746504"/>
            <a:ext cx="80467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BLUE ZONE</a:t>
            </a:r>
            <a:endParaRPr lang="en-US" sz="600" dirty="0"/>
          </a:p>
        </p:txBody>
      </p:sp>
      <p:sp>
        <p:nvSpPr>
          <p:cNvPr id="28" name="Text 26"/>
          <p:cNvSpPr/>
          <p:nvPr/>
        </p:nvSpPr>
        <p:spPr>
          <a:xfrm>
            <a:off x="8412480" y="1728216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1. Routing Hub (Ingress &amp; Identity PEP)</a:t>
            </a:r>
            <a:endParaRPr lang="en-US" sz="740" dirty="0"/>
          </a:p>
        </p:txBody>
      </p:sp>
      <p:sp>
        <p:nvSpPr>
          <p:cNvPr id="29" name="Text 27"/>
          <p:cNvSpPr/>
          <p:nvPr/>
        </p:nvSpPr>
        <p:spPr>
          <a:xfrm>
            <a:off x="7552944" y="1920240"/>
            <a:ext cx="4218127" cy="265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Terminates TLS at External ALB, enforces Cloud Armor WAF &amp; Model Armor screening, authenticates via IAP, and resolves tenant tier.</a:t>
            </a:r>
            <a:endParaRPr lang="en-US" sz="670" dirty="0"/>
          </a:p>
        </p:txBody>
      </p:sp>
      <p:sp>
        <p:nvSpPr>
          <p:cNvPr id="30" name="Shape 28"/>
          <p:cNvSpPr/>
          <p:nvPr/>
        </p:nvSpPr>
        <p:spPr>
          <a:xfrm>
            <a:off x="7443216" y="2267712"/>
            <a:ext cx="4382719" cy="512064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443216" y="2267712"/>
            <a:ext cx="64008" cy="512064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32" name="Shape 30"/>
          <p:cNvSpPr/>
          <p:nvPr/>
        </p:nvSpPr>
        <p:spPr>
          <a:xfrm>
            <a:off x="7552944" y="2313432"/>
            <a:ext cx="804672" cy="155448"/>
          </a:xfrm>
          <a:prstGeom prst="roundRect">
            <a:avLst>
              <a:gd name="adj" fmla="val 23529"/>
            </a:avLst>
          </a:prstGeom>
          <a:solidFill>
            <a:srgbClr val="E6F4EA"/>
          </a:solidFill>
          <a:ln/>
        </p:spPr>
      </p:sp>
      <p:sp>
        <p:nvSpPr>
          <p:cNvPr id="33" name="Text 31"/>
          <p:cNvSpPr/>
          <p:nvPr/>
        </p:nvSpPr>
        <p:spPr>
          <a:xfrm>
            <a:off x="7552944" y="2313432"/>
            <a:ext cx="80467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GREEN ZONE</a:t>
            </a:r>
            <a:endParaRPr lang="en-US" sz="600" dirty="0"/>
          </a:p>
        </p:txBody>
      </p:sp>
      <p:sp>
        <p:nvSpPr>
          <p:cNvPr id="34" name="Text 32"/>
          <p:cNvSpPr/>
          <p:nvPr/>
        </p:nvSpPr>
        <p:spPr>
          <a:xfrm>
            <a:off x="8412480" y="2295144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2. Central Governance &amp; Security Hub</a:t>
            </a:r>
            <a:endParaRPr lang="en-US" sz="740" dirty="0"/>
          </a:p>
        </p:txBody>
      </p:sp>
      <p:sp>
        <p:nvSpPr>
          <p:cNvPr id="35" name="Text 33"/>
          <p:cNvSpPr/>
          <p:nvPr/>
        </p:nvSpPr>
        <p:spPr>
          <a:xfrm>
            <a:off x="7552944" y="2487168"/>
            <a:ext cx="4218127" cy="265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Centralizes Security Command Center posture monitoring, IAM Principal Access Boundaries, Cloud KMS keys, and BigQuery OTel FinOps.</a:t>
            </a:r>
            <a:endParaRPr lang="en-US" sz="670" dirty="0"/>
          </a:p>
        </p:txBody>
      </p:sp>
      <p:sp>
        <p:nvSpPr>
          <p:cNvPr id="36" name="Shape 34"/>
          <p:cNvSpPr/>
          <p:nvPr/>
        </p:nvSpPr>
        <p:spPr>
          <a:xfrm>
            <a:off x="7443216" y="2834640"/>
            <a:ext cx="4382719" cy="512064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7443216" y="2834640"/>
            <a:ext cx="64008" cy="512064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38" name="Shape 36"/>
          <p:cNvSpPr/>
          <p:nvPr/>
        </p:nvSpPr>
        <p:spPr>
          <a:xfrm>
            <a:off x="7552944" y="2880360"/>
            <a:ext cx="804672" cy="155448"/>
          </a:xfrm>
          <a:prstGeom prst="roundRect">
            <a:avLst>
              <a:gd name="adj" fmla="val 23529"/>
            </a:avLst>
          </a:prstGeom>
          <a:solidFill>
            <a:srgbClr val="FEF7E0"/>
          </a:solidFill>
          <a:ln/>
        </p:spPr>
      </p:sp>
      <p:sp>
        <p:nvSpPr>
          <p:cNvPr id="39" name="Text 37"/>
          <p:cNvSpPr/>
          <p:nvPr/>
        </p:nvSpPr>
        <p:spPr>
          <a:xfrm>
            <a:off x="7552944" y="2880360"/>
            <a:ext cx="80467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YELLOW ZONE</a:t>
            </a:r>
            <a:endParaRPr lang="en-US" sz="600" dirty="0"/>
          </a:p>
        </p:txBody>
      </p:sp>
      <p:sp>
        <p:nvSpPr>
          <p:cNvPr id="40" name="Text 38"/>
          <p:cNvSpPr/>
          <p:nvPr/>
        </p:nvSpPr>
        <p:spPr>
          <a:xfrm>
            <a:off x="8412480" y="2862072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3. Pattern A: Pooled Shared Runtime Spoke</a:t>
            </a:r>
            <a:endParaRPr lang="en-US" sz="740" dirty="0"/>
          </a:p>
        </p:txBody>
      </p:sp>
      <p:sp>
        <p:nvSpPr>
          <p:cNvPr id="41" name="Text 39"/>
          <p:cNvSpPr/>
          <p:nvPr/>
        </p:nvSpPr>
        <p:spPr>
          <a:xfrm>
            <a:off x="7552944" y="3054096"/>
            <a:ext cx="4218127" cy="265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Executes high-density multi-tenant workloads on shared Cloud Run / Agent Engine with 90% shared prompt caching and AlloyDB RLS.</a:t>
            </a:r>
            <a:endParaRPr lang="en-US" sz="670" dirty="0"/>
          </a:p>
        </p:txBody>
      </p:sp>
      <p:sp>
        <p:nvSpPr>
          <p:cNvPr id="42" name="Shape 40"/>
          <p:cNvSpPr/>
          <p:nvPr/>
        </p:nvSpPr>
        <p:spPr>
          <a:xfrm>
            <a:off x="7443216" y="3401568"/>
            <a:ext cx="4382719" cy="512064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7443216" y="3401568"/>
            <a:ext cx="64008" cy="512064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44" name="Shape 42"/>
          <p:cNvSpPr/>
          <p:nvPr/>
        </p:nvSpPr>
        <p:spPr>
          <a:xfrm>
            <a:off x="7552944" y="3447288"/>
            <a:ext cx="804672" cy="155448"/>
          </a:xfrm>
          <a:prstGeom prst="roundRect">
            <a:avLst>
              <a:gd name="adj" fmla="val 23529"/>
            </a:avLst>
          </a:prstGeom>
          <a:solidFill>
            <a:srgbClr val="FCE8E6"/>
          </a:solidFill>
          <a:ln/>
        </p:spPr>
      </p:sp>
      <p:sp>
        <p:nvSpPr>
          <p:cNvPr id="45" name="Text 43"/>
          <p:cNvSpPr/>
          <p:nvPr/>
        </p:nvSpPr>
        <p:spPr>
          <a:xfrm>
            <a:off x="7552944" y="3447288"/>
            <a:ext cx="80467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RED ZONE</a:t>
            </a:r>
            <a:endParaRPr lang="en-US" sz="600" dirty="0"/>
          </a:p>
        </p:txBody>
      </p:sp>
      <p:sp>
        <p:nvSpPr>
          <p:cNvPr id="46" name="Text 44"/>
          <p:cNvSpPr/>
          <p:nvPr/>
        </p:nvSpPr>
        <p:spPr>
          <a:xfrm>
            <a:off x="8412480" y="3429000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4. Pattern B Silos &amp; Pattern C PSC Spokes</a:t>
            </a:r>
            <a:endParaRPr lang="en-US" sz="740" dirty="0"/>
          </a:p>
        </p:txBody>
      </p:sp>
      <p:sp>
        <p:nvSpPr>
          <p:cNvPr id="47" name="Text 45"/>
          <p:cNvSpPr/>
          <p:nvPr/>
        </p:nvSpPr>
        <p:spPr>
          <a:xfrm>
            <a:off x="7552944" y="3621024"/>
            <a:ext cx="4218127" cy="265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Isolates regulated tenants inside dedicated VPC-SC projects with Cloud KMS CMEK kill-switches or unidirectional PSC service attachments.</a:t>
            </a:r>
            <a:endParaRPr lang="en-US" sz="670" dirty="0"/>
          </a:p>
        </p:txBody>
      </p:sp>
      <p:sp>
        <p:nvSpPr>
          <p:cNvPr id="48" name="Text 46"/>
          <p:cNvSpPr/>
          <p:nvPr/>
        </p:nvSpPr>
        <p:spPr>
          <a:xfrm>
            <a:off x="7461504" y="4005072"/>
            <a:ext cx="4346143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KEY ARCHITECTURAL WALKTHROUGH POINTS</a:t>
            </a:r>
            <a:endParaRPr lang="en-US" sz="720" dirty="0"/>
          </a:p>
        </p:txBody>
      </p:sp>
      <p:sp>
        <p:nvSpPr>
          <p:cNvPr id="49" name="Shape 47"/>
          <p:cNvSpPr/>
          <p:nvPr/>
        </p:nvSpPr>
        <p:spPr>
          <a:xfrm>
            <a:off x="7443216" y="4187952"/>
            <a:ext cx="4382719" cy="428854"/>
          </a:xfrm>
          <a:prstGeom prst="roundRect">
            <a:avLst>
              <a:gd name="adj" fmla="val 12793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7516368" y="4301338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E8F0FE"/>
          </a:solidFill>
          <a:ln/>
        </p:spPr>
      </p:sp>
      <p:sp>
        <p:nvSpPr>
          <p:cNvPr id="51" name="Text 49"/>
          <p:cNvSpPr/>
          <p:nvPr/>
        </p:nvSpPr>
        <p:spPr>
          <a:xfrm>
            <a:off x="7516368" y="4301338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</a:t>
            </a:r>
            <a:endParaRPr lang="en-US" sz="720" dirty="0"/>
          </a:p>
        </p:txBody>
      </p:sp>
      <p:sp>
        <p:nvSpPr>
          <p:cNvPr id="52" name="Text 50"/>
          <p:cNvSpPr/>
          <p:nvPr/>
        </p:nvSpPr>
        <p:spPr>
          <a:xfrm>
            <a:off x="7790688" y="4215384"/>
            <a:ext cx="3980383" cy="3739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Step 1 &amp; 2 (Zone 1 Routing Hub): Global ALB, Cloud Armor WAF, and IAP authenticate tenant callers, strip spoofed headers, and look up the tenant isolation pattern.</a:t>
            </a:r>
            <a:endParaRPr lang="en-US" sz="690" dirty="0"/>
          </a:p>
        </p:txBody>
      </p:sp>
      <p:sp>
        <p:nvSpPr>
          <p:cNvPr id="53" name="Shape 51"/>
          <p:cNvSpPr/>
          <p:nvPr/>
        </p:nvSpPr>
        <p:spPr>
          <a:xfrm>
            <a:off x="7443216" y="4667098"/>
            <a:ext cx="4382719" cy="428854"/>
          </a:xfrm>
          <a:prstGeom prst="roundRect">
            <a:avLst>
              <a:gd name="adj" fmla="val 12793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7516368" y="4780483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FCE8E6"/>
          </a:solidFill>
          <a:ln/>
        </p:spPr>
      </p:sp>
      <p:sp>
        <p:nvSpPr>
          <p:cNvPr id="55" name="Text 53"/>
          <p:cNvSpPr/>
          <p:nvPr/>
        </p:nvSpPr>
        <p:spPr>
          <a:xfrm>
            <a:off x="7516368" y="4780483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</a:t>
            </a:r>
            <a:endParaRPr lang="en-US" sz="720" dirty="0"/>
          </a:p>
        </p:txBody>
      </p:sp>
      <p:sp>
        <p:nvSpPr>
          <p:cNvPr id="56" name="Text 54"/>
          <p:cNvSpPr/>
          <p:nvPr/>
        </p:nvSpPr>
        <p:spPr>
          <a:xfrm>
            <a:off x="7790688" y="4694530"/>
            <a:ext cx="3980383" cy="3739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Zone 2 (Central Governance Hub): Security Command Center, Cloud KMS CMEK, and BigQuery OTel centralize threat detection, key lifecycle, and zero-PII chargeback.</a:t>
            </a:r>
            <a:endParaRPr lang="en-US" sz="690" dirty="0"/>
          </a:p>
        </p:txBody>
      </p:sp>
      <p:sp>
        <p:nvSpPr>
          <p:cNvPr id="57" name="Shape 55"/>
          <p:cNvSpPr/>
          <p:nvPr/>
        </p:nvSpPr>
        <p:spPr>
          <a:xfrm>
            <a:off x="7443216" y="5145329"/>
            <a:ext cx="4382719" cy="428854"/>
          </a:xfrm>
          <a:prstGeom prst="roundRect">
            <a:avLst>
              <a:gd name="adj" fmla="val 12793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7516368" y="5258714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FEF7E0"/>
          </a:solidFill>
          <a:ln/>
        </p:spPr>
      </p:sp>
      <p:sp>
        <p:nvSpPr>
          <p:cNvPr id="59" name="Text 57"/>
          <p:cNvSpPr/>
          <p:nvPr/>
        </p:nvSpPr>
        <p:spPr>
          <a:xfrm>
            <a:off x="7516368" y="5258714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</a:t>
            </a:r>
            <a:endParaRPr lang="en-US" sz="720" dirty="0"/>
          </a:p>
        </p:txBody>
      </p:sp>
      <p:sp>
        <p:nvSpPr>
          <p:cNvPr id="60" name="Text 58"/>
          <p:cNvSpPr/>
          <p:nvPr/>
        </p:nvSpPr>
        <p:spPr>
          <a:xfrm>
            <a:off x="7790688" y="5172761"/>
            <a:ext cx="3980383" cy="3739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Step 3 Tier Dispatch: The 80% reusable ADK control plane routes requests dynamically to Pattern A (Yellow Spoke) or Pattern B/C (Red Spoke).</a:t>
            </a:r>
            <a:endParaRPr lang="en-US" sz="690" dirty="0"/>
          </a:p>
        </p:txBody>
      </p:sp>
      <p:sp>
        <p:nvSpPr>
          <p:cNvPr id="61" name="Shape 59"/>
          <p:cNvSpPr/>
          <p:nvPr/>
        </p:nvSpPr>
        <p:spPr>
          <a:xfrm>
            <a:off x="7443216" y="5624474"/>
            <a:ext cx="4382719" cy="428854"/>
          </a:xfrm>
          <a:prstGeom prst="roundRect">
            <a:avLst>
              <a:gd name="adj" fmla="val 12793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7516368" y="5737860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E6F4EA"/>
          </a:solidFill>
          <a:ln/>
        </p:spPr>
      </p:sp>
      <p:sp>
        <p:nvSpPr>
          <p:cNvPr id="63" name="Text 61"/>
          <p:cNvSpPr/>
          <p:nvPr/>
        </p:nvSpPr>
        <p:spPr>
          <a:xfrm>
            <a:off x="7516368" y="5737860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</a:t>
            </a:r>
            <a:endParaRPr lang="en-US" sz="720" dirty="0"/>
          </a:p>
        </p:txBody>
      </p:sp>
      <p:sp>
        <p:nvSpPr>
          <p:cNvPr id="64" name="Text 62"/>
          <p:cNvSpPr/>
          <p:nvPr/>
        </p:nvSpPr>
        <p:spPr>
          <a:xfrm>
            <a:off x="7790688" y="5651906"/>
            <a:ext cx="3980383" cy="3739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Zone 3 (Pattern A Pooled Spoke): Enforces Model Armor screening (4/6), Gemini 2.5 Pro 90% prefix caching (5), Valkey RPM bulkheads, and AlloyDB RLS.</a:t>
            </a:r>
            <a:endParaRPr lang="en-US" sz="690" dirty="0"/>
          </a:p>
        </p:txBody>
      </p:sp>
      <p:sp>
        <p:nvSpPr>
          <p:cNvPr id="65" name="Shape 63"/>
          <p:cNvSpPr/>
          <p:nvPr/>
        </p:nvSpPr>
        <p:spPr>
          <a:xfrm>
            <a:off x="7443216" y="6126480"/>
            <a:ext cx="4382719" cy="329184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7498080" y="6126480"/>
            <a:ext cx="4272991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VERIFIED • 56 Editable Shapes • 23 Connectors • GCP: ramp-portal-dev</a:t>
            </a:r>
            <a:endParaRPr lang="en-US" sz="700" dirty="0"/>
          </a:p>
        </p:txBody>
      </p:sp>
      <p:sp>
        <p:nvSpPr>
          <p:cNvPr id="67" name="Shape 65"/>
          <p:cNvSpPr/>
          <p:nvPr/>
        </p:nvSpPr>
        <p:spPr>
          <a:xfrm>
            <a:off x="1218895" y="1379830"/>
            <a:ext cx="5042002" cy="5094122"/>
          </a:xfrm>
          <a:prstGeom prst="roundRect">
            <a:avLst>
              <a:gd name="adj" fmla="val 544"/>
            </a:avLst>
          </a:prstGeom>
          <a:solidFill>
            <a:srgbClr val="1A73E8"/>
          </a:solidFill>
          <a:ln w="15875">
            <a:solidFill>
              <a:srgbClr val="9AA0A6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1288390" y="1597457"/>
            <a:ext cx="4903013" cy="4798771"/>
          </a:xfrm>
          <a:prstGeom prst="roundRect">
            <a:avLst>
              <a:gd name="adj" fmla="val 572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1343254" y="1608430"/>
            <a:ext cx="2255825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6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Control Plane (ramp-portal-dev / cymbal-build-sandbox</a:t>
            </a:r>
            <a:endParaRPr lang="en-US" sz="460" dirty="0"/>
          </a:p>
        </p:txBody>
      </p:sp>
      <p:sp>
        <p:nvSpPr>
          <p:cNvPr id="70" name="Shape 68"/>
          <p:cNvSpPr/>
          <p:nvPr/>
        </p:nvSpPr>
        <p:spPr>
          <a:xfrm>
            <a:off x="1357884" y="1753819"/>
            <a:ext cx="4764024" cy="4563770"/>
          </a:xfrm>
          <a:prstGeom prst="roundRect">
            <a:avLst>
              <a:gd name="adj" fmla="val 601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1412748" y="1764792"/>
            <a:ext cx="2191817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6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VPC &amp; 5-Hop Cryptographic Context Chain</a:t>
            </a:r>
            <a:endParaRPr lang="en-US" sz="460" dirty="0"/>
          </a:p>
        </p:txBody>
      </p:sp>
      <p:sp>
        <p:nvSpPr>
          <p:cNvPr id="72" name="Shape 70"/>
          <p:cNvSpPr/>
          <p:nvPr/>
        </p:nvSpPr>
        <p:spPr>
          <a:xfrm>
            <a:off x="1436522" y="3787445"/>
            <a:ext cx="2243023" cy="2434133"/>
          </a:xfrm>
          <a:prstGeom prst="roundRect">
            <a:avLst>
              <a:gd name="adj" fmla="val 1223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1491386" y="3798418"/>
            <a:ext cx="2133295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 A: Pooled Shared Runtime (pattern_a_pooled_rls_entities)</a:t>
            </a:r>
            <a:endParaRPr lang="en-US" sz="410" dirty="0"/>
          </a:p>
        </p:txBody>
      </p:sp>
      <p:sp>
        <p:nvSpPr>
          <p:cNvPr id="74" name="Shape 72"/>
          <p:cNvSpPr/>
          <p:nvPr/>
        </p:nvSpPr>
        <p:spPr>
          <a:xfrm>
            <a:off x="3801161" y="3787445"/>
            <a:ext cx="2243023" cy="2434133"/>
          </a:xfrm>
          <a:prstGeom prst="roundRect">
            <a:avLst>
              <a:gd name="adj" fmla="val 1223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3856025" y="3798418"/>
            <a:ext cx="2133295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 B (Sovereign Silos) &amp; Pattern C (Hybrid PSC Spokes)</a:t>
            </a:r>
            <a:endParaRPr lang="en-US" sz="410" dirty="0"/>
          </a:p>
        </p:txBody>
      </p:sp>
      <p:sp>
        <p:nvSpPr>
          <p:cNvPr id="76" name="Shape 74"/>
          <p:cNvSpPr/>
          <p:nvPr/>
        </p:nvSpPr>
        <p:spPr>
          <a:xfrm>
            <a:off x="1506017" y="3944722"/>
            <a:ext cx="2104034" cy="2208276"/>
          </a:xfrm>
          <a:prstGeom prst="roundRect">
            <a:avLst>
              <a:gd name="adj" fmla="val 1304"/>
            </a:avLst>
          </a:prstGeom>
          <a:solidFill>
            <a:srgbClr val="FEEFC3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1560881" y="3955694"/>
            <a:ext cx="199430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 Pool (Shared Runtime)</a:t>
            </a:r>
            <a:endParaRPr lang="en-US" sz="49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FinVault (8k Cap) &amp; RetailStream (4k Cap)</a:t>
            </a:r>
            <a:endParaRPr lang="en-US" sz="490" dirty="0"/>
          </a:p>
        </p:txBody>
      </p:sp>
      <p:sp>
        <p:nvSpPr>
          <p:cNvPr id="78" name="Shape 76"/>
          <p:cNvSpPr/>
          <p:nvPr/>
        </p:nvSpPr>
        <p:spPr>
          <a:xfrm>
            <a:off x="3870655" y="3944722"/>
            <a:ext cx="2104034" cy="2208276"/>
          </a:xfrm>
          <a:prstGeom prst="roundRect">
            <a:avLst>
              <a:gd name="adj" fmla="val 1304"/>
            </a:avLst>
          </a:prstGeom>
          <a:solidFill>
            <a:srgbClr val="FAD2C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3925519" y="3955694"/>
            <a:ext cx="199430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Sovereign Tenant Silo</a:t>
            </a:r>
            <a:endParaRPr lang="en-US" sz="49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VPC-SC + IAM PAB + finvault-silo-cmek + PSC</a:t>
            </a:r>
            <a:endParaRPr lang="en-US" sz="490" dirty="0"/>
          </a:p>
        </p:txBody>
      </p:sp>
      <p:sp>
        <p:nvSpPr>
          <p:cNvPr id="80" name="Shape 78"/>
          <p:cNvSpPr/>
          <p:nvPr/>
        </p:nvSpPr>
        <p:spPr>
          <a:xfrm>
            <a:off x="1427378" y="1901038"/>
            <a:ext cx="2885846" cy="1434694"/>
          </a:xfrm>
          <a:prstGeom prst="roundRect">
            <a:avLst>
              <a:gd name="adj" fmla="val 1912"/>
            </a:avLst>
          </a:prstGeom>
          <a:solidFill>
            <a:srgbClr val="AECBFA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1482242" y="1912010"/>
            <a:ext cx="184708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Routing hub (Hop 1 &amp; Hop 2 PEP/PDP)</a:t>
            </a:r>
            <a:endParaRPr lang="en-US" sz="49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ingress, OBO+DPoP KMS Sign &amp; Discovery Engine Catalog filter</a:t>
            </a:r>
            <a:endParaRPr lang="en-US" sz="490" dirty="0"/>
          </a:p>
        </p:txBody>
      </p:sp>
      <p:sp>
        <p:nvSpPr>
          <p:cNvPr id="82" name="Shape 80"/>
          <p:cNvSpPr/>
          <p:nvPr/>
        </p:nvSpPr>
        <p:spPr>
          <a:xfrm>
            <a:off x="4600346" y="1935785"/>
            <a:ext cx="1425550" cy="1390802"/>
          </a:xfrm>
          <a:prstGeom prst="roundRect">
            <a:avLst>
              <a:gd name="adj" fmla="val 1972"/>
            </a:avLst>
          </a:prstGeom>
          <a:solidFill>
            <a:srgbClr val="CEEAD6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4655210" y="1946758"/>
            <a:ext cx="1315822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governance and FinOps observability hub</a:t>
            </a:r>
            <a:endParaRPr lang="en-US" sz="490" dirty="0"/>
          </a:p>
        </p:txBody>
      </p:sp>
      <p:pic>
        <p:nvPicPr>
          <p:cNvPr id="8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88390" y="1431036"/>
            <a:ext cx="651967" cy="117043"/>
          </a:xfrm>
          <a:prstGeom prst="rect">
            <a:avLst/>
          </a:prstGeom>
        </p:spPr>
      </p:pic>
      <p:sp>
        <p:nvSpPr>
          <p:cNvPr id="85" name="Shape 82"/>
          <p:cNvSpPr/>
          <p:nvPr/>
        </p:nvSpPr>
        <p:spPr>
          <a:xfrm>
            <a:off x="3591763" y="1032358"/>
            <a:ext cx="0" cy="1269187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86" name="Shape 83"/>
          <p:cNvSpPr/>
          <p:nvPr/>
        </p:nvSpPr>
        <p:spPr>
          <a:xfrm flipV="1">
            <a:off x="3792017" y="1040587"/>
            <a:ext cx="0" cy="1269187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87" name="Shape 84"/>
          <p:cNvSpPr/>
          <p:nvPr/>
        </p:nvSpPr>
        <p:spPr>
          <a:xfrm flipH="1">
            <a:off x="2948940" y="2475281"/>
            <a:ext cx="148133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88" name="Shape 85"/>
          <p:cNvSpPr/>
          <p:nvPr/>
        </p:nvSpPr>
        <p:spPr>
          <a:xfrm flipV="1">
            <a:off x="2948940" y="2306117"/>
            <a:ext cx="0" cy="169164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89" name="Shape 86"/>
          <p:cNvSpPr/>
          <p:nvPr/>
        </p:nvSpPr>
        <p:spPr>
          <a:xfrm flipH="1">
            <a:off x="2401214" y="2306117"/>
            <a:ext cx="547726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0" name="Shape 87"/>
          <p:cNvSpPr/>
          <p:nvPr/>
        </p:nvSpPr>
        <p:spPr>
          <a:xfrm flipH="1">
            <a:off x="2948940" y="2475281"/>
            <a:ext cx="148133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91" name="Shape 88"/>
          <p:cNvSpPr/>
          <p:nvPr/>
        </p:nvSpPr>
        <p:spPr>
          <a:xfrm>
            <a:off x="2948940" y="2475281"/>
            <a:ext cx="0" cy="195682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92" name="Shape 89"/>
          <p:cNvSpPr/>
          <p:nvPr/>
        </p:nvSpPr>
        <p:spPr>
          <a:xfrm flipH="1">
            <a:off x="2401214" y="2670962"/>
            <a:ext cx="547726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3" name="Shape 90"/>
          <p:cNvSpPr/>
          <p:nvPr/>
        </p:nvSpPr>
        <p:spPr>
          <a:xfrm>
            <a:off x="2401214" y="3097073"/>
            <a:ext cx="800100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  <a:tailEnd type="triangle" w="sm" len="sm"/>
          </a:ln>
        </p:spPr>
      </p:sp>
      <p:sp>
        <p:nvSpPr>
          <p:cNvPr id="94" name="Shape 91"/>
          <p:cNvSpPr/>
          <p:nvPr/>
        </p:nvSpPr>
        <p:spPr>
          <a:xfrm>
            <a:off x="3591763" y="2640787"/>
            <a:ext cx="0" cy="31272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5" name="Shape 92"/>
          <p:cNvSpPr/>
          <p:nvPr/>
        </p:nvSpPr>
        <p:spPr>
          <a:xfrm flipV="1">
            <a:off x="3792017" y="2640787"/>
            <a:ext cx="0" cy="31272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6" name="Shape 93"/>
          <p:cNvSpPr/>
          <p:nvPr/>
        </p:nvSpPr>
        <p:spPr>
          <a:xfrm flipV="1">
            <a:off x="3083357" y="3665830"/>
            <a:ext cx="0" cy="782726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97" name="Shape 94"/>
          <p:cNvSpPr/>
          <p:nvPr/>
        </p:nvSpPr>
        <p:spPr>
          <a:xfrm>
            <a:off x="3083357" y="3665830"/>
            <a:ext cx="595274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98" name="Shape 95"/>
          <p:cNvSpPr/>
          <p:nvPr/>
        </p:nvSpPr>
        <p:spPr>
          <a:xfrm flipV="1">
            <a:off x="3678631" y="3239719"/>
            <a:ext cx="0" cy="42611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9" name="Shape 96"/>
          <p:cNvSpPr/>
          <p:nvPr/>
        </p:nvSpPr>
        <p:spPr>
          <a:xfrm flipV="1">
            <a:off x="3083357" y="3665830"/>
            <a:ext cx="0" cy="782726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00" name="Shape 97"/>
          <p:cNvSpPr/>
          <p:nvPr/>
        </p:nvSpPr>
        <p:spPr>
          <a:xfrm>
            <a:off x="3083357" y="3665830"/>
            <a:ext cx="2364638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01" name="Shape 98"/>
          <p:cNvSpPr/>
          <p:nvPr/>
        </p:nvSpPr>
        <p:spPr>
          <a:xfrm>
            <a:off x="5447995" y="3665830"/>
            <a:ext cx="0" cy="782726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02" name="Shape 99"/>
          <p:cNvSpPr/>
          <p:nvPr/>
        </p:nvSpPr>
        <p:spPr>
          <a:xfrm flipV="1">
            <a:off x="2557577" y="3605479"/>
            <a:ext cx="0" cy="181966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  <a:headEnd type="triangle" w="sm" len="sm"/>
          </a:ln>
        </p:spPr>
      </p:sp>
      <p:sp>
        <p:nvSpPr>
          <p:cNvPr id="103" name="Shape 100"/>
          <p:cNvSpPr/>
          <p:nvPr/>
        </p:nvSpPr>
        <p:spPr>
          <a:xfrm>
            <a:off x="2557577" y="3605479"/>
            <a:ext cx="275600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</a:ln>
        </p:spPr>
      </p:sp>
      <p:sp>
        <p:nvSpPr>
          <p:cNvPr id="104" name="Shape 101"/>
          <p:cNvSpPr/>
          <p:nvPr/>
        </p:nvSpPr>
        <p:spPr>
          <a:xfrm flipV="1">
            <a:off x="5313578" y="3327502"/>
            <a:ext cx="0" cy="277978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  <a:tailEnd type="triangle" w="sm" len="sm"/>
          </a:ln>
        </p:spPr>
      </p:sp>
      <p:sp>
        <p:nvSpPr>
          <p:cNvPr id="105" name="Shape 102"/>
          <p:cNvSpPr/>
          <p:nvPr/>
        </p:nvSpPr>
        <p:spPr>
          <a:xfrm>
            <a:off x="5313578" y="3327502"/>
            <a:ext cx="0" cy="277978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</a:ln>
        </p:spPr>
      </p:sp>
      <p:sp>
        <p:nvSpPr>
          <p:cNvPr id="106" name="Shape 103"/>
          <p:cNvSpPr/>
          <p:nvPr/>
        </p:nvSpPr>
        <p:spPr>
          <a:xfrm flipH="1">
            <a:off x="4922215" y="3605479"/>
            <a:ext cx="391363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</a:ln>
        </p:spPr>
      </p:sp>
      <p:sp>
        <p:nvSpPr>
          <p:cNvPr id="107" name="Shape 104"/>
          <p:cNvSpPr/>
          <p:nvPr/>
        </p:nvSpPr>
        <p:spPr>
          <a:xfrm>
            <a:off x="4922215" y="3605479"/>
            <a:ext cx="0" cy="181966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  <a:tailEnd type="triangle" w="sm" len="sm"/>
          </a:ln>
        </p:spPr>
      </p:sp>
      <p:sp>
        <p:nvSpPr>
          <p:cNvPr id="108" name="Shape 105"/>
          <p:cNvSpPr/>
          <p:nvPr/>
        </p:nvSpPr>
        <p:spPr>
          <a:xfrm>
            <a:off x="2392070" y="4387291"/>
            <a:ext cx="9601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09" name="Shape 106"/>
          <p:cNvSpPr/>
          <p:nvPr/>
        </p:nvSpPr>
        <p:spPr>
          <a:xfrm>
            <a:off x="2488082" y="4387291"/>
            <a:ext cx="0" cy="148133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10" name="Shape 107"/>
          <p:cNvSpPr/>
          <p:nvPr/>
        </p:nvSpPr>
        <p:spPr>
          <a:xfrm>
            <a:off x="2488082" y="4535424"/>
            <a:ext cx="130759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1" name="Shape 108"/>
          <p:cNvSpPr/>
          <p:nvPr/>
        </p:nvSpPr>
        <p:spPr>
          <a:xfrm>
            <a:off x="2392070" y="5413248"/>
            <a:ext cx="130759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12" name="Shape 109"/>
          <p:cNvSpPr/>
          <p:nvPr/>
        </p:nvSpPr>
        <p:spPr>
          <a:xfrm flipV="1">
            <a:off x="2522830" y="4674413"/>
            <a:ext cx="0" cy="73883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13" name="Shape 110"/>
          <p:cNvSpPr/>
          <p:nvPr/>
        </p:nvSpPr>
        <p:spPr>
          <a:xfrm>
            <a:off x="2522830" y="4674413"/>
            <a:ext cx="9601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4" name="Shape 111"/>
          <p:cNvSpPr/>
          <p:nvPr/>
        </p:nvSpPr>
        <p:spPr>
          <a:xfrm flipV="1">
            <a:off x="3083357" y="5013655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15" name="Shape 112"/>
          <p:cNvSpPr/>
          <p:nvPr/>
        </p:nvSpPr>
        <p:spPr>
          <a:xfrm flipV="1">
            <a:off x="3083357" y="4778654"/>
            <a:ext cx="0" cy="6126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6" name="Shape 113"/>
          <p:cNvSpPr/>
          <p:nvPr/>
        </p:nvSpPr>
        <p:spPr>
          <a:xfrm flipV="1">
            <a:off x="3083357" y="5665622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17" name="Shape 114"/>
          <p:cNvSpPr/>
          <p:nvPr/>
        </p:nvSpPr>
        <p:spPr>
          <a:xfrm flipV="1">
            <a:off x="3083357" y="5405018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8" name="Shape 115"/>
          <p:cNvSpPr/>
          <p:nvPr/>
        </p:nvSpPr>
        <p:spPr>
          <a:xfrm>
            <a:off x="4756709" y="4387291"/>
            <a:ext cx="9601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19" name="Shape 116"/>
          <p:cNvSpPr/>
          <p:nvPr/>
        </p:nvSpPr>
        <p:spPr>
          <a:xfrm>
            <a:off x="4852721" y="4387291"/>
            <a:ext cx="0" cy="148133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20" name="Shape 117"/>
          <p:cNvSpPr/>
          <p:nvPr/>
        </p:nvSpPr>
        <p:spPr>
          <a:xfrm>
            <a:off x="4852721" y="4535424"/>
            <a:ext cx="129845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21" name="Shape 118"/>
          <p:cNvSpPr/>
          <p:nvPr/>
        </p:nvSpPr>
        <p:spPr>
          <a:xfrm>
            <a:off x="4756709" y="4830775"/>
            <a:ext cx="130759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22" name="Shape 119"/>
          <p:cNvSpPr/>
          <p:nvPr/>
        </p:nvSpPr>
        <p:spPr>
          <a:xfrm flipV="1">
            <a:off x="4887468" y="4674413"/>
            <a:ext cx="0" cy="156362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23" name="Shape 120"/>
          <p:cNvSpPr/>
          <p:nvPr/>
        </p:nvSpPr>
        <p:spPr>
          <a:xfrm>
            <a:off x="4887468" y="4674413"/>
            <a:ext cx="95098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24" name="Shape 121"/>
          <p:cNvSpPr/>
          <p:nvPr/>
        </p:nvSpPr>
        <p:spPr>
          <a:xfrm flipV="1">
            <a:off x="5447995" y="5013655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25" name="Shape 122"/>
          <p:cNvSpPr/>
          <p:nvPr/>
        </p:nvSpPr>
        <p:spPr>
          <a:xfrm flipV="1">
            <a:off x="5447995" y="4778654"/>
            <a:ext cx="0" cy="6126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26" name="Shape 123"/>
          <p:cNvSpPr/>
          <p:nvPr/>
        </p:nvSpPr>
        <p:spPr>
          <a:xfrm flipV="1">
            <a:off x="5447995" y="5665622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27" name="Shape 124"/>
          <p:cNvSpPr/>
          <p:nvPr/>
        </p:nvSpPr>
        <p:spPr>
          <a:xfrm flipV="1">
            <a:off x="5447995" y="5405018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28" name="Shape 125"/>
          <p:cNvSpPr/>
          <p:nvPr/>
        </p:nvSpPr>
        <p:spPr>
          <a:xfrm>
            <a:off x="3152851" y="658368"/>
            <a:ext cx="1086307" cy="373990"/>
          </a:xfrm>
          <a:prstGeom prst="roundRect">
            <a:avLst>
              <a:gd name="adj" fmla="val 9780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2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93999" y="763524"/>
            <a:ext cx="164592" cy="164592"/>
          </a:xfrm>
          <a:prstGeom prst="rect">
            <a:avLst/>
          </a:prstGeom>
        </p:spPr>
      </p:pic>
      <p:sp>
        <p:nvSpPr>
          <p:cNvPr id="130" name="Text 126"/>
          <p:cNvSpPr/>
          <p:nvPr/>
        </p:nvSpPr>
        <p:spPr>
          <a:xfrm>
            <a:off x="3372307" y="658368"/>
            <a:ext cx="839419" cy="37399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3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Competing B2B Tenants</a:t>
            </a:r>
            <a:endParaRPr lang="en-US" sz="530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4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FinVault (OIDC) &amp; RetailStream (Entra)</a:t>
            </a:r>
            <a:endParaRPr lang="en-US" sz="530" dirty="0"/>
          </a:p>
        </p:txBody>
      </p:sp>
      <p:sp>
        <p:nvSpPr>
          <p:cNvPr id="131" name="Shape 127"/>
          <p:cNvSpPr/>
          <p:nvPr/>
        </p:nvSpPr>
        <p:spPr>
          <a:xfrm>
            <a:off x="3097073" y="2309774"/>
            <a:ext cx="1138428" cy="330098"/>
          </a:xfrm>
          <a:prstGeom prst="roundRect">
            <a:avLst>
              <a:gd name="adj" fmla="val 11080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3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8221" y="2388413"/>
            <a:ext cx="171907" cy="171907"/>
          </a:xfrm>
          <a:prstGeom prst="rect">
            <a:avLst/>
          </a:prstGeom>
        </p:spPr>
      </p:pic>
      <p:sp>
        <p:nvSpPr>
          <p:cNvPr id="133" name="Text 128"/>
          <p:cNvSpPr/>
          <p:nvPr/>
        </p:nvSpPr>
        <p:spPr>
          <a:xfrm>
            <a:off x="3332988" y="2309774"/>
            <a:ext cx="879653" cy="33009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External Application Load Balancer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Load Balancing</a:t>
            </a:r>
            <a:endParaRPr lang="en-US" sz="500" dirty="0"/>
          </a:p>
        </p:txBody>
      </p:sp>
      <p:sp>
        <p:nvSpPr>
          <p:cNvPr id="134" name="Shape 129"/>
          <p:cNvSpPr/>
          <p:nvPr/>
        </p:nvSpPr>
        <p:spPr>
          <a:xfrm>
            <a:off x="4713732" y="2197303"/>
            <a:ext cx="1199693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3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4880" y="2272284"/>
            <a:ext cx="162763" cy="162763"/>
          </a:xfrm>
          <a:prstGeom prst="rect">
            <a:avLst/>
          </a:prstGeom>
        </p:spPr>
      </p:pic>
      <p:sp>
        <p:nvSpPr>
          <p:cNvPr id="136" name="Text 130"/>
          <p:cNvSpPr/>
          <p:nvPr/>
        </p:nvSpPr>
        <p:spPr>
          <a:xfrm>
            <a:off x="4940503" y="2197303"/>
            <a:ext cx="950062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 Command Center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security_breach_audit_log</a:t>
            </a:r>
            <a:endParaRPr lang="en-US" sz="500" dirty="0"/>
          </a:p>
        </p:txBody>
      </p:sp>
      <p:sp>
        <p:nvSpPr>
          <p:cNvPr id="137" name="Shape 131"/>
          <p:cNvSpPr/>
          <p:nvPr/>
        </p:nvSpPr>
        <p:spPr>
          <a:xfrm>
            <a:off x="4731106" y="2926994"/>
            <a:ext cx="1164946" cy="295351"/>
          </a:xfrm>
          <a:prstGeom prst="roundRect">
            <a:avLst>
              <a:gd name="adj" fmla="val 1238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3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72254" y="2998318"/>
            <a:ext cx="153619" cy="153619"/>
          </a:xfrm>
          <a:prstGeom prst="rect">
            <a:avLst/>
          </a:prstGeom>
        </p:spPr>
      </p:pic>
      <p:sp>
        <p:nvSpPr>
          <p:cNvPr id="139" name="Text 132"/>
          <p:cNvSpPr/>
          <p:nvPr/>
        </p:nvSpPr>
        <p:spPr>
          <a:xfrm>
            <a:off x="4948733" y="2926994"/>
            <a:ext cx="924458" cy="29535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Logging &amp; BQ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tenant_telemetry_spans</a:t>
            </a:r>
            <a:endParaRPr lang="en-US" sz="500" dirty="0"/>
          </a:p>
        </p:txBody>
      </p:sp>
      <p:sp>
        <p:nvSpPr>
          <p:cNvPr id="140" name="Shape 133"/>
          <p:cNvSpPr/>
          <p:nvPr/>
        </p:nvSpPr>
        <p:spPr>
          <a:xfrm>
            <a:off x="4739335" y="2570378"/>
            <a:ext cx="1147572" cy="295351"/>
          </a:xfrm>
          <a:prstGeom prst="roundRect">
            <a:avLst>
              <a:gd name="adj" fmla="val 1238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4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80483" y="2641702"/>
            <a:ext cx="153619" cy="153619"/>
          </a:xfrm>
          <a:prstGeom prst="rect">
            <a:avLst/>
          </a:prstGeom>
        </p:spPr>
      </p:pic>
      <p:sp>
        <p:nvSpPr>
          <p:cNvPr id="142" name="Text 134"/>
          <p:cNvSpPr/>
          <p:nvPr/>
        </p:nvSpPr>
        <p:spPr>
          <a:xfrm>
            <a:off x="4956962" y="2570378"/>
            <a:ext cx="907085" cy="29535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IAM &amp; PAB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 Identity (2LO/3LO)</a:t>
            </a:r>
            <a:endParaRPr lang="en-US" sz="500" dirty="0"/>
          </a:p>
        </p:txBody>
      </p:sp>
      <p:sp>
        <p:nvSpPr>
          <p:cNvPr id="143" name="Shape 135"/>
          <p:cNvSpPr/>
          <p:nvPr/>
        </p:nvSpPr>
        <p:spPr>
          <a:xfrm>
            <a:off x="2618842" y="444855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44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659990" y="4526280"/>
            <a:ext cx="167335" cy="167335"/>
          </a:xfrm>
          <a:prstGeom prst="rect">
            <a:avLst/>
          </a:prstGeom>
        </p:spPr>
      </p:pic>
      <p:sp>
        <p:nvSpPr>
          <p:cNvPr id="145" name="Text 136"/>
          <p:cNvSpPr/>
          <p:nvPr/>
        </p:nvSpPr>
        <p:spPr>
          <a:xfrm>
            <a:off x="2850185" y="4448556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Vertex AI Agent Engine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gVisor + temp:tenant_id</a:t>
            </a:r>
            <a:endParaRPr lang="en-US" sz="500" dirty="0"/>
          </a:p>
        </p:txBody>
      </p:sp>
      <p:sp>
        <p:nvSpPr>
          <p:cNvPr id="146" name="Shape 137"/>
          <p:cNvSpPr/>
          <p:nvPr/>
        </p:nvSpPr>
        <p:spPr>
          <a:xfrm>
            <a:off x="2618842" y="507400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47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659990" y="5151730"/>
            <a:ext cx="167335" cy="167335"/>
          </a:xfrm>
          <a:prstGeom prst="rect">
            <a:avLst/>
          </a:prstGeom>
        </p:spPr>
      </p:pic>
      <p:sp>
        <p:nvSpPr>
          <p:cNvPr id="148" name="Text 138"/>
          <p:cNvSpPr/>
          <p:nvPr/>
        </p:nvSpPr>
        <p:spPr>
          <a:xfrm>
            <a:off x="2850185" y="5074006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 servers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2LO + 3LO OIDC/Entra</a:t>
            </a:r>
            <a:endParaRPr lang="en-US" sz="500" dirty="0"/>
          </a:p>
        </p:txBody>
      </p:sp>
      <p:sp>
        <p:nvSpPr>
          <p:cNvPr id="149" name="Shape 139"/>
          <p:cNvSpPr/>
          <p:nvPr/>
        </p:nvSpPr>
        <p:spPr>
          <a:xfrm>
            <a:off x="2618842" y="5725973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0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659990" y="5802782"/>
            <a:ext cx="167335" cy="167335"/>
          </a:xfrm>
          <a:prstGeom prst="rect">
            <a:avLst/>
          </a:prstGeom>
        </p:spPr>
      </p:pic>
      <p:sp>
        <p:nvSpPr>
          <p:cNvPr id="151" name="Text 140"/>
          <p:cNvSpPr/>
          <p:nvPr/>
        </p:nvSpPr>
        <p:spPr>
          <a:xfrm>
            <a:off x="2850185" y="5725973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AlloyDB &amp; BQ RLS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tenant_pooled_rls_policy</a:t>
            </a:r>
            <a:endParaRPr lang="en-US" sz="500" dirty="0"/>
          </a:p>
        </p:txBody>
      </p:sp>
      <p:sp>
        <p:nvSpPr>
          <p:cNvPr id="152" name="Shape 141"/>
          <p:cNvSpPr/>
          <p:nvPr/>
        </p:nvSpPr>
        <p:spPr>
          <a:xfrm>
            <a:off x="4982566" y="444855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3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023714" y="4526280"/>
            <a:ext cx="167335" cy="167335"/>
          </a:xfrm>
          <a:prstGeom prst="rect">
            <a:avLst/>
          </a:prstGeom>
        </p:spPr>
      </p:pic>
      <p:sp>
        <p:nvSpPr>
          <p:cNvPr id="154" name="Text 142"/>
          <p:cNvSpPr/>
          <p:nvPr/>
        </p:nvSpPr>
        <p:spPr>
          <a:xfrm>
            <a:off x="5213909" y="4448556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Vertex AI Agent Engine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Silo + Agent Alpha</a:t>
            </a:r>
            <a:endParaRPr lang="en-US" sz="500" dirty="0"/>
          </a:p>
        </p:txBody>
      </p:sp>
      <p:sp>
        <p:nvSpPr>
          <p:cNvPr id="155" name="Shape 143"/>
          <p:cNvSpPr/>
          <p:nvPr/>
        </p:nvSpPr>
        <p:spPr>
          <a:xfrm>
            <a:off x="4982566" y="507400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6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023714" y="5151730"/>
            <a:ext cx="167335" cy="167335"/>
          </a:xfrm>
          <a:prstGeom prst="rect">
            <a:avLst/>
          </a:prstGeom>
        </p:spPr>
      </p:pic>
      <p:sp>
        <p:nvSpPr>
          <p:cNvPr id="157" name="Text 144"/>
          <p:cNvSpPr/>
          <p:nvPr/>
        </p:nvSpPr>
        <p:spPr>
          <a:xfrm>
            <a:off x="5213909" y="5074006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 servers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Local Silo 3LO Connectors</a:t>
            </a:r>
            <a:endParaRPr lang="en-US" sz="500" dirty="0"/>
          </a:p>
        </p:txBody>
      </p:sp>
      <p:sp>
        <p:nvSpPr>
          <p:cNvPr id="158" name="Shape 145"/>
          <p:cNvSpPr/>
          <p:nvPr/>
        </p:nvSpPr>
        <p:spPr>
          <a:xfrm>
            <a:off x="4982566" y="5725973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9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023714" y="5802782"/>
            <a:ext cx="167335" cy="167335"/>
          </a:xfrm>
          <a:prstGeom prst="rect">
            <a:avLst/>
          </a:prstGeom>
        </p:spPr>
      </p:pic>
      <p:sp>
        <p:nvSpPr>
          <p:cNvPr id="160" name="Text 146"/>
          <p:cNvSpPr/>
          <p:nvPr/>
        </p:nvSpPr>
        <p:spPr>
          <a:xfrm>
            <a:off x="5213909" y="5725973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CMEK Datastore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finvault-silo-cmek &amp; 423 Lock</a:t>
            </a:r>
            <a:endParaRPr lang="en-US" sz="500" dirty="0"/>
          </a:p>
        </p:txBody>
      </p:sp>
      <p:sp>
        <p:nvSpPr>
          <p:cNvPr id="161" name="Shape 147"/>
          <p:cNvSpPr/>
          <p:nvPr/>
        </p:nvSpPr>
        <p:spPr>
          <a:xfrm>
            <a:off x="3201314" y="2953512"/>
            <a:ext cx="973836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62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242462" y="3022092"/>
            <a:ext cx="149047" cy="149047"/>
          </a:xfrm>
          <a:prstGeom prst="rect">
            <a:avLst/>
          </a:prstGeom>
        </p:spPr>
      </p:pic>
      <p:sp>
        <p:nvSpPr>
          <p:cNvPr id="163" name="Text 148"/>
          <p:cNvSpPr/>
          <p:nvPr/>
        </p:nvSpPr>
        <p:spPr>
          <a:xfrm>
            <a:off x="3414370" y="2953512"/>
            <a:ext cx="737921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Run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cymbal-multi-tenant-patterns</a:t>
            </a:r>
            <a:endParaRPr lang="en-US" sz="500" dirty="0"/>
          </a:p>
        </p:txBody>
      </p:sp>
      <p:sp>
        <p:nvSpPr>
          <p:cNvPr id="164" name="Shape 149"/>
          <p:cNvSpPr/>
          <p:nvPr/>
        </p:nvSpPr>
        <p:spPr>
          <a:xfrm>
            <a:off x="1548994" y="4230929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65" name="Image 13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590142" y="4305910"/>
            <a:ext cx="162763" cy="162763"/>
          </a:xfrm>
          <a:prstGeom prst="rect">
            <a:avLst/>
          </a:prstGeom>
        </p:spPr>
      </p:pic>
      <p:sp>
        <p:nvSpPr>
          <p:cNvPr id="166" name="Text 150"/>
          <p:cNvSpPr/>
          <p:nvPr/>
        </p:nvSpPr>
        <p:spPr>
          <a:xfrm>
            <a:off x="1775765" y="4230929"/>
            <a:ext cx="593446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Armor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 Rai Filters &amp; SDP PII</a:t>
            </a:r>
            <a:endParaRPr lang="en-US" sz="500" dirty="0"/>
          </a:p>
        </p:txBody>
      </p:sp>
      <p:sp>
        <p:nvSpPr>
          <p:cNvPr id="167" name="Shape 151"/>
          <p:cNvSpPr/>
          <p:nvPr/>
        </p:nvSpPr>
        <p:spPr>
          <a:xfrm>
            <a:off x="1548994" y="5256886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68" name="Image 14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590142" y="5331866"/>
            <a:ext cx="162763" cy="162763"/>
          </a:xfrm>
          <a:prstGeom prst="rect">
            <a:avLst/>
          </a:prstGeom>
        </p:spPr>
      </p:pic>
      <p:sp>
        <p:nvSpPr>
          <p:cNvPr id="169" name="Text 152"/>
          <p:cNvSpPr/>
          <p:nvPr/>
        </p:nvSpPr>
        <p:spPr>
          <a:xfrm>
            <a:off x="1775765" y="5256886"/>
            <a:ext cx="593446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Gemini 2.5 Pro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90% Prefix Cache Savings</a:t>
            </a:r>
            <a:endParaRPr lang="en-US" sz="500" dirty="0"/>
          </a:p>
        </p:txBody>
      </p:sp>
      <p:sp>
        <p:nvSpPr>
          <p:cNvPr id="170" name="Shape 153"/>
          <p:cNvSpPr/>
          <p:nvPr/>
        </p:nvSpPr>
        <p:spPr>
          <a:xfrm>
            <a:off x="3913632" y="4230929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71" name="Image 15" descr="preencoded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3954780" y="4305910"/>
            <a:ext cx="162763" cy="162763"/>
          </a:xfrm>
          <a:prstGeom prst="rect">
            <a:avLst/>
          </a:prstGeom>
        </p:spPr>
      </p:pic>
      <p:sp>
        <p:nvSpPr>
          <p:cNvPr id="172" name="Text 154"/>
          <p:cNvSpPr/>
          <p:nvPr/>
        </p:nvSpPr>
        <p:spPr>
          <a:xfrm>
            <a:off x="4140403" y="4230929"/>
            <a:ext cx="593446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VPC-SC &amp; Model Armor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Sovereign Silo Guardrails</a:t>
            </a:r>
            <a:endParaRPr lang="en-US" sz="500" dirty="0"/>
          </a:p>
        </p:txBody>
      </p:sp>
      <p:sp>
        <p:nvSpPr>
          <p:cNvPr id="173" name="Shape 155"/>
          <p:cNvSpPr/>
          <p:nvPr/>
        </p:nvSpPr>
        <p:spPr>
          <a:xfrm>
            <a:off x="3913632" y="4674413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74" name="Image 16" descr="preencoded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3954780" y="4749394"/>
            <a:ext cx="162763" cy="162763"/>
          </a:xfrm>
          <a:prstGeom prst="rect">
            <a:avLst/>
          </a:prstGeom>
        </p:spPr>
      </p:pic>
      <p:sp>
        <p:nvSpPr>
          <p:cNvPr id="175" name="Text 156"/>
          <p:cNvSpPr/>
          <p:nvPr/>
        </p:nvSpPr>
        <p:spPr>
          <a:xfrm>
            <a:off x="4140403" y="4674413"/>
            <a:ext cx="593446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Gemini / Gemma 3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PT or Private GKE</a:t>
            </a:r>
            <a:endParaRPr lang="en-US" sz="500" dirty="0"/>
          </a:p>
        </p:txBody>
      </p:sp>
      <p:sp>
        <p:nvSpPr>
          <p:cNvPr id="176" name="Shape 157"/>
          <p:cNvSpPr/>
          <p:nvPr/>
        </p:nvSpPr>
        <p:spPr>
          <a:xfrm>
            <a:off x="1514246" y="2162556"/>
            <a:ext cx="886968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77" name="Image 17" descr="preencoded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1555394" y="2232050"/>
            <a:ext cx="149047" cy="149047"/>
          </a:xfrm>
          <a:prstGeom prst="rect">
            <a:avLst/>
          </a:prstGeom>
        </p:spPr>
      </p:pic>
      <p:sp>
        <p:nvSpPr>
          <p:cNvPr id="178" name="Text 158"/>
          <p:cNvSpPr/>
          <p:nvPr/>
        </p:nvSpPr>
        <p:spPr>
          <a:xfrm>
            <a:off x="1727302" y="2162556"/>
            <a:ext cx="651053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Armor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WAF &amp; DDoS • Strips X-Tenant-ID</a:t>
            </a:r>
            <a:endParaRPr lang="en-US" sz="500" dirty="0"/>
          </a:p>
        </p:txBody>
      </p:sp>
      <p:sp>
        <p:nvSpPr>
          <p:cNvPr id="179" name="Shape 159"/>
          <p:cNvSpPr/>
          <p:nvPr/>
        </p:nvSpPr>
        <p:spPr>
          <a:xfrm>
            <a:off x="1514246" y="2527402"/>
            <a:ext cx="886968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80" name="Image 18" descr="preencoded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1555394" y="2595982"/>
            <a:ext cx="149047" cy="149047"/>
          </a:xfrm>
          <a:prstGeom prst="rect">
            <a:avLst/>
          </a:prstGeom>
        </p:spPr>
      </p:pic>
      <p:sp>
        <p:nvSpPr>
          <p:cNvPr id="181" name="Text 160"/>
          <p:cNvSpPr/>
          <p:nvPr/>
        </p:nvSpPr>
        <p:spPr>
          <a:xfrm>
            <a:off x="1727302" y="2527402"/>
            <a:ext cx="651053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Armor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Ingress Prompt Screen</a:t>
            </a:r>
            <a:endParaRPr lang="en-US" sz="500" dirty="0"/>
          </a:p>
        </p:txBody>
      </p:sp>
      <p:sp>
        <p:nvSpPr>
          <p:cNvPr id="182" name="Shape 161"/>
          <p:cNvSpPr/>
          <p:nvPr/>
        </p:nvSpPr>
        <p:spPr>
          <a:xfrm>
            <a:off x="1548994" y="2953512"/>
            <a:ext cx="852221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83" name="Image 19" descr="preencoded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590142" y="3022092"/>
            <a:ext cx="149047" cy="149047"/>
          </a:xfrm>
          <a:prstGeom prst="rect">
            <a:avLst/>
          </a:prstGeom>
        </p:spPr>
      </p:pic>
      <p:sp>
        <p:nvSpPr>
          <p:cNvPr id="184" name="Text 162"/>
          <p:cNvSpPr/>
          <p:nvPr/>
        </p:nvSpPr>
        <p:spPr>
          <a:xfrm>
            <a:off x="1762049" y="2953512"/>
            <a:ext cx="616306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RFC 8693 OBO + DPoP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KMS ECDSA P-256 Sign</a:t>
            </a:r>
            <a:endParaRPr lang="en-US" sz="500" dirty="0"/>
          </a:p>
        </p:txBody>
      </p:sp>
      <p:sp>
        <p:nvSpPr>
          <p:cNvPr id="185" name="Shape 163"/>
          <p:cNvSpPr/>
          <p:nvPr/>
        </p:nvSpPr>
        <p:spPr>
          <a:xfrm>
            <a:off x="3517697" y="1140257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86" name="Text 164"/>
          <p:cNvSpPr/>
          <p:nvPr/>
        </p:nvSpPr>
        <p:spPr>
          <a:xfrm>
            <a:off x="3517697" y="1140257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620" dirty="0"/>
          </a:p>
        </p:txBody>
      </p:sp>
      <p:sp>
        <p:nvSpPr>
          <p:cNvPr id="187" name="Shape 165"/>
          <p:cNvSpPr/>
          <p:nvPr/>
        </p:nvSpPr>
        <p:spPr>
          <a:xfrm>
            <a:off x="3717950" y="1140257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88" name="Text 166"/>
          <p:cNvSpPr/>
          <p:nvPr/>
        </p:nvSpPr>
        <p:spPr>
          <a:xfrm>
            <a:off x="3717950" y="1140257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20" dirty="0"/>
          </a:p>
        </p:txBody>
      </p:sp>
      <p:sp>
        <p:nvSpPr>
          <p:cNvPr id="189" name="Shape 167"/>
          <p:cNvSpPr/>
          <p:nvPr/>
        </p:nvSpPr>
        <p:spPr>
          <a:xfrm>
            <a:off x="3517697" y="2718511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90" name="Text 168"/>
          <p:cNvSpPr/>
          <p:nvPr/>
        </p:nvSpPr>
        <p:spPr>
          <a:xfrm>
            <a:off x="3517697" y="2718511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620" dirty="0"/>
          </a:p>
        </p:txBody>
      </p:sp>
      <p:sp>
        <p:nvSpPr>
          <p:cNvPr id="191" name="Shape 169"/>
          <p:cNvSpPr/>
          <p:nvPr/>
        </p:nvSpPr>
        <p:spPr>
          <a:xfrm>
            <a:off x="3717950" y="2718511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92" name="Text 170"/>
          <p:cNvSpPr/>
          <p:nvPr/>
        </p:nvSpPr>
        <p:spPr>
          <a:xfrm>
            <a:off x="3717950" y="2718511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20" dirty="0"/>
          </a:p>
        </p:txBody>
      </p:sp>
      <p:sp>
        <p:nvSpPr>
          <p:cNvPr id="193" name="Shape 171"/>
          <p:cNvSpPr/>
          <p:nvPr/>
        </p:nvSpPr>
        <p:spPr>
          <a:xfrm>
            <a:off x="2813609" y="3392424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94" name="Text 172"/>
          <p:cNvSpPr/>
          <p:nvPr/>
        </p:nvSpPr>
        <p:spPr>
          <a:xfrm>
            <a:off x="2813609" y="3392424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620" dirty="0"/>
          </a:p>
        </p:txBody>
      </p:sp>
      <p:sp>
        <p:nvSpPr>
          <p:cNvPr id="195" name="Shape 173"/>
          <p:cNvSpPr/>
          <p:nvPr/>
        </p:nvSpPr>
        <p:spPr>
          <a:xfrm>
            <a:off x="3735324" y="3392424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96" name="Text 174"/>
          <p:cNvSpPr/>
          <p:nvPr/>
        </p:nvSpPr>
        <p:spPr>
          <a:xfrm>
            <a:off x="3735324" y="3392424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20" dirty="0"/>
          </a:p>
        </p:txBody>
      </p:sp>
      <p:sp>
        <p:nvSpPr>
          <p:cNvPr id="197" name="Shape 175"/>
          <p:cNvSpPr/>
          <p:nvPr/>
        </p:nvSpPr>
        <p:spPr>
          <a:xfrm>
            <a:off x="1579169" y="4600346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98" name="Text 176"/>
          <p:cNvSpPr/>
          <p:nvPr/>
        </p:nvSpPr>
        <p:spPr>
          <a:xfrm>
            <a:off x="1579169" y="4600346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620" dirty="0"/>
          </a:p>
        </p:txBody>
      </p:sp>
      <p:sp>
        <p:nvSpPr>
          <p:cNvPr id="199" name="Shape 177"/>
          <p:cNvSpPr/>
          <p:nvPr/>
        </p:nvSpPr>
        <p:spPr>
          <a:xfrm>
            <a:off x="1579169" y="4808830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00" name="Text 178"/>
          <p:cNvSpPr/>
          <p:nvPr/>
        </p:nvSpPr>
        <p:spPr>
          <a:xfrm>
            <a:off x="1579169" y="4808830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620" dirty="0"/>
          </a:p>
        </p:txBody>
      </p:sp>
      <p:sp>
        <p:nvSpPr>
          <p:cNvPr id="201" name="Shape 179"/>
          <p:cNvSpPr/>
          <p:nvPr/>
        </p:nvSpPr>
        <p:spPr>
          <a:xfrm>
            <a:off x="1579169" y="5634533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02" name="Text 180"/>
          <p:cNvSpPr/>
          <p:nvPr/>
        </p:nvSpPr>
        <p:spPr>
          <a:xfrm>
            <a:off x="1579169" y="5634533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620" dirty="0"/>
          </a:p>
        </p:txBody>
      </p:sp>
      <p:sp>
        <p:nvSpPr>
          <p:cNvPr id="203" name="Shape 181"/>
          <p:cNvSpPr/>
          <p:nvPr/>
        </p:nvSpPr>
        <p:spPr>
          <a:xfrm>
            <a:off x="5339182" y="3365906"/>
            <a:ext cx="760781" cy="192024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04" name="Text 182"/>
          <p:cNvSpPr/>
          <p:nvPr/>
        </p:nvSpPr>
        <p:spPr>
          <a:xfrm>
            <a:off x="5357470" y="3375050"/>
            <a:ext cx="724205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Security, OTel &amp; FinOps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chargeback telemetry</a:t>
            </a:r>
            <a:endParaRPr lang="en-US" sz="480" dirty="0"/>
          </a:p>
        </p:txBody>
      </p:sp>
      <p:sp>
        <p:nvSpPr>
          <p:cNvPr id="205" name="Shape 183"/>
          <p:cNvSpPr/>
          <p:nvPr/>
        </p:nvSpPr>
        <p:spPr>
          <a:xfrm>
            <a:off x="2836469" y="4833518"/>
            <a:ext cx="493776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06" name="Text 184"/>
          <p:cNvSpPr/>
          <p:nvPr/>
        </p:nvSpPr>
        <p:spPr>
          <a:xfrm>
            <a:off x="2854757" y="4842662"/>
            <a:ext cx="4572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Scoped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 &amp; RAG</a:t>
            </a:r>
            <a:endParaRPr lang="en-US" sz="480" dirty="0"/>
          </a:p>
        </p:txBody>
      </p:sp>
      <p:sp>
        <p:nvSpPr>
          <p:cNvPr id="207" name="Shape 185"/>
          <p:cNvSpPr/>
          <p:nvPr/>
        </p:nvSpPr>
        <p:spPr>
          <a:xfrm>
            <a:off x="2766060" y="5468112"/>
            <a:ext cx="634594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08" name="Text 186"/>
          <p:cNvSpPr/>
          <p:nvPr/>
        </p:nvSpPr>
        <p:spPr>
          <a:xfrm>
            <a:off x="2784348" y="5477256"/>
            <a:ext cx="598018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 LOCAL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current_tenant</a:t>
            </a:r>
            <a:endParaRPr lang="en-US" sz="480" dirty="0"/>
          </a:p>
        </p:txBody>
      </p:sp>
      <p:sp>
        <p:nvSpPr>
          <p:cNvPr id="209" name="Shape 187"/>
          <p:cNvSpPr/>
          <p:nvPr/>
        </p:nvSpPr>
        <p:spPr>
          <a:xfrm>
            <a:off x="5201107" y="4833518"/>
            <a:ext cx="493776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10" name="Text 188"/>
          <p:cNvSpPr/>
          <p:nvPr/>
        </p:nvSpPr>
        <p:spPr>
          <a:xfrm>
            <a:off x="5219395" y="4842662"/>
            <a:ext cx="4572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Air-Gapped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Silo RAG</a:t>
            </a:r>
            <a:endParaRPr lang="en-US" sz="480" dirty="0"/>
          </a:p>
        </p:txBody>
      </p:sp>
      <p:sp>
        <p:nvSpPr>
          <p:cNvPr id="211" name="Shape 189"/>
          <p:cNvSpPr/>
          <p:nvPr/>
        </p:nvSpPr>
        <p:spPr>
          <a:xfrm>
            <a:off x="5130698" y="5468112"/>
            <a:ext cx="634594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12" name="Text 190"/>
          <p:cNvSpPr/>
          <p:nvPr/>
        </p:nvSpPr>
        <p:spPr>
          <a:xfrm>
            <a:off x="5148986" y="5477256"/>
            <a:ext cx="598018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CMEK-Encrypted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State &amp; Tools</a:t>
            </a:r>
            <a:endParaRPr lang="en-US" sz="480" dirty="0"/>
          </a:p>
        </p:txBody>
      </p:sp>
      <p:sp>
        <p:nvSpPr>
          <p:cNvPr id="213" name="Shape 191"/>
          <p:cNvSpPr/>
          <p:nvPr/>
        </p:nvSpPr>
        <p:spPr>
          <a:xfrm>
            <a:off x="1853489" y="5618988"/>
            <a:ext cx="493776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14" name="Text 192"/>
          <p:cNvSpPr/>
          <p:nvPr/>
        </p:nvSpPr>
        <p:spPr>
          <a:xfrm>
            <a:off x="1871777" y="5628132"/>
            <a:ext cx="4572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Generates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</a:t>
            </a:r>
            <a:endParaRPr lang="en-US" sz="480" dirty="0"/>
          </a:p>
        </p:txBody>
      </p:sp>
      <p:sp>
        <p:nvSpPr>
          <p:cNvPr id="215" name="Shape 193"/>
          <p:cNvSpPr/>
          <p:nvPr/>
        </p:nvSpPr>
        <p:spPr>
          <a:xfrm>
            <a:off x="3905402" y="3368650"/>
            <a:ext cx="738835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16" name="Text 194"/>
          <p:cNvSpPr/>
          <p:nvPr/>
        </p:nvSpPr>
        <p:spPr>
          <a:xfrm>
            <a:off x="3923690" y="3377794"/>
            <a:ext cx="702259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Sanitized response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 SDP redaction</a:t>
            </a:r>
            <a:endParaRPr lang="en-US" sz="480" dirty="0"/>
          </a:p>
        </p:txBody>
      </p:sp>
      <p:sp>
        <p:nvSpPr>
          <p:cNvPr id="217" name="Shape 195"/>
          <p:cNvSpPr/>
          <p:nvPr/>
        </p:nvSpPr>
        <p:spPr>
          <a:xfrm>
            <a:off x="2983687" y="3368650"/>
            <a:ext cx="669341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18" name="Text 196"/>
          <p:cNvSpPr/>
          <p:nvPr/>
        </p:nvSpPr>
        <p:spPr>
          <a:xfrm>
            <a:off x="3001975" y="3377794"/>
            <a:ext cx="632765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Route by tenant tier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(Pool, Silo or PSC)</a:t>
            </a:r>
            <a:endParaRPr lang="en-US" sz="480" dirty="0"/>
          </a:p>
        </p:txBody>
      </p:sp>
      <p:sp>
        <p:nvSpPr>
          <p:cNvPr id="219" name="Shape 197"/>
          <p:cNvSpPr/>
          <p:nvPr/>
        </p:nvSpPr>
        <p:spPr>
          <a:xfrm>
            <a:off x="2554834" y="2885846"/>
            <a:ext cx="493776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20" name="Text 198"/>
          <p:cNvSpPr/>
          <p:nvPr/>
        </p:nvSpPr>
        <p:spPr>
          <a:xfrm>
            <a:off x="2573122" y="2894990"/>
            <a:ext cx="4572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OBO + KMS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ECDSA sign</a:t>
            </a:r>
            <a:endParaRPr lang="en-US" sz="480" dirty="0"/>
          </a:p>
        </p:txBody>
      </p:sp>
      <p:sp>
        <p:nvSpPr>
          <p:cNvPr id="221" name="Shape 199"/>
          <p:cNvSpPr/>
          <p:nvPr/>
        </p:nvSpPr>
        <p:spPr>
          <a:xfrm>
            <a:off x="1757477" y="4608576"/>
            <a:ext cx="686714" cy="132588"/>
          </a:xfrm>
          <a:prstGeom prst="roundRect">
            <a:avLst>
              <a:gd name="adj" fmla="val 34483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22" name="Text 200"/>
          <p:cNvSpPr/>
          <p:nvPr/>
        </p:nvSpPr>
        <p:spPr>
          <a:xfrm>
            <a:off x="1775765" y="4617720"/>
            <a:ext cx="650138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Sanitize request</a:t>
            </a:r>
            <a:endParaRPr lang="en-US" sz="480" dirty="0"/>
          </a:p>
        </p:txBody>
      </p:sp>
      <p:sp>
        <p:nvSpPr>
          <p:cNvPr id="223" name="Shape 201"/>
          <p:cNvSpPr/>
          <p:nvPr/>
        </p:nvSpPr>
        <p:spPr>
          <a:xfrm>
            <a:off x="1757477" y="4817059"/>
            <a:ext cx="686714" cy="132588"/>
          </a:xfrm>
          <a:prstGeom prst="roundRect">
            <a:avLst>
              <a:gd name="adj" fmla="val 34483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24" name="Text 202"/>
          <p:cNvSpPr/>
          <p:nvPr/>
        </p:nvSpPr>
        <p:spPr>
          <a:xfrm>
            <a:off x="1775765" y="4826203"/>
            <a:ext cx="650138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Sanitize response</a:t>
            </a:r>
            <a:endParaRPr lang="en-US" sz="480" dirty="0"/>
          </a:p>
        </p:txBody>
      </p:sp>
      <p:sp>
        <p:nvSpPr>
          <p:cNvPr id="225" name="Shape 203"/>
          <p:cNvSpPr/>
          <p:nvPr/>
        </p:nvSpPr>
        <p:spPr>
          <a:xfrm>
            <a:off x="2435962" y="2094890"/>
            <a:ext cx="495605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26" name="Text 204"/>
          <p:cNvSpPr/>
          <p:nvPr/>
        </p:nvSpPr>
        <p:spPr>
          <a:xfrm>
            <a:off x="2454250" y="2104034"/>
            <a:ext cx="459029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Header &amp; WAF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policies</a:t>
            </a:r>
            <a:endParaRPr lang="en-US" sz="480" dirty="0"/>
          </a:p>
        </p:txBody>
      </p:sp>
      <p:sp>
        <p:nvSpPr>
          <p:cNvPr id="227" name="Shape 205"/>
          <p:cNvSpPr/>
          <p:nvPr/>
        </p:nvSpPr>
        <p:spPr>
          <a:xfrm>
            <a:off x="2436876" y="2639873"/>
            <a:ext cx="493776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28" name="Text 206"/>
          <p:cNvSpPr/>
          <p:nvPr/>
        </p:nvSpPr>
        <p:spPr>
          <a:xfrm>
            <a:off x="2455164" y="2649017"/>
            <a:ext cx="4572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Sanitize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</a:t>
            </a:r>
            <a:endParaRPr lang="en-US" sz="480" dirty="0"/>
          </a:p>
        </p:txBody>
      </p:sp>
      <p:sp>
        <p:nvSpPr>
          <p:cNvPr id="229" name="Shape 207"/>
          <p:cNvSpPr/>
          <p:nvPr/>
        </p:nvSpPr>
        <p:spPr>
          <a:xfrm>
            <a:off x="3862426" y="1148486"/>
            <a:ext cx="493776" cy="132588"/>
          </a:xfrm>
          <a:prstGeom prst="roundRect">
            <a:avLst>
              <a:gd name="adj" fmla="val 34483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30" name="Text 208"/>
          <p:cNvSpPr/>
          <p:nvPr/>
        </p:nvSpPr>
        <p:spPr>
          <a:xfrm>
            <a:off x="3880714" y="1157630"/>
            <a:ext cx="4572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</a:t>
            </a:r>
            <a:endParaRPr lang="en-US" sz="480" dirty="0"/>
          </a:p>
        </p:txBody>
      </p:sp>
      <p:sp>
        <p:nvSpPr>
          <p:cNvPr id="231" name="Shape 209"/>
          <p:cNvSpPr/>
          <p:nvPr/>
        </p:nvSpPr>
        <p:spPr>
          <a:xfrm>
            <a:off x="3862426" y="2725826"/>
            <a:ext cx="493776" cy="132588"/>
          </a:xfrm>
          <a:prstGeom prst="roundRect">
            <a:avLst>
              <a:gd name="adj" fmla="val 34483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32" name="Text 210"/>
          <p:cNvSpPr/>
          <p:nvPr/>
        </p:nvSpPr>
        <p:spPr>
          <a:xfrm>
            <a:off x="3880714" y="2734970"/>
            <a:ext cx="4572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</a:t>
            </a:r>
            <a:endParaRPr lang="en-US" sz="480" dirty="0"/>
          </a:p>
        </p:txBody>
      </p:sp>
      <p:sp>
        <p:nvSpPr>
          <p:cNvPr id="233" name="Shape 211"/>
          <p:cNvSpPr/>
          <p:nvPr/>
        </p:nvSpPr>
        <p:spPr>
          <a:xfrm>
            <a:off x="3040380" y="1148486"/>
            <a:ext cx="493776" cy="132588"/>
          </a:xfrm>
          <a:prstGeom prst="roundRect">
            <a:avLst>
              <a:gd name="adj" fmla="val 34483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34" name="Text 212"/>
          <p:cNvSpPr/>
          <p:nvPr/>
        </p:nvSpPr>
        <p:spPr>
          <a:xfrm>
            <a:off x="3058668" y="1157630"/>
            <a:ext cx="4572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Request</a:t>
            </a:r>
            <a:endParaRPr lang="en-US" sz="480" dirty="0"/>
          </a:p>
        </p:txBody>
      </p:sp>
      <p:sp>
        <p:nvSpPr>
          <p:cNvPr id="235" name="Shape 213"/>
          <p:cNvSpPr/>
          <p:nvPr/>
        </p:nvSpPr>
        <p:spPr>
          <a:xfrm>
            <a:off x="3040380" y="2725826"/>
            <a:ext cx="493776" cy="132588"/>
          </a:xfrm>
          <a:prstGeom prst="roundRect">
            <a:avLst>
              <a:gd name="adj" fmla="val 34483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36" name="Text 214"/>
          <p:cNvSpPr/>
          <p:nvPr/>
        </p:nvSpPr>
        <p:spPr>
          <a:xfrm>
            <a:off x="3058668" y="2734970"/>
            <a:ext cx="4572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Request</a:t>
            </a:r>
            <a:endParaRPr lang="en-US" sz="480" dirty="0"/>
          </a:p>
        </p:txBody>
      </p:sp>
      <p:sp>
        <p:nvSpPr>
          <p:cNvPr id="237" name="Text 215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VIS-WS1-MULTI-TENANT-TAXONOMY-OVERVIEW (diagrams/ws1-multi-tenant-taxonomy-overview.drawio)  •  100% Native Editable Shapes + 4-Zone Architecture Center Guide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WS1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WS1 • 5-Actor UML Sequence: End-to-End 5-Hop Request Lifecycle (Steps 1–6)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UML-SEQUENCE-SWIMLANE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960120" y="1517904"/>
            <a:ext cx="10469880" cy="0"/>
          </a:xfrm>
          <a:prstGeom prst="line">
            <a:avLst/>
          </a:prstGeom>
          <a:noFill/>
          <a:ln w="19050">
            <a:solidFill>
              <a:srgbClr val="CBD5E1"/>
            </a:solidFill>
            <a:prstDash val="solid"/>
            <a:tailEnd type="triangle" w="sm" len="sm"/>
          </a:ln>
        </p:spPr>
      </p:sp>
      <p:sp>
        <p:nvSpPr>
          <p:cNvPr id="18" name="Shape 16"/>
          <p:cNvSpPr/>
          <p:nvPr/>
        </p:nvSpPr>
        <p:spPr>
          <a:xfrm>
            <a:off x="576072" y="658368"/>
            <a:ext cx="768096" cy="329184"/>
          </a:xfrm>
          <a:prstGeom prst="roundRect">
            <a:avLst>
              <a:gd name="adj" fmla="val 16667"/>
            </a:avLst>
          </a:prstGeom>
          <a:solidFill>
            <a:srgbClr val="F8F9FA"/>
          </a:solidFill>
          <a:ln w="15240">
            <a:solidFill>
              <a:srgbClr val="0F294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76072" y="658368"/>
            <a:ext cx="76809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1</a:t>
            </a:r>
            <a:endParaRPr lang="en-US" sz="860" dirty="0"/>
          </a:p>
        </p:txBody>
      </p:sp>
      <p:sp>
        <p:nvSpPr>
          <p:cNvPr id="20" name="Text 18"/>
          <p:cNvSpPr/>
          <p:nvPr/>
        </p:nvSpPr>
        <p:spPr>
          <a:xfrm>
            <a:off x="0" y="1024128"/>
            <a:ext cx="1920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Tenant Caller</a:t>
            </a:r>
            <a:endParaRPr lang="en-US" sz="940" dirty="0"/>
          </a:p>
        </p:txBody>
      </p:sp>
      <p:sp>
        <p:nvSpPr>
          <p:cNvPr id="21" name="Shape 19"/>
          <p:cNvSpPr/>
          <p:nvPr/>
        </p:nvSpPr>
        <p:spPr>
          <a:xfrm>
            <a:off x="868680" y="1417320"/>
            <a:ext cx="182880" cy="182880"/>
          </a:xfrm>
          <a:prstGeom prst="ellipse">
            <a:avLst/>
          </a:prstGeom>
          <a:solidFill>
            <a:srgbClr val="0F2942"/>
          </a:solidFill>
          <a:ln/>
        </p:spPr>
      </p:sp>
      <p:sp>
        <p:nvSpPr>
          <p:cNvPr id="22" name="Shape 20"/>
          <p:cNvSpPr/>
          <p:nvPr/>
        </p:nvSpPr>
        <p:spPr>
          <a:xfrm>
            <a:off x="960120" y="1600200"/>
            <a:ext cx="0" cy="4498848"/>
          </a:xfrm>
          <a:prstGeom prst="line">
            <a:avLst/>
          </a:prstGeom>
          <a:noFill/>
          <a:ln w="15240">
            <a:solidFill>
              <a:srgbClr val="CBD5E1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679192" y="658368"/>
            <a:ext cx="768096" cy="329184"/>
          </a:xfrm>
          <a:prstGeom prst="roundRect">
            <a:avLst>
              <a:gd name="adj" fmla="val 16667"/>
            </a:avLst>
          </a:prstGeom>
          <a:solidFill>
            <a:srgbClr val="F8F9FA"/>
          </a:solidFill>
          <a:ln w="15240">
            <a:solidFill>
              <a:srgbClr val="0D7A7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679192" y="658368"/>
            <a:ext cx="76809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0D7A7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 1</a:t>
            </a:r>
            <a:endParaRPr lang="en-US" sz="860" dirty="0"/>
          </a:p>
        </p:txBody>
      </p:sp>
      <p:sp>
        <p:nvSpPr>
          <p:cNvPr id="25" name="Text 23"/>
          <p:cNvSpPr/>
          <p:nvPr/>
        </p:nvSpPr>
        <p:spPr>
          <a:xfrm>
            <a:off x="2103120" y="1024128"/>
            <a:ext cx="1920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 1: Edge &amp; IAM STS</a:t>
            </a:r>
            <a:endParaRPr lang="en-US" sz="940" dirty="0"/>
          </a:p>
        </p:txBody>
      </p:sp>
      <p:sp>
        <p:nvSpPr>
          <p:cNvPr id="26" name="Shape 24"/>
          <p:cNvSpPr/>
          <p:nvPr/>
        </p:nvSpPr>
        <p:spPr>
          <a:xfrm>
            <a:off x="2971800" y="1417320"/>
            <a:ext cx="182880" cy="182880"/>
          </a:xfrm>
          <a:prstGeom prst="ellipse">
            <a:avLst/>
          </a:prstGeom>
          <a:solidFill>
            <a:srgbClr val="0D7A75"/>
          </a:solidFill>
          <a:ln/>
        </p:spPr>
      </p:sp>
      <p:sp>
        <p:nvSpPr>
          <p:cNvPr id="27" name="Shape 25"/>
          <p:cNvSpPr/>
          <p:nvPr/>
        </p:nvSpPr>
        <p:spPr>
          <a:xfrm>
            <a:off x="3063240" y="1600200"/>
            <a:ext cx="0" cy="4498848"/>
          </a:xfrm>
          <a:prstGeom prst="line">
            <a:avLst/>
          </a:prstGeom>
          <a:noFill/>
          <a:ln w="15240">
            <a:solidFill>
              <a:srgbClr val="CBD5E1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782312" y="658368"/>
            <a:ext cx="768096" cy="329184"/>
          </a:xfrm>
          <a:prstGeom prst="roundRect">
            <a:avLst>
              <a:gd name="adj" fmla="val 16667"/>
            </a:avLst>
          </a:prstGeom>
          <a:solidFill>
            <a:srgbClr val="F8F9FA"/>
          </a:solidFill>
          <a:ln w="15240">
            <a:solidFill>
              <a:srgbClr val="54728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782312" y="658368"/>
            <a:ext cx="76809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54728C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 2-3</a:t>
            </a:r>
            <a:endParaRPr lang="en-US" sz="860" dirty="0"/>
          </a:p>
        </p:txBody>
      </p:sp>
      <p:sp>
        <p:nvSpPr>
          <p:cNvPr id="30" name="Text 28"/>
          <p:cNvSpPr/>
          <p:nvPr/>
        </p:nvSpPr>
        <p:spPr>
          <a:xfrm>
            <a:off x="4206240" y="1024128"/>
            <a:ext cx="1920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Hops 2–3: ARD &amp; Memory</a:t>
            </a:r>
            <a:endParaRPr lang="en-US" sz="940" dirty="0"/>
          </a:p>
        </p:txBody>
      </p:sp>
      <p:sp>
        <p:nvSpPr>
          <p:cNvPr id="31" name="Shape 29"/>
          <p:cNvSpPr/>
          <p:nvPr/>
        </p:nvSpPr>
        <p:spPr>
          <a:xfrm>
            <a:off x="5074920" y="1417320"/>
            <a:ext cx="182880" cy="182880"/>
          </a:xfrm>
          <a:prstGeom prst="ellipse">
            <a:avLst/>
          </a:prstGeom>
          <a:solidFill>
            <a:srgbClr val="54728C"/>
          </a:solidFill>
          <a:ln/>
        </p:spPr>
      </p:sp>
      <p:sp>
        <p:nvSpPr>
          <p:cNvPr id="32" name="Shape 30"/>
          <p:cNvSpPr/>
          <p:nvPr/>
        </p:nvSpPr>
        <p:spPr>
          <a:xfrm>
            <a:off x="5166360" y="1600200"/>
            <a:ext cx="0" cy="4498848"/>
          </a:xfrm>
          <a:prstGeom prst="line">
            <a:avLst/>
          </a:prstGeom>
          <a:noFill/>
          <a:ln w="15240">
            <a:solidFill>
              <a:srgbClr val="CBD5E1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885432" y="658368"/>
            <a:ext cx="768096" cy="329184"/>
          </a:xfrm>
          <a:prstGeom prst="roundRect">
            <a:avLst>
              <a:gd name="adj" fmla="val 16667"/>
            </a:avLst>
          </a:prstGeom>
          <a:solidFill>
            <a:srgbClr val="F8F9FA"/>
          </a:solidFill>
          <a:ln w="15240">
            <a:solidFill>
              <a:srgbClr val="38988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885432" y="658368"/>
            <a:ext cx="76809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38988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 4</a:t>
            </a:r>
            <a:endParaRPr lang="en-US" sz="860" dirty="0"/>
          </a:p>
        </p:txBody>
      </p:sp>
      <p:sp>
        <p:nvSpPr>
          <p:cNvPr id="35" name="Text 33"/>
          <p:cNvSpPr/>
          <p:nvPr/>
        </p:nvSpPr>
        <p:spPr>
          <a:xfrm>
            <a:off x="6309360" y="1024128"/>
            <a:ext cx="1920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 4: Model Armor &amp; LLM</a:t>
            </a:r>
            <a:endParaRPr lang="en-US" sz="940" dirty="0"/>
          </a:p>
        </p:txBody>
      </p:sp>
      <p:sp>
        <p:nvSpPr>
          <p:cNvPr id="36" name="Shape 34"/>
          <p:cNvSpPr/>
          <p:nvPr/>
        </p:nvSpPr>
        <p:spPr>
          <a:xfrm>
            <a:off x="7178040" y="1417320"/>
            <a:ext cx="182880" cy="182880"/>
          </a:xfrm>
          <a:prstGeom prst="ellipse">
            <a:avLst/>
          </a:prstGeom>
          <a:solidFill>
            <a:srgbClr val="38988E"/>
          </a:solidFill>
          <a:ln/>
        </p:spPr>
      </p:sp>
      <p:sp>
        <p:nvSpPr>
          <p:cNvPr id="37" name="Shape 35"/>
          <p:cNvSpPr/>
          <p:nvPr/>
        </p:nvSpPr>
        <p:spPr>
          <a:xfrm>
            <a:off x="7269480" y="1600200"/>
            <a:ext cx="0" cy="4498848"/>
          </a:xfrm>
          <a:prstGeom prst="line">
            <a:avLst/>
          </a:prstGeom>
          <a:noFill/>
          <a:ln w="15240">
            <a:solidFill>
              <a:srgbClr val="CBD5E1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9171432" y="658368"/>
            <a:ext cx="768096" cy="329184"/>
          </a:xfrm>
          <a:prstGeom prst="roundRect">
            <a:avLst>
              <a:gd name="adj" fmla="val 16667"/>
            </a:avLst>
          </a:prstGeom>
          <a:solidFill>
            <a:srgbClr val="F8F9FA"/>
          </a:solidFill>
          <a:ln w="15240">
            <a:solidFill>
              <a:srgbClr val="0F2942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9171432" y="658368"/>
            <a:ext cx="76809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 5</a:t>
            </a:r>
            <a:endParaRPr lang="en-US" sz="860" dirty="0"/>
          </a:p>
        </p:txBody>
      </p:sp>
      <p:sp>
        <p:nvSpPr>
          <p:cNvPr id="40" name="Text 38"/>
          <p:cNvSpPr/>
          <p:nvPr/>
        </p:nvSpPr>
        <p:spPr>
          <a:xfrm>
            <a:off x="8595360" y="1024128"/>
            <a:ext cx="1920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 5: MCP &amp; AlloyDB</a:t>
            </a:r>
            <a:endParaRPr lang="en-US" sz="940" dirty="0"/>
          </a:p>
        </p:txBody>
      </p:sp>
      <p:sp>
        <p:nvSpPr>
          <p:cNvPr id="41" name="Shape 39"/>
          <p:cNvSpPr/>
          <p:nvPr/>
        </p:nvSpPr>
        <p:spPr>
          <a:xfrm>
            <a:off x="9464040" y="1417320"/>
            <a:ext cx="182880" cy="182880"/>
          </a:xfrm>
          <a:prstGeom prst="ellipse">
            <a:avLst/>
          </a:prstGeom>
          <a:solidFill>
            <a:srgbClr val="0F2942"/>
          </a:solidFill>
          <a:ln/>
        </p:spPr>
      </p:sp>
      <p:sp>
        <p:nvSpPr>
          <p:cNvPr id="42" name="Shape 40"/>
          <p:cNvSpPr/>
          <p:nvPr/>
        </p:nvSpPr>
        <p:spPr>
          <a:xfrm>
            <a:off x="9555480" y="1600200"/>
            <a:ext cx="0" cy="4498848"/>
          </a:xfrm>
          <a:prstGeom prst="line">
            <a:avLst/>
          </a:prstGeom>
          <a:noFill/>
          <a:ln w="15240">
            <a:solidFill>
              <a:srgbClr val="CBD5E1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886968" y="1737360"/>
            <a:ext cx="146304" cy="685800"/>
          </a:xfrm>
          <a:prstGeom prst="roundRect">
            <a:avLst>
              <a:gd name="adj" fmla="val 25000"/>
            </a:avLst>
          </a:prstGeom>
          <a:solidFill>
            <a:srgbClr val="0F2942"/>
          </a:solidFill>
          <a:ln/>
        </p:spPr>
      </p:sp>
      <p:sp>
        <p:nvSpPr>
          <p:cNvPr id="44" name="Shape 42"/>
          <p:cNvSpPr/>
          <p:nvPr/>
        </p:nvSpPr>
        <p:spPr>
          <a:xfrm>
            <a:off x="2990088" y="1874520"/>
            <a:ext cx="146304" cy="1234440"/>
          </a:xfrm>
          <a:prstGeom prst="roundRect">
            <a:avLst>
              <a:gd name="adj" fmla="val 25000"/>
            </a:avLst>
          </a:prstGeom>
          <a:solidFill>
            <a:srgbClr val="0D7A75"/>
          </a:solidFill>
          <a:ln/>
        </p:spPr>
      </p:sp>
      <p:sp>
        <p:nvSpPr>
          <p:cNvPr id="45" name="Shape 43"/>
          <p:cNvSpPr/>
          <p:nvPr/>
        </p:nvSpPr>
        <p:spPr>
          <a:xfrm>
            <a:off x="5093208" y="2514600"/>
            <a:ext cx="146304" cy="1234440"/>
          </a:xfrm>
          <a:prstGeom prst="roundRect">
            <a:avLst>
              <a:gd name="adj" fmla="val 25000"/>
            </a:avLst>
          </a:prstGeom>
          <a:solidFill>
            <a:srgbClr val="54728C"/>
          </a:solidFill>
          <a:ln/>
        </p:spPr>
      </p:sp>
      <p:sp>
        <p:nvSpPr>
          <p:cNvPr id="46" name="Shape 44"/>
          <p:cNvSpPr/>
          <p:nvPr/>
        </p:nvSpPr>
        <p:spPr>
          <a:xfrm>
            <a:off x="7196328" y="3154680"/>
            <a:ext cx="146304" cy="1783080"/>
          </a:xfrm>
          <a:prstGeom prst="roundRect">
            <a:avLst>
              <a:gd name="adj" fmla="val 25000"/>
            </a:avLst>
          </a:prstGeom>
          <a:solidFill>
            <a:srgbClr val="38988E"/>
          </a:solidFill>
          <a:ln/>
        </p:spPr>
      </p:sp>
      <p:sp>
        <p:nvSpPr>
          <p:cNvPr id="47" name="Shape 45"/>
          <p:cNvSpPr/>
          <p:nvPr/>
        </p:nvSpPr>
        <p:spPr>
          <a:xfrm>
            <a:off x="9482328" y="4480560"/>
            <a:ext cx="146304" cy="1517904"/>
          </a:xfrm>
          <a:prstGeom prst="roundRect">
            <a:avLst>
              <a:gd name="adj" fmla="val 25000"/>
            </a:avLst>
          </a:prstGeom>
          <a:solidFill>
            <a:srgbClr val="0F2942"/>
          </a:solidFill>
          <a:ln/>
        </p:spPr>
      </p:sp>
      <p:sp>
        <p:nvSpPr>
          <p:cNvPr id="48" name="Shape 46"/>
          <p:cNvSpPr/>
          <p:nvPr/>
        </p:nvSpPr>
        <p:spPr>
          <a:xfrm>
            <a:off x="1078992" y="1700784"/>
            <a:ext cx="292608" cy="292608"/>
          </a:xfrm>
          <a:prstGeom prst="ellipse">
            <a:avLst/>
          </a:prstGeom>
          <a:solidFill>
            <a:srgbClr val="0F2942"/>
          </a:solidFill>
          <a:ln/>
        </p:spPr>
      </p:sp>
      <p:sp>
        <p:nvSpPr>
          <p:cNvPr id="49" name="Text 47"/>
          <p:cNvSpPr/>
          <p:nvPr/>
        </p:nvSpPr>
        <p:spPr>
          <a:xfrm>
            <a:off x="1078992" y="1700784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1</a:t>
            </a:r>
            <a:endParaRPr lang="en-US" sz="1100" dirty="0"/>
          </a:p>
        </p:txBody>
      </p:sp>
      <p:sp>
        <p:nvSpPr>
          <p:cNvPr id="50" name="Text 48"/>
          <p:cNvSpPr/>
          <p:nvPr/>
        </p:nvSpPr>
        <p:spPr>
          <a:xfrm>
            <a:off x="1426464" y="1627632"/>
            <a:ext cx="153619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Caller sends OIDC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JWT + DPoP proof</a:t>
            </a:r>
            <a:endParaRPr lang="en-US" sz="800" dirty="0"/>
          </a:p>
        </p:txBody>
      </p:sp>
      <p:sp>
        <p:nvSpPr>
          <p:cNvPr id="51" name="Shape 49"/>
          <p:cNvSpPr/>
          <p:nvPr/>
        </p:nvSpPr>
        <p:spPr>
          <a:xfrm>
            <a:off x="1033272" y="2249424"/>
            <a:ext cx="1956816" cy="0"/>
          </a:xfrm>
          <a:prstGeom prst="line">
            <a:avLst/>
          </a:prstGeom>
          <a:noFill/>
          <a:ln w="19050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52" name="Text 50"/>
          <p:cNvSpPr/>
          <p:nvPr/>
        </p:nvSpPr>
        <p:spPr>
          <a:xfrm>
            <a:off x="1261872" y="2048256"/>
            <a:ext cx="149961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0F2942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HTTPS + DPoP JWT</a:t>
            </a:r>
            <a:endParaRPr lang="en-US" sz="780" dirty="0"/>
          </a:p>
        </p:txBody>
      </p:sp>
      <p:sp>
        <p:nvSpPr>
          <p:cNvPr id="53" name="Shape 51"/>
          <p:cNvSpPr/>
          <p:nvPr/>
        </p:nvSpPr>
        <p:spPr>
          <a:xfrm>
            <a:off x="3182112" y="2267712"/>
            <a:ext cx="292608" cy="292608"/>
          </a:xfrm>
          <a:prstGeom prst="ellipse">
            <a:avLst/>
          </a:prstGeom>
          <a:solidFill>
            <a:srgbClr val="0D7A75"/>
          </a:solidFill>
          <a:ln/>
        </p:spPr>
      </p:sp>
      <p:sp>
        <p:nvSpPr>
          <p:cNvPr id="54" name="Text 52"/>
          <p:cNvSpPr/>
          <p:nvPr/>
        </p:nvSpPr>
        <p:spPr>
          <a:xfrm>
            <a:off x="3182112" y="226771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2</a:t>
            </a:r>
            <a:endParaRPr lang="en-US" sz="1100" dirty="0"/>
          </a:p>
        </p:txBody>
      </p:sp>
      <p:sp>
        <p:nvSpPr>
          <p:cNvPr id="55" name="Text 53"/>
          <p:cNvSpPr/>
          <p:nvPr/>
        </p:nvSpPr>
        <p:spPr>
          <a:xfrm>
            <a:off x="3529584" y="2231136"/>
            <a:ext cx="153619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 1 strips spoofed</a:t>
            </a:r>
            <a:endParaRPr lang="en-US" sz="780" dirty="0"/>
          </a:p>
          <a:p>
            <a:pPr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headers &amp; mints OBO</a:t>
            </a:r>
            <a:endParaRPr lang="en-US" sz="780" dirty="0"/>
          </a:p>
          <a:p>
            <a:pPr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TenantContext</a:t>
            </a:r>
            <a:endParaRPr lang="en-US" sz="780" dirty="0"/>
          </a:p>
        </p:txBody>
      </p:sp>
      <p:sp>
        <p:nvSpPr>
          <p:cNvPr id="56" name="Shape 54"/>
          <p:cNvSpPr/>
          <p:nvPr/>
        </p:nvSpPr>
        <p:spPr>
          <a:xfrm>
            <a:off x="3136392" y="2907792"/>
            <a:ext cx="1956816" cy="0"/>
          </a:xfrm>
          <a:prstGeom prst="line">
            <a:avLst/>
          </a:prstGeom>
          <a:noFill/>
          <a:ln w="19050">
            <a:solidFill>
              <a:srgbClr val="0D7A75"/>
            </a:solidFill>
            <a:prstDash val="solid"/>
            <a:tailEnd type="triangle" w="sm" len="sm"/>
          </a:ln>
        </p:spPr>
      </p:sp>
      <p:sp>
        <p:nvSpPr>
          <p:cNvPr id="57" name="Text 55"/>
          <p:cNvSpPr/>
          <p:nvPr/>
        </p:nvSpPr>
        <p:spPr>
          <a:xfrm>
            <a:off x="3163824" y="2697480"/>
            <a:ext cx="1901952" cy="17373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0D7A7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Verify OBO + DPoP → Mint Sealed TenantContext</a:t>
            </a:r>
            <a:endParaRPr lang="en-US" sz="700" dirty="0"/>
          </a:p>
        </p:txBody>
      </p:sp>
      <p:sp>
        <p:nvSpPr>
          <p:cNvPr id="58" name="Shape 56"/>
          <p:cNvSpPr/>
          <p:nvPr/>
        </p:nvSpPr>
        <p:spPr>
          <a:xfrm>
            <a:off x="5285232" y="2926080"/>
            <a:ext cx="292608" cy="292608"/>
          </a:xfrm>
          <a:prstGeom prst="ellipse">
            <a:avLst/>
          </a:prstGeom>
          <a:solidFill>
            <a:srgbClr val="54728C"/>
          </a:solidFill>
          <a:ln/>
        </p:spPr>
      </p:sp>
      <p:sp>
        <p:nvSpPr>
          <p:cNvPr id="59" name="Text 57"/>
          <p:cNvSpPr/>
          <p:nvPr/>
        </p:nvSpPr>
        <p:spPr>
          <a:xfrm>
            <a:off x="5285232" y="2926080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3</a:t>
            </a:r>
            <a:endParaRPr lang="en-US" sz="1100" dirty="0"/>
          </a:p>
        </p:txBody>
      </p:sp>
      <p:sp>
        <p:nvSpPr>
          <p:cNvPr id="60" name="Text 58"/>
          <p:cNvSpPr/>
          <p:nvPr/>
        </p:nvSpPr>
        <p:spPr>
          <a:xfrm>
            <a:off x="5632704" y="2889504"/>
            <a:ext cx="153619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Hops 2–3 filter ARD</a:t>
            </a:r>
            <a:endParaRPr lang="en-US" sz="780" dirty="0"/>
          </a:p>
          <a:p>
            <a:pPr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catalog &amp; scope L1–L5</a:t>
            </a:r>
            <a:endParaRPr lang="en-US" sz="780" dirty="0"/>
          </a:p>
          <a:p>
            <a:pPr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memory namespace</a:t>
            </a:r>
            <a:endParaRPr lang="en-US" sz="780" dirty="0"/>
          </a:p>
        </p:txBody>
      </p:sp>
      <p:sp>
        <p:nvSpPr>
          <p:cNvPr id="61" name="Shape 59"/>
          <p:cNvSpPr/>
          <p:nvPr/>
        </p:nvSpPr>
        <p:spPr>
          <a:xfrm>
            <a:off x="5239512" y="3547872"/>
            <a:ext cx="1956816" cy="0"/>
          </a:xfrm>
          <a:prstGeom prst="line">
            <a:avLst/>
          </a:prstGeom>
          <a:noFill/>
          <a:ln w="19050">
            <a:solidFill>
              <a:srgbClr val="54728C"/>
            </a:solidFill>
            <a:prstDash val="solid"/>
            <a:tailEnd type="triangle" w="sm" len="sm"/>
          </a:ln>
        </p:spPr>
      </p:sp>
      <p:sp>
        <p:nvSpPr>
          <p:cNvPr id="62" name="Text 60"/>
          <p:cNvSpPr/>
          <p:nvPr/>
        </p:nvSpPr>
        <p:spPr>
          <a:xfrm>
            <a:off x="5266944" y="3337560"/>
            <a:ext cx="1901952" cy="17373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54728C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ARD • Scoped Agent &amp; Memory ACL</a:t>
            </a:r>
            <a:endParaRPr lang="en-US" sz="720" dirty="0"/>
          </a:p>
        </p:txBody>
      </p:sp>
      <p:sp>
        <p:nvSpPr>
          <p:cNvPr id="63" name="Shape 61"/>
          <p:cNvSpPr/>
          <p:nvPr/>
        </p:nvSpPr>
        <p:spPr>
          <a:xfrm>
            <a:off x="7406640" y="3200400"/>
            <a:ext cx="292608" cy="292608"/>
          </a:xfrm>
          <a:prstGeom prst="ellipse">
            <a:avLst/>
          </a:prstGeom>
          <a:solidFill>
            <a:srgbClr val="38988E"/>
          </a:solidFill>
          <a:ln/>
        </p:spPr>
      </p:sp>
      <p:sp>
        <p:nvSpPr>
          <p:cNvPr id="64" name="Text 62"/>
          <p:cNvSpPr/>
          <p:nvPr/>
        </p:nvSpPr>
        <p:spPr>
          <a:xfrm>
            <a:off x="7406640" y="3200400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4</a:t>
            </a:r>
            <a:endParaRPr lang="en-US" sz="1100" dirty="0"/>
          </a:p>
        </p:txBody>
      </p:sp>
      <p:sp>
        <p:nvSpPr>
          <p:cNvPr id="65" name="Text 63"/>
          <p:cNvSpPr/>
          <p:nvPr/>
        </p:nvSpPr>
        <p:spPr>
          <a:xfrm>
            <a:off x="7754112" y="3163824"/>
            <a:ext cx="171907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 4 screens prompt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in Model Armor &amp; hits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90% shared prefix cache</a:t>
            </a:r>
            <a:endParaRPr lang="en-US" sz="800" dirty="0"/>
          </a:p>
        </p:txBody>
      </p:sp>
      <p:sp>
        <p:nvSpPr>
          <p:cNvPr id="66" name="Shape 64"/>
          <p:cNvSpPr/>
          <p:nvPr/>
        </p:nvSpPr>
        <p:spPr>
          <a:xfrm>
            <a:off x="7388352" y="3675888"/>
            <a:ext cx="2048256" cy="658368"/>
          </a:xfrm>
          <a:prstGeom prst="roundRect">
            <a:avLst>
              <a:gd name="adj" fmla="val 6944"/>
            </a:avLst>
          </a:prstGeom>
          <a:solidFill>
            <a:srgbClr val="E6F4EA"/>
          </a:solidFill>
          <a:ln w="12700">
            <a:solidFill>
              <a:srgbClr val="1E8E3E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7443216" y="3712464"/>
            <a:ext cx="19385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90% Shared Prefix</a:t>
            </a:r>
            <a:endParaRPr lang="en-US" sz="820" dirty="0"/>
          </a:p>
          <a:p>
            <a:pPr algn="ctr" indent="0" marL="0">
              <a:buNone/>
            </a:pPr>
            <a:r>
              <a:rPr lang="en-US" sz="82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Cache Hit (32k Tok)</a:t>
            </a:r>
            <a:endParaRPr lang="en-US" sz="820" dirty="0"/>
          </a:p>
        </p:txBody>
      </p:sp>
      <p:sp>
        <p:nvSpPr>
          <p:cNvPr id="68" name="Text 66"/>
          <p:cNvSpPr/>
          <p:nvPr/>
        </p:nvSpPr>
        <p:spPr>
          <a:xfrm>
            <a:off x="7443216" y="4078224"/>
            <a:ext cx="193852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SLA: 84.7% Net Token Cost Reduction</a:t>
            </a:r>
            <a:endParaRPr lang="en-US" sz="740" dirty="0"/>
          </a:p>
        </p:txBody>
      </p:sp>
      <p:sp>
        <p:nvSpPr>
          <p:cNvPr id="69" name="Shape 67"/>
          <p:cNvSpPr/>
          <p:nvPr/>
        </p:nvSpPr>
        <p:spPr>
          <a:xfrm>
            <a:off x="7406640" y="4498848"/>
            <a:ext cx="292608" cy="292608"/>
          </a:xfrm>
          <a:prstGeom prst="ellipse">
            <a:avLst/>
          </a:prstGeom>
          <a:solidFill>
            <a:srgbClr val="0D7A75"/>
          </a:solidFill>
          <a:ln/>
        </p:spPr>
      </p:sp>
      <p:sp>
        <p:nvSpPr>
          <p:cNvPr id="70" name="Text 68"/>
          <p:cNvSpPr/>
          <p:nvPr/>
        </p:nvSpPr>
        <p:spPr>
          <a:xfrm>
            <a:off x="7406640" y="4498848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5</a:t>
            </a:r>
            <a:endParaRPr lang="en-US" sz="1100" dirty="0"/>
          </a:p>
        </p:txBody>
      </p:sp>
      <p:sp>
        <p:nvSpPr>
          <p:cNvPr id="71" name="Shape 69"/>
          <p:cNvSpPr/>
          <p:nvPr/>
        </p:nvSpPr>
        <p:spPr>
          <a:xfrm>
            <a:off x="6272784" y="4517136"/>
            <a:ext cx="859536" cy="274320"/>
          </a:xfrm>
          <a:prstGeom prst="roundRect">
            <a:avLst>
              <a:gd name="adj" fmla="val 16667"/>
            </a:avLst>
          </a:prstGeom>
          <a:solidFill>
            <a:srgbClr val="54728C"/>
          </a:solidFill>
          <a:ln/>
        </p:spPr>
      </p:sp>
      <p:sp>
        <p:nvSpPr>
          <p:cNvPr id="72" name="Text 70"/>
          <p:cNvSpPr/>
          <p:nvPr/>
        </p:nvSpPr>
        <p:spPr>
          <a:xfrm>
            <a:off x="6272784" y="4517136"/>
            <a:ext cx="85953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RLS + 3LO</a:t>
            </a:r>
            <a:endParaRPr lang="en-US" sz="800" dirty="0"/>
          </a:p>
        </p:txBody>
      </p:sp>
      <p:sp>
        <p:nvSpPr>
          <p:cNvPr id="73" name="Text 71"/>
          <p:cNvSpPr/>
          <p:nvPr/>
        </p:nvSpPr>
        <p:spPr>
          <a:xfrm>
            <a:off x="5321808" y="4846320"/>
            <a:ext cx="184708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 5 binds AlloyDB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RLS session &amp; exchanges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3LO MCP OAuth token</a:t>
            </a:r>
            <a:endParaRPr lang="en-US" sz="800" dirty="0"/>
          </a:p>
        </p:txBody>
      </p:sp>
      <p:sp>
        <p:nvSpPr>
          <p:cNvPr id="74" name="Shape 72"/>
          <p:cNvSpPr/>
          <p:nvPr/>
        </p:nvSpPr>
        <p:spPr>
          <a:xfrm>
            <a:off x="7342632" y="4901184"/>
            <a:ext cx="2139696" cy="0"/>
          </a:xfrm>
          <a:prstGeom prst="line">
            <a:avLst/>
          </a:prstGeom>
          <a:noFill/>
          <a:ln w="19050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75" name="Text 73"/>
          <p:cNvSpPr/>
          <p:nvPr/>
        </p:nvSpPr>
        <p:spPr>
          <a:xfrm>
            <a:off x="7735824" y="4681728"/>
            <a:ext cx="168249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F2942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SET LOCAL tenant_id</a:t>
            </a:r>
            <a:endParaRPr lang="en-US" sz="800" dirty="0"/>
          </a:p>
        </p:txBody>
      </p:sp>
      <p:sp>
        <p:nvSpPr>
          <p:cNvPr id="76" name="Shape 74"/>
          <p:cNvSpPr/>
          <p:nvPr/>
        </p:nvSpPr>
        <p:spPr>
          <a:xfrm>
            <a:off x="9692640" y="4572000"/>
            <a:ext cx="292608" cy="292608"/>
          </a:xfrm>
          <a:prstGeom prst="ellipse">
            <a:avLst/>
          </a:prstGeom>
          <a:solidFill>
            <a:srgbClr val="0F2942"/>
          </a:solidFill>
          <a:ln/>
        </p:spPr>
      </p:sp>
      <p:sp>
        <p:nvSpPr>
          <p:cNvPr id="77" name="Text 75"/>
          <p:cNvSpPr/>
          <p:nvPr/>
        </p:nvSpPr>
        <p:spPr>
          <a:xfrm>
            <a:off x="9692640" y="4572000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6</a:t>
            </a:r>
            <a:endParaRPr lang="en-US" sz="1100" dirty="0"/>
          </a:p>
        </p:txBody>
      </p:sp>
      <p:sp>
        <p:nvSpPr>
          <p:cNvPr id="78" name="Text 76"/>
          <p:cNvSpPr/>
          <p:nvPr/>
        </p:nvSpPr>
        <p:spPr>
          <a:xfrm>
            <a:off x="10040112" y="4535424"/>
            <a:ext cx="1773936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Executes parameterized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SQL (0 cross-tenant rows)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&amp; streams OTel span</a:t>
            </a:r>
            <a:endParaRPr lang="en-US" sz="800" dirty="0"/>
          </a:p>
        </p:txBody>
      </p:sp>
      <p:sp>
        <p:nvSpPr>
          <p:cNvPr id="79" name="Shape 77"/>
          <p:cNvSpPr/>
          <p:nvPr/>
        </p:nvSpPr>
        <p:spPr>
          <a:xfrm>
            <a:off x="9692640" y="5102352"/>
            <a:ext cx="2121408" cy="877824"/>
          </a:xfrm>
          <a:prstGeom prst="roundRect">
            <a:avLst>
              <a:gd name="adj" fmla="val 6250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9765792" y="5157216"/>
            <a:ext cx="1408176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Enforce RLS Predicate (0 Foreign Rows)</a:t>
            </a:r>
            <a:endParaRPr lang="en-US" sz="760" dirty="0"/>
          </a:p>
          <a:p>
            <a:pPr indent="0" marL="0">
              <a:buNone/>
            </a:pPr>
            <a:r>
              <a:rPr lang="en-US" sz="7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Stream Zero-PII Span (BigQuery OTel)</a:t>
            </a:r>
            <a:endParaRPr lang="en-US" sz="760" dirty="0"/>
          </a:p>
        </p:txBody>
      </p:sp>
      <p:sp>
        <p:nvSpPr>
          <p:cNvPr id="81" name="Shape 79"/>
          <p:cNvSpPr/>
          <p:nvPr/>
        </p:nvSpPr>
        <p:spPr>
          <a:xfrm>
            <a:off x="11192256" y="5285232"/>
            <a:ext cx="548640" cy="512064"/>
          </a:xfrm>
          <a:prstGeom prst="roundRect">
            <a:avLst>
              <a:gd name="adj" fmla="val 10714"/>
            </a:avLst>
          </a:prstGeom>
          <a:solidFill>
            <a:srgbClr val="0F2942"/>
          </a:solidFill>
          <a:ln/>
        </p:spPr>
      </p:sp>
      <p:sp>
        <p:nvSpPr>
          <p:cNvPr id="82" name="Text 80"/>
          <p:cNvSpPr/>
          <p:nvPr/>
        </p:nvSpPr>
        <p:spPr>
          <a:xfrm>
            <a:off x="11192256" y="5285232"/>
            <a:ext cx="5486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OTel</a:t>
            </a:r>
            <a:endParaRPr lang="en-US" sz="780" dirty="0"/>
          </a:p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200</a:t>
            </a:r>
            <a:endParaRPr lang="en-US" sz="780" dirty="0"/>
          </a:p>
        </p:txBody>
      </p:sp>
      <p:sp>
        <p:nvSpPr>
          <p:cNvPr id="83" name="Text 81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1 5-Hop Sequence  •  Chronological Execution Across Edge STS, ARD/Memory, Model Armor &amp; AlloyDB RLS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WS1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WS1 • Hop 1 Spoofed Header Stripping &amp; OBO + DPoP Context Minting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PAYLOAD-TRANSFORMATION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530352" y="603504"/>
            <a:ext cx="111373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Wire-level protocol normalization: Untrusted Ingress Payload (#D93025) → 5-Hop Policy Engine (#1B5E7B) → Sealed Compliant Context (#1E8E3E)</a:t>
            </a:r>
            <a:endParaRPr lang="en-US" sz="1020" dirty="0"/>
          </a:p>
        </p:txBody>
      </p:sp>
      <p:sp>
        <p:nvSpPr>
          <p:cNvPr id="18" name="Shape 16"/>
          <p:cNvSpPr/>
          <p:nvPr/>
        </p:nvSpPr>
        <p:spPr>
          <a:xfrm>
            <a:off x="530352" y="950976"/>
            <a:ext cx="3310128" cy="4956048"/>
          </a:xfrm>
          <a:prstGeom prst="roundRect">
            <a:avLst>
              <a:gd name="adj" fmla="val 2210"/>
            </a:avLst>
          </a:prstGeom>
          <a:solidFill>
            <a:srgbClr val="FFFFFF"/>
          </a:solidFill>
          <a:ln w="22225">
            <a:solidFill>
              <a:srgbClr val="D9302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13232" y="1133856"/>
            <a:ext cx="2944368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Untrusted Caller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Ingress Request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804672" y="1956816"/>
            <a:ext cx="2761488" cy="0"/>
          </a:xfrm>
          <a:prstGeom prst="line">
            <a:avLst/>
          </a:prstGeom>
          <a:noFill/>
          <a:ln w="19050">
            <a:solidFill>
              <a:srgbClr val="D9302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04672" y="21031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932688" y="2432304"/>
            <a:ext cx="2615184" cy="384048"/>
          </a:xfrm>
          <a:prstGeom prst="roundRect">
            <a:avLst>
              <a:gd name="adj" fmla="val 9524"/>
            </a:avLst>
          </a:prstGeom>
          <a:solidFill>
            <a:srgbClr val="D2E3FC"/>
          </a:solidFill>
          <a:ln/>
        </p:spPr>
      </p:sp>
      <p:sp>
        <p:nvSpPr>
          <p:cNvPr id="23" name="Text 21"/>
          <p:cNvSpPr/>
          <p:nvPr/>
        </p:nvSpPr>
        <p:spPr>
          <a:xfrm>
            <a:off x="987552" y="2432304"/>
            <a:ext cx="250545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40" b="1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"Authorization": "Bearer &lt;jwt&gt;"</a:t>
            </a:r>
            <a:endParaRPr lang="en-US" sz="1040" dirty="0"/>
          </a:p>
        </p:txBody>
      </p:sp>
      <p:sp>
        <p:nvSpPr>
          <p:cNvPr id="24" name="Text 22"/>
          <p:cNvSpPr/>
          <p:nvPr/>
        </p:nvSpPr>
        <p:spPr>
          <a:xfrm>
            <a:off x="932688" y="2889504"/>
            <a:ext cx="2560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"client_headers" : [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932688" y="3236976"/>
            <a:ext cx="2615184" cy="384048"/>
          </a:xfrm>
          <a:prstGeom prst="roundRect">
            <a:avLst>
              <a:gd name="adj" fmla="val 9524"/>
            </a:avLst>
          </a:prstGeom>
          <a:solidFill>
            <a:srgbClr val="FAD2CF"/>
          </a:solidFill>
          <a:ln/>
        </p:spPr>
      </p:sp>
      <p:sp>
        <p:nvSpPr>
          <p:cNvPr id="26" name="Text 24"/>
          <p:cNvSpPr/>
          <p:nvPr/>
        </p:nvSpPr>
        <p:spPr>
          <a:xfrm>
            <a:off x="987552" y="3236976"/>
            <a:ext cx="250545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"X-Tenant-Id: finvault" ,</a:t>
            </a:r>
            <a:endParaRPr lang="en-US" sz="1020" dirty="0"/>
          </a:p>
        </p:txBody>
      </p:sp>
      <p:sp>
        <p:nvSpPr>
          <p:cNvPr id="27" name="Text 25"/>
          <p:cNvSpPr/>
          <p:nvPr/>
        </p:nvSpPr>
        <p:spPr>
          <a:xfrm>
            <a:off x="932688" y="3675888"/>
            <a:ext cx="256032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"override_attempt" : [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932688" y="4261104"/>
            <a:ext cx="2615184" cy="384048"/>
          </a:xfrm>
          <a:prstGeom prst="roundRect">
            <a:avLst>
              <a:gd name="adj" fmla="val 9524"/>
            </a:avLst>
          </a:prstGeom>
          <a:solidFill>
            <a:srgbClr val="EA4335"/>
          </a:solidFill>
          <a:ln/>
        </p:spPr>
      </p:sp>
      <p:sp>
        <p:nvSpPr>
          <p:cNvPr id="29" name="Text 27"/>
          <p:cNvSpPr/>
          <p:nvPr/>
        </p:nvSpPr>
        <p:spPr>
          <a:xfrm>
            <a:off x="987552" y="4261104"/>
            <a:ext cx="250545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&lt;spoofed tenant header&gt;</a:t>
            </a:r>
            <a:endParaRPr lang="en-US" sz="1020" dirty="0"/>
          </a:p>
        </p:txBody>
      </p:sp>
      <p:sp>
        <p:nvSpPr>
          <p:cNvPr id="30" name="Text 28"/>
          <p:cNvSpPr/>
          <p:nvPr/>
        </p:nvSpPr>
        <p:spPr>
          <a:xfrm>
            <a:off x="804672" y="4718304"/>
            <a:ext cx="137160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804672" y="5394960"/>
            <a:ext cx="2761488" cy="347472"/>
          </a:xfrm>
          <a:prstGeom prst="roundRect">
            <a:avLst>
              <a:gd name="adj" fmla="val 13158"/>
            </a:avLst>
          </a:prstGeom>
          <a:solidFill>
            <a:srgbClr val="FCE8E6"/>
          </a:solidFill>
          <a:ln w="10160">
            <a:solidFill>
              <a:srgbClr val="D93025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59536" y="5394960"/>
            <a:ext cx="2651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✕ Unverified Client Claims • Blocked at Edge</a:t>
            </a:r>
            <a:endParaRPr lang="en-US" sz="860" dirty="0"/>
          </a:p>
        </p:txBody>
      </p:sp>
      <p:sp>
        <p:nvSpPr>
          <p:cNvPr id="33" name="Shape 31"/>
          <p:cNvSpPr/>
          <p:nvPr/>
        </p:nvSpPr>
        <p:spPr>
          <a:xfrm>
            <a:off x="3968496" y="3419856"/>
            <a:ext cx="548640" cy="0"/>
          </a:xfrm>
          <a:prstGeom prst="line">
            <a:avLst/>
          </a:prstGeom>
          <a:noFill/>
          <a:ln w="28575">
            <a:solidFill>
              <a:srgbClr val="EA4335"/>
            </a:solidFill>
            <a:prstDash val="solid"/>
            <a:tailEnd type="triangle" w="sm" len="sm"/>
          </a:ln>
        </p:spPr>
      </p:sp>
      <p:sp>
        <p:nvSpPr>
          <p:cNvPr id="34" name="Shape 32"/>
          <p:cNvSpPr/>
          <p:nvPr/>
        </p:nvSpPr>
        <p:spPr>
          <a:xfrm>
            <a:off x="4645152" y="950976"/>
            <a:ext cx="3182112" cy="4956048"/>
          </a:xfrm>
          <a:prstGeom prst="roundRect">
            <a:avLst>
              <a:gd name="adj" fmla="val 2299"/>
            </a:avLst>
          </a:prstGeom>
          <a:solidFill>
            <a:srgbClr val="1B5E7B"/>
          </a:solidFill>
          <a:ln w="19050">
            <a:solidFill>
              <a:srgbClr val="0D7A75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773168" y="1133856"/>
            <a:ext cx="292608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 1 IAM STS &amp;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DPoP Security Gate</a:t>
            </a:r>
            <a:endParaRPr lang="en-US" sz="1600" dirty="0"/>
          </a:p>
        </p:txBody>
      </p:sp>
      <p:sp>
        <p:nvSpPr>
          <p:cNvPr id="36" name="Shape 34"/>
          <p:cNvSpPr/>
          <p:nvPr/>
        </p:nvSpPr>
        <p:spPr>
          <a:xfrm>
            <a:off x="4882896" y="2029968"/>
            <a:ext cx="2706624" cy="3493008"/>
          </a:xfrm>
          <a:prstGeom prst="roundRect">
            <a:avLst>
              <a:gd name="adj" fmla="val 2027"/>
            </a:avLst>
          </a:prstGeom>
          <a:solidFill>
            <a:srgbClr val="367591"/>
          </a:solidFill>
          <a:ln/>
        </p:spPr>
      </p:sp>
      <p:sp>
        <p:nvSpPr>
          <p:cNvPr id="37" name="Shape 35"/>
          <p:cNvSpPr/>
          <p:nvPr/>
        </p:nvSpPr>
        <p:spPr>
          <a:xfrm>
            <a:off x="5010912" y="2249424"/>
            <a:ext cx="2450592" cy="786384"/>
          </a:xfrm>
          <a:prstGeom prst="roundRect">
            <a:avLst>
              <a:gd name="adj" fmla="val 5814"/>
            </a:avLst>
          </a:prstGeom>
          <a:solidFill>
            <a:srgbClr val="0B2545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065776" y="2286000"/>
            <a:ext cx="2340864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2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STAGE 01</a:t>
            </a:r>
            <a:endParaRPr lang="en-US" sz="1120" dirty="0"/>
          </a:p>
          <a:p>
            <a:pPr algn="ctr" indent="0" marL="0">
              <a:buNone/>
            </a:pPr>
            <a:r>
              <a:rPr lang="en-US" sz="112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Armor Header Strip</a:t>
            </a:r>
            <a:endParaRPr lang="en-US" sz="1120" dirty="0"/>
          </a:p>
        </p:txBody>
      </p:sp>
      <p:sp>
        <p:nvSpPr>
          <p:cNvPr id="39" name="Shape 37"/>
          <p:cNvSpPr/>
          <p:nvPr/>
        </p:nvSpPr>
        <p:spPr>
          <a:xfrm>
            <a:off x="5010912" y="3310128"/>
            <a:ext cx="2450592" cy="786384"/>
          </a:xfrm>
          <a:prstGeom prst="roundRect">
            <a:avLst>
              <a:gd name="adj" fmla="val 5814"/>
            </a:avLst>
          </a:prstGeom>
          <a:solidFill>
            <a:srgbClr val="0B2545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065776" y="3346704"/>
            <a:ext cx="2340864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2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STAGE 02</a:t>
            </a:r>
            <a:endParaRPr lang="en-US" sz="1120" dirty="0"/>
          </a:p>
          <a:p>
            <a:pPr algn="ctr" indent="0" marL="0">
              <a:buNone/>
            </a:pPr>
            <a:r>
              <a:rPr lang="en-US" sz="112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RFC 8693 OBO Exchange</a:t>
            </a:r>
            <a:endParaRPr lang="en-US" sz="1120" dirty="0"/>
          </a:p>
        </p:txBody>
      </p:sp>
      <p:sp>
        <p:nvSpPr>
          <p:cNvPr id="41" name="Shape 39"/>
          <p:cNvSpPr/>
          <p:nvPr/>
        </p:nvSpPr>
        <p:spPr>
          <a:xfrm>
            <a:off x="5010912" y="4370832"/>
            <a:ext cx="2450592" cy="786384"/>
          </a:xfrm>
          <a:prstGeom prst="roundRect">
            <a:avLst>
              <a:gd name="adj" fmla="val 5814"/>
            </a:avLst>
          </a:prstGeom>
          <a:solidFill>
            <a:srgbClr val="0B2545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065776" y="4407408"/>
            <a:ext cx="2340864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2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STAGE 03</a:t>
            </a:r>
            <a:endParaRPr lang="en-US" sz="1120" dirty="0"/>
          </a:p>
          <a:p>
            <a:pPr algn="ctr" indent="0" marL="0">
              <a:buNone/>
            </a:pPr>
            <a:r>
              <a:rPr lang="en-US" sz="112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RFC 9449 DPoP JKT Bind</a:t>
            </a:r>
            <a:endParaRPr lang="en-US" sz="1120" dirty="0"/>
          </a:p>
        </p:txBody>
      </p:sp>
      <p:sp>
        <p:nvSpPr>
          <p:cNvPr id="43" name="Shape 41"/>
          <p:cNvSpPr/>
          <p:nvPr/>
        </p:nvSpPr>
        <p:spPr>
          <a:xfrm>
            <a:off x="7955280" y="3419856"/>
            <a:ext cx="548640" cy="0"/>
          </a:xfrm>
          <a:prstGeom prst="line">
            <a:avLst/>
          </a:prstGeom>
          <a:noFill/>
          <a:ln w="28575">
            <a:solidFill>
              <a:srgbClr val="1B5E7B"/>
            </a:solidFill>
            <a:prstDash val="solid"/>
            <a:tailEnd type="triangle" w="sm" len="sm"/>
          </a:ln>
        </p:spPr>
      </p:sp>
      <p:sp>
        <p:nvSpPr>
          <p:cNvPr id="44" name="Shape 42"/>
          <p:cNvSpPr/>
          <p:nvPr/>
        </p:nvSpPr>
        <p:spPr>
          <a:xfrm>
            <a:off x="8631936" y="950976"/>
            <a:ext cx="3035808" cy="4956048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22225">
            <a:solidFill>
              <a:srgbClr val="1E8E3E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8759952" y="1133856"/>
            <a:ext cx="2779776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Sealed Immutable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TenantContext</a:t>
            </a:r>
            <a:endParaRPr lang="en-US" sz="1600" dirty="0"/>
          </a:p>
        </p:txBody>
      </p:sp>
      <p:sp>
        <p:nvSpPr>
          <p:cNvPr id="46" name="Shape 44"/>
          <p:cNvSpPr/>
          <p:nvPr/>
        </p:nvSpPr>
        <p:spPr>
          <a:xfrm>
            <a:off x="8887968" y="1956816"/>
            <a:ext cx="2523744" cy="0"/>
          </a:xfrm>
          <a:prstGeom prst="line">
            <a:avLst/>
          </a:prstGeom>
          <a:noFill/>
          <a:ln w="19050">
            <a:solidFill>
              <a:srgbClr val="1E8E3E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8814816" y="2066544"/>
            <a:ext cx="457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250" dirty="0"/>
          </a:p>
        </p:txBody>
      </p:sp>
      <p:sp>
        <p:nvSpPr>
          <p:cNvPr id="48" name="Shape 46"/>
          <p:cNvSpPr/>
          <p:nvPr/>
        </p:nvSpPr>
        <p:spPr>
          <a:xfrm>
            <a:off x="8851392" y="2322576"/>
            <a:ext cx="2615184" cy="365760"/>
          </a:xfrm>
          <a:prstGeom prst="roundRect">
            <a:avLst>
              <a:gd name="adj" fmla="val 10000"/>
            </a:avLst>
          </a:prstGeom>
          <a:solidFill>
            <a:srgbClr val="E6F4EA"/>
          </a:solidFill>
          <a:ln w="7620">
            <a:solidFill>
              <a:srgbClr val="1E8E3E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8924544" y="2322576"/>
            <a:ext cx="24871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" b="1" dirty="0">
                <a:solidFill>
                  <a:srgbClr val="0D652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"tenant_id": "retailstream",</a:t>
            </a:r>
            <a:endParaRPr lang="en-US" sz="960" dirty="0"/>
          </a:p>
        </p:txBody>
      </p:sp>
      <p:sp>
        <p:nvSpPr>
          <p:cNvPr id="50" name="Text 48"/>
          <p:cNvSpPr/>
          <p:nvPr/>
        </p:nvSpPr>
        <p:spPr>
          <a:xfrm>
            <a:off x="8924544" y="2761488"/>
            <a:ext cx="24871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"tier": "STANDARD",</a:t>
            </a:r>
            <a:endParaRPr lang="en-US" sz="960" dirty="0"/>
          </a:p>
        </p:txBody>
      </p:sp>
      <p:sp>
        <p:nvSpPr>
          <p:cNvPr id="51" name="Shape 49"/>
          <p:cNvSpPr/>
          <p:nvPr/>
        </p:nvSpPr>
        <p:spPr>
          <a:xfrm>
            <a:off x="8851392" y="3200400"/>
            <a:ext cx="2615184" cy="365760"/>
          </a:xfrm>
          <a:prstGeom prst="roundRect">
            <a:avLst>
              <a:gd name="adj" fmla="val 10000"/>
            </a:avLst>
          </a:prstGeom>
          <a:solidFill>
            <a:srgbClr val="E6F4EA"/>
          </a:solidFill>
          <a:ln w="7620">
            <a:solidFill>
              <a:srgbClr val="1E8E3E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8924544" y="3200400"/>
            <a:ext cx="24871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" b="1" dirty="0">
                <a:solidFill>
                  <a:srgbClr val="0D652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"dpop_jkt": "sha256:9f86d081",</a:t>
            </a:r>
            <a:endParaRPr lang="en-US" sz="960" dirty="0"/>
          </a:p>
        </p:txBody>
      </p:sp>
      <p:sp>
        <p:nvSpPr>
          <p:cNvPr id="53" name="Text 51"/>
          <p:cNvSpPr/>
          <p:nvPr/>
        </p:nvSpPr>
        <p:spPr>
          <a:xfrm>
            <a:off x="8924544" y="3639312"/>
            <a:ext cx="24871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"memory_ns": "/tenants/retail",</a:t>
            </a:r>
            <a:endParaRPr lang="en-US" sz="960" dirty="0"/>
          </a:p>
        </p:txBody>
      </p:sp>
      <p:sp>
        <p:nvSpPr>
          <p:cNvPr id="54" name="Shape 52"/>
          <p:cNvSpPr/>
          <p:nvPr/>
        </p:nvSpPr>
        <p:spPr>
          <a:xfrm>
            <a:off x="8851392" y="4078224"/>
            <a:ext cx="2615184" cy="365760"/>
          </a:xfrm>
          <a:prstGeom prst="roundRect">
            <a:avLst>
              <a:gd name="adj" fmla="val 10000"/>
            </a:avLst>
          </a:prstGeom>
          <a:solidFill>
            <a:srgbClr val="E6F4EA"/>
          </a:solidFill>
          <a:ln w="7620">
            <a:solidFill>
              <a:srgbClr val="1E8E3E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8924544" y="4078224"/>
            <a:ext cx="24871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" b="1" dirty="0">
                <a:solidFill>
                  <a:srgbClr val="0D652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"rls_tag": "current_tenant_id",</a:t>
            </a:r>
            <a:endParaRPr lang="en-US" sz="960" dirty="0"/>
          </a:p>
        </p:txBody>
      </p:sp>
      <p:sp>
        <p:nvSpPr>
          <p:cNvPr id="56" name="Shape 54"/>
          <p:cNvSpPr/>
          <p:nvPr/>
        </p:nvSpPr>
        <p:spPr>
          <a:xfrm>
            <a:off x="8851392" y="4517136"/>
            <a:ext cx="2615184" cy="365760"/>
          </a:xfrm>
          <a:prstGeom prst="roundRect">
            <a:avLst>
              <a:gd name="adj" fmla="val 10000"/>
            </a:avLst>
          </a:prstGeom>
          <a:solidFill>
            <a:srgbClr val="CEEAD6"/>
          </a:solidFill>
          <a:ln w="7620">
            <a:solidFill>
              <a:srgbClr val="1E8E3E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8924544" y="4517136"/>
            <a:ext cx="24871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" b="1" dirty="0">
                <a:solidFill>
                  <a:srgbClr val="0D652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"status": "VERIFIED_HOP_1"</a:t>
            </a:r>
            <a:endParaRPr lang="en-US" sz="960" dirty="0"/>
          </a:p>
        </p:txBody>
      </p:sp>
      <p:sp>
        <p:nvSpPr>
          <p:cNvPr id="58" name="Text 56"/>
          <p:cNvSpPr/>
          <p:nvPr/>
        </p:nvSpPr>
        <p:spPr>
          <a:xfrm>
            <a:off x="8814816" y="501091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50" dirty="0"/>
          </a:p>
        </p:txBody>
      </p:sp>
      <p:sp>
        <p:nvSpPr>
          <p:cNvPr id="59" name="Shape 57"/>
          <p:cNvSpPr/>
          <p:nvPr/>
        </p:nvSpPr>
        <p:spPr>
          <a:xfrm>
            <a:off x="8833104" y="5394960"/>
            <a:ext cx="2633472" cy="347472"/>
          </a:xfrm>
          <a:prstGeom prst="roundRect">
            <a:avLst>
              <a:gd name="adj" fmla="val 13158"/>
            </a:avLst>
          </a:prstGeom>
          <a:solidFill>
            <a:srgbClr val="E6F4EA"/>
          </a:solidFill>
          <a:ln w="10160">
            <a:solidFill>
              <a:srgbClr val="1E8E3E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8887968" y="5394960"/>
            <a:ext cx="2523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4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✓ 100% Fail-Closed Attested • 0 Spoofed Claims</a:t>
            </a:r>
            <a:endParaRPr lang="en-US" sz="840" dirty="0"/>
          </a:p>
        </p:txBody>
      </p:sp>
      <p:sp>
        <p:nvSpPr>
          <p:cNvPr id="61" name="Text 59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1 Hop 1 Identity Gate  •  Strips Spoofed Headers &amp; Mints Sender-Constrained TenantContext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WS1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WS1 • ACT III: DETERMINISTIC FAIL-CLOSED CIRCUIT BREAKERS &amp; FEEDBACK LOOP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ASYNC-STATE-FLOW-PIPELINE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502920" y="749808"/>
            <a:ext cx="1106424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50" b="1" dirty="0">
                <a:solidFill>
                  <a:srgbClr val="3C4043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Fail-Closed Exception Gates (HTTP 401/403/422/423/429) &amp; Closed-Loop OTel Governance</a:t>
            </a:r>
            <a:endParaRPr lang="en-US" sz="2050" dirty="0"/>
          </a:p>
        </p:txBody>
      </p:sp>
      <p:sp>
        <p:nvSpPr>
          <p:cNvPr id="18" name="Shape 16"/>
          <p:cNvSpPr/>
          <p:nvPr/>
        </p:nvSpPr>
        <p:spPr>
          <a:xfrm>
            <a:off x="493776" y="2852928"/>
            <a:ext cx="1956816" cy="1316736"/>
          </a:xfrm>
          <a:prstGeom prst="roundRect">
            <a:avLst>
              <a:gd name="adj" fmla="val 4167"/>
            </a:avLst>
          </a:prstGeom>
          <a:solidFill>
            <a:srgbClr val="12355B"/>
          </a:solidFill>
          <a:ln/>
        </p:spPr>
      </p:sp>
      <p:sp>
        <p:nvSpPr>
          <p:cNvPr id="19" name="Text 17"/>
          <p:cNvSpPr/>
          <p:nvPr/>
        </p:nvSpPr>
        <p:spPr>
          <a:xfrm>
            <a:off x="566928" y="2852928"/>
            <a:ext cx="1810512" cy="1316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 1–2 Gate: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OBO/DPoP &amp; ARD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3840480" y="2852928"/>
            <a:ext cx="1956816" cy="1316736"/>
          </a:xfrm>
          <a:prstGeom prst="roundRect">
            <a:avLst>
              <a:gd name="adj" fmla="val 4167"/>
            </a:avLst>
          </a:prstGeom>
          <a:solidFill>
            <a:srgbClr val="CA8A04"/>
          </a:solidFill>
          <a:ln/>
        </p:spPr>
      </p:sp>
      <p:sp>
        <p:nvSpPr>
          <p:cNvPr id="21" name="Text 19"/>
          <p:cNvSpPr/>
          <p:nvPr/>
        </p:nvSpPr>
        <p:spPr>
          <a:xfrm>
            <a:off x="3913632" y="2852928"/>
            <a:ext cx="1810512" cy="1316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 3 Gate: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Valkey RPM Clamp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784848" y="2852928"/>
            <a:ext cx="1956816" cy="1316736"/>
          </a:xfrm>
          <a:prstGeom prst="roundRect">
            <a:avLst>
              <a:gd name="adj" fmla="val 4167"/>
            </a:avLst>
          </a:prstGeom>
          <a:solidFill>
            <a:srgbClr val="0D7A75"/>
          </a:solidFill>
          <a:ln/>
        </p:spPr>
      </p:sp>
      <p:sp>
        <p:nvSpPr>
          <p:cNvPr id="23" name="Text 21"/>
          <p:cNvSpPr/>
          <p:nvPr/>
        </p:nvSpPr>
        <p:spPr>
          <a:xfrm>
            <a:off x="6858000" y="2852928"/>
            <a:ext cx="1810512" cy="1316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 4 Gate: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Model Armor &amp; SDP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9710928" y="2852928"/>
            <a:ext cx="1956816" cy="1316736"/>
          </a:xfrm>
          <a:prstGeom prst="roundRect">
            <a:avLst>
              <a:gd name="adj" fmla="val 4167"/>
            </a:avLst>
          </a:prstGeom>
          <a:solidFill>
            <a:srgbClr val="0F766E"/>
          </a:solidFill>
          <a:ln/>
        </p:spPr>
      </p:sp>
      <p:sp>
        <p:nvSpPr>
          <p:cNvPr id="25" name="Text 23"/>
          <p:cNvSpPr/>
          <p:nvPr/>
        </p:nvSpPr>
        <p:spPr>
          <a:xfrm>
            <a:off x="9784080" y="2852928"/>
            <a:ext cx="1810512" cy="1316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 5 Gate: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RLS, CMEK &amp; OTel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1572768"/>
            <a:ext cx="1261872" cy="1024128"/>
          </a:xfrm>
          <a:prstGeom prst="roundRect">
            <a:avLst>
              <a:gd name="adj" fmla="val 5357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51176" y="1627632"/>
            <a:ext cx="11887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1. Strips spoofed headers;</a:t>
            </a:r>
            <a:endParaRPr lang="en-US" sz="860" dirty="0"/>
          </a:p>
          <a:p>
            <a:pPr algn="ctr"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blocks cross-tenant ARD</a:t>
            </a:r>
            <a:endParaRPr lang="en-US" sz="860" dirty="0"/>
          </a:p>
          <a:p>
            <a:pPr algn="ctr"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tool probe (HTTP 401/403)</a:t>
            </a:r>
            <a:endParaRPr lang="en-US" sz="860" dirty="0"/>
          </a:p>
        </p:txBody>
      </p:sp>
      <p:sp>
        <p:nvSpPr>
          <p:cNvPr id="28" name="Shape 26"/>
          <p:cNvSpPr/>
          <p:nvPr/>
        </p:nvSpPr>
        <p:spPr>
          <a:xfrm>
            <a:off x="2450592" y="3182112"/>
            <a:ext cx="1389888" cy="0"/>
          </a:xfrm>
          <a:prstGeom prst="line">
            <a:avLst/>
          </a:prstGeom>
          <a:noFill/>
          <a:ln w="22225">
            <a:solidFill>
              <a:srgbClr val="12355B"/>
            </a:solidFill>
            <a:prstDash val="solid"/>
            <a:tailEnd type="triangle" w="sm" len="sm"/>
          </a:ln>
        </p:spPr>
      </p:sp>
      <p:sp>
        <p:nvSpPr>
          <p:cNvPr id="29" name="Shape 27"/>
          <p:cNvSpPr/>
          <p:nvPr/>
        </p:nvSpPr>
        <p:spPr>
          <a:xfrm>
            <a:off x="2450592" y="3730752"/>
            <a:ext cx="1389888" cy="0"/>
          </a:xfrm>
          <a:prstGeom prst="line">
            <a:avLst/>
          </a:prstGeom>
          <a:noFill/>
          <a:ln w="22225">
            <a:solidFill>
              <a:srgbClr val="D93025"/>
            </a:solidFill>
            <a:prstDash val="solid"/>
            <a:headEnd type="triangle" w="sm" len="sm"/>
          </a:ln>
        </p:spPr>
      </p:sp>
      <p:sp>
        <p:nvSpPr>
          <p:cNvPr id="30" name="Shape 28"/>
          <p:cNvSpPr/>
          <p:nvPr/>
        </p:nvSpPr>
        <p:spPr>
          <a:xfrm>
            <a:off x="2514600" y="3877056"/>
            <a:ext cx="1261872" cy="859536"/>
          </a:xfrm>
          <a:prstGeom prst="roundRect">
            <a:avLst>
              <a:gd name="adj" fmla="val 6383"/>
            </a:avLst>
          </a:prstGeom>
          <a:solidFill>
            <a:srgbClr val="FCE8E6"/>
          </a:solidFill>
          <a:ln w="11430">
            <a:solidFill>
              <a:srgbClr val="D93025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551176" y="3913632"/>
            <a:ext cx="1188720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A50E0E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2. Rejects token replay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A50E0E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or unauthorized MCP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A50E0E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scope (Fail-Closed)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5394960" y="1572768"/>
            <a:ext cx="1719072" cy="1024128"/>
          </a:xfrm>
          <a:prstGeom prst="roundRect">
            <a:avLst>
              <a:gd name="adj" fmla="val 5357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449824" y="1627632"/>
            <a:ext cx="1609344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3. Clamps burst &gt;120/600</a:t>
            </a:r>
            <a:endParaRPr lang="en-US" sz="860" dirty="0"/>
          </a:p>
          <a:p>
            <a:pPr algn="ctr"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RPM (HTTP 429) &amp; caps</a:t>
            </a:r>
            <a:endParaRPr lang="en-US" sz="860" dirty="0"/>
          </a:p>
          <a:p>
            <a:pPr algn="ctr"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4k/8k thinking budget</a:t>
            </a:r>
            <a:endParaRPr lang="en-US" sz="860" dirty="0"/>
          </a:p>
        </p:txBody>
      </p:sp>
      <p:sp>
        <p:nvSpPr>
          <p:cNvPr id="34" name="Shape 32"/>
          <p:cNvSpPr/>
          <p:nvPr/>
        </p:nvSpPr>
        <p:spPr>
          <a:xfrm>
            <a:off x="5724144" y="3511296"/>
            <a:ext cx="1060704" cy="0"/>
          </a:xfrm>
          <a:prstGeom prst="line">
            <a:avLst/>
          </a:prstGeom>
          <a:noFill/>
          <a:ln w="22225">
            <a:solidFill>
              <a:srgbClr val="12355B"/>
            </a:solidFill>
            <a:prstDash val="solid"/>
            <a:tailEnd type="triangle" w="sm" len="sm"/>
          </a:ln>
        </p:spPr>
      </p:sp>
      <p:sp>
        <p:nvSpPr>
          <p:cNvPr id="35" name="Shape 33"/>
          <p:cNvSpPr/>
          <p:nvPr/>
        </p:nvSpPr>
        <p:spPr>
          <a:xfrm>
            <a:off x="8321040" y="1572768"/>
            <a:ext cx="1719072" cy="1024128"/>
          </a:xfrm>
          <a:prstGeom prst="roundRect">
            <a:avLst>
              <a:gd name="adj" fmla="val 5357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375904" y="1627632"/>
            <a:ext cx="1609344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4. Blocks injection/NLC</a:t>
            </a:r>
            <a:endParaRPr lang="en-US" sz="860" dirty="0"/>
          </a:p>
          <a:p>
            <a:pPr algn="ctr"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breach (HTTP 400/422) &amp;</a:t>
            </a:r>
            <a:endParaRPr lang="en-US" sz="860" dirty="0"/>
          </a:p>
          <a:p>
            <a:pPr algn="ctr"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revoked CMEK (HTTP 423)</a:t>
            </a:r>
            <a:endParaRPr lang="en-US" sz="860" dirty="0"/>
          </a:p>
        </p:txBody>
      </p:sp>
      <p:sp>
        <p:nvSpPr>
          <p:cNvPr id="37" name="Shape 35"/>
          <p:cNvSpPr/>
          <p:nvPr/>
        </p:nvSpPr>
        <p:spPr>
          <a:xfrm>
            <a:off x="8759952" y="3511296"/>
            <a:ext cx="950976" cy="0"/>
          </a:xfrm>
          <a:prstGeom prst="line">
            <a:avLst/>
          </a:prstGeom>
          <a:noFill/>
          <a:ln w="22225">
            <a:solidFill>
              <a:srgbClr val="12355B"/>
            </a:solidFill>
            <a:prstDash val="solid"/>
            <a:tailEnd type="triangle" w="sm" len="sm"/>
          </a:ln>
        </p:spPr>
      </p:sp>
      <p:sp>
        <p:nvSpPr>
          <p:cNvPr id="38" name="Shape 36"/>
          <p:cNvSpPr/>
          <p:nvPr/>
        </p:nvSpPr>
        <p:spPr>
          <a:xfrm>
            <a:off x="10698480" y="4169664"/>
            <a:ext cx="0" cy="1133856"/>
          </a:xfrm>
          <a:prstGeom prst="line">
            <a:avLst/>
          </a:prstGeom>
          <a:noFill/>
          <a:ln w="25400">
            <a:solidFill>
              <a:srgbClr val="0D7A75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517904" y="5303520"/>
            <a:ext cx="9180576" cy="0"/>
          </a:xfrm>
          <a:prstGeom prst="line">
            <a:avLst/>
          </a:prstGeom>
          <a:noFill/>
          <a:ln w="25400">
            <a:solidFill>
              <a:srgbClr val="0D7A75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1517904" y="4169664"/>
            <a:ext cx="0" cy="1133856"/>
          </a:xfrm>
          <a:prstGeom prst="line">
            <a:avLst/>
          </a:prstGeom>
          <a:noFill/>
          <a:ln w="25400">
            <a:solidFill>
              <a:srgbClr val="0D7A75"/>
            </a:solidFill>
            <a:prstDash val="solid"/>
            <a:headEnd type="triangle" w="sm" len="sm"/>
          </a:ln>
        </p:spPr>
      </p:sp>
      <p:sp>
        <p:nvSpPr>
          <p:cNvPr id="41" name="Shape 39"/>
          <p:cNvSpPr/>
          <p:nvPr/>
        </p:nvSpPr>
        <p:spPr>
          <a:xfrm>
            <a:off x="4078224" y="4901184"/>
            <a:ext cx="4096512" cy="804672"/>
          </a:xfrm>
          <a:prstGeom prst="roundRect">
            <a:avLst>
              <a:gd name="adj" fmla="val 6818"/>
            </a:avLst>
          </a:prstGeom>
          <a:solidFill>
            <a:srgbClr val="E6F4EA"/>
          </a:solidFill>
          <a:ln w="15240">
            <a:solidFill>
              <a:srgbClr val="0D7A75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169664" y="4937760"/>
            <a:ext cx="391363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0D652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5. Closed-Loop Governance: Streams zero-PII</a:t>
            </a:r>
            <a:endParaRPr lang="en-US" sz="880" dirty="0"/>
          </a:p>
          <a:p>
            <a:pPr algn="ctr" indent="0" marL="0">
              <a:buNone/>
            </a:pPr>
            <a:r>
              <a:rPr lang="en-US" sz="880" b="1" dirty="0">
                <a:solidFill>
                  <a:srgbClr val="0D652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OTel violation &amp; token spans to BigQuery to</a:t>
            </a:r>
            <a:endParaRPr lang="en-US" sz="880" dirty="0"/>
          </a:p>
          <a:p>
            <a:pPr algn="ctr" indent="0" marL="0">
              <a:buNone/>
            </a:pPr>
            <a:r>
              <a:rPr lang="en-US" sz="880" b="1" dirty="0">
                <a:solidFill>
                  <a:srgbClr val="0D652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auto-tune Valkey quotas &amp; SCC threat alerts</a:t>
            </a:r>
            <a:endParaRPr lang="en-US" sz="880" dirty="0"/>
          </a:p>
        </p:txBody>
      </p:sp>
      <p:sp>
        <p:nvSpPr>
          <p:cNvPr id="43" name="Text 41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1 Exception &amp; Feedback Loop  •  Fail-Closed Circuit Breakers (HTTP 401/403/422/423/429) + Closed-Loop BigQuery OTel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WS1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III • EAP PRODUCT GAP REGISTER (GAP-01..05) &amp; COMPENSATING CONTROLS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COMPARISON-GRID • MATRIX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411480" y="640080"/>
            <a:ext cx="11368735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Compensating Controls for EAP Product Gaps (GAP-01..05)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411480" y="987552"/>
            <a:ext cx="1136873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Production compensating controls in core-cymbal-agent/ closing all 5 multi-tenant EAP limitations with fail-closed gates.</a:t>
            </a:r>
            <a:endParaRPr lang="en-US" sz="98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243584"/>
          <a:ext cx="11368735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2880360"/>
                <a:gridCol w="3886200"/>
                <a:gridCol w="272765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Gap ID &amp; Component</a:t>
                      </a:r>
                      <a:endParaRPr lang="en-US" sz="85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Current Preview / EAP Limitation</a:t>
                      </a:r>
                      <a:endParaRPr lang="en-US" sz="85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Production Compensating Control (core-cymbal-agent/)</a:t>
                      </a:r>
                      <a:endParaRPr lang="en-US" sz="85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Verification Gate &amp; Target GA</a:t>
                      </a:r>
                      <a:endParaRPr lang="en-US" sz="85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GAP-01 (Hop 2)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Agent Engine Registry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Shared Agent Engine Registry lacks native per-tenant IAM condition predicates on ListAgents discovery calls.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Hop2AgentRegistryDiscovery.filter_ard_catalog validates signed JWT tenant_id against visibility metadata before LLM tool binding.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b="1" dirty="0">
                          <a:solidFill>
                            <a:srgbClr val="0D652D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WS2 Test 2 PASS (HTTP 403 on cross-tenant Agent Alpha discovery) • Target GA: Q4 2026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GAP-02 (Hop 3)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Memory Bank CMEK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Pooled Vertex AI Memory Bank supports project-level CMEK rather than distinct per-tenant KMS keys in one shared pool.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Pattern A applies envelope encryption via tenant KMS keys; Pattern B isolates each tenant in a dedicated CMEK project (HTTP 423).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b="1" dirty="0">
                          <a:solidFill>
                            <a:srgbClr val="0D652D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WS3 Tests 4A/4B/6 PASS (HTTP 423 Locked &lt;60s on key disable) • Target GA: Q4 2026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GAP-03 (Hop 3)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Per-Tenant Rate Quotas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Vertex AI quota system enforces regional project-level RPM/TPM limits rather than native per-tenant sub-quotas.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Hop3RuntimeAndMemory enforces atomic per-tenant token-bucket RPM limits in Memorystore for Valkey (120 vs. 600 RPM) + thinking_budget clamps.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b="1" dirty="0">
                          <a:solidFill>
                            <a:srgbClr val="0D652D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WS2 Test 6 PASS (HTTP 429 on 500-RPM flood; budget clamped to 4k) • Target GA: Q4 2026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GAP-04 (Hop 1/2)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Multi-IdP 3LO Broker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External Microsoft Entra ID OIDC tokens require custom claims normalization and step-up consent for downstream MCP tools.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Hop 1 Edge STS normalizes Entra ID tid/sub claims into DPoP-bound TenantSecurityContext with -32042 step-up 3LO elicitation.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b="1" dirty="0">
                          <a:solidFill>
                            <a:srgbClr val="0D652D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WS2 Test 10 PASS (HTTP 401 step-up challenge -&gt; 200 OK ServiceNow) • Target GA: Q4 2026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GAP-05 (Hop 5)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Zero-PII Token Billing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Cloud Billing exports aggregate Vertex AI SKU charges by GCP project rather than individual logical SaaS tenant_id.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Hop5DataAndFinOps emits zero-PII OpenTelemetry spans (cached_tokens, thinking_tokens, output_tokens) to BigQuery chargeback ledger.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b="1" dirty="0">
                          <a:solidFill>
                            <a:srgbClr val="0D652D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Forensic Check F-08 PASS (3 billing SQL models verified in BigQuery) • Target GA: Q1 2027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0" name="Shape 17"/>
          <p:cNvSpPr/>
          <p:nvPr/>
        </p:nvSpPr>
        <p:spPr>
          <a:xfrm>
            <a:off x="411480" y="4498848"/>
            <a:ext cx="2718511" cy="1572768"/>
          </a:xfrm>
          <a:prstGeom prst="roundRect">
            <a:avLst>
              <a:gd name="adj" fmla="val 4651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411480" y="4498848"/>
            <a:ext cx="2718511" cy="50292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2" name="Text 19"/>
          <p:cNvSpPr/>
          <p:nvPr/>
        </p:nvSpPr>
        <p:spPr>
          <a:xfrm>
            <a:off x="521208" y="4572000"/>
            <a:ext cx="2499055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76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1. Identity &amp; Catalog Gates (GAP-01 / GAP-04)</a:t>
            </a:r>
            <a:endParaRPr lang="en-US" sz="760" dirty="0"/>
          </a:p>
        </p:txBody>
      </p:sp>
      <p:sp>
        <p:nvSpPr>
          <p:cNvPr id="23" name="Text 20"/>
          <p:cNvSpPr/>
          <p:nvPr/>
        </p:nvSpPr>
        <p:spPr>
          <a:xfrm>
            <a:off x="521208" y="4828032"/>
            <a:ext cx="2499055" cy="11887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Filters Agent Engine Registry discovery by signed JWT tenant_id (HTTP 403) and normalizes Entra ID OIDC into DPoP tokens with -32042 3LO step-up.</a:t>
            </a:r>
            <a:endParaRPr lang="en-US" sz="740" dirty="0"/>
          </a:p>
        </p:txBody>
      </p:sp>
      <p:sp>
        <p:nvSpPr>
          <p:cNvPr id="24" name="Shape 21"/>
          <p:cNvSpPr/>
          <p:nvPr/>
        </p:nvSpPr>
        <p:spPr>
          <a:xfrm>
            <a:off x="3294583" y="4498848"/>
            <a:ext cx="2718511" cy="1572768"/>
          </a:xfrm>
          <a:prstGeom prst="roundRect">
            <a:avLst>
              <a:gd name="adj" fmla="val 4651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3294583" y="4498848"/>
            <a:ext cx="2718511" cy="50292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26" name="Text 23"/>
          <p:cNvSpPr/>
          <p:nvPr/>
        </p:nvSpPr>
        <p:spPr>
          <a:xfrm>
            <a:off x="3404311" y="4572000"/>
            <a:ext cx="2499055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76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2. Cryptographic Memory CMEK (GAP-02)</a:t>
            </a:r>
            <a:endParaRPr lang="en-US" sz="760" dirty="0"/>
          </a:p>
        </p:txBody>
      </p:sp>
      <p:sp>
        <p:nvSpPr>
          <p:cNvPr id="27" name="Text 24"/>
          <p:cNvSpPr/>
          <p:nvPr/>
        </p:nvSpPr>
        <p:spPr>
          <a:xfrm>
            <a:off x="3404311" y="4828032"/>
            <a:ext cx="2499055" cy="11887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Envelope-encrypts pooled L1–L5 Memory Bank chapters per tenant and enforces &lt;60s HTTP 423 Locked revocation + L1 purge in sovereign silos.</a:t>
            </a:r>
            <a:endParaRPr lang="en-US" sz="740" dirty="0"/>
          </a:p>
        </p:txBody>
      </p:sp>
      <p:sp>
        <p:nvSpPr>
          <p:cNvPr id="28" name="Shape 25"/>
          <p:cNvSpPr/>
          <p:nvPr/>
        </p:nvSpPr>
        <p:spPr>
          <a:xfrm>
            <a:off x="6177686" y="4498848"/>
            <a:ext cx="2718511" cy="1572768"/>
          </a:xfrm>
          <a:prstGeom prst="roundRect">
            <a:avLst>
              <a:gd name="adj" fmla="val 4651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6177686" y="4498848"/>
            <a:ext cx="2718511" cy="50292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30" name="Text 27"/>
          <p:cNvSpPr/>
          <p:nvPr/>
        </p:nvSpPr>
        <p:spPr>
          <a:xfrm>
            <a:off x="6287414" y="4572000"/>
            <a:ext cx="2499055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3. Noisy-Neighbor Bulkheads (GAP-03)</a:t>
            </a:r>
            <a:endParaRPr lang="en-US" sz="820" dirty="0"/>
          </a:p>
        </p:txBody>
      </p:sp>
      <p:sp>
        <p:nvSpPr>
          <p:cNvPr id="31" name="Text 28"/>
          <p:cNvSpPr/>
          <p:nvPr/>
        </p:nvSpPr>
        <p:spPr>
          <a:xfrm>
            <a:off x="6287414" y="4828032"/>
            <a:ext cx="2499055" cy="11887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Enforces atomic per-tenant RPM token buckets (120 vs. 600 RPM) in Memorystore for Valkey (HTTP 429 Retry-After) plus 4k/8k thinking caps.</a:t>
            </a:r>
            <a:endParaRPr lang="en-US" sz="740" dirty="0"/>
          </a:p>
        </p:txBody>
      </p:sp>
      <p:sp>
        <p:nvSpPr>
          <p:cNvPr id="32" name="Shape 29"/>
          <p:cNvSpPr/>
          <p:nvPr/>
        </p:nvSpPr>
        <p:spPr>
          <a:xfrm>
            <a:off x="9060790" y="4498848"/>
            <a:ext cx="2718511" cy="1572768"/>
          </a:xfrm>
          <a:prstGeom prst="roundRect">
            <a:avLst>
              <a:gd name="adj" fmla="val 4651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9060790" y="4498848"/>
            <a:ext cx="2718511" cy="50292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34" name="Text 31"/>
          <p:cNvSpPr/>
          <p:nvPr/>
        </p:nvSpPr>
        <p:spPr>
          <a:xfrm>
            <a:off x="9170518" y="4572000"/>
            <a:ext cx="2499055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4. Zero-PII FinOps Ledger (GAP-05)</a:t>
            </a:r>
            <a:endParaRPr lang="en-US" sz="820" dirty="0"/>
          </a:p>
        </p:txBody>
      </p:sp>
      <p:sp>
        <p:nvSpPr>
          <p:cNvPr id="35" name="Text 32"/>
          <p:cNvSpPr/>
          <p:nvPr/>
        </p:nvSpPr>
        <p:spPr>
          <a:xfrm>
            <a:off x="9170518" y="4828032"/>
            <a:ext cx="2499055" cy="11887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Emits SHA-256 prompt hashes and per-tenant cached/thinking/output token spans via OpenTelemetry to BigQuery chargeback views (F-08 PASS).</a:t>
            </a:r>
            <a:endParaRPr lang="en-US" sz="740" dirty="0"/>
          </a:p>
        </p:txBody>
      </p:sp>
      <p:sp>
        <p:nvSpPr>
          <p:cNvPr id="36" name="Shape 33"/>
          <p:cNvSpPr/>
          <p:nvPr/>
        </p:nvSpPr>
        <p:spPr>
          <a:xfrm>
            <a:off x="365760" y="6144768"/>
            <a:ext cx="11460175" cy="384048"/>
          </a:xfrm>
          <a:prstGeom prst="roundRect">
            <a:avLst>
              <a:gd name="adj" fmla="val 19048"/>
            </a:avLst>
          </a:prstGeom>
          <a:solidFill>
            <a:srgbClr val="F8F9FA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475488" y="6208776"/>
            <a:ext cx="1874520" cy="256032"/>
          </a:xfrm>
          <a:prstGeom prst="roundRect">
            <a:avLst>
              <a:gd name="adj" fmla="val 21429"/>
            </a:avLst>
          </a:prstGeom>
          <a:solidFill>
            <a:srgbClr val="4285F4"/>
          </a:solidFill>
          <a:ln/>
        </p:spPr>
      </p:sp>
      <p:sp>
        <p:nvSpPr>
          <p:cNvPr id="38" name="Text 35"/>
          <p:cNvSpPr/>
          <p:nvPr/>
        </p:nvSpPr>
        <p:spPr>
          <a:xfrm>
            <a:off x="475488" y="6208776"/>
            <a:ext cx="1874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ARCHITECTURAL DECISION</a:t>
            </a:r>
            <a:endParaRPr lang="en-US" sz="780" dirty="0"/>
          </a:p>
        </p:txBody>
      </p:sp>
      <p:sp>
        <p:nvSpPr>
          <p:cNvPr id="39" name="Text 36"/>
          <p:cNvSpPr/>
          <p:nvPr/>
        </p:nvSpPr>
        <p:spPr>
          <a:xfrm>
            <a:off x="2468880" y="6190488"/>
            <a:ext cx="921989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1 • Reference Architecture &amp; Cloud Architecture Center Doc PR  •  Compensating Controls, Automated Security Verification &amp; FinOps Economics</a:t>
            </a:r>
            <a:endParaRPr lang="en-US" sz="880" dirty="0"/>
          </a:p>
        </p:txBody>
      </p:sp>
      <p:sp>
        <p:nvSpPr>
          <p:cNvPr id="40" name="Text 37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Multi-Tenant Agentic AI on Google Cloud • Vertex AI Agent Engine, Gemini Enterprise &amp; ADK 2.0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WS1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Workstream 1 • Reference Architecture &amp; Cloud Architecture Center Doc PR • Grounded Google Cloud Console &amp; Live Runtime Proof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LIVE-SCREENSHOT-CALLOUT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384048" y="749808"/>
            <a:ext cx="6784848" cy="2615184"/>
          </a:xfrm>
          <a:prstGeom prst="roundRect">
            <a:avLst>
              <a:gd name="adj" fmla="val 2098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84048" y="749808"/>
            <a:ext cx="6784848" cy="45720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19" name="Text 17"/>
          <p:cNvSpPr/>
          <p:nvPr/>
        </p:nvSpPr>
        <p:spPr>
          <a:xfrm>
            <a:off x="493776" y="822960"/>
            <a:ext cx="656539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LIVE GCP CONSOLE CAPTURE 01 • CLOUD RUN REVISIONS</a:t>
            </a:r>
            <a:endParaRPr lang="en-US" sz="820" dirty="0"/>
          </a:p>
        </p:txBody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3776" y="1097280"/>
            <a:ext cx="3639312" cy="2048256"/>
          </a:xfrm>
          <a:prstGeom prst="rect">
            <a:avLst/>
          </a:prstGeom>
        </p:spPr>
      </p:pic>
      <p:sp>
        <p:nvSpPr>
          <p:cNvPr id="21" name="Shape 18"/>
          <p:cNvSpPr/>
          <p:nvPr/>
        </p:nvSpPr>
        <p:spPr>
          <a:xfrm>
            <a:off x="4242816" y="1097280"/>
            <a:ext cx="2798064" cy="2048256"/>
          </a:xfrm>
          <a:prstGeom prst="roundRect">
            <a:avLst>
              <a:gd name="adj" fmla="val 2232"/>
            </a:avLst>
          </a:prstGeom>
          <a:solidFill>
            <a:srgbClr val="FFFFFF"/>
          </a:solidFill>
          <a:ln w="10160">
            <a:solidFill>
              <a:srgbClr val="DADCE0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4334256" y="1170432"/>
            <a:ext cx="2615184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ramp-portal-dev (#248990048888) &amp; cymbal-pooled-prod (#638420508320) serving Pattern A/B/C endpoints (HTTP 200)</a:t>
            </a:r>
            <a:endParaRPr lang="en-US" sz="860" dirty="0"/>
          </a:p>
        </p:txBody>
      </p:sp>
      <p:sp>
        <p:nvSpPr>
          <p:cNvPr id="23" name="Text 20"/>
          <p:cNvSpPr/>
          <p:nvPr/>
        </p:nvSpPr>
        <p:spPr>
          <a:xfrm>
            <a:off x="4334256" y="1865376"/>
            <a:ext cx="2615184" cy="9509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Project: cymbal-pooled-prod (#638420508320)</a:t>
            </a:r>
            <a:endParaRPr lang="en-US" sz="780" dirty="0"/>
          </a:p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Sandbox: cymbal-build-sandbox (#887605034827)</a:t>
            </a:r>
            <a:endParaRPr lang="en-US" sz="780" dirty="0"/>
          </a:p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Status: 100% Live Console Verified (HTTP 200)</a:t>
            </a:r>
            <a:endParaRPr lang="en-US" sz="780" dirty="0"/>
          </a:p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Aspect Ratio: Native 16:9 (1920×1080)</a:t>
            </a:r>
            <a:endParaRPr lang="en-US" sz="780" dirty="0"/>
          </a:p>
        </p:txBody>
      </p:sp>
      <p:sp>
        <p:nvSpPr>
          <p:cNvPr id="24" name="Text 21"/>
          <p:cNvSpPr/>
          <p:nvPr/>
        </p:nvSpPr>
        <p:spPr>
          <a:xfrm>
            <a:off x="4334256" y="2871216"/>
            <a:ext cx="261518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80" dirty="0">
                <a:solidFill>
                  <a:srgbClr val="5F63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Source: screenshots/cloud-console/gcp_console_02_cloud_run_revisions_deploy.png</a:t>
            </a:r>
            <a:endParaRPr lang="en-US" sz="680" dirty="0"/>
          </a:p>
        </p:txBody>
      </p:sp>
      <p:sp>
        <p:nvSpPr>
          <p:cNvPr id="25" name="Shape 22"/>
          <p:cNvSpPr/>
          <p:nvPr/>
        </p:nvSpPr>
        <p:spPr>
          <a:xfrm>
            <a:off x="384048" y="3511296"/>
            <a:ext cx="6784848" cy="2615184"/>
          </a:xfrm>
          <a:prstGeom prst="roundRect">
            <a:avLst>
              <a:gd name="adj" fmla="val 2098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384048" y="3511296"/>
            <a:ext cx="6784848" cy="45720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27" name="Text 24"/>
          <p:cNvSpPr/>
          <p:nvPr/>
        </p:nvSpPr>
        <p:spPr>
          <a:xfrm>
            <a:off x="493776" y="3584448"/>
            <a:ext cx="656539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LIVE GCP CONSOLE CAPTURE 02 • CLOUD LOGGING 20/20 PASS</a:t>
            </a:r>
            <a:endParaRPr lang="en-US" sz="820" dirty="0"/>
          </a:p>
        </p:txBody>
      </p:sp>
      <p:pic>
        <p:nvPicPr>
          <p:cNvPr id="2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776" y="3858768"/>
            <a:ext cx="3639312" cy="2048256"/>
          </a:xfrm>
          <a:prstGeom prst="rect">
            <a:avLst/>
          </a:prstGeom>
        </p:spPr>
      </p:pic>
      <p:sp>
        <p:nvSpPr>
          <p:cNvPr id="29" name="Shape 25"/>
          <p:cNvSpPr/>
          <p:nvPr/>
        </p:nvSpPr>
        <p:spPr>
          <a:xfrm>
            <a:off x="4242816" y="3858768"/>
            <a:ext cx="2798064" cy="2048256"/>
          </a:xfrm>
          <a:prstGeom prst="roundRect">
            <a:avLst>
              <a:gd name="adj" fmla="val 2232"/>
            </a:avLst>
          </a:prstGeom>
          <a:solidFill>
            <a:srgbClr val="FFFFFF"/>
          </a:solidFill>
          <a:ln w="10160">
            <a:solidFill>
              <a:srgbClr val="DADCE0"/>
            </a:solidFill>
            <a:prstDash val="solid"/>
          </a:ln>
        </p:spPr>
      </p:sp>
      <p:sp>
        <p:nvSpPr>
          <p:cNvPr id="30" name="Text 26"/>
          <p:cNvSpPr/>
          <p:nvPr/>
        </p:nvSpPr>
        <p:spPr>
          <a:xfrm>
            <a:off x="4334256" y="3931920"/>
            <a:ext cx="2615184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Logging Explorer verifying 20/20 multi-tenant isolation &amp; live tier upgrade simulations</a:t>
            </a:r>
            <a:endParaRPr lang="en-US" sz="860" dirty="0"/>
          </a:p>
        </p:txBody>
      </p:sp>
      <p:sp>
        <p:nvSpPr>
          <p:cNvPr id="31" name="Text 27"/>
          <p:cNvSpPr/>
          <p:nvPr/>
        </p:nvSpPr>
        <p:spPr>
          <a:xfrm>
            <a:off x="4334256" y="4626864"/>
            <a:ext cx="2615184" cy="9509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Audit Suite: 20/20 Runtime Simulations PASS</a:t>
            </a:r>
            <a:endParaRPr lang="en-US" sz="780" dirty="0"/>
          </a:p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Forensic Gate: 12/12 Invariants Verified</a:t>
            </a:r>
            <a:endParaRPr lang="en-US" sz="780" dirty="0"/>
          </a:p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Isolation: 0 Cross-Tenant Rows or Spans</a:t>
            </a:r>
            <a:endParaRPr lang="en-US" sz="780" dirty="0"/>
          </a:p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Aspect Ratio: Native 16:9 (1920×1080)</a:t>
            </a:r>
            <a:endParaRPr lang="en-US" sz="780" dirty="0"/>
          </a:p>
        </p:txBody>
      </p:sp>
      <p:sp>
        <p:nvSpPr>
          <p:cNvPr id="32" name="Text 28"/>
          <p:cNvSpPr/>
          <p:nvPr/>
        </p:nvSpPr>
        <p:spPr>
          <a:xfrm>
            <a:off x="4334256" y="5632704"/>
            <a:ext cx="261518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80" dirty="0">
                <a:solidFill>
                  <a:srgbClr val="5F63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Source: screenshots/cloud-console/gcp_console_07_logs_explorer_20_20_pass.png</a:t>
            </a:r>
            <a:endParaRPr lang="en-US" sz="680" dirty="0"/>
          </a:p>
        </p:txBody>
      </p:sp>
      <p:sp>
        <p:nvSpPr>
          <p:cNvPr id="33" name="Shape 29"/>
          <p:cNvSpPr/>
          <p:nvPr/>
        </p:nvSpPr>
        <p:spPr>
          <a:xfrm>
            <a:off x="7351776" y="749808"/>
            <a:ext cx="4443984" cy="1243584"/>
          </a:xfrm>
          <a:prstGeom prst="roundRect">
            <a:avLst>
              <a:gd name="adj" fmla="val 5882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4" name="Shape 30"/>
          <p:cNvSpPr/>
          <p:nvPr/>
        </p:nvSpPr>
        <p:spPr>
          <a:xfrm>
            <a:off x="7351776" y="749808"/>
            <a:ext cx="82296" cy="124358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35" name="Shape 31"/>
          <p:cNvSpPr/>
          <p:nvPr/>
        </p:nvSpPr>
        <p:spPr>
          <a:xfrm>
            <a:off x="7534656" y="841248"/>
            <a:ext cx="2615184" cy="219456"/>
          </a:xfrm>
          <a:prstGeom prst="roundRect">
            <a:avLst>
              <a:gd name="adj" fmla="val 16667"/>
            </a:avLst>
          </a:prstGeom>
          <a:solidFill>
            <a:srgbClr val="E8F0FE"/>
          </a:solidFill>
          <a:ln/>
        </p:spPr>
      </p:sp>
      <p:sp>
        <p:nvSpPr>
          <p:cNvPr id="36" name="Text 32"/>
          <p:cNvSpPr/>
          <p:nvPr/>
        </p:nvSpPr>
        <p:spPr>
          <a:xfrm>
            <a:off x="7534656" y="841248"/>
            <a:ext cx="261518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PROOF 01 • 3-PATTERN TAXONOMY LIVE</a:t>
            </a:r>
            <a:endParaRPr lang="en-US" sz="740" dirty="0"/>
          </a:p>
        </p:txBody>
      </p:sp>
      <p:sp>
        <p:nvSpPr>
          <p:cNvPr id="37" name="Text 33"/>
          <p:cNvSpPr/>
          <p:nvPr/>
        </p:nvSpPr>
        <p:spPr>
          <a:xfrm>
            <a:off x="7534656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Patterns A, B &amp; C Verified Across 3 GCP Projects</a:t>
            </a:r>
            <a:endParaRPr lang="en-US" sz="1050" dirty="0"/>
          </a:p>
        </p:txBody>
      </p:sp>
      <p:sp>
        <p:nvSpPr>
          <p:cNvPr id="38" name="Text 34"/>
          <p:cNvSpPr/>
          <p:nvPr/>
        </p:nvSpPr>
        <p:spPr>
          <a:xfrm>
            <a:off x="7534656" y="1371600"/>
            <a:ext cx="41148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Live across ramp-portal-dev (#248990048888), cymbal-pooled-prod (#638420508320) &amp; cymbal-build-sandbox (#887605034827).</a:t>
            </a:r>
            <a:endParaRPr lang="en-US" sz="860" dirty="0"/>
          </a:p>
        </p:txBody>
      </p:sp>
      <p:sp>
        <p:nvSpPr>
          <p:cNvPr id="39" name="Shape 35"/>
          <p:cNvSpPr/>
          <p:nvPr/>
        </p:nvSpPr>
        <p:spPr>
          <a:xfrm>
            <a:off x="7351776" y="2103120"/>
            <a:ext cx="4443984" cy="1243584"/>
          </a:xfrm>
          <a:prstGeom prst="roundRect">
            <a:avLst>
              <a:gd name="adj" fmla="val 5882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0" name="Shape 36"/>
          <p:cNvSpPr/>
          <p:nvPr/>
        </p:nvSpPr>
        <p:spPr>
          <a:xfrm>
            <a:off x="7351776" y="2103120"/>
            <a:ext cx="82296" cy="1243584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41" name="Shape 37"/>
          <p:cNvSpPr/>
          <p:nvPr/>
        </p:nvSpPr>
        <p:spPr>
          <a:xfrm>
            <a:off x="7534656" y="2194560"/>
            <a:ext cx="2615184" cy="219456"/>
          </a:xfrm>
          <a:prstGeom prst="roundRect">
            <a:avLst>
              <a:gd name="adj" fmla="val 16667"/>
            </a:avLst>
          </a:prstGeom>
          <a:solidFill>
            <a:srgbClr val="FCE8E6"/>
          </a:solidFill>
          <a:ln/>
        </p:spPr>
      </p:sp>
      <p:sp>
        <p:nvSpPr>
          <p:cNvPr id="42" name="Text 38"/>
          <p:cNvSpPr/>
          <p:nvPr/>
        </p:nvSpPr>
        <p:spPr>
          <a:xfrm>
            <a:off x="7534656" y="2194560"/>
            <a:ext cx="261518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PROOF 02 • HOP 1–5 RUNTIME ENVELOPE</a:t>
            </a:r>
            <a:endParaRPr lang="en-US" sz="740" dirty="0"/>
          </a:p>
        </p:txBody>
      </p:sp>
      <p:sp>
        <p:nvSpPr>
          <p:cNvPr id="43" name="Text 39"/>
          <p:cNvSpPr/>
          <p:nvPr/>
        </p:nvSpPr>
        <p:spPr>
          <a:xfrm>
            <a:off x="7534656" y="2450592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RFC 8693 OBO + DPoP &amp; ARD Catalog Filter</a:t>
            </a:r>
            <a:endParaRPr lang="en-US" sz="1050" dirty="0"/>
          </a:p>
        </p:txBody>
      </p:sp>
      <p:sp>
        <p:nvSpPr>
          <p:cNvPr id="44" name="Text 40"/>
          <p:cNvSpPr/>
          <p:nvPr/>
        </p:nvSpPr>
        <p:spPr>
          <a:xfrm>
            <a:off x="7534656" y="2724912"/>
            <a:ext cx="41148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Strips spoofed X-Tenant-Id headers at Cloud Armor edge and binds immutable TenantContext across all 5 hops.</a:t>
            </a:r>
            <a:endParaRPr lang="en-US" sz="860" dirty="0"/>
          </a:p>
        </p:txBody>
      </p:sp>
      <p:sp>
        <p:nvSpPr>
          <p:cNvPr id="45" name="Shape 41"/>
          <p:cNvSpPr/>
          <p:nvPr/>
        </p:nvSpPr>
        <p:spPr>
          <a:xfrm>
            <a:off x="7351776" y="3456432"/>
            <a:ext cx="4443984" cy="1243584"/>
          </a:xfrm>
          <a:prstGeom prst="roundRect">
            <a:avLst>
              <a:gd name="adj" fmla="val 5882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6" name="Shape 42"/>
          <p:cNvSpPr/>
          <p:nvPr/>
        </p:nvSpPr>
        <p:spPr>
          <a:xfrm>
            <a:off x="7351776" y="3456432"/>
            <a:ext cx="82296" cy="1243584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47" name="Shape 43"/>
          <p:cNvSpPr/>
          <p:nvPr/>
        </p:nvSpPr>
        <p:spPr>
          <a:xfrm>
            <a:off x="7534656" y="3547872"/>
            <a:ext cx="2615184" cy="219456"/>
          </a:xfrm>
          <a:prstGeom prst="roundRect">
            <a:avLst>
              <a:gd name="adj" fmla="val 16667"/>
            </a:avLst>
          </a:prstGeom>
          <a:solidFill>
            <a:srgbClr val="FEF7E0"/>
          </a:solidFill>
          <a:ln/>
        </p:spPr>
      </p:sp>
      <p:sp>
        <p:nvSpPr>
          <p:cNvPr id="48" name="Text 44"/>
          <p:cNvSpPr/>
          <p:nvPr/>
        </p:nvSpPr>
        <p:spPr>
          <a:xfrm>
            <a:off x="7534656" y="3547872"/>
            <a:ext cx="261518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PROOF 03 • GAP-01..05 COMPENSATING GATES</a:t>
            </a:r>
            <a:endParaRPr lang="en-US" sz="740" dirty="0"/>
          </a:p>
        </p:txBody>
      </p:sp>
      <p:sp>
        <p:nvSpPr>
          <p:cNvPr id="49" name="Text 45"/>
          <p:cNvSpPr/>
          <p:nvPr/>
        </p:nvSpPr>
        <p:spPr>
          <a:xfrm>
            <a:off x="7534656" y="3803904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Valkey RPM, Model Armor &amp; Zero-PII OTel</a:t>
            </a:r>
            <a:endParaRPr lang="en-US" sz="1050" dirty="0"/>
          </a:p>
        </p:txBody>
      </p:sp>
      <p:sp>
        <p:nvSpPr>
          <p:cNvPr id="50" name="Text 46"/>
          <p:cNvSpPr/>
          <p:nvPr/>
        </p:nvSpPr>
        <p:spPr>
          <a:xfrm>
            <a:off x="7534656" y="4078224"/>
            <a:ext cx="41148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Closes all 5 multi-tenant EAP product gaps with 100% deterministic fail-closed HTTP 401/403/422/423/429 gates.</a:t>
            </a:r>
            <a:endParaRPr lang="en-US" sz="860" dirty="0"/>
          </a:p>
        </p:txBody>
      </p:sp>
      <p:sp>
        <p:nvSpPr>
          <p:cNvPr id="51" name="Shape 47"/>
          <p:cNvSpPr/>
          <p:nvPr/>
        </p:nvSpPr>
        <p:spPr>
          <a:xfrm>
            <a:off x="7351776" y="4809744"/>
            <a:ext cx="4443984" cy="1243584"/>
          </a:xfrm>
          <a:prstGeom prst="roundRect">
            <a:avLst>
              <a:gd name="adj" fmla="val 5882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2" name="Shape 48"/>
          <p:cNvSpPr/>
          <p:nvPr/>
        </p:nvSpPr>
        <p:spPr>
          <a:xfrm>
            <a:off x="7351776" y="4809744"/>
            <a:ext cx="82296" cy="1243584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53" name="Shape 49"/>
          <p:cNvSpPr/>
          <p:nvPr/>
        </p:nvSpPr>
        <p:spPr>
          <a:xfrm>
            <a:off x="7534656" y="4901184"/>
            <a:ext cx="2615184" cy="219456"/>
          </a:xfrm>
          <a:prstGeom prst="roundRect">
            <a:avLst>
              <a:gd name="adj" fmla="val 16667"/>
            </a:avLst>
          </a:prstGeom>
          <a:solidFill>
            <a:srgbClr val="E6F4EA"/>
          </a:solidFill>
          <a:ln/>
        </p:spPr>
      </p:sp>
      <p:sp>
        <p:nvSpPr>
          <p:cNvPr id="54" name="Text 50"/>
          <p:cNvSpPr/>
          <p:nvPr/>
        </p:nvSpPr>
        <p:spPr>
          <a:xfrm>
            <a:off x="7534656" y="4901184"/>
            <a:ext cx="261518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PROOF 04 • 12/12 FORENSIC + 20/20 SUITE</a:t>
            </a:r>
            <a:endParaRPr lang="en-US" sz="740" dirty="0"/>
          </a:p>
        </p:txBody>
      </p:sp>
      <p:sp>
        <p:nvSpPr>
          <p:cNvPr id="55" name="Text 51"/>
          <p:cNvSpPr/>
          <p:nvPr/>
        </p:nvSpPr>
        <p:spPr>
          <a:xfrm>
            <a:off x="7534656" y="5157216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100% Automated CI/CD Audit Certification</a:t>
            </a:r>
            <a:endParaRPr lang="en-US" sz="1050" dirty="0"/>
          </a:p>
        </p:txBody>
      </p:sp>
      <p:sp>
        <p:nvSpPr>
          <p:cNvPr id="56" name="Text 52"/>
          <p:cNvSpPr/>
          <p:nvPr/>
        </p:nvSpPr>
        <p:spPr>
          <a:xfrm>
            <a:off x="7534656" y="5431536"/>
            <a:ext cx="41148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Verified by run_deep_forensic_audit.py (12/12 PASS) and 20/20 end-to-end security &amp; migration simulations.</a:t>
            </a:r>
            <a:endParaRPr lang="en-US" sz="860" dirty="0"/>
          </a:p>
        </p:txBody>
      </p:sp>
      <p:sp>
        <p:nvSpPr>
          <p:cNvPr id="57" name="Text 53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1 • Reference Architecture &amp; Cloud Architecture Center Doc PR  •  Grounded Google Cloud Console Screenshots + 100% Editable Callout Cards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WS1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WS1 • ACT III: 3-STAGE TENANT TIER EVOLUTION &amp; ZERO-DOWNTIME PROMOTION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PHASED-ROADMAP-TIMELINE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530352" y="786384"/>
            <a:ext cx="11119104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20" b="1" dirty="0">
                <a:solidFill>
                  <a:srgbClr val="0F2942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3-Stage Tenant Lifecycle: Pooled Onboarding → 0ms Live Promotion → Sovereign Silo</a:t>
            </a:r>
            <a:endParaRPr lang="en-US" sz="2020" dirty="0"/>
          </a:p>
        </p:txBody>
      </p:sp>
      <p:sp>
        <p:nvSpPr>
          <p:cNvPr id="18" name="Shape 16"/>
          <p:cNvSpPr/>
          <p:nvPr/>
        </p:nvSpPr>
        <p:spPr>
          <a:xfrm>
            <a:off x="530352" y="1536192"/>
            <a:ext cx="3438144" cy="4443984"/>
          </a:xfrm>
          <a:prstGeom prst="roundRect">
            <a:avLst>
              <a:gd name="adj" fmla="val 2128"/>
            </a:avLst>
          </a:prstGeom>
          <a:solidFill>
            <a:srgbClr val="F8F9FA"/>
          </a:solidFill>
          <a:ln w="15240">
            <a:solidFill>
              <a:srgbClr val="DADCE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30352" y="1536192"/>
            <a:ext cx="3438144" cy="859536"/>
          </a:xfrm>
          <a:prstGeom prst="roundRect">
            <a:avLst>
              <a:gd name="adj" fmla="val 6383"/>
            </a:avLst>
          </a:prstGeom>
          <a:solidFill>
            <a:srgbClr val="0F2942"/>
          </a:solidFill>
          <a:ln/>
        </p:spPr>
      </p:sp>
      <p:sp>
        <p:nvSpPr>
          <p:cNvPr id="20" name="Text 18"/>
          <p:cNvSpPr/>
          <p:nvPr/>
        </p:nvSpPr>
        <p:spPr>
          <a:xfrm>
            <a:off x="676656" y="1536192"/>
            <a:ext cx="3145536" cy="8595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Stage 1: Pattern A Pool</a:t>
            </a:r>
            <a:endParaRPr lang="en-US" sz="1650" dirty="0"/>
          </a:p>
        </p:txBody>
      </p:sp>
      <p:sp>
        <p:nvSpPr>
          <p:cNvPr id="21" name="Shape 19"/>
          <p:cNvSpPr/>
          <p:nvPr/>
        </p:nvSpPr>
        <p:spPr>
          <a:xfrm>
            <a:off x="530352" y="5888736"/>
            <a:ext cx="3438144" cy="91440"/>
          </a:xfrm>
          <a:prstGeom prst="rect">
            <a:avLst/>
          </a:prstGeom>
          <a:solidFill>
            <a:srgbClr val="0F2942"/>
          </a:solidFill>
          <a:ln/>
        </p:spPr>
      </p:sp>
      <p:sp>
        <p:nvSpPr>
          <p:cNvPr id="22" name="Text 20"/>
          <p:cNvSpPr/>
          <p:nvPr/>
        </p:nvSpPr>
        <p:spPr>
          <a:xfrm>
            <a:off x="713232" y="2615184"/>
            <a:ext cx="3072384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High-Density Onboarding</a:t>
            </a:r>
            <a:endParaRPr lang="en-US" sz="1850" dirty="0"/>
          </a:p>
          <a:p>
            <a:pPr algn="ctr" indent="0" marL="0">
              <a:buNone/>
            </a:pPr>
            <a:r>
              <a:rPr lang="en-US" sz="18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(Terraform 2.6 • $42/mo)</a:t>
            </a:r>
            <a:endParaRPr lang="en-US" sz="1850" dirty="0"/>
          </a:p>
        </p:txBody>
      </p:sp>
      <p:sp>
        <p:nvSpPr>
          <p:cNvPr id="23" name="Text 21"/>
          <p:cNvSpPr/>
          <p:nvPr/>
        </p:nvSpPr>
        <p:spPr>
          <a:xfrm>
            <a:off x="676656" y="3675888"/>
            <a:ext cx="314553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20" b="1" dirty="0">
                <a:solidFill>
                  <a:srgbClr val="0F2942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120 RPM • 4k Cap • 90% Prefix Cache</a:t>
            </a:r>
            <a:endParaRPr lang="en-US" sz="1220" dirty="0"/>
          </a:p>
        </p:txBody>
      </p:sp>
      <p:sp>
        <p:nvSpPr>
          <p:cNvPr id="24" name="Shape 22"/>
          <p:cNvSpPr/>
          <p:nvPr/>
        </p:nvSpPr>
        <p:spPr>
          <a:xfrm>
            <a:off x="1737360" y="4261104"/>
            <a:ext cx="1024128" cy="0"/>
          </a:xfrm>
          <a:prstGeom prst="line">
            <a:avLst/>
          </a:prstGeom>
          <a:noFill/>
          <a:ln w="31750">
            <a:solidFill>
              <a:srgbClr val="0F2942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13232" y="4535424"/>
            <a:ext cx="3072384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Shared Cloud Run v2 + Gemini 2.5 Pro</a:t>
            </a:r>
            <a:endParaRPr lang="en-US" sz="1350" dirty="0"/>
          </a:p>
          <a:p>
            <a:pPr algn="ctr" indent="0" marL="0">
              <a:buNone/>
            </a:pPr>
            <a:r>
              <a:rPr lang="en-US" sz="13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ContextCacheConfig &amp; AlloyDB FORCE RLS</a:t>
            </a:r>
            <a:endParaRPr lang="en-US" sz="1350" dirty="0"/>
          </a:p>
        </p:txBody>
      </p:sp>
      <p:sp>
        <p:nvSpPr>
          <p:cNvPr id="26" name="Shape 24"/>
          <p:cNvSpPr/>
          <p:nvPr/>
        </p:nvSpPr>
        <p:spPr>
          <a:xfrm>
            <a:off x="4370832" y="1536192"/>
            <a:ext cx="3438144" cy="4443984"/>
          </a:xfrm>
          <a:prstGeom prst="roundRect">
            <a:avLst>
              <a:gd name="adj" fmla="val 2128"/>
            </a:avLst>
          </a:prstGeom>
          <a:solidFill>
            <a:srgbClr val="F8F9FA"/>
          </a:solidFill>
          <a:ln w="15240">
            <a:solidFill>
              <a:srgbClr val="DADCE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370832" y="1536192"/>
            <a:ext cx="3438144" cy="859536"/>
          </a:xfrm>
          <a:prstGeom prst="roundRect">
            <a:avLst>
              <a:gd name="adj" fmla="val 6383"/>
            </a:avLst>
          </a:prstGeom>
          <a:solidFill>
            <a:srgbClr val="0D7A75"/>
          </a:solidFill>
          <a:ln/>
        </p:spPr>
      </p:sp>
      <p:sp>
        <p:nvSpPr>
          <p:cNvPr id="28" name="Text 26"/>
          <p:cNvSpPr/>
          <p:nvPr/>
        </p:nvSpPr>
        <p:spPr>
          <a:xfrm>
            <a:off x="4517136" y="1536192"/>
            <a:ext cx="3145536" cy="8595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Stage 2: Pattern C Hybrid</a:t>
            </a:r>
            <a:endParaRPr lang="en-US" sz="1650" dirty="0"/>
          </a:p>
        </p:txBody>
      </p:sp>
      <p:sp>
        <p:nvSpPr>
          <p:cNvPr id="29" name="Shape 27"/>
          <p:cNvSpPr/>
          <p:nvPr/>
        </p:nvSpPr>
        <p:spPr>
          <a:xfrm>
            <a:off x="4370832" y="5888736"/>
            <a:ext cx="3438144" cy="91440"/>
          </a:xfrm>
          <a:prstGeom prst="rect">
            <a:avLst/>
          </a:prstGeom>
          <a:solidFill>
            <a:srgbClr val="0D7A75"/>
          </a:solidFill>
          <a:ln/>
        </p:spPr>
      </p:sp>
      <p:sp>
        <p:nvSpPr>
          <p:cNvPr id="30" name="Text 28"/>
          <p:cNvSpPr/>
          <p:nvPr/>
        </p:nvSpPr>
        <p:spPr>
          <a:xfrm>
            <a:off x="4553712" y="2615184"/>
            <a:ext cx="3072384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Zero-Downtime Promotion</a:t>
            </a:r>
            <a:endParaRPr lang="en-US" sz="1850" dirty="0"/>
          </a:p>
          <a:p>
            <a:pPr algn="ctr" indent="0" marL="0">
              <a:buNone/>
            </a:pPr>
            <a:r>
              <a:rPr lang="en-US" sz="18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(Terraform 4.6 • 0ms Cutover)</a:t>
            </a:r>
            <a:endParaRPr lang="en-US" sz="1850" dirty="0"/>
          </a:p>
        </p:txBody>
      </p:sp>
      <p:sp>
        <p:nvSpPr>
          <p:cNvPr id="31" name="Text 29"/>
          <p:cNvSpPr/>
          <p:nvPr/>
        </p:nvSpPr>
        <p:spPr>
          <a:xfrm>
            <a:off x="4517136" y="3675888"/>
            <a:ext cx="314553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20" b="1" dirty="0">
                <a:solidFill>
                  <a:srgbClr val="0D7A7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SHADOW_SYNC → ATOMIC_CUTOVER</a:t>
            </a:r>
            <a:endParaRPr lang="en-US" sz="1220" dirty="0"/>
          </a:p>
        </p:txBody>
      </p:sp>
      <p:sp>
        <p:nvSpPr>
          <p:cNvPr id="32" name="Shape 30"/>
          <p:cNvSpPr/>
          <p:nvPr/>
        </p:nvSpPr>
        <p:spPr>
          <a:xfrm>
            <a:off x="5577840" y="4261104"/>
            <a:ext cx="1024128" cy="0"/>
          </a:xfrm>
          <a:prstGeom prst="line">
            <a:avLst/>
          </a:prstGeom>
          <a:noFill/>
          <a:ln w="31750">
            <a:solidFill>
              <a:srgbClr val="0D7A75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553712" y="4535424"/>
            <a:ext cx="3072384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Dual-Write Backfill, CMEK Re-Key &amp;</a:t>
            </a:r>
            <a:endParaRPr lang="en-US" sz="1350" dirty="0"/>
          </a:p>
          <a:p>
            <a:pPr algn="ctr" indent="0" marL="0">
              <a:buNone/>
            </a:pPr>
            <a:r>
              <a:rPr lang="en-US" sz="13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Firestore Pointer Flip (0 Dropped Turns)</a:t>
            </a:r>
            <a:endParaRPr lang="en-US" sz="1350" dirty="0"/>
          </a:p>
        </p:txBody>
      </p:sp>
      <p:sp>
        <p:nvSpPr>
          <p:cNvPr id="34" name="Shape 32"/>
          <p:cNvSpPr/>
          <p:nvPr/>
        </p:nvSpPr>
        <p:spPr>
          <a:xfrm>
            <a:off x="8211312" y="1536192"/>
            <a:ext cx="3438144" cy="4443984"/>
          </a:xfrm>
          <a:prstGeom prst="roundRect">
            <a:avLst>
              <a:gd name="adj" fmla="val 2128"/>
            </a:avLst>
          </a:prstGeom>
          <a:solidFill>
            <a:srgbClr val="F8F9FA"/>
          </a:solidFill>
          <a:ln w="15240">
            <a:solidFill>
              <a:srgbClr val="DADCE0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211312" y="1536192"/>
            <a:ext cx="3438144" cy="859536"/>
          </a:xfrm>
          <a:prstGeom prst="roundRect">
            <a:avLst>
              <a:gd name="adj" fmla="val 6383"/>
            </a:avLst>
          </a:prstGeom>
          <a:solidFill>
            <a:srgbClr val="54728C"/>
          </a:solidFill>
          <a:ln/>
        </p:spPr>
      </p:sp>
      <p:sp>
        <p:nvSpPr>
          <p:cNvPr id="36" name="Text 34"/>
          <p:cNvSpPr/>
          <p:nvPr/>
        </p:nvSpPr>
        <p:spPr>
          <a:xfrm>
            <a:off x="8357616" y="1536192"/>
            <a:ext cx="3145536" cy="8595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Stage 3: Pattern B Silo</a:t>
            </a:r>
            <a:endParaRPr lang="en-US" sz="1650" dirty="0"/>
          </a:p>
        </p:txBody>
      </p:sp>
      <p:sp>
        <p:nvSpPr>
          <p:cNvPr id="37" name="Shape 35"/>
          <p:cNvSpPr/>
          <p:nvPr/>
        </p:nvSpPr>
        <p:spPr>
          <a:xfrm>
            <a:off x="8211312" y="5888736"/>
            <a:ext cx="3438144" cy="91440"/>
          </a:xfrm>
          <a:prstGeom prst="rect">
            <a:avLst/>
          </a:prstGeom>
          <a:solidFill>
            <a:srgbClr val="54728C"/>
          </a:solidFill>
          <a:ln/>
        </p:spPr>
      </p:sp>
      <p:sp>
        <p:nvSpPr>
          <p:cNvPr id="38" name="Text 36"/>
          <p:cNvSpPr/>
          <p:nvPr/>
        </p:nvSpPr>
        <p:spPr>
          <a:xfrm>
            <a:off x="8394192" y="2615184"/>
            <a:ext cx="3072384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Regulated Enterprise Vault</a:t>
            </a:r>
            <a:endParaRPr lang="en-US" sz="1850" dirty="0"/>
          </a:p>
          <a:p>
            <a:pPr algn="ctr" indent="0" marL="0">
              <a:buNone/>
            </a:pPr>
            <a:r>
              <a:rPr lang="en-US" sz="18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(Terraform 3.6 • $1,850/mo)</a:t>
            </a:r>
            <a:endParaRPr lang="en-US" sz="1850" dirty="0"/>
          </a:p>
        </p:txBody>
      </p:sp>
      <p:sp>
        <p:nvSpPr>
          <p:cNvPr id="39" name="Text 37"/>
          <p:cNvSpPr/>
          <p:nvPr/>
        </p:nvSpPr>
        <p:spPr>
          <a:xfrm>
            <a:off x="8357616" y="3675888"/>
            <a:ext cx="314553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20" b="1" dirty="0">
                <a:solidFill>
                  <a:srgbClr val="54728C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600 RPM • 8k Cap • &lt;60s HTTP 423 CMEK</a:t>
            </a:r>
            <a:endParaRPr lang="en-US" sz="1220" dirty="0"/>
          </a:p>
        </p:txBody>
      </p:sp>
      <p:sp>
        <p:nvSpPr>
          <p:cNvPr id="40" name="Shape 38"/>
          <p:cNvSpPr/>
          <p:nvPr/>
        </p:nvSpPr>
        <p:spPr>
          <a:xfrm>
            <a:off x="9418320" y="4261104"/>
            <a:ext cx="1024128" cy="0"/>
          </a:xfrm>
          <a:prstGeom prst="line">
            <a:avLst/>
          </a:prstGeom>
          <a:noFill/>
          <a:ln w="31750">
            <a:solidFill>
              <a:srgbClr val="54728C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8394192" y="4535424"/>
            <a:ext cx="3072384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Dedicated VPC-SC Project, IAM PAB,</a:t>
            </a:r>
            <a:endParaRPr lang="en-US" sz="1350" dirty="0"/>
          </a:p>
          <a:p>
            <a:pPr algn="ctr" indent="0" marL="0">
              <a:buNone/>
            </a:pPr>
            <a:r>
              <a:rPr lang="en-US" sz="13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Agent Alpha &amp; Tenant KMS Kill-Switch</a:t>
            </a:r>
            <a:endParaRPr lang="en-US" sz="1350" dirty="0"/>
          </a:p>
        </p:txBody>
      </p:sp>
      <p:sp>
        <p:nvSpPr>
          <p:cNvPr id="42" name="Shape 40"/>
          <p:cNvSpPr/>
          <p:nvPr/>
        </p:nvSpPr>
        <p:spPr>
          <a:xfrm>
            <a:off x="3968496" y="3813048"/>
            <a:ext cx="402336" cy="0"/>
          </a:xfrm>
          <a:prstGeom prst="line">
            <a:avLst/>
          </a:prstGeom>
          <a:noFill/>
          <a:ln w="28575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43" name="Shape 41"/>
          <p:cNvSpPr/>
          <p:nvPr/>
        </p:nvSpPr>
        <p:spPr>
          <a:xfrm>
            <a:off x="4059936" y="3401568"/>
            <a:ext cx="219456" cy="219456"/>
          </a:xfrm>
          <a:prstGeom prst="ellipse">
            <a:avLst/>
          </a:prstGeom>
          <a:solidFill>
            <a:srgbClr val="0F2942"/>
          </a:solidFill>
          <a:ln/>
        </p:spPr>
      </p:sp>
      <p:sp>
        <p:nvSpPr>
          <p:cNvPr id="44" name="Text 42"/>
          <p:cNvSpPr/>
          <p:nvPr/>
        </p:nvSpPr>
        <p:spPr>
          <a:xfrm>
            <a:off x="4059936" y="3401568"/>
            <a:ext cx="2194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7808976" y="3813048"/>
            <a:ext cx="402336" cy="0"/>
          </a:xfrm>
          <a:prstGeom prst="line">
            <a:avLst/>
          </a:prstGeom>
          <a:noFill/>
          <a:ln w="28575">
            <a:solidFill>
              <a:srgbClr val="0D7A75"/>
            </a:solidFill>
            <a:prstDash val="solid"/>
            <a:tailEnd type="triangle" w="sm" len="sm"/>
          </a:ln>
        </p:spPr>
      </p:sp>
      <p:sp>
        <p:nvSpPr>
          <p:cNvPr id="46" name="Shape 44"/>
          <p:cNvSpPr/>
          <p:nvPr/>
        </p:nvSpPr>
        <p:spPr>
          <a:xfrm>
            <a:off x="7900416" y="3401568"/>
            <a:ext cx="219456" cy="219456"/>
          </a:xfrm>
          <a:prstGeom prst="ellipse">
            <a:avLst/>
          </a:prstGeom>
          <a:solidFill>
            <a:srgbClr val="0D7A75"/>
          </a:solidFill>
          <a:ln/>
        </p:spPr>
      </p:sp>
      <p:sp>
        <p:nvSpPr>
          <p:cNvPr id="47" name="Text 45"/>
          <p:cNvSpPr/>
          <p:nvPr/>
        </p:nvSpPr>
        <p:spPr>
          <a:xfrm>
            <a:off x="7900416" y="3401568"/>
            <a:ext cx="2194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</a:t>
            </a:r>
            <a:endParaRPr lang="en-US" sz="850" dirty="0"/>
          </a:p>
        </p:txBody>
      </p:sp>
      <p:sp>
        <p:nvSpPr>
          <p:cNvPr id="48" name="Text 46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1 Tenant Lifecycle  •  Stage 1 Pattern A Pool ($42/mo) → Stage 2 Pattern C 0ms Live Promotion → Stage 3 Pattern B Silo ($1,850/mo)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WS1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WS1 • ACT III: GOOGLE CLOUD WELL-ARCHITECTED SOLUTION PILLARS &amp; SLAs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STRATEGIC-OPERATING-MODEL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530352" y="786384"/>
            <a:ext cx="11119104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50" b="1" dirty="0">
                <a:solidFill>
                  <a:srgbClr val="3C4043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3-Pillar Well-Architected Solution Guarantees: Security, Reliability &amp; FinOps</a:t>
            </a:r>
            <a:endParaRPr lang="en-US" sz="2250" dirty="0"/>
          </a:p>
        </p:txBody>
      </p:sp>
      <p:sp>
        <p:nvSpPr>
          <p:cNvPr id="18" name="Shape 16"/>
          <p:cNvSpPr/>
          <p:nvPr/>
        </p:nvSpPr>
        <p:spPr>
          <a:xfrm>
            <a:off x="530352" y="1481328"/>
            <a:ext cx="3438144" cy="4535424"/>
          </a:xfrm>
          <a:prstGeom prst="roundRect">
            <a:avLst>
              <a:gd name="adj" fmla="val 1596"/>
            </a:avLst>
          </a:prstGeom>
          <a:solidFill>
            <a:srgbClr val="FFFFFF"/>
          </a:solidFill>
          <a:ln w="15240">
            <a:solidFill>
              <a:srgbClr val="DADCE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30352" y="1481328"/>
            <a:ext cx="3438144" cy="100584"/>
          </a:xfrm>
          <a:prstGeom prst="rect">
            <a:avLst/>
          </a:prstGeom>
          <a:solidFill>
            <a:srgbClr val="0F2942"/>
          </a:solidFill>
          <a:ln/>
        </p:spPr>
      </p:sp>
      <p:sp>
        <p:nvSpPr>
          <p:cNvPr id="20" name="Shape 18"/>
          <p:cNvSpPr/>
          <p:nvPr/>
        </p:nvSpPr>
        <p:spPr>
          <a:xfrm>
            <a:off x="530352" y="5916168"/>
            <a:ext cx="3438144" cy="100584"/>
          </a:xfrm>
          <a:prstGeom prst="rect">
            <a:avLst/>
          </a:prstGeom>
          <a:solidFill>
            <a:srgbClr val="0F2942"/>
          </a:solidFill>
          <a:ln/>
        </p:spPr>
      </p:sp>
      <p:sp>
        <p:nvSpPr>
          <p:cNvPr id="21" name="Shape 19"/>
          <p:cNvSpPr/>
          <p:nvPr/>
        </p:nvSpPr>
        <p:spPr>
          <a:xfrm>
            <a:off x="1883664" y="1755648"/>
            <a:ext cx="731520" cy="585216"/>
          </a:xfrm>
          <a:prstGeom prst="roundRect">
            <a:avLst>
              <a:gd name="adj" fmla="val 12500"/>
            </a:avLst>
          </a:prstGeom>
          <a:solidFill>
            <a:srgbClr val="F8F9FA"/>
          </a:solidFill>
          <a:ln w="15875">
            <a:solidFill>
              <a:srgbClr val="0F2942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883664" y="1755648"/>
            <a:ext cx="73152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SEC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713232" y="2487168"/>
            <a:ext cx="3072384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Pillar 1: Zero-Trust 5-Hop</a:t>
            </a:r>
            <a:endParaRPr lang="en-US" sz="1480" dirty="0"/>
          </a:p>
          <a:p>
            <a:pPr algn="ctr" indent="0" marL="0">
              <a:buNone/>
            </a:pPr>
            <a:r>
              <a:rPr lang="en-US" sz="14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Cryptographic Security</a:t>
            </a:r>
            <a:endParaRPr lang="en-US" sz="1480" dirty="0"/>
          </a:p>
        </p:txBody>
      </p:sp>
      <p:sp>
        <p:nvSpPr>
          <p:cNvPr id="24" name="Shape 22"/>
          <p:cNvSpPr/>
          <p:nvPr/>
        </p:nvSpPr>
        <p:spPr>
          <a:xfrm>
            <a:off x="786384" y="3584448"/>
            <a:ext cx="109728" cy="109728"/>
          </a:xfrm>
          <a:prstGeom prst="ellipse">
            <a:avLst/>
          </a:prstGeom>
          <a:solidFill>
            <a:srgbClr val="0F2942"/>
          </a:solidFill>
          <a:ln/>
        </p:spPr>
      </p:sp>
      <p:sp>
        <p:nvSpPr>
          <p:cNvPr id="25" name="Text 23"/>
          <p:cNvSpPr/>
          <p:nvPr/>
        </p:nvSpPr>
        <p:spPr>
          <a:xfrm>
            <a:off x="987552" y="3493008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Enforces RFC 8693 OBO + RFC 9449 DPoP &amp; Hop 2 ARD tool catalog ACLs</a:t>
            </a:r>
            <a:endParaRPr lang="en-US" sz="1120" dirty="0"/>
          </a:p>
        </p:txBody>
      </p:sp>
      <p:sp>
        <p:nvSpPr>
          <p:cNvPr id="26" name="Shape 24"/>
          <p:cNvSpPr/>
          <p:nvPr/>
        </p:nvSpPr>
        <p:spPr>
          <a:xfrm>
            <a:off x="786384" y="4334256"/>
            <a:ext cx="109728" cy="109728"/>
          </a:xfrm>
          <a:prstGeom prst="ellipse">
            <a:avLst/>
          </a:prstGeom>
          <a:solidFill>
            <a:srgbClr val="0F2942"/>
          </a:solidFill>
          <a:ln/>
        </p:spPr>
      </p:sp>
      <p:sp>
        <p:nvSpPr>
          <p:cNvPr id="27" name="Text 25"/>
          <p:cNvSpPr/>
          <p:nvPr/>
        </p:nvSpPr>
        <p:spPr>
          <a:xfrm>
            <a:off x="987552" y="4242816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Screens prompts &amp; egress via Model Armor, Cloud SDP &amp; AlloyDB FORCE RLS</a:t>
            </a:r>
            <a:endParaRPr lang="en-US" sz="1120" dirty="0"/>
          </a:p>
        </p:txBody>
      </p:sp>
      <p:sp>
        <p:nvSpPr>
          <p:cNvPr id="28" name="Shape 26"/>
          <p:cNvSpPr/>
          <p:nvPr/>
        </p:nvSpPr>
        <p:spPr>
          <a:xfrm>
            <a:off x="786384" y="5084064"/>
            <a:ext cx="109728" cy="109728"/>
          </a:xfrm>
          <a:prstGeom prst="ellipse">
            <a:avLst/>
          </a:prstGeom>
          <a:solidFill>
            <a:srgbClr val="0F2942"/>
          </a:solidFill>
          <a:ln/>
        </p:spPr>
      </p:sp>
      <p:sp>
        <p:nvSpPr>
          <p:cNvPr id="29" name="Text 27"/>
          <p:cNvSpPr/>
          <p:nvPr/>
        </p:nvSpPr>
        <p:spPr>
          <a:xfrm>
            <a:off x="987552" y="4992624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Isolates regulated tenants via VPC-SC &amp; &lt;60s HTTP 423 CMEK kill-switch</a:t>
            </a:r>
            <a:endParaRPr lang="en-US" sz="1120" dirty="0"/>
          </a:p>
        </p:txBody>
      </p:sp>
      <p:sp>
        <p:nvSpPr>
          <p:cNvPr id="30" name="Shape 28"/>
          <p:cNvSpPr/>
          <p:nvPr/>
        </p:nvSpPr>
        <p:spPr>
          <a:xfrm>
            <a:off x="4370832" y="1481328"/>
            <a:ext cx="3438144" cy="4535424"/>
          </a:xfrm>
          <a:prstGeom prst="roundRect">
            <a:avLst>
              <a:gd name="adj" fmla="val 1596"/>
            </a:avLst>
          </a:prstGeom>
          <a:solidFill>
            <a:srgbClr val="FFFFFF"/>
          </a:solidFill>
          <a:ln w="15240">
            <a:solidFill>
              <a:srgbClr val="DADCE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370832" y="1481328"/>
            <a:ext cx="3438144" cy="100584"/>
          </a:xfrm>
          <a:prstGeom prst="rect">
            <a:avLst/>
          </a:prstGeom>
          <a:solidFill>
            <a:srgbClr val="0D7A75"/>
          </a:solidFill>
          <a:ln/>
        </p:spPr>
      </p:sp>
      <p:sp>
        <p:nvSpPr>
          <p:cNvPr id="32" name="Shape 30"/>
          <p:cNvSpPr/>
          <p:nvPr/>
        </p:nvSpPr>
        <p:spPr>
          <a:xfrm>
            <a:off x="4370832" y="5916168"/>
            <a:ext cx="3438144" cy="100584"/>
          </a:xfrm>
          <a:prstGeom prst="rect">
            <a:avLst/>
          </a:prstGeom>
          <a:solidFill>
            <a:srgbClr val="0D7A75"/>
          </a:solidFill>
          <a:ln/>
        </p:spPr>
      </p:sp>
      <p:sp>
        <p:nvSpPr>
          <p:cNvPr id="33" name="Shape 31"/>
          <p:cNvSpPr/>
          <p:nvPr/>
        </p:nvSpPr>
        <p:spPr>
          <a:xfrm>
            <a:off x="5724144" y="1755648"/>
            <a:ext cx="731520" cy="585216"/>
          </a:xfrm>
          <a:prstGeom prst="roundRect">
            <a:avLst>
              <a:gd name="adj" fmla="val 12500"/>
            </a:avLst>
          </a:prstGeom>
          <a:solidFill>
            <a:srgbClr val="F8F9FA"/>
          </a:solidFill>
          <a:ln w="15875">
            <a:solidFill>
              <a:srgbClr val="0D7A75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724144" y="1755648"/>
            <a:ext cx="73152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D7A7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REL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4553712" y="2487168"/>
            <a:ext cx="3072384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Pillar 2: Noisy-Neighbor</a:t>
            </a:r>
            <a:endParaRPr lang="en-US" sz="1480" dirty="0"/>
          </a:p>
          <a:p>
            <a:pPr algn="ctr" indent="0" marL="0">
              <a:buNone/>
            </a:pPr>
            <a:r>
              <a:rPr lang="en-US" sz="14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Bulkheads &amp; Live Mobility</a:t>
            </a:r>
            <a:endParaRPr lang="en-US" sz="1480" dirty="0"/>
          </a:p>
        </p:txBody>
      </p:sp>
      <p:sp>
        <p:nvSpPr>
          <p:cNvPr id="36" name="Shape 34"/>
          <p:cNvSpPr/>
          <p:nvPr/>
        </p:nvSpPr>
        <p:spPr>
          <a:xfrm>
            <a:off x="4626864" y="3584448"/>
            <a:ext cx="109728" cy="109728"/>
          </a:xfrm>
          <a:prstGeom prst="ellipse">
            <a:avLst/>
          </a:prstGeom>
          <a:solidFill>
            <a:srgbClr val="0D7A75"/>
          </a:solidFill>
          <a:ln/>
        </p:spPr>
      </p:sp>
      <p:sp>
        <p:nvSpPr>
          <p:cNvPr id="37" name="Text 35"/>
          <p:cNvSpPr/>
          <p:nvPr/>
        </p:nvSpPr>
        <p:spPr>
          <a:xfrm>
            <a:off x="4828032" y="3493008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Enforces atomic Memorystore Valkey token buckets (120 vs 600 RPM)</a:t>
            </a:r>
            <a:endParaRPr lang="en-US" sz="1120" dirty="0"/>
          </a:p>
        </p:txBody>
      </p:sp>
      <p:sp>
        <p:nvSpPr>
          <p:cNvPr id="38" name="Shape 36"/>
          <p:cNvSpPr/>
          <p:nvPr/>
        </p:nvSpPr>
        <p:spPr>
          <a:xfrm>
            <a:off x="4626864" y="4334256"/>
            <a:ext cx="109728" cy="109728"/>
          </a:xfrm>
          <a:prstGeom prst="ellipse">
            <a:avLst/>
          </a:prstGeom>
          <a:solidFill>
            <a:srgbClr val="0D7A75"/>
          </a:solidFill>
          <a:ln/>
        </p:spPr>
      </p:sp>
      <p:sp>
        <p:nvSpPr>
          <p:cNvPr id="39" name="Text 37"/>
          <p:cNvSpPr/>
          <p:nvPr/>
        </p:nvSpPr>
        <p:spPr>
          <a:xfrm>
            <a:off x="4828032" y="4242816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Clamps per-tier Gemini 2.5 Pro thinking budgets (4k Std vs 8k Ent)</a:t>
            </a:r>
            <a:endParaRPr lang="en-US" sz="1120" dirty="0"/>
          </a:p>
        </p:txBody>
      </p:sp>
      <p:sp>
        <p:nvSpPr>
          <p:cNvPr id="40" name="Shape 38"/>
          <p:cNvSpPr/>
          <p:nvPr/>
        </p:nvSpPr>
        <p:spPr>
          <a:xfrm>
            <a:off x="4626864" y="5084064"/>
            <a:ext cx="109728" cy="109728"/>
          </a:xfrm>
          <a:prstGeom prst="ellipse">
            <a:avLst/>
          </a:prstGeom>
          <a:solidFill>
            <a:srgbClr val="0D7A75"/>
          </a:solidFill>
          <a:ln/>
        </p:spPr>
      </p:sp>
      <p:sp>
        <p:nvSpPr>
          <p:cNvPr id="41" name="Text 39"/>
          <p:cNvSpPr/>
          <p:nvPr/>
        </p:nvSpPr>
        <p:spPr>
          <a:xfrm>
            <a:off x="4828032" y="4992624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Promotes tenants live via Pattern C SHADOW_SYNC (0ms lag, 0 drops)</a:t>
            </a:r>
            <a:endParaRPr lang="en-US" sz="1120" dirty="0"/>
          </a:p>
        </p:txBody>
      </p:sp>
      <p:sp>
        <p:nvSpPr>
          <p:cNvPr id="42" name="Shape 40"/>
          <p:cNvSpPr/>
          <p:nvPr/>
        </p:nvSpPr>
        <p:spPr>
          <a:xfrm>
            <a:off x="8211312" y="1481328"/>
            <a:ext cx="3438144" cy="4535424"/>
          </a:xfrm>
          <a:prstGeom prst="roundRect">
            <a:avLst>
              <a:gd name="adj" fmla="val 1596"/>
            </a:avLst>
          </a:prstGeom>
          <a:solidFill>
            <a:srgbClr val="FFFFFF"/>
          </a:solidFill>
          <a:ln w="15240">
            <a:solidFill>
              <a:srgbClr val="DADCE0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8211312" y="1481328"/>
            <a:ext cx="3438144" cy="100584"/>
          </a:xfrm>
          <a:prstGeom prst="rect">
            <a:avLst/>
          </a:prstGeom>
          <a:solidFill>
            <a:srgbClr val="54728C"/>
          </a:solidFill>
          <a:ln/>
        </p:spPr>
      </p:sp>
      <p:sp>
        <p:nvSpPr>
          <p:cNvPr id="44" name="Shape 42"/>
          <p:cNvSpPr/>
          <p:nvPr/>
        </p:nvSpPr>
        <p:spPr>
          <a:xfrm>
            <a:off x="8211312" y="5916168"/>
            <a:ext cx="3438144" cy="100584"/>
          </a:xfrm>
          <a:prstGeom prst="rect">
            <a:avLst/>
          </a:prstGeom>
          <a:solidFill>
            <a:srgbClr val="54728C"/>
          </a:solidFill>
          <a:ln/>
        </p:spPr>
      </p:sp>
      <p:sp>
        <p:nvSpPr>
          <p:cNvPr id="45" name="Shape 43"/>
          <p:cNvSpPr/>
          <p:nvPr/>
        </p:nvSpPr>
        <p:spPr>
          <a:xfrm>
            <a:off x="9564624" y="1755648"/>
            <a:ext cx="731520" cy="585216"/>
          </a:xfrm>
          <a:prstGeom prst="roundRect">
            <a:avLst>
              <a:gd name="adj" fmla="val 12500"/>
            </a:avLst>
          </a:prstGeom>
          <a:solidFill>
            <a:srgbClr val="F8F9FA"/>
          </a:solidFill>
          <a:ln w="15875">
            <a:solidFill>
              <a:srgbClr val="54728C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9564624" y="1755648"/>
            <a:ext cx="73152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4728C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FIN</a:t>
            </a:r>
            <a:endParaRPr lang="en-US" sz="1150" dirty="0"/>
          </a:p>
        </p:txBody>
      </p:sp>
      <p:sp>
        <p:nvSpPr>
          <p:cNvPr id="47" name="Text 45"/>
          <p:cNvSpPr/>
          <p:nvPr/>
        </p:nvSpPr>
        <p:spPr>
          <a:xfrm>
            <a:off x="8394192" y="2487168"/>
            <a:ext cx="3072384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Pillar 3: 84.7% Prefix Cache</a:t>
            </a:r>
            <a:endParaRPr lang="en-US" sz="1480" dirty="0"/>
          </a:p>
          <a:p>
            <a:pPr algn="ctr" indent="0" marL="0">
              <a:buNone/>
            </a:pPr>
            <a:r>
              <a:rPr lang="en-US" sz="14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FinOps &amp; 80% Code Reuse</a:t>
            </a:r>
            <a:endParaRPr lang="en-US" sz="1480" dirty="0"/>
          </a:p>
        </p:txBody>
      </p:sp>
      <p:sp>
        <p:nvSpPr>
          <p:cNvPr id="48" name="Shape 46"/>
          <p:cNvSpPr/>
          <p:nvPr/>
        </p:nvSpPr>
        <p:spPr>
          <a:xfrm>
            <a:off x="8467344" y="3584448"/>
            <a:ext cx="109728" cy="109728"/>
          </a:xfrm>
          <a:prstGeom prst="ellipse">
            <a:avLst/>
          </a:prstGeom>
          <a:solidFill>
            <a:srgbClr val="54728C"/>
          </a:solidFill>
          <a:ln/>
        </p:spPr>
      </p:sp>
      <p:sp>
        <p:nvSpPr>
          <p:cNvPr id="49" name="Text 47"/>
          <p:cNvSpPr/>
          <p:nvPr/>
        </p:nvSpPr>
        <p:spPr>
          <a:xfrm>
            <a:off x="8668512" y="3493008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Shares 32k-token Gemini 2.5 Pro prefix cache (90% cache discount)</a:t>
            </a:r>
            <a:endParaRPr lang="en-US" sz="1120" dirty="0"/>
          </a:p>
        </p:txBody>
      </p:sp>
      <p:sp>
        <p:nvSpPr>
          <p:cNvPr id="50" name="Shape 48"/>
          <p:cNvSpPr/>
          <p:nvPr/>
        </p:nvSpPr>
        <p:spPr>
          <a:xfrm>
            <a:off x="8467344" y="4334256"/>
            <a:ext cx="109728" cy="109728"/>
          </a:xfrm>
          <a:prstGeom prst="ellipse">
            <a:avLst/>
          </a:prstGeom>
          <a:solidFill>
            <a:srgbClr val="54728C"/>
          </a:solidFill>
          <a:ln/>
        </p:spPr>
      </p:sp>
      <p:sp>
        <p:nvSpPr>
          <p:cNvPr id="51" name="Text 49"/>
          <p:cNvSpPr/>
          <p:nvPr/>
        </p:nvSpPr>
        <p:spPr>
          <a:xfrm>
            <a:off x="8668512" y="4242816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Cuts 1,000-tenant portfolio TCO by 74% ($313.8k vs $1.85M/mo all-silo)</a:t>
            </a:r>
            <a:endParaRPr lang="en-US" sz="1120" dirty="0"/>
          </a:p>
        </p:txBody>
      </p:sp>
      <p:sp>
        <p:nvSpPr>
          <p:cNvPr id="52" name="Shape 50"/>
          <p:cNvSpPr/>
          <p:nvPr/>
        </p:nvSpPr>
        <p:spPr>
          <a:xfrm>
            <a:off x="8467344" y="5084064"/>
            <a:ext cx="109728" cy="109728"/>
          </a:xfrm>
          <a:prstGeom prst="ellipse">
            <a:avLst/>
          </a:prstGeom>
          <a:solidFill>
            <a:srgbClr val="54728C"/>
          </a:solidFill>
          <a:ln/>
        </p:spPr>
      </p:sp>
      <p:sp>
        <p:nvSpPr>
          <p:cNvPr id="53" name="Text 51"/>
          <p:cNvSpPr/>
          <p:nvPr/>
        </p:nvSpPr>
        <p:spPr>
          <a:xfrm>
            <a:off x="8668512" y="4992624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Reuses one 80% Python ADK 2.0 codebase across Terraform 2.6, 3.6 &amp; 4.6</a:t>
            </a:r>
            <a:endParaRPr lang="en-US" sz="1120" dirty="0"/>
          </a:p>
        </p:txBody>
      </p:sp>
      <p:sp>
        <p:nvSpPr>
          <p:cNvPr id="54" name="Text 52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1 Well-Architected Pillars  •  5-Hop Zero-Trust Security + Valkey Bulkheads &amp; 0ms Mobility + 84.7% Token Savings &amp; 80% Code Reuse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WS1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III • 5-WORKSTREAM SERIES CONTINUITY &amp; ENGINEERING DELIVERABLES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NEXT-STEPS • ACTION PLAN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411480" y="658368"/>
            <a:ext cx="1136873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Series Navigation &amp; Engineering Deliverables</a:t>
            </a:r>
            <a:endParaRPr lang="en-US" sz="1900" dirty="0"/>
          </a:p>
        </p:txBody>
      </p:sp>
      <p:sp>
        <p:nvSpPr>
          <p:cNvPr id="18" name="Text 16"/>
          <p:cNvSpPr/>
          <p:nvPr/>
        </p:nvSpPr>
        <p:spPr>
          <a:xfrm>
            <a:off x="411480" y="1024128"/>
            <a:ext cx="11368735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Sequenced engineering action items, runnable codebase file paths, assigned platform owners, and CI/CD release gates.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11480" y="1353312"/>
            <a:ext cx="3655771" cy="2282342"/>
          </a:xfrm>
          <a:prstGeom prst="roundRect">
            <a:avLst>
              <a:gd name="adj" fmla="val 3205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11480" y="1353312"/>
            <a:ext cx="3655771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1" name="Shape 19"/>
          <p:cNvSpPr/>
          <p:nvPr/>
        </p:nvSpPr>
        <p:spPr>
          <a:xfrm>
            <a:off x="557784" y="1481328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E8F0FE"/>
          </a:solidFill>
          <a:ln/>
        </p:spPr>
      </p:sp>
      <p:sp>
        <p:nvSpPr>
          <p:cNvPr id="22" name="Text 20"/>
          <p:cNvSpPr/>
          <p:nvPr/>
        </p:nvSpPr>
        <p:spPr>
          <a:xfrm>
            <a:off x="557784" y="148132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01</a:t>
            </a:r>
            <a:endParaRPr lang="en-US" sz="920" dirty="0"/>
          </a:p>
        </p:txBody>
      </p:sp>
      <p:sp>
        <p:nvSpPr>
          <p:cNvPr id="23" name="Text 21"/>
          <p:cNvSpPr/>
          <p:nvPr/>
        </p:nvSpPr>
        <p:spPr>
          <a:xfrm>
            <a:off x="996696" y="1463040"/>
            <a:ext cx="2924251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Shared 5-Hop ADK 2.0 Core Engine (All Patterns)</a:t>
            </a:r>
            <a:endParaRPr lang="en-US" sz="1040" dirty="0"/>
          </a:p>
        </p:txBody>
      </p:sp>
      <p:sp>
        <p:nvSpPr>
          <p:cNvPr id="24" name="Shape 22"/>
          <p:cNvSpPr/>
          <p:nvPr/>
        </p:nvSpPr>
        <p:spPr>
          <a:xfrm>
            <a:off x="557784" y="1847088"/>
            <a:ext cx="3363163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25" name="Text 23"/>
          <p:cNvSpPr/>
          <p:nvPr/>
        </p:nvSpPr>
        <p:spPr>
          <a:xfrm>
            <a:off x="557784" y="1901952"/>
            <a:ext cx="3363163" cy="87416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Deploy core-cymbal-agent/ (models.py, runtime_pipeline.py, tenant_profiles.py) once to enforce Hops 1–5 across Pooled, Siloed, and Hybrid tiers with 80% code reuse.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557784" y="2812694"/>
            <a:ext cx="3363163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57784" y="2812694"/>
            <a:ext cx="54864" cy="49377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8" name="Text 26"/>
          <p:cNvSpPr/>
          <p:nvPr/>
        </p:nvSpPr>
        <p:spPr>
          <a:xfrm>
            <a:off x="649224" y="2840126"/>
            <a:ext cx="3235147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core-cymbal-agent/runtime_pipeline.py • models.py • tenant_profiles.py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80% Shared Application Code • Hops 1–5 Enforced Identically Across A, B &amp; C</a:t>
            </a:r>
            <a:endParaRPr lang="en-US" sz="750" dirty="0"/>
          </a:p>
        </p:txBody>
      </p:sp>
      <p:sp>
        <p:nvSpPr>
          <p:cNvPr id="29" name="Shape 27"/>
          <p:cNvSpPr/>
          <p:nvPr/>
        </p:nvSpPr>
        <p:spPr>
          <a:xfrm>
            <a:off x="557784" y="3361334"/>
            <a:ext cx="3363163" cy="219456"/>
          </a:xfrm>
          <a:prstGeom prst="roundRect">
            <a:avLst>
              <a:gd name="adj" fmla="val 20833"/>
            </a:avLst>
          </a:prstGeom>
          <a:solidFill>
            <a:srgbClr val="E8F0FE"/>
          </a:solidFill>
          <a:ln/>
        </p:spPr>
      </p:sp>
      <p:sp>
        <p:nvSpPr>
          <p:cNvPr id="30" name="Text 28"/>
          <p:cNvSpPr/>
          <p:nvPr/>
        </p:nvSpPr>
        <p:spPr>
          <a:xfrm>
            <a:off x="612648" y="3361334"/>
            <a:ext cx="325343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Owner: Platform Architecture  •  Deliverable 1: Shared ADK Core</a:t>
            </a:r>
            <a:endParaRPr lang="en-US" sz="750" dirty="0"/>
          </a:p>
        </p:txBody>
      </p:sp>
      <p:sp>
        <p:nvSpPr>
          <p:cNvPr id="31" name="Shape 29"/>
          <p:cNvSpPr/>
          <p:nvPr/>
        </p:nvSpPr>
        <p:spPr>
          <a:xfrm>
            <a:off x="4268419" y="1353312"/>
            <a:ext cx="3655771" cy="2282342"/>
          </a:xfrm>
          <a:prstGeom prst="roundRect">
            <a:avLst>
              <a:gd name="adj" fmla="val 3205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268419" y="1353312"/>
            <a:ext cx="3655771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33" name="Shape 31"/>
          <p:cNvSpPr/>
          <p:nvPr/>
        </p:nvSpPr>
        <p:spPr>
          <a:xfrm>
            <a:off x="4414723" y="1481328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FCE8E6"/>
          </a:solidFill>
          <a:ln/>
        </p:spPr>
      </p:sp>
      <p:sp>
        <p:nvSpPr>
          <p:cNvPr id="34" name="Text 32"/>
          <p:cNvSpPr/>
          <p:nvPr/>
        </p:nvSpPr>
        <p:spPr>
          <a:xfrm>
            <a:off x="4414723" y="148132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02</a:t>
            </a:r>
            <a:endParaRPr lang="en-US" sz="920" dirty="0"/>
          </a:p>
        </p:txBody>
      </p:sp>
      <p:sp>
        <p:nvSpPr>
          <p:cNvPr id="35" name="Text 33"/>
          <p:cNvSpPr/>
          <p:nvPr/>
        </p:nvSpPr>
        <p:spPr>
          <a:xfrm>
            <a:off x="4853635" y="1463040"/>
            <a:ext cx="2924251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Proceed to Workstream 2 — Pattern A High-Density Pooled ($42/mo)</a:t>
            </a:r>
            <a:endParaRPr lang="en-US" sz="1040" dirty="0"/>
          </a:p>
        </p:txBody>
      </p:sp>
      <p:sp>
        <p:nvSpPr>
          <p:cNvPr id="36" name="Shape 34"/>
          <p:cNvSpPr/>
          <p:nvPr/>
        </p:nvSpPr>
        <p:spPr>
          <a:xfrm>
            <a:off x="4414723" y="1847088"/>
            <a:ext cx="3363163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37" name="Text 35"/>
          <p:cNvSpPr/>
          <p:nvPr/>
        </p:nvSpPr>
        <p:spPr>
          <a:xfrm>
            <a:off x="4414723" y="1901952"/>
            <a:ext cx="3363163" cy="87416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Provision workstream-2-pattern-a-pooled/2.6-terraform-starter/ and run 2.5-breach-simulation-suite/run_breach_simulations.py (10/10 breach tests PASS).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4414723" y="2812694"/>
            <a:ext cx="3363163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4414723" y="2812694"/>
            <a:ext cx="54864" cy="49377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40" name="Text 38"/>
          <p:cNvSpPr/>
          <p:nvPr/>
        </p:nvSpPr>
        <p:spPr>
          <a:xfrm>
            <a:off x="4506163" y="2840126"/>
            <a:ext cx="3235147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workstream-2-pattern-a-pooled/2.6-terraform-starter/ • run_breach_simulations.py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$42/mo Pooled Floor • 84.7% Net Token Savings • 10/10 Red-Team Simulations PASS</a:t>
            </a:r>
            <a:endParaRPr lang="en-US" sz="750" dirty="0"/>
          </a:p>
        </p:txBody>
      </p:sp>
      <p:sp>
        <p:nvSpPr>
          <p:cNvPr id="41" name="Shape 39"/>
          <p:cNvSpPr/>
          <p:nvPr/>
        </p:nvSpPr>
        <p:spPr>
          <a:xfrm>
            <a:off x="4414723" y="3361334"/>
            <a:ext cx="3363163" cy="219456"/>
          </a:xfrm>
          <a:prstGeom prst="roundRect">
            <a:avLst>
              <a:gd name="adj" fmla="val 20833"/>
            </a:avLst>
          </a:prstGeom>
          <a:solidFill>
            <a:srgbClr val="FCE8E6"/>
          </a:solidFill>
          <a:ln/>
        </p:spPr>
      </p:sp>
      <p:sp>
        <p:nvSpPr>
          <p:cNvPr id="42" name="Text 40"/>
          <p:cNvSpPr/>
          <p:nvPr/>
        </p:nvSpPr>
        <p:spPr>
          <a:xfrm>
            <a:off x="4469587" y="3361334"/>
            <a:ext cx="325343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Owner: Cloud Security &amp; IAM  •  Next: WS2 Pattern A (Pooled)</a:t>
            </a:r>
            <a:endParaRPr lang="en-US" sz="750" dirty="0"/>
          </a:p>
        </p:txBody>
      </p:sp>
      <p:sp>
        <p:nvSpPr>
          <p:cNvPr id="43" name="Shape 41"/>
          <p:cNvSpPr/>
          <p:nvPr/>
        </p:nvSpPr>
        <p:spPr>
          <a:xfrm>
            <a:off x="8124444" y="1353312"/>
            <a:ext cx="3655771" cy="2282342"/>
          </a:xfrm>
          <a:prstGeom prst="roundRect">
            <a:avLst>
              <a:gd name="adj" fmla="val 3205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8124444" y="1353312"/>
            <a:ext cx="3655771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45" name="Shape 43"/>
          <p:cNvSpPr/>
          <p:nvPr/>
        </p:nvSpPr>
        <p:spPr>
          <a:xfrm>
            <a:off x="8270748" y="1481328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FEF7E0"/>
          </a:solidFill>
          <a:ln/>
        </p:spPr>
      </p:sp>
      <p:sp>
        <p:nvSpPr>
          <p:cNvPr id="46" name="Text 44"/>
          <p:cNvSpPr/>
          <p:nvPr/>
        </p:nvSpPr>
        <p:spPr>
          <a:xfrm>
            <a:off x="8270748" y="148132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03</a:t>
            </a:r>
            <a:endParaRPr lang="en-US" sz="920" dirty="0"/>
          </a:p>
        </p:txBody>
      </p:sp>
      <p:sp>
        <p:nvSpPr>
          <p:cNvPr id="47" name="Text 45"/>
          <p:cNvSpPr/>
          <p:nvPr/>
        </p:nvSpPr>
        <p:spPr>
          <a:xfrm>
            <a:off x="8709660" y="1463040"/>
            <a:ext cx="2924251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Proceed to Workstream 3 — Pattern B Zero-Trust Sovereign Silos ($1,850/mo)</a:t>
            </a:r>
            <a:endParaRPr lang="en-US" sz="1040" dirty="0"/>
          </a:p>
        </p:txBody>
      </p:sp>
      <p:sp>
        <p:nvSpPr>
          <p:cNvPr id="48" name="Shape 46"/>
          <p:cNvSpPr/>
          <p:nvPr/>
        </p:nvSpPr>
        <p:spPr>
          <a:xfrm>
            <a:off x="8270748" y="1847088"/>
            <a:ext cx="3363163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49" name="Text 47"/>
          <p:cNvSpPr/>
          <p:nvPr/>
        </p:nvSpPr>
        <p:spPr>
          <a:xfrm>
            <a:off x="8270748" y="1901952"/>
            <a:ext cx="3363163" cy="87416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Provision workstream-3-pattern-b-siloed/3.6-terraform-silo-blueprint/ (VPC-SC, IAM PAB, CMEK) and run run_silo_security_tests.py (6/6 PASS).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8270748" y="2812694"/>
            <a:ext cx="3363163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8270748" y="2812694"/>
            <a:ext cx="54864" cy="49377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52" name="Text 50"/>
          <p:cNvSpPr/>
          <p:nvPr/>
        </p:nvSpPr>
        <p:spPr>
          <a:xfrm>
            <a:off x="8362188" y="2840126"/>
            <a:ext cx="3235147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workstream-3-pattern-b-siloed/3.6-terraform-silo-blueprint/ • run_silo_security_tests.py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$1,850/mo Dedicated Project + VPC-SC + &lt;60s HTTP 423 CMEK Kill-Switch (6/6 PASS)</a:t>
            </a:r>
            <a:endParaRPr lang="en-US" sz="750" dirty="0"/>
          </a:p>
        </p:txBody>
      </p:sp>
      <p:sp>
        <p:nvSpPr>
          <p:cNvPr id="53" name="Shape 51"/>
          <p:cNvSpPr/>
          <p:nvPr/>
        </p:nvSpPr>
        <p:spPr>
          <a:xfrm>
            <a:off x="8270748" y="3361334"/>
            <a:ext cx="3363163" cy="219456"/>
          </a:xfrm>
          <a:prstGeom prst="roundRect">
            <a:avLst>
              <a:gd name="adj" fmla="val 20833"/>
            </a:avLst>
          </a:prstGeom>
          <a:solidFill>
            <a:srgbClr val="FEF7E0"/>
          </a:solidFill>
          <a:ln/>
        </p:spPr>
      </p:sp>
      <p:sp>
        <p:nvSpPr>
          <p:cNvPr id="54" name="Text 52"/>
          <p:cNvSpPr/>
          <p:nvPr/>
        </p:nvSpPr>
        <p:spPr>
          <a:xfrm>
            <a:off x="8325612" y="3361334"/>
            <a:ext cx="325343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Owner: Data &amp; FinOps SRE  •  Next: WS3 Pattern B (Siloed)</a:t>
            </a:r>
            <a:endParaRPr lang="en-US" sz="750" dirty="0"/>
          </a:p>
        </p:txBody>
      </p:sp>
      <p:sp>
        <p:nvSpPr>
          <p:cNvPr id="55" name="Shape 53"/>
          <p:cNvSpPr/>
          <p:nvPr/>
        </p:nvSpPr>
        <p:spPr>
          <a:xfrm>
            <a:off x="411480" y="3800246"/>
            <a:ext cx="5583326" cy="2234794"/>
          </a:xfrm>
          <a:prstGeom prst="roundRect">
            <a:avLst>
              <a:gd name="adj" fmla="val 3273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411480" y="3800246"/>
            <a:ext cx="5583326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57" name="Shape 55"/>
          <p:cNvSpPr/>
          <p:nvPr/>
        </p:nvSpPr>
        <p:spPr>
          <a:xfrm>
            <a:off x="557784" y="3928262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E6F4EA"/>
          </a:solidFill>
          <a:ln/>
        </p:spPr>
      </p:sp>
      <p:sp>
        <p:nvSpPr>
          <p:cNvPr id="58" name="Text 56"/>
          <p:cNvSpPr/>
          <p:nvPr/>
        </p:nvSpPr>
        <p:spPr>
          <a:xfrm>
            <a:off x="557784" y="3928262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04</a:t>
            </a:r>
            <a:endParaRPr lang="en-US" sz="920" dirty="0"/>
          </a:p>
        </p:txBody>
      </p:sp>
      <p:sp>
        <p:nvSpPr>
          <p:cNvPr id="59" name="Text 57"/>
          <p:cNvSpPr/>
          <p:nvPr/>
        </p:nvSpPr>
        <p:spPr>
          <a:xfrm>
            <a:off x="996696" y="3909974"/>
            <a:ext cx="485180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Proceed to Workstream 4 — Pattern C Dynamic Hybrid PSC &amp; Live Migration</a:t>
            </a:r>
            <a:endParaRPr lang="en-US" sz="1140" dirty="0"/>
          </a:p>
        </p:txBody>
      </p:sp>
      <p:sp>
        <p:nvSpPr>
          <p:cNvPr id="60" name="Shape 58"/>
          <p:cNvSpPr/>
          <p:nvPr/>
        </p:nvSpPr>
        <p:spPr>
          <a:xfrm>
            <a:off x="557784" y="4294022"/>
            <a:ext cx="5290718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61" name="Text 59"/>
          <p:cNvSpPr/>
          <p:nvPr/>
        </p:nvSpPr>
        <p:spPr>
          <a:xfrm>
            <a:off x="557784" y="4348886"/>
            <a:ext cx="5290718" cy="8266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Provision workstream-4-pattern-c-hybrid/4.6-terraform-hybrid-psc-blueprint/ (/28 PSC NAT) and run run_tier_migration_suite.py (4/4 PASS, 0ms lag).</a:t>
            </a:r>
            <a:endParaRPr lang="en-US" sz="980" dirty="0"/>
          </a:p>
        </p:txBody>
      </p:sp>
      <p:sp>
        <p:nvSpPr>
          <p:cNvPr id="62" name="Shape 60"/>
          <p:cNvSpPr/>
          <p:nvPr/>
        </p:nvSpPr>
        <p:spPr>
          <a:xfrm>
            <a:off x="557784" y="5212080"/>
            <a:ext cx="5290718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557784" y="5212080"/>
            <a:ext cx="54864" cy="49377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64" name="Text 62"/>
          <p:cNvSpPr/>
          <p:nvPr/>
        </p:nvSpPr>
        <p:spPr>
          <a:xfrm>
            <a:off x="649224" y="5239512"/>
            <a:ext cx="516270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workstream-4-pattern-c-hybrid/4.6-terraform-hybrid-psc-blueprint/ • run_tier_migration_suite.py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74% Portfolio TCO Savings • Unidirectional PSC • 0ms Live Tier Promotion (4/4 PASS)</a:t>
            </a:r>
            <a:endParaRPr lang="en-US" sz="750" dirty="0"/>
          </a:p>
        </p:txBody>
      </p:sp>
      <p:sp>
        <p:nvSpPr>
          <p:cNvPr id="65" name="Shape 63"/>
          <p:cNvSpPr/>
          <p:nvPr/>
        </p:nvSpPr>
        <p:spPr>
          <a:xfrm>
            <a:off x="557784" y="5760720"/>
            <a:ext cx="5290718" cy="219456"/>
          </a:xfrm>
          <a:prstGeom prst="roundRect">
            <a:avLst>
              <a:gd name="adj" fmla="val 20833"/>
            </a:avLst>
          </a:prstGeom>
          <a:solidFill>
            <a:srgbClr val="E6F4EA"/>
          </a:solidFill>
          <a:ln/>
        </p:spPr>
      </p:sp>
      <p:sp>
        <p:nvSpPr>
          <p:cNvPr id="66" name="Text 64"/>
          <p:cNvSpPr/>
          <p:nvPr/>
        </p:nvSpPr>
        <p:spPr>
          <a:xfrm>
            <a:off x="612648" y="5760720"/>
            <a:ext cx="518099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Owner: Tenant Onboarding  •  Next: WS4 Pattern C (Hybrid)</a:t>
            </a:r>
            <a:endParaRPr lang="en-US" sz="750" dirty="0"/>
          </a:p>
        </p:txBody>
      </p:sp>
      <p:sp>
        <p:nvSpPr>
          <p:cNvPr id="67" name="Shape 65"/>
          <p:cNvSpPr/>
          <p:nvPr/>
        </p:nvSpPr>
        <p:spPr>
          <a:xfrm>
            <a:off x="6195974" y="3800246"/>
            <a:ext cx="5583326" cy="2234794"/>
          </a:xfrm>
          <a:prstGeom prst="roundRect">
            <a:avLst>
              <a:gd name="adj" fmla="val 3273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6195974" y="3800246"/>
            <a:ext cx="5583326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69" name="Shape 67"/>
          <p:cNvSpPr/>
          <p:nvPr/>
        </p:nvSpPr>
        <p:spPr>
          <a:xfrm>
            <a:off x="6342278" y="3928262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E8F0FE"/>
          </a:solidFill>
          <a:ln/>
        </p:spPr>
      </p:sp>
      <p:sp>
        <p:nvSpPr>
          <p:cNvPr id="70" name="Text 68"/>
          <p:cNvSpPr/>
          <p:nvPr/>
        </p:nvSpPr>
        <p:spPr>
          <a:xfrm>
            <a:off x="6342278" y="3928262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05</a:t>
            </a:r>
            <a:endParaRPr lang="en-US" sz="920" dirty="0"/>
          </a:p>
        </p:txBody>
      </p:sp>
      <p:sp>
        <p:nvSpPr>
          <p:cNvPr id="71" name="Text 69"/>
          <p:cNvSpPr/>
          <p:nvPr/>
        </p:nvSpPr>
        <p:spPr>
          <a:xfrm>
            <a:off x="6781190" y="3909974"/>
            <a:ext cx="485180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Proceed to Workstream 5 — Executive Decision Guide &amp; CI/CD Certification</a:t>
            </a:r>
            <a:endParaRPr lang="en-US" sz="1140" dirty="0"/>
          </a:p>
        </p:txBody>
      </p:sp>
      <p:sp>
        <p:nvSpPr>
          <p:cNvPr id="72" name="Shape 70"/>
          <p:cNvSpPr/>
          <p:nvPr/>
        </p:nvSpPr>
        <p:spPr>
          <a:xfrm>
            <a:off x="6342278" y="4294022"/>
            <a:ext cx="5290718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73" name="Text 71"/>
          <p:cNvSpPr/>
          <p:nvPr/>
        </p:nvSpPr>
        <p:spPr>
          <a:xfrm>
            <a:off x="6342278" y="4348886"/>
            <a:ext cx="5290718" cy="8266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Apply the 2-Question Topology Selector (5.1-pattern-comparison-and-decision-guide.md) and execute scripts/run_deep_forensic_audit.py (12/12 PASS).</a:t>
            </a:r>
            <a:endParaRPr lang="en-US" sz="980" dirty="0"/>
          </a:p>
        </p:txBody>
      </p:sp>
      <p:sp>
        <p:nvSpPr>
          <p:cNvPr id="74" name="Shape 72"/>
          <p:cNvSpPr/>
          <p:nvPr/>
        </p:nvSpPr>
        <p:spPr>
          <a:xfrm>
            <a:off x="6342278" y="5212080"/>
            <a:ext cx="5290718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6342278" y="5212080"/>
            <a:ext cx="54864" cy="49377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76" name="Text 74"/>
          <p:cNvSpPr/>
          <p:nvPr/>
        </p:nvSpPr>
        <p:spPr>
          <a:xfrm>
            <a:off x="6433718" y="5239512"/>
            <a:ext cx="516270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workstream-5-wrap-up-and-backlog/5.1-pattern-comparison-and-decision-guide.md • scripts/run_deep_forensic_audit.py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2-Question CISO/CFO Topology Selector + 12/12 Automated CI/CD Forensic Gate PASS</a:t>
            </a:r>
            <a:endParaRPr lang="en-US" sz="750" dirty="0"/>
          </a:p>
        </p:txBody>
      </p:sp>
      <p:sp>
        <p:nvSpPr>
          <p:cNvPr id="77" name="Shape 75"/>
          <p:cNvSpPr/>
          <p:nvPr/>
        </p:nvSpPr>
        <p:spPr>
          <a:xfrm>
            <a:off x="6342278" y="5760720"/>
            <a:ext cx="5290718" cy="219456"/>
          </a:xfrm>
          <a:prstGeom prst="roundRect">
            <a:avLst>
              <a:gd name="adj" fmla="val 20833"/>
            </a:avLst>
          </a:prstGeom>
          <a:solidFill>
            <a:srgbClr val="E8F0FE"/>
          </a:solidFill>
          <a:ln/>
        </p:spPr>
      </p:sp>
      <p:sp>
        <p:nvSpPr>
          <p:cNvPr id="78" name="Text 76"/>
          <p:cNvSpPr/>
          <p:nvPr/>
        </p:nvSpPr>
        <p:spPr>
          <a:xfrm>
            <a:off x="6397142" y="5760720"/>
            <a:ext cx="518099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Owner: Governance &amp; CISO  •  Next: WS5 Decision Guide &amp; Audit</a:t>
            </a:r>
            <a:endParaRPr lang="en-US" sz="750" dirty="0"/>
          </a:p>
        </p:txBody>
      </p:sp>
      <p:sp>
        <p:nvSpPr>
          <p:cNvPr id="79" name="Shape 77"/>
          <p:cNvSpPr/>
          <p:nvPr/>
        </p:nvSpPr>
        <p:spPr>
          <a:xfrm>
            <a:off x="365760" y="6144768"/>
            <a:ext cx="11460175" cy="384048"/>
          </a:xfrm>
          <a:prstGeom prst="roundRect">
            <a:avLst>
              <a:gd name="adj" fmla="val 19048"/>
            </a:avLst>
          </a:prstGeom>
          <a:solidFill>
            <a:srgbClr val="F8F9FA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475488" y="6208776"/>
            <a:ext cx="1874520" cy="256032"/>
          </a:xfrm>
          <a:prstGeom prst="roundRect">
            <a:avLst>
              <a:gd name="adj" fmla="val 21429"/>
            </a:avLst>
          </a:prstGeom>
          <a:solidFill>
            <a:srgbClr val="34A853"/>
          </a:solidFill>
          <a:ln/>
        </p:spPr>
      </p:sp>
      <p:sp>
        <p:nvSpPr>
          <p:cNvPr id="81" name="Text 79"/>
          <p:cNvSpPr/>
          <p:nvPr/>
        </p:nvSpPr>
        <p:spPr>
          <a:xfrm>
            <a:off x="475488" y="6208776"/>
            <a:ext cx="1874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NEXT STEPS &amp; OWNERS</a:t>
            </a:r>
            <a:endParaRPr lang="en-US" sz="780" dirty="0"/>
          </a:p>
        </p:txBody>
      </p:sp>
      <p:sp>
        <p:nvSpPr>
          <p:cNvPr id="82" name="Text 80"/>
          <p:cNvSpPr/>
          <p:nvPr/>
        </p:nvSpPr>
        <p:spPr>
          <a:xfrm>
            <a:off x="2468880" y="6190488"/>
            <a:ext cx="921989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Series Navigation &amp; Deliverable Kit  •  WS1 Reference Baseline → WS2 Pooled ($42/mo) → WS3 Sovereign Silos ($1,850/mo) → WS4 Hybrid PSC → WS5 Decision Guide</a:t>
            </a:r>
            <a:endParaRPr lang="en-US" sz="880" dirty="0"/>
          </a:p>
        </p:txBody>
      </p:sp>
      <p:sp>
        <p:nvSpPr>
          <p:cNvPr id="83" name="Text 81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Multi-Tenant Agentic AI on Google Cloud • Vertex AI Agent Engine, Gemini Enterprise &amp; ADK 2.0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Google Cloud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Multi-Tenant Agentic AI on Google Cloud: Reference Taxonomy &amp; 5-Hop Governance (Workstream 1)</dc:title>
  <dc:subject>PptxGenJS Presentation</dc:subject>
  <dc:creator>Google Cloud Architecture Center • PromptCanvas Vision Decompiler</dc:creator>
  <cp:lastModifiedBy>Google Cloud Architecture Center • PromptCanvas Vision Decompiler</cp:lastModifiedBy>
  <cp:revision>1</cp:revision>
  <dcterms:created xsi:type="dcterms:W3CDTF">2026-10-19T07:29:06Z</dcterms:created>
  <dcterms:modified xsi:type="dcterms:W3CDTF">2026-10-19T07:29:06Z</dcterms:modified>
</cp:coreProperties>
</file>