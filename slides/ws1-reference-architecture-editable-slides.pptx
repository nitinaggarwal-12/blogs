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We have structured this streamlined eleven-slide reference architecture briefing into a cohesive five-part engineering series roadmap so you can trace the SaaS AI Dilemma from isolation topologies all the way to automated CI/CD forensic compliance.</a:t>
            </a:r>
            <a:endParaRPr lang="en-US" dirty="0"/>
          </a:p>
          <a:p>
            <a:r>
              <a:rPr lang="en-US" dirty="0"/>
              <a:t>In this session, we are walking through our foundational reference architecture for running multi-tenant AI agents on Google Cloud. Right upfront, we define our three core building blocks using operating-system primitives—Google’s Agent Development Kit (ADK) as our OS syscall scheduler, the Model Context Protocol (MCP) as our POSIX tool driver ABI, and Agent Registry and Discovery (ARD) as our chrooted virtual filesystem catalog—and show how we solve the SaaS AI Architect’s Dilemma: avoiding the margin erosion of spinning up dedicated cloud projects for every small customer while preventing tool-schema data leaks and noisy-neighbor rate starvation in a shared pool.</a:t>
            </a:r>
            <a:endParaRPr lang="en-US" dirty="0"/>
          </a:p>
          <a:p>
            <a:r>
              <a:rPr lang="en-US" dirty="0"/>
              <a:t>With our thesis defined on Slide 1, let's turn to Slide 2 for our Agenda and 5-Part Series Navigation table so you can see the exact macro-to-micro flow of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executive cover on Slide 1, Slide 2 provides an explicit Table of Contents mapping all eleven slides across the five-part blog series and our L1-to-L4 architectural hierarchy.</a:t>
            </a:r>
            <a:endParaRPr lang="en-US" dirty="0"/>
          </a:p>
          <a:p>
            <a:r>
              <a:rPr lang="en-US" dirty="0"/>
              <a:t>This Table of Contents maps our streamlined eleven-slide deck directly to the five-part engineering blog series and follows a strict macro-to-micro hierarchy. Part 1 covers the SaaS AI Architect’s Dilemma and isolation topologies across Slides 1 through 4. Part 2 establishes the five-hop cryptographic pipeline from L1 Logical Security Layers on Slide 5 to L2 Physical Network Perimeters on Slide 6 and L4 Wire Packet transformation on Slide 8. Part 3 on Slide 7 merges our L3 chronological UML sequence with fail-closed circuit breakers, sub-five-second Valkey L1 cache eviction, and single-flight recovery. Part 4 on Slide 9 documents our five EAP product gap controls, and Part 5 across Slides 10 and 11 pairs live Google Cloud Console proof with our merged Well-Architected SLA scorecard and runnable GitHub milestones.</a:t>
            </a:r>
            <a:endParaRPr lang="en-US" dirty="0"/>
          </a:p>
          <a:p>
            <a:r>
              <a:rPr lang="en-US" dirty="0"/>
              <a:t>Now that we have the full eleven-slide roadmap in front of us, let's turn to Slide 3 to meet the competing customer personas whose business and regulatory constraints drive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Stepping into Part 1 from our Agenda on Slide 2, we start with the customer personas first—contrasting regulated banking workloads against high-density commercial SaaS workloads.</a:t>
            </a:r>
            <a:endParaRPr lang="en-US" dirty="0"/>
          </a:p>
          <a:p>
            <a:r>
              <a:rPr lang="en-US" dirty="0"/>
              <a:t>Here you can see that SaaS AI tension illustrated through two competing tenant personas on our Cymbal platform. On one side, FinVault Bank is a regulated financial institution at six hundred requests per minute that requires customer-controlled encryption keys and chooses between Managed Vertex AI Dedicated Provisioned Throughput for zero-ops Gemini 2.5 Pro capacity or self-managed, air-gapped Gemma 3 27B on Private GKE with zero internet egress. On the other side, RetailStream Corp runs on Microsoft Entra ID and ServiceNow at one hundred twenty requests per minute, where we isolate per-user Three-Legged OAuth tokens inside tenant-and-user DPoP-bound vaults to eliminate the Confused Deputy vulnerability across pooled workers.</a:t>
            </a:r>
            <a:endParaRPr lang="en-US" dirty="0"/>
          </a:p>
          <a:p>
            <a:r>
              <a:rPr lang="en-US" dirty="0"/>
              <a:t>Now that we see what FinVault Bank and RetailStream Corp require on Slide 3, let's turn to Slide 4 to compare our three isolation topologies across twelve architectural and operational dimensions.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personas from Slide 3, this matrix closes Part 1 by comparing Pooled (Pattern A), Sovereign Silos (Pattern B), and Dynamic Hybrid (Pattern C).</a:t>
            </a:r>
            <a:endParaRPr lang="en-US" dirty="0"/>
          </a:p>
          <a:p>
            <a:r>
              <a:rPr lang="en-US" dirty="0"/>
              <a:t>To serve both ends of that customer spectrum, this twelve-dimension matrix compares Pattern A, our High-Density Shared Pool; Pattern B, our Zero-Trust Sovereign Silos; and Pattern C, our Dynamic Hybrid Bridge. Notice the operational fleet-scale trade-off in the table: managing five hundred enterprise customers in Pattern B means maintaining five hundred separate VPC Service Controls perimeters, KMS keys, and AlloyDB instances—which is why Pattern C hosts nine hundred fifty standard tenants in the shared pool and reserves fifty Private Service Connect spokes for regulated contracts. Also note our kill-switch distinction: while Google Cloud KMS key state propagation can take up to sixty seconds across storage, Hop 3 runs a targeted Valkey SCAN and UNLINK of the tenant’s cache prefix in under five seconds to enforce our HTTP 423 lock SLA.</a:t>
            </a:r>
            <a:endParaRPr lang="en-US" dirty="0"/>
          </a:p>
          <a:p>
            <a:r>
              <a:rPr lang="en-US" dirty="0"/>
              <a:t>With our three isolation topologies defined in Part 1, let's enter Part 2 on Slide 5 at Level 1 Logical—examining our three logical security layers before zooming into the four physical VPC-SC network perimeters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Part 2 on securing the agent loop, Slide 5 establishes the Level 1 Logical view—organizing our architecture into three logical security layers so it maps cleanly onto the four physical VPC-SC perimeters on Slide 6.</a:t>
            </a:r>
            <a:endParaRPr lang="en-US" dirty="0"/>
          </a:p>
          <a:p>
            <a:r>
              <a:rPr lang="en-US" dirty="0"/>
              <a:t>Before we inspect individual cloud services, this Level 1 diagram organizes our entire architecture into three logical security layers from left to right—preventing any terminology clash with the four physical VPC-SC network perimeters on the next slide. Layer 1 on the left verifies federated identity and DPoP proofs at the Cloud Armor and IAP edge. Layer 2 in the center runs our Five-Hop ADK Control Plane, where regional gRPC callouts keep Hop 4 inline Model Armor and Cloud DLP inspection to roughly twenty-two milliseconds and total five-hop control-plane overhead to about forty-two milliseconds at p95. And to prevent security drift during a five-minute STS JWT window, every hop checks a three-millisecond Valkey JTI and CMEK revocation deny-list before routing into Layer 3 on the right.</a:t>
            </a:r>
            <a:endParaRPr lang="en-US" dirty="0"/>
          </a:p>
          <a:p>
            <a:r>
              <a:rPr lang="en-US" dirty="0"/>
              <a:t>Now that we have the three logical security layers in mind, let's zoom directly into Level 2 Physical on Slide 6 to see how those layers map onto our fifty-six-shape Google Cloud blueprint across four physical VPC-SC network perimeters.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strict macro-to-micro L1-to-L2 progression from Slide 5, Slide 6 maps the three logical security layers onto concrete Google Cloud services across four color-coded physical VPC Service Controls perimeters.</a:t>
            </a:r>
            <a:endParaRPr lang="en-US" dirty="0"/>
          </a:p>
          <a:p>
            <a:r>
              <a:rPr lang="en-US" dirty="0"/>
              <a:t>Zooming directly from those three logical security layers into the Level 2 physical topology, Figure 1 maps our fifty-six-shape Google Cloud blueprint across four physical VPC Service Controls network perimeters. Requests enter Blue Perimeter 1 (the Routing Hub for Steps 1 through 3 and Hop 1) at the top, traverse Green Perimeter 2 (the Five-Hop Governance Hub for Hops 2 and 5) in the center, and execute inside either Yellow Perimeter 3 (the Pattern A Shared Pool Spoke for Steps 4 through 7 and Hops 3 through 5) on the left or Red Perimeter 4 (the Pattern B Sovereign Silo and Pattern C PSC Spoke) on the right—with gVisor kernel sandboxing and composite tenant-user-session keys isolating every worker.</a:t>
            </a:r>
            <a:endParaRPr lang="en-US" dirty="0"/>
          </a:p>
          <a:p>
            <a:r>
              <a:rPr lang="en-US" dirty="0"/>
              <a:t>With both the L1 logical layers and L2 physical perimeters established, let's step into Level 3 Process on Slide 7 to trace a live request chronologically across all five actors alongside our merged fail-closed circuit breakers and Valkey L1 cache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Moving from L2 Physical on Slide 6 to L3 Process on Slide 7, this unified diagram combines our chronological five-actor request sequence with our fail-closed circuit breakers, sub-five-second Valkey SCAN+UNLINK eviction, and SET NX PX 5000 single-flight recovery.</a:t>
            </a:r>
            <a:endParaRPr lang="en-US" dirty="0"/>
          </a:p>
          <a:p>
            <a:r>
              <a:rPr lang="en-US" dirty="0"/>
              <a:t>Now that we have the L1 logical layers and L2 physical perimeters in place, this merged Level 3 process and operational resilience slide traces both the chronological happy path across five actors and every fail-closed circuit breaker in one unified view. Steps 1 through 6 trace a live customer turn in roughly forty-two milliseconds of control-plane overhead. And in the red fail-closed frame at the bottom, spoofed headers or ~3ms JTI revocations return HTTP 401 or 403, rate bursts over 120 or 600 RPM return HTTP 429 with Retry-After jitter, and a revoked Cloud KMS key triggers an HTTP 423 lock with a sub-five-second targeted Valkey SCAN and UNLINK of cache:{tenant}:*—followed by single-flight SET NX PX 5000 lazy re-hydration from AlloyDB RLS when the key is restored.</a:t>
            </a:r>
            <a:endParaRPr lang="en-US" dirty="0"/>
          </a:p>
          <a:p>
            <a:r>
              <a:rPr lang="en-US" dirty="0"/>
              <a:t>Having watched the request and its circuit breakers execute across Hops 1 through 5 on Slide 7, let's zoom all the way down to Level 4 Wire on Slide 8 to inspect the exact JSON packet and KMS-signed STS JWT on the wire.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Completing our L1 → L2 → L3 → L4 macro-to-micro hierarchy, Slide 8 inspects the raw JSON payload on the wire before and after Hop 1 token exchange.</a:t>
            </a:r>
            <a:endParaRPr lang="en-US" dirty="0"/>
          </a:p>
          <a:p>
            <a:r>
              <a:rPr lang="en-US" dirty="0"/>
              <a:t>Zooming all the way down to Level 4, here we open up the wire packet traveling across those hops. On the left, an untrusted client attempts to inject a spoofed X-Tenant-Id header claiming to be FinVault Bank. In the center, Cloud Armor and our Hop 1 Security Token Service strip that header, verify the caller’s OIDC and DPoP proof, and mint a KMS ECDSA P-256 signed STS JWT. On the right, downstream microservices verify that asymmetric signature locally in under 0.15 milliseconds using an in-memory cached JWKS public key—achieving mathematical non-repudiation with zero per-hop KMS network calls.</a:t>
            </a:r>
            <a:endParaRPr lang="en-US" dirty="0"/>
          </a:p>
          <a:p>
            <a:r>
              <a:rPr lang="en-US" dirty="0"/>
              <a:t>With the five-hop architecture proven from logical layers down to the wire packet, let's move into Part 4 on Slide 9 to inspect the five EAP product gaps we encountered and the feature-flagged compensating controls we built to close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on Slide 9 provides our transparent engineering ledger of five current platform gaps, our codebase compensating controls, and our feature-flagged native adapter sunset hooks.</a:t>
            </a:r>
            <a:endParaRPr lang="en-US" dirty="0"/>
          </a:p>
          <a:p>
            <a:r>
              <a:rPr lang="en-US" dirty="0"/>
              <a:t>This register maps our five compensating production controls—GAP-01 through GAP-05—to the early-access platform boundaries engineering teams face today. Every custom Python, Valkey, or SQL control in core-cymbal-agent is wrapped in a feature-flagged native adapter hook (CYMBAL_NATIVE_ARD_GA, CYMBAL_NATIVE_KMS_PROBE_GA, CYMBAL_NATIVE_MEM_TTL_GA, CYMBAL_NATIVE_PSC_CUTOVER_GA, and CYMBAL_NATIVE_OTEL_FINOPS_GA) so teams can switch cleanly to native GCP primitives via configuration as they reach general availability. And in row five, our OpenTelemetry FinOps exporter streams SHA-256 prompt hashes and token counters directly into BigQuery so finance teams can run exact SQL chargeback queries across cached and thinking tokens with zero raw PII.</a:t>
            </a:r>
            <a:endParaRPr lang="en-US" dirty="0"/>
          </a:p>
          <a:p>
            <a:r>
              <a:rPr lang="en-US" dirty="0"/>
              <a:t>With our compensating controls documented on Slide 9, let's enter Part 5 on Slide 10 to inspect the live Google Cloud Console and Cloud Logging Explorer proof from our deployed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Part 5 on automated compliance, Slide 10 presents live evidence captured from our running Google Cloud projects along with the exact Cloud Logging Explorer queries used by SRE and CISO auditors.</a:t>
            </a:r>
            <a:endParaRPr lang="en-US" dirty="0"/>
          </a:p>
          <a:p>
            <a:r>
              <a:rPr lang="en-US" dirty="0"/>
              <a:t>To prove this architecture is running live rather than just on slides, here are authentic captures from our deployed Cloud Run revisions, Cloud Logging Explorer, and our Dual-Plane verification harness. On the Intra-Cloud plane, our 20/20 Google Cloud runtime suites verify zero cross-tenant RLS rows across HTTP 200, 403, 423, and 429 responses; on the Inter-Cloud plane, our 30/30 AWS Bedrock AgentCore MCP and 10-SaaS cross-cloud target harness passes all sixty assertions and all twelve automated forensic gates.</a:t>
            </a:r>
            <a:endParaRPr lang="en-US" dirty="0"/>
          </a:p>
          <a:p>
            <a:r>
              <a:rPr lang="en-US" dirty="0"/>
              <a:t>With the live cloud verification complete, let's move to our final slide—Slide 11—where we merge our Google Cloud Well-Architected SLA scorecard directly into the five runnable engineering milestones and five-part blog series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Part 5, our final slide consolidates our Well-Architected SLA scorecard directly into the five executable GitHub milestones and five-part blog series roadmap.</a:t>
            </a:r>
            <a:endParaRPr lang="en-US" dirty="0"/>
          </a:p>
          <a:p>
            <a:r>
              <a:rPr lang="en-US" dirty="0"/>
              <a:t>Finally, our closing slide consolidates the Google Cloud Well-Architected SLA scorecard directly into our five runnable GitHub milestones and five-part blog series launch plan. Every milestone card pairs its exact repository file path with its production SLA target: under 150-microsecond cached-JWKS verification and ~3ms JTI deny-lists in Part 1; ~42ms p95 five-hop overhead, ~420ms warm TTFT, and 84.7 percent token savings in Part 2; &lt;60s CMEK revocation, &lt;5s Valkey SCAN+UNLINK eviction, SET NX PX 5000 recovery, and &lt;30s cross-region failover RTO in Part 3; 74 percent portfolio TCO reduction and 0ms PSC cutover in Part 4; and 12/12 forensic plus 107/107 runtime assertions in Part 5.</a:t>
            </a:r>
            <a:endParaRPr lang="en-US" dirty="0"/>
          </a:p>
          <a:p>
            <a:r>
              <a:rPr lang="en-US" dirty="0"/>
              <a:t>That completes our streamlined eleven-slide walkthrough—I would love to open the floor for your questions, or we can jump straight into the live codebase and Terraform modules.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image" Target="../media/image-6-14.png"/><Relationship Id="rId15" Type="http://schemas.openxmlformats.org/officeDocument/2006/relationships/image" Target="../media/image-6-15.png"/><Relationship Id="rId16" Type="http://schemas.openxmlformats.org/officeDocument/2006/relationships/image" Target="../media/image-6-16.png"/><Relationship Id="rId17" Type="http://schemas.openxmlformats.org/officeDocument/2006/relationships/image" Target="../media/image-6-17.png"/><Relationship Id="rId18" Type="http://schemas.openxmlformats.org/officeDocument/2006/relationships/image" Target="../media/image-6-18.png"/><Relationship Id="rId19" Type="http://schemas.openxmlformats.org/officeDocument/2006/relationships/image" Target="../media/image-6-19.png"/><Relationship Id="rId20" Type="http://schemas.openxmlformats.org/officeDocument/2006/relationships/image" Target="../media/image-6-20.png"/><Relationship Id="rId21" Type="http://schemas.openxmlformats.org/officeDocument/2006/relationships/slideLayout" Target="../slideLayouts/slideLayout1.xml"/><Relationship Id="rId2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1 • REFERENCE ARCHITECTURE &amp; CLOUD ARCHITECTURE CENTER DOC PR</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Multi-Tenant Agentic AI on Google Cloud: Reference Taxonomy &amp; 5-Hop Governance (Workstream 1)</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Solving the SaaS AI Dilemma: Prevent tool-schema leaks and rogue-tenant quota starvation using Agent Development Kit (ADK), Model Context Protocol (MCP) &amp; Agent Registry Discovery (ARD) across Pooled, Silo &amp; Hybrid tiers</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Why It Matters (The SaaS AI Dilemma)</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680" dirty="0">
                <a:solidFill>
                  <a:srgbClr val="5F6368"/>
                </a:solidFill>
                <a:latin typeface="Roboto" pitchFamily="34" charset="0"/>
                <a:ea typeface="Roboto" pitchFamily="34" charset="-122"/>
                <a:cs typeface="Roboto" pitchFamily="34" charset="-120"/>
              </a:rPr>
              <a:t>Dedicated projects per Standard tenant erode SaaS gross margins, whereas naive shared agents leak cross-tenant data via tool schemas and let one.</a:t>
            </a:r>
            <a:endParaRPr lang="en-US" sz="68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Core Primitives (ADK • MCP • ARD)</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680" dirty="0">
                <a:solidFill>
                  <a:srgbClr val="5F6368"/>
                </a:solidFill>
                <a:latin typeface="Roboto" pitchFamily="34" charset="0"/>
                <a:ea typeface="Roboto" pitchFamily="34" charset="-122"/>
                <a:cs typeface="Roboto" pitchFamily="34" charset="-120"/>
              </a:rPr>
              <a:t>ADK (OS syscall scheduler), MCP (POSIX tool driver ABI) &amp; ARD (chrooted VFS catalog) isolate every tenant turn across 5 cryptographic hops.</a:t>
            </a:r>
            <a:endParaRPr lang="en-US" sz="68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Three Topologies &amp; 80/20 Code Reuse</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680" dirty="0">
                <a:solidFill>
                  <a:srgbClr val="5F6368"/>
                </a:solidFill>
                <a:latin typeface="Roboto" pitchFamily="34" charset="0"/>
                <a:ea typeface="Roboto" pitchFamily="34" charset="-122"/>
                <a:cs typeface="Roboto" pitchFamily="34" charset="-120"/>
              </a:rPr>
              <a:t>Pattern A (Pooled RLS + 90% prefix cache), Pattern B (Sovereign Silo VPC-SC + CMEK), and Pattern C (Dynamic Hybrid PSC + 0ms tier upgrade) share.</a:t>
            </a:r>
            <a:endParaRPr lang="en-US" sz="68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5-Hop Pipeline (~42ms p95 Overhead)</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680" dirty="0">
                <a:solidFill>
                  <a:srgbClr val="5F6368"/>
                </a:solidFill>
                <a:latin typeface="Roboto" pitchFamily="34" charset="0"/>
                <a:ea typeface="Roboto" pitchFamily="34" charset="-122"/>
                <a:cs typeface="Roboto" pitchFamily="34" charset="-120"/>
              </a:rPr>
              <a:t>Enforces KMS-signed STS JWTs (&lt;0.15ms cached JWKS verify), ARD pruning, targeted Valkey SCAN+UNLINK L1 eviction, streaming Model Armor/DLP.</a:t>
            </a:r>
            <a:endParaRPr lang="en-US" sz="68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PART 1 • SLIDES 1–4</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Agenda, Personas &amp; 12-Dim Pattern Matrix</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Maps ADK/MCP/ARD to CS101 OS primitives; sets the 5-Act agenda (Slide 2), contrasts FinVault (600 RPM: Dedicated PT vs. GKE Gemma 3) &amp; RetailStream (120 RPM: 3LO vault, Slide 3), and compares Patterns A/B/C (Slide 4).</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PART 2 • SLIDES 5–6 &amp; 8</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3 Layers → L2 4 Perimeters → L4 Wire</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macro-to-micro from the 3 Logical Security Layers (~42ms p95, Slide 5) into the 4 Physical VPC-SC Perimeters &amp; Steps 1–7 in Figure 1 (Slide 6) and &lt;0.15ms cached-JWKS STS JWT wire packet (Slide 8).</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PART 3 • SLIDE 7 (L3)</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Merged L3 UML, Breakers &amp; Stampede Lock</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Unifies the 5-Actor chronological UML sequence (Hops 1–5 / UML Steps 1–6) with [Alt] fail-closed circuit breakers (HTTP 401–429), &lt;5s targeted Valkey SCAN+UNLINK, and SET NX PX 5000 single-flight recovery (Slide 7).</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PARTS 4–5 • SLIDES 9–11</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GAP-01..05, Live GCP Proof &amp; Merged SLAs</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Details feature-flagged GAP-01..05 sunset hooks + BigQuery OTel SQL (Slide 9), live Cloud Run &amp; Cloud Logging proof (Slide 10), and merged Well-Architected SLAs + 5 runnable GitHub milestones (Slide 11).</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12/12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EXECUTIVE AGENDA &amp; 5-PART ARCHITECTURAL SERIES NAVIGATION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Agenda &amp; 5-Part Series Navigation — Streamlined 11-Slide Architecture Roadmap</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Streamlined 11-slide executive deck &amp; 5-part blog series roadmap: macro-to-micro L1→L2→L3→L4 hierarchy with zero redundant slides.</a:t>
            </a:r>
            <a:endParaRPr lang="en-US" sz="98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1965960"/>
                <a:gridCol w="2926080"/>
                <a:gridCol w="3200400"/>
                <a:gridCol w="327629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Series Part &amp; Slides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Editorial Blog &amp; Briefing Focus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Core Engineering Question Answered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Key Architectural Deliverable &amp; SLA</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1 • Slides 1–4</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Isolation Topologies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The SaaS AI Architect's Dilemma: High-Density Pooled (A) vs. Sovereign Silos (B) vs. Dynamic Hybrid (C)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serve 950 commercial tenants and 50 regulated banks without margin erosion or 500-silo IaC sprawl?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12-Dimension Decision Matrix • 80/20 ADK Code Reuse • {tenant}:{user} DPoP 3LO Vault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2 • Slides 5, 6 &amp; 8</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5-Hop Pipeline (L1/L2/L4)</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Securing the Agent Loop: L1 3 Logical Security Layers → L2 4 Physical VPC-SC Perimeters → L4 Wire STS JWT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enforce cryptographic tenant identity from edge ingress down to wire packets without per-hop KMS latency?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&lt;0.15ms Cached-JWKS STS JWT • ~3ms Valkey JTI Deny-List • ~42ms p95 5-Hop Control Plane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3 • Slide 7</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L3 Sequence &amp; Breakers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Operational Resilience: Merged L3 5-Actor UML Sequence, Fail-Closed Circuit Breakers &amp; Valkey L1 Flushes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What happens chronologically during a live turn—and how do we fail closed on RPM floods or CMEK key revocation?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HTTP 401/403/429/422/423 Breakers • &lt;5s Valkey SCAN+UNLINK (cache:{tenant}:*) • SET NX PX 5000 Recovery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4 • Slide 9</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Mind the Gap (GAP-01..05)</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Compensating Controls for Vertex AI EAP: Custom Token Buckets, Envelope CMEK &amp; Zero-PII BigQuery OTel FinOps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close current preview platform gaps today while guaranteeing clean retirement at native GCP GA?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Feature-Flagged GAP-01..05 Sunset Hooks (feature-flagged native adapter) • BigQuery OTel Chargeback SQL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5 • Slides 10–11</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CI/CD Audit &amp; SLAs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Automating Compliance &amp; Well-Architected SLAs: Live GCP Console Receipts, 5 Milestones &amp; Forensic CI/CD Gate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prove zero cross-tenant data bleed continuously in CI/CD and map every Well-Architected SLA to code?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12/12 Forensic + 107/107 Runtime Assertions PASS • 84.7% Token &amp; 74% TCO Savings • &lt;30s HA RTO</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Macro-to-Micro L1 → L2 → L3 → L4 Flow</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Restores strict top-down abstraction: L1 Logical (Slide 5) → L2 Physical Blueprint (Slide 6) → L3 Process &amp; Breakers (Slide 7) → L4 Wire JWT (Slide 8).</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Unified Layer vs. Perimeter Taxonomy</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Separates Slide 5’s 3 Logical Security Layers (Ingress, 5-Hop Control Plane, Data Planes) from Slide 6’s 4 Physical VPC-SC Network Perimeters.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Merged L3 UML &amp; Circuit Breakers (Slide 7)</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Unifies the 5-Hop happy path (~42ms p95) with fail-closed HTTP 401/403/429/422/423 breakers, &lt;5s Valkey SCAN+UNLINK, and SET NX PX 5000 recovery.</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Merged SLAs &amp; 5-Part Roadmap (Slide 11)</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Consolidates all Well-Architected SLAs (~42ms 5-Hop, 84.7% token savings, 74% TCO reduction, &lt;30s RTO) directly into the 5 runnable milestones.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SERIES ROADMAP</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Streamlined 11-Slide Executive Deck &amp; 5-Part Editorial Blog Series Roadmap</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Competing Enterprise Tenants (FinVault vs. RetailStream) &amp;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Cymbal SaaS Control Plane (Shared 32k Prefix Cache)</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Operates a shared Incident Diagnostic Agent on Vertex AI Agent Engine (ADK, ARD Registry &amp; L1–L5 Memory Bank), caching a 32,000-token SRE runbook prefix once (90% discount -&gt; 84.7% net per-turn token cost reduction).</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Vertex AI Agent Engine (ADK, ARD, L1–L5 Memory) • Gemini 2.5 Pro (32k ContextCacheConfig)
</a:t>
            </a:r>
            <a:pPr indent="0" marL="0">
              <a:buNone/>
            </a:pPr>
            <a:r>
              <a:rPr lang="en-US" sz="730" dirty="0">
                <a:solidFill>
                  <a:srgbClr val="5F6368"/>
                </a:solidFill>
                <a:latin typeface="Roboto" pitchFamily="34" charset="0"/>
                <a:ea typeface="Roboto" pitchFamily="34" charset="-122"/>
                <a:cs typeface="Roboto" pitchFamily="34" charset="-120"/>
              </a:rPr>
              <a:t>Target &amp; SLA: Immutable 32k System Prefix Cache • 84.7% Net Per-Turn Token Cost Reduction • ~42ms 5-Hop Overhead</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Platform Control Plane: Cymbal SaaS</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FinVault Bank (Dedicated PT vs. Private GKE Gemma 3)</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Regulated bank (600 RPM / 8k thinking, VPC-SC, CMEK) choosing between Vertex AI Dedicated Provisioned Throughput (managed SaaS Gemini 2.5 Pro, 0 K8s ops) or Self-Managed Gemma 3 27B on Private GKE (air-gapped GPU nodes, 0 internet egress).</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Managed Vertex AI Dedicated PT (SaaS SLA, 0 GPU Ops) vs. Air-Gapped GKE Gemma 3 27B (Customer GPU Nodes)
</a:t>
            </a:r>
            <a:pPr indent="0" marL="0">
              <a:buNone/>
            </a:pPr>
            <a:r>
              <a:rPr lang="en-US" sz="730" dirty="0">
                <a:solidFill>
                  <a:srgbClr val="5F6368"/>
                </a:solidFill>
                <a:latin typeface="Roboto" pitchFamily="34" charset="0"/>
                <a:ea typeface="Roboto" pitchFamily="34" charset="-122"/>
                <a:cs typeface="Roboto" pitchFamily="34" charset="-120"/>
              </a:rPr>
              <a:t>Target &amp; SLA: Tier: ENTERPRISE (600 RPM Silo) • 8,000 Thinking Budget • VPC-SC • Cloud KMS CMEK (finvault-silo-cmek)</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Regulated Silo: FinVault Hosting Trade-Off</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RetailStream Corp (3LO Token Vault &amp; Anti-Confused-Deputy)</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Pooled tenant (120 RPM / 4k thinking, Entra ID) invoking ServiceNow ITOM via 3LO step-up consent; per-user OAuth tokens are isolated in {tenant}:{user} DPoP-bound vaults (dpop_jkt verified) so pooled agents never act as a Confused Deputy.</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Entra ID OIDC • Per-User DPoP-Bound 3LO Vault ({tenant}:{user}) • ServiceNow &amp; SharePoint MCP
</a:t>
            </a:r>
            <a:pPr indent="0" marL="0">
              <a:buNone/>
            </a:pPr>
            <a:r>
              <a:rPr lang="en-US" sz="730" dirty="0">
                <a:solidFill>
                  <a:srgbClr val="5F6368"/>
                </a:solidFill>
                <a:latin typeface="Roboto" pitchFamily="34" charset="0"/>
                <a:ea typeface="Roboto" pitchFamily="34" charset="-122"/>
                <a:cs typeface="Roboto" pitchFamily="34" charset="-120"/>
              </a:rPr>
              <a:t>Target &amp; SLA: Tier: STANDARD (120 RPM Pool) • 4,000 Thinking Cap • Eliminates Pooled Confused-Deputy Token Replay</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Pooled Tenant: RetailStream &amp; 3LO Security</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Cryptographic Mutual Invisibility &amp; ~42ms 5-Hop Budget</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Cloud Armor WAF, IAP OBO/DPoP, Valkey token buckets, streaming Model Armor/DLP (~22ms), and AlloyDB FORCE RLS run one 80% reusable ADK codebase—blocking cross-tenant probes (HTTP 403) with 0 cross-tenant rows.</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Armor • IAP STS (RFC 8693/9449) • Model Armor • Cloud DLP • AlloyDB RLS • BigQuery OTel
</a:t>
            </a:r>
            <a:pPr indent="0" marL="0">
              <a:buNone/>
            </a:pPr>
            <a:r>
              <a:rPr lang="en-US" sz="730" dirty="0">
                <a:solidFill>
                  <a:srgbClr val="5F6368"/>
                </a:solidFill>
                <a:latin typeface="Roboto" pitchFamily="34" charset="0"/>
                <a:ea typeface="Roboto" pitchFamily="34" charset="-122"/>
                <a:cs typeface="Roboto" pitchFamily="34" charset="-120"/>
              </a:rPr>
              <a:t>Target &amp; SLA: 80% Identical Python ADK Codebase • Verified by 107/107 Automated Security &amp; SaaS Assertions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Cryptographic Invisibility Across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Comparison of Multi-Tenant Isolation Patterns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365760">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Architectural Dimension</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A: High-Density Pooled (WS2)</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B: Sovereign Silos (WS3)</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C: Dynamic Hybrid PSC (WS4)</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Control plane &amp; SRE fleet scale</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Single shared GCP project (cymbal-control-plane); 1 Terraform state with zero fleet sprawl</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GCP project per tenant (cymbal-{tenant}-silo-prod); 500 tenants = 500 VPC-SC/KMS/DB states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Central Hub + Shared Pool (950 Std) + Dedicated PSC Spokes (50 Ent); avoids 500-silo IaC drift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Compute &amp; gVisor sandbox</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Cloud Run v2 &amp; Agent Engine gVisor (runsc) worker pool with temp:tenant_id</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Agent Engine or self-managed air-gapped GKE GPU cluster (Gemma 3 27B)</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JWT-driven Firestore router dispatches Standard -&gt; Pool, Enterprise -&gt; unidirectional PSC Spoke</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Network &amp; perimeter isolation</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VPC protected by Cloud Armor L7 WAF header stripping</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Per-tenant VPC Service Controls (VPC-SC) perimeter + BeyondCorp mTLS pinning</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Unidirectional Private Service Connect (PSC) endpoints (10.10.0.50 -&gt; /28 NAT subnet)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Identity &amp; confused-deputy guard</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IAP OIDC + IAM STS RFC 8693 OBO &amp; RFC 9449 DPoP (&lt;0.15ms cached JWKS verify)</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IAM Principal Access Boundaries (PAB) + dedicated per-silo service accounts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Unified Hub OIDC + tier-scoped OBO/DPoP JWT forwarding &amp; Valkey JTI revocation list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Data, memory &amp; CMEK L1 eviction</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AlloyDB FORCE ROW LEVEL SECURITY + {tenant}:{user}:{session} L1–L5 Memory</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AlloyDB &amp; CMEK (&lt;60s KMS SLA + &lt;5s Valkey SCAN+UNLINK L1 cache purge -&gt; 423)</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Pooled RLS for Standard; CMEK spoke vault + 3-phase zero-downtime live tier migration</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Model hosting &amp; FinOps COGS</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32k prefix cache (90% discount -&gt; 84.7% net per-turn token savings)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Managed Vertex AI Dedicated PT (0 K8s ops) or self-hosted GKE GPU node pool</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Blended portfolio (74% lower total cloud spend across 950 Std + 50 Ent tenants)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Target tier &amp; verification suite</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120 RPM Pool • High-volume commercial B2B SaaS (10/10 red-team breach tests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600 RPM Silo • Regulated Banking, Healthcare &amp; Public Sector (6/6 silo tests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b="1" dirty="0">
                          <a:solidFill>
                            <a:srgbClr val="0D652D"/>
                          </a:solidFill>
                          <a:latin typeface="Roboto" pitchFamily="34" charset="0"/>
                          <a:ea typeface="Roboto" pitchFamily="34" charset="-122"/>
                          <a:cs typeface="Roboto" pitchFamily="34" charset="-120"/>
                        </a:rPr>
                        <a:t>120 RPM Pool (Std) / 600 RPM Spoke (Ent) • Live tier graduation (4/4 migration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zero IaC sprawl (1 project), and AlloyDB FORCE RLS.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Pattern B Silos &amp; SRE Fleet Scale Trade-Off</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Mandated for OCC/HIPAA/DORA 1:1 project + VPC-SC + CMEK silos, but 500 silos = 500 VPC-SC/KMS/DB states—reserve for premium regulated contracts.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CMEK Propagation (~60s) vs. &lt;5s L1 Eviction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While GCP KMS key disable takes up to 60s to propagate across storage, Hop 3 runs targeted Valkey SCAN+UNLINK (cache:{tenant}:*) in &lt;5s for HTTP 423.</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Pattern C Hybrid &amp; 80/20 Codebase Reuse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950 Pool + 50 PSC Spokes (74% TCO savings, 0ms cutover) using 80% identical ADK Python code (runtime_pipeline.py) across Terraform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(L1 LOGICAL): Reference Taxonomy — 3 Logical Security Layers &amp; Signed STS JWT</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3-layer logical security taxonomy: Layer 1 (Tenant Identity &amp; Ingress) → Layer 2 (Vertex AI Agent Engine &amp; ~3ms Valkey JTI Deny-List) → Layer 3 (Isolation Data Planes)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LAYER 1: TENANT IDENTITY &amp; INGRESS</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(Competing Enterprise Callers)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Google Cloud Identity</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(Enterprise Tier)</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Retail</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Microsoft Entra ID</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(Standard Tier)</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Partner</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Cloud Identity SAML</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(Federated Caller)</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OIDC JWT +</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DPoP Proof</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Cloud Armor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 IAP Edge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2: 5-HOP ADK CONTROL PLANE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80% Core • ~42ms p95)</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Vertex AI Agent Engine &amp; ~3ms Valkey JTI Deny-List</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STS</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1: IAM STS OBO,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DPoP &amp; JTI Deny-List</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ARD</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Hops 2–3: ARD Filter</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L1–L5 Memory Scope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DLP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4: Model Armor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Inline DLP (~22ms p95)</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5-Min STS JWT +</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&lt;0.15ms JWKS Verify</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Re-Auth + ~3ms</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Valkey JTI Revoke Check</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3: ISOLATION DATA PLANES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(Maps to 4 Physical VPC-SC Perimeters)</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PAT A</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Pattern A: Shared Pool &amp; AlloyDB RLS (Perimeter 3)</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PAT B • VPC-SC</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PAT C • /28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Silo &amp; Hybrid PSC Spokes (Perimeter 4)</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5: 2LO/3LO MCP &amp; Governance Hub (Perimeters 1–2)</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L1 Logical Taxonomy (3 Logical Security Layers → 4 Physical VPC-SC Perimeters on Slide 6)  •  ~42ms p95 5-Hop Control Plane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Vertex AI Agent Engine Multi-Tenant Taxonomy: Pooled (A), Sovereign Silos (B) &amp; Hybrid (C)</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B2B SaaS platforms and large enterprises serve thousands of tenants across Pooled (Pattern A), Sovereign Silo (Pattern B), and Dynamic Hybrid (Pattern C) isolation models using one 80% reusable agentic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Routing Hub (Ingress &amp; Identity PEP)</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Terminates TLS at External ALB, enforces Cloud Armor WAF &amp; Model Armor screening, authenticates via IAP, and resolves tenant tier.</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Central Governance &amp; Security Hub</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Centralizes Security Command Center posture monitoring, IAM Principal Access Boundaries, Cloud KMS keys, and BigQuery OTel FinOps.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Pattern A: Pooled Shared Runtime Spoke</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high-density multi-tenant workloads on shared Cloud Run / Agent Engine with 90% shared prompt caching and AlloyDB RLS.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Pattern B Silos &amp; Pattern C PSC Spokes</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Isolates regulated tenants inside dedicated VPC-SC projects with Cloud KMS CMEK kill-switches or unidirectional PSC service attachments.</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Blue Perimeter 1 (Routing Hub — Steps 1–3 / Hop 1): Global ALB, Cloud Armor header strip, and IAP OIDC/DPoP exchange (~8ms p95) mint the KMS-signed STS JWT and route by tenant tier.</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Green Perimeter 2 (Governance Hub — Hops 2 &amp; 5): Discovery Engine ARD catalog filter (~4ms), Cloud KMS CMEK liveness, Security Command Center, and async BigQuery OTel FinOps (~5ms).</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Yellow Perimeter 3 (Pattern A Pool — Steps 4–7 / Hops 3–5): gVisor (runsc) sandbox, Valkey RPM bulkheads (~3ms), Model Armor/DLP screening (Steps 4 &amp; 6, ~22ms), Gemini 2.5 Pro 90% cache (Step 5) &amp; AlloyDB RLS.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Red Perimeter 4 (Pattern B Silos &amp; Pattern C PSC Spokes): Per-tenant VPC-SC perimeters, IAM PAB, Managed Vertex Dedicated PT vs. Private GKE Gemma 3 27B GPUs, &lt;60s CMEK kill-switch &amp; /28 PSC NAT.</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cymbal-pooled-prod (#638420508320)</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Control Plane (cymbal-pooled-prod)</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VPC &amp; 5-Hop Cryptographic Context Chain</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Pattern A: Pooled Shared Runtime (pattern_a_pooled_rls_entities)</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Dedicated Spoke: Pattern B Silo or Pattern C PSC Spoke</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Pool (Shared Runtime)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FinVault (8k Cap) &amp; RetailStream (4k Cap)</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Dedicated Sovereign Tenant Silo</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VPC-SC + IAM PAB + finvault-silo-cmek + PSC</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Routing hub (Hop 1 &amp; Hop 2 PEP/PDP)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Central ingress, OBO+DPoP KMS Sign &amp; Discovery Engine Catalog filter</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Central governance and FinOps observability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headEnd type="triangle" w="sm" len="sm"/>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Competing B2B Tenants</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FinVault (OIDC) &amp; RetailStream (Entra)</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security_breach_audit_log</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Logging &amp; BQ</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Central IAM &amp; PAB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Agent Identity (2LO/3LO)</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gVisor + temp:tenant_id</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+ 3LO OIDC/Entra</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tenant_pooled_rls_policy</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Silo + Agent Alpha</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Local Silo 3LO Connectors</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&amp; 423 Lock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cymbal-multi-tenant-patterns</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 Rai Filters &amp; SDP PII</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90% Prefix Cache Savings</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Sovereign Silo Guardrails</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 Gemma 3</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PT or Private GKE</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DDoS • Strips X-Tenant-ID</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Ingress Prompt Screen</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RFC 8693 OBO + DPoP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KMS ECDSA P-256 Sign</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39182" y="3365906"/>
            <a:ext cx="760781"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57470" y="3375050"/>
            <a:ext cx="724205"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Security, OTel &amp; FinOps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chargeback telemetry</a:t>
            </a:r>
            <a:endParaRPr lang="en-US" sz="470" dirty="0"/>
          </a:p>
        </p:txBody>
      </p:sp>
      <p:sp>
        <p:nvSpPr>
          <p:cNvPr id="205" name="Shape 183"/>
          <p:cNvSpPr/>
          <p:nvPr/>
        </p:nvSpPr>
        <p:spPr>
          <a:xfrm>
            <a:off x="2836469" y="4833518"/>
            <a:ext cx="493776"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54757" y="484266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Scoped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MCP &amp; RAG</a:t>
            </a:r>
            <a:endParaRPr lang="en-US" sz="470" dirty="0"/>
          </a:p>
        </p:txBody>
      </p:sp>
      <p:sp>
        <p:nvSpPr>
          <p:cNvPr id="207" name="Shape 185"/>
          <p:cNvSpPr/>
          <p:nvPr/>
        </p:nvSpPr>
        <p:spPr>
          <a:xfrm>
            <a:off x="2766060" y="5468112"/>
            <a:ext cx="634594"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84348"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SET LOCAL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current_tenant</a:t>
            </a:r>
            <a:endParaRPr lang="en-US" sz="470" dirty="0"/>
          </a:p>
        </p:txBody>
      </p:sp>
      <p:sp>
        <p:nvSpPr>
          <p:cNvPr id="209" name="Shape 187"/>
          <p:cNvSpPr/>
          <p:nvPr/>
        </p:nvSpPr>
        <p:spPr>
          <a:xfrm>
            <a:off x="5201107" y="4833518"/>
            <a:ext cx="493776"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219395" y="484266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Air-Gapped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Silo RAG</a:t>
            </a:r>
            <a:endParaRPr lang="en-US" sz="470" dirty="0"/>
          </a:p>
        </p:txBody>
      </p:sp>
      <p:sp>
        <p:nvSpPr>
          <p:cNvPr id="211" name="Shape 189"/>
          <p:cNvSpPr/>
          <p:nvPr/>
        </p:nvSpPr>
        <p:spPr>
          <a:xfrm>
            <a:off x="5130698" y="5468112"/>
            <a:ext cx="634594"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148986"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CMEK-Encrypted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State &amp; Tools</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Generates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response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Sanitized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with SDP redaction</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by tenant tier</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(Pool, Silo or PSC)</a:t>
            </a:r>
            <a:endParaRPr lang="en-US" sz="470" dirty="0"/>
          </a:p>
        </p:txBody>
      </p:sp>
      <p:sp>
        <p:nvSpPr>
          <p:cNvPr id="219" name="Shape 197"/>
          <p:cNvSpPr/>
          <p:nvPr/>
        </p:nvSpPr>
        <p:spPr>
          <a:xfrm>
            <a:off x="2554834" y="2885846"/>
            <a:ext cx="493776"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73122" y="2894990"/>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OBO + KMS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ECDSA sign</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Header &amp; WAF</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policies</a:t>
            </a:r>
            <a:endParaRPr lang="en-US" sz="470" dirty="0"/>
          </a:p>
        </p:txBody>
      </p:sp>
      <p:sp>
        <p:nvSpPr>
          <p:cNvPr id="227" name="Shape 205"/>
          <p:cNvSpPr/>
          <p:nvPr/>
        </p:nvSpPr>
        <p:spPr>
          <a:xfrm>
            <a:off x="2436876" y="2639873"/>
            <a:ext cx="493776"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5164" y="2649017"/>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prompt</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VIS-WS1-MULTI-TENANT-TAXONOMY-OVERVIEW (diagrams/ws1-multi-tenant-taxonomy-overview.drawio)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(L3 PROCESS): 5-Actor UML Sequence, Fail-Closed Circuit Breakers &amp; Stampede Recovery</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ACT 1</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Tenant Caller</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HOP 1</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1: Edge &amp; IAM STS</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HOP 2-3</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Hops 2–3: ARD &amp; Memory</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HOP 4</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4: Model Armor &amp; LLM</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HOP 5</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5: MCP &amp; AlloyDB</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Caller sends OIDC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JWT + DPoP proof</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HTTPS + DPoP JWT</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 1 strips spoofed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headers &amp; mints 5-min</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STS TenantContext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Verify OBO + ~3ms JTI → Mint 5-Min STS JWT (&lt;0.15ms Cached JWKS)</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Hops 2–3 filter ARD,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cap 120/600 RPM &amp; scope</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cache:{tenant}:*</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ARD ACL • 120/600 RPM &amp; 4k/8k Think Clamp</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Hop 4 Model Armor +</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Inline DLP (~22ms p95)</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90% prefix cache</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90% Shared Prefix</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Cache Hit (32k Tok)</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84.7% Net Token Cost Reduction</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9884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517136"/>
            <a:ext cx="859536" cy="274320"/>
          </a:xfrm>
          <a:prstGeom prst="roundRect">
            <a:avLst>
              <a:gd name="adj" fmla="val 16667"/>
            </a:avLst>
          </a:prstGeom>
          <a:solidFill>
            <a:srgbClr val="54728C"/>
          </a:solidFill>
          <a:ln/>
        </p:spPr>
      </p:sp>
      <p:sp>
        <p:nvSpPr>
          <p:cNvPr id="72" name="Text 70"/>
          <p:cNvSpPr/>
          <p:nvPr/>
        </p:nvSpPr>
        <p:spPr>
          <a:xfrm>
            <a:off x="6272784" y="4517136"/>
            <a:ext cx="859536" cy="274320"/>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RLS + 3LO</a:t>
            </a:r>
            <a:endParaRPr lang="en-US" sz="800" dirty="0"/>
          </a:p>
        </p:txBody>
      </p:sp>
      <p:sp>
        <p:nvSpPr>
          <p:cNvPr id="73" name="Text 71"/>
          <p:cNvSpPr/>
          <p:nvPr/>
        </p:nvSpPr>
        <p:spPr>
          <a:xfrm>
            <a:off x="5321808" y="4846320"/>
            <a:ext cx="1847088"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Hop 5 binds AlloyDB</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RLS &amp; vaults per-user</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3LO ({tenant}:{user})</a:t>
            </a:r>
            <a:endParaRPr lang="en-US" sz="800" dirty="0"/>
          </a:p>
        </p:txBody>
      </p:sp>
      <p:sp>
        <p:nvSpPr>
          <p:cNvPr id="74" name="Shape 72"/>
          <p:cNvSpPr/>
          <p:nvPr/>
        </p:nvSpPr>
        <p:spPr>
          <a:xfrm>
            <a:off x="7342632" y="4901184"/>
            <a:ext cx="2139696" cy="0"/>
          </a:xfrm>
          <a:prstGeom prst="line">
            <a:avLst/>
          </a:prstGeom>
          <a:noFill/>
          <a:ln w="19050">
            <a:solidFill>
              <a:srgbClr val="0F2942"/>
            </a:solidFill>
            <a:prstDash val="solid"/>
            <a:tailEnd type="triangle" w="sm" len="sm"/>
          </a:ln>
        </p:spPr>
      </p:sp>
      <p:sp>
        <p:nvSpPr>
          <p:cNvPr id="75" name="Text 73"/>
          <p:cNvSpPr/>
          <p:nvPr/>
        </p:nvSpPr>
        <p:spPr>
          <a:xfrm>
            <a:off x="7735824" y="4681728"/>
            <a:ext cx="1682496" cy="182880"/>
          </a:xfrm>
          <a:prstGeom prst="rect">
            <a:avLst/>
          </a:prstGeom>
          <a:noFill/>
          <a:ln/>
        </p:spPr>
        <p:txBody>
          <a:bodyPr wrap="square" rtlCol="0" anchor="ctr"/>
          <a:lstStyle/>
          <a:p>
            <a:pPr algn="ctr" indent="0" marL="0">
              <a:buNone/>
            </a:pPr>
            <a:r>
              <a:rPr lang="en-US" sz="800" b="1" dirty="0">
                <a:solidFill>
                  <a:srgbClr val="0F2942"/>
                </a:solidFill>
                <a:latin typeface="Roboto" pitchFamily="34" charset="0"/>
                <a:ea typeface="Roboto" pitchFamily="34" charset="-122"/>
                <a:cs typeface="Roboto" pitchFamily="34" charset="-120"/>
              </a:rPr>
              <a:t>SET LOCAL tenant_id</a:t>
            </a:r>
            <a:endParaRPr lang="en-US" sz="80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Executes parameterized</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SQL (0 cross-tenant rows)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streams OTel span</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Enforce RLS Predicate (0 Foreign Rows)</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Stream Zero-PII Span (BigQuery OTel)</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OTel</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200</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(0 Downstream Exec) | Single-Flight SET NX PX 5000 Recovery</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Hop 1–3 Breakers: Bad OBO/DPoP, ~3ms JTI revoke or ARD probe → HTTP 401/403 | • Rate Cap: &gt;120/600 RPM → HTTP 429 Retry-After jitter &amp; 4k/8k clamp</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Hop 4–5 &amp; Recovery: NLC (422) or KMS revoke → &lt;60s HTTP 423 + &lt;5s SCAN+UNLINK (cache:{tenant}:*) | • Restore: SET NX PX 5000 AlloyDB RLS re-hydrate</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L3 Sequence &amp; Circuit Breakers  •  Steps 1–6 (~42ms p95) + [Alt] HTTP 401/403/429/422/423 + &lt;5s SCAN+UNLINK &amp; SET NX PX 5000 Recovery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(L4 WIRE): Hop 1 Spoofed Header Stripping &amp; Signed STS JWT Context</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Wire-level protocol normalization: an untrusted ingress payload is stripped at Hop 1 and exits as a KMS-signed STS JWT verified locally via cached JWKS in sub-150 microseconds (0 per-hop KMS network calls).</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Untrusted Caller</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Ingress Request</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"Authorization": "Bearer &lt;jwt&gt;"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"client_headers"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"X-Tenant-Id: finvault"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"override_attempt"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&lt;spoofed tenant header&gt;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Unverified Client Claims • Blocked at Edge</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Hop 1 IAM STS &amp;</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DPoP Security Gate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Cloud Armor Header Strip</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RFC 8693 OBO + DPoP JKT</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KMS P-256 Sign (Cached JWKS)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Signed STS JWT</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TenantContext</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"tenant_id":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"tier": "STANDARD",</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"dpop_jkt": "sha256:9f86d081",</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"memory_ns": "/tenants/retail",</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"rls_tag": "current_tenant_id",</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"jwt_sig": "kms_ecdsa_p256"</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&lt;0.15ms Cached-JWKS Verify • 0 KMS Network Calls</a:t>
            </a:r>
            <a:endParaRPr lang="en-US" sz="840" dirty="0"/>
          </a:p>
        </p:txBody>
      </p:sp>
      <p:sp>
        <p:nvSpPr>
          <p:cNvPr id="61" name="Text 5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L4 Wire Packet  •  Strips Spoofed Headers &amp; Mints KMS ECDSA P-256 STS JWT (&lt;0.15ms In-Memory Cached-JWKS Verify, 0 KMS RPCs/Hop)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IV • EAP PRODUCT GAP REGISTER (GAP-01..05) &amp; COMPENSATING CONTROLS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Compensating Controls for EAP Product Gaps (GAP-01..05)</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Production compensating controls in core-cymbal-agent/ closing all 5 multi-tenant EAP limitations with fail-closed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1965960"/>
                <a:gridCol w="2880360"/>
                <a:gridCol w="3886200"/>
                <a:gridCol w="27276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Gap ID &amp; Component</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Current Preview / EAP Limitation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Production Compensating Control (core-cymbal-agent/)</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Verification Gate &amp; GA Sunset</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GAP-01 (Hop 2)</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Agent Engine Registry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Agent Engine Registry lacks native per-tenant IAM condition predicates on ListAgents discovery calls.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Hop2RegistryPDP.authorize_agent_and_prune_tools filters ARD by signed JWT tenant_id + ADK before_agent_callback pruning.</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WS2 Test 2 PASS (HTTP 403 on cross-tenant Agent Alpha probe) • Sunset at Native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GAP-02 (Hop 3)</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Memory Bank CMEK</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Pooled Vertex AI Memory Bank supports project-level CMEK rather than distinct per-tenant KMS keys in one shared pool.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Envelope encryption + &lt;5s tenant-prefixed Valkey SCAN+UNLINK (cache:{tenant_id}:*) on KMS disable (&lt;60s HTTP 423) + SET NX single-flight re-hydration.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WS3 Tests 4A/4B/6 PASS (HTTP 423 Locked &lt;60s, 0 peer cache evictions) • Sunset at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GAP-03 (Hop 3)</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Per-Tenant Rate Quotas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Vertex AI quota system enforces regional project-level RPM/TPM limits rather than native per-tenant sub-quotas.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Hop3ComputeFinOpsBulkhead enforces atomic Lua token-bucket RPM limits in Valkey (120 vs. 600 RPM, HTTP 429 Retry-After) + 4k/8k thinking clamps.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WS2 Test 6 PASS (HTTP 429 on 500-RPM flood; budget clamped to 4k) • Sunset at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GAP-04 (Hop 1/4)</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Multi-IdP 3LO Broker</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External Microsoft Entra ID OIDC tokens require claims normalization and anti-confused-deputy isolation for 3LO MCP tools.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1 normalizes Entra tid/sub into DPoP-bound {tenant}:{user} 3LO token vaults with -32042 step-up consent &amp; dpop_jkt verification.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WS2 Test 10 &amp; 10-SaaS Matrix PASS (HTTP 401 step-up -&gt; 200 OK ServiceNow) • Sunset at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GAP-05 (Hop 5)</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Zero-PII Token Billing</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Billing exports aggregate Vertex AI SKU charges by GCP project rather than individual logical SaaS tenant_id.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Hop5DataPlaneRLSAndOTel streams SHA-256 zero-PII OTel spans to BigQuery (SELECT tenant_id, SUM(cached_tokens*0.1 + thinking_tokens) GROUP BY tenant_id).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Forensic Check F-08 PASS (BigQuery OTel chargeback SQL verified) • Sunset at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Identity &amp; 3LO Vault Gates (GAP-01 / GAP-04)</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Filters Agent Engine Registry discovery by signed STS JWT tenant_id (HTTP 403) and vaults per-user Entra/ServiceNow 3LO tokens ({tenant}:{user}) with -32042 step-up.</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&lt;5s L1 Eviction &amp; Single-Flight (GAP-02)</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Intercepts KMS disable for &lt;60s HTTP 423 + &lt;5s targeted Valkey SCAN+UNLINK (cache:{tenant}:*); re-hydrates via SET NX PX 5000 single-flight lock from AlloyDB RLS.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Valkey Bulkheads &amp; GA Sunset Hooks (GAP-03)</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Enforces 120/600 RPM Valkey token buckets (HTTP 429 Retry-After jitter) with feature-flagged GA sunset hooks (feature-flagged native adapter) in core-cymbal-agent/.</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Zero-PII BigQuery FinOps SQL (GAP-05)</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Streams SHA-256 prompt hashes + OTel spans to BigQuery for exact chargeback: SELECT tenant_id, SUM(cached_tokens*0.1 + thinking_tokens) GROUP BY tenant_id.</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ACT III FORENSIC AUDIT 01 • LIVE CLOUD RUN REVISIONS</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cymbal-control-plane (#248990048888) &amp; cymbal-pooled-prod (#638420508320) serving Pattern A/B/C endpoints (HTTP 200)</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Projects: cymbal-control-plane • cymbal-pooled-prod</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Runtime: Cloud Run Gen2 (gVisor runsc, 100% traffic)</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CLI Gate: run_deep_forensic_audit.py (12/12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core-cymbal-agent/runtime_pipeline.py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core-cymbal-agent/runtime_pipeline.py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ACT III FORENSIC AUDIT 02 • DUAL-PLANE GCP 20/20 &amp; SAAS 30/30 PASS</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Cloud Logging MQL &amp; Dual-Plane Harness verifying 20/20 GCP suites + 30/30 Inter-Cloud 10-SaaS MCP flows</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Query: rls_cross_tenant_rows=0 AND status=(200..429)</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Dual-Plane: 20/20 GCP + 30/30 10-SaaS MCP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Ledger: s3://cymbal-multi-tenant-audit-ledger-393036065405-us-east-1</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scripts/verify_5_third_party_saas_products.py</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scripts/verify_5_third_party_saas_products.py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AUDIT 01 • 3-PATTERN TAXONOMY LIVE</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Patterns A, B &amp; C Verified Across 3 GCP Projects</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Live across cymbal-control-plane (#248990048888), cymbal-pooled-prod (#638420508320) &amp; cymbal-build-sandbox (#887605034827) inside gVisor sandboxes.</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AUDIT 02 • &lt;0.15ms JWKS &amp; JTI DENY-LIST</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RFC 8693 OBO + DPoP &amp; ~3ms Valkey Revoke Check</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Strips spoofed X-Tenant-Id headers at Cloud Armor edge, verifies KMS ECDSA P-256 STS JWT via cached JWKS (&lt;0.15ms), and checks ~3ms Valkey JTI deny-list.</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AUDIT 03 • ~42ms p95 &amp; &lt;5s SCAN+UNLINK</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120/600 RPM Bulkheads &amp; Single-Flight Recovery</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Proves ~42ms p95 5-Hop overhead (Hop 4 DLP ~22ms), HTTP 429 Retry-After jitter, &lt;5s targeted Valkey SCAN+UNLINK &amp; SET NX single-flight re-hydration.</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AUDIT 04 • DUAL-PLANE 20/20 GCP + 30/30 SAAS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Intra-Cloud GCP + Inter-Cloud 10-SaaS MCP Proof</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Certifies 20/20 GCP runtime suites plus 30/30 Inter-Cloud AWS AgentCore MCP target flows (60/60 assertions, 12/12 forensic gates).</a:t>
            </a:r>
            <a:endParaRPr lang="en-US" sz="860" dirty="0"/>
          </a:p>
        </p:txBody>
      </p:sp>
      <p:sp>
        <p:nvSpPr>
          <p:cNvPr id="55"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 Reference Architecture &amp; Cloud Architecture Center Doc PR  •  Act III Forensic Verification Audit: Grounded Google Cloud CLI &amp; Telemetry Receipts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V • WELL-ARCHITECTED SLA SCORECARD &amp; 5-PART ENGINEERING ROADMAP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Well-Architected SLA Scorecard &amp; 5-Part Engineering Roadmap</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Well-Architected SLAs (~42ms 5-Hop • ~1.8s cold / ~420ms warm TTFT • &lt;60s CMEK / &lt;5s L1 purge • &lt;30s cross-region RTO • 84.7% token &amp; 74% TCO savings) + 5 Runnable Milestones.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Part 1 (Slides 1–4) — Isolation Topologies &amp; 5-Hop Core</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Deploy core-cymbal-agent/ (27-File Reference Workbench) with &lt;0.15ms cached-JWKS STS JWT verification, ~3ms Valkey JTI deny-list, and {tenant}:{user} 3LO token vaulting.</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 • runtime_pipeline.py • models.py
</a:t>
            </a:r>
            <a:pPr indent="0" marL="0">
              <a:buNone/>
            </a:pPr>
            <a:r>
              <a:rPr lang="en-US" sz="730" dirty="0">
                <a:solidFill>
                  <a:srgbClr val="5F6368"/>
                </a:solidFill>
                <a:latin typeface="Roboto" pitchFamily="34" charset="0"/>
                <a:ea typeface="Roboto" pitchFamily="34" charset="-122"/>
                <a:cs typeface="Roboto" pitchFamily="34" charset="-120"/>
              </a:rPr>
              <a:t>Target &amp; SLA: SLA: &lt;0.15ms Cached JWKS • ~3ms JTI Deny-List • 3LO Vault</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Part 1: Topologies &amp; Core (Slides 1–4)</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Part 2 (Slides 5, 6 &amp; 8) — 5-Hop Pipeline &amp; Pattern A Pool</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Apply Terraform 2.6 (2.6-terraform-starter/), certify ~42ms p95 5-Hop overhead (~22ms DLP), ~1.8s cold / ~420ms warm TTFT, 84.7% token savings (90% 32k prefix cache), and pass run_breach_simulations.py (10/10 PASS).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2.6-terraform-starter/ • run_breach_simulations.py
</a:t>
            </a:r>
            <a:pPr indent="0" marL="0">
              <a:buNone/>
            </a:pPr>
            <a:r>
              <a:rPr lang="en-US" sz="730" dirty="0">
                <a:solidFill>
                  <a:srgbClr val="5F6368"/>
                </a:solidFill>
                <a:latin typeface="Roboto" pitchFamily="34" charset="0"/>
                <a:ea typeface="Roboto" pitchFamily="34" charset="-122"/>
                <a:cs typeface="Roboto" pitchFamily="34" charset="-120"/>
              </a:rPr>
              <a:t>Target &amp; SLA: SLA: ~42ms 5-Hop • ~420ms Warm TTFT • 84.7% Savings (10/10)</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Part 2: 5-Hop &amp; Pattern A</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Part 3 (Slide 7) — Circuit Breakers, CMEK &amp; Valkey L1 Flush</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Apply Terraform 3.6 (3.6-terraform-silo-blueprint/), certify gVisor sandbox, &lt;60s HTTP 423 CMEK kill-switch, &lt;5s Valkey SCAN+UNLINK (cache:{tenant}:*), SET NX PX 5000 recovery, and &lt;30s cross-region RTO (6/6 PASS).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3.6-terraform-silo-blueprint/ • run_silo_security_tests.py
</a:t>
            </a:r>
            <a:pPr indent="0" marL="0">
              <a:buNone/>
            </a:pPr>
            <a:r>
              <a:rPr lang="en-US" sz="730" dirty="0">
                <a:solidFill>
                  <a:srgbClr val="5F6368"/>
                </a:solidFill>
                <a:latin typeface="Roboto" pitchFamily="34" charset="0"/>
                <a:ea typeface="Roboto" pitchFamily="34" charset="-122"/>
                <a:cs typeface="Roboto" pitchFamily="34" charset="-120"/>
              </a:rPr>
              <a:t>Target &amp; SLA: SLA: &lt;60s CMEK (423) • &lt;5s SCAN+UNLINK • &lt;30s RTO (6/6)</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Part 3: Breakers &amp; Silos (Slide 7)</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Part 4 (Slide 9) — EAP Gap Controls &amp; Pattern C Hybrid FinOps</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Apply Terraform 4.6 (4.6-terraform-hybrid-psc-blueprint/), certify 74% portfolio TCO reduction (950 Pooled + 50 PSC Spokes), feature-flagged GAP-01..05 sunset hooks, BigQuery OTel FinOps SQL, and 0ms PSC cutover (4/4 PASS).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4.6-terraform-hybrid-psc-blueprint/ • run_tier_migration_suite.py
</a:t>
            </a:r>
            <a:pPr indent="0" marL="0">
              <a:buNone/>
            </a:pPr>
            <a:r>
              <a:rPr lang="en-US" sz="730" dirty="0">
                <a:solidFill>
                  <a:srgbClr val="5F6368"/>
                </a:solidFill>
                <a:latin typeface="Roboto" pitchFamily="34" charset="0"/>
                <a:ea typeface="Roboto" pitchFamily="34" charset="-122"/>
                <a:cs typeface="Roboto" pitchFamily="34" charset="-120"/>
              </a:rPr>
              <a:t>Target &amp; SLA: SLA: 74% TCO Savings (950 Pool + 50 PSC) • 0ms Cutover (4/4)</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Part 4: Gaps &amp; Hybrid PSC (Slide 9)</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Part 5 (Slides 10–11) — Dual-Plane CI/CD Forensic Audit &amp; Day-2 Operations</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Enforce python3 -B scripts/run_deep_forensic_audit.py (12/12 PASS • 107/107 Assertions) across 20/20 GCP suites and 30/30 Inter-Cloud 10-SaaS MCP target assertions.</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run_deep_forensic_audit.py • verify_5_third_party_saas_products.py
</a:t>
            </a:r>
            <a:pPr indent="0" marL="0">
              <a:buNone/>
            </a:pPr>
            <a:r>
              <a:rPr lang="en-US" sz="730" dirty="0">
                <a:solidFill>
                  <a:srgbClr val="5F6368"/>
                </a:solidFill>
                <a:latin typeface="Roboto" pitchFamily="34" charset="0"/>
                <a:ea typeface="Roboto" pitchFamily="34" charset="-122"/>
                <a:cs typeface="Roboto" pitchFamily="34" charset="-120"/>
              </a:rPr>
              <a:t>Target &amp; SLA: SLA: 12/12 Forensic (107/107) • 20/20 GCP + 30/30 10-SaaS MCP</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Part 5: Dual-Plane CI/CD Gate (Slides 10–11)</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WELL-ARCHITECTED SLAs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Well-Architected SLA Scorecard &amp; 5-Part Roadmap  •  ~42ms 5-Hop  •  ~420ms Warm TTFT  •  &lt;5s L1 Evict  •  &lt;30s RTO  •  84.7% Token &amp; 74% TCO Savings</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Multi-Tenant Agentic AI on Google Cloud: Reference Taxonomy &amp; 5-Hop Governance (Workstream 1)</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2026-10-28T13:40:08Z</dcterms:created>
  <dcterms:modified xsi:type="dcterms:W3CDTF">2026-10-28T13:40:08Z</dcterms:modified>
</cp:coreProperties>
</file>