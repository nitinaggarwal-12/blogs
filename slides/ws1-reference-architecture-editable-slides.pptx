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Multi-Tenant Agentic AI on Google Cloud: Reference Taxonomy &amp; 5-Hop Governance (Workstream 1)
Official Google Cloud Architecture Center hub-and-spoke reference architecture comparing Pooled (Pattern A), Sovereign Silos (Pattern B), and Dynamic Hybrid (Pattern C) isolation models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Vertex AI Agent Engine Multi-Tenant Taxonomy: Pooled (A), Sovereign Silos (B) &amp; Hybrid (C)
• Step 1 &amp; 2 (Zone 1 Routing Hub): Global ALB, Cloud Armor WAF, and IAP authenticate tenant callers, strip spoofed headers, and look up the tenant isolation pattern.
• Zone 2 (Central Governance Hub): Security Command Center, Cloud KMS CMEK, and BigQuery OTel centralize threat detection, key lifecycle, and zero-PII chargeback.
• Step 3 Tier Dispatch: The 80% reusable ADK control plane routes requests dynamically to Pattern A (Yellow Spoke) or Pattern B/C (Red Spoke).
• Zone 3 (Pattern A Pooled Spoke): Enforces Model Armor screening (4/6), Gemini 2.5 Pro 90% prefix caching (5), Valkey RPM bulkheads, and AlloyDB RLS.
• Zone 4 (Pattern B Silos &amp; Pattern C PSC Spoke): Enforces VPC-SC perimeters, IAM PAB, air-gapped Gemma 3 / Claude 3.7 endpoints, and tenant CMEK kill-switches.
Editable source: diagrams/ws1-multi-tenant-taxonomy-overview.drawio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Step-by-Step End-to-End Logical Flow for Vertex AI Agent Engine Multi-Tenant Taxonomy: Pooled (A), Sovereign Silos (B) &amp; Hybrid (C)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Step-by-Step End-to-End Technical Flow for Vertex AI Agent Engine Multi-Tenant Taxonomy: Pooled (A), Sovereign Silos (B) &amp; Hybrid (C)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Google Cloud Architecture Center (#78): Multi-Tenant Agentic AI with 5-Hop Governance
• Extends the canonical Google Cloud Architecture Center hub-and-spoke diagram with 5 mandatory cryptographic tenant isolation hops.
• Zone 1 (Hops 1 &amp; 2): Cloud Armor, IAP OBO/DPoP, and Agent Engine Registry authenticate callers and filter the tool catalog before model invocation.
• Zone 2 (Hop 5 FinOps &amp; Security): 2LO/3LO Auth Broker, Security Command Center, and BigQuery OTel govern external credentials and per-tenant token attribution.
• Zone 3 (FinVault Enterprise Workload): Executes with an 8,000-token thinking budget, OCC semantic NLCs, IBAN/SWIFT SDP masking, and Google Workspace/Jira 3LO.
• Zone 4 (RetailStream Standard Workload): Executes with a 4,000-token thinking cap, PCI-DSS PAN masking, Entra ID/ServiceNow 3LO, and AlloyDB RLS.
Editable source: diagrams/ws1-cloud-arch-center-5hop-baseline.drawio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Step-by-Step End-to-End Logical Flow for Google Cloud Architecture Center (#78): Multi-Tenant Agentic AI with 5-Hop Governance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Step-by-Step End-to-End Technical Flow for Google Cloud Architecture Center (#78): Multi-Tenant Agentic AI with 5-Hop Governance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Google Cloud Agentic AI, Security &amp; Data Stack
• Agentic AI &amp; Foundation Models: Vertex AI Agent Engine (ADK 2.0 runtime, Agent Registry &amp; L1–L5 Memory Bank), Gemini 2.5 Pro with ContextCacheConfig (90% shared prefix discount), Vertex AI Model Garden (Claude 3.7 Sonnet), and Gemma 3 (27B) on private GKE.
• Ingress, Identity &amp; AI Safety Guardrails: Global External Application Load Balancer, Google Cloud Armor L7 WAF, Identity-Aware Proxy (IAP) &amp; IAM Security Token Service (RFC 8693 OBO + RFC 9449 DPoP), Vertex AI Model Armor, and Cloud Sensitive Data Protection (DLP).
• Data, Storage, Networking &amp; Governance: AlloyDB for PostgreSQL (FORCE ROW LEVEL SECURITY), Memorystore for Valkey (per-tenant RPM bulkheads) &amp; Firestore, VPC Service Controls (VPC-SC) &amp; Private Service Connect (PSC), Cloud KMS CMEK (HTTP 423 kill-switch), and BigQuery OTel.
• Shared 80% Reusable Application Core: All three isolation patterns execute the exact same Python ADK 2.0 5-hop security pipeline (`core-cymbal-agent/runtime_pipeline.py`), parameterizing only the surrounding 20% Google Cloud project and network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Cymbal SaaS Serving Competing Enterprise Tenants
• Cymbal Multi-Tenant Agentic Platform (Control Plane): Operates a shared Incident Diagnostic Agent on Gemini 2.5 Pro, caching a 32,000-token immutable SRE runbook prefix once to reduce input token costs by 90%.
• FinVault Bank (Regulated Enterprise Tenant): Authenticates via Google Workspace OIDC, provisions a private Claude 3.7 Sonnet regulatory agent (Agent Alpha), receives an 8,000-token thinking budget, and mandates CMEK.
• RetailStream Corp (Standard Commercial Tenant): Authenticates via Microsoft Entra ID OIDC, runs on the pooled Diagnostic Agent with a 4,000-token thinking cap, and invokes ServiceNow ITOM via 3LO employee consent.
• Cryptographic Mutual Invisibility: RetailStream callers receive immediate HTTP 403 Forbidden if probing FinVault’s private Agent Alpha, while FinVault is completely isolated from RetailStream’s Entra ID / ServiceNow connectors.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Comparison of Multi-Tenant Isolation Patterns (A, B &amp; C)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Compensating Controls for EAP Product Gaps (GAP-01..05)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5-Hop Cryptographic Verification Pipeline
• Hop 1 — Edge WAF &amp; Identity Binding: Cloud Armor strips spoofed X-Tenant-Id headers while IAP and IAM STS mint an RFC 8693 OBO + RFC 9449 DPoP TenantSecurityContext.
• Hop 2 — Registry Discovery Filtering: Vertex AI Agent Engine Registry evaluates tenant visibility metadata prior to tool binding, returning HTTP 403 on unauthorized private agents.
• Hop 3 — Sandboxed Runtime &amp; Quota Bulkheads: Cloud Run v2 and Memorystore for Valkey isolate L1–L5 Memory Bank namespaces and clamp per-tenant RPM (120/600) and thinking budgets (4k/8k).
• Hop 4 — Bidirectional Model Armor &amp; DLP: Model Armor blocks prompt injection (HTTP 400) and semantic NLC violations (HTTP 422), while Sensitive Data Protection masks IBAN/SWIFT/PAN tokens.
• Hop 5 — Transactional RLS, CMEK &amp; FinOps: AlloyDB enforces SET LOCAL app.current_tenant_id Row-Level Security, Cloud KMS validates CMEK liveness (HTTP 423), and BigQuery logs zero-PII OTel spans.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Google Cloud Well-Architected Framework Alignment
• 1. Security, Privacy &amp; Compliance: Enforces zero-trust defense-in-depth across all 5 hops—combining RFC 9449 DPoP sender-constrained tokens, Model Armor prompt/egress screening, AlloyDB RLS, and revocable Cloud KMS CMEK.
• 2. Reliability &amp; Fault Isolation: Prevents noisy-neighbor cascading failures through Memorystore for Valkey token-bucket bulkheads, gVisor execution sandboxes, and zero-downtime 3-phase live tier migrations (`0` dropped sessions).
• 3. Cost Optimization (FinOps): Shares a 32,000-token immutable system prefix in Gemini 2.5 Pro ContextCacheConfig (90% discount, 84.7% net token savings) and streams per-tenant OTel token spans to BigQuery.
• 4. Operational Excellence &amp; 5. Performance Optimization: Reuses 80% of the Python ADK 2.0 codebase across all 3 patterns, validates 20/20 security simulations in CI/CD, and bounds p99 latency via per-tier thinking budgets (4k vs. 8k).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Enforce Cryptographic Context Across All 5 Hops: Database row filters alone cannot secure agentic AI; tenant identity must govern ingress, tool discovery, memory namespaces, safety guardrails, and SQL RLS.
• Align Isolation Topology to Regulatory &amp; Margin Requirements: Deploy Pattern A ($42/mo) for commercial scale, Pattern B ($1,850/mo) for regulated sovereignty, and Pattern C for multi-tier SaaS portfolios.
• Maintain a Single 80% Reusable Agent Codebase: Parameterize isolation boundaries via declarative Firestore profiles and Terraform modules rather than forking separate application codebases.
• Capture 90% Prefix Cache Savings Without Cross-Tenant Risk: Bind Gemini 2.5 Pro ContextCacheConfig strictly to immutable platform instructions while isolating tenant episodic state in L1–L5 Memory Bank.
• Validate Every Release Against Automated Red-Team Gates: Execute the 20-assertion verification suite (10 Pattern A breach tests, 6 Pattern B silo tests, 4 Pattern C migration tests) in CI/CD.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3-slide architectural sequences for Figures 1 &amp; 2, execute python3 -B scripts/run_deep_forensic_audit.py, and proceed to Workstream 2 (Pattern A Pooled Architecture).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image" Target="../media/image-5-17.png"/><Relationship Id="rId18" Type="http://schemas.openxmlformats.org/officeDocument/2006/relationships/image" Target="../media/image-5-18.png"/><Relationship Id="rId19" Type="http://schemas.openxmlformats.org/officeDocument/2006/relationships/image" Target="../media/image-5-19.png"/><Relationship Id="rId20" Type="http://schemas.openxmlformats.org/officeDocument/2006/relationships/image" Target="../media/image-5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0" y="0"/>
            <a:ext cx="2468880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7223760" y="0"/>
            <a:ext cx="2194560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418320" y="0"/>
            <a:ext cx="2773375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29184"/>
            <a:ext cx="6784848" cy="5102352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29184"/>
            <a:ext cx="109728" cy="510235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8" name="Shape 6"/>
          <p:cNvSpPr/>
          <p:nvPr/>
        </p:nvSpPr>
        <p:spPr>
          <a:xfrm>
            <a:off x="749808" y="614477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64108" y="614477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78408" y="614477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092708" y="614477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298448" y="530352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REFERENCE BLUEPRINT &amp; CODEBASE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49808" y="877824"/>
            <a:ext cx="6172200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877824"/>
            <a:ext cx="5989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749808" y="1225296"/>
            <a:ext cx="621792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Cloud: Reference Taxonomy &amp; 5-Hop Governance (Workstream 1)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749808" y="2578608"/>
            <a:ext cx="6217920" cy="1078992"/>
          </a:xfrm>
          <a:prstGeom prst="roundRect">
            <a:avLst>
              <a:gd name="adj" fmla="val 5085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2578608"/>
            <a:ext cx="82296" cy="10789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263347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 • GOOGLE CLOUD ARCHITECTURE CENTER</a:t>
            </a:r>
            <a:endParaRPr lang="en-US" sz="780" dirty="0"/>
          </a:p>
        </p:txBody>
      </p:sp>
      <p:sp>
        <p:nvSpPr>
          <p:cNvPr id="19" name="Text 17"/>
          <p:cNvSpPr/>
          <p:nvPr/>
        </p:nvSpPr>
        <p:spPr>
          <a:xfrm>
            <a:off x="914400" y="2834640"/>
            <a:ext cx="594360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Google Cloud Architecture Center hub-and-spoke reference architecture comparing Pooled (Pattern A), Sovereign Silos (Pattern B), and Dynamic Hybrid (Pattern C) isolation models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749808" y="3767328"/>
            <a:ext cx="1975104" cy="1481328"/>
          </a:xfrm>
          <a:prstGeom prst="roundRect">
            <a:avLst>
              <a:gd name="adj" fmla="val 3704"/>
            </a:avLst>
          </a:prstGeom>
          <a:solidFill>
            <a:srgbClr val="F8FAFC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" y="3767328"/>
            <a:ext cx="1975104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3840480"/>
            <a:ext cx="17922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Challenge</a:t>
            </a:r>
            <a:endParaRPr lang="en-US" sz="820" dirty="0"/>
          </a:p>
        </p:txBody>
      </p:sp>
      <p:sp>
        <p:nvSpPr>
          <p:cNvPr id="23" name="Text 21"/>
          <p:cNvSpPr/>
          <p:nvPr/>
        </p:nvSpPr>
        <p:spPr>
          <a:xfrm>
            <a:off x="841248" y="4187952"/>
            <a:ext cx="179222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Provisioning dedicated cloud projects for $500/month commercial tenants erodes SaaS gross margins, whereas naive shared runtimes expose cross-tenant tool, memory, and quota surfaces.</a:t>
            </a:r>
            <a:endParaRPr lang="en-US" sz="730" dirty="0"/>
          </a:p>
        </p:txBody>
      </p:sp>
      <p:sp>
        <p:nvSpPr>
          <p:cNvPr id="24" name="Shape 22"/>
          <p:cNvSpPr/>
          <p:nvPr/>
        </p:nvSpPr>
        <p:spPr>
          <a:xfrm>
            <a:off x="2834640" y="3767328"/>
            <a:ext cx="1975104" cy="1481328"/>
          </a:xfrm>
          <a:prstGeom prst="roundRect">
            <a:avLst>
              <a:gd name="adj" fmla="val 3704"/>
            </a:avLst>
          </a:prstGeom>
          <a:solidFill>
            <a:srgbClr val="F8FAFC"/>
          </a:solidFill>
          <a:ln w="12700">
            <a:solidFill>
              <a:srgbClr val="CEEA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34640" y="3767328"/>
            <a:ext cx="1975104" cy="54864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26" name="Text 24"/>
          <p:cNvSpPr/>
          <p:nvPr/>
        </p:nvSpPr>
        <p:spPr>
          <a:xfrm>
            <a:off x="2926080" y="3840480"/>
            <a:ext cx="17922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Agentic Threat Vectors</a:t>
            </a: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2926080" y="4187952"/>
            <a:ext cx="179222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Unlike deterministic CRUD applications, autonomous ADK agents dynamically discover MCP tools, persist episodic Memory Bank state, share prompt caches, and consume variable reasoning tokens.</a:t>
            </a:r>
            <a:endParaRPr lang="en-US" sz="730" dirty="0"/>
          </a:p>
        </p:txBody>
      </p:sp>
      <p:sp>
        <p:nvSpPr>
          <p:cNvPr id="28" name="Shape 26"/>
          <p:cNvSpPr/>
          <p:nvPr/>
        </p:nvSpPr>
        <p:spPr>
          <a:xfrm>
            <a:off x="4919472" y="3767328"/>
            <a:ext cx="1975104" cy="1481328"/>
          </a:xfrm>
          <a:prstGeom prst="roundRect">
            <a:avLst>
              <a:gd name="adj" fmla="val 3704"/>
            </a:avLst>
          </a:prstGeom>
          <a:solidFill>
            <a:srgbClr val="F8FAFC"/>
          </a:solidFill>
          <a:ln w="12700">
            <a:solidFill>
              <a:srgbClr val="FDE29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19472" y="3767328"/>
            <a:ext cx="1975104" cy="54864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5010912" y="3840480"/>
            <a:ext cx="17922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Production Isolation Topologies</a:t>
            </a:r>
            <a:endParaRPr lang="en-US" sz="820" dirty="0"/>
          </a:p>
        </p:txBody>
      </p:sp>
      <p:sp>
        <p:nvSpPr>
          <p:cNvPr id="31" name="Text 29"/>
          <p:cNvSpPr/>
          <p:nvPr/>
        </p:nvSpPr>
        <p:spPr>
          <a:xfrm>
            <a:off x="5010912" y="4187952"/>
            <a:ext cx="179222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(High-Density Pooled), Pattern B (Zero-Trust Sovereign Silos), and Pattern C (Dynamic Hybrid PSC Spokes) reuse 80% of the same Python ADK 2.0 application codebase.</a:t>
            </a:r>
            <a:endParaRPr lang="en-US" sz="730" dirty="0"/>
          </a:p>
        </p:txBody>
      </p:sp>
      <p:sp>
        <p:nvSpPr>
          <p:cNvPr id="32" name="Shape 30"/>
          <p:cNvSpPr/>
          <p:nvPr/>
        </p:nvSpPr>
        <p:spPr>
          <a:xfrm>
            <a:off x="7360920" y="329184"/>
            <a:ext cx="4416552" cy="5102352"/>
          </a:xfrm>
          <a:prstGeom prst="roundRect">
            <a:avLst>
              <a:gd name="adj" fmla="val 1863"/>
            </a:avLst>
          </a:prstGeom>
          <a:solidFill>
            <a:srgbClr val="FFFFFF"/>
          </a:solidFill>
          <a:ln w="15875">
            <a:solidFill>
              <a:srgbClr val="AECBF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360920" y="329184"/>
            <a:ext cx="4416552" cy="402336"/>
          </a:xfrm>
          <a:prstGeom prst="roundRect">
            <a:avLst>
              <a:gd name="adj" fmla="val 13636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79792" y="356616"/>
            <a:ext cx="41696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4-ZONE HUB-AND-SPOKE TOPOLOGY (#78)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7516368" y="841248"/>
            <a:ext cx="4096512" cy="896112"/>
          </a:xfrm>
          <a:prstGeom prst="roundRect">
            <a:avLst>
              <a:gd name="adj" fmla="val 6122"/>
            </a:avLst>
          </a:prstGeom>
          <a:solidFill>
            <a:srgbClr val="F8FAFC"/>
          </a:solidFill>
          <a:ln w="12700">
            <a:solidFill>
              <a:srgbClr val="174EA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16368" y="841248"/>
            <a:ext cx="91440" cy="89611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37" name="Shape 35"/>
          <p:cNvSpPr/>
          <p:nvPr/>
        </p:nvSpPr>
        <p:spPr>
          <a:xfrm>
            <a:off x="7662672" y="914400"/>
            <a:ext cx="1481328" cy="201168"/>
          </a:xfrm>
          <a:prstGeom prst="roundRect">
            <a:avLst>
              <a:gd name="adj" fmla="val 18182"/>
            </a:avLst>
          </a:prstGeom>
          <a:solidFill>
            <a:srgbClr val="AECBFA"/>
          </a:solidFill>
          <a:ln/>
        </p:spPr>
      </p:sp>
      <p:sp>
        <p:nvSpPr>
          <p:cNvPr id="38" name="Text 36"/>
          <p:cNvSpPr/>
          <p:nvPr/>
        </p:nvSpPr>
        <p:spPr>
          <a:xfrm>
            <a:off x="7662672" y="914400"/>
            <a:ext cx="1481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1 • ROUTING HUB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9198864" y="896112"/>
            <a:ext cx="23408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Edge WAF, OBO/DPoP &amp; Tier Router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7662672" y="1170432"/>
            <a:ext cx="3858768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Armor, IAP, IAM STS &amp; Agent Engine Registry verify OIDC identity, strip spoofed headers &amp; filter tools.</a:t>
            </a:r>
            <a:endParaRPr lang="en-US" sz="770" dirty="0"/>
          </a:p>
        </p:txBody>
      </p:sp>
      <p:sp>
        <p:nvSpPr>
          <p:cNvPr id="41" name="Shape 39"/>
          <p:cNvSpPr/>
          <p:nvPr/>
        </p:nvSpPr>
        <p:spPr>
          <a:xfrm>
            <a:off x="7516368" y="1837944"/>
            <a:ext cx="4096512" cy="896112"/>
          </a:xfrm>
          <a:prstGeom prst="roundRect">
            <a:avLst>
              <a:gd name="adj" fmla="val 6122"/>
            </a:avLst>
          </a:prstGeom>
          <a:solidFill>
            <a:srgbClr val="F8FAFC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516368" y="1837944"/>
            <a:ext cx="91440" cy="896112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43" name="Shape 41"/>
          <p:cNvSpPr/>
          <p:nvPr/>
        </p:nvSpPr>
        <p:spPr>
          <a:xfrm>
            <a:off x="7662672" y="1911096"/>
            <a:ext cx="1481328" cy="201168"/>
          </a:xfrm>
          <a:prstGeom prst="roundRect">
            <a:avLst>
              <a:gd name="adj" fmla="val 18182"/>
            </a:avLst>
          </a:prstGeom>
          <a:solidFill>
            <a:srgbClr val="CEEAD6"/>
          </a:solidFill>
          <a:ln/>
        </p:spPr>
      </p:sp>
      <p:sp>
        <p:nvSpPr>
          <p:cNvPr id="44" name="Text 42"/>
          <p:cNvSpPr/>
          <p:nvPr/>
        </p:nvSpPr>
        <p:spPr>
          <a:xfrm>
            <a:off x="7662672" y="1911096"/>
            <a:ext cx="1481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2 • GOVERNANCE HUB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9198864" y="1892808"/>
            <a:ext cx="23408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Security, CMEK &amp; FinOps Telemetry</a:t>
            </a:r>
            <a:endParaRPr lang="en-US" sz="860" dirty="0"/>
          </a:p>
        </p:txBody>
      </p:sp>
      <p:sp>
        <p:nvSpPr>
          <p:cNvPr id="46" name="Text 44"/>
          <p:cNvSpPr/>
          <p:nvPr/>
        </p:nvSpPr>
        <p:spPr>
          <a:xfrm>
            <a:off x="7662672" y="2167128"/>
            <a:ext cx="3858768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Center, Cloud KMS CMEK &amp; BigQuery OTel govern encryption liveness and zero-PII chargeback.</a:t>
            </a:r>
            <a:endParaRPr lang="en-US" sz="770" dirty="0"/>
          </a:p>
        </p:txBody>
      </p:sp>
      <p:sp>
        <p:nvSpPr>
          <p:cNvPr id="47" name="Shape 45"/>
          <p:cNvSpPr/>
          <p:nvPr/>
        </p:nvSpPr>
        <p:spPr>
          <a:xfrm>
            <a:off x="7516368" y="2834640"/>
            <a:ext cx="4096512" cy="896112"/>
          </a:xfrm>
          <a:prstGeom prst="roundRect">
            <a:avLst>
              <a:gd name="adj" fmla="val 6122"/>
            </a:avLst>
          </a:prstGeom>
          <a:solidFill>
            <a:srgbClr val="F8FAFC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516368" y="2834640"/>
            <a:ext cx="91440" cy="896112"/>
          </a:xfrm>
          <a:prstGeom prst="rect">
            <a:avLst/>
          </a:prstGeom>
          <a:solidFill>
            <a:srgbClr val="B06000"/>
          </a:solidFill>
          <a:ln/>
        </p:spPr>
      </p:sp>
      <p:sp>
        <p:nvSpPr>
          <p:cNvPr id="49" name="Shape 47"/>
          <p:cNvSpPr/>
          <p:nvPr/>
        </p:nvSpPr>
        <p:spPr>
          <a:xfrm>
            <a:off x="7662672" y="2907792"/>
            <a:ext cx="1481328" cy="201168"/>
          </a:xfrm>
          <a:prstGeom prst="roundRect">
            <a:avLst>
              <a:gd name="adj" fmla="val 18182"/>
            </a:avLst>
          </a:prstGeom>
          <a:solidFill>
            <a:srgbClr val="FEEFC3"/>
          </a:solidFill>
          <a:ln/>
        </p:spPr>
      </p:sp>
      <p:sp>
        <p:nvSpPr>
          <p:cNvPr id="50" name="Text 48"/>
          <p:cNvSpPr/>
          <p:nvPr/>
        </p:nvSpPr>
        <p:spPr>
          <a:xfrm>
            <a:off x="7662672" y="2907792"/>
            <a:ext cx="1481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3 • LEFT SPOKE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9198864" y="2889504"/>
            <a:ext cx="23408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Model Armor, ADK &amp; 90% Prefix Cache</a:t>
            </a:r>
            <a:endParaRPr lang="en-US" sz="860" dirty="0"/>
          </a:p>
        </p:txBody>
      </p:sp>
      <p:sp>
        <p:nvSpPr>
          <p:cNvPr id="52" name="Text 50"/>
          <p:cNvSpPr/>
          <p:nvPr/>
        </p:nvSpPr>
        <p:spPr>
          <a:xfrm>
            <a:off x="7662672" y="3163824"/>
            <a:ext cx="3858768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prompts (4/6), executes Gemini 2.5 Pro with 90% cache (5), clamps RPM in Valkey &amp; isolates L1–L5 memory.</a:t>
            </a:r>
            <a:endParaRPr lang="en-US" sz="770" dirty="0"/>
          </a:p>
        </p:txBody>
      </p:sp>
      <p:sp>
        <p:nvSpPr>
          <p:cNvPr id="53" name="Shape 51"/>
          <p:cNvSpPr/>
          <p:nvPr/>
        </p:nvSpPr>
        <p:spPr>
          <a:xfrm>
            <a:off x="7516368" y="3831336"/>
            <a:ext cx="4096512" cy="896112"/>
          </a:xfrm>
          <a:prstGeom prst="roundRect">
            <a:avLst>
              <a:gd name="adj" fmla="val 6122"/>
            </a:avLst>
          </a:prstGeom>
          <a:solidFill>
            <a:srgbClr val="F8FAFC"/>
          </a:solidFill>
          <a:ln w="12700">
            <a:solidFill>
              <a:srgbClr val="C5221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3831336"/>
            <a:ext cx="91440" cy="896112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55" name="Shape 53"/>
          <p:cNvSpPr/>
          <p:nvPr/>
        </p:nvSpPr>
        <p:spPr>
          <a:xfrm>
            <a:off x="7662672" y="3904488"/>
            <a:ext cx="1481328" cy="201168"/>
          </a:xfrm>
          <a:prstGeom prst="roundRect">
            <a:avLst>
              <a:gd name="adj" fmla="val 18182"/>
            </a:avLst>
          </a:prstGeom>
          <a:solidFill>
            <a:srgbClr val="FAD2CF"/>
          </a:solidFill>
          <a:ln/>
        </p:spPr>
      </p:sp>
      <p:sp>
        <p:nvSpPr>
          <p:cNvPr id="56" name="Text 54"/>
          <p:cNvSpPr/>
          <p:nvPr/>
        </p:nvSpPr>
        <p:spPr>
          <a:xfrm>
            <a:off x="7662672" y="3904488"/>
            <a:ext cx="1481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4 • RIGHT SPOKE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9198864" y="3886200"/>
            <a:ext cx="23408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2LO/3LO MCP, AlloyDB RLS &amp; PSC Vaults</a:t>
            </a:r>
            <a:endParaRPr lang="en-US" sz="860" dirty="0"/>
          </a:p>
        </p:txBody>
      </p:sp>
      <p:sp>
        <p:nvSpPr>
          <p:cNvPr id="58" name="Text 56"/>
          <p:cNvSpPr/>
          <p:nvPr/>
        </p:nvSpPr>
        <p:spPr>
          <a:xfrm>
            <a:off x="7662672" y="4160520"/>
            <a:ext cx="3858768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PostgreSQL Row-Level Security, 3LO step-up consent, VPC-SC perimeters &amp; &lt;60s CMEK kill-switches.</a:t>
            </a:r>
            <a:endParaRPr lang="en-US" sz="770" dirty="0"/>
          </a:p>
        </p:txBody>
      </p:sp>
      <p:sp>
        <p:nvSpPr>
          <p:cNvPr id="59" name="Shape 57"/>
          <p:cNvSpPr/>
          <p:nvPr/>
        </p:nvSpPr>
        <p:spPr>
          <a:xfrm>
            <a:off x="7516368" y="4882896"/>
            <a:ext cx="4096512" cy="402336"/>
          </a:xfrm>
          <a:prstGeom prst="roundRect">
            <a:avLst>
              <a:gd name="adj" fmla="val 11364"/>
            </a:avLst>
          </a:prstGeom>
          <a:solidFill>
            <a:srgbClr val="E6F4EA"/>
          </a:solidFill>
          <a:ln w="10795">
            <a:solidFill>
              <a:srgbClr val="CEEAD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534656" y="4882896"/>
            <a:ext cx="40599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Slides per Blueprint: ① Editable Diagram → ② Logical Flow → ③ Technical Flow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411480" y="5577840"/>
            <a:ext cx="2724912" cy="950976"/>
          </a:xfrm>
          <a:prstGeom prst="roundRect">
            <a:avLst>
              <a:gd name="adj" fmla="val 673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11480" y="5577840"/>
            <a:ext cx="82296" cy="95097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63" name="Text 61"/>
          <p:cNvSpPr/>
          <p:nvPr/>
        </p:nvSpPr>
        <p:spPr>
          <a:xfrm>
            <a:off x="576072" y="5632704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Isolation Topologies</a:t>
            </a:r>
            <a:endParaRPr lang="en-US" sz="1220" dirty="0"/>
          </a:p>
        </p:txBody>
      </p:sp>
      <p:sp>
        <p:nvSpPr>
          <p:cNvPr id="64" name="Text 62"/>
          <p:cNvSpPr/>
          <p:nvPr/>
        </p:nvSpPr>
        <p:spPr>
          <a:xfrm>
            <a:off x="576072" y="5943600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Pooled ($42/mo), Pattern B Sovereign Silos ($1,850/mo) &amp; Pattern C Hybrid PSC</a:t>
            </a:r>
            <a:endParaRPr lang="en-US" sz="790" dirty="0"/>
          </a:p>
        </p:txBody>
      </p:sp>
      <p:sp>
        <p:nvSpPr>
          <p:cNvPr id="65" name="Shape 63"/>
          <p:cNvSpPr/>
          <p:nvPr/>
        </p:nvSpPr>
        <p:spPr>
          <a:xfrm>
            <a:off x="3291840" y="5577840"/>
            <a:ext cx="2724912" cy="950976"/>
          </a:xfrm>
          <a:prstGeom prst="roundRect">
            <a:avLst>
              <a:gd name="adj" fmla="val 673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291840" y="5577840"/>
            <a:ext cx="82296" cy="95097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67" name="Text 65"/>
          <p:cNvSpPr/>
          <p:nvPr/>
        </p:nvSpPr>
        <p:spPr>
          <a:xfrm>
            <a:off x="3456432" y="5632704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Cryptographic Hops</a:t>
            </a:r>
            <a:endParaRPr lang="en-US" sz="1220" dirty="0"/>
          </a:p>
        </p:txBody>
      </p:sp>
      <p:sp>
        <p:nvSpPr>
          <p:cNvPr id="68" name="Text 66"/>
          <p:cNvSpPr/>
          <p:nvPr/>
        </p:nvSpPr>
        <p:spPr>
          <a:xfrm>
            <a:off x="3456432" y="5943600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across Edge OBO/DPoP, Agent Registry, Memory Bank, Model Armor &amp; AlloyDB RLS</a:t>
            </a:r>
            <a:endParaRPr lang="en-US" sz="790" dirty="0"/>
          </a:p>
        </p:txBody>
      </p:sp>
      <p:sp>
        <p:nvSpPr>
          <p:cNvPr id="69" name="Shape 67"/>
          <p:cNvSpPr/>
          <p:nvPr/>
        </p:nvSpPr>
        <p:spPr>
          <a:xfrm>
            <a:off x="6172200" y="5577840"/>
            <a:ext cx="2724912" cy="950976"/>
          </a:xfrm>
          <a:prstGeom prst="roundRect">
            <a:avLst>
              <a:gd name="adj" fmla="val 673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172200" y="5577840"/>
            <a:ext cx="82296" cy="95097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71" name="Text 69"/>
          <p:cNvSpPr/>
          <p:nvPr/>
        </p:nvSpPr>
        <p:spPr>
          <a:xfrm>
            <a:off x="6336792" y="5632704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84.7% Token Savings</a:t>
            </a:r>
            <a:endParaRPr lang="en-US" sz="1220" dirty="0"/>
          </a:p>
        </p:txBody>
      </p:sp>
      <p:sp>
        <p:nvSpPr>
          <p:cNvPr id="72" name="Text 70"/>
          <p:cNvSpPr/>
          <p:nvPr/>
        </p:nvSpPr>
        <p:spPr>
          <a:xfrm>
            <a:off x="6336792" y="5943600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ContextCacheConfig (90% prefix discount) + Memorystore Valkey bulkheads</a:t>
            </a:r>
            <a:endParaRPr lang="en-US" sz="790" dirty="0"/>
          </a:p>
        </p:txBody>
      </p:sp>
      <p:sp>
        <p:nvSpPr>
          <p:cNvPr id="73" name="Shape 71"/>
          <p:cNvSpPr/>
          <p:nvPr/>
        </p:nvSpPr>
        <p:spPr>
          <a:xfrm>
            <a:off x="9052560" y="5577840"/>
            <a:ext cx="2724912" cy="950976"/>
          </a:xfrm>
          <a:prstGeom prst="roundRect">
            <a:avLst>
              <a:gd name="adj" fmla="val 673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052560" y="5577840"/>
            <a:ext cx="82296" cy="95097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75" name="Text 73"/>
          <p:cNvSpPr/>
          <p:nvPr/>
        </p:nvSpPr>
        <p:spPr>
          <a:xfrm>
            <a:off x="9217152" y="5632704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20/20 Verified Gates</a:t>
            </a:r>
            <a:endParaRPr lang="en-US" sz="1220" dirty="0"/>
          </a:p>
        </p:txBody>
      </p:sp>
      <p:sp>
        <p:nvSpPr>
          <p:cNvPr id="76" name="Text 74"/>
          <p:cNvSpPr/>
          <p:nvPr/>
        </p:nvSpPr>
        <p:spPr>
          <a:xfrm>
            <a:off x="9217152" y="5943600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 Pattern A Breach, 6/6 Pattern B Silo Kill-Switch &amp; 4/4 Pattern C Live Migration PASS</a:t>
            </a:r>
            <a:endParaRPr lang="en-US" sz="790" dirty="0"/>
          </a:p>
        </p:txBody>
      </p:sp>
      <p:sp>
        <p:nvSpPr>
          <p:cNvPr id="77" name="Text 7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Vertex AI Agent Engine, Gemini Enterprise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Vertex AI Agent Engine Multi-Tenant Taxonomy: Pooled (A), Sovereign Silos (B) &amp; Hybrid (C) (100% Native Editable Shapes)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6977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B2B SaaS platforms and large enterprises serve thousands of tenants across Pooled (Pattern A), Sovereign Silo (Pattern B), and Dynamic Hybrid (Pattern C) isolation models using one 80% reusable agentic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AECBFA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Routing Hub (Ingress &amp; Identity PEP)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Terminates TLS at External ALB, enforces Cloud Armor WAF &amp; Model Armor screening, authenticates via IAP, and resolves tenant tier.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137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CEEAD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Central Governance &amp; Security Hub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Centralizes Security Command Center posture monitoring, IAM Principal Access Boundaries, Cloud KMS keys, and BigQuery OTel FinOps.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B06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B06000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FEEFC3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Pattern A: Pooled Shared Runtime Spoke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 high-density multi-tenant workloads on shared Cloud Run / Agent Engine with 90% shared prompt caching and AlloyDB RLS.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C5221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FAD2CF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Pattern B Silos &amp; Pattern C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Isolates regulated tenants inside dedicated VPC-SC projects with Cloud KMS CMEK kill-switches or unidirectional PSC service attachments.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 &amp; 2 (Zone 1 Routing Hub): Global ALB, Cloud Armor WAF, and IAP authenticate tenant callers, strip spoofed headers, and look up the tenant isolation pattern.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2 (Central Governance Hub): Security Command Center, Cloud KMS CMEK, and BigQuery OTel centralize threat detection, key lifecycle, and zero-PII chargeback.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 Tier Dispatch: The 80% reusable ADK control plane routes requests dynamically to Pattern A (Yellow Spoke) or Pattern B/C (Red Spoke).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3 (Pattern A Pooled Spoke): Enforces Model Armor screening (4/6), Gemini 2.5 Pro 90% prefix caching (5), Valkey RPM bulkheads,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3889"/>
            </a:avLst>
          </a:prstGeom>
          <a:solidFill>
            <a:srgbClr val="E6F4EA"/>
          </a:solidFill>
          <a:ln w="10795">
            <a:solidFill>
              <a:srgbClr val="CEEAD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56 Editable Shapes • 23 Connectors • GCP: ramp-portal-dev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(ramp-portal-dev / nitina-ggarwal-sandbox-647724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(pattern_a_pooled_rls_entities)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(Sovereign Silos) &amp; Pattern C (Hybrid PSC Spokes)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Silo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finvault-silo-cmek + PSC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KMS Sign &amp; Discovery Engine Catalog filter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FinOps observability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(OIDC) &amp; RetailStream (Entra)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tenant_pooled_rls_policy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423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Rai Filters &amp; SDP PII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3.7 or Private GKE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&amp; IAP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Forged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ECDSA P-256 Sign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2190"/>
            <a:ext cx="760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KMS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ECDSA sign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674620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VIS-WS1-MULTI-TENANT-TAXONOMY-OVERVIEW (diagrams/ws1-multi-tenant-taxonomy-overview.drawio)  •  100% Native Editable Shapes + 4-Zone Architecture Center Guide  •  Next: Step-by-Step Logical Flow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Vertex AI Agent Engine Multi-Tenant Taxonomy: Pooled (A), Sovereign Silos (B) &amp; Hybrid (C) • Step-by-Step Logical Flow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FLOW • STEPS ①–⑦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292608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74EA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2608" y="603504"/>
            <a:ext cx="82296" cy="6217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0624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AECBFA"/>
          </a:solidFill>
          <a:ln/>
        </p:spPr>
      </p:sp>
      <p:sp>
        <p:nvSpPr>
          <p:cNvPr id="20" name="Text 18"/>
          <p:cNvSpPr/>
          <p:nvPr/>
        </p:nvSpPr>
        <p:spPr>
          <a:xfrm>
            <a:off x="420624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1307592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Routing Hub (Ingress &amp; Identity PEP)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420624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Terminates TLS at External ALB, enforces Cloud Armor WAF &amp; Model Armor screening, authenticates via IAP, and resolves tenant tier.</a:t>
            </a:r>
            <a:endParaRPr lang="en-US" sz="670" dirty="0"/>
          </a:p>
        </p:txBody>
      </p:sp>
      <p:sp>
        <p:nvSpPr>
          <p:cNvPr id="23" name="Shape 21"/>
          <p:cNvSpPr/>
          <p:nvPr/>
        </p:nvSpPr>
        <p:spPr>
          <a:xfrm>
            <a:off x="3230575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30575" y="603504"/>
            <a:ext cx="82296" cy="621792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25" name="Shape 23"/>
          <p:cNvSpPr/>
          <p:nvPr/>
        </p:nvSpPr>
        <p:spPr>
          <a:xfrm>
            <a:off x="3358591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CEEAD6"/>
          </a:solidFill>
          <a:ln/>
        </p:spPr>
      </p:sp>
      <p:sp>
        <p:nvSpPr>
          <p:cNvPr id="26" name="Text 24"/>
          <p:cNvSpPr/>
          <p:nvPr/>
        </p:nvSpPr>
        <p:spPr>
          <a:xfrm>
            <a:off x="3358591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</a:t>
            </a:r>
            <a:endParaRPr lang="en-US" sz="630" dirty="0"/>
          </a:p>
        </p:txBody>
      </p:sp>
      <p:sp>
        <p:nvSpPr>
          <p:cNvPr id="27" name="Text 25"/>
          <p:cNvSpPr/>
          <p:nvPr/>
        </p:nvSpPr>
        <p:spPr>
          <a:xfrm>
            <a:off x="4245559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Central Governance &amp; Security Hub</a:t>
            </a:r>
            <a:endParaRPr lang="en-US" sz="740" dirty="0"/>
          </a:p>
        </p:txBody>
      </p:sp>
      <p:sp>
        <p:nvSpPr>
          <p:cNvPr id="28" name="Text 26"/>
          <p:cNvSpPr/>
          <p:nvPr/>
        </p:nvSpPr>
        <p:spPr>
          <a:xfrm>
            <a:off x="3358591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Centralizes Security Command Center posture monitoring, IAM Principal Access Boundaries, Cloud KMS keys, and BigQuery OTel FinOps.</a:t>
            </a:r>
            <a:endParaRPr lang="en-US" sz="670" dirty="0"/>
          </a:p>
        </p:txBody>
      </p:sp>
      <p:sp>
        <p:nvSpPr>
          <p:cNvPr id="29" name="Shape 27"/>
          <p:cNvSpPr/>
          <p:nvPr/>
        </p:nvSpPr>
        <p:spPr>
          <a:xfrm>
            <a:off x="6168542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68542" y="603504"/>
            <a:ext cx="82296" cy="621792"/>
          </a:xfrm>
          <a:prstGeom prst="rect">
            <a:avLst/>
          </a:prstGeom>
          <a:solidFill>
            <a:srgbClr val="B06000"/>
          </a:solidFill>
          <a:ln/>
        </p:spPr>
      </p:sp>
      <p:sp>
        <p:nvSpPr>
          <p:cNvPr id="31" name="Shape 29"/>
          <p:cNvSpPr/>
          <p:nvPr/>
        </p:nvSpPr>
        <p:spPr>
          <a:xfrm>
            <a:off x="6296558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EEFC3"/>
          </a:solidFill>
          <a:ln/>
        </p:spPr>
      </p:sp>
      <p:sp>
        <p:nvSpPr>
          <p:cNvPr id="32" name="Text 30"/>
          <p:cNvSpPr/>
          <p:nvPr/>
        </p:nvSpPr>
        <p:spPr>
          <a:xfrm>
            <a:off x="6296558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7183526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Pattern A: Pooled Shared Runtime Spoke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6296558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 high-density multi-tenant workloads on shared Cloud Run / Agent Engine with 90% shared prompt caching and AlloyDB RLS.</a:t>
            </a:r>
            <a:endParaRPr lang="en-US" sz="670" dirty="0"/>
          </a:p>
        </p:txBody>
      </p:sp>
      <p:sp>
        <p:nvSpPr>
          <p:cNvPr id="35" name="Shape 33"/>
          <p:cNvSpPr/>
          <p:nvPr/>
        </p:nvSpPr>
        <p:spPr>
          <a:xfrm>
            <a:off x="9106510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C522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06510" y="603504"/>
            <a:ext cx="82296" cy="621792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37" name="Shape 35"/>
          <p:cNvSpPr/>
          <p:nvPr/>
        </p:nvSpPr>
        <p:spPr>
          <a:xfrm>
            <a:off x="9234526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AD2CF"/>
          </a:solidFill>
          <a:ln/>
        </p:spPr>
      </p:sp>
      <p:sp>
        <p:nvSpPr>
          <p:cNvPr id="38" name="Text 36"/>
          <p:cNvSpPr/>
          <p:nvPr/>
        </p:nvSpPr>
        <p:spPr>
          <a:xfrm>
            <a:off x="9234526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</a:t>
            </a:r>
            <a:endParaRPr lang="en-US" sz="630" dirty="0"/>
          </a:p>
        </p:txBody>
      </p:sp>
      <p:sp>
        <p:nvSpPr>
          <p:cNvPr id="39" name="Text 37"/>
          <p:cNvSpPr/>
          <p:nvPr/>
        </p:nvSpPr>
        <p:spPr>
          <a:xfrm>
            <a:off x="10121494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Pattern B Silos &amp; Pattern C PSC Spokes</a:t>
            </a:r>
            <a:endParaRPr lang="en-US" sz="740" dirty="0"/>
          </a:p>
        </p:txBody>
      </p:sp>
      <p:sp>
        <p:nvSpPr>
          <p:cNvPr id="40" name="Text 38"/>
          <p:cNvSpPr/>
          <p:nvPr/>
        </p:nvSpPr>
        <p:spPr>
          <a:xfrm>
            <a:off x="9234526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Isolates regulated tenants inside dedicated VPC-SC projects with Cloud KMS CMEK kill-switches or unidirectional PSC service attachments.</a:t>
            </a:r>
            <a:endParaRPr lang="en-US" sz="670" dirty="0"/>
          </a:p>
        </p:txBody>
      </p:sp>
      <p:sp>
        <p:nvSpPr>
          <p:cNvPr id="41" name="Shape 39"/>
          <p:cNvSpPr/>
          <p:nvPr/>
        </p:nvSpPr>
        <p:spPr>
          <a:xfrm>
            <a:off x="292608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2608" y="1316736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43" name="Shape 41"/>
          <p:cNvSpPr/>
          <p:nvPr/>
        </p:nvSpPr>
        <p:spPr>
          <a:xfrm>
            <a:off x="402336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①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060704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→ Blue Zone (Routing Hub)</a:t>
            </a:r>
            <a:endParaRPr lang="en-US" sz="660" dirty="0"/>
          </a:p>
        </p:txBody>
      </p:sp>
      <p:sp>
        <p:nvSpPr>
          <p:cNvPr id="46" name="Text 44"/>
          <p:cNvSpPr/>
          <p:nvPr/>
        </p:nvSpPr>
        <p:spPr>
          <a:xfrm>
            <a:off x="402336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Ingress, WAF &amp; Prompt Inspection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402336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requests enter through the global External Application Load Balancer. Cloud Armor mitigates DDoS/OWASP threats while Model Armor inspects ingress prompts via Service Extensions to block prompt injection at the edge.</a:t>
            </a:r>
            <a:endParaRPr lang="en-US" sz="740" dirty="0"/>
          </a:p>
        </p:txBody>
      </p:sp>
      <p:sp>
        <p:nvSpPr>
          <p:cNvPr id="48" name="Shape 46"/>
          <p:cNvSpPr/>
          <p:nvPr/>
        </p:nvSpPr>
        <p:spPr>
          <a:xfrm>
            <a:off x="402336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49" name="Text 47"/>
          <p:cNvSpPr/>
          <p:nvPr/>
        </p:nvSpPr>
        <p:spPr>
          <a:xfrm>
            <a:off x="438912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 • Cloud Armor WAF • Model Armor</a:t>
            </a:r>
            <a:endParaRPr lang="en-US" sz="660" dirty="0"/>
          </a:p>
        </p:txBody>
      </p:sp>
      <p:sp>
        <p:nvSpPr>
          <p:cNvPr id="50" name="Shape 48"/>
          <p:cNvSpPr/>
          <p:nvPr/>
        </p:nvSpPr>
        <p:spPr>
          <a:xfrm>
            <a:off x="3230575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230575" y="1316736"/>
            <a:ext cx="2791663" cy="502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52" name="Shape 50"/>
          <p:cNvSpPr/>
          <p:nvPr/>
        </p:nvSpPr>
        <p:spPr>
          <a:xfrm>
            <a:off x="3340303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40303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②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3998671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 (Identity &amp; Registry)</a:t>
            </a:r>
            <a:endParaRPr lang="en-US" sz="660" dirty="0"/>
          </a:p>
        </p:txBody>
      </p:sp>
      <p:sp>
        <p:nvSpPr>
          <p:cNvPr id="55" name="Text 53"/>
          <p:cNvSpPr/>
          <p:nvPr/>
        </p:nvSpPr>
        <p:spPr>
          <a:xfrm>
            <a:off x="3340303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Zero-Trust Identity &amp; Tenant Registry Lookup</a:t>
            </a:r>
            <a:endParaRPr lang="en-US" sz="820" dirty="0"/>
          </a:p>
        </p:txBody>
      </p:sp>
      <p:sp>
        <p:nvSpPr>
          <p:cNvPr id="56" name="Text 54"/>
          <p:cNvSpPr/>
          <p:nvPr/>
        </p:nvSpPr>
        <p:spPr>
          <a:xfrm>
            <a:off x="3340303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Identity-Aware Proxy (IAP) validates the upstream OIDC JWT (Google Workspace or Microsoft Entra ID), strips client-supplied tenant headers, and looks up the tenant’s isolation tier and entitlements in Firestore.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3340303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58" name="Text 56"/>
          <p:cNvSpPr/>
          <p:nvPr/>
        </p:nvSpPr>
        <p:spPr>
          <a:xfrm>
            <a:off x="3376879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Identity-Aware Proxy • RFC 8693 OBO + DPoP • Firestore</a:t>
            </a:r>
            <a:endParaRPr lang="en-US" sz="660" dirty="0"/>
          </a:p>
        </p:txBody>
      </p:sp>
      <p:sp>
        <p:nvSpPr>
          <p:cNvPr id="59" name="Shape 57"/>
          <p:cNvSpPr/>
          <p:nvPr/>
        </p:nvSpPr>
        <p:spPr>
          <a:xfrm>
            <a:off x="6168542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68542" y="1316736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61" name="Shape 59"/>
          <p:cNvSpPr/>
          <p:nvPr/>
        </p:nvSpPr>
        <p:spPr>
          <a:xfrm>
            <a:off x="6278270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78270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③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6936638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 → Tenant Spokes</a:t>
            </a:r>
            <a:endParaRPr lang="en-US" sz="660" dirty="0"/>
          </a:p>
        </p:txBody>
      </p:sp>
      <p:sp>
        <p:nvSpPr>
          <p:cNvPr id="64" name="Text 62"/>
          <p:cNvSpPr/>
          <p:nvPr/>
        </p:nvSpPr>
        <p:spPr>
          <a:xfrm>
            <a:off x="6278270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Tier-Aware Routing &amp; Access Boundary Binding</a:t>
            </a:r>
            <a:endParaRPr lang="en-US" sz="820" dirty="0"/>
          </a:p>
        </p:txBody>
      </p:sp>
      <p:sp>
        <p:nvSpPr>
          <p:cNvPr id="65" name="Text 63"/>
          <p:cNvSpPr/>
          <p:nvPr/>
        </p:nvSpPr>
        <p:spPr>
          <a:xfrm>
            <a:off x="6278270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Cloud Run routing service binds an IAM Principal Access Boundary (PAB) and KMS-signed context token, routing Standard tenants to the Pooled Spoke (Pattern A) and Enterprise tenants to Sovereign/PSC Spokes (Pattern B/C).</a:t>
            </a:r>
            <a:endParaRPr lang="en-US" sz="740" dirty="0"/>
          </a:p>
        </p:txBody>
      </p:sp>
      <p:sp>
        <p:nvSpPr>
          <p:cNvPr id="66" name="Shape 64"/>
          <p:cNvSpPr/>
          <p:nvPr/>
        </p:nvSpPr>
        <p:spPr>
          <a:xfrm>
            <a:off x="6278270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67" name="Text 65"/>
          <p:cNvSpPr/>
          <p:nvPr/>
        </p:nvSpPr>
        <p:spPr>
          <a:xfrm>
            <a:off x="6314846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 • IAM Principal Access Boundary (PAB)</a:t>
            </a:r>
            <a:endParaRPr lang="en-US" sz="660" dirty="0"/>
          </a:p>
        </p:txBody>
      </p:sp>
      <p:sp>
        <p:nvSpPr>
          <p:cNvPr id="68" name="Shape 66"/>
          <p:cNvSpPr/>
          <p:nvPr/>
        </p:nvSpPr>
        <p:spPr>
          <a:xfrm>
            <a:off x="9106510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106510" y="1316736"/>
            <a:ext cx="2791663" cy="502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70" name="Shape 68"/>
          <p:cNvSpPr/>
          <p:nvPr/>
        </p:nvSpPr>
        <p:spPr>
          <a:xfrm>
            <a:off x="9216238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216238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④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74606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/ Red Zone (Guardrails)</a:t>
            </a:r>
            <a:endParaRPr lang="en-US" sz="660" dirty="0"/>
          </a:p>
        </p:txBody>
      </p:sp>
      <p:sp>
        <p:nvSpPr>
          <p:cNvPr id="73" name="Text 71"/>
          <p:cNvSpPr/>
          <p:nvPr/>
        </p:nvSpPr>
        <p:spPr>
          <a:xfrm>
            <a:off x="9216238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In-Perimeter Model Armor &amp; SDP Screening</a:t>
            </a:r>
            <a:endParaRPr lang="en-US" sz="820" dirty="0"/>
          </a:p>
        </p:txBody>
      </p:sp>
      <p:sp>
        <p:nvSpPr>
          <p:cNvPr id="74" name="Text 72"/>
          <p:cNvSpPr/>
          <p:nvPr/>
        </p:nvSpPr>
        <p:spPr>
          <a:xfrm>
            <a:off x="9216238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invoking the foundation model, tenant-scoped Model Armor and Sensitive Data Protection (SDP) templates enforce industry compliance rules (OCC/FDIC banking or PCI retail) and redact sensitive PII.</a:t>
            </a:r>
            <a:endParaRPr lang="en-US" sz="740" dirty="0"/>
          </a:p>
        </p:txBody>
      </p:sp>
      <p:sp>
        <p:nvSpPr>
          <p:cNvPr id="75" name="Shape 73"/>
          <p:cNvSpPr/>
          <p:nvPr/>
        </p:nvSpPr>
        <p:spPr>
          <a:xfrm>
            <a:off x="9216238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76" name="Text 74"/>
          <p:cNvSpPr/>
          <p:nvPr/>
        </p:nvSpPr>
        <p:spPr>
          <a:xfrm>
            <a:off x="9252814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 • Cloud Sensitive Data Protection (SDP)</a:t>
            </a:r>
            <a:endParaRPr lang="en-US" sz="660" dirty="0"/>
          </a:p>
        </p:txBody>
      </p:sp>
      <p:sp>
        <p:nvSpPr>
          <p:cNvPr id="77" name="Shape 75"/>
          <p:cNvSpPr/>
          <p:nvPr/>
        </p:nvSpPr>
        <p:spPr>
          <a:xfrm>
            <a:off x="292608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92608" y="3959352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79" name="Shape 77"/>
          <p:cNvSpPr/>
          <p:nvPr/>
        </p:nvSpPr>
        <p:spPr>
          <a:xfrm>
            <a:off x="402336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02336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⑤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1060704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/ Red Zone (Agent Runtime)</a:t>
            </a:r>
            <a:endParaRPr lang="en-US" sz="660" dirty="0"/>
          </a:p>
        </p:txBody>
      </p:sp>
      <p:sp>
        <p:nvSpPr>
          <p:cNvPr id="82" name="Text 80"/>
          <p:cNvSpPr/>
          <p:nvPr/>
        </p:nvSpPr>
        <p:spPr>
          <a:xfrm>
            <a:off x="402336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Agent Reasoning &amp; Context Caching</a:t>
            </a:r>
            <a:endParaRPr lang="en-US" sz="820" dirty="0"/>
          </a:p>
        </p:txBody>
      </p:sp>
      <p:sp>
        <p:nvSpPr>
          <p:cNvPr id="83" name="Text 81"/>
          <p:cNvSpPr/>
          <p:nvPr/>
        </p:nvSpPr>
        <p:spPr>
          <a:xfrm>
            <a:off x="402336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(ADK 2.0) invokes Gemini 2.5 Pro or Gemma 3 using a shared read-only system prompt cache (90% input token discount) while partitioning session Memory Bank namespaces by tenant ID.</a:t>
            </a:r>
            <a:endParaRPr lang="en-US" sz="740" dirty="0"/>
          </a:p>
        </p:txBody>
      </p:sp>
      <p:sp>
        <p:nvSpPr>
          <p:cNvPr id="84" name="Shape 82"/>
          <p:cNvSpPr/>
          <p:nvPr/>
        </p:nvSpPr>
        <p:spPr>
          <a:xfrm>
            <a:off x="402336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85" name="Text 83"/>
          <p:cNvSpPr/>
          <p:nvPr/>
        </p:nvSpPr>
        <p:spPr>
          <a:xfrm>
            <a:off x="438912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• Gemini 2.5 Pro • ContextCacheConfig</a:t>
            </a:r>
            <a:endParaRPr lang="en-US" sz="660" dirty="0"/>
          </a:p>
        </p:txBody>
      </p:sp>
      <p:sp>
        <p:nvSpPr>
          <p:cNvPr id="86" name="Shape 84"/>
          <p:cNvSpPr/>
          <p:nvPr/>
        </p:nvSpPr>
        <p:spPr>
          <a:xfrm>
            <a:off x="3230575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230575" y="3959352"/>
            <a:ext cx="2791663" cy="502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88" name="Shape 86"/>
          <p:cNvSpPr/>
          <p:nvPr/>
        </p:nvSpPr>
        <p:spPr>
          <a:xfrm>
            <a:off x="3340303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340303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⑥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3998671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&amp; Red Zones (Data Plane)</a:t>
            </a:r>
            <a:endParaRPr lang="en-US" sz="660" dirty="0"/>
          </a:p>
        </p:txBody>
      </p:sp>
      <p:sp>
        <p:nvSpPr>
          <p:cNvPr id="91" name="Text 89"/>
          <p:cNvSpPr/>
          <p:nvPr/>
        </p:nvSpPr>
        <p:spPr>
          <a:xfrm>
            <a:off x="3340303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MCP Tool &amp; RAG Datastore Execution</a:t>
            </a:r>
            <a:endParaRPr lang="en-US" sz="820" dirty="0"/>
          </a:p>
        </p:txBody>
      </p:sp>
      <p:sp>
        <p:nvSpPr>
          <p:cNvPr id="92" name="Text 90"/>
          <p:cNvSpPr/>
          <p:nvPr/>
        </p:nvSpPr>
        <p:spPr>
          <a:xfrm>
            <a:off x="3340303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invokes allow-listed MCP servers and retrieves grounding data enforced by AlloyDB/BigQuery Row-Level Security (Pattern A), dedicated CMEK vaults (Pattern B), or Private Service Connect (Pattern C).</a:t>
            </a:r>
            <a:endParaRPr lang="en-US" sz="740" dirty="0"/>
          </a:p>
        </p:txBody>
      </p:sp>
      <p:sp>
        <p:nvSpPr>
          <p:cNvPr id="93" name="Shape 91"/>
          <p:cNvSpPr/>
          <p:nvPr/>
        </p:nvSpPr>
        <p:spPr>
          <a:xfrm>
            <a:off x="3340303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94" name="Text 92"/>
          <p:cNvSpPr/>
          <p:nvPr/>
        </p:nvSpPr>
        <p:spPr>
          <a:xfrm>
            <a:off x="3376879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Toolbox • AlloyDB RLS • BigQuery CMEK • PSC</a:t>
            </a:r>
            <a:endParaRPr lang="en-US" sz="660" dirty="0"/>
          </a:p>
        </p:txBody>
      </p:sp>
      <p:sp>
        <p:nvSpPr>
          <p:cNvPr id="95" name="Shape 93"/>
          <p:cNvSpPr/>
          <p:nvPr/>
        </p:nvSpPr>
        <p:spPr>
          <a:xfrm>
            <a:off x="6168542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168542" y="3959352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97" name="Shape 95"/>
          <p:cNvSpPr/>
          <p:nvPr/>
        </p:nvSpPr>
        <p:spPr>
          <a:xfrm>
            <a:off x="6278270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278270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⑦</a:t>
            </a:r>
            <a:endParaRPr lang="en-US" sz="750" dirty="0"/>
          </a:p>
        </p:txBody>
      </p:sp>
      <p:sp>
        <p:nvSpPr>
          <p:cNvPr id="99" name="Text 97"/>
          <p:cNvSpPr/>
          <p:nvPr/>
        </p:nvSpPr>
        <p:spPr>
          <a:xfrm>
            <a:off x="6936638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Spokes → Client &amp; Green Zone</a:t>
            </a:r>
            <a:endParaRPr lang="en-US" sz="660" dirty="0"/>
          </a:p>
        </p:txBody>
      </p:sp>
      <p:sp>
        <p:nvSpPr>
          <p:cNvPr id="100" name="Text 98"/>
          <p:cNvSpPr/>
          <p:nvPr/>
        </p:nvSpPr>
        <p:spPr>
          <a:xfrm>
            <a:off x="6278270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Egress Sanitization &amp; FinOps Chargeback</a:t>
            </a:r>
            <a:endParaRPr lang="en-US" sz="820" dirty="0"/>
          </a:p>
        </p:txBody>
      </p:sp>
      <p:sp>
        <p:nvSpPr>
          <p:cNvPr id="101" name="Text 99"/>
          <p:cNvSpPr/>
          <p:nvPr/>
        </p:nvSpPr>
        <p:spPr>
          <a:xfrm>
            <a:off x="6278270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 scans the final completion on egress to redact any residual sensitive identifiers before returning the response and streaming OpenTelemetry token usage spans into BigQuery for tenant chargeback.</a:t>
            </a:r>
            <a:endParaRPr lang="en-US" sz="740" dirty="0"/>
          </a:p>
        </p:txBody>
      </p:sp>
      <p:sp>
        <p:nvSpPr>
          <p:cNvPr id="102" name="Shape 100"/>
          <p:cNvSpPr/>
          <p:nvPr/>
        </p:nvSpPr>
        <p:spPr>
          <a:xfrm>
            <a:off x="6278270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103" name="Text 101"/>
          <p:cNvSpPr/>
          <p:nvPr/>
        </p:nvSpPr>
        <p:spPr>
          <a:xfrm>
            <a:off x="6314846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Egress SDP Redaction • Security Command Center • BigQuery OTel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9106510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0FDF4"/>
          </a:solidFill>
          <a:ln w="15875">
            <a:solidFill>
              <a:srgbClr val="34A853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106510" y="3959352"/>
            <a:ext cx="2791663" cy="50292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216238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 w="7620">
            <a:solidFill>
              <a:srgbClr val="CEEAD6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216238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9874606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&amp; Business Outcome</a:t>
            </a:r>
            <a:endParaRPr lang="en-US" sz="660" dirty="0"/>
          </a:p>
        </p:txBody>
      </p:sp>
      <p:sp>
        <p:nvSpPr>
          <p:cNvPr id="109" name="Text 107"/>
          <p:cNvSpPr/>
          <p:nvPr/>
        </p:nvSpPr>
        <p:spPr>
          <a:xfrm>
            <a:off x="9216238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Hub-and-Spoke Control Plane Across Three Tenant Isolation Tiers</a:t>
            </a:r>
            <a:endParaRPr lang="en-US" sz="820" dirty="0"/>
          </a:p>
        </p:txBody>
      </p:sp>
      <p:sp>
        <p:nvSpPr>
          <p:cNvPr id="110" name="Text 108"/>
          <p:cNvSpPr/>
          <p:nvPr/>
        </p:nvSpPr>
        <p:spPr>
          <a:xfrm>
            <a:off x="9216238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teams maintain a single ADK 2.0 and Vertex AI Agent Engine codebase while delivering $42/mo Pooled (Pattern A), $680/mo Hybrid PSC (Pattern C), and $1,850/mo Sovereign Silo (Pattern B) isolation tiers with zero cross-tenant data bleed.</a:t>
            </a:r>
            <a:endParaRPr lang="en-US" sz="740" dirty="0"/>
          </a:p>
        </p:txBody>
      </p:sp>
      <p:sp>
        <p:nvSpPr>
          <p:cNvPr id="111" name="Shape 109"/>
          <p:cNvSpPr/>
          <p:nvPr/>
        </p:nvSpPr>
        <p:spPr>
          <a:xfrm>
            <a:off x="9216238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6F4EA"/>
          </a:solidFill>
          <a:ln/>
        </p:spPr>
      </p:sp>
      <p:sp>
        <p:nvSpPr>
          <p:cNvPr id="112" name="Text 110"/>
          <p:cNvSpPr/>
          <p:nvPr/>
        </p:nvSpPr>
        <p:spPr>
          <a:xfrm>
            <a:off x="9252814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PATTERNS A, B &amp; C TAXONOMY</a:t>
            </a:r>
            <a:endParaRPr lang="en-US" sz="660" dirty="0"/>
          </a:p>
        </p:txBody>
      </p:sp>
      <p:sp>
        <p:nvSpPr>
          <p:cNvPr id="113" name="Text 1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Step-by-Step Logical Flow  •  Next Slide: Protocol, Code &amp; SLA Technical Flow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Vertex AI Agent Engine Multi-Tenant Taxonomy: Pooled (A), Sovereign Silos (B) &amp; Hybrid (C) • Step-by-Step Technical Flow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FLOW • GOOGLE CLOUD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292608" y="585216"/>
            <a:ext cx="11606479" cy="475488"/>
          </a:xfrm>
          <a:prstGeom prst="roundRect">
            <a:avLst>
              <a:gd name="adj" fmla="val 11538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676656"/>
            <a:ext cx="1965960" cy="292608"/>
          </a:xfrm>
          <a:prstGeom prst="roundRect">
            <a:avLst>
              <a:gd name="adj" fmla="val 12500"/>
            </a:avLst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402336" y="676656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PATTERNS A, B &amp; C TAXONOMY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2468880" y="621792"/>
            <a:ext cx="9320479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Stack: External Application Load Balancer • Cloud Armor • Identity-Aware Proxy (IAP) • Cloud Run • Vertex AI Agent Engine (ADK 2.0) • Model Armor • AlloyDB &amp; BigQuery
</a:t>
            </a:r>
            <a:pPr indent="0" marL="0">
              <a:buNone/>
            </a:pPr>
            <a:r>
              <a:rPr lang="en-US" sz="71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Summary: Unifies a shared Routing Hub and Central Governance Hub (80% reusable control plane) to route requests into Pattern A (Pooled Runtime + RLS), Pattern B (Per-Tenant Project + VPC-SC + CMEK), or Pattern C (Hybrid PSC Spokes).</a:t>
            </a:r>
            <a:endParaRPr lang="en-US" sz="73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1115568"/>
          <a:ext cx="11606479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2103120"/>
                <a:gridCol w="3840480"/>
                <a:gridCol w="1965960"/>
                <a:gridCol w="218815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&amp; Hop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Cloud Service (Zone)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 &amp; Architectural Mechanism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Code Resource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 Outcome &amp; SLA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① — Edge WAF &amp; Callout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ALB, Cloud Armor &amp; Model Armor (Blue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Terminates HTTPS at Google’s global edge, strips untrusted `x-tenant-id` headers, and invokes Model Armor via ALB Service Extensions to screen prompts before compute.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Header Sanitization &amp; Edge Prompt Screening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Spoofed tenant headers and prompt injections are rejected at the edge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② — OIDC &amp; OBO Token Exchange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Identity-Aware Proxy &amp; Cloud KMS (Blue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Verifies Google Workspace OIDC or Microsoft Entra ID JWTs and performs RFC 8693 On-Behalf-Of (OBO) exchange bound to an RFC 9449 DPoP thumbprint signed by Cloud KMS.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KMS-Signed CryptographicContext (`adk-agent-signing-key`)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Downstream services verify cryptographic tenant identity mathematically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③ — Tier Router &amp; PAB Enforcement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Run Router &amp; IAM PAB (Blue &amp; Green Zones)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Queries the tenant routing table and binds an IAM Principal Access Boundary (PAB) policy scoping the execution principal strictly to Pattern A, Pattern B, or Pattern C.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Deterministic Topology Dispatch &amp; IAM PAB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 of agentic platform code is reused unchanged across all 3 tiers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④ — Tenant Guardrail Policy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Vertex AI Model Armor &amp; SDP (Yellow &amp; Red Zones)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Evaluates tenant-specific Model Armor templates and Semantic Natural Language Constraints (NLCs), blocking regulatory bypass prompts with HTTP 422.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Tenant-Scoped Model Armor &amp; SDP Templates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Adversarial jailbreaks and policy violations are blocked pre-inference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⑤ — Sandboxed Agent &amp; Cache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Vertex AI Agent Engine &amp; Gemini 2.5 Pro (Yellow &amp; Red Zones)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Executes ADK 2.0 agents in gVisor sandboxes with shared `ContextCacheConfig` (90% prefix discount), Memorystore for Valkey RPM bulkheads, and `{tenant}:{user}:{session}` memory.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5-Level Memory Bank &amp; Shared Context Cache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84.7% lower token COGS with zero cross-tenant memory contamination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⑥ — Multi-Tier Data Perimeter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AlloyDB RLS, BigQuery CMEK &amp; PSC (Red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Enforces `SET LOCAL app.current_tenant` Row-Level Security in Pattern A, per-project VPC-SC + Cloud HSM CMEK in Pattern B, and unidirectional PSC endpoints in Pattern C.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RLS Policy, CMEK Vault &amp; PSC ServiceAttachment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Tenants can only retrieve records authorized for their verified identity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⑦ — Egress DLP &amp; Response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Sensitive Data Protection &amp; Cloud Run (Blue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Applies outbound Sensitive Data Protection (SDP) infoType detectors (IBAN/SWIFT for FinVault, PCI PAN for RetailStream) before delivering the JSON completion.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Outbound InfoType Redaction Pipeline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 unredacted PII/PCI identifiers leave the tenant perimeter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&amp; Audit — SCC &amp; FinOps Telemetry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Command Center &amp; BigQuery OTel (Green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Streams zero-PII OpenTelemetry spans (`tenant_id`, `tier`, `thinking_tokens`, `cache_hit`) into BigQuery for proportional chargeback and Security Command Center audit.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OTel Chargeback (`cymbal_agentic_finops_otel`)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Real-time per-tenant COGS attribution and continuous CISO compliance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292608" y="5943600"/>
            <a:ext cx="3770986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2608" y="5943600"/>
            <a:ext cx="73152" cy="58521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4" name="Text 21"/>
          <p:cNvSpPr/>
          <p:nvPr/>
        </p:nvSpPr>
        <p:spPr>
          <a:xfrm>
            <a:off x="42062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 1: Security &amp; Compliance</a:t>
            </a:r>
            <a:endParaRPr lang="en-US" sz="740" dirty="0"/>
          </a:p>
        </p:txBody>
      </p:sp>
      <p:sp>
        <p:nvSpPr>
          <p:cNvPr id="25" name="Text 22"/>
          <p:cNvSpPr/>
          <p:nvPr/>
        </p:nvSpPr>
        <p:spPr>
          <a:xfrm>
            <a:off x="42062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RFC 8693 OBO + DPoP, Hop 2 ARD filter, Model Armor &amp; CMEK (ramp-portal-dev (#248990048888) &amp; nitina-ggarwal-sandbox-647724 (#887605034827)).</a:t>
            </a:r>
            <a:endParaRPr lang="en-US" sz="680" dirty="0"/>
          </a:p>
        </p:txBody>
      </p:sp>
      <p:sp>
        <p:nvSpPr>
          <p:cNvPr id="26" name="Shape 23"/>
          <p:cNvSpPr/>
          <p:nvPr/>
        </p:nvSpPr>
        <p:spPr>
          <a:xfrm>
            <a:off x="4209898" y="5943600"/>
            <a:ext cx="3770986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209898" y="5943600"/>
            <a:ext cx="73152" cy="585216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28" name="Text 25"/>
          <p:cNvSpPr/>
          <p:nvPr/>
        </p:nvSpPr>
        <p:spPr>
          <a:xfrm>
            <a:off x="433791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 2: Reliability &amp; Isolation</a:t>
            </a:r>
            <a:endParaRPr lang="en-US" sz="740" dirty="0"/>
          </a:p>
        </p:txBody>
      </p:sp>
      <p:sp>
        <p:nvSpPr>
          <p:cNvPr id="29" name="Text 26"/>
          <p:cNvSpPr/>
          <p:nvPr/>
        </p:nvSpPr>
        <p:spPr>
          <a:xfrm>
            <a:off x="433791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Valkey RPM bulkheads, thinking budget caps (4k/8k) &amp; fail-closed HTTP 401/403/422/423/429 gates.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8127187" y="5943600"/>
            <a:ext cx="3770986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127187" y="5943600"/>
            <a:ext cx="73152" cy="58521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2" name="Text 29"/>
          <p:cNvSpPr/>
          <p:nvPr/>
        </p:nvSpPr>
        <p:spPr>
          <a:xfrm>
            <a:off x="8255203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 3: Cost Optimization (FinOps)</a:t>
            </a:r>
            <a:endParaRPr lang="en-US" sz="740" dirty="0"/>
          </a:p>
        </p:txBody>
      </p:sp>
      <p:sp>
        <p:nvSpPr>
          <p:cNvPr id="33" name="Text 30"/>
          <p:cNvSpPr/>
          <p:nvPr/>
        </p:nvSpPr>
        <p:spPr>
          <a:xfrm>
            <a:off x="8255203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Captures 90% Gemini 2.5 Pro prefix cache discount and streams zero-PII OTel spans to BigQuery chargeback.</a:t>
            </a:r>
            <a:endParaRPr lang="en-US" sz="680" dirty="0"/>
          </a:p>
        </p:txBody>
      </p:sp>
      <p:sp>
        <p:nvSpPr>
          <p:cNvPr id="34" name="Text 3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Step-by-Step Technical Flow  •  100% Editable Native Table &amp; Well-Architected Pillars  •  Verified on Google Cloud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Google Cloud Architecture Center (#78): Multi-Tenant Agentic AI with 5-Hop Governance (100% Native Editable Shapes)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6977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we extend the official Google Cloud Architecture Center multi-tenant hub-and-spoke blueprint with a 5-Hop Cryptographic Context Chain that prevents confused-deputy tool calls, cache bleed, and noisy neighbors?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AECBFA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Hops 1 &amp; 2: Edge PEP &amp; Catalog PDP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Strips forged headers, verifies OIDC + DPoP identity at Hop 1, and prunes unauthorized agents and MCP tools at Hop 2.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137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CEEAD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Central KMS Signing &amp; OTel Governance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Signs non-replayable tenant context tokens via Cloud KMS, brokers 2LO/3LO OAuth tokens, and records BigQuery FinOps audit trails.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B06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B06000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FEEFC3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Hops 3 &amp; 4: Sandbox, Memory &amp; Model Armor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gVisor sandbox isolation, 5-Level Memory Bank namespaces, thinking budgets, and Model Armor semantic guardrails.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C5221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FAD2CF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Hop 5: Row-Locked Storage &amp; Scoped MCP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verified tenant IDs to AlloyDB/BigQuery Row-Level Security transactions and executes tenant-scoped 2LO/3LO MCP tools.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Extends the canonical Google Cloud Architecture Center hub-and-spoke diagram with 5 mandatory cryptographic tenant isolation hops.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1 (Hops 1 &amp; 2): Cloud Armor, IAP OBO/DPoP, and Agent Engine Registry authenticate callers and filter the tool catalog before model invocation.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2 (Hop 5 FinOps &amp; Security): 2LO/3LO Auth Broker, Security Command Center, and BigQuery OTel govern external credentials and per-tenant token attribution.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3 (FinVault Enterprise Workload): Executes with an 8,000-token thinking budget, OCC semantic NLCs, IBAN/SWIFT SDP masking, and Google Workspace/Jira 3LO.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3889"/>
            </a:avLst>
          </a:prstGeom>
          <a:solidFill>
            <a:srgbClr val="E6F4EA"/>
          </a:solidFill>
          <a:ln w="10795">
            <a:solidFill>
              <a:srgbClr val="CEEAD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56 Editable Shapes • 23 Connectors • GCP: nitina-ggarwal-sandbox-647724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hubs (VPC Service Controls Organization Perimeter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Alpha)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Beta)</a:t>
            </a:r>
            <a:endParaRPr lang="en-US" sz="44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(FinVault Bank)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Enterprise Tier (Google OIDC)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(RetailStream Corp)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Standard Tier (Entra ID)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 &amp; cryptographic token exchange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security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OIDC / Entra JWT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Threat Detection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cymbal_agentic_finops_otel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Manager (2LO / 3LO)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+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Workspace &amp; Jira 3LO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BQ RLS, AlloyDB &amp; CMEK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Diagnostic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SharePoint &amp; SNOW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BQ RLS, AlloyDB &amp; Valkey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Bank SDP &amp; FINRA Filter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&amp; Claude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Engine (8k Budget)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PCI PAN SDP &amp; Filter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Engine (4k Cap)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Strips Forged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Injection Gate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 + KMS ECDSA Sign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2190"/>
            <a:ext cx="760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and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observability • monitoring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tenant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request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tenant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674620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VIS-WS1-CLOUD-ARCH-CENTER-5HOP-BASELINE (diagrams/ws1-cloud-arch-center-5hop-baseline.drawio)  •  100% Native Editable Shapes + 4-Zone Architecture Center Guide  •  Next: Step-by-Step Logical Flow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Google Cloud Architecture Center (#78): Multi-Tenant Agentic AI with 5-Hop Governance • Step-by-Step Logical Flow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FLOW • STEPS ①–⑦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292608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74EA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2608" y="603504"/>
            <a:ext cx="82296" cy="6217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0624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AECBFA"/>
          </a:solidFill>
          <a:ln/>
        </p:spPr>
      </p:sp>
      <p:sp>
        <p:nvSpPr>
          <p:cNvPr id="20" name="Text 18"/>
          <p:cNvSpPr/>
          <p:nvPr/>
        </p:nvSpPr>
        <p:spPr>
          <a:xfrm>
            <a:off x="420624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1307592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Hops 1 &amp; 2: Edge PEP &amp; Catalog PDP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420624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Strips forged headers, verifies OIDC + DPoP identity at Hop 1, and prunes unauthorized agents and MCP tools at Hop 2.</a:t>
            </a:r>
            <a:endParaRPr lang="en-US" sz="670" dirty="0"/>
          </a:p>
        </p:txBody>
      </p:sp>
      <p:sp>
        <p:nvSpPr>
          <p:cNvPr id="23" name="Shape 21"/>
          <p:cNvSpPr/>
          <p:nvPr/>
        </p:nvSpPr>
        <p:spPr>
          <a:xfrm>
            <a:off x="3230575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30575" y="603504"/>
            <a:ext cx="82296" cy="621792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25" name="Shape 23"/>
          <p:cNvSpPr/>
          <p:nvPr/>
        </p:nvSpPr>
        <p:spPr>
          <a:xfrm>
            <a:off x="3358591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CEEAD6"/>
          </a:solidFill>
          <a:ln/>
        </p:spPr>
      </p:sp>
      <p:sp>
        <p:nvSpPr>
          <p:cNvPr id="26" name="Text 24"/>
          <p:cNvSpPr/>
          <p:nvPr/>
        </p:nvSpPr>
        <p:spPr>
          <a:xfrm>
            <a:off x="3358591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</a:t>
            </a:r>
            <a:endParaRPr lang="en-US" sz="630" dirty="0"/>
          </a:p>
        </p:txBody>
      </p:sp>
      <p:sp>
        <p:nvSpPr>
          <p:cNvPr id="27" name="Text 25"/>
          <p:cNvSpPr/>
          <p:nvPr/>
        </p:nvSpPr>
        <p:spPr>
          <a:xfrm>
            <a:off x="4245559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Central KMS Signing &amp; OTel Governance</a:t>
            </a:r>
            <a:endParaRPr lang="en-US" sz="740" dirty="0"/>
          </a:p>
        </p:txBody>
      </p:sp>
      <p:sp>
        <p:nvSpPr>
          <p:cNvPr id="28" name="Text 26"/>
          <p:cNvSpPr/>
          <p:nvPr/>
        </p:nvSpPr>
        <p:spPr>
          <a:xfrm>
            <a:off x="3358591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Signs non-replayable tenant context tokens via Cloud KMS, brokers 2LO/3LO OAuth tokens, and records BigQuery FinOps audit trails.</a:t>
            </a:r>
            <a:endParaRPr lang="en-US" sz="670" dirty="0"/>
          </a:p>
        </p:txBody>
      </p:sp>
      <p:sp>
        <p:nvSpPr>
          <p:cNvPr id="29" name="Shape 27"/>
          <p:cNvSpPr/>
          <p:nvPr/>
        </p:nvSpPr>
        <p:spPr>
          <a:xfrm>
            <a:off x="6168542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68542" y="603504"/>
            <a:ext cx="82296" cy="621792"/>
          </a:xfrm>
          <a:prstGeom prst="rect">
            <a:avLst/>
          </a:prstGeom>
          <a:solidFill>
            <a:srgbClr val="B06000"/>
          </a:solidFill>
          <a:ln/>
        </p:spPr>
      </p:sp>
      <p:sp>
        <p:nvSpPr>
          <p:cNvPr id="31" name="Shape 29"/>
          <p:cNvSpPr/>
          <p:nvPr/>
        </p:nvSpPr>
        <p:spPr>
          <a:xfrm>
            <a:off x="6296558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EEFC3"/>
          </a:solidFill>
          <a:ln/>
        </p:spPr>
      </p:sp>
      <p:sp>
        <p:nvSpPr>
          <p:cNvPr id="32" name="Text 30"/>
          <p:cNvSpPr/>
          <p:nvPr/>
        </p:nvSpPr>
        <p:spPr>
          <a:xfrm>
            <a:off x="6296558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7183526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Hops 3 &amp; 4: Sandbox, Memory &amp; Model Armor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6296558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gVisor sandbox isolation, 5-Level Memory Bank namespaces, thinking budgets, and Model Armor semantic guardrails.</a:t>
            </a:r>
            <a:endParaRPr lang="en-US" sz="670" dirty="0"/>
          </a:p>
        </p:txBody>
      </p:sp>
      <p:sp>
        <p:nvSpPr>
          <p:cNvPr id="35" name="Shape 33"/>
          <p:cNvSpPr/>
          <p:nvPr/>
        </p:nvSpPr>
        <p:spPr>
          <a:xfrm>
            <a:off x="9106510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C522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06510" y="603504"/>
            <a:ext cx="82296" cy="621792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37" name="Shape 35"/>
          <p:cNvSpPr/>
          <p:nvPr/>
        </p:nvSpPr>
        <p:spPr>
          <a:xfrm>
            <a:off x="9234526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AD2CF"/>
          </a:solidFill>
          <a:ln/>
        </p:spPr>
      </p:sp>
      <p:sp>
        <p:nvSpPr>
          <p:cNvPr id="38" name="Text 36"/>
          <p:cNvSpPr/>
          <p:nvPr/>
        </p:nvSpPr>
        <p:spPr>
          <a:xfrm>
            <a:off x="9234526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</a:t>
            </a:r>
            <a:endParaRPr lang="en-US" sz="630" dirty="0"/>
          </a:p>
        </p:txBody>
      </p:sp>
      <p:sp>
        <p:nvSpPr>
          <p:cNvPr id="39" name="Text 37"/>
          <p:cNvSpPr/>
          <p:nvPr/>
        </p:nvSpPr>
        <p:spPr>
          <a:xfrm>
            <a:off x="10121494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Hop 5: Row-Locked Storage &amp; Scoped MCP</a:t>
            </a:r>
            <a:endParaRPr lang="en-US" sz="740" dirty="0"/>
          </a:p>
        </p:txBody>
      </p:sp>
      <p:sp>
        <p:nvSpPr>
          <p:cNvPr id="40" name="Text 38"/>
          <p:cNvSpPr/>
          <p:nvPr/>
        </p:nvSpPr>
        <p:spPr>
          <a:xfrm>
            <a:off x="9234526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verified tenant IDs to AlloyDB/BigQuery Row-Level Security transactions and executes tenant-scoped 2LO/3LO MCP tools.</a:t>
            </a:r>
            <a:endParaRPr lang="en-US" sz="670" dirty="0"/>
          </a:p>
        </p:txBody>
      </p:sp>
      <p:sp>
        <p:nvSpPr>
          <p:cNvPr id="41" name="Shape 39"/>
          <p:cNvSpPr/>
          <p:nvPr/>
        </p:nvSpPr>
        <p:spPr>
          <a:xfrm>
            <a:off x="292608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2608" y="1316736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43" name="Shape 41"/>
          <p:cNvSpPr/>
          <p:nvPr/>
        </p:nvSpPr>
        <p:spPr>
          <a:xfrm>
            <a:off x="402336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①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060704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→ Blue Zone (Hop 1 PEP)</a:t>
            </a:r>
            <a:endParaRPr lang="en-US" sz="660" dirty="0"/>
          </a:p>
        </p:txBody>
      </p:sp>
      <p:sp>
        <p:nvSpPr>
          <p:cNvPr id="46" name="Text 44"/>
          <p:cNvSpPr/>
          <p:nvPr/>
        </p:nvSpPr>
        <p:spPr>
          <a:xfrm>
            <a:off x="402336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Sanitization &amp; OIDC/DPoP Verification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402336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terminates the client request at Cloud Armor and IAP, strips any client-supplied `x-tenant-id` headers, and validates the caller’s Google Workspace or Microsoft Entra ID JWT and DPoP proof.</a:t>
            </a:r>
            <a:endParaRPr lang="en-US" sz="740" dirty="0"/>
          </a:p>
        </p:txBody>
      </p:sp>
      <p:sp>
        <p:nvSpPr>
          <p:cNvPr id="48" name="Shape 46"/>
          <p:cNvSpPr/>
          <p:nvPr/>
        </p:nvSpPr>
        <p:spPr>
          <a:xfrm>
            <a:off x="402336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49" name="Text 47"/>
          <p:cNvSpPr/>
          <p:nvPr/>
        </p:nvSpPr>
        <p:spPr>
          <a:xfrm>
            <a:off x="438912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(`hop1_edge_identity_pep.py`) • Cloud Armor &amp; IAP</a:t>
            </a:r>
            <a:endParaRPr lang="en-US" sz="660" dirty="0"/>
          </a:p>
        </p:txBody>
      </p:sp>
      <p:sp>
        <p:nvSpPr>
          <p:cNvPr id="50" name="Shape 48"/>
          <p:cNvSpPr/>
          <p:nvPr/>
        </p:nvSpPr>
        <p:spPr>
          <a:xfrm>
            <a:off x="3230575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230575" y="1316736"/>
            <a:ext cx="2791663" cy="502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52" name="Shape 50"/>
          <p:cNvSpPr/>
          <p:nvPr/>
        </p:nvSpPr>
        <p:spPr>
          <a:xfrm>
            <a:off x="3340303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40303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②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3998671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&amp; Green Zones (Hop 1 → Hop 2)</a:t>
            </a:r>
            <a:endParaRPr lang="en-US" sz="660" dirty="0"/>
          </a:p>
        </p:txBody>
      </p:sp>
      <p:sp>
        <p:nvSpPr>
          <p:cNvPr id="55" name="Text 53"/>
          <p:cNvSpPr/>
          <p:nvPr/>
        </p:nvSpPr>
        <p:spPr>
          <a:xfrm>
            <a:off x="3340303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Context Minting &amp; Catalog PDP Pruning</a:t>
            </a:r>
            <a:endParaRPr lang="en-US" sz="820" dirty="0"/>
          </a:p>
        </p:txBody>
      </p:sp>
      <p:sp>
        <p:nvSpPr>
          <p:cNvPr id="56" name="Text 54"/>
          <p:cNvSpPr/>
          <p:nvPr/>
        </p:nvSpPr>
        <p:spPr>
          <a:xfrm>
            <a:off x="3340303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signs an immutable `CryptographicContext`. Hop 2 queries the Agent Registry PDP and runs ADK `before_agent_callback` to prune any private agent or MCP tool not owned by the active tenant.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3340303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58" name="Text 56"/>
          <p:cNvSpPr/>
          <p:nvPr/>
        </p:nvSpPr>
        <p:spPr>
          <a:xfrm>
            <a:off x="3376879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 (`hop2_registry_pdp_callbacks.py`) • Cloud KMS</a:t>
            </a:r>
            <a:endParaRPr lang="en-US" sz="660" dirty="0"/>
          </a:p>
        </p:txBody>
      </p:sp>
      <p:sp>
        <p:nvSpPr>
          <p:cNvPr id="59" name="Shape 57"/>
          <p:cNvSpPr/>
          <p:nvPr/>
        </p:nvSpPr>
        <p:spPr>
          <a:xfrm>
            <a:off x="6168542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68542" y="1316736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61" name="Shape 59"/>
          <p:cNvSpPr/>
          <p:nvPr/>
        </p:nvSpPr>
        <p:spPr>
          <a:xfrm>
            <a:off x="6278270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78270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③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6936638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→ Yellow Zone (Hop 3 Sandbox)</a:t>
            </a:r>
            <a:endParaRPr lang="en-US" sz="660" dirty="0"/>
          </a:p>
        </p:txBody>
      </p:sp>
      <p:sp>
        <p:nvSpPr>
          <p:cNvPr id="64" name="Text 62"/>
          <p:cNvSpPr/>
          <p:nvPr/>
        </p:nvSpPr>
        <p:spPr>
          <a:xfrm>
            <a:off x="6278270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Sandbox, Rate Bulkhead &amp; Skill Validation</a:t>
            </a:r>
            <a:endParaRPr lang="en-US" sz="820" dirty="0"/>
          </a:p>
        </p:txBody>
      </p:sp>
      <p:sp>
        <p:nvSpPr>
          <p:cNvPr id="65" name="Text 63"/>
          <p:cNvSpPr/>
          <p:nvPr/>
        </p:nvSpPr>
        <p:spPr>
          <a:xfrm>
            <a:off x="6278270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binds `temp:tenant_id` inside the Vertex AI Agent Engine gVisor sandbox, checks Memorystore for Valkey RPM quotas (`600` vs `120` RPM), and validates GCS Skill URIs (`gs://cymbal-skills-{tenant}/`).</a:t>
            </a:r>
            <a:endParaRPr lang="en-US" sz="740" dirty="0"/>
          </a:p>
        </p:txBody>
      </p:sp>
      <p:sp>
        <p:nvSpPr>
          <p:cNvPr id="66" name="Shape 64"/>
          <p:cNvSpPr/>
          <p:nvPr/>
        </p:nvSpPr>
        <p:spPr>
          <a:xfrm>
            <a:off x="6278270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67" name="Text 65"/>
          <p:cNvSpPr/>
          <p:nvPr/>
        </p:nvSpPr>
        <p:spPr>
          <a:xfrm>
            <a:off x="6314846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(`hop3_compute_finops_bulkhead.py`) • Memorystore</a:t>
            </a:r>
            <a:endParaRPr lang="en-US" sz="660" dirty="0"/>
          </a:p>
        </p:txBody>
      </p:sp>
      <p:sp>
        <p:nvSpPr>
          <p:cNvPr id="68" name="Shape 66"/>
          <p:cNvSpPr/>
          <p:nvPr/>
        </p:nvSpPr>
        <p:spPr>
          <a:xfrm>
            <a:off x="9106510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106510" y="1316736"/>
            <a:ext cx="2791663" cy="502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70" name="Shape 68"/>
          <p:cNvSpPr/>
          <p:nvPr/>
        </p:nvSpPr>
        <p:spPr>
          <a:xfrm>
            <a:off x="9216238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216238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④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74606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 (Hop 4 Ingress)</a:t>
            </a:r>
            <a:endParaRPr lang="en-US" sz="660" dirty="0"/>
          </a:p>
        </p:txBody>
      </p:sp>
      <p:sp>
        <p:nvSpPr>
          <p:cNvPr id="73" name="Text 71"/>
          <p:cNvSpPr/>
          <p:nvPr/>
        </p:nvSpPr>
        <p:spPr>
          <a:xfrm>
            <a:off x="9216238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 &amp; Semantic Constraint Screening</a:t>
            </a:r>
            <a:endParaRPr lang="en-US" sz="820" dirty="0"/>
          </a:p>
        </p:txBody>
      </p:sp>
      <p:sp>
        <p:nvSpPr>
          <p:cNvPr id="74" name="Text 72"/>
          <p:cNvSpPr/>
          <p:nvPr/>
        </p:nvSpPr>
        <p:spPr>
          <a:xfrm>
            <a:off x="9216238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 screens the prompt through Vertex AI Model Armor for prompt injection and evaluates tenant-specific Semantic Natural Language Constraints (NLCs), returning `HTTP 422` on compliance violations.</a:t>
            </a:r>
            <a:endParaRPr lang="en-US" sz="740" dirty="0"/>
          </a:p>
        </p:txBody>
      </p:sp>
      <p:sp>
        <p:nvSpPr>
          <p:cNvPr id="75" name="Shape 73"/>
          <p:cNvSpPr/>
          <p:nvPr/>
        </p:nvSpPr>
        <p:spPr>
          <a:xfrm>
            <a:off x="9216238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76" name="Text 74"/>
          <p:cNvSpPr/>
          <p:nvPr/>
        </p:nvSpPr>
        <p:spPr>
          <a:xfrm>
            <a:off x="9252814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 (`hop4_model_armor_guardrails.py`) • Model Armor</a:t>
            </a:r>
            <a:endParaRPr lang="en-US" sz="660" dirty="0"/>
          </a:p>
        </p:txBody>
      </p:sp>
      <p:sp>
        <p:nvSpPr>
          <p:cNvPr id="77" name="Shape 75"/>
          <p:cNvSpPr/>
          <p:nvPr/>
        </p:nvSpPr>
        <p:spPr>
          <a:xfrm>
            <a:off x="292608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92608" y="3959352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79" name="Shape 77"/>
          <p:cNvSpPr/>
          <p:nvPr/>
        </p:nvSpPr>
        <p:spPr>
          <a:xfrm>
            <a:off x="402336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02336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⑤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1060704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 (Hop 3 &amp; 4 Runtime)</a:t>
            </a:r>
            <a:endParaRPr lang="en-US" sz="660" dirty="0"/>
          </a:p>
        </p:txBody>
      </p:sp>
      <p:sp>
        <p:nvSpPr>
          <p:cNvPr id="82" name="Text 80"/>
          <p:cNvSpPr/>
          <p:nvPr/>
        </p:nvSpPr>
        <p:spPr>
          <a:xfrm>
            <a:off x="402336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Partitioned Memory Bank &amp; Budget-Capped Inference</a:t>
            </a:r>
            <a:endParaRPr lang="en-US" sz="820" dirty="0"/>
          </a:p>
        </p:txBody>
      </p:sp>
      <p:sp>
        <p:nvSpPr>
          <p:cNvPr id="83" name="Text 81"/>
          <p:cNvSpPr/>
          <p:nvPr/>
        </p:nvSpPr>
        <p:spPr>
          <a:xfrm>
            <a:off x="402336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executes with the tenant’s thinking budget (`8,000` FinVault vs `4,000` RetailStream), reading shared system instructions from `ContextCacheConfig` and session state from `{tenant}:{user}:{session}`.</a:t>
            </a:r>
            <a:endParaRPr lang="en-US" sz="740" dirty="0"/>
          </a:p>
        </p:txBody>
      </p:sp>
      <p:sp>
        <p:nvSpPr>
          <p:cNvPr id="84" name="Shape 82"/>
          <p:cNvSpPr/>
          <p:nvPr/>
        </p:nvSpPr>
        <p:spPr>
          <a:xfrm>
            <a:off x="402336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85" name="Text 83"/>
          <p:cNvSpPr/>
          <p:nvPr/>
        </p:nvSpPr>
        <p:spPr>
          <a:xfrm>
            <a:off x="438912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5-Level Memory Bank (`L1..L5`) • Gemini 2.5 Pro</a:t>
            </a:r>
            <a:endParaRPr lang="en-US" sz="660" dirty="0"/>
          </a:p>
        </p:txBody>
      </p:sp>
      <p:sp>
        <p:nvSpPr>
          <p:cNvPr id="86" name="Shape 84"/>
          <p:cNvSpPr/>
          <p:nvPr/>
        </p:nvSpPr>
        <p:spPr>
          <a:xfrm>
            <a:off x="3230575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230575" y="3959352"/>
            <a:ext cx="2791663" cy="502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88" name="Shape 86"/>
          <p:cNvSpPr/>
          <p:nvPr/>
        </p:nvSpPr>
        <p:spPr>
          <a:xfrm>
            <a:off x="3340303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340303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⑥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3998671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&amp; Red Zones (Hop 5 Data Plane)</a:t>
            </a:r>
            <a:endParaRPr lang="en-US" sz="660" dirty="0"/>
          </a:p>
        </p:txBody>
      </p:sp>
      <p:sp>
        <p:nvSpPr>
          <p:cNvPr id="91" name="Text 89"/>
          <p:cNvSpPr/>
          <p:nvPr/>
        </p:nvSpPr>
        <p:spPr>
          <a:xfrm>
            <a:off x="3340303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Row-Level Security &amp; 2LO/3LO MCP</a:t>
            </a:r>
            <a:endParaRPr lang="en-US" sz="820" dirty="0"/>
          </a:p>
        </p:txBody>
      </p:sp>
      <p:sp>
        <p:nvSpPr>
          <p:cNvPr id="92" name="Text 90"/>
          <p:cNvSpPr/>
          <p:nvPr/>
        </p:nvSpPr>
        <p:spPr>
          <a:xfrm>
            <a:off x="3340303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 executes `SET LOCAL app.current_tenant` on AlloyDB/BigQuery so Row-Level Security restricts rows at the storage engine, and brokers 2LO/3LO OAuth tokens for Jira, Workspace, or ServiceNow MCP calls.</a:t>
            </a:r>
            <a:endParaRPr lang="en-US" sz="740" dirty="0"/>
          </a:p>
        </p:txBody>
      </p:sp>
      <p:sp>
        <p:nvSpPr>
          <p:cNvPr id="93" name="Shape 91"/>
          <p:cNvSpPr/>
          <p:nvPr/>
        </p:nvSpPr>
        <p:spPr>
          <a:xfrm>
            <a:off x="3340303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94" name="Text 92"/>
          <p:cNvSpPr/>
          <p:nvPr/>
        </p:nvSpPr>
        <p:spPr>
          <a:xfrm>
            <a:off x="3376879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 (`hop5_data_rls_and_otel.py`) • AlloyDB RLS &amp; MCP Hub</a:t>
            </a:r>
            <a:endParaRPr lang="en-US" sz="660" dirty="0"/>
          </a:p>
        </p:txBody>
      </p:sp>
      <p:sp>
        <p:nvSpPr>
          <p:cNvPr id="95" name="Shape 93"/>
          <p:cNvSpPr/>
          <p:nvPr/>
        </p:nvSpPr>
        <p:spPr>
          <a:xfrm>
            <a:off x="6168542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168542" y="3959352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97" name="Shape 95"/>
          <p:cNvSpPr/>
          <p:nvPr/>
        </p:nvSpPr>
        <p:spPr>
          <a:xfrm>
            <a:off x="6278270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278270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⑦</a:t>
            </a:r>
            <a:endParaRPr lang="en-US" sz="750" dirty="0"/>
          </a:p>
        </p:txBody>
      </p:sp>
      <p:sp>
        <p:nvSpPr>
          <p:cNvPr id="99" name="Text 97"/>
          <p:cNvSpPr/>
          <p:nvPr/>
        </p:nvSpPr>
        <p:spPr>
          <a:xfrm>
            <a:off x="6936638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→ Blue &amp; Green Zones (Egress)</a:t>
            </a:r>
            <a:endParaRPr lang="en-US" sz="660" dirty="0"/>
          </a:p>
        </p:txBody>
      </p:sp>
      <p:sp>
        <p:nvSpPr>
          <p:cNvPr id="100" name="Text 98"/>
          <p:cNvSpPr/>
          <p:nvPr/>
        </p:nvSpPr>
        <p:spPr>
          <a:xfrm>
            <a:off x="6278270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Egress PII Redaction &amp; OpenTelemetry Audit Sink</a:t>
            </a:r>
            <a:endParaRPr lang="en-US" sz="820" dirty="0"/>
          </a:p>
        </p:txBody>
      </p:sp>
      <p:sp>
        <p:nvSpPr>
          <p:cNvPr id="101" name="Text 99"/>
          <p:cNvSpPr/>
          <p:nvPr/>
        </p:nvSpPr>
        <p:spPr>
          <a:xfrm>
            <a:off x="6278270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Sensitive Data Protection redacts tenant-specific PII/PCI patterns on egress, returns the sanitized completion to the caller, and writes a tamper-evident `HopAuditRecord` and FinOps span to BigQuery.</a:t>
            </a:r>
            <a:endParaRPr lang="en-US" sz="740" dirty="0"/>
          </a:p>
        </p:txBody>
      </p:sp>
      <p:sp>
        <p:nvSpPr>
          <p:cNvPr id="102" name="Shape 100"/>
          <p:cNvSpPr/>
          <p:nvPr/>
        </p:nvSpPr>
        <p:spPr>
          <a:xfrm>
            <a:off x="6278270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103" name="Text 101"/>
          <p:cNvSpPr/>
          <p:nvPr/>
        </p:nvSpPr>
        <p:spPr>
          <a:xfrm>
            <a:off x="6314846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SDP Egress Redaction • BigQuery OTel Audit Sink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9106510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0FDF4"/>
          </a:solidFill>
          <a:ln w="15875">
            <a:solidFill>
              <a:srgbClr val="34A853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106510" y="3959352"/>
            <a:ext cx="2791663" cy="50292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216238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 w="7620">
            <a:solidFill>
              <a:srgbClr val="CEEAD6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216238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9874606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&amp; Business Outcome</a:t>
            </a:r>
            <a:endParaRPr lang="en-US" sz="660" dirty="0"/>
          </a:p>
        </p:txBody>
      </p:sp>
      <p:sp>
        <p:nvSpPr>
          <p:cNvPr id="109" name="Text 107"/>
          <p:cNvSpPr/>
          <p:nvPr/>
        </p:nvSpPr>
        <p:spPr>
          <a:xfrm>
            <a:off x="9216238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Sequential Policy Enforcement Points (Hops 1–5) Eliminate Cross-Tenant Bleed</a:t>
            </a:r>
            <a:endParaRPr lang="en-US" sz="820" dirty="0"/>
          </a:p>
        </p:txBody>
      </p:sp>
      <p:sp>
        <p:nvSpPr>
          <p:cNvPr id="110" name="Text 108"/>
          <p:cNvSpPr/>
          <p:nvPr/>
        </p:nvSpPr>
        <p:spPr>
          <a:xfrm>
            <a:off x="9216238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request traverses five deterministic governance hops—Edge Identity PEP (Hop 1), Catalog PDP (Hop 2), Compute &amp; Memory Bulkhead (Hop 3), Model Armor Guardrails (Hop 4), and Data RLS + OTel (Hop 5)—failing closed immediately on any violation.</a:t>
            </a:r>
            <a:endParaRPr lang="en-US" sz="740" dirty="0"/>
          </a:p>
        </p:txBody>
      </p:sp>
      <p:sp>
        <p:nvSpPr>
          <p:cNvPr id="111" name="Shape 109"/>
          <p:cNvSpPr/>
          <p:nvPr/>
        </p:nvSpPr>
        <p:spPr>
          <a:xfrm>
            <a:off x="9216238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6F4EA"/>
          </a:solidFill>
          <a:ln/>
        </p:spPr>
      </p:sp>
      <p:sp>
        <p:nvSpPr>
          <p:cNvPr id="112" name="Text 110"/>
          <p:cNvSpPr/>
          <p:nvPr/>
        </p:nvSpPr>
        <p:spPr>
          <a:xfrm>
            <a:off x="9252814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CRYPTOGRAPHIC BASELINE</a:t>
            </a:r>
            <a:endParaRPr lang="en-US" sz="660" dirty="0"/>
          </a:p>
        </p:txBody>
      </p:sp>
      <p:sp>
        <p:nvSpPr>
          <p:cNvPr id="113" name="Text 1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Step-by-Step Logical Flow  •  Next Slide: Protocol, Code &amp; SLA Technical Flow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Google Cloud Architecture Center (#78): Multi-Tenant Agentic AI with 5-Hop Governance • Step-by-Step Technical Flow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FLOW • GOOGLE CLOUD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292608" y="585216"/>
            <a:ext cx="11606479" cy="475488"/>
          </a:xfrm>
          <a:prstGeom prst="roundRect">
            <a:avLst>
              <a:gd name="adj" fmla="val 11538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676656"/>
            <a:ext cx="1965960" cy="292608"/>
          </a:xfrm>
          <a:prstGeom prst="roundRect">
            <a:avLst>
              <a:gd name="adj" fmla="val 12500"/>
            </a:avLst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402336" y="676656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CRYPTOGRAPHIC BASELINE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2468880" y="621792"/>
            <a:ext cx="9320479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Stack: Cloud Armor • Identity-Aware Proxy • Cloud KMS • Discovery Engine Agent Catalog • Vertex AI Agent Engine • Model Armor • AlloyDB RLS • BigQuery
</a:t>
            </a:r>
            <a:pPr indent="0" marL="0">
              <a:buNone/>
            </a:pPr>
            <a:r>
              <a:rPr lang="en-US" sz="71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Summary: Enforces 5 sequential cryptographic policy enforcement points (Hops 1–5) from edge ingress to storage so every tool discovery, memory lookup, model call, and SQL query is bound to a KMS-signed tenant context.</a:t>
            </a:r>
            <a:endParaRPr lang="en-US" sz="73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1115568"/>
          <a:ext cx="11606479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2103120"/>
                <a:gridCol w="3840480"/>
                <a:gridCol w="1965960"/>
                <a:gridCol w="218815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&amp; Hop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Cloud Service (Zone)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 &amp; Architectural Mechanism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Code Resource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 Outcome &amp; SLA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① — Hop 1: Edge Identity PEP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Armor, IAP &amp; OIDC Verifier (Blue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Strips forged `x-tenant-id` / `x-gcp-project-override` headers, validates federated OIDC JWTs, and verifies RFC 9449 DPoP sender-constrained token thumbprints (`jkt`).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core-cymbal-agent/governance/hop1_edge_identity_pep.py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Blocks header spoofing and stolen-token replay with HTTP 401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② — Hop 2: Registry PDP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Discovery Engine Catalog &amp; ADK Callbacks (Blue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Filters the Agent Registry by `tenant_id` visibility and enforces ADK `before_agent_callback` / `before_tool_callback` to prune unauthorized private agents and MCP tools.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core-cymbal-agent/governance/hop2_registry_pdp_callbacks.py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Cross-tenant private agent calls fail closed with HTTP 403 Forbidden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③ — Hop 3a: Compute &amp; Rate Limit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Vertex AI Agent Engine &amp; Memorystore (Yellow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Pins immutable `temp:tenant_id` in gVisor sandbox state, enforces token-bucket rate limits in Memorystore for Valkey, and validates `gs://cymbal-skills-{tenant}/` URIs.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core-cymbal-agent/governance/hop3_compute_finops_bulkhead.py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Noisy-neighbor bursts throttled with HTTP 429 and Retry-After header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④ — Hop 4: Model Armor &amp; NLC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Vertex AI Model Armor (Yellow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Screens ingress prompts for jailbreaks, cache-extraction payloads, and tenant Semantic Natural Language Constraints (e.g., OCC escalation suppression).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core-cymbal-agent/governance/hop4_model_armor_guardrails.py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 injections (HTTP 400) and NLC violations (HTTP 422) blocked cold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⑤ — Hop 3b: Memory &amp; Cache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Gemini 2.5 Pro &amp; 5-Level Memory Bank (Yellow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Applies read-only `ContextCacheConfig` prefix caching (90% discount) to shared system prompts while isolating L1–L4 episodic memory under `{tenant}:{user}:{session}`.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MemoryBankLevel L1..L5 &amp; Thinking Budget Clamping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Cross-tenant L4 memory reads blocked with PermissionError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⑥ — Hop 5: RLS &amp; 2LO/3LO MCP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AlloyDB RLS, BigQuery &amp; CymbalMCPHub (Red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Binds `SET LOCAL app.current_tenant` on database connections and dispatches 2LO (Cymbal Telemetry) and 3LO (Workspace/Jira &amp; Entra/ServiceNow) MCP tools.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core-cymbal-agent/governance/hop5_data_rls_and_otel.py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SQL RLS-bypass attempts return 0 foreign rows; unconsented 3LO returns 401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⑦ — Hop 4b: Egress SDP Scrub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Sensitive Data Protection (Blue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Executes tenant-specific egress detectors (`IBAN_CODE`/`SWIFT_CODE` for FinVault; `CREDIT_CARD_NUMBER` for RetailStream) prior to HTTP response serialization.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Tenant-Scoped Egress Redaction Rules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deterministic masking of regulated financial and payment identifiers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&amp; Audit — Hop 5b: OTel &amp; Chargeback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Command Center &amp; BigQuery (Green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Emits structured OpenTelemetry audit records across all 5 hops with exact input, thinking, and cached token counts for tenant-level FinOps chargeback.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HopAuditRecord &amp; BigQuery FinOps Sink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Complete 5-hop cryptographic lineage for CISO and CFO reporting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292608" y="5943600"/>
            <a:ext cx="3770986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2608" y="5943600"/>
            <a:ext cx="73152" cy="58521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4" name="Text 21"/>
          <p:cNvSpPr/>
          <p:nvPr/>
        </p:nvSpPr>
        <p:spPr>
          <a:xfrm>
            <a:off x="42062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 1: Security &amp; Compliance</a:t>
            </a:r>
            <a:endParaRPr lang="en-US" sz="740" dirty="0"/>
          </a:p>
        </p:txBody>
      </p:sp>
      <p:sp>
        <p:nvSpPr>
          <p:cNvPr id="25" name="Text 22"/>
          <p:cNvSpPr/>
          <p:nvPr/>
        </p:nvSpPr>
        <p:spPr>
          <a:xfrm>
            <a:off x="42062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RFC 8693 OBO + DPoP, Hop 2 ARD filter, Model Armor &amp; CMEK (nitina-ggarwal-sandbox-647724 (#887605034827)).</a:t>
            </a:r>
            <a:endParaRPr lang="en-US" sz="680" dirty="0"/>
          </a:p>
        </p:txBody>
      </p:sp>
      <p:sp>
        <p:nvSpPr>
          <p:cNvPr id="26" name="Shape 23"/>
          <p:cNvSpPr/>
          <p:nvPr/>
        </p:nvSpPr>
        <p:spPr>
          <a:xfrm>
            <a:off x="4209898" y="5943600"/>
            <a:ext cx="3770986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209898" y="5943600"/>
            <a:ext cx="73152" cy="585216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28" name="Text 25"/>
          <p:cNvSpPr/>
          <p:nvPr/>
        </p:nvSpPr>
        <p:spPr>
          <a:xfrm>
            <a:off x="433791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 2: Reliability &amp; Isolation</a:t>
            </a:r>
            <a:endParaRPr lang="en-US" sz="740" dirty="0"/>
          </a:p>
        </p:txBody>
      </p:sp>
      <p:sp>
        <p:nvSpPr>
          <p:cNvPr id="29" name="Text 26"/>
          <p:cNvSpPr/>
          <p:nvPr/>
        </p:nvSpPr>
        <p:spPr>
          <a:xfrm>
            <a:off x="433791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Valkey RPM bulkheads, thinking budget caps (4k/8k) &amp; fail-closed HTTP 401/403/422/423/429 gates.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8127187" y="5943600"/>
            <a:ext cx="3770986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127187" y="5943600"/>
            <a:ext cx="73152" cy="58521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2" name="Text 29"/>
          <p:cNvSpPr/>
          <p:nvPr/>
        </p:nvSpPr>
        <p:spPr>
          <a:xfrm>
            <a:off x="8255203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 3: Cost Optimization (FinOps)</a:t>
            </a:r>
            <a:endParaRPr lang="en-US" sz="740" dirty="0"/>
          </a:p>
        </p:txBody>
      </p:sp>
      <p:sp>
        <p:nvSpPr>
          <p:cNvPr id="33" name="Text 30"/>
          <p:cNvSpPr/>
          <p:nvPr/>
        </p:nvSpPr>
        <p:spPr>
          <a:xfrm>
            <a:off x="8255203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Captures 90% Gemini 2.5 Pro prefix cache discount and streams zero-PII OTel spans to BigQuery chargeback.</a:t>
            </a:r>
            <a:endParaRPr lang="en-US" sz="680" dirty="0"/>
          </a:p>
        </p:txBody>
      </p:sp>
      <p:sp>
        <p:nvSpPr>
          <p:cNvPr id="34" name="Text 3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Step-by-Step Technical Flow  •  100% Editable Native Table &amp; Well-Architected Pillars  •  Verified on Google Cloud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used — Google Cloud Agentic AI, Security &amp; Data Stack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365760" y="621792"/>
            <a:ext cx="11460175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21792"/>
            <a:ext cx="100584" cy="65836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67512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• TECHNICAL REFERENCE BREAKDOWN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594360" y="850392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used — Google Cloud Agentic AI, Security &amp; Data Stack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9238183" y="777240"/>
            <a:ext cx="2423160" cy="329184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38183" y="777240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Architectural Pillars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365760" y="1389888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389888"/>
            <a:ext cx="5639105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493776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20" dirty="0"/>
          </a:p>
        </p:txBody>
      </p:sp>
      <p:sp>
        <p:nvSpPr>
          <p:cNvPr id="27" name="Text 25"/>
          <p:cNvSpPr/>
          <p:nvPr/>
        </p:nvSpPr>
        <p:spPr>
          <a:xfrm>
            <a:off x="914400" y="1481328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 &amp; Foundation Models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493776" y="1847088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9" name="Text 27"/>
          <p:cNvSpPr/>
          <p:nvPr/>
        </p:nvSpPr>
        <p:spPr>
          <a:xfrm>
            <a:off x="493776" y="1883664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(ADK 2.0 runtime, Agent Registry &amp; L1–L5 Memory Bank), Gemini 2.5 Pro with ContextCacheConfig (90% shared prefix discount), Vertex AI Model Garden (Claude 3.7 Sonnet), and Gemma 3 (27B) on private GKE.</a:t>
            </a:r>
            <a:endParaRPr lang="en-US" sz="960" dirty="0"/>
          </a:p>
        </p:txBody>
      </p:sp>
      <p:sp>
        <p:nvSpPr>
          <p:cNvPr id="30" name="Shape 28"/>
          <p:cNvSpPr/>
          <p:nvPr/>
        </p:nvSpPr>
        <p:spPr>
          <a:xfrm>
            <a:off x="493776" y="2834640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3776" y="2834640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2" name="Text 30"/>
          <p:cNvSpPr/>
          <p:nvPr/>
        </p:nvSpPr>
        <p:spPr>
          <a:xfrm>
            <a:off x="585216" y="2862072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Vertex AI Agent Engine (ADK 2.0) • Gemini 2.5 Pro (ContextCacheConfig) • Claude 3.7 • Gemma 3 27B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90% Shared System Prefix Cache Discount + Flexible Managed or Air-Gapped Model Hosting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493776" y="3364992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3364992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Agentic AI &amp; Models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6187745" y="1389888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87745" y="1389888"/>
            <a:ext cx="5639105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37" name="Shape 35"/>
          <p:cNvSpPr/>
          <p:nvPr/>
        </p:nvSpPr>
        <p:spPr>
          <a:xfrm>
            <a:off x="6315761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5761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20" dirty="0"/>
          </a:p>
        </p:txBody>
      </p:sp>
      <p:sp>
        <p:nvSpPr>
          <p:cNvPr id="39" name="Text 37"/>
          <p:cNvSpPr/>
          <p:nvPr/>
        </p:nvSpPr>
        <p:spPr>
          <a:xfrm>
            <a:off x="6736385" y="1481328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Ingress, Identity &amp; AI Safety Guardrails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6315761" y="1847088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Text 39"/>
          <p:cNvSpPr/>
          <p:nvPr/>
        </p:nvSpPr>
        <p:spPr>
          <a:xfrm>
            <a:off x="6315761" y="1883664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External Application Load Balancer, Google Cloud Armor L7 WAF, Identity-Aware Proxy (IAP) &amp; IAM Security Token Service (RFC 8693 OBO + RFC 9449 DPoP), Vertex AI Model Armor, and Cloud Sensitive Data Protection (DLP).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6315761" y="2834640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15761" y="2834640"/>
            <a:ext cx="54864" cy="475488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44" name="Text 42"/>
          <p:cNvSpPr/>
          <p:nvPr/>
        </p:nvSpPr>
        <p:spPr>
          <a:xfrm>
            <a:off x="6407201" y="2862072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Cloud Load Balancing • Cloud Armor WAF • IAP &amp; IAM STS (OBO + DPoP) • Model Armor • Cloud DLP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Cryptographic Identity Binding (HTTP 401) + Bidirectional Prompt &amp; PII Guardrails (HTTP 400/422)</a:t>
            </a:r>
            <a:endParaRPr lang="en-US" sz="740" dirty="0"/>
          </a:p>
        </p:txBody>
      </p:sp>
      <p:sp>
        <p:nvSpPr>
          <p:cNvPr id="45" name="Shape 43"/>
          <p:cNvSpPr/>
          <p:nvPr/>
        </p:nvSpPr>
        <p:spPr>
          <a:xfrm>
            <a:off x="6315761" y="3364992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46" name="Text 44"/>
          <p:cNvSpPr/>
          <p:nvPr/>
        </p:nvSpPr>
        <p:spPr>
          <a:xfrm>
            <a:off x="6370625" y="3364992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Ingress, Identity &amp; Safety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365760" y="3776472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65760" y="3776472"/>
            <a:ext cx="5639105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49" name="Shape 47"/>
          <p:cNvSpPr/>
          <p:nvPr/>
        </p:nvSpPr>
        <p:spPr>
          <a:xfrm>
            <a:off x="493776" y="3886200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" y="3886200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20" dirty="0"/>
          </a:p>
        </p:txBody>
      </p:sp>
      <p:sp>
        <p:nvSpPr>
          <p:cNvPr id="51" name="Text 49"/>
          <p:cNvSpPr/>
          <p:nvPr/>
        </p:nvSpPr>
        <p:spPr>
          <a:xfrm>
            <a:off x="914400" y="3867912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Data, Storage, Networking &amp; Governance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493776" y="4233672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3" name="Text 51"/>
          <p:cNvSpPr/>
          <p:nvPr/>
        </p:nvSpPr>
        <p:spPr>
          <a:xfrm>
            <a:off x="493776" y="4270248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for PostgreSQL (FORCE ROW LEVEL SECURITY), Memorystore for Valkey (per-tenant RPM bulkheads) &amp; Firestore, VPC Service Controls (VPC-SC) &amp; Private Service Connect (PSC), Cloud KMS CMEK (HTTP 423 kill-switch), and BigQuery OTel.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493776" y="5221224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93776" y="5221224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6" name="Text 54"/>
          <p:cNvSpPr/>
          <p:nvPr/>
        </p:nvSpPr>
        <p:spPr>
          <a:xfrm>
            <a:off x="585216" y="5248656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AlloyDB (PostgreSQL RLS) • Memorystore Valkey • Firestore • VPC-SC • PSC • Cloud KMS CMEK • BigQuery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0 Cross-Tenant Rows • Sub-60s HTTP 423 CMEK Kill-Switch • Zero-PII FinOps Chargeback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493776" y="5751576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58" name="Text 56"/>
          <p:cNvSpPr/>
          <p:nvPr/>
        </p:nvSpPr>
        <p:spPr>
          <a:xfrm>
            <a:off x="548640" y="5751576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Data, Network &amp; Governance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6187745" y="3776472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87745" y="3776472"/>
            <a:ext cx="5639105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15761" y="3886200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15761" y="3886200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20" dirty="0"/>
          </a:p>
        </p:txBody>
      </p:sp>
      <p:sp>
        <p:nvSpPr>
          <p:cNvPr id="63" name="Text 61"/>
          <p:cNvSpPr/>
          <p:nvPr/>
        </p:nvSpPr>
        <p:spPr>
          <a:xfrm>
            <a:off x="6736385" y="3867912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80% Reusable Application Core</a:t>
            </a:r>
            <a:endParaRPr lang="en-US" sz="1120" dirty="0"/>
          </a:p>
        </p:txBody>
      </p:sp>
      <p:sp>
        <p:nvSpPr>
          <p:cNvPr id="64" name="Shape 62"/>
          <p:cNvSpPr/>
          <p:nvPr/>
        </p:nvSpPr>
        <p:spPr>
          <a:xfrm>
            <a:off x="6315761" y="4233672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5" name="Text 63"/>
          <p:cNvSpPr/>
          <p:nvPr/>
        </p:nvSpPr>
        <p:spPr>
          <a:xfrm>
            <a:off x="6315761" y="4270248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three isolation patterns execute the exact same Python ADK 2.0 5-hop security pipeline (`core-cymbal-agent/runtime_pipeline.py`), parameterizing only the surrounding 20% Google Cloud project and network boundary.</a:t>
            </a:r>
            <a:endParaRPr lang="en-US" sz="960" dirty="0"/>
          </a:p>
        </p:txBody>
      </p:sp>
      <p:sp>
        <p:nvSpPr>
          <p:cNvPr id="66" name="Shape 64"/>
          <p:cNvSpPr/>
          <p:nvPr/>
        </p:nvSpPr>
        <p:spPr>
          <a:xfrm>
            <a:off x="6315761" y="5221224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315761" y="5221224"/>
            <a:ext cx="54864" cy="475488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68" name="Text 66"/>
          <p:cNvSpPr/>
          <p:nvPr/>
        </p:nvSpPr>
        <p:spPr>
          <a:xfrm>
            <a:off x="6407201" y="5248656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core-cymbal-agent/ (models.py, runtime_pipeline.py) + Terraform Modules (2.6, 3.6, 4.6)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80% Identical Python ADK Codebase Across Pooled (A), Siloed (B) &amp; Hybrid (C) Tiers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6315761" y="5751576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70625" y="5751576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Unified Platform Core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365760" y="6126480"/>
            <a:ext cx="11460175" cy="402336"/>
          </a:xfrm>
          <a:prstGeom prst="roundRect">
            <a:avLst>
              <a:gd name="adj" fmla="val 13636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75488" y="6190488"/>
            <a:ext cx="1874520" cy="274320"/>
          </a:xfrm>
          <a:prstGeom prst="roundRect">
            <a:avLst>
              <a:gd name="adj" fmla="val 16667"/>
            </a:avLst>
          </a:prstGeom>
          <a:solidFill>
            <a:srgbClr val="1A73E8"/>
          </a:solidFill>
          <a:ln/>
        </p:spPr>
      </p:sp>
      <p:sp>
        <p:nvSpPr>
          <p:cNvPr id="73" name="Text 71"/>
          <p:cNvSpPr/>
          <p:nvPr/>
        </p:nvSpPr>
        <p:spPr>
          <a:xfrm>
            <a:off x="475488" y="6190488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4" name="Text 72"/>
          <p:cNvSpPr/>
          <p:nvPr/>
        </p:nvSpPr>
        <p:spPr>
          <a:xfrm>
            <a:off x="2468880" y="6172200"/>
            <a:ext cx="92198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  •  100% Editable Google Cloud Architecture Center Slide</a:t>
            </a:r>
            <a:endParaRPr lang="en-US" sz="880" dirty="0"/>
          </a:p>
        </p:txBody>
      </p:sp>
      <p:sp>
        <p:nvSpPr>
          <p:cNvPr id="75" name="Text 7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Vertex AI Agent Engine, Gemini Enterprise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cases — Cymbal SaaS Serving Competing Enterprise Tenants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365760" y="621792"/>
            <a:ext cx="11460175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21792"/>
            <a:ext cx="100584" cy="65836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67512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• TECHNICAL REFERENCE BREAKDOWN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594360" y="850392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cases — Cymbal SaaS Serving Competing Enterprise Tenants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9238183" y="777240"/>
            <a:ext cx="2423160" cy="329184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38183" y="777240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Architectural Pillars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365760" y="1389888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389888"/>
            <a:ext cx="5639105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493776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20" dirty="0"/>
          </a:p>
        </p:txBody>
      </p:sp>
      <p:sp>
        <p:nvSpPr>
          <p:cNvPr id="27" name="Text 25"/>
          <p:cNvSpPr/>
          <p:nvPr/>
        </p:nvSpPr>
        <p:spPr>
          <a:xfrm>
            <a:off x="914400" y="1481328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 Multi-Tenant Agentic Platform (Control Plane)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493776" y="1847088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9" name="Text 27"/>
          <p:cNvSpPr/>
          <p:nvPr/>
        </p:nvSpPr>
        <p:spPr>
          <a:xfrm>
            <a:off x="493776" y="1883664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Operates a shared Incident Diagnostic Agent on Gemini 2.5 Pro, caching a 32,000-token immutable SRE runbook prefix once to reduce input token costs by 90%.</a:t>
            </a:r>
            <a:endParaRPr lang="en-US" sz="960" dirty="0"/>
          </a:p>
        </p:txBody>
      </p:sp>
      <p:sp>
        <p:nvSpPr>
          <p:cNvPr id="30" name="Shape 28"/>
          <p:cNvSpPr/>
          <p:nvPr/>
        </p:nvSpPr>
        <p:spPr>
          <a:xfrm>
            <a:off x="493776" y="2834640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3776" y="2834640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2" name="Text 30"/>
          <p:cNvSpPr/>
          <p:nvPr/>
        </p:nvSpPr>
        <p:spPr>
          <a:xfrm>
            <a:off x="585216" y="2862072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Project: ramp-portal-dev • Cloud Run Service: cymbal-multi-tenant-patterns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Immutable 32k System Prefix Cache • 84.7% Net Per-Turn Token Cost Reduction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493776" y="3364992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3364992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Provider: Cymbal SaaS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6187745" y="1389888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87745" y="1389888"/>
            <a:ext cx="5639105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37" name="Shape 35"/>
          <p:cNvSpPr/>
          <p:nvPr/>
        </p:nvSpPr>
        <p:spPr>
          <a:xfrm>
            <a:off x="6315761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5761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20" dirty="0"/>
          </a:p>
        </p:txBody>
      </p:sp>
      <p:sp>
        <p:nvSpPr>
          <p:cNvPr id="39" name="Text 37"/>
          <p:cNvSpPr/>
          <p:nvPr/>
        </p:nvSpPr>
        <p:spPr>
          <a:xfrm>
            <a:off x="6736385" y="1481328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Bank (Regulated Enterprise Tenant)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6315761" y="1847088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Text 39"/>
          <p:cNvSpPr/>
          <p:nvPr/>
        </p:nvSpPr>
        <p:spPr>
          <a:xfrm>
            <a:off x="6315761" y="1883664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Authenticates via Google Workspace OIDC, provisions a private Claude 3.7 Sonnet regulatory agent (Agent Alpha), receives an 8,000-token thinking budget, and mandates CMEK.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6315761" y="2834640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15761" y="2834640"/>
            <a:ext cx="54864" cy="475488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44" name="Text 42"/>
          <p:cNvSpPr/>
          <p:nvPr/>
        </p:nvSpPr>
        <p:spPr>
          <a:xfrm>
            <a:off x="6407201" y="2862072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IdP: Google Workspace OIDC • Connectors: Google Drive/Gmail/Jira 3LO • Key: finvault-silo-cmek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Tier: ENTERPRISE • 600 RPM • 8,000 Thinking Budget • OCC/IBAN/SWIFT DLP Masking</a:t>
            </a:r>
            <a:endParaRPr lang="en-US" sz="740" dirty="0"/>
          </a:p>
        </p:txBody>
      </p:sp>
      <p:sp>
        <p:nvSpPr>
          <p:cNvPr id="45" name="Shape 43"/>
          <p:cNvSpPr/>
          <p:nvPr/>
        </p:nvSpPr>
        <p:spPr>
          <a:xfrm>
            <a:off x="6315761" y="3364992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46" name="Text 44"/>
          <p:cNvSpPr/>
          <p:nvPr/>
        </p:nvSpPr>
        <p:spPr>
          <a:xfrm>
            <a:off x="6370625" y="3364992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A: FinVault Bank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365760" y="3776472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65760" y="3776472"/>
            <a:ext cx="5639105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49" name="Shape 47"/>
          <p:cNvSpPr/>
          <p:nvPr/>
        </p:nvSpPr>
        <p:spPr>
          <a:xfrm>
            <a:off x="493776" y="3886200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" y="3886200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20" dirty="0"/>
          </a:p>
        </p:txBody>
      </p:sp>
      <p:sp>
        <p:nvSpPr>
          <p:cNvPr id="51" name="Text 49"/>
          <p:cNvSpPr/>
          <p:nvPr/>
        </p:nvSpPr>
        <p:spPr>
          <a:xfrm>
            <a:off x="914400" y="3867912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Corp (Standard Commercial Tenant)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493776" y="4233672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3" name="Text 51"/>
          <p:cNvSpPr/>
          <p:nvPr/>
        </p:nvSpPr>
        <p:spPr>
          <a:xfrm>
            <a:off x="493776" y="4270248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Authenticates via Microsoft Entra ID OIDC, runs on the pooled Diagnostic Agent with a 4,000-token thinking cap, and invokes ServiceNow ITOM via 3LO employee consent.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493776" y="5221224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93776" y="5221224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6" name="Text 54"/>
          <p:cNvSpPr/>
          <p:nvPr/>
        </p:nvSpPr>
        <p:spPr>
          <a:xfrm>
            <a:off x="585216" y="5248656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IdP: Microsoft Entra ID OIDC • Connectors: SharePoint &amp; ServiceNow 3LO • Pooled RLS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Tier: STANDARD • 120 RPM • 4,000 Thinking Budget • PCI-DSS PAN/SSN DLP Masking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493776" y="5751576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58" name="Text 56"/>
          <p:cNvSpPr/>
          <p:nvPr/>
        </p:nvSpPr>
        <p:spPr>
          <a:xfrm>
            <a:off x="548640" y="5751576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B: RetailStream Corp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6187745" y="3776472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87745" y="3776472"/>
            <a:ext cx="5639105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15761" y="3886200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15761" y="3886200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20" dirty="0"/>
          </a:p>
        </p:txBody>
      </p:sp>
      <p:sp>
        <p:nvSpPr>
          <p:cNvPr id="63" name="Text 61"/>
          <p:cNvSpPr/>
          <p:nvPr/>
        </p:nvSpPr>
        <p:spPr>
          <a:xfrm>
            <a:off x="6736385" y="3867912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Mutual Invisibility</a:t>
            </a:r>
            <a:endParaRPr lang="en-US" sz="1120" dirty="0"/>
          </a:p>
        </p:txBody>
      </p:sp>
      <p:sp>
        <p:nvSpPr>
          <p:cNvPr id="64" name="Shape 62"/>
          <p:cNvSpPr/>
          <p:nvPr/>
        </p:nvSpPr>
        <p:spPr>
          <a:xfrm>
            <a:off x="6315761" y="4233672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5" name="Text 63"/>
          <p:cNvSpPr/>
          <p:nvPr/>
        </p:nvSpPr>
        <p:spPr>
          <a:xfrm>
            <a:off x="6315761" y="4270248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callers receive immediate HTTP 403 Forbidden if probing FinVault’s private Agent Alpha, while FinVault is completely isolated from RetailStream’s Entra ID / ServiceNow connectors.</a:t>
            </a:r>
            <a:endParaRPr lang="en-US" sz="960" dirty="0"/>
          </a:p>
        </p:txBody>
      </p:sp>
      <p:sp>
        <p:nvSpPr>
          <p:cNvPr id="66" name="Shape 64"/>
          <p:cNvSpPr/>
          <p:nvPr/>
        </p:nvSpPr>
        <p:spPr>
          <a:xfrm>
            <a:off x="6315761" y="5221224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315761" y="5221224"/>
            <a:ext cx="54864" cy="475488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68" name="Text 66"/>
          <p:cNvSpPr/>
          <p:nvPr/>
        </p:nvSpPr>
        <p:spPr>
          <a:xfrm>
            <a:off x="6407201" y="5248656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Hop 2 ARD Filter + Hop 3 Memory Namespace + Hop 5 AlloyDB Row-Level Security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Verified by 20 Automated Red-Team Breach, Silo Kill-Switch &amp; Live Migration Tests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6315761" y="5751576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70625" y="5751576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Cross-Tenant Leakage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365760" y="6126480"/>
            <a:ext cx="11460175" cy="402336"/>
          </a:xfrm>
          <a:prstGeom prst="roundRect">
            <a:avLst>
              <a:gd name="adj" fmla="val 13636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75488" y="6190488"/>
            <a:ext cx="1874520" cy="274320"/>
          </a:xfrm>
          <a:prstGeom prst="roundRect">
            <a:avLst>
              <a:gd name="adj" fmla="val 16667"/>
            </a:avLst>
          </a:prstGeom>
          <a:solidFill>
            <a:srgbClr val="1A73E8"/>
          </a:solidFill>
          <a:ln/>
        </p:spPr>
      </p:sp>
      <p:sp>
        <p:nvSpPr>
          <p:cNvPr id="73" name="Text 71"/>
          <p:cNvSpPr/>
          <p:nvPr/>
        </p:nvSpPr>
        <p:spPr>
          <a:xfrm>
            <a:off x="475488" y="6190488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4" name="Text 72"/>
          <p:cNvSpPr/>
          <p:nvPr/>
        </p:nvSpPr>
        <p:spPr>
          <a:xfrm>
            <a:off x="2468880" y="6172200"/>
            <a:ext cx="92198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  •  100% Editable Google Cloud Architecture Center Slide</a:t>
            </a:r>
            <a:endParaRPr lang="en-US" sz="880" dirty="0"/>
          </a:p>
        </p:txBody>
      </p:sp>
      <p:sp>
        <p:nvSpPr>
          <p:cNvPr id="75" name="Text 7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Vertex AI Agent Engine, Gemini Enterprise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alternatives — Comparison of Multi-Tenant Isolation Patterns (A, B &amp; C)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COMPARISON MATRIX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365760" y="603504"/>
            <a:ext cx="11460175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03504"/>
            <a:ext cx="91440" cy="58521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640080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WELL-ARCHITECTED EVALUATION MATRIX &amp; PRODUCTION TAKEAWAYS</a:t>
            </a:r>
            <a:endParaRPr lang="en-US" sz="780" dirty="0"/>
          </a:p>
        </p:txBody>
      </p:sp>
      <p:sp>
        <p:nvSpPr>
          <p:cNvPr id="20" name="Text 18"/>
          <p:cNvSpPr/>
          <p:nvPr/>
        </p:nvSpPr>
        <p:spPr>
          <a:xfrm>
            <a:off x="566928" y="804672"/>
            <a:ext cx="8595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alternatives — Comparison of Multi-Tenant Isolation Patterns (A, B &amp; C)</a:t>
            </a:r>
            <a:endParaRPr lang="en-US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43584"/>
          <a:ext cx="1146017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063240"/>
                <a:gridCol w="315468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Dimension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A: High-Density Pooled (WS2)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B: Sovereign Silos (WS3)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C: Dynamic Hybrid PSC (WS4)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 plane &amp; project boundary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 shared GCP project (`ramp-portal-dev`); logical separation in software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GCP project per tenant (`cymbal-{tenant}-silo-prod`) under org folder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Ingress Hub project + Shared Pool + Dedicated Enterprise Spoke projects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Compute &amp; agent runtime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Cloud Run v2 &amp; shared Vertex AI Agent Engine worker pool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Agent Engine &amp; private GKE GPU cluster (`172.16.0.2/28`, Gemma 3 27B)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Firestore dynamic tier router dispatches Standard -&gt; Pool, Enterprise -&gt; PSC Spoke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Network &amp; perimeter isolation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VPC protected by Cloud Armor L7 WAF header sanitization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Per-tenant VPC Service Controls (VPC-SC) perimeter + BeyondCorp mTLS pinning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Unidirectional Private Service Connect (PSC) endpoints (`10.10.0.50` -&gt; `/24` NAT)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Identity &amp; access control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IAP OIDC + IAM STS RFC 8693 OBO &amp; RFC 9449 DPoP sender-constrained tokens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IAM Principal Access Boundaries (PAB) + dedicated per-silo service accounts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Unified Hub OIDC verification + tier-scoped OBO/DPoP token forwarding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Data, memory &amp; state plane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AlloyDB with `FORCE ROW LEVEL SECURITY` + namespaced L1–L5 Memory Bank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AlloyDB &amp; Memory Bank encrypted by tenant Cloud KMS CMEK (`HTTP 423`)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Pooled RLS for Standard; CMEK spoke vault + 3-phase zero-downtime live migration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&amp; FinOps COGS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32k prefix cache (`90%` discount -&gt; `84.7%` net token cost reduction)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Vertex AI Provisioned Throughput or air-gapped GKE GPU node pool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Blended portfolio (`74%` lower total cloud spend across 950 Std + 50 Ent tenants)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 unit cost &amp; target tier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`$42 / tenant / month` • High-volume commercial B2B SaaS (`10/10` breach tests PASS)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`$1,850 / tenant / month` • Regulated Banking, Healthcare &amp; Public Sector (`6/6` PASS)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`$42` (Std) / `$1,850` (Ent) • Multi-tier SaaS with live tier upsell (`4/4` PASS)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365760" y="6126480"/>
            <a:ext cx="11460175" cy="402336"/>
          </a:xfrm>
          <a:prstGeom prst="roundRect">
            <a:avLst>
              <a:gd name="adj" fmla="val 13636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75488" y="6190488"/>
            <a:ext cx="1874520" cy="274320"/>
          </a:xfrm>
          <a:prstGeom prst="roundRect">
            <a:avLst>
              <a:gd name="adj" fmla="val 16667"/>
            </a:avLst>
          </a:prstGeom>
          <a:solidFill>
            <a:srgbClr val="1A73E8"/>
          </a:solidFill>
          <a:ln/>
        </p:spPr>
      </p:sp>
      <p:sp>
        <p:nvSpPr>
          <p:cNvPr id="24" name="Text 21"/>
          <p:cNvSpPr/>
          <p:nvPr/>
        </p:nvSpPr>
        <p:spPr>
          <a:xfrm>
            <a:off x="475488" y="6190488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25" name="Text 22"/>
          <p:cNvSpPr/>
          <p:nvPr/>
        </p:nvSpPr>
        <p:spPr>
          <a:xfrm>
            <a:off x="2468880" y="6172200"/>
            <a:ext cx="92198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  •  100% Editable Google Cloud Architecture Center Slide</a:t>
            </a:r>
            <a:endParaRPr lang="en-US" sz="880" dirty="0"/>
          </a:p>
        </p:txBody>
      </p:sp>
      <p:sp>
        <p:nvSpPr>
          <p:cNvPr id="26" name="Text 2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Vertex AI Agent Engine, Gemini Enterprise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alternatives — Compensating Controls for EAP Product Gaps (GAP-01..05)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COMPARISON MATRIX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365760" y="603504"/>
            <a:ext cx="11460175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03504"/>
            <a:ext cx="91440" cy="58521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640080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WELL-ARCHITECTED EVALUATION MATRIX &amp; PRODUCTION TAKEAWAYS</a:t>
            </a:r>
            <a:endParaRPr lang="en-US" sz="780" dirty="0"/>
          </a:p>
        </p:txBody>
      </p:sp>
      <p:sp>
        <p:nvSpPr>
          <p:cNvPr id="20" name="Text 18"/>
          <p:cNvSpPr/>
          <p:nvPr/>
        </p:nvSpPr>
        <p:spPr>
          <a:xfrm>
            <a:off x="566928" y="804672"/>
            <a:ext cx="8595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alternatives — Compensating Controls for EAP Product Gaps (GAP-01..05)</a:t>
            </a:r>
            <a:endParaRPr lang="en-US" sz="1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43584"/>
          <a:ext cx="11460175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2880360"/>
                <a:gridCol w="3886200"/>
                <a:gridCol w="27276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ID &amp; Component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Preview / EAP Limitation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Production Compensating Control (core-cymbal-agent/)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Verification Gate &amp; Target GA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GAP-01 (Hop 2)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Engine Registry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Agent Engine Registry lacks native per-tenant IAM condition predicates on `ListAgents` discovery calls.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`Hop2AgentRegistryDiscovery.filter_ard_catalog` validates signed JWT `tenant_id` against visibility metadata before LLM tool binding.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WS2 Test 2 PASS (`HTTP 403` on cross-tenant Agent Alpha discovery) • Target GA: Q4 2026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GAP-02 (Hop 3)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 Bank CMEK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Pooled Vertex AI Memory Bank supports project-level CMEK rather than distinct per-tenant KMS keys in one shared pool.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A applies envelope encryption via tenant KMS keys; Pattern B isolates each tenant in a dedicated CMEK project (`HTTP 423`).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WS3 Tests 4A/4B/6 PASS (`HTTP 423 Locked` &lt;60s on key disable) • Target GA: Q4 2026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GAP-03 (Hop 3)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Per-Tenant Rate Quotas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Vertex AI quota system enforces regional project-level RPM/TPM limits rather than native per-tenant sub-quotas.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`Hop3RuntimeAndMemory` enforces atomic per-tenant token-bucket RPM limits in Memorystore for Valkey (`120` vs. `600` RPM) + `thinking_budget` clamps.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WS2 Test 6 PASS (`HTTP 429` on 500-RPM flood; budget clamped to 4k) • Target GA: Q4 2026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GAP-04 (Hop 1/2)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Multi-IdP 3LO Broker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Microsoft Entra ID OIDC tokens require custom claims normalization and step-up consent for downstream MCP tools.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1 Edge STS normalizes Entra ID `tid`/`sub` claims into DPoP-bound `TenantSecurityContext` with `-32042` step-up 3LO elicitation.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WS2 Test 10 PASS (`HTTP 401` step-up challenge -&gt; `200 OK` ServiceNow) • Target GA: Q4 2026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GAP-05 (Hop 5)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Zero-PII Token Billing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Billing exports aggregate Vertex AI SKU charges by GCP project rather than individual logical SaaS `tenant_id`.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`Hop5DataAndFinOps` emits zero-PII OpenTelemetry spans (`cached_tokens`, `thinking_tokens`, `output_tokens`) to BigQuery chargeback ledger.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Forensic Check F-08 PASS (3 billing SQL models verified in BigQuery) • Target GA: Q1 2027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365760" y="6126480"/>
            <a:ext cx="11460175" cy="402336"/>
          </a:xfrm>
          <a:prstGeom prst="roundRect">
            <a:avLst>
              <a:gd name="adj" fmla="val 13636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75488" y="6190488"/>
            <a:ext cx="1874520" cy="274320"/>
          </a:xfrm>
          <a:prstGeom prst="roundRect">
            <a:avLst>
              <a:gd name="adj" fmla="val 16667"/>
            </a:avLst>
          </a:prstGeom>
          <a:solidFill>
            <a:srgbClr val="1A73E8"/>
          </a:solidFill>
          <a:ln/>
        </p:spPr>
      </p:sp>
      <p:sp>
        <p:nvSpPr>
          <p:cNvPr id="24" name="Text 21"/>
          <p:cNvSpPr/>
          <p:nvPr/>
        </p:nvSpPr>
        <p:spPr>
          <a:xfrm>
            <a:off x="475488" y="6190488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25" name="Text 22"/>
          <p:cNvSpPr/>
          <p:nvPr/>
        </p:nvSpPr>
        <p:spPr>
          <a:xfrm>
            <a:off x="2468880" y="6172200"/>
            <a:ext cx="92198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  •  100% Editable Google Cloud Architecture Center Slide</a:t>
            </a:r>
            <a:endParaRPr lang="en-US" sz="880" dirty="0"/>
          </a:p>
        </p:txBody>
      </p:sp>
      <p:sp>
        <p:nvSpPr>
          <p:cNvPr id="26" name="Text 2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Vertex AI Agent Engine, Gemini Enterprise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 — 5-Hop Cryptographic Verification Pipeline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CRYPTOGRAPHIC PIPELINE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365760" y="603504"/>
            <a:ext cx="11460175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03504"/>
            <a:ext cx="91440" cy="58521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640080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5-HOP CRYPTOGRAPHIC DEFENSE-IN-DEPTH PIPELINE (ZERO TRUST BY DESIGN)</a:t>
            </a:r>
            <a:endParaRPr lang="en-US" sz="780" dirty="0"/>
          </a:p>
        </p:txBody>
      </p:sp>
      <p:sp>
        <p:nvSpPr>
          <p:cNvPr id="20" name="Text 18"/>
          <p:cNvSpPr/>
          <p:nvPr/>
        </p:nvSpPr>
        <p:spPr>
          <a:xfrm>
            <a:off x="566928" y="804672"/>
            <a:ext cx="8778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 — 5-Hop Cryptographic Verification Pipeline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65760" y="1280160"/>
            <a:ext cx="2160727" cy="4663440"/>
          </a:xfrm>
          <a:prstGeom prst="roundRect">
            <a:avLst>
              <a:gd name="adj" fmla="val 2962"/>
            </a:avLst>
          </a:prstGeom>
          <a:solidFill>
            <a:srgbClr val="FFFFFF"/>
          </a:solidFill>
          <a:ln w="13970">
            <a:solidFill>
              <a:srgbClr val="AECBF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1280160"/>
            <a:ext cx="2160727" cy="384048"/>
          </a:xfrm>
          <a:prstGeom prst="roundRect">
            <a:avLst>
              <a:gd name="adj" fmla="val 11905"/>
            </a:avLst>
          </a:prstGeom>
          <a:solidFill>
            <a:srgbClr val="1A73E8"/>
          </a:solidFill>
          <a:ln/>
        </p:spPr>
      </p:sp>
      <p:sp>
        <p:nvSpPr>
          <p:cNvPr id="23" name="Text 21"/>
          <p:cNvSpPr/>
          <p:nvPr/>
        </p:nvSpPr>
        <p:spPr>
          <a:xfrm>
            <a:off x="438912" y="1280160"/>
            <a:ext cx="201442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01  •  EDGE &amp; IDENTITY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5488" y="1737360"/>
            <a:ext cx="1941271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Perimeter WAF, Federated OIDC &amp; DPoP Token Binding</a:t>
            </a:r>
            <a:endParaRPr lang="en-US" sz="940" dirty="0"/>
          </a:p>
        </p:txBody>
      </p:sp>
      <p:sp>
        <p:nvSpPr>
          <p:cNvPr id="25" name="Shape 23"/>
          <p:cNvSpPr/>
          <p:nvPr/>
        </p:nvSpPr>
        <p:spPr>
          <a:xfrm>
            <a:off x="475488" y="2267712"/>
            <a:ext cx="1941271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2267712"/>
            <a:ext cx="186811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• IAP • IAM STS</a:t>
            </a:r>
            <a:endParaRPr lang="en-US" sz="740" dirty="0"/>
          </a:p>
        </p:txBody>
      </p:sp>
      <p:sp>
        <p:nvSpPr>
          <p:cNvPr id="27" name="Text 25"/>
          <p:cNvSpPr/>
          <p:nvPr/>
        </p:nvSpPr>
        <p:spPr>
          <a:xfrm>
            <a:off x="475488" y="2651760"/>
            <a:ext cx="1941271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Strips unauthenticated X-Tenant-Id headers at the L7 load balancer, verifies Google Workspace or Microsoft Entra ID OIDC JWTs, and exchanges credentials via RFC 8693 OBO.</a:t>
            </a:r>
            <a:endParaRPr lang="en-US" sz="820" dirty="0"/>
          </a:p>
        </p:txBody>
      </p:sp>
      <p:sp>
        <p:nvSpPr>
          <p:cNvPr id="28" name="Shape 26"/>
          <p:cNvSpPr/>
          <p:nvPr/>
        </p:nvSpPr>
        <p:spPr>
          <a:xfrm>
            <a:off x="475488" y="4279392"/>
            <a:ext cx="1941271" cy="877824"/>
          </a:xfrm>
          <a:prstGeom prst="roundRect">
            <a:avLst>
              <a:gd name="adj" fmla="val 5208"/>
            </a:avLst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5488" y="4279392"/>
            <a:ext cx="54864" cy="87782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4334256"/>
            <a:ext cx="181325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Claim: tenant_id + tier + DPoP (RFC 9449 jkt)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475488" y="5248656"/>
            <a:ext cx="1941271" cy="585216"/>
          </a:xfrm>
          <a:prstGeom prst="roundRect">
            <a:avLst>
              <a:gd name="adj" fmla="val 7813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0352" y="5285232"/>
            <a:ext cx="1831543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401 on Spoofed Header or Replayed Bearer Token</a:t>
            </a:r>
            <a:endParaRPr lang="en-US" sz="660" dirty="0"/>
          </a:p>
        </p:txBody>
      </p:sp>
      <p:sp>
        <p:nvSpPr>
          <p:cNvPr id="33" name="Shape 31"/>
          <p:cNvSpPr/>
          <p:nvPr/>
        </p:nvSpPr>
        <p:spPr>
          <a:xfrm>
            <a:off x="2508199" y="3511296"/>
            <a:ext cx="201168" cy="201168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34" name="Text 32"/>
          <p:cNvSpPr/>
          <p:nvPr/>
        </p:nvSpPr>
        <p:spPr>
          <a:xfrm>
            <a:off x="2508199" y="35112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691079" y="1280160"/>
            <a:ext cx="2160727" cy="4663440"/>
          </a:xfrm>
          <a:prstGeom prst="roundRect">
            <a:avLst>
              <a:gd name="adj" fmla="val 2962"/>
            </a:avLst>
          </a:prstGeom>
          <a:solidFill>
            <a:srgbClr val="FFFFFF"/>
          </a:solidFill>
          <a:ln w="13970">
            <a:solidFill>
              <a:srgbClr val="AECBF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1079" y="1280160"/>
            <a:ext cx="2160727" cy="384048"/>
          </a:xfrm>
          <a:prstGeom prst="roundRect">
            <a:avLst>
              <a:gd name="adj" fmla="val 11905"/>
            </a:avLst>
          </a:prstGeom>
          <a:solidFill>
            <a:srgbClr val="174EA6"/>
          </a:solidFill>
          <a:ln/>
        </p:spPr>
      </p:sp>
      <p:sp>
        <p:nvSpPr>
          <p:cNvPr id="37" name="Text 35"/>
          <p:cNvSpPr/>
          <p:nvPr/>
        </p:nvSpPr>
        <p:spPr>
          <a:xfrm>
            <a:off x="2764231" y="1280160"/>
            <a:ext cx="201442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02  •  REGISTRY DISCOVERY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2800807" y="1737360"/>
            <a:ext cx="1941271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Tenant-Scoped Agent &amp; MCP Tool Catalog Filtering</a:t>
            </a:r>
            <a:endParaRPr lang="en-US" sz="940" dirty="0"/>
          </a:p>
        </p:txBody>
      </p:sp>
      <p:sp>
        <p:nvSpPr>
          <p:cNvPr id="39" name="Shape 37"/>
          <p:cNvSpPr/>
          <p:nvPr/>
        </p:nvSpPr>
        <p:spPr>
          <a:xfrm>
            <a:off x="2800807" y="2267712"/>
            <a:ext cx="1941271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7383" y="2267712"/>
            <a:ext cx="186811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Registry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2800807" y="2651760"/>
            <a:ext cx="1941271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Evaluates the signed TenantSecurityContext against Agent Engine Registry metadata before LLM tool-binding, returning only shared platform tools and tenant-owned private agents.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2800807" y="4279392"/>
            <a:ext cx="1941271" cy="877824"/>
          </a:xfrm>
          <a:prstGeom prst="roundRect">
            <a:avLst>
              <a:gd name="adj" fmla="val 5208"/>
            </a:avLst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800807" y="4279392"/>
            <a:ext cx="54864" cy="87782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44" name="Text 42"/>
          <p:cNvSpPr/>
          <p:nvPr/>
        </p:nvSpPr>
        <p:spPr>
          <a:xfrm>
            <a:off x="2892247" y="4334256"/>
            <a:ext cx="181325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Predicate: resource.visibility IN ("shared", ctx.tenant_id)</a:t>
            </a:r>
            <a:endParaRPr lang="en-US" sz="680" dirty="0"/>
          </a:p>
        </p:txBody>
      </p:sp>
      <p:sp>
        <p:nvSpPr>
          <p:cNvPr id="45" name="Shape 43"/>
          <p:cNvSpPr/>
          <p:nvPr/>
        </p:nvSpPr>
        <p:spPr>
          <a:xfrm>
            <a:off x="2800807" y="5248656"/>
            <a:ext cx="1941271" cy="585216"/>
          </a:xfrm>
          <a:prstGeom prst="roundRect">
            <a:avLst>
              <a:gd name="adj" fmla="val 7813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55671" y="5285232"/>
            <a:ext cx="1831543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403 Forbidden on Cross-Tenant Agent or MCP Discovery</a:t>
            </a:r>
            <a:endParaRPr lang="en-US" sz="660" dirty="0"/>
          </a:p>
        </p:txBody>
      </p:sp>
      <p:sp>
        <p:nvSpPr>
          <p:cNvPr id="47" name="Shape 45"/>
          <p:cNvSpPr/>
          <p:nvPr/>
        </p:nvSpPr>
        <p:spPr>
          <a:xfrm>
            <a:off x="4833518" y="3511296"/>
            <a:ext cx="201168" cy="201168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48" name="Text 46"/>
          <p:cNvSpPr/>
          <p:nvPr/>
        </p:nvSpPr>
        <p:spPr>
          <a:xfrm>
            <a:off x="4833518" y="35112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016398" y="1280160"/>
            <a:ext cx="2160727" cy="4663440"/>
          </a:xfrm>
          <a:prstGeom prst="roundRect">
            <a:avLst>
              <a:gd name="adj" fmla="val 2962"/>
            </a:avLst>
          </a:prstGeom>
          <a:solidFill>
            <a:srgbClr val="FFFFFF"/>
          </a:solidFill>
          <a:ln w="13970">
            <a:solidFill>
              <a:srgbClr val="AECBF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16398" y="1280160"/>
            <a:ext cx="2160727" cy="384048"/>
          </a:xfrm>
          <a:prstGeom prst="roundRect">
            <a:avLst>
              <a:gd name="adj" fmla="val 11905"/>
            </a:avLst>
          </a:prstGeom>
          <a:solidFill>
            <a:srgbClr val="1A73E8"/>
          </a:solidFill>
          <a:ln/>
        </p:spPr>
      </p:sp>
      <p:sp>
        <p:nvSpPr>
          <p:cNvPr id="51" name="Text 49"/>
          <p:cNvSpPr/>
          <p:nvPr/>
        </p:nvSpPr>
        <p:spPr>
          <a:xfrm>
            <a:off x="5089550" y="1280160"/>
            <a:ext cx="201442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03  •  RUNTIME &amp; MEMORY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126126" y="1737360"/>
            <a:ext cx="1941271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Sandboxed ADK 2.0 Execution, L1–L5 Memory &amp; Quota Bulkheads</a:t>
            </a:r>
            <a:endParaRPr lang="en-US" sz="940" dirty="0"/>
          </a:p>
        </p:txBody>
      </p:sp>
      <p:sp>
        <p:nvSpPr>
          <p:cNvPr id="53" name="Shape 51"/>
          <p:cNvSpPr/>
          <p:nvPr/>
        </p:nvSpPr>
        <p:spPr>
          <a:xfrm>
            <a:off x="5126126" y="2267712"/>
            <a:ext cx="1941271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2702" y="2267712"/>
            <a:ext cx="186811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Engine • Memorystore Valkey</a:t>
            </a:r>
            <a:endParaRPr lang="en-US" sz="740" dirty="0"/>
          </a:p>
        </p:txBody>
      </p:sp>
      <p:sp>
        <p:nvSpPr>
          <p:cNvPr id="55" name="Text 53"/>
          <p:cNvSpPr/>
          <p:nvPr/>
        </p:nvSpPr>
        <p:spPr>
          <a:xfrm>
            <a:off x="5126126" y="2651760"/>
            <a:ext cx="1941271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 agent reasoning inside gVisor-isolated Cloud Run v2 / Agent Engine sandboxes, partitions L1–L5 Memory Bank namespaces, and enforces per-tenant RPM and thinking budgets.</a:t>
            </a:r>
            <a:endParaRPr lang="en-US" sz="820" dirty="0"/>
          </a:p>
        </p:txBody>
      </p:sp>
      <p:sp>
        <p:nvSpPr>
          <p:cNvPr id="56" name="Shape 54"/>
          <p:cNvSpPr/>
          <p:nvPr/>
        </p:nvSpPr>
        <p:spPr>
          <a:xfrm>
            <a:off x="5126126" y="4279392"/>
            <a:ext cx="1941271" cy="877824"/>
          </a:xfrm>
          <a:prstGeom prst="roundRect">
            <a:avLst>
              <a:gd name="adj" fmla="val 5208"/>
            </a:avLst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126126" y="4279392"/>
            <a:ext cx="54864" cy="87782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8" name="Text 56"/>
          <p:cNvSpPr/>
          <p:nvPr/>
        </p:nvSpPr>
        <p:spPr>
          <a:xfrm>
            <a:off x="5217566" y="4334256"/>
            <a:ext cx="181325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mem://{tenant_id}/L1..L5 • Cap: 4k (Std) / 8k (Ent)</a:t>
            </a:r>
            <a:endParaRPr lang="en-US" sz="680" dirty="0"/>
          </a:p>
        </p:txBody>
      </p:sp>
      <p:sp>
        <p:nvSpPr>
          <p:cNvPr id="59" name="Shape 57"/>
          <p:cNvSpPr/>
          <p:nvPr/>
        </p:nvSpPr>
        <p:spPr>
          <a:xfrm>
            <a:off x="5126126" y="5248656"/>
            <a:ext cx="1941271" cy="585216"/>
          </a:xfrm>
          <a:prstGeom prst="roundRect">
            <a:avLst>
              <a:gd name="adj" fmla="val 7813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80990" y="5285232"/>
            <a:ext cx="1831543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429 on RPM Burst • HTTP 403 on Cross-Namespace Read</a:t>
            </a:r>
            <a:endParaRPr lang="en-US" sz="660" dirty="0"/>
          </a:p>
        </p:txBody>
      </p:sp>
      <p:sp>
        <p:nvSpPr>
          <p:cNvPr id="61" name="Shape 59"/>
          <p:cNvSpPr/>
          <p:nvPr/>
        </p:nvSpPr>
        <p:spPr>
          <a:xfrm>
            <a:off x="7158838" y="3511296"/>
            <a:ext cx="201168" cy="201168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62" name="Text 60"/>
          <p:cNvSpPr/>
          <p:nvPr/>
        </p:nvSpPr>
        <p:spPr>
          <a:xfrm>
            <a:off x="7158838" y="35112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341718" y="1280160"/>
            <a:ext cx="2160727" cy="4663440"/>
          </a:xfrm>
          <a:prstGeom prst="roundRect">
            <a:avLst>
              <a:gd name="adj" fmla="val 2962"/>
            </a:avLst>
          </a:prstGeom>
          <a:solidFill>
            <a:srgbClr val="FFFFFF"/>
          </a:solidFill>
          <a:ln w="13970">
            <a:solidFill>
              <a:srgbClr val="AECBFA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41718" y="1280160"/>
            <a:ext cx="2160727" cy="384048"/>
          </a:xfrm>
          <a:prstGeom prst="roundRect">
            <a:avLst>
              <a:gd name="adj" fmla="val 11905"/>
            </a:avLst>
          </a:prstGeom>
          <a:solidFill>
            <a:srgbClr val="174EA6"/>
          </a:solidFill>
          <a:ln/>
        </p:spPr>
      </p:sp>
      <p:sp>
        <p:nvSpPr>
          <p:cNvPr id="65" name="Text 63"/>
          <p:cNvSpPr/>
          <p:nvPr/>
        </p:nvSpPr>
        <p:spPr>
          <a:xfrm>
            <a:off x="7414870" y="1280160"/>
            <a:ext cx="201442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04  •  SAFETY &amp; DLP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7451446" y="1737360"/>
            <a:ext cx="1941271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Bidirectional Model Armor Screening &amp; Sensitive Data Redaction</a:t>
            </a:r>
            <a:endParaRPr lang="en-US" sz="940" dirty="0"/>
          </a:p>
        </p:txBody>
      </p:sp>
      <p:sp>
        <p:nvSpPr>
          <p:cNvPr id="67" name="Shape 65"/>
          <p:cNvSpPr/>
          <p:nvPr/>
        </p:nvSpPr>
        <p:spPr>
          <a:xfrm>
            <a:off x="7451446" y="2267712"/>
            <a:ext cx="1941271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88022" y="2267712"/>
            <a:ext cx="186811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 • Sensitive Data Protection</a:t>
            </a:r>
            <a:endParaRPr lang="en-US" sz="740" dirty="0"/>
          </a:p>
        </p:txBody>
      </p:sp>
      <p:sp>
        <p:nvSpPr>
          <p:cNvPr id="69" name="Text 67"/>
          <p:cNvSpPr/>
          <p:nvPr/>
        </p:nvSpPr>
        <p:spPr>
          <a:xfrm>
            <a:off x="7451446" y="2651760"/>
            <a:ext cx="1941271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ingress prompts and retrieved RAG chunks for prompt injection/jailbreaks, enforces tenant Natural Language Constraints (NLCs), and redacts egress PII/PCI/IBAN tokens.</a:t>
            </a:r>
            <a:endParaRPr lang="en-US" sz="820" dirty="0"/>
          </a:p>
        </p:txBody>
      </p:sp>
      <p:sp>
        <p:nvSpPr>
          <p:cNvPr id="70" name="Shape 68"/>
          <p:cNvSpPr/>
          <p:nvPr/>
        </p:nvSpPr>
        <p:spPr>
          <a:xfrm>
            <a:off x="7451446" y="4279392"/>
            <a:ext cx="1941271" cy="877824"/>
          </a:xfrm>
          <a:prstGeom prst="roundRect">
            <a:avLst>
              <a:gd name="adj" fmla="val 5208"/>
            </a:avLst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451446" y="4279392"/>
            <a:ext cx="54864" cy="87782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72" name="Text 70"/>
          <p:cNvSpPr/>
          <p:nvPr/>
        </p:nvSpPr>
        <p:spPr>
          <a:xfrm>
            <a:off x="7542886" y="4334256"/>
            <a:ext cx="181325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Policy: inspectContent + deidentifyContent + Tenant NLC Rules</a:t>
            </a:r>
            <a:endParaRPr lang="en-US" sz="680" dirty="0"/>
          </a:p>
        </p:txBody>
      </p:sp>
      <p:sp>
        <p:nvSpPr>
          <p:cNvPr id="73" name="Shape 71"/>
          <p:cNvSpPr/>
          <p:nvPr/>
        </p:nvSpPr>
        <p:spPr>
          <a:xfrm>
            <a:off x="7451446" y="5248656"/>
            <a:ext cx="1941271" cy="585216"/>
          </a:xfrm>
          <a:prstGeom prst="roundRect">
            <a:avLst>
              <a:gd name="adj" fmla="val 7813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506310" y="5285232"/>
            <a:ext cx="1831543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400 on Prompt Injection • HTTP 422 on NLC Policy Breach</a:t>
            </a:r>
            <a:endParaRPr lang="en-US" sz="660" dirty="0"/>
          </a:p>
        </p:txBody>
      </p:sp>
      <p:sp>
        <p:nvSpPr>
          <p:cNvPr id="75" name="Shape 73"/>
          <p:cNvSpPr/>
          <p:nvPr/>
        </p:nvSpPr>
        <p:spPr>
          <a:xfrm>
            <a:off x="9484157" y="3511296"/>
            <a:ext cx="201168" cy="201168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76" name="Text 74"/>
          <p:cNvSpPr/>
          <p:nvPr/>
        </p:nvSpPr>
        <p:spPr>
          <a:xfrm>
            <a:off x="9484157" y="35112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9667037" y="1280160"/>
            <a:ext cx="2160727" cy="4663440"/>
          </a:xfrm>
          <a:prstGeom prst="roundRect">
            <a:avLst>
              <a:gd name="adj" fmla="val 2962"/>
            </a:avLst>
          </a:prstGeom>
          <a:solidFill>
            <a:srgbClr val="FFFFFF"/>
          </a:solidFill>
          <a:ln w="13970">
            <a:solidFill>
              <a:srgbClr val="AECBF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667037" y="1280160"/>
            <a:ext cx="2160727" cy="384048"/>
          </a:xfrm>
          <a:prstGeom prst="roundRect">
            <a:avLst>
              <a:gd name="adj" fmla="val 11905"/>
            </a:avLst>
          </a:prstGeom>
          <a:solidFill>
            <a:srgbClr val="1A73E8"/>
          </a:solidFill>
          <a:ln/>
        </p:spPr>
      </p:sp>
      <p:sp>
        <p:nvSpPr>
          <p:cNvPr id="79" name="Text 77"/>
          <p:cNvSpPr/>
          <p:nvPr/>
        </p:nvSpPr>
        <p:spPr>
          <a:xfrm>
            <a:off x="9740189" y="1280160"/>
            <a:ext cx="201442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05  •  DATA &amp; FINOPS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9776765" y="1737360"/>
            <a:ext cx="1941271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Row-Level Security, CMEK &amp; Zero-PII Telemetry</a:t>
            </a:r>
            <a:endParaRPr lang="en-US" sz="940" dirty="0"/>
          </a:p>
        </p:txBody>
      </p:sp>
      <p:sp>
        <p:nvSpPr>
          <p:cNvPr id="81" name="Shape 79"/>
          <p:cNvSpPr/>
          <p:nvPr/>
        </p:nvSpPr>
        <p:spPr>
          <a:xfrm>
            <a:off x="9776765" y="2267712"/>
            <a:ext cx="1941271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813341" y="2267712"/>
            <a:ext cx="186811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RLS • Cloud KMS • BigQuery</a:t>
            </a:r>
            <a:endParaRPr lang="en-US" sz="740" dirty="0"/>
          </a:p>
        </p:txBody>
      </p:sp>
      <p:sp>
        <p:nvSpPr>
          <p:cNvPr id="83" name="Text 81"/>
          <p:cNvSpPr/>
          <p:nvPr/>
        </p:nvSpPr>
        <p:spPr>
          <a:xfrm>
            <a:off x="9776765" y="2651760"/>
            <a:ext cx="1941271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parameterized PostgreSQL session context (app.current_tenant_id) for mandatory Row-Level Security, verifies Cloud KMS CMEK liveness, and streams zero-PII OTel spans to BigQuery.</a:t>
            </a:r>
            <a:endParaRPr lang="en-US" sz="820" dirty="0"/>
          </a:p>
        </p:txBody>
      </p:sp>
      <p:sp>
        <p:nvSpPr>
          <p:cNvPr id="84" name="Shape 82"/>
          <p:cNvSpPr/>
          <p:nvPr/>
        </p:nvSpPr>
        <p:spPr>
          <a:xfrm>
            <a:off x="9776765" y="4279392"/>
            <a:ext cx="1941271" cy="877824"/>
          </a:xfrm>
          <a:prstGeom prst="roundRect">
            <a:avLst>
              <a:gd name="adj" fmla="val 5208"/>
            </a:avLst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776765" y="4279392"/>
            <a:ext cx="54864" cy="87782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86" name="Text 84"/>
          <p:cNvSpPr/>
          <p:nvPr/>
        </p:nvSpPr>
        <p:spPr>
          <a:xfrm>
            <a:off x="9868205" y="4334256"/>
            <a:ext cx="181325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SQL: SET LOCAL app.current_tenant_id • OTel Chargeback Ledger</a:t>
            </a:r>
            <a:endParaRPr lang="en-US" sz="680" dirty="0"/>
          </a:p>
        </p:txBody>
      </p:sp>
      <p:sp>
        <p:nvSpPr>
          <p:cNvPr id="87" name="Shape 85"/>
          <p:cNvSpPr/>
          <p:nvPr/>
        </p:nvSpPr>
        <p:spPr>
          <a:xfrm>
            <a:off x="9776765" y="5248656"/>
            <a:ext cx="1941271" cy="585216"/>
          </a:xfrm>
          <a:prstGeom prst="roundRect">
            <a:avLst>
              <a:gd name="adj" fmla="val 7813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831629" y="5285232"/>
            <a:ext cx="1831543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Unauthorized Rows • HTTP 423 Locked on CMEK Revocation</a:t>
            </a:r>
            <a:endParaRPr lang="en-US" sz="660" dirty="0"/>
          </a:p>
        </p:txBody>
      </p:sp>
      <p:sp>
        <p:nvSpPr>
          <p:cNvPr id="89" name="Shape 87"/>
          <p:cNvSpPr/>
          <p:nvPr/>
        </p:nvSpPr>
        <p:spPr>
          <a:xfrm>
            <a:off x="365760" y="6126480"/>
            <a:ext cx="11460175" cy="402336"/>
          </a:xfrm>
          <a:prstGeom prst="roundRect">
            <a:avLst>
              <a:gd name="adj" fmla="val 13636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75488" y="6190488"/>
            <a:ext cx="1874520" cy="274320"/>
          </a:xfrm>
          <a:prstGeom prst="roundRect">
            <a:avLst>
              <a:gd name="adj" fmla="val 16667"/>
            </a:avLst>
          </a:prstGeom>
          <a:solidFill>
            <a:srgbClr val="1A73E8"/>
          </a:solidFill>
          <a:ln/>
        </p:spPr>
      </p:sp>
      <p:sp>
        <p:nvSpPr>
          <p:cNvPr id="91" name="Text 89"/>
          <p:cNvSpPr/>
          <p:nvPr/>
        </p:nvSpPr>
        <p:spPr>
          <a:xfrm>
            <a:off x="475488" y="6190488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VERIFICATION</a:t>
            </a:r>
            <a:endParaRPr lang="en-US" sz="780" dirty="0"/>
          </a:p>
        </p:txBody>
      </p:sp>
      <p:sp>
        <p:nvSpPr>
          <p:cNvPr id="92" name="Text 90"/>
          <p:cNvSpPr/>
          <p:nvPr/>
        </p:nvSpPr>
        <p:spPr>
          <a:xfrm>
            <a:off x="2468880" y="6172200"/>
            <a:ext cx="92198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  •  100% Editable Google Cloud Architecture Center Slide</a:t>
            </a:r>
            <a:endParaRPr lang="en-US" sz="880" dirty="0"/>
          </a:p>
        </p:txBody>
      </p:sp>
      <p:sp>
        <p:nvSpPr>
          <p:cNvPr id="93" name="Text 9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Vertex AI Agent Engine, Gemini Enterprise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 — Google Cloud Well-Architected Framework Alignment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365760" y="621792"/>
            <a:ext cx="11460175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21792"/>
            <a:ext cx="100584" cy="65836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67512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• TECHNICAL REFERENCE BREAKDOWN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594360" y="850392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 — Google Cloud Well-Architected Framework Alignment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9238183" y="777240"/>
            <a:ext cx="2423160" cy="329184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38183" y="777240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Architectural Pillars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365760" y="1389888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389888"/>
            <a:ext cx="5639105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493776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20" dirty="0"/>
          </a:p>
        </p:txBody>
      </p:sp>
      <p:sp>
        <p:nvSpPr>
          <p:cNvPr id="27" name="Text 25"/>
          <p:cNvSpPr/>
          <p:nvPr/>
        </p:nvSpPr>
        <p:spPr>
          <a:xfrm>
            <a:off x="914400" y="1481328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Security, Privacy &amp; Compliance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493776" y="1847088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9" name="Text 27"/>
          <p:cNvSpPr/>
          <p:nvPr/>
        </p:nvSpPr>
        <p:spPr>
          <a:xfrm>
            <a:off x="493776" y="1883664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zero-trust defense-in-depth across all 5 hops—combining RFC 9449 DPoP sender-constrained tokens, Model Armor prompt/egress screening, AlloyDB RLS, and revocable Cloud KMS CMEK.</a:t>
            </a:r>
            <a:endParaRPr lang="en-US" sz="960" dirty="0"/>
          </a:p>
        </p:txBody>
      </p:sp>
      <p:sp>
        <p:nvSpPr>
          <p:cNvPr id="30" name="Shape 28"/>
          <p:cNvSpPr/>
          <p:nvPr/>
        </p:nvSpPr>
        <p:spPr>
          <a:xfrm>
            <a:off x="493776" y="2834640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3776" y="2834640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2" name="Text 30"/>
          <p:cNvSpPr/>
          <p:nvPr/>
        </p:nvSpPr>
        <p:spPr>
          <a:xfrm>
            <a:off x="585216" y="2862072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Cloud Armor • IAP OBO/DPoP • Model Armor • Cloud DLP • AlloyDB RLS • VPC-SC • Cloud KMS CMEK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10/10 Breach Vectors Blocked (WS2) + 6/6 Sovereign Silo &amp; HTTP 423 CMEK Tests PASS (WS3)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493776" y="3364992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3364992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1: Security &amp; Compliance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6187745" y="1389888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87745" y="1389888"/>
            <a:ext cx="5639105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37" name="Shape 35"/>
          <p:cNvSpPr/>
          <p:nvPr/>
        </p:nvSpPr>
        <p:spPr>
          <a:xfrm>
            <a:off x="6315761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5761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20" dirty="0"/>
          </a:p>
        </p:txBody>
      </p:sp>
      <p:sp>
        <p:nvSpPr>
          <p:cNvPr id="39" name="Text 37"/>
          <p:cNvSpPr/>
          <p:nvPr/>
        </p:nvSpPr>
        <p:spPr>
          <a:xfrm>
            <a:off x="6736385" y="1481328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Reliability &amp; Fault Isolation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6315761" y="1847088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Text 39"/>
          <p:cNvSpPr/>
          <p:nvPr/>
        </p:nvSpPr>
        <p:spPr>
          <a:xfrm>
            <a:off x="6315761" y="1883664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Prevents noisy-neighbor cascading failures through Memorystore for Valkey token-bucket bulkheads, gVisor execution sandboxes, and zero-downtime 3-phase live tier migrations (`0` dropped sessions).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6315761" y="2834640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15761" y="2834640"/>
            <a:ext cx="54864" cy="475488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44" name="Text 42"/>
          <p:cNvSpPr/>
          <p:nvPr/>
        </p:nvSpPr>
        <p:spPr>
          <a:xfrm>
            <a:off x="6407201" y="2862072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Memorystore for Valkey (120/600 RPM) • Cloud Run v2 gVisor • 3-Phase Live Tier Migrator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99.99% Enterprise Availability SLA • 0ms Replication Lag &amp; 0 Dropped Sessions on Upgrade (WS4)</a:t>
            </a:r>
            <a:endParaRPr lang="en-US" sz="740" dirty="0"/>
          </a:p>
        </p:txBody>
      </p:sp>
      <p:sp>
        <p:nvSpPr>
          <p:cNvPr id="45" name="Shape 43"/>
          <p:cNvSpPr/>
          <p:nvPr/>
        </p:nvSpPr>
        <p:spPr>
          <a:xfrm>
            <a:off x="6315761" y="3364992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46" name="Text 44"/>
          <p:cNvSpPr/>
          <p:nvPr/>
        </p:nvSpPr>
        <p:spPr>
          <a:xfrm>
            <a:off x="6370625" y="3364992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2: Reliability &amp; Bulkheads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365760" y="3776472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65760" y="3776472"/>
            <a:ext cx="5639105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49" name="Shape 47"/>
          <p:cNvSpPr/>
          <p:nvPr/>
        </p:nvSpPr>
        <p:spPr>
          <a:xfrm>
            <a:off x="493776" y="3886200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" y="3886200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20" dirty="0"/>
          </a:p>
        </p:txBody>
      </p:sp>
      <p:sp>
        <p:nvSpPr>
          <p:cNvPr id="51" name="Text 49"/>
          <p:cNvSpPr/>
          <p:nvPr/>
        </p:nvSpPr>
        <p:spPr>
          <a:xfrm>
            <a:off x="914400" y="3867912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Cost Optimization (FinOps)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493776" y="4233672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3" name="Text 51"/>
          <p:cNvSpPr/>
          <p:nvPr/>
        </p:nvSpPr>
        <p:spPr>
          <a:xfrm>
            <a:off x="493776" y="4270248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Shares a 32,000-token immutable system prefix in Gemini 2.5 Pro ContextCacheConfig (90% discount, 84.7% net token savings) and streams per-tenant OTel token spans to BigQuery.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493776" y="5221224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93776" y="5221224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6" name="Text 54"/>
          <p:cNvSpPr/>
          <p:nvPr/>
        </p:nvSpPr>
        <p:spPr>
          <a:xfrm>
            <a:off x="585216" y="5248656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Gemini 2.5 Pro ContextCacheConfig (32k Prefix) • BigQuery OTel Chargeback Ledger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$42/mo Pooled Floor • 84.7% Per-Turn Token Savings • 74% Portfolio TCO Reduction (1,000 Tenants)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493776" y="5751576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58" name="Text 56"/>
          <p:cNvSpPr/>
          <p:nvPr/>
        </p:nvSpPr>
        <p:spPr>
          <a:xfrm>
            <a:off x="548640" y="5751576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3: Cost Optimization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6187745" y="3776472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87745" y="3776472"/>
            <a:ext cx="5639105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15761" y="3886200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15761" y="3886200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20" dirty="0"/>
          </a:p>
        </p:txBody>
      </p:sp>
      <p:sp>
        <p:nvSpPr>
          <p:cNvPr id="63" name="Text 61"/>
          <p:cNvSpPr/>
          <p:nvPr/>
        </p:nvSpPr>
        <p:spPr>
          <a:xfrm>
            <a:off x="6736385" y="3867912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Operational Excellence &amp; 5. Performance Optimization</a:t>
            </a:r>
            <a:endParaRPr lang="en-US" sz="1120" dirty="0"/>
          </a:p>
        </p:txBody>
      </p:sp>
      <p:sp>
        <p:nvSpPr>
          <p:cNvPr id="64" name="Shape 62"/>
          <p:cNvSpPr/>
          <p:nvPr/>
        </p:nvSpPr>
        <p:spPr>
          <a:xfrm>
            <a:off x="6315761" y="4233672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5" name="Text 63"/>
          <p:cNvSpPr/>
          <p:nvPr/>
        </p:nvSpPr>
        <p:spPr>
          <a:xfrm>
            <a:off x="6315761" y="4270248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Reuses 80% of the Python ADK 2.0 codebase across all 3 patterns, validates 20/20 security simulations in CI/CD, and bounds p99 latency via per-tier thinking budgets (4k vs. 8k).</a:t>
            </a:r>
            <a:endParaRPr lang="en-US" sz="960" dirty="0"/>
          </a:p>
        </p:txBody>
      </p:sp>
      <p:sp>
        <p:nvSpPr>
          <p:cNvPr id="66" name="Shape 64"/>
          <p:cNvSpPr/>
          <p:nvPr/>
        </p:nvSpPr>
        <p:spPr>
          <a:xfrm>
            <a:off x="6315761" y="5221224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315761" y="5221224"/>
            <a:ext cx="54864" cy="475488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68" name="Text 66"/>
          <p:cNvSpPr/>
          <p:nvPr/>
        </p:nvSpPr>
        <p:spPr>
          <a:xfrm>
            <a:off x="6407201" y="5248656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core-cymbal-agent/ (80% Reusable Code) • Terraform (2.6, 3.6, 4.6) • 4k/8k Thinking Budget Clamp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12/12 Forensic Gates PASS • Sub-2ms Firestore Tier Lookup • Deterministic Latency Bounds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6315761" y="5751576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70625" y="5751576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Pillars 4 &amp; 5: Ops &amp; Performance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365760" y="6126480"/>
            <a:ext cx="11460175" cy="402336"/>
          </a:xfrm>
          <a:prstGeom prst="roundRect">
            <a:avLst>
              <a:gd name="adj" fmla="val 13636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75488" y="6190488"/>
            <a:ext cx="1874520" cy="274320"/>
          </a:xfrm>
          <a:prstGeom prst="roundRect">
            <a:avLst>
              <a:gd name="adj" fmla="val 16667"/>
            </a:avLst>
          </a:prstGeom>
          <a:solidFill>
            <a:srgbClr val="1A73E8"/>
          </a:solidFill>
          <a:ln/>
        </p:spPr>
      </p:sp>
      <p:sp>
        <p:nvSpPr>
          <p:cNvPr id="73" name="Text 71"/>
          <p:cNvSpPr/>
          <p:nvPr/>
        </p:nvSpPr>
        <p:spPr>
          <a:xfrm>
            <a:off x="475488" y="6190488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4" name="Text 72"/>
          <p:cNvSpPr/>
          <p:nvPr/>
        </p:nvSpPr>
        <p:spPr>
          <a:xfrm>
            <a:off x="2468880" y="6172200"/>
            <a:ext cx="92198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  •  100% Editable Google Cloud Architecture Center Slide</a:t>
            </a:r>
            <a:endParaRPr lang="en-US" sz="880" dirty="0"/>
          </a:p>
        </p:txBody>
      </p:sp>
      <p:sp>
        <p:nvSpPr>
          <p:cNvPr id="75" name="Text 7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Vertex AI Agent Engine, Gemini Enterprise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 — Series Navigation &amp; Engineering Deliverables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MANDATES • EDITABLE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365760" y="621792"/>
            <a:ext cx="11460175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21792"/>
            <a:ext cx="100584" cy="65836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67512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ARCHITECTURAL TAKEAWAYS &amp; PRODUCTION VERIFICATION CHECKLIST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594360" y="850392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 — Series Navigation &amp; Engineering Deliverables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9238183" y="777240"/>
            <a:ext cx="2423160" cy="329184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38183" y="777240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Architectural Pillars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365760" y="1389888"/>
            <a:ext cx="3697834" cy="2263140"/>
          </a:xfrm>
          <a:prstGeom prst="roundRect">
            <a:avLst>
              <a:gd name="adj" fmla="val 2828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389888"/>
            <a:ext cx="3697834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493776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20" dirty="0"/>
          </a:p>
        </p:txBody>
      </p:sp>
      <p:sp>
        <p:nvSpPr>
          <p:cNvPr id="27" name="Text 25"/>
          <p:cNvSpPr/>
          <p:nvPr/>
        </p:nvSpPr>
        <p:spPr>
          <a:xfrm>
            <a:off x="914400" y="1481328"/>
            <a:ext cx="302117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Cryptographic Context Across All 5 Hops</a:t>
            </a:r>
            <a:endParaRPr lang="en-US" sz="1040" dirty="0"/>
          </a:p>
        </p:txBody>
      </p:sp>
      <p:sp>
        <p:nvSpPr>
          <p:cNvPr id="28" name="Shape 26"/>
          <p:cNvSpPr/>
          <p:nvPr/>
        </p:nvSpPr>
        <p:spPr>
          <a:xfrm>
            <a:off x="493776" y="1847088"/>
            <a:ext cx="344180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9" name="Text 27"/>
          <p:cNvSpPr/>
          <p:nvPr/>
        </p:nvSpPr>
        <p:spPr>
          <a:xfrm>
            <a:off x="493776" y="1883664"/>
            <a:ext cx="3441802" cy="9189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row filters alone cannot secure agentic AI; tenant identity must govern ingress, tool discovery, memory namespaces, safety guardrails, and SQL RLS.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93776" y="2857500"/>
            <a:ext cx="3441802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3776" y="2857500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2" name="Text 30"/>
          <p:cNvSpPr/>
          <p:nvPr/>
        </p:nvSpPr>
        <p:spPr>
          <a:xfrm>
            <a:off x="585216" y="2884932"/>
            <a:ext cx="331378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Hops 1–5: Cloud Armor • IAP • Agent Engine Registry • Valkey • Model Armor • AlloyDB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Zero Trust End-to-End: Every Hop Verifies Signed TenantSecurityContext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493776" y="3387852"/>
            <a:ext cx="3441802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3387852"/>
            <a:ext cx="3332074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 1: 5-Hop Defense-in-Depth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246474" y="1389888"/>
            <a:ext cx="3697834" cy="2263140"/>
          </a:xfrm>
          <a:prstGeom prst="roundRect">
            <a:avLst>
              <a:gd name="adj" fmla="val 2828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46474" y="1389888"/>
            <a:ext cx="3697834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37" name="Shape 35"/>
          <p:cNvSpPr/>
          <p:nvPr/>
        </p:nvSpPr>
        <p:spPr>
          <a:xfrm>
            <a:off x="4374490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74490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20" dirty="0"/>
          </a:p>
        </p:txBody>
      </p:sp>
      <p:sp>
        <p:nvSpPr>
          <p:cNvPr id="39" name="Text 37"/>
          <p:cNvSpPr/>
          <p:nvPr/>
        </p:nvSpPr>
        <p:spPr>
          <a:xfrm>
            <a:off x="4795114" y="1481328"/>
            <a:ext cx="302117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 Isolation Topology to Regulatory &amp; Margin Requirements</a:t>
            </a:r>
            <a:endParaRPr lang="en-US" sz="1040" dirty="0"/>
          </a:p>
        </p:txBody>
      </p:sp>
      <p:sp>
        <p:nvSpPr>
          <p:cNvPr id="40" name="Shape 38"/>
          <p:cNvSpPr/>
          <p:nvPr/>
        </p:nvSpPr>
        <p:spPr>
          <a:xfrm>
            <a:off x="4374490" y="1847088"/>
            <a:ext cx="344180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Text 39"/>
          <p:cNvSpPr/>
          <p:nvPr/>
        </p:nvSpPr>
        <p:spPr>
          <a:xfrm>
            <a:off x="4374490" y="1883664"/>
            <a:ext cx="3441802" cy="9189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Pattern A ($42/mo) for commercial scale, Pattern B ($1,850/mo) for regulated sovereignty, and Pattern C for multi-tier SaaS portfolios.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374490" y="2857500"/>
            <a:ext cx="3441802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74490" y="2857500"/>
            <a:ext cx="54864" cy="475488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44" name="Text 42"/>
          <p:cNvSpPr/>
          <p:nvPr/>
        </p:nvSpPr>
        <p:spPr>
          <a:xfrm>
            <a:off x="4465930" y="2884932"/>
            <a:ext cx="331378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Pattern A ($42/mo) • Pattern B ($1,850/mo) • Pattern C (Hybrid PSC Router)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Matches Infrastructure Unit Cost Directly to Customer Contract ACV &amp; Compliance</a:t>
            </a:r>
            <a:endParaRPr lang="en-US" sz="740" dirty="0"/>
          </a:p>
        </p:txBody>
      </p:sp>
      <p:sp>
        <p:nvSpPr>
          <p:cNvPr id="45" name="Shape 43"/>
          <p:cNvSpPr/>
          <p:nvPr/>
        </p:nvSpPr>
        <p:spPr>
          <a:xfrm>
            <a:off x="4374490" y="3387852"/>
            <a:ext cx="3441802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46" name="Text 44"/>
          <p:cNvSpPr/>
          <p:nvPr/>
        </p:nvSpPr>
        <p:spPr>
          <a:xfrm>
            <a:off x="4429354" y="3387852"/>
            <a:ext cx="3332074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 2: Tiered Isolation Economics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8128102" y="1389888"/>
            <a:ext cx="3697834" cy="2263140"/>
          </a:xfrm>
          <a:prstGeom prst="roundRect">
            <a:avLst>
              <a:gd name="adj" fmla="val 2828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28102" y="1389888"/>
            <a:ext cx="3697834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49" name="Shape 47"/>
          <p:cNvSpPr/>
          <p:nvPr/>
        </p:nvSpPr>
        <p:spPr>
          <a:xfrm>
            <a:off x="8256118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256118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20" dirty="0"/>
          </a:p>
        </p:txBody>
      </p:sp>
      <p:sp>
        <p:nvSpPr>
          <p:cNvPr id="51" name="Text 49"/>
          <p:cNvSpPr/>
          <p:nvPr/>
        </p:nvSpPr>
        <p:spPr>
          <a:xfrm>
            <a:off x="8676742" y="1481328"/>
            <a:ext cx="302117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Maintain a Single 80% Reusable Agent Codebase</a:t>
            </a:r>
            <a:endParaRPr lang="en-US" sz="1040" dirty="0"/>
          </a:p>
        </p:txBody>
      </p:sp>
      <p:sp>
        <p:nvSpPr>
          <p:cNvPr id="52" name="Shape 50"/>
          <p:cNvSpPr/>
          <p:nvPr/>
        </p:nvSpPr>
        <p:spPr>
          <a:xfrm>
            <a:off x="8256118" y="1847088"/>
            <a:ext cx="344180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3" name="Text 51"/>
          <p:cNvSpPr/>
          <p:nvPr/>
        </p:nvSpPr>
        <p:spPr>
          <a:xfrm>
            <a:off x="8256118" y="1883664"/>
            <a:ext cx="3441802" cy="9189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Parameterize isolation boundaries via declarative Firestore profiles and Terraform modules rather than forking separate application codebases.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8256118" y="2857500"/>
            <a:ext cx="3441802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256118" y="2857500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6" name="Text 54"/>
          <p:cNvSpPr/>
          <p:nvPr/>
        </p:nvSpPr>
        <p:spPr>
          <a:xfrm>
            <a:off x="8347558" y="2884932"/>
            <a:ext cx="331378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core-cymbal-agent/ (Python ADK 2.0) + Terraform Blueprints (2.6, 3.6, 4.6)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Zero Codebase Forking • Tier Promotion Becomes a Declarative Metadata Update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8256118" y="3387852"/>
            <a:ext cx="3441802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58" name="Text 56"/>
          <p:cNvSpPr/>
          <p:nvPr/>
        </p:nvSpPr>
        <p:spPr>
          <a:xfrm>
            <a:off x="8310982" y="3387852"/>
            <a:ext cx="3332074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 3: 80% Code Reusability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365760" y="3799332"/>
            <a:ext cx="5639105" cy="2217420"/>
          </a:xfrm>
          <a:prstGeom prst="roundRect">
            <a:avLst>
              <a:gd name="adj" fmla="val 288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65760" y="3799332"/>
            <a:ext cx="5639105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61" name="Shape 59"/>
          <p:cNvSpPr/>
          <p:nvPr/>
        </p:nvSpPr>
        <p:spPr>
          <a:xfrm>
            <a:off x="493776" y="3909060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93776" y="3909060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20" dirty="0"/>
          </a:p>
        </p:txBody>
      </p:sp>
      <p:sp>
        <p:nvSpPr>
          <p:cNvPr id="63" name="Text 61"/>
          <p:cNvSpPr/>
          <p:nvPr/>
        </p:nvSpPr>
        <p:spPr>
          <a:xfrm>
            <a:off x="914400" y="3890772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90% Prefix Cache Savings Without Cross-Tenant Risk</a:t>
            </a:r>
            <a:endParaRPr lang="en-US" sz="1120" dirty="0"/>
          </a:p>
        </p:txBody>
      </p:sp>
      <p:sp>
        <p:nvSpPr>
          <p:cNvPr id="64" name="Shape 62"/>
          <p:cNvSpPr/>
          <p:nvPr/>
        </p:nvSpPr>
        <p:spPr>
          <a:xfrm>
            <a:off x="493776" y="4256532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5" name="Text 63"/>
          <p:cNvSpPr/>
          <p:nvPr/>
        </p:nvSpPr>
        <p:spPr>
          <a:xfrm>
            <a:off x="493776" y="4293108"/>
            <a:ext cx="5383073" cy="8732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Gemini 2.5 Pro ContextCacheConfig strictly to immutable platform instructions while isolating tenant episodic state in L1–L5 Memory Bank.</a:t>
            </a:r>
            <a:endParaRPr lang="en-US" sz="960" dirty="0"/>
          </a:p>
        </p:txBody>
      </p:sp>
      <p:sp>
        <p:nvSpPr>
          <p:cNvPr id="66" name="Shape 64"/>
          <p:cNvSpPr/>
          <p:nvPr/>
        </p:nvSpPr>
        <p:spPr>
          <a:xfrm>
            <a:off x="493776" y="5221224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93776" y="5221224"/>
            <a:ext cx="54864" cy="475488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68" name="Text 66"/>
          <p:cNvSpPr/>
          <p:nvPr/>
        </p:nvSpPr>
        <p:spPr>
          <a:xfrm>
            <a:off x="585216" y="5248656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Gemini 2.5 Pro ContextCacheConfig (32k Tokens) + Scoped L1–L5 Memory Bank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84.7% Net Per-Turn Token Savings with 0 Cross-Tenant Prompt Cache Bleed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493776" y="5751576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548640" y="5751576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 4: Safe FinOps Caching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6187745" y="3799332"/>
            <a:ext cx="5639105" cy="2217420"/>
          </a:xfrm>
          <a:prstGeom prst="roundRect">
            <a:avLst>
              <a:gd name="adj" fmla="val 288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187745" y="3799332"/>
            <a:ext cx="5639105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73" name="Shape 71"/>
          <p:cNvSpPr/>
          <p:nvPr/>
        </p:nvSpPr>
        <p:spPr>
          <a:xfrm>
            <a:off x="6315761" y="3909060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315761" y="3909060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20" dirty="0"/>
          </a:p>
        </p:txBody>
      </p:sp>
      <p:sp>
        <p:nvSpPr>
          <p:cNvPr id="75" name="Text 73"/>
          <p:cNvSpPr/>
          <p:nvPr/>
        </p:nvSpPr>
        <p:spPr>
          <a:xfrm>
            <a:off x="6736385" y="3890772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Every Release Against Automated Red-Team Gates</a:t>
            </a:r>
            <a:endParaRPr lang="en-US" sz="1120" dirty="0"/>
          </a:p>
        </p:txBody>
      </p:sp>
      <p:sp>
        <p:nvSpPr>
          <p:cNvPr id="76" name="Shape 74"/>
          <p:cNvSpPr/>
          <p:nvPr/>
        </p:nvSpPr>
        <p:spPr>
          <a:xfrm>
            <a:off x="6315761" y="4256532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7" name="Text 75"/>
          <p:cNvSpPr/>
          <p:nvPr/>
        </p:nvSpPr>
        <p:spPr>
          <a:xfrm>
            <a:off x="6315761" y="4293108"/>
            <a:ext cx="5383073" cy="8732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 the 20-assertion verification suite (10 Pattern A breach tests, 6 Pattern B silo tests, 4 Pattern C migration tests) in CI/CD.</a:t>
            </a:r>
            <a:endParaRPr lang="en-US" sz="960" dirty="0"/>
          </a:p>
        </p:txBody>
      </p:sp>
      <p:sp>
        <p:nvSpPr>
          <p:cNvPr id="78" name="Shape 76"/>
          <p:cNvSpPr/>
          <p:nvPr/>
        </p:nvSpPr>
        <p:spPr>
          <a:xfrm>
            <a:off x="6315761" y="5221224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315761" y="5221224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80" name="Text 78"/>
          <p:cNvSpPr/>
          <p:nvPr/>
        </p:nvSpPr>
        <p:spPr>
          <a:xfrm>
            <a:off x="6407201" y="5248656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scripts/run_deep_forensic_audit.py • 12/12 Forensic Gates • 20/20 Simulations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Continuous Automated Compliance Receipts Logged in BigQuery OTel Sink</a:t>
            </a:r>
            <a:endParaRPr lang="en-US" sz="740" dirty="0"/>
          </a:p>
        </p:txBody>
      </p:sp>
      <p:sp>
        <p:nvSpPr>
          <p:cNvPr id="81" name="Shape 79"/>
          <p:cNvSpPr/>
          <p:nvPr/>
        </p:nvSpPr>
        <p:spPr>
          <a:xfrm>
            <a:off x="6315761" y="5751576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82" name="Text 80"/>
          <p:cNvSpPr/>
          <p:nvPr/>
        </p:nvSpPr>
        <p:spPr>
          <a:xfrm>
            <a:off x="6370625" y="5751576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 5: Continuous Verification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365760" y="6126480"/>
            <a:ext cx="11460175" cy="402336"/>
          </a:xfrm>
          <a:prstGeom prst="roundRect">
            <a:avLst>
              <a:gd name="adj" fmla="val 13636"/>
            </a:avLst>
          </a:prstGeom>
          <a:solidFill>
            <a:srgbClr val="E6F4EA"/>
          </a:solidFill>
          <a:ln w="10795">
            <a:solidFill>
              <a:srgbClr val="CEEA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75488" y="6190488"/>
            <a:ext cx="1874520" cy="274320"/>
          </a:xfrm>
          <a:prstGeom prst="roundRect">
            <a:avLst>
              <a:gd name="adj" fmla="val 16667"/>
            </a:avLst>
          </a:prstGeom>
          <a:solidFill>
            <a:srgbClr val="1E8E3E"/>
          </a:solidFill>
          <a:ln/>
        </p:spPr>
      </p:sp>
      <p:sp>
        <p:nvSpPr>
          <p:cNvPr id="85" name="Text 83"/>
          <p:cNvSpPr/>
          <p:nvPr/>
        </p:nvSpPr>
        <p:spPr>
          <a:xfrm>
            <a:off x="475488" y="6190488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 / ACTION</a:t>
            </a:r>
            <a:endParaRPr lang="en-US" sz="780" dirty="0"/>
          </a:p>
        </p:txBody>
      </p:sp>
      <p:sp>
        <p:nvSpPr>
          <p:cNvPr id="86" name="Text 84"/>
          <p:cNvSpPr/>
          <p:nvPr/>
        </p:nvSpPr>
        <p:spPr>
          <a:xfrm>
            <a:off x="2468880" y="6172200"/>
            <a:ext cx="92198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the 3-slide architectural sequences for Figures 1 &amp; 2, execute python3 -B scripts/run_deep_forensic_audit.py, and proceed to Workstream 2 (Pattern A Pooled Architecture).</a:t>
            </a:r>
            <a:endParaRPr lang="en-US" sz="880" dirty="0"/>
          </a:p>
        </p:txBody>
      </p:sp>
      <p:sp>
        <p:nvSpPr>
          <p:cNvPr id="87" name="Text 8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Vertex AI Agent Engine, Gemini Enterprise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Blueprint Summary &amp; Reference Lineage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REFERENCE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91440" cy="56692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11002975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At-a-Glance Blueprint Index: Architectural Questions, Verified Outcomes &amp; Google Cloud Services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80160"/>
          <a:ext cx="11460175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2743200"/>
                <a:gridCol w="3337560"/>
                <a:gridCol w="25904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Architecture Blueprint (3-Slide Sequence)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Question Answered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Cloud Solution &amp; Verification Outcome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Google Cloud Stack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1.1 BLUEPRINT — Multi-Tenant Agentic AI Taxonomy: Pooled (Pattern A), Sovereign Silos (Pattern B) &amp; Hybrid (Pattern C)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do B2B SaaS platforms and large enterprises serve thousands of tenants across Pooled (Pattern A), Sovereign Silo (Pattern B), and Dynamic Hybrid (Pattern C) isolation models using one 80% reusable agentic codebase?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 teams maintain a single ADK 2.0 and Vertex AI Agent Engine codebase while delivering $42/mo Pooled (Pattern A), $680/mo Hybrid PSC (Pattern C), and $1,850/mo Sovereign Silo (Pattern B) isolation tiers with zero cross-tenant data bleed.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 Load Balancer • Cloud Armor • Identity-Aware Proxy (IAP) • Cloud Run • Vertex AI Agent Engine (ADK 2.0) • Model Armor • AlloyDB &amp; BigQuery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1.3 DOC PR BLUEPRINT — Cloud Architecture Center: Multi-Tenant Agentic AI System with 5-Hop Cryptographic Governance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do we extend the official Google Cloud Architecture Center multi-tenant hub-and-spoke blueprint with a 5-Hop Cryptographic Context Chain that prevents confused-deputy tool calls, cache bleed, and noisy neighbors?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request traverses five deterministic governance hops—Edge Identity PEP (Hop 1), Catalog PDP (Hop 2), Compute &amp; Memory Bulkhead (Hop 3), Model Armor Guardrails (Hop 4), and Data RLS + OTel (Hop 5)—failing closed immediately on any violation.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Armor • Identity-Aware Proxy • Cloud KMS • Discovery Engine Agent Catalog • Vertex AI Agent Engine • Model Armor • AlloyDB RLS • BigQuery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365760" y="3246120"/>
            <a:ext cx="3697834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65760" y="3246120"/>
            <a:ext cx="3697834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3" name="Text 20"/>
          <p:cNvSpPr/>
          <p:nvPr/>
        </p:nvSpPr>
        <p:spPr>
          <a:xfrm>
            <a:off x="502920" y="3337560"/>
            <a:ext cx="342381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3-Slide Sequence per Blueprint</a:t>
            </a:r>
            <a:endParaRPr lang="en-US" sz="1020" dirty="0"/>
          </a:p>
        </p:txBody>
      </p:sp>
      <p:sp>
        <p:nvSpPr>
          <p:cNvPr id="24" name="Text 21"/>
          <p:cNvSpPr/>
          <p:nvPr/>
        </p:nvSpPr>
        <p:spPr>
          <a:xfrm>
            <a:off x="502920" y="3611880"/>
            <a:ext cx="3423818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architecture blueprint in this deck includes (1) a 100% Native Editable Diagram + 4-Zone Reference Sidebar, (2) a Step-by-Step Logical Flow, and (3) a Protocol &amp; Code Technical Flow.</a:t>
            </a:r>
            <a:endParaRPr lang="en-US" sz="840" dirty="0"/>
          </a:p>
        </p:txBody>
      </p:sp>
      <p:sp>
        <p:nvSpPr>
          <p:cNvPr id="25" name="Shape 22"/>
          <p:cNvSpPr/>
          <p:nvPr/>
        </p:nvSpPr>
        <p:spPr>
          <a:xfrm>
            <a:off x="493776" y="4946904"/>
            <a:ext cx="3441802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26" name="Text 23"/>
          <p:cNvSpPr/>
          <p:nvPr/>
        </p:nvSpPr>
        <p:spPr>
          <a:xfrm>
            <a:off x="548640" y="4946904"/>
            <a:ext cx="3332074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Editable Shapes + 23 Connectors per Diagram</a:t>
            </a:r>
            <a:endParaRPr lang="en-US" sz="740" dirty="0"/>
          </a:p>
        </p:txBody>
      </p:sp>
      <p:sp>
        <p:nvSpPr>
          <p:cNvPr id="27" name="Shape 24"/>
          <p:cNvSpPr/>
          <p:nvPr/>
        </p:nvSpPr>
        <p:spPr>
          <a:xfrm>
            <a:off x="4246474" y="3246120"/>
            <a:ext cx="3697834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46474" y="3246120"/>
            <a:ext cx="3697834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29" name="Text 26"/>
          <p:cNvSpPr/>
          <p:nvPr/>
        </p:nvSpPr>
        <p:spPr>
          <a:xfrm>
            <a:off x="4383634" y="3337560"/>
            <a:ext cx="342381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Automated Security &amp; FinOps Proof</a:t>
            </a:r>
            <a:endParaRPr lang="en-US" sz="1020" dirty="0"/>
          </a:p>
        </p:txBody>
      </p:sp>
      <p:sp>
        <p:nvSpPr>
          <p:cNvPr id="30" name="Text 27"/>
          <p:cNvSpPr/>
          <p:nvPr/>
        </p:nvSpPr>
        <p:spPr>
          <a:xfrm>
            <a:off x="4383634" y="3611880"/>
            <a:ext cx="3423818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patterns are certified by 12 forensic checks and 20 simulation assertions—proving zero cross-tenant data bleed, 90% shared prefix caching savings, and &lt;60s CMEK revocation.</a:t>
            </a:r>
            <a:endParaRPr lang="en-US" sz="840" dirty="0"/>
          </a:p>
        </p:txBody>
      </p:sp>
      <p:sp>
        <p:nvSpPr>
          <p:cNvPr id="31" name="Shape 28"/>
          <p:cNvSpPr/>
          <p:nvPr/>
        </p:nvSpPr>
        <p:spPr>
          <a:xfrm>
            <a:off x="4374490" y="4946904"/>
            <a:ext cx="3441802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32" name="Text 29"/>
          <p:cNvSpPr/>
          <p:nvPr/>
        </p:nvSpPr>
        <p:spPr>
          <a:xfrm>
            <a:off x="4429354" y="4946904"/>
            <a:ext cx="3332074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12/12 Forensic Gates • 20/20 Simulations PASS</a:t>
            </a:r>
            <a:endParaRPr lang="en-US" sz="740" dirty="0"/>
          </a:p>
        </p:txBody>
      </p:sp>
      <p:sp>
        <p:nvSpPr>
          <p:cNvPr id="33" name="Shape 30"/>
          <p:cNvSpPr/>
          <p:nvPr/>
        </p:nvSpPr>
        <p:spPr>
          <a:xfrm>
            <a:off x="8128102" y="3246120"/>
            <a:ext cx="3697834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128102" y="3246120"/>
            <a:ext cx="3697834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5" name="Text 32"/>
          <p:cNvSpPr/>
          <p:nvPr/>
        </p:nvSpPr>
        <p:spPr>
          <a:xfrm>
            <a:off x="8265262" y="3337560"/>
            <a:ext cx="342381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Official Architecture Center Alignment</a:t>
            </a:r>
            <a:endParaRPr lang="en-US" sz="1020" dirty="0"/>
          </a:p>
        </p:txBody>
      </p:sp>
      <p:sp>
        <p:nvSpPr>
          <p:cNvPr id="36" name="Text 33"/>
          <p:cNvSpPr/>
          <p:nvPr/>
        </p:nvSpPr>
        <p:spPr>
          <a:xfrm>
            <a:off x="8265262" y="3611880"/>
            <a:ext cx="3423818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Extends the official Google Cloud Architecture Center multi-tenant agentic AI blueprint (#78) with production-ready code and Terraform for Pooled, Siloed, and Hybrid SaaS.</a:t>
            </a:r>
            <a:endParaRPr lang="en-US" sz="840" dirty="0"/>
          </a:p>
        </p:txBody>
      </p:sp>
      <p:sp>
        <p:nvSpPr>
          <p:cNvPr id="37" name="Shape 34"/>
          <p:cNvSpPr/>
          <p:nvPr/>
        </p:nvSpPr>
        <p:spPr>
          <a:xfrm>
            <a:off x="8256118" y="4946904"/>
            <a:ext cx="3441802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38" name="Text 35"/>
          <p:cNvSpPr/>
          <p:nvPr/>
        </p:nvSpPr>
        <p:spPr>
          <a:xfrm>
            <a:off x="8310982" y="4946904"/>
            <a:ext cx="3332074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• Hub &amp; Spoke</a:t>
            </a:r>
            <a:endParaRPr lang="en-US" sz="740" dirty="0"/>
          </a:p>
        </p:txBody>
      </p:sp>
      <p:sp>
        <p:nvSpPr>
          <p:cNvPr id="39" name="Text 3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the 3-slide architectural sequences for Figures 1 &amp; 2, execute python3 -B scripts/run_deep_forensic_audit.py, and proceed to Workstream 2 (Pattern A Pooled Architecture).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Multi-Tenant Agentic AI on Google Cloud: Reference Taxonomy &amp; 5-Hop Governance (Workstream 1)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2026-10-15T22:49:42Z</dcterms:created>
  <dcterms:modified xsi:type="dcterms:W3CDTF">2026-10-15T22:49:42Z</dcterms:modified>
</cp:coreProperties>
</file>