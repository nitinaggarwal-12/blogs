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have structured this streamlined eleven-slide reference architecture briefing into a cohesive five-part engineering series roadmap so you can trace the SaaS AI Dilemma from isolation topologies all the way to automated CI/CD forensic compliance.</a:t>
            </a:r>
            <a:endParaRPr lang="en-US" dirty="0"/>
          </a:p>
          <a:p>
            <a:r>
              <a:rPr lang="en-US" dirty="0"/>
              <a:t>In this session, we are walking through our foundational reference architecture for running multi-tenant AI agents on Google Cloud. Right upfront, we define our three core building blocks using operating-system primitives—Google’s Agent Development Kit (ADK) as our OS syscall scheduler, the Model Context Protocol (MCP) as our POSIX tool driver ABI, and Agent Registry and Discovery (ARD) as our chrooted virtual filesystem catalog—and show how we solve the SaaS AI Architect’s Dilemma: avoiding the margin erosion of spinning up dedicated cloud projects for every small customer while preventing tool-schema data leaks and noisy-neighbor rate starvation in a shared pool.</a:t>
            </a:r>
            <a:endParaRPr lang="en-US" dirty="0"/>
          </a:p>
          <a:p>
            <a:r>
              <a:rPr lang="en-US" dirty="0"/>
              <a:t>With our thesis defined on Slide 1, let's turn to Slide 2 for our Agenda and 5-Part Series Navigation table so you can see the exact macro-to-micro flow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executive cover on Slide 1, Slide 2 provides an explicit Table of Contents mapping all eleven slides across the five-part blog series and our L1-to-L4 architectural hierarchy.</a:t>
            </a:r>
            <a:endParaRPr lang="en-US" dirty="0"/>
          </a:p>
          <a:p>
            <a:r>
              <a:rPr lang="en-US" dirty="0"/>
              <a:t>This Table of Contents maps our streamlined eleven-slide deck directly to the five-part engineering blog series and follows a strict macro-to-micro hierarchy. Part 1 covers the SaaS AI Architect’s Dilemma and isolation topologies across Slides 1 through 4. Part 2 establishes the five-hop cryptographic pipeline from L1 Logical Security Layers on Slide 5 to L2 Physical Network Perimeters on Slide 6 and L4 Wire Packet transformation on Slide 8. Part 3 on Slide 7 merges our L3 chronological UML sequence with fail-closed circuit breakers, sub-five-second Valkey L1 cache eviction, and single-flight recovery. Part 4 on Slide 9 documents our five EAP product gap controls, and Part 5 across Slides 10 and 11 pairs live Google Cloud Console proof with our merged Well-Architected SLA scorecard and runnable GitHub milestones.</a:t>
            </a:r>
            <a:endParaRPr lang="en-US" dirty="0"/>
          </a:p>
          <a:p>
            <a:r>
              <a:rPr lang="en-US" dirty="0"/>
              <a:t>Now that we have the full eleven-slide roadmap in front of us, let's turn to Slide 3 to meet the competing customer personas whose business and regulatory constraints drive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into Part 1 from our Agenda on Slide 2, we start with the customer personas first—contrasting regulated banking workloads against high-density commercial SaaS workloads.</a:t>
            </a:r>
            <a:endParaRPr lang="en-US" dirty="0"/>
          </a:p>
          <a:p>
            <a:r>
              <a:rPr lang="en-US" dirty="0"/>
              <a:t>Here you can see that SaaS AI tension illustrated through two competing tenant personas on our Cymbal platform. On one side, FinVault Bank is a regulated financial institution at six hundred requests per minute that requires customer-controlled encryption keys and chooses between Managed Vertex AI Dedicated Provisioned Throughput for zero-ops Gemini 2.5 Pro capacity or self-managed, air-gapped Gemma 3 27B on Private GKE with zero internet egress. On the other side, RetailStream Corp runs on Microsoft Entra ID and ServiceNow at one hundred twenty requests per minute, where we isolate per-user Three-Legged OAuth tokens inside tenant-and-user DPoP-bound vaults to eliminate the Confused Deputy vulnerability across pooled workers.</a:t>
            </a:r>
            <a:endParaRPr lang="en-US" dirty="0"/>
          </a:p>
          <a:p>
            <a:r>
              <a:rPr lang="en-US" dirty="0"/>
              <a:t>Now that we see what FinVault Bank and RetailStream Corp require on Slide 3, let's turn to Slide 4 to compare our three isolation topologies across twelve architectural and operational dimensions.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personas from Slide 3, this matrix closes Part 1 by comparing Pooled (Pattern A), Sovereign Silos (Pattern B), and Dynamic Hybrid (Pattern C).</a:t>
            </a:r>
            <a:endParaRPr lang="en-US" dirty="0"/>
          </a:p>
          <a:p>
            <a:r>
              <a:rPr lang="en-US" dirty="0"/>
              <a:t>To serve both ends of that customer spectrum, this twelve-dimension matrix compares Pattern A, our High-Density Shared Pool; Pattern B, our Zero-Trust Sovereign Silos; and Pattern C, our Dynamic Hybrid Bridge. Notice the operational fleet-scale trade-off in the table: managing five hundred enterprise customers in Pattern B means maintaining five hundred separate VPC Service Controls perimeters, KMS keys, and AlloyDB instances—which is why Pattern C hosts nine hundred fifty standard tenants in the shared pool and reserves fifty Private Service Connect spokes for regulated contracts. Also note our kill-switch distinction: while Google Cloud KMS key state propagation can take up to sixty seconds across storage, Hop 3 runs a targeted Valkey SCAN and UNLINK of the tenant’s cache prefix in under five seconds to enforce our HTTP 423 lock SLA.</a:t>
            </a:r>
            <a:endParaRPr lang="en-US" dirty="0"/>
          </a:p>
          <a:p>
            <a:r>
              <a:rPr lang="en-US" dirty="0"/>
              <a:t>With our three isolation topologies defined in Part 1, let's enter Part 2 on Slide 5 at Level 1 Logical—examining our three logical security layers before zooming into the four physical VPC-SC network perimeters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2 on securing the agent loop, Slide 5 establishes the Level 1 Logical view—organizing our architecture into three logical security layers so it maps cleanly onto the four physical VPC-SC perimeters on Slide 6.</a:t>
            </a:r>
            <a:endParaRPr lang="en-US" dirty="0"/>
          </a:p>
          <a:p>
            <a:r>
              <a:rPr lang="en-US" dirty="0"/>
              <a:t>Before we inspect individual cloud services, this Level 1 diagram organizes our entire architecture into three logical security layers from left to right—preventing any terminology clash with the four physical VPC-SC network perimeters on the next slide. Layer 1 on the left verifies federated identity and DPoP proofs at the Cloud Armor and IAP edge. Layer 2 in the center runs our Five-Hop ADK Control Plane, where regional gRPC callouts keep Hop 4 inline Model Armor and Cloud DLP inspection to roughly twenty-two milliseconds and total five-hop control-plane overhead to about forty-two milliseconds at p95. And to prevent security drift during a five-minute STS JWT window, every hop checks a three-millisecond Valkey JTI and CMEK revocation deny-list before routing into Layer 3 on the right.</a:t>
            </a:r>
            <a:endParaRPr lang="en-US" dirty="0"/>
          </a:p>
          <a:p>
            <a:r>
              <a:rPr lang="en-US" dirty="0"/>
              <a:t>Now that we have the three logical security layers in mind, let's zoom directly into Level 2 Physical on Slide 6 to see how those layers map onto our fifty-six-shape Google Cloud blueprint across four physical VPC-SC network perimeters.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strict macro-to-micro L1-to-L2 progression from Slide 5, Slide 6 maps the three logical security layers onto concrete Google Cloud services across four color-coded physical VPC Service Controls perimeters.</a:t>
            </a:r>
            <a:endParaRPr lang="en-US" dirty="0"/>
          </a:p>
          <a:p>
            <a:r>
              <a:rPr lang="en-US" dirty="0"/>
              <a:t>Zooming directly from those three logical security layers into the Level 2 physical topology, Figure 1 maps our fifty-six-shape Google Cloud blueprint across four physical VPC Service Controls network perimeters. Requests enter Blue Perimeter 1 (the Routing Hub for Steps 1 through 3 and Hop 1) at the top, traverse Green Perimeter 2 (the Five-Hop Governance Hub for Hops 2 and 5) in the center, and execute inside either Yellow Perimeter 3 (the Pattern A Shared Pool Spoke for Steps 4 through 7 and Hops 3 through 5) on the left or Red Perimeter 4 (the Pattern B Sovereign Silo and Pattern C PSC Spoke) on the right—with gVisor kernel sandboxing and composite tenant-user-session keys isolating every worker.</a:t>
            </a:r>
            <a:endParaRPr lang="en-US" dirty="0"/>
          </a:p>
          <a:p>
            <a:r>
              <a:rPr lang="en-US" dirty="0"/>
              <a:t>With both the L1 logical layers and L2 physical perimeters established, let's step into Level 3 Process on Slide 7 to trace a live request chronologically across all five actors alongside our merged fail-closed circuit breakers and Valkey L1 cache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from L2 Physical on Slide 6 to L3 Process on Slide 7, this unified diagram combines our chronological five-actor request sequence with our fail-closed circuit breakers, sub-five-second Valkey SCAN+UNLINK eviction, and SET NX PX 5000 single-flight recovery.</a:t>
            </a:r>
            <a:endParaRPr lang="en-US" dirty="0"/>
          </a:p>
          <a:p>
            <a:r>
              <a:rPr lang="en-US" dirty="0"/>
              <a:t>Now that we have the L1 logical layers and L2 physical perimeters in place, this merged Level 3 process and operational resilience slide traces both the chronological happy path across five actors and every fail-closed circuit breaker in one unified view. Steps 1 through 6 trace a live customer turn in roughly forty-two milliseconds of control-plane overhead. And in the red fail-closed frame at the bottom, spoofed headers or ~3ms JTI revocations return HTTP 401 or 403, rate bursts over 120 or 600 RPM return HTTP 429 with Retry-After jitter, and a revoked Cloud KMS key triggers an HTTP 423 lock with a sub-five-second targeted Valkey SCAN and UNLINK of cache:{tenant}:*—followed by single-flight SET NX PX 5000 lazy re-hydration from AlloyDB RLS when the key is restored.</a:t>
            </a:r>
            <a:endParaRPr lang="en-US" dirty="0"/>
          </a:p>
          <a:p>
            <a:r>
              <a:rPr lang="en-US" dirty="0"/>
              <a:t>Having watched the request and its circuit breakers execute across Hops 1 through 5 on Slide 7, let's zoom all the way down to Level 4 Wire on Slide 8 to inspect the exact JSON packet and KMS-signed STS JWT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our L1 → L2 → L3 → L4 macro-to-micro hierarchy, Slide 8 inspects the raw JSON payload on the wire before and after Hop 1 token exchange.</a:t>
            </a:r>
            <a:endParaRPr lang="en-US" dirty="0"/>
          </a:p>
          <a:p>
            <a:r>
              <a:rPr lang="en-US" dirty="0"/>
              <a:t>Zooming all the way down to Level 4, here we open up the wire packet traveling across those hops. On the left, an untrusted client attempts to inject a spoofed X-Tenant-Id header claiming to be FinVault Bank. In the center, Cloud Armor and our Hop 1 Security Token Service strip that header, verify the caller’s OIDC and DPoP proof, and mint a KMS ECDSA P-256 signed STS JWT. On the right, downstream microservices verify that asymmetric signature locally in under 0.15 milliseconds using an in-memory cached JWKS public key—achieving mathematical non-repudiation with zero per-hop KMS network calls.</a:t>
            </a:r>
            <a:endParaRPr lang="en-US" dirty="0"/>
          </a:p>
          <a:p>
            <a:r>
              <a:rPr lang="en-US" dirty="0"/>
              <a:t>With the five-hop architecture proven from logical layers down to the wire packet, let's move into Part 4 on Slide 9 to inspect the five EAP product gaps we encountered and the feature-flagged compensating controls we built to close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on Slide 9 provides our transparent engineering ledger of five current platform gaps, our codebase compensating controls, and our feature-flagged native adapter sunset hooks.</a:t>
            </a:r>
            <a:endParaRPr lang="en-US" dirty="0"/>
          </a:p>
          <a:p>
            <a:r>
              <a:rPr lang="en-US" dirty="0"/>
              <a:t>This register maps our five compensating production controls—GAP-01 through GAP-05—to the early-access platform boundaries engineering teams face today. Every custom Python, Valkey, or SQL control in core-cymbal-agent is wrapped in a feature-flagged native adapter hook (CYMBAL_NATIVE_ARD_GA, CYMBAL_NATIVE_KMS_PROBE_GA, CYMBAL_NATIVE_MEM_TTL_GA, CYMBAL_NATIVE_PSC_CUTOVER_GA, and CYMBAL_NATIVE_OTEL_FINOPS_GA) so teams can switch cleanly to native GCP primitives via configuration as they reach general availability. And in row five, our OpenTelemetry FinOps exporter streams SHA-256 prompt hashes and token counters directly into BigQuery so finance teams can run exact SQL chargeback queries across cached and thinking tokens with zero raw PII.</a:t>
            </a:r>
            <a:endParaRPr lang="en-US" dirty="0"/>
          </a:p>
          <a:p>
            <a:r>
              <a:rPr lang="en-US" dirty="0"/>
              <a:t>With our compensating controls documented on Slide 9, let's enter Part 5 on Slide 10 to inspect the live Google Cloud Console and Cloud Logging Explorer proof from our deployed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5 on automated compliance, Slide 10 presents live evidence captured from our running Google Cloud projects along with the exact Cloud Logging Explorer queries used by SRE and CISO auditors.</a:t>
            </a:r>
            <a:endParaRPr lang="en-US" dirty="0"/>
          </a:p>
          <a:p>
            <a:r>
              <a:rPr lang="en-US" dirty="0"/>
              <a:t>To prove this architecture is running live rather than just on slides, here are authentic captures from our deployed Cloud Run revisions in ramp-portal-dev and bbar-138hf0, Cloud Logging Explorer, Dual-Plane verification harness, and twenty before-versus-after 2880-by-1800 Retina third-party SaaS UIs including Metabase BI v0.50.26 and Trino Distributed SQL v440. On the Intra-Cloud plane, our 20/20 Google Cloud runtime suites verify zero cross-tenant RLS rows across HTTP 200, 403, 423, and 429 responses; on the Inter-Cloud plane, our 30/30 AWS Bedrock AgentCore MCP and 10-SaaS cross-cloud target harness passes all sixty assertions and all thirteen automated forensic gates.</a:t>
            </a:r>
            <a:endParaRPr lang="en-US" dirty="0"/>
          </a:p>
          <a:p>
            <a:r>
              <a:rPr lang="en-US" dirty="0"/>
              <a:t>With the live cloud verification complete, let's move to our final slide—Slide 11—where we merge our Google Cloud Well-Architected SLA scorecard directly into the five runnable engineering milestones and five-part blog series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Part 5, our final slide consolidates our Well-Architected SLA scorecard directly into the five executable GitHub milestones and five-part blog series roadmap.</a:t>
            </a:r>
            <a:endParaRPr lang="en-US" dirty="0"/>
          </a:p>
          <a:p>
            <a:r>
              <a:rPr lang="en-US" dirty="0"/>
              <a:t>Finally, our closing slide consolidates the Google Cloud Well-Architected SLA scorecard directly into our five runnable GitHub milestones and five-part blog series launch plan. Every milestone card pairs its exact repository file path with its production SLA target: under 150-microsecond cached-JWKS verification and ~3ms JTI deny-lists in Part 1; ~42ms p95 five-hop overhead, ~420ms warm TTFT, and 84.7 percent token savings in Part 2; &lt;60s CMEK revocation, &lt;5s Valkey SCAN+UNLINK eviction, SET NX PX 5000 recovery, and &lt;30s cross-region failover RTO in Part 3; 74 percent portfolio TCO reduction and 0ms PSC cutover in Part 4; and 13/13 forensic plus 107/107 runtime assertions in Part 5.</a:t>
            </a:r>
            <a:endParaRPr lang="en-US" dirty="0"/>
          </a:p>
          <a:p>
            <a:r>
              <a:rPr lang="en-US" dirty="0"/>
              <a:t>That completes our streamlined eleven-slide walkthrough—I would love to open the floor for your questions, or we can jump straight into the live codebase and Terraform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image" Target="../media/image-6-19.png"/><Relationship Id="rId20" Type="http://schemas.openxmlformats.org/officeDocument/2006/relationships/image" Target="../media/image-6-20.png"/><Relationship Id="rId21" Type="http://schemas.openxmlformats.org/officeDocument/2006/relationships/slideLayout" Target="../slideLayouts/slideLayout1.xml"/><Relationship Id="rId2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Why It Matters (SaaS AI Dilemma)</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Dedicated projects erode SaaS gross margins, while naive shared agents leak tool schemas and allow quota starvation.</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Core Primitives (ADK • MCP • ARD)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ADK (syscall scheduler), MCP (tool driver ABI) &amp; ARD (chrooted catalog) isolate every tenant across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Topologies &amp; 80/20 Reuse</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(Pooled RLS), Pattern B (Sovereign Silos), and Pattern C (Hybrid PSC) share 80% identical Python ADK code.</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5-Hop Pipeline (~42ms p95 Gate)</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Enforces KMS-signed OBO/DPoP tokens, ARD pruning, Valkey bulkheads, Model Armor DLP, and AlloyDB FORCE RLS.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PART 1 • SLIDES 1–4</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Agenda, Personas &amp; 12-Dim Pattern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Maps ADK/MCP/ARD to CS101 OS primitives; sets the 5-Act agenda (Slide 2), contrasts FinVault (600 RPM: Dedicated PT vs. GKE Gemma 3) &amp; RetailStream (120 RPM: 3LO vault, Slide 3), and compares Patterns A/B/C (Slide 4).</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PART 2 • SLIDES 5–6 &amp; 8</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3 Layers → L2 4 Perimeters → L4 Wire</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macro-to-micro from the 3 Logical Security Layers (~42ms p95, Slide 5) into the 4 Physical VPC-SC Perimeters &amp; Steps 1–7 in Figure 1 (Slide 6) and &lt;0.15ms cached-JWKS STS JWT wire packet (Slide 8).</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PART 3 • SLIDE 7 (L3)</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Merged L3 UML, Breakers &amp; Stampede Lock</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Unifies the 5-Actor chronological UML sequence (Hops 1–5 / UML Steps 1–6) with [Alt] fail-closed circuit breakers (HTTP 401–429), &lt;5s targeted Valkey SCAN+UNLINK, and SET NX PX 5000 single-flight recovery (Slide 7).</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PARTS 4–5 • SLIDES 9–11</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GAP-01..05, Live GCP Proof &amp; Merged SLAs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Details feature-flagged GAP-01..05 sunset hooks + BigQuery OTel SQL (Slide 9), live Cloud Run &amp; Cloud Logging proof (Slide 10), and merged Well-Architected SLAs + 5 runnable GitHub milestones (Slide 11).</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13/13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Streamlined 11-Slide Executive Deck &amp; 5-Part Editorial Blog Series Roadmap</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SaaS Control Plane (Shared 32k Prefix Cache)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ARD Registry &amp; L1–L5 Memory Bank), caching a 32,000-token SRE runbook prefix once (90% discount -&gt; 84.7% net per-turn token cost reduction).</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ARD, L1–L5 Memory) • Gemini 2.5 Pro (32k ContextCacheConfig)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 • ~42ms 5-Hop Overhead</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(Dedicated PT vs. Private GKE Gemma 3)</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Regulated bank (600 RPM / 8k thinking, VPC-SC, CMEK) choosing between Vertex AI Dedicated Provisioned Throughput (managed SaaS Gemini 2.5 Pro, 0 K8s ops) or Self-Managed Gemma 3 27B on Private GKE (air-gapped GPU nodes, 0 internet egress).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Managed Vertex AI Dedicated PT (SaaS SLA, 0 GPU Ops) vs. Air-Gapped GKE Gemma 3 27B (Customer GPU Nodes)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8,000 Thinking Budget • VPC-SC • Cloud KMS CMEK (finvault-silo-cmek)</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Silo: FinVault Hosting Trade-Off</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(3LO Token Vault &amp; Anti-Confused-Deputy)</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Pooled tenant (120 RPM / 4k thinking, Entra ID) invoking ServiceNow ITOM via 3LO step-up consent; per-user OAuth tokens are isolated in {tenant}:{user} DPoP-bound vaults (dpop_jkt verified) so pooled agents never act as a Confused Deputy.</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Entra ID OIDC • Per-User DPoP-Bound 3LO Vault ({tenant}:{user}) • ServiceNow &amp; SharePoint MCP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4,000 Thinking Cap • Eliminates Pooled Confused-Deputy Token Replay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Pooled Tenant: RetailStream &amp; 3LO Security</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~42ms 5-Hop Budget</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Valkey token buckets, streaming Model Armor/DLP (~22ms), and AlloyDB FORCE RLS run one 80% reusable ADK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Verified by 107/107 Automated Security &amp; SaaS Assertions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Cryptographic Invisibility Across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Control Plane (cymbal-pooled-prod)</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 &amp; 5-Hop Cryptographic Context Chain</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Text 73"/>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Pool (Shared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FinVault (8k Cap) &amp; RetailStream (4k Cap)</a:t>
            </a:r>
            <a:endParaRPr lang="en-US" sz="470" dirty="0"/>
          </a:p>
        </p:txBody>
      </p:sp>
      <p:sp>
        <p:nvSpPr>
          <p:cNvPr id="76" name="Shape 74"/>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7" name="Text 75"/>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Sovereign Tenant Silo</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VPC-SC + IAM PAB + finvault-silo-cmek + PSC</a:t>
            </a:r>
            <a:endParaRPr lang="en-US" sz="47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 PEP/PDP)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7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FinOps observability hub</a:t>
            </a:r>
            <a:endParaRPr lang="en-US" sz="430" dirty="0"/>
          </a:p>
        </p:txBody>
      </p:sp>
      <p:pic>
        <p:nvPicPr>
          <p:cNvPr id="82"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3" name="Shape 80"/>
          <p:cNvSpPr/>
          <p:nvPr/>
        </p:nvSpPr>
        <p:spPr>
          <a:xfrm>
            <a:off x="3591763" y="1032358"/>
            <a:ext cx="0" cy="1269187"/>
          </a:xfrm>
          <a:prstGeom prst="line">
            <a:avLst/>
          </a:prstGeom>
          <a:noFill/>
          <a:ln w="12700">
            <a:solidFill>
              <a:srgbClr val="5F6368"/>
            </a:solidFill>
            <a:prstDash val="solid"/>
            <a:tailEnd type="triangle" w="sm" len="sm"/>
          </a:ln>
        </p:spPr>
      </p:sp>
      <p:sp>
        <p:nvSpPr>
          <p:cNvPr id="84" name="Shape 81"/>
          <p:cNvSpPr/>
          <p:nvPr/>
        </p:nvSpPr>
        <p:spPr>
          <a:xfrm flipV="1">
            <a:off x="3792017" y="1040587"/>
            <a:ext cx="0" cy="1269187"/>
          </a:xfrm>
          <a:prstGeom prst="line">
            <a:avLst/>
          </a:prstGeom>
          <a:noFill/>
          <a:ln w="12700">
            <a:solidFill>
              <a:srgbClr val="5F6368"/>
            </a:solidFill>
            <a:prstDash val="solid"/>
            <a:tailEnd type="triangle" w="sm" len="sm"/>
          </a:ln>
        </p:spPr>
      </p:sp>
      <p:sp>
        <p:nvSpPr>
          <p:cNvPr id="85" name="Shape 82"/>
          <p:cNvSpPr/>
          <p:nvPr/>
        </p:nvSpPr>
        <p:spPr>
          <a:xfrm flipH="1">
            <a:off x="2948940" y="2414016"/>
            <a:ext cx="148133" cy="0"/>
          </a:xfrm>
          <a:prstGeom prst="line">
            <a:avLst/>
          </a:prstGeom>
          <a:noFill/>
          <a:ln w="12700">
            <a:solidFill>
              <a:srgbClr val="5F6368"/>
            </a:solidFill>
            <a:prstDash val="solid"/>
            <a:headEnd type="triangle" w="sm" len="sm"/>
          </a:ln>
        </p:spPr>
      </p:sp>
      <p:sp>
        <p:nvSpPr>
          <p:cNvPr id="86" name="Shape 83"/>
          <p:cNvSpPr/>
          <p:nvPr/>
        </p:nvSpPr>
        <p:spPr>
          <a:xfrm flipV="1">
            <a:off x="2948940" y="2306117"/>
            <a:ext cx="0" cy="107899"/>
          </a:xfrm>
          <a:prstGeom prst="line">
            <a:avLst/>
          </a:prstGeom>
          <a:noFill/>
          <a:ln w="12700">
            <a:solidFill>
              <a:srgbClr val="5F6368"/>
            </a:solidFill>
            <a:prstDash val="solid"/>
          </a:ln>
        </p:spPr>
      </p:sp>
      <p:sp>
        <p:nvSpPr>
          <p:cNvPr id="87" name="Shape 84"/>
          <p:cNvSpPr/>
          <p:nvPr/>
        </p:nvSpPr>
        <p:spPr>
          <a:xfrm flipH="1">
            <a:off x="2401214" y="2306117"/>
            <a:ext cx="547726" cy="0"/>
          </a:xfrm>
          <a:prstGeom prst="line">
            <a:avLst/>
          </a:prstGeom>
          <a:noFill/>
          <a:ln w="12700">
            <a:solidFill>
              <a:srgbClr val="5F6368"/>
            </a:solidFill>
            <a:prstDash val="solid"/>
            <a:tailEnd type="triangle" w="sm" len="sm"/>
          </a:ln>
        </p:spPr>
      </p:sp>
      <p:sp>
        <p:nvSpPr>
          <p:cNvPr id="88" name="Shape 85"/>
          <p:cNvSpPr/>
          <p:nvPr/>
        </p:nvSpPr>
        <p:spPr>
          <a:xfrm flipH="1">
            <a:off x="2948940" y="2535631"/>
            <a:ext cx="148133" cy="0"/>
          </a:xfrm>
          <a:prstGeom prst="line">
            <a:avLst/>
          </a:prstGeom>
          <a:noFill/>
          <a:ln w="12700">
            <a:solidFill>
              <a:srgbClr val="5F6368"/>
            </a:solidFill>
            <a:prstDash val="solid"/>
            <a:headEnd type="triangle" w="sm" len="sm"/>
          </a:ln>
        </p:spPr>
      </p:sp>
      <p:sp>
        <p:nvSpPr>
          <p:cNvPr id="89" name="Shape 86"/>
          <p:cNvSpPr/>
          <p:nvPr/>
        </p:nvSpPr>
        <p:spPr>
          <a:xfrm>
            <a:off x="2948940" y="2535631"/>
            <a:ext cx="0" cy="135331"/>
          </a:xfrm>
          <a:prstGeom prst="line">
            <a:avLst/>
          </a:prstGeom>
          <a:noFill/>
          <a:ln w="12700">
            <a:solidFill>
              <a:srgbClr val="5F6368"/>
            </a:solidFill>
            <a:prstDash val="solid"/>
          </a:ln>
        </p:spPr>
      </p:sp>
      <p:sp>
        <p:nvSpPr>
          <p:cNvPr id="90" name="Shape 87"/>
          <p:cNvSpPr/>
          <p:nvPr/>
        </p:nvSpPr>
        <p:spPr>
          <a:xfrm flipH="1">
            <a:off x="2401214" y="2670962"/>
            <a:ext cx="547726" cy="0"/>
          </a:xfrm>
          <a:prstGeom prst="line">
            <a:avLst/>
          </a:prstGeom>
          <a:noFill/>
          <a:ln w="12700">
            <a:solidFill>
              <a:srgbClr val="5F6368"/>
            </a:solidFill>
            <a:prstDash val="solid"/>
            <a:tailEnd type="triangle" w="sm" len="sm"/>
          </a:ln>
        </p:spPr>
      </p:sp>
      <p:sp>
        <p:nvSpPr>
          <p:cNvPr id="91" name="Shape 88"/>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2" name="Shape 89"/>
          <p:cNvSpPr/>
          <p:nvPr/>
        </p:nvSpPr>
        <p:spPr>
          <a:xfrm>
            <a:off x="3591763" y="2640787"/>
            <a:ext cx="0" cy="312725"/>
          </a:xfrm>
          <a:prstGeom prst="line">
            <a:avLst/>
          </a:prstGeom>
          <a:noFill/>
          <a:ln w="12700">
            <a:solidFill>
              <a:srgbClr val="5F6368"/>
            </a:solidFill>
            <a:prstDash val="solid"/>
            <a:tailEnd type="triangle" w="sm" len="sm"/>
          </a:ln>
        </p:spPr>
      </p:sp>
      <p:sp>
        <p:nvSpPr>
          <p:cNvPr id="93" name="Shape 90"/>
          <p:cNvSpPr/>
          <p:nvPr/>
        </p:nvSpPr>
        <p:spPr>
          <a:xfrm flipV="1">
            <a:off x="3792017" y="2640787"/>
            <a:ext cx="0" cy="312725"/>
          </a:xfrm>
          <a:prstGeom prst="line">
            <a:avLst/>
          </a:prstGeom>
          <a:noFill/>
          <a:ln w="12700">
            <a:solidFill>
              <a:srgbClr val="5F6368"/>
            </a:solidFill>
            <a:prstDash val="solid"/>
            <a:tailEnd type="triangle" w="sm" len="sm"/>
          </a:ln>
        </p:spPr>
      </p:sp>
      <p:sp>
        <p:nvSpPr>
          <p:cNvPr id="94" name="Shape 91"/>
          <p:cNvSpPr/>
          <p:nvPr/>
        </p:nvSpPr>
        <p:spPr>
          <a:xfrm flipV="1">
            <a:off x="3083357" y="3665830"/>
            <a:ext cx="0" cy="782726"/>
          </a:xfrm>
          <a:prstGeom prst="line">
            <a:avLst/>
          </a:prstGeom>
          <a:noFill/>
          <a:ln w="12700">
            <a:solidFill>
              <a:srgbClr val="5F6368"/>
            </a:solidFill>
            <a:prstDash val="solid"/>
          </a:ln>
        </p:spPr>
      </p:sp>
      <p:sp>
        <p:nvSpPr>
          <p:cNvPr id="95" name="Shape 92"/>
          <p:cNvSpPr/>
          <p:nvPr/>
        </p:nvSpPr>
        <p:spPr>
          <a:xfrm>
            <a:off x="3083357" y="3665830"/>
            <a:ext cx="595274" cy="0"/>
          </a:xfrm>
          <a:prstGeom prst="line">
            <a:avLst/>
          </a:prstGeom>
          <a:noFill/>
          <a:ln w="12700">
            <a:solidFill>
              <a:srgbClr val="5F6368"/>
            </a:solidFill>
            <a:prstDash val="solid"/>
          </a:ln>
        </p:spPr>
      </p:sp>
      <p:sp>
        <p:nvSpPr>
          <p:cNvPr id="96" name="Shape 93"/>
          <p:cNvSpPr/>
          <p:nvPr/>
        </p:nvSpPr>
        <p:spPr>
          <a:xfrm flipV="1">
            <a:off x="3678631" y="3239719"/>
            <a:ext cx="0" cy="426110"/>
          </a:xfrm>
          <a:prstGeom prst="line">
            <a:avLst/>
          </a:prstGeom>
          <a:noFill/>
          <a:ln w="12700">
            <a:solidFill>
              <a:srgbClr val="5F6368"/>
            </a:solidFill>
            <a:prstDash val="solid"/>
            <a:tailEnd type="triangle" w="sm" len="sm"/>
          </a:ln>
        </p:spPr>
      </p:sp>
      <p:sp>
        <p:nvSpPr>
          <p:cNvPr id="97" name="Shape 94"/>
          <p:cNvSpPr/>
          <p:nvPr/>
        </p:nvSpPr>
        <p:spPr>
          <a:xfrm flipV="1">
            <a:off x="3083357" y="3665830"/>
            <a:ext cx="0" cy="782726"/>
          </a:xfrm>
          <a:prstGeom prst="line">
            <a:avLst/>
          </a:prstGeom>
          <a:noFill/>
          <a:ln w="12700">
            <a:solidFill>
              <a:srgbClr val="5F6368"/>
            </a:solidFill>
            <a:prstDash val="solid"/>
            <a:headEnd type="triangle" w="sm" len="sm"/>
          </a:ln>
        </p:spPr>
      </p:sp>
      <p:sp>
        <p:nvSpPr>
          <p:cNvPr id="98" name="Shape 95"/>
          <p:cNvSpPr/>
          <p:nvPr/>
        </p:nvSpPr>
        <p:spPr>
          <a:xfrm>
            <a:off x="3083357" y="3665830"/>
            <a:ext cx="2364638" cy="0"/>
          </a:xfrm>
          <a:prstGeom prst="line">
            <a:avLst/>
          </a:prstGeom>
          <a:noFill/>
          <a:ln w="12700">
            <a:solidFill>
              <a:srgbClr val="5F6368"/>
            </a:solidFill>
            <a:prstDash val="solid"/>
          </a:ln>
        </p:spPr>
      </p:sp>
      <p:sp>
        <p:nvSpPr>
          <p:cNvPr id="99" name="Shape 96"/>
          <p:cNvSpPr/>
          <p:nvPr/>
        </p:nvSpPr>
        <p:spPr>
          <a:xfrm>
            <a:off x="5447995" y="3665830"/>
            <a:ext cx="0" cy="782726"/>
          </a:xfrm>
          <a:prstGeom prst="line">
            <a:avLst/>
          </a:prstGeom>
          <a:noFill/>
          <a:ln w="12700">
            <a:solidFill>
              <a:srgbClr val="5F6368"/>
            </a:solidFill>
            <a:prstDash val="solid"/>
            <a:tailEnd type="triangle" w="sm" len="sm"/>
          </a:ln>
        </p:spPr>
      </p:sp>
      <p:sp>
        <p:nvSpPr>
          <p:cNvPr id="100" name="Shape 97"/>
          <p:cNvSpPr/>
          <p:nvPr/>
        </p:nvSpPr>
        <p:spPr>
          <a:xfrm flipV="1">
            <a:off x="2557577" y="3605479"/>
            <a:ext cx="0" cy="181966"/>
          </a:xfrm>
          <a:prstGeom prst="line">
            <a:avLst/>
          </a:prstGeom>
          <a:noFill/>
          <a:ln w="12700">
            <a:solidFill>
              <a:srgbClr val="5F6368"/>
            </a:solidFill>
            <a:prstDash val="dash"/>
            <a:headEnd type="triangle" w="sm" len="sm"/>
          </a:ln>
        </p:spPr>
      </p:sp>
      <p:sp>
        <p:nvSpPr>
          <p:cNvPr id="101" name="Shape 98"/>
          <p:cNvSpPr/>
          <p:nvPr/>
        </p:nvSpPr>
        <p:spPr>
          <a:xfrm>
            <a:off x="2557577" y="3605479"/>
            <a:ext cx="2756002" cy="0"/>
          </a:xfrm>
          <a:prstGeom prst="line">
            <a:avLst/>
          </a:prstGeom>
          <a:noFill/>
          <a:ln w="12700">
            <a:solidFill>
              <a:srgbClr val="5F6368"/>
            </a:solidFill>
            <a:prstDash val="dash"/>
          </a:ln>
        </p:spPr>
      </p:sp>
      <p:sp>
        <p:nvSpPr>
          <p:cNvPr id="102" name="Shape 99"/>
          <p:cNvSpPr/>
          <p:nvPr/>
        </p:nvSpPr>
        <p:spPr>
          <a:xfrm flipV="1">
            <a:off x="5313578" y="3327502"/>
            <a:ext cx="0" cy="277978"/>
          </a:xfrm>
          <a:prstGeom prst="line">
            <a:avLst/>
          </a:prstGeom>
          <a:noFill/>
          <a:ln w="12700">
            <a:solidFill>
              <a:srgbClr val="5F6368"/>
            </a:solidFill>
            <a:prstDash val="dash"/>
            <a:tailEnd type="triangle" w="sm" len="sm"/>
          </a:ln>
        </p:spPr>
      </p:sp>
      <p:sp>
        <p:nvSpPr>
          <p:cNvPr id="103" name="Shape 100"/>
          <p:cNvSpPr/>
          <p:nvPr/>
        </p:nvSpPr>
        <p:spPr>
          <a:xfrm>
            <a:off x="5313578" y="3327502"/>
            <a:ext cx="0" cy="277978"/>
          </a:xfrm>
          <a:prstGeom prst="line">
            <a:avLst/>
          </a:prstGeom>
          <a:noFill/>
          <a:ln w="12700">
            <a:solidFill>
              <a:srgbClr val="5F6368"/>
            </a:solidFill>
            <a:prstDash val="dash"/>
          </a:ln>
        </p:spPr>
      </p:sp>
      <p:sp>
        <p:nvSpPr>
          <p:cNvPr id="104" name="Shape 101"/>
          <p:cNvSpPr/>
          <p:nvPr/>
        </p:nvSpPr>
        <p:spPr>
          <a:xfrm flipH="1">
            <a:off x="4922215" y="3605479"/>
            <a:ext cx="391363" cy="0"/>
          </a:xfrm>
          <a:prstGeom prst="line">
            <a:avLst/>
          </a:prstGeom>
          <a:noFill/>
          <a:ln w="12700">
            <a:solidFill>
              <a:srgbClr val="5F6368"/>
            </a:solidFill>
            <a:prstDash val="dash"/>
          </a:ln>
        </p:spPr>
      </p:sp>
      <p:sp>
        <p:nvSpPr>
          <p:cNvPr id="105" name="Shape 102"/>
          <p:cNvSpPr/>
          <p:nvPr/>
        </p:nvSpPr>
        <p:spPr>
          <a:xfrm>
            <a:off x="4922215" y="3605479"/>
            <a:ext cx="0" cy="181966"/>
          </a:xfrm>
          <a:prstGeom prst="line">
            <a:avLst/>
          </a:prstGeom>
          <a:noFill/>
          <a:ln w="12700">
            <a:solidFill>
              <a:srgbClr val="5F6368"/>
            </a:solidFill>
            <a:prstDash val="dash"/>
            <a:tailEnd type="triangle" w="sm" len="sm"/>
          </a:ln>
        </p:spPr>
      </p:sp>
      <p:sp>
        <p:nvSpPr>
          <p:cNvPr id="106" name="Shape 103"/>
          <p:cNvSpPr/>
          <p:nvPr/>
        </p:nvSpPr>
        <p:spPr>
          <a:xfrm>
            <a:off x="2392070" y="4387291"/>
            <a:ext cx="96012" cy="0"/>
          </a:xfrm>
          <a:prstGeom prst="line">
            <a:avLst/>
          </a:prstGeom>
          <a:noFill/>
          <a:ln w="12700">
            <a:solidFill>
              <a:srgbClr val="5F6368"/>
            </a:solidFill>
            <a:prstDash val="solid"/>
            <a:headEnd type="triangle" w="sm" len="sm"/>
          </a:ln>
        </p:spPr>
      </p:sp>
      <p:sp>
        <p:nvSpPr>
          <p:cNvPr id="107" name="Shape 104"/>
          <p:cNvSpPr/>
          <p:nvPr/>
        </p:nvSpPr>
        <p:spPr>
          <a:xfrm>
            <a:off x="2488082" y="4387291"/>
            <a:ext cx="0" cy="148133"/>
          </a:xfrm>
          <a:prstGeom prst="line">
            <a:avLst/>
          </a:prstGeom>
          <a:noFill/>
          <a:ln w="12700">
            <a:solidFill>
              <a:srgbClr val="5F6368"/>
            </a:solidFill>
            <a:prstDash val="solid"/>
          </a:ln>
        </p:spPr>
      </p:sp>
      <p:sp>
        <p:nvSpPr>
          <p:cNvPr id="108" name="Shape 105"/>
          <p:cNvSpPr/>
          <p:nvPr/>
        </p:nvSpPr>
        <p:spPr>
          <a:xfrm>
            <a:off x="2488082" y="4535424"/>
            <a:ext cx="130759" cy="0"/>
          </a:xfrm>
          <a:prstGeom prst="line">
            <a:avLst/>
          </a:prstGeom>
          <a:noFill/>
          <a:ln w="12700">
            <a:solidFill>
              <a:srgbClr val="5F6368"/>
            </a:solidFill>
            <a:prstDash val="solid"/>
            <a:tailEnd type="triangle" w="sm" len="sm"/>
          </a:ln>
        </p:spPr>
      </p:sp>
      <p:sp>
        <p:nvSpPr>
          <p:cNvPr id="109" name="Shape 106"/>
          <p:cNvSpPr/>
          <p:nvPr/>
        </p:nvSpPr>
        <p:spPr>
          <a:xfrm>
            <a:off x="2392070" y="5413248"/>
            <a:ext cx="130759" cy="0"/>
          </a:xfrm>
          <a:prstGeom prst="line">
            <a:avLst/>
          </a:prstGeom>
          <a:noFill/>
          <a:ln w="12700">
            <a:solidFill>
              <a:srgbClr val="5F6368"/>
            </a:solidFill>
            <a:prstDash val="solid"/>
            <a:headEnd type="triangle" w="sm" len="sm"/>
          </a:ln>
        </p:spPr>
      </p:sp>
      <p:sp>
        <p:nvSpPr>
          <p:cNvPr id="110" name="Shape 107"/>
          <p:cNvSpPr/>
          <p:nvPr/>
        </p:nvSpPr>
        <p:spPr>
          <a:xfrm flipV="1">
            <a:off x="2522830" y="4674413"/>
            <a:ext cx="0" cy="738835"/>
          </a:xfrm>
          <a:prstGeom prst="line">
            <a:avLst/>
          </a:prstGeom>
          <a:noFill/>
          <a:ln w="12700">
            <a:solidFill>
              <a:srgbClr val="5F6368"/>
            </a:solidFill>
            <a:prstDash val="solid"/>
          </a:ln>
        </p:spPr>
      </p:sp>
      <p:sp>
        <p:nvSpPr>
          <p:cNvPr id="111" name="Shape 108"/>
          <p:cNvSpPr/>
          <p:nvPr/>
        </p:nvSpPr>
        <p:spPr>
          <a:xfrm>
            <a:off x="2522830" y="4674413"/>
            <a:ext cx="96012" cy="0"/>
          </a:xfrm>
          <a:prstGeom prst="line">
            <a:avLst/>
          </a:prstGeom>
          <a:noFill/>
          <a:ln w="12700">
            <a:solidFill>
              <a:srgbClr val="5F6368"/>
            </a:solidFill>
            <a:prstDash val="solid"/>
            <a:tailEnd type="triangle" w="sm" len="sm"/>
          </a:ln>
        </p:spPr>
      </p:sp>
      <p:sp>
        <p:nvSpPr>
          <p:cNvPr id="112" name="Shape 109"/>
          <p:cNvSpPr/>
          <p:nvPr/>
        </p:nvSpPr>
        <p:spPr>
          <a:xfrm flipV="1">
            <a:off x="3083357" y="5013655"/>
            <a:ext cx="0" cy="60350"/>
          </a:xfrm>
          <a:prstGeom prst="line">
            <a:avLst/>
          </a:prstGeom>
          <a:noFill/>
          <a:ln w="12700">
            <a:solidFill>
              <a:srgbClr val="5F6368"/>
            </a:solidFill>
            <a:prstDash val="solid"/>
            <a:headEnd type="triangle" w="sm" len="sm"/>
          </a:ln>
        </p:spPr>
      </p:sp>
      <p:sp>
        <p:nvSpPr>
          <p:cNvPr id="113" name="Shape 110"/>
          <p:cNvSpPr/>
          <p:nvPr/>
        </p:nvSpPr>
        <p:spPr>
          <a:xfrm flipV="1">
            <a:off x="3083357" y="4778654"/>
            <a:ext cx="0" cy="61265"/>
          </a:xfrm>
          <a:prstGeom prst="line">
            <a:avLst/>
          </a:prstGeom>
          <a:noFill/>
          <a:ln w="12700">
            <a:solidFill>
              <a:srgbClr val="5F6368"/>
            </a:solidFill>
            <a:prstDash val="solid"/>
            <a:tailEnd type="triangle" w="sm" len="sm"/>
          </a:ln>
        </p:spPr>
      </p:sp>
      <p:sp>
        <p:nvSpPr>
          <p:cNvPr id="114" name="Shape 111"/>
          <p:cNvSpPr/>
          <p:nvPr/>
        </p:nvSpPr>
        <p:spPr>
          <a:xfrm flipV="1">
            <a:off x="3083357" y="5665622"/>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5405018"/>
            <a:ext cx="0" cy="60350"/>
          </a:xfrm>
          <a:prstGeom prst="line">
            <a:avLst/>
          </a:prstGeom>
          <a:noFill/>
          <a:ln w="12700">
            <a:solidFill>
              <a:srgbClr val="5F6368"/>
            </a:solidFill>
            <a:prstDash val="solid"/>
            <a:tailEnd type="triangle" w="sm" len="sm"/>
          </a:ln>
        </p:spPr>
      </p:sp>
      <p:sp>
        <p:nvSpPr>
          <p:cNvPr id="116" name="Shape 113"/>
          <p:cNvSpPr/>
          <p:nvPr/>
        </p:nvSpPr>
        <p:spPr>
          <a:xfrm>
            <a:off x="4756709" y="4387291"/>
            <a:ext cx="96012" cy="0"/>
          </a:xfrm>
          <a:prstGeom prst="line">
            <a:avLst/>
          </a:prstGeom>
          <a:noFill/>
          <a:ln w="12700">
            <a:solidFill>
              <a:srgbClr val="5F6368"/>
            </a:solidFill>
            <a:prstDash val="solid"/>
            <a:headEnd type="triangle" w="sm" len="sm"/>
          </a:ln>
        </p:spPr>
      </p:sp>
      <p:sp>
        <p:nvSpPr>
          <p:cNvPr id="117" name="Shape 114"/>
          <p:cNvSpPr/>
          <p:nvPr/>
        </p:nvSpPr>
        <p:spPr>
          <a:xfrm>
            <a:off x="4852721" y="4387291"/>
            <a:ext cx="0" cy="148133"/>
          </a:xfrm>
          <a:prstGeom prst="line">
            <a:avLst/>
          </a:prstGeom>
          <a:noFill/>
          <a:ln w="12700">
            <a:solidFill>
              <a:srgbClr val="5F6368"/>
            </a:solidFill>
            <a:prstDash val="solid"/>
          </a:ln>
        </p:spPr>
      </p:sp>
      <p:sp>
        <p:nvSpPr>
          <p:cNvPr id="118" name="Shape 115"/>
          <p:cNvSpPr/>
          <p:nvPr/>
        </p:nvSpPr>
        <p:spPr>
          <a:xfrm>
            <a:off x="4852721" y="4535424"/>
            <a:ext cx="129845" cy="0"/>
          </a:xfrm>
          <a:prstGeom prst="line">
            <a:avLst/>
          </a:prstGeom>
          <a:noFill/>
          <a:ln w="12700">
            <a:solidFill>
              <a:srgbClr val="5F6368"/>
            </a:solidFill>
            <a:prstDash val="solid"/>
            <a:tailEnd type="triangle" w="sm" len="sm"/>
          </a:ln>
        </p:spPr>
      </p:sp>
      <p:sp>
        <p:nvSpPr>
          <p:cNvPr id="119" name="Shape 116"/>
          <p:cNvSpPr/>
          <p:nvPr/>
        </p:nvSpPr>
        <p:spPr>
          <a:xfrm>
            <a:off x="4756709" y="4830775"/>
            <a:ext cx="130759" cy="0"/>
          </a:xfrm>
          <a:prstGeom prst="line">
            <a:avLst/>
          </a:prstGeom>
          <a:noFill/>
          <a:ln w="12700">
            <a:solidFill>
              <a:srgbClr val="5F6368"/>
            </a:solidFill>
            <a:prstDash val="solid"/>
            <a:headEnd type="triangle" w="sm" len="sm"/>
          </a:ln>
        </p:spPr>
      </p:sp>
      <p:sp>
        <p:nvSpPr>
          <p:cNvPr id="120" name="Shape 117"/>
          <p:cNvSpPr/>
          <p:nvPr/>
        </p:nvSpPr>
        <p:spPr>
          <a:xfrm flipV="1">
            <a:off x="4887468" y="4674413"/>
            <a:ext cx="0" cy="156362"/>
          </a:xfrm>
          <a:prstGeom prst="line">
            <a:avLst/>
          </a:prstGeom>
          <a:noFill/>
          <a:ln w="12700">
            <a:solidFill>
              <a:srgbClr val="5F6368"/>
            </a:solidFill>
            <a:prstDash val="solid"/>
          </a:ln>
        </p:spPr>
      </p:sp>
      <p:sp>
        <p:nvSpPr>
          <p:cNvPr id="121" name="Shape 118"/>
          <p:cNvSpPr/>
          <p:nvPr/>
        </p:nvSpPr>
        <p:spPr>
          <a:xfrm>
            <a:off x="4887468" y="4674413"/>
            <a:ext cx="95098" cy="0"/>
          </a:xfrm>
          <a:prstGeom prst="line">
            <a:avLst/>
          </a:prstGeom>
          <a:noFill/>
          <a:ln w="12700">
            <a:solidFill>
              <a:srgbClr val="5F6368"/>
            </a:solidFill>
            <a:prstDash val="solid"/>
            <a:tailEnd type="triangle" w="sm" len="sm"/>
          </a:ln>
        </p:spPr>
      </p:sp>
      <p:sp>
        <p:nvSpPr>
          <p:cNvPr id="122" name="Shape 119"/>
          <p:cNvSpPr/>
          <p:nvPr/>
        </p:nvSpPr>
        <p:spPr>
          <a:xfrm flipV="1">
            <a:off x="5447995" y="5013655"/>
            <a:ext cx="0" cy="60350"/>
          </a:xfrm>
          <a:prstGeom prst="line">
            <a:avLst/>
          </a:prstGeom>
          <a:noFill/>
          <a:ln w="12700">
            <a:solidFill>
              <a:srgbClr val="5F6368"/>
            </a:solidFill>
            <a:prstDash val="solid"/>
            <a:headEnd type="triangle" w="sm" len="sm"/>
          </a:ln>
        </p:spPr>
      </p:sp>
      <p:sp>
        <p:nvSpPr>
          <p:cNvPr id="123" name="Shape 120"/>
          <p:cNvSpPr/>
          <p:nvPr/>
        </p:nvSpPr>
        <p:spPr>
          <a:xfrm flipV="1">
            <a:off x="5447995" y="4778654"/>
            <a:ext cx="0" cy="61265"/>
          </a:xfrm>
          <a:prstGeom prst="line">
            <a:avLst/>
          </a:prstGeom>
          <a:noFill/>
          <a:ln w="12700">
            <a:solidFill>
              <a:srgbClr val="5F6368"/>
            </a:solidFill>
            <a:prstDash val="solid"/>
            <a:tailEnd type="triangle" w="sm" len="sm"/>
          </a:ln>
        </p:spPr>
      </p:sp>
      <p:sp>
        <p:nvSpPr>
          <p:cNvPr id="124" name="Shape 121"/>
          <p:cNvSpPr/>
          <p:nvPr/>
        </p:nvSpPr>
        <p:spPr>
          <a:xfrm flipV="1">
            <a:off x="5447995" y="5665622"/>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5405018"/>
            <a:ext cx="0" cy="60350"/>
          </a:xfrm>
          <a:prstGeom prst="line">
            <a:avLst/>
          </a:prstGeom>
          <a:noFill/>
          <a:ln w="12700">
            <a:solidFill>
              <a:srgbClr val="5F6368"/>
            </a:solidFill>
            <a:prstDash val="solid"/>
            <a:tailEnd type="triangle" w="sm" len="sm"/>
          </a:ln>
        </p:spPr>
      </p:sp>
      <p:sp>
        <p:nvSpPr>
          <p:cNvPr id="126" name="Shape 123"/>
          <p:cNvSpPr/>
          <p:nvPr/>
        </p:nvSpPr>
        <p:spPr>
          <a:xfrm>
            <a:off x="1473098" y="3802075"/>
            <a:ext cx="1926641" cy="113386"/>
          </a:xfrm>
          <a:prstGeom prst="rect">
            <a:avLst/>
          </a:prstGeom>
          <a:solidFill>
            <a:srgbClr val="FFFFFF"/>
          </a:solidFill>
          <a:ln/>
        </p:spPr>
      </p:sp>
      <p:sp>
        <p:nvSpPr>
          <p:cNvPr id="127" name="Text 124"/>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00" dirty="0"/>
          </a:p>
        </p:txBody>
      </p:sp>
      <p:sp>
        <p:nvSpPr>
          <p:cNvPr id="128" name="Shape 125"/>
          <p:cNvSpPr/>
          <p:nvPr/>
        </p:nvSpPr>
        <p:spPr>
          <a:xfrm>
            <a:off x="3837737" y="3802075"/>
            <a:ext cx="1636776" cy="113386"/>
          </a:xfrm>
          <a:prstGeom prst="rect">
            <a:avLst/>
          </a:prstGeom>
          <a:solidFill>
            <a:srgbClr val="FFFFFF"/>
          </a:solidFill>
          <a:ln/>
        </p:spPr>
      </p:sp>
      <p:sp>
        <p:nvSpPr>
          <p:cNvPr id="129" name="Text 126"/>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Dedicated Spoke: Pattern B Silo or Pattern C PSC Spoke</a:t>
            </a:r>
            <a:endParaRPr lang="en-US" sz="400" dirty="0"/>
          </a:p>
        </p:txBody>
      </p:sp>
      <p:sp>
        <p:nvSpPr>
          <p:cNvPr id="130" name="Shape 127"/>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1"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2" name="Text 128"/>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Competing B2B Tenants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(OIDC) &amp; RetailStream (Entra)</a:t>
            </a:r>
            <a:endParaRPr lang="en-US" sz="480" dirty="0"/>
          </a:p>
        </p:txBody>
      </p:sp>
      <p:sp>
        <p:nvSpPr>
          <p:cNvPr id="133" name="Shape 129"/>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4"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5" name="Text 130"/>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6" name="Shape 131"/>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7"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8" name="Text 132"/>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security_breach_audit_log</a:t>
            </a:r>
            <a:endParaRPr lang="en-US" sz="490" dirty="0"/>
          </a:p>
        </p:txBody>
      </p:sp>
      <p:sp>
        <p:nvSpPr>
          <p:cNvPr id="139" name="Shape 133"/>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0"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1" name="Text 134"/>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42" name="Shape 135"/>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3"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4" name="Text 136"/>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 &amp;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Identity (2LO/3LO)</a:t>
            </a:r>
            <a:endParaRPr lang="en-US" sz="490" dirty="0"/>
          </a:p>
        </p:txBody>
      </p:sp>
      <p:sp>
        <p:nvSpPr>
          <p:cNvPr id="145" name="Shape 137"/>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6"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7" name="Text 138"/>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gVisor + temp:tenant_id</a:t>
            </a:r>
            <a:endParaRPr lang="en-US" sz="490" dirty="0"/>
          </a:p>
        </p:txBody>
      </p:sp>
      <p:sp>
        <p:nvSpPr>
          <p:cNvPr id="148" name="Shape 139"/>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9"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0" name="Text 140"/>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+ 3LO OIDC/Entra</a:t>
            </a:r>
            <a:endParaRPr lang="en-US" sz="490" dirty="0"/>
          </a:p>
        </p:txBody>
      </p:sp>
      <p:sp>
        <p:nvSpPr>
          <p:cNvPr id="151" name="Shape 141"/>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2"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3" name="Text 142"/>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AlloyDB &amp; 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a:t>
            </a:r>
            <a:endParaRPr lang="en-US" sz="490" dirty="0"/>
          </a:p>
        </p:txBody>
      </p:sp>
      <p:sp>
        <p:nvSpPr>
          <p:cNvPr id="154" name="Shape 143"/>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5"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6" name="Text 144"/>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7" name="Shape 145"/>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8"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9" name="Text 146"/>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Local Silo 3LO Connectors</a:t>
            </a:r>
            <a:endParaRPr lang="en-US" sz="490" dirty="0"/>
          </a:p>
        </p:txBody>
      </p:sp>
      <p:sp>
        <p:nvSpPr>
          <p:cNvPr id="160" name="Shape 147"/>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1"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2" name="Text 148"/>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423 Lock</a:t>
            </a:r>
            <a:endParaRPr lang="en-US" sz="490" dirty="0"/>
          </a:p>
        </p:txBody>
      </p:sp>
      <p:sp>
        <p:nvSpPr>
          <p:cNvPr id="163" name="Shape 149"/>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4"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5" name="Text 150"/>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66" name="Shape 151"/>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7"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8" name="Text 152"/>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Rai Filters &amp; SDP PII</a:t>
            </a:r>
            <a:endParaRPr lang="en-US" sz="490" dirty="0"/>
          </a:p>
        </p:txBody>
      </p:sp>
      <p:sp>
        <p:nvSpPr>
          <p:cNvPr id="169" name="Shape 153"/>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0"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1" name="Text 154"/>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90% Prefix Cache Savings</a:t>
            </a:r>
            <a:endParaRPr lang="en-US" sz="490" dirty="0"/>
          </a:p>
        </p:txBody>
      </p:sp>
      <p:sp>
        <p:nvSpPr>
          <p:cNvPr id="172" name="Shape 155"/>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3"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4" name="Text 156"/>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Sovereign Silo Guardrails</a:t>
            </a:r>
            <a:endParaRPr lang="en-US" sz="490" dirty="0"/>
          </a:p>
        </p:txBody>
      </p:sp>
      <p:sp>
        <p:nvSpPr>
          <p:cNvPr id="175" name="Shape 157"/>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6"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7" name="Text 158"/>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 Gemma 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PT or Private GKE</a:t>
            </a:r>
            <a:endParaRPr lang="en-US" sz="490" dirty="0"/>
          </a:p>
        </p:txBody>
      </p:sp>
      <p:sp>
        <p:nvSpPr>
          <p:cNvPr id="178" name="Shape 15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0" name="Text 16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1" name="Shape 16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3" name="Text 16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Ingress Prompt Screen</a:t>
            </a:r>
            <a:endParaRPr lang="en-US" sz="490" dirty="0"/>
          </a:p>
        </p:txBody>
      </p:sp>
      <p:sp>
        <p:nvSpPr>
          <p:cNvPr id="184" name="Shape 16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6" name="Text 16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RFC 8693 OBO + DPoP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KMS ECDSA P-256 Sign</a:t>
            </a:r>
            <a:endParaRPr lang="en-US" sz="490" dirty="0"/>
          </a:p>
        </p:txBody>
      </p:sp>
      <p:sp>
        <p:nvSpPr>
          <p:cNvPr id="187" name="Shape 165"/>
          <p:cNvSpPr/>
          <p:nvPr/>
        </p:nvSpPr>
        <p:spPr>
          <a:xfrm>
            <a:off x="3517697"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9" name="Shape 167"/>
          <p:cNvSpPr/>
          <p:nvPr/>
        </p:nvSpPr>
        <p:spPr>
          <a:xfrm>
            <a:off x="3717950"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1" name="Shape 169"/>
          <p:cNvSpPr/>
          <p:nvPr/>
        </p:nvSpPr>
        <p:spPr>
          <a:xfrm>
            <a:off x="3517697"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3" name="Shape 171"/>
          <p:cNvSpPr/>
          <p:nvPr/>
        </p:nvSpPr>
        <p:spPr>
          <a:xfrm>
            <a:off x="3717950"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2813609"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7" name="Shape 175"/>
          <p:cNvSpPr/>
          <p:nvPr/>
        </p:nvSpPr>
        <p:spPr>
          <a:xfrm>
            <a:off x="3735324" y="3392424"/>
            <a:ext cx="148133" cy="148133"/>
          </a:xfrm>
          <a:prstGeom prst="ellipse">
            <a:avLst/>
          </a:prstGeom>
          <a:solidFill>
            <a:srgbClr val="174EA6"/>
          </a:solidFill>
          <a:ln w="10795">
            <a:solidFill>
              <a:srgbClr val="174EA6"/>
            </a:solidFill>
            <a:prstDash val="solid"/>
          </a:ln>
        </p:spPr>
      </p:sp>
      <p:sp>
        <p:nvSpPr>
          <p:cNvPr id="198" name="Text 176"/>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1579169" y="4600346"/>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4808830"/>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3" name="Shape 181"/>
          <p:cNvSpPr/>
          <p:nvPr/>
        </p:nvSpPr>
        <p:spPr>
          <a:xfrm>
            <a:off x="1579169" y="5634533"/>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5" name="Shape 183"/>
          <p:cNvSpPr/>
          <p:nvPr/>
        </p:nvSpPr>
        <p:spPr>
          <a:xfrm>
            <a:off x="5339182" y="3353105"/>
            <a:ext cx="760781" cy="217627"/>
          </a:xfrm>
          <a:prstGeom prst="roundRect">
            <a:avLst>
              <a:gd name="adj" fmla="val 21008"/>
            </a:avLst>
          </a:prstGeom>
          <a:solidFill>
            <a:srgbClr val="FFFFFF"/>
          </a:solidFill>
          <a:ln w="5715">
            <a:solidFill>
              <a:srgbClr val="DADCE0"/>
            </a:solidFill>
            <a:prstDash val="solid"/>
          </a:ln>
        </p:spPr>
      </p:sp>
      <p:sp>
        <p:nvSpPr>
          <p:cNvPr id="206" name="Text 184"/>
          <p:cNvSpPr/>
          <p:nvPr/>
        </p:nvSpPr>
        <p:spPr>
          <a:xfrm>
            <a:off x="5359298" y="3362249"/>
            <a:ext cx="720547" cy="199339"/>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Security, OTel &amp; FinOps</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chargeback telemetry</a:t>
            </a:r>
            <a:endParaRPr lang="en-US" sz="410" dirty="0"/>
          </a:p>
        </p:txBody>
      </p:sp>
      <p:sp>
        <p:nvSpPr>
          <p:cNvPr id="207" name="Shape 185"/>
          <p:cNvSpPr/>
          <p:nvPr/>
        </p:nvSpPr>
        <p:spPr>
          <a:xfrm>
            <a:off x="2884932" y="4817974"/>
            <a:ext cx="397764" cy="208483"/>
          </a:xfrm>
          <a:prstGeom prst="roundRect">
            <a:avLst>
              <a:gd name="adj" fmla="val 21930"/>
            </a:avLst>
          </a:prstGeom>
          <a:solidFill>
            <a:srgbClr val="FFFFFF"/>
          </a:solidFill>
          <a:ln w="5715">
            <a:solidFill>
              <a:srgbClr val="DADCE0"/>
            </a:solidFill>
            <a:prstDash val="solid"/>
          </a:ln>
        </p:spPr>
      </p:sp>
      <p:sp>
        <p:nvSpPr>
          <p:cNvPr id="208" name="Text 186"/>
          <p:cNvSpPr/>
          <p:nvPr/>
        </p:nvSpPr>
        <p:spPr>
          <a:xfrm>
            <a:off x="2905049" y="4827118"/>
            <a:ext cx="35753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Scoped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MCP &amp; RAG</a:t>
            </a:r>
            <a:endParaRPr lang="en-US" sz="410" dirty="0"/>
          </a:p>
        </p:txBody>
      </p:sp>
      <p:sp>
        <p:nvSpPr>
          <p:cNvPr id="209" name="Shape 187"/>
          <p:cNvSpPr/>
          <p:nvPr/>
        </p:nvSpPr>
        <p:spPr>
          <a:xfrm>
            <a:off x="2815438" y="5452567"/>
            <a:ext cx="534924" cy="208483"/>
          </a:xfrm>
          <a:prstGeom prst="roundRect">
            <a:avLst>
              <a:gd name="adj" fmla="val 21930"/>
            </a:avLst>
          </a:prstGeom>
          <a:solidFill>
            <a:srgbClr val="FFFFFF"/>
          </a:solidFill>
          <a:ln w="5715">
            <a:solidFill>
              <a:srgbClr val="DADCE0"/>
            </a:solidFill>
            <a:prstDash val="solid"/>
          </a:ln>
        </p:spPr>
      </p:sp>
      <p:sp>
        <p:nvSpPr>
          <p:cNvPr id="210" name="Text 188"/>
          <p:cNvSpPr/>
          <p:nvPr/>
        </p:nvSpPr>
        <p:spPr>
          <a:xfrm>
            <a:off x="2835554" y="5461711"/>
            <a:ext cx="49469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SET LOCAL</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current_tenant</a:t>
            </a:r>
            <a:endParaRPr lang="en-US" sz="410" dirty="0"/>
          </a:p>
        </p:txBody>
      </p:sp>
      <p:sp>
        <p:nvSpPr>
          <p:cNvPr id="211" name="Shape 189"/>
          <p:cNvSpPr/>
          <p:nvPr/>
        </p:nvSpPr>
        <p:spPr>
          <a:xfrm>
            <a:off x="5235854" y="4817974"/>
            <a:ext cx="425196" cy="208483"/>
          </a:xfrm>
          <a:prstGeom prst="roundRect">
            <a:avLst>
              <a:gd name="adj" fmla="val 21930"/>
            </a:avLst>
          </a:prstGeom>
          <a:solidFill>
            <a:srgbClr val="FFFFFF"/>
          </a:solidFill>
          <a:ln w="5715">
            <a:solidFill>
              <a:srgbClr val="DADCE0"/>
            </a:solidFill>
            <a:prstDash val="solid"/>
          </a:ln>
        </p:spPr>
      </p:sp>
      <p:sp>
        <p:nvSpPr>
          <p:cNvPr id="212" name="Text 190"/>
          <p:cNvSpPr/>
          <p:nvPr/>
        </p:nvSpPr>
        <p:spPr>
          <a:xfrm>
            <a:off x="5255971" y="4827118"/>
            <a:ext cx="38496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Air-Gapped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Silo RAG</a:t>
            </a:r>
            <a:endParaRPr lang="en-US" sz="410" dirty="0"/>
          </a:p>
        </p:txBody>
      </p:sp>
      <p:sp>
        <p:nvSpPr>
          <p:cNvPr id="213" name="Shape 191"/>
          <p:cNvSpPr/>
          <p:nvPr/>
        </p:nvSpPr>
        <p:spPr>
          <a:xfrm>
            <a:off x="5180076" y="5452567"/>
            <a:ext cx="534924" cy="208483"/>
          </a:xfrm>
          <a:prstGeom prst="roundRect">
            <a:avLst>
              <a:gd name="adj" fmla="val 21930"/>
            </a:avLst>
          </a:prstGeom>
          <a:solidFill>
            <a:srgbClr val="FFFFFF"/>
          </a:solidFill>
          <a:ln w="5715">
            <a:solidFill>
              <a:srgbClr val="DADCE0"/>
            </a:solidFill>
            <a:prstDash val="solid"/>
          </a:ln>
        </p:spPr>
      </p:sp>
      <p:sp>
        <p:nvSpPr>
          <p:cNvPr id="214" name="Text 192"/>
          <p:cNvSpPr/>
          <p:nvPr/>
        </p:nvSpPr>
        <p:spPr>
          <a:xfrm>
            <a:off x="5200193" y="5461711"/>
            <a:ext cx="49469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CMEK-Encrypted</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State &amp; Tools</a:t>
            </a:r>
            <a:endParaRPr lang="en-US" sz="410" dirty="0"/>
          </a:p>
        </p:txBody>
      </p:sp>
      <p:sp>
        <p:nvSpPr>
          <p:cNvPr id="215" name="Shape 193"/>
          <p:cNvSpPr/>
          <p:nvPr/>
        </p:nvSpPr>
        <p:spPr>
          <a:xfrm>
            <a:off x="1757477" y="5604358"/>
            <a:ext cx="397764" cy="208483"/>
          </a:xfrm>
          <a:prstGeom prst="roundRect">
            <a:avLst>
              <a:gd name="adj" fmla="val 21930"/>
            </a:avLst>
          </a:prstGeom>
          <a:solidFill>
            <a:srgbClr val="FFFFFF"/>
          </a:solidFill>
          <a:ln w="5715">
            <a:solidFill>
              <a:srgbClr val="DADCE0"/>
            </a:solidFill>
            <a:prstDash val="solid"/>
          </a:ln>
        </p:spPr>
      </p:sp>
      <p:sp>
        <p:nvSpPr>
          <p:cNvPr id="216" name="Text 194"/>
          <p:cNvSpPr/>
          <p:nvPr/>
        </p:nvSpPr>
        <p:spPr>
          <a:xfrm>
            <a:off x="1777594" y="5613502"/>
            <a:ext cx="357530"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Generates</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response</a:t>
            </a:r>
            <a:endParaRPr lang="en-US" sz="410" dirty="0"/>
          </a:p>
        </p:txBody>
      </p:sp>
      <p:sp>
        <p:nvSpPr>
          <p:cNvPr id="217" name="Shape 195"/>
          <p:cNvSpPr/>
          <p:nvPr/>
        </p:nvSpPr>
        <p:spPr>
          <a:xfrm>
            <a:off x="3905402" y="3354019"/>
            <a:ext cx="644652" cy="208483"/>
          </a:xfrm>
          <a:prstGeom prst="roundRect">
            <a:avLst>
              <a:gd name="adj" fmla="val 21930"/>
            </a:avLst>
          </a:prstGeom>
          <a:solidFill>
            <a:srgbClr val="FFFFFF"/>
          </a:solidFill>
          <a:ln w="5715">
            <a:solidFill>
              <a:srgbClr val="DADCE0"/>
            </a:solidFill>
            <a:prstDash val="solid"/>
          </a:ln>
        </p:spPr>
      </p:sp>
      <p:sp>
        <p:nvSpPr>
          <p:cNvPr id="218" name="Text 196"/>
          <p:cNvSpPr/>
          <p:nvPr/>
        </p:nvSpPr>
        <p:spPr>
          <a:xfrm>
            <a:off x="3925519" y="3363163"/>
            <a:ext cx="60441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Sanitized response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with SDP redaction</a:t>
            </a:r>
            <a:endParaRPr lang="en-US" sz="410" dirty="0"/>
          </a:p>
        </p:txBody>
      </p:sp>
      <p:sp>
        <p:nvSpPr>
          <p:cNvPr id="219" name="Shape 197"/>
          <p:cNvSpPr/>
          <p:nvPr/>
        </p:nvSpPr>
        <p:spPr>
          <a:xfrm>
            <a:off x="2983687" y="3354019"/>
            <a:ext cx="669341" cy="208483"/>
          </a:xfrm>
          <a:prstGeom prst="roundRect">
            <a:avLst>
              <a:gd name="adj" fmla="val 21930"/>
            </a:avLst>
          </a:prstGeom>
          <a:solidFill>
            <a:srgbClr val="FFFFFF"/>
          </a:solidFill>
          <a:ln w="5715">
            <a:solidFill>
              <a:srgbClr val="DADCE0"/>
            </a:solidFill>
            <a:prstDash val="solid"/>
          </a:ln>
        </p:spPr>
      </p:sp>
      <p:sp>
        <p:nvSpPr>
          <p:cNvPr id="220" name="Text 198"/>
          <p:cNvSpPr/>
          <p:nvPr/>
        </p:nvSpPr>
        <p:spPr>
          <a:xfrm>
            <a:off x="3003804" y="3363163"/>
            <a:ext cx="629107"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Route by tenant tier</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(Pool, Silo or PSC)</a:t>
            </a:r>
            <a:endParaRPr lang="en-US" sz="410" dirty="0"/>
          </a:p>
        </p:txBody>
      </p:sp>
      <p:sp>
        <p:nvSpPr>
          <p:cNvPr id="221" name="Shape 199"/>
          <p:cNvSpPr/>
          <p:nvPr/>
        </p:nvSpPr>
        <p:spPr>
          <a:xfrm>
            <a:off x="2589581" y="2871216"/>
            <a:ext cx="425196" cy="208483"/>
          </a:xfrm>
          <a:prstGeom prst="roundRect">
            <a:avLst>
              <a:gd name="adj" fmla="val 21930"/>
            </a:avLst>
          </a:prstGeom>
          <a:solidFill>
            <a:srgbClr val="FFFFFF"/>
          </a:solidFill>
          <a:ln w="5715">
            <a:solidFill>
              <a:srgbClr val="DADCE0"/>
            </a:solidFill>
            <a:prstDash val="solid"/>
          </a:ln>
        </p:spPr>
      </p:sp>
      <p:sp>
        <p:nvSpPr>
          <p:cNvPr id="222" name="Text 200"/>
          <p:cNvSpPr/>
          <p:nvPr/>
        </p:nvSpPr>
        <p:spPr>
          <a:xfrm>
            <a:off x="2609698" y="2880360"/>
            <a:ext cx="384962"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OBO + KMS</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ECDSA sign</a:t>
            </a:r>
            <a:endParaRPr lang="en-US" sz="410" dirty="0"/>
          </a:p>
        </p:txBody>
      </p:sp>
      <p:sp>
        <p:nvSpPr>
          <p:cNvPr id="223" name="Shape 201"/>
          <p:cNvSpPr/>
          <p:nvPr/>
        </p:nvSpPr>
        <p:spPr>
          <a:xfrm>
            <a:off x="1757477" y="4605833"/>
            <a:ext cx="589788" cy="138989"/>
          </a:xfrm>
          <a:prstGeom prst="roundRect">
            <a:avLst>
              <a:gd name="adj" fmla="val 32895"/>
            </a:avLst>
          </a:prstGeom>
          <a:solidFill>
            <a:srgbClr val="FFFFFF"/>
          </a:solidFill>
          <a:ln w="5715">
            <a:solidFill>
              <a:srgbClr val="DADCE0"/>
            </a:solidFill>
            <a:prstDash val="solid"/>
          </a:ln>
        </p:spPr>
      </p:sp>
      <p:sp>
        <p:nvSpPr>
          <p:cNvPr id="224" name="Text 202"/>
          <p:cNvSpPr/>
          <p:nvPr/>
        </p:nvSpPr>
        <p:spPr>
          <a:xfrm>
            <a:off x="1777594" y="4614977"/>
            <a:ext cx="549554"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request</a:t>
            </a:r>
            <a:endParaRPr lang="en-US" sz="410" dirty="0"/>
          </a:p>
        </p:txBody>
      </p:sp>
      <p:sp>
        <p:nvSpPr>
          <p:cNvPr id="225" name="Shape 203"/>
          <p:cNvSpPr/>
          <p:nvPr/>
        </p:nvSpPr>
        <p:spPr>
          <a:xfrm>
            <a:off x="1757477" y="4814316"/>
            <a:ext cx="617220" cy="138989"/>
          </a:xfrm>
          <a:prstGeom prst="roundRect">
            <a:avLst>
              <a:gd name="adj" fmla="val 32895"/>
            </a:avLst>
          </a:prstGeom>
          <a:solidFill>
            <a:srgbClr val="FFFFFF"/>
          </a:solidFill>
          <a:ln w="5715">
            <a:solidFill>
              <a:srgbClr val="DADCE0"/>
            </a:solidFill>
            <a:prstDash val="solid"/>
          </a:ln>
        </p:spPr>
      </p:sp>
      <p:sp>
        <p:nvSpPr>
          <p:cNvPr id="226" name="Text 204"/>
          <p:cNvSpPr/>
          <p:nvPr/>
        </p:nvSpPr>
        <p:spPr>
          <a:xfrm>
            <a:off x="1777594" y="4823460"/>
            <a:ext cx="57698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 response</a:t>
            </a:r>
            <a:endParaRPr lang="en-US" sz="410" dirty="0"/>
          </a:p>
        </p:txBody>
      </p:sp>
      <p:sp>
        <p:nvSpPr>
          <p:cNvPr id="227" name="Shape 205"/>
          <p:cNvSpPr/>
          <p:nvPr/>
        </p:nvSpPr>
        <p:spPr>
          <a:xfrm>
            <a:off x="2443277" y="2080260"/>
            <a:ext cx="480060" cy="208483"/>
          </a:xfrm>
          <a:prstGeom prst="roundRect">
            <a:avLst>
              <a:gd name="adj" fmla="val 21930"/>
            </a:avLst>
          </a:prstGeom>
          <a:solidFill>
            <a:srgbClr val="FFFFFF"/>
          </a:solidFill>
          <a:ln w="5715">
            <a:solidFill>
              <a:srgbClr val="DADCE0"/>
            </a:solidFill>
            <a:prstDash val="solid"/>
          </a:ln>
        </p:spPr>
      </p:sp>
      <p:sp>
        <p:nvSpPr>
          <p:cNvPr id="228" name="Text 206"/>
          <p:cNvSpPr/>
          <p:nvPr/>
        </p:nvSpPr>
        <p:spPr>
          <a:xfrm>
            <a:off x="2463394" y="2089404"/>
            <a:ext cx="439826"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Header &amp; WAF</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policies</a:t>
            </a:r>
            <a:endParaRPr lang="en-US" sz="410" dirty="0"/>
          </a:p>
        </p:txBody>
      </p:sp>
      <p:sp>
        <p:nvSpPr>
          <p:cNvPr id="229" name="Shape 207"/>
          <p:cNvSpPr/>
          <p:nvPr/>
        </p:nvSpPr>
        <p:spPr>
          <a:xfrm>
            <a:off x="2498141" y="2625242"/>
            <a:ext cx="370332" cy="208483"/>
          </a:xfrm>
          <a:prstGeom prst="roundRect">
            <a:avLst>
              <a:gd name="adj" fmla="val 21930"/>
            </a:avLst>
          </a:prstGeom>
          <a:solidFill>
            <a:srgbClr val="FFFFFF"/>
          </a:solidFill>
          <a:ln w="5715">
            <a:solidFill>
              <a:srgbClr val="DADCE0"/>
            </a:solidFill>
            <a:prstDash val="solid"/>
          </a:ln>
        </p:spPr>
      </p:sp>
      <p:sp>
        <p:nvSpPr>
          <p:cNvPr id="230" name="Text 208"/>
          <p:cNvSpPr/>
          <p:nvPr/>
        </p:nvSpPr>
        <p:spPr>
          <a:xfrm>
            <a:off x="2518258" y="2634386"/>
            <a:ext cx="330098"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Sanitize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prompt</a:t>
            </a:r>
            <a:endParaRPr lang="en-US" sz="410" dirty="0"/>
          </a:p>
        </p:txBody>
      </p:sp>
      <p:sp>
        <p:nvSpPr>
          <p:cNvPr id="231" name="Shape 209"/>
          <p:cNvSpPr/>
          <p:nvPr/>
        </p:nvSpPr>
        <p:spPr>
          <a:xfrm>
            <a:off x="3888029" y="1144829"/>
            <a:ext cx="370332" cy="138989"/>
          </a:xfrm>
          <a:prstGeom prst="roundRect">
            <a:avLst>
              <a:gd name="adj" fmla="val 32895"/>
            </a:avLst>
          </a:prstGeom>
          <a:solidFill>
            <a:srgbClr val="FFFFFF"/>
          </a:solidFill>
          <a:ln w="5715">
            <a:solidFill>
              <a:srgbClr val="DADCE0"/>
            </a:solidFill>
            <a:prstDash val="solid"/>
          </a:ln>
        </p:spPr>
      </p:sp>
      <p:sp>
        <p:nvSpPr>
          <p:cNvPr id="232" name="Text 210"/>
          <p:cNvSpPr/>
          <p:nvPr/>
        </p:nvSpPr>
        <p:spPr>
          <a:xfrm>
            <a:off x="3908146" y="1153973"/>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33" name="Shape 211"/>
          <p:cNvSpPr/>
          <p:nvPr/>
        </p:nvSpPr>
        <p:spPr>
          <a:xfrm>
            <a:off x="3888029" y="2723083"/>
            <a:ext cx="370332" cy="138989"/>
          </a:xfrm>
          <a:prstGeom prst="roundRect">
            <a:avLst>
              <a:gd name="adj" fmla="val 32895"/>
            </a:avLst>
          </a:prstGeom>
          <a:solidFill>
            <a:srgbClr val="FFFFFF"/>
          </a:solidFill>
          <a:ln w="5715">
            <a:solidFill>
              <a:srgbClr val="DADCE0"/>
            </a:solidFill>
            <a:prstDash val="solid"/>
          </a:ln>
        </p:spPr>
      </p:sp>
      <p:sp>
        <p:nvSpPr>
          <p:cNvPr id="234" name="Text 212"/>
          <p:cNvSpPr/>
          <p:nvPr/>
        </p:nvSpPr>
        <p:spPr>
          <a:xfrm>
            <a:off x="3908146" y="2732227"/>
            <a:ext cx="330098"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Response</a:t>
            </a:r>
            <a:endParaRPr lang="en-US" sz="410" dirty="0"/>
          </a:p>
        </p:txBody>
      </p:sp>
      <p:sp>
        <p:nvSpPr>
          <p:cNvPr id="235" name="Shape 213"/>
          <p:cNvSpPr/>
          <p:nvPr/>
        </p:nvSpPr>
        <p:spPr>
          <a:xfrm>
            <a:off x="3144622" y="1144829"/>
            <a:ext cx="342900" cy="138989"/>
          </a:xfrm>
          <a:prstGeom prst="roundRect">
            <a:avLst>
              <a:gd name="adj" fmla="val 32895"/>
            </a:avLst>
          </a:prstGeom>
          <a:solidFill>
            <a:srgbClr val="FFFFFF"/>
          </a:solidFill>
          <a:ln w="5715">
            <a:solidFill>
              <a:srgbClr val="DADCE0"/>
            </a:solidFill>
            <a:prstDash val="solid"/>
          </a:ln>
        </p:spPr>
      </p:sp>
      <p:sp>
        <p:nvSpPr>
          <p:cNvPr id="236" name="Text 214"/>
          <p:cNvSpPr/>
          <p:nvPr/>
        </p:nvSpPr>
        <p:spPr>
          <a:xfrm>
            <a:off x="3164738" y="1153973"/>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37" name="Shape 215"/>
          <p:cNvSpPr/>
          <p:nvPr/>
        </p:nvSpPr>
        <p:spPr>
          <a:xfrm>
            <a:off x="3144622" y="2723083"/>
            <a:ext cx="342900" cy="138989"/>
          </a:xfrm>
          <a:prstGeom prst="roundRect">
            <a:avLst>
              <a:gd name="adj" fmla="val 32895"/>
            </a:avLst>
          </a:prstGeom>
          <a:solidFill>
            <a:srgbClr val="FFFFFF"/>
          </a:solidFill>
          <a:ln w="5715">
            <a:solidFill>
              <a:srgbClr val="DADCE0"/>
            </a:solidFill>
            <a:prstDash val="solid"/>
          </a:ln>
        </p:spPr>
      </p:sp>
      <p:sp>
        <p:nvSpPr>
          <p:cNvPr id="238" name="Text 216"/>
          <p:cNvSpPr/>
          <p:nvPr/>
        </p:nvSpPr>
        <p:spPr>
          <a:xfrm>
            <a:off x="3164738" y="2732227"/>
            <a:ext cx="302666"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Request</a:t>
            </a:r>
            <a:endParaRPr lang="en-US" sz="410" dirty="0"/>
          </a:p>
        </p:txBody>
      </p:sp>
      <p:sp>
        <p:nvSpPr>
          <p:cNvPr id="239" name="Text 217"/>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Fail-Closed Circuit Breakers &amp; Stampede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5-min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~3ms JTI → Mint 5-Min STS JWT (&lt;0.15ms Cached JWKS)</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cap 120/600 RPM &amp; scope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cache:{tenant}:*</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ACL • 120/600 RPM &amp; 4k/8k Think Clamp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Model Armor +</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Inline DLP (~22ms p95)</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90%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AlloyDB</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RLS &amp; vaults per-user</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3LO ({tenant}:{user})</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SET LOCAL tenant_id</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(0 Downstream Exec) | Single-Flight SET NX PX 5000 Recovery</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1–3 Breakers: Bad OBO/DPoP, ~3ms JTI revoke or ARD probe → HTTP 401/403 | • Rate Cap: &gt;120/600 RPM → HTTP 429 Retry-After jitter &amp; 4k/8k clamp</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&amp; Recovery: NLC (422) or KMS revoke → &lt;60s HTTP 423 + &lt;5s SCAN+UNLINK (cache:{tenant}:*) | • Restore: SET NX PX 5000 AlloyDB RLS re-hydrate</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L3 Sequence &amp; Circuit Breakers  •  Steps 1–6 (~42ms p95) + [Alt] HTTP 401/403/429/422/423 + &lt;5s SCAN+UNLINK &amp; SET NX PX 5000 Recovery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is stripped at Hop 1 and exits as a KMS-signed STS JWT verified locally via cached JWKS in sub-150 microseconds (0 per-hop KMS network calls).</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 DPoP JKT</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KMS P-256 Sign (Cached JWKS)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&lt;0.15ms Cached-JWKS Verify • 0 KMS Network Calls</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L4 Wire Packet  •  Strips Spoofed Headers &amp; Mints KMS ECDSA P-256 STS JWT (&lt;0.15ms In-Memory Cached-JWKS Verify, 0 KMS RPCs/Hop)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IV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GA Sunset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Hop2RegistryPDP.authorize_agent_and_prune_tools filters ARD by signed JWT tenant_id + ADK before_agent_callback pruning.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probe) • Sunset at Native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Envelope encryption + &lt;5s tenant-prefixed Valkey SCAN+UNLINK (cache:{tenant_id}:*) on KMS disable (&lt;60s HTTP 423) + SET NX single-flight re-hydration.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0 peer cache evictions)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Hop3ComputeFinOpsBulkhead enforces atomic Lua token-bucket RPM limits in Valkey (120 vs. 600 RPM, HTTP 429 Retry-After) + 4k/8k thinking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claims normalization and anti-confused-deputy isolation for 3LO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normalizes Entra tid/sub into DPoP-bound {tenant}:{user} 3LO token vaults with -32042 step-up consent &amp; dpop_jkt verification.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&amp; 10-SaaS Matrix PASS (HTTP 401 step-up -&gt; 200 OK ServiceNow)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Hop5DataPlaneRLSAndOTel streams SHA-256 zero-PII OTel spans to BigQuery (SELECT tenant_id, SUM(cached_tokens*0.1 + thinking_tokens) GROUP BY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(BigQuery OTel chargeback SQL verified)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3LO Vault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vaults per-user Entra/ServiceNow 3LO tokens ({tenant}:{user}) with -32042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&lt;5s L1 Eviction &amp; Single-Flight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Intercepts KMS disable for &lt;60s HTTP 423 + &lt;5s targeted Valkey SCAN+UNLINK (cache:{tenant}:*); re-hydrates via SET NX PX 5000 single-flight lock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GA Sunset Hooks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120/600 RPM Valkey token buckets (HTTP 429 Retry-After jitter) with feature-flagged GA sunset hooks (feature-flagged native adapter) in core-cymbal-agent/.</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Zero-PII BigQuery FinOps SQL (GAP-05)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Streams SHA-256 prompt hashes + OTel spans to BigQuery for exact chargeback: SELECT tenant_id, SUM(cached_tokens*0.1 + thinking_tokens) GROUP BY tenant_id.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ramp-portal-dev (#248990048888) &amp; bbar-138hf0 (#48439189383) serving Pattern A/B/C endpoints (HTTP 200)</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Runtime: Cloud Run Gen2 (gVisor runsc, 100% traffic)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CLI Gate: run_deep_forensic_audit.py (13/13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SAAS 30/30 &amp; BEFORE/AFTER 3P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Logging MQL + Metabase BI v0.50.26 &amp; Trino SQL v440 Before/After Retina UI captures (2880×1800)</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(2880×1800): Metabase BI v0.50.26 &amp; Trino SQL v440</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Ledger: s3://cymbal-aws-federation-393036065405-us-east-1</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scripts/verify_5_third_party_saas_products.py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Live GCP &amp; AWS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ramp-portal-dev (#248990048888), bbar-138hf0 (#48439189383) &amp; AWS Account #393036065405 inside gVisor sandboxes.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20 BEFORE/AFTER 3P UIs &amp; 30/30 SAAS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Metabase + Trino Before/After UIs &amp; 30/30 MCP PASS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20/20 GCP + 30/30 AWS AgentCore MCP assertions with 20 genuine 2880×1800 Before/After Retina 3P SaaS UI proofs.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CLI &amp; Telemetry Receipts + 100%…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V • WELL-ARCHITECTED SLA SCORECARD &amp; 5-PART ENGINEERING ROADMAP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Well-Architected SLA Scorecard &amp; 5-Part Engineering Roadmap</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Well-Architected SLAs (~42ms 5-Hop • ~1.8s cold / ~420ms warm TTFT • &lt;60s CMEK / &lt;5s L1 purge • &lt;30s cross-region RTO • 84.7% token &amp; 74% TCO savings) + 5 Runnable Milestones.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1 (Slides 1–4) — Isolation Topologies &amp; 5-Hop Core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(27-File Reference Workbench) with &lt;0.15ms cached-JWKS STS JWT verification, ~3ms Valkey JTI deny-list, and {tenant}:{user} 3LO token vaulting.</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runtime_pipeline.py • models.py
</a:t>
            </a:r>
            <a:pPr indent="0" marL="0">
              <a:buNone/>
            </a:pPr>
            <a:r>
              <a:rPr lang="en-US" sz="730" dirty="0">
                <a:solidFill>
                  <a:srgbClr val="5F6368"/>
                </a:solidFill>
                <a:latin typeface="Roboto" pitchFamily="34" charset="0"/>
                <a:ea typeface="Roboto" pitchFamily="34" charset="-122"/>
                <a:cs typeface="Roboto" pitchFamily="34" charset="-120"/>
              </a:rPr>
              <a:t>Target &amp; SLA: SLA: &lt;0.15ms Cached JWKS • ~3ms JTI Deny-List • 3LO Vault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Part 1: Topologies &amp; Core (Slides 1–4)</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2 (Slides 5, 6 &amp; 8) — 5-Hop Pipeline &amp; Pattern A Pool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(2.6-terraform-starter/), certify ~42ms p95 5-Hop overhead (~22ms DLP), ~1.8s cold / ~420ms warm TTFT, 84.7% token savings (90% 32k prefix cache),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SLA: ~42ms 5-Hop • ~420ms Warm TTFT • 84.7% Savings (10/10)</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Part 2: 5-Hop &amp; Pattern A</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3 (Slide 7) — Circuit Breakers, CMEK &amp; Valkey L1 Flush</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(3.6-terraform-silo-blueprint/), certify gVisor sandbox, &lt;60s HTTP 423 CMEK kill-switch, &lt;5s Valkey SCAN+UNLINK (cache:{tenant}:*), SET NX PX 5000 recovery, and &lt;30s cross-region RTO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SLA: &lt;60s CMEK (423) • &lt;5s SCAN+UNLINK • &lt;30s RTO (6/6)</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Part 3: Breakers &amp; Silos (Slide 7)</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4 (Slide 9) — EAP Gap Controls &amp; Pattern C Hybrid FinOps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(4.6-terraform-hybrid-psc-blueprint/), certify 74% portfolio TCO reduction (950 Pooled + 50 PSC Spokes), feature-flagged GAP-01..05 sunset hooks, BigQuery OTel FinOps SQL, and 0ms PSC cutover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SLA: 74% TCO Savings (950 Pool + 50 PSC) • 0ms Cutover (4/4)</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Part 4: Gaps &amp; Hybrid PSC (Slide 9)</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5 (Slides 10–11) — Dual-Plane CI/CD Forensic Audit &amp; Day-2 Operations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python3 -B scripts/run_deep_forensic_audit.py (13/13 PASS • 107/107 Assertions) across 20/20 GCP suites and 30/30 Inter-Cloud 10-SaaS MCP target assertions.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run_deep_forensic_audit.py • verify_5_third_party_saas_products.py
</a:t>
            </a:r>
            <a:pPr indent="0" marL="0">
              <a:buNone/>
            </a:pPr>
            <a:r>
              <a:rPr lang="en-US" sz="730" dirty="0">
                <a:solidFill>
                  <a:srgbClr val="5F6368"/>
                </a:solidFill>
                <a:latin typeface="Roboto" pitchFamily="34" charset="0"/>
                <a:ea typeface="Roboto" pitchFamily="34" charset="-122"/>
                <a:cs typeface="Roboto" pitchFamily="34" charset="-120"/>
              </a:rPr>
              <a:t>Target &amp; SLA: SLA: 13/13 Forensic (107/107) • 20/20 GCP + 30/30 10-SaaS MCP</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Part 5: Dual-Plane CI/CD Gate (Slides 10–11)</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WELL-ARCHITECTED SLAs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Well-Architected SLA Scorecard &amp; 5-Part Roadmap  •  ~42ms 5-Hop  •  ~420ms Warm TTFT  •  &lt;5s L1 Evict  •  &lt;30s RTO  •  84.7% Token &amp; 74% TCO Savings</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2026-10-30T19:09:24Z</dcterms:created>
  <dcterms:modified xsi:type="dcterms:W3CDTF">2026-10-30T19:09:24Z</dcterms:modified>
</cp:coreProperties>
</file>