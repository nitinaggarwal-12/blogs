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fifteen-slide flagship briefing for Blog 1 into a clear four-act progression—moving from the real multi-tenant problem and conceptual model, through our process and L1-to-L4 technical diagrams, to live dual-plane proofs, quantified benefits, and your 30-60-90 day call to action.</a:t>
            </a:r>
            <a:endParaRPr lang="en-US" dirty="0"/>
          </a:p>
          <a:p>
            <a:r>
              <a:rPr lang="en-US" dirty="0"/>
              <a:t>In this session, we are walking through our foundational reference architecture for running multi-tenant AI agents on Google Cloud. Right upfront, we define our three core building blocks using operating-system primitives—Google’s Agent Development Kit (ADK) as our OS syscall scheduler, the Model Context Protocol (MCP) as our POSIX tool driver ABI, and Agent Registry and Discovery (ARD) as our chrooted virtual filesystem catalog—and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that roadmap in mind, let's turn to Slide 2 to review our agenda and how this deck maps directly to the five-part engineering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serves as our table of contents, connecting every section of our reference architecture to the corresponding deep-dive workstream.</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let's turn to Slide 3 to examine the real customer problem and competing tenant profiles that drive every architectural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always start with the customer problem first: why naive SaaS multi-tenancy fails for stateful AI agents, and why single-tenant silos destroy unit economics.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To resolve that tension without maintaining two separate codebases, let's look at our Conceptual Diagram on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conceptual diagram illustrates our core architectural thesis: decoupling the eighty-percent reusable five-hop agentic core from the twenty-percent per-tenant infrastructure perimeter.</a:t>
            </a:r>
            <a:endParaRPr lang="en-US" dirty="0"/>
          </a:p>
          <a:p>
            <a:r>
              <a:rPr lang="en-US" dirty="0"/>
              <a:t>On the left, competing commercial and regulated tenants enter the same core-cymbal-agent codebase in the center. Every request traverses the exact same five governance hops—Edge STS, ARD Catalog, Valkey Bulkhead, Model Armor, and AlloyDB RLS—while feature-flagged native adapters future-proof EAP capabilities. On the right, per-tenant infrastructure configuration deploys each customer into Pattern A Shared Pool, Pattern B Sovereign Silos, or Pattern C Dynamic Hybrid PSC.</a:t>
            </a:r>
            <a:endParaRPr lang="en-US" dirty="0"/>
          </a:p>
          <a:p>
            <a:r>
              <a:rPr lang="en-US" dirty="0"/>
              <a:t>Now that we see the conceptual separation of concerns, let's trace the end-to-end runtime process lifecycle on Slide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translates our conceptual model into a deterministic six-stage process diagram with explicit latency budgets and fail-closed circuit breakers.</a:t>
            </a:r>
            <a:endParaRPr lang="en-US" dirty="0"/>
          </a:p>
          <a:p>
            <a:r>
              <a:rPr lang="en-US" dirty="0"/>
              <a:t>Across Stages 1 through 5, a customer turn completes in roughly forty-two milliseconds of control-plane overhead: eight milliseconds at Hop 1 Edge STS, four milliseconds at Hop 2 ARD scoping, three milliseconds at Hop 3 Valkey revocation check, twenty-two milliseconds at Hop 4 regional Model Armor and Cloud DLP, and five milliseconds at Hop 5 AlloyDB RLS—followed by asynchronous Stage 6 OpenTelemetry export to BigQuery. Below, four red circuit breakers guarantee fail-closed HTTP 401, 403, 429, 422, and 423 enforcement.</a:t>
            </a:r>
            <a:endParaRPr lang="en-US" dirty="0"/>
          </a:p>
          <a:p>
            <a:r>
              <a:rPr lang="en-US" dirty="0"/>
              <a:t>With the conceptual and process flows clear, let's enter Act II on Slide 6 to examine our Level 1 Logical Security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Act II at Level 1 of our macro-to-micro zoom, Slide 6 organizes the platform into three logical security layers before we map physical VPC Service Controls perimeters.</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Before we inspect the physical blueprints, let's review our twelve-dimension Pattern A, B, and C decision matrix on Slide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gives architects and FinOps leads a concrete twelve-dimension rubric to assign each tenant to Pattern A, Pattern B, or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Now let's zoom into Level 2 physical topology on Slide 8 with Figure 1: our four-zone Hub-and-Spoke VPC-SC taxonomy blueprint.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1 maps our fifty-six-component Google Cloud reference topology across four physical VPC Service Controls network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for Steps 1 through 3 and Hop 1) at the top, traverse Green Perimeter 2 (the Five-Hop Governance Hub for Hops 2 and 5) in the center, and execute inside either Yellow Perimeter 3 (the Pattern A Shared Pool Spoke for Steps 4 through 7 and Hops 3 through 5) on the left or Red Perimeter 4 (the Pattern B Sovereign Silo and Pattern C PSC Spoke) on the right—with gVisor kernel sandboxing and composite tenant-user-session keys isolating every worker.</a:t>
            </a:r>
            <a:endParaRPr lang="en-US" dirty="0"/>
          </a:p>
          <a:p>
            <a:r>
              <a:rPr lang="en-US" dirty="0"/>
              <a:t>Next, let's examine Figure 2 on Slide 9: the official Cloud Architecture Center 5-Hop Cryptographic Context Chain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Complementing Figure 1, Figure 2 details the official Cloud Architecture Center 5-Hop Cryptographic Context Chain across routing, governance, and execution spokes.</a:t>
            </a:r>
            <a:endParaRPr lang="en-US" dirty="0"/>
          </a:p>
          <a:p>
            <a:r>
              <a:rPr lang="en-US" dirty="0"/>
              <a:t>Notice how every hop in Figure 2 enforces asymmetric KMS ECDSA P-256 verification, composite tenant-user-session key scoping, and gVisor kernel sandboxing so no compromised tool or prompt can pivot laterally across spokes.</a:t>
            </a:r>
            <a:endParaRPr lang="en-US" dirty="0"/>
          </a:p>
          <a:p>
            <a:r>
              <a:rPr lang="en-US" dirty="0"/>
              <a:t>Now let's zoom into Level 3 on Slide 10 to trace the five-actor UML sequence swimlane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traces the exact chronological message sequence across five system actors alongside our sub-five-second Valkey cache eviction and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Completing our L1-to-L4 technical zoom, let's inspect the raw wire packet on Slide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opens the HTTP and gRPC wire payload before and after Hop 1 token exchange to show how spoofed tenant headers are neutralized.</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technical architecture proven from conceptual model down to wire packet, let's enter Act III on Slide 12 to review our genuine solution approach and EAP compensating controls.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documents our transparent engineering ledger of five early-access platform boundaries and the feature-flagged compensating controls in core-cymbal-agent.</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native adapter hook (CYMBAL_NATIVE_ARD_GA, CYMBAL_NATIVE_KMS_PROBE_GA, CYMBAL_NATIVE_MEM_TTL_GA, CYMBAL_NATIVE_PSC_CUTOVER_GA, and CYMBAL_NATIVE_OTEL_FINOPS_GA) so teams can switch cleanly to native GCP primitives via configuration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Now let's inspect our live dual-plane verification proofs, starting with grounded GCP and AWS CLI telemetry on Slide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presents verifiable runtime receipts from our deployed Cloud Run services, AlloyDB RLS policies, and cross-cloud AWS Bedrock AgentCore MCP harness.</a:t>
            </a:r>
            <a:endParaRPr lang="en-US" dirty="0"/>
          </a:p>
          <a:p>
            <a:r>
              <a:rPr lang="en-US" dirty="0"/>
              <a:t>To prove this architecture is running live rather than just on slides, here are authentic captures from our deployed Cloud Run revisions in ramp-portal-dev and bbar-138hf0, Cloud Logging Explorer, Dual-Plane verification harness, and twenty before-versus-after 2880-by-1800 Retina third-party SaaS UIs including Metabase BI v0.50.26 and Trino Distributed SQL v440. On the Intra-Cloud plane, our 20/20 Google Cloud runtime suites verify zero cross-tenant RLS rows across HTTP 200, 403, 423, and 429 responses; on the Inter-Cloud plane, our 30/30 AWS Bedrock AgentCore MCP and 10-SaaS cross-cloud target harness passes all sixty assertions and all thirteen automated forensic gates.</a:t>
            </a:r>
            <a:endParaRPr lang="en-US" dirty="0"/>
          </a:p>
          <a:p>
            <a:r>
              <a:rPr lang="en-US" dirty="0"/>
              <a:t>Complementing our CLI telemetry, Slide 14 shows live 2880x1800 Retina before-and-after captures from third-party enterprise BI and SQL interfaces.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visually proves that third-party enterprise tools—Metabase BI v0.50.26 and Trino Distributed SQL v440—enforce strict tenant isolation once 5-Hop AlloyDB RLS is active.</a:t>
            </a:r>
            <a:endParaRPr lang="en-US" dirty="0"/>
          </a:p>
          <a:p>
            <a:r>
              <a:rPr lang="en-US" dirty="0"/>
              <a:t>On the left, Metabase BI transitions from an unscoped multi-tenant view exposing all customer records to a strictly filtered FinVault-only workspace. On the right, Trino Distributed SQL transitions from cross-tenant catalog enumeration to zero-leakage scoped execution.</a:t>
            </a:r>
            <a:endParaRPr lang="en-US" dirty="0"/>
          </a:p>
          <a:p>
            <a:r>
              <a:rPr lang="en-US" dirty="0"/>
              <a:t>Finally, let's turn to Slide 15 to summarize our quantified business benefits and your 30-60-90 day call to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our briefing in Act IV, Slide 15 consolidates our quantified security, latency, and FinOps benefits alongside concrete next steps for your engineering team.</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13/13 forensic plus 107/107 runtime assertions in Part 5.</a:t>
            </a:r>
            <a:endParaRPr lang="en-US" dirty="0"/>
          </a:p>
          <a:p>
            <a:r>
              <a:rPr lang="en-US" dirty="0"/>
              <a:t>Thank you—let's open the floor for your architecture questions or launch the interactive codebase workbench to inspect the Terraform and Python modules directly.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image" Target="../media/image-8-12.png"/><Relationship Id="rId13" Type="http://schemas.openxmlformats.org/officeDocument/2006/relationships/image" Target="../media/image-8-13.png"/><Relationship Id="rId14" Type="http://schemas.openxmlformats.org/officeDocument/2006/relationships/image" Target="../media/image-8-14.png"/><Relationship Id="rId15" Type="http://schemas.openxmlformats.org/officeDocument/2006/relationships/image" Target="../media/image-8-15.png"/><Relationship Id="rId16" Type="http://schemas.openxmlformats.org/officeDocument/2006/relationships/image" Target="../media/image-8-16.png"/><Relationship Id="rId17" Type="http://schemas.openxmlformats.org/officeDocument/2006/relationships/image" Target="../media/image-8-17.png"/><Relationship Id="rId18" Type="http://schemas.openxmlformats.org/officeDocument/2006/relationships/image" Target="../media/image-8-18.png"/><Relationship Id="rId19" Type="http://schemas.openxmlformats.org/officeDocument/2006/relationships/image" Target="../media/image-8-19.png"/><Relationship Id="rId20" Type="http://schemas.openxmlformats.org/officeDocument/2006/relationships/image" Target="../media/image-8-20.png"/><Relationship Id="rId21" Type="http://schemas.openxmlformats.org/officeDocument/2006/relationships/slideLayout" Target="../slideLayouts/slideLayout1.xml"/><Relationship Id="rId2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image" Target="../media/image-9-15.png"/><Relationship Id="rId16" Type="http://schemas.openxmlformats.org/officeDocument/2006/relationships/image" Target="../media/image-9-16.png"/><Relationship Id="rId17" Type="http://schemas.openxmlformats.org/officeDocument/2006/relationships/image" Target="../media/image-9-17.png"/><Relationship Id="rId18" Type="http://schemas.openxmlformats.org/officeDocument/2006/relationships/image" Target="../media/image-9-18.png"/><Relationship Id="rId19" Type="http://schemas.openxmlformats.org/officeDocument/2006/relationships/image" Target="../media/image-9-19.png"/><Relationship Id="rId20" Type="http://schemas.openxmlformats.org/officeDocument/2006/relationships/image" Target="../media/image-9-20.png"/><Relationship Id="rId21" Type="http://schemas.openxmlformats.org/officeDocument/2006/relationships/slideLayout" Target="../slideLayouts/slideLayout1.xml"/><Relationship Id="rId2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Why It Matters (SaaS AI Dilemma)</a:t>
            </a:r>
            <a:endParaRPr lang="en-US" sz="760" dirty="0"/>
          </a:p>
        </p:txBody>
      </p:sp>
      <p:sp>
        <p:nvSpPr>
          <p:cNvPr id="23" name="Text 21"/>
          <p:cNvSpPr/>
          <p:nvPr/>
        </p:nvSpPr>
        <p:spPr>
          <a:xfrm>
            <a:off x="841248"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Dedicated projects erode SaaS gross margins, while naive shared agents leak tool schemas and allow quota starvation.</a:t>
            </a:r>
            <a:endParaRPr lang="en-US" sz="71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Core Primitives (ADK • MCP • ARD)</a:t>
            </a:r>
            <a:endParaRPr lang="en-US" sz="760" dirty="0"/>
          </a:p>
        </p:txBody>
      </p:sp>
      <p:sp>
        <p:nvSpPr>
          <p:cNvPr id="27" name="Text 25"/>
          <p:cNvSpPr/>
          <p:nvPr/>
        </p:nvSpPr>
        <p:spPr>
          <a:xfrm>
            <a:off x="2404872"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ADK (syscall scheduler), MCP (tool driver ABI) &amp; ARD (chrooted catalog) isolate every tenant across 5 hops.</a:t>
            </a:r>
            <a:endParaRPr lang="en-US" sz="71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Three Topologies &amp; 80/20 Reuse</a:t>
            </a:r>
            <a:endParaRPr lang="en-US" sz="760" dirty="0"/>
          </a:p>
        </p:txBody>
      </p:sp>
      <p:sp>
        <p:nvSpPr>
          <p:cNvPr id="31" name="Text 29"/>
          <p:cNvSpPr/>
          <p:nvPr/>
        </p:nvSpPr>
        <p:spPr>
          <a:xfrm>
            <a:off x="3968496"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Pattern A (Pooled RLS), Pattern B (Sovereign Silos), and Pattern C (Hybrid PSC) share 80% identical Python ADK code.</a:t>
            </a:r>
            <a:endParaRPr lang="en-US" sz="71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42232"/>
            <a:ext cx="1307592" cy="384048"/>
          </a:xfrm>
          <a:prstGeom prst="rect">
            <a:avLst/>
          </a:prstGeom>
          <a:noFill/>
          <a:ln/>
        </p:spPr>
        <p:txBody>
          <a:bodyPr wrap="square" rtlCol="0" anchor="ctr"/>
          <a:lstStyle/>
          <a:p>
            <a:pPr indent="0" marL="0">
              <a:buNone/>
            </a:pPr>
            <a:r>
              <a:rPr lang="en-US" sz="760" b="1" dirty="0">
                <a:solidFill>
                  <a:srgbClr val="3C4043"/>
                </a:solidFill>
                <a:latin typeface="Google Sans" pitchFamily="34" charset="0"/>
                <a:ea typeface="Google Sans" pitchFamily="34" charset="-122"/>
                <a:cs typeface="Google Sans" pitchFamily="34" charset="-120"/>
              </a:rPr>
              <a:t>5-Hop Pipeline (~42ms p95 Gate)</a:t>
            </a:r>
            <a:endParaRPr lang="en-US" sz="760" dirty="0"/>
          </a:p>
        </p:txBody>
      </p:sp>
      <p:sp>
        <p:nvSpPr>
          <p:cNvPr id="35" name="Text 33"/>
          <p:cNvSpPr/>
          <p:nvPr/>
        </p:nvSpPr>
        <p:spPr>
          <a:xfrm>
            <a:off x="5532120" y="4544568"/>
            <a:ext cx="1307592" cy="1024128"/>
          </a:xfrm>
          <a:prstGeom prst="rect">
            <a:avLst/>
          </a:prstGeom>
          <a:noFill/>
          <a:ln/>
        </p:spPr>
        <p:txBody>
          <a:bodyPr wrap="square" rtlCol="0" anchor="t">
            <a:normAutofit/>
          </a:bodyPr>
          <a:lstStyle/>
          <a:p>
            <a:pPr indent="0" marL="0">
              <a:buNone/>
            </a:pPr>
            <a:r>
              <a:rPr lang="en-US" sz="710" dirty="0">
                <a:solidFill>
                  <a:srgbClr val="5F6368"/>
                </a:solidFill>
                <a:latin typeface="Roboto" pitchFamily="34" charset="0"/>
                <a:ea typeface="Roboto" pitchFamily="34" charset="-122"/>
                <a:cs typeface="Roboto" pitchFamily="34" charset="-120"/>
              </a:rPr>
              <a:t>Enforces KMS-signed OBO/DPoP tokens, ARD pruning, Valkey bulkheads, Model Armor DLP, and AlloyDB FORCE RLS.</a:t>
            </a:r>
            <a:endParaRPr lang="en-US" sz="71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Maps ADK/MCP/ARD to CS101 OS primitives;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 L2 4 Perimeters →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&amp; Steps 1–7 in Figure 1 (Slide 6) and &lt;0.15ms cached-JWKS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(Hops 1–5 / UML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on Live GCP (#248990048888 • #48439189383) &amp; AWS (#393036065405) • 13/13 Forensic PASS</a:t>
            </a:r>
            <a:endParaRPr lang="en-US" sz="720" dirty="0"/>
          </a:p>
        </p:txBody>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(feature-flagged native adapter)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13/13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 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920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920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CONCEPTUAL-ARCHITECTURE</a:t>
            </a:r>
            <a:endParaRPr lang="en-US" sz="850" dirty="0"/>
          </a:p>
        </p:txBody>
      </p:sp>
      <p:sp>
        <p:nvSpPr>
          <p:cNvPr id="14" name="Text 12"/>
          <p:cNvSpPr/>
          <p:nvPr/>
        </p:nvSpPr>
        <p:spPr>
          <a:xfrm>
            <a:off x="5541264" y="132588"/>
            <a:ext cx="3861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Conceptual Architecture: Decoupling the 80% Reusable 5-Hop Core from 20% Perimeter Delta</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 • CONCEPTUAL MODEL</a:t>
            </a:r>
            <a:endParaRPr lang="en-US" sz="750" dirty="0"/>
          </a:p>
        </p:txBody>
      </p:sp>
      <p:sp>
        <p:nvSpPr>
          <p:cNvPr id="17" name="Text 15"/>
          <p:cNvSpPr/>
          <p:nvPr/>
        </p:nvSpPr>
        <p:spPr>
          <a:xfrm>
            <a:off x="411480" y="621792"/>
            <a:ext cx="11365992" cy="329184"/>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One shared agent codebase (core-cymbal-agent/) serves both commercial SaaS tenants and regulated sovereign contracts by isolating per-tenant network, KMS, and storage boundaries.</a:t>
            </a:r>
            <a:endParaRPr lang="en-US" sz="1050" dirty="0"/>
          </a:p>
        </p:txBody>
      </p:sp>
      <p:sp>
        <p:nvSpPr>
          <p:cNvPr id="18" name="Shape 16"/>
          <p:cNvSpPr/>
          <p:nvPr/>
        </p:nvSpPr>
        <p:spPr>
          <a:xfrm>
            <a:off x="411480" y="1051560"/>
            <a:ext cx="2880360" cy="5257800"/>
          </a:xfrm>
          <a:prstGeom prst="roundRect">
            <a:avLst>
              <a:gd name="adj" fmla="val 2540"/>
            </a:avLst>
          </a:prstGeom>
          <a:solidFill>
            <a:srgbClr val="F8F9FA"/>
          </a:solidFill>
          <a:ln w="12700">
            <a:solidFill>
              <a:srgbClr val="DADCE0"/>
            </a:solidFill>
            <a:prstDash val="solid"/>
          </a:ln>
        </p:spPr>
      </p:sp>
      <p:sp>
        <p:nvSpPr>
          <p:cNvPr id="19" name="Text 17"/>
          <p:cNvSpPr/>
          <p:nvPr/>
        </p:nvSpPr>
        <p:spPr>
          <a:xfrm>
            <a:off x="548640" y="1170432"/>
            <a:ext cx="260604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1. COMPETING TENANT PROFILES</a:t>
            </a:r>
            <a:endParaRPr lang="en-US" sz="950" dirty="0"/>
          </a:p>
        </p:txBody>
      </p:sp>
      <p:sp>
        <p:nvSpPr>
          <p:cNvPr id="20" name="Shape 18"/>
          <p:cNvSpPr/>
          <p:nvPr/>
        </p:nvSpPr>
        <p:spPr>
          <a:xfrm>
            <a:off x="548640" y="1536192"/>
            <a:ext cx="2606040" cy="2194560"/>
          </a:xfrm>
          <a:prstGeom prst="roundRect">
            <a:avLst>
              <a:gd name="adj" fmla="val 2500"/>
            </a:avLst>
          </a:prstGeom>
          <a:solidFill>
            <a:srgbClr val="FFFFFF"/>
          </a:solidFill>
          <a:ln w="15875">
            <a:solidFill>
              <a:srgbClr val="EA4335"/>
            </a:solidFill>
            <a:prstDash val="solid"/>
          </a:ln>
        </p:spPr>
      </p:sp>
      <p:sp>
        <p:nvSpPr>
          <p:cNvPr id="21" name="Shape 19"/>
          <p:cNvSpPr/>
          <p:nvPr/>
        </p:nvSpPr>
        <p:spPr>
          <a:xfrm>
            <a:off x="548640" y="1536192"/>
            <a:ext cx="2606040" cy="310896"/>
          </a:xfrm>
          <a:prstGeom prst="rect">
            <a:avLst/>
          </a:prstGeom>
          <a:solidFill>
            <a:srgbClr val="FCE8E6"/>
          </a:solidFill>
          <a:ln/>
        </p:spPr>
      </p:sp>
      <p:sp>
        <p:nvSpPr>
          <p:cNvPr id="22" name="Text 20"/>
          <p:cNvSpPr/>
          <p:nvPr/>
        </p:nvSpPr>
        <p:spPr>
          <a:xfrm>
            <a:off x="640080" y="1572768"/>
            <a:ext cx="2423160" cy="237744"/>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FinVault Bank (Regulated)</a:t>
            </a:r>
            <a:endParaRPr lang="en-US" sz="950" dirty="0"/>
          </a:p>
        </p:txBody>
      </p:sp>
      <p:sp>
        <p:nvSpPr>
          <p:cNvPr id="23" name="Text 21"/>
          <p:cNvSpPr/>
          <p:nvPr/>
        </p:nvSpPr>
        <p:spPr>
          <a:xfrm>
            <a:off x="640080" y="1920240"/>
            <a:ext cx="2423160" cy="1719072"/>
          </a:xfrm>
          <a:prstGeom prst="rect">
            <a:avLst/>
          </a:prstGeom>
          <a:noFill/>
          <a:ln/>
        </p:spPr>
        <p:txBody>
          <a:bodyPr wrap="square" rtlCol="0" anchor="t"/>
          <a:lstStyle/>
          <a:p>
            <a:pPr indent="0" marL="0">
              <a:buNone/>
            </a:pPr>
            <a:r>
              <a:rPr lang="en-US" sz="860" dirty="0">
                <a:solidFill>
                  <a:srgbClr val="5F6368"/>
                </a:solidFill>
                <a:latin typeface="Roboto" pitchFamily="34" charset="0"/>
                <a:ea typeface="Roboto" pitchFamily="34" charset="-122"/>
                <a:cs typeface="Roboto" pitchFamily="34" charset="-120"/>
              </a:rPr>
              <a:t>• 600 RPM burst SLA, &lt;60s CMEK kill-switch</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Customer-managed Cloud KMS ECDSA keys</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Dedicated Vertex AI PT or air-gapped GKE</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Zero internet egress (VPC-SC perimeter)</a:t>
            </a:r>
            <a:endParaRPr lang="en-US" sz="860" dirty="0"/>
          </a:p>
        </p:txBody>
      </p:sp>
      <p:sp>
        <p:nvSpPr>
          <p:cNvPr id="24" name="Shape 22"/>
          <p:cNvSpPr/>
          <p:nvPr/>
        </p:nvSpPr>
        <p:spPr>
          <a:xfrm>
            <a:off x="548640" y="3886200"/>
            <a:ext cx="2606040" cy="2194560"/>
          </a:xfrm>
          <a:prstGeom prst="roundRect">
            <a:avLst>
              <a:gd name="adj" fmla="val 2500"/>
            </a:avLst>
          </a:prstGeom>
          <a:solidFill>
            <a:srgbClr val="FFFFFF"/>
          </a:solidFill>
          <a:ln w="15875">
            <a:solidFill>
              <a:srgbClr val="B06000"/>
            </a:solidFill>
            <a:prstDash val="solid"/>
          </a:ln>
        </p:spPr>
      </p:sp>
      <p:sp>
        <p:nvSpPr>
          <p:cNvPr id="25" name="Shape 23"/>
          <p:cNvSpPr/>
          <p:nvPr/>
        </p:nvSpPr>
        <p:spPr>
          <a:xfrm>
            <a:off x="548640" y="3886200"/>
            <a:ext cx="2606040" cy="310896"/>
          </a:xfrm>
          <a:prstGeom prst="rect">
            <a:avLst/>
          </a:prstGeom>
          <a:solidFill>
            <a:srgbClr val="FEF7E0"/>
          </a:solidFill>
          <a:ln/>
        </p:spPr>
      </p:sp>
      <p:sp>
        <p:nvSpPr>
          <p:cNvPr id="26" name="Text 24"/>
          <p:cNvSpPr/>
          <p:nvPr/>
        </p:nvSpPr>
        <p:spPr>
          <a:xfrm>
            <a:off x="640080" y="3922776"/>
            <a:ext cx="2423160" cy="237744"/>
          </a:xfrm>
          <a:prstGeom prst="rect">
            <a:avLst/>
          </a:prstGeom>
          <a:noFill/>
          <a:ln/>
        </p:spPr>
        <p:txBody>
          <a:bodyPr wrap="square" rtlCol="0" anchor="ctr"/>
          <a:lstStyle/>
          <a:p>
            <a:pPr indent="0" marL="0">
              <a:buNone/>
            </a:pPr>
            <a:r>
              <a:rPr lang="en-US" sz="950" b="1" dirty="0">
                <a:solidFill>
                  <a:srgbClr val="3C4043"/>
                </a:solidFill>
                <a:latin typeface="Google Sans" pitchFamily="34" charset="0"/>
                <a:ea typeface="Google Sans" pitchFamily="34" charset="-122"/>
                <a:cs typeface="Google Sans" pitchFamily="34" charset="-120"/>
              </a:rPr>
              <a:t>RetailStream Corp (Commercial)</a:t>
            </a:r>
            <a:endParaRPr lang="en-US" sz="950" dirty="0"/>
          </a:p>
        </p:txBody>
      </p:sp>
      <p:sp>
        <p:nvSpPr>
          <p:cNvPr id="27" name="Text 25"/>
          <p:cNvSpPr/>
          <p:nvPr/>
        </p:nvSpPr>
        <p:spPr>
          <a:xfrm>
            <a:off x="640080" y="4270248"/>
            <a:ext cx="2423160" cy="1719072"/>
          </a:xfrm>
          <a:prstGeom prst="rect">
            <a:avLst/>
          </a:prstGeom>
          <a:noFill/>
          <a:ln/>
        </p:spPr>
        <p:txBody>
          <a:bodyPr wrap="square" rtlCol="0" anchor="t"/>
          <a:lstStyle/>
          <a:p>
            <a:pPr indent="0" marL="0">
              <a:buNone/>
            </a:pPr>
            <a:r>
              <a:rPr lang="en-US" sz="860" dirty="0">
                <a:solidFill>
                  <a:srgbClr val="5F6368"/>
                </a:solidFill>
                <a:latin typeface="Roboto" pitchFamily="34" charset="0"/>
                <a:ea typeface="Roboto" pitchFamily="34" charset="-122"/>
                <a:cs typeface="Roboto" pitchFamily="34" charset="-120"/>
              </a:rPr>
              <a:t>• 120 RPM commercial SaaS tier</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Microsoft Entra ID + ServiceNow 3LO</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DPoP-bound per-user token vault</a:t>
            </a:r>
            <a:endParaRPr lang="en-US" sz="860" dirty="0"/>
          </a:p>
          <a:p>
            <a:pPr indent="0" marL="0">
              <a:buNone/>
            </a:pPr>
            <a:r>
              <a:rPr lang="en-US" sz="860" dirty="0">
                <a:solidFill>
                  <a:srgbClr val="5F6368"/>
                </a:solidFill>
                <a:latin typeface="Roboto" pitchFamily="34" charset="0"/>
                <a:ea typeface="Roboto" pitchFamily="34" charset="-122"/>
                <a:cs typeface="Roboto" pitchFamily="34" charset="-120"/>
              </a:rPr>
              <a:t>• Shared prompt cache (84.7% token savings)</a:t>
            </a:r>
            <a:endParaRPr lang="en-US" sz="860" dirty="0"/>
          </a:p>
        </p:txBody>
      </p:sp>
      <p:sp>
        <p:nvSpPr>
          <p:cNvPr id="28" name="Shape 26"/>
          <p:cNvSpPr/>
          <p:nvPr/>
        </p:nvSpPr>
        <p:spPr>
          <a:xfrm>
            <a:off x="3639312" y="1051560"/>
            <a:ext cx="4160520" cy="5257800"/>
          </a:xfrm>
          <a:prstGeom prst="roundRect">
            <a:avLst>
              <a:gd name="adj" fmla="val 1758"/>
            </a:avLst>
          </a:prstGeom>
          <a:solidFill>
            <a:srgbClr val="E8F0FE"/>
          </a:solidFill>
          <a:ln w="19050">
            <a:solidFill>
              <a:srgbClr val="4285F4"/>
            </a:solidFill>
            <a:prstDash val="solid"/>
          </a:ln>
        </p:spPr>
      </p:sp>
      <p:sp>
        <p:nvSpPr>
          <p:cNvPr id="29" name="Text 27"/>
          <p:cNvSpPr/>
          <p:nvPr/>
        </p:nvSpPr>
        <p:spPr>
          <a:xfrm>
            <a:off x="3776472" y="1170432"/>
            <a:ext cx="3886200" cy="256032"/>
          </a:xfrm>
          <a:prstGeom prst="rect">
            <a:avLst/>
          </a:prstGeom>
          <a:noFill/>
          <a:ln/>
        </p:spPr>
        <p:txBody>
          <a:bodyPr wrap="square" rtlCol="0" anchor="ctr"/>
          <a:lstStyle/>
          <a:p>
            <a:pPr indent="0" marL="0">
              <a:buNone/>
            </a:pPr>
            <a:r>
              <a:rPr lang="en-US" sz="950" b="1" dirty="0">
                <a:solidFill>
                  <a:srgbClr val="174EA6"/>
                </a:solidFill>
                <a:latin typeface="Google Sans" pitchFamily="34" charset="0"/>
                <a:ea typeface="Google Sans" pitchFamily="34" charset="-122"/>
                <a:cs typeface="Google Sans" pitchFamily="34" charset="-120"/>
              </a:rPr>
              <a:t>2. 80% REUSABLE 5-HOP CORE (core-cymbal-agent/)</a:t>
            </a:r>
            <a:endParaRPr lang="en-US" sz="950" dirty="0"/>
          </a:p>
        </p:txBody>
      </p:sp>
      <p:sp>
        <p:nvSpPr>
          <p:cNvPr id="30" name="Shape 28"/>
          <p:cNvSpPr/>
          <p:nvPr/>
        </p:nvSpPr>
        <p:spPr>
          <a:xfrm>
            <a:off x="3776472" y="1536192"/>
            <a:ext cx="3886200" cy="694944"/>
          </a:xfrm>
          <a:prstGeom prst="roundRect">
            <a:avLst>
              <a:gd name="adj" fmla="val 6579"/>
            </a:avLst>
          </a:prstGeom>
          <a:solidFill>
            <a:srgbClr val="FFFFFF"/>
          </a:solidFill>
          <a:ln w="12700">
            <a:solidFill>
              <a:srgbClr val="4285F4"/>
            </a:solidFill>
            <a:prstDash val="solid"/>
          </a:ln>
        </p:spPr>
      </p:sp>
      <p:sp>
        <p:nvSpPr>
          <p:cNvPr id="31" name="Text 29"/>
          <p:cNvSpPr/>
          <p:nvPr/>
        </p:nvSpPr>
        <p:spPr>
          <a:xfrm>
            <a:off x="3886200" y="1591056"/>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1 • Edge Identity &amp; STS</a:t>
            </a:r>
            <a:endParaRPr lang="en-US" sz="920" dirty="0"/>
          </a:p>
        </p:txBody>
      </p:sp>
      <p:sp>
        <p:nvSpPr>
          <p:cNvPr id="32" name="Text 30"/>
          <p:cNvSpPr/>
          <p:nvPr/>
        </p:nvSpPr>
        <p:spPr>
          <a:xfrm>
            <a:off x="3886200" y="1828800"/>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Strip X-Tenant-Id; verify OIDC + DPoP; mint KMS JWT (&lt;0.15ms JWKS)</a:t>
            </a:r>
            <a:endParaRPr lang="en-US" sz="820" dirty="0"/>
          </a:p>
        </p:txBody>
      </p:sp>
      <p:sp>
        <p:nvSpPr>
          <p:cNvPr id="33" name="Shape 31"/>
          <p:cNvSpPr/>
          <p:nvPr/>
        </p:nvSpPr>
        <p:spPr>
          <a:xfrm>
            <a:off x="3776472" y="2340864"/>
            <a:ext cx="3886200" cy="694944"/>
          </a:xfrm>
          <a:prstGeom prst="roundRect">
            <a:avLst>
              <a:gd name="adj" fmla="val 6579"/>
            </a:avLst>
          </a:prstGeom>
          <a:solidFill>
            <a:srgbClr val="FFFFFF"/>
          </a:solidFill>
          <a:ln w="12700">
            <a:solidFill>
              <a:srgbClr val="4285F4"/>
            </a:solidFill>
            <a:prstDash val="solid"/>
          </a:ln>
        </p:spPr>
      </p:sp>
      <p:sp>
        <p:nvSpPr>
          <p:cNvPr id="34" name="Text 32"/>
          <p:cNvSpPr/>
          <p:nvPr/>
        </p:nvSpPr>
        <p:spPr>
          <a:xfrm>
            <a:off x="3886200" y="2395728"/>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2 • ARD Catalog Scoping</a:t>
            </a:r>
            <a:endParaRPr lang="en-US" sz="920" dirty="0"/>
          </a:p>
        </p:txBody>
      </p:sp>
      <p:sp>
        <p:nvSpPr>
          <p:cNvPr id="35" name="Text 33"/>
          <p:cNvSpPr/>
          <p:nvPr/>
        </p:nvSpPr>
        <p:spPr>
          <a:xfrm>
            <a:off x="3886200" y="2633472"/>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Chrooted agent/{tenant_id}/* VFS; bind {tenant}:{user} 3LO vault</a:t>
            </a:r>
            <a:endParaRPr lang="en-US" sz="820" dirty="0"/>
          </a:p>
        </p:txBody>
      </p:sp>
      <p:sp>
        <p:nvSpPr>
          <p:cNvPr id="36" name="Shape 34"/>
          <p:cNvSpPr/>
          <p:nvPr/>
        </p:nvSpPr>
        <p:spPr>
          <a:xfrm>
            <a:off x="3776472" y="3145536"/>
            <a:ext cx="3886200" cy="694944"/>
          </a:xfrm>
          <a:prstGeom prst="roundRect">
            <a:avLst>
              <a:gd name="adj" fmla="val 6579"/>
            </a:avLst>
          </a:prstGeom>
          <a:solidFill>
            <a:srgbClr val="FFFFFF"/>
          </a:solidFill>
          <a:ln w="12700">
            <a:solidFill>
              <a:srgbClr val="4285F4"/>
            </a:solidFill>
            <a:prstDash val="solid"/>
          </a:ln>
        </p:spPr>
      </p:sp>
      <p:sp>
        <p:nvSpPr>
          <p:cNvPr id="37" name="Text 35"/>
          <p:cNvSpPr/>
          <p:nvPr/>
        </p:nvSpPr>
        <p:spPr>
          <a:xfrm>
            <a:off x="3886200" y="3200400"/>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3 • Valkey Bulkhead &amp; Memory</a:t>
            </a:r>
            <a:endParaRPr lang="en-US" sz="920" dirty="0"/>
          </a:p>
        </p:txBody>
      </p:sp>
      <p:sp>
        <p:nvSpPr>
          <p:cNvPr id="38" name="Text 36"/>
          <p:cNvSpPr/>
          <p:nvPr/>
        </p:nvSpPr>
        <p:spPr>
          <a:xfrm>
            <a:off x="3886200" y="3438144"/>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3ms JTI/CMEK deny-list; RPM token bucket; &lt;5s SCAN+UNLINK evict</a:t>
            </a:r>
            <a:endParaRPr lang="en-US" sz="820" dirty="0"/>
          </a:p>
        </p:txBody>
      </p:sp>
      <p:sp>
        <p:nvSpPr>
          <p:cNvPr id="39" name="Shape 37"/>
          <p:cNvSpPr/>
          <p:nvPr/>
        </p:nvSpPr>
        <p:spPr>
          <a:xfrm>
            <a:off x="3776472" y="3950208"/>
            <a:ext cx="3886200" cy="694944"/>
          </a:xfrm>
          <a:prstGeom prst="roundRect">
            <a:avLst>
              <a:gd name="adj" fmla="val 6579"/>
            </a:avLst>
          </a:prstGeom>
          <a:solidFill>
            <a:srgbClr val="FFFFFF"/>
          </a:solidFill>
          <a:ln w="12700">
            <a:solidFill>
              <a:srgbClr val="4285F4"/>
            </a:solidFill>
            <a:prstDash val="solid"/>
          </a:ln>
        </p:spPr>
      </p:sp>
      <p:sp>
        <p:nvSpPr>
          <p:cNvPr id="40" name="Text 38"/>
          <p:cNvSpPr/>
          <p:nvPr/>
        </p:nvSpPr>
        <p:spPr>
          <a:xfrm>
            <a:off x="3886200" y="4005072"/>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4 • Model Armor &amp; Cloud DLP</a:t>
            </a:r>
            <a:endParaRPr lang="en-US" sz="920" dirty="0"/>
          </a:p>
        </p:txBody>
      </p:sp>
      <p:sp>
        <p:nvSpPr>
          <p:cNvPr id="41" name="Text 39"/>
          <p:cNvSpPr/>
          <p:nvPr/>
        </p:nvSpPr>
        <p:spPr>
          <a:xfrm>
            <a:off x="3886200" y="4242816"/>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22ms regional gRPC prompt-injection &amp; PII/PHI redaction</a:t>
            </a:r>
            <a:endParaRPr lang="en-US" sz="820" dirty="0"/>
          </a:p>
        </p:txBody>
      </p:sp>
      <p:sp>
        <p:nvSpPr>
          <p:cNvPr id="42" name="Shape 40"/>
          <p:cNvSpPr/>
          <p:nvPr/>
        </p:nvSpPr>
        <p:spPr>
          <a:xfrm>
            <a:off x="3776472" y="4754880"/>
            <a:ext cx="3886200" cy="694944"/>
          </a:xfrm>
          <a:prstGeom prst="roundRect">
            <a:avLst>
              <a:gd name="adj" fmla="val 6579"/>
            </a:avLst>
          </a:prstGeom>
          <a:solidFill>
            <a:srgbClr val="FFFFFF"/>
          </a:solidFill>
          <a:ln w="12700">
            <a:solidFill>
              <a:srgbClr val="4285F4"/>
            </a:solidFill>
            <a:prstDash val="solid"/>
          </a:ln>
        </p:spPr>
      </p:sp>
      <p:sp>
        <p:nvSpPr>
          <p:cNvPr id="43" name="Text 41"/>
          <p:cNvSpPr/>
          <p:nvPr/>
        </p:nvSpPr>
        <p:spPr>
          <a:xfrm>
            <a:off x="3886200" y="4809744"/>
            <a:ext cx="3657600" cy="219456"/>
          </a:xfrm>
          <a:prstGeom prst="rect">
            <a:avLst/>
          </a:prstGeom>
          <a:noFill/>
          <a:ln/>
        </p:spPr>
        <p:txBody>
          <a:bodyPr wrap="square" rtlCol="0" anchor="ctr"/>
          <a:lstStyle/>
          <a:p>
            <a:pPr indent="0" marL="0">
              <a:buNone/>
            </a:pPr>
            <a:r>
              <a:rPr lang="en-US" sz="920" b="1" dirty="0">
                <a:solidFill>
                  <a:srgbClr val="174EA6"/>
                </a:solidFill>
                <a:latin typeface="Google Sans" pitchFamily="34" charset="0"/>
                <a:ea typeface="Google Sans" pitchFamily="34" charset="-122"/>
                <a:cs typeface="Google Sans" pitchFamily="34" charset="-120"/>
              </a:rPr>
              <a:t>Hop 5 • AlloyDB RLS &amp; OTel FinOps</a:t>
            </a:r>
            <a:endParaRPr lang="en-US" sz="920" dirty="0"/>
          </a:p>
        </p:txBody>
      </p:sp>
      <p:sp>
        <p:nvSpPr>
          <p:cNvPr id="44" name="Text 42"/>
          <p:cNvSpPr/>
          <p:nvPr/>
        </p:nvSpPr>
        <p:spPr>
          <a:xfrm>
            <a:off x="3886200" y="5047488"/>
            <a:ext cx="3657600" cy="347472"/>
          </a:xfrm>
          <a:prstGeom prst="rect">
            <a:avLst/>
          </a:prstGeom>
          <a:noFill/>
          <a:ln/>
        </p:spPr>
        <p:txBody>
          <a:bodyPr wrap="square" rtlCol="0" anchor="ctr"/>
          <a:lstStyle/>
          <a:p>
            <a:pPr indent="0" marL="0">
              <a:buNone/>
            </a:pPr>
            <a:r>
              <a:rPr lang="en-US" sz="820" dirty="0">
                <a:solidFill>
                  <a:srgbClr val="5F6368"/>
                </a:solidFill>
                <a:latin typeface="Roboto" pitchFamily="34" charset="0"/>
                <a:ea typeface="Roboto" pitchFamily="34" charset="-122"/>
                <a:cs typeface="Roboto" pitchFamily="34" charset="-120"/>
              </a:rPr>
              <a:t>SET LOCAL app.current_tenant_id; BigQuery SHA-256 token ledger</a:t>
            </a:r>
            <a:endParaRPr lang="en-US" sz="820" dirty="0"/>
          </a:p>
        </p:txBody>
      </p:sp>
      <p:sp>
        <p:nvSpPr>
          <p:cNvPr id="45" name="Shape 43"/>
          <p:cNvSpPr/>
          <p:nvPr/>
        </p:nvSpPr>
        <p:spPr>
          <a:xfrm>
            <a:off x="3776472" y="5596128"/>
            <a:ext cx="3886200" cy="566928"/>
          </a:xfrm>
          <a:prstGeom prst="roundRect">
            <a:avLst>
              <a:gd name="adj" fmla="val 8065"/>
            </a:avLst>
          </a:prstGeom>
          <a:solidFill>
            <a:srgbClr val="FFFFFF"/>
          </a:solidFill>
          <a:ln w="15240">
            <a:solidFill>
              <a:srgbClr val="34A853"/>
            </a:solidFill>
            <a:prstDash val="solid"/>
          </a:ln>
        </p:spPr>
      </p:sp>
      <p:sp>
        <p:nvSpPr>
          <p:cNvPr id="46" name="Text 44"/>
          <p:cNvSpPr/>
          <p:nvPr/>
        </p:nvSpPr>
        <p:spPr>
          <a:xfrm>
            <a:off x="3886200" y="5650992"/>
            <a:ext cx="3657600" cy="457200"/>
          </a:xfrm>
          <a:prstGeom prst="rect">
            <a:avLst/>
          </a:prstGeom>
          <a:noFill/>
          <a:ln/>
        </p:spPr>
        <p:txBody>
          <a:bodyPr wrap="square" rtlCol="0" anchor="ctr"/>
          <a:lstStyle/>
          <a:p>
            <a:pPr algn="ctr" indent="0" marL="0">
              <a:buNone/>
            </a:pPr>
            <a:r>
              <a:rPr lang="en-US" sz="830" b="1" dirty="0">
                <a:solidFill>
                  <a:srgbClr val="0D652D"/>
                </a:solidFill>
                <a:latin typeface="Roboto" pitchFamily="34" charset="0"/>
                <a:ea typeface="Roboto" pitchFamily="34" charset="-122"/>
                <a:cs typeface="Roboto" pitchFamily="34" charset="-120"/>
              </a:rPr>
              <a:t>Feature-Flagged Native GCP Adapters (GAP-01..05)</a:t>
            </a:r>
            <a:endParaRPr lang="en-US" sz="830" dirty="0"/>
          </a:p>
          <a:p>
            <a:pPr algn="ctr" indent="0" marL="0">
              <a:buNone/>
            </a:pPr>
            <a:r>
              <a:rPr lang="en-US" sz="830" b="1" dirty="0">
                <a:solidFill>
                  <a:srgbClr val="0D652D"/>
                </a:solidFill>
                <a:latin typeface="Roboto" pitchFamily="34" charset="0"/>
                <a:ea typeface="Roboto" pitchFamily="34" charset="-122"/>
                <a:cs typeface="Roboto" pitchFamily="34" charset="-120"/>
              </a:rPr>
              <a:t>Zero application rewrite when EAP features reach GA</a:t>
            </a:r>
            <a:endParaRPr lang="en-US" sz="830" dirty="0"/>
          </a:p>
        </p:txBody>
      </p:sp>
      <p:sp>
        <p:nvSpPr>
          <p:cNvPr id="47" name="Shape 45"/>
          <p:cNvSpPr/>
          <p:nvPr/>
        </p:nvSpPr>
        <p:spPr>
          <a:xfrm>
            <a:off x="8147304" y="1051560"/>
            <a:ext cx="3630168" cy="5257800"/>
          </a:xfrm>
          <a:prstGeom prst="roundRect">
            <a:avLst>
              <a:gd name="adj" fmla="val 2015"/>
            </a:avLst>
          </a:prstGeom>
          <a:solidFill>
            <a:srgbClr val="F8F9FA"/>
          </a:solidFill>
          <a:ln w="12700">
            <a:solidFill>
              <a:srgbClr val="DADCE0"/>
            </a:solidFill>
            <a:prstDash val="solid"/>
          </a:ln>
        </p:spPr>
      </p:sp>
      <p:sp>
        <p:nvSpPr>
          <p:cNvPr id="48" name="Text 46"/>
          <p:cNvSpPr/>
          <p:nvPr/>
        </p:nvSpPr>
        <p:spPr>
          <a:xfrm>
            <a:off x="8284464" y="1170432"/>
            <a:ext cx="3355848" cy="256032"/>
          </a:xfrm>
          <a:prstGeom prst="rect">
            <a:avLst/>
          </a:prstGeom>
          <a:noFill/>
          <a:ln/>
        </p:spPr>
        <p:txBody>
          <a:bodyPr wrap="square" rtlCol="0" anchor="ctr"/>
          <a:lstStyle/>
          <a:p>
            <a:pPr indent="0" marL="0">
              <a:buNone/>
            </a:pPr>
            <a:r>
              <a:rPr lang="en-US" sz="950" b="1" dirty="0">
                <a:solidFill>
                  <a:srgbClr val="0D652D"/>
                </a:solidFill>
                <a:latin typeface="Google Sans" pitchFamily="34" charset="0"/>
                <a:ea typeface="Google Sans" pitchFamily="34" charset="-122"/>
                <a:cs typeface="Google Sans" pitchFamily="34" charset="-120"/>
              </a:rPr>
              <a:t>3. 20% PER-TENANT PERIMETER DELTA</a:t>
            </a:r>
            <a:endParaRPr lang="en-US" sz="950" dirty="0"/>
          </a:p>
        </p:txBody>
      </p:sp>
      <p:sp>
        <p:nvSpPr>
          <p:cNvPr id="49" name="Shape 47"/>
          <p:cNvSpPr/>
          <p:nvPr/>
        </p:nvSpPr>
        <p:spPr>
          <a:xfrm>
            <a:off x="8284464" y="1536192"/>
            <a:ext cx="3355848" cy="1408176"/>
          </a:xfrm>
          <a:prstGeom prst="roundRect">
            <a:avLst>
              <a:gd name="adj" fmla="val 3896"/>
            </a:avLst>
          </a:prstGeom>
          <a:solidFill>
            <a:srgbClr val="FFFFFF"/>
          </a:solidFill>
          <a:ln w="15875">
            <a:solidFill>
              <a:srgbClr val="B06000"/>
            </a:solidFill>
            <a:prstDash val="solid"/>
          </a:ln>
        </p:spPr>
      </p:sp>
      <p:sp>
        <p:nvSpPr>
          <p:cNvPr id="50" name="Shape 48"/>
          <p:cNvSpPr/>
          <p:nvPr/>
        </p:nvSpPr>
        <p:spPr>
          <a:xfrm>
            <a:off x="8284464" y="1536192"/>
            <a:ext cx="3355848" cy="310896"/>
          </a:xfrm>
          <a:prstGeom prst="rect">
            <a:avLst/>
          </a:prstGeom>
          <a:solidFill>
            <a:srgbClr val="FEF7E0"/>
          </a:solidFill>
          <a:ln/>
        </p:spPr>
      </p:sp>
      <p:sp>
        <p:nvSpPr>
          <p:cNvPr id="51" name="Text 49"/>
          <p:cNvSpPr/>
          <p:nvPr/>
        </p:nvSpPr>
        <p:spPr>
          <a:xfrm>
            <a:off x="8375904" y="1572768"/>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A • High-Density Shared Pool</a:t>
            </a:r>
            <a:endParaRPr lang="en-US" sz="900" dirty="0"/>
          </a:p>
        </p:txBody>
      </p:sp>
      <p:sp>
        <p:nvSpPr>
          <p:cNvPr id="52" name="Text 50"/>
          <p:cNvSpPr/>
          <p:nvPr/>
        </p:nvSpPr>
        <p:spPr>
          <a:xfrm>
            <a:off x="8375904" y="1920240"/>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950 commercial tenants • Shared Cloud Run + AlloyDB RLS • 84.7% prompt-cache savings</a:t>
            </a:r>
            <a:endParaRPr lang="en-US" sz="850" dirty="0"/>
          </a:p>
        </p:txBody>
      </p:sp>
      <p:sp>
        <p:nvSpPr>
          <p:cNvPr id="53" name="Shape 51"/>
          <p:cNvSpPr/>
          <p:nvPr/>
        </p:nvSpPr>
        <p:spPr>
          <a:xfrm>
            <a:off x="8284464" y="3154680"/>
            <a:ext cx="3355848" cy="1408176"/>
          </a:xfrm>
          <a:prstGeom prst="roundRect">
            <a:avLst>
              <a:gd name="adj" fmla="val 3896"/>
            </a:avLst>
          </a:prstGeom>
          <a:solidFill>
            <a:srgbClr val="FFFFFF"/>
          </a:solidFill>
          <a:ln w="15875">
            <a:solidFill>
              <a:srgbClr val="EA4335"/>
            </a:solidFill>
            <a:prstDash val="solid"/>
          </a:ln>
        </p:spPr>
      </p:sp>
      <p:sp>
        <p:nvSpPr>
          <p:cNvPr id="54" name="Shape 52"/>
          <p:cNvSpPr/>
          <p:nvPr/>
        </p:nvSpPr>
        <p:spPr>
          <a:xfrm>
            <a:off x="8284464" y="3154680"/>
            <a:ext cx="3355848" cy="310896"/>
          </a:xfrm>
          <a:prstGeom prst="rect">
            <a:avLst/>
          </a:prstGeom>
          <a:solidFill>
            <a:srgbClr val="FCE8E6"/>
          </a:solidFill>
          <a:ln/>
        </p:spPr>
      </p:sp>
      <p:sp>
        <p:nvSpPr>
          <p:cNvPr id="55" name="Text 53"/>
          <p:cNvSpPr/>
          <p:nvPr/>
        </p:nvSpPr>
        <p:spPr>
          <a:xfrm>
            <a:off x="8375904" y="3191256"/>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B • Zero-Trust Sovereign Silos</a:t>
            </a:r>
            <a:endParaRPr lang="en-US" sz="900" dirty="0"/>
          </a:p>
        </p:txBody>
      </p:sp>
      <p:sp>
        <p:nvSpPr>
          <p:cNvPr id="56" name="Text 54"/>
          <p:cNvSpPr/>
          <p:nvPr/>
        </p:nvSpPr>
        <p:spPr>
          <a:xfrm>
            <a:off x="8375904" y="3538728"/>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50 regulated tenants • Dedicated VPC-SC, CMEK KMS, AlloyDB &amp; GKE/Vertex PT</a:t>
            </a:r>
            <a:endParaRPr lang="en-US" sz="850" dirty="0"/>
          </a:p>
        </p:txBody>
      </p:sp>
      <p:sp>
        <p:nvSpPr>
          <p:cNvPr id="57" name="Shape 55"/>
          <p:cNvSpPr/>
          <p:nvPr/>
        </p:nvSpPr>
        <p:spPr>
          <a:xfrm>
            <a:off x="8284464" y="4773168"/>
            <a:ext cx="3355848" cy="1408176"/>
          </a:xfrm>
          <a:prstGeom prst="roundRect">
            <a:avLst>
              <a:gd name="adj" fmla="val 3896"/>
            </a:avLst>
          </a:prstGeom>
          <a:solidFill>
            <a:srgbClr val="FFFFFF"/>
          </a:solidFill>
          <a:ln w="15875">
            <a:solidFill>
              <a:srgbClr val="34A853"/>
            </a:solidFill>
            <a:prstDash val="solid"/>
          </a:ln>
        </p:spPr>
      </p:sp>
      <p:sp>
        <p:nvSpPr>
          <p:cNvPr id="58" name="Shape 56"/>
          <p:cNvSpPr/>
          <p:nvPr/>
        </p:nvSpPr>
        <p:spPr>
          <a:xfrm>
            <a:off x="8284464" y="4773168"/>
            <a:ext cx="3355848" cy="310896"/>
          </a:xfrm>
          <a:prstGeom prst="rect">
            <a:avLst/>
          </a:prstGeom>
          <a:solidFill>
            <a:srgbClr val="E6F4EA"/>
          </a:solidFill>
          <a:ln/>
        </p:spPr>
      </p:sp>
      <p:sp>
        <p:nvSpPr>
          <p:cNvPr id="59" name="Text 57"/>
          <p:cNvSpPr/>
          <p:nvPr/>
        </p:nvSpPr>
        <p:spPr>
          <a:xfrm>
            <a:off x="8375904" y="4809744"/>
            <a:ext cx="3172968" cy="237744"/>
          </a:xfrm>
          <a:prstGeom prst="rect">
            <a:avLst/>
          </a:prstGeom>
          <a:noFill/>
          <a:ln/>
        </p:spPr>
        <p:txBody>
          <a:bodyPr wrap="square" rtlCol="0" anchor="ctr"/>
          <a:lstStyle/>
          <a:p>
            <a:pPr indent="0" marL="0">
              <a:buNone/>
            </a:pPr>
            <a:r>
              <a:rPr lang="en-US" sz="900" b="1" dirty="0">
                <a:solidFill>
                  <a:srgbClr val="3C4043"/>
                </a:solidFill>
                <a:latin typeface="Google Sans" pitchFamily="34" charset="0"/>
                <a:ea typeface="Google Sans" pitchFamily="34" charset="-122"/>
                <a:cs typeface="Google Sans" pitchFamily="34" charset="-120"/>
              </a:rPr>
              <a:t>Pattern C • Dynamic Hybrid PSC Bridge</a:t>
            </a:r>
            <a:endParaRPr lang="en-US" sz="900" dirty="0"/>
          </a:p>
        </p:txBody>
      </p:sp>
      <p:sp>
        <p:nvSpPr>
          <p:cNvPr id="60" name="Text 58"/>
          <p:cNvSpPr/>
          <p:nvPr/>
        </p:nvSpPr>
        <p:spPr>
          <a:xfrm>
            <a:off x="8375904" y="5157216"/>
            <a:ext cx="3172968" cy="932688"/>
          </a:xfrm>
          <a:prstGeom prst="rect">
            <a:avLst/>
          </a:prstGeom>
          <a:noFill/>
          <a:ln/>
        </p:spPr>
        <p:txBody>
          <a:bodyPr wrap="square" rtlCol="0" anchor="ctr"/>
          <a:lstStyle/>
          <a:p>
            <a:pPr indent="0" marL="0">
              <a:buNone/>
            </a:pPr>
            <a:r>
              <a:rPr lang="en-US" sz="850" dirty="0">
                <a:solidFill>
                  <a:srgbClr val="5F6368"/>
                </a:solidFill>
                <a:latin typeface="Roboto" pitchFamily="34" charset="0"/>
                <a:ea typeface="Roboto" pitchFamily="34" charset="-122"/>
                <a:cs typeface="Roboto" pitchFamily="34" charset="-120"/>
              </a:rPr>
              <a:t>0ms live tier promotion from Pool to Private Service Connect spoke • 74% TCO savings</a:t>
            </a:r>
            <a:endParaRPr lang="en-US" sz="850" dirty="0"/>
          </a:p>
        </p:txBody>
      </p:sp>
      <p:sp>
        <p:nvSpPr>
          <p:cNvPr id="61" name="Shape 59"/>
          <p:cNvSpPr/>
          <p:nvPr/>
        </p:nvSpPr>
        <p:spPr>
          <a:xfrm>
            <a:off x="3291840" y="2606040"/>
            <a:ext cx="347472" cy="0"/>
          </a:xfrm>
          <a:prstGeom prst="line">
            <a:avLst/>
          </a:prstGeom>
          <a:noFill/>
          <a:ln w="22225">
            <a:solidFill>
              <a:srgbClr val="4285F4"/>
            </a:solidFill>
            <a:prstDash val="solid"/>
            <a:tailEnd type="arrow" w="sm" len="sm"/>
          </a:ln>
        </p:spPr>
      </p:sp>
      <p:sp>
        <p:nvSpPr>
          <p:cNvPr id="62" name="Shape 60"/>
          <p:cNvSpPr/>
          <p:nvPr/>
        </p:nvSpPr>
        <p:spPr>
          <a:xfrm>
            <a:off x="3291840" y="4800600"/>
            <a:ext cx="347472" cy="0"/>
          </a:xfrm>
          <a:prstGeom prst="line">
            <a:avLst/>
          </a:prstGeom>
          <a:noFill/>
          <a:ln w="22225">
            <a:solidFill>
              <a:srgbClr val="4285F4"/>
            </a:solidFill>
            <a:prstDash val="solid"/>
            <a:tailEnd type="arrow" w="sm" len="sm"/>
          </a:ln>
        </p:spPr>
      </p:sp>
      <p:sp>
        <p:nvSpPr>
          <p:cNvPr id="63" name="Shape 61"/>
          <p:cNvSpPr/>
          <p:nvPr/>
        </p:nvSpPr>
        <p:spPr>
          <a:xfrm>
            <a:off x="7799832" y="2240280"/>
            <a:ext cx="347472" cy="0"/>
          </a:xfrm>
          <a:prstGeom prst="line">
            <a:avLst/>
          </a:prstGeom>
          <a:noFill/>
          <a:ln w="22225">
            <a:solidFill>
              <a:srgbClr val="34A853"/>
            </a:solidFill>
            <a:prstDash val="solid"/>
            <a:tailEnd type="arrow" w="sm" len="sm"/>
          </a:ln>
        </p:spPr>
      </p:sp>
      <p:sp>
        <p:nvSpPr>
          <p:cNvPr id="64" name="Shape 62"/>
          <p:cNvSpPr/>
          <p:nvPr/>
        </p:nvSpPr>
        <p:spPr>
          <a:xfrm>
            <a:off x="7799832" y="3858768"/>
            <a:ext cx="347472" cy="0"/>
          </a:xfrm>
          <a:prstGeom prst="line">
            <a:avLst/>
          </a:prstGeom>
          <a:noFill/>
          <a:ln w="22225">
            <a:solidFill>
              <a:srgbClr val="34A853"/>
            </a:solidFill>
            <a:prstDash val="solid"/>
            <a:tailEnd type="arrow" w="sm" len="sm"/>
          </a:ln>
        </p:spPr>
      </p:sp>
      <p:sp>
        <p:nvSpPr>
          <p:cNvPr id="65" name="Shape 63"/>
          <p:cNvSpPr/>
          <p:nvPr/>
        </p:nvSpPr>
        <p:spPr>
          <a:xfrm>
            <a:off x="7799832" y="5468112"/>
            <a:ext cx="347472" cy="0"/>
          </a:xfrm>
          <a:prstGeom prst="line">
            <a:avLst/>
          </a:prstGeom>
          <a:noFill/>
          <a:ln w="22225">
            <a:solidFill>
              <a:srgbClr val="34A853"/>
            </a:solidFill>
            <a:prstDash val="solid"/>
            <a:tailEnd type="arrow" w="sm" len="sm"/>
          </a:ln>
        </p:spPr>
      </p:sp>
      <p:sp>
        <p:nvSpPr>
          <p:cNvPr id="66" name="Text 64"/>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Conceptual Architecture: 80% Reusable 5-Hop Core vs. 20% Per-Tenant Perimeter Delta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6916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6916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PROCESS-LIFECYCLE</a:t>
            </a:r>
            <a:endParaRPr lang="en-US" sz="850" dirty="0"/>
          </a:p>
        </p:txBody>
      </p:sp>
      <p:sp>
        <p:nvSpPr>
          <p:cNvPr id="14" name="Text 12"/>
          <p:cNvSpPr/>
          <p:nvPr/>
        </p:nvSpPr>
        <p:spPr>
          <a:xfrm>
            <a:off x="5312664" y="132588"/>
            <a:ext cx="40901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Process Diagram: End-to-End 5-Hop Request, Governance, Execution &amp; FinOps Lifecycle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 • PROCESS FLOW</a:t>
            </a:r>
            <a:endParaRPr lang="en-US" sz="750" dirty="0"/>
          </a:p>
        </p:txBody>
      </p:sp>
      <p:sp>
        <p:nvSpPr>
          <p:cNvPr id="17" name="Text 15"/>
          <p:cNvSpPr/>
          <p:nvPr/>
        </p:nvSpPr>
        <p:spPr>
          <a:xfrm>
            <a:off x="411480" y="621792"/>
            <a:ext cx="11365992" cy="329184"/>
          </a:xfrm>
          <a:prstGeom prst="rect">
            <a:avLst/>
          </a:prstGeom>
          <a:noFill/>
          <a:ln/>
        </p:spPr>
        <p:txBody>
          <a:bodyPr wrap="square" rtlCol="0" anchor="ctr"/>
          <a:lstStyle/>
          <a:p>
            <a:pPr indent="0" marL="0">
              <a:buNone/>
            </a:pPr>
            <a:r>
              <a:rPr lang="en-US" sz="1050" dirty="0">
                <a:solidFill>
                  <a:srgbClr val="5F6368"/>
                </a:solidFill>
                <a:latin typeface="Roboto" pitchFamily="34" charset="0"/>
                <a:ea typeface="Roboto" pitchFamily="34" charset="-122"/>
                <a:cs typeface="Roboto" pitchFamily="34" charset="-120"/>
              </a:rPr>
              <a:t>Deterministic ~42ms p95 control-plane pipeline from edge OIDC + DPoP verification through inline Model Armor screening to BigQuery OpenTelemetry FinOps chargeback.</a:t>
            </a:r>
            <a:endParaRPr lang="en-US" sz="1050" dirty="0"/>
          </a:p>
        </p:txBody>
      </p:sp>
      <p:sp>
        <p:nvSpPr>
          <p:cNvPr id="18" name="Shape 16"/>
          <p:cNvSpPr/>
          <p:nvPr/>
        </p:nvSpPr>
        <p:spPr>
          <a:xfrm>
            <a:off x="411480" y="1078992"/>
            <a:ext cx="1755648" cy="3246120"/>
          </a:xfrm>
          <a:prstGeom prst="roundRect">
            <a:avLst>
              <a:gd name="adj" fmla="val 3646"/>
            </a:avLst>
          </a:prstGeom>
          <a:solidFill>
            <a:srgbClr val="FFFFFF"/>
          </a:solidFill>
          <a:ln w="17145">
            <a:solidFill>
              <a:srgbClr val="4285F4"/>
            </a:solidFill>
            <a:prstDash val="solid"/>
          </a:ln>
        </p:spPr>
      </p:sp>
      <p:sp>
        <p:nvSpPr>
          <p:cNvPr id="19" name="Shape 17"/>
          <p:cNvSpPr/>
          <p:nvPr/>
        </p:nvSpPr>
        <p:spPr>
          <a:xfrm>
            <a:off x="411480" y="1078992"/>
            <a:ext cx="1755648" cy="310896"/>
          </a:xfrm>
          <a:prstGeom prst="rect">
            <a:avLst/>
          </a:prstGeom>
          <a:solidFill>
            <a:srgbClr val="E8F0FE"/>
          </a:solidFill>
          <a:ln/>
        </p:spPr>
      </p:sp>
      <p:sp>
        <p:nvSpPr>
          <p:cNvPr id="20" name="Text 18"/>
          <p:cNvSpPr/>
          <p:nvPr/>
        </p:nvSpPr>
        <p:spPr>
          <a:xfrm>
            <a:off x="466344" y="1115568"/>
            <a:ext cx="1645920" cy="237744"/>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STAGE 1 • HOP 1</a:t>
            </a:r>
            <a:endParaRPr lang="en-US" sz="800" dirty="0"/>
          </a:p>
        </p:txBody>
      </p:sp>
      <p:sp>
        <p:nvSpPr>
          <p:cNvPr id="21" name="Shape 19"/>
          <p:cNvSpPr/>
          <p:nvPr/>
        </p:nvSpPr>
        <p:spPr>
          <a:xfrm>
            <a:off x="649224" y="1463040"/>
            <a:ext cx="1280160" cy="219456"/>
          </a:xfrm>
          <a:prstGeom prst="roundRect">
            <a:avLst>
              <a:gd name="adj" fmla="val 25000"/>
            </a:avLst>
          </a:prstGeom>
          <a:solidFill>
            <a:srgbClr val="F8F9FA"/>
          </a:solidFill>
          <a:ln w="9525">
            <a:solidFill>
              <a:srgbClr val="DADCE0"/>
            </a:solidFill>
            <a:prstDash val="solid"/>
          </a:ln>
        </p:spPr>
      </p:sp>
      <p:sp>
        <p:nvSpPr>
          <p:cNvPr id="22" name="Text 20"/>
          <p:cNvSpPr/>
          <p:nvPr/>
        </p:nvSpPr>
        <p:spPr>
          <a:xfrm>
            <a:off x="64922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~8ms p95</a:t>
            </a:r>
            <a:endParaRPr lang="en-US" sz="780" dirty="0"/>
          </a:p>
        </p:txBody>
      </p:sp>
      <p:sp>
        <p:nvSpPr>
          <p:cNvPr id="23" name="Text 21"/>
          <p:cNvSpPr/>
          <p:nvPr/>
        </p:nvSpPr>
        <p:spPr>
          <a:xfrm>
            <a:off x="48463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Edge Auth &amp; STS Mint</a:t>
            </a:r>
            <a:endParaRPr lang="en-US" sz="940" dirty="0"/>
          </a:p>
        </p:txBody>
      </p:sp>
      <p:sp>
        <p:nvSpPr>
          <p:cNvPr id="24" name="Text 22"/>
          <p:cNvSpPr/>
          <p:nvPr/>
        </p:nvSpPr>
        <p:spPr>
          <a:xfrm>
            <a:off x="48463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Cloud Armor + IAP + STS</a:t>
            </a:r>
            <a:endParaRPr lang="en-US" sz="800" dirty="0"/>
          </a:p>
        </p:txBody>
      </p:sp>
      <p:sp>
        <p:nvSpPr>
          <p:cNvPr id="25" name="Text 23"/>
          <p:cNvSpPr/>
          <p:nvPr/>
        </p:nvSpPr>
        <p:spPr>
          <a:xfrm>
            <a:off x="48463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Strip spoofed X-Tenant-Id; verify OIDC + DPoP proof; mint ECDSA P-256 TenantContext JWT.</a:t>
            </a:r>
            <a:endParaRPr lang="en-US" sz="810" dirty="0"/>
          </a:p>
        </p:txBody>
      </p:sp>
      <p:sp>
        <p:nvSpPr>
          <p:cNvPr id="26" name="Shape 24"/>
          <p:cNvSpPr/>
          <p:nvPr/>
        </p:nvSpPr>
        <p:spPr>
          <a:xfrm>
            <a:off x="2167128" y="2697480"/>
            <a:ext cx="164592" cy="0"/>
          </a:xfrm>
          <a:prstGeom prst="line">
            <a:avLst/>
          </a:prstGeom>
          <a:noFill/>
          <a:ln w="20320">
            <a:solidFill>
              <a:srgbClr val="4285F4"/>
            </a:solidFill>
            <a:prstDash val="solid"/>
            <a:tailEnd type="arrow" w="sm" len="sm"/>
          </a:ln>
        </p:spPr>
      </p:sp>
      <p:sp>
        <p:nvSpPr>
          <p:cNvPr id="27" name="Shape 25"/>
          <p:cNvSpPr/>
          <p:nvPr/>
        </p:nvSpPr>
        <p:spPr>
          <a:xfrm>
            <a:off x="2331720" y="1078992"/>
            <a:ext cx="1755648" cy="3246120"/>
          </a:xfrm>
          <a:prstGeom prst="roundRect">
            <a:avLst>
              <a:gd name="adj" fmla="val 3646"/>
            </a:avLst>
          </a:prstGeom>
          <a:solidFill>
            <a:srgbClr val="FFFFFF"/>
          </a:solidFill>
          <a:ln w="17145">
            <a:solidFill>
              <a:srgbClr val="4285F4"/>
            </a:solidFill>
            <a:prstDash val="solid"/>
          </a:ln>
        </p:spPr>
      </p:sp>
      <p:sp>
        <p:nvSpPr>
          <p:cNvPr id="28" name="Shape 26"/>
          <p:cNvSpPr/>
          <p:nvPr/>
        </p:nvSpPr>
        <p:spPr>
          <a:xfrm>
            <a:off x="2331720" y="1078992"/>
            <a:ext cx="1755648" cy="310896"/>
          </a:xfrm>
          <a:prstGeom prst="rect">
            <a:avLst/>
          </a:prstGeom>
          <a:solidFill>
            <a:srgbClr val="E8F0FE"/>
          </a:solidFill>
          <a:ln/>
        </p:spPr>
      </p:sp>
      <p:sp>
        <p:nvSpPr>
          <p:cNvPr id="29" name="Text 27"/>
          <p:cNvSpPr/>
          <p:nvPr/>
        </p:nvSpPr>
        <p:spPr>
          <a:xfrm>
            <a:off x="2386584" y="1115568"/>
            <a:ext cx="1645920" cy="237744"/>
          </a:xfrm>
          <a:prstGeom prst="rect">
            <a:avLst/>
          </a:prstGeom>
          <a:noFill/>
          <a:ln/>
        </p:spPr>
        <p:txBody>
          <a:bodyPr wrap="square" rtlCol="0" anchor="ctr"/>
          <a:lstStyle/>
          <a:p>
            <a:pPr algn="ctr" indent="0" marL="0">
              <a:buNone/>
            </a:pPr>
            <a:r>
              <a:rPr lang="en-US" sz="800" b="1" dirty="0">
                <a:solidFill>
                  <a:srgbClr val="4285F4"/>
                </a:solidFill>
                <a:latin typeface="Google Sans" pitchFamily="34" charset="0"/>
                <a:ea typeface="Google Sans" pitchFamily="34" charset="-122"/>
                <a:cs typeface="Google Sans" pitchFamily="34" charset="-120"/>
              </a:rPr>
              <a:t>STAGE 2 • HOP 2</a:t>
            </a:r>
            <a:endParaRPr lang="en-US" sz="800" dirty="0"/>
          </a:p>
        </p:txBody>
      </p:sp>
      <p:sp>
        <p:nvSpPr>
          <p:cNvPr id="30" name="Shape 28"/>
          <p:cNvSpPr/>
          <p:nvPr/>
        </p:nvSpPr>
        <p:spPr>
          <a:xfrm>
            <a:off x="2569464" y="1463040"/>
            <a:ext cx="1280160" cy="219456"/>
          </a:xfrm>
          <a:prstGeom prst="roundRect">
            <a:avLst>
              <a:gd name="adj" fmla="val 25000"/>
            </a:avLst>
          </a:prstGeom>
          <a:solidFill>
            <a:srgbClr val="F8F9FA"/>
          </a:solidFill>
          <a:ln w="9525">
            <a:solidFill>
              <a:srgbClr val="DADCE0"/>
            </a:solidFill>
            <a:prstDash val="solid"/>
          </a:ln>
        </p:spPr>
      </p:sp>
      <p:sp>
        <p:nvSpPr>
          <p:cNvPr id="31" name="Text 29"/>
          <p:cNvSpPr/>
          <p:nvPr/>
        </p:nvSpPr>
        <p:spPr>
          <a:xfrm>
            <a:off x="256946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~4ms p95</a:t>
            </a:r>
            <a:endParaRPr lang="en-US" sz="780" dirty="0"/>
          </a:p>
        </p:txBody>
      </p:sp>
      <p:sp>
        <p:nvSpPr>
          <p:cNvPr id="32" name="Text 30"/>
          <p:cNvSpPr/>
          <p:nvPr/>
        </p:nvSpPr>
        <p:spPr>
          <a:xfrm>
            <a:off x="240487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Catalog &amp; Tool Scope</a:t>
            </a:r>
            <a:endParaRPr lang="en-US" sz="940" dirty="0"/>
          </a:p>
        </p:txBody>
      </p:sp>
      <p:sp>
        <p:nvSpPr>
          <p:cNvPr id="33" name="Text 31"/>
          <p:cNvSpPr/>
          <p:nvPr/>
        </p:nvSpPr>
        <p:spPr>
          <a:xfrm>
            <a:off x="240487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ARD + MCP Gateway</a:t>
            </a:r>
            <a:endParaRPr lang="en-US" sz="800" dirty="0"/>
          </a:p>
        </p:txBody>
      </p:sp>
      <p:sp>
        <p:nvSpPr>
          <p:cNvPr id="34" name="Text 32"/>
          <p:cNvSpPr/>
          <p:nvPr/>
        </p:nvSpPr>
        <p:spPr>
          <a:xfrm>
            <a:off x="240487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Resolve chrooted agent/{tenant}/* VFS; bind composite {tenant}:{user} 3LO vault token.</a:t>
            </a:r>
            <a:endParaRPr lang="en-US" sz="810" dirty="0"/>
          </a:p>
        </p:txBody>
      </p:sp>
      <p:sp>
        <p:nvSpPr>
          <p:cNvPr id="35" name="Shape 33"/>
          <p:cNvSpPr/>
          <p:nvPr/>
        </p:nvSpPr>
        <p:spPr>
          <a:xfrm>
            <a:off x="4087368" y="2697480"/>
            <a:ext cx="164592" cy="0"/>
          </a:xfrm>
          <a:prstGeom prst="line">
            <a:avLst/>
          </a:prstGeom>
          <a:noFill/>
          <a:ln w="20320">
            <a:solidFill>
              <a:srgbClr val="4285F4"/>
            </a:solidFill>
            <a:prstDash val="solid"/>
            <a:tailEnd type="arrow" w="sm" len="sm"/>
          </a:ln>
        </p:spPr>
      </p:sp>
      <p:sp>
        <p:nvSpPr>
          <p:cNvPr id="36" name="Shape 34"/>
          <p:cNvSpPr/>
          <p:nvPr/>
        </p:nvSpPr>
        <p:spPr>
          <a:xfrm>
            <a:off x="4251960" y="1078992"/>
            <a:ext cx="1755648" cy="3246120"/>
          </a:xfrm>
          <a:prstGeom prst="roundRect">
            <a:avLst>
              <a:gd name="adj" fmla="val 3646"/>
            </a:avLst>
          </a:prstGeom>
          <a:solidFill>
            <a:srgbClr val="FFFFFF"/>
          </a:solidFill>
          <a:ln w="17145">
            <a:solidFill>
              <a:srgbClr val="34A853"/>
            </a:solidFill>
            <a:prstDash val="solid"/>
          </a:ln>
        </p:spPr>
      </p:sp>
      <p:sp>
        <p:nvSpPr>
          <p:cNvPr id="37" name="Shape 35"/>
          <p:cNvSpPr/>
          <p:nvPr/>
        </p:nvSpPr>
        <p:spPr>
          <a:xfrm>
            <a:off x="4251960" y="1078992"/>
            <a:ext cx="1755648" cy="310896"/>
          </a:xfrm>
          <a:prstGeom prst="rect">
            <a:avLst/>
          </a:prstGeom>
          <a:solidFill>
            <a:srgbClr val="E6F4EA"/>
          </a:solidFill>
          <a:ln/>
        </p:spPr>
      </p:sp>
      <p:sp>
        <p:nvSpPr>
          <p:cNvPr id="38" name="Text 36"/>
          <p:cNvSpPr/>
          <p:nvPr/>
        </p:nvSpPr>
        <p:spPr>
          <a:xfrm>
            <a:off x="4306824" y="1115568"/>
            <a:ext cx="1645920" cy="237744"/>
          </a:xfrm>
          <a:prstGeom prst="rect">
            <a:avLst/>
          </a:prstGeom>
          <a:noFill/>
          <a:ln/>
        </p:spPr>
        <p:txBody>
          <a:bodyPr wrap="square" rtlCol="0" anchor="ctr"/>
          <a:lstStyle/>
          <a:p>
            <a:pPr algn="ctr" indent="0" marL="0">
              <a:buNone/>
            </a:pPr>
            <a:r>
              <a:rPr lang="en-US" sz="800" b="1" dirty="0">
                <a:solidFill>
                  <a:srgbClr val="34A853"/>
                </a:solidFill>
                <a:latin typeface="Google Sans" pitchFamily="34" charset="0"/>
                <a:ea typeface="Google Sans" pitchFamily="34" charset="-122"/>
                <a:cs typeface="Google Sans" pitchFamily="34" charset="-120"/>
              </a:rPr>
              <a:t>STAGE 3 • HOP 3</a:t>
            </a:r>
            <a:endParaRPr lang="en-US" sz="800" dirty="0"/>
          </a:p>
        </p:txBody>
      </p:sp>
      <p:sp>
        <p:nvSpPr>
          <p:cNvPr id="39" name="Shape 37"/>
          <p:cNvSpPr/>
          <p:nvPr/>
        </p:nvSpPr>
        <p:spPr>
          <a:xfrm>
            <a:off x="4489704" y="1463040"/>
            <a:ext cx="1280160" cy="219456"/>
          </a:xfrm>
          <a:prstGeom prst="roundRect">
            <a:avLst>
              <a:gd name="adj" fmla="val 25000"/>
            </a:avLst>
          </a:prstGeom>
          <a:solidFill>
            <a:srgbClr val="F8F9FA"/>
          </a:solidFill>
          <a:ln w="9525">
            <a:solidFill>
              <a:srgbClr val="DADCE0"/>
            </a:solidFill>
            <a:prstDash val="solid"/>
          </a:ln>
        </p:spPr>
      </p:sp>
      <p:sp>
        <p:nvSpPr>
          <p:cNvPr id="40" name="Text 38"/>
          <p:cNvSpPr/>
          <p:nvPr/>
        </p:nvSpPr>
        <p:spPr>
          <a:xfrm>
            <a:off x="448970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~3ms p95</a:t>
            </a:r>
            <a:endParaRPr lang="en-US" sz="780" dirty="0"/>
          </a:p>
        </p:txBody>
      </p:sp>
      <p:sp>
        <p:nvSpPr>
          <p:cNvPr id="41" name="Text 39"/>
          <p:cNvSpPr/>
          <p:nvPr/>
        </p:nvSpPr>
        <p:spPr>
          <a:xfrm>
            <a:off x="432511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Quota &amp; Revocation</a:t>
            </a:r>
            <a:endParaRPr lang="en-US" sz="940" dirty="0"/>
          </a:p>
        </p:txBody>
      </p:sp>
      <p:sp>
        <p:nvSpPr>
          <p:cNvPr id="42" name="Text 40"/>
          <p:cNvSpPr/>
          <p:nvPr/>
        </p:nvSpPr>
        <p:spPr>
          <a:xfrm>
            <a:off x="432511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Memorystore Valkey</a:t>
            </a:r>
            <a:endParaRPr lang="en-US" sz="800" dirty="0"/>
          </a:p>
        </p:txBody>
      </p:sp>
      <p:sp>
        <p:nvSpPr>
          <p:cNvPr id="43" name="Text 41"/>
          <p:cNvSpPr/>
          <p:nvPr/>
        </p:nvSpPr>
        <p:spPr>
          <a:xfrm>
            <a:off x="432511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Check JTI/CMEK deny-list &amp; RPM token bucket; enforce &lt;5s SCAN+UNLINK cache eviction.</a:t>
            </a:r>
            <a:endParaRPr lang="en-US" sz="810" dirty="0"/>
          </a:p>
        </p:txBody>
      </p:sp>
      <p:sp>
        <p:nvSpPr>
          <p:cNvPr id="44" name="Shape 42"/>
          <p:cNvSpPr/>
          <p:nvPr/>
        </p:nvSpPr>
        <p:spPr>
          <a:xfrm>
            <a:off x="6007608" y="2697480"/>
            <a:ext cx="164592" cy="0"/>
          </a:xfrm>
          <a:prstGeom prst="line">
            <a:avLst/>
          </a:prstGeom>
          <a:noFill/>
          <a:ln w="20320">
            <a:solidFill>
              <a:srgbClr val="4285F4"/>
            </a:solidFill>
            <a:prstDash val="solid"/>
            <a:tailEnd type="arrow" w="sm" len="sm"/>
          </a:ln>
        </p:spPr>
      </p:sp>
      <p:sp>
        <p:nvSpPr>
          <p:cNvPr id="45" name="Shape 43"/>
          <p:cNvSpPr/>
          <p:nvPr/>
        </p:nvSpPr>
        <p:spPr>
          <a:xfrm>
            <a:off x="6172200" y="1078992"/>
            <a:ext cx="1755648" cy="3246120"/>
          </a:xfrm>
          <a:prstGeom prst="roundRect">
            <a:avLst>
              <a:gd name="adj" fmla="val 3646"/>
            </a:avLst>
          </a:prstGeom>
          <a:solidFill>
            <a:srgbClr val="FFFFFF"/>
          </a:solidFill>
          <a:ln w="17145">
            <a:solidFill>
              <a:srgbClr val="B06000"/>
            </a:solidFill>
            <a:prstDash val="solid"/>
          </a:ln>
        </p:spPr>
      </p:sp>
      <p:sp>
        <p:nvSpPr>
          <p:cNvPr id="46" name="Shape 44"/>
          <p:cNvSpPr/>
          <p:nvPr/>
        </p:nvSpPr>
        <p:spPr>
          <a:xfrm>
            <a:off x="6172200" y="1078992"/>
            <a:ext cx="1755648" cy="310896"/>
          </a:xfrm>
          <a:prstGeom prst="rect">
            <a:avLst/>
          </a:prstGeom>
          <a:solidFill>
            <a:srgbClr val="FEF7E0"/>
          </a:solidFill>
          <a:ln/>
        </p:spPr>
      </p:sp>
      <p:sp>
        <p:nvSpPr>
          <p:cNvPr id="47" name="Text 45"/>
          <p:cNvSpPr/>
          <p:nvPr/>
        </p:nvSpPr>
        <p:spPr>
          <a:xfrm>
            <a:off x="6227064" y="1115568"/>
            <a:ext cx="1645920" cy="237744"/>
          </a:xfrm>
          <a:prstGeom prst="rect">
            <a:avLst/>
          </a:prstGeom>
          <a:noFill/>
          <a:ln/>
        </p:spPr>
        <p:txBody>
          <a:bodyPr wrap="square" rtlCol="0" anchor="ctr"/>
          <a:lstStyle/>
          <a:p>
            <a:pPr algn="ctr" indent="0" marL="0">
              <a:buNone/>
            </a:pPr>
            <a:r>
              <a:rPr lang="en-US" sz="800" b="1" dirty="0">
                <a:solidFill>
                  <a:srgbClr val="B06000"/>
                </a:solidFill>
                <a:latin typeface="Google Sans" pitchFamily="34" charset="0"/>
                <a:ea typeface="Google Sans" pitchFamily="34" charset="-122"/>
                <a:cs typeface="Google Sans" pitchFamily="34" charset="-120"/>
              </a:rPr>
              <a:t>STAGE 4 • HOP 4</a:t>
            </a:r>
            <a:endParaRPr lang="en-US" sz="800" dirty="0"/>
          </a:p>
        </p:txBody>
      </p:sp>
      <p:sp>
        <p:nvSpPr>
          <p:cNvPr id="48" name="Shape 46"/>
          <p:cNvSpPr/>
          <p:nvPr/>
        </p:nvSpPr>
        <p:spPr>
          <a:xfrm>
            <a:off x="6409944" y="1463040"/>
            <a:ext cx="1280160" cy="219456"/>
          </a:xfrm>
          <a:prstGeom prst="roundRect">
            <a:avLst>
              <a:gd name="adj" fmla="val 25000"/>
            </a:avLst>
          </a:prstGeom>
          <a:solidFill>
            <a:srgbClr val="F8F9FA"/>
          </a:solidFill>
          <a:ln w="9525">
            <a:solidFill>
              <a:srgbClr val="DADCE0"/>
            </a:solidFill>
            <a:prstDash val="solid"/>
          </a:ln>
        </p:spPr>
      </p:sp>
      <p:sp>
        <p:nvSpPr>
          <p:cNvPr id="49" name="Text 47"/>
          <p:cNvSpPr/>
          <p:nvPr/>
        </p:nvSpPr>
        <p:spPr>
          <a:xfrm>
            <a:off x="640994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~22ms p95</a:t>
            </a:r>
            <a:endParaRPr lang="en-US" sz="780" dirty="0"/>
          </a:p>
        </p:txBody>
      </p:sp>
      <p:sp>
        <p:nvSpPr>
          <p:cNvPr id="50" name="Text 48"/>
          <p:cNvSpPr/>
          <p:nvPr/>
        </p:nvSpPr>
        <p:spPr>
          <a:xfrm>
            <a:off x="624535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Prompt &amp; DLP Guard</a:t>
            </a:r>
            <a:endParaRPr lang="en-US" sz="940" dirty="0"/>
          </a:p>
        </p:txBody>
      </p:sp>
      <p:sp>
        <p:nvSpPr>
          <p:cNvPr id="51" name="Text 49"/>
          <p:cNvSpPr/>
          <p:nvPr/>
        </p:nvSpPr>
        <p:spPr>
          <a:xfrm>
            <a:off x="624535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Model Armor + Cloud DLP</a:t>
            </a:r>
            <a:endParaRPr lang="en-US" sz="800" dirty="0"/>
          </a:p>
        </p:txBody>
      </p:sp>
      <p:sp>
        <p:nvSpPr>
          <p:cNvPr id="52" name="Text 50"/>
          <p:cNvSpPr/>
          <p:nvPr/>
        </p:nvSpPr>
        <p:spPr>
          <a:xfrm>
            <a:off x="624535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Regional gRPC screen for prompt injection, jailbreaks &amp; PII/PHI redaction; reuse prefix cache.</a:t>
            </a:r>
            <a:endParaRPr lang="en-US" sz="810" dirty="0"/>
          </a:p>
        </p:txBody>
      </p:sp>
      <p:sp>
        <p:nvSpPr>
          <p:cNvPr id="53" name="Shape 51"/>
          <p:cNvSpPr/>
          <p:nvPr/>
        </p:nvSpPr>
        <p:spPr>
          <a:xfrm>
            <a:off x="7927848" y="2697480"/>
            <a:ext cx="164592" cy="0"/>
          </a:xfrm>
          <a:prstGeom prst="line">
            <a:avLst/>
          </a:prstGeom>
          <a:noFill/>
          <a:ln w="20320">
            <a:solidFill>
              <a:srgbClr val="4285F4"/>
            </a:solidFill>
            <a:prstDash val="solid"/>
            <a:tailEnd type="arrow" w="sm" len="sm"/>
          </a:ln>
        </p:spPr>
      </p:sp>
      <p:sp>
        <p:nvSpPr>
          <p:cNvPr id="54" name="Shape 52"/>
          <p:cNvSpPr/>
          <p:nvPr/>
        </p:nvSpPr>
        <p:spPr>
          <a:xfrm>
            <a:off x="8092440" y="1078992"/>
            <a:ext cx="1755648" cy="3246120"/>
          </a:xfrm>
          <a:prstGeom prst="roundRect">
            <a:avLst>
              <a:gd name="adj" fmla="val 3646"/>
            </a:avLst>
          </a:prstGeom>
          <a:solidFill>
            <a:srgbClr val="FFFFFF"/>
          </a:solidFill>
          <a:ln w="17145">
            <a:solidFill>
              <a:srgbClr val="EA4335"/>
            </a:solidFill>
            <a:prstDash val="solid"/>
          </a:ln>
        </p:spPr>
      </p:sp>
      <p:sp>
        <p:nvSpPr>
          <p:cNvPr id="55" name="Shape 53"/>
          <p:cNvSpPr/>
          <p:nvPr/>
        </p:nvSpPr>
        <p:spPr>
          <a:xfrm>
            <a:off x="8092440" y="1078992"/>
            <a:ext cx="1755648" cy="310896"/>
          </a:xfrm>
          <a:prstGeom prst="rect">
            <a:avLst/>
          </a:prstGeom>
          <a:solidFill>
            <a:srgbClr val="FCE8E6"/>
          </a:solidFill>
          <a:ln/>
        </p:spPr>
      </p:sp>
      <p:sp>
        <p:nvSpPr>
          <p:cNvPr id="56" name="Text 54"/>
          <p:cNvSpPr/>
          <p:nvPr/>
        </p:nvSpPr>
        <p:spPr>
          <a:xfrm>
            <a:off x="8147304" y="1115568"/>
            <a:ext cx="1645920" cy="237744"/>
          </a:xfrm>
          <a:prstGeom prst="rect">
            <a:avLst/>
          </a:prstGeom>
          <a:noFill/>
          <a:ln/>
        </p:spPr>
        <p:txBody>
          <a:bodyPr wrap="square" rtlCol="0" anchor="ctr"/>
          <a:lstStyle/>
          <a:p>
            <a:pPr algn="ctr" indent="0" marL="0">
              <a:buNone/>
            </a:pPr>
            <a:r>
              <a:rPr lang="en-US" sz="800" b="1" dirty="0">
                <a:solidFill>
                  <a:srgbClr val="EA4335"/>
                </a:solidFill>
                <a:latin typeface="Google Sans" pitchFamily="34" charset="0"/>
                <a:ea typeface="Google Sans" pitchFamily="34" charset="-122"/>
                <a:cs typeface="Google Sans" pitchFamily="34" charset="-120"/>
              </a:rPr>
              <a:t>STAGE 5 • HOP 5</a:t>
            </a:r>
            <a:endParaRPr lang="en-US" sz="800" dirty="0"/>
          </a:p>
        </p:txBody>
      </p:sp>
      <p:sp>
        <p:nvSpPr>
          <p:cNvPr id="57" name="Shape 55"/>
          <p:cNvSpPr/>
          <p:nvPr/>
        </p:nvSpPr>
        <p:spPr>
          <a:xfrm>
            <a:off x="8330184" y="1463040"/>
            <a:ext cx="1280160" cy="219456"/>
          </a:xfrm>
          <a:prstGeom prst="roundRect">
            <a:avLst>
              <a:gd name="adj" fmla="val 25000"/>
            </a:avLst>
          </a:prstGeom>
          <a:solidFill>
            <a:srgbClr val="F8F9FA"/>
          </a:solidFill>
          <a:ln w="9525">
            <a:solidFill>
              <a:srgbClr val="DADCE0"/>
            </a:solidFill>
            <a:prstDash val="solid"/>
          </a:ln>
        </p:spPr>
      </p:sp>
      <p:sp>
        <p:nvSpPr>
          <p:cNvPr id="58" name="Text 56"/>
          <p:cNvSpPr/>
          <p:nvPr/>
        </p:nvSpPr>
        <p:spPr>
          <a:xfrm>
            <a:off x="833018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~5ms p95</a:t>
            </a:r>
            <a:endParaRPr lang="en-US" sz="780" dirty="0"/>
          </a:p>
        </p:txBody>
      </p:sp>
      <p:sp>
        <p:nvSpPr>
          <p:cNvPr id="59" name="Text 57"/>
          <p:cNvSpPr/>
          <p:nvPr/>
        </p:nvSpPr>
        <p:spPr>
          <a:xfrm>
            <a:off x="816559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RLS Data &amp; Inference</a:t>
            </a:r>
            <a:endParaRPr lang="en-US" sz="940" dirty="0"/>
          </a:p>
        </p:txBody>
      </p:sp>
      <p:sp>
        <p:nvSpPr>
          <p:cNvPr id="60" name="Text 58"/>
          <p:cNvSpPr/>
          <p:nvPr/>
        </p:nvSpPr>
        <p:spPr>
          <a:xfrm>
            <a:off x="816559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AlloyDB RLS + Vertex AI</a:t>
            </a:r>
            <a:endParaRPr lang="en-US" sz="800" dirty="0"/>
          </a:p>
        </p:txBody>
      </p:sp>
      <p:sp>
        <p:nvSpPr>
          <p:cNvPr id="61" name="Text 59"/>
          <p:cNvSpPr/>
          <p:nvPr/>
        </p:nvSpPr>
        <p:spPr>
          <a:xfrm>
            <a:off x="816559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SET LOCAL app.current_tenant_id; execute Gemini 2.5 Pro PT or air-gapped Gemma 3 27B.</a:t>
            </a:r>
            <a:endParaRPr lang="en-US" sz="810" dirty="0"/>
          </a:p>
        </p:txBody>
      </p:sp>
      <p:sp>
        <p:nvSpPr>
          <p:cNvPr id="62" name="Shape 60"/>
          <p:cNvSpPr/>
          <p:nvPr/>
        </p:nvSpPr>
        <p:spPr>
          <a:xfrm>
            <a:off x="9848088" y="2697480"/>
            <a:ext cx="164592" cy="0"/>
          </a:xfrm>
          <a:prstGeom prst="line">
            <a:avLst/>
          </a:prstGeom>
          <a:noFill/>
          <a:ln w="20320">
            <a:solidFill>
              <a:srgbClr val="4285F4"/>
            </a:solidFill>
            <a:prstDash val="solid"/>
            <a:tailEnd type="arrow" w="sm" len="sm"/>
          </a:ln>
        </p:spPr>
      </p:sp>
      <p:sp>
        <p:nvSpPr>
          <p:cNvPr id="63" name="Shape 61"/>
          <p:cNvSpPr/>
          <p:nvPr/>
        </p:nvSpPr>
        <p:spPr>
          <a:xfrm>
            <a:off x="10012680" y="1078992"/>
            <a:ext cx="1755648" cy="3246120"/>
          </a:xfrm>
          <a:prstGeom prst="roundRect">
            <a:avLst>
              <a:gd name="adj" fmla="val 3646"/>
            </a:avLst>
          </a:prstGeom>
          <a:solidFill>
            <a:srgbClr val="FFFFFF"/>
          </a:solidFill>
          <a:ln w="17145">
            <a:solidFill>
              <a:srgbClr val="34A853"/>
            </a:solidFill>
            <a:prstDash val="solid"/>
          </a:ln>
        </p:spPr>
      </p:sp>
      <p:sp>
        <p:nvSpPr>
          <p:cNvPr id="64" name="Shape 62"/>
          <p:cNvSpPr/>
          <p:nvPr/>
        </p:nvSpPr>
        <p:spPr>
          <a:xfrm>
            <a:off x="10012680" y="1078992"/>
            <a:ext cx="1755648" cy="310896"/>
          </a:xfrm>
          <a:prstGeom prst="rect">
            <a:avLst/>
          </a:prstGeom>
          <a:solidFill>
            <a:srgbClr val="E6F4EA"/>
          </a:solidFill>
          <a:ln/>
        </p:spPr>
      </p:sp>
      <p:sp>
        <p:nvSpPr>
          <p:cNvPr id="65" name="Text 63"/>
          <p:cNvSpPr/>
          <p:nvPr/>
        </p:nvSpPr>
        <p:spPr>
          <a:xfrm>
            <a:off x="10067544" y="1115568"/>
            <a:ext cx="1645920" cy="237744"/>
          </a:xfrm>
          <a:prstGeom prst="rect">
            <a:avLst/>
          </a:prstGeom>
          <a:noFill/>
          <a:ln/>
        </p:spPr>
        <p:txBody>
          <a:bodyPr wrap="square" rtlCol="0" anchor="ctr"/>
          <a:lstStyle/>
          <a:p>
            <a:pPr algn="ctr" indent="0" marL="0">
              <a:buNone/>
            </a:pPr>
            <a:r>
              <a:rPr lang="en-US" sz="800" b="1" dirty="0">
                <a:solidFill>
                  <a:srgbClr val="34A853"/>
                </a:solidFill>
                <a:latin typeface="Google Sans" pitchFamily="34" charset="0"/>
                <a:ea typeface="Google Sans" pitchFamily="34" charset="-122"/>
                <a:cs typeface="Google Sans" pitchFamily="34" charset="-120"/>
              </a:rPr>
              <a:t>STAGE 6 • ASYNC</a:t>
            </a:r>
            <a:endParaRPr lang="en-US" sz="800" dirty="0"/>
          </a:p>
        </p:txBody>
      </p:sp>
      <p:sp>
        <p:nvSpPr>
          <p:cNvPr id="66" name="Shape 64"/>
          <p:cNvSpPr/>
          <p:nvPr/>
        </p:nvSpPr>
        <p:spPr>
          <a:xfrm>
            <a:off x="10250424" y="1463040"/>
            <a:ext cx="1280160" cy="219456"/>
          </a:xfrm>
          <a:prstGeom prst="roundRect">
            <a:avLst>
              <a:gd name="adj" fmla="val 25000"/>
            </a:avLst>
          </a:prstGeom>
          <a:solidFill>
            <a:srgbClr val="F8F9FA"/>
          </a:solidFill>
          <a:ln w="9525">
            <a:solidFill>
              <a:srgbClr val="DADCE0"/>
            </a:solidFill>
            <a:prstDash val="solid"/>
          </a:ln>
        </p:spPr>
      </p:sp>
      <p:sp>
        <p:nvSpPr>
          <p:cNvPr id="67" name="Text 65"/>
          <p:cNvSpPr/>
          <p:nvPr/>
        </p:nvSpPr>
        <p:spPr>
          <a:xfrm>
            <a:off x="10250424" y="1463040"/>
            <a:ext cx="1280160" cy="219456"/>
          </a:xfrm>
          <a:prstGeom prst="rect">
            <a:avLst/>
          </a:prstGeom>
          <a:noFill/>
          <a:ln/>
        </p:spPr>
        <p:txBody>
          <a:bodyPr wrap="square" rtlCol="0" anchor="ctr"/>
          <a:lstStyle/>
          <a:p>
            <a:pPr algn="ctr" indent="0" marL="0">
              <a:buNone/>
            </a:pPr>
            <a:r>
              <a:rPr lang="en-US" sz="780" b="1" dirty="0">
                <a:solidFill>
                  <a:srgbClr val="3C4043"/>
                </a:solidFill>
                <a:latin typeface="Roboto" pitchFamily="34" charset="0"/>
                <a:ea typeface="Roboto" pitchFamily="34" charset="-122"/>
                <a:cs typeface="Roboto" pitchFamily="34" charset="-120"/>
              </a:rPr>
              <a:t>0ms hot-path</a:t>
            </a:r>
            <a:endParaRPr lang="en-US" sz="780" dirty="0"/>
          </a:p>
        </p:txBody>
      </p:sp>
      <p:sp>
        <p:nvSpPr>
          <p:cNvPr id="68" name="Text 66"/>
          <p:cNvSpPr/>
          <p:nvPr/>
        </p:nvSpPr>
        <p:spPr>
          <a:xfrm>
            <a:off x="10085832" y="1755648"/>
            <a:ext cx="1609344" cy="38404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OTel FinOps Ledger</a:t>
            </a:r>
            <a:endParaRPr lang="en-US" sz="940" dirty="0"/>
          </a:p>
        </p:txBody>
      </p:sp>
      <p:sp>
        <p:nvSpPr>
          <p:cNvPr id="69" name="Text 67"/>
          <p:cNvSpPr/>
          <p:nvPr/>
        </p:nvSpPr>
        <p:spPr>
          <a:xfrm>
            <a:off x="10085832" y="2176272"/>
            <a:ext cx="1609344" cy="292608"/>
          </a:xfrm>
          <a:prstGeom prst="rect">
            <a:avLst/>
          </a:prstGeom>
          <a:noFill/>
          <a:ln/>
        </p:spPr>
        <p:txBody>
          <a:bodyPr wrap="square" rtlCol="0" anchor="ctr"/>
          <a:lstStyle/>
          <a:p>
            <a:pPr algn="ctr" indent="0" marL="0">
              <a:buNone/>
            </a:pPr>
            <a:r>
              <a:rPr lang="en-US" sz="800" b="1" dirty="0">
                <a:solidFill>
                  <a:srgbClr val="174EA6"/>
                </a:solidFill>
                <a:latin typeface="Roboto" pitchFamily="34" charset="0"/>
                <a:ea typeface="Roboto" pitchFamily="34" charset="-122"/>
                <a:cs typeface="Roboto" pitchFamily="34" charset="-120"/>
              </a:rPr>
              <a:t>BigQuery OTel Sink</a:t>
            </a:r>
            <a:endParaRPr lang="en-US" sz="800" dirty="0"/>
          </a:p>
        </p:txBody>
      </p:sp>
      <p:sp>
        <p:nvSpPr>
          <p:cNvPr id="70" name="Text 68"/>
          <p:cNvSpPr/>
          <p:nvPr/>
        </p:nvSpPr>
        <p:spPr>
          <a:xfrm>
            <a:off x="10085832" y="2523744"/>
            <a:ext cx="1609344" cy="1691640"/>
          </a:xfrm>
          <a:prstGeom prst="rect">
            <a:avLst/>
          </a:prstGeom>
          <a:noFill/>
          <a:ln/>
        </p:spPr>
        <p:txBody>
          <a:bodyPr wrap="square" rtlCol="0" anchor="t"/>
          <a:lstStyle/>
          <a:p>
            <a:pPr indent="0" marL="0">
              <a:buNone/>
            </a:pPr>
            <a:r>
              <a:rPr lang="en-US" sz="810" dirty="0">
                <a:solidFill>
                  <a:srgbClr val="5F6368"/>
                </a:solidFill>
                <a:latin typeface="Roboto" pitchFamily="34" charset="0"/>
                <a:ea typeface="Roboto" pitchFamily="34" charset="-122"/>
                <a:cs typeface="Roboto" pitchFamily="34" charset="-120"/>
              </a:rPr>
              <a:t>Export SHA-256 prompt hash + cached &amp; thinking token counters for exact SQL chargeback.</a:t>
            </a:r>
            <a:endParaRPr lang="en-US" sz="810" dirty="0"/>
          </a:p>
        </p:txBody>
      </p:sp>
      <p:sp>
        <p:nvSpPr>
          <p:cNvPr id="71" name="Shape 69"/>
          <p:cNvSpPr/>
          <p:nvPr/>
        </p:nvSpPr>
        <p:spPr>
          <a:xfrm>
            <a:off x="411480" y="4526280"/>
            <a:ext cx="11365992" cy="1783080"/>
          </a:xfrm>
          <a:prstGeom prst="roundRect">
            <a:avLst>
              <a:gd name="adj" fmla="val 4103"/>
            </a:avLst>
          </a:prstGeom>
          <a:solidFill>
            <a:srgbClr val="FCE8E6"/>
          </a:solidFill>
          <a:ln w="15875">
            <a:solidFill>
              <a:srgbClr val="EA4335"/>
            </a:solidFill>
            <a:prstDash val="solid"/>
          </a:ln>
        </p:spPr>
      </p:sp>
      <p:sp>
        <p:nvSpPr>
          <p:cNvPr id="72" name="Text 70"/>
          <p:cNvSpPr/>
          <p:nvPr/>
        </p:nvSpPr>
        <p:spPr>
          <a:xfrm>
            <a:off x="594360" y="4626864"/>
            <a:ext cx="10972800" cy="256032"/>
          </a:xfrm>
          <a:prstGeom prst="rect">
            <a:avLst/>
          </a:prstGeom>
          <a:noFill/>
          <a:ln/>
        </p:spPr>
        <p:txBody>
          <a:bodyPr wrap="square" rtlCol="0" anchor="ctr"/>
          <a:lstStyle/>
          <a:p>
            <a:pPr indent="0" marL="0">
              <a:buNone/>
            </a:pPr>
            <a:r>
              <a:rPr lang="en-US" sz="950" b="1" dirty="0">
                <a:solidFill>
                  <a:srgbClr val="A50E0E"/>
                </a:solidFill>
                <a:latin typeface="Google Sans" pitchFamily="34" charset="0"/>
                <a:ea typeface="Google Sans" pitchFamily="34" charset="-122"/>
                <a:cs typeface="Google Sans" pitchFamily="34" charset="-120"/>
              </a:rPr>
              <a:t>DETERMINISTIC FAIL-CLOSED CIRCUIT BREAKERS (ZERO CROSS-TENANT FALLBACK)</a:t>
            </a:r>
            <a:endParaRPr lang="en-US" sz="950" dirty="0"/>
          </a:p>
        </p:txBody>
      </p:sp>
      <p:sp>
        <p:nvSpPr>
          <p:cNvPr id="73" name="Shape 71"/>
          <p:cNvSpPr/>
          <p:nvPr/>
        </p:nvSpPr>
        <p:spPr>
          <a:xfrm>
            <a:off x="594360" y="4956048"/>
            <a:ext cx="2633472" cy="1225296"/>
          </a:xfrm>
          <a:prstGeom prst="roundRect">
            <a:avLst>
              <a:gd name="adj" fmla="val 4478"/>
            </a:avLst>
          </a:prstGeom>
          <a:solidFill>
            <a:srgbClr val="FFFFFF"/>
          </a:solidFill>
          <a:ln w="12700">
            <a:solidFill>
              <a:srgbClr val="EA4335"/>
            </a:solidFill>
            <a:prstDash val="solid"/>
          </a:ln>
        </p:spPr>
      </p:sp>
      <p:sp>
        <p:nvSpPr>
          <p:cNvPr id="74" name="Text 72"/>
          <p:cNvSpPr/>
          <p:nvPr/>
        </p:nvSpPr>
        <p:spPr>
          <a:xfrm>
            <a:off x="685800"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401 / 403  •  Identity or JTI Revoked</a:t>
            </a:r>
            <a:endParaRPr lang="en-US" sz="860" dirty="0"/>
          </a:p>
        </p:txBody>
      </p:sp>
      <p:sp>
        <p:nvSpPr>
          <p:cNvPr id="75" name="Text 73"/>
          <p:cNvSpPr/>
          <p:nvPr/>
        </p:nvSpPr>
        <p:spPr>
          <a:xfrm>
            <a:off x="685800"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Spoofed X-Tenant-Id, invalid DPoP proof, or ~3ms Valkey JTI deny-list hit.</a:t>
            </a:r>
            <a:endParaRPr lang="en-US" sz="800" dirty="0"/>
          </a:p>
        </p:txBody>
      </p:sp>
      <p:sp>
        <p:nvSpPr>
          <p:cNvPr id="76" name="Shape 74"/>
          <p:cNvSpPr/>
          <p:nvPr/>
        </p:nvSpPr>
        <p:spPr>
          <a:xfrm>
            <a:off x="3374136" y="4956048"/>
            <a:ext cx="2633472" cy="1225296"/>
          </a:xfrm>
          <a:prstGeom prst="roundRect">
            <a:avLst>
              <a:gd name="adj" fmla="val 4478"/>
            </a:avLst>
          </a:prstGeom>
          <a:solidFill>
            <a:srgbClr val="FFFFFF"/>
          </a:solidFill>
          <a:ln w="12700">
            <a:solidFill>
              <a:srgbClr val="EA4335"/>
            </a:solidFill>
            <a:prstDash val="solid"/>
          </a:ln>
        </p:spPr>
      </p:sp>
      <p:sp>
        <p:nvSpPr>
          <p:cNvPr id="77" name="Text 75"/>
          <p:cNvSpPr/>
          <p:nvPr/>
        </p:nvSpPr>
        <p:spPr>
          <a:xfrm>
            <a:off x="3465576"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429  •  Noisy-Neighbor Bulkhead</a:t>
            </a:r>
            <a:endParaRPr lang="en-US" sz="860" dirty="0"/>
          </a:p>
        </p:txBody>
      </p:sp>
      <p:sp>
        <p:nvSpPr>
          <p:cNvPr id="78" name="Text 76"/>
          <p:cNvSpPr/>
          <p:nvPr/>
        </p:nvSpPr>
        <p:spPr>
          <a:xfrm>
            <a:off x="3465576"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Tenant exceeds 120 or 600 RPM bucket; returns Retry-After with jitter.</a:t>
            </a:r>
            <a:endParaRPr lang="en-US" sz="800" dirty="0"/>
          </a:p>
        </p:txBody>
      </p:sp>
      <p:sp>
        <p:nvSpPr>
          <p:cNvPr id="79" name="Shape 77"/>
          <p:cNvSpPr/>
          <p:nvPr/>
        </p:nvSpPr>
        <p:spPr>
          <a:xfrm>
            <a:off x="6153912" y="4956048"/>
            <a:ext cx="2633472" cy="1225296"/>
          </a:xfrm>
          <a:prstGeom prst="roundRect">
            <a:avLst>
              <a:gd name="adj" fmla="val 4478"/>
            </a:avLst>
          </a:prstGeom>
          <a:solidFill>
            <a:srgbClr val="FFFFFF"/>
          </a:solidFill>
          <a:ln w="12700">
            <a:solidFill>
              <a:srgbClr val="EA4335"/>
            </a:solidFill>
            <a:prstDash val="solid"/>
          </a:ln>
        </p:spPr>
      </p:sp>
      <p:sp>
        <p:nvSpPr>
          <p:cNvPr id="80" name="Text 78"/>
          <p:cNvSpPr/>
          <p:nvPr/>
        </p:nvSpPr>
        <p:spPr>
          <a:xfrm>
            <a:off x="6245352"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422  •  Model Armor / DLP Block</a:t>
            </a:r>
            <a:endParaRPr lang="en-US" sz="860" dirty="0"/>
          </a:p>
        </p:txBody>
      </p:sp>
      <p:sp>
        <p:nvSpPr>
          <p:cNvPr id="81" name="Text 79"/>
          <p:cNvSpPr/>
          <p:nvPr/>
        </p:nvSpPr>
        <p:spPr>
          <a:xfrm>
            <a:off x="6245352"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Prompt injection, jailbreak, or unredacted PHI/PCI blocked before LLM call.</a:t>
            </a:r>
            <a:endParaRPr lang="en-US" sz="800" dirty="0"/>
          </a:p>
        </p:txBody>
      </p:sp>
      <p:sp>
        <p:nvSpPr>
          <p:cNvPr id="82" name="Shape 80"/>
          <p:cNvSpPr/>
          <p:nvPr/>
        </p:nvSpPr>
        <p:spPr>
          <a:xfrm>
            <a:off x="8933688" y="4956048"/>
            <a:ext cx="2633472" cy="1225296"/>
          </a:xfrm>
          <a:prstGeom prst="roundRect">
            <a:avLst>
              <a:gd name="adj" fmla="val 4478"/>
            </a:avLst>
          </a:prstGeom>
          <a:solidFill>
            <a:srgbClr val="FFFFFF"/>
          </a:solidFill>
          <a:ln w="12700">
            <a:solidFill>
              <a:srgbClr val="EA4335"/>
            </a:solidFill>
            <a:prstDash val="solid"/>
          </a:ln>
        </p:spPr>
      </p:sp>
      <p:sp>
        <p:nvSpPr>
          <p:cNvPr id="83" name="Text 81"/>
          <p:cNvSpPr/>
          <p:nvPr/>
        </p:nvSpPr>
        <p:spPr>
          <a:xfrm>
            <a:off x="9025128" y="5029200"/>
            <a:ext cx="2450592" cy="256032"/>
          </a:xfrm>
          <a:prstGeom prst="rect">
            <a:avLst/>
          </a:prstGeom>
          <a:noFill/>
          <a:ln/>
        </p:spPr>
        <p:txBody>
          <a:bodyPr wrap="square" rtlCol="0" anchor="ctr"/>
          <a:lstStyle/>
          <a:p>
            <a:pPr indent="0" marL="0">
              <a:buNone/>
            </a:pPr>
            <a:r>
              <a:rPr lang="en-US" sz="860" b="1" dirty="0">
                <a:solidFill>
                  <a:srgbClr val="A50E0E"/>
                </a:solidFill>
                <a:latin typeface="Google Sans" pitchFamily="34" charset="0"/>
                <a:ea typeface="Google Sans" pitchFamily="34" charset="-122"/>
                <a:cs typeface="Google Sans" pitchFamily="34" charset="-120"/>
              </a:rPr>
              <a:t>HTTP 423  •  CMEK Key Revoked Lock</a:t>
            </a:r>
            <a:endParaRPr lang="en-US" sz="860" dirty="0"/>
          </a:p>
        </p:txBody>
      </p:sp>
      <p:sp>
        <p:nvSpPr>
          <p:cNvPr id="84" name="Text 82"/>
          <p:cNvSpPr/>
          <p:nvPr/>
        </p:nvSpPr>
        <p:spPr>
          <a:xfrm>
            <a:off x="9025128" y="5321808"/>
            <a:ext cx="2450592" cy="777240"/>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&lt;60s KMS state + &lt;5s Valkey SCAN+UNLINK eviction; SET NX PX 5000 recovery.</a:t>
            </a:r>
            <a:endParaRPr lang="en-US" sz="800" dirty="0"/>
          </a:p>
        </p:txBody>
      </p:sp>
      <p:sp>
        <p:nvSpPr>
          <p:cNvPr id="85" name="Text 8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End-to-End 5-Hop Process Lifecycle (~42ms p95 Control-Plane Overhead) &amp; Fail-Closed Gates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(cymbal-control-plane);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Routing Hub (Ingress &amp; Identity PEP)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Governance &amp; Security Hub</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Pattern A: Pooled Shared Runtime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Blue Perimeter 1 (Routing Hub — Steps 1–3 / Hop 1): Global ALB, Cloud Armor header strip, and IAP OIDC/DPoP exchange (~8ms p95) mint the KMS-signed STS JWT and route by tenant tier.</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Yellow Perimeter 3 (Pattern A Pool — Steps 4–7 / Hops 3–5): gVisor (runsc) sandbox, Valkey RPM bulkheads (~3ms), Model Armor/DLP screening (Steps 4 &amp; 6, ~22ms), Gemini 2.5 Pro 90% cache (Step 5) &amp; AlloyDB RLS.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ramp-portal-dev (#248990048888) &amp; bbar-138hf0 (#48439189383)</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Control Plane (cymbal-pooled-prod)</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 &amp; 5-Hop Cryptographic Context Chain</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926641"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00" dirty="0"/>
          </a:p>
        </p:txBody>
      </p:sp>
      <p:sp>
        <p:nvSpPr>
          <p:cNvPr id="124" name="Shape 121"/>
          <p:cNvSpPr/>
          <p:nvPr/>
        </p:nvSpPr>
        <p:spPr>
          <a:xfrm>
            <a:off x="3842309" y="3802075"/>
            <a:ext cx="1636776"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Dedicated Spoke: Pattern B Silo or Pattern C PSC Spoke</a:t>
            </a:r>
            <a:endParaRPr lang="en-US" sz="400" dirty="0"/>
          </a:p>
        </p:txBody>
      </p:sp>
      <p:sp>
        <p:nvSpPr>
          <p:cNvPr id="126" name="Shape 123"/>
          <p:cNvSpPr/>
          <p:nvPr/>
        </p:nvSpPr>
        <p:spPr>
          <a:xfrm>
            <a:off x="1547165" y="3964838"/>
            <a:ext cx="1239926"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Pool (Shared Runtime)</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FinVault (8k Cap) &amp; RetailStream (4k Cap)</a:t>
            </a:r>
            <a:endParaRPr lang="en-US" sz="470" dirty="0"/>
          </a:p>
        </p:txBody>
      </p:sp>
      <p:sp>
        <p:nvSpPr>
          <p:cNvPr id="128" name="Shape 125"/>
          <p:cNvSpPr/>
          <p:nvPr/>
        </p:nvSpPr>
        <p:spPr>
          <a:xfrm>
            <a:off x="3911803" y="3964838"/>
            <a:ext cx="1296619"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Dedicated Sovereign Tenant Silo</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VPC-SC + IAM PAB + finvault-silo-cmek + PSC</a:t>
            </a:r>
            <a:endParaRPr lang="en-US" sz="470" dirty="0"/>
          </a:p>
        </p:txBody>
      </p:sp>
      <p:sp>
        <p:nvSpPr>
          <p:cNvPr id="130" name="Shape 127"/>
          <p:cNvSpPr/>
          <p:nvPr/>
        </p:nvSpPr>
        <p:spPr>
          <a:xfrm>
            <a:off x="1468526" y="1921154"/>
            <a:ext cx="1901952"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 PEP/PDP)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70" dirty="0"/>
          </a:p>
        </p:txBody>
      </p:sp>
      <p:sp>
        <p:nvSpPr>
          <p:cNvPr id="132" name="Shape 129"/>
          <p:cNvSpPr/>
          <p:nvPr/>
        </p:nvSpPr>
        <p:spPr>
          <a:xfrm>
            <a:off x="4641494" y="1955902"/>
            <a:ext cx="131582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FinOps observability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Competing B2B Tenants</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FinVault (OIDC) &amp; RetailStream (Entra)</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security_breach_audit_log</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tenant_telemetry_spans</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 &amp; PAB</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Identity (2LO/3LO)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gVisor + temp:tenant_id</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2LO + 3LO OIDC/Entra</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AlloyDB &amp; BQ RLS</a:t>
            </a:r>
            <a:endParaRPr lang="en-US" sz="490" dirty="0"/>
          </a:p>
          <a:p>
            <a:pPr algn="l" indent="0" marL="0">
              <a:lnSpc>
                <a:spcPct val="100000"/>
              </a:lnSpc>
              <a:buNone/>
            </a:pPr>
            <a:r>
              <a:rPr lang="en-US" sz="373" dirty="0">
                <a:solidFill>
                  <a:srgbClr val="3C4043"/>
                </a:solidFill>
                <a:latin typeface="Arial" pitchFamily="34" charset="0"/>
                <a:ea typeface="Arial" pitchFamily="34" charset="-122"/>
                <a:cs typeface="Arial" pitchFamily="34" charset="-120"/>
              </a:rPr>
              <a:t>tenant_pooled_rls_policy</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Silo + Agent Alpha</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Local Silo 3LO Connectors</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CMEK 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finvault-silo-cmek &amp; 423 Lock</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Tenant Rai Filters &amp; SDP PII</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90% Prefix Cache Savings</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VPC-SC &amp; 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Sovereign Silo Guardrails</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 Gemma 3</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Dedicated PT or Private GKE</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Ingress Prompt Screen</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RFC 8693 OBO + DPoP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KMS ECDSA P-256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36092"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69951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OTel &amp; FinOps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chargeback telemetry</a:t>
            </a:r>
            <a:endParaRPr lang="en-US" sz="385" dirty="0"/>
          </a:p>
        </p:txBody>
      </p:sp>
      <p:sp>
        <p:nvSpPr>
          <p:cNvPr id="211" name="Shape 189"/>
          <p:cNvSpPr/>
          <p:nvPr/>
        </p:nvSpPr>
        <p:spPr>
          <a:xfrm>
            <a:off x="2896819" y="4850892"/>
            <a:ext cx="372161"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15107" y="4856378"/>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Scoped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MCP &amp; RAG</a:t>
            </a:r>
            <a:endParaRPr lang="en-US" sz="385" dirty="0"/>
          </a:p>
        </p:txBody>
      </p:sp>
      <p:sp>
        <p:nvSpPr>
          <p:cNvPr id="213" name="Shape 191"/>
          <p:cNvSpPr/>
          <p:nvPr/>
        </p:nvSpPr>
        <p:spPr>
          <a:xfrm>
            <a:off x="2831897" y="5485486"/>
            <a:ext cx="502006"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50185"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SET LOCAL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current_tenant</a:t>
            </a:r>
            <a:endParaRPr lang="en-US" sz="385" dirty="0"/>
          </a:p>
        </p:txBody>
      </p:sp>
      <p:sp>
        <p:nvSpPr>
          <p:cNvPr id="215" name="Shape 193"/>
          <p:cNvSpPr/>
          <p:nvPr/>
        </p:nvSpPr>
        <p:spPr>
          <a:xfrm>
            <a:off x="5248656" y="4850892"/>
            <a:ext cx="397764"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266944" y="4856378"/>
            <a:ext cx="361188"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Air-Gapped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Silo RAG</a:t>
            </a:r>
            <a:endParaRPr lang="en-US" sz="385" dirty="0"/>
          </a:p>
        </p:txBody>
      </p:sp>
      <p:sp>
        <p:nvSpPr>
          <p:cNvPr id="217" name="Shape 195"/>
          <p:cNvSpPr/>
          <p:nvPr/>
        </p:nvSpPr>
        <p:spPr>
          <a:xfrm>
            <a:off x="5197450" y="5485486"/>
            <a:ext cx="502006"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15738" y="5490972"/>
            <a:ext cx="465430"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CMEK-Encrypted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State &amp; Tools</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with SDP redaction</a:t>
            </a:r>
            <a:endParaRPr lang="en-US" sz="385" dirty="0"/>
          </a:p>
        </p:txBody>
      </p:sp>
      <p:sp>
        <p:nvSpPr>
          <p:cNvPr id="223" name="Shape 201"/>
          <p:cNvSpPr/>
          <p:nvPr/>
        </p:nvSpPr>
        <p:spPr>
          <a:xfrm>
            <a:off x="2983687" y="3389681"/>
            <a:ext cx="65836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62179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by tenant tier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(Pool, Silo or PSC)</a:t>
            </a:r>
            <a:endParaRPr lang="en-US" sz="385" dirty="0"/>
          </a:p>
        </p:txBody>
      </p:sp>
      <p:sp>
        <p:nvSpPr>
          <p:cNvPr id="225" name="Shape 203"/>
          <p:cNvSpPr/>
          <p:nvPr/>
        </p:nvSpPr>
        <p:spPr>
          <a:xfrm>
            <a:off x="2603297" y="2908706"/>
            <a:ext cx="397764"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621585" y="2914193"/>
            <a:ext cx="361188"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OBO + KMS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ECDSA sign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458822" y="2117750"/>
            <a:ext cx="449885"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477110" y="2123237"/>
            <a:ext cx="413309"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Header &amp; WAF</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2 (L2 Physical) — Google Cloud Architecture Center (#78): Multi-Tenant Agentic AI with 5-Hop Governance</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2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we extend the official Google Cloud Architecture Center multi-tenant hub-and-spoke blueprint with a 5-Hop Cryptographic Context Chain that prevents confused-deputy tool calls, cache bleed, and noisy neighbors?</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94360"/>
          </a:xfrm>
          <a:prstGeom prst="roundRect">
            <a:avLst>
              <a:gd name="adj" fmla="val 9231"/>
            </a:avLst>
          </a:prstGeom>
          <a:solidFill>
            <a:srgbClr val="FFFFFF"/>
          </a:solidFill>
          <a:ln w="9525">
            <a:solidFill>
              <a:srgbClr val="DADCE0"/>
            </a:solidFill>
            <a:prstDash val="solid"/>
          </a:ln>
        </p:spPr>
      </p:sp>
      <p:sp>
        <p:nvSpPr>
          <p:cNvPr id="25" name="Shape 23"/>
          <p:cNvSpPr/>
          <p:nvPr/>
        </p:nvSpPr>
        <p:spPr>
          <a:xfrm>
            <a:off x="7443216" y="1700784"/>
            <a:ext cx="64008" cy="594360"/>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non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1. Hops 1 &amp; 2: Edge PEP &amp; Catalog PDP</a:t>
            </a:r>
            <a:endParaRPr lang="en-US" sz="730" dirty="0"/>
          </a:p>
        </p:txBody>
      </p:sp>
      <p:sp>
        <p:nvSpPr>
          <p:cNvPr id="29" name="Text 27"/>
          <p:cNvSpPr/>
          <p:nvPr/>
        </p:nvSpPr>
        <p:spPr>
          <a:xfrm>
            <a:off x="7552944" y="190195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Strips forged headers, verifies OIDC + DPoP identity at Hop 1, and prunes unauthorized agents and MCP tools at Hop 2.</a:t>
            </a:r>
            <a:endParaRPr lang="en-US" sz="660" dirty="0"/>
          </a:p>
        </p:txBody>
      </p:sp>
      <p:sp>
        <p:nvSpPr>
          <p:cNvPr id="30" name="Shape 28"/>
          <p:cNvSpPr/>
          <p:nvPr/>
        </p:nvSpPr>
        <p:spPr>
          <a:xfrm>
            <a:off x="7443216" y="2340864"/>
            <a:ext cx="4382719" cy="594360"/>
          </a:xfrm>
          <a:prstGeom prst="roundRect">
            <a:avLst>
              <a:gd name="adj" fmla="val 9231"/>
            </a:avLst>
          </a:prstGeom>
          <a:solidFill>
            <a:srgbClr val="FFFFFF"/>
          </a:solidFill>
          <a:ln w="9525">
            <a:solidFill>
              <a:srgbClr val="DADCE0"/>
            </a:solidFill>
            <a:prstDash val="solid"/>
          </a:ln>
        </p:spPr>
      </p:sp>
      <p:sp>
        <p:nvSpPr>
          <p:cNvPr id="31" name="Shape 29"/>
          <p:cNvSpPr/>
          <p:nvPr/>
        </p:nvSpPr>
        <p:spPr>
          <a:xfrm>
            <a:off x="7443216" y="2340864"/>
            <a:ext cx="64008" cy="594360"/>
          </a:xfrm>
          <a:prstGeom prst="rect">
            <a:avLst/>
          </a:prstGeom>
          <a:solidFill>
            <a:srgbClr val="34A853"/>
          </a:solidFill>
          <a:ln/>
        </p:spPr>
      </p:sp>
      <p:sp>
        <p:nvSpPr>
          <p:cNvPr id="32" name="Shape 30"/>
          <p:cNvSpPr/>
          <p:nvPr/>
        </p:nvSpPr>
        <p:spPr>
          <a:xfrm>
            <a:off x="7552944" y="2386584"/>
            <a:ext cx="804672" cy="155448"/>
          </a:xfrm>
          <a:prstGeom prst="roundRect">
            <a:avLst>
              <a:gd name="adj" fmla="val 23529"/>
            </a:avLst>
          </a:prstGeom>
          <a:solidFill>
            <a:srgbClr val="E6F4EA"/>
          </a:solidFill>
          <a:ln/>
        </p:spPr>
      </p:sp>
      <p:sp>
        <p:nvSpPr>
          <p:cNvPr id="33" name="Text 31"/>
          <p:cNvSpPr/>
          <p:nvPr/>
        </p:nvSpPr>
        <p:spPr>
          <a:xfrm>
            <a:off x="7552944" y="2386584"/>
            <a:ext cx="804672" cy="155448"/>
          </a:xfrm>
          <a:prstGeom prst="rect">
            <a:avLst/>
          </a:prstGeom>
          <a:noFill/>
          <a:ln/>
        </p:spPr>
        <p:txBody>
          <a:bodyPr wrap="non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36829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2. Central KMS Signing &amp; OTel Governance</a:t>
            </a:r>
            <a:endParaRPr lang="en-US" sz="730" dirty="0"/>
          </a:p>
        </p:txBody>
      </p:sp>
      <p:sp>
        <p:nvSpPr>
          <p:cNvPr id="35" name="Text 33"/>
          <p:cNvSpPr/>
          <p:nvPr/>
        </p:nvSpPr>
        <p:spPr>
          <a:xfrm>
            <a:off x="7552944" y="254203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Signs non-replayable tenant context tokens via Cloud KMS, brokers 2LO/3LO OAuth tokens, and records BigQuery FinOps audit trails.</a:t>
            </a:r>
            <a:endParaRPr lang="en-US" sz="660" dirty="0"/>
          </a:p>
        </p:txBody>
      </p:sp>
      <p:sp>
        <p:nvSpPr>
          <p:cNvPr id="36" name="Shape 34"/>
          <p:cNvSpPr/>
          <p:nvPr/>
        </p:nvSpPr>
        <p:spPr>
          <a:xfrm>
            <a:off x="7443216" y="2980944"/>
            <a:ext cx="4382719" cy="594360"/>
          </a:xfrm>
          <a:prstGeom prst="roundRect">
            <a:avLst>
              <a:gd name="adj" fmla="val 9231"/>
            </a:avLst>
          </a:prstGeom>
          <a:solidFill>
            <a:srgbClr val="FFFFFF"/>
          </a:solidFill>
          <a:ln w="9525">
            <a:solidFill>
              <a:srgbClr val="DADCE0"/>
            </a:solidFill>
            <a:prstDash val="solid"/>
          </a:ln>
        </p:spPr>
      </p:sp>
      <p:sp>
        <p:nvSpPr>
          <p:cNvPr id="37" name="Shape 35"/>
          <p:cNvSpPr/>
          <p:nvPr/>
        </p:nvSpPr>
        <p:spPr>
          <a:xfrm>
            <a:off x="7443216" y="2980944"/>
            <a:ext cx="64008" cy="594360"/>
          </a:xfrm>
          <a:prstGeom prst="rect">
            <a:avLst/>
          </a:prstGeom>
          <a:solidFill>
            <a:srgbClr val="FBBC04"/>
          </a:solidFill>
          <a:ln/>
        </p:spPr>
      </p:sp>
      <p:sp>
        <p:nvSpPr>
          <p:cNvPr id="38" name="Shape 36"/>
          <p:cNvSpPr/>
          <p:nvPr/>
        </p:nvSpPr>
        <p:spPr>
          <a:xfrm>
            <a:off x="7552944" y="3026664"/>
            <a:ext cx="804672" cy="155448"/>
          </a:xfrm>
          <a:prstGeom prst="roundRect">
            <a:avLst>
              <a:gd name="adj" fmla="val 23529"/>
            </a:avLst>
          </a:prstGeom>
          <a:solidFill>
            <a:srgbClr val="FEF7E0"/>
          </a:solidFill>
          <a:ln/>
        </p:spPr>
      </p:sp>
      <p:sp>
        <p:nvSpPr>
          <p:cNvPr id="39" name="Text 37"/>
          <p:cNvSpPr/>
          <p:nvPr/>
        </p:nvSpPr>
        <p:spPr>
          <a:xfrm>
            <a:off x="7552944" y="3026664"/>
            <a:ext cx="804672" cy="155448"/>
          </a:xfrm>
          <a:prstGeom prst="rect">
            <a:avLst/>
          </a:prstGeom>
          <a:noFill/>
          <a:ln/>
        </p:spPr>
        <p:txBody>
          <a:bodyPr wrap="non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300837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3. Hops 3–5 (Tenant A): FinVault Bank Spoke</a:t>
            </a:r>
            <a:endParaRPr lang="en-US" sz="730" dirty="0"/>
          </a:p>
        </p:txBody>
      </p:sp>
      <p:sp>
        <p:nvSpPr>
          <p:cNvPr id="41" name="Text 39"/>
          <p:cNvSpPr/>
          <p:nvPr/>
        </p:nvSpPr>
        <p:spPr>
          <a:xfrm>
            <a:off x="7552944" y="3182112"/>
            <a:ext cx="4236415" cy="374904"/>
          </a:xfrm>
          <a:prstGeom prst="rect">
            <a:avLst/>
          </a:prstGeom>
          <a:noFill/>
          <a:ln/>
        </p:spPr>
        <p:txBody>
          <a:bodyPr wrap="square" rtlCol="0" anchor="t"/>
          <a:lstStyle/>
          <a:p>
            <a:pPr indent="0" marL="0">
              <a:buNone/>
            </a:pPr>
            <a:r>
              <a:rPr lang="en-US" sz="660" dirty="0">
                <a:solidFill>
                  <a:srgbClr val="5F6368"/>
                </a:solidFill>
                <a:latin typeface="Roboto" pitchFamily="34" charset="0"/>
                <a:ea typeface="Roboto" pitchFamily="34" charset="-122"/>
                <a:cs typeface="Roboto" pitchFamily="34" charset="-120"/>
              </a:rPr>
              <a:t>Enforces gVisor sandbox isolation, 8,000-token thinking cap, OCC/FINRA Model Armor NLCs, Workspace/Jira 3LO MCP, and AlloyDB RLS.</a:t>
            </a:r>
            <a:endParaRPr lang="en-US" sz="660" dirty="0"/>
          </a:p>
        </p:txBody>
      </p:sp>
      <p:sp>
        <p:nvSpPr>
          <p:cNvPr id="42" name="Shape 40"/>
          <p:cNvSpPr/>
          <p:nvPr/>
        </p:nvSpPr>
        <p:spPr>
          <a:xfrm>
            <a:off x="7443216" y="3621024"/>
            <a:ext cx="4382719" cy="594360"/>
          </a:xfrm>
          <a:prstGeom prst="roundRect">
            <a:avLst>
              <a:gd name="adj" fmla="val 9231"/>
            </a:avLst>
          </a:prstGeom>
          <a:solidFill>
            <a:srgbClr val="FFFFFF"/>
          </a:solidFill>
          <a:ln w="9525">
            <a:solidFill>
              <a:srgbClr val="DADCE0"/>
            </a:solidFill>
            <a:prstDash val="solid"/>
          </a:ln>
        </p:spPr>
      </p:sp>
      <p:sp>
        <p:nvSpPr>
          <p:cNvPr id="43" name="Shape 41"/>
          <p:cNvSpPr/>
          <p:nvPr/>
        </p:nvSpPr>
        <p:spPr>
          <a:xfrm>
            <a:off x="7443216" y="3621024"/>
            <a:ext cx="64008" cy="594360"/>
          </a:xfrm>
          <a:prstGeom prst="rect">
            <a:avLst/>
          </a:prstGeom>
          <a:solidFill>
            <a:srgbClr val="EA4335"/>
          </a:solidFill>
          <a:ln/>
        </p:spPr>
      </p:sp>
      <p:sp>
        <p:nvSpPr>
          <p:cNvPr id="44" name="Shape 42"/>
          <p:cNvSpPr/>
          <p:nvPr/>
        </p:nvSpPr>
        <p:spPr>
          <a:xfrm>
            <a:off x="7552944" y="3666744"/>
            <a:ext cx="804672" cy="155448"/>
          </a:xfrm>
          <a:prstGeom prst="roundRect">
            <a:avLst>
              <a:gd name="adj" fmla="val 23529"/>
            </a:avLst>
          </a:prstGeom>
          <a:solidFill>
            <a:srgbClr val="FCE8E6"/>
          </a:solidFill>
          <a:ln/>
        </p:spPr>
      </p:sp>
      <p:sp>
        <p:nvSpPr>
          <p:cNvPr id="45" name="Text 43"/>
          <p:cNvSpPr/>
          <p:nvPr/>
        </p:nvSpPr>
        <p:spPr>
          <a:xfrm>
            <a:off x="7552944" y="3666744"/>
            <a:ext cx="804672" cy="155448"/>
          </a:xfrm>
          <a:prstGeom prst="rect">
            <a:avLst/>
          </a:prstGeom>
          <a:noFill/>
          <a:ln/>
        </p:spPr>
        <p:txBody>
          <a:bodyPr wrap="non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648456"/>
            <a:ext cx="3358591" cy="182880"/>
          </a:xfrm>
          <a:prstGeom prst="rect">
            <a:avLst/>
          </a:prstGeom>
          <a:noFill/>
          <a:ln/>
        </p:spPr>
        <p:txBody>
          <a:bodyPr wrap="square" rtlCol="0" anchor="ctr"/>
          <a:lstStyle/>
          <a:p>
            <a:pPr indent="0" marL="0">
              <a:buNone/>
            </a:pPr>
            <a:r>
              <a:rPr lang="en-US" sz="730" b="1" dirty="0">
                <a:solidFill>
                  <a:srgbClr val="3C4043"/>
                </a:solidFill>
                <a:latin typeface="Google Sans" pitchFamily="34" charset="0"/>
                <a:ea typeface="Google Sans" pitchFamily="34" charset="-122"/>
                <a:cs typeface="Google Sans" pitchFamily="34" charset="-120"/>
              </a:rPr>
              <a:t>4. Hops 3–5 (Tenant B): RetailStream Corp Spoke</a:t>
            </a:r>
            <a:endParaRPr lang="en-US" sz="730" dirty="0"/>
          </a:p>
        </p:txBody>
      </p:sp>
      <p:sp>
        <p:nvSpPr>
          <p:cNvPr id="47" name="Text 45"/>
          <p:cNvSpPr/>
          <p:nvPr/>
        </p:nvSpPr>
        <p:spPr>
          <a:xfrm>
            <a:off x="7552944" y="3822192"/>
            <a:ext cx="4236415" cy="374904"/>
          </a:xfrm>
          <a:prstGeom prst="rect">
            <a:avLst/>
          </a:prstGeom>
          <a:noFill/>
          <a:ln/>
        </p:spPr>
        <p:txBody>
          <a:bodyPr wrap="square" rtlCol="0" anchor="t"/>
          <a:lstStyle/>
          <a:p>
            <a:pPr indent="0" marL="0">
              <a:buNone/>
            </a:pPr>
            <a:r>
              <a:rPr lang="en-US" sz="625" dirty="0">
                <a:solidFill>
                  <a:srgbClr val="5F6368"/>
                </a:solidFill>
                <a:latin typeface="Roboto" pitchFamily="34" charset="0"/>
                <a:ea typeface="Roboto" pitchFamily="34" charset="-122"/>
                <a:cs typeface="Roboto" pitchFamily="34" charset="-120"/>
              </a:rPr>
              <a:t>Enforces gVisor sandbox isolation, 4,000-token thinking cap, PCI PAN Model Armor NLCs, SharePoint/ServiceNow 3LO MCP, and AlloyDB RLS.</a:t>
            </a:r>
            <a:endParaRPr lang="en-US" sz="625" dirty="0"/>
          </a:p>
        </p:txBody>
      </p:sp>
      <p:sp>
        <p:nvSpPr>
          <p:cNvPr id="48" name="Text 46"/>
          <p:cNvSpPr/>
          <p:nvPr/>
        </p:nvSpPr>
        <p:spPr>
          <a:xfrm>
            <a:off x="7461504" y="4288536"/>
            <a:ext cx="4346143" cy="155448"/>
          </a:xfrm>
          <a:prstGeom prst="rect">
            <a:avLst/>
          </a:prstGeom>
          <a:noFill/>
          <a:ln/>
        </p:spPr>
        <p:txBody>
          <a:bodyPr wrap="square" rtlCol="0" anchor="ctr"/>
          <a:lstStyle/>
          <a:p>
            <a:pPr indent="0" marL="0">
              <a:buNone/>
            </a:pPr>
            <a:r>
              <a:rPr lang="en-US" sz="710" b="1" dirty="0">
                <a:solidFill>
                  <a:srgbClr val="5F6368"/>
                </a:solidFill>
                <a:latin typeface="Google Sans" pitchFamily="34" charset="0"/>
                <a:ea typeface="Google Sans" pitchFamily="34" charset="-122"/>
                <a:cs typeface="Google Sans" pitchFamily="34" charset="-120"/>
              </a:rPr>
              <a:t>KEY ARCHITECTURAL WALKTHROUGH POINTS</a:t>
            </a:r>
            <a:endParaRPr lang="en-US" sz="710" dirty="0"/>
          </a:p>
        </p:txBody>
      </p:sp>
      <p:sp>
        <p:nvSpPr>
          <p:cNvPr id="49" name="Shape 47"/>
          <p:cNvSpPr/>
          <p:nvPr/>
        </p:nvSpPr>
        <p:spPr>
          <a:xfrm>
            <a:off x="7443216" y="4453128"/>
            <a:ext cx="4382719" cy="378562"/>
          </a:xfrm>
          <a:prstGeom prst="roundRect">
            <a:avLst>
              <a:gd name="adj" fmla="val 14493"/>
            </a:avLst>
          </a:prstGeom>
          <a:solidFill>
            <a:srgbClr val="FFFFFF"/>
          </a:solidFill>
          <a:ln w="8890">
            <a:solidFill>
              <a:srgbClr val="DADCE0"/>
            </a:solidFill>
            <a:prstDash val="solid"/>
          </a:ln>
        </p:spPr>
      </p:sp>
      <p:sp>
        <p:nvSpPr>
          <p:cNvPr id="50" name="Shape 48"/>
          <p:cNvSpPr/>
          <p:nvPr/>
        </p:nvSpPr>
        <p:spPr>
          <a:xfrm>
            <a:off x="7516368" y="4541825"/>
            <a:ext cx="219456" cy="201168"/>
          </a:xfrm>
          <a:prstGeom prst="roundRect">
            <a:avLst>
              <a:gd name="adj" fmla="val 18182"/>
            </a:avLst>
          </a:prstGeom>
          <a:solidFill>
            <a:srgbClr val="E8F0FE"/>
          </a:solidFill>
          <a:ln/>
        </p:spPr>
      </p:sp>
      <p:sp>
        <p:nvSpPr>
          <p:cNvPr id="51" name="Text 49"/>
          <p:cNvSpPr/>
          <p:nvPr/>
        </p:nvSpPr>
        <p:spPr>
          <a:xfrm>
            <a:off x="7516368" y="4541825"/>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47141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Extends the canonical Google Cloud Architecture Center hub-and-spoke diagram with 5 mandatory cryptographic tenant isolation hops.</a:t>
            </a:r>
            <a:endParaRPr lang="en-US" sz="675" dirty="0"/>
          </a:p>
        </p:txBody>
      </p:sp>
      <p:sp>
        <p:nvSpPr>
          <p:cNvPr id="53" name="Shape 51"/>
          <p:cNvSpPr/>
          <p:nvPr/>
        </p:nvSpPr>
        <p:spPr>
          <a:xfrm>
            <a:off x="7443216" y="4872838"/>
            <a:ext cx="4382719" cy="378562"/>
          </a:xfrm>
          <a:prstGeom prst="roundRect">
            <a:avLst>
              <a:gd name="adj" fmla="val 14493"/>
            </a:avLst>
          </a:prstGeom>
          <a:solidFill>
            <a:srgbClr val="FFFFFF"/>
          </a:solidFill>
          <a:ln w="8890">
            <a:solidFill>
              <a:srgbClr val="DADCE0"/>
            </a:solidFill>
            <a:prstDash val="solid"/>
          </a:ln>
        </p:spPr>
      </p:sp>
      <p:sp>
        <p:nvSpPr>
          <p:cNvPr id="54" name="Shape 52"/>
          <p:cNvSpPr/>
          <p:nvPr/>
        </p:nvSpPr>
        <p:spPr>
          <a:xfrm>
            <a:off x="7516368" y="4961534"/>
            <a:ext cx="219456" cy="201168"/>
          </a:xfrm>
          <a:prstGeom prst="roundRect">
            <a:avLst>
              <a:gd name="adj" fmla="val 18182"/>
            </a:avLst>
          </a:prstGeom>
          <a:solidFill>
            <a:srgbClr val="FCE8E6"/>
          </a:solidFill>
          <a:ln/>
        </p:spPr>
      </p:sp>
      <p:sp>
        <p:nvSpPr>
          <p:cNvPr id="55" name="Text 53"/>
          <p:cNvSpPr/>
          <p:nvPr/>
        </p:nvSpPr>
        <p:spPr>
          <a:xfrm>
            <a:off x="7516368" y="4961534"/>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891126"/>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1 (Hops 1 &amp; 2): Cloud Armor, IAP OBO/DPoP (&lt;0.15ms cached JWKS verify), and Agent Engine Registry authenticate callers and prune unauthorized tools before model invocation.</a:t>
            </a:r>
            <a:endParaRPr lang="en-US" sz="675" dirty="0"/>
          </a:p>
        </p:txBody>
      </p:sp>
      <p:sp>
        <p:nvSpPr>
          <p:cNvPr id="57" name="Shape 55"/>
          <p:cNvSpPr/>
          <p:nvPr/>
        </p:nvSpPr>
        <p:spPr>
          <a:xfrm>
            <a:off x="7443216" y="5291633"/>
            <a:ext cx="4382719" cy="378562"/>
          </a:xfrm>
          <a:prstGeom prst="roundRect">
            <a:avLst>
              <a:gd name="adj" fmla="val 14493"/>
            </a:avLst>
          </a:prstGeom>
          <a:solidFill>
            <a:srgbClr val="FFFFFF"/>
          </a:solidFill>
          <a:ln w="8890">
            <a:solidFill>
              <a:srgbClr val="DADCE0"/>
            </a:solidFill>
            <a:prstDash val="solid"/>
          </a:ln>
        </p:spPr>
      </p:sp>
      <p:sp>
        <p:nvSpPr>
          <p:cNvPr id="58" name="Shape 56"/>
          <p:cNvSpPr/>
          <p:nvPr/>
        </p:nvSpPr>
        <p:spPr>
          <a:xfrm>
            <a:off x="7516368" y="5380330"/>
            <a:ext cx="219456" cy="201168"/>
          </a:xfrm>
          <a:prstGeom prst="roundRect">
            <a:avLst>
              <a:gd name="adj" fmla="val 18182"/>
            </a:avLst>
          </a:prstGeom>
          <a:solidFill>
            <a:srgbClr val="FEF7E0"/>
          </a:solidFill>
          <a:ln/>
        </p:spPr>
      </p:sp>
      <p:sp>
        <p:nvSpPr>
          <p:cNvPr id="59" name="Text 57"/>
          <p:cNvSpPr/>
          <p:nvPr/>
        </p:nvSpPr>
        <p:spPr>
          <a:xfrm>
            <a:off x="7516368" y="5380330"/>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309921"/>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2 (Hop 5 FinOps &amp; 3LO Vault): DPoP-bound {tenant}:{user} 3LO Auth Broker prevents Confused Deputy calls while BigQuery OTel SQL attributes per-tenant token COGS.</a:t>
            </a:r>
            <a:endParaRPr lang="en-US" sz="675" dirty="0"/>
          </a:p>
        </p:txBody>
      </p:sp>
      <p:sp>
        <p:nvSpPr>
          <p:cNvPr id="61" name="Shape 59"/>
          <p:cNvSpPr/>
          <p:nvPr/>
        </p:nvSpPr>
        <p:spPr>
          <a:xfrm>
            <a:off x="7443216" y="5711342"/>
            <a:ext cx="4382719" cy="378562"/>
          </a:xfrm>
          <a:prstGeom prst="roundRect">
            <a:avLst>
              <a:gd name="adj" fmla="val 14493"/>
            </a:avLst>
          </a:prstGeom>
          <a:solidFill>
            <a:srgbClr val="FFFFFF"/>
          </a:solidFill>
          <a:ln w="8890">
            <a:solidFill>
              <a:srgbClr val="DADCE0"/>
            </a:solidFill>
            <a:prstDash val="solid"/>
          </a:ln>
        </p:spPr>
      </p:sp>
      <p:sp>
        <p:nvSpPr>
          <p:cNvPr id="62" name="Shape 60"/>
          <p:cNvSpPr/>
          <p:nvPr/>
        </p:nvSpPr>
        <p:spPr>
          <a:xfrm>
            <a:off x="7516368" y="5800039"/>
            <a:ext cx="219456" cy="201168"/>
          </a:xfrm>
          <a:prstGeom prst="roundRect">
            <a:avLst>
              <a:gd name="adj" fmla="val 18182"/>
            </a:avLst>
          </a:prstGeom>
          <a:solidFill>
            <a:srgbClr val="E6F4EA"/>
          </a:solidFill>
          <a:ln/>
        </p:spPr>
      </p:sp>
      <p:sp>
        <p:nvSpPr>
          <p:cNvPr id="63" name="Text 61"/>
          <p:cNvSpPr/>
          <p:nvPr/>
        </p:nvSpPr>
        <p:spPr>
          <a:xfrm>
            <a:off x="7516368" y="5800039"/>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729630"/>
            <a:ext cx="3980383" cy="341986"/>
          </a:xfrm>
          <a:prstGeom prst="rect">
            <a:avLst/>
          </a:prstGeom>
          <a:noFill/>
          <a:ln/>
        </p:spPr>
        <p:txBody>
          <a:bodyPr wrap="square" rtlCol="0" anchor="ctr"/>
          <a:lstStyle/>
          <a:p>
            <a:pPr indent="0" marL="0">
              <a:buNone/>
            </a:pPr>
            <a:r>
              <a:rPr lang="en-US" sz="675" dirty="0">
                <a:solidFill>
                  <a:srgbClr val="5F6368"/>
                </a:solidFill>
                <a:latin typeface="Roboto" pitchFamily="34" charset="0"/>
                <a:ea typeface="Roboto" pitchFamily="34" charset="-122"/>
                <a:cs typeface="Roboto" pitchFamily="34" charset="-120"/>
              </a:rPr>
              <a:t>Zone 3 (FinVault Enterprise Workload): Executes with an 8,000-token thinking budget, Managed Dedicated PT or GKE Gemma 3, OCC semantic NLCs, IBAN/SWIFT SDP masking, and Workspace/Jira 3LO.</a:t>
            </a:r>
            <a:endParaRPr lang="en-US" sz="675" dirty="0"/>
          </a:p>
        </p:txBody>
      </p:sp>
      <p:sp>
        <p:nvSpPr>
          <p:cNvPr id="65" name="Shape 63"/>
          <p:cNvSpPr/>
          <p:nvPr/>
        </p:nvSpPr>
        <p:spPr>
          <a:xfrm>
            <a:off x="7443216" y="6144768"/>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79792" y="6144768"/>
            <a:ext cx="4309567" cy="329184"/>
          </a:xfrm>
          <a:prstGeom prst="rect">
            <a:avLst/>
          </a:prstGeom>
          <a:noFill/>
          <a:ln/>
        </p:spPr>
        <p:txBody>
          <a:bodyPr wrap="square" rtlCol="0" anchor="ctr"/>
          <a:lstStyle/>
          <a:p>
            <a:pPr algn="ctr" indent="0" marL="0">
              <a:buNone/>
            </a:pPr>
            <a:r>
              <a:rPr lang="en-US" sz="610" b="1" dirty="0">
                <a:solidFill>
                  <a:srgbClr val="0D652D"/>
                </a:solidFill>
                <a:latin typeface="Google Sans" pitchFamily="34" charset="0"/>
                <a:ea typeface="Google Sans" pitchFamily="34" charset="-122"/>
                <a:cs typeface="Google Sans" pitchFamily="34" charset="-120"/>
              </a:rPr>
              <a:t>VERIFIED • 56 Shapes • 23 Connectors • GCP: bbar-138hf0 (#48439189383) • ramp-portal-dev (#248990048888)</a:t>
            </a:r>
            <a:endParaRPr lang="en-US" sz="61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13916"/>
            <a:ext cx="2745943"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Shared hubs (VPC Service Controls Organization Perimeter)</a:t>
            </a:r>
            <a:endParaRPr lang="en-US" sz="44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70278"/>
            <a:ext cx="2668219" cy="111557"/>
          </a:xfrm>
          <a:prstGeom prst="rect">
            <a:avLst/>
          </a:prstGeom>
          <a:noFill/>
          <a:ln/>
        </p:spPr>
        <p:txBody>
          <a:bodyPr wrap="none" lIns="0" tIns="0" rIns="0" bIns="0" rtlCol="0" anchor="ctr"/>
          <a:lstStyle/>
          <a:p>
            <a:pPr algn="l" indent="0" marL="0">
              <a:lnSpc>
                <a:spcPct val="100000"/>
              </a:lnSpc>
              <a:buNone/>
            </a:pPr>
            <a:r>
              <a:rPr lang="en-US" sz="440" b="1" dirty="0">
                <a:solidFill>
                  <a:srgbClr val="202124"/>
                </a:solidFill>
                <a:latin typeface="Arial" pitchFamily="34" charset="0"/>
                <a:ea typeface="Arial" pitchFamily="34" charset="-122"/>
                <a:cs typeface="Arial" pitchFamily="34" charset="-120"/>
              </a:rPr>
              <a:t>VPC</a:t>
            </a:r>
            <a:endParaRPr lang="en-US" sz="44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Shape 71"/>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4" name="Shape 72"/>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5" name="Shape 73"/>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6" name="Shape 74"/>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77" name="Shape 75"/>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pic>
        <p:nvPicPr>
          <p:cNvPr id="78"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79" name="Shape 76"/>
          <p:cNvSpPr/>
          <p:nvPr/>
        </p:nvSpPr>
        <p:spPr>
          <a:xfrm>
            <a:off x="3591763" y="1032358"/>
            <a:ext cx="0" cy="1269187"/>
          </a:xfrm>
          <a:prstGeom prst="line">
            <a:avLst/>
          </a:prstGeom>
          <a:noFill/>
          <a:ln w="12700">
            <a:solidFill>
              <a:srgbClr val="5F6368"/>
            </a:solidFill>
            <a:prstDash val="solid"/>
            <a:tailEnd type="triangle" w="sm" len="sm"/>
          </a:ln>
        </p:spPr>
      </p:sp>
      <p:sp>
        <p:nvSpPr>
          <p:cNvPr id="80" name="Shape 77"/>
          <p:cNvSpPr/>
          <p:nvPr/>
        </p:nvSpPr>
        <p:spPr>
          <a:xfrm flipV="1">
            <a:off x="3792017" y="1040587"/>
            <a:ext cx="0" cy="1269187"/>
          </a:xfrm>
          <a:prstGeom prst="line">
            <a:avLst/>
          </a:prstGeom>
          <a:noFill/>
          <a:ln w="12700">
            <a:solidFill>
              <a:srgbClr val="5F6368"/>
            </a:solidFill>
            <a:prstDash val="solid"/>
            <a:tailEnd type="triangle" w="sm" len="sm"/>
          </a:ln>
        </p:spPr>
      </p:sp>
      <p:sp>
        <p:nvSpPr>
          <p:cNvPr id="81" name="Shape 78"/>
          <p:cNvSpPr/>
          <p:nvPr/>
        </p:nvSpPr>
        <p:spPr>
          <a:xfrm flipH="1">
            <a:off x="2948940" y="2414016"/>
            <a:ext cx="148133" cy="0"/>
          </a:xfrm>
          <a:prstGeom prst="line">
            <a:avLst/>
          </a:prstGeom>
          <a:noFill/>
          <a:ln w="12700">
            <a:solidFill>
              <a:srgbClr val="5F6368"/>
            </a:solidFill>
            <a:prstDash val="solid"/>
            <a:headEnd type="triangle" w="sm" len="sm"/>
          </a:ln>
        </p:spPr>
      </p:sp>
      <p:sp>
        <p:nvSpPr>
          <p:cNvPr id="82" name="Shape 79"/>
          <p:cNvSpPr/>
          <p:nvPr/>
        </p:nvSpPr>
        <p:spPr>
          <a:xfrm flipV="1">
            <a:off x="2948940" y="2306117"/>
            <a:ext cx="0" cy="107899"/>
          </a:xfrm>
          <a:prstGeom prst="line">
            <a:avLst/>
          </a:prstGeom>
          <a:noFill/>
          <a:ln w="12700">
            <a:solidFill>
              <a:srgbClr val="5F6368"/>
            </a:solidFill>
            <a:prstDash val="solid"/>
          </a:ln>
        </p:spPr>
      </p:sp>
      <p:sp>
        <p:nvSpPr>
          <p:cNvPr id="83" name="Shape 80"/>
          <p:cNvSpPr/>
          <p:nvPr/>
        </p:nvSpPr>
        <p:spPr>
          <a:xfrm flipH="1">
            <a:off x="2401214" y="2306117"/>
            <a:ext cx="547726" cy="0"/>
          </a:xfrm>
          <a:prstGeom prst="line">
            <a:avLst/>
          </a:prstGeom>
          <a:noFill/>
          <a:ln w="12700">
            <a:solidFill>
              <a:srgbClr val="5F6368"/>
            </a:solidFill>
            <a:prstDash val="solid"/>
            <a:tailEnd type="triangle" w="sm" len="sm"/>
          </a:ln>
        </p:spPr>
      </p:sp>
      <p:sp>
        <p:nvSpPr>
          <p:cNvPr id="84" name="Shape 81"/>
          <p:cNvSpPr/>
          <p:nvPr/>
        </p:nvSpPr>
        <p:spPr>
          <a:xfrm flipH="1">
            <a:off x="2948940" y="2535631"/>
            <a:ext cx="148133" cy="0"/>
          </a:xfrm>
          <a:prstGeom prst="line">
            <a:avLst/>
          </a:prstGeom>
          <a:noFill/>
          <a:ln w="12700">
            <a:solidFill>
              <a:srgbClr val="5F6368"/>
            </a:solidFill>
            <a:prstDash val="solid"/>
            <a:headEnd type="triangle" w="sm" len="sm"/>
          </a:ln>
        </p:spPr>
      </p:sp>
      <p:sp>
        <p:nvSpPr>
          <p:cNvPr id="85" name="Shape 82"/>
          <p:cNvSpPr/>
          <p:nvPr/>
        </p:nvSpPr>
        <p:spPr>
          <a:xfrm>
            <a:off x="2948940" y="2535631"/>
            <a:ext cx="0" cy="135331"/>
          </a:xfrm>
          <a:prstGeom prst="line">
            <a:avLst/>
          </a:prstGeom>
          <a:noFill/>
          <a:ln w="12700">
            <a:solidFill>
              <a:srgbClr val="5F6368"/>
            </a:solidFill>
            <a:prstDash val="solid"/>
          </a:ln>
        </p:spPr>
      </p:sp>
      <p:sp>
        <p:nvSpPr>
          <p:cNvPr id="86" name="Shape 83"/>
          <p:cNvSpPr/>
          <p:nvPr/>
        </p:nvSpPr>
        <p:spPr>
          <a:xfrm flipH="1">
            <a:off x="2401214" y="2670962"/>
            <a:ext cx="547726" cy="0"/>
          </a:xfrm>
          <a:prstGeom prst="line">
            <a:avLst/>
          </a:prstGeom>
          <a:noFill/>
          <a:ln w="12700">
            <a:solidFill>
              <a:srgbClr val="5F6368"/>
            </a:solidFill>
            <a:prstDash val="solid"/>
            <a:tailEnd type="triangle" w="sm" len="sm"/>
          </a:ln>
        </p:spPr>
      </p:sp>
      <p:sp>
        <p:nvSpPr>
          <p:cNvPr id="87" name="Shape 84"/>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88" name="Shape 85"/>
          <p:cNvSpPr/>
          <p:nvPr/>
        </p:nvSpPr>
        <p:spPr>
          <a:xfrm>
            <a:off x="3591763" y="2640787"/>
            <a:ext cx="0" cy="312725"/>
          </a:xfrm>
          <a:prstGeom prst="line">
            <a:avLst/>
          </a:prstGeom>
          <a:noFill/>
          <a:ln w="12700">
            <a:solidFill>
              <a:srgbClr val="5F6368"/>
            </a:solidFill>
            <a:prstDash val="solid"/>
            <a:tailEnd type="triangle" w="sm" len="sm"/>
          </a:ln>
        </p:spPr>
      </p:sp>
      <p:sp>
        <p:nvSpPr>
          <p:cNvPr id="89" name="Shape 86"/>
          <p:cNvSpPr/>
          <p:nvPr/>
        </p:nvSpPr>
        <p:spPr>
          <a:xfrm flipV="1">
            <a:off x="3792017" y="2640787"/>
            <a:ext cx="0" cy="312725"/>
          </a:xfrm>
          <a:prstGeom prst="line">
            <a:avLst/>
          </a:prstGeom>
          <a:noFill/>
          <a:ln w="12700">
            <a:solidFill>
              <a:srgbClr val="5F6368"/>
            </a:solidFill>
            <a:prstDash val="solid"/>
            <a:tailEnd type="triangle" w="sm" len="sm"/>
          </a:ln>
        </p:spPr>
      </p:sp>
      <p:sp>
        <p:nvSpPr>
          <p:cNvPr id="90" name="Shape 87"/>
          <p:cNvSpPr/>
          <p:nvPr/>
        </p:nvSpPr>
        <p:spPr>
          <a:xfrm flipV="1">
            <a:off x="3083357" y="3665830"/>
            <a:ext cx="0" cy="782726"/>
          </a:xfrm>
          <a:prstGeom prst="line">
            <a:avLst/>
          </a:prstGeom>
          <a:noFill/>
          <a:ln w="12700">
            <a:solidFill>
              <a:srgbClr val="5F6368"/>
            </a:solidFill>
            <a:prstDash val="solid"/>
          </a:ln>
        </p:spPr>
      </p:sp>
      <p:sp>
        <p:nvSpPr>
          <p:cNvPr id="91" name="Shape 88"/>
          <p:cNvSpPr/>
          <p:nvPr/>
        </p:nvSpPr>
        <p:spPr>
          <a:xfrm>
            <a:off x="3083357" y="3665830"/>
            <a:ext cx="595274" cy="0"/>
          </a:xfrm>
          <a:prstGeom prst="line">
            <a:avLst/>
          </a:prstGeom>
          <a:noFill/>
          <a:ln w="12700">
            <a:solidFill>
              <a:srgbClr val="5F6368"/>
            </a:solidFill>
            <a:prstDash val="solid"/>
          </a:ln>
        </p:spPr>
      </p:sp>
      <p:sp>
        <p:nvSpPr>
          <p:cNvPr id="92" name="Shape 89"/>
          <p:cNvSpPr/>
          <p:nvPr/>
        </p:nvSpPr>
        <p:spPr>
          <a:xfrm flipV="1">
            <a:off x="3678631" y="3239719"/>
            <a:ext cx="0" cy="426110"/>
          </a:xfrm>
          <a:prstGeom prst="line">
            <a:avLst/>
          </a:prstGeom>
          <a:noFill/>
          <a:ln w="12700">
            <a:solidFill>
              <a:srgbClr val="5F6368"/>
            </a:solidFill>
            <a:prstDash val="solid"/>
            <a:tailEnd type="triangle" w="sm" len="sm"/>
          </a:ln>
        </p:spPr>
      </p:sp>
      <p:sp>
        <p:nvSpPr>
          <p:cNvPr id="93" name="Shape 90"/>
          <p:cNvSpPr/>
          <p:nvPr/>
        </p:nvSpPr>
        <p:spPr>
          <a:xfrm flipV="1">
            <a:off x="3083357" y="3665830"/>
            <a:ext cx="0" cy="782726"/>
          </a:xfrm>
          <a:prstGeom prst="line">
            <a:avLst/>
          </a:prstGeom>
          <a:noFill/>
          <a:ln w="12700">
            <a:solidFill>
              <a:srgbClr val="5F6368"/>
            </a:solidFill>
            <a:prstDash val="solid"/>
            <a:headEnd type="triangle" w="sm" len="sm"/>
          </a:ln>
        </p:spPr>
      </p:sp>
      <p:sp>
        <p:nvSpPr>
          <p:cNvPr id="94" name="Shape 91"/>
          <p:cNvSpPr/>
          <p:nvPr/>
        </p:nvSpPr>
        <p:spPr>
          <a:xfrm>
            <a:off x="3083357" y="3665830"/>
            <a:ext cx="2364638" cy="0"/>
          </a:xfrm>
          <a:prstGeom prst="line">
            <a:avLst/>
          </a:prstGeom>
          <a:noFill/>
          <a:ln w="12700">
            <a:solidFill>
              <a:srgbClr val="5F6368"/>
            </a:solidFill>
            <a:prstDash val="solid"/>
          </a:ln>
        </p:spPr>
      </p:sp>
      <p:sp>
        <p:nvSpPr>
          <p:cNvPr id="95" name="Shape 92"/>
          <p:cNvSpPr/>
          <p:nvPr/>
        </p:nvSpPr>
        <p:spPr>
          <a:xfrm>
            <a:off x="5447995" y="3665830"/>
            <a:ext cx="0" cy="782726"/>
          </a:xfrm>
          <a:prstGeom prst="line">
            <a:avLst/>
          </a:prstGeom>
          <a:noFill/>
          <a:ln w="12700">
            <a:solidFill>
              <a:srgbClr val="5F6368"/>
            </a:solidFill>
            <a:prstDash val="solid"/>
            <a:tailEnd type="triangle" w="sm" len="sm"/>
          </a:ln>
        </p:spPr>
      </p:sp>
      <p:sp>
        <p:nvSpPr>
          <p:cNvPr id="96" name="Shape 93"/>
          <p:cNvSpPr/>
          <p:nvPr/>
        </p:nvSpPr>
        <p:spPr>
          <a:xfrm flipV="1">
            <a:off x="2557577" y="3605479"/>
            <a:ext cx="0" cy="181966"/>
          </a:xfrm>
          <a:prstGeom prst="line">
            <a:avLst/>
          </a:prstGeom>
          <a:noFill/>
          <a:ln w="12700">
            <a:solidFill>
              <a:srgbClr val="5F6368"/>
            </a:solidFill>
            <a:prstDash val="dash"/>
            <a:headEnd type="triangle" w="sm" len="sm"/>
          </a:ln>
        </p:spPr>
      </p:sp>
      <p:sp>
        <p:nvSpPr>
          <p:cNvPr id="97" name="Shape 94"/>
          <p:cNvSpPr/>
          <p:nvPr/>
        </p:nvSpPr>
        <p:spPr>
          <a:xfrm>
            <a:off x="2557577" y="3605479"/>
            <a:ext cx="2756002" cy="0"/>
          </a:xfrm>
          <a:prstGeom prst="line">
            <a:avLst/>
          </a:prstGeom>
          <a:noFill/>
          <a:ln w="12700">
            <a:solidFill>
              <a:srgbClr val="5F6368"/>
            </a:solidFill>
            <a:prstDash val="dash"/>
          </a:ln>
        </p:spPr>
      </p:sp>
      <p:sp>
        <p:nvSpPr>
          <p:cNvPr id="98" name="Shape 95"/>
          <p:cNvSpPr/>
          <p:nvPr/>
        </p:nvSpPr>
        <p:spPr>
          <a:xfrm flipV="1">
            <a:off x="5313578" y="3327502"/>
            <a:ext cx="0" cy="277978"/>
          </a:xfrm>
          <a:prstGeom prst="line">
            <a:avLst/>
          </a:prstGeom>
          <a:noFill/>
          <a:ln w="12700">
            <a:solidFill>
              <a:srgbClr val="5F6368"/>
            </a:solidFill>
            <a:prstDash val="dash"/>
            <a:tailEnd type="triangle" w="sm" len="sm"/>
          </a:ln>
        </p:spPr>
      </p:sp>
      <p:sp>
        <p:nvSpPr>
          <p:cNvPr id="99" name="Shape 96"/>
          <p:cNvSpPr/>
          <p:nvPr/>
        </p:nvSpPr>
        <p:spPr>
          <a:xfrm>
            <a:off x="5313578" y="3327502"/>
            <a:ext cx="0" cy="277978"/>
          </a:xfrm>
          <a:prstGeom prst="line">
            <a:avLst/>
          </a:prstGeom>
          <a:noFill/>
          <a:ln w="12700">
            <a:solidFill>
              <a:srgbClr val="5F6368"/>
            </a:solidFill>
            <a:prstDash val="dash"/>
          </a:ln>
        </p:spPr>
      </p:sp>
      <p:sp>
        <p:nvSpPr>
          <p:cNvPr id="100" name="Shape 97"/>
          <p:cNvSpPr/>
          <p:nvPr/>
        </p:nvSpPr>
        <p:spPr>
          <a:xfrm flipH="1">
            <a:off x="4922215" y="3605479"/>
            <a:ext cx="391363" cy="0"/>
          </a:xfrm>
          <a:prstGeom prst="line">
            <a:avLst/>
          </a:prstGeom>
          <a:noFill/>
          <a:ln w="12700">
            <a:solidFill>
              <a:srgbClr val="5F6368"/>
            </a:solidFill>
            <a:prstDash val="dash"/>
          </a:ln>
        </p:spPr>
      </p:sp>
      <p:sp>
        <p:nvSpPr>
          <p:cNvPr id="101" name="Shape 98"/>
          <p:cNvSpPr/>
          <p:nvPr/>
        </p:nvSpPr>
        <p:spPr>
          <a:xfrm>
            <a:off x="4922215" y="3605479"/>
            <a:ext cx="0" cy="181966"/>
          </a:xfrm>
          <a:prstGeom prst="line">
            <a:avLst/>
          </a:prstGeom>
          <a:noFill/>
          <a:ln w="12700">
            <a:solidFill>
              <a:srgbClr val="5F6368"/>
            </a:solidFill>
            <a:prstDash val="dash"/>
            <a:tailEnd type="triangle" w="sm" len="sm"/>
          </a:ln>
        </p:spPr>
      </p:sp>
      <p:sp>
        <p:nvSpPr>
          <p:cNvPr id="102" name="Shape 99"/>
          <p:cNvSpPr/>
          <p:nvPr/>
        </p:nvSpPr>
        <p:spPr>
          <a:xfrm>
            <a:off x="2392070" y="4387291"/>
            <a:ext cx="96012" cy="0"/>
          </a:xfrm>
          <a:prstGeom prst="line">
            <a:avLst/>
          </a:prstGeom>
          <a:noFill/>
          <a:ln w="12700">
            <a:solidFill>
              <a:srgbClr val="5F6368"/>
            </a:solidFill>
            <a:prstDash val="solid"/>
            <a:headEnd type="triangle" w="sm" len="sm"/>
          </a:ln>
        </p:spPr>
      </p:sp>
      <p:sp>
        <p:nvSpPr>
          <p:cNvPr id="103" name="Shape 100"/>
          <p:cNvSpPr/>
          <p:nvPr/>
        </p:nvSpPr>
        <p:spPr>
          <a:xfrm>
            <a:off x="2488082" y="4387291"/>
            <a:ext cx="0" cy="148133"/>
          </a:xfrm>
          <a:prstGeom prst="line">
            <a:avLst/>
          </a:prstGeom>
          <a:noFill/>
          <a:ln w="12700">
            <a:solidFill>
              <a:srgbClr val="5F6368"/>
            </a:solidFill>
            <a:prstDash val="solid"/>
          </a:ln>
        </p:spPr>
      </p:sp>
      <p:sp>
        <p:nvSpPr>
          <p:cNvPr id="104" name="Shape 101"/>
          <p:cNvSpPr/>
          <p:nvPr/>
        </p:nvSpPr>
        <p:spPr>
          <a:xfrm>
            <a:off x="2488082" y="4535424"/>
            <a:ext cx="130759" cy="0"/>
          </a:xfrm>
          <a:prstGeom prst="line">
            <a:avLst/>
          </a:prstGeom>
          <a:noFill/>
          <a:ln w="12700">
            <a:solidFill>
              <a:srgbClr val="5F6368"/>
            </a:solidFill>
            <a:prstDash val="solid"/>
            <a:tailEnd type="triangle" w="sm" len="sm"/>
          </a:ln>
        </p:spPr>
      </p:sp>
      <p:sp>
        <p:nvSpPr>
          <p:cNvPr id="105" name="Shape 102"/>
          <p:cNvSpPr/>
          <p:nvPr/>
        </p:nvSpPr>
        <p:spPr>
          <a:xfrm>
            <a:off x="2392070" y="5413248"/>
            <a:ext cx="130759" cy="0"/>
          </a:xfrm>
          <a:prstGeom prst="line">
            <a:avLst/>
          </a:prstGeom>
          <a:noFill/>
          <a:ln w="12700">
            <a:solidFill>
              <a:srgbClr val="5F6368"/>
            </a:solidFill>
            <a:prstDash val="solid"/>
            <a:headEnd type="triangle" w="sm" len="sm"/>
          </a:ln>
        </p:spPr>
      </p:sp>
      <p:sp>
        <p:nvSpPr>
          <p:cNvPr id="106" name="Shape 103"/>
          <p:cNvSpPr/>
          <p:nvPr/>
        </p:nvSpPr>
        <p:spPr>
          <a:xfrm flipV="1">
            <a:off x="2522830" y="4674413"/>
            <a:ext cx="0" cy="738835"/>
          </a:xfrm>
          <a:prstGeom prst="line">
            <a:avLst/>
          </a:prstGeom>
          <a:noFill/>
          <a:ln w="12700">
            <a:solidFill>
              <a:srgbClr val="5F6368"/>
            </a:solidFill>
            <a:prstDash val="solid"/>
          </a:ln>
        </p:spPr>
      </p:sp>
      <p:sp>
        <p:nvSpPr>
          <p:cNvPr id="107" name="Shape 104"/>
          <p:cNvSpPr/>
          <p:nvPr/>
        </p:nvSpPr>
        <p:spPr>
          <a:xfrm>
            <a:off x="2522830" y="4674413"/>
            <a:ext cx="96012" cy="0"/>
          </a:xfrm>
          <a:prstGeom prst="line">
            <a:avLst/>
          </a:prstGeom>
          <a:noFill/>
          <a:ln w="12700">
            <a:solidFill>
              <a:srgbClr val="5F6368"/>
            </a:solidFill>
            <a:prstDash val="solid"/>
            <a:tailEnd type="triangle" w="sm" len="sm"/>
          </a:ln>
        </p:spPr>
      </p:sp>
      <p:sp>
        <p:nvSpPr>
          <p:cNvPr id="108" name="Shape 105"/>
          <p:cNvSpPr/>
          <p:nvPr/>
        </p:nvSpPr>
        <p:spPr>
          <a:xfrm flipV="1">
            <a:off x="3083357" y="5013655"/>
            <a:ext cx="0" cy="60350"/>
          </a:xfrm>
          <a:prstGeom prst="line">
            <a:avLst/>
          </a:prstGeom>
          <a:noFill/>
          <a:ln w="12700">
            <a:solidFill>
              <a:srgbClr val="5F6368"/>
            </a:solidFill>
            <a:prstDash val="solid"/>
            <a:headEnd type="triangle" w="sm" len="sm"/>
          </a:ln>
        </p:spPr>
      </p:sp>
      <p:sp>
        <p:nvSpPr>
          <p:cNvPr id="109" name="Shape 106"/>
          <p:cNvSpPr/>
          <p:nvPr/>
        </p:nvSpPr>
        <p:spPr>
          <a:xfrm flipV="1">
            <a:off x="3083357" y="4778654"/>
            <a:ext cx="0" cy="61265"/>
          </a:xfrm>
          <a:prstGeom prst="line">
            <a:avLst/>
          </a:prstGeom>
          <a:noFill/>
          <a:ln w="12700">
            <a:solidFill>
              <a:srgbClr val="5F6368"/>
            </a:solidFill>
            <a:prstDash val="solid"/>
            <a:tailEnd type="triangle" w="sm" len="sm"/>
          </a:ln>
        </p:spPr>
      </p:sp>
      <p:sp>
        <p:nvSpPr>
          <p:cNvPr id="110" name="Shape 107"/>
          <p:cNvSpPr/>
          <p:nvPr/>
        </p:nvSpPr>
        <p:spPr>
          <a:xfrm flipV="1">
            <a:off x="3083357" y="5665622"/>
            <a:ext cx="0" cy="60350"/>
          </a:xfrm>
          <a:prstGeom prst="line">
            <a:avLst/>
          </a:prstGeom>
          <a:noFill/>
          <a:ln w="12700">
            <a:solidFill>
              <a:srgbClr val="5F6368"/>
            </a:solidFill>
            <a:prstDash val="solid"/>
            <a:headEnd type="triangle" w="sm" len="sm"/>
          </a:ln>
        </p:spPr>
      </p:sp>
      <p:sp>
        <p:nvSpPr>
          <p:cNvPr id="111" name="Shape 108"/>
          <p:cNvSpPr/>
          <p:nvPr/>
        </p:nvSpPr>
        <p:spPr>
          <a:xfrm flipV="1">
            <a:off x="3083357" y="5405018"/>
            <a:ext cx="0" cy="60350"/>
          </a:xfrm>
          <a:prstGeom prst="line">
            <a:avLst/>
          </a:prstGeom>
          <a:noFill/>
          <a:ln w="12700">
            <a:solidFill>
              <a:srgbClr val="5F6368"/>
            </a:solidFill>
            <a:prstDash val="solid"/>
            <a:tailEnd type="triangle" w="sm" len="sm"/>
          </a:ln>
        </p:spPr>
      </p:sp>
      <p:sp>
        <p:nvSpPr>
          <p:cNvPr id="112" name="Shape 109"/>
          <p:cNvSpPr/>
          <p:nvPr/>
        </p:nvSpPr>
        <p:spPr>
          <a:xfrm>
            <a:off x="4756709" y="4387291"/>
            <a:ext cx="96012" cy="0"/>
          </a:xfrm>
          <a:prstGeom prst="line">
            <a:avLst/>
          </a:prstGeom>
          <a:noFill/>
          <a:ln w="12700">
            <a:solidFill>
              <a:srgbClr val="5F6368"/>
            </a:solidFill>
            <a:prstDash val="solid"/>
            <a:headEnd type="triangle" w="sm" len="sm"/>
          </a:ln>
        </p:spPr>
      </p:sp>
      <p:sp>
        <p:nvSpPr>
          <p:cNvPr id="113" name="Shape 110"/>
          <p:cNvSpPr/>
          <p:nvPr/>
        </p:nvSpPr>
        <p:spPr>
          <a:xfrm>
            <a:off x="4852721" y="4387291"/>
            <a:ext cx="0" cy="148133"/>
          </a:xfrm>
          <a:prstGeom prst="line">
            <a:avLst/>
          </a:prstGeom>
          <a:noFill/>
          <a:ln w="12700">
            <a:solidFill>
              <a:srgbClr val="5F6368"/>
            </a:solidFill>
            <a:prstDash val="solid"/>
          </a:ln>
        </p:spPr>
      </p:sp>
      <p:sp>
        <p:nvSpPr>
          <p:cNvPr id="114" name="Shape 111"/>
          <p:cNvSpPr/>
          <p:nvPr/>
        </p:nvSpPr>
        <p:spPr>
          <a:xfrm>
            <a:off x="4852721" y="4535424"/>
            <a:ext cx="129845" cy="0"/>
          </a:xfrm>
          <a:prstGeom prst="line">
            <a:avLst/>
          </a:prstGeom>
          <a:noFill/>
          <a:ln w="12700">
            <a:solidFill>
              <a:srgbClr val="5F6368"/>
            </a:solidFill>
            <a:prstDash val="solid"/>
            <a:tailEnd type="triangle" w="sm" len="sm"/>
          </a:ln>
        </p:spPr>
      </p:sp>
      <p:sp>
        <p:nvSpPr>
          <p:cNvPr id="115" name="Shape 112"/>
          <p:cNvSpPr/>
          <p:nvPr/>
        </p:nvSpPr>
        <p:spPr>
          <a:xfrm>
            <a:off x="4756709" y="4830775"/>
            <a:ext cx="130759" cy="0"/>
          </a:xfrm>
          <a:prstGeom prst="line">
            <a:avLst/>
          </a:prstGeom>
          <a:noFill/>
          <a:ln w="12700">
            <a:solidFill>
              <a:srgbClr val="5F6368"/>
            </a:solidFill>
            <a:prstDash val="solid"/>
            <a:headEnd type="triangle" w="sm" len="sm"/>
          </a:ln>
        </p:spPr>
      </p:sp>
      <p:sp>
        <p:nvSpPr>
          <p:cNvPr id="116" name="Shape 113"/>
          <p:cNvSpPr/>
          <p:nvPr/>
        </p:nvSpPr>
        <p:spPr>
          <a:xfrm flipV="1">
            <a:off x="4887468" y="4674413"/>
            <a:ext cx="0" cy="156362"/>
          </a:xfrm>
          <a:prstGeom prst="line">
            <a:avLst/>
          </a:prstGeom>
          <a:noFill/>
          <a:ln w="12700">
            <a:solidFill>
              <a:srgbClr val="5F6368"/>
            </a:solidFill>
            <a:prstDash val="solid"/>
          </a:ln>
        </p:spPr>
      </p:sp>
      <p:sp>
        <p:nvSpPr>
          <p:cNvPr id="117" name="Shape 114"/>
          <p:cNvSpPr/>
          <p:nvPr/>
        </p:nvSpPr>
        <p:spPr>
          <a:xfrm>
            <a:off x="4887468" y="4674413"/>
            <a:ext cx="95098" cy="0"/>
          </a:xfrm>
          <a:prstGeom prst="line">
            <a:avLst/>
          </a:prstGeom>
          <a:noFill/>
          <a:ln w="12700">
            <a:solidFill>
              <a:srgbClr val="5F6368"/>
            </a:solidFill>
            <a:prstDash val="solid"/>
            <a:tailEnd type="triangle" w="sm" len="sm"/>
          </a:ln>
        </p:spPr>
      </p:sp>
      <p:sp>
        <p:nvSpPr>
          <p:cNvPr id="118" name="Shape 115"/>
          <p:cNvSpPr/>
          <p:nvPr/>
        </p:nvSpPr>
        <p:spPr>
          <a:xfrm flipV="1">
            <a:off x="5447995" y="5013655"/>
            <a:ext cx="0" cy="60350"/>
          </a:xfrm>
          <a:prstGeom prst="line">
            <a:avLst/>
          </a:prstGeom>
          <a:noFill/>
          <a:ln w="12700">
            <a:solidFill>
              <a:srgbClr val="5F6368"/>
            </a:solidFill>
            <a:prstDash val="solid"/>
            <a:headEnd type="triangle" w="sm" len="sm"/>
          </a:ln>
        </p:spPr>
      </p:sp>
      <p:sp>
        <p:nvSpPr>
          <p:cNvPr id="119" name="Shape 116"/>
          <p:cNvSpPr/>
          <p:nvPr/>
        </p:nvSpPr>
        <p:spPr>
          <a:xfrm flipV="1">
            <a:off x="5447995" y="4778654"/>
            <a:ext cx="0" cy="61265"/>
          </a:xfrm>
          <a:prstGeom prst="line">
            <a:avLst/>
          </a:prstGeom>
          <a:noFill/>
          <a:ln w="12700">
            <a:solidFill>
              <a:srgbClr val="5F6368"/>
            </a:solidFill>
            <a:prstDash val="solid"/>
            <a:tailEnd type="triangle" w="sm" len="sm"/>
          </a:ln>
        </p:spPr>
      </p:sp>
      <p:sp>
        <p:nvSpPr>
          <p:cNvPr id="120" name="Shape 117"/>
          <p:cNvSpPr/>
          <p:nvPr/>
        </p:nvSpPr>
        <p:spPr>
          <a:xfrm flipV="1">
            <a:off x="5447995" y="5665622"/>
            <a:ext cx="0" cy="60350"/>
          </a:xfrm>
          <a:prstGeom prst="line">
            <a:avLst/>
          </a:prstGeom>
          <a:noFill/>
          <a:ln w="12700">
            <a:solidFill>
              <a:srgbClr val="5F6368"/>
            </a:solidFill>
            <a:prstDash val="solid"/>
            <a:headEnd type="triangle" w="sm" len="sm"/>
          </a:ln>
        </p:spPr>
      </p:sp>
      <p:sp>
        <p:nvSpPr>
          <p:cNvPr id="121" name="Shape 118"/>
          <p:cNvSpPr/>
          <p:nvPr/>
        </p:nvSpPr>
        <p:spPr>
          <a:xfrm flipV="1">
            <a:off x="5447995" y="5405018"/>
            <a:ext cx="0" cy="60350"/>
          </a:xfrm>
          <a:prstGeom prst="line">
            <a:avLst/>
          </a:prstGeom>
          <a:noFill/>
          <a:ln w="12700">
            <a:solidFill>
              <a:srgbClr val="5F6368"/>
            </a:solidFill>
            <a:prstDash val="solid"/>
            <a:tailEnd type="triangle" w="sm" len="sm"/>
          </a:ln>
        </p:spPr>
      </p:sp>
      <p:sp>
        <p:nvSpPr>
          <p:cNvPr id="122" name="Shape 119"/>
          <p:cNvSpPr/>
          <p:nvPr/>
        </p:nvSpPr>
        <p:spPr>
          <a:xfrm>
            <a:off x="1477670" y="3802075"/>
            <a:ext cx="1433779" cy="113386"/>
          </a:xfrm>
          <a:prstGeom prst="rect">
            <a:avLst/>
          </a:prstGeom>
          <a:solidFill>
            <a:srgbClr val="FFFFFF"/>
          </a:solidFill>
          <a:ln/>
        </p:spPr>
      </p:sp>
      <p:sp>
        <p:nvSpPr>
          <p:cNvPr id="123" name="Text 120"/>
          <p:cNvSpPr/>
          <p:nvPr/>
        </p:nvSpPr>
        <p:spPr>
          <a:xfrm>
            <a:off x="1491386" y="3803904"/>
            <a:ext cx="2133295" cy="111557"/>
          </a:xfrm>
          <a:prstGeom prst="rect">
            <a:avLst/>
          </a:prstGeom>
          <a:noFill/>
          <a:ln/>
        </p:spPr>
        <p:txBody>
          <a:bodyPr wrap="none" lIns="0" tIns="0" rIns="0" bIns="0" rtlCol="0" anchor="ctr"/>
          <a:lstStyle/>
          <a:p>
            <a:pPr algn="l" indent="0" marL="0">
              <a:lnSpc>
                <a:spcPct val="100000"/>
              </a:lnSpc>
              <a:buNone/>
            </a:pPr>
            <a:r>
              <a:rPr lang="en-US" sz="400" b="1" dirty="0">
                <a:solidFill>
                  <a:srgbClr val="202124"/>
                </a:solidFill>
                <a:latin typeface="Arial" pitchFamily="34" charset="0"/>
                <a:ea typeface="Arial" pitchFamily="34" charset="-122"/>
                <a:cs typeface="Arial" pitchFamily="34" charset="-120"/>
              </a:rPr>
              <a:t>PAB • Hop 3–5 Isolation Boundary (Tenant Alpha)</a:t>
            </a:r>
            <a:endParaRPr lang="en-US" sz="400" dirty="0"/>
          </a:p>
        </p:txBody>
      </p:sp>
      <p:sp>
        <p:nvSpPr>
          <p:cNvPr id="124" name="Shape 121"/>
          <p:cNvSpPr/>
          <p:nvPr/>
        </p:nvSpPr>
        <p:spPr>
          <a:xfrm>
            <a:off x="3842309" y="3802075"/>
            <a:ext cx="1505102" cy="113386"/>
          </a:xfrm>
          <a:prstGeom prst="rect">
            <a:avLst/>
          </a:prstGeom>
          <a:solidFill>
            <a:srgbClr val="FFFFFF"/>
          </a:solidFill>
          <a:ln/>
        </p:spPr>
      </p:sp>
      <p:sp>
        <p:nvSpPr>
          <p:cNvPr id="125" name="Text 122"/>
          <p:cNvSpPr/>
          <p:nvPr/>
        </p:nvSpPr>
        <p:spPr>
          <a:xfrm>
            <a:off x="3856025" y="3803904"/>
            <a:ext cx="2133295" cy="111557"/>
          </a:xfrm>
          <a:prstGeom prst="rect">
            <a:avLst/>
          </a:prstGeom>
          <a:noFill/>
          <a:ln/>
        </p:spPr>
        <p:txBody>
          <a:bodyPr wrap="none" lIns="0" tIns="0" rIns="0" bIns="0" rtlCol="0" anchor="ctr"/>
          <a:lstStyle/>
          <a:p>
            <a:pPr algn="l" indent="0" marL="0">
              <a:lnSpc>
                <a:spcPct val="100000"/>
              </a:lnSpc>
              <a:buNone/>
            </a:pPr>
            <a:r>
              <a:rPr lang="en-US" sz="430" b="1" dirty="0">
                <a:solidFill>
                  <a:srgbClr val="202124"/>
                </a:solidFill>
                <a:latin typeface="Arial" pitchFamily="34" charset="0"/>
                <a:ea typeface="Arial" pitchFamily="34" charset="-122"/>
                <a:cs typeface="Arial" pitchFamily="34" charset="-120"/>
              </a:rPr>
              <a:t>PAB • Hop 3–5 Isolation Boundary (Tenant Beta)</a:t>
            </a:r>
            <a:endParaRPr lang="en-US" sz="430" dirty="0"/>
          </a:p>
        </p:txBody>
      </p:sp>
      <p:sp>
        <p:nvSpPr>
          <p:cNvPr id="126" name="Shape 123"/>
          <p:cNvSpPr/>
          <p:nvPr/>
        </p:nvSpPr>
        <p:spPr>
          <a:xfrm>
            <a:off x="1547165" y="3964838"/>
            <a:ext cx="1381658" cy="196596"/>
          </a:xfrm>
          <a:prstGeom prst="rect">
            <a:avLst/>
          </a:prstGeom>
          <a:solidFill>
            <a:srgbClr val="FEEFC3"/>
          </a:solidFill>
          <a:ln/>
        </p:spPr>
      </p:sp>
      <p:sp>
        <p:nvSpPr>
          <p:cNvPr id="127" name="Text 124"/>
          <p:cNvSpPr/>
          <p:nvPr/>
        </p:nvSpPr>
        <p:spPr>
          <a:xfrm>
            <a:off x="1560881"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A (FinVault Bank)</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Tenant project • Enterprise Tier (Google OIDC)</a:t>
            </a:r>
            <a:endParaRPr lang="en-US" sz="470" dirty="0"/>
          </a:p>
        </p:txBody>
      </p:sp>
      <p:sp>
        <p:nvSpPr>
          <p:cNvPr id="128" name="Shape 125"/>
          <p:cNvSpPr/>
          <p:nvPr/>
        </p:nvSpPr>
        <p:spPr>
          <a:xfrm>
            <a:off x="3911803" y="3964838"/>
            <a:ext cx="1239926" cy="196596"/>
          </a:xfrm>
          <a:prstGeom prst="rect">
            <a:avLst/>
          </a:prstGeom>
          <a:solidFill>
            <a:srgbClr val="FAD2CF"/>
          </a:solidFill>
          <a:ln/>
        </p:spPr>
      </p:sp>
      <p:sp>
        <p:nvSpPr>
          <p:cNvPr id="129" name="Text 126"/>
          <p:cNvSpPr/>
          <p:nvPr/>
        </p:nvSpPr>
        <p:spPr>
          <a:xfrm>
            <a:off x="3925519" y="3970325"/>
            <a:ext cx="1994306"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Tenant B (RetailStream Corp)</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Tenant project • Standard Tier (Entra ID)</a:t>
            </a:r>
            <a:endParaRPr lang="en-US" sz="470" dirty="0"/>
          </a:p>
        </p:txBody>
      </p:sp>
      <p:sp>
        <p:nvSpPr>
          <p:cNvPr id="130" name="Shape 127"/>
          <p:cNvSpPr/>
          <p:nvPr/>
        </p:nvSpPr>
        <p:spPr>
          <a:xfrm>
            <a:off x="1468526" y="1921154"/>
            <a:ext cx="1381658" cy="196596"/>
          </a:xfrm>
          <a:prstGeom prst="rect">
            <a:avLst/>
          </a:prstGeom>
          <a:solidFill>
            <a:srgbClr val="AECBFA"/>
          </a:solidFill>
          <a:ln/>
        </p:spPr>
      </p:sp>
      <p:sp>
        <p:nvSpPr>
          <p:cNvPr id="131" name="Text 128"/>
          <p:cNvSpPr/>
          <p:nvPr/>
        </p:nvSpPr>
        <p:spPr>
          <a:xfrm>
            <a:off x="1482242" y="1926641"/>
            <a:ext cx="1901952" cy="210312"/>
          </a:xfrm>
          <a:prstGeom prst="rect">
            <a:avLst/>
          </a:prstGeom>
          <a:noFill/>
          <a:ln/>
        </p:spPr>
        <p:txBody>
          <a:bodyPr wrap="square" lIns="0" tIns="0" rIns="0" bIns="0" rtlCol="0" anchor="t"/>
          <a:lstStyle/>
          <a:p>
            <a:pPr algn="l" indent="0" marL="0">
              <a:lnSpc>
                <a:spcPct val="102000"/>
              </a:lnSpc>
              <a:buNone/>
            </a:pPr>
            <a:r>
              <a:rPr lang="en-US" sz="470" b="1" dirty="0">
                <a:solidFill>
                  <a:srgbClr val="202124"/>
                </a:solidFill>
                <a:latin typeface="Arial" pitchFamily="34" charset="0"/>
                <a:ea typeface="Arial" pitchFamily="34" charset="-122"/>
                <a:cs typeface="Arial" pitchFamily="34" charset="-120"/>
              </a:rPr>
              <a:t>Routing hub (Hop 1 &amp; Hop 2)</a:t>
            </a:r>
            <a:endParaRPr lang="en-US" sz="470" dirty="0"/>
          </a:p>
          <a:p>
            <a:pPr algn="l" indent="0" marL="0">
              <a:lnSpc>
                <a:spcPct val="102000"/>
              </a:lnSpc>
              <a:buNone/>
            </a:pPr>
            <a:r>
              <a:rPr lang="en-US" sz="400" dirty="0">
                <a:solidFill>
                  <a:srgbClr val="202124"/>
                </a:solidFill>
                <a:latin typeface="Arial" pitchFamily="34" charset="0"/>
                <a:ea typeface="Arial" pitchFamily="34" charset="-122"/>
                <a:cs typeface="Arial" pitchFamily="34" charset="-120"/>
              </a:rPr>
              <a:t>Central ingress &amp; cryptographic token exchange</a:t>
            </a:r>
            <a:endParaRPr lang="en-US" sz="470" dirty="0"/>
          </a:p>
        </p:txBody>
      </p:sp>
      <p:sp>
        <p:nvSpPr>
          <p:cNvPr id="132" name="Shape 129"/>
          <p:cNvSpPr/>
          <p:nvPr/>
        </p:nvSpPr>
        <p:spPr>
          <a:xfrm>
            <a:off x="4641494" y="1955902"/>
            <a:ext cx="1162202" cy="118872"/>
          </a:xfrm>
          <a:prstGeom prst="rect">
            <a:avLst/>
          </a:prstGeom>
          <a:solidFill>
            <a:srgbClr val="CEEAD6"/>
          </a:solidFill>
          <a:ln/>
        </p:spPr>
      </p:sp>
      <p:sp>
        <p:nvSpPr>
          <p:cNvPr id="133" name="Text 130"/>
          <p:cNvSpPr/>
          <p:nvPr/>
        </p:nvSpPr>
        <p:spPr>
          <a:xfrm>
            <a:off x="4655210" y="1961388"/>
            <a:ext cx="1315822" cy="210312"/>
          </a:xfrm>
          <a:prstGeom prst="rect">
            <a:avLst/>
          </a:prstGeom>
          <a:noFill/>
          <a:ln/>
        </p:spPr>
        <p:txBody>
          <a:bodyPr wrap="square" lIns="0" tIns="0" rIns="0" bIns="0" rtlCol="0" anchor="t"/>
          <a:lstStyle/>
          <a:p>
            <a:pPr algn="l" indent="0" marL="0">
              <a:lnSpc>
                <a:spcPct val="102000"/>
              </a:lnSpc>
              <a:buNone/>
            </a:pPr>
            <a:r>
              <a:rPr lang="en-US" sz="430" b="1" dirty="0">
                <a:solidFill>
                  <a:srgbClr val="202124"/>
                </a:solidFill>
                <a:latin typeface="Arial" pitchFamily="34" charset="0"/>
                <a:ea typeface="Arial" pitchFamily="34" charset="-122"/>
                <a:cs typeface="Arial" pitchFamily="34" charset="-120"/>
              </a:rPr>
              <a:t>Central governance and security hub</a:t>
            </a:r>
            <a:endParaRPr lang="en-US" sz="430" dirty="0"/>
          </a:p>
        </p:txBody>
      </p:sp>
      <p:sp>
        <p:nvSpPr>
          <p:cNvPr id="134" name="Shape 131"/>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35"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6" name="Text 132"/>
          <p:cNvSpPr/>
          <p:nvPr/>
        </p:nvSpPr>
        <p:spPr>
          <a:xfrm>
            <a:off x="3372307" y="658368"/>
            <a:ext cx="834847" cy="373990"/>
          </a:xfrm>
          <a:prstGeom prst="rect">
            <a:avLst/>
          </a:prstGeom>
          <a:noFill/>
          <a:ln/>
        </p:spPr>
        <p:txBody>
          <a:bodyPr wrap="square" lIns="0" tIns="0" rIns="0" bIns="0" rtlCol="0" anchor="ctr"/>
          <a:lstStyle/>
          <a:p>
            <a:pPr algn="l" indent="0" marL="0">
              <a:lnSpc>
                <a:spcPct val="104000"/>
              </a:lnSpc>
              <a:buNone/>
            </a:pPr>
            <a:r>
              <a:rPr lang="en-US" sz="480" b="1" dirty="0">
                <a:solidFill>
                  <a:srgbClr val="202124"/>
                </a:solidFill>
                <a:latin typeface="Arial" pitchFamily="34" charset="0"/>
                <a:ea typeface="Arial" pitchFamily="34" charset="-122"/>
                <a:cs typeface="Arial" pitchFamily="34" charset="-120"/>
              </a:rPr>
              <a:t>User</a:t>
            </a:r>
            <a:endParaRPr lang="en-US" sz="480" dirty="0"/>
          </a:p>
          <a:p>
            <a:pPr algn="l" indent="0" marL="0">
              <a:lnSpc>
                <a:spcPct val="104000"/>
              </a:lnSpc>
              <a:buNone/>
            </a:pPr>
            <a:r>
              <a:rPr lang="en-US" sz="410" dirty="0">
                <a:solidFill>
                  <a:srgbClr val="3C4043"/>
                </a:solidFill>
                <a:latin typeface="Arial" pitchFamily="34" charset="0"/>
                <a:ea typeface="Arial" pitchFamily="34" charset="-122"/>
                <a:cs typeface="Arial" pitchFamily="34" charset="-120"/>
              </a:rPr>
              <a:t>OIDC / Entra JWT</a:t>
            </a:r>
            <a:endParaRPr lang="en-US" sz="480" dirty="0"/>
          </a:p>
        </p:txBody>
      </p:sp>
      <p:sp>
        <p:nvSpPr>
          <p:cNvPr id="137" name="Shape 133"/>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8"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9" name="Text 134"/>
          <p:cNvSpPr/>
          <p:nvPr/>
        </p:nvSpPr>
        <p:spPr>
          <a:xfrm>
            <a:off x="3332988" y="2309774"/>
            <a:ext cx="875081" cy="330098"/>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External Application Load Balancer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Cloud Load Balancing</a:t>
            </a:r>
            <a:endParaRPr lang="en-US" sz="490" dirty="0"/>
          </a:p>
        </p:txBody>
      </p:sp>
      <p:sp>
        <p:nvSpPr>
          <p:cNvPr id="140" name="Shape 135"/>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41"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42" name="Text 136"/>
          <p:cNvSpPr/>
          <p:nvPr/>
        </p:nvSpPr>
        <p:spPr>
          <a:xfrm>
            <a:off x="4940503" y="2197303"/>
            <a:ext cx="945490"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Security Command Center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Continuous Threat Detection</a:t>
            </a:r>
            <a:endParaRPr lang="en-US" sz="490" dirty="0"/>
          </a:p>
        </p:txBody>
      </p:sp>
      <p:sp>
        <p:nvSpPr>
          <p:cNvPr id="143" name="Shape 137"/>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44"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45" name="Text 138"/>
          <p:cNvSpPr/>
          <p:nvPr/>
        </p:nvSpPr>
        <p:spPr>
          <a:xfrm>
            <a:off x="4948733" y="2926994"/>
            <a:ext cx="919886"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Logging &amp; BQ</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cymbal_agentic_finops_otel</a:t>
            </a:r>
            <a:endParaRPr lang="en-US" sz="490" dirty="0"/>
          </a:p>
        </p:txBody>
      </p:sp>
      <p:sp>
        <p:nvSpPr>
          <p:cNvPr id="146" name="Shape 139"/>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7"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8" name="Text 140"/>
          <p:cNvSpPr/>
          <p:nvPr/>
        </p:nvSpPr>
        <p:spPr>
          <a:xfrm>
            <a:off x="4956962" y="2570378"/>
            <a:ext cx="902513" cy="295351"/>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Central IAM</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Auth Manager (2LO / 3LO)</a:t>
            </a:r>
            <a:endParaRPr lang="en-US" sz="490" dirty="0"/>
          </a:p>
        </p:txBody>
      </p:sp>
      <p:sp>
        <p:nvSpPr>
          <p:cNvPr id="149" name="Shape 141"/>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50"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51" name="Text 142"/>
          <p:cNvSpPr/>
          <p:nvPr/>
        </p:nvSpPr>
        <p:spPr>
          <a:xfrm>
            <a:off x="2850185"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Shared + Agent Alpha</a:t>
            </a:r>
            <a:endParaRPr lang="en-US" sz="490" dirty="0"/>
          </a:p>
        </p:txBody>
      </p:sp>
      <p:sp>
        <p:nvSpPr>
          <p:cNvPr id="152" name="Shape 143"/>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53"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54" name="Text 144"/>
          <p:cNvSpPr/>
          <p:nvPr/>
        </p:nvSpPr>
        <p:spPr>
          <a:xfrm>
            <a:off x="2850185"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5: Workspace &amp; Jira 3LO</a:t>
            </a:r>
            <a:endParaRPr lang="en-US" sz="490" dirty="0"/>
          </a:p>
        </p:txBody>
      </p:sp>
      <p:sp>
        <p:nvSpPr>
          <p:cNvPr id="155" name="Shape 145"/>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6"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7" name="Text 146"/>
          <p:cNvSpPr/>
          <p:nvPr/>
        </p:nvSpPr>
        <p:spPr>
          <a:xfrm>
            <a:off x="2850185"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BQ RLS, AlloyDB &amp; CMEK</a:t>
            </a:r>
            <a:endParaRPr lang="en-US" sz="490" dirty="0"/>
          </a:p>
        </p:txBody>
      </p:sp>
      <p:sp>
        <p:nvSpPr>
          <p:cNvPr id="158" name="Shape 147"/>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9"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60" name="Text 148"/>
          <p:cNvSpPr/>
          <p:nvPr/>
        </p:nvSpPr>
        <p:spPr>
          <a:xfrm>
            <a:off x="5213909" y="444855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Vertex AI Agent Engine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3: Shared Diagnostic</a:t>
            </a:r>
            <a:endParaRPr lang="en-US" sz="490" dirty="0"/>
          </a:p>
        </p:txBody>
      </p:sp>
      <p:sp>
        <p:nvSpPr>
          <p:cNvPr id="161" name="Shape 149"/>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62"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63" name="Text 150"/>
          <p:cNvSpPr/>
          <p:nvPr/>
        </p:nvSpPr>
        <p:spPr>
          <a:xfrm>
            <a:off x="5213909" y="5074006"/>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MCP servers</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5: SharePoint &amp; SNOW</a:t>
            </a:r>
            <a:endParaRPr lang="en-US" sz="490" dirty="0"/>
          </a:p>
        </p:txBody>
      </p:sp>
      <p:sp>
        <p:nvSpPr>
          <p:cNvPr id="164" name="Shape 151"/>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65"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6" name="Text 152"/>
          <p:cNvSpPr/>
          <p:nvPr/>
        </p:nvSpPr>
        <p:spPr>
          <a:xfrm>
            <a:off x="5213909" y="5725973"/>
            <a:ext cx="671170" cy="321869"/>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Datastore</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BQ RLS, AlloyDB &amp; Valkey</a:t>
            </a:r>
            <a:endParaRPr lang="en-US" sz="490" dirty="0"/>
          </a:p>
        </p:txBody>
      </p:sp>
      <p:sp>
        <p:nvSpPr>
          <p:cNvPr id="167" name="Shape 153"/>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8"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9" name="Text 154"/>
          <p:cNvSpPr/>
          <p:nvPr/>
        </p:nvSpPr>
        <p:spPr>
          <a:xfrm>
            <a:off x="3414370" y="2953512"/>
            <a:ext cx="733349"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Cloud Run</a:t>
            </a:r>
            <a:endParaRPr lang="en-US" sz="490" dirty="0"/>
          </a:p>
          <a:p>
            <a:pPr algn="l" indent="0" marL="0">
              <a:lnSpc>
                <a:spcPct val="100000"/>
              </a:lnSpc>
              <a:buNone/>
            </a:pPr>
            <a:r>
              <a:rPr lang="en-US" sz="350" dirty="0">
                <a:solidFill>
                  <a:srgbClr val="3C4043"/>
                </a:solidFill>
                <a:latin typeface="Arial" pitchFamily="34" charset="0"/>
                <a:ea typeface="Arial" pitchFamily="34" charset="-122"/>
                <a:cs typeface="Arial" pitchFamily="34" charset="-120"/>
              </a:rPr>
              <a:t>cymbal-multi-tenant-patterns</a:t>
            </a:r>
            <a:endParaRPr lang="en-US" sz="490" dirty="0"/>
          </a:p>
        </p:txBody>
      </p:sp>
      <p:sp>
        <p:nvSpPr>
          <p:cNvPr id="170" name="Shape 155"/>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71"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72" name="Text 156"/>
          <p:cNvSpPr/>
          <p:nvPr/>
        </p:nvSpPr>
        <p:spPr>
          <a:xfrm>
            <a:off x="1775765"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4: Bank SDP &amp; FINRA Filter</a:t>
            </a:r>
            <a:endParaRPr lang="en-US" sz="490" dirty="0"/>
          </a:p>
        </p:txBody>
      </p:sp>
      <p:sp>
        <p:nvSpPr>
          <p:cNvPr id="173" name="Shape 157"/>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74"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75" name="Text 158"/>
          <p:cNvSpPr/>
          <p:nvPr/>
        </p:nvSpPr>
        <p:spPr>
          <a:xfrm>
            <a:off x="1775765" y="5256886"/>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 2.5 Pro</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Engine (8k Budget)</a:t>
            </a:r>
            <a:endParaRPr lang="en-US" sz="490" dirty="0"/>
          </a:p>
        </p:txBody>
      </p:sp>
      <p:sp>
        <p:nvSpPr>
          <p:cNvPr id="176" name="Shape 159"/>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7"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8" name="Text 160"/>
          <p:cNvSpPr/>
          <p:nvPr/>
        </p:nvSpPr>
        <p:spPr>
          <a:xfrm>
            <a:off x="4140403" y="4230929"/>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Hop 4: PCI PAN SDP &amp; Filter</a:t>
            </a:r>
            <a:endParaRPr lang="en-US" sz="490" dirty="0"/>
          </a:p>
        </p:txBody>
      </p:sp>
      <p:sp>
        <p:nvSpPr>
          <p:cNvPr id="179" name="Shape 161"/>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80"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81" name="Text 162"/>
          <p:cNvSpPr/>
          <p:nvPr/>
        </p:nvSpPr>
        <p:spPr>
          <a:xfrm>
            <a:off x="4140403" y="4674413"/>
            <a:ext cx="588874" cy="312725"/>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Gemini</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Agent Engine (4k Cap)</a:t>
            </a:r>
            <a:endParaRPr lang="en-US" sz="490" dirty="0"/>
          </a:p>
        </p:txBody>
      </p:sp>
      <p:sp>
        <p:nvSpPr>
          <p:cNvPr id="182" name="Shape 163"/>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83"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84" name="Text 164"/>
          <p:cNvSpPr/>
          <p:nvPr/>
        </p:nvSpPr>
        <p:spPr>
          <a:xfrm>
            <a:off x="1727302" y="2162556"/>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Google Cloud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WAF &amp; DDoS • Strips X-Tenant-ID</a:t>
            </a:r>
            <a:endParaRPr lang="en-US" sz="490" dirty="0"/>
          </a:p>
        </p:txBody>
      </p:sp>
      <p:sp>
        <p:nvSpPr>
          <p:cNvPr id="185" name="Shape 165"/>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6"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7" name="Text 166"/>
          <p:cNvSpPr/>
          <p:nvPr/>
        </p:nvSpPr>
        <p:spPr>
          <a:xfrm>
            <a:off x="1727302" y="2527402"/>
            <a:ext cx="646481"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Model Armor</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Edge Prompt Injection Gate</a:t>
            </a:r>
            <a:endParaRPr lang="en-US" sz="490" dirty="0"/>
          </a:p>
        </p:txBody>
      </p:sp>
      <p:sp>
        <p:nvSpPr>
          <p:cNvPr id="188" name="Shape 167"/>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9"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90" name="Text 168"/>
          <p:cNvSpPr/>
          <p:nvPr/>
        </p:nvSpPr>
        <p:spPr>
          <a:xfrm>
            <a:off x="1762049" y="2953512"/>
            <a:ext cx="611734" cy="287122"/>
          </a:xfrm>
          <a:prstGeom prst="rect">
            <a:avLst/>
          </a:prstGeom>
          <a:noFill/>
          <a:ln/>
        </p:spPr>
        <p:txBody>
          <a:bodyPr wrap="square" lIns="0" tIns="0" rIns="0" bIns="0" rtlCol="0" anchor="ctr"/>
          <a:lstStyle/>
          <a:p>
            <a:pPr algn="l" indent="0" marL="0">
              <a:lnSpc>
                <a:spcPct val="100000"/>
              </a:lnSpc>
              <a:buNone/>
            </a:pPr>
            <a:r>
              <a:rPr lang="en-US" sz="490" b="1" dirty="0">
                <a:solidFill>
                  <a:srgbClr val="202124"/>
                </a:solidFill>
                <a:latin typeface="Arial" pitchFamily="34" charset="0"/>
                <a:ea typeface="Arial" pitchFamily="34" charset="-122"/>
                <a:cs typeface="Arial" pitchFamily="34" charset="-120"/>
              </a:rPr>
              <a:t>IAP</a:t>
            </a:r>
            <a:endParaRPr lang="en-US" sz="490" dirty="0"/>
          </a:p>
          <a:p>
            <a:pPr algn="l" indent="0" marL="0">
              <a:lnSpc>
                <a:spcPct val="100000"/>
              </a:lnSpc>
              <a:buNone/>
            </a:pPr>
            <a:r>
              <a:rPr lang="en-US" sz="420" dirty="0">
                <a:solidFill>
                  <a:srgbClr val="3C4043"/>
                </a:solidFill>
                <a:latin typeface="Arial" pitchFamily="34" charset="0"/>
                <a:ea typeface="Arial" pitchFamily="34" charset="-122"/>
                <a:cs typeface="Arial" pitchFamily="34" charset="-120"/>
              </a:rPr>
              <a:t>OBO + DPoP + KMS ECDSA Sign</a:t>
            </a:r>
            <a:endParaRPr lang="en-US" sz="490" dirty="0"/>
          </a:p>
        </p:txBody>
      </p:sp>
      <p:sp>
        <p:nvSpPr>
          <p:cNvPr id="191" name="Shape 169"/>
          <p:cNvSpPr/>
          <p:nvPr/>
        </p:nvSpPr>
        <p:spPr>
          <a:xfrm>
            <a:off x="3517697" y="1140257"/>
            <a:ext cx="148133" cy="148133"/>
          </a:xfrm>
          <a:prstGeom prst="ellipse">
            <a:avLst/>
          </a:prstGeom>
          <a:solidFill>
            <a:srgbClr val="174EA6"/>
          </a:solidFill>
          <a:ln w="10795">
            <a:solidFill>
              <a:srgbClr val="174EA6"/>
            </a:solidFill>
            <a:prstDash val="solid"/>
          </a:ln>
        </p:spPr>
      </p:sp>
      <p:sp>
        <p:nvSpPr>
          <p:cNvPr id="192" name="Text 170"/>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93" name="Shape 171"/>
          <p:cNvSpPr/>
          <p:nvPr/>
        </p:nvSpPr>
        <p:spPr>
          <a:xfrm>
            <a:off x="3717950" y="1140257"/>
            <a:ext cx="148133" cy="148133"/>
          </a:xfrm>
          <a:prstGeom prst="ellipse">
            <a:avLst/>
          </a:prstGeom>
          <a:solidFill>
            <a:srgbClr val="174EA6"/>
          </a:solidFill>
          <a:ln w="10795">
            <a:solidFill>
              <a:srgbClr val="174EA6"/>
            </a:solidFill>
            <a:prstDash val="solid"/>
          </a:ln>
        </p:spPr>
      </p:sp>
      <p:sp>
        <p:nvSpPr>
          <p:cNvPr id="194" name="Text 172"/>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5" name="Shape 173"/>
          <p:cNvSpPr/>
          <p:nvPr/>
        </p:nvSpPr>
        <p:spPr>
          <a:xfrm>
            <a:off x="3517697" y="2718511"/>
            <a:ext cx="148133" cy="148133"/>
          </a:xfrm>
          <a:prstGeom prst="ellipse">
            <a:avLst/>
          </a:prstGeom>
          <a:solidFill>
            <a:srgbClr val="174EA6"/>
          </a:solidFill>
          <a:ln w="10795">
            <a:solidFill>
              <a:srgbClr val="174EA6"/>
            </a:solidFill>
            <a:prstDash val="solid"/>
          </a:ln>
        </p:spPr>
      </p:sp>
      <p:sp>
        <p:nvSpPr>
          <p:cNvPr id="196" name="Text 174"/>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7" name="Shape 175"/>
          <p:cNvSpPr/>
          <p:nvPr/>
        </p:nvSpPr>
        <p:spPr>
          <a:xfrm>
            <a:off x="3717950" y="2718511"/>
            <a:ext cx="148133" cy="148133"/>
          </a:xfrm>
          <a:prstGeom prst="ellipse">
            <a:avLst/>
          </a:prstGeom>
          <a:solidFill>
            <a:srgbClr val="174EA6"/>
          </a:solidFill>
          <a:ln w="10795">
            <a:solidFill>
              <a:srgbClr val="174EA6"/>
            </a:solidFill>
            <a:prstDash val="solid"/>
          </a:ln>
        </p:spPr>
      </p:sp>
      <p:sp>
        <p:nvSpPr>
          <p:cNvPr id="198" name="Text 176"/>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9" name="Shape 177"/>
          <p:cNvSpPr/>
          <p:nvPr/>
        </p:nvSpPr>
        <p:spPr>
          <a:xfrm>
            <a:off x="2813609" y="3392424"/>
            <a:ext cx="148133" cy="148133"/>
          </a:xfrm>
          <a:prstGeom prst="ellipse">
            <a:avLst/>
          </a:prstGeom>
          <a:solidFill>
            <a:srgbClr val="174EA6"/>
          </a:solidFill>
          <a:ln w="10795">
            <a:solidFill>
              <a:srgbClr val="174EA6"/>
            </a:solidFill>
            <a:prstDash val="solid"/>
          </a:ln>
        </p:spPr>
      </p:sp>
      <p:sp>
        <p:nvSpPr>
          <p:cNvPr id="200" name="Text 178"/>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201" name="Shape 179"/>
          <p:cNvSpPr/>
          <p:nvPr/>
        </p:nvSpPr>
        <p:spPr>
          <a:xfrm>
            <a:off x="3735324" y="3392424"/>
            <a:ext cx="148133" cy="148133"/>
          </a:xfrm>
          <a:prstGeom prst="ellipse">
            <a:avLst/>
          </a:prstGeom>
          <a:solidFill>
            <a:srgbClr val="174EA6"/>
          </a:solidFill>
          <a:ln w="10795">
            <a:solidFill>
              <a:srgbClr val="174EA6"/>
            </a:solidFill>
            <a:prstDash val="solid"/>
          </a:ln>
        </p:spPr>
      </p:sp>
      <p:sp>
        <p:nvSpPr>
          <p:cNvPr id="202" name="Text 180"/>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203" name="Shape 181"/>
          <p:cNvSpPr/>
          <p:nvPr/>
        </p:nvSpPr>
        <p:spPr>
          <a:xfrm>
            <a:off x="1579169" y="4600346"/>
            <a:ext cx="148133" cy="148133"/>
          </a:xfrm>
          <a:prstGeom prst="ellipse">
            <a:avLst/>
          </a:prstGeom>
          <a:solidFill>
            <a:srgbClr val="174EA6"/>
          </a:solidFill>
          <a:ln w="10795">
            <a:solidFill>
              <a:srgbClr val="174EA6"/>
            </a:solidFill>
            <a:prstDash val="solid"/>
          </a:ln>
        </p:spPr>
      </p:sp>
      <p:sp>
        <p:nvSpPr>
          <p:cNvPr id="204" name="Text 182"/>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205" name="Shape 183"/>
          <p:cNvSpPr/>
          <p:nvPr/>
        </p:nvSpPr>
        <p:spPr>
          <a:xfrm>
            <a:off x="1579169" y="4808830"/>
            <a:ext cx="148133" cy="148133"/>
          </a:xfrm>
          <a:prstGeom prst="ellipse">
            <a:avLst/>
          </a:prstGeom>
          <a:solidFill>
            <a:srgbClr val="174EA6"/>
          </a:solidFill>
          <a:ln w="10795">
            <a:solidFill>
              <a:srgbClr val="174EA6"/>
            </a:solidFill>
            <a:prstDash val="solid"/>
          </a:ln>
        </p:spPr>
      </p:sp>
      <p:sp>
        <p:nvSpPr>
          <p:cNvPr id="206" name="Text 184"/>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7" name="Shape 185"/>
          <p:cNvSpPr/>
          <p:nvPr/>
        </p:nvSpPr>
        <p:spPr>
          <a:xfrm>
            <a:off x="1579169" y="5634533"/>
            <a:ext cx="148133" cy="148133"/>
          </a:xfrm>
          <a:prstGeom prst="ellipse">
            <a:avLst/>
          </a:prstGeom>
          <a:solidFill>
            <a:srgbClr val="174EA6"/>
          </a:solidFill>
          <a:ln w="10795">
            <a:solidFill>
              <a:srgbClr val="174EA6"/>
            </a:solidFill>
            <a:prstDash val="solid"/>
          </a:ln>
        </p:spPr>
      </p:sp>
      <p:sp>
        <p:nvSpPr>
          <p:cNvPr id="208" name="Text 186"/>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9" name="Shape 187"/>
          <p:cNvSpPr/>
          <p:nvPr/>
        </p:nvSpPr>
        <p:spPr>
          <a:xfrm>
            <a:off x="5339182" y="3390595"/>
            <a:ext cx="760781" cy="142646"/>
          </a:xfrm>
          <a:prstGeom prst="roundRect">
            <a:avLst>
              <a:gd name="adj" fmla="val 28846"/>
            </a:avLst>
          </a:prstGeom>
          <a:solidFill>
            <a:srgbClr val="FFFFFF"/>
          </a:solidFill>
          <a:ln w="5715">
            <a:solidFill>
              <a:srgbClr val="DADCE0"/>
            </a:solidFill>
            <a:prstDash val="solid"/>
          </a:ln>
        </p:spPr>
      </p:sp>
      <p:sp>
        <p:nvSpPr>
          <p:cNvPr id="210" name="Text 188"/>
          <p:cNvSpPr/>
          <p:nvPr/>
        </p:nvSpPr>
        <p:spPr>
          <a:xfrm>
            <a:off x="5357470" y="3396082"/>
            <a:ext cx="72420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 and</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observability • monitoring</a:t>
            </a:r>
            <a:endParaRPr lang="en-US" sz="385" dirty="0"/>
          </a:p>
        </p:txBody>
      </p:sp>
      <p:sp>
        <p:nvSpPr>
          <p:cNvPr id="211" name="Shape 189"/>
          <p:cNvSpPr/>
          <p:nvPr/>
        </p:nvSpPr>
        <p:spPr>
          <a:xfrm>
            <a:off x="2937053" y="4850892"/>
            <a:ext cx="293522" cy="142646"/>
          </a:xfrm>
          <a:prstGeom prst="roundRect">
            <a:avLst>
              <a:gd name="adj" fmla="val 28846"/>
            </a:avLst>
          </a:prstGeom>
          <a:solidFill>
            <a:srgbClr val="FFFFFF"/>
          </a:solidFill>
          <a:ln w="5715">
            <a:solidFill>
              <a:srgbClr val="DADCE0"/>
            </a:solidFill>
            <a:prstDash val="solid"/>
          </a:ln>
        </p:spPr>
      </p:sp>
      <p:sp>
        <p:nvSpPr>
          <p:cNvPr id="212" name="Text 190"/>
          <p:cNvSpPr/>
          <p:nvPr/>
        </p:nvSpPr>
        <p:spPr>
          <a:xfrm>
            <a:off x="2955341" y="4856378"/>
            <a:ext cx="25694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3" name="Shape 191"/>
          <p:cNvSpPr/>
          <p:nvPr/>
        </p:nvSpPr>
        <p:spPr>
          <a:xfrm>
            <a:off x="2871216" y="5485486"/>
            <a:ext cx="424282" cy="142646"/>
          </a:xfrm>
          <a:prstGeom prst="roundRect">
            <a:avLst>
              <a:gd name="adj" fmla="val 28846"/>
            </a:avLst>
          </a:prstGeom>
          <a:solidFill>
            <a:srgbClr val="FFFFFF"/>
          </a:solidFill>
          <a:ln w="5715">
            <a:solidFill>
              <a:srgbClr val="DADCE0"/>
            </a:solidFill>
            <a:prstDash val="solid"/>
          </a:ln>
        </p:spPr>
      </p:sp>
      <p:sp>
        <p:nvSpPr>
          <p:cNvPr id="214" name="Text 192"/>
          <p:cNvSpPr/>
          <p:nvPr/>
        </p:nvSpPr>
        <p:spPr>
          <a:xfrm>
            <a:off x="2889504"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Agent-tool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interaction</a:t>
            </a:r>
            <a:endParaRPr lang="en-US" sz="385" dirty="0"/>
          </a:p>
        </p:txBody>
      </p:sp>
      <p:sp>
        <p:nvSpPr>
          <p:cNvPr id="215" name="Shape 193"/>
          <p:cNvSpPr/>
          <p:nvPr/>
        </p:nvSpPr>
        <p:spPr>
          <a:xfrm>
            <a:off x="5301691" y="4850892"/>
            <a:ext cx="293522" cy="142646"/>
          </a:xfrm>
          <a:prstGeom prst="roundRect">
            <a:avLst>
              <a:gd name="adj" fmla="val 28846"/>
            </a:avLst>
          </a:prstGeom>
          <a:solidFill>
            <a:srgbClr val="FFFFFF"/>
          </a:solidFill>
          <a:ln w="5715">
            <a:solidFill>
              <a:srgbClr val="DADCE0"/>
            </a:solidFill>
            <a:prstDash val="solid"/>
          </a:ln>
        </p:spPr>
      </p:sp>
      <p:sp>
        <p:nvSpPr>
          <p:cNvPr id="216" name="Text 194"/>
          <p:cNvSpPr/>
          <p:nvPr/>
        </p:nvSpPr>
        <p:spPr>
          <a:xfrm>
            <a:off x="5319979" y="4856378"/>
            <a:ext cx="25694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RAG</a:t>
            </a:r>
            <a:endParaRPr lang="en-US" sz="385" dirty="0"/>
          </a:p>
        </p:txBody>
      </p:sp>
      <p:sp>
        <p:nvSpPr>
          <p:cNvPr id="217" name="Shape 195"/>
          <p:cNvSpPr/>
          <p:nvPr/>
        </p:nvSpPr>
        <p:spPr>
          <a:xfrm>
            <a:off x="5235854" y="5485486"/>
            <a:ext cx="424282" cy="142646"/>
          </a:xfrm>
          <a:prstGeom prst="roundRect">
            <a:avLst>
              <a:gd name="adj" fmla="val 28846"/>
            </a:avLst>
          </a:prstGeom>
          <a:solidFill>
            <a:srgbClr val="FFFFFF"/>
          </a:solidFill>
          <a:ln w="5715">
            <a:solidFill>
              <a:srgbClr val="DADCE0"/>
            </a:solidFill>
            <a:prstDash val="solid"/>
          </a:ln>
        </p:spPr>
      </p:sp>
      <p:sp>
        <p:nvSpPr>
          <p:cNvPr id="218" name="Text 196"/>
          <p:cNvSpPr/>
          <p:nvPr/>
        </p:nvSpPr>
        <p:spPr>
          <a:xfrm>
            <a:off x="5254142" y="5490972"/>
            <a:ext cx="387706"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Agent-tool</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interaction</a:t>
            </a:r>
            <a:endParaRPr lang="en-US" sz="385" dirty="0"/>
          </a:p>
        </p:txBody>
      </p:sp>
      <p:sp>
        <p:nvSpPr>
          <p:cNvPr id="219" name="Shape 197"/>
          <p:cNvSpPr/>
          <p:nvPr/>
        </p:nvSpPr>
        <p:spPr>
          <a:xfrm>
            <a:off x="1757477" y="5637276"/>
            <a:ext cx="372161" cy="142646"/>
          </a:xfrm>
          <a:prstGeom prst="roundRect">
            <a:avLst>
              <a:gd name="adj" fmla="val 28846"/>
            </a:avLst>
          </a:prstGeom>
          <a:solidFill>
            <a:srgbClr val="FFFFFF"/>
          </a:solidFill>
          <a:ln w="5715">
            <a:solidFill>
              <a:srgbClr val="DADCE0"/>
            </a:solidFill>
            <a:prstDash val="solid"/>
          </a:ln>
        </p:spPr>
      </p:sp>
      <p:sp>
        <p:nvSpPr>
          <p:cNvPr id="220" name="Text 198"/>
          <p:cNvSpPr/>
          <p:nvPr/>
        </p:nvSpPr>
        <p:spPr>
          <a:xfrm>
            <a:off x="1775765" y="5642762"/>
            <a:ext cx="335585" cy="13167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Generates</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response</a:t>
            </a:r>
            <a:endParaRPr lang="en-US" sz="385" dirty="0"/>
          </a:p>
        </p:txBody>
      </p:sp>
      <p:sp>
        <p:nvSpPr>
          <p:cNvPr id="221" name="Shape 199"/>
          <p:cNvSpPr/>
          <p:nvPr/>
        </p:nvSpPr>
        <p:spPr>
          <a:xfrm>
            <a:off x="3905402" y="3389681"/>
            <a:ext cx="606247" cy="137160"/>
          </a:xfrm>
          <a:prstGeom prst="roundRect">
            <a:avLst>
              <a:gd name="adj" fmla="val 30000"/>
            </a:avLst>
          </a:prstGeom>
          <a:solidFill>
            <a:srgbClr val="FFFFFF"/>
          </a:solidFill>
          <a:ln w="5715">
            <a:solidFill>
              <a:srgbClr val="DADCE0"/>
            </a:solidFill>
            <a:prstDash val="solid"/>
          </a:ln>
        </p:spPr>
      </p:sp>
      <p:sp>
        <p:nvSpPr>
          <p:cNvPr id="222" name="Text 200"/>
          <p:cNvSpPr/>
          <p:nvPr/>
        </p:nvSpPr>
        <p:spPr>
          <a:xfrm>
            <a:off x="3923690" y="3395167"/>
            <a:ext cx="569671"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Sanitized response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from tenant</a:t>
            </a:r>
            <a:endParaRPr lang="en-US" sz="385" dirty="0"/>
          </a:p>
        </p:txBody>
      </p:sp>
      <p:sp>
        <p:nvSpPr>
          <p:cNvPr id="223" name="Shape 201"/>
          <p:cNvSpPr/>
          <p:nvPr/>
        </p:nvSpPr>
        <p:spPr>
          <a:xfrm>
            <a:off x="2983687" y="3389681"/>
            <a:ext cx="475488" cy="137160"/>
          </a:xfrm>
          <a:prstGeom prst="roundRect">
            <a:avLst>
              <a:gd name="adj" fmla="val 30000"/>
            </a:avLst>
          </a:prstGeom>
          <a:solidFill>
            <a:srgbClr val="FFFFFF"/>
          </a:solidFill>
          <a:ln w="5715">
            <a:solidFill>
              <a:srgbClr val="DADCE0"/>
            </a:solidFill>
            <a:prstDash val="solid"/>
          </a:ln>
        </p:spPr>
      </p:sp>
      <p:sp>
        <p:nvSpPr>
          <p:cNvPr id="224" name="Text 202"/>
          <p:cNvSpPr/>
          <p:nvPr/>
        </p:nvSpPr>
        <p:spPr>
          <a:xfrm>
            <a:off x="3001975" y="3395167"/>
            <a:ext cx="438912" cy="126187"/>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Route request</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to tenant</a:t>
            </a:r>
            <a:endParaRPr lang="en-US" sz="385" dirty="0"/>
          </a:p>
        </p:txBody>
      </p:sp>
      <p:sp>
        <p:nvSpPr>
          <p:cNvPr id="225" name="Shape 203"/>
          <p:cNvSpPr/>
          <p:nvPr/>
        </p:nvSpPr>
        <p:spPr>
          <a:xfrm>
            <a:off x="2550262" y="2908706"/>
            <a:ext cx="502006" cy="133502"/>
          </a:xfrm>
          <a:prstGeom prst="roundRect">
            <a:avLst>
              <a:gd name="adj" fmla="val 30822"/>
            </a:avLst>
          </a:prstGeom>
          <a:solidFill>
            <a:srgbClr val="FFFFFF"/>
          </a:solidFill>
          <a:ln w="5715">
            <a:solidFill>
              <a:srgbClr val="DADCE0"/>
            </a:solidFill>
            <a:prstDash val="solid"/>
          </a:ln>
        </p:spPr>
      </p:sp>
      <p:sp>
        <p:nvSpPr>
          <p:cNvPr id="226" name="Text 204"/>
          <p:cNvSpPr/>
          <p:nvPr/>
        </p:nvSpPr>
        <p:spPr>
          <a:xfrm>
            <a:off x="2568550" y="2914193"/>
            <a:ext cx="465430"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User</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authentication</a:t>
            </a:r>
            <a:endParaRPr lang="en-US" sz="385" dirty="0"/>
          </a:p>
        </p:txBody>
      </p:sp>
      <p:sp>
        <p:nvSpPr>
          <p:cNvPr id="227" name="Shape 205"/>
          <p:cNvSpPr/>
          <p:nvPr/>
        </p:nvSpPr>
        <p:spPr>
          <a:xfrm>
            <a:off x="1757477" y="4623206"/>
            <a:ext cx="554126" cy="103327"/>
          </a:xfrm>
          <a:prstGeom prst="roundRect">
            <a:avLst>
              <a:gd name="adj" fmla="val 39823"/>
            </a:avLst>
          </a:prstGeom>
          <a:solidFill>
            <a:srgbClr val="FFFFFF"/>
          </a:solidFill>
          <a:ln w="5715">
            <a:solidFill>
              <a:srgbClr val="DADCE0"/>
            </a:solidFill>
            <a:prstDash val="solid"/>
          </a:ln>
        </p:spPr>
      </p:sp>
      <p:sp>
        <p:nvSpPr>
          <p:cNvPr id="228" name="Text 206"/>
          <p:cNvSpPr/>
          <p:nvPr/>
        </p:nvSpPr>
        <p:spPr>
          <a:xfrm>
            <a:off x="1775765" y="4628693"/>
            <a:ext cx="517550"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request</a:t>
            </a:r>
            <a:endParaRPr lang="en-US" sz="385" dirty="0"/>
          </a:p>
        </p:txBody>
      </p:sp>
      <p:sp>
        <p:nvSpPr>
          <p:cNvPr id="229" name="Shape 207"/>
          <p:cNvSpPr/>
          <p:nvPr/>
        </p:nvSpPr>
        <p:spPr>
          <a:xfrm>
            <a:off x="1757477" y="4831690"/>
            <a:ext cx="580644" cy="103327"/>
          </a:xfrm>
          <a:prstGeom prst="roundRect">
            <a:avLst>
              <a:gd name="adj" fmla="val 39823"/>
            </a:avLst>
          </a:prstGeom>
          <a:solidFill>
            <a:srgbClr val="FFFFFF"/>
          </a:solidFill>
          <a:ln w="5715">
            <a:solidFill>
              <a:srgbClr val="DADCE0"/>
            </a:solidFill>
            <a:prstDash val="solid"/>
          </a:ln>
        </p:spPr>
      </p:sp>
      <p:sp>
        <p:nvSpPr>
          <p:cNvPr id="230" name="Text 208"/>
          <p:cNvSpPr/>
          <p:nvPr/>
        </p:nvSpPr>
        <p:spPr>
          <a:xfrm>
            <a:off x="1775765" y="4837176"/>
            <a:ext cx="544068"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 response</a:t>
            </a:r>
            <a:endParaRPr lang="en-US" sz="385" dirty="0"/>
          </a:p>
        </p:txBody>
      </p:sp>
      <p:sp>
        <p:nvSpPr>
          <p:cNvPr id="231" name="Shape 209"/>
          <p:cNvSpPr/>
          <p:nvPr/>
        </p:nvSpPr>
        <p:spPr>
          <a:xfrm>
            <a:off x="2510942" y="2117750"/>
            <a:ext cx="345643" cy="133502"/>
          </a:xfrm>
          <a:prstGeom prst="roundRect">
            <a:avLst>
              <a:gd name="adj" fmla="val 30822"/>
            </a:avLst>
          </a:prstGeom>
          <a:solidFill>
            <a:srgbClr val="FFFFFF"/>
          </a:solidFill>
          <a:ln w="5715">
            <a:solidFill>
              <a:srgbClr val="DADCE0"/>
            </a:solidFill>
            <a:prstDash val="solid"/>
          </a:ln>
        </p:spPr>
      </p:sp>
      <p:sp>
        <p:nvSpPr>
          <p:cNvPr id="232" name="Text 210"/>
          <p:cNvSpPr/>
          <p:nvPr/>
        </p:nvSpPr>
        <p:spPr>
          <a:xfrm>
            <a:off x="2529230" y="2123237"/>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Security</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policies</a:t>
            </a:r>
            <a:endParaRPr lang="en-US" sz="385" dirty="0"/>
          </a:p>
        </p:txBody>
      </p:sp>
      <p:sp>
        <p:nvSpPr>
          <p:cNvPr id="233" name="Shape 211"/>
          <p:cNvSpPr/>
          <p:nvPr/>
        </p:nvSpPr>
        <p:spPr>
          <a:xfrm>
            <a:off x="2510942" y="2717597"/>
            <a:ext cx="345643" cy="133502"/>
          </a:xfrm>
          <a:prstGeom prst="roundRect">
            <a:avLst>
              <a:gd name="adj" fmla="val 30822"/>
            </a:avLst>
          </a:prstGeom>
          <a:solidFill>
            <a:srgbClr val="FFFFFF"/>
          </a:solidFill>
          <a:ln w="5715">
            <a:solidFill>
              <a:srgbClr val="DADCE0"/>
            </a:solidFill>
            <a:prstDash val="solid"/>
          </a:ln>
        </p:spPr>
      </p:sp>
      <p:sp>
        <p:nvSpPr>
          <p:cNvPr id="234" name="Text 212"/>
          <p:cNvSpPr/>
          <p:nvPr/>
        </p:nvSpPr>
        <p:spPr>
          <a:xfrm>
            <a:off x="2529230" y="2723083"/>
            <a:ext cx="309067" cy="122530"/>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Sanitize</a:t>
            </a:r>
            <a:endParaRPr lang="en-US" sz="385" dirty="0"/>
          </a:p>
          <a:p>
            <a:pPr algn="ctr" indent="0" marL="0">
              <a:lnSpc>
                <a:spcPct val="100000"/>
              </a:lnSpc>
              <a:buNone/>
            </a:pPr>
            <a:r>
              <a:rPr lang="en-US" sz="350" dirty="0">
                <a:solidFill>
                  <a:srgbClr val="202124"/>
                </a:solidFill>
                <a:latin typeface="Arial" pitchFamily="34" charset="0"/>
                <a:ea typeface="Arial" pitchFamily="34" charset="-122"/>
                <a:cs typeface="Arial" pitchFamily="34" charset="-120"/>
              </a:rPr>
              <a:t>prompt</a:t>
            </a:r>
            <a:endParaRPr lang="en-US" sz="385" dirty="0"/>
          </a:p>
        </p:txBody>
      </p:sp>
      <p:sp>
        <p:nvSpPr>
          <p:cNvPr id="235" name="Shape 213"/>
          <p:cNvSpPr/>
          <p:nvPr/>
        </p:nvSpPr>
        <p:spPr>
          <a:xfrm>
            <a:off x="3888029" y="1163117"/>
            <a:ext cx="345643" cy="103327"/>
          </a:xfrm>
          <a:prstGeom prst="roundRect">
            <a:avLst>
              <a:gd name="adj" fmla="val 39823"/>
            </a:avLst>
          </a:prstGeom>
          <a:solidFill>
            <a:srgbClr val="FFFFFF"/>
          </a:solidFill>
          <a:ln w="5715">
            <a:solidFill>
              <a:srgbClr val="DADCE0"/>
            </a:solidFill>
            <a:prstDash val="solid"/>
          </a:ln>
        </p:spPr>
      </p:sp>
      <p:sp>
        <p:nvSpPr>
          <p:cNvPr id="236" name="Text 214"/>
          <p:cNvSpPr/>
          <p:nvPr/>
        </p:nvSpPr>
        <p:spPr>
          <a:xfrm>
            <a:off x="3906317" y="116860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7" name="Shape 215"/>
          <p:cNvSpPr/>
          <p:nvPr/>
        </p:nvSpPr>
        <p:spPr>
          <a:xfrm>
            <a:off x="3888029" y="2740457"/>
            <a:ext cx="345643" cy="103327"/>
          </a:xfrm>
          <a:prstGeom prst="roundRect">
            <a:avLst>
              <a:gd name="adj" fmla="val 39823"/>
            </a:avLst>
          </a:prstGeom>
          <a:solidFill>
            <a:srgbClr val="FFFFFF"/>
          </a:solidFill>
          <a:ln w="5715">
            <a:solidFill>
              <a:srgbClr val="DADCE0"/>
            </a:solidFill>
            <a:prstDash val="solid"/>
          </a:ln>
        </p:spPr>
      </p:sp>
      <p:sp>
        <p:nvSpPr>
          <p:cNvPr id="238" name="Text 216"/>
          <p:cNvSpPr/>
          <p:nvPr/>
        </p:nvSpPr>
        <p:spPr>
          <a:xfrm>
            <a:off x="3906317" y="2745943"/>
            <a:ext cx="309067"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Response</a:t>
            </a:r>
            <a:endParaRPr lang="en-US" sz="385" dirty="0"/>
          </a:p>
        </p:txBody>
      </p:sp>
      <p:sp>
        <p:nvSpPr>
          <p:cNvPr id="239" name="Shape 217"/>
          <p:cNvSpPr/>
          <p:nvPr/>
        </p:nvSpPr>
        <p:spPr>
          <a:xfrm>
            <a:off x="3167482" y="1163117"/>
            <a:ext cx="320040" cy="103327"/>
          </a:xfrm>
          <a:prstGeom prst="roundRect">
            <a:avLst>
              <a:gd name="adj" fmla="val 39823"/>
            </a:avLst>
          </a:prstGeom>
          <a:solidFill>
            <a:srgbClr val="FFFFFF"/>
          </a:solidFill>
          <a:ln w="5715">
            <a:solidFill>
              <a:srgbClr val="DADCE0"/>
            </a:solidFill>
            <a:prstDash val="solid"/>
          </a:ln>
        </p:spPr>
      </p:sp>
      <p:sp>
        <p:nvSpPr>
          <p:cNvPr id="240" name="Text 218"/>
          <p:cNvSpPr/>
          <p:nvPr/>
        </p:nvSpPr>
        <p:spPr>
          <a:xfrm>
            <a:off x="3185770" y="116860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1" name="Shape 219"/>
          <p:cNvSpPr/>
          <p:nvPr/>
        </p:nvSpPr>
        <p:spPr>
          <a:xfrm>
            <a:off x="3167482" y="2740457"/>
            <a:ext cx="320040" cy="103327"/>
          </a:xfrm>
          <a:prstGeom prst="roundRect">
            <a:avLst>
              <a:gd name="adj" fmla="val 39823"/>
            </a:avLst>
          </a:prstGeom>
          <a:solidFill>
            <a:srgbClr val="FFFFFF"/>
          </a:solidFill>
          <a:ln w="5715">
            <a:solidFill>
              <a:srgbClr val="DADCE0"/>
            </a:solidFill>
            <a:prstDash val="solid"/>
          </a:ln>
        </p:spPr>
      </p:sp>
      <p:sp>
        <p:nvSpPr>
          <p:cNvPr id="242" name="Text 220"/>
          <p:cNvSpPr/>
          <p:nvPr/>
        </p:nvSpPr>
        <p:spPr>
          <a:xfrm>
            <a:off x="3185770" y="2745943"/>
            <a:ext cx="283464" cy="92354"/>
          </a:xfrm>
          <a:prstGeom prst="rect">
            <a:avLst/>
          </a:prstGeom>
          <a:noFill/>
          <a:ln/>
        </p:spPr>
        <p:txBody>
          <a:bodyPr wrap="square" lIns="0" tIns="0" rIns="0" bIns="0" rtlCol="0" anchor="ctr"/>
          <a:lstStyle/>
          <a:p>
            <a:pPr algn="ctr" indent="0" marL="0">
              <a:lnSpc>
                <a:spcPct val="100000"/>
              </a:lnSpc>
              <a:buNone/>
            </a:pPr>
            <a:r>
              <a:rPr lang="en-US" sz="385" b="1" dirty="0">
                <a:solidFill>
                  <a:srgbClr val="202124"/>
                </a:solidFill>
                <a:latin typeface="Arial" pitchFamily="34" charset="0"/>
                <a:ea typeface="Arial" pitchFamily="34" charset="-122"/>
                <a:cs typeface="Arial" pitchFamily="34" charset="-120"/>
              </a:rPr>
              <a:t>Request</a:t>
            </a:r>
            <a:endParaRPr lang="en-US" sz="385" dirty="0"/>
          </a:p>
        </p:txBody>
      </p:sp>
      <p:sp>
        <p:nvSpPr>
          <p:cNvPr id="243" name="Text 221"/>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VIS-WS1-CLOUD-ARCH-CENTER-5HOP-BASELINE (diagrams/ws1-cloud-arch-center-5hop-baseline.drawio)  •  100% Native Editable Shapes + 4-Zone Architecture Center Guide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0740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425696"/>
            <a:ext cx="859536" cy="256032"/>
          </a:xfrm>
          <a:prstGeom prst="roundRect">
            <a:avLst>
              <a:gd name="adj" fmla="val 17857"/>
            </a:avLst>
          </a:prstGeom>
          <a:solidFill>
            <a:srgbClr val="54728C"/>
          </a:solidFill>
          <a:ln/>
        </p:spPr>
      </p:sp>
      <p:sp>
        <p:nvSpPr>
          <p:cNvPr id="72" name="Text 70"/>
          <p:cNvSpPr/>
          <p:nvPr/>
        </p:nvSpPr>
        <p:spPr>
          <a:xfrm>
            <a:off x="6272784" y="4425696"/>
            <a:ext cx="859536"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RLS + 3LO</a:t>
            </a:r>
            <a:endParaRPr lang="en-US" sz="780" dirty="0"/>
          </a:p>
        </p:txBody>
      </p:sp>
      <p:sp>
        <p:nvSpPr>
          <p:cNvPr id="73" name="Text 71"/>
          <p:cNvSpPr/>
          <p:nvPr/>
        </p:nvSpPr>
        <p:spPr>
          <a:xfrm>
            <a:off x="5248656" y="4718304"/>
            <a:ext cx="1938528" cy="411480"/>
          </a:xfrm>
          <a:prstGeom prst="rect">
            <a:avLst/>
          </a:prstGeom>
          <a:noFill/>
          <a:ln/>
        </p:spPr>
        <p:txBody>
          <a:bodyPr wrap="square" rtlCol="0" anchor="ctr"/>
          <a:lstStyle/>
          <a:p>
            <a:pPr indent="0" marL="0">
              <a:buNone/>
            </a:pPr>
            <a:r>
              <a:rPr lang="en-US" sz="770" b="1" dirty="0">
                <a:solidFill>
                  <a:srgbClr val="3C4043"/>
                </a:solidFill>
                <a:latin typeface="Google Sans" pitchFamily="34" charset="0"/>
                <a:ea typeface="Google Sans" pitchFamily="34" charset="-122"/>
                <a:cs typeface="Google Sans" pitchFamily="34" charset="-120"/>
              </a:rPr>
              <a:t>Hop 5 binds AlloyDB</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RLS &amp; vaults per-user</a:t>
            </a:r>
            <a:endParaRPr lang="en-US" sz="770" dirty="0"/>
          </a:p>
          <a:p>
            <a:pPr indent="0" marL="0">
              <a:buNone/>
            </a:pPr>
            <a:r>
              <a:rPr lang="en-US" sz="770" b="1" dirty="0">
                <a:solidFill>
                  <a:srgbClr val="3C4043"/>
                </a:solidFill>
                <a:latin typeface="Google Sans" pitchFamily="34" charset="0"/>
                <a:ea typeface="Google Sans" pitchFamily="34" charset="-122"/>
                <a:cs typeface="Google Sans" pitchFamily="34" charset="-120"/>
              </a:rPr>
              <a:t>3LO ({tenant}:{user})</a:t>
            </a:r>
            <a:endParaRPr lang="en-US" sz="770" dirty="0"/>
          </a:p>
        </p:txBody>
      </p:sp>
      <p:sp>
        <p:nvSpPr>
          <p:cNvPr id="74" name="Shape 72"/>
          <p:cNvSpPr/>
          <p:nvPr/>
        </p:nvSpPr>
        <p:spPr>
          <a:xfrm>
            <a:off x="7342632" y="4809744"/>
            <a:ext cx="2139696" cy="0"/>
          </a:xfrm>
          <a:prstGeom prst="line">
            <a:avLst/>
          </a:prstGeom>
          <a:noFill/>
          <a:ln w="19050">
            <a:solidFill>
              <a:srgbClr val="0F2942"/>
            </a:solidFill>
            <a:prstDash val="solid"/>
            <a:tailEnd type="triangle" w="sm" len="sm"/>
          </a:ln>
        </p:spPr>
      </p:sp>
      <p:sp>
        <p:nvSpPr>
          <p:cNvPr id="75" name="Text 73"/>
          <p:cNvSpPr/>
          <p:nvPr/>
        </p:nvSpPr>
        <p:spPr>
          <a:xfrm>
            <a:off x="7735824" y="4590288"/>
            <a:ext cx="1682496" cy="182880"/>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SET LOCAL tenant_id</a:t>
            </a:r>
            <a:endParaRPr lang="en-US" sz="78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none" rtlCol="0" anchor="ctr"/>
          <a:lstStyle/>
          <a:p>
            <a:pPr algn="l" indent="0" marL="0">
              <a:buNone/>
            </a:pPr>
            <a:r>
              <a:rPr lang="en-US" sz="74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2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40" b="1" dirty="0">
                <a:solidFill>
                  <a:srgbClr val="3C4043"/>
                </a:solidFill>
                <a:latin typeface="Google Sans" pitchFamily="34" charset="0"/>
                <a:ea typeface="Google Sans" pitchFamily="34" charset="-122"/>
                <a:cs typeface="Google Sans" pitchFamily="34" charset="-120"/>
              </a:rPr>
              <a:t>Proprietary + Confidential</a:t>
            </a:r>
            <a:endParaRPr lang="en-US" sz="74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Feature-Flagged Native Hook</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(feature-flagged native adapter)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TELEMETRY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sp>
        <p:nvSpPr>
          <p:cNvPr id="20" name="Shape 18"/>
          <p:cNvSpPr/>
          <p:nvPr/>
        </p:nvSpPr>
        <p:spPr>
          <a:xfrm>
            <a:off x="493776" y="1097280"/>
            <a:ext cx="6565392" cy="2048256"/>
          </a:xfrm>
          <a:prstGeom prst="roundRect">
            <a:avLst>
              <a:gd name="adj" fmla="val 2232"/>
            </a:avLst>
          </a:prstGeom>
          <a:solidFill>
            <a:srgbClr val="FFFFFF"/>
          </a:solidFill>
          <a:ln w="10160">
            <a:solidFill>
              <a:srgbClr val="DADCE0"/>
            </a:solidFill>
            <a:prstDash val="solid"/>
          </a:ln>
        </p:spPr>
      </p:sp>
      <p:sp>
        <p:nvSpPr>
          <p:cNvPr id="21" name="Text 19"/>
          <p:cNvSpPr/>
          <p:nvPr/>
        </p:nvSpPr>
        <p:spPr>
          <a:xfrm>
            <a:off x="621792" y="1170432"/>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ramp-portal-dev (#248990048888) &amp; bbar-138hf0 (#48439189383) serving Pattern A/B/C endpoints (HTTP 200)</a:t>
            </a:r>
            <a:endParaRPr lang="en-US" sz="920" dirty="0"/>
          </a:p>
        </p:txBody>
      </p:sp>
      <p:sp>
        <p:nvSpPr>
          <p:cNvPr id="22" name="Text 20"/>
          <p:cNvSpPr/>
          <p:nvPr/>
        </p:nvSpPr>
        <p:spPr>
          <a:xfrm>
            <a:off x="621792" y="1719072"/>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Live GCP: ramp-portal-dev (#248990048888) • bbar-138hf0 (#48439189383)</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Runtime: Cloud Run Gen2 (gVisor runsc, 100% traffic)</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CLI Gate: run_deep_forensic_audit.py (13/13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core-cymbal-agent/runtime_pipeline.py</a:t>
            </a:r>
            <a:endParaRPr lang="en-US" sz="840" dirty="0"/>
          </a:p>
        </p:txBody>
      </p:sp>
      <p:sp>
        <p:nvSpPr>
          <p:cNvPr id="23" name="Text 21"/>
          <p:cNvSpPr/>
          <p:nvPr/>
        </p:nvSpPr>
        <p:spPr>
          <a:xfrm>
            <a:off x="621792" y="2852928"/>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core-cymbal-agent/runtime_pipeline.py</a:t>
            </a:r>
            <a:endParaRPr lang="en-US" sz="720" dirty="0"/>
          </a:p>
        </p:txBody>
      </p:sp>
      <p:sp>
        <p:nvSpPr>
          <p:cNvPr id="24"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5" name="Shape 23"/>
          <p:cNvSpPr/>
          <p:nvPr/>
        </p:nvSpPr>
        <p:spPr>
          <a:xfrm>
            <a:off x="384048" y="3511296"/>
            <a:ext cx="6784848" cy="45720"/>
          </a:xfrm>
          <a:prstGeom prst="rect">
            <a:avLst/>
          </a:prstGeom>
          <a:solidFill>
            <a:srgbClr val="EA4335"/>
          </a:solidFill>
          <a:ln/>
        </p:spPr>
      </p:sp>
      <p:sp>
        <p:nvSpPr>
          <p:cNvPr id="26"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DUAL-PLANE GCP 20/20, SAAS 30/30 &amp; BEFORE/AFTER 3P UIs</a:t>
            </a:r>
            <a:endParaRPr lang="en-US" sz="820" dirty="0"/>
          </a:p>
        </p:txBody>
      </p:sp>
      <p:sp>
        <p:nvSpPr>
          <p:cNvPr id="27" name="Shape 25"/>
          <p:cNvSpPr/>
          <p:nvPr/>
        </p:nvSpPr>
        <p:spPr>
          <a:xfrm>
            <a:off x="493776" y="3858768"/>
            <a:ext cx="6565392" cy="2048256"/>
          </a:xfrm>
          <a:prstGeom prst="roundRect">
            <a:avLst>
              <a:gd name="adj" fmla="val 2232"/>
            </a:avLst>
          </a:prstGeom>
          <a:solidFill>
            <a:srgbClr val="FFFFFF"/>
          </a:solidFill>
          <a:ln w="10160">
            <a:solidFill>
              <a:srgbClr val="DADCE0"/>
            </a:solidFill>
            <a:prstDash val="solid"/>
          </a:ln>
        </p:spPr>
      </p:sp>
      <p:sp>
        <p:nvSpPr>
          <p:cNvPr id="28" name="Text 26"/>
          <p:cNvSpPr/>
          <p:nvPr/>
        </p:nvSpPr>
        <p:spPr>
          <a:xfrm>
            <a:off x="621792" y="3931920"/>
            <a:ext cx="6309360" cy="512064"/>
          </a:xfrm>
          <a:prstGeom prst="rect">
            <a:avLst/>
          </a:prstGeom>
          <a:noFill/>
          <a:ln/>
        </p:spPr>
        <p:txBody>
          <a:bodyPr wrap="square" rtlCol="0" anchor="t"/>
          <a:lstStyle/>
          <a:p>
            <a:pPr indent="0" marL="0">
              <a:buNone/>
            </a:pPr>
            <a:r>
              <a:rPr lang="en-US" sz="920" b="1" dirty="0">
                <a:solidFill>
                  <a:srgbClr val="3C4043"/>
                </a:solidFill>
                <a:latin typeface="Google Sans" pitchFamily="34" charset="0"/>
                <a:ea typeface="Google Sans" pitchFamily="34" charset="-122"/>
                <a:cs typeface="Google Sans" pitchFamily="34" charset="-120"/>
              </a:rPr>
              <a:t>Cloud Logging MQL + Metabase BI v0.50.26 &amp; Trino SQL v440 Before/After Retina UI captures (2880×1800)</a:t>
            </a:r>
            <a:endParaRPr lang="en-US" sz="920" dirty="0"/>
          </a:p>
        </p:txBody>
      </p:sp>
      <p:sp>
        <p:nvSpPr>
          <p:cNvPr id="29" name="Text 27"/>
          <p:cNvSpPr/>
          <p:nvPr/>
        </p:nvSpPr>
        <p:spPr>
          <a:xfrm>
            <a:off x="621792" y="4480560"/>
            <a:ext cx="6309360" cy="1060704"/>
          </a:xfrm>
          <a:prstGeom prst="rect">
            <a:avLst/>
          </a:prstGeom>
          <a:noFill/>
          <a:ln/>
        </p:spPr>
        <p:txBody>
          <a:bodyPr wrap="square" rtlCol="0" anchor="t"/>
          <a:lstStyle/>
          <a:p>
            <a:pPr indent="0" marL="0">
              <a:buNone/>
            </a:pPr>
            <a:r>
              <a:rPr lang="en-US" sz="840" dirty="0">
                <a:solidFill>
                  <a:srgbClr val="5F6368"/>
                </a:solidFill>
                <a:latin typeface="Roboto" pitchFamily="34" charset="0"/>
                <a:ea typeface="Roboto" pitchFamily="34" charset="-122"/>
                <a:cs typeface="Roboto" pitchFamily="34" charset="-120"/>
              </a:rPr>
              <a:t>• Dual-Plane: 20/20 GCP + 30/30 10-SaaS MCP PASS</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3P UIs (2880×1800): Metabase BI v0.50.26 &amp; Trino SQL v440</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Ledger: s3://cymbal-aws-federation-393036065405-us-east-1</a:t>
            </a:r>
            <a:endParaRPr lang="en-US" sz="840" dirty="0"/>
          </a:p>
          <a:p>
            <a:pPr indent="0" marL="0">
              <a:buNone/>
            </a:pPr>
            <a:r>
              <a:rPr lang="en-US" sz="840" dirty="0">
                <a:solidFill>
                  <a:srgbClr val="5F6368"/>
                </a:solidFill>
                <a:latin typeface="Roboto" pitchFamily="34" charset="0"/>
                <a:ea typeface="Roboto" pitchFamily="34" charset="-122"/>
                <a:cs typeface="Roboto" pitchFamily="34" charset="-120"/>
              </a:rPr>
              <a:t>• Artifact: docs/genuine_3p_before_after_provenance_receipt.json</a:t>
            </a:r>
            <a:endParaRPr lang="en-US" sz="840" dirty="0"/>
          </a:p>
        </p:txBody>
      </p:sp>
      <p:sp>
        <p:nvSpPr>
          <p:cNvPr id="30" name="Text 28"/>
          <p:cNvSpPr/>
          <p:nvPr/>
        </p:nvSpPr>
        <p:spPr>
          <a:xfrm>
            <a:off x="621792" y="5614416"/>
            <a:ext cx="6309360" cy="201168"/>
          </a:xfrm>
          <a:prstGeom prst="rect">
            <a:avLst/>
          </a:prstGeom>
          <a:noFill/>
          <a:ln/>
        </p:spPr>
        <p:txBody>
          <a:bodyPr wrap="square" rtlCol="0" anchor="ctr"/>
          <a:lstStyle/>
          <a:p>
            <a:pPr indent="0" marL="0">
              <a:buNone/>
            </a:pPr>
            <a:r>
              <a:rPr lang="en-US" sz="720" dirty="0">
                <a:solidFill>
                  <a:srgbClr val="5F6368"/>
                </a:solidFill>
                <a:latin typeface="Courier New" pitchFamily="34" charset="0"/>
                <a:ea typeface="Courier New" pitchFamily="34" charset="-122"/>
                <a:cs typeface="Courier New" pitchFamily="34" charset="-120"/>
              </a:rPr>
              <a:t>Source Module: scripts/capture_genuine_3p_before_after_uis.mjs</a:t>
            </a:r>
            <a:endParaRPr lang="en-US" sz="720" dirty="0"/>
          </a:p>
        </p:txBody>
      </p:sp>
      <p:sp>
        <p:nvSpPr>
          <p:cNvPr id="31"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2" name="Shape 30"/>
          <p:cNvSpPr/>
          <p:nvPr/>
        </p:nvSpPr>
        <p:spPr>
          <a:xfrm>
            <a:off x="7351776" y="749808"/>
            <a:ext cx="82296" cy="1243584"/>
          </a:xfrm>
          <a:prstGeom prst="rect">
            <a:avLst/>
          </a:prstGeom>
          <a:solidFill>
            <a:srgbClr val="4285F4"/>
          </a:solidFill>
          <a:ln/>
        </p:spPr>
      </p:sp>
      <p:sp>
        <p:nvSpPr>
          <p:cNvPr id="33" name="Shape 31"/>
          <p:cNvSpPr/>
          <p:nvPr/>
        </p:nvSpPr>
        <p:spPr>
          <a:xfrm>
            <a:off x="7534656" y="841248"/>
            <a:ext cx="2615184" cy="219456"/>
          </a:xfrm>
          <a:prstGeom prst="roundRect">
            <a:avLst>
              <a:gd name="adj" fmla="val 16667"/>
            </a:avLst>
          </a:prstGeom>
          <a:solidFill>
            <a:srgbClr val="E8F0FE"/>
          </a:solidFill>
          <a:ln/>
        </p:spPr>
      </p:sp>
      <p:sp>
        <p:nvSpPr>
          <p:cNvPr id="34"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5"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Live GCP &amp; AWS</a:t>
            </a:r>
            <a:endParaRPr lang="en-US" sz="1050" dirty="0"/>
          </a:p>
        </p:txBody>
      </p:sp>
      <p:sp>
        <p:nvSpPr>
          <p:cNvPr id="36"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bbar-138hf0 (#48439189383) &amp; AWS Account #393036065405 inside gVisor sandboxes.</a:t>
            </a:r>
            <a:endParaRPr lang="en-US" sz="860" dirty="0"/>
          </a:p>
        </p:txBody>
      </p:sp>
      <p:sp>
        <p:nvSpPr>
          <p:cNvPr id="37"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38" name="Shape 36"/>
          <p:cNvSpPr/>
          <p:nvPr/>
        </p:nvSpPr>
        <p:spPr>
          <a:xfrm>
            <a:off x="7351776" y="2103120"/>
            <a:ext cx="82296" cy="1243584"/>
          </a:xfrm>
          <a:prstGeom prst="rect">
            <a:avLst/>
          </a:prstGeom>
          <a:solidFill>
            <a:srgbClr val="EA4335"/>
          </a:solidFill>
          <a:ln/>
        </p:spPr>
      </p:sp>
      <p:sp>
        <p:nvSpPr>
          <p:cNvPr id="39" name="Shape 37"/>
          <p:cNvSpPr/>
          <p:nvPr/>
        </p:nvSpPr>
        <p:spPr>
          <a:xfrm>
            <a:off x="7534656" y="2194560"/>
            <a:ext cx="2615184" cy="219456"/>
          </a:xfrm>
          <a:prstGeom prst="roundRect">
            <a:avLst>
              <a:gd name="adj" fmla="val 16667"/>
            </a:avLst>
          </a:prstGeom>
          <a:solidFill>
            <a:srgbClr val="FCE8E6"/>
          </a:solidFill>
          <a:ln/>
        </p:spPr>
      </p:sp>
      <p:sp>
        <p:nvSpPr>
          <p:cNvPr id="40"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1"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2"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3"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4" name="Shape 42"/>
          <p:cNvSpPr/>
          <p:nvPr/>
        </p:nvSpPr>
        <p:spPr>
          <a:xfrm>
            <a:off x="7351776" y="3456432"/>
            <a:ext cx="82296" cy="1243584"/>
          </a:xfrm>
          <a:prstGeom prst="rect">
            <a:avLst/>
          </a:prstGeom>
          <a:solidFill>
            <a:srgbClr val="FBBC04"/>
          </a:solidFill>
          <a:ln/>
        </p:spPr>
      </p:sp>
      <p:sp>
        <p:nvSpPr>
          <p:cNvPr id="45" name="Shape 43"/>
          <p:cNvSpPr/>
          <p:nvPr/>
        </p:nvSpPr>
        <p:spPr>
          <a:xfrm>
            <a:off x="7534656" y="3547872"/>
            <a:ext cx="2615184" cy="219456"/>
          </a:xfrm>
          <a:prstGeom prst="roundRect">
            <a:avLst>
              <a:gd name="adj" fmla="val 16667"/>
            </a:avLst>
          </a:prstGeom>
          <a:solidFill>
            <a:srgbClr val="FEF7E0"/>
          </a:solidFill>
          <a:ln/>
        </p:spPr>
      </p:sp>
      <p:sp>
        <p:nvSpPr>
          <p:cNvPr id="46"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7"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48"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49"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0" name="Shape 48"/>
          <p:cNvSpPr/>
          <p:nvPr/>
        </p:nvSpPr>
        <p:spPr>
          <a:xfrm>
            <a:off x="7351776" y="4809744"/>
            <a:ext cx="82296" cy="1243584"/>
          </a:xfrm>
          <a:prstGeom prst="rect">
            <a:avLst/>
          </a:prstGeom>
          <a:solidFill>
            <a:srgbClr val="34A853"/>
          </a:solidFill>
          <a:ln/>
        </p:spPr>
      </p:sp>
      <p:sp>
        <p:nvSpPr>
          <p:cNvPr id="51" name="Shape 49"/>
          <p:cNvSpPr/>
          <p:nvPr/>
        </p:nvSpPr>
        <p:spPr>
          <a:xfrm>
            <a:off x="7534656" y="4901184"/>
            <a:ext cx="2615184" cy="219456"/>
          </a:xfrm>
          <a:prstGeom prst="roundRect">
            <a:avLst>
              <a:gd name="adj" fmla="val 16667"/>
            </a:avLst>
          </a:prstGeom>
          <a:solidFill>
            <a:srgbClr val="E6F4EA"/>
          </a:solidFill>
          <a:ln/>
        </p:spPr>
      </p:sp>
      <p:sp>
        <p:nvSpPr>
          <p:cNvPr id="52"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20 BEFORE/AFTER 3P UIs &amp; 30/30 SAAS</a:t>
            </a:r>
            <a:endParaRPr lang="en-US" sz="740" dirty="0"/>
          </a:p>
        </p:txBody>
      </p:sp>
      <p:sp>
        <p:nvSpPr>
          <p:cNvPr id="53"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Metabase + Trino Before/After UIs &amp; 30/30 MCP PASS</a:t>
            </a:r>
            <a:endParaRPr lang="en-US" sz="1050" dirty="0"/>
          </a:p>
        </p:txBody>
      </p:sp>
      <p:sp>
        <p:nvSpPr>
          <p:cNvPr id="54"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Pairs 20/20 GCP + 30/30 AWS AgentCore MCP assertions with 20 genuine 2880×1800 Before/After Retina 3P SaaS UI proofs.</a:t>
            </a:r>
            <a:endParaRPr lang="en-US" sz="860" dirty="0"/>
          </a:p>
        </p:txBody>
      </p:sp>
      <p:sp>
        <p:nvSpPr>
          <p:cNvPr id="55" name="Text 53"/>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CLI &amp; Telemetry Receipts + 100%…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1920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1920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BEFORE-AFTER-SAAS-PROOF</a:t>
            </a:r>
            <a:endParaRPr lang="en-US" sz="850" dirty="0"/>
          </a:p>
        </p:txBody>
      </p:sp>
      <p:sp>
        <p:nvSpPr>
          <p:cNvPr id="14" name="Text 12"/>
          <p:cNvSpPr/>
          <p:nvPr/>
        </p:nvSpPr>
        <p:spPr>
          <a:xfrm>
            <a:off x="5541264" y="132588"/>
            <a:ext cx="3861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Proof 2: Live 2880x1800 Retina Before -&gt; After 3P SaaS UI Isolation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ACT III • VISUAL PROOF</a:t>
            </a:r>
            <a:endParaRPr lang="en-US" sz="750" dirty="0"/>
          </a:p>
        </p:txBody>
      </p:sp>
      <p:sp>
        <p:nvSpPr>
          <p:cNvPr id="17" name="Text 15"/>
          <p:cNvSpPr/>
          <p:nvPr/>
        </p:nvSpPr>
        <p:spPr>
          <a:xfrm>
            <a:off x="411480" y="621792"/>
            <a:ext cx="11365992" cy="310896"/>
          </a:xfrm>
          <a:prstGeom prst="rect">
            <a:avLst/>
          </a:prstGeom>
          <a:noFill/>
          <a:ln/>
        </p:spPr>
        <p:txBody>
          <a:bodyPr wrap="square" rtlCol="0" anchor="ctr"/>
          <a:lstStyle/>
          <a:p>
            <a:pPr indent="0" marL="0">
              <a:buNone/>
            </a:pPr>
            <a:r>
              <a:rPr lang="en-US" sz="1020" dirty="0">
                <a:solidFill>
                  <a:srgbClr val="5F6368"/>
                </a:solidFill>
                <a:latin typeface="Roboto" pitchFamily="34" charset="0"/>
                <a:ea typeface="Roboto" pitchFamily="34" charset="-122"/>
                <a:cs typeface="Roboto" pitchFamily="34" charset="-120"/>
              </a:rPr>
              <a:t>Authentic 2880x1800 Retina captures proving zero cross-tenant leakage across live third-party enterprise BI and SQL surfaces before and after 5-Hop RLS enforcement.</a:t>
            </a:r>
            <a:endParaRPr lang="en-US" sz="1020" dirty="0"/>
          </a:p>
        </p:txBody>
      </p:sp>
      <p:sp>
        <p:nvSpPr>
          <p:cNvPr id="18" name="Shape 16"/>
          <p:cNvSpPr/>
          <p:nvPr/>
        </p:nvSpPr>
        <p:spPr>
          <a:xfrm>
            <a:off x="411480" y="1024128"/>
            <a:ext cx="5532120" cy="5321808"/>
          </a:xfrm>
          <a:prstGeom prst="roundRect">
            <a:avLst>
              <a:gd name="adj" fmla="val 1375"/>
            </a:avLst>
          </a:prstGeom>
          <a:solidFill>
            <a:srgbClr val="F8F9FA"/>
          </a:solidFill>
          <a:ln w="12700">
            <a:solidFill>
              <a:srgbClr val="DADCE0"/>
            </a:solidFill>
            <a:prstDash val="solid"/>
          </a:ln>
        </p:spPr>
      </p:sp>
      <p:sp>
        <p:nvSpPr>
          <p:cNvPr id="19" name="Text 17"/>
          <p:cNvSpPr/>
          <p:nvPr/>
        </p:nvSpPr>
        <p:spPr>
          <a:xfrm>
            <a:off x="548640" y="1097280"/>
            <a:ext cx="5257800" cy="256032"/>
          </a:xfrm>
          <a:prstGeom prst="rect">
            <a:avLst/>
          </a:prstGeom>
          <a:noFill/>
          <a:ln/>
        </p:spPr>
        <p:txBody>
          <a:bodyPr wrap="square" rtlCol="0" anchor="ctr"/>
          <a:lstStyle/>
          <a:p>
            <a:pPr indent="0" marL="0">
              <a:buNone/>
            </a:pPr>
            <a:r>
              <a:rPr lang="en-US" sz="960" b="1" dirty="0">
                <a:solidFill>
                  <a:srgbClr val="174EA6"/>
                </a:solidFill>
                <a:latin typeface="Google Sans" pitchFamily="34" charset="0"/>
                <a:ea typeface="Google Sans" pitchFamily="34" charset="-122"/>
                <a:cs typeface="Google Sans" pitchFamily="34" charset="-120"/>
              </a:rPr>
              <a:t>Metabase Enterprise BI v0.50.26 — Tenant Analytics Isolation</a:t>
            </a:r>
            <a:endParaRPr lang="en-US" sz="960" dirty="0"/>
          </a:p>
        </p:txBody>
      </p:sp>
      <p:sp>
        <p:nvSpPr>
          <p:cNvPr id="20" name="Shape 18"/>
          <p:cNvSpPr/>
          <p:nvPr/>
        </p:nvSpPr>
        <p:spPr>
          <a:xfrm>
            <a:off x="548640" y="1408176"/>
            <a:ext cx="5257800" cy="237744"/>
          </a:xfrm>
          <a:prstGeom prst="rect">
            <a:avLst/>
          </a:prstGeom>
          <a:solidFill>
            <a:srgbClr val="FCE8E6"/>
          </a:solidFill>
          <a:ln/>
        </p:spPr>
      </p:sp>
      <p:sp>
        <p:nvSpPr>
          <p:cNvPr id="21" name="Text 19"/>
          <p:cNvSpPr/>
          <p:nvPr/>
        </p:nvSpPr>
        <p:spPr>
          <a:xfrm>
            <a:off x="612648" y="1408176"/>
            <a:ext cx="5120640" cy="237744"/>
          </a:xfrm>
          <a:prstGeom prst="rect">
            <a:avLst/>
          </a:prstGeom>
          <a:noFill/>
          <a:ln/>
        </p:spPr>
        <p:txBody>
          <a:bodyPr wrap="square" rtlCol="0" anchor="ctr"/>
          <a:lstStyle/>
          <a:p>
            <a:pPr indent="0" marL="0">
              <a:buNone/>
            </a:pPr>
            <a:r>
              <a:rPr lang="en-US" sz="800" b="1" dirty="0">
                <a:solidFill>
                  <a:srgbClr val="A50E0E"/>
                </a:solidFill>
                <a:latin typeface="Roboto" pitchFamily="34" charset="0"/>
                <a:ea typeface="Roboto" pitchFamily="34" charset="-122"/>
                <a:cs typeface="Roboto" pitchFamily="34" charset="-120"/>
              </a:rPr>
              <a:t>BEFORE: Unscoped Multi-Tenant Query (All Tenants Exposed)</a:t>
            </a:r>
            <a:endParaRPr lang="en-US" sz="800" dirty="0"/>
          </a:p>
        </p:txBody>
      </p:sp>
      <p:pic>
        <p:nvPicPr>
          <p:cNvPr id="22" name="Image 0" descr="/usr/local/google/home/nitinagga/Documents/blogs/screenshots/genuine-multicloud-3p-uis/before-after/before_01_metabase_bi.png">    </p:cNvPr>
          <p:cNvPicPr>
            <a:picLocks noChangeAspect="1"/>
          </p:cNvPicPr>
          <p:nvPr/>
        </p:nvPicPr>
        <p:blipFill>
          <a:blip r:embed="rId1"/>
          <a:stretch>
            <a:fillRect/>
          </a:stretch>
        </p:blipFill>
        <p:spPr>
          <a:xfrm>
            <a:off x="548640" y="1664208"/>
            <a:ext cx="5257800" cy="2029968"/>
          </a:xfrm>
          <a:prstGeom prst="rect">
            <a:avLst/>
          </a:prstGeom>
        </p:spPr>
      </p:pic>
      <p:sp>
        <p:nvSpPr>
          <p:cNvPr id="23" name="Shape 20"/>
          <p:cNvSpPr/>
          <p:nvPr/>
        </p:nvSpPr>
        <p:spPr>
          <a:xfrm>
            <a:off x="548640" y="3785616"/>
            <a:ext cx="5257800" cy="237744"/>
          </a:xfrm>
          <a:prstGeom prst="rect">
            <a:avLst/>
          </a:prstGeom>
          <a:solidFill>
            <a:srgbClr val="E6F4EA"/>
          </a:solidFill>
          <a:ln/>
        </p:spPr>
      </p:sp>
      <p:sp>
        <p:nvSpPr>
          <p:cNvPr id="24" name="Text 21"/>
          <p:cNvSpPr/>
          <p:nvPr/>
        </p:nvSpPr>
        <p:spPr>
          <a:xfrm>
            <a:off x="612648" y="3785616"/>
            <a:ext cx="5120640" cy="237744"/>
          </a:xfrm>
          <a:prstGeom prst="rect">
            <a:avLst/>
          </a:prstGeom>
          <a:noFill/>
          <a:ln/>
        </p:spPr>
        <p:txBody>
          <a:bodyPr wrap="square" rtlCol="0" anchor="ctr"/>
          <a:lstStyle/>
          <a:p>
            <a:pPr indent="0" marL="0">
              <a:buNone/>
            </a:pPr>
            <a:r>
              <a:rPr lang="en-US" sz="800" b="1" dirty="0">
                <a:solidFill>
                  <a:srgbClr val="0D652D"/>
                </a:solidFill>
                <a:latin typeface="Roboto" pitchFamily="34" charset="0"/>
                <a:ea typeface="Roboto" pitchFamily="34" charset="-122"/>
                <a:cs typeface="Roboto" pitchFamily="34" charset="-120"/>
              </a:rPr>
              <a:t>AFTER: 5-Hop AlloyDB RLS + TenantContext JWT (FinVault Only)</a:t>
            </a:r>
            <a:endParaRPr lang="en-US" sz="800" dirty="0"/>
          </a:p>
        </p:txBody>
      </p:sp>
      <p:pic>
        <p:nvPicPr>
          <p:cNvPr id="25" name="Image 1" descr="/usr/local/google/home/nitinagga/Documents/blogs/screenshots/genuine-multicloud-3p-uis/before-after/after_01_metabase_bi.png">    </p:cNvPr>
          <p:cNvPicPr>
            <a:picLocks noChangeAspect="1"/>
          </p:cNvPicPr>
          <p:nvPr/>
        </p:nvPicPr>
        <p:blipFill>
          <a:blip r:embed="rId2"/>
          <a:stretch>
            <a:fillRect/>
          </a:stretch>
        </p:blipFill>
        <p:spPr>
          <a:xfrm>
            <a:off x="548640" y="4041648"/>
            <a:ext cx="5257800" cy="2029968"/>
          </a:xfrm>
          <a:prstGeom prst="rect">
            <a:avLst/>
          </a:prstGeom>
        </p:spPr>
      </p:pic>
      <p:sp>
        <p:nvSpPr>
          <p:cNvPr id="26" name="Shape 22"/>
          <p:cNvSpPr/>
          <p:nvPr/>
        </p:nvSpPr>
        <p:spPr>
          <a:xfrm>
            <a:off x="6245352" y="1024128"/>
            <a:ext cx="5532120" cy="5321808"/>
          </a:xfrm>
          <a:prstGeom prst="roundRect">
            <a:avLst>
              <a:gd name="adj" fmla="val 1375"/>
            </a:avLst>
          </a:prstGeom>
          <a:solidFill>
            <a:srgbClr val="F8F9FA"/>
          </a:solidFill>
          <a:ln w="12700">
            <a:solidFill>
              <a:srgbClr val="DADCE0"/>
            </a:solidFill>
            <a:prstDash val="solid"/>
          </a:ln>
        </p:spPr>
      </p:sp>
      <p:sp>
        <p:nvSpPr>
          <p:cNvPr id="27" name="Text 23"/>
          <p:cNvSpPr/>
          <p:nvPr/>
        </p:nvSpPr>
        <p:spPr>
          <a:xfrm>
            <a:off x="6382512" y="1097280"/>
            <a:ext cx="5257800" cy="256032"/>
          </a:xfrm>
          <a:prstGeom prst="rect">
            <a:avLst/>
          </a:prstGeom>
          <a:noFill/>
          <a:ln/>
        </p:spPr>
        <p:txBody>
          <a:bodyPr wrap="square" rtlCol="0" anchor="ctr"/>
          <a:lstStyle/>
          <a:p>
            <a:pPr indent="0" marL="0">
              <a:buNone/>
            </a:pPr>
            <a:r>
              <a:rPr lang="en-US" sz="960" b="1" dirty="0">
                <a:solidFill>
                  <a:srgbClr val="174EA6"/>
                </a:solidFill>
                <a:latin typeface="Google Sans" pitchFamily="34" charset="0"/>
                <a:ea typeface="Google Sans" pitchFamily="34" charset="-122"/>
                <a:cs typeface="Google Sans" pitchFamily="34" charset="-120"/>
              </a:rPr>
              <a:t>Trino Distributed SQL v440 — Federated Catalog &amp; Query Scoping</a:t>
            </a:r>
            <a:endParaRPr lang="en-US" sz="960" dirty="0"/>
          </a:p>
        </p:txBody>
      </p:sp>
      <p:sp>
        <p:nvSpPr>
          <p:cNvPr id="28" name="Shape 24"/>
          <p:cNvSpPr/>
          <p:nvPr/>
        </p:nvSpPr>
        <p:spPr>
          <a:xfrm>
            <a:off x="6382512" y="1408176"/>
            <a:ext cx="5257800" cy="237744"/>
          </a:xfrm>
          <a:prstGeom prst="rect">
            <a:avLst/>
          </a:prstGeom>
          <a:solidFill>
            <a:srgbClr val="FCE8E6"/>
          </a:solidFill>
          <a:ln/>
        </p:spPr>
      </p:sp>
      <p:sp>
        <p:nvSpPr>
          <p:cNvPr id="29" name="Text 25"/>
          <p:cNvSpPr/>
          <p:nvPr/>
        </p:nvSpPr>
        <p:spPr>
          <a:xfrm>
            <a:off x="6446520" y="1408176"/>
            <a:ext cx="5120640" cy="237744"/>
          </a:xfrm>
          <a:prstGeom prst="rect">
            <a:avLst/>
          </a:prstGeom>
          <a:noFill/>
          <a:ln/>
        </p:spPr>
        <p:txBody>
          <a:bodyPr wrap="square" rtlCol="0" anchor="ctr"/>
          <a:lstStyle/>
          <a:p>
            <a:pPr indent="0" marL="0">
              <a:buNone/>
            </a:pPr>
            <a:r>
              <a:rPr lang="en-US" sz="800" b="1" dirty="0">
                <a:solidFill>
                  <a:srgbClr val="A50E0E"/>
                </a:solidFill>
                <a:latin typeface="Roboto" pitchFamily="34" charset="0"/>
                <a:ea typeface="Roboto" pitchFamily="34" charset="-122"/>
                <a:cs typeface="Roboto" pitchFamily="34" charset="-120"/>
              </a:rPr>
              <a:t>BEFORE: Cross-Tenant Schema &amp; Catalog Enumeration</a:t>
            </a:r>
            <a:endParaRPr lang="en-US" sz="800" dirty="0"/>
          </a:p>
        </p:txBody>
      </p:sp>
      <p:pic>
        <p:nvPicPr>
          <p:cNvPr id="30" name="Image 2" descr="/usr/local/google/home/nitinagga/Documents/blogs/screenshots/genuine-multicloud-3p-uis/before-after/before_06_trino_sql.png">    </p:cNvPr>
          <p:cNvPicPr>
            <a:picLocks noChangeAspect="1"/>
          </p:cNvPicPr>
          <p:nvPr/>
        </p:nvPicPr>
        <p:blipFill>
          <a:blip r:embed="rId3"/>
          <a:stretch>
            <a:fillRect/>
          </a:stretch>
        </p:blipFill>
        <p:spPr>
          <a:xfrm>
            <a:off x="6382512" y="1664208"/>
            <a:ext cx="5257800" cy="2029968"/>
          </a:xfrm>
          <a:prstGeom prst="rect">
            <a:avLst/>
          </a:prstGeom>
        </p:spPr>
      </p:pic>
      <p:sp>
        <p:nvSpPr>
          <p:cNvPr id="31" name="Shape 26"/>
          <p:cNvSpPr/>
          <p:nvPr/>
        </p:nvSpPr>
        <p:spPr>
          <a:xfrm>
            <a:off x="6382512" y="3785616"/>
            <a:ext cx="5257800" cy="237744"/>
          </a:xfrm>
          <a:prstGeom prst="rect">
            <a:avLst/>
          </a:prstGeom>
          <a:solidFill>
            <a:srgbClr val="E6F4EA"/>
          </a:solidFill>
          <a:ln/>
        </p:spPr>
      </p:sp>
      <p:sp>
        <p:nvSpPr>
          <p:cNvPr id="32" name="Text 27"/>
          <p:cNvSpPr/>
          <p:nvPr/>
        </p:nvSpPr>
        <p:spPr>
          <a:xfrm>
            <a:off x="6446520" y="3785616"/>
            <a:ext cx="5120640" cy="237744"/>
          </a:xfrm>
          <a:prstGeom prst="rect">
            <a:avLst/>
          </a:prstGeom>
          <a:noFill/>
          <a:ln/>
        </p:spPr>
        <p:txBody>
          <a:bodyPr wrap="square" rtlCol="0" anchor="ctr"/>
          <a:lstStyle/>
          <a:p>
            <a:pPr indent="0" marL="0">
              <a:buNone/>
            </a:pPr>
            <a:r>
              <a:rPr lang="en-US" sz="800" b="1" dirty="0">
                <a:solidFill>
                  <a:srgbClr val="0D652D"/>
                </a:solidFill>
                <a:latin typeface="Roboto" pitchFamily="34" charset="0"/>
                <a:ea typeface="Roboto" pitchFamily="34" charset="-122"/>
                <a:cs typeface="Roboto" pitchFamily="34" charset="-120"/>
              </a:rPr>
              <a:t>AFTER: ARD + MCP + RLS Scoped Execution (0 Leaked Rows)</a:t>
            </a:r>
            <a:endParaRPr lang="en-US" sz="800" dirty="0"/>
          </a:p>
        </p:txBody>
      </p:sp>
      <p:pic>
        <p:nvPicPr>
          <p:cNvPr id="33" name="Image 3" descr="/usr/local/google/home/nitinagga/Documents/blogs/screenshots/genuine-multicloud-3p-uis/before-after/after_06_trino_sql.png">    </p:cNvPr>
          <p:cNvPicPr>
            <a:picLocks noChangeAspect="1"/>
          </p:cNvPicPr>
          <p:nvPr/>
        </p:nvPicPr>
        <p:blipFill>
          <a:blip r:embed="rId4"/>
          <a:stretch>
            <a:fillRect/>
          </a:stretch>
        </p:blipFill>
        <p:spPr>
          <a:xfrm>
            <a:off x="6382512" y="4041648"/>
            <a:ext cx="5257800" cy="2029968"/>
          </a:xfrm>
          <a:prstGeom prst="rect">
            <a:avLst/>
          </a:prstGeom>
        </p:spPr>
      </p:pic>
      <p:sp>
        <p:nvSpPr>
          <p:cNvPr id="34" name="Text 28"/>
          <p:cNvSpPr/>
          <p:nvPr/>
        </p:nvSpPr>
        <p:spPr>
          <a:xfrm>
            <a:off x="365760" y="6601968"/>
            <a:ext cx="11460175" cy="201168"/>
          </a:xfrm>
          <a:prstGeom prst="rect">
            <a:avLst/>
          </a:prstGeom>
          <a:noFill/>
          <a:ln/>
        </p:spPr>
        <p:txBody>
          <a:bodyPr wrap="none" rtlCol="0" anchor="ctr"/>
          <a:lstStyle/>
          <a:p>
            <a:pPr algn="l" indent="0" marL="0">
              <a:buNone/>
            </a:pPr>
            <a:r>
              <a:rPr lang="en-US" sz="70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690" dirty="0">
                <a:solidFill>
                  <a:srgbClr val="5F6368"/>
                </a:solidFill>
                <a:latin typeface="Roboto" pitchFamily="34" charset="0"/>
                <a:ea typeface="Roboto" pitchFamily="34" charset="-122"/>
                <a:cs typeface="Roboto" pitchFamily="34" charset="-120"/>
              </a:rPr>
              <a:t>Workstream 1 • Reference Architecture &amp; Cloud Architecture Center Doc PR  •  Live 2880x1800 Retina Before/After 3P SaaS UI Isolation Proof (10/10 SaaS Targets Verified)  •  </a:t>
            </a:r>
            <a:pPr algn="l" indent="0" marL="0">
              <a:buNone/>
            </a:pPr>
            <a:r>
              <a:rPr lang="en-US" sz="700" b="1" dirty="0">
                <a:solidFill>
                  <a:srgbClr val="3C4043"/>
                </a:solidFill>
                <a:latin typeface="Google Sans" pitchFamily="34" charset="0"/>
                <a:ea typeface="Google Sans" pitchFamily="34" charset="-122"/>
                <a:cs typeface="Google Sans" pitchFamily="34" charset="-120"/>
              </a:rPr>
              <a:t>Proprietary + Confidential</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Deploy core-cymbal-agent/ (27-File Reference Workbench)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core-cymbal-agent/ • 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JTI Deny-List • 3LO Vault</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5-Hop • ~420ms Warm TTFT • 84.7% Savings (10/10)</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&lt;30s RTO (6/6)</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(950 Pooled + 50 PSC Spokes),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(950 Pool + 50 PSC) • 0ms Cutover (4/4)</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Dual-Plane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(13/13 PASS • 107/107 Assertions) across 20/20 GCP suites and 30/30 Inter-Cloud 10-SaaS MCP target assertions.</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run_deep_forensic_audit.py • verify_5_third_party_saas_products.py
</a:t>
            </a:r>
            <a:pPr indent="0" marL="0">
              <a:buNone/>
            </a:pPr>
            <a:r>
              <a:rPr lang="en-US" sz="730" dirty="0">
                <a:solidFill>
                  <a:srgbClr val="5F6368"/>
                </a:solidFill>
                <a:latin typeface="Roboto" pitchFamily="34" charset="0"/>
                <a:ea typeface="Roboto" pitchFamily="34" charset="-122"/>
                <a:cs typeface="Roboto" pitchFamily="34" charset="-120"/>
              </a:rPr>
              <a:t>Target &amp; SLA: SLA: 13/13 Forensic (107/107) • 20/20 GCP + 30/30 10-SaaS MCP</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Dual-Plane CI/CD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non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2026-10-30T21:12:50Z</dcterms:created>
  <dcterms:modified xsi:type="dcterms:W3CDTF">2026-10-30T21:12:50Z</dcterms:modified>
</cp:coreProperties>
</file>