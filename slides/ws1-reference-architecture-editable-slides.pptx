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Multi-Tenant Agentic AI on Google Cloud: Taxonomy &amp; 5-Hop Baseline (Workstream 1)
Pooled, Sovereign Silo &amp; Dynamic Hybrid topologies extending the Cloud Architecture Center hub-and-spoke reference for B2B ISV SaaS
Series: Multi-Tenant Agentic AI on Google Cloud • Gemini Enterprise Agent Platform (GEAP) &amp; ADK 2.0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Executive TL;DR
• Official Architecture Center reference models one spoke project per business unit; 90%+ of B2B SaaS ISVs cannot afford that per Standard-tier tenant.
• Agents add four new failure modes: dynamic MCP discovery, confused-deputy credentials, context-cache bleed, and noisy-neighbor runaway reasoning loops.
• Workstream 1 defines Pattern A (Pooled), Pattern B (Sovereign Silos), and Pattern C (Dynamic Hybrid) on an 80% reusable core + 20% topology delta.
• A single 5-Hop Cryptographic Context Chain (hop1..hop5 Python modules) enforces identical governance across all three patterns.
• Deliverables: Doc PR for the Architecture Center (1.3), product review pack (1.2), and an EAP/product-gap ledger with 3 P0 workarounds (1.4).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Why classic SaaS tenancy breaks for agents
• Static routes and WHERE-clause tenancy cannot govern multi-turn reasoning, dynamic MCP tool calls, or shared prompt caches.
• Failure mode 1: mid-turn MCP discovery can expose another tenant's private connectors or custom agents.
• Failure mode 2: ambient service-account IAM turns prompt injection into cross-tenant bucket and API reads.
• Failure mode 3: shared prompt caches and session memory leak context without cryptographic prefix separation.
• Failure mode 4: unbounded thinking_budget or recursive tool retries exhaust shared model TPM quotas for every tenant.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Anchor case study: Cymbal, FinVault, RetailStream
• Cymbal SaaS (ISV) runs a Shared Incident Diagnostic Agent on Gemini 2.5 Pro with ContextCacheConfig for up to 90% COGS savings.
• FinVault Bank (Enterprise): Google OIDC, 8,000 thinking tokens, private Agent Alpha on Claude Sonnet, CMEK memory finvault:user:session.
• RetailStream Corp (Standard): zero Google footprint, Microsoft Entra ID, 4,000 token cap, Redis bulkhead, inline 3LO consent for ServiceNow.
• Symmetric invisibility: RetailStream gets 403 on Agent Alpha; RetailStream's ServiceNow MCP connector never appears to FinVault.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Three-pattern taxonomy (A / B / C)
• Pattern A Pooled: shared gVisor runtime + temp:tenant_id, shared VPC behind Cloud Armor + IAP, AlloyDB RLS, lowest unit COGS.
• Pattern B Sovereign Silos: dedicated project, VPC-SC perimeter, IAM PAB, Cloud KMS CMEK kill-switch, optional air-gapped Gemma 3 on GKE.
• Pattern C Dynamic Hybrid: unified control plane, tenant-aware router, PSC spokes for Enterprise, zero-downtime live tier upgrades.
• Isolation is a per-tenant tier decision, not a per-platform decision; the same 80% core code runs in every pattern.
• Milestones: Pattern A Week 4 (WS2), Pattern B Week 7 (WS3), Pattern C Week 10 (WS4).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5-Hop Cryptographic Context Chain
• Hop 1 hop1_edge_identity_pep.py: Cloud Armor/IAP strip forged X-Tenant-ID; RFC 8693 OBO bound to RFC 9449 DPoP jkt thumbprint.
• Hop 2 hop2_registry_pdp_callbacks.py: Registry PDP + ARD catalog filtering; ADK before_agent_callback tool pruning; 403 on private agents.
• Hop 3 hop3_compute_finops_bulkhead.py: gVisor temp:tenant_id, Firestore/Memorystore config, 5-Level Memory Bank, Redis bulkheads.
• Hop 4 hop4_model_armor_guardrails.py: Model Armor ingress screen, tenant Semantic NLCs (OCC/FDIC vs PCI), egress SDP PII redaction.
• Hop 5 hop5_data_rls_and_otel.py: SET LOCAL app.current_tenant AlloyDB RLS, 2LO/3LO Auth Manager broker, BigQuery OTel chargeback.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Doc PR: extending the Architecture Center
• Keeps the official routing hub, central governance &amp; security hub, tenant spokes, VPC-SC org perimeter, and PAB boundaries intact.
• Rewrites the intro for two audiences: B2B SaaS/ISVs protecting COGS and large decentralized enterprises governing regulated units.
• Adds a 'Choose a multi-tenant agentic topology' decision table covering Pattern A, B, and C controls.
• Inserts a new 'Enforcing the 5-Hop Cryptographic Context Chain' section with the four failure modes and the Cymbal case study.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Product gaps &amp; EAP asks (1.2 / 1.4)
• GAP-P0-01 GEAP Registry filters by IAM project principal, not tenant_id; workaround: gateway PEP + before_agent_callback, 403 Forbidden.
• GAP-P0-02 Memory Bank lacks per-tenant namespace CMEK; workaround: Cloud KMS envelope encryption or Pattern C PSC Memory Spoke.
• GAP-P0-03 Auth Manager needs custom DPoP jkt verification for external Entra ID tenants before 3LO brokering.
• P1/P2: unified Model Garden cache API, stateless ADK OAuth checkpoint, VPC-SC MCP egress bridge, 423 Locked CMEK SLA, PSC registry, migrator.
• CISO sign-offs: immutability of temp: state, Entra ID federation with no shadow account, CMEK revocation propagation within 60 seconds.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GEAP Multi-Tenant Agentic AI Taxonomy: Pooled (A), Sovereign Silos (B) &amp; Hybrid (C)
B2B ISV SaaS Reference Architecture Expanding Google Cloud Architecture Center (Cymbal SaaS Serving FinVault &amp; RetailStream)
• Actor 'Competing B2B Tenants FinVault (OIDC) &amp; RetailStream (Entra)' enters at badge 1 Request and exits at badge 7 Response.
• Wrappers: 'Shared Control Plane &amp; Multi-Tenant Governance Perimeter (80% Reusable Core + 20% Topology Delta)' around the VPC.
• 'Routing hub (Hop 1 &amp; Hop 2 PEP/PDP)': Cloud Armor &amp; IAP strip X-Tenant-ID, Model Armor screen, OBO + DPoP, ALB, Cloud Run Router.
• 'Central governance and FinOps observability hub': SCC, Central IAM &amp; PAB Agent Identity (2LO/3LO), Cloud Logging &amp; BQ Zero-PII OTel.
• Badge 3 'Route by tenant tier (Pool, Silo or PSC)' decides topology; badge 7 'Sanitized response with SDP redaction' scrubs returns.
• Left 'Tenant Pool (Shared Runtime)' vs right 'Dedicated Sovereign Tenant Project' with 'CMEK Datastore AlloyDB, BQ &amp; KMS 423 Lock'.
Editable source: diagrams/ws1-multi-tenant-taxonomy-overview.drawio (PromptCanvas Vision Decompiler)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— GEAP Multi-Tenant Agentic AI Taxonomy: Pooled (A), Sovereign Silos (B) &amp; Hybrid (C)
B2B ISV SaaS Reference Architecture Expanding Google Cloud Architecture Center (Cymbal SaaS Serving FinVault &amp; RetailStream)
• Actor 'Competing B2B Tenants FinVault (OIDC) &amp; RetailStream (Entra)' enters at badge 1 Request and exits at badge 7 Response.
• Wrappers: 'Shared Control Plane &amp; Multi-Tenant Governance Perimeter (80% Reusable Core + 20% Topology Delta)' around the VPC.
• 'Routing hub (Hop 1 &amp; Hop 2 PEP/PDP)': Cloud Armor &amp; IAP strip X-Tenant-ID, Model Armor screen, OBO + DPoP, ALB, Cloud Run Router.
• 'Central governance and FinOps observability hub': SCC, Central IAM &amp; PAB Agent Identity (2LO/3LO), Cloud Logging &amp; BQ Zero-PII OTel.
• Badge 3 'Route by tenant tier (Pool, Silo or PSC)' decides topology; badge 7 'Sanitized response with SDP redaction' scrubs returns.
• Left 'Tenant Pool (Shared Runtime)' vs right 'Dedicated Sovereign Tenant Project' with 'CMEK Datastore AlloyDB, BQ &amp; KMS 423 Lock'.
Editable source: diagrams/ws1-multi-tenant-taxonomy-overview.drawio (PromptCanvas Vision Decompiler)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1 component inventory for GEAP Multi-Tenant Agentic AI Taxonomy: Pooled (A), Sovereign Silos (B) &amp; Hybrid (C)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 — Cloud Architecture Center: Multi-Tenant Agentic AI with 5-Hop Cryptographic Governance
Official Hub-and-Spoke Reference Architecture (docs.cloud.google.com/architecture/multi-tenant-agentic-ai-system)
• Actor 'User OIDC / Entra JWT' with badges 1 Request and 7 Response mirrors the published hub-and-spoke article exactly.
• Outer wrapper 'Shared hubs (VPC Service Controls Organization Perimeter)' and inner 'VPC' are unchanged from the official reference.
• 'Routing hub (Hop 1 &amp; Hop 2)': Cloud Armor Strips Forged X-Tenant-ID, Model Armor Edge Prompt Injection Gate, IAP RFC 8693 OBO + DPoP.
• 'Central governance and security hub': Security Command Center, Central IAM Auth Manager (2LO / 3LO), Cloud Logging BigQuery OTel Sink.
• Dashed 'Security and observability' line fans to both spokes; badge 3 'Route request to tenant', badge 7 'Sanitized response from tenant'.
• 'PAB • Hop 3–5 Isolation Boundary' wraps Tenant A (FinVault, 8k Budget, Bank SDP &amp; OCC NLC) and Tenant B (RetailStream, 4k Cap, PCI).
Editable source: diagrams/ws1-cloud-arch-center-5hop-baseline.drawio (PromptCanvas Vision Decompiler)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 — Cloud Architecture Center: Multi-Tenant Agentic AI with 5-Hop Cryptographic Governance
Official Hub-and-Spoke Reference Architecture (docs.cloud.google.com/architecture/multi-tenant-agentic-ai-system)
• Actor 'User OIDC / Entra JWT' with badges 1 Request and 7 Response mirrors the published hub-and-spoke article exactly.
• Outer wrapper 'Shared hubs (VPC Service Controls Organization Perimeter)' and inner 'VPC' are unchanged from the official reference.
• 'Routing hub (Hop 1 &amp; Hop 2)': Cloud Armor Strips Forged X-Tenant-ID, Model Armor Edge Prompt Injection Gate, IAP RFC 8693 OBO + DPoP.
• 'Central governance and security hub': Security Command Center, Central IAM Auth Manager (2LO / 3LO), Cloud Logging BigQuery OTel Sink.
• Dashed 'Security and observability' line fans to both spokes; badge 3 'Route request to tenant', badge 7 'Sanitized response from tenant'.
• 'PAB • Hop 3–5 Isolation Boundary' wraps Tenant A (FinVault, 8k Budget, Bank SDP &amp; OCC NLC) and Tenant B (RetailStream, 4k Cap, PCI).
Editable source: diagrams/ws1-cloud-arch-center-5hop-baseline.drawio (PromptCanvas Vision Decompiler)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2 component inventory for Cloud Architecture Center: Multi-Tenant Agentic AI with 5-Hop Cryptographic Governance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Key Takeaways
• Agentic multi-tenancy needs controls at edge, registry, runtime, guardrail, and data layers; a tenant_id column is not isolation.
• Choose topology per tenant tier: Pattern A for Standard, Pattern B for regulator-mandated perimeters, Pattern C when you serve both.
• The 5-Hop chain is topology-agnostic code; the trust boundary changes, the governance modules do not.
• Prompt prefix caching is safe in a pool only when ContextCacheConfig is read-only on shared system instructions.
• Three P0 product gaps already have engineered workarounds; EAP allowlists target Q4 2026 for native support.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1.3 Doc PR, enable the 1.4 allowlist checklist in your sandbox, then proceed to Workstream 2 (Pattern A Pooled, Milestone 1).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image" Target="../media/image-10-11.png"/><Relationship Id="rId12" Type="http://schemas.openxmlformats.org/officeDocument/2006/relationships/image" Target="../media/image-10-12.png"/><Relationship Id="rId13" Type="http://schemas.openxmlformats.org/officeDocument/2006/relationships/image" Target="../media/image-10-13.png"/><Relationship Id="rId14" Type="http://schemas.openxmlformats.org/officeDocument/2006/relationships/image" Target="../media/image-10-14.png"/><Relationship Id="rId15" Type="http://schemas.openxmlformats.org/officeDocument/2006/relationships/image" Target="../media/image-10-15.png"/><Relationship Id="rId16" Type="http://schemas.openxmlformats.org/officeDocument/2006/relationships/image" Target="../media/image-10-16.png"/><Relationship Id="rId17" Type="http://schemas.openxmlformats.org/officeDocument/2006/relationships/image" Target="../media/image-10-17.png"/><Relationship Id="rId18" Type="http://schemas.openxmlformats.org/officeDocument/2006/relationships/image" Target="../media/image-10-18.png"/><Relationship Id="rId19" Type="http://schemas.openxmlformats.org/officeDocument/2006/relationships/image" Target="../media/image-10-19.png"/><Relationship Id="rId20" Type="http://schemas.openxmlformats.org/officeDocument/2006/relationships/image" Target="../media/image-10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image" Target="../media/image-13-9.png"/><Relationship Id="rId10" Type="http://schemas.openxmlformats.org/officeDocument/2006/relationships/image" Target="../media/image-13-10.png"/><Relationship Id="rId11" Type="http://schemas.openxmlformats.org/officeDocument/2006/relationships/image" Target="../media/image-13-11.png"/><Relationship Id="rId12" Type="http://schemas.openxmlformats.org/officeDocument/2006/relationships/image" Target="../media/image-13-12.png"/><Relationship Id="rId13" Type="http://schemas.openxmlformats.org/officeDocument/2006/relationships/image" Target="../media/image-13-13.png"/><Relationship Id="rId14" Type="http://schemas.openxmlformats.org/officeDocument/2006/relationships/image" Target="../media/image-13-14.png"/><Relationship Id="rId15" Type="http://schemas.openxmlformats.org/officeDocument/2006/relationships/image" Target="../media/image-13-15.png"/><Relationship Id="rId16" Type="http://schemas.openxmlformats.org/officeDocument/2006/relationships/image" Target="../media/image-13-16.png"/><Relationship Id="rId17" Type="http://schemas.openxmlformats.org/officeDocument/2006/relationships/image" Target="../media/image-13-17.png"/><Relationship Id="rId18" Type="http://schemas.openxmlformats.org/officeDocument/2006/relationships/image" Target="../media/image-13-18.png"/><Relationship Id="rId19" Type="http://schemas.openxmlformats.org/officeDocument/2006/relationships/image" Target="../media/image-13-19.png"/><Relationship Id="rId20" Type="http://schemas.openxmlformats.org/officeDocument/2006/relationships/image" Target="../media/image-13-20.png"/><Relationship Id="rId21" Type="http://schemas.openxmlformats.org/officeDocument/2006/relationships/slideLayout" Target="../slideLayouts/slideLayout1.xml"/><Relationship Id="rId2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822960"/>
            <a:ext cx="1072865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1 • REFERENCE ARCHITECTURE &amp; CLOUD ARCHITECTURE CENTER DOC PR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728655" cy="1920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Cloud: Taxonomy &amp; 5-Hop Baseline (Workstream 1)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731520" y="3383280"/>
            <a:ext cx="10728655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Pooled, Sovereign Silo &amp; Dynamic Hybrid topologies extending the Cloud Architecture Center hub-and-spoke reference for B2B ISV SaaS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5120640"/>
            <a:ext cx="10728655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 Agentic AI on Google Cloud • Gemini Enterprise Agent Platform (GEAP) &amp; ADK 2.0</a:t>
            </a:r>
            <a:endParaRPr lang="en-US" sz="1100" dirty="0"/>
          </a:p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diagram slide is 100% native editable (PromptCanvas Vision Decompiler → Draw.io → PowerPoint / Google Slides)</a:t>
            </a:r>
            <a:endParaRPr lang="en-US" sz="1100" dirty="0"/>
          </a:p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 reference: https://docs.cloud.google.com/architecture/multi-tenant-agentic-ai-system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WS1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Executive TL;DR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Executive TL;DR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Official Architecture Center reference models one spoke project per business unit; 90%+ of B2B SaaS ISVs cannot afford that per Standard-tier tenant.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Agents add four new failure modes: dynamic MCP discovery, confused-deputy credentials, context-cache bleed, and noisy-neighbor runaway reasoning loops.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1 defines Pattern A (Pooled), Pattern B (Sovereign Silos), and Pattern C (Dynamic Hybrid) on an 80% reusable core + 20% topology delta.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single 5-Hop Cryptographic Context Chain (hop1..hop5 Python modules) enforces identical governance across all three patterns.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Deliverables: Doc PR for the Architecture Center (1.3), product review pack (1.2), and an EAP/product-gap ledger with 3 P0 workarounds (1.4).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1 • Reference Architecture &amp; Cloud Architecture Center Doc PR • Multi-Tenant Agentic AI on Google Cloud • Gemini Enterprise Agent Platform (GEAP) &amp; ADK 2.0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WS1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Why classic SaaS tenancy breaks for agents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classic SaaS tenancy breaks for agents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Static routes and WHERE-clause tenancy cannot govern multi-turn reasoning, dynamic MCP tool calls, or shared prompt caches.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 mode 1: mid-turn MCP discovery can expose another tenant's private connectors or custom agents.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 mode 2: ambient service-account IAM turns prompt injection into cross-tenant bucket and API reads.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 mode 3: shared prompt caches and session memory leak context without cryptographic prefix separation.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Failure mode 4: unbounded thinking_budget or recursive tool retries exhaust shared model TPM quotas for every tenant.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1 • Reference Architecture &amp; Cloud Architecture Center Doc PR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WS1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Anchor case study: Cymbal, FinVault, RetailStream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 case study: Cymbal, FinVault, RetailStream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Cymbal SaaS (ISV) runs a Shared Incident Diagnostic Agent on Gemini 2.5 Pro with ContextCacheConfig for up to 90% COGS savings.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Bank (Enterprise): Google OIDC, 8,000 thinking tokens, private Agent Alpha on Claude Sonnet, CMEK memory finvault:user:session.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RetailStream Corp (Standard): zero Google footprint, Microsoft Entra ID, 4,000 token cap, Redis bulkhead, inline 3LO consent for ServiceNow.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Symmetric invisibility: RetailStream gets 403 on Agent Alpha; RetailStream's ServiceNow MCP connector never appears to FinVault.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1 • Reference Architecture &amp; Cloud Architecture Center Doc PR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WS1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Three-pattern taxonomy (A / B / C)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Three-pattern taxonomy (A / B / C)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 Pooled: shared gVisor runtime + temp:tenant_id, shared VPC behind Cloud Armor + IAP, AlloyDB RLS, lowest unit COGS.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Sovereign Silos: dedicated project, VPC-SC perimeter, IAM PAB, Cloud KMS CMEK kill-switch, optional air-gapped Gemma 3 on GKE.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C Dynamic Hybrid: unified control plane, tenant-aware router, PSC spokes for Enterprise, zero-downtime live tier upgrades.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Isolation is a per-tenant tier decision, not a per-platform decision; the same 80% core code runs in every pattern.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Milestones: Pattern A Week 4 (WS2), Pattern B Week 7 (WS3), Pattern C Week 10 (WS4).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1 • Reference Architecture &amp; Cloud Architecture Center Doc PR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WS1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The 5-Hop Cryptographic Context Chain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5-Hop Cryptographic Context Chain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1 hop1_edge_identity_pep.py: Cloud Armor/IAP strip forged X-Tenant-ID; RFC 8693 OBO bound to RFC 9449 DPoP jkt thumbprint.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2 hop2_registry_pdp_callbacks.py: Registry PDP + ARD catalog filtering; ADK before_agent_callback tool pruning; 403 on private agents.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 hop3_compute_finops_bulkhead.py: gVisor temp:tenant_id, Firestore/Memorystore config, 5-Level Memory Bank, Redis bulkheads.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 hop4_model_armor_guardrails.py: Model Armor ingress screen, tenant Semantic NLCs (OCC/FDIC vs PCI), egress SDP PII redaction.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5 hop5_data_rls_and_otel.py: SET LOCAL app.current_tenant AlloyDB RLS, 2LO/3LO Auth Manager broker, BigQuery OTel chargeback.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1 • Reference Architecture &amp; Cloud Architecture Center Doc PR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WS1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Doc PR: extending the Architecture Center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Doc PR: extending the Architecture Center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Keeps the official routing hub, central governance &amp; security hub, tenant spokes, VPC-SC org perimeter, and PAB boundaries intact.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Rewrites the intro for two audiences: B2B SaaS/ISVs protecting COGS and large decentralized enterprises governing regulated units.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Adds a 'Choose a multi-tenant agentic topology' decision table covering Pattern A, B, and C controls.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4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Inserts a new 'Enforcing the 5-Hop Cryptographic Context Chain' section with the four failure modes and the Cymbal case study.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1 • Reference Architecture &amp; Cloud Architecture Center Doc PR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WS1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Product gaps &amp; EAP asks (1.2 / 1.4)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1A73E8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 gaps &amp; EAP asks (1.2 / 1.4)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GAP-P0-01 GEAP Registry filters by IAM project principal, not tenant_id; workaround: gateway PEP + before_agent_callback, 403 Forbidden.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GAP-P0-02 Memory Bank lacks per-tenant namespace CMEK; workaround: Cloud KMS envelope encryption or Pattern C PSC Memory Spoke.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GAP-P0-03 Auth Manager needs custom DPoP jkt verification for external Entra ID tenants before 3LO brokering.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P1/P2: unified Model Garden cache API, stateless ADK OAuth checkpoint, VPC-SC MCP egress bridge, 423 Locked CMEK SLA, PSC registry, migrator.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CISO sign-offs: immutability of temp: state, Entra ID federation with no shadow account, CMEK revocation propagation within 60 seconds.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Workstream 1 • Reference Architecture &amp; Cloud Architecture Center Doc PR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GEAP MULTI-TENANT AGENTIC AI TAXONOMY: POOLED (A), SOVEREIGN SILOS (B) &amp; HYBRID (C)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ID: VIS-WS1-MULTI-TENANT-TAXONOMY-OVERVIEW  •  1:1 Master High-Resolution Widescreen Architecture (Slide 2 contains Decomposed Vector Shapes)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423514" y="521208"/>
            <a:ext cx="5344668" cy="6291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96666" y="576072"/>
            <a:ext cx="5198364" cy="618134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73152"/>
            <a:ext cx="1164305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GEAP MULTI-TENANT AGENTIC AI TAXONOMY: POOLED (A), SOVEREIGN SILOS (B) &amp; HYBRID (C)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ID: VIS-WS1-MULTI-TENANT-TAXONOMY-OVERVIEW  •  100% Decomposed Native Editable Vector Shapes, Icons &amp; Arrows (Click any element to move or edit)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2798064" y="1187806"/>
            <a:ext cx="9144" cy="129296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5" name="Shape 3"/>
          <p:cNvSpPr/>
          <p:nvPr/>
        </p:nvSpPr>
        <p:spPr>
          <a:xfrm flipV="1">
            <a:off x="3001975" y="1196950"/>
            <a:ext cx="9144" cy="1292047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6" name="Shape 4"/>
          <p:cNvSpPr/>
          <p:nvPr/>
        </p:nvSpPr>
        <p:spPr>
          <a:xfrm flipH="1">
            <a:off x="2169871" y="2657246"/>
            <a:ext cx="115214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7" name="Shape 5"/>
          <p:cNvSpPr/>
          <p:nvPr/>
        </p:nvSpPr>
        <p:spPr>
          <a:xfrm flipV="1">
            <a:off x="2169871" y="2484425"/>
            <a:ext cx="9144" cy="17282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H="1">
            <a:off x="1594714" y="2484425"/>
            <a:ext cx="575158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9" name="Shape 7"/>
          <p:cNvSpPr/>
          <p:nvPr/>
        </p:nvSpPr>
        <p:spPr>
          <a:xfrm>
            <a:off x="2169871" y="2657246"/>
            <a:ext cx="9144" cy="19933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1594714" y="2856586"/>
            <a:ext cx="575158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1" name="Shape 9"/>
          <p:cNvSpPr/>
          <p:nvPr/>
        </p:nvSpPr>
        <p:spPr>
          <a:xfrm>
            <a:off x="1594714" y="3290926"/>
            <a:ext cx="796442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  <a:tailEnd type="arrow"/>
          </a:ln>
        </p:spPr>
      </p:sp>
      <p:sp>
        <p:nvSpPr>
          <p:cNvPr id="12" name="Shape 10"/>
          <p:cNvSpPr/>
          <p:nvPr/>
        </p:nvSpPr>
        <p:spPr>
          <a:xfrm>
            <a:off x="2798064" y="2825496"/>
            <a:ext cx="9144" cy="30998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3" name="Shape 11"/>
          <p:cNvSpPr/>
          <p:nvPr/>
        </p:nvSpPr>
        <p:spPr>
          <a:xfrm flipV="1">
            <a:off x="3001975" y="2834640"/>
            <a:ext cx="9144" cy="30998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4" name="Shape 12"/>
          <p:cNvSpPr/>
          <p:nvPr/>
        </p:nvSpPr>
        <p:spPr>
          <a:xfrm flipV="1">
            <a:off x="2886761" y="3445459"/>
            <a:ext cx="9144" cy="425196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5" name="Shape 13"/>
          <p:cNvSpPr/>
          <p:nvPr/>
        </p:nvSpPr>
        <p:spPr>
          <a:xfrm flipV="1">
            <a:off x="2258568" y="3870655"/>
            <a:ext cx="9144" cy="787298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16" name="Shape 14"/>
          <p:cNvSpPr/>
          <p:nvPr/>
        </p:nvSpPr>
        <p:spPr>
          <a:xfrm>
            <a:off x="2258568" y="3870655"/>
            <a:ext cx="2407615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66183" y="3870655"/>
            <a:ext cx="9144" cy="787298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 flipV="1">
            <a:off x="1744675" y="3808476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headEnd type="arrow"/>
          </a:ln>
        </p:spPr>
      </p:sp>
      <p:sp>
        <p:nvSpPr>
          <p:cNvPr id="19" name="Shape 17"/>
          <p:cNvSpPr/>
          <p:nvPr/>
        </p:nvSpPr>
        <p:spPr>
          <a:xfrm>
            <a:off x="1744675" y="3808476"/>
            <a:ext cx="2806294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 flipV="1">
            <a:off x="4550969" y="3534156"/>
            <a:ext cx="9144" cy="274320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tailEnd type="arrow"/>
          </a:ln>
        </p:spPr>
      </p:sp>
      <p:sp>
        <p:nvSpPr>
          <p:cNvPr id="21" name="Shape 19"/>
          <p:cNvSpPr/>
          <p:nvPr/>
        </p:nvSpPr>
        <p:spPr>
          <a:xfrm>
            <a:off x="4153205" y="3808476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tailEnd type="arrow"/>
          </a:ln>
        </p:spPr>
      </p:sp>
      <p:sp>
        <p:nvSpPr>
          <p:cNvPr id="22" name="Shape 20"/>
          <p:cNvSpPr/>
          <p:nvPr/>
        </p:nvSpPr>
        <p:spPr>
          <a:xfrm>
            <a:off x="1638605" y="4604918"/>
            <a:ext cx="66751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23" name="Shape 21"/>
          <p:cNvSpPr/>
          <p:nvPr/>
        </p:nvSpPr>
        <p:spPr>
          <a:xfrm>
            <a:off x="1705356" y="4604918"/>
            <a:ext cx="9144" cy="160020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705356" y="47649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1638605" y="5650078"/>
            <a:ext cx="66751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26" name="Shape 24"/>
          <p:cNvSpPr/>
          <p:nvPr/>
        </p:nvSpPr>
        <p:spPr>
          <a:xfrm flipV="1">
            <a:off x="1705356" y="4879238"/>
            <a:ext cx="9144" cy="77083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705356" y="48792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28" name="Shape 26"/>
          <p:cNvSpPr/>
          <p:nvPr/>
        </p:nvSpPr>
        <p:spPr>
          <a:xfrm flipV="1">
            <a:off x="2258568" y="5242255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2258568" y="5003597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0" name="Shape 28"/>
          <p:cNvSpPr/>
          <p:nvPr/>
        </p:nvSpPr>
        <p:spPr>
          <a:xfrm flipV="1">
            <a:off x="2258568" y="5907024"/>
            <a:ext cx="9144" cy="61265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2258568" y="5640934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2" name="Shape 30"/>
          <p:cNvSpPr/>
          <p:nvPr/>
        </p:nvSpPr>
        <p:spPr>
          <a:xfrm>
            <a:off x="4047134" y="4604918"/>
            <a:ext cx="6583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33" name="Shape 31"/>
          <p:cNvSpPr/>
          <p:nvPr/>
        </p:nvSpPr>
        <p:spPr>
          <a:xfrm>
            <a:off x="4112971" y="4604918"/>
            <a:ext cx="9144" cy="160020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112971" y="47649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5" name="Shape 33"/>
          <p:cNvSpPr/>
          <p:nvPr/>
        </p:nvSpPr>
        <p:spPr>
          <a:xfrm>
            <a:off x="4047134" y="5056632"/>
            <a:ext cx="6583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36" name="Shape 34"/>
          <p:cNvSpPr/>
          <p:nvPr/>
        </p:nvSpPr>
        <p:spPr>
          <a:xfrm flipV="1">
            <a:off x="4112971" y="4879238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112971" y="48792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8" name="Shape 36"/>
          <p:cNvSpPr/>
          <p:nvPr/>
        </p:nvSpPr>
        <p:spPr>
          <a:xfrm flipV="1">
            <a:off x="4666183" y="5242255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4666183" y="5003597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40" name="Shape 38"/>
          <p:cNvSpPr/>
          <p:nvPr/>
        </p:nvSpPr>
        <p:spPr>
          <a:xfrm flipV="1">
            <a:off x="4666183" y="5907024"/>
            <a:ext cx="9144" cy="61265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4666183" y="5640934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42" name="Shape 40"/>
          <p:cNvSpPr/>
          <p:nvPr/>
        </p:nvSpPr>
        <p:spPr>
          <a:xfrm>
            <a:off x="381305" y="1541678"/>
            <a:ext cx="5135270" cy="5188306"/>
          </a:xfrm>
          <a:prstGeom prst="roundRect">
            <a:avLst>
              <a:gd name="adj" fmla="val 712"/>
            </a:avLst>
          </a:prstGeom>
          <a:solidFill>
            <a:srgbClr val="1A73E8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2628" y="1762963"/>
            <a:ext cx="4993538" cy="4887468"/>
          </a:xfrm>
          <a:prstGeom prst="roundRect">
            <a:avLst>
              <a:gd name="adj" fmla="val 748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9204" y="1781251"/>
            <a:ext cx="4920386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Control Plane &amp; Multi-Tenant Governance Perimeter (80% Reusable Core + 20% Topology Delta)</a:t>
            </a:r>
            <a:endParaRPr lang="en-US" sz="600" dirty="0"/>
          </a:p>
        </p:txBody>
      </p:sp>
      <p:sp>
        <p:nvSpPr>
          <p:cNvPr id="45" name="Shape 43"/>
          <p:cNvSpPr/>
          <p:nvPr/>
        </p:nvSpPr>
        <p:spPr>
          <a:xfrm>
            <a:off x="523037" y="1922983"/>
            <a:ext cx="4851806" cy="4647895"/>
          </a:xfrm>
          <a:prstGeom prst="roundRect">
            <a:avLst>
              <a:gd name="adj" fmla="val 787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9613" y="1941271"/>
            <a:ext cx="4778654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 &amp; 5-Hop Cryptographic Context Chain</a:t>
            </a:r>
            <a:endParaRPr lang="en-US" sz="600" dirty="0"/>
          </a:p>
        </p:txBody>
      </p:sp>
      <p:sp>
        <p:nvSpPr>
          <p:cNvPr id="47" name="Shape 45"/>
          <p:cNvSpPr/>
          <p:nvPr/>
        </p:nvSpPr>
        <p:spPr>
          <a:xfrm>
            <a:off x="602590" y="3994099"/>
            <a:ext cx="2284171" cy="2478938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9166" y="4012387"/>
            <a:ext cx="2211019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A: Pooled Shared Runtime (Standard &amp; High-Density SaaS)</a:t>
            </a:r>
            <a:endParaRPr lang="en-US" sz="600" dirty="0"/>
          </a:p>
        </p:txBody>
      </p:sp>
      <p:sp>
        <p:nvSpPr>
          <p:cNvPr id="49" name="Shape 47"/>
          <p:cNvSpPr/>
          <p:nvPr/>
        </p:nvSpPr>
        <p:spPr>
          <a:xfrm>
            <a:off x="3011119" y="3994099"/>
            <a:ext cx="2284171" cy="2478938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7695" y="4012387"/>
            <a:ext cx="2211019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Pattern B (Sovereign Silos) &amp; Pattern C (Hybrid PSC Spokes)</a:t>
            </a:r>
            <a:endParaRPr lang="en-US" sz="600" dirty="0"/>
          </a:p>
        </p:txBody>
      </p:sp>
      <p:sp>
        <p:nvSpPr>
          <p:cNvPr id="51" name="Shape 49"/>
          <p:cNvSpPr/>
          <p:nvPr/>
        </p:nvSpPr>
        <p:spPr>
          <a:xfrm>
            <a:off x="673913" y="4154119"/>
            <a:ext cx="2142439" cy="2248510"/>
          </a:xfrm>
          <a:prstGeom prst="roundRect">
            <a:avLst>
              <a:gd name="adj" fmla="val 1707"/>
            </a:avLst>
          </a:prstGeom>
          <a:solidFill>
            <a:srgbClr val="FEEFC3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10489" y="4172407"/>
            <a:ext cx="2069287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Pool (Shared Runtime)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FinVault (8k Cap) &amp; RetailStream (4k Cap)</a:t>
            </a:r>
            <a:endParaRPr lang="en-US" sz="600" dirty="0"/>
          </a:p>
        </p:txBody>
      </p:sp>
      <p:sp>
        <p:nvSpPr>
          <p:cNvPr id="53" name="Shape 51"/>
          <p:cNvSpPr/>
          <p:nvPr/>
        </p:nvSpPr>
        <p:spPr>
          <a:xfrm>
            <a:off x="3081528" y="4154119"/>
            <a:ext cx="2142439" cy="2248510"/>
          </a:xfrm>
          <a:prstGeom prst="roundRect">
            <a:avLst>
              <a:gd name="adj" fmla="val 1707"/>
            </a:avLst>
          </a:prstGeom>
          <a:solidFill>
            <a:srgbClr val="FAD2CF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118104" y="4172407"/>
            <a:ext cx="2069287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Sovereign Tenant Project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VPC-SC + IAM PAB + CMEK Kill-Switch + PSC</a:t>
            </a:r>
            <a:endParaRPr lang="en-US" sz="600" dirty="0"/>
          </a:p>
        </p:txBody>
      </p:sp>
      <p:sp>
        <p:nvSpPr>
          <p:cNvPr id="55" name="Shape 53"/>
          <p:cNvSpPr/>
          <p:nvPr/>
        </p:nvSpPr>
        <p:spPr>
          <a:xfrm>
            <a:off x="594360" y="2072945"/>
            <a:ext cx="2938882" cy="1461211"/>
          </a:xfrm>
          <a:prstGeom prst="roundRect">
            <a:avLst>
              <a:gd name="adj" fmla="val 2503"/>
            </a:avLst>
          </a:prstGeom>
          <a:solidFill>
            <a:srgbClr val="AECBFA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936" y="2091233"/>
            <a:ext cx="2865730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 (Hop 1 &amp; Hop 2 PEP/PDP)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ingress, OBO+DPoP &amp; ARD catalog filter</a:t>
            </a:r>
            <a:endParaRPr lang="en-US" sz="600" dirty="0"/>
          </a:p>
        </p:txBody>
      </p:sp>
      <p:sp>
        <p:nvSpPr>
          <p:cNvPr id="57" name="Shape 55"/>
          <p:cNvSpPr/>
          <p:nvPr/>
        </p:nvSpPr>
        <p:spPr>
          <a:xfrm>
            <a:off x="3825850" y="2108606"/>
            <a:ext cx="1452067" cy="1416406"/>
          </a:xfrm>
          <a:prstGeom prst="roundRect">
            <a:avLst>
              <a:gd name="adj" fmla="val 2582"/>
            </a:avLst>
          </a:prstGeom>
          <a:solidFill>
            <a:srgbClr val="CEEAD6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862426" y="2126894"/>
            <a:ext cx="1378915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governance and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FinOps observability hub</a:t>
            </a:r>
            <a:endParaRPr lang="en-US" sz="600" dirty="0"/>
          </a:p>
        </p:txBody>
      </p:sp>
      <p:sp>
        <p:nvSpPr>
          <p:cNvPr id="59" name="Text 57"/>
          <p:cNvSpPr/>
          <p:nvPr/>
        </p:nvSpPr>
        <p:spPr>
          <a:xfrm>
            <a:off x="417881" y="621792"/>
            <a:ext cx="5062118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[WORKSTREAM 1.1 BLUEPRINT] GEAP Multi-Tenant Agentic AI Taxonomy: Pooled (Pattern A), Sovereign Silos (Pattern B) &amp; Hybrid (Pattern C)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B2B ISV SaaS Reference Architecture Expanding Google Cloud Architecture Center (Cymbal SaaS Serving FinVault &amp; RetailStream)</a:t>
            </a:r>
            <a:endParaRPr lang="en-US" sz="600" dirty="0"/>
          </a:p>
        </p:txBody>
      </p:sp>
      <p:sp>
        <p:nvSpPr>
          <p:cNvPr id="60" name="Shape 58"/>
          <p:cNvSpPr/>
          <p:nvPr/>
        </p:nvSpPr>
        <p:spPr>
          <a:xfrm>
            <a:off x="2350922" y="807415"/>
            <a:ext cx="1106424" cy="380390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1897" y="837590"/>
            <a:ext cx="144475" cy="144475"/>
          </a:xfrm>
          <a:prstGeom prst="rect">
            <a:avLst/>
          </a:prstGeom>
        </p:spPr>
      </p:pic>
      <p:sp>
        <p:nvSpPr>
          <p:cNvPr id="62" name="Text 59"/>
          <p:cNvSpPr/>
          <p:nvPr/>
        </p:nvSpPr>
        <p:spPr>
          <a:xfrm>
            <a:off x="2350922" y="995782"/>
            <a:ext cx="1106424" cy="1783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Competing B2B TenantsFinVault (OIDC) &amp; RetailStream (Entra)</a:t>
            </a:r>
            <a:endParaRPr lang="en-US" sz="600" dirty="0"/>
          </a:p>
        </p:txBody>
      </p:sp>
      <p:sp>
        <p:nvSpPr>
          <p:cNvPr id="63" name="Shape 60"/>
          <p:cNvSpPr/>
          <p:nvPr/>
        </p:nvSpPr>
        <p:spPr>
          <a:xfrm>
            <a:off x="2294230" y="2488997"/>
            <a:ext cx="1159459" cy="336499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0806" y="2563063"/>
            <a:ext cx="188366" cy="188366"/>
          </a:xfrm>
          <a:prstGeom prst="rect">
            <a:avLst/>
          </a:prstGeom>
        </p:spPr>
      </p:pic>
      <p:sp>
        <p:nvSpPr>
          <p:cNvPr id="65" name="Text 61"/>
          <p:cNvSpPr/>
          <p:nvPr/>
        </p:nvSpPr>
        <p:spPr>
          <a:xfrm>
            <a:off x="2555748" y="2488997"/>
            <a:ext cx="870509" cy="336499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Balancer • Cloud Load Balancing</a:t>
            </a:r>
            <a:endParaRPr lang="en-US" sz="600" dirty="0"/>
          </a:p>
        </p:txBody>
      </p:sp>
      <p:sp>
        <p:nvSpPr>
          <p:cNvPr id="66" name="Shape 62"/>
          <p:cNvSpPr/>
          <p:nvPr/>
        </p:nvSpPr>
        <p:spPr>
          <a:xfrm>
            <a:off x="3940150" y="2373782"/>
            <a:ext cx="1221638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6726" y="2444191"/>
            <a:ext cx="178308" cy="178308"/>
          </a:xfrm>
          <a:prstGeom prst="rect">
            <a:avLst/>
          </a:prstGeom>
        </p:spPr>
      </p:pic>
      <p:sp>
        <p:nvSpPr>
          <p:cNvPr id="68" name="Text 63"/>
          <p:cNvSpPr/>
          <p:nvPr/>
        </p:nvSpPr>
        <p:spPr>
          <a:xfrm>
            <a:off x="4191610" y="2373782"/>
            <a:ext cx="942746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Center • Cross-Pattern Breach Alerts</a:t>
            </a:r>
            <a:endParaRPr lang="en-US" sz="600" dirty="0"/>
          </a:p>
        </p:txBody>
      </p:sp>
      <p:sp>
        <p:nvSpPr>
          <p:cNvPr id="69" name="Shape 64"/>
          <p:cNvSpPr/>
          <p:nvPr/>
        </p:nvSpPr>
        <p:spPr>
          <a:xfrm>
            <a:off x="3958438" y="3118104"/>
            <a:ext cx="1185977" cy="300838"/>
          </a:xfrm>
          <a:prstGeom prst="roundRect">
            <a:avLst>
              <a:gd name="adj" fmla="val 12158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5014" y="3183941"/>
            <a:ext cx="168250" cy="168250"/>
          </a:xfrm>
          <a:prstGeom prst="rect">
            <a:avLst/>
          </a:prstGeom>
        </p:spPr>
      </p:pic>
      <p:sp>
        <p:nvSpPr>
          <p:cNvPr id="71" name="Text 65"/>
          <p:cNvSpPr/>
          <p:nvPr/>
        </p:nvSpPr>
        <p:spPr>
          <a:xfrm>
            <a:off x="4199839" y="3118104"/>
            <a:ext cx="917143" cy="30083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Logging &amp; BQ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Zero-PII OTel &amp; Chargeback</a:t>
            </a:r>
            <a:endParaRPr lang="en-US" sz="600" dirty="0"/>
          </a:p>
        </p:txBody>
      </p:sp>
      <p:sp>
        <p:nvSpPr>
          <p:cNvPr id="72" name="Shape 66"/>
          <p:cNvSpPr/>
          <p:nvPr/>
        </p:nvSpPr>
        <p:spPr>
          <a:xfrm>
            <a:off x="3966667" y="2755087"/>
            <a:ext cx="1168603" cy="300838"/>
          </a:xfrm>
          <a:prstGeom prst="roundRect">
            <a:avLst>
              <a:gd name="adj" fmla="val 12158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3243" y="2820924"/>
            <a:ext cx="168250" cy="168250"/>
          </a:xfrm>
          <a:prstGeom prst="rect">
            <a:avLst/>
          </a:prstGeom>
        </p:spPr>
      </p:pic>
      <p:sp>
        <p:nvSpPr>
          <p:cNvPr id="74" name="Text 67"/>
          <p:cNvSpPr/>
          <p:nvPr/>
        </p:nvSpPr>
        <p:spPr>
          <a:xfrm>
            <a:off x="4208069" y="2755087"/>
            <a:ext cx="899770" cy="30083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IAM &amp; PAB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Identity (2LO/3LO)</a:t>
            </a:r>
            <a:endParaRPr lang="en-US" sz="600" dirty="0"/>
          </a:p>
        </p:txBody>
      </p:sp>
      <p:sp>
        <p:nvSpPr>
          <p:cNvPr id="75" name="Shape 68"/>
          <p:cNvSpPr/>
          <p:nvPr/>
        </p:nvSpPr>
        <p:spPr>
          <a:xfrm>
            <a:off x="1762963" y="5968289"/>
            <a:ext cx="991210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99539" y="6040526"/>
            <a:ext cx="182880" cy="182880"/>
          </a:xfrm>
          <a:prstGeom prst="rect">
            <a:avLst/>
          </a:prstGeom>
        </p:spPr>
      </p:pic>
      <p:sp>
        <p:nvSpPr>
          <p:cNvPr id="77" name="Text 69"/>
          <p:cNvSpPr/>
          <p:nvPr/>
        </p:nvSpPr>
        <p:spPr>
          <a:xfrm>
            <a:off x="2018995" y="5968289"/>
            <a:ext cx="707746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AlloyDB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Row-Level Security (RLS)</a:t>
            </a:r>
            <a:endParaRPr lang="en-US" sz="600" dirty="0"/>
          </a:p>
        </p:txBody>
      </p:sp>
      <p:sp>
        <p:nvSpPr>
          <p:cNvPr id="78" name="Shape 70"/>
          <p:cNvSpPr/>
          <p:nvPr/>
        </p:nvSpPr>
        <p:spPr>
          <a:xfrm>
            <a:off x="4170578" y="5968289"/>
            <a:ext cx="991210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07154" y="6040526"/>
            <a:ext cx="182880" cy="182880"/>
          </a:xfrm>
          <a:prstGeom prst="rect">
            <a:avLst/>
          </a:prstGeom>
        </p:spPr>
      </p:pic>
      <p:sp>
        <p:nvSpPr>
          <p:cNvPr id="80" name="Text 71"/>
          <p:cNvSpPr/>
          <p:nvPr/>
        </p:nvSpPr>
        <p:spPr>
          <a:xfrm>
            <a:off x="4426610" y="5968289"/>
            <a:ext cx="707746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 Datastore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AlloyDB, BQ &amp; KMS 423 Lock</a:t>
            </a:r>
            <a:endParaRPr lang="en-US" sz="600" dirty="0"/>
          </a:p>
        </p:txBody>
      </p:sp>
      <p:sp>
        <p:nvSpPr>
          <p:cNvPr id="81" name="Shape 72"/>
          <p:cNvSpPr/>
          <p:nvPr/>
        </p:nvSpPr>
        <p:spPr>
          <a:xfrm>
            <a:off x="1771193" y="4667098"/>
            <a:ext cx="973836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07769" y="4739335"/>
            <a:ext cx="182880" cy="182880"/>
          </a:xfrm>
          <a:prstGeom prst="rect">
            <a:avLst/>
          </a:prstGeom>
        </p:spPr>
      </p:pic>
      <p:sp>
        <p:nvSpPr>
          <p:cNvPr id="83" name="Text 73"/>
          <p:cNvSpPr/>
          <p:nvPr/>
        </p:nvSpPr>
        <p:spPr>
          <a:xfrm>
            <a:off x="2027225" y="4667098"/>
            <a:ext cx="690372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Runtime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gVisor + temp:tenant_id</a:t>
            </a:r>
            <a:endParaRPr lang="en-US" sz="600" dirty="0"/>
          </a:p>
        </p:txBody>
      </p:sp>
      <p:sp>
        <p:nvSpPr>
          <p:cNvPr id="84" name="Shape 74"/>
          <p:cNvSpPr/>
          <p:nvPr/>
        </p:nvSpPr>
        <p:spPr>
          <a:xfrm>
            <a:off x="4179722" y="4667098"/>
            <a:ext cx="973836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16298" y="4739335"/>
            <a:ext cx="182880" cy="182880"/>
          </a:xfrm>
          <a:prstGeom prst="rect">
            <a:avLst/>
          </a:prstGeom>
        </p:spPr>
      </p:pic>
      <p:sp>
        <p:nvSpPr>
          <p:cNvPr id="86" name="Text 75"/>
          <p:cNvSpPr/>
          <p:nvPr/>
        </p:nvSpPr>
        <p:spPr>
          <a:xfrm>
            <a:off x="4435754" y="4667098"/>
            <a:ext cx="690372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Runtime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Dedicated Silo + Agent Alpha</a:t>
            </a:r>
            <a:endParaRPr lang="en-US" sz="600" dirty="0"/>
          </a:p>
        </p:txBody>
      </p:sp>
      <p:sp>
        <p:nvSpPr>
          <p:cNvPr id="87" name="Shape 76"/>
          <p:cNvSpPr/>
          <p:nvPr/>
        </p:nvSpPr>
        <p:spPr>
          <a:xfrm>
            <a:off x="1789481" y="5304434"/>
            <a:ext cx="947318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6057" y="5376672"/>
            <a:ext cx="182880" cy="182880"/>
          </a:xfrm>
          <a:prstGeom prst="rect">
            <a:avLst/>
          </a:prstGeom>
        </p:spPr>
      </p:pic>
      <p:sp>
        <p:nvSpPr>
          <p:cNvPr id="89" name="Text 77"/>
          <p:cNvSpPr/>
          <p:nvPr/>
        </p:nvSpPr>
        <p:spPr>
          <a:xfrm>
            <a:off x="2045513" y="5304434"/>
            <a:ext cx="663854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2LO + 3LO OIDC/Entra</a:t>
            </a:r>
            <a:endParaRPr lang="en-US" sz="600" dirty="0"/>
          </a:p>
        </p:txBody>
      </p:sp>
      <p:sp>
        <p:nvSpPr>
          <p:cNvPr id="90" name="Shape 78"/>
          <p:cNvSpPr/>
          <p:nvPr/>
        </p:nvSpPr>
        <p:spPr>
          <a:xfrm>
            <a:off x="4197096" y="5304434"/>
            <a:ext cx="947318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33672" y="5376672"/>
            <a:ext cx="182880" cy="182880"/>
          </a:xfrm>
          <a:prstGeom prst="rect">
            <a:avLst/>
          </a:prstGeom>
        </p:spPr>
      </p:pic>
      <p:sp>
        <p:nvSpPr>
          <p:cNvPr id="92" name="Text 79"/>
          <p:cNvSpPr/>
          <p:nvPr/>
        </p:nvSpPr>
        <p:spPr>
          <a:xfrm>
            <a:off x="4453128" y="5304434"/>
            <a:ext cx="663854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Local Silo 3LO Connectors</a:t>
            </a:r>
            <a:endParaRPr lang="en-US" sz="600" dirty="0"/>
          </a:p>
        </p:txBody>
      </p:sp>
      <p:sp>
        <p:nvSpPr>
          <p:cNvPr id="93" name="Shape 80"/>
          <p:cNvSpPr/>
          <p:nvPr/>
        </p:nvSpPr>
        <p:spPr>
          <a:xfrm>
            <a:off x="2400300" y="3144622"/>
            <a:ext cx="991210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4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36876" y="3209544"/>
            <a:ext cx="163678" cy="163678"/>
          </a:xfrm>
          <a:prstGeom prst="rect">
            <a:avLst/>
          </a:prstGeom>
        </p:spPr>
      </p:pic>
      <p:sp>
        <p:nvSpPr>
          <p:cNvPr id="95" name="Text 81"/>
          <p:cNvSpPr/>
          <p:nvPr/>
        </p:nvSpPr>
        <p:spPr>
          <a:xfrm>
            <a:off x="2637130" y="3144622"/>
            <a:ext cx="726948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Topology Router &amp; ARD PDP</a:t>
            </a:r>
            <a:endParaRPr lang="en-US" sz="600" dirty="0"/>
          </a:p>
        </p:txBody>
      </p:sp>
      <p:sp>
        <p:nvSpPr>
          <p:cNvPr id="96" name="Shape 82"/>
          <p:cNvSpPr/>
          <p:nvPr/>
        </p:nvSpPr>
        <p:spPr>
          <a:xfrm>
            <a:off x="744322" y="4445813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7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80898" y="4516222"/>
            <a:ext cx="178308" cy="178308"/>
          </a:xfrm>
          <a:prstGeom prst="rect">
            <a:avLst/>
          </a:prstGeom>
        </p:spPr>
      </p:pic>
      <p:sp>
        <p:nvSpPr>
          <p:cNvPr id="98" name="Text 83"/>
          <p:cNvSpPr/>
          <p:nvPr/>
        </p:nvSpPr>
        <p:spPr>
          <a:xfrm>
            <a:off x="995782" y="4445813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NLCs &amp; SDP PII</a:t>
            </a:r>
            <a:endParaRPr lang="en-US" sz="600" dirty="0"/>
          </a:p>
        </p:txBody>
      </p:sp>
      <p:sp>
        <p:nvSpPr>
          <p:cNvPr id="99" name="Shape 84"/>
          <p:cNvSpPr/>
          <p:nvPr/>
        </p:nvSpPr>
        <p:spPr>
          <a:xfrm>
            <a:off x="744322" y="5490972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0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0898" y="5561381"/>
            <a:ext cx="178308" cy="178308"/>
          </a:xfrm>
          <a:prstGeom prst="rect">
            <a:avLst/>
          </a:prstGeom>
        </p:spPr>
      </p:pic>
      <p:sp>
        <p:nvSpPr>
          <p:cNvPr id="101" name="Text 85"/>
          <p:cNvSpPr/>
          <p:nvPr/>
        </p:nvSpPr>
        <p:spPr>
          <a:xfrm>
            <a:off x="995782" y="5490972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2.5 Pro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90% Prefix Cache Savings</a:t>
            </a:r>
            <a:endParaRPr lang="en-US" sz="600" dirty="0"/>
          </a:p>
        </p:txBody>
      </p:sp>
      <p:sp>
        <p:nvSpPr>
          <p:cNvPr id="102" name="Shape 86"/>
          <p:cNvSpPr/>
          <p:nvPr/>
        </p:nvSpPr>
        <p:spPr>
          <a:xfrm>
            <a:off x="3152851" y="4445813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3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189427" y="4516222"/>
            <a:ext cx="178308" cy="178308"/>
          </a:xfrm>
          <a:prstGeom prst="rect">
            <a:avLst/>
          </a:prstGeom>
        </p:spPr>
      </p:pic>
      <p:sp>
        <p:nvSpPr>
          <p:cNvPr id="104" name="Text 87"/>
          <p:cNvSpPr/>
          <p:nvPr/>
        </p:nvSpPr>
        <p:spPr>
          <a:xfrm>
            <a:off x="3404311" y="4445813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Sovereign Silo Guardrails</a:t>
            </a:r>
            <a:endParaRPr lang="en-US" sz="600" dirty="0"/>
          </a:p>
        </p:txBody>
      </p:sp>
      <p:sp>
        <p:nvSpPr>
          <p:cNvPr id="105" name="Shape 88"/>
          <p:cNvSpPr/>
          <p:nvPr/>
        </p:nvSpPr>
        <p:spPr>
          <a:xfrm>
            <a:off x="3152851" y="4897526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6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189427" y="4967935"/>
            <a:ext cx="178308" cy="178308"/>
          </a:xfrm>
          <a:prstGeom prst="rect">
            <a:avLst/>
          </a:prstGeom>
        </p:spPr>
      </p:pic>
      <p:sp>
        <p:nvSpPr>
          <p:cNvPr id="107" name="Text 89"/>
          <p:cNvSpPr/>
          <p:nvPr/>
        </p:nvSpPr>
        <p:spPr>
          <a:xfrm>
            <a:off x="3404311" y="4897526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/ Gemma 3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3.7 or Private GKE</a:t>
            </a:r>
            <a:endParaRPr lang="en-US" sz="600" dirty="0"/>
          </a:p>
        </p:txBody>
      </p:sp>
      <p:sp>
        <p:nvSpPr>
          <p:cNvPr id="108" name="Shape 90"/>
          <p:cNvSpPr/>
          <p:nvPr/>
        </p:nvSpPr>
        <p:spPr>
          <a:xfrm>
            <a:off x="682142" y="2339035"/>
            <a:ext cx="903427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9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18718" y="2403043"/>
            <a:ext cx="163678" cy="163678"/>
          </a:xfrm>
          <a:prstGeom prst="rect">
            <a:avLst/>
          </a:prstGeom>
        </p:spPr>
      </p:pic>
      <p:sp>
        <p:nvSpPr>
          <p:cNvPr id="110" name="Text 91"/>
          <p:cNvSpPr/>
          <p:nvPr/>
        </p:nvSpPr>
        <p:spPr>
          <a:xfrm>
            <a:off x="918972" y="2339035"/>
            <a:ext cx="639166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Armor &amp; IAP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 Forged X-Tenant-ID</a:t>
            </a:r>
            <a:endParaRPr lang="en-US" sz="600" dirty="0"/>
          </a:p>
        </p:txBody>
      </p:sp>
      <p:sp>
        <p:nvSpPr>
          <p:cNvPr id="111" name="Shape 92"/>
          <p:cNvSpPr/>
          <p:nvPr/>
        </p:nvSpPr>
        <p:spPr>
          <a:xfrm>
            <a:off x="682142" y="2710282"/>
            <a:ext cx="903427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12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18718" y="2774290"/>
            <a:ext cx="163678" cy="163678"/>
          </a:xfrm>
          <a:prstGeom prst="rect">
            <a:avLst/>
          </a:prstGeom>
        </p:spPr>
      </p:pic>
      <p:sp>
        <p:nvSpPr>
          <p:cNvPr id="113" name="Text 93"/>
          <p:cNvSpPr/>
          <p:nvPr/>
        </p:nvSpPr>
        <p:spPr>
          <a:xfrm>
            <a:off x="918972" y="2710282"/>
            <a:ext cx="639166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Ingress Prompt Screen</a:t>
            </a:r>
            <a:endParaRPr lang="en-US" sz="600" dirty="0"/>
          </a:p>
        </p:txBody>
      </p:sp>
      <p:sp>
        <p:nvSpPr>
          <p:cNvPr id="114" name="Shape 94"/>
          <p:cNvSpPr/>
          <p:nvPr/>
        </p:nvSpPr>
        <p:spPr>
          <a:xfrm>
            <a:off x="717804" y="3144622"/>
            <a:ext cx="867766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15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54380" y="3209544"/>
            <a:ext cx="163678" cy="163678"/>
          </a:xfrm>
          <a:prstGeom prst="rect">
            <a:avLst/>
          </a:prstGeom>
        </p:spPr>
      </p:pic>
      <p:sp>
        <p:nvSpPr>
          <p:cNvPr id="116" name="Text 95"/>
          <p:cNvSpPr/>
          <p:nvPr/>
        </p:nvSpPr>
        <p:spPr>
          <a:xfrm>
            <a:off x="954634" y="3144622"/>
            <a:ext cx="603504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RFC 8693 OBO + DPoP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Sender-Constrained JWT</a:t>
            </a:r>
            <a:endParaRPr lang="en-US" sz="600" dirty="0"/>
          </a:p>
        </p:txBody>
      </p:sp>
      <p:sp>
        <p:nvSpPr>
          <p:cNvPr id="117" name="Text 96"/>
          <p:cNvSpPr/>
          <p:nvPr/>
        </p:nvSpPr>
        <p:spPr>
          <a:xfrm>
            <a:off x="4578401" y="3551530"/>
            <a:ext cx="774497" cy="2386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Security, OTel &amp; FinOps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chargeback telemetry</a:t>
            </a:r>
            <a:endParaRPr lang="en-US" sz="600" dirty="0"/>
          </a:p>
        </p:txBody>
      </p:sp>
      <p:sp>
        <p:nvSpPr>
          <p:cNvPr id="118" name="Text 97"/>
          <p:cNvSpPr/>
          <p:nvPr/>
        </p:nvSpPr>
        <p:spPr>
          <a:xfrm>
            <a:off x="1859890" y="5065776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Scoped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&amp; RAG</a:t>
            </a:r>
            <a:endParaRPr lang="en-US" sz="600" dirty="0"/>
          </a:p>
        </p:txBody>
      </p:sp>
      <p:sp>
        <p:nvSpPr>
          <p:cNvPr id="119" name="Text 98"/>
          <p:cNvSpPr/>
          <p:nvPr/>
        </p:nvSpPr>
        <p:spPr>
          <a:xfrm>
            <a:off x="1859890" y="5712257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 LOCAL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current_tenant</a:t>
            </a:r>
            <a:endParaRPr lang="en-US" sz="600" dirty="0"/>
          </a:p>
        </p:txBody>
      </p:sp>
      <p:sp>
        <p:nvSpPr>
          <p:cNvPr id="120" name="Text 99"/>
          <p:cNvSpPr/>
          <p:nvPr/>
        </p:nvSpPr>
        <p:spPr>
          <a:xfrm>
            <a:off x="4268419" y="5065776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Air-Gapped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 RAG</a:t>
            </a:r>
            <a:endParaRPr lang="en-US" sz="600" dirty="0"/>
          </a:p>
        </p:txBody>
      </p:sp>
      <p:sp>
        <p:nvSpPr>
          <p:cNvPr id="121" name="Text 100"/>
          <p:cNvSpPr/>
          <p:nvPr/>
        </p:nvSpPr>
        <p:spPr>
          <a:xfrm>
            <a:off x="4268419" y="5712257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CMEK-Encrypted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State &amp; Tools</a:t>
            </a:r>
            <a:endParaRPr lang="en-US" sz="600" dirty="0"/>
          </a:p>
        </p:txBody>
      </p:sp>
      <p:sp>
        <p:nvSpPr>
          <p:cNvPr id="122" name="Text 101"/>
          <p:cNvSpPr/>
          <p:nvPr/>
        </p:nvSpPr>
        <p:spPr>
          <a:xfrm>
            <a:off x="3126334" y="3587191"/>
            <a:ext cx="743407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Sanitized response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with SDP redaction</a:t>
            </a:r>
            <a:endParaRPr lang="en-US" sz="600" dirty="0"/>
          </a:p>
        </p:txBody>
      </p:sp>
      <p:sp>
        <p:nvSpPr>
          <p:cNvPr id="123" name="Text 102"/>
          <p:cNvSpPr/>
          <p:nvPr/>
        </p:nvSpPr>
        <p:spPr>
          <a:xfrm>
            <a:off x="948233" y="5862218"/>
            <a:ext cx="730606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600" dirty="0"/>
          </a:p>
        </p:txBody>
      </p:sp>
      <p:sp>
        <p:nvSpPr>
          <p:cNvPr id="124" name="Text 103"/>
          <p:cNvSpPr/>
          <p:nvPr/>
        </p:nvSpPr>
        <p:spPr>
          <a:xfrm>
            <a:off x="2187245" y="3587191"/>
            <a:ext cx="672998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by tenant tier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(Pool, Silo or PSC)</a:t>
            </a:r>
            <a:endParaRPr lang="en-US" sz="600" dirty="0"/>
          </a:p>
        </p:txBody>
      </p:sp>
      <p:sp>
        <p:nvSpPr>
          <p:cNvPr id="125" name="Text 104"/>
          <p:cNvSpPr/>
          <p:nvPr/>
        </p:nvSpPr>
        <p:spPr>
          <a:xfrm>
            <a:off x="1647749" y="3118104"/>
            <a:ext cx="690372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OBO + DPoP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verification</a:t>
            </a:r>
            <a:endParaRPr lang="en-US" sz="600" dirty="0"/>
          </a:p>
        </p:txBody>
      </p:sp>
      <p:sp>
        <p:nvSpPr>
          <p:cNvPr id="126" name="Text 105"/>
          <p:cNvSpPr/>
          <p:nvPr/>
        </p:nvSpPr>
        <p:spPr>
          <a:xfrm>
            <a:off x="948233" y="4835347"/>
            <a:ext cx="730606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600" dirty="0"/>
          </a:p>
        </p:txBody>
      </p:sp>
      <p:sp>
        <p:nvSpPr>
          <p:cNvPr id="127" name="Text 106"/>
          <p:cNvSpPr/>
          <p:nvPr/>
        </p:nvSpPr>
        <p:spPr>
          <a:xfrm>
            <a:off x="948233" y="5047488"/>
            <a:ext cx="730606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600" dirty="0"/>
          </a:p>
        </p:txBody>
      </p:sp>
      <p:pic>
        <p:nvPicPr>
          <p:cNvPr id="128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52628" y="1586484"/>
            <a:ext cx="663854" cy="132588"/>
          </a:xfrm>
          <a:prstGeom prst="rect">
            <a:avLst/>
          </a:prstGeom>
        </p:spPr>
      </p:pic>
      <p:sp>
        <p:nvSpPr>
          <p:cNvPr id="129" name="Text 107"/>
          <p:cNvSpPr/>
          <p:nvPr/>
        </p:nvSpPr>
        <p:spPr>
          <a:xfrm>
            <a:off x="1599286" y="2312518"/>
            <a:ext cx="565099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Header &amp; WAF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</a:t>
            </a:r>
            <a:endParaRPr lang="en-US" sz="600" dirty="0"/>
          </a:p>
        </p:txBody>
      </p:sp>
      <p:sp>
        <p:nvSpPr>
          <p:cNvPr id="130" name="Text 108"/>
          <p:cNvSpPr/>
          <p:nvPr/>
        </p:nvSpPr>
        <p:spPr>
          <a:xfrm>
            <a:off x="1621231" y="2878531"/>
            <a:ext cx="522122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600" dirty="0"/>
          </a:p>
        </p:txBody>
      </p:sp>
      <p:sp>
        <p:nvSpPr>
          <p:cNvPr id="131" name="Text 109"/>
          <p:cNvSpPr/>
          <p:nvPr/>
        </p:nvSpPr>
        <p:spPr>
          <a:xfrm>
            <a:off x="3108046" y="1312164"/>
            <a:ext cx="442570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600" dirty="0"/>
          </a:p>
        </p:txBody>
      </p:sp>
      <p:sp>
        <p:nvSpPr>
          <p:cNvPr id="132" name="Text 110"/>
          <p:cNvSpPr/>
          <p:nvPr/>
        </p:nvSpPr>
        <p:spPr>
          <a:xfrm>
            <a:off x="3108046" y="2918765"/>
            <a:ext cx="442570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600" dirty="0"/>
          </a:p>
        </p:txBody>
      </p:sp>
      <p:sp>
        <p:nvSpPr>
          <p:cNvPr id="133" name="Text 111"/>
          <p:cNvSpPr/>
          <p:nvPr/>
        </p:nvSpPr>
        <p:spPr>
          <a:xfrm>
            <a:off x="2285086" y="1312164"/>
            <a:ext cx="398678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600" dirty="0"/>
          </a:p>
        </p:txBody>
      </p:sp>
      <p:sp>
        <p:nvSpPr>
          <p:cNvPr id="134" name="Text 112"/>
          <p:cNvSpPr/>
          <p:nvPr/>
        </p:nvSpPr>
        <p:spPr>
          <a:xfrm>
            <a:off x="2285086" y="2918765"/>
            <a:ext cx="398678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600" dirty="0"/>
          </a:p>
        </p:txBody>
      </p:sp>
      <p:sp>
        <p:nvSpPr>
          <p:cNvPr id="135" name="Shape 113"/>
          <p:cNvSpPr/>
          <p:nvPr/>
        </p:nvSpPr>
        <p:spPr>
          <a:xfrm>
            <a:off x="2710282" y="1285646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36" name="Text 114"/>
          <p:cNvSpPr/>
          <p:nvPr/>
        </p:nvSpPr>
        <p:spPr>
          <a:xfrm>
            <a:off x="2710282" y="1285646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00" dirty="0"/>
          </a:p>
        </p:txBody>
      </p:sp>
      <p:sp>
        <p:nvSpPr>
          <p:cNvPr id="137" name="Shape 115"/>
          <p:cNvSpPr/>
          <p:nvPr/>
        </p:nvSpPr>
        <p:spPr>
          <a:xfrm>
            <a:off x="2913278" y="1285646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38" name="Text 116"/>
          <p:cNvSpPr/>
          <p:nvPr/>
        </p:nvSpPr>
        <p:spPr>
          <a:xfrm>
            <a:off x="2913278" y="1285646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39" name="Shape 117"/>
          <p:cNvSpPr/>
          <p:nvPr/>
        </p:nvSpPr>
        <p:spPr>
          <a:xfrm>
            <a:off x="2710282" y="2892247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0" name="Text 118"/>
          <p:cNvSpPr/>
          <p:nvPr/>
        </p:nvSpPr>
        <p:spPr>
          <a:xfrm>
            <a:off x="2710282" y="2892247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00" dirty="0"/>
          </a:p>
        </p:txBody>
      </p:sp>
      <p:sp>
        <p:nvSpPr>
          <p:cNvPr id="141" name="Shape 119"/>
          <p:cNvSpPr/>
          <p:nvPr/>
        </p:nvSpPr>
        <p:spPr>
          <a:xfrm>
            <a:off x="2913278" y="2892247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2" name="Text 120"/>
          <p:cNvSpPr/>
          <p:nvPr/>
        </p:nvSpPr>
        <p:spPr>
          <a:xfrm>
            <a:off x="2913278" y="2892247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43" name="Shape 121"/>
          <p:cNvSpPr/>
          <p:nvPr/>
        </p:nvSpPr>
        <p:spPr>
          <a:xfrm>
            <a:off x="1992478" y="3587191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4" name="Text 122"/>
          <p:cNvSpPr/>
          <p:nvPr/>
        </p:nvSpPr>
        <p:spPr>
          <a:xfrm>
            <a:off x="1992478" y="3587191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00" dirty="0"/>
          </a:p>
        </p:txBody>
      </p:sp>
      <p:sp>
        <p:nvSpPr>
          <p:cNvPr id="145" name="Shape 123"/>
          <p:cNvSpPr/>
          <p:nvPr/>
        </p:nvSpPr>
        <p:spPr>
          <a:xfrm>
            <a:off x="2931566" y="3587191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6" name="Text 124"/>
          <p:cNvSpPr/>
          <p:nvPr/>
        </p:nvSpPr>
        <p:spPr>
          <a:xfrm>
            <a:off x="2931566" y="3587191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47" name="Shape 125"/>
          <p:cNvSpPr/>
          <p:nvPr/>
        </p:nvSpPr>
        <p:spPr>
          <a:xfrm>
            <a:off x="753466" y="4808830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8" name="Text 126"/>
          <p:cNvSpPr/>
          <p:nvPr/>
        </p:nvSpPr>
        <p:spPr>
          <a:xfrm>
            <a:off x="753466" y="4808830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00" dirty="0"/>
          </a:p>
        </p:txBody>
      </p:sp>
      <p:sp>
        <p:nvSpPr>
          <p:cNvPr id="149" name="Shape 127"/>
          <p:cNvSpPr/>
          <p:nvPr/>
        </p:nvSpPr>
        <p:spPr>
          <a:xfrm>
            <a:off x="753466" y="5020970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50" name="Text 128"/>
          <p:cNvSpPr/>
          <p:nvPr/>
        </p:nvSpPr>
        <p:spPr>
          <a:xfrm>
            <a:off x="753466" y="5020970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00" dirty="0"/>
          </a:p>
        </p:txBody>
      </p:sp>
      <p:sp>
        <p:nvSpPr>
          <p:cNvPr id="151" name="Shape 129"/>
          <p:cNvSpPr/>
          <p:nvPr/>
        </p:nvSpPr>
        <p:spPr>
          <a:xfrm>
            <a:off x="753466" y="5862218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52" name="Text 130"/>
          <p:cNvSpPr/>
          <p:nvPr/>
        </p:nvSpPr>
        <p:spPr>
          <a:xfrm>
            <a:off x="753466" y="5862218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00" dirty="0"/>
          </a:p>
        </p:txBody>
      </p:sp>
      <p:sp>
        <p:nvSpPr>
          <p:cNvPr id="153" name="Shape 131"/>
          <p:cNvSpPr/>
          <p:nvPr/>
        </p:nvSpPr>
        <p:spPr>
          <a:xfrm>
            <a:off x="5943600" y="704088"/>
            <a:ext cx="5928055" cy="5696712"/>
          </a:xfrm>
          <a:prstGeom prst="roundRect">
            <a:avLst>
              <a:gd name="adj" fmla="val 1284"/>
            </a:avLst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54" name="Text 132"/>
          <p:cNvSpPr/>
          <p:nvPr/>
        </p:nvSpPr>
        <p:spPr>
          <a:xfrm>
            <a:off x="6172200" y="841248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</a:t>
            </a:r>
            <a:endParaRPr lang="en-US" sz="1000" dirty="0"/>
          </a:p>
        </p:txBody>
      </p:sp>
      <p:sp>
        <p:nvSpPr>
          <p:cNvPr id="155" name="Text 133"/>
          <p:cNvSpPr/>
          <p:nvPr/>
        </p:nvSpPr>
        <p:spPr>
          <a:xfrm>
            <a:off x="6172200" y="1115568"/>
            <a:ext cx="5470855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GEAP Multi-Tenant Agentic AI Taxonomy: Pooled (A), Sovereign Silos (B) &amp; Hybrid (C)</a:t>
            </a:r>
            <a:endParaRPr lang="en-US" sz="1500" dirty="0"/>
          </a:p>
        </p:txBody>
      </p:sp>
      <p:sp>
        <p:nvSpPr>
          <p:cNvPr id="156" name="Text 134"/>
          <p:cNvSpPr/>
          <p:nvPr/>
        </p:nvSpPr>
        <p:spPr>
          <a:xfrm>
            <a:off x="6172200" y="2029968"/>
            <a:ext cx="5470855" cy="3639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Actor 'Competing B2B Tenants FinVault (OIDC) &amp; RetailStream (Entra)' enters at badge 1 Request and exits at badge 7 Response.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Wrappers: 'Shared Control Plane &amp; Multi-Tenant Governance Perimeter (80% Reusable Core + 20% Topology Delta)' around the VPC.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'Routing hub (Hop 1 &amp; Hop 2 PEP/PDP)': Cloud Armor &amp; IAP strip X-Tenant-ID, Model Armor screen, OBO + DPoP, ALB, Cloud Run Router.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'Central governance and FinOps observability hub': SCC, Central IAM &amp; PAB Agent Identity (2LO/3LO), Cloud Logging &amp; BQ Zero-PII OTel.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Badge 3 'Route by tenant tier (Pool, Silo or PSC)' decides topology; badge 7 'Sanitized response with SDP redaction' scrubs returns.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Left 'Tenant Pool (Shared Runtime)' vs right 'Dedicated Sovereign Tenant Project' with 'CMEK Datastore AlloyDB, BQ &amp; KMS 423 Lock'.</a:t>
            </a:r>
            <a:endParaRPr lang="en-US" sz="1100" dirty="0"/>
          </a:p>
        </p:txBody>
      </p:sp>
      <p:sp>
        <p:nvSpPr>
          <p:cNvPr id="157" name="Text 135"/>
          <p:cNvSpPr/>
          <p:nvPr/>
        </p:nvSpPr>
        <p:spPr>
          <a:xfrm>
            <a:off x="6172200" y="5806440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native shapes • 23 connectors • </a:t>
            </a:r>
            <a:pPr indent="0" marL="0">
              <a:buNone/>
            </a:pPr>
            <a:r>
              <a:rPr lang="en-US" sz="85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any box, icon or arrow to edit</a:t>
            </a:r>
            <a:endParaRPr lang="en-US" sz="850" dirty="0"/>
          </a:p>
        </p:txBody>
      </p:sp>
      <p:sp>
        <p:nvSpPr>
          <p:cNvPr id="158" name="Text 136"/>
          <p:cNvSpPr/>
          <p:nvPr/>
        </p:nvSpPr>
        <p:spPr>
          <a:xfrm>
            <a:off x="6172200" y="6080760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Zones: Routing hub • Central governance &amp; security hub • Left spoke • Right spoke  |  Source: diagrams/ws1-multi-tenant-taxonomy-overview.drawio</a:t>
            </a:r>
            <a:endParaRPr lang="en-US" sz="7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1 — GEAP MULTI-TENANT AGENTIC AI TAXONOMY: POOLED (A), SOVEREIGN SILOS (B) &amp; HYBRID (C)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Editable Architecture Component &amp; Topology Specification Table</a:t>
            </a:r>
            <a:endParaRPr lang="en-US" sz="1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658368"/>
          <a:ext cx="11460175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3657600"/>
                <a:gridCol w="5699455"/>
                <a:gridCol w="12801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Object ID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 Name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Architectural Role / Details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Control Plane &amp; Multi-Tenant Governance Perimeter (80% Reusable Core + 20% Topolog…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VPC &amp; 5-Hop Cryptographic Context Chain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Pattern A: Pooled Shared Runtime (Standard &amp; High-Density SaaS)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Pattern B (Sovereign Silos) &amp; Pattern C (Hybrid PSC Spokes)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Tenant Pool (Shared Runtime)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FinVault (8k Cap) &amp; RetailStream (4k Cap)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Dedicated Sovereign Tenant Project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VPC-SC + IAM PAB + CMEK Kill-Switch + PSC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Routing hub (Hop 1 &amp; Hop 2 PEP/PDP)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Central ingress, OBO+DPoP &amp; ARD catalog filter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Central governance and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FinOps observability hub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[WORKSTREAM 1.1 BLUEPRINT] GEAP Multi-Tenant Agentic AI Taxonomy: Pooled (Pattern A), Sov…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B2B ISV SaaS Reference Architecture Expanding Google Cloud Architecture Center (Cymbal SaaS Serving FinVault…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Competing B2B TenantsFinVault (OIDC) &amp; RetailStream (Entra)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External Application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Load Balancer • Cloud Load Balancing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Command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Center • Cross-Pattern Breach Alerts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Logging &amp; BQ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Zero-PII OTel &amp; Chargeback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Central IAM &amp; PAB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Agent Identity (2LO/3LO)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— CLOUD ARCHITECTURE CENTER: MULTI-TENANT AGENTIC AI WITH 5-HOP CRYPTOGRAPHIC GOVERNANCE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ID: VIS-WS1-CLOUD-ARCH-CENTER-5HOP-BASELINE  •  1:1 Master High-Resolution Widescreen Architecture (Slide 2 contains Decomposed Vector Shapes)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3423514" y="521208"/>
            <a:ext cx="5344668" cy="6291072"/>
          </a:xfrm>
          <a:prstGeom prst="rect">
            <a:avLst/>
          </a:prstGeom>
          <a:solidFill>
            <a:srgbClr val="FFFFFF"/>
          </a:solidFill>
          <a:ln w="12700">
            <a:solidFill>
              <a:srgbClr val="CBD5E1"/>
            </a:solidFill>
            <a:prstDash val="solid"/>
          </a:ln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496666" y="576072"/>
            <a:ext cx="5198364" cy="6181344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274320" y="73152"/>
            <a:ext cx="1164305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— CLOUD ARCHITECTURE CENTER: MULTI-TENANT AGENTIC AI WITH 5-HOP CRYPTOGRAPHIC GOVERNANCE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ID: VIS-WS1-CLOUD-ARCH-CENTER-5HOP-BASELINE  •  100% Decomposed Native Editable Vector Shapes, Icons &amp; Arrows (Click any element to move or edit)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2798064" y="1187806"/>
            <a:ext cx="9144" cy="129296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5" name="Shape 3"/>
          <p:cNvSpPr/>
          <p:nvPr/>
        </p:nvSpPr>
        <p:spPr>
          <a:xfrm flipV="1">
            <a:off x="3001975" y="1196950"/>
            <a:ext cx="9144" cy="1292047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6" name="Shape 4"/>
          <p:cNvSpPr/>
          <p:nvPr/>
        </p:nvSpPr>
        <p:spPr>
          <a:xfrm flipH="1">
            <a:off x="2169871" y="2657246"/>
            <a:ext cx="115214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7" name="Shape 5"/>
          <p:cNvSpPr/>
          <p:nvPr/>
        </p:nvSpPr>
        <p:spPr>
          <a:xfrm flipV="1">
            <a:off x="2169871" y="2484425"/>
            <a:ext cx="9144" cy="17282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H="1">
            <a:off x="1594714" y="2484425"/>
            <a:ext cx="575158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9" name="Shape 7"/>
          <p:cNvSpPr/>
          <p:nvPr/>
        </p:nvSpPr>
        <p:spPr>
          <a:xfrm>
            <a:off x="2169871" y="2657246"/>
            <a:ext cx="9144" cy="19933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H="1">
            <a:off x="1594714" y="2856586"/>
            <a:ext cx="575158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1" name="Shape 9"/>
          <p:cNvSpPr/>
          <p:nvPr/>
        </p:nvSpPr>
        <p:spPr>
          <a:xfrm>
            <a:off x="1594714" y="3290926"/>
            <a:ext cx="796442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  <a:tailEnd type="arrow"/>
          </a:ln>
        </p:spPr>
      </p:sp>
      <p:sp>
        <p:nvSpPr>
          <p:cNvPr id="12" name="Shape 10"/>
          <p:cNvSpPr/>
          <p:nvPr/>
        </p:nvSpPr>
        <p:spPr>
          <a:xfrm>
            <a:off x="2798064" y="2825496"/>
            <a:ext cx="9144" cy="30998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3" name="Shape 11"/>
          <p:cNvSpPr/>
          <p:nvPr/>
        </p:nvSpPr>
        <p:spPr>
          <a:xfrm flipV="1">
            <a:off x="3001975" y="2834640"/>
            <a:ext cx="9144" cy="309982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4" name="Shape 12"/>
          <p:cNvSpPr/>
          <p:nvPr/>
        </p:nvSpPr>
        <p:spPr>
          <a:xfrm flipV="1">
            <a:off x="2886761" y="3445459"/>
            <a:ext cx="9144" cy="425196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5" name="Shape 13"/>
          <p:cNvSpPr/>
          <p:nvPr/>
        </p:nvSpPr>
        <p:spPr>
          <a:xfrm flipV="1">
            <a:off x="2258568" y="3870655"/>
            <a:ext cx="9144" cy="787298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16" name="Shape 14"/>
          <p:cNvSpPr/>
          <p:nvPr/>
        </p:nvSpPr>
        <p:spPr>
          <a:xfrm>
            <a:off x="2258568" y="3870655"/>
            <a:ext cx="2407615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666183" y="3870655"/>
            <a:ext cx="9144" cy="787298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18" name="Shape 16"/>
          <p:cNvSpPr/>
          <p:nvPr/>
        </p:nvSpPr>
        <p:spPr>
          <a:xfrm flipV="1">
            <a:off x="1744675" y="3808476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headEnd type="arrow"/>
          </a:ln>
        </p:spPr>
      </p:sp>
      <p:sp>
        <p:nvSpPr>
          <p:cNvPr id="19" name="Shape 17"/>
          <p:cNvSpPr/>
          <p:nvPr/>
        </p:nvSpPr>
        <p:spPr>
          <a:xfrm>
            <a:off x="1744675" y="3808476"/>
            <a:ext cx="2806294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 flipV="1">
            <a:off x="4550969" y="3534156"/>
            <a:ext cx="9144" cy="274320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tailEnd type="arrow"/>
          </a:ln>
        </p:spPr>
      </p:sp>
      <p:sp>
        <p:nvSpPr>
          <p:cNvPr id="21" name="Shape 19"/>
          <p:cNvSpPr/>
          <p:nvPr/>
        </p:nvSpPr>
        <p:spPr>
          <a:xfrm>
            <a:off x="4153205" y="3808476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dash"/>
            <a:tailEnd type="arrow"/>
          </a:ln>
        </p:spPr>
      </p:sp>
      <p:sp>
        <p:nvSpPr>
          <p:cNvPr id="22" name="Shape 20"/>
          <p:cNvSpPr/>
          <p:nvPr/>
        </p:nvSpPr>
        <p:spPr>
          <a:xfrm>
            <a:off x="1638605" y="4604918"/>
            <a:ext cx="66751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23" name="Shape 21"/>
          <p:cNvSpPr/>
          <p:nvPr/>
        </p:nvSpPr>
        <p:spPr>
          <a:xfrm>
            <a:off x="1705356" y="4604918"/>
            <a:ext cx="9144" cy="160020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1705356" y="47649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25" name="Shape 23"/>
          <p:cNvSpPr/>
          <p:nvPr/>
        </p:nvSpPr>
        <p:spPr>
          <a:xfrm>
            <a:off x="1638605" y="5650078"/>
            <a:ext cx="66751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26" name="Shape 24"/>
          <p:cNvSpPr/>
          <p:nvPr/>
        </p:nvSpPr>
        <p:spPr>
          <a:xfrm flipV="1">
            <a:off x="1705356" y="4879238"/>
            <a:ext cx="9144" cy="77083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705356" y="48792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28" name="Shape 26"/>
          <p:cNvSpPr/>
          <p:nvPr/>
        </p:nvSpPr>
        <p:spPr>
          <a:xfrm flipV="1">
            <a:off x="2258568" y="5242255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2258568" y="5003597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0" name="Shape 28"/>
          <p:cNvSpPr/>
          <p:nvPr/>
        </p:nvSpPr>
        <p:spPr>
          <a:xfrm flipV="1">
            <a:off x="2258568" y="5907024"/>
            <a:ext cx="9144" cy="61265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2258568" y="5640934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2" name="Shape 30"/>
          <p:cNvSpPr/>
          <p:nvPr/>
        </p:nvSpPr>
        <p:spPr>
          <a:xfrm>
            <a:off x="4047134" y="4604918"/>
            <a:ext cx="6583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33" name="Shape 31"/>
          <p:cNvSpPr/>
          <p:nvPr/>
        </p:nvSpPr>
        <p:spPr>
          <a:xfrm>
            <a:off x="4112971" y="4604918"/>
            <a:ext cx="9144" cy="160020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112971" y="47649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5" name="Shape 33"/>
          <p:cNvSpPr/>
          <p:nvPr/>
        </p:nvSpPr>
        <p:spPr>
          <a:xfrm>
            <a:off x="4047134" y="5056632"/>
            <a:ext cx="6583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headEnd type="arrow"/>
          </a:ln>
        </p:spPr>
      </p:sp>
      <p:sp>
        <p:nvSpPr>
          <p:cNvPr id="36" name="Shape 34"/>
          <p:cNvSpPr/>
          <p:nvPr/>
        </p:nvSpPr>
        <p:spPr>
          <a:xfrm flipV="1">
            <a:off x="4112971" y="4879238"/>
            <a:ext cx="9144" cy="17739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4112971" y="4879238"/>
            <a:ext cx="57607" cy="9144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38" name="Shape 36"/>
          <p:cNvSpPr/>
          <p:nvPr/>
        </p:nvSpPr>
        <p:spPr>
          <a:xfrm flipV="1">
            <a:off x="4666183" y="5242255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4666183" y="5003597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40" name="Shape 38"/>
          <p:cNvSpPr/>
          <p:nvPr/>
        </p:nvSpPr>
        <p:spPr>
          <a:xfrm flipV="1">
            <a:off x="4666183" y="5907024"/>
            <a:ext cx="9144" cy="61265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4666183" y="5640934"/>
            <a:ext cx="9144" cy="62179"/>
          </a:xfrm>
          <a:prstGeom prst="line">
            <a:avLst/>
          </a:prstGeom>
          <a:noFill/>
          <a:ln w="25400">
            <a:solidFill>
              <a:srgbClr val="202124"/>
            </a:solidFill>
            <a:prstDash val="solid"/>
            <a:tailEnd type="arrow"/>
          </a:ln>
        </p:spPr>
      </p:sp>
      <p:sp>
        <p:nvSpPr>
          <p:cNvPr id="42" name="Shape 40"/>
          <p:cNvSpPr/>
          <p:nvPr/>
        </p:nvSpPr>
        <p:spPr>
          <a:xfrm>
            <a:off x="381305" y="1541678"/>
            <a:ext cx="5135270" cy="5188306"/>
          </a:xfrm>
          <a:prstGeom prst="roundRect">
            <a:avLst>
              <a:gd name="adj" fmla="val 712"/>
            </a:avLst>
          </a:prstGeom>
          <a:solidFill>
            <a:srgbClr val="1A73E8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52628" y="1762963"/>
            <a:ext cx="4993538" cy="4887468"/>
          </a:xfrm>
          <a:prstGeom prst="roundRect">
            <a:avLst>
              <a:gd name="adj" fmla="val 748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89204" y="1781251"/>
            <a:ext cx="4920386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Shared hubs (VPC Service Controls Organization Perimeter)</a:t>
            </a:r>
            <a:endParaRPr lang="en-US" sz="600" dirty="0"/>
          </a:p>
        </p:txBody>
      </p:sp>
      <p:sp>
        <p:nvSpPr>
          <p:cNvPr id="45" name="Shape 43"/>
          <p:cNvSpPr/>
          <p:nvPr/>
        </p:nvSpPr>
        <p:spPr>
          <a:xfrm>
            <a:off x="523037" y="1922983"/>
            <a:ext cx="4851806" cy="4647895"/>
          </a:xfrm>
          <a:prstGeom prst="roundRect">
            <a:avLst>
              <a:gd name="adj" fmla="val 787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59613" y="1941271"/>
            <a:ext cx="4778654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VPC</a:t>
            </a:r>
            <a:endParaRPr lang="en-US" sz="600" dirty="0"/>
          </a:p>
        </p:txBody>
      </p:sp>
      <p:sp>
        <p:nvSpPr>
          <p:cNvPr id="47" name="Shape 45"/>
          <p:cNvSpPr/>
          <p:nvPr/>
        </p:nvSpPr>
        <p:spPr>
          <a:xfrm>
            <a:off x="602590" y="3994099"/>
            <a:ext cx="2284171" cy="2478938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639166" y="4012387"/>
            <a:ext cx="2211019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• Hop 3–5 Isolation Boundary (Tenant Alpha)</a:t>
            </a:r>
            <a:endParaRPr lang="en-US" sz="600" dirty="0"/>
          </a:p>
        </p:txBody>
      </p:sp>
      <p:sp>
        <p:nvSpPr>
          <p:cNvPr id="49" name="Shape 47"/>
          <p:cNvSpPr/>
          <p:nvPr/>
        </p:nvSpPr>
        <p:spPr>
          <a:xfrm>
            <a:off x="3011119" y="3994099"/>
            <a:ext cx="2284171" cy="2478938"/>
          </a:xfrm>
          <a:prstGeom prst="roundRect">
            <a:avLst>
              <a:gd name="adj" fmla="val 1601"/>
            </a:avLst>
          </a:prstGeom>
          <a:solidFill>
            <a:srgbClr val="FFFFFF"/>
          </a:solidFill>
          <a:ln w="15240">
            <a:solidFill>
              <a:srgbClr val="202124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3047695" y="4012387"/>
            <a:ext cx="2211019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PAB • Hop 3–5 Isolation Boundary (Tenant Beta)</a:t>
            </a:r>
            <a:endParaRPr lang="en-US" sz="600" dirty="0"/>
          </a:p>
        </p:txBody>
      </p:sp>
      <p:sp>
        <p:nvSpPr>
          <p:cNvPr id="51" name="Shape 49"/>
          <p:cNvSpPr/>
          <p:nvPr/>
        </p:nvSpPr>
        <p:spPr>
          <a:xfrm>
            <a:off x="673913" y="4154119"/>
            <a:ext cx="2142439" cy="2248510"/>
          </a:xfrm>
          <a:prstGeom prst="roundRect">
            <a:avLst>
              <a:gd name="adj" fmla="val 1707"/>
            </a:avLst>
          </a:prstGeom>
          <a:solidFill>
            <a:srgbClr val="FEEFC3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710489" y="4172407"/>
            <a:ext cx="2069287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A (FinVault Bank)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project • Enterprise Tier (Google OIDC)</a:t>
            </a:r>
            <a:endParaRPr lang="en-US" sz="600" dirty="0"/>
          </a:p>
        </p:txBody>
      </p:sp>
      <p:sp>
        <p:nvSpPr>
          <p:cNvPr id="53" name="Shape 51"/>
          <p:cNvSpPr/>
          <p:nvPr/>
        </p:nvSpPr>
        <p:spPr>
          <a:xfrm>
            <a:off x="3081528" y="4154119"/>
            <a:ext cx="2142439" cy="2248510"/>
          </a:xfrm>
          <a:prstGeom prst="roundRect">
            <a:avLst>
              <a:gd name="adj" fmla="val 1707"/>
            </a:avLst>
          </a:prstGeom>
          <a:solidFill>
            <a:srgbClr val="FAD2CF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3118104" y="4172407"/>
            <a:ext cx="2069287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B (RetailStream Corp)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Tenant project • Standard Tier (Entra ID)</a:t>
            </a:r>
            <a:endParaRPr lang="en-US" sz="600" dirty="0"/>
          </a:p>
        </p:txBody>
      </p:sp>
      <p:sp>
        <p:nvSpPr>
          <p:cNvPr id="55" name="Shape 53"/>
          <p:cNvSpPr/>
          <p:nvPr/>
        </p:nvSpPr>
        <p:spPr>
          <a:xfrm>
            <a:off x="594360" y="2072945"/>
            <a:ext cx="2938882" cy="1461211"/>
          </a:xfrm>
          <a:prstGeom prst="roundRect">
            <a:avLst>
              <a:gd name="adj" fmla="val 2503"/>
            </a:avLst>
          </a:prstGeom>
          <a:solidFill>
            <a:srgbClr val="AECBFA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6" name="Text 54"/>
          <p:cNvSpPr/>
          <p:nvPr/>
        </p:nvSpPr>
        <p:spPr>
          <a:xfrm>
            <a:off x="630936" y="2091233"/>
            <a:ext cx="2865730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Routing hub (Hop 1 &amp; Hop 2)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ingress &amp; cryptographic token exchange</a:t>
            </a:r>
            <a:endParaRPr lang="en-US" sz="600" dirty="0"/>
          </a:p>
        </p:txBody>
      </p:sp>
      <p:sp>
        <p:nvSpPr>
          <p:cNvPr id="57" name="Shape 55"/>
          <p:cNvSpPr/>
          <p:nvPr/>
        </p:nvSpPr>
        <p:spPr>
          <a:xfrm>
            <a:off x="3825850" y="2108606"/>
            <a:ext cx="1452067" cy="1416406"/>
          </a:xfrm>
          <a:prstGeom prst="roundRect">
            <a:avLst>
              <a:gd name="adj" fmla="val 2582"/>
            </a:avLst>
          </a:prstGeom>
          <a:solidFill>
            <a:srgbClr val="CEEAD6"/>
          </a:solidFill>
          <a:ln w="12700">
            <a:solidFill>
              <a:srgbClr val="202124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3862426" y="2126894"/>
            <a:ext cx="1378915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governance and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hub</a:t>
            </a:r>
            <a:endParaRPr lang="en-US" sz="600" dirty="0"/>
          </a:p>
        </p:txBody>
      </p:sp>
      <p:sp>
        <p:nvSpPr>
          <p:cNvPr id="59" name="Text 57"/>
          <p:cNvSpPr/>
          <p:nvPr/>
        </p:nvSpPr>
        <p:spPr>
          <a:xfrm>
            <a:off x="417881" y="621792"/>
            <a:ext cx="5062118" cy="256032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t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174E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[WORKSTREAM 1.3 DOC PR BLUEPRINT] Cloud Architecture Center: Multi-Tenant Agentic AI System with 5-Hop Cryptographic Governance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5F63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Official Hub-and-Spoke Reference Architecture (docs.cloud.google.com/architecture/multi-tenant-agentic-ai-system)</a:t>
            </a:r>
            <a:endParaRPr lang="en-US" sz="600" dirty="0"/>
          </a:p>
        </p:txBody>
      </p:sp>
      <p:sp>
        <p:nvSpPr>
          <p:cNvPr id="60" name="Shape 58"/>
          <p:cNvSpPr/>
          <p:nvPr/>
        </p:nvSpPr>
        <p:spPr>
          <a:xfrm>
            <a:off x="2350922" y="807415"/>
            <a:ext cx="1106424" cy="380390"/>
          </a:xfrm>
          <a:prstGeom prst="roundRect">
            <a:avLst>
              <a:gd name="adj" fmla="val 9615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1897" y="837590"/>
            <a:ext cx="144475" cy="144475"/>
          </a:xfrm>
          <a:prstGeom prst="rect">
            <a:avLst/>
          </a:prstGeom>
        </p:spPr>
      </p:pic>
      <p:sp>
        <p:nvSpPr>
          <p:cNvPr id="62" name="Text 59"/>
          <p:cNvSpPr/>
          <p:nvPr/>
        </p:nvSpPr>
        <p:spPr>
          <a:xfrm>
            <a:off x="2350922" y="995782"/>
            <a:ext cx="1106424" cy="1783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t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UserOIDC / Entra JWT</a:t>
            </a:r>
            <a:endParaRPr lang="en-US" sz="600" dirty="0"/>
          </a:p>
        </p:txBody>
      </p:sp>
      <p:sp>
        <p:nvSpPr>
          <p:cNvPr id="63" name="Shape 60"/>
          <p:cNvSpPr/>
          <p:nvPr/>
        </p:nvSpPr>
        <p:spPr>
          <a:xfrm>
            <a:off x="2294230" y="2488997"/>
            <a:ext cx="1159459" cy="336499"/>
          </a:xfrm>
          <a:prstGeom prst="roundRect">
            <a:avLst>
              <a:gd name="adj" fmla="val 1087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30806" y="2563063"/>
            <a:ext cx="188366" cy="188366"/>
          </a:xfrm>
          <a:prstGeom prst="rect">
            <a:avLst/>
          </a:prstGeom>
        </p:spPr>
      </p:pic>
      <p:sp>
        <p:nvSpPr>
          <p:cNvPr id="65" name="Text 61"/>
          <p:cNvSpPr/>
          <p:nvPr/>
        </p:nvSpPr>
        <p:spPr>
          <a:xfrm>
            <a:off x="2555748" y="2488997"/>
            <a:ext cx="870509" cy="336499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External Application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 Balancer • Cloud Load Balancing</a:t>
            </a:r>
            <a:endParaRPr lang="en-US" sz="600" dirty="0"/>
          </a:p>
        </p:txBody>
      </p:sp>
      <p:sp>
        <p:nvSpPr>
          <p:cNvPr id="66" name="Shape 62"/>
          <p:cNvSpPr/>
          <p:nvPr/>
        </p:nvSpPr>
        <p:spPr>
          <a:xfrm>
            <a:off x="3940150" y="2373782"/>
            <a:ext cx="1221638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6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76726" y="2444191"/>
            <a:ext cx="178308" cy="178308"/>
          </a:xfrm>
          <a:prstGeom prst="rect">
            <a:avLst/>
          </a:prstGeom>
        </p:spPr>
      </p:pic>
      <p:sp>
        <p:nvSpPr>
          <p:cNvPr id="68" name="Text 63"/>
          <p:cNvSpPr/>
          <p:nvPr/>
        </p:nvSpPr>
        <p:spPr>
          <a:xfrm>
            <a:off x="4191610" y="2373782"/>
            <a:ext cx="942746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Command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Center • Continuous Threat Detection</a:t>
            </a:r>
            <a:endParaRPr lang="en-US" sz="600" dirty="0"/>
          </a:p>
        </p:txBody>
      </p:sp>
      <p:sp>
        <p:nvSpPr>
          <p:cNvPr id="69" name="Shape 64"/>
          <p:cNvSpPr/>
          <p:nvPr/>
        </p:nvSpPr>
        <p:spPr>
          <a:xfrm>
            <a:off x="3958438" y="3118104"/>
            <a:ext cx="1185977" cy="300838"/>
          </a:xfrm>
          <a:prstGeom prst="roundRect">
            <a:avLst>
              <a:gd name="adj" fmla="val 12158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95014" y="3183941"/>
            <a:ext cx="168250" cy="168250"/>
          </a:xfrm>
          <a:prstGeom prst="rect">
            <a:avLst/>
          </a:prstGeom>
        </p:spPr>
      </p:pic>
      <p:sp>
        <p:nvSpPr>
          <p:cNvPr id="71" name="Text 65"/>
          <p:cNvSpPr/>
          <p:nvPr/>
        </p:nvSpPr>
        <p:spPr>
          <a:xfrm>
            <a:off x="4199839" y="3118104"/>
            <a:ext cx="917143" cy="30083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Logging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 OTel Audit Sink</a:t>
            </a:r>
            <a:endParaRPr lang="en-US" sz="600" dirty="0"/>
          </a:p>
        </p:txBody>
      </p:sp>
      <p:sp>
        <p:nvSpPr>
          <p:cNvPr id="72" name="Shape 66"/>
          <p:cNvSpPr/>
          <p:nvPr/>
        </p:nvSpPr>
        <p:spPr>
          <a:xfrm>
            <a:off x="3966667" y="2755087"/>
            <a:ext cx="1168603" cy="300838"/>
          </a:xfrm>
          <a:prstGeom prst="roundRect">
            <a:avLst>
              <a:gd name="adj" fmla="val 12158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3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03243" y="2820924"/>
            <a:ext cx="168250" cy="168250"/>
          </a:xfrm>
          <a:prstGeom prst="rect">
            <a:avLst/>
          </a:prstGeom>
        </p:spPr>
      </p:pic>
      <p:sp>
        <p:nvSpPr>
          <p:cNvPr id="74" name="Text 67"/>
          <p:cNvSpPr/>
          <p:nvPr/>
        </p:nvSpPr>
        <p:spPr>
          <a:xfrm>
            <a:off x="4208069" y="2755087"/>
            <a:ext cx="899770" cy="30083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Central IAM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 Manager (2LO / 3LO)</a:t>
            </a:r>
            <a:endParaRPr lang="en-US" sz="600" dirty="0"/>
          </a:p>
        </p:txBody>
      </p:sp>
      <p:sp>
        <p:nvSpPr>
          <p:cNvPr id="75" name="Shape 68"/>
          <p:cNvSpPr/>
          <p:nvPr/>
        </p:nvSpPr>
        <p:spPr>
          <a:xfrm>
            <a:off x="1762963" y="5968289"/>
            <a:ext cx="991210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6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799539" y="6040526"/>
            <a:ext cx="182880" cy="182880"/>
          </a:xfrm>
          <a:prstGeom prst="rect">
            <a:avLst/>
          </a:prstGeom>
        </p:spPr>
      </p:pic>
      <p:sp>
        <p:nvSpPr>
          <p:cNvPr id="77" name="Text 69"/>
          <p:cNvSpPr/>
          <p:nvPr/>
        </p:nvSpPr>
        <p:spPr>
          <a:xfrm>
            <a:off x="2018995" y="5968289"/>
            <a:ext cx="707746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Datastore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BigQuery, AlloyDB RLS, CMEK</a:t>
            </a:r>
            <a:endParaRPr lang="en-US" sz="600" dirty="0"/>
          </a:p>
        </p:txBody>
      </p:sp>
      <p:sp>
        <p:nvSpPr>
          <p:cNvPr id="78" name="Shape 70"/>
          <p:cNvSpPr/>
          <p:nvPr/>
        </p:nvSpPr>
        <p:spPr>
          <a:xfrm>
            <a:off x="4170578" y="5968289"/>
            <a:ext cx="991210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7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207154" y="6040526"/>
            <a:ext cx="182880" cy="182880"/>
          </a:xfrm>
          <a:prstGeom prst="rect">
            <a:avLst/>
          </a:prstGeom>
        </p:spPr>
      </p:pic>
      <p:sp>
        <p:nvSpPr>
          <p:cNvPr id="80" name="Text 71"/>
          <p:cNvSpPr/>
          <p:nvPr/>
        </p:nvSpPr>
        <p:spPr>
          <a:xfrm>
            <a:off x="4426610" y="5968289"/>
            <a:ext cx="707746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Datastore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BigQuery, AlloyDB RLS, Redis</a:t>
            </a:r>
            <a:endParaRPr lang="en-US" sz="600" dirty="0"/>
          </a:p>
        </p:txBody>
      </p:sp>
      <p:sp>
        <p:nvSpPr>
          <p:cNvPr id="81" name="Shape 72"/>
          <p:cNvSpPr/>
          <p:nvPr/>
        </p:nvSpPr>
        <p:spPr>
          <a:xfrm>
            <a:off x="1771193" y="4667098"/>
            <a:ext cx="973836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2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807769" y="4739335"/>
            <a:ext cx="182880" cy="182880"/>
          </a:xfrm>
          <a:prstGeom prst="rect">
            <a:avLst/>
          </a:prstGeom>
        </p:spPr>
      </p:pic>
      <p:sp>
        <p:nvSpPr>
          <p:cNvPr id="83" name="Text 73"/>
          <p:cNvSpPr/>
          <p:nvPr/>
        </p:nvSpPr>
        <p:spPr>
          <a:xfrm>
            <a:off x="2027225" y="4667098"/>
            <a:ext cx="690372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Runtime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3: Shared + Agent Alpha</a:t>
            </a:r>
            <a:endParaRPr lang="en-US" sz="600" dirty="0"/>
          </a:p>
        </p:txBody>
      </p:sp>
      <p:sp>
        <p:nvSpPr>
          <p:cNvPr id="84" name="Shape 74"/>
          <p:cNvSpPr/>
          <p:nvPr/>
        </p:nvSpPr>
        <p:spPr>
          <a:xfrm>
            <a:off x="4179722" y="4667098"/>
            <a:ext cx="973836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5" name="Image 8" descr="preencoded.pn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16298" y="4739335"/>
            <a:ext cx="182880" cy="182880"/>
          </a:xfrm>
          <a:prstGeom prst="rect">
            <a:avLst/>
          </a:prstGeom>
        </p:spPr>
      </p:pic>
      <p:sp>
        <p:nvSpPr>
          <p:cNvPr id="86" name="Text 75"/>
          <p:cNvSpPr/>
          <p:nvPr/>
        </p:nvSpPr>
        <p:spPr>
          <a:xfrm>
            <a:off x="4435754" y="4667098"/>
            <a:ext cx="690372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Runtime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3: Shared Diagnostic</a:t>
            </a:r>
            <a:endParaRPr lang="en-US" sz="600" dirty="0"/>
          </a:p>
        </p:txBody>
      </p:sp>
      <p:sp>
        <p:nvSpPr>
          <p:cNvPr id="87" name="Shape 76"/>
          <p:cNvSpPr/>
          <p:nvPr/>
        </p:nvSpPr>
        <p:spPr>
          <a:xfrm>
            <a:off x="1789481" y="5304434"/>
            <a:ext cx="947318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88" name="Image 9" descr="preencoded.pn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826057" y="5376672"/>
            <a:ext cx="182880" cy="182880"/>
          </a:xfrm>
          <a:prstGeom prst="rect">
            <a:avLst/>
          </a:prstGeom>
        </p:spPr>
      </p:pic>
      <p:sp>
        <p:nvSpPr>
          <p:cNvPr id="89" name="Text 77"/>
          <p:cNvSpPr/>
          <p:nvPr/>
        </p:nvSpPr>
        <p:spPr>
          <a:xfrm>
            <a:off x="2045513" y="5304434"/>
            <a:ext cx="663854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5: Workspace &amp; Jira 3LO</a:t>
            </a:r>
            <a:endParaRPr lang="en-US" sz="600" dirty="0"/>
          </a:p>
        </p:txBody>
      </p:sp>
      <p:sp>
        <p:nvSpPr>
          <p:cNvPr id="90" name="Shape 78"/>
          <p:cNvSpPr/>
          <p:nvPr/>
        </p:nvSpPr>
        <p:spPr>
          <a:xfrm>
            <a:off x="4197096" y="5304434"/>
            <a:ext cx="947318" cy="327355"/>
          </a:xfrm>
          <a:prstGeom prst="roundRect">
            <a:avLst>
              <a:gd name="adj" fmla="val 11173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1" name="Image 10" descr="preencoded.pn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233672" y="5376672"/>
            <a:ext cx="182880" cy="182880"/>
          </a:xfrm>
          <a:prstGeom prst="rect">
            <a:avLst/>
          </a:prstGeom>
        </p:spPr>
      </p:pic>
      <p:sp>
        <p:nvSpPr>
          <p:cNvPr id="92" name="Text 79"/>
          <p:cNvSpPr/>
          <p:nvPr/>
        </p:nvSpPr>
        <p:spPr>
          <a:xfrm>
            <a:off x="4453128" y="5304434"/>
            <a:ext cx="663854" cy="327355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servers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5: SharePoint &amp; SNOW</a:t>
            </a:r>
            <a:endParaRPr lang="en-US" sz="600" dirty="0"/>
          </a:p>
        </p:txBody>
      </p:sp>
      <p:sp>
        <p:nvSpPr>
          <p:cNvPr id="93" name="Shape 80"/>
          <p:cNvSpPr/>
          <p:nvPr/>
        </p:nvSpPr>
        <p:spPr>
          <a:xfrm>
            <a:off x="2400300" y="3144622"/>
            <a:ext cx="991210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4" name="Image 11" descr="preencoded.pn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36876" y="3209544"/>
            <a:ext cx="163678" cy="163678"/>
          </a:xfrm>
          <a:prstGeom prst="rect">
            <a:avLst/>
          </a:prstGeom>
        </p:spPr>
      </p:pic>
      <p:sp>
        <p:nvSpPr>
          <p:cNvPr id="95" name="Text 81"/>
          <p:cNvSpPr/>
          <p:nvPr/>
        </p:nvSpPr>
        <p:spPr>
          <a:xfrm>
            <a:off x="2637130" y="3144622"/>
            <a:ext cx="726948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Run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Frontend portal &amp; Hop 2 PDP</a:t>
            </a:r>
            <a:endParaRPr lang="en-US" sz="600" dirty="0"/>
          </a:p>
        </p:txBody>
      </p:sp>
      <p:sp>
        <p:nvSpPr>
          <p:cNvPr id="96" name="Shape 82"/>
          <p:cNvSpPr/>
          <p:nvPr/>
        </p:nvSpPr>
        <p:spPr>
          <a:xfrm>
            <a:off x="744322" y="4445813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97" name="Image 12" descr="preencoded.pn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80898" y="4516222"/>
            <a:ext cx="178308" cy="178308"/>
          </a:xfrm>
          <a:prstGeom prst="rect">
            <a:avLst/>
          </a:prstGeom>
        </p:spPr>
      </p:pic>
      <p:sp>
        <p:nvSpPr>
          <p:cNvPr id="98" name="Text 83"/>
          <p:cNvSpPr/>
          <p:nvPr/>
        </p:nvSpPr>
        <p:spPr>
          <a:xfrm>
            <a:off x="995782" y="4445813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4: Bank SDP &amp; OCC NLC</a:t>
            </a:r>
            <a:endParaRPr lang="en-US" sz="600" dirty="0"/>
          </a:p>
        </p:txBody>
      </p:sp>
      <p:sp>
        <p:nvSpPr>
          <p:cNvPr id="99" name="Shape 84"/>
          <p:cNvSpPr/>
          <p:nvPr/>
        </p:nvSpPr>
        <p:spPr>
          <a:xfrm>
            <a:off x="744322" y="5490972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0" name="Image 13" descr="preencoded.pn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0898" y="5561381"/>
            <a:ext cx="178308" cy="178308"/>
          </a:xfrm>
          <a:prstGeom prst="rect">
            <a:avLst/>
          </a:prstGeom>
        </p:spPr>
      </p:pic>
      <p:sp>
        <p:nvSpPr>
          <p:cNvPr id="101" name="Text 85"/>
          <p:cNvSpPr/>
          <p:nvPr/>
        </p:nvSpPr>
        <p:spPr>
          <a:xfrm>
            <a:off x="995782" y="5490972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 &amp; Claude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Platform (8k Budget)</a:t>
            </a:r>
            <a:endParaRPr lang="en-US" sz="600" dirty="0"/>
          </a:p>
        </p:txBody>
      </p:sp>
      <p:sp>
        <p:nvSpPr>
          <p:cNvPr id="102" name="Shape 86"/>
          <p:cNvSpPr/>
          <p:nvPr/>
        </p:nvSpPr>
        <p:spPr>
          <a:xfrm>
            <a:off x="3152851" y="4445813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3" name="Image 14" descr="preencoded.pn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3189427" y="4516222"/>
            <a:ext cx="178308" cy="178308"/>
          </a:xfrm>
          <a:prstGeom prst="rect">
            <a:avLst/>
          </a:prstGeom>
        </p:spPr>
      </p:pic>
      <p:sp>
        <p:nvSpPr>
          <p:cNvPr id="104" name="Text 87"/>
          <p:cNvSpPr/>
          <p:nvPr/>
        </p:nvSpPr>
        <p:spPr>
          <a:xfrm>
            <a:off x="3404311" y="4445813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Hop 4: PCI PAN SDP &amp; NLC</a:t>
            </a:r>
            <a:endParaRPr lang="en-US" sz="600" dirty="0"/>
          </a:p>
        </p:txBody>
      </p:sp>
      <p:sp>
        <p:nvSpPr>
          <p:cNvPr id="105" name="Shape 88"/>
          <p:cNvSpPr/>
          <p:nvPr/>
        </p:nvSpPr>
        <p:spPr>
          <a:xfrm>
            <a:off x="3152851" y="4897526"/>
            <a:ext cx="894283" cy="319126"/>
          </a:xfrm>
          <a:prstGeom prst="roundRect">
            <a:avLst>
              <a:gd name="adj" fmla="val 11461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6" name="Image 15" descr="preencoded.pn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3189427" y="4967935"/>
            <a:ext cx="178308" cy="178308"/>
          </a:xfrm>
          <a:prstGeom prst="rect">
            <a:avLst/>
          </a:prstGeom>
        </p:spPr>
      </p:pic>
      <p:sp>
        <p:nvSpPr>
          <p:cNvPr id="107" name="Text 89"/>
          <p:cNvSpPr/>
          <p:nvPr/>
        </p:nvSpPr>
        <p:spPr>
          <a:xfrm>
            <a:off x="3404311" y="4897526"/>
            <a:ext cx="615391" cy="319126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Gemini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 Platform (4k Cap)</a:t>
            </a:r>
            <a:endParaRPr lang="en-US" sz="600" dirty="0"/>
          </a:p>
        </p:txBody>
      </p:sp>
      <p:sp>
        <p:nvSpPr>
          <p:cNvPr id="108" name="Shape 90"/>
          <p:cNvSpPr/>
          <p:nvPr/>
        </p:nvSpPr>
        <p:spPr>
          <a:xfrm>
            <a:off x="682142" y="2339035"/>
            <a:ext cx="903427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09" name="Image 16" descr="preencoded.pn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18718" y="2403043"/>
            <a:ext cx="163678" cy="163678"/>
          </a:xfrm>
          <a:prstGeom prst="rect">
            <a:avLst/>
          </a:prstGeom>
        </p:spPr>
      </p:pic>
      <p:sp>
        <p:nvSpPr>
          <p:cNvPr id="110" name="Text 91"/>
          <p:cNvSpPr/>
          <p:nvPr/>
        </p:nvSpPr>
        <p:spPr>
          <a:xfrm>
            <a:off x="918972" y="2339035"/>
            <a:ext cx="639166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Armor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Strips Forged X-Tenant-ID</a:t>
            </a:r>
            <a:endParaRPr lang="en-US" sz="600" dirty="0"/>
          </a:p>
        </p:txBody>
      </p:sp>
      <p:sp>
        <p:nvSpPr>
          <p:cNvPr id="111" name="Shape 92"/>
          <p:cNvSpPr/>
          <p:nvPr/>
        </p:nvSpPr>
        <p:spPr>
          <a:xfrm>
            <a:off x="682142" y="2710282"/>
            <a:ext cx="903427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12" name="Image 17" descr="preencoded.pn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18718" y="2774290"/>
            <a:ext cx="163678" cy="163678"/>
          </a:xfrm>
          <a:prstGeom prst="rect">
            <a:avLst/>
          </a:prstGeom>
        </p:spPr>
      </p:pic>
      <p:sp>
        <p:nvSpPr>
          <p:cNvPr id="113" name="Text 93"/>
          <p:cNvSpPr/>
          <p:nvPr/>
        </p:nvSpPr>
        <p:spPr>
          <a:xfrm>
            <a:off x="918972" y="2710282"/>
            <a:ext cx="639166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 Armor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Edge Prompt Injection Gate</a:t>
            </a:r>
            <a:endParaRPr lang="en-US" sz="600" dirty="0"/>
          </a:p>
        </p:txBody>
      </p:sp>
      <p:sp>
        <p:nvSpPr>
          <p:cNvPr id="114" name="Shape 94"/>
          <p:cNvSpPr/>
          <p:nvPr/>
        </p:nvSpPr>
        <p:spPr>
          <a:xfrm>
            <a:off x="717804" y="3144622"/>
            <a:ext cx="867766" cy="292608"/>
          </a:xfrm>
          <a:prstGeom prst="roundRect">
            <a:avLst>
              <a:gd name="adj" fmla="val 12500"/>
            </a:avLst>
          </a:prstGeom>
          <a:solidFill>
            <a:srgbClr val="FFFFFF"/>
          </a:solidFill>
          <a:ln w="25400">
            <a:solidFill>
              <a:srgbClr val="202124"/>
            </a:solidFill>
            <a:prstDash val="solid"/>
          </a:ln>
        </p:spPr>
      </p:sp>
      <p:pic>
        <p:nvPicPr>
          <p:cNvPr id="115" name="Image 18" descr="preencoded.pn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54380" y="3209544"/>
            <a:ext cx="163678" cy="163678"/>
          </a:xfrm>
          <a:prstGeom prst="rect">
            <a:avLst/>
          </a:prstGeom>
        </p:spPr>
      </p:pic>
      <p:sp>
        <p:nvSpPr>
          <p:cNvPr id="116" name="Text 95"/>
          <p:cNvSpPr/>
          <p:nvPr/>
        </p:nvSpPr>
        <p:spPr>
          <a:xfrm>
            <a:off x="954634" y="3144622"/>
            <a:ext cx="603504" cy="292608"/>
          </a:xfrm>
          <a:prstGeom prst="rect">
            <a:avLst/>
          </a:prstGeom>
          <a:noFill/>
          <a:ln/>
        </p:spPr>
        <p:txBody>
          <a:bodyPr wrap="square" lIns="12700" tIns="25400" rIns="25400" bIns="1270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IAP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3C404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RFC 8693 OBO + DPoP</a:t>
            </a:r>
            <a:endParaRPr lang="en-US" sz="600" dirty="0"/>
          </a:p>
        </p:txBody>
      </p:sp>
      <p:sp>
        <p:nvSpPr>
          <p:cNvPr id="117" name="Text 96"/>
          <p:cNvSpPr/>
          <p:nvPr/>
        </p:nvSpPr>
        <p:spPr>
          <a:xfrm>
            <a:off x="4578401" y="3551530"/>
            <a:ext cx="774497" cy="2386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 and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observability • monitoring</a:t>
            </a:r>
            <a:endParaRPr lang="en-US" sz="600" dirty="0"/>
          </a:p>
        </p:txBody>
      </p:sp>
      <p:sp>
        <p:nvSpPr>
          <p:cNvPr id="118" name="Text 97"/>
          <p:cNvSpPr/>
          <p:nvPr/>
        </p:nvSpPr>
        <p:spPr>
          <a:xfrm>
            <a:off x="1859890" y="5065776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600" dirty="0"/>
          </a:p>
        </p:txBody>
      </p:sp>
      <p:sp>
        <p:nvSpPr>
          <p:cNvPr id="119" name="Text 98"/>
          <p:cNvSpPr/>
          <p:nvPr/>
        </p:nvSpPr>
        <p:spPr>
          <a:xfrm>
            <a:off x="1859890" y="5712257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Agent-tool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interaction</a:t>
            </a:r>
            <a:endParaRPr lang="en-US" sz="600" dirty="0"/>
          </a:p>
        </p:txBody>
      </p:sp>
      <p:sp>
        <p:nvSpPr>
          <p:cNvPr id="120" name="Text 99"/>
          <p:cNvSpPr/>
          <p:nvPr/>
        </p:nvSpPr>
        <p:spPr>
          <a:xfrm>
            <a:off x="4268419" y="5065776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Secure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RAG</a:t>
            </a:r>
            <a:endParaRPr lang="en-US" sz="600" dirty="0"/>
          </a:p>
        </p:txBody>
      </p:sp>
      <p:sp>
        <p:nvSpPr>
          <p:cNvPr id="121" name="Text 100"/>
          <p:cNvSpPr/>
          <p:nvPr/>
        </p:nvSpPr>
        <p:spPr>
          <a:xfrm>
            <a:off x="4268419" y="5712257"/>
            <a:ext cx="796442" cy="168250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Agent-tool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interaction</a:t>
            </a:r>
            <a:endParaRPr lang="en-US" sz="600" dirty="0"/>
          </a:p>
        </p:txBody>
      </p:sp>
      <p:sp>
        <p:nvSpPr>
          <p:cNvPr id="122" name="Text 101"/>
          <p:cNvSpPr/>
          <p:nvPr/>
        </p:nvSpPr>
        <p:spPr>
          <a:xfrm>
            <a:off x="3126334" y="3587191"/>
            <a:ext cx="743407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Sanitized response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tenant</a:t>
            </a:r>
            <a:endParaRPr lang="en-US" sz="600" dirty="0"/>
          </a:p>
        </p:txBody>
      </p:sp>
      <p:sp>
        <p:nvSpPr>
          <p:cNvPr id="123" name="Text 102"/>
          <p:cNvSpPr/>
          <p:nvPr/>
        </p:nvSpPr>
        <p:spPr>
          <a:xfrm>
            <a:off x="948233" y="5862218"/>
            <a:ext cx="730606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Generates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600" dirty="0"/>
          </a:p>
        </p:txBody>
      </p:sp>
      <p:sp>
        <p:nvSpPr>
          <p:cNvPr id="124" name="Text 103"/>
          <p:cNvSpPr/>
          <p:nvPr/>
        </p:nvSpPr>
        <p:spPr>
          <a:xfrm>
            <a:off x="2187245" y="3587191"/>
            <a:ext cx="672998" cy="177394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Route request</a:t>
            </a:r>
            <a:endParaRPr lang="en-US" sz="600" dirty="0"/>
          </a:p>
          <a:p>
            <a:pPr algn="l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tenant</a:t>
            </a:r>
            <a:endParaRPr lang="en-US" sz="600" dirty="0"/>
          </a:p>
        </p:txBody>
      </p:sp>
      <p:sp>
        <p:nvSpPr>
          <p:cNvPr id="125" name="Text 104"/>
          <p:cNvSpPr/>
          <p:nvPr/>
        </p:nvSpPr>
        <p:spPr>
          <a:xfrm>
            <a:off x="1647749" y="3118104"/>
            <a:ext cx="690372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User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authentication</a:t>
            </a:r>
            <a:endParaRPr lang="en-US" sz="600" dirty="0"/>
          </a:p>
        </p:txBody>
      </p:sp>
      <p:sp>
        <p:nvSpPr>
          <p:cNvPr id="126" name="Text 105"/>
          <p:cNvSpPr/>
          <p:nvPr/>
        </p:nvSpPr>
        <p:spPr>
          <a:xfrm>
            <a:off x="948233" y="4835347"/>
            <a:ext cx="730606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request</a:t>
            </a:r>
            <a:endParaRPr lang="en-US" sz="600" dirty="0"/>
          </a:p>
        </p:txBody>
      </p:sp>
      <p:sp>
        <p:nvSpPr>
          <p:cNvPr id="127" name="Text 106"/>
          <p:cNvSpPr/>
          <p:nvPr/>
        </p:nvSpPr>
        <p:spPr>
          <a:xfrm>
            <a:off x="948233" y="5047488"/>
            <a:ext cx="730606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 response</a:t>
            </a:r>
            <a:endParaRPr lang="en-US" sz="600" dirty="0"/>
          </a:p>
        </p:txBody>
      </p:sp>
      <p:pic>
        <p:nvPicPr>
          <p:cNvPr id="128" name="Image 19" descr="preencoded.pn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452628" y="1586484"/>
            <a:ext cx="663854" cy="132588"/>
          </a:xfrm>
          <a:prstGeom prst="rect">
            <a:avLst/>
          </a:prstGeom>
        </p:spPr>
      </p:pic>
      <p:sp>
        <p:nvSpPr>
          <p:cNvPr id="129" name="Text 107"/>
          <p:cNvSpPr/>
          <p:nvPr/>
        </p:nvSpPr>
        <p:spPr>
          <a:xfrm>
            <a:off x="1621231" y="2312518"/>
            <a:ext cx="522122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Security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policies</a:t>
            </a:r>
            <a:endParaRPr lang="en-US" sz="600" dirty="0"/>
          </a:p>
        </p:txBody>
      </p:sp>
      <p:sp>
        <p:nvSpPr>
          <p:cNvPr id="130" name="Text 108"/>
          <p:cNvSpPr/>
          <p:nvPr/>
        </p:nvSpPr>
        <p:spPr>
          <a:xfrm>
            <a:off x="1621231" y="2878531"/>
            <a:ext cx="522122" cy="159106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Sanitize</a:t>
            </a:r>
            <a:endParaRPr lang="en-US" sz="600" dirty="0"/>
          </a:p>
          <a:p>
            <a:pPr algn="ctr" indent="0" marL="0">
              <a:buNone/>
            </a:pPr>
            <a:r>
              <a:rPr lang="en-US" sz="550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</a:t>
            </a:r>
            <a:endParaRPr lang="en-US" sz="600" dirty="0"/>
          </a:p>
        </p:txBody>
      </p:sp>
      <p:sp>
        <p:nvSpPr>
          <p:cNvPr id="131" name="Text 109"/>
          <p:cNvSpPr/>
          <p:nvPr/>
        </p:nvSpPr>
        <p:spPr>
          <a:xfrm>
            <a:off x="3108046" y="1312164"/>
            <a:ext cx="442570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600" dirty="0"/>
          </a:p>
        </p:txBody>
      </p:sp>
      <p:sp>
        <p:nvSpPr>
          <p:cNvPr id="132" name="Text 110"/>
          <p:cNvSpPr/>
          <p:nvPr/>
        </p:nvSpPr>
        <p:spPr>
          <a:xfrm>
            <a:off x="3108046" y="2918765"/>
            <a:ext cx="442570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l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Response</a:t>
            </a:r>
            <a:endParaRPr lang="en-US" sz="600" dirty="0"/>
          </a:p>
        </p:txBody>
      </p:sp>
      <p:sp>
        <p:nvSpPr>
          <p:cNvPr id="133" name="Text 111"/>
          <p:cNvSpPr/>
          <p:nvPr/>
        </p:nvSpPr>
        <p:spPr>
          <a:xfrm>
            <a:off x="2285086" y="1312164"/>
            <a:ext cx="398678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600" dirty="0"/>
          </a:p>
        </p:txBody>
      </p:sp>
      <p:sp>
        <p:nvSpPr>
          <p:cNvPr id="134" name="Text 112"/>
          <p:cNvSpPr/>
          <p:nvPr/>
        </p:nvSpPr>
        <p:spPr>
          <a:xfrm>
            <a:off x="2285086" y="2918765"/>
            <a:ext cx="398678" cy="124358"/>
          </a:xfrm>
          <a:prstGeom prst="rect">
            <a:avLst/>
          </a:prstGeom>
          <a:noFill/>
          <a:ln/>
        </p:spPr>
        <p:txBody>
          <a:bodyPr wrap="square" lIns="0" tIns="12700" rIns="12700" bIns="0" rtlCol="0" anchor="ctr"/>
          <a:lstStyle/>
          <a:p>
            <a:pPr algn="r" indent="0" marL="0">
              <a:buNone/>
            </a:pPr>
            <a:r>
              <a:rPr lang="en-US" sz="600" b="1" dirty="0">
                <a:solidFill>
                  <a:srgbClr val="2021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Request</a:t>
            </a:r>
            <a:endParaRPr lang="en-US" sz="600" dirty="0"/>
          </a:p>
        </p:txBody>
      </p:sp>
      <p:sp>
        <p:nvSpPr>
          <p:cNvPr id="135" name="Shape 113"/>
          <p:cNvSpPr/>
          <p:nvPr/>
        </p:nvSpPr>
        <p:spPr>
          <a:xfrm>
            <a:off x="2710282" y="1285646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36" name="Text 114"/>
          <p:cNvSpPr/>
          <p:nvPr/>
        </p:nvSpPr>
        <p:spPr>
          <a:xfrm>
            <a:off x="2710282" y="1285646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600" dirty="0"/>
          </a:p>
        </p:txBody>
      </p:sp>
      <p:sp>
        <p:nvSpPr>
          <p:cNvPr id="137" name="Shape 115"/>
          <p:cNvSpPr/>
          <p:nvPr/>
        </p:nvSpPr>
        <p:spPr>
          <a:xfrm>
            <a:off x="2913278" y="1285646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38" name="Text 116"/>
          <p:cNvSpPr/>
          <p:nvPr/>
        </p:nvSpPr>
        <p:spPr>
          <a:xfrm>
            <a:off x="2913278" y="1285646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39" name="Shape 117"/>
          <p:cNvSpPr/>
          <p:nvPr/>
        </p:nvSpPr>
        <p:spPr>
          <a:xfrm>
            <a:off x="2710282" y="2892247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0" name="Text 118"/>
          <p:cNvSpPr/>
          <p:nvPr/>
        </p:nvSpPr>
        <p:spPr>
          <a:xfrm>
            <a:off x="2710282" y="2892247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600" dirty="0"/>
          </a:p>
        </p:txBody>
      </p:sp>
      <p:sp>
        <p:nvSpPr>
          <p:cNvPr id="141" name="Shape 119"/>
          <p:cNvSpPr/>
          <p:nvPr/>
        </p:nvSpPr>
        <p:spPr>
          <a:xfrm>
            <a:off x="2913278" y="2892247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2" name="Text 120"/>
          <p:cNvSpPr/>
          <p:nvPr/>
        </p:nvSpPr>
        <p:spPr>
          <a:xfrm>
            <a:off x="2913278" y="2892247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43" name="Shape 121"/>
          <p:cNvSpPr/>
          <p:nvPr/>
        </p:nvSpPr>
        <p:spPr>
          <a:xfrm>
            <a:off x="1992478" y="3587191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4" name="Text 122"/>
          <p:cNvSpPr/>
          <p:nvPr/>
        </p:nvSpPr>
        <p:spPr>
          <a:xfrm>
            <a:off x="1992478" y="3587191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600" dirty="0"/>
          </a:p>
        </p:txBody>
      </p:sp>
      <p:sp>
        <p:nvSpPr>
          <p:cNvPr id="145" name="Shape 123"/>
          <p:cNvSpPr/>
          <p:nvPr/>
        </p:nvSpPr>
        <p:spPr>
          <a:xfrm>
            <a:off x="2931566" y="3587191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6" name="Text 124"/>
          <p:cNvSpPr/>
          <p:nvPr/>
        </p:nvSpPr>
        <p:spPr>
          <a:xfrm>
            <a:off x="2931566" y="3587191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600" dirty="0"/>
          </a:p>
        </p:txBody>
      </p:sp>
      <p:sp>
        <p:nvSpPr>
          <p:cNvPr id="147" name="Shape 125"/>
          <p:cNvSpPr/>
          <p:nvPr/>
        </p:nvSpPr>
        <p:spPr>
          <a:xfrm>
            <a:off x="753466" y="4808830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48" name="Text 126"/>
          <p:cNvSpPr/>
          <p:nvPr/>
        </p:nvSpPr>
        <p:spPr>
          <a:xfrm>
            <a:off x="753466" y="4808830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600" dirty="0"/>
          </a:p>
        </p:txBody>
      </p:sp>
      <p:sp>
        <p:nvSpPr>
          <p:cNvPr id="149" name="Shape 127"/>
          <p:cNvSpPr/>
          <p:nvPr/>
        </p:nvSpPr>
        <p:spPr>
          <a:xfrm>
            <a:off x="753466" y="5020970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50" name="Text 128"/>
          <p:cNvSpPr/>
          <p:nvPr/>
        </p:nvSpPr>
        <p:spPr>
          <a:xfrm>
            <a:off x="753466" y="5020970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600" dirty="0"/>
          </a:p>
        </p:txBody>
      </p:sp>
      <p:sp>
        <p:nvSpPr>
          <p:cNvPr id="151" name="Shape 129"/>
          <p:cNvSpPr/>
          <p:nvPr/>
        </p:nvSpPr>
        <p:spPr>
          <a:xfrm>
            <a:off x="753466" y="5862218"/>
            <a:ext cx="177394" cy="177394"/>
          </a:xfrm>
          <a:prstGeom prst="ellipse">
            <a:avLst/>
          </a:prstGeom>
          <a:solidFill>
            <a:srgbClr val="174EA6"/>
          </a:solidFill>
          <a:ln w="15875">
            <a:solidFill>
              <a:srgbClr val="174EA6"/>
            </a:solidFill>
            <a:prstDash val="solid"/>
          </a:ln>
        </p:spPr>
      </p:sp>
      <p:sp>
        <p:nvSpPr>
          <p:cNvPr id="152" name="Text 130"/>
          <p:cNvSpPr/>
          <p:nvPr/>
        </p:nvSpPr>
        <p:spPr>
          <a:xfrm>
            <a:off x="753466" y="5862218"/>
            <a:ext cx="177394" cy="177394"/>
          </a:xfrm>
          <a:prstGeom prst="rect">
            <a:avLst/>
          </a:prstGeom>
          <a:noFill/>
          <a:ln/>
        </p:spPr>
        <p:txBody>
          <a:bodyPr wrap="square" lIns="25400" tIns="50800" rIns="50800" bIns="25400" rtlCol="0" anchor="ctr"/>
          <a:lstStyle/>
          <a:p>
            <a:pPr algn="ctr" indent="0" marL="0">
              <a:buNone/>
            </a:pPr>
            <a:r>
              <a:rPr lang="en-US" sz="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600" dirty="0"/>
          </a:p>
        </p:txBody>
      </p:sp>
      <p:sp>
        <p:nvSpPr>
          <p:cNvPr id="153" name="Shape 131"/>
          <p:cNvSpPr/>
          <p:nvPr/>
        </p:nvSpPr>
        <p:spPr>
          <a:xfrm>
            <a:off x="5943600" y="704088"/>
            <a:ext cx="5928055" cy="5696712"/>
          </a:xfrm>
          <a:prstGeom prst="roundRect">
            <a:avLst>
              <a:gd name="adj" fmla="val 1284"/>
            </a:avLst>
          </a:prstGeom>
          <a:solidFill>
            <a:srgbClr val="F8FAFC"/>
          </a:solidFill>
          <a:ln w="9525">
            <a:solidFill>
              <a:srgbClr val="CBD5E1"/>
            </a:solidFill>
            <a:prstDash val="solid"/>
          </a:ln>
        </p:spPr>
      </p:sp>
      <p:sp>
        <p:nvSpPr>
          <p:cNvPr id="154" name="Text 132"/>
          <p:cNvSpPr/>
          <p:nvPr/>
        </p:nvSpPr>
        <p:spPr>
          <a:xfrm>
            <a:off x="6172200" y="841248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A73E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</a:t>
            </a:r>
            <a:endParaRPr lang="en-US" sz="1000" dirty="0"/>
          </a:p>
        </p:txBody>
      </p:sp>
      <p:sp>
        <p:nvSpPr>
          <p:cNvPr id="155" name="Text 133"/>
          <p:cNvSpPr/>
          <p:nvPr/>
        </p:nvSpPr>
        <p:spPr>
          <a:xfrm>
            <a:off x="6172200" y="1115568"/>
            <a:ext cx="5470855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Cloud Architecture Center: Multi-Tenant Agentic AI with 5-Hop Cryptographic Governance</a:t>
            </a:r>
            <a:endParaRPr lang="en-US" sz="1500" dirty="0"/>
          </a:p>
        </p:txBody>
      </p:sp>
      <p:sp>
        <p:nvSpPr>
          <p:cNvPr id="156" name="Text 134"/>
          <p:cNvSpPr/>
          <p:nvPr/>
        </p:nvSpPr>
        <p:spPr>
          <a:xfrm>
            <a:off x="6172200" y="2029968"/>
            <a:ext cx="5470855" cy="363931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Actor 'User OIDC / Entra JWT' with badges 1 Request and 7 Response mirrors the published hub-and-spoke article exactly.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Outer wrapper 'Shared hubs (VPC Service Controls Organization Perimeter)' and inner 'VPC' are unchanged from the official reference.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'Routing hub (Hop 1 &amp; Hop 2)': Cloud Armor Strips Forged X-Tenant-ID, Model Armor Edge Prompt Injection Gate, IAP RFC 8693 OBO + DPoP.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'Central governance and security hub': Security Command Center, Central IAM Auth Manager (2LO / 3LO), Cloud Logging BigQuery OTel Sink.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Dashed 'Security and observability' line fans to both spokes; badge 3 'Route request to tenant', badge 7 'Sanitized response from tenant'.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■"/>
            </a:pPr>
            <a:r>
              <a:rPr lang="en-US" sz="11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'PAB • Hop 3–5 Isolation Boundary' wraps Tenant A (FinVault, 8k Budget, Bank SDP &amp; OCC NLC) and Tenant B (RetailStream, 4k Cap, PCI).</a:t>
            </a:r>
            <a:endParaRPr lang="en-US" sz="1100" dirty="0"/>
          </a:p>
        </p:txBody>
      </p:sp>
      <p:sp>
        <p:nvSpPr>
          <p:cNvPr id="157" name="Text 135"/>
          <p:cNvSpPr/>
          <p:nvPr/>
        </p:nvSpPr>
        <p:spPr>
          <a:xfrm>
            <a:off x="6172200" y="5806440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56 native shapes • 23 connectors • </a:t>
            </a:r>
            <a:pPr indent="0" marL="0">
              <a:buNone/>
            </a:pPr>
            <a:r>
              <a:rPr lang="en-US" sz="850" i="1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click any box, icon or arrow to edit</a:t>
            </a:r>
            <a:endParaRPr lang="en-US" sz="850" dirty="0"/>
          </a:p>
        </p:txBody>
      </p:sp>
      <p:sp>
        <p:nvSpPr>
          <p:cNvPr id="158" name="Text 136"/>
          <p:cNvSpPr/>
          <p:nvPr/>
        </p:nvSpPr>
        <p:spPr>
          <a:xfrm>
            <a:off x="6172200" y="6080760"/>
            <a:ext cx="547085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Zones: Routing hub • Central governance &amp; security hub • Left spoke • Right spoke  |  Source: diagrams/ws1-cloud-arch-center-5hop-baseline.drawio</a:t>
            </a:r>
            <a:endParaRPr lang="en-US" sz="7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FIGURE 2 — CLOUD ARCHITECTURE CENTER: MULTI-TENANT AGENTIC AI WITH 5-HOP CRYPTOGRAPHIC GOVERNANCE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Editable Architecture Component &amp; Topology Specification Table</a:t>
            </a:r>
            <a:endParaRPr lang="en-US" sz="12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365760" y="658368"/>
          <a:ext cx="11460175" cy="914400"/>
        </p:xfrm>
        <a:graphic>
          <a:graphicData uri="http://schemas.openxmlformats.org/drawingml/2006/table">
            <a:tbl>
              <a:tblPr/>
              <a:tblGrid>
                <a:gridCol w="822960"/>
                <a:gridCol w="3657600"/>
                <a:gridCol w="5699455"/>
                <a:gridCol w="128016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Object ID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Component Name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Architectural Role / Details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Type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Shared hubs (VPC Service Controls Organization Perimeter)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VPC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PAB • Hop 3–5 Isolation Boundary (Tenant Alpha)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PAB • Hop 3–5 Isolation Boundary (Tenant Beta)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Tenant A (FinVault Bank)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Tenant project • Enterprise Tier (Google OIDC)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Tenant B (RetailStream Corp)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Tenant project • Standard Tier (Entra ID)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OBJ-07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Routing hub (Hop 1 &amp; Hop 2)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Central ingress &amp; cryptographic token exchange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Central governance and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hub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Enclave / Tier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[WORKSTREAM 1.3 DOC PR BLUEPRINT] Cloud Architecture Center: Multi-Tenant Agentic AI Syst…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Official Hub-and-Spoke Reference Architecture (docs.cloud.google.com/architecture/multi-tenant-agentic-ai-sys…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UserOIDC / Entra JWT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Core Architecture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External Application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Load Balancer • Cloud Load Balancing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Security Command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Center • Continuous Threat Detection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Logging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BigQuery OTel Audit Sink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OBJ-14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Central IAM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475569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Auth Manager (2LO / 3LO)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750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Service Node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36576" marR="36576" marT="36576" marB="36576" anchor="ctr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WS1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Key Takeaways</a:t>
            </a:r>
            <a:endParaRPr lang="en-US" sz="1200" dirty="0"/>
          </a:p>
        </p:txBody>
      </p:sp>
      <p:sp>
        <p:nvSpPr>
          <p:cNvPr id="4" name="Shape 2"/>
          <p:cNvSpPr/>
          <p:nvPr/>
        </p:nvSpPr>
        <p:spPr>
          <a:xfrm>
            <a:off x="411480" y="795528"/>
            <a:ext cx="73152" cy="502920"/>
          </a:xfrm>
          <a:prstGeom prst="rect">
            <a:avLst/>
          </a:prstGeom>
          <a:solidFill>
            <a:srgbClr val="34A853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749808"/>
            <a:ext cx="10911535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Key Takeaways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640080" y="1481328"/>
            <a:ext cx="10911535" cy="4828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Agentic multi-tenancy needs controls at edge, registry, runtime, guardrail, and data layers; a tenant_id column is not isolation.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Choose topology per tenant tier: Pattern A for Standard, Pattern B for regulator-mandated perimeters, Pattern C when you serve both.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5-Hop chain is topology-agnostic code; the trust boundary changes, the governance modules do not.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prefix caching is safe in a pool only when ContextCacheConfig is read-only on shared system instructions.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■"/>
            </a:pPr>
            <a:r>
              <a:rPr lang="en-US" sz="13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Three P0 product gaps already have engineered workarounds; EAP allowlists target Q4 2026 for native support.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320040" y="6547104"/>
            <a:ext cx="11551615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Review the 1.3 Doc PR, enable the 1.4 allowlist checklist in your sandbox, then proceed to Workstream 2 (Pattern A Pooled, Milestone 1).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475488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320040" y="73152"/>
            <a:ext cx="11551615" cy="3291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WS1 </a:t>
            </a:r>
            <a:pPr indent="0" marL="0">
              <a:buNone/>
            </a:pPr>
            <a:r>
              <a:rPr lang="en-US" sz="950" dirty="0">
                <a:solidFill>
                  <a:srgbClr val="E2E8F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|  Assets, Editable Diagrams &amp; Source Documents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704088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Assets &amp; Editable Diagrams</a:t>
            </a:r>
            <a:endParaRPr lang="en-US" sz="2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52728"/>
          <a:ext cx="11277295" cy="914400"/>
        </p:xfrm>
        <a:graphic>
          <a:graphicData uri="http://schemas.openxmlformats.org/drawingml/2006/table">
            <a:tbl>
              <a:tblPr/>
              <a:tblGrid>
                <a:gridCol w="3657600"/>
                <a:gridCol w="2926080"/>
                <a:gridCol w="2926080"/>
                <a:gridCol w="1767535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Editable Draw.io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Draw.io Render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Vision AST</a:t>
                      </a:r>
                      <a:endParaRPr lang="en-US" sz="9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1.1 BLUEPRINT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GEAP Multi-Tenant Agentic AI Taxonomy: Pooled (Pattern A), Sovereign Silos (Pattern B) &amp; Hybrid (Pattern C)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diagrams/ws1-multi-tenant-taxonomy-overview.drawio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diagrams/ws1-multi-tenant-taxonomy-overview.drawio.png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diagrams/vision_metadata/ws1-multi-tenant-taxonomy-overview.vision.json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WORKSTREAM 1.3 DOC PR BLUEPRINT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00" b="1" dirty="0">
                          <a:solidFill>
                            <a:srgbClr val="0F172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Cloud Architecture Center: Multi-Tenant Agentic AI System with 5-Hop Cryptographic Governance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diagrams/ws1-cloud-arch-center-5hop-baseline.drawio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diagrams/ws1-cloud-arch-center-5hop-baseline.drawio.png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00" dirty="0">
                          <a:solidFill>
                            <a:srgbClr val="1A73E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diagrams/vision_metadata/ws1-cloud-arch-center-5hop-baseline.vision.json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BD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/>
          <p:nvPr/>
        </p:nvSpPr>
        <p:spPr>
          <a:xfrm>
            <a:off x="640080" y="4709160"/>
            <a:ext cx="10911535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Blog: blogs/ws1-reference-architecture-taxonomy-and-5hop-baseline.md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workstream-1-reference-architecture/1.1-architecture-taxonomy-and-diagrams.md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workstream-1-reference-architecture/1.3-cloud-architecture-center-doc-update-pr.md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Source: workstream-1-reference-architecture/1.4-eap-and-product-gap-tracker.md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 reference: https://docs.cloud.google.com/architecture/multi-tenant-agentic-ai-system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GitHub: https://github.com/nitinaggarwal-12/blogs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Google Cloud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Multi-Tenant Agentic AI on Google Cloud: Taxonomy &amp; 5-Hop Baseline (Workstream 1)</dc:title>
  <dc:subject>PptxGenJS Presentation</dc:subject>
  <dc:creator>Google Cloud FDE • PromptCanvas Vision Decompiler</dc:creator>
  <cp:lastModifiedBy>Google Cloud FDE • PromptCanvas Vision Decompiler</cp:lastModifiedBy>
  <cp:revision>1</cp:revision>
  <dcterms:created xsi:type="dcterms:W3CDTF">2026-10-08T12:11:28Z</dcterms:created>
  <dcterms:modified xsi:type="dcterms:W3CDTF">2026-10-08T12:11:28Z</dcterms:modified>
</cp:coreProperties>
</file>