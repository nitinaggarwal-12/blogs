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Claude 3.7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Step-by-Step End-to-End Logical Flow for Vertex AI Agent Engine Multi-Tenant Taxonomy: Pooled (A), Sovereign Silos (B) &amp; Hybrid (C)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Step-by-Step End-to-End Technical Flow for Vertex AI Agent Engine Multi-Tenant Taxonomy: Pooled (A), Sovereign Silos (B) &amp; Hybrid (C)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Google Cloud Architecture Center (#78): Multi-Tenant Agentic AI with 5-Hop Governance
• Extends the canonical Google Cloud Architecture Center hub-and-spoke diagram with 5 mandatory cryptographic tenant isolation hops.
• Zone 1 (Hops 1 &amp; 2): Cloud Armor, IAP OBO/DPoP, and Agent Engine Registry authenticate callers and filter the tool catalog before model invocation.
• Zone 2 (Hop 5 FinOps &amp; Security): 2LO/3LO Auth Broker, Security Command Center, and BigQuery OTel govern external credentials and per-tenant token attribution.
• Zone 3 (FinVault Enterprise Workload): Executes with an 8,000-token thinking budget, OCC semantic NLCs, IBAN/SWIFT SDP masking, and Google Workspace/Jira 3LO.
• Zone 4 (RetailStream Standard Workload): Executes with a 4,000-token thinking cap, PCI-DSS PAN masking, Entra ID/ServiceNow 3LO, and AlloyDB RLS.
Editable source: diagrams/ws1-cloud-arch-center-5hop-baseline.drawio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Step-by-Step End-to-End Logical Flow for Google Cloud Architecture Center (#78): Multi-Tenant Agentic AI with 5-Hop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Step-by-Step End-to-End Technical Flow for Google Cloud Architecture Center (#78): Multi-Tenant Agentic AI with 5-Hop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3-Zone End-to-End Enterprise Boundary &amp; Gateway Architecture for Workstream 1 • Reference Architecture &amp; Cloud Architecture Center Doc PR: Zone 1 (Gemini Enterprise &amp; Vertex AI Webhooks/UI) -&gt; Zone 2 (Google Cloud Run 5-Hop Gateway with Payload Sanitizer, OBO/ARD Normalizer, and DPoP/HMAC Token Security) -&gt; Zone 3 (Sovereign Enterprise VPC with ADK 2.0 SDK, Internal Agents, and AlloyDB RLS / CMEK Vault).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3-Stage Before/After Wire Payload Normalization Triptych for Workstream 1 • Reference Architecture &amp; Cloud Architecture Center Doc PR: Left card shows Incoming Unsanitized Request with highlighted contaminated tokens; Center card shows Cloud Run Normalization Engine (AST &amp; Schema Pruner, OBO Context Unwrapper, DPoP &amp; HMAC Sealer); Right card shows Clean Sovereign Compliant JSON-RPC 2.0 payload.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5-Actor Numbered UML Sequence Lifeline (Steps 1–6) for Workstream 1 • Reference Architecture &amp; Cloud Architecture Center Doc PR: (1) User prompts Gemini Enterprise, (2) Gateway fetches tenant data and seals OBO/HMAC token, (3) A2UI card displayed in UI, (4) Cloud Run scales down to 0 instances during dormant review window, (5) Approver clicks Approve in UI, (6) Cloud Run wakes up, verifies token in 0.084ms, and writes immutable audit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4-Node Asynchronous Processing Flow for Long Tasks (&gt;5 min) for Workstream 1 • Reference Architecture &amp; Cloud Architecture Center Doc PR: (1) Gemini Enterprise sends request, (2) Cloud Run Gateway returns immediate HTTP 202 Accepted / State: WORKING, (3) Gateway publishes task to Google Cloud Pub/Sub Topic, (4) Internal Sovereign Agent Worker processes deep research data, (5) Gateway dispatches out-of-band HTTPS Webhook Push with A2UI card back to Gemini Enterprise.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3-Phase Enterprise Technology Roadmap Timeline for Workstream 1 • Reference Architecture &amp; Cloud Architecture Center Doc PR: Phase 1 (Months 1-3: Cloud Run Pooled Gateway, Fast-Track Commercial Pilot &amp; 90% Prefix Cache Savings) -&gt; Phase 2 (Months 4-6: Sovereign Single-Tenant Silo, Dedicated Project &amp; &lt;60s CMEK Kill-Switch) -&gt; Phase 3 (Months 7-12: Outside-In Dual-Plane PSC, Zero-Downtime Tier Upgrade &amp; Sovereign VPC Reasoning).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3-Pillar Strategic Operating Model for Workstream 1 • Reference Architecture &amp; Cloud Architecture Center Doc PR: Pillar 1 (Immediate Production Stability Weeks 1-2) -&gt; Pillar 2 (Direct Architecture Sync &amp; FinOps SLA) -&gt; Pillar 3 (Canonical Enterprise Protocol Co-Design Q1-Q2).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proving 12/12 forensic checks and 20/20 security &amp; migration simulations across ramp-portal-dev (#248990048888), nitinagga-ge-2 (#638420508320), and nitina-ggarwal-sandbox-647724 (#887605034827).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Google Cloud Agentic AI, Security &amp; Data Stack
• Agentic AI &amp; Foundation Models: Vertex AI Agent Engine (ADK 2.0 runtime, Agent Registry &amp; L1–L5 Memory Bank), Gemini 2.5 Pro with ContextCacheConfig (90% shared prefix discount), Vertex AI Model Garden (Claude 3.7 Sonnet), and Gemma 3 (27B) on private GKE.
• Ingress, Identity &amp; AI Safety Guardrails: Global External Application Load Balancer, Google Cloud Armor L7 WAF, Identity-Aware Proxy (IAP) &amp; IAM Security Token Service (RFC 8693 OBO + RFC 9449 DPoP), Vertex AI Model Armor, and Cloud Sensitive Data Protection (DLP).
• Data, Storage, Networking &amp; Governance: AlloyDB for PostgreSQL (FORCE ROW LEVEL SECURITY), Memorystore for Valkey (per-tenant RPM bulkheads) &amp; Firestore, VPC Service Controls (VPC-SC) &amp; Private Service Connect (PSC), Cloud KMS CMEK (HTTP 423 kill-switch), and BigQuery OTel.
• Shared 80% Reusable Application Core: All three isolation patterns execute the exact same Python ADK 2.0 5-hop security pipeline (`core-cymbal-agent/runtime_pipeline.py`), parameterizing only the surrounding 20% Google Cloud project and network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Cymbal SaaS Serving Competing Enterprise Tenants
• Cymbal Multi-Tenant Agentic Platform (Control Plane): Operates a shared Incident Diagnostic Agent on Gemini 2.5 Pro, caching a 32,000-token immutable SRE runbook prefix once to reduce input token costs by 90%.
• FinVault Bank (Regulated Enterprise Tenant): Authenticates via Google Workspace OIDC, provisions a private Claude 3.7 Sonnet regulatory agent (Agent Alpha), receives an 8,000-token thinking budget, and mandates CMEK.
• RetailStream Corp (Standard Commercial Tenant): Authenticates via Microsoft Entra ID OIDC, runs on the pooled Diagnostic Agent with a 4,000-token thinking cap, and invokes ServiceNow ITOM via 3LO employee consent.
• Cryptographic Mutual Invisibility: RetailStream callers receive immediate HTTP 403 Forbidden if probing FinVault’s private Agent Alpha, while FinVault is completely isolated from RetailStream’s Entra ID / ServiceNow connectors.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Compensating Controls for EAP Product Gaps (GAP-01..05)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5-Hop Cryptographic Verification Pipeline
• Hop 1 — Edge WAF &amp; Identity Binding: Cloud Armor strips spoofed X-Tenant-Id headers while IAP and IAM STS mint an RFC 8693 OBO + RFC 9449 DPoP TenantSecurityContext.
• Hop 2 — Registry Discovery Filtering: Vertex AI Agent Engine Registry evaluates tenant visibility metadata prior to tool binding, returning HTTP 403 on unauthorized private agents.
• Hop 3 — Sandboxed Runtime &amp; Quota Bulkheads: Cloud Run v2 and Memorystore for Valkey isolate L1–L5 Memory Bank namespaces and clamp per-tenant RPM (120/600) and thinking budgets (4k/8k).
• Hop 4 — Bidirectional Model Armor &amp; DLP: Model Armor blocks prompt injection (HTTP 400) and semantic NLC violations (HTTP 422), while Sensitive Data Protection masks IBAN/SWIFT/PAN tokens.
• Hop 5 — Transactional RLS, CMEK &amp; FinOps: AlloyDB enforces SET LOCAL app.current_tenant_id Row-Level Security, Cloud KMS validates CMEK liveness (HTTP 423), and BigQuery logs zero-PII OTel spans.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Google Cloud Well-Architected Framework Alignment
• 1. Security, Privacy &amp; Compliance: Enforces zero-trust defense-in-depth across all 5 hops—combining RFC 9449 DPoP sender-constrained tokens, Model Armor prompt/egress screening, AlloyDB RLS, and revocable Cloud KMS CMEK.
• 2. Reliability &amp; Fault Isolation: Prevents noisy-neighbor cascading failures through Memorystore for Valkey token-bucket bulkheads, gVisor execution sandboxes, and zero-downtime 3-phase live tier migrations (`0` dropped sessions).
• 3. Cost Optimization (FinOps): Shares a 32,000-token immutable system prefix in Gemini 2.5 Pro ContextCacheConfig (90% discount, 84.7% net token savings) and streams per-tenant OTel token spans to BigQuery.
• 4. Operational Excellence &amp; 5. Performance Optimization: Reuses 80% of the Python ADK 2.0 codebase across all 3 patterns, validates 20/20 security simulations in CI/CD, and bounds p99 latency via per-tier thinking budgets (4k vs. 8k).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Enforce Cryptographic Context Across All 5 Hops: Database row filters alone cannot secure agentic AI; tenant identity must govern ingress, tool discovery, memory namespaces, safety guardrails, and SQL RLS.
• Align Isolation Topology to Regulatory &amp; Margin Requirements: Deploy Pattern A ($42/mo) for commercial scale, Pattern B ($1,850/mo) for regulated sovereignty, and Pattern C for multi-tier SaaS portfolios.
• Maintain a Single 80% Reusable Agent Codebase: Parameterize isolation boundaries via declarative Firestore profiles and Terraform modules rather than forking separate application codebases.
• Capture 90% Prefix Cache Savings Without Cross-Tenant Risk: Bind Gemini 2.5 Pro ContextCacheConfig strictly to immutable platform instructions while isolating tenant episodic state in L1–L5 Memory Bank.
• Validate Every Release Against Automated Red-Team Gates: Execute the 20-assertion verification suite (10 Pattern A breach tests, 6 Pattern B silo tests, 4 Pattern C migration tests) in CI/CD.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3-slide architectural sequences for Figures 1 &amp; 2, execute python3 -B scripts/run_deep_forensic_audit.py, and proceed to Workstream 2 (Pattern A Pooled Architecture).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975104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77824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Challenge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877824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Provisioning dedicated cloud projects for $500/month commercial tenants erodes SaaS gross margins, whereas naive shared runtimes expose cross-tenant tool, memory, and quota surfaces.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2852928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2928" y="4059936"/>
            <a:ext cx="1975104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962656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Four Agentic Threat Vectors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2962656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Unlike deterministic CRUD applications, autonomous ADK agents dynamically discover MCP tools, persist episodic Memory Bank state, share prompt caches, and consume variable reasoning tokens.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4937760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37760" y="4059936"/>
            <a:ext cx="1975104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Production Isolation Topologies</a:t>
            </a:r>
            <a:endParaRPr lang="en-US" sz="860" dirty="0"/>
          </a:p>
        </p:txBody>
      </p:sp>
      <p:sp>
        <p:nvSpPr>
          <p:cNvPr id="31" name="Text 29"/>
          <p:cNvSpPr/>
          <p:nvPr/>
        </p:nvSpPr>
        <p:spPr>
          <a:xfrm>
            <a:off x="5047488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(High-Density Pooled), Pattern B (Zero-Trust Sovereign Silos), and Pattern C (Dynamic Hybrid PSC Spokes) reuse 80% of the same Python ADK 2.0 application codebase.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Author: Nitin Aggarwal (Principal AI Architect, Google Cloud)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8" name="Shape 36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39" name="Text 37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2" name="Shape 40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46" name="Text 44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48" name="Shape 46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0" name="Shape 48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1" name="Text 49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2" name="Text 50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4" name="Shape 52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6" name="Shape 54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57" name="Text 55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58" name="Text 56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59" name="Text 57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0" name="Shape 58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3-Slide Blueprint Arc: ① Editable Topology → ② Logical Flow → ③ Technical Flow</a:t>
            </a:r>
            <a:endParaRPr lang="en-US" sz="760" dirty="0"/>
          </a:p>
        </p:txBody>
      </p:sp>
      <p:sp>
        <p:nvSpPr>
          <p:cNvPr id="62" name="Text 6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3.7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Next: Step-by-Step Logical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• Step-by-Step Logical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LOGICAL FLOW • STEPS ①–⑦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→ Blue Zone (Routing Hub)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Ingress, WAF &amp; Prompt Inspection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requests enter through the global External Application Load Balancer. Cloud Armor mitigates DDoS/OWASP threats while Model Armor inspects ingress prompts via Service Extensions to block prompt injection at the edge.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 • Cloud Armor WAF • Model Armor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(Identity &amp; Registry)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Zero-Trust Identity &amp; Tenant Registry Lookup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Identity-Aware Proxy (IAP) validates the upstream OIDC JWT (Google Workspace or Microsoft Entra ID), strips client-supplied tenant headers, and looks up the tenant’s isolation tier and entitlements in Firestore.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Identity-Aware Proxy • RFC 8693 OBO + DPoP • Firestore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→ Tenant Spokes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Tier-Aware Routing &amp; Access Boundary Binding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Cloud Run routing service binds an IAM Principal Access Boundary (PAB) and KMS-signed context token, routing Standard tenants to the Pooled Spoke (Pattern A) and Enterprise tenants to Sovereign/PSC Spokes (Pattern B/C).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 • IAM Principal Access Boundary (PAB)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/ Red Zone (Guardrails)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In-Perimeter Model Armor &amp; SDP Screening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invoking the foundation model, tenant-scoped Model Armor and Sensitive Data Protection (SDP) templates enforce industry compliance rules (OCC/FDIC banking or PCI retail) and redact sensitive PII.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• Cloud Sensitive Data Protection (SDP)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/ Red Zone (Agent Runtime)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Agent Reasoning &amp; Context Caching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(ADK 2.0) invokes Gemini 2.5 Pro or Gemma 3 using a shared read-only system prompt cache (90% input token discount) while partitioning session Memory Bank namespaces by tenant ID.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• Gemini 2.5 Pro • ContextCacheConfig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&amp; Red Zones (Data Plane)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MCP Tool &amp; RAG Datastore Execution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invokes allow-listed MCP servers and retrieves grounding data enforced by AlloyDB/BigQuery Row-Level Security (Pattern A), dedicated CMEK vaults (Pattern B), or Private Service Connect (Pattern C).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Toolbox • AlloyDB RLS • BigQuery CMEK • PSC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Spokes → Client &amp; Green Zone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Egress Sanitization &amp; FinOps Chargeback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scans the final completion on egress to redact any residual sensitive identifiers before returning the response and streaming OpenTelemetry token usage spans into BigQuery for tenant chargeback.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Egress SDP Redaction • Security Command Center • BigQuery OTel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Hub-and-Spoke Control Plane Across Three Tenant Isolation Tiers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teams maintain a single ADK 2.0 and Vertex AI Agent Engine codebase while delivering $42/mo Pooled (Pattern A), $680/mo Hybrid PSC (Pattern C), and $1,850/mo Sovereign Silo (Pattern B) isolation tiers with zero cross-tenant data bleed.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 A, B &amp; C TAXONOMY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1 Step-by-Step Logical Flow  •  Next Slide: Protocol, Code &amp; SLA Technical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• Step-by-Step Technical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TECHNICAL FLOW • GOOGLE CLOUD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 A, B &amp; C TAXONOMY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External Application Load Balancer • Cloud Armor • Identity-Aware Proxy (IAP) • Cloud Run • Vertex AI Agent Engine (ADK 2.0) • Model Armor • AlloyDB &amp; BigQuery
</a:t>
            </a:r>
            <a:pPr indent="0" marL="0">
              <a:buNone/>
            </a:pPr>
            <a:r>
              <a:rPr lang="en-US" sz="71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Unifies a shared Routing Hub and Central Governance Hub (80% reusable control plane) to route requests into Pattern A (Pooled Runtime + RLS), Pattern B (Per-Tenant Project + VPC-SC + CMEK), or Pattern C (Hybrid PSC Spokes).</a:t>
            </a:r>
            <a:endParaRPr lang="en-US" sz="73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&amp; Hop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Service (Zone)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Security &amp; Code Resource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Verified Outcome &amp; SLA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① — Edge WAF &amp; Callout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External ALB, Cloud Armor &amp; Model Armor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Terminates HTTPS at Google’s global edge, strips untrusted `x-tenant-id` headers, and invokes Model Armor via ALB Service Extensions to screen prompts before compute.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Header Sanitization &amp; Edge Prompt Screening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Spoofed tenant headers and prompt injections are rejected at the edge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② — OIDC &amp; OBO Token Exchange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Identity-Aware Proxy &amp; Cloud KMS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Google Workspace OIDC or Microsoft Entra ID JWTs and performs RFC 8693 On-Behalf-Of (OBO) exchange bound to an RFC 9449 DPoP thumbprint signed by Cloud KMS.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KMS-Signed CryptographicContext (`adk-agent-signing-key`)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Downstream services verify cryptographic tenant identity mathematically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③ — Tier Router &amp; PAB Enforcement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Run Router &amp; IAM PAB (Blue &amp; Green Zones)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Queries the tenant routing table and binds an IAM Principal Access Boundary (PAB) policy scoping the execution principal strictly to Pattern A, Pattern B, or Pattern C.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Deterministic Topology Dispatch &amp; IAM PAB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80% of agentic platform code is reused unchanged across all 3 tiers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④ — Tenant Guardrail Policy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Model Armor &amp; SDP (Yellow &amp; Red Zones)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Evaluates tenant-specific Model Armor templates and Semantic Natural Language Constraints (NLCs), blocking regulatory bypass prompts with HTTP 422.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Tenant-Scoped Model Armor &amp; SDP Templates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jailbreaks and policy violations are blocked pre-inference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⑤ — Sandboxed Agent &amp; Cache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Agent Engine &amp; Gemini 2.5 Pro (Yellow &amp; Red Zones)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Executes ADK 2.0 agents in gVisor sandboxes with shared `ContextCacheConfig` (90% prefix discount), Memorystore for Valkey RPM bulkheads, and `{tenant}:{user}:{session}` memory.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5-Level Memory Bank &amp; Shared Context Cache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84.7% lower token COGS with zero cross-tenant memory contamination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⑥ — Multi-Tier Data Perimeter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AlloyDB RLS, BigQuery CMEK &amp; PSC (Red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Enforces `SET LOCAL app.current_tenant` Row-Level Security in Pattern A, per-project VPC-SC + Cloud HSM CMEK in Pattern B, and unidirectional PSC endpoints in Pattern C.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RLS Policy, CMEK Vault &amp; PSC ServiceAttachment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Tenants can only retrieve records authorized for their verified identity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⑦ — Egress DLP &amp; Response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Sensitive Data Protection &amp; Cloud Run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Applies outbound Sensitive Data Protection (SDP) infoType detectors (IBAN/SWIFT for FinVault, PCI PAN for RetailStream) before delivering the JSON completion.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Outbound InfoType Redaction Pipeline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 unredacted PII/PCI identifiers leave the tenant perimeter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Cost &amp; Audit — SCC &amp; FinOps Telemetry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Security Command Center &amp; BigQuery OTel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Streams zero-PII OpenTelemetry spans (`tenant_id`, `tier`, `thinking_tokens`, `cache_hit`) into BigQuery for proportional chargeback and Security Command Center audit.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BigQuery OTel Chargeback (`cymbal_agentic_finops_otel`)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Real-time per-tenant COGS attribution and continuous CISO compliance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OBO + DPoP, Hop 2 ARD filter, Model Armor &amp; CMEK (ramp-portal-dev (#248990048888) &amp; 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1 Step-by-Step Technical Flow  •  100% Editable Native Table &amp; Well-Architected Pillars  •  Verified on Google Cloud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— Google Cloud Architecture Center (#78): Multi-Tenant Agentic AI with 5-Hop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extend the official Google Cloud Architecture Center multi-tenant hub-and-spoke blueprint with a 5-Hop Cryptographic Context Chain that prevents confused-deputy tool calls, cache bleed, and noisy neighbors?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Hops 1 &amp; 2: Edge PEP &amp; Catalog PDP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forged headers, verifies OIDC + DPoP identity at Hop 1, and prunes unauthorized agents and MCP tools at Hop 2.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KMS Signing &amp; OTel Governance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non-replayable tenant context tokens via Cloud KMS, brokers 2LO/3LO OAuth tokens, and records BigQuery FinOps audit trails.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Hops 3 &amp; 4: Sandbox, Memory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5-Level Memory Bank namespaces, thinking budgets, and Model Armor semantic guardrails.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Hop 5: Row-Locked Storage &amp; Scoped MCP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Binds verified tenant IDs to AlloyDB/BigQuery Row-Level Security transactions and executes tenant-scoped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Extends the canonical Google Cloud Architecture Center hub-and-spoke diagram with 5 mandatory cryptographic tenant isolation hops.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Armor, IAP OBO/DPoP, and Agent Engine Registry authenticate callers and filter the tool catalog before model invocation.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(Hop 5 FinOps &amp; Security): 2LO/3LO Auth Broker, Security Command Center, and BigQuery OTel govern external credentials and per-tenant token attribution.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Workload): Executes with an 8,000-token thinking budget, OCC semantic NLCs, IBAN/SWIFT SDP masking,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44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/ Entra JWT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Threat Detection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cymbal_agentic_finops_otel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CMEK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Valkey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FINRA Filter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(8k Budget)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Filter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(4k Cap)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KMS ECDSA Sign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VIS-WS1-CLOUD-ARCH-CENTER-5HOP-BASELINE (diagrams/ws1-cloud-arch-center-5hop-baseline.drawio)  •  100% Native Editable Shapes + 4-Zone Architecture Center Guide  •  Next: Step-by-Step Logical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— Google Cloud Architecture Center (#78): Multi-Tenant Agentic AI with 5-Hop Governance • Step-by-Step Logical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LOGICAL FLOW • STEPS ①–⑦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Hops 1 &amp; 2: Edge PEP &amp; Catalog PDP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headers, verifies OIDC + DPoP identity at Hop 1, and prunes unauthorized agents and MCP tools at Hop 2.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Central KMS Signing &amp; OTel Governance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Signs non-replayable tenant context tokens via Cloud KMS, brokers 2LO/3LO OAuth tokens, and records BigQuery FinOps audit trails.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Hops 3 &amp; 4: Sandbox, Memory &amp; Model Armor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gVisor sandbox isolation, 5-Level Memory Bank namespaces, thinking budgets, and Model Armor semantic guardrails.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Hop 5: Row-Locked Storage &amp; Scoped MCP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verified tenant IDs to AlloyDB/BigQuery Row-Level Security transactions and executes tenant-scoped 2LO/3LO MCP tools.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→ Blue Zone (Hop 1 PEP)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Sanitization &amp; OIDC/DPoP Verification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terminates the client request at Cloud Armor and IAP, strips any client-supplied `x-tenant-id` headers, and validates the caller’s Google Workspace or Microsoft Entra ID JWT and DPoP proof.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(`hop1_edge_identity_pep.py`) • Cloud Armor &amp; IAP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&amp; Green Zones (Hop 1 → Hop 2)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Context Minting &amp; Catalog PDP Pruning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signs an immutable `CryptographicContext`. Hop 2 queries the Agent Registry PDP and runs ADK `before_agent_callback` to prune any private agent or MCP tool not owned by the active tenant.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(`hop2_registry_pdp_callbacks.py`) • Cloud KMS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→ Yellow Zone (Hop 3 Sandbox)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Sandbox, Rate Bulkhead &amp; Skill Validation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binds `temp:tenant_id` inside the Vertex AI Agent Engine gVisor sandbox, checks Memorystore for Valkey RPM quotas (`600` vs `120` RPM), and validates GCS Skill URIs (`gs://cymbal-skills-{tenant}/`).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(`hop3_compute_finops_bulkhead.py`) • Memorystore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(Hop 4 Ingress)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&amp; Semantic Constraint Screening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screens the prompt through Vertex AI Model Armor for prompt injection and evaluates tenant-specific Semantic Natural Language Constraints (NLCs), returning `HTTP 422` on compliance violations.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(`hop4_model_armor_guardrails.py`) • Model Armor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(Hop 3 &amp; 4 Runtime)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Partitioned Memory Bank &amp; Budget-Capped Inference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executes with the tenant’s thinking budget (`8,000` FinVault vs `4,000` RetailStream), reading shared system instructions from `ContextCacheConfig` and session state from `{tenant}:{user}:{session}`.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5-Level Memory Bank (`L1..L5`) • Gemini 2.5 Pro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&amp; Red Zones (Hop 5 Data Plane)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Row-Level Security &amp; 2LO/3LO MCP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executes `SET LOCAL app.current_tenant` on AlloyDB/BigQuery so Row-Level Security restricts rows at the storage engine, and brokers 2LO/3LO OAuth tokens for Jira, Workspace, or ServiceNow MCP calls.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(`hop5_data_rls_and_otel.py`) • AlloyDB RLS &amp; MCP Hub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→ Blue &amp; Green Zones (Egress)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Egress PII Redaction &amp; OpenTelemetry Audit Sink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Sensitive Data Protection redacts tenant-specific PII/PCI patterns on egress, returns the sanitized completion to the caller, and writes a tamper-evident `HopAuditRecord` and FinOps span to BigQuery.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SDP Egress Redaction • BigQuery OTel Audit Sink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Sequential Policy Enforcement Points (Hops 1–5) Eliminate Cross-Tenant Bleed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request traverses five deterministic governance hops—Edge Identity PEP (Hop 1), Catalog PDP (Hop 2), Compute &amp; Memory Bulkhead (Hop 3), Model Armor Guardrails (Hop 4), and Data RLS + OTel (Hop 5)—failing closed immediately on any violation.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CRYPTOGRAPHIC BASELINE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2 Step-by-Step Logical Flow  •  Next Slide: Protocol, Code &amp; SLA Technical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— Google Cloud Architecture Center (#78): Multi-Tenant Agentic AI with 5-Hop Governance • Step-by-Step Technical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TECHNICAL FLOW • GOOGLE CLOUD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CRYPTOGRAPHIC BASELINE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Cloud Armor • Identity-Aware Proxy • Cloud KMS • Discovery Engine Agent Catalog • Vertex AI Agent Engine • Model Armor • AlloyDB RLS • BigQuery
</a:t>
            </a:r>
            <a:pPr indent="0" marL="0">
              <a:buNone/>
            </a:pPr>
            <a:r>
              <a:rPr lang="en-US" sz="71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Enforces 5 sequential cryptographic policy enforcement points (Hops 1–5) from edge ingress to storage so every tool discovery, memory lookup, model call, and SQL query is bound to a KMS-signed tenant context.</a:t>
            </a:r>
            <a:endParaRPr lang="en-US" sz="73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&amp; Hop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Service (Zone)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Security &amp; Code Resource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Verified Outcome &amp; SLA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① — Hop 1: Edge Identity PEP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Armor, IAP &amp; OIDC Verifier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Strips forged `x-tenant-id` / `x-gcp-project-override` headers, validates federated OIDC JWTs, and verifies RFC 9449 DPoP sender-constrained token thumbprints (`jkt`).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core-cymbal-agent/governance/hop1_edge_identity_pep.py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Blocks header spoofing and stolen-token replay with HTTP 401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② — Hop 2: Registry PDP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Discovery Engine Catalog &amp; ADK Callbacks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Filters the Agent Registry by `tenant_id` visibility and enforces ADK `before_agent_callback` / `before_tool_callback` to prune unauthorized private agents and MCP tools.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core-cymbal-agent/governance/hop2_registry_pdp_callbacks.py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Cross-tenant private agent calls fail closed with HTTP 403 Forbidden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③ — Hop 3a: Compute &amp; Rate Limit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Agent Engine &amp; Memorystore (Yellow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Pins immutable `temp:tenant_id` in gVisor sandbox state, enforces token-bucket rate limits in Memorystore for Valkey, and validates `gs://cymbal-skills-{tenant}/` URIs.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core-cymbal-agent/governance/hop3_compute_finops_bulkhead.py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Noisy-neighbor bursts throttled with HTTP 429 and Retry-After header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④ — Hop 4: Model Armor &amp; NLC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Model Armor (Yellow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Screens ingress prompts for jailbreaks, cache-extraction payloads, and tenant Semantic Natural Language Constraints (e.g., OCC escalation suppression).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core-cymbal-agent/governance/hop4_model_armor_guardrails.py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Prompt injections (HTTP 400) and NLC violations (HTTP 422) blocked cold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⑤ — Hop 3b: Memory &amp; Cache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Gemini 2.5 Pro &amp; 5-Level Memory Bank (Yellow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Applies read-only `ContextCacheConfig` prefix caching (90% discount) to shared system prompts while isolating L1–L4 episodic memory under `{tenant}:{user}:{session}`.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MemoryBankLevel L1..L5 &amp; Thinking Budget Clamping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Cross-tenant L4 memory reads blocked with PermissionError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⑥ — Hop 5: RLS &amp; 2LO/3LO MCP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AlloyDB RLS, BigQuery &amp; CymbalMCPHub (Red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Binds `SET LOCAL app.current_tenant` on database connections and dispatches 2LO (Cymbal Telemetry) and 3LO (Workspace/Jira &amp; Entra/ServiceNow) MCP tools.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core-cymbal-agent/governance/hop5_data_rls_and_otel.py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SQL RLS-bypass attempts return 0 foreign rows; unconsented 3LO returns 401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⑦ — Hop 4b: Egress SDP Scrub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Sensitive Data Protection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Executes tenant-specific egress detectors (`IBAN_CODE`/`SWIFT_CODE` for FinVault; `CREDIT_CARD_NUMBER` for RetailStream) prior to HTTP response serialization.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Tenant-Scoped Egress Redaction Rules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100% deterministic masking of regulated financial and payment identifiers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Cost &amp; Audit — Hop 5b: OTel &amp; Chargeback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Security Command Center &amp; BigQuery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Emits structured OpenTelemetry audit records across all 5 hops with exact input, thinking, and cached token counts for tenant-level FinOps chargeback.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HopAuditRecord &amp; BigQuery FinOps Sink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Complete 5-hop cryptographic lineage for CISO and CFO reporting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OBO + DPoP, Hop 2 ARD filter, Model Armor &amp; CMEK (nitina-ggarwal-sandbox-647724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2 Step-by-Step Technical Flow  •  100% Editable Native Table &amp; Well-Architected Pillars  •  Verified on Google Cloud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3-Zone Enterprise Gateway &amp; Sovereign VPC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694944"/>
            <a:ext cx="3520440" cy="5468112"/>
          </a:xfrm>
          <a:prstGeom prst="roundRect">
            <a:avLst>
              <a:gd name="adj" fmla="val 1039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822960"/>
            <a:ext cx="3337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ENTERPRISE &amp; VERTEX AI</a:t>
            </a:r>
            <a:endParaRPr lang="en-US" sz="1220" dirty="0"/>
          </a:p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(Webhooks &amp; User Interface)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1051560" y="1572768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24712" y="16824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1124712" y="16824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8096" y="2267712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Web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Interface</a:t>
            </a:r>
            <a:endParaRPr lang="en-US" sz="1020" dirty="0"/>
          </a:p>
        </p:txBody>
      </p:sp>
      <p:sp>
        <p:nvSpPr>
          <p:cNvPr id="23" name="Shape 21"/>
          <p:cNvSpPr/>
          <p:nvPr/>
        </p:nvSpPr>
        <p:spPr>
          <a:xfrm>
            <a:off x="2176272" y="1901952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51560" y="2962656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4712" y="307238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124712" y="307238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&lt;/&gt;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68096" y="3657600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Workbench</a:t>
            </a:r>
            <a:endParaRPr lang="en-US" sz="1020" dirty="0"/>
          </a:p>
        </p:txBody>
      </p:sp>
      <p:sp>
        <p:nvSpPr>
          <p:cNvPr id="28" name="Shape 26"/>
          <p:cNvSpPr/>
          <p:nvPr/>
        </p:nvSpPr>
        <p:spPr>
          <a:xfrm>
            <a:off x="2176272" y="3291840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51560" y="4352544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712" y="4462272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124712" y="4462272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API •••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8096" y="5047488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External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API clients</a:t>
            </a:r>
            <a:endParaRPr lang="en-US" sz="1020" dirty="0"/>
          </a:p>
        </p:txBody>
      </p:sp>
      <p:sp>
        <p:nvSpPr>
          <p:cNvPr id="33" name="Shape 31"/>
          <p:cNvSpPr/>
          <p:nvPr/>
        </p:nvSpPr>
        <p:spPr>
          <a:xfrm>
            <a:off x="2176272" y="4681728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26080" y="1901952"/>
            <a:ext cx="0" cy="2779776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0" y="3291840"/>
            <a:ext cx="115214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6" name="Text 34"/>
          <p:cNvSpPr/>
          <p:nvPr/>
        </p:nvSpPr>
        <p:spPr>
          <a:xfrm>
            <a:off x="2962656" y="277977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Webhooks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(HTTPS)</a:t>
            </a:r>
            <a:endParaRPr lang="en-US" sz="920" dirty="0"/>
          </a:p>
        </p:txBody>
      </p:sp>
      <p:sp>
        <p:nvSpPr>
          <p:cNvPr id="37" name="Text 35"/>
          <p:cNvSpPr/>
          <p:nvPr/>
        </p:nvSpPr>
        <p:spPr>
          <a:xfrm>
            <a:off x="3968496" y="3054096"/>
            <a:ext cx="7863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Endpoint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3904488" y="694944"/>
            <a:ext cx="3456432" cy="5468112"/>
          </a:xfrm>
          <a:prstGeom prst="roundRect">
            <a:avLst>
              <a:gd name="adj" fmla="val 1058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95928" y="822960"/>
            <a:ext cx="32735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GATEWAY</a:t>
            </a:r>
            <a:endParaRPr lang="en-US" sz="1220" dirty="0"/>
          </a:p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(GCP)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4096512" y="1426464"/>
            <a:ext cx="3072384" cy="4535424"/>
          </a:xfrm>
          <a:prstGeom prst="roundRect">
            <a:avLst>
              <a:gd name="adj" fmla="val 1488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61104" y="1554480"/>
            <a:ext cx="329184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2" name="Text 40"/>
          <p:cNvSpPr/>
          <p:nvPr/>
        </p:nvSpPr>
        <p:spPr>
          <a:xfrm>
            <a:off x="4261104" y="1536192"/>
            <a:ext cx="329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»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645152" y="153619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Run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4901184" y="1938528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96128" y="2029968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5596128" y="2029968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🛡️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974336" y="2414016"/>
            <a:ext cx="17556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Payload &amp; Model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Armor Sanitizer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852160" y="2980944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9" name="Shape 47"/>
          <p:cNvSpPr/>
          <p:nvPr/>
        </p:nvSpPr>
        <p:spPr>
          <a:xfrm>
            <a:off x="4901184" y="3236976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596128" y="3328416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/>
        </p:spPr>
      </p:sp>
      <p:sp>
        <p:nvSpPr>
          <p:cNvPr id="51" name="Text 49"/>
          <p:cNvSpPr/>
          <p:nvPr/>
        </p:nvSpPr>
        <p:spPr>
          <a:xfrm>
            <a:off x="5596128" y="3328416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⚙️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74336" y="3712464"/>
            <a:ext cx="17556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OBO &amp; ARD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Normalizer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52160" y="4279392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4" name="Shape 52"/>
          <p:cNvSpPr/>
          <p:nvPr/>
        </p:nvSpPr>
        <p:spPr>
          <a:xfrm>
            <a:off x="4901184" y="4535424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96128" y="4626864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EF7E0"/>
          </a:solidFill>
          <a:ln/>
        </p:spPr>
      </p:sp>
      <p:sp>
        <p:nvSpPr>
          <p:cNvPr id="56" name="Text 54"/>
          <p:cNvSpPr/>
          <p:nvPr/>
        </p:nvSpPr>
        <p:spPr>
          <a:xfrm>
            <a:off x="5596128" y="4626864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🔐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974336" y="5010912"/>
            <a:ext cx="17556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&amp; HMAC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 Security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00016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700016" y="2450592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0" name="Shape 58"/>
          <p:cNvSpPr/>
          <p:nvPr/>
        </p:nvSpPr>
        <p:spPr>
          <a:xfrm>
            <a:off x="4700016" y="3749040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00016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6803136" y="2450592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803136" y="5065776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67728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67728" y="3749040"/>
            <a:ext cx="1353312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6" name="Text 64"/>
          <p:cNvSpPr/>
          <p:nvPr/>
        </p:nvSpPr>
        <p:spPr>
          <a:xfrm>
            <a:off x="7296912" y="2980944"/>
            <a:ext cx="969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Validated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Normalized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</a:t>
            </a:r>
            <a:endParaRPr lang="en-US" sz="920" dirty="0"/>
          </a:p>
        </p:txBody>
      </p:sp>
      <p:sp>
        <p:nvSpPr>
          <p:cNvPr id="67" name="Text 65"/>
          <p:cNvSpPr/>
          <p:nvPr/>
        </p:nvSpPr>
        <p:spPr>
          <a:xfrm>
            <a:off x="7278624" y="3840480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Interconnect /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Peering</a:t>
            </a:r>
            <a:endParaRPr lang="en-US" sz="880" dirty="0"/>
          </a:p>
        </p:txBody>
      </p:sp>
      <p:sp>
        <p:nvSpPr>
          <p:cNvPr id="68" name="Shape 66"/>
          <p:cNvSpPr/>
          <p:nvPr/>
        </p:nvSpPr>
        <p:spPr>
          <a:xfrm>
            <a:off x="8183880" y="694944"/>
            <a:ext cx="3621024" cy="5468112"/>
          </a:xfrm>
          <a:prstGeom prst="roundRect">
            <a:avLst>
              <a:gd name="adj" fmla="val 101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275320" y="822960"/>
            <a:ext cx="343814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ENTERPRISE VPC</a:t>
            </a:r>
            <a:endParaRPr lang="en-US" sz="1220" dirty="0"/>
          </a:p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(Internal Tenant Boundary)</a:t>
            </a:r>
            <a:endParaRPr lang="en-US" sz="1220" dirty="0"/>
          </a:p>
        </p:txBody>
      </p:sp>
      <p:sp>
        <p:nvSpPr>
          <p:cNvPr id="70" name="Shape 68"/>
          <p:cNvSpPr/>
          <p:nvPr/>
        </p:nvSpPr>
        <p:spPr>
          <a:xfrm>
            <a:off x="8375904" y="1426464"/>
            <a:ext cx="3236976" cy="4535424"/>
          </a:xfrm>
          <a:prstGeom prst="roundRect">
            <a:avLst>
              <a:gd name="adj" fmla="val 1412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577072" y="1627632"/>
            <a:ext cx="28346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72" name="Shape 70"/>
          <p:cNvSpPr/>
          <p:nvPr/>
        </p:nvSpPr>
        <p:spPr>
          <a:xfrm>
            <a:off x="9619488" y="1737360"/>
            <a:ext cx="749808" cy="420624"/>
          </a:xfrm>
          <a:prstGeom prst="roundRect">
            <a:avLst>
              <a:gd name="adj" fmla="val 10870"/>
            </a:avLst>
          </a:prstGeom>
          <a:solidFill>
            <a:srgbClr val="0D7A75"/>
          </a:solidFill>
          <a:ln/>
        </p:spPr>
      </p:sp>
      <p:sp>
        <p:nvSpPr>
          <p:cNvPr id="73" name="Text 71"/>
          <p:cNvSpPr/>
          <p:nvPr/>
        </p:nvSpPr>
        <p:spPr>
          <a:xfrm>
            <a:off x="9619488" y="1737360"/>
            <a:ext cx="7498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SDK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8668512" y="224942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2.0 Runtime &amp; MCP SDK</a:t>
            </a:r>
            <a:endParaRPr lang="en-US" sz="1080" dirty="0"/>
          </a:p>
        </p:txBody>
      </p:sp>
      <p:sp>
        <p:nvSpPr>
          <p:cNvPr id="75" name="Shape 73"/>
          <p:cNvSpPr/>
          <p:nvPr/>
        </p:nvSpPr>
        <p:spPr>
          <a:xfrm>
            <a:off x="9994392" y="2724912"/>
            <a:ext cx="0" cy="2743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6" name="Shape 74"/>
          <p:cNvSpPr/>
          <p:nvPr/>
        </p:nvSpPr>
        <p:spPr>
          <a:xfrm>
            <a:off x="8577072" y="2999232"/>
            <a:ext cx="28346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9034272" y="3108960"/>
            <a:ext cx="749808" cy="384048"/>
          </a:xfrm>
          <a:prstGeom prst="roundRect">
            <a:avLst>
              <a:gd name="adj" fmla="val 11905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034272" y="3108960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🤖 Agent 1</a:t>
            </a:r>
            <a:endParaRPr lang="en-US" sz="880" dirty="0"/>
          </a:p>
        </p:txBody>
      </p:sp>
      <p:sp>
        <p:nvSpPr>
          <p:cNvPr id="79" name="Shape 77"/>
          <p:cNvSpPr/>
          <p:nvPr/>
        </p:nvSpPr>
        <p:spPr>
          <a:xfrm>
            <a:off x="10204704" y="3108960"/>
            <a:ext cx="749808" cy="384048"/>
          </a:xfrm>
          <a:prstGeom prst="roundRect">
            <a:avLst>
              <a:gd name="adj" fmla="val 11905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204704" y="3108960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🤖 Agent 2</a:t>
            </a:r>
            <a:endParaRPr lang="en-US" sz="880" dirty="0"/>
          </a:p>
        </p:txBody>
      </p:sp>
      <p:sp>
        <p:nvSpPr>
          <p:cNvPr id="81" name="Text 79"/>
          <p:cNvSpPr/>
          <p:nvPr/>
        </p:nvSpPr>
        <p:spPr>
          <a:xfrm>
            <a:off x="8668512" y="3602736"/>
            <a:ext cx="26517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Internal Sovereign &amp; Shared Agents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9372600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3" name="Shape 81"/>
          <p:cNvSpPr/>
          <p:nvPr/>
        </p:nvSpPr>
        <p:spPr>
          <a:xfrm>
            <a:off x="9994392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616184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8577072" y="4517136"/>
            <a:ext cx="28346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6" name="Shape 84"/>
          <p:cNvSpPr/>
          <p:nvPr/>
        </p:nvSpPr>
        <p:spPr>
          <a:xfrm>
            <a:off x="9619488" y="4626864"/>
            <a:ext cx="749808" cy="384048"/>
          </a:xfrm>
          <a:prstGeom prst="roundRect">
            <a:avLst>
              <a:gd name="adj" fmla="val 11905"/>
            </a:avLst>
          </a:prstGeom>
          <a:solidFill>
            <a:srgbClr val="475569"/>
          </a:solidFill>
          <a:ln/>
        </p:spPr>
      </p:sp>
      <p:sp>
        <p:nvSpPr>
          <p:cNvPr id="87" name="Text 85"/>
          <p:cNvSpPr/>
          <p:nvPr/>
        </p:nvSpPr>
        <p:spPr>
          <a:xfrm>
            <a:off x="9619488" y="4626864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🗄️ DB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8668512" y="5065776"/>
            <a:ext cx="26517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&amp; CMEK Vault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Enterprise Data Plane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100% Native Editable 3-Zone Enterprise Boundary &amp; Gateway Architecture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Before &amp; After Wire Payload Normalization Triptych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Incoming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Contaminated Request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69264" y="2432304"/>
            <a:ext cx="1993392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128" y="243230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"adk_metadata" ,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69264" y="288950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"tags" : - [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9264" y="3236976"/>
            <a:ext cx="252374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5" name="Text 23"/>
          <p:cNvSpPr/>
          <p:nvPr/>
        </p:nvSpPr>
        <p:spPr>
          <a:xfrm>
            <a:off x="1024128" y="3236976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&lt;stringified text blocks&gt; ,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9264" y="3675888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"headers" : - [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69264" y="4261104"/>
            <a:ext cx="2267712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" y="4261104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IDs&gt;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]...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1" name="Shape 29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9744" y="1133856"/>
            <a:ext cx="28529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Normalization Engine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4919472" y="2029968"/>
            <a:ext cx="2633472" cy="3493008"/>
          </a:xfrm>
          <a:prstGeom prst="roundRect">
            <a:avLst>
              <a:gd name="adj" fmla="val 2083"/>
            </a:avLst>
          </a:prstGeom>
          <a:solidFill>
            <a:srgbClr val="367591"/>
          </a:solidFill>
          <a:ln/>
        </p:spPr>
      </p:sp>
      <p:sp>
        <p:nvSpPr>
          <p:cNvPr id="34" name="Text 32"/>
          <p:cNvSpPr/>
          <p:nvPr/>
        </p:nvSpPr>
        <p:spPr>
          <a:xfrm>
            <a:off x="5010912" y="2359152"/>
            <a:ext cx="24505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AST &amp; Schema Pruner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010912" y="3383280"/>
            <a:ext cx="24505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OBO Context Unwrapper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010912" y="4407408"/>
            <a:ext cx="24505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&amp; HMAC Sealer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796528" y="1133856"/>
            <a:ext cx="270662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Clean Sovereign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Compliant Payload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51392" y="2176272"/>
            <a:ext cx="2670048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"spec" : "JSON-RPC 2.0",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"tenant_ctx" : {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"tenant" : "finvault",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"tier" : "ENTERPRISE",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"dpop" : "verified"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"rls" : "app.current_tenant",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"send:arm" to ADK Spoke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20" dirty="0"/>
          </a:p>
        </p:txBody>
      </p:sp>
      <p:sp>
        <p:nvSpPr>
          <p:cNvPr id="42" name="Text 4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100% Native Editable 3-Stage Before/After Wire Payload Transformation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5-Actor UML Lifeline &amp; Dormant Approval Sequence (Steps 1–6)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91056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70408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942"/>
                </a:solidFill>
              </a:rPr>
              <a:t>👤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859536" y="1490472"/>
            <a:ext cx="201168" cy="20116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0720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0720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7A75"/>
                </a:solidFill>
              </a:rPr>
              <a:t>🧠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10312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Enterprise (AI)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2962656" y="1490472"/>
            <a:ext cx="201168" cy="20116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2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032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🕸️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20624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API Gateway</a:t>
            </a:r>
            <a:endParaRPr lang="en-US" sz="1020" dirty="0"/>
          </a:p>
        </p:txBody>
      </p:sp>
      <p:sp>
        <p:nvSpPr>
          <p:cNvPr id="31" name="Shape 29"/>
          <p:cNvSpPr/>
          <p:nvPr/>
        </p:nvSpPr>
        <p:spPr>
          <a:xfrm>
            <a:off x="506577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13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13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988E"/>
                </a:solidFill>
              </a:rPr>
              <a:t>🖥️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09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A2UI Portal (UI)</a:t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>
            <a:off x="7168896" y="1490472"/>
            <a:ext cx="201168" cy="20116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99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99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»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595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Service</a:t>
            </a:r>
            <a:endParaRPr lang="en-US" sz="1020" dirty="0"/>
          </a:p>
        </p:txBody>
      </p:sp>
      <p:sp>
        <p:nvSpPr>
          <p:cNvPr id="41" name="Shape 39"/>
          <p:cNvSpPr/>
          <p:nvPr/>
        </p:nvSpPr>
        <p:spPr>
          <a:xfrm>
            <a:off x="945489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2249424"/>
            <a:ext cx="146304" cy="242316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2249424"/>
            <a:ext cx="146304" cy="233172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615184"/>
            <a:ext cx="146304" cy="1627632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255264"/>
            <a:ext cx="146304" cy="114300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7196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8" name="Shape 46"/>
          <p:cNvSpPr/>
          <p:nvPr/>
        </p:nvSpPr>
        <p:spPr>
          <a:xfrm>
            <a:off x="9482328" y="3364992"/>
            <a:ext cx="146304" cy="960120"/>
          </a:xfrm>
          <a:prstGeom prst="roundRect">
            <a:avLst>
              <a:gd name="adj" fmla="val 25000"/>
            </a:avLst>
          </a:prstGeom>
          <a:solidFill>
            <a:srgbClr val="94A3B8"/>
          </a:solidFill>
          <a:ln/>
        </p:spPr>
      </p:sp>
      <p:sp>
        <p:nvSpPr>
          <p:cNvPr id="49" name="Shape 47"/>
          <p:cNvSpPr/>
          <p:nvPr/>
        </p:nvSpPr>
        <p:spPr>
          <a:xfrm>
            <a:off x="9482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50" name="Text 48"/>
          <p:cNvSpPr/>
          <p:nvPr/>
        </p:nvSpPr>
        <p:spPr>
          <a:xfrm>
            <a:off x="107899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51" name="Text 49"/>
          <p:cNvSpPr/>
          <p:nvPr/>
        </p:nvSpPr>
        <p:spPr>
          <a:xfrm>
            <a:off x="1408176" y="1773936"/>
            <a:ext cx="15361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prompts</a:t>
            </a:r>
            <a:endParaRPr lang="en-US" sz="920" dirty="0"/>
          </a:p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Enterprise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1033272" y="2505456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3" name="Text 51"/>
          <p:cNvSpPr/>
          <p:nvPr/>
        </p:nvSpPr>
        <p:spPr>
          <a:xfrm>
            <a:off x="1389888" y="2267712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Query</a:t>
            </a:r>
            <a:endParaRPr lang="en-US" sz="860" dirty="0"/>
          </a:p>
        </p:txBody>
      </p:sp>
      <p:sp>
        <p:nvSpPr>
          <p:cNvPr id="54" name="Text 52"/>
          <p:cNvSpPr/>
          <p:nvPr/>
        </p:nvSpPr>
        <p:spPr>
          <a:xfrm>
            <a:off x="318211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7A7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3529584" y="1755648"/>
            <a:ext cx="15727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Gateway fetches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data and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seals OBO token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3136392" y="281635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493008" y="2578608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Fetch Tenant Data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3822192" y="3255264"/>
            <a:ext cx="12618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Generate &amp; Seal</a:t>
            </a:r>
            <a:endParaRPr lang="en-US" sz="820" dirty="0"/>
          </a:p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OBO / HMAC Token</a:t>
            </a:r>
            <a:endParaRPr lang="en-US" sz="820" dirty="0"/>
          </a:p>
        </p:txBody>
      </p:sp>
      <p:sp>
        <p:nvSpPr>
          <p:cNvPr id="59" name="Shape 57"/>
          <p:cNvSpPr/>
          <p:nvPr/>
        </p:nvSpPr>
        <p:spPr>
          <a:xfrm>
            <a:off x="3136392" y="400507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headEnd type="triangle" w="sm" len="sm"/>
          </a:ln>
        </p:spPr>
      </p:sp>
      <p:sp>
        <p:nvSpPr>
          <p:cNvPr id="60" name="Text 58"/>
          <p:cNvSpPr/>
          <p:nvPr/>
        </p:nvSpPr>
        <p:spPr>
          <a:xfrm>
            <a:off x="530352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5650992" y="1773936"/>
            <a:ext cx="14264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A2UI card</a:t>
            </a:r>
            <a:endParaRPr lang="en-US" sz="920" dirty="0"/>
          </a:p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displayed in UI</a:t>
            </a:r>
            <a:endParaRPr lang="en-US" sz="920" dirty="0"/>
          </a:p>
        </p:txBody>
      </p:sp>
      <p:sp>
        <p:nvSpPr>
          <p:cNvPr id="62" name="Shape 60"/>
          <p:cNvSpPr/>
          <p:nvPr/>
        </p:nvSpPr>
        <p:spPr>
          <a:xfrm>
            <a:off x="5239512" y="3493008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Text 61"/>
          <p:cNvSpPr/>
          <p:nvPr/>
        </p:nvSpPr>
        <p:spPr>
          <a:xfrm>
            <a:off x="5687568" y="3017520"/>
            <a:ext cx="113385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☑️ Decision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 Card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740664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7754112" y="1737360"/>
            <a:ext cx="1691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scales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down to 0 instances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(48-hour dormant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 period)</a:t>
            </a:r>
            <a:endParaRPr lang="en-US" sz="840" dirty="0"/>
          </a:p>
        </p:txBody>
      </p:sp>
      <p:sp>
        <p:nvSpPr>
          <p:cNvPr id="66" name="Shape 64"/>
          <p:cNvSpPr/>
          <p:nvPr/>
        </p:nvSpPr>
        <p:spPr>
          <a:xfrm>
            <a:off x="7342632" y="3511296"/>
            <a:ext cx="2139696" cy="78638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7" name="Shape 65"/>
          <p:cNvSpPr/>
          <p:nvPr/>
        </p:nvSpPr>
        <p:spPr>
          <a:xfrm>
            <a:off x="7342632" y="3511296"/>
            <a:ext cx="2139696" cy="0"/>
          </a:xfrm>
          <a:prstGeom prst="line">
            <a:avLst/>
          </a:prstGeom>
          <a:noFill/>
          <a:ln w="1778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8" name="Text 66"/>
          <p:cNvSpPr/>
          <p:nvPr/>
        </p:nvSpPr>
        <p:spPr>
          <a:xfrm>
            <a:off x="7635240" y="3657600"/>
            <a:ext cx="15544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🕒 Scale to 0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(Dormant)</a:t>
            </a:r>
            <a:endParaRPr lang="en-US" sz="880" dirty="0"/>
          </a:p>
        </p:txBody>
      </p:sp>
      <p:sp>
        <p:nvSpPr>
          <p:cNvPr id="69" name="Text 67"/>
          <p:cNvSpPr/>
          <p:nvPr/>
        </p:nvSpPr>
        <p:spPr>
          <a:xfrm>
            <a:off x="7342632" y="4352544"/>
            <a:ext cx="21396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└── 48-Hour Review Period ──┘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6364224" y="4956048"/>
            <a:ext cx="713232" cy="292608"/>
          </a:xfrm>
          <a:prstGeom prst="roundRect">
            <a:avLst>
              <a:gd name="adj" fmla="val 15625"/>
            </a:avLst>
          </a:prstGeom>
          <a:solidFill>
            <a:srgbClr val="54728C"/>
          </a:solidFill>
          <a:ln/>
        </p:spPr>
      </p:sp>
      <p:sp>
        <p:nvSpPr>
          <p:cNvPr id="71" name="Text 69"/>
          <p:cNvSpPr/>
          <p:nvPr/>
        </p:nvSpPr>
        <p:spPr>
          <a:xfrm>
            <a:off x="6364224" y="4956048"/>
            <a:ext cx="7132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Click 👆</a:t>
            </a:r>
            <a:endParaRPr lang="en-US" sz="860" dirty="0"/>
          </a:p>
        </p:txBody>
      </p:sp>
      <p:sp>
        <p:nvSpPr>
          <p:cNvPr id="72" name="Text 70"/>
          <p:cNvSpPr/>
          <p:nvPr/>
        </p:nvSpPr>
        <p:spPr>
          <a:xfrm>
            <a:off x="5376672" y="5376672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73" name="Text 71"/>
          <p:cNvSpPr/>
          <p:nvPr/>
        </p:nvSpPr>
        <p:spPr>
          <a:xfrm>
            <a:off x="5724144" y="5394960"/>
            <a:ext cx="14813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Approver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clicks Approve in UI</a:t>
            </a:r>
            <a:endParaRPr lang="en-US" sz="880" dirty="0"/>
          </a:p>
        </p:txBody>
      </p:sp>
      <p:sp>
        <p:nvSpPr>
          <p:cNvPr id="74" name="Shape 72"/>
          <p:cNvSpPr/>
          <p:nvPr/>
        </p:nvSpPr>
        <p:spPr>
          <a:xfrm>
            <a:off x="7342632" y="5138928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72400" y="490118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Click Approve</a:t>
            </a:r>
            <a:endParaRPr lang="en-US" sz="860" dirty="0"/>
          </a:p>
        </p:txBody>
      </p:sp>
      <p:sp>
        <p:nvSpPr>
          <p:cNvPr id="76" name="Text 74"/>
          <p:cNvSpPr/>
          <p:nvPr/>
        </p:nvSpPr>
        <p:spPr>
          <a:xfrm>
            <a:off x="967435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2400" dirty="0"/>
          </a:p>
        </p:txBody>
      </p:sp>
      <p:sp>
        <p:nvSpPr>
          <p:cNvPr id="77" name="Text 75"/>
          <p:cNvSpPr/>
          <p:nvPr/>
        </p:nvSpPr>
        <p:spPr>
          <a:xfrm>
            <a:off x="10021824" y="1737360"/>
            <a:ext cx="181051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wakes up,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verifies HMAC/DPoP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 0.084ms and writes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immutable audit log</a:t>
            </a:r>
            <a:endParaRPr lang="en-US" sz="840" dirty="0"/>
          </a:p>
        </p:txBody>
      </p:sp>
      <p:sp>
        <p:nvSpPr>
          <p:cNvPr id="78" name="Text 76"/>
          <p:cNvSpPr/>
          <p:nvPr/>
        </p:nvSpPr>
        <p:spPr>
          <a:xfrm>
            <a:off x="9738360" y="5047488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Verify HMAC/DPoP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(0.084ms)</a:t>
            </a:r>
            <a:endParaRPr lang="en-US" sz="820" dirty="0"/>
          </a:p>
        </p:txBody>
      </p:sp>
      <p:sp>
        <p:nvSpPr>
          <p:cNvPr id="79" name="Text 77"/>
          <p:cNvSpPr/>
          <p:nvPr/>
        </p:nvSpPr>
        <p:spPr>
          <a:xfrm>
            <a:off x="9738360" y="5486400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Write Audit Log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(BigQuery OTel)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1137392" y="5504688"/>
            <a:ext cx="621792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1" name="Text 79"/>
          <p:cNvSpPr/>
          <p:nvPr/>
        </p:nvSpPr>
        <p:spPr>
          <a:xfrm>
            <a:off x="11137392" y="5504688"/>
            <a:ext cx="6217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🗄️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100% Native Editable 5-Actor UML Lifeline &amp; Dormant Approval Sequence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Asynchronous Processing Flow for Long Tasks (&gt;5 min)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841248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Asynchronous processing flow for long tasks (&gt;5 min)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ect">
            <a:avLst/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2852928"/>
            <a:ext cx="1792224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ect">
            <a:avLst/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40480" y="2852928"/>
            <a:ext cx="1792224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Gateway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76288" y="2852928"/>
            <a:ext cx="1792224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Pub/Sub Topic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802368" y="2852928"/>
            <a:ext cx="1792224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Internal Sovereign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Worker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2542032" y="2212848"/>
            <a:ext cx="117043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Gemini Enterprise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sends request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8" name="Shape 26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29" name="Text 27"/>
          <p:cNvSpPr/>
          <p:nvPr/>
        </p:nvSpPr>
        <p:spPr>
          <a:xfrm>
            <a:off x="2523744" y="3840480"/>
            <a:ext cx="120700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Gateway returns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immediate HTTP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202 Accepted /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State: WORKING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468112" y="1847088"/>
            <a:ext cx="157276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Gateway publishes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task to Google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Pub/Sub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Topic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2" name="Text 30"/>
          <p:cNvSpPr/>
          <p:nvPr/>
        </p:nvSpPr>
        <p:spPr>
          <a:xfrm>
            <a:off x="8394192" y="1847088"/>
            <a:ext cx="157276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Internal Sovereign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Worker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processes deep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research data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736592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17904" y="5047488"/>
            <a:ext cx="32186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2176272" y="5138928"/>
            <a:ext cx="193852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Gateway dispatches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Out-of-band HTTPS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Webhook Push with A2UI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card back to Gemini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100% Native Editable 4-Node Asynchronous Processing &amp; Webhook Loopback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Enterprise Technology Roadmap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Enterprise Technology Roadmap Timeline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Pattern A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2615184"/>
            <a:ext cx="299923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Gateway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749808" y="3675888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(Months 1-3)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Fast-Track Commercial Pilot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90% Prefix Cache Savings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Pattern B</a:t>
            </a:r>
            <a:endParaRPr lang="en-US" sz="175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90288" y="2615184"/>
            <a:ext cx="299923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Single-Tenant Silo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590288" y="3675888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(Months 4-6)</a:t>
            </a:r>
            <a:endParaRPr lang="en-US" sz="155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&amp; VPC-SC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&lt;60s CMEK Kill-Switch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Pattern C</a:t>
            </a:r>
            <a:endParaRPr lang="en-US" sz="175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430768" y="2615184"/>
            <a:ext cx="299923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Outside-In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Dual-Plane PSC</a:t>
            </a:r>
            <a:endParaRPr lang="en-US" sz="2100" dirty="0"/>
          </a:p>
        </p:txBody>
      </p:sp>
      <p:sp>
        <p:nvSpPr>
          <p:cNvPr id="44" name="Text 42"/>
          <p:cNvSpPr/>
          <p:nvPr/>
        </p:nvSpPr>
        <p:spPr>
          <a:xfrm>
            <a:off x="8430768" y="3675888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(Months 7-12)</a:t>
            </a:r>
            <a:endParaRPr lang="en-US" sz="155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Zero-Downtime Tier Upgrade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 VPC Reasoning</a:t>
            </a:r>
            <a:endParaRPr lang="en-US" sz="145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100% Native Editable 3-Phase Connected Enterprise Technology Roadmap Timeline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Elevated Strategic Operating Model &amp; SLA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Elevated Google Cloud Multi-Tenant Strategic Operating Model</a:t>
            </a:r>
            <a:endParaRPr lang="en-US" sz="23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🛡️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Immediate Production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Stability (Weeks 1-2)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5-Hop ADK 2.0 Gateway into Google Cloud (ramp-portal-dev)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Shield tenants from wire variations via RFC 8693 OBO + DPoP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fail-closed compliance &amp; 20/20 MECE security simulations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🤝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Direct Architecture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 &amp; FinOps SLA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per-tenant RPM &amp; 4k/8k thinking budget bulkheads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Formal 90% Gemini 2.5 Pro shared prefix cache discount SLA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Pre-release staging verification &amp; BigQuery OTel FinOps ledger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&lt;/&gt;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Canonical Enterprise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Protocol Co-Design (Q1-Q2)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Co-deploy 80% reusable 5-hop core across Patterns A, B &amp; C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Formalize Pub/Sub async push &amp; Private Service Connect specs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Sub-60s Cloud KMS CMEK cryptographic kill-switch guarantee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100% Native Editable 3-Pillar Strategic Operating Model &amp; SLA Governance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822960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  —  ramp-portal-dev (#248990048888) &amp; nitinagga-ge-2 (#638420508320) serving Pattern A/B/C endpoints (HTTP 200)</a:t>
            </a:r>
            <a:endParaRPr lang="en-US" sz="78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78992"/>
            <a:ext cx="6565392" cy="219456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3" name="Text 20"/>
          <p:cNvSpPr/>
          <p:nvPr/>
        </p:nvSpPr>
        <p:spPr>
          <a:xfrm>
            <a:off x="512064" y="3584448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  —  Cloud Logging Explorer verifying 20/20 multi-tenant isolation &amp; live tier upgrade simulations</a:t>
            </a:r>
            <a:endParaRPr lang="en-US" sz="78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40480"/>
            <a:ext cx="6565392" cy="219456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7" name="Shape 23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8" name="Text 24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CLOUD RUN &amp; BEYONDCORP</a:t>
            </a:r>
            <a:endParaRPr lang="en-US" sz="740" dirty="0"/>
          </a:p>
        </p:txBody>
      </p:sp>
      <p:sp>
        <p:nvSpPr>
          <p:cNvPr id="29" name="Text 25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Multi-Tenant Services (HTTP 200)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live across https://ge-blogs-248990048888.cr.gclb.goog (ramp-portal-dev) and cymbal-multi-tenant-patterns (nitinagga-ge-2).</a:t>
            </a:r>
            <a:endParaRPr lang="en-US" sz="860" dirty="0"/>
          </a:p>
        </p:txBody>
      </p:sp>
      <p:sp>
        <p:nvSpPr>
          <p:cNvPr id="31" name="Shape 27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29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34" name="Text 30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PATTERN A POOLED ISOLATION</a:t>
            </a:r>
            <a:endParaRPr lang="en-US" sz="740" dirty="0"/>
          </a:p>
        </p:txBody>
      </p:sp>
      <p:sp>
        <p:nvSpPr>
          <p:cNvPr id="35" name="Text 31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10/10 Red-Team Breach Simulations Blocked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OBO + DPoP, Hop 2 ARD filter, Model Armor &amp; AlloyDB ROW ACCESS POLICY tenant_pooled_rls_policy.</a:t>
            </a:r>
            <a:endParaRPr lang="en-US" sz="860" dirty="0"/>
          </a:p>
        </p:txBody>
      </p:sp>
      <p:sp>
        <p:nvSpPr>
          <p:cNvPr id="37" name="Shape 33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9" name="Shape 35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0" name="Text 36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PATTERN B SOVEREIGN CMEK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6/6 Silo &amp; &lt;60s CMEK Kill-Switch Verified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GCP project + VPC-SC + IAM PAB + Cloud KMS finvault-silo-cmek &amp; ECDSA P-256 agent signing key.</a:t>
            </a:r>
            <a:endParaRPr lang="en-US" sz="860" dirty="0"/>
          </a:p>
        </p:txBody>
      </p:sp>
      <p:sp>
        <p:nvSpPr>
          <p:cNvPr id="43" name="Shape 39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5" name="Shape 41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46" name="Text 42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PATTERN C HYBRID PSC UPGRADE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4/4 Zero-Downtime Live Tier Migration PASS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shared pool and Enterprise tenants over /28 PRIVATE_SERVICE_CONNECT NAT subnet.</a:t>
            </a:r>
            <a:endParaRPr lang="en-US" sz="860" dirty="0"/>
          </a:p>
        </p:txBody>
      </p:sp>
      <p:sp>
        <p:nvSpPr>
          <p:cNvPr id="49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Google Cloud Agentic AI, Security &amp; Data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Google Cloud Agentic AI, Security &amp; Data Stack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AI &amp; Foundation Models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 (ADK 2.0 runtime, Agent Registry &amp; L1–L5 Memory Bank), Gemini 2.5 Pro with ContextCacheConfig (90% shared prefix discount), Vertex AI Model Garden (Claude 3.7 Sonnet), and Gemma 3 (27B) on private GKE.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2.0) • Gemini 2.5 Pro (ContextCacheConfig) • Claude 3.7 • Gemma 3 27B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90% Shared System Prefix Cache Discount + Flexible Managed or Air-Gapped Model Hosting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Agentic AI &amp; Models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Ingress, Identity &amp; AI Safety Guardrails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External Application Load Balancer, Google Cloud Armor L7 WAF, Identity-Aware Proxy (IAP) &amp; IAM Security Token Service (RFC 8693 OBO + RFC 9449 DPoP), Vertex AI Model Armor, and Cloud Sensitive Data Protection (DLP).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Load Balancing • Cloud Armor WAF • IAP &amp; IAM STS (OBO + DPoP) • Model Armor • Cloud DLP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Cryptographic Identity Binding (HTTP 401) + Bidirectional Prompt &amp; PII Guardrails (HTTP 400/422)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Ingress, Identity &amp; Safety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Data, Storage, Networking &amp; Governance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for PostgreSQL (FORCE ROW LEVEL SECURITY), Memorystore for Valkey (per-tenant RPM bulkheads) &amp; Firestore, VPC Service Controls (VPC-SC) &amp; Private Service Connect (PSC), Cloud KMS CMEK (HTTP 423 kill-switch), and BigQuery OTel.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AlloyDB (PostgreSQL RLS) • Memorystore Valkey • Firestore • VPC-SC • PSC • Cloud KMS CMEK • BigQuery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0 Cross-Tenant Rows • Sub-60s HTTP 423 CMEK Kill-Switch • Zero-PII FinOps Chargeback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Data, Network &amp; Governance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80% Reusable Application Core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isolation patterns execute the exact same Python ADK 2.0 5-hop security pipeline (core-cymbal-agent/runtime_pipeline.py), parameterizing only the surrounding 20% Google Cloud project and network boundary.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(models.py, runtime_pipeline.py) + Terraform Modules (2.6, 3.6, 4.6)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Identical Python ADK Codebase Across Pooled (A), Siloed (B) &amp; Hybrid (C) Tiers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Unified Platform Core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100% Editable Google Cloud Architecture Center Slide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 cases — Cymbal SaaS Serving Competing Enterprise Tenants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 cases — Cymbal SaaS Serving Competing Enterprise Tenants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Cymbal Multi-Tenant Agentic Platform (Control Plane)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Operates a shared Incident Diagnostic Agent on Gemini 2.5 Pro, caching a 32,000-token immutable SRE runbook prefix once to reduce input token costs by 90%.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Project: ramp-portal-dev • Cloud Run Service: cymbal-multi-tenant-patterns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Immutable 32k System Prefix Cache • 84.7% Net Per-Turn Token Cost Reduction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Platform Provider: Cymbal SaaS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 (Regulated Enterprise Tenant)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Google Workspace OIDC, provisions a private Claude 3.7 Sonnet regulatory agent (Agent Alpha), receives an 8,000-token thinking budget, and mandates CMEK.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IdP: Google Workspace OIDC • Connectors: Google Drive/Gmail/Jira 3LO • Key: finvault-silo-cmek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Tier: ENTERPRISE • 600 RPM • 8,000 Thinking Budget • OCC/IBAN/SWIFT DLP Masking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A: FinVault Bank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 (Standard Commercial Tenant)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Microsoft Entra ID OIDC, runs on the pooled Diagnostic Agent with a 4,000-token thinking cap, and invokes ServiceNow ITOM via 3LO employee consent.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IdP: Microsoft Entra ID OIDC • Connectors: SharePoint &amp; ServiceNow 3LO • Pooled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Tier: STANDARD • 120 RPM • 4,000 Thinking Budget • PCI-DSS PAN/SSN DLP Masking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B: RetailStream Corp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Mutual Invisibility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RetailStream callers receive immediate HTTP 403 Forbidden if probing FinVault’s private Agent Alpha, while FinVault is completely isolated from RetailStream’s Entra ID / ServiceNow connectors.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 2 ARD Filter + Hop 3 Memory Namespace + Hop 5 AlloyDB Row-Level Security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Verified by 20 Automated Red-Team Breach, Silo Kill-Switch &amp; Live Migration Tests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Cross-Tenant Leakage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100% Editable Google Cloud Architecture Center Slide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Comparison of Multi-Tenant Isolation Patterns (A, B &amp; 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365577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910328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Cost &amp; Density Optimization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148072"/>
            <a:ext cx="33997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($42/mo) maximizes gross margins via shared Cloud Run v2 and 90% Gemini prefix caching.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837176"/>
            <a:ext cx="365577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837176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910328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Sovereign Blast-Radius Isolation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148072"/>
            <a:ext cx="33997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($1,850/mo) enforces dedicated GCP projects, VPC-SC perimeters, and &lt;60s CMEK revocation.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837176"/>
            <a:ext cx="365577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837176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910328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Tier Evolution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148072"/>
            <a:ext cx="33997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blends pooled and PSC spoke tiers with 0ms-lag live tenant promotion (4/4 gates PASS).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100% Editable Google Cloud Architecture Center Slide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Compensating Controls for EAP Product Gaps (GAP-01..05)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Compensating Controls for EAP Product Gaps (GAP-01..05)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880360"/>
                <a:gridCol w="3886200"/>
                <a:gridCol w="27276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 ID &amp; Component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Current Preview / EAP Limitation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Production Compensating Control (core-cymbal-agent/)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Verification Gate &amp; Target GA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GAP-01 (Hop 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Agent Engine Registry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lacks native per-tenant IAM condition predicates on ListAgents discovery calls.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Hop2AgentRegistryDiscovery.filter_ard_catalog validates signed JWT tenant_id against visibility metadata before LLM tool binding.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2 PASS (HTTP 403 on cross-tenant Agent Alpha discovery)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GAP-02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Memory Bank CMEK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Vertex AI Memory Bank supports project-level CMEK rather than distinct per-tenant KMS keys in one shared pool.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Pattern A applies envelope encryption via tenant KMS keys; Pattern B isolates each tenant in a dedicated CMEK project (HTTP 423).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WS3 Tests 4A/4B/6 PASS (HTTP 423 Locked &lt;60s on key disable)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GAP-03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Per-Tenant Rate Quotas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quota system enforces regional project-level RPM/TPM limits rather than native per-tenant sub-quotas.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Hop3RuntimeAndMemory enforces atomic per-tenant token-bucket RPM limits in Memorystore for Valkey (120 vs. 600 RPM) + thinking_budget clamps.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6 PASS (HTTP 429 on 500-RPM flood; budget clamped to 4k)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GAP-04 (Hop 1/2)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Multi-IdP 3LO Broker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External Microsoft Entra ID OIDC tokens require custom claims normalization and step-up consent for downstream MCP tools.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 Edge STS normalizes Entra ID tid/sub claims into DPoP-bound TenantSecurityContext with -32042 step-up 3LO elicitation.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10 PASS (HTTP 401 step-up challenge -&gt; 200 OK ServiceNow)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GAP-05 (Hop 5)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Zero-PII Token Billing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Billing exports aggregate Vertex AI SKU charges by GCP project rather than individual logical SaaS tenant_id.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Hop5DataAndFinOps emits zero-PII OpenTelemetry spans (cached_tokens, thinking_tokens, output_tokens) to BigQuery chargeback ledger.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Forensic Check F-08 PASS (3 billing SQL models verified in BigQuery) • Target GA: Q1 2027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736592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Cost &amp; Density Optimization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($42/mo) maximizes gross margins via shared Cloud Run v2 and 90% Gemini prefix caching.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736592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Sovereign Blast-Radius Isolation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($1,850/mo) enforces dedicated GCP projects, VPC-SC perimeters, and &lt;60s CMEK revocation.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736592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Tier Evolution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blends pooled and PSC spoke tiers with 0ms-lag live tenant promotion (4/4 gates PASS).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100% Editable Google Cloud Architecture Center Slide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5-Hop Cryptographic Verification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5-HOP 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5-Hop Cryptographic Verification Pipeline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5-hop cryptographic defense-in-depth pipeline enforcing zero cross-tenant leakage.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11480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01  •  EDGE &amp; IDENTITY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21208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Perimeter WAF, Federated OIDC &amp; DPoP Token Binding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521208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7784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• IAP • IAM STS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521208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unauthenticated X-Tenant-Id headers at the L7 load balancer, verifies Google Workspace or Microsoft Entra ID OIDC JWTs, and exchanges credentials via RFC 8693 OBO.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521208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1208" y="4279392"/>
            <a:ext cx="54864" cy="8778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12648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Cryptographic Claim: tenant_id + tier + DPoP (RFC 9449 jkt)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521208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401 on Spoofed Header or Replayed Bearer Token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535631" y="3511296"/>
            <a:ext cx="201168" cy="2011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32" name="Text 30"/>
          <p:cNvSpPr/>
          <p:nvPr/>
        </p:nvSpPr>
        <p:spPr>
          <a:xfrm>
            <a:off x="2535631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718511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18511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EA4335"/>
          </a:solidFill>
          <a:ln/>
        </p:spPr>
      </p:sp>
      <p:sp>
        <p:nvSpPr>
          <p:cNvPr id="35" name="Text 33"/>
          <p:cNvSpPr/>
          <p:nvPr/>
        </p:nvSpPr>
        <p:spPr>
          <a:xfrm>
            <a:off x="2791663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02  •  REGISTRY DISCOVERY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828239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Tenant-Scoped Agent &amp; MCP Tool Catalog Filtering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2828239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64815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Registry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2828239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Evaluates the signed TenantSecurityContext against Agent Engine Registry metadata before LLM tool-binding, returning only shared platform tools and tenant-owned private agents.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2828239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28239" y="4279392"/>
            <a:ext cx="54864" cy="8778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2" name="Text 40"/>
          <p:cNvSpPr/>
          <p:nvPr/>
        </p:nvSpPr>
        <p:spPr>
          <a:xfrm>
            <a:off x="2919679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Catalog Predicate: resource.visibility IN ("shared", ctx.tenant_id)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2828239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83103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403 Forbidden on Cross-Tenant Agent or MCP Discovery</a:t>
            </a:r>
            <a:endParaRPr lang="en-US" sz="660" dirty="0"/>
          </a:p>
        </p:txBody>
      </p:sp>
      <p:sp>
        <p:nvSpPr>
          <p:cNvPr id="45" name="Shape 43"/>
          <p:cNvSpPr/>
          <p:nvPr/>
        </p:nvSpPr>
        <p:spPr>
          <a:xfrm>
            <a:off x="4842662" y="3511296"/>
            <a:ext cx="201168" cy="2011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46" name="Text 44"/>
          <p:cNvSpPr/>
          <p:nvPr/>
        </p:nvSpPr>
        <p:spPr>
          <a:xfrm>
            <a:off x="4842662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025542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5542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FBBC04"/>
          </a:solidFill>
          <a:ln/>
        </p:spPr>
      </p:sp>
      <p:sp>
        <p:nvSpPr>
          <p:cNvPr id="49" name="Text 47"/>
          <p:cNvSpPr/>
          <p:nvPr/>
        </p:nvSpPr>
        <p:spPr>
          <a:xfrm>
            <a:off x="5098694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03  •  RUNTIME &amp; MEMORY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135270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Sandboxed ADK 2.0 Execution, L1–L5 Memory &amp; Quota Bulkheads</a:t>
            </a:r>
            <a:endParaRPr lang="en-US" sz="940" dirty="0"/>
          </a:p>
        </p:txBody>
      </p:sp>
      <p:sp>
        <p:nvSpPr>
          <p:cNvPr id="51" name="Shape 49"/>
          <p:cNvSpPr/>
          <p:nvPr/>
        </p:nvSpPr>
        <p:spPr>
          <a:xfrm>
            <a:off x="5135270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71846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Engine • Memorystore Valkey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5135270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agent reasoning inside gVisor-isolated Cloud Run v2 / Agent Engine sandboxes, partitions L1–L5 Memory Bank namespaces, and enforces per-tenant RPM and thinking budgets.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5135270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35270" y="4279392"/>
            <a:ext cx="54864" cy="8778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6" name="Text 54"/>
          <p:cNvSpPr/>
          <p:nvPr/>
        </p:nvSpPr>
        <p:spPr>
          <a:xfrm>
            <a:off x="5226710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Namespace: mem://{tenant_id}/L1..L5 • Cap: 4k (Std) / 8k (Ent)</a:t>
            </a:r>
            <a:endParaRPr lang="en-US" sz="680" dirty="0"/>
          </a:p>
        </p:txBody>
      </p:sp>
      <p:sp>
        <p:nvSpPr>
          <p:cNvPr id="57" name="Shape 55"/>
          <p:cNvSpPr/>
          <p:nvPr/>
        </p:nvSpPr>
        <p:spPr>
          <a:xfrm>
            <a:off x="5135270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90134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429 on RPM Burst • HTTP 403 on Cross-Namespace Read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7149694" y="3511296"/>
            <a:ext cx="201168" cy="2011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60" name="Text 58"/>
          <p:cNvSpPr/>
          <p:nvPr/>
        </p:nvSpPr>
        <p:spPr>
          <a:xfrm>
            <a:off x="7149694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32574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332574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34A853"/>
          </a:solidFill>
          <a:ln/>
        </p:spPr>
      </p:sp>
      <p:sp>
        <p:nvSpPr>
          <p:cNvPr id="63" name="Text 61"/>
          <p:cNvSpPr/>
          <p:nvPr/>
        </p:nvSpPr>
        <p:spPr>
          <a:xfrm>
            <a:off x="7405726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04  •  SAFETY &amp; DLP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7442302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Bidirectional Model Armor Screening &amp; Sensitive Data Redaction</a:t>
            </a:r>
            <a:endParaRPr lang="en-US" sz="940" dirty="0"/>
          </a:p>
        </p:txBody>
      </p:sp>
      <p:sp>
        <p:nvSpPr>
          <p:cNvPr id="65" name="Shape 63"/>
          <p:cNvSpPr/>
          <p:nvPr/>
        </p:nvSpPr>
        <p:spPr>
          <a:xfrm>
            <a:off x="7442302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8878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• Sensitive Data Protection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7442302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ingress prompts and retrieved RAG chunks for prompt injection/jailbreaks, enforces tenant Natural Language Constraints (NLCs), and redacts egress PII/PCI/IBAN tokens.</a:t>
            </a:r>
            <a:endParaRPr lang="en-US" sz="820" dirty="0"/>
          </a:p>
        </p:txBody>
      </p:sp>
      <p:sp>
        <p:nvSpPr>
          <p:cNvPr id="68" name="Shape 66"/>
          <p:cNvSpPr/>
          <p:nvPr/>
        </p:nvSpPr>
        <p:spPr>
          <a:xfrm>
            <a:off x="7442302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442302" y="4279392"/>
            <a:ext cx="54864" cy="8778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0" name="Text 68"/>
          <p:cNvSpPr/>
          <p:nvPr/>
        </p:nvSpPr>
        <p:spPr>
          <a:xfrm>
            <a:off x="7533742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Policy: inspectContent + deidentifyContent + Tenant NLC Rules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7442302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497166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400 on Prompt Injection • HTTP 422 on NLC Policy Breach</a:t>
            </a:r>
            <a:endParaRPr lang="en-US" sz="660" dirty="0"/>
          </a:p>
        </p:txBody>
      </p:sp>
      <p:sp>
        <p:nvSpPr>
          <p:cNvPr id="73" name="Shape 71"/>
          <p:cNvSpPr/>
          <p:nvPr/>
        </p:nvSpPr>
        <p:spPr>
          <a:xfrm>
            <a:off x="9456725" y="3511296"/>
            <a:ext cx="201168" cy="2011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4" name="Text 72"/>
          <p:cNvSpPr/>
          <p:nvPr/>
        </p:nvSpPr>
        <p:spPr>
          <a:xfrm>
            <a:off x="9456725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9639605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39605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77" name="Text 75"/>
          <p:cNvSpPr/>
          <p:nvPr/>
        </p:nvSpPr>
        <p:spPr>
          <a:xfrm>
            <a:off x="9712757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05  •  DATA &amp; FINOPS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749333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Transactional Row-Level Security, CMEK &amp; Zero-PII Telemetry</a:t>
            </a:r>
            <a:endParaRPr lang="en-US" sz="940" dirty="0"/>
          </a:p>
        </p:txBody>
      </p:sp>
      <p:sp>
        <p:nvSpPr>
          <p:cNvPr id="79" name="Shape 77"/>
          <p:cNvSpPr/>
          <p:nvPr/>
        </p:nvSpPr>
        <p:spPr>
          <a:xfrm>
            <a:off x="9749333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85909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• Cloud KMS • BigQuery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9749333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Binds parameterized PostgreSQL session context (app.current_tenant_id) for mandatory Row-Level Security, verifies Cloud KMS CMEK liveness, and streams zero-PII OTel spans to BigQuery.</a:t>
            </a:r>
            <a:endParaRPr lang="en-US" sz="820" dirty="0"/>
          </a:p>
        </p:txBody>
      </p:sp>
      <p:sp>
        <p:nvSpPr>
          <p:cNvPr id="82" name="Shape 80"/>
          <p:cNvSpPr/>
          <p:nvPr/>
        </p:nvSpPr>
        <p:spPr>
          <a:xfrm>
            <a:off x="9749333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749333" y="4279392"/>
            <a:ext cx="54864" cy="8778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4" name="Text 82"/>
          <p:cNvSpPr/>
          <p:nvPr/>
        </p:nvSpPr>
        <p:spPr>
          <a:xfrm>
            <a:off x="9840773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SQL: SET LOCAL app.current_tenant_id • OTel Chargeback Ledger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9749333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804197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Unauthorized Rows • HTTP 423 Locked on CMEK Revocation</a:t>
            </a:r>
            <a:endParaRPr lang="en-US" sz="660" dirty="0"/>
          </a:p>
        </p:txBody>
      </p:sp>
      <p:sp>
        <p:nvSpPr>
          <p:cNvPr id="87" name="Shape 8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89" name="Text 8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VERIFICATION</a:t>
            </a:r>
            <a:endParaRPr lang="en-US" sz="780" dirty="0"/>
          </a:p>
        </p:txBody>
      </p:sp>
      <p:sp>
        <p:nvSpPr>
          <p:cNvPr id="90" name="Text 8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100% Editable Google Cloud Architecture Center Slide</a:t>
            </a:r>
            <a:endParaRPr lang="en-US" sz="880" dirty="0"/>
          </a:p>
        </p:txBody>
      </p:sp>
      <p:sp>
        <p:nvSpPr>
          <p:cNvPr id="91" name="Text 8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Google Cloud Well-Architected Framework Alignment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Google Cloud Well-Architected Framework Alignment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Security, Privacy &amp; Compliance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zero-trust defense-in-depth across all 5 hops—combining RFC 9449 DPoP sender-constrained tokens, Model Armor prompt/egress screening, AlloyDB RLS, and revocable Cloud KMS CMEK.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Armor • IAP OBO/DPoP • Model Armor • Cloud DLP • AlloyDB RLS • VPC-SC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10/10 Breach Vectors Blocked (WS2) + 6/6 Sovereign Silo &amp; HTTP 423 CMEK Tests PASS (WS3)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Security &amp; Compliance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Reliability &amp; Fault Isolation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Prevents noisy-neighbor cascading failures through Memorystore for Valkey token-bucket bulkheads, gVisor execution sandboxes, and zero-downtime 3-phase live tier migrations (0 dropped sessions).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(120/600 RPM) • Cloud Run v2 gVisor • 3-Phase Live Tier Migrator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99.99% Enterprise Availability SLA • 0ms Replication Lag &amp; 0 Dropped Sessions on Upgrade (WS4)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Reliability &amp; Bulkheads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Cost Optimization (FinOps)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Shares a 32,000-token immutable system prefix in Gemini 2.5 Pro ContextCacheConfig (90% discount, 84.7% net token savings) and streams per-tenant OTel token spans to BigQuery.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(32k Prefix) • BigQuery OTel Chargeback Ledger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Pooled Floor • 84.7% Per-Turn Token Savings • 74% Portfolio TCO Reduction (1,000 Tenants)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Cost Optimization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Operational Excellence &amp; 5. Performance Optimization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Reuses 80% of the Python ADK 2.0 codebase across all 3 patterns, validates 20/20 security simulations in CI/CD, and bounds p99 latency via per-tier thinking budgets (4k vs. 8k).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(80% Reusable Code) • Terraform (2.6, 3.6, 4.6) • 4k/8k Thinking Budget Clamp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12/12 Forensic Gates PASS • Sub-2ms Firestore Tier Lookup • Deterministic Latency Bounds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Pillars 4 &amp; 5: Ops &amp; Performance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100% Editable Google Cloud Architecture Center Slide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Enforce Cryptographic Context Across All 5 Hops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Database row filters alone cannot secure agentic AI; tenant identity must govern ingress, tool discovery, memory namespaces, safety guardrails, and SQL RLS.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Hops 1–5: Cloud Armor • IAP • Agent Engine Registry • Valkey • Model Armor • AlloyDB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Trust End-to-End: Every Hop Verifies Signed TenantSecurityContext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Mandate 1: 5-Hop Defense-in-Depth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Align Isolation Topology to Regulatory &amp; Margin Requirements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Pattern A ($42/mo) for commercial scale, Pattern B ($1,850/mo) for regulated sovereignty, and Pattern C for multi-tier SaaS portfolios.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Pattern A ($42/mo) • Pattern B ($1,850/mo) • Pattern C (Hybrid PSC Router)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Matches Infrastructure Unit Cost Directly to Customer Contract ACV &amp; Compliance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Mandate 2: Tiered Isolation Economics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Maintain a Single 80% Reusable Agent Codebase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Parameterize isolation boundaries via declarative Firestore profiles and Terraform modules rather than forking separate application codebases.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(Python ADK 2.0) + Terraform Blueprints (2.6, 3.6, 4.6)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Codebase Forking • Tier Promotion Becomes a Declarative Metadata Update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Mandate 3: 80% Code Reusability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Capture 90% Prefix Cache Savings Without Cross-Tenant Risk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Gemini 2.5 Pro ContextCacheConfig strictly to immutable platform instructions while isolating tenant episodic state in L1–L5 Memory Bank.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(32k Tokens) + Scoped L1–L5 Memory Bank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84.7% Net Per-Turn Token Savings with 0 Cross-Tenant Prompt Cache Bleed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Mandate 4: Safe FinOps Caching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Validate Every Release Against Automated Red-Team Gates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20-assertion verification suite (10 Pattern A breach tests, 6 Pattern B silo tests, 4 Pattern C migration tests) in CI/CD.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scripts/run_deep_forensic_audit.py • 12/12 Forensic Gates • 20/20 Simulations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Continuous Automated Compliance Receipts Logged in BigQuery OTel Sink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Mandate 5: Continuous Verification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 the 3-slide architectural sequences for Figures 1 &amp; 2, execute python3 -B scripts/run_deep_forensic_audit.py, and proceed to Workstream 2 (Pattern A Pooled Architecture).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Blueprint Summary &amp; Reference Lineage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LINEAGE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At-a-Glance Blueprint Index: Architectural Questions, Verified Outcomes &amp; Google Cloud Services</a:t>
            </a:r>
            <a:endParaRPr lang="en-US" sz="16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33856"/>
          <a:ext cx="113687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697480"/>
                <a:gridCol w="329184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Architecture Blueprint (3-Slide Sequence)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Question Answered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Solution &amp; Verification Outcome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 Google Cloud Stack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1.1 BLUEPRINT — Multi-Tenant Agentic AI Taxonomy: Pooled (Pattern A), Sovereign Silos (Pattern B) &amp; Hybrid (Pattern C)</a:t>
                      </a:r>
                      <a:endParaRPr lang="en-US" sz="8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B2B SaaS platforms and large enterprises serve thousands of tenants across Pooled (Pattern A), Sovereign Silo (Pattern B), and Dynamic Hybrid (Pattern C) isolation models using one 80% reusable agentic codebase?</a:t>
                      </a:r>
                      <a:endParaRPr lang="en-US" sz="84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Platform teams maintain a single ADK 2.0 and Vertex AI Agent Engine codebase while delivering $42/mo Pooled (Pattern A), $680/mo Hybrid PSC (Pattern C), and $1,850/mo Sovereign Silo (Pattern B) isolation tiers with zero cross-tenant data bleed.</a:t>
                      </a:r>
                      <a:endParaRPr lang="en-US" sz="84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Application Load Balancer • Cloud Armor • Identity-Aware Proxy (IAP) • Cloud Run • Vertex AI Agent Engine (ADK 2.0) • Model Armor • AlloyDB &amp; BigQuery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1.3 DOC PR BLUEPRINT — Cloud Architecture Center: Multi-Tenant Agentic AI System with 5-Hop Cryptographic Governance</a:t>
                      </a:r>
                      <a:endParaRPr lang="en-US" sz="8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extend the official Google Cloud Architecture Center multi-tenant hub-and-spoke blueprint with a 5-Hop Cryptographic Context Chain that prevents confused-deputy tool calls, cache bleed, and noisy neighbors?</a:t>
                      </a:r>
                      <a:endParaRPr lang="en-US" sz="84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Every request traverses five deterministic governance hops—Edge Identity PEP (Hop 1), Catalog PDP (Hop 2), Compute &amp; Memory Bulkhead (Hop 3), Model Armor Guardrails (Hop 4), and Data RLS + OTel (Hop 5)—failing closed immediately on any violation.</a:t>
                      </a:r>
                      <a:endParaRPr lang="en-US" sz="84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• Identity-Aware Proxy • Cloud KMS • Discovery Engine Agent Catalog • Vertex AI Agent Engine • Model Armor • AlloyDB RLS • BigQuery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11480" y="3246120"/>
            <a:ext cx="3667658" cy="1965960"/>
          </a:xfrm>
          <a:prstGeom prst="roundRect">
            <a:avLst>
              <a:gd name="adj" fmla="val 372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1480" y="3246120"/>
            <a:ext cx="3667658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337560"/>
            <a:ext cx="33933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3-Slide Sequence per Blueprint</a:t>
            </a:r>
            <a:endParaRPr lang="en-US" sz="1020" dirty="0"/>
          </a:p>
        </p:txBody>
      </p:sp>
      <p:sp>
        <p:nvSpPr>
          <p:cNvPr id="22" name="Text 19"/>
          <p:cNvSpPr/>
          <p:nvPr/>
        </p:nvSpPr>
        <p:spPr>
          <a:xfrm>
            <a:off x="548640" y="3611880"/>
            <a:ext cx="339333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architecture blueprint in this deck includes (1) a 100% Native Editable Diagram + 4-Zone Reference Sidebar, (2) a Step-by-Step Logical Flow, and (3) a Protocol &amp; Code Technical Flow.</a:t>
            </a:r>
            <a:endParaRPr lang="en-US" sz="840" dirty="0"/>
          </a:p>
        </p:txBody>
      </p:sp>
      <p:sp>
        <p:nvSpPr>
          <p:cNvPr id="23" name="Shape 20"/>
          <p:cNvSpPr/>
          <p:nvPr/>
        </p:nvSpPr>
        <p:spPr>
          <a:xfrm>
            <a:off x="539496" y="4946904"/>
            <a:ext cx="3411626" cy="192024"/>
          </a:xfrm>
          <a:prstGeom prst="roundRect">
            <a:avLst>
              <a:gd name="adj" fmla="val 23810"/>
            </a:avLst>
          </a:prstGeom>
          <a:solidFill>
            <a:srgbClr val="E8F0FE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4946904"/>
            <a:ext cx="330189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56 Editable Shapes + 23 Connectors per Diagram</a:t>
            </a:r>
            <a:endParaRPr lang="en-US" sz="740" dirty="0"/>
          </a:p>
        </p:txBody>
      </p:sp>
      <p:sp>
        <p:nvSpPr>
          <p:cNvPr id="25" name="Shape 22"/>
          <p:cNvSpPr/>
          <p:nvPr/>
        </p:nvSpPr>
        <p:spPr>
          <a:xfrm>
            <a:off x="4262018" y="3246120"/>
            <a:ext cx="3667658" cy="1965960"/>
          </a:xfrm>
          <a:prstGeom prst="roundRect">
            <a:avLst>
              <a:gd name="adj" fmla="val 372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62018" y="3246120"/>
            <a:ext cx="3667658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399178" y="3337560"/>
            <a:ext cx="33933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Automated Security &amp; FinOps Proof</a:t>
            </a:r>
            <a:endParaRPr lang="en-US" sz="1020" dirty="0"/>
          </a:p>
        </p:txBody>
      </p:sp>
      <p:sp>
        <p:nvSpPr>
          <p:cNvPr id="28" name="Text 25"/>
          <p:cNvSpPr/>
          <p:nvPr/>
        </p:nvSpPr>
        <p:spPr>
          <a:xfrm>
            <a:off x="4399178" y="3611880"/>
            <a:ext cx="339333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patterns are certified by 12 forensic checks and 20 simulation assertions—proving zero cross-tenant data bleed, 90% shared prefix caching savings, and &lt;60s CMEK revocation.</a:t>
            </a:r>
            <a:endParaRPr lang="en-US" sz="840" dirty="0"/>
          </a:p>
        </p:txBody>
      </p:sp>
      <p:sp>
        <p:nvSpPr>
          <p:cNvPr id="29" name="Shape 26"/>
          <p:cNvSpPr/>
          <p:nvPr/>
        </p:nvSpPr>
        <p:spPr>
          <a:xfrm>
            <a:off x="4390034" y="4946904"/>
            <a:ext cx="3411626" cy="192024"/>
          </a:xfrm>
          <a:prstGeom prst="roundRect">
            <a:avLst>
              <a:gd name="adj" fmla="val 23810"/>
            </a:avLst>
          </a:prstGeom>
          <a:solidFill>
            <a:srgbClr val="FCE8E6"/>
          </a:solidFill>
          <a:ln/>
        </p:spPr>
      </p:sp>
      <p:sp>
        <p:nvSpPr>
          <p:cNvPr id="30" name="Text 27"/>
          <p:cNvSpPr/>
          <p:nvPr/>
        </p:nvSpPr>
        <p:spPr>
          <a:xfrm>
            <a:off x="4444898" y="4946904"/>
            <a:ext cx="330189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Gates • 20/20 Simulations PASS</a:t>
            </a:r>
            <a:endParaRPr lang="en-US" sz="740" dirty="0"/>
          </a:p>
        </p:txBody>
      </p:sp>
      <p:sp>
        <p:nvSpPr>
          <p:cNvPr id="31" name="Shape 28"/>
          <p:cNvSpPr/>
          <p:nvPr/>
        </p:nvSpPr>
        <p:spPr>
          <a:xfrm>
            <a:off x="8112557" y="3246120"/>
            <a:ext cx="3667658" cy="1965960"/>
          </a:xfrm>
          <a:prstGeom prst="roundRect">
            <a:avLst>
              <a:gd name="adj" fmla="val 372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12557" y="3246120"/>
            <a:ext cx="3667658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3" name="Text 30"/>
          <p:cNvSpPr/>
          <p:nvPr/>
        </p:nvSpPr>
        <p:spPr>
          <a:xfrm>
            <a:off x="8249717" y="3337560"/>
            <a:ext cx="33933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Official Architecture Center Alignment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8249717" y="3611880"/>
            <a:ext cx="339333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Extends the official Google Cloud Architecture Center multi-tenant agentic AI blueprint (#78) with production-ready code and Terraform for Pooled, Siloed, and Hybrid SaaS.</a:t>
            </a:r>
            <a:endParaRPr lang="en-US" sz="840" dirty="0"/>
          </a:p>
        </p:txBody>
      </p:sp>
      <p:sp>
        <p:nvSpPr>
          <p:cNvPr id="35" name="Shape 32"/>
          <p:cNvSpPr/>
          <p:nvPr/>
        </p:nvSpPr>
        <p:spPr>
          <a:xfrm>
            <a:off x="8240573" y="4946904"/>
            <a:ext cx="3411626" cy="192024"/>
          </a:xfrm>
          <a:prstGeom prst="roundRect">
            <a:avLst>
              <a:gd name="adj" fmla="val 23810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8295437" y="4946904"/>
            <a:ext cx="330189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• Hub &amp; Spoke</a:t>
            </a:r>
            <a:endParaRPr lang="en-US" sz="740" dirty="0"/>
          </a:p>
        </p:txBody>
      </p:sp>
      <p:sp>
        <p:nvSpPr>
          <p:cNvPr id="37" name="Text 3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 the 3-slide architectural sequences for Figures 1 &amp; 2, execute python3 -B scripts/run_deep_forensic_audit.py, and proceed to Workstream 2 (Pattern A Pooled Architecture).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Reference Taxonomy &amp; 5-Hop Governance (Workstream 1)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2026-10-16T00:16:56Z</dcterms:created>
  <dcterms:modified xsi:type="dcterms:W3CDTF">2026-10-16T00:16:56Z</dcterms:modified>
</cp:coreProperties>
</file>