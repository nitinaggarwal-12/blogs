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we are walking through our foundational architecture for running multi-tenant AI agents on Google Cloud—showing how one platform can safely serve both high-volume commercial customers and strictly regulated enterprises without compromising margins or security.</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Here you can see the core business tension every enterprise AI platform faces, illustrated through two very different customers on our Cymbal platform. On one side, FinVault Bank is a regulated financial institution that demands dedicated reasoning capacity, strict compliance guardrails, and customer-controlled encryption keys. On the other side, RetailStream Corp is a fast-moving enterprise retailer running on Microsoft Entra and ServiceNow that needs instant onboarding and predictable unit costs. For our business leaders, we want one unified product offering for both; for our technical and security leaders, we need an absolute guarantee that their data, tools, and performance will never cross company boundaries.</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serve both ends of that customer spectrum, this matrix compares our three deployment topologies side-by-side: Pattern A, our High-Density Shared Pool; Pattern B, our Zero-Trust Sovereign Silos; and Pattern C, our Dynamic Hybrid Bridge. You do not need to memorize every cell—the key business takeaway is at the bottom in our four selection rules. When unit economics and rapid onboarding lead, we start in Pattern A; when a regulator mandates dedicated cloud projects and encryption kill-switches, we deploy Pattern B; and when a SaaS business serves both tiers and wants seamless customer upgrades, we unify them with Pattern C.</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Think of this high-level diagram like the floor plan of a secure airport terminal. Before we look at individual cloud services, everything in our platform is organized into three clear trust zones from left to right. Zone 1 on the left is our Front Door, where customer identity is verified and untrusted traffic is screened. Zone 2 in the center is our Five-Hop Security and Agent Control Plane, which stamps every request with a verified tenant passport and enforces per-customer quotas. Zone 3 on the right contains the isolated execution lanes where the AI models, tools, and databases actually run.</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those three zones, Figure 1 shows our complete Google Cloud physical blueprint. Notice how the four color-coded regions match the mental map we just established: incoming requests enter the blue Routing Hub at the top, pass through our green Five-Hop Governance Hub in the center—where identity, agent permissions, memory namespaces, and prompt safety are enforced—and then execute inside either the yellow Shared Pool Spoke on the left or the red Sovereign Silo Spoke on the right. For our architects, the right-hand sidebar summarizes how all fifty-six components connect end to end.</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Reading from left to right and top to bottom, this sequence traces what happens over time during a single live customer conversation. A user request arrives at the ingress gate, gets exchanged for a hardware-signed tenant token at Hop 1, checks which agents and tools that specific company is allowed to see at Hop 2, loads only that company’s scoped memory and rate-limit bucket at Hop 3, passes prompt safety and PII redaction at Hop 4, and finally queries row-isolated data at Hop 5. Notice the red return paths at the bottom: if any check fails at any hop, the request stops immediately before touching the model or database.</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we open up the actual data envelope traveling across the wire during that sequence. Look at the left panel: an attacker or misconfigured client tries to sneak in a header claiming to be FinVault Bank. In the center panel, our front door completely strips out that untrusted claim and replaces it with a cryptographically signed token tied to the caller’s real login identity. By the time the request reaches the right panel, that verified tenant ID is locked directly into the memory cache prefix and the database session variable—making cross-tenant spoofing mathematically impossible.</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What you are looking at here is our fail-closed safety circuit. Unlike brittle systems that fail open or hang when a downstream service is overloaded, every gate in our five-hop pipeline acts as an automatic circuit breaker. At the front door, replayed tokens or unauthorized cross-tenant tool calls are rejected immediately. In the middle, our rate-limit bulkhead caps any single tenant that exceeds their requests-per-minute or thinking-token budget so one busy customer never slows down or drives up costs for anyone else. And at the data layer, if an enterprise customer flips their Cloud KMS encryption kill-switch, our system flushes their active memory cache within sixty seconds and locks data access—then automatically re-hydrates from AlloyDB as soon as their security team restores the key.</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matrix maps each of those real-time safety switches to the five practical platform edge cases—GAP-01 through GAP-05—that engineering teams encounter when taking early-access AI platforms into production. For each gap on the left, the center column shows the exact Python, SQL, or Terraform safeguard we built in our core engine, and the right column confirms the automated test that verifies it on every deployment.</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To prove this architecture is running in the real world rather than just existing on slides, here are live captures and telemetry receipts directly from our Google Cloud environment. On the left, you can see our deployed Cloud Run revisions, enabled security APIs, and Cloud Logging audit trails; on the right, the summary cards confirm that all twenty automated isolation and failure-recovery simulations pass with zero cross-tenant data leakage.</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Stepping back to the big picture for our executive, product, and technical stakeholders, our foundational design delivers three measurable business guarantees aligned with the Google Cloud Well-Architected Framework. First, under Security, every request is protected by five independent cryptographic checkpoints. Second, under Reliability, per-tenant rate bulkheads and sub-sixty-second kill-switch recovery prevent noisy-neighbor outages. Third, under Cost Optimization, sharing a common system-prompt cache across pooled tenants cuts input token costs by up to ninety percent while reusing eighty percent of our core application code.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Finally, here is our five-workstream rollout roadmap and the immediate engineering actions your team can take today. Every blueprint, Terraform module, and Python verification suite we walked through is ready to run in the repository. From this foundational overview in Workstream 1, our next session—Workstream 2—dives deep into Pattern A to show how we run hundreds of commercial customers inside a high-density shared pool.</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Official Google Cloud Architecture Center hub-and-spoke reference architecture comparing Pooled (Pattern A), Sovereign Silos (Pattern B), and Dynamic Hybrid (Pattern C) isolation models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The Multi-Tenant Agentic Challenge</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Provisioning dedicated cloud projects for Standard Tiernth commercial tenants erodes SaaS gross margins, whereas naive shared runtimes expose cross-tenant tool, memory, and quota surfaces.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Four Agentic Threat Vectors</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Unlike deterministic CRUD applications, autonomous ADK agents dynamically discover MCP tools, persist episodic Memory Bank state, share prompt caches, and consume variable reasoning tokens.</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Production Isolation Topologies</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(High-Density Pooled), Pattern B (Zero-Trust Sovereign Silos), and Pattern C (Dynamic Hybrid PSC Spokes) reuse 80% of the same Python ADK 2.0 application codebase.</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Five-Hop Cryptographic Defense-in-Depth</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Every agent turn enforces verified tenant context across Edge OBO/DPoP (Hop 1), Registry Discovery (Hop 2), Memory &amp; Quotas (Hop 3), Model Armor/SDP (Hop 4), and AlloyDB RLS (Hop 5).</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Competing Tenants &amp; Pattern A/B/C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Introduces FinVault Bank (600 RPM, regulated) vs. RetailStream Corp (120 RPM, Entra + ServiceNow) on Slide 2 and compares Pooled, Sovereign Silo &amp; Hybrid topologies on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Taxonomy -&gt; L2 Figure 1 -&gt; L3 UML -&gt; L4 STS JWT</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3-Zone Reference Taxonomy (Slide 4) into the 56-shape Figure 1 blueprint (Slide 5), the 5-Hop request lifeline (Slide 6) and the signed STS JWT TenantContext on the wire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401–429 Breakers, GAP-01..05 &amp; Console Proof</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Walks the fail-closed circuit breakers with Retry-After jitter and &lt;60s CMEK L1 flush (Slide 8), the GAP-01..05 platform-gap matrix (Slide 9) and live Cloud Run + Logs Explorer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5-Pillar Well-Architected SLAs &amp; 5 Milestones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the 5 Google Cloud Well-Architected pillars to measurable SLAs (Slide 11) and closes with the 5-milestone engineering plan and the series path into WS2–WS5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Multi-Tenant Platform (Control Plane)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2.0, Registry &amp; L1–L5 Memory Bank) and Gemini 2.5 Pro, caching a 32,000-token SRE runbook prefix once (90% discount -&gt; 84.7% net token savings).</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2.0, Registry, L1–L5 Memory) • Gemini 2.5 Pro (32k Prefix Cache)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(Regulated Enterprise Tenant)</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provisions a private Gemini 2.5 Pro (Dedicated PT) / Gemma 3 27B regulatory agent (Agent Alpha), receives a 600 RPM / 8,000-token thinking budget, and mandates VPC-SC &amp; Cloud KMS CMEK.</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Dedicated PT / Gemma 3 27B • VPC-SC • Cloud KMS CMEK (finvault-silo-cmek)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Silo) • 600 RPM • 8,000 Thinking Budget • OCC/IBAN DLP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Tenant A: FinVault Bank</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Commercial Tenant)</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on the pooled Cloud Run v2 &amp; AlloyDB RLS Diagnostic Agent (120 RPM Pool floor) with a 120 RPM / 4,000-token thinking cap, and invokes ServiceNow ITOM via 3LO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Cloud Run v2 • Memorystore Valkey • SharePoint &amp; ServiceNow 3LO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Pool) • 120 RPM • 4,000 Thinking Budget • PCI-DSS PAN/SSN DLP Masking</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Commercial Tenant B: RetailStream</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80% Shared Stack</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Memorystore Valkey, Model Armor, Cloud DLP, AlloyDB RLS, and BigQuery OTel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Verified by 20/20 Automated Security &amp; Migration Tests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5-Hop Google Cloud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project boundary</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(ramp-portal-dev); logical separation in software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under org folder</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Ingress Hub project + Shared Pool + Dedicated Enterprise Spoke projects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agent runtime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shared Vertex AI Agent Engine worker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&amp; private GKE GPU cluster (172.16.0.2/28,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Firestore dynamic tier router dispatches Standard -&gt; Pool, Enterprise -&gt;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sanitization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/24 NAT)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access control</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sender-constrained tokens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verification + tier-scoped OBO/DPoP token forwarding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state plane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with FORCE ROW LEVEL SECURITY + namespaced L1–L5 Memory Bank</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Memory Bank encrypted by tenant Cloud KMS CMEK (HTTP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token cost reduction)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Vertex AI Provisioned Throughput or air-gapped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Baseline unit cost &amp; target tier</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tenant / month • Regulated Banking, Healthcare &amp; Public Sector (6/6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Silo (Ent) • Multi-tier SaaS with live tier upsell (4/4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and transactional AlloyDB FORCE ROW LEVEL SECURITY.</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When to Choose Pattern B (Sovereign Silo)</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Regulated banking, healthcare &amp; public-sector tenants mandating a 1:1 GCP project, VPC Service Controls, IAM PAB &amp; &lt;60s CMEK kill-switch.</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Pattern C &amp; 3-Stage Tenant Evolution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Pool &amp; 5–15% PSC Spokes (74% TCO savings) with dynamic lifecycle graduation: Stage 1 Pool -&gt; Stage 2 0ms PSC Hybrid -&gt; Stage 3 Silo.</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80/20 Unified Codebase Invariant</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 three patterns execute the identical Python ADK 2.0 5-hop pipeline (runtime_pipeline.py), parameterizing only 20% Terraform modules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3-Zone Reference Taxonomy &amp; Signed STS JWT Envelope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(Tenant Identity &amp; Edge Ingress) → Zone 2 (Vertex AI Agent Engine &amp; Cloud Run) → Zone 3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TENANT IDENTITY &amp; EDGE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Pipeline)</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Cloud Run</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RFC 9449 DPoP</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DLP &amp; 90% Cache</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Signed STS JWT</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TenantContext</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Routing</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(Pool / Silo / PSC)</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(Patterns A, B &amp; C + VPC-SC Boundary)</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VPC-SC Perimeter &amp; Hybrid PSC Spokes</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Hub &amp; BigQuery FinOps Ledger</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  Zone 1 (Ingress) → Zone 2 (5-Hop Control Plane) → Zone 3 (Patterns A/B/C + VPC-SC Boundary)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1 &amp; 2 (Zone 1 Routing Hub): Global ALB, Cloud Armor WAF, and IAP authenticate tenant callers, strip spoofed headers, and look up the tenant isolation pattern.</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(Central Governance Hub): Security Command Center, Cloud KMS CMEK, and BigQuery OTel centralize threat detection, key lifecycle, and zero-PII chargeback.</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Step 3 Tier Dispatch: The 80% reusable ADK control plane routes requests dynamically to Pattern A (Yellow Spoke) or Pattern B/C (Red Spoke).</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Pooled Spoke): Enforces Model Armor screening (4/6), Gemini 2.5 Pro 90% prefix caching (5), Valkey RPM bulkheads, and AlloyDB RLS.</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&amp; [Alt] Fail-Closed Return Paths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signed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DPoP → Mint Signed STS JWT TenantContext (No Re-Auth)</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catalog &amp; scope L1–L5</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memory namespace</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 Scoped Agent &amp; Memory ACL</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screens prompt</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 Model Armor &amp; hits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90% shared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session &amp; exchanges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MCP OAuth token</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1–2 Reject: Invalid OBO/DPoP (HTTP 401) or Cross-Tenant ARD Probe (HTTP 403)  |  • Hop 3 Throttle: Valkey &gt;120/600 RPM → HTTP 429 + Retry-After Jitter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Block: Model Armor / NLC Breach (HTTP 400/422) or Revoked CMEK → &lt;60s HTTP 423 Locked + Immediate Valkey L1 Cache Flush</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5-Hop Sequence  •  Happy-Path Steps 1–6 + Dashed [Alt] Fail-Closed Exception Return Paths (HTTP 401/403/422/423/429)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enters the 5-hop policy engine on the left and exits on the right as a sealed, signed, tenant-scoped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Exchange</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Signed STS JWT + DPoP JKT</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100% Fail-Closed Attested • 0 Spoofed Claims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Signed STS JWT TenantContext (Zero Downstream Re-Auth)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DETERMINISTIC FAIL-CLOSED CIRCUIT BREAKERS &amp; DAY-2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Fail-Closed Circuit Breakers (HTTP 401–429), CMEK L1 Flush &amp; Day-2 Recovery</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1–2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OBO/DPoP &amp; ARD</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3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Valkey RPM Clamp</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4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Model Armor &amp; SDP</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Hop 5 Gate: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RLS, CMEK &amp;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Strips spoofed headers;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blocks cross-tenant ARD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tool probe (HTTP 401/403)</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Rejects token replay</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or unauthorized MCP</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scope (Fail-Closed)</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Clamps &gt;120/600 RPM</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(HTTP 429 + Retry-After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jitter) &amp; 4k/8k think cap</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Blocks NLC (HTTP 422)</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&amp; revoked CMEK (&lt;60s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HTTP 423 + Valkey L1 flush)</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Closed-Loop OTel &amp; Day-2 Recovery: Streams zero-PII</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spans to BigQuery; on CMEK re-enable + SRE health probe,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lazily re-hydrates Valkey L1 cache from AlloyDB RLS</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Exception &amp; Day-2 Recovery Loop  •  HTTP 429 Retry-After Jitter + &lt;60s CMEK Valkey L1 Flush + Lazy AlloyDB Re-Hydration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Target GA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Hop2AgentRegistryDiscovery.filter_ard_catalog validates signed JWT tenant_id against visibility metadata before LLM tool binding.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discovery)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Pattern A applies envelope encryption via tenant KMS keys; Pattern B isolates each tenant in a dedicated CMEK project (HTTP 423).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on key disable)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Hop3RuntimeAndMemory enforces atomic per-tenant token-bucket RPM limits in Memorystore for Valkey (120 vs. 600 RPM) + thinking_budget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custom claims normalization and step-up consent for downstream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Edge STS normalizes Entra ID tid/sub claims into DPoP-bound TenantSecurityContext with -32042 step-up 3LO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PASS (HTTP 401 step-up challenge -&gt; 200 OK ServiceNow) • Target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Hop5DataAndFinOps emits zero-PII OpenTelemetry spans (cached_tokens, thinking_tokens, output_tokens) to BigQuery chargeback ledger.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(3 billing SQL models verified in BigQuery) • Target GA: Q1 2027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Catalog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normalizes Entra ID OIDC into DPoP tokens with -32042 3LO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CMEK L1 Flush &amp; Day-2 Recovery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&lt;60s HTTP 423 + immediate Valkey L1 volatile cache flush on key disable; on KMS re-enable + SRE probe, lazily re-hydrates L1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Retry-After Jitter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atomic 120/600 RPM token buckets in Valkey, returning HTTP 429 + Retry-After header for client exponential backoff with jitter + 4k/8k thinking caps.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4. Zero-PII FinOps Ledger (GAP-05)</a:t>
            </a:r>
            <a:endParaRPr lang="en-US" sz="82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Emits SHA-256 prompt hashes and per-tenant cached/thinking/output token spans via OpenTelemetry to BigQuery chargeback views (F-08 PASS).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ramp-portal-dev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cymbal-pooled-prod (#638420508320)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Control Plane: ramp-portal-dev (#248990048888)</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 gen2,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CLOUD LOGGING 20/20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verifying 20/20 multi-tenant isolation, 120/600 RPM bulkheads &amp; 0ms tier upgrade logs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Audit Suite: 20/20 Runtime Simulations PASS (10 + 6 + 4)</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Forensic Gate: 12/12 Invariants Verified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Isolation: 0 Cross-Tenant Rows or Spans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cymbal-pooled-prod (#638420508320) &amp; cymbal-build-sandbox (#887605034827).</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HOP 1–5 SIGNED STS JWT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ARD Catalog Filter</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and binds KMS-signed STS JWT TenantContext across Hops 1–5.</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ACT I METRICS VERIFIED IN PROD</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84.7% Token Savings</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Act I SLAs: Valkey HTTP 429 Retry-After jitter, &lt;60s CMEK L1 flush + Day-2 recovery &amp; 90% 32k prefix cache.</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12/12 FORENSIC + 20/20 SUITE</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AlloyDB RLS Rows Leaked</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by run_deep_forensic_audit.py (12/12 PASS) and 20/20 security, CMEK revocation &amp; 0ms PSC migration tests.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SOLUTION: 5-PILLAR GOOGLE CLOUD WELL-ARCHITECTED GUARANTEES &amp; SLAs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5-Pillar Google Cloud Well-Architected Guarantees: Security, Ops, Reliability, Perf &amp; FinOps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SEC+OPS</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Security, Compliance &amp;</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Operational Excellence</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Enforces signed STS JWT (OBO + DPoP), ARD ACLs &amp; AlloyDB FORCE RLS</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Isolates silos via VPC-SC bridge rules &amp; &lt;60s CMEK L1 cache flush</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Automates 12/12 CI/CD forensic audits &amp; Day-2 CMEK AlloyDB recovery</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REL+PERF</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Reliability, Resilience &amp;</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Performance Efficiency</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Throttles bursts via Valkey (120/600 RPM) + HTTP 429 Retry-After jitter</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Minimizes TTFT via Gemini 2.5 Pro 32k Context Cache &amp; 4k/8k think caps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Promotes tenants live via Pattern C SHADOW_SYNC (0ms lag, 0 drops)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FIN+PORT</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Cost Optimization (FinOps)</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&amp; Architectural Portability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Cuts net token spend 84.7% via 90% shared 32k prefix cache hit rate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Reduces 1,000-tenant portfolio TCO 74% (85% Pool + 15% PSC Spokes)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Reuses one 80% Python ADK 2.0 codebase across Terraform 2.6, 3.6 &amp; 4.6</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Well-Architected Solution  •  All 6 Google Cloud Pillars (Security, Ops Excellence, Reliability, Performance, FinOps &amp; Portability)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Milestone 1 — Deploy 5-Hop Core &amp; Signed STS JWT</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(models.py, runtime_pipeline.py, tenant_profiles.py) to mint KMS-signed STS JWT TenantContext across Hops 1–5 with zero downstream re-auth.</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core-cymbal-agent/runtime_pipeline.py • models.py • tenant_profiles.py
</a:t>
            </a:r>
            <a:pPr indent="0" marL="0">
              <a:buNone/>
            </a:pPr>
            <a:r>
              <a:rPr lang="en-US" sz="730" dirty="0">
                <a:solidFill>
                  <a:srgbClr val="5F6368"/>
                </a:solidFill>
                <a:latin typeface="Roboto" pitchFamily="34" charset="0"/>
                <a:ea typeface="Roboto" pitchFamily="34" charset="-122"/>
                <a:cs typeface="Roboto" pitchFamily="34" charset="-120"/>
              </a:rPr>
              <a:t>Target &amp; SLA: 80% Shared Application Code • Signed STS JWT Enforced Across Hops 1–5 (0 Re-Auth)</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Milestone 1: Shared 5-Hop Core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Milestone 2 — Pattern A Pool &amp; Retry-After Jitter</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configure 120/600 RPM Valkey token buckets with HTTP 429 Retry-After jitter,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120/600 RPM Valkey HTTP 429 Retry-After Jitter • 84.7% Token Savings • 10/10 PASS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Milestone 2: Pattern A &amp; WS2</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Milestone 3 — VPC-SC, CMEK L1 Flush &amp; Recovery</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sovereign perimeters, verify &lt;60s HTTP 423 + Valkey L1 flush on key disable, and validate lazy AlloyDB-to-Valkey re-hydration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VPC-SC Bridge Rules • &lt;60s HTTP 423 + Valkey L1 Flush &amp; Day-2 Recovery (6/6 PASS)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Milestone 3: Pattern B &amp; WS3</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Milestone 4 — /28 PSC NAT &amp; 0ms Live Promotion</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ServiceAttachment allowlists and execute run_tier_migration_suite.py (SHADOW_SYNC -&gt; ATOMIC_CUTOVER -&gt; DRAIN_AND_VERIFY,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74% Portfolio Savings • Unidirectional /28 PSC NAT • 0ms Live Promotion (4/4 PASS)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Milestone 4: Pattern C &amp; WS4</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Milestone 5 — 5-Pillar CI/CD Forensic Audit Gate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scripts/run_deep_forensic_audit.py (12/12 PASS) on every commit and advance to deep-dive implementation guides WS2 (Pool), WS3 (Silo), WS4 (PSC) &amp; WS5 (TCO).</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workstream-5-wrap-up-and-backlog/5.1-pattern-comparison-and-decision-guide.md • scripts/run_deep_forensic_audit.py
</a:t>
            </a:r>
            <a:pPr indent="0" marL="0">
              <a:buNone/>
            </a:pPr>
            <a:r>
              <a:rPr lang="en-US" sz="730" dirty="0">
                <a:solidFill>
                  <a:srgbClr val="5F6368"/>
                </a:solidFill>
                <a:latin typeface="Roboto" pitchFamily="34" charset="0"/>
                <a:ea typeface="Roboto" pitchFamily="34" charset="-122"/>
                <a:cs typeface="Roboto" pitchFamily="34" charset="-120"/>
              </a:rPr>
              <a:t>Target &amp; SLA: 5-Pillar Well-Architected Scorecard + 12/12 Automated CI/CD Forensic Gate PASS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Milestone 5: CI/CD Gate &amp; WS5</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Solution Engineering Milestones &amp; Runbooks  •  Milestone 1 (5-Hop Core) → Milestone 2 (Pool/WS2) → Milestone 3 (Silo/WS3) → Milestone 4 (PSC/WS4) → Milestone 5 (CI/CD/WS5)</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2026-10-20T13:07:17Z</dcterms:created>
  <dcterms:modified xsi:type="dcterms:W3CDTF">2026-10-20T13:07:17Z</dcterms:modified>
</cp:coreProperties>
</file>