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We have structured this streamlined eleven-slide reference architecture briefing into a cohesive five-part engineering series roadmap so you can trace the SaaS AI Dilemma from isolation topologies all the way to automated CI/CD forensic compliance.</a:t>
            </a:r>
            <a:endParaRPr lang="en-US" dirty="0"/>
          </a:p>
          <a:p>
            <a:r>
              <a:rPr lang="en-US" dirty="0"/>
              <a:t>In this session, we are walking through our foundational reference architecture for running multi-tenant AI agents on Google Cloud. Right upfront, we define our three core building blocks using operating-system primitives—Google’s Agent Development Kit (ADK) as our OS syscall scheduler, the Model Context Protocol (MCP) as our POSIX tool driver ABI, and Agent Registry and Discovery (ARD) as our chrooted virtual filesystem catalog—and show how we solve the SaaS AI Architect’s Dilemma: avoiding the margin erosion of spinning up dedicated cloud projects for every small customer while preventing tool-schema data leaks and noisy-neighbor rate starvation in a shared pool.</a:t>
            </a:r>
            <a:endParaRPr lang="en-US" dirty="0"/>
          </a:p>
          <a:p>
            <a:r>
              <a:rPr lang="en-US" dirty="0"/>
              <a:t>With our thesis defined on Slide 1, let's turn to Slide 2 for our Agenda and 5-Part Series Navigation table so you can see the exact macro-to-micro flow of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Following our executive cover on Slide 1, Slide 2 provides an explicit Table of Contents mapping all eleven slides across the five-part blog series and our L1-to-L4 architectural hierarchy.</a:t>
            </a:r>
            <a:endParaRPr lang="en-US" dirty="0"/>
          </a:p>
          <a:p>
            <a:r>
              <a:rPr lang="en-US" dirty="0"/>
              <a:t>This Table of Contents maps our streamlined eleven-slide deck directly to the five-part engineering blog series and follows a strict macro-to-micro hierarchy. Part 1 covers the SaaS AI Architect’s Dilemma and isolation topologies across Slides 1 through 4. Part 2 establishes the five-hop cryptographic pipeline from L1 Logical Security Layers on Slide 5 to L2 Physical Network Perimeters on Slide 6 and L4 Wire Packet transformation on Slide 8. Part 3 on Slide 7 merges our L3 chronological UML sequence with fail-closed circuit breakers, sub-five-second Valkey L1 cache eviction, and single-flight recovery. Part 4 on Slide 9 documents our five EAP product gap controls, and Part 5 across Slides 10 and 11 pairs live Google Cloud Console proof with our merged Well-Architected SLA scorecard and runnable GitHub milestones.</a:t>
            </a:r>
            <a:endParaRPr lang="en-US" dirty="0"/>
          </a:p>
          <a:p>
            <a:r>
              <a:rPr lang="en-US" dirty="0"/>
              <a:t>Now that we have the full eleven-slide roadmap in front of us, let's turn to Slide 3 to meet the competing customer personas whose business and regulatory constraints drive this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Stepping into Part 1 from our Agenda on Slide 2, we start with the customer personas first—contrasting regulated banking workloads against high-density commercial SaaS workloads.</a:t>
            </a:r>
            <a:endParaRPr lang="en-US" dirty="0"/>
          </a:p>
          <a:p>
            <a:r>
              <a:rPr lang="en-US" dirty="0"/>
              <a:t>Here you can see that SaaS AI tension illustrated through two competing tenant personas on our Cymbal platform. On one side, FinVault Bank is a regulated financial institution at six hundred requests per minute that requires customer-controlled encryption keys and chooses between Managed Vertex AI Dedicated Provisioned Throughput for zero-ops Gemini 2.5 Pro capacity or self-managed, air-gapped Gemma 3 27B on Private GKE with zero internet egress. On the other side, RetailStream Corp runs on Microsoft Entra ID and ServiceNow at one hundred twenty requests per minute, where we isolate per-user Three-Legged OAuth tokens inside tenant-and-user DPoP-bound vaults to eliminate the Confused Deputy vulnerability across pooled workers.</a:t>
            </a:r>
            <a:endParaRPr lang="en-US" dirty="0"/>
          </a:p>
          <a:p>
            <a:r>
              <a:rPr lang="en-US" dirty="0"/>
              <a:t>Now that we see what FinVault Bank and RetailStream Corp require on Slide 3, let's turn to Slide 4 to compare our three isolation topologies across twelve architectural and operational dimensions.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directly on the customer personas from Slide 3, this matrix closes Part 1 by comparing Pooled (Pattern A), Sovereign Silos (Pattern B), and Dynamic Hybrid (Pattern C).</a:t>
            </a:r>
            <a:endParaRPr lang="en-US" dirty="0"/>
          </a:p>
          <a:p>
            <a:r>
              <a:rPr lang="en-US" dirty="0"/>
              <a:t>To serve both ends of that customer spectrum, this twelve-dimension matrix compares Pattern A, our High-Density Shared Pool; Pattern B, our Zero-Trust Sovereign Silos; and Pattern C, our Dynamic Hybrid Bridge. Notice the operational fleet-scale trade-off in the table: managing five hundred enterprise customers in Pattern B means maintaining five hundred separate VPC Service Controls perimeters, KMS keys, and AlloyDB instances—which is why Pattern C hosts nine hundred fifty standard tenants in the shared pool and reserves fifty Private Service Connect spokes for regulated contracts. Also note our kill-switch distinction: while Google Cloud KMS key state propagation can take up to sixty seconds across storage, Hop 3 runs a targeted Valkey SCAN and UNLINK of the tenant’s cache prefix in under five seconds to enforce our HTTP 423 lock SLA.</a:t>
            </a:r>
            <a:endParaRPr lang="en-US" dirty="0"/>
          </a:p>
          <a:p>
            <a:r>
              <a:rPr lang="en-US" dirty="0"/>
              <a:t>With our three isolation topologies defined in Part 1, let's enter Part 2 on Slide 5 at Level 1 Logical—examining our three logical security layers before zooming into the four physical VPC-SC network perimeters on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Part 2 on securing the agent loop, Slide 5 establishes the Level 1 Logical view—organizing our architecture into three logical security layers so it maps cleanly onto the four physical VPC-SC perimeters on Slide 6.</a:t>
            </a:r>
            <a:endParaRPr lang="en-US" dirty="0"/>
          </a:p>
          <a:p>
            <a:r>
              <a:rPr lang="en-US" dirty="0"/>
              <a:t>Before we inspect individual cloud services, this Level 1 diagram organizes our entire architecture into three logical security layers from left to right—preventing any terminology clash with the four physical VPC-SC network perimeters on the next slide. Layer 1 on the left verifies federated identity and DPoP proofs at the Cloud Armor and IAP edge. Layer 2 in the center runs our Five-Hop ADK Control Plane, where regional gRPC callouts keep Hop 4 inline Model Armor and Cloud DLP inspection to roughly twenty-two milliseconds and total five-hop control-plane overhead to about forty-two milliseconds at p95. And to prevent security drift during a five-minute STS JWT window, every hop checks a three-millisecond Valkey JTI and CMEK revocation deny-list before routing into Layer 3 on the right.</a:t>
            </a:r>
            <a:endParaRPr lang="en-US" dirty="0"/>
          </a:p>
          <a:p>
            <a:r>
              <a:rPr lang="en-US" dirty="0"/>
              <a:t>Now that we have the three logical security layers in mind, let's zoom directly into Level 2 Physical on Slide 6 to see how those layers map onto our fifty-six-shape Google Cloud blueprint across four physical VPC-SC network perimeters.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Following our strict macro-to-micro L1-to-L2 progression from Slide 5, Slide 6 maps the three logical security layers onto concrete Google Cloud services across four color-coded physical VPC Service Controls perimeters.</a:t>
            </a:r>
            <a:endParaRPr lang="en-US" dirty="0"/>
          </a:p>
          <a:p>
            <a:r>
              <a:rPr lang="en-US" dirty="0"/>
              <a:t>Zooming directly from those three logical security layers into the Level 2 physical topology, Figure 1 maps our fifty-six-shape Google Cloud blueprint across four physical VPC Service Controls network perimeters. Requests enter Blue Perimeter 1 (the Routing Hub for Steps 1 through 3 and Hop 1) at the top, traverse Green Perimeter 2 (the Five-Hop Governance Hub for Hops 2 and 5) in the center, and execute inside either Yellow Perimeter 3 (the Pattern A Shared Pool Spoke for Steps 4 through 7 and Hops 3 through 5) on the left or Red Perimeter 4 (the Pattern B Sovereign Silo and Pattern C PSC Spoke) on the right—with gVisor kernel sandboxing and composite tenant-user-session keys isolating every worker.</a:t>
            </a:r>
            <a:endParaRPr lang="en-US" dirty="0"/>
          </a:p>
          <a:p>
            <a:r>
              <a:rPr lang="en-US" dirty="0"/>
              <a:t>With both the L1 logical layers and L2 physical perimeters established, let's step into Level 3 Process on Slide 7 to trace a live request chronologically across all five actors alongside our merged fail-closed circuit breakers and Valkey L1 cache recovery.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from L2 Physical on Slide 6 to L3 Process on Slide 7, this unified diagram combines our chronological five-actor request sequence with our fail-closed circuit breakers, sub-five-second Valkey SCAN+UNLINK eviction, and SET NX PX 5000 single-flight recovery.</a:t>
            </a:r>
            <a:endParaRPr lang="en-US" dirty="0"/>
          </a:p>
          <a:p>
            <a:r>
              <a:rPr lang="en-US" dirty="0"/>
              <a:t>Now that we have the L1 logical layers and L2 physical perimeters in place, this merged Level 3 process and operational resilience slide traces both the chronological happy path across five actors and every fail-closed circuit breaker in one unified view. Steps 1 through 6 trace a live customer turn in roughly forty-two milliseconds of control-plane overhead. And in the red fail-closed frame at the bottom, spoofed headers or ~3ms JTI revocations return HTTP 401 or 403, rate bursts over 120 or 600 RPM return HTTP 429 with Retry-After jitter, and a revoked Cloud KMS key triggers an HTTP 423 lock with a sub-five-second targeted Valkey SCAN and UNLINK of cache:{tenant}:*—followed by single-flight SET NX PX 5000 lazy re-hydration from AlloyDB RLS when the key is restored.</a:t>
            </a:r>
            <a:endParaRPr lang="en-US" dirty="0"/>
          </a:p>
          <a:p>
            <a:r>
              <a:rPr lang="en-US" dirty="0"/>
              <a:t>Having watched the request and its circuit breakers execute across Hops 1 through 5 on Slide 7, let's zoom all the way down to Level 4 Wire on Slide 8 to inspect the exact JSON packet and KMS-signed STS JWT on the wire.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Completing our L1 → L2 → L3 → L4 macro-to-micro hierarchy, Slide 8 inspects the raw JSON payload on the wire before and after Hop 1 token exchange.</a:t>
            </a:r>
            <a:endParaRPr lang="en-US" dirty="0"/>
          </a:p>
          <a:p>
            <a:r>
              <a:rPr lang="en-US" dirty="0"/>
              <a:t>Zooming all the way down to Level 4, here we open up the wire packet traveling across those hops. On the left, an untrusted client attempts to inject a spoofed X-Tenant-Id header claiming to be FinVault Bank. In the center, Cloud Armor and our Hop 1 Security Token Service strip that header, verify the caller’s OIDC and DPoP proof, and mint a KMS ECDSA P-256 signed STS JWT. On the right, downstream microservices verify that asymmetric signature locally in under 0.15 milliseconds using an in-memory cached JWKS public key—achieving mathematical non-repudiation with zero per-hop KMS network calls.</a:t>
            </a:r>
            <a:endParaRPr lang="en-US" dirty="0"/>
          </a:p>
          <a:p>
            <a:r>
              <a:rPr lang="en-US" dirty="0"/>
              <a:t>With the five-hop architecture proven from logical layers down to the wire packet, let's move into Part 4 on Slide 9 to inspect the five EAP product gaps we encountered and the feature-flagged compensating controls we built to close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on Slide 9 provides our transparent engineering ledger of five current platform gaps, our codebase compensating controls, and our feature-flagged native adapter sunset hooks.</a:t>
            </a:r>
            <a:endParaRPr lang="en-US" dirty="0"/>
          </a:p>
          <a:p>
            <a:r>
              <a:rPr lang="en-US" dirty="0"/>
              <a:t>This register maps our five compensating production controls—GAP-01 through GAP-05—to the early-access platform boundaries engineering teams face today. Every custom Python, Valkey, or SQL control in core-cymbal-agent is wrapped in a feature-flagged native adapter hook (CYMBAL_NATIVE_ARD_GA, CYMBAL_NATIVE_KMS_PROBE_GA, CYMBAL_NATIVE_MEM_TTL_GA, CYMBAL_NATIVE_PSC_CUTOVER_GA, and CYMBAL_NATIVE_OTEL_FINOPS_GA) so teams can switch cleanly to native GCP primitives via configuration as they reach general availability. And in row five, our OpenTelemetry FinOps exporter streams SHA-256 prompt hashes and token counters directly into BigQuery so finance teams can run exact SQL chargeback queries across cached and thinking tokens with zero raw PII.</a:t>
            </a:r>
            <a:endParaRPr lang="en-US" dirty="0"/>
          </a:p>
          <a:p>
            <a:r>
              <a:rPr lang="en-US" dirty="0"/>
              <a:t>With our compensating controls documented on Slide 9, let's enter Part 5 on Slide 10 to inspect the live Google Cloud Console and Cloud Logging Explorer proof from our deployed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Part 5 on automated compliance, Slide 10 presents live evidence captured from our running Google Cloud projects along with the exact Cloud Logging Explorer queries used by SRE and CISO auditors.</a:t>
            </a:r>
            <a:endParaRPr lang="en-US" dirty="0"/>
          </a:p>
          <a:p>
            <a:r>
              <a:rPr lang="en-US" dirty="0"/>
              <a:t>To prove this architecture is running live rather than just on slides, here are authentic captures from our deployed Cloud Run revisions in ramp-portal-dev and bbar-138hf0, Cloud Logging Explorer, Dual-Plane verification harness, and twenty before-versus-after 2880-by-1800 Retina third-party SaaS UIs including Metabase BI v0.50.26 and Trino Distributed SQL v440. On the Intra-Cloud plane, our 20/20 Google Cloud runtime suites verify zero cross-tenant RLS rows across HTTP 200, 403, 423, and 429 responses; on the Inter-Cloud plane, our 30/30 AWS Bedrock AgentCore MCP and 10-SaaS cross-cloud target harness passes all sixty assertions and all thirteen automated forensic gates.</a:t>
            </a:r>
            <a:endParaRPr lang="en-US" dirty="0"/>
          </a:p>
          <a:p>
            <a:r>
              <a:rPr lang="en-US" dirty="0"/>
              <a:t>With the live cloud verification complete, let's move to our final slide—Slide 11—where we merge our Google Cloud Well-Architected SLA scorecard directly into the five runnable engineering milestones and five-part blog series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Rounding out Part 5, our final slide consolidates our Well-Architected SLA scorecard directly into the five executable GitHub milestones and five-part blog series roadmap.</a:t>
            </a:r>
            <a:endParaRPr lang="en-US" dirty="0"/>
          </a:p>
          <a:p>
            <a:r>
              <a:rPr lang="en-US" dirty="0"/>
              <a:t>Finally, our closing slide consolidates the Google Cloud Well-Architected SLA scorecard directly into our five runnable GitHub milestones and five-part blog series launch plan. Every milestone card pairs its exact repository file path with its production SLA target: under 150-microsecond cached-JWKS verification and ~3ms JTI deny-lists in Part 1; ~42ms p95 five-hop overhead, ~420ms warm TTFT, and 84.7 percent token savings in Part 2; &lt;60s CMEK revocation, &lt;5s Valkey SCAN+UNLINK eviction, SET NX PX 5000 recovery, and &lt;30s cross-region failover RTO in Part 3; 74 percent portfolio TCO reduction and 0ms PSC cutover in Part 4; and 13/13 forensic plus 107/107 runtime assertions in Part 5.</a:t>
            </a:r>
            <a:endParaRPr lang="en-US" dirty="0"/>
          </a:p>
          <a:p>
            <a:r>
              <a:rPr lang="en-US" dirty="0"/>
              <a:t>That completes our streamlined eleven-slide walkthrough—I would love to open the floor for your questions, or we can jump straight into the live codebase and Terraform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image" Target="../media/image-6-15.png"/><Relationship Id="rId16" Type="http://schemas.openxmlformats.org/officeDocument/2006/relationships/image" Target="../media/image-6-16.png"/><Relationship Id="rId17" Type="http://schemas.openxmlformats.org/officeDocument/2006/relationships/image" Target="../media/image-6-17.png"/><Relationship Id="rId18" Type="http://schemas.openxmlformats.org/officeDocument/2006/relationships/image" Target="../media/image-6-18.png"/><Relationship Id="rId19" Type="http://schemas.openxmlformats.org/officeDocument/2006/relationships/image" Target="../media/image-6-19.png"/><Relationship Id="rId20" Type="http://schemas.openxmlformats.org/officeDocument/2006/relationships/image" Target="../media/image-6-20.png"/><Relationship Id="rId21" Type="http://schemas.openxmlformats.org/officeDocument/2006/relationships/slideLayout" Target="../slideLayouts/slideLayout1.xml"/><Relationship Id="rId2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047695" cy="77724"/>
          </a:xfrm>
          <a:prstGeom prst="rect">
            <a:avLst/>
          </a:prstGeom>
          <a:solidFill>
            <a:srgbClr val="4285F4"/>
          </a:solidFill>
          <a:ln/>
        </p:spPr>
      </p:sp>
      <p:sp>
        <p:nvSpPr>
          <p:cNvPr id="3" name="Shape 1"/>
          <p:cNvSpPr/>
          <p:nvPr/>
        </p:nvSpPr>
        <p:spPr>
          <a:xfrm>
            <a:off x="3047695" y="0"/>
            <a:ext cx="3047695" cy="77724"/>
          </a:xfrm>
          <a:prstGeom prst="rect">
            <a:avLst/>
          </a:prstGeom>
          <a:solidFill>
            <a:srgbClr val="EA4335"/>
          </a:solidFill>
          <a:ln/>
        </p:spPr>
      </p:sp>
      <p:sp>
        <p:nvSpPr>
          <p:cNvPr id="4" name="Shape 2"/>
          <p:cNvSpPr/>
          <p:nvPr/>
        </p:nvSpPr>
        <p:spPr>
          <a:xfrm>
            <a:off x="6095390" y="0"/>
            <a:ext cx="3047695" cy="77724"/>
          </a:xfrm>
          <a:prstGeom prst="rect">
            <a:avLst/>
          </a:prstGeom>
          <a:solidFill>
            <a:srgbClr val="FBBC04"/>
          </a:solidFill>
          <a:ln/>
        </p:spPr>
      </p:sp>
      <p:sp>
        <p:nvSpPr>
          <p:cNvPr id="5" name="Shape 3"/>
          <p:cNvSpPr/>
          <p:nvPr/>
        </p:nvSpPr>
        <p:spPr>
          <a:xfrm>
            <a:off x="9143086" y="0"/>
            <a:ext cx="3048610" cy="77724"/>
          </a:xfrm>
          <a:prstGeom prst="rect">
            <a:avLst/>
          </a:prstGeom>
          <a:solidFill>
            <a:srgbClr val="34A853"/>
          </a:solidFill>
          <a:ln/>
        </p:spPr>
      </p:sp>
      <p:sp>
        <p:nvSpPr>
          <p:cNvPr id="6" name="Shape 4"/>
          <p:cNvSpPr/>
          <p:nvPr/>
        </p:nvSpPr>
        <p:spPr>
          <a:xfrm>
            <a:off x="411480" y="347472"/>
            <a:ext cx="6812280" cy="5998464"/>
          </a:xfrm>
          <a:prstGeom prst="roundRect">
            <a:avLst>
              <a:gd name="adj" fmla="val 1220"/>
            </a:avLst>
          </a:prstGeom>
          <a:solidFill>
            <a:srgbClr val="F8F9FA"/>
          </a:solidFill>
          <a:ln w="12700">
            <a:solidFill>
              <a:srgbClr val="DADCE0"/>
            </a:solidFill>
            <a:prstDash val="solid"/>
          </a:ln>
        </p:spPr>
      </p:sp>
      <p:sp>
        <p:nvSpPr>
          <p:cNvPr id="7" name="Shape 5"/>
          <p:cNvSpPr/>
          <p:nvPr/>
        </p:nvSpPr>
        <p:spPr>
          <a:xfrm>
            <a:off x="411480" y="347472"/>
            <a:ext cx="100584" cy="5998464"/>
          </a:xfrm>
          <a:prstGeom prst="rect">
            <a:avLst/>
          </a:prstGeom>
          <a:solidFill>
            <a:srgbClr val="4285F4"/>
          </a:solidFill>
          <a:ln/>
        </p:spPr>
      </p:sp>
      <p:sp>
        <p:nvSpPr>
          <p:cNvPr id="8" name="Shape 6"/>
          <p:cNvSpPr/>
          <p:nvPr/>
        </p:nvSpPr>
        <p:spPr>
          <a:xfrm>
            <a:off x="768096" y="670255"/>
            <a:ext cx="86868" cy="86868"/>
          </a:xfrm>
          <a:prstGeom prst="ellipse">
            <a:avLst/>
          </a:prstGeom>
          <a:solidFill>
            <a:srgbClr val="4285F4"/>
          </a:solidFill>
          <a:ln/>
        </p:spPr>
      </p:sp>
      <p:sp>
        <p:nvSpPr>
          <p:cNvPr id="9" name="Shape 7"/>
          <p:cNvSpPr/>
          <p:nvPr/>
        </p:nvSpPr>
        <p:spPr>
          <a:xfrm>
            <a:off x="882396" y="670255"/>
            <a:ext cx="86868" cy="86868"/>
          </a:xfrm>
          <a:prstGeom prst="ellipse">
            <a:avLst/>
          </a:prstGeom>
          <a:solidFill>
            <a:srgbClr val="EA4335"/>
          </a:solidFill>
          <a:ln/>
        </p:spPr>
      </p:sp>
      <p:sp>
        <p:nvSpPr>
          <p:cNvPr id="10" name="Shape 8"/>
          <p:cNvSpPr/>
          <p:nvPr/>
        </p:nvSpPr>
        <p:spPr>
          <a:xfrm>
            <a:off x="996696" y="670255"/>
            <a:ext cx="86868" cy="86868"/>
          </a:xfrm>
          <a:prstGeom prst="ellipse">
            <a:avLst/>
          </a:prstGeom>
          <a:solidFill>
            <a:srgbClr val="FBBC04"/>
          </a:solidFill>
          <a:ln/>
        </p:spPr>
      </p:sp>
      <p:sp>
        <p:nvSpPr>
          <p:cNvPr id="11" name="Shape 9"/>
          <p:cNvSpPr/>
          <p:nvPr/>
        </p:nvSpPr>
        <p:spPr>
          <a:xfrm>
            <a:off x="1110996" y="670255"/>
            <a:ext cx="86868" cy="86868"/>
          </a:xfrm>
          <a:prstGeom prst="ellipse">
            <a:avLst/>
          </a:prstGeom>
          <a:solidFill>
            <a:srgbClr val="34A853"/>
          </a:solidFill>
          <a:ln/>
        </p:spPr>
      </p:sp>
      <p:sp>
        <p:nvSpPr>
          <p:cNvPr id="12" name="Text 10"/>
          <p:cNvSpPr/>
          <p:nvPr/>
        </p:nvSpPr>
        <p:spPr>
          <a:xfrm>
            <a:off x="1316736" y="585216"/>
            <a:ext cx="5669280" cy="256032"/>
          </a:xfrm>
          <a:prstGeom prst="rect">
            <a:avLst/>
          </a:prstGeom>
          <a:noFill/>
          <a:ln/>
        </p:spPr>
        <p:txBody>
          <a:bodyPr wrap="square" rtlCol="0" anchor="ctr"/>
          <a:lstStyle/>
          <a:p>
            <a:pPr indent="0" marL="0">
              <a:buNone/>
            </a:pPr>
            <a:r>
              <a:rPr lang="en-US" sz="920" b="1" dirty="0">
                <a:solidFill>
                  <a:srgbClr val="4285F4"/>
                </a:solidFill>
                <a:latin typeface="Google Sans" pitchFamily="34" charset="0"/>
                <a:ea typeface="Google Sans" pitchFamily="34" charset="-122"/>
                <a:cs typeface="Google Sans" pitchFamily="34" charset="-120"/>
              </a:rPr>
              <a:t>GOOGLE CLOUD ARCHITECTURE CENTER  •  REFERENCE BLUEPRINT</a:t>
            </a:r>
            <a:endParaRPr lang="en-US" sz="920" dirty="0"/>
          </a:p>
        </p:txBody>
      </p:sp>
      <p:sp>
        <p:nvSpPr>
          <p:cNvPr id="13" name="Shape 11"/>
          <p:cNvSpPr/>
          <p:nvPr/>
        </p:nvSpPr>
        <p:spPr>
          <a:xfrm>
            <a:off x="768096" y="950976"/>
            <a:ext cx="6144768" cy="310896"/>
          </a:xfrm>
          <a:prstGeom prst="roundRect">
            <a:avLst>
              <a:gd name="adj" fmla="val 23529"/>
            </a:avLst>
          </a:prstGeom>
          <a:solidFill>
            <a:srgbClr val="FFFFFF"/>
          </a:solidFill>
          <a:ln w="10795">
            <a:solidFill>
              <a:srgbClr val="DADCE0"/>
            </a:solidFill>
            <a:prstDash val="solid"/>
          </a:ln>
        </p:spPr>
      </p:sp>
      <p:sp>
        <p:nvSpPr>
          <p:cNvPr id="14" name="Text 12"/>
          <p:cNvSpPr/>
          <p:nvPr/>
        </p:nvSpPr>
        <p:spPr>
          <a:xfrm>
            <a:off x="877824" y="950976"/>
            <a:ext cx="5925312" cy="310896"/>
          </a:xfrm>
          <a:prstGeom prst="rect">
            <a:avLst/>
          </a:prstGeom>
          <a:noFill/>
          <a:ln/>
        </p:spPr>
        <p:txBody>
          <a:bodyPr wrap="square" rtlCol="0" anchor="ctr"/>
          <a:lstStyle/>
          <a:p>
            <a:pPr indent="0" marL="0">
              <a:buNone/>
            </a:pPr>
            <a:r>
              <a:rPr lang="en-US" sz="850" b="1" dirty="0">
                <a:solidFill>
                  <a:srgbClr val="3C4043"/>
                </a:solidFill>
                <a:latin typeface="Google Sans" pitchFamily="34" charset="0"/>
                <a:ea typeface="Google Sans" pitchFamily="34" charset="-122"/>
                <a:cs typeface="Google Sans" pitchFamily="34" charset="-120"/>
              </a:rPr>
              <a:t>WORKSTREAM 1 • REFERENCE ARCHITECTURE &amp; CLOUD ARCHITECTURE CENTER DOC PR</a:t>
            </a:r>
            <a:endParaRPr lang="en-US" sz="850" dirty="0"/>
          </a:p>
        </p:txBody>
      </p:sp>
      <p:sp>
        <p:nvSpPr>
          <p:cNvPr id="15" name="Text 13"/>
          <p:cNvSpPr/>
          <p:nvPr/>
        </p:nvSpPr>
        <p:spPr>
          <a:xfrm>
            <a:off x="768096" y="1389888"/>
            <a:ext cx="6144768" cy="1371600"/>
          </a:xfrm>
          <a:prstGeom prst="rect">
            <a:avLst/>
          </a:prstGeom>
          <a:noFill/>
          <a:ln/>
        </p:spPr>
        <p:txBody>
          <a:bodyPr wrap="square" rtlCol="0" anchor="t"/>
          <a:lstStyle/>
          <a:p>
            <a:pPr indent="0" marL="0">
              <a:buNone/>
            </a:pPr>
            <a:r>
              <a:rPr lang="en-US" sz="2200" b="1" dirty="0">
                <a:solidFill>
                  <a:srgbClr val="3C4043"/>
                </a:solidFill>
                <a:latin typeface="Google Sans Display" pitchFamily="34" charset="0"/>
                <a:ea typeface="Google Sans Display" pitchFamily="34" charset="-122"/>
                <a:cs typeface="Google Sans Display" pitchFamily="34" charset="-120"/>
              </a:rPr>
              <a:t>Multi-Tenant Agentic AI on Google Cloud: Reference Taxonomy &amp; 5-Hop Governance (Workstream 1)</a:t>
            </a:r>
            <a:endParaRPr lang="en-US" sz="2200" dirty="0"/>
          </a:p>
        </p:txBody>
      </p:sp>
      <p:sp>
        <p:nvSpPr>
          <p:cNvPr id="16" name="Shape 14"/>
          <p:cNvSpPr/>
          <p:nvPr/>
        </p:nvSpPr>
        <p:spPr>
          <a:xfrm>
            <a:off x="768096" y="2852928"/>
            <a:ext cx="6144768" cy="1060704"/>
          </a:xfrm>
          <a:prstGeom prst="roundRect">
            <a:avLst>
              <a:gd name="adj" fmla="val 6897"/>
            </a:avLst>
          </a:prstGeom>
          <a:solidFill>
            <a:srgbClr val="FFFFFF"/>
          </a:solidFill>
          <a:ln w="12700">
            <a:solidFill>
              <a:srgbClr val="DADCE0"/>
            </a:solidFill>
            <a:prstDash val="solid"/>
          </a:ln>
        </p:spPr>
      </p:sp>
      <p:sp>
        <p:nvSpPr>
          <p:cNvPr id="17" name="Shape 15"/>
          <p:cNvSpPr/>
          <p:nvPr/>
        </p:nvSpPr>
        <p:spPr>
          <a:xfrm>
            <a:off x="768096" y="2852928"/>
            <a:ext cx="73152" cy="1060704"/>
          </a:xfrm>
          <a:prstGeom prst="rect">
            <a:avLst/>
          </a:prstGeom>
          <a:solidFill>
            <a:srgbClr val="4285F4"/>
          </a:solidFill>
          <a:ln/>
        </p:spPr>
      </p:sp>
      <p:sp>
        <p:nvSpPr>
          <p:cNvPr id="18" name="Text 16"/>
          <p:cNvSpPr/>
          <p:nvPr/>
        </p:nvSpPr>
        <p:spPr>
          <a:xfrm>
            <a:off x="950976" y="2926080"/>
            <a:ext cx="5833872" cy="201168"/>
          </a:xfrm>
          <a:prstGeom prst="rect">
            <a:avLst/>
          </a:prstGeom>
          <a:noFill/>
          <a:ln/>
        </p:spPr>
        <p:txBody>
          <a:bodyPr wrap="square" rtlCol="0" anchor="ctr"/>
          <a:lstStyle/>
          <a:p>
            <a:pPr indent="0" marL="0">
              <a:buNone/>
            </a:pPr>
            <a:r>
              <a:rPr lang="en-US" sz="800" b="1" dirty="0">
                <a:solidFill>
                  <a:srgbClr val="4285F4"/>
                </a:solidFill>
                <a:latin typeface="Google Sans" pitchFamily="34" charset="0"/>
                <a:ea typeface="Google Sans" pitchFamily="34" charset="-122"/>
                <a:cs typeface="Google Sans" pitchFamily="34" charset="-120"/>
              </a:rPr>
              <a:t>KEY ARCHITECTURAL POINT</a:t>
            </a:r>
            <a:endParaRPr lang="en-US" sz="800" dirty="0"/>
          </a:p>
        </p:txBody>
      </p:sp>
      <p:sp>
        <p:nvSpPr>
          <p:cNvPr id="19" name="Text 17"/>
          <p:cNvSpPr/>
          <p:nvPr/>
        </p:nvSpPr>
        <p:spPr>
          <a:xfrm>
            <a:off x="950976" y="3145536"/>
            <a:ext cx="5833872" cy="694944"/>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Solving the SaaS AI Dilemma: Prevent tool-schema leaks and rogue-tenant quota starvation using Agent Development Kit (ADK), Model Context Protocol (MCP) &amp; Agent Registry Discovery (ARD) across Pooled, Silo &amp; Hybrid tiers</a:t>
            </a:r>
            <a:endParaRPr lang="en-US" sz="980" dirty="0"/>
          </a:p>
        </p:txBody>
      </p:sp>
      <p:sp>
        <p:nvSpPr>
          <p:cNvPr id="20" name="Shape 18"/>
          <p:cNvSpPr/>
          <p:nvPr/>
        </p:nvSpPr>
        <p:spPr>
          <a:xfrm>
            <a:off x="768096" y="4059936"/>
            <a:ext cx="1453896" cy="1572768"/>
          </a:xfrm>
          <a:prstGeom prst="roundRect">
            <a:avLst>
              <a:gd name="adj" fmla="val 5031"/>
            </a:avLst>
          </a:prstGeom>
          <a:solidFill>
            <a:srgbClr val="FFFFFF"/>
          </a:solidFill>
          <a:ln w="12700">
            <a:solidFill>
              <a:srgbClr val="DADCE0"/>
            </a:solidFill>
            <a:prstDash val="solid"/>
          </a:ln>
        </p:spPr>
      </p:sp>
      <p:sp>
        <p:nvSpPr>
          <p:cNvPr id="21" name="Shape 19"/>
          <p:cNvSpPr/>
          <p:nvPr/>
        </p:nvSpPr>
        <p:spPr>
          <a:xfrm>
            <a:off x="768096" y="4059936"/>
            <a:ext cx="1453896" cy="54864"/>
          </a:xfrm>
          <a:prstGeom prst="rect">
            <a:avLst/>
          </a:prstGeom>
          <a:solidFill>
            <a:srgbClr val="4285F4"/>
          </a:solidFill>
          <a:ln/>
        </p:spPr>
      </p:sp>
      <p:sp>
        <p:nvSpPr>
          <p:cNvPr id="22" name="Text 20"/>
          <p:cNvSpPr/>
          <p:nvPr/>
        </p:nvSpPr>
        <p:spPr>
          <a:xfrm>
            <a:off x="841248" y="4142232"/>
            <a:ext cx="1307592" cy="384048"/>
          </a:xfrm>
          <a:prstGeom prst="rect">
            <a:avLst/>
          </a:prstGeom>
          <a:noFill/>
          <a:ln/>
        </p:spPr>
        <p:txBody>
          <a:bodyPr wrap="square" rtlCol="0" anchor="ctr"/>
          <a:lstStyle/>
          <a:p>
            <a:pPr indent="0" marL="0">
              <a:buNone/>
            </a:pPr>
            <a:r>
              <a:rPr lang="en-US" sz="760" b="1" dirty="0">
                <a:solidFill>
                  <a:srgbClr val="3C4043"/>
                </a:solidFill>
                <a:latin typeface="Google Sans" pitchFamily="34" charset="0"/>
                <a:ea typeface="Google Sans" pitchFamily="34" charset="-122"/>
                <a:cs typeface="Google Sans" pitchFamily="34" charset="-120"/>
              </a:rPr>
              <a:t>Why It Matters (SaaS AI Dilemma)</a:t>
            </a:r>
            <a:endParaRPr lang="en-US" sz="760" dirty="0"/>
          </a:p>
        </p:txBody>
      </p:sp>
      <p:sp>
        <p:nvSpPr>
          <p:cNvPr id="23" name="Text 21"/>
          <p:cNvSpPr/>
          <p:nvPr/>
        </p:nvSpPr>
        <p:spPr>
          <a:xfrm>
            <a:off x="841248" y="4544568"/>
            <a:ext cx="1307592" cy="1024128"/>
          </a:xfrm>
          <a:prstGeom prst="rect">
            <a:avLst/>
          </a:prstGeom>
          <a:noFill/>
          <a:ln/>
        </p:spPr>
        <p:txBody>
          <a:bodyPr wrap="square" rtlCol="0" anchor="t">
            <a:normAutofit/>
          </a:bodyPr>
          <a:lstStyle/>
          <a:p>
            <a:pPr indent="0" marL="0">
              <a:buNone/>
            </a:pPr>
            <a:r>
              <a:rPr lang="en-US" sz="710" dirty="0">
                <a:solidFill>
                  <a:srgbClr val="5F6368"/>
                </a:solidFill>
                <a:latin typeface="Roboto" pitchFamily="34" charset="0"/>
                <a:ea typeface="Roboto" pitchFamily="34" charset="-122"/>
                <a:cs typeface="Roboto" pitchFamily="34" charset="-120"/>
              </a:rPr>
              <a:t>Dedicated projects erode SaaS gross margins, while naive shared agents leak tool schemas and allow quota starvation.</a:t>
            </a:r>
            <a:endParaRPr lang="en-US" sz="710" dirty="0"/>
          </a:p>
        </p:txBody>
      </p:sp>
      <p:sp>
        <p:nvSpPr>
          <p:cNvPr id="24" name="Shape 22"/>
          <p:cNvSpPr/>
          <p:nvPr/>
        </p:nvSpPr>
        <p:spPr>
          <a:xfrm>
            <a:off x="2331720" y="4059936"/>
            <a:ext cx="1453896" cy="1572768"/>
          </a:xfrm>
          <a:prstGeom prst="roundRect">
            <a:avLst>
              <a:gd name="adj" fmla="val 5031"/>
            </a:avLst>
          </a:prstGeom>
          <a:solidFill>
            <a:srgbClr val="FFFFFF"/>
          </a:solidFill>
          <a:ln w="12700">
            <a:solidFill>
              <a:srgbClr val="DADCE0"/>
            </a:solidFill>
            <a:prstDash val="solid"/>
          </a:ln>
        </p:spPr>
      </p:sp>
      <p:sp>
        <p:nvSpPr>
          <p:cNvPr id="25" name="Shape 23"/>
          <p:cNvSpPr/>
          <p:nvPr/>
        </p:nvSpPr>
        <p:spPr>
          <a:xfrm>
            <a:off x="2331720" y="4059936"/>
            <a:ext cx="1453896" cy="54864"/>
          </a:xfrm>
          <a:prstGeom prst="rect">
            <a:avLst/>
          </a:prstGeom>
          <a:solidFill>
            <a:srgbClr val="EA4335"/>
          </a:solidFill>
          <a:ln/>
        </p:spPr>
      </p:sp>
      <p:sp>
        <p:nvSpPr>
          <p:cNvPr id="26" name="Text 24"/>
          <p:cNvSpPr/>
          <p:nvPr/>
        </p:nvSpPr>
        <p:spPr>
          <a:xfrm>
            <a:off x="2404872" y="4142232"/>
            <a:ext cx="1307592" cy="384048"/>
          </a:xfrm>
          <a:prstGeom prst="rect">
            <a:avLst/>
          </a:prstGeom>
          <a:noFill/>
          <a:ln/>
        </p:spPr>
        <p:txBody>
          <a:bodyPr wrap="square" rtlCol="0" anchor="ctr"/>
          <a:lstStyle/>
          <a:p>
            <a:pPr indent="0" marL="0">
              <a:buNone/>
            </a:pPr>
            <a:r>
              <a:rPr lang="en-US" sz="760" b="1" dirty="0">
                <a:solidFill>
                  <a:srgbClr val="3C4043"/>
                </a:solidFill>
                <a:latin typeface="Google Sans" pitchFamily="34" charset="0"/>
                <a:ea typeface="Google Sans" pitchFamily="34" charset="-122"/>
                <a:cs typeface="Google Sans" pitchFamily="34" charset="-120"/>
              </a:rPr>
              <a:t>Core Primitives (ADK • MCP • ARD)</a:t>
            </a:r>
            <a:endParaRPr lang="en-US" sz="760" dirty="0"/>
          </a:p>
        </p:txBody>
      </p:sp>
      <p:sp>
        <p:nvSpPr>
          <p:cNvPr id="27" name="Text 25"/>
          <p:cNvSpPr/>
          <p:nvPr/>
        </p:nvSpPr>
        <p:spPr>
          <a:xfrm>
            <a:off x="2404872" y="4544568"/>
            <a:ext cx="1307592" cy="1024128"/>
          </a:xfrm>
          <a:prstGeom prst="rect">
            <a:avLst/>
          </a:prstGeom>
          <a:noFill/>
          <a:ln/>
        </p:spPr>
        <p:txBody>
          <a:bodyPr wrap="square" rtlCol="0" anchor="t">
            <a:normAutofit/>
          </a:bodyPr>
          <a:lstStyle/>
          <a:p>
            <a:pPr indent="0" marL="0">
              <a:buNone/>
            </a:pPr>
            <a:r>
              <a:rPr lang="en-US" sz="710" dirty="0">
                <a:solidFill>
                  <a:srgbClr val="5F6368"/>
                </a:solidFill>
                <a:latin typeface="Roboto" pitchFamily="34" charset="0"/>
                <a:ea typeface="Roboto" pitchFamily="34" charset="-122"/>
                <a:cs typeface="Roboto" pitchFamily="34" charset="-120"/>
              </a:rPr>
              <a:t>ADK (syscall scheduler), MCP (tool driver ABI) &amp; ARD (chrooted catalog) isolate every tenant across 5 hops.</a:t>
            </a:r>
            <a:endParaRPr lang="en-US" sz="710" dirty="0"/>
          </a:p>
        </p:txBody>
      </p:sp>
      <p:sp>
        <p:nvSpPr>
          <p:cNvPr id="28" name="Shape 26"/>
          <p:cNvSpPr/>
          <p:nvPr/>
        </p:nvSpPr>
        <p:spPr>
          <a:xfrm>
            <a:off x="3895344" y="4059936"/>
            <a:ext cx="1453896" cy="1572768"/>
          </a:xfrm>
          <a:prstGeom prst="roundRect">
            <a:avLst>
              <a:gd name="adj" fmla="val 5031"/>
            </a:avLst>
          </a:prstGeom>
          <a:solidFill>
            <a:srgbClr val="FFFFFF"/>
          </a:solidFill>
          <a:ln w="12700">
            <a:solidFill>
              <a:srgbClr val="DADCE0"/>
            </a:solidFill>
            <a:prstDash val="solid"/>
          </a:ln>
        </p:spPr>
      </p:sp>
      <p:sp>
        <p:nvSpPr>
          <p:cNvPr id="29" name="Shape 27"/>
          <p:cNvSpPr/>
          <p:nvPr/>
        </p:nvSpPr>
        <p:spPr>
          <a:xfrm>
            <a:off x="3895344" y="4059936"/>
            <a:ext cx="1453896" cy="54864"/>
          </a:xfrm>
          <a:prstGeom prst="rect">
            <a:avLst/>
          </a:prstGeom>
          <a:solidFill>
            <a:srgbClr val="FBBC04"/>
          </a:solidFill>
          <a:ln/>
        </p:spPr>
      </p:sp>
      <p:sp>
        <p:nvSpPr>
          <p:cNvPr id="30" name="Text 28"/>
          <p:cNvSpPr/>
          <p:nvPr/>
        </p:nvSpPr>
        <p:spPr>
          <a:xfrm>
            <a:off x="3968496" y="4142232"/>
            <a:ext cx="1307592" cy="384048"/>
          </a:xfrm>
          <a:prstGeom prst="rect">
            <a:avLst/>
          </a:prstGeom>
          <a:noFill/>
          <a:ln/>
        </p:spPr>
        <p:txBody>
          <a:bodyPr wrap="square" rtlCol="0" anchor="ctr"/>
          <a:lstStyle/>
          <a:p>
            <a:pPr indent="0" marL="0">
              <a:buNone/>
            </a:pPr>
            <a:r>
              <a:rPr lang="en-US" sz="760" b="1" dirty="0">
                <a:solidFill>
                  <a:srgbClr val="3C4043"/>
                </a:solidFill>
                <a:latin typeface="Google Sans" pitchFamily="34" charset="0"/>
                <a:ea typeface="Google Sans" pitchFamily="34" charset="-122"/>
                <a:cs typeface="Google Sans" pitchFamily="34" charset="-120"/>
              </a:rPr>
              <a:t>Three Topologies &amp; 80/20 Reuse</a:t>
            </a:r>
            <a:endParaRPr lang="en-US" sz="760" dirty="0"/>
          </a:p>
        </p:txBody>
      </p:sp>
      <p:sp>
        <p:nvSpPr>
          <p:cNvPr id="31" name="Text 29"/>
          <p:cNvSpPr/>
          <p:nvPr/>
        </p:nvSpPr>
        <p:spPr>
          <a:xfrm>
            <a:off x="3968496" y="4544568"/>
            <a:ext cx="1307592" cy="1024128"/>
          </a:xfrm>
          <a:prstGeom prst="rect">
            <a:avLst/>
          </a:prstGeom>
          <a:noFill/>
          <a:ln/>
        </p:spPr>
        <p:txBody>
          <a:bodyPr wrap="square" rtlCol="0" anchor="t">
            <a:normAutofit/>
          </a:bodyPr>
          <a:lstStyle/>
          <a:p>
            <a:pPr indent="0" marL="0">
              <a:buNone/>
            </a:pPr>
            <a:r>
              <a:rPr lang="en-US" sz="710" dirty="0">
                <a:solidFill>
                  <a:srgbClr val="5F6368"/>
                </a:solidFill>
                <a:latin typeface="Roboto" pitchFamily="34" charset="0"/>
                <a:ea typeface="Roboto" pitchFamily="34" charset="-122"/>
                <a:cs typeface="Roboto" pitchFamily="34" charset="-120"/>
              </a:rPr>
              <a:t>Pattern A (Pooled RLS), Pattern B (Sovereign Silos), and Pattern C (Hybrid PSC) share 80% identical Python ADK code.</a:t>
            </a:r>
            <a:endParaRPr lang="en-US" sz="710" dirty="0"/>
          </a:p>
        </p:txBody>
      </p:sp>
      <p:sp>
        <p:nvSpPr>
          <p:cNvPr id="32" name="Shape 30"/>
          <p:cNvSpPr/>
          <p:nvPr/>
        </p:nvSpPr>
        <p:spPr>
          <a:xfrm>
            <a:off x="5458968" y="4059936"/>
            <a:ext cx="1453896" cy="1572768"/>
          </a:xfrm>
          <a:prstGeom prst="roundRect">
            <a:avLst>
              <a:gd name="adj" fmla="val 5031"/>
            </a:avLst>
          </a:prstGeom>
          <a:solidFill>
            <a:srgbClr val="FFFFFF"/>
          </a:solidFill>
          <a:ln w="12700">
            <a:solidFill>
              <a:srgbClr val="DADCE0"/>
            </a:solidFill>
            <a:prstDash val="solid"/>
          </a:ln>
        </p:spPr>
      </p:sp>
      <p:sp>
        <p:nvSpPr>
          <p:cNvPr id="33" name="Shape 31"/>
          <p:cNvSpPr/>
          <p:nvPr/>
        </p:nvSpPr>
        <p:spPr>
          <a:xfrm>
            <a:off x="5458968" y="4059936"/>
            <a:ext cx="1453896" cy="54864"/>
          </a:xfrm>
          <a:prstGeom prst="rect">
            <a:avLst/>
          </a:prstGeom>
          <a:solidFill>
            <a:srgbClr val="34A853"/>
          </a:solidFill>
          <a:ln/>
        </p:spPr>
      </p:sp>
      <p:sp>
        <p:nvSpPr>
          <p:cNvPr id="34" name="Text 32"/>
          <p:cNvSpPr/>
          <p:nvPr/>
        </p:nvSpPr>
        <p:spPr>
          <a:xfrm>
            <a:off x="5532120" y="4142232"/>
            <a:ext cx="1307592" cy="384048"/>
          </a:xfrm>
          <a:prstGeom prst="rect">
            <a:avLst/>
          </a:prstGeom>
          <a:noFill/>
          <a:ln/>
        </p:spPr>
        <p:txBody>
          <a:bodyPr wrap="square" rtlCol="0" anchor="ctr"/>
          <a:lstStyle/>
          <a:p>
            <a:pPr indent="0" marL="0">
              <a:buNone/>
            </a:pPr>
            <a:r>
              <a:rPr lang="en-US" sz="760" b="1" dirty="0">
                <a:solidFill>
                  <a:srgbClr val="3C4043"/>
                </a:solidFill>
                <a:latin typeface="Google Sans" pitchFamily="34" charset="0"/>
                <a:ea typeface="Google Sans" pitchFamily="34" charset="-122"/>
                <a:cs typeface="Google Sans" pitchFamily="34" charset="-120"/>
              </a:rPr>
              <a:t>5-Hop Pipeline (~42ms p95 Gate)</a:t>
            </a:r>
            <a:endParaRPr lang="en-US" sz="760" dirty="0"/>
          </a:p>
        </p:txBody>
      </p:sp>
      <p:sp>
        <p:nvSpPr>
          <p:cNvPr id="35" name="Text 33"/>
          <p:cNvSpPr/>
          <p:nvPr/>
        </p:nvSpPr>
        <p:spPr>
          <a:xfrm>
            <a:off x="5532120" y="4544568"/>
            <a:ext cx="1307592" cy="1024128"/>
          </a:xfrm>
          <a:prstGeom prst="rect">
            <a:avLst/>
          </a:prstGeom>
          <a:noFill/>
          <a:ln/>
        </p:spPr>
        <p:txBody>
          <a:bodyPr wrap="square" rtlCol="0" anchor="t">
            <a:normAutofit/>
          </a:bodyPr>
          <a:lstStyle/>
          <a:p>
            <a:pPr indent="0" marL="0">
              <a:buNone/>
            </a:pPr>
            <a:r>
              <a:rPr lang="en-US" sz="710" dirty="0">
                <a:solidFill>
                  <a:srgbClr val="5F6368"/>
                </a:solidFill>
                <a:latin typeface="Roboto" pitchFamily="34" charset="0"/>
                <a:ea typeface="Roboto" pitchFamily="34" charset="-122"/>
                <a:cs typeface="Roboto" pitchFamily="34" charset="-120"/>
              </a:rPr>
              <a:t>Enforces KMS-signed OBO/DPoP tokens, ARD pruning, Valkey bulkheads, Model Armor DLP, and AlloyDB FORCE RLS.</a:t>
            </a:r>
            <a:endParaRPr lang="en-US" sz="710" dirty="0"/>
          </a:p>
        </p:txBody>
      </p:sp>
      <p:sp>
        <p:nvSpPr>
          <p:cNvPr id="36" name="Shape 34"/>
          <p:cNvSpPr/>
          <p:nvPr/>
        </p:nvSpPr>
        <p:spPr>
          <a:xfrm>
            <a:off x="768096" y="5779008"/>
            <a:ext cx="6144768" cy="384048"/>
          </a:xfrm>
          <a:prstGeom prst="roundRect">
            <a:avLst>
              <a:gd name="adj" fmla="val 19048"/>
            </a:avLst>
          </a:prstGeom>
          <a:solidFill>
            <a:srgbClr val="FFFFFF"/>
          </a:solidFill>
          <a:ln w="9525">
            <a:solidFill>
              <a:srgbClr val="DADCE0"/>
            </a:solidFill>
            <a:prstDash val="solid"/>
          </a:ln>
        </p:spPr>
      </p:sp>
      <p:sp>
        <p:nvSpPr>
          <p:cNvPr id="37" name="Text 35"/>
          <p:cNvSpPr/>
          <p:nvPr/>
        </p:nvSpPr>
        <p:spPr>
          <a:xfrm>
            <a:off x="896112" y="5779008"/>
            <a:ext cx="5888736" cy="384048"/>
          </a:xfrm>
          <a:prstGeom prst="rect">
            <a:avLst/>
          </a:prstGeom>
          <a:noFill/>
          <a:ln/>
        </p:spPr>
        <p:txBody>
          <a:bodyPr wrap="square" rtlCol="0" anchor="ctr"/>
          <a:lstStyle/>
          <a:p>
            <a:pPr indent="0" marL="0">
              <a:buNone/>
            </a:pPr>
            <a:r>
              <a:rPr lang="en-US" sz="800" dirty="0">
                <a:solidFill>
                  <a:srgbClr val="5F6368"/>
                </a:solidFill>
                <a:latin typeface="Roboto" pitchFamily="34" charset="0"/>
                <a:ea typeface="Roboto" pitchFamily="34" charset="-122"/>
                <a:cs typeface="Roboto" pitchFamily="34" charset="-120"/>
              </a:rPr>
              <a:t>Authors: Principal AI Architect • Cloud Solutions Architecture • Google Cloud  •  Date: October 2026  •  </a:t>
            </a:r>
            <a:pPr indent="0" marL="0">
              <a:buNone/>
            </a:pPr>
            <a:r>
              <a:rPr lang="en-US" sz="800" b="1" dirty="0">
                <a:solidFill>
                  <a:srgbClr val="3C4043"/>
                </a:solidFill>
                <a:latin typeface="Google Sans" pitchFamily="34" charset="0"/>
                <a:ea typeface="Google Sans" pitchFamily="34" charset="-122"/>
                <a:cs typeface="Google Sans" pitchFamily="34" charset="-120"/>
              </a:rPr>
              <a:t>Proprietary + Confidential</a:t>
            </a:r>
            <a:endParaRPr lang="en-US" sz="800" dirty="0"/>
          </a:p>
        </p:txBody>
      </p:sp>
      <p:sp>
        <p:nvSpPr>
          <p:cNvPr id="38" name="Shape 36"/>
          <p:cNvSpPr/>
          <p:nvPr/>
        </p:nvSpPr>
        <p:spPr>
          <a:xfrm>
            <a:off x="7406640" y="347472"/>
            <a:ext cx="4370832" cy="5998464"/>
          </a:xfrm>
          <a:prstGeom prst="roundRect">
            <a:avLst>
              <a:gd name="adj" fmla="val 1674"/>
            </a:avLst>
          </a:prstGeom>
          <a:solidFill>
            <a:srgbClr val="F8F9FA"/>
          </a:solidFill>
          <a:ln w="12700">
            <a:solidFill>
              <a:srgbClr val="DADCE0"/>
            </a:solidFill>
            <a:prstDash val="solid"/>
          </a:ln>
        </p:spPr>
      </p:sp>
      <p:sp>
        <p:nvSpPr>
          <p:cNvPr id="39" name="Text 37"/>
          <p:cNvSpPr/>
          <p:nvPr/>
        </p:nvSpPr>
        <p:spPr>
          <a:xfrm>
            <a:off x="7589520" y="493776"/>
            <a:ext cx="4005072" cy="310896"/>
          </a:xfrm>
          <a:prstGeom prst="rect">
            <a:avLst/>
          </a:prstGeom>
          <a:noFill/>
          <a:ln/>
        </p:spPr>
        <p:txBody>
          <a:bodyPr wrap="square" rtlCol="0" anchor="ctr"/>
          <a:lstStyle/>
          <a:p>
            <a:pPr algn="l" indent="0" marL="0">
              <a:buNone/>
            </a:pPr>
            <a:r>
              <a:rPr lang="en-US" sz="920" b="1" dirty="0">
                <a:solidFill>
                  <a:srgbClr val="3C4043"/>
                </a:solidFill>
                <a:latin typeface="Google Sans" pitchFamily="34" charset="0"/>
                <a:ea typeface="Google Sans" pitchFamily="34" charset="-122"/>
                <a:cs typeface="Google Sans" pitchFamily="34" charset="-120"/>
              </a:rPr>
              <a:t>3-ACT EXECUTIVE BRIEFING &amp; DELIVERABLE MAP</a:t>
            </a:r>
            <a:endParaRPr lang="en-US" sz="920" dirty="0"/>
          </a:p>
        </p:txBody>
      </p:sp>
      <p:sp>
        <p:nvSpPr>
          <p:cNvPr id="40" name="Shape 38"/>
          <p:cNvSpPr/>
          <p:nvPr/>
        </p:nvSpPr>
        <p:spPr>
          <a:xfrm>
            <a:off x="7571232" y="896112"/>
            <a:ext cx="4041648" cy="1060704"/>
          </a:xfrm>
          <a:prstGeom prst="roundRect">
            <a:avLst>
              <a:gd name="adj" fmla="val 6897"/>
            </a:avLst>
          </a:prstGeom>
          <a:solidFill>
            <a:srgbClr val="FFFFFF"/>
          </a:solidFill>
          <a:ln w="12700">
            <a:solidFill>
              <a:srgbClr val="DADCE0"/>
            </a:solidFill>
            <a:prstDash val="solid"/>
          </a:ln>
        </p:spPr>
      </p:sp>
      <p:sp>
        <p:nvSpPr>
          <p:cNvPr id="41" name="Shape 39"/>
          <p:cNvSpPr/>
          <p:nvPr/>
        </p:nvSpPr>
        <p:spPr>
          <a:xfrm>
            <a:off x="7571232" y="896112"/>
            <a:ext cx="82296" cy="1060704"/>
          </a:xfrm>
          <a:prstGeom prst="rect">
            <a:avLst/>
          </a:prstGeom>
          <a:solidFill>
            <a:srgbClr val="4285F4"/>
          </a:solidFill>
          <a:ln/>
        </p:spPr>
      </p:sp>
      <p:sp>
        <p:nvSpPr>
          <p:cNvPr id="42" name="Shape 40"/>
          <p:cNvSpPr/>
          <p:nvPr/>
        </p:nvSpPr>
        <p:spPr>
          <a:xfrm>
            <a:off x="7735824" y="1005840"/>
            <a:ext cx="1481328" cy="219456"/>
          </a:xfrm>
          <a:prstGeom prst="roundRect">
            <a:avLst>
              <a:gd name="adj" fmla="val 25000"/>
            </a:avLst>
          </a:prstGeom>
          <a:solidFill>
            <a:srgbClr val="E8F0FE"/>
          </a:solidFill>
          <a:ln/>
        </p:spPr>
      </p:sp>
      <p:sp>
        <p:nvSpPr>
          <p:cNvPr id="43" name="Text 41"/>
          <p:cNvSpPr/>
          <p:nvPr/>
        </p:nvSpPr>
        <p:spPr>
          <a:xfrm>
            <a:off x="7735824" y="1005840"/>
            <a:ext cx="1481328" cy="219456"/>
          </a:xfrm>
          <a:prstGeom prst="rect">
            <a:avLst/>
          </a:prstGeom>
          <a:noFill/>
          <a:ln/>
        </p:spPr>
        <p:txBody>
          <a:bodyPr wrap="square" rtlCol="0" anchor="ctr"/>
          <a:lstStyle/>
          <a:p>
            <a:pPr algn="ctr" indent="0" marL="0">
              <a:buNone/>
            </a:pPr>
            <a:r>
              <a:rPr lang="en-US" sz="660" b="1" dirty="0">
                <a:solidFill>
                  <a:srgbClr val="174EA6"/>
                </a:solidFill>
                <a:latin typeface="Google Sans" pitchFamily="34" charset="0"/>
                <a:ea typeface="Google Sans" pitchFamily="34" charset="-122"/>
                <a:cs typeface="Google Sans" pitchFamily="34" charset="-120"/>
              </a:rPr>
              <a:t>PART 1 • SLIDES 1–4</a:t>
            </a:r>
            <a:endParaRPr lang="en-US" sz="660" dirty="0"/>
          </a:p>
        </p:txBody>
      </p:sp>
      <p:sp>
        <p:nvSpPr>
          <p:cNvPr id="44" name="Text 42"/>
          <p:cNvSpPr/>
          <p:nvPr/>
        </p:nvSpPr>
        <p:spPr>
          <a:xfrm>
            <a:off x="9272016" y="987552"/>
            <a:ext cx="2249424" cy="256032"/>
          </a:xfrm>
          <a:prstGeom prst="rect">
            <a:avLst/>
          </a:prstGeom>
          <a:noFill/>
          <a:ln/>
        </p:spPr>
        <p:txBody>
          <a:bodyPr wrap="square" rtlCol="0" anchor="ctr"/>
          <a:lstStyle/>
          <a:p>
            <a:pPr indent="0" marL="0">
              <a:buNone/>
            </a:pPr>
            <a:r>
              <a:rPr lang="en-US" sz="850" b="1" dirty="0">
                <a:solidFill>
                  <a:srgbClr val="3C4043"/>
                </a:solidFill>
                <a:latin typeface="Google Sans" pitchFamily="34" charset="0"/>
                <a:ea typeface="Google Sans" pitchFamily="34" charset="-122"/>
                <a:cs typeface="Google Sans" pitchFamily="34" charset="-120"/>
              </a:rPr>
              <a:t>Agenda, Personas &amp; 12-Dim Pattern Matrix</a:t>
            </a:r>
            <a:endParaRPr lang="en-US" sz="850" dirty="0"/>
          </a:p>
        </p:txBody>
      </p:sp>
      <p:sp>
        <p:nvSpPr>
          <p:cNvPr id="45" name="Text 43"/>
          <p:cNvSpPr/>
          <p:nvPr/>
        </p:nvSpPr>
        <p:spPr>
          <a:xfrm>
            <a:off x="7735824" y="1298448"/>
            <a:ext cx="3749040" cy="585216"/>
          </a:xfrm>
          <a:prstGeom prst="rect">
            <a:avLst/>
          </a:prstGeom>
          <a:noFill/>
          <a:ln/>
        </p:spPr>
        <p:txBody>
          <a:bodyPr wrap="square" rtlCol="0" anchor="t"/>
          <a:lstStyle/>
          <a:p>
            <a:pPr indent="0" marL="0">
              <a:buNone/>
            </a:pPr>
            <a:r>
              <a:rPr lang="en-US" sz="780" dirty="0">
                <a:solidFill>
                  <a:srgbClr val="5F6368"/>
                </a:solidFill>
                <a:latin typeface="Roboto" pitchFamily="34" charset="0"/>
                <a:ea typeface="Roboto" pitchFamily="34" charset="-122"/>
                <a:cs typeface="Roboto" pitchFamily="34" charset="-120"/>
              </a:rPr>
              <a:t>Maps ADK/MCP/ARD to CS101 OS primitives; sets the 5-Act agenda (Slide 2), contrasts FinVault (600 RPM: Dedicated PT vs. GKE Gemma 3) &amp; RetailStream (120 RPM: 3LO vault, Slide 3), and compares Patterns A/B/C (Slide 4).</a:t>
            </a:r>
            <a:endParaRPr lang="en-US" sz="780" dirty="0"/>
          </a:p>
        </p:txBody>
      </p:sp>
      <p:sp>
        <p:nvSpPr>
          <p:cNvPr id="46" name="Shape 44"/>
          <p:cNvSpPr/>
          <p:nvPr/>
        </p:nvSpPr>
        <p:spPr>
          <a:xfrm>
            <a:off x="7571232" y="2084832"/>
            <a:ext cx="4041648" cy="1060704"/>
          </a:xfrm>
          <a:prstGeom prst="roundRect">
            <a:avLst>
              <a:gd name="adj" fmla="val 6897"/>
            </a:avLst>
          </a:prstGeom>
          <a:solidFill>
            <a:srgbClr val="FFFFFF"/>
          </a:solidFill>
          <a:ln w="12700">
            <a:solidFill>
              <a:srgbClr val="DADCE0"/>
            </a:solidFill>
            <a:prstDash val="solid"/>
          </a:ln>
        </p:spPr>
      </p:sp>
      <p:sp>
        <p:nvSpPr>
          <p:cNvPr id="47" name="Shape 45"/>
          <p:cNvSpPr/>
          <p:nvPr/>
        </p:nvSpPr>
        <p:spPr>
          <a:xfrm>
            <a:off x="7571232" y="2084832"/>
            <a:ext cx="82296" cy="1060704"/>
          </a:xfrm>
          <a:prstGeom prst="rect">
            <a:avLst/>
          </a:prstGeom>
          <a:solidFill>
            <a:srgbClr val="EA4335"/>
          </a:solidFill>
          <a:ln/>
        </p:spPr>
      </p:sp>
      <p:sp>
        <p:nvSpPr>
          <p:cNvPr id="48" name="Shape 46"/>
          <p:cNvSpPr/>
          <p:nvPr/>
        </p:nvSpPr>
        <p:spPr>
          <a:xfrm>
            <a:off x="7735824" y="2194560"/>
            <a:ext cx="1481328" cy="219456"/>
          </a:xfrm>
          <a:prstGeom prst="roundRect">
            <a:avLst>
              <a:gd name="adj" fmla="val 25000"/>
            </a:avLst>
          </a:prstGeom>
          <a:solidFill>
            <a:srgbClr val="FCE8E6"/>
          </a:solidFill>
          <a:ln/>
        </p:spPr>
      </p:sp>
      <p:sp>
        <p:nvSpPr>
          <p:cNvPr id="49" name="Text 47"/>
          <p:cNvSpPr/>
          <p:nvPr/>
        </p:nvSpPr>
        <p:spPr>
          <a:xfrm>
            <a:off x="7735824" y="2194560"/>
            <a:ext cx="1481328" cy="219456"/>
          </a:xfrm>
          <a:prstGeom prst="rect">
            <a:avLst/>
          </a:prstGeom>
          <a:noFill/>
          <a:ln/>
        </p:spPr>
        <p:txBody>
          <a:bodyPr wrap="square" rtlCol="0" anchor="ctr"/>
          <a:lstStyle/>
          <a:p>
            <a:pPr algn="ctr" indent="0" marL="0">
              <a:buNone/>
            </a:pPr>
            <a:r>
              <a:rPr lang="en-US" sz="660" b="1" dirty="0">
                <a:solidFill>
                  <a:srgbClr val="A50E0E"/>
                </a:solidFill>
                <a:latin typeface="Google Sans" pitchFamily="34" charset="0"/>
                <a:ea typeface="Google Sans" pitchFamily="34" charset="-122"/>
                <a:cs typeface="Google Sans" pitchFamily="34" charset="-120"/>
              </a:rPr>
              <a:t>PART 2 • SLIDES 5–6 &amp; 8</a:t>
            </a:r>
            <a:endParaRPr lang="en-US" sz="660" dirty="0"/>
          </a:p>
        </p:txBody>
      </p:sp>
      <p:sp>
        <p:nvSpPr>
          <p:cNvPr id="50" name="Text 48"/>
          <p:cNvSpPr/>
          <p:nvPr/>
        </p:nvSpPr>
        <p:spPr>
          <a:xfrm>
            <a:off x="9272016" y="2176272"/>
            <a:ext cx="2249424" cy="256032"/>
          </a:xfrm>
          <a:prstGeom prst="rect">
            <a:avLst/>
          </a:prstGeom>
          <a:noFill/>
          <a:ln/>
        </p:spPr>
        <p:txBody>
          <a:bodyPr wrap="square" rtlCol="0" anchor="ctr"/>
          <a:lstStyle/>
          <a:p>
            <a:pPr indent="0" marL="0">
              <a:buNone/>
            </a:pPr>
            <a:r>
              <a:rPr lang="en-US" sz="850" b="1" dirty="0">
                <a:solidFill>
                  <a:srgbClr val="3C4043"/>
                </a:solidFill>
                <a:latin typeface="Google Sans" pitchFamily="34" charset="0"/>
                <a:ea typeface="Google Sans" pitchFamily="34" charset="-122"/>
                <a:cs typeface="Google Sans" pitchFamily="34" charset="-120"/>
              </a:rPr>
              <a:t>L1 3 Layers → L2 4 Perimeters → L4 Wire</a:t>
            </a:r>
            <a:endParaRPr lang="en-US" sz="850" dirty="0"/>
          </a:p>
        </p:txBody>
      </p:sp>
      <p:sp>
        <p:nvSpPr>
          <p:cNvPr id="51" name="Text 49"/>
          <p:cNvSpPr/>
          <p:nvPr/>
        </p:nvSpPr>
        <p:spPr>
          <a:xfrm>
            <a:off x="7735824" y="2487168"/>
            <a:ext cx="3749040" cy="585216"/>
          </a:xfrm>
          <a:prstGeom prst="rect">
            <a:avLst/>
          </a:prstGeom>
          <a:noFill/>
          <a:ln/>
        </p:spPr>
        <p:txBody>
          <a:bodyPr wrap="square" rtlCol="0" anchor="t"/>
          <a:lstStyle/>
          <a:p>
            <a:pPr indent="0" marL="0">
              <a:buNone/>
            </a:pPr>
            <a:r>
              <a:rPr lang="en-US" sz="780" dirty="0">
                <a:solidFill>
                  <a:srgbClr val="5F6368"/>
                </a:solidFill>
                <a:latin typeface="Roboto" pitchFamily="34" charset="0"/>
                <a:ea typeface="Roboto" pitchFamily="34" charset="-122"/>
                <a:cs typeface="Roboto" pitchFamily="34" charset="-120"/>
              </a:rPr>
              <a:t>Zooms macro-to-micro from the 3 Logical Security Layers (~42ms p95, Slide 5) into the 4 Physical VPC-SC Perimeters &amp; Steps 1–7 in Figure 1 (Slide 6) and &lt;0.15ms cached-JWKS STS JWT wire packet (Slide 8).</a:t>
            </a:r>
            <a:endParaRPr lang="en-US" sz="780" dirty="0"/>
          </a:p>
        </p:txBody>
      </p:sp>
      <p:sp>
        <p:nvSpPr>
          <p:cNvPr id="52" name="Shape 50"/>
          <p:cNvSpPr/>
          <p:nvPr/>
        </p:nvSpPr>
        <p:spPr>
          <a:xfrm>
            <a:off x="7571232" y="3273552"/>
            <a:ext cx="4041648" cy="1060704"/>
          </a:xfrm>
          <a:prstGeom prst="roundRect">
            <a:avLst>
              <a:gd name="adj" fmla="val 6897"/>
            </a:avLst>
          </a:prstGeom>
          <a:solidFill>
            <a:srgbClr val="FFFFFF"/>
          </a:solidFill>
          <a:ln w="12700">
            <a:solidFill>
              <a:srgbClr val="DADCE0"/>
            </a:solidFill>
            <a:prstDash val="solid"/>
          </a:ln>
        </p:spPr>
      </p:sp>
      <p:sp>
        <p:nvSpPr>
          <p:cNvPr id="53" name="Shape 51"/>
          <p:cNvSpPr/>
          <p:nvPr/>
        </p:nvSpPr>
        <p:spPr>
          <a:xfrm>
            <a:off x="7571232" y="3273552"/>
            <a:ext cx="82296" cy="1060704"/>
          </a:xfrm>
          <a:prstGeom prst="rect">
            <a:avLst/>
          </a:prstGeom>
          <a:solidFill>
            <a:srgbClr val="FBBC04"/>
          </a:solidFill>
          <a:ln/>
        </p:spPr>
      </p:sp>
      <p:sp>
        <p:nvSpPr>
          <p:cNvPr id="54" name="Shape 52"/>
          <p:cNvSpPr/>
          <p:nvPr/>
        </p:nvSpPr>
        <p:spPr>
          <a:xfrm>
            <a:off x="7735824" y="3383280"/>
            <a:ext cx="1481328" cy="219456"/>
          </a:xfrm>
          <a:prstGeom prst="roundRect">
            <a:avLst>
              <a:gd name="adj" fmla="val 25000"/>
            </a:avLst>
          </a:prstGeom>
          <a:solidFill>
            <a:srgbClr val="FEF7E0"/>
          </a:solidFill>
          <a:ln/>
        </p:spPr>
      </p:sp>
      <p:sp>
        <p:nvSpPr>
          <p:cNvPr id="55" name="Text 53"/>
          <p:cNvSpPr/>
          <p:nvPr/>
        </p:nvSpPr>
        <p:spPr>
          <a:xfrm>
            <a:off x="7735824" y="3383280"/>
            <a:ext cx="1481328" cy="219456"/>
          </a:xfrm>
          <a:prstGeom prst="rect">
            <a:avLst/>
          </a:prstGeom>
          <a:noFill/>
          <a:ln/>
        </p:spPr>
        <p:txBody>
          <a:bodyPr wrap="square" rtlCol="0" anchor="ctr"/>
          <a:lstStyle/>
          <a:p>
            <a:pPr algn="ctr" indent="0" marL="0">
              <a:buNone/>
            </a:pPr>
            <a:r>
              <a:rPr lang="en-US" sz="660" b="1" dirty="0">
                <a:solidFill>
                  <a:srgbClr val="B06000"/>
                </a:solidFill>
                <a:latin typeface="Google Sans" pitchFamily="34" charset="0"/>
                <a:ea typeface="Google Sans" pitchFamily="34" charset="-122"/>
                <a:cs typeface="Google Sans" pitchFamily="34" charset="-120"/>
              </a:rPr>
              <a:t>PART 3 • SLIDE 7 (L3)</a:t>
            </a:r>
            <a:endParaRPr lang="en-US" sz="660" dirty="0"/>
          </a:p>
        </p:txBody>
      </p:sp>
      <p:sp>
        <p:nvSpPr>
          <p:cNvPr id="56" name="Text 54"/>
          <p:cNvSpPr/>
          <p:nvPr/>
        </p:nvSpPr>
        <p:spPr>
          <a:xfrm>
            <a:off x="9272016" y="3364992"/>
            <a:ext cx="2249424" cy="256032"/>
          </a:xfrm>
          <a:prstGeom prst="rect">
            <a:avLst/>
          </a:prstGeom>
          <a:noFill/>
          <a:ln/>
        </p:spPr>
        <p:txBody>
          <a:bodyPr wrap="square" rtlCol="0" anchor="ctr"/>
          <a:lstStyle/>
          <a:p>
            <a:pPr indent="0" marL="0">
              <a:buNone/>
            </a:pPr>
            <a:r>
              <a:rPr lang="en-US" sz="850" b="1" dirty="0">
                <a:solidFill>
                  <a:srgbClr val="3C4043"/>
                </a:solidFill>
                <a:latin typeface="Google Sans" pitchFamily="34" charset="0"/>
                <a:ea typeface="Google Sans" pitchFamily="34" charset="-122"/>
                <a:cs typeface="Google Sans" pitchFamily="34" charset="-120"/>
              </a:rPr>
              <a:t>Merged L3 UML, Breakers &amp; Stampede Lock</a:t>
            </a:r>
            <a:endParaRPr lang="en-US" sz="850" dirty="0"/>
          </a:p>
        </p:txBody>
      </p:sp>
      <p:sp>
        <p:nvSpPr>
          <p:cNvPr id="57" name="Text 55"/>
          <p:cNvSpPr/>
          <p:nvPr/>
        </p:nvSpPr>
        <p:spPr>
          <a:xfrm>
            <a:off x="7735824" y="3675888"/>
            <a:ext cx="3749040" cy="585216"/>
          </a:xfrm>
          <a:prstGeom prst="rect">
            <a:avLst/>
          </a:prstGeom>
          <a:noFill/>
          <a:ln/>
        </p:spPr>
        <p:txBody>
          <a:bodyPr wrap="square" rtlCol="0" anchor="t"/>
          <a:lstStyle/>
          <a:p>
            <a:pPr indent="0" marL="0">
              <a:buNone/>
            </a:pPr>
            <a:r>
              <a:rPr lang="en-US" sz="780" dirty="0">
                <a:solidFill>
                  <a:srgbClr val="5F6368"/>
                </a:solidFill>
                <a:latin typeface="Roboto" pitchFamily="34" charset="0"/>
                <a:ea typeface="Roboto" pitchFamily="34" charset="-122"/>
                <a:cs typeface="Roboto" pitchFamily="34" charset="-120"/>
              </a:rPr>
              <a:t>Unifies the 5-Actor chronological UML sequence (Hops 1–5 / UML Steps 1–6) with [Alt] fail-closed circuit breakers (HTTP 401–429), &lt;5s targeted Valkey SCAN+UNLINK, and SET NX PX 5000 single-flight recovery (Slide 7).</a:t>
            </a:r>
            <a:endParaRPr lang="en-US" sz="780" dirty="0"/>
          </a:p>
        </p:txBody>
      </p:sp>
      <p:sp>
        <p:nvSpPr>
          <p:cNvPr id="58" name="Shape 56"/>
          <p:cNvSpPr/>
          <p:nvPr/>
        </p:nvSpPr>
        <p:spPr>
          <a:xfrm>
            <a:off x="7571232" y="4462272"/>
            <a:ext cx="4041648" cy="1060704"/>
          </a:xfrm>
          <a:prstGeom prst="roundRect">
            <a:avLst>
              <a:gd name="adj" fmla="val 6897"/>
            </a:avLst>
          </a:prstGeom>
          <a:solidFill>
            <a:srgbClr val="FFFFFF"/>
          </a:solidFill>
          <a:ln w="12700">
            <a:solidFill>
              <a:srgbClr val="DADCE0"/>
            </a:solidFill>
            <a:prstDash val="solid"/>
          </a:ln>
        </p:spPr>
      </p:sp>
      <p:sp>
        <p:nvSpPr>
          <p:cNvPr id="59" name="Shape 57"/>
          <p:cNvSpPr/>
          <p:nvPr/>
        </p:nvSpPr>
        <p:spPr>
          <a:xfrm>
            <a:off x="7571232" y="4462272"/>
            <a:ext cx="82296" cy="1060704"/>
          </a:xfrm>
          <a:prstGeom prst="rect">
            <a:avLst/>
          </a:prstGeom>
          <a:solidFill>
            <a:srgbClr val="34A853"/>
          </a:solidFill>
          <a:ln/>
        </p:spPr>
      </p:sp>
      <p:sp>
        <p:nvSpPr>
          <p:cNvPr id="60" name="Shape 58"/>
          <p:cNvSpPr/>
          <p:nvPr/>
        </p:nvSpPr>
        <p:spPr>
          <a:xfrm>
            <a:off x="7735824" y="4572000"/>
            <a:ext cx="1481328" cy="219456"/>
          </a:xfrm>
          <a:prstGeom prst="roundRect">
            <a:avLst>
              <a:gd name="adj" fmla="val 25000"/>
            </a:avLst>
          </a:prstGeom>
          <a:solidFill>
            <a:srgbClr val="E6F4EA"/>
          </a:solidFill>
          <a:ln/>
        </p:spPr>
      </p:sp>
      <p:sp>
        <p:nvSpPr>
          <p:cNvPr id="61" name="Text 59"/>
          <p:cNvSpPr/>
          <p:nvPr/>
        </p:nvSpPr>
        <p:spPr>
          <a:xfrm>
            <a:off x="7735824" y="4572000"/>
            <a:ext cx="1481328" cy="219456"/>
          </a:xfrm>
          <a:prstGeom prst="rect">
            <a:avLst/>
          </a:prstGeom>
          <a:noFill/>
          <a:ln/>
        </p:spPr>
        <p:txBody>
          <a:bodyPr wrap="square" rtlCol="0" anchor="ctr"/>
          <a:lstStyle/>
          <a:p>
            <a:pPr algn="ctr" indent="0" marL="0">
              <a:buNone/>
            </a:pPr>
            <a:r>
              <a:rPr lang="en-US" sz="660" b="1" dirty="0">
                <a:solidFill>
                  <a:srgbClr val="0D652D"/>
                </a:solidFill>
                <a:latin typeface="Google Sans" pitchFamily="34" charset="0"/>
                <a:ea typeface="Google Sans" pitchFamily="34" charset="-122"/>
                <a:cs typeface="Google Sans" pitchFamily="34" charset="-120"/>
              </a:rPr>
              <a:t>PARTS 4–5 • SLIDES 9–11</a:t>
            </a:r>
            <a:endParaRPr lang="en-US" sz="660" dirty="0"/>
          </a:p>
        </p:txBody>
      </p:sp>
      <p:sp>
        <p:nvSpPr>
          <p:cNvPr id="62" name="Text 60"/>
          <p:cNvSpPr/>
          <p:nvPr/>
        </p:nvSpPr>
        <p:spPr>
          <a:xfrm>
            <a:off x="9272016" y="4553712"/>
            <a:ext cx="2249424" cy="256032"/>
          </a:xfrm>
          <a:prstGeom prst="rect">
            <a:avLst/>
          </a:prstGeom>
          <a:noFill/>
          <a:ln/>
        </p:spPr>
        <p:txBody>
          <a:bodyPr wrap="square" rtlCol="0" anchor="ctr"/>
          <a:lstStyle/>
          <a:p>
            <a:pPr indent="0" marL="0">
              <a:buNone/>
            </a:pPr>
            <a:r>
              <a:rPr lang="en-US" sz="850" b="1" dirty="0">
                <a:solidFill>
                  <a:srgbClr val="3C4043"/>
                </a:solidFill>
                <a:latin typeface="Google Sans" pitchFamily="34" charset="0"/>
                <a:ea typeface="Google Sans" pitchFamily="34" charset="-122"/>
                <a:cs typeface="Google Sans" pitchFamily="34" charset="-120"/>
              </a:rPr>
              <a:t>GAP-01..05, Live GCP Proof &amp; Merged SLAs</a:t>
            </a:r>
            <a:endParaRPr lang="en-US" sz="850" dirty="0"/>
          </a:p>
        </p:txBody>
      </p:sp>
      <p:sp>
        <p:nvSpPr>
          <p:cNvPr id="63" name="Text 61"/>
          <p:cNvSpPr/>
          <p:nvPr/>
        </p:nvSpPr>
        <p:spPr>
          <a:xfrm>
            <a:off x="7735824" y="4864608"/>
            <a:ext cx="3749040" cy="585216"/>
          </a:xfrm>
          <a:prstGeom prst="rect">
            <a:avLst/>
          </a:prstGeom>
          <a:noFill/>
          <a:ln/>
        </p:spPr>
        <p:txBody>
          <a:bodyPr wrap="square" rtlCol="0" anchor="t"/>
          <a:lstStyle/>
          <a:p>
            <a:pPr indent="0" marL="0">
              <a:buNone/>
            </a:pPr>
            <a:r>
              <a:rPr lang="en-US" sz="780" dirty="0">
                <a:solidFill>
                  <a:srgbClr val="5F6368"/>
                </a:solidFill>
                <a:latin typeface="Roboto" pitchFamily="34" charset="0"/>
                <a:ea typeface="Roboto" pitchFamily="34" charset="-122"/>
                <a:cs typeface="Roboto" pitchFamily="34" charset="-120"/>
              </a:rPr>
              <a:t>Details feature-flagged GAP-01..05 sunset hooks + BigQuery OTel SQL (Slide 9), live Cloud Run &amp; Cloud Logging proof (Slide 10), and merged Well-Architected SLAs + 5 runnable GitHub milestones (Slide 11).</a:t>
            </a:r>
            <a:endParaRPr lang="en-US" sz="780" dirty="0"/>
          </a:p>
        </p:txBody>
      </p:sp>
      <p:sp>
        <p:nvSpPr>
          <p:cNvPr id="64" name="Shape 62"/>
          <p:cNvSpPr/>
          <p:nvPr/>
        </p:nvSpPr>
        <p:spPr>
          <a:xfrm>
            <a:off x="7571232" y="5779008"/>
            <a:ext cx="4041648" cy="384048"/>
          </a:xfrm>
          <a:prstGeom prst="roundRect">
            <a:avLst>
              <a:gd name="adj" fmla="val 19048"/>
            </a:avLst>
          </a:prstGeom>
          <a:solidFill>
            <a:srgbClr val="FFFFFF"/>
          </a:solidFill>
          <a:ln w="10795">
            <a:solidFill>
              <a:srgbClr val="DADCE0"/>
            </a:solidFill>
            <a:prstDash val="solid"/>
          </a:ln>
        </p:spPr>
      </p:sp>
      <p:sp>
        <p:nvSpPr>
          <p:cNvPr id="65" name="Text 63"/>
          <p:cNvSpPr/>
          <p:nvPr/>
        </p:nvSpPr>
        <p:spPr>
          <a:xfrm>
            <a:off x="7626096" y="5779008"/>
            <a:ext cx="3931920" cy="384048"/>
          </a:xfrm>
          <a:prstGeom prst="rect">
            <a:avLst/>
          </a:prstGeom>
          <a:noFill/>
          <a:ln/>
        </p:spPr>
        <p:txBody>
          <a:bodyPr wrap="square" rtlCol="0" anchor="ctr"/>
          <a:lstStyle/>
          <a:p>
            <a:pPr algn="ctr" indent="0" marL="0">
              <a:buNone/>
            </a:pPr>
            <a:r>
              <a:rPr lang="en-US" sz="720" b="1" dirty="0">
                <a:solidFill>
                  <a:srgbClr val="3C4043"/>
                </a:solidFill>
                <a:latin typeface="Google Sans" pitchFamily="34" charset="0"/>
                <a:ea typeface="Google Sans" pitchFamily="34" charset="-122"/>
                <a:cs typeface="Google Sans" pitchFamily="34" charset="-120"/>
              </a:rPr>
              <a:t>Verified on Live GCP (#248990048888 • #48439189383) &amp; AWS (#393036065405) • 13/13 Forensic PASS</a:t>
            </a:r>
            <a:endParaRPr lang="en-US" sz="720" dirty="0"/>
          </a:p>
        </p:txBody>
      </p:sp>
      <p:sp>
        <p:nvSpPr>
          <p:cNvPr id="66" name="Text 64"/>
          <p:cNvSpPr/>
          <p:nvPr/>
        </p:nvSpPr>
        <p:spPr>
          <a:xfrm>
            <a:off x="365760" y="6601968"/>
            <a:ext cx="11460175" cy="201168"/>
          </a:xfrm>
          <a:prstGeom prst="rect">
            <a:avLst/>
          </a:prstGeom>
          <a:noFill/>
          <a:ln/>
        </p:spPr>
        <p:txBody>
          <a:bodyPr wrap="non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Multi-Tenant Agentic AI on Google Cloud • Vertex AI Agent Engine, Gemini Enterprise &amp; ADK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WS1</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ACT I • EXECUTIVE AGENDA &amp; 5-PART ARCHITECTURAL SERIES NAVIGATION</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COMPARISON-GRID • MATRIX</a:t>
            </a:r>
            <a:endParaRPr lang="en-US" sz="750" dirty="0"/>
          </a:p>
        </p:txBody>
      </p:sp>
      <p:sp>
        <p:nvSpPr>
          <p:cNvPr id="17" name="Text 15"/>
          <p:cNvSpPr/>
          <p:nvPr/>
        </p:nvSpPr>
        <p:spPr>
          <a:xfrm>
            <a:off x="411480" y="640080"/>
            <a:ext cx="11368735" cy="347472"/>
          </a:xfrm>
          <a:prstGeom prst="rect">
            <a:avLst/>
          </a:prstGeom>
          <a:noFill/>
          <a:ln/>
        </p:spPr>
        <p:txBody>
          <a:bodyPr wrap="square" rtlCol="0" anchor="ctr"/>
          <a:lstStyle/>
          <a:p>
            <a:pPr indent="0" marL="0">
              <a:buNone/>
            </a:pPr>
            <a:r>
              <a:rPr lang="en-US" sz="1800" b="1" dirty="0">
                <a:solidFill>
                  <a:srgbClr val="3C4043"/>
                </a:solidFill>
                <a:latin typeface="Google Sans" pitchFamily="34" charset="0"/>
                <a:ea typeface="Google Sans" pitchFamily="34" charset="-122"/>
                <a:cs typeface="Google Sans" pitchFamily="34" charset="-120"/>
              </a:rPr>
              <a:t>Agenda &amp; 5-Part Series Navigation — Streamlined 11-Slide Architecture Roadmap</a:t>
            </a:r>
            <a:endParaRPr lang="en-US" sz="1800" dirty="0"/>
          </a:p>
        </p:txBody>
      </p:sp>
      <p:sp>
        <p:nvSpPr>
          <p:cNvPr id="18" name="Text 16"/>
          <p:cNvSpPr/>
          <p:nvPr/>
        </p:nvSpPr>
        <p:spPr>
          <a:xfrm>
            <a:off x="411480" y="987552"/>
            <a:ext cx="11368735" cy="219456"/>
          </a:xfrm>
          <a:prstGeom prst="rect">
            <a:avLst/>
          </a:prstGeom>
          <a:noFill/>
          <a:ln/>
        </p:spPr>
        <p:txBody>
          <a:bodyPr wrap="square" rtlCol="0" anchor="ctr"/>
          <a:lstStyle/>
          <a:p>
            <a:pPr indent="0" marL="0">
              <a:buNone/>
            </a:pPr>
            <a:r>
              <a:rPr lang="en-US" sz="980" dirty="0">
                <a:solidFill>
                  <a:srgbClr val="5F6368"/>
                </a:solidFill>
                <a:latin typeface="Roboto" pitchFamily="34" charset="0"/>
                <a:ea typeface="Roboto" pitchFamily="34" charset="-122"/>
                <a:cs typeface="Roboto" pitchFamily="34" charset="-120"/>
              </a:rPr>
              <a:t>Streamlined 11-slide executive deck &amp; 5-part blog series roadmap: macro-to-micro L1→L2→L3→L4 hierarchy with zero redundant slides.</a:t>
            </a:r>
            <a:endParaRPr lang="en-US" sz="98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11480" y="1243584"/>
          <a:ext cx="11368735" cy="3493008"/>
        </p:xfrm>
        <a:graphic>
          <a:graphicData uri="http://schemas.openxmlformats.org/drawingml/2006/table">
            <a:tbl>
              <a:tblPr/>
              <a:tblGrid>
                <a:gridCol w="1965960"/>
                <a:gridCol w="2926080"/>
                <a:gridCol w="3200400"/>
                <a:gridCol w="3276295"/>
              </a:tblGrid>
              <a:tr h="402336">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Series Part &amp; Slides</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Editorial Blog &amp; Briefing Focus</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Core Engineering Question Answered</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Key Architectural Deliverable &amp; SLA</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Part 1 • Slides 1–4</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Isolation Topologies</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The SaaS AI Architect's Dilemma: High-Density Pooled (A) vs. Sovereign Silos (B) vs. Dynamic Hybrid (C)</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How do we serve 950 commercial tenants and 50 regulated banks without margin erosion or 500-silo IaC sprawl?</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12-Dimension Decision Matrix • 80/20 ADK Code Reuse • {tenant}:{user} DPoP 3LO Vault</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Part 2 • Slides 5, 6 &amp; 8</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5-Hop Pipeline (L1/L2/L4)</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Securing the Agent Loop: L1 3 Logical Security Layers → L2 4 Physical VPC-SC Perimeters → L4 Wire STS JWT</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How do we enforce cryptographic tenant identity from edge ingress down to wire packets without per-hop KMS latency?</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&lt;0.15ms Cached-JWKS STS JWT • ~3ms Valkey JTI Deny-List • ~42ms p95 5-Hop Control Plane</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Part 3 • Slide 7</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L3 Sequence &amp; Breakers</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Operational Resilience: Merged L3 5-Actor UML Sequence, Fail-Closed Circuit Breakers &amp; Valkey L1 Flushes</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What happens chronologically during a live turn—and how do we fail closed on RPM floods or CMEK key revocation?</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HTTP 401/403/429/422/423 Breakers • &lt;5s Valkey SCAN+UNLINK (cache:{tenant}:*) • SET NX PX 5000 Recovery</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Part 4 • Slide 9</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Mind the Gap (GAP-01..05)</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Compensating Controls for Vertex AI EAP: Custom Token Buckets, Envelope CMEK &amp; Zero-PII BigQuery OTel FinOps</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How do we close current preview platform gaps today while guaranteeing clean retirement at native GCP GA?</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Feature-Flagged GAP-01..05 Sunset Hooks (feature-flagged native adapter) • BigQuery OTel Chargeback SQL</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Part 5 • Slides 10–11</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CI/CD Audit &amp; SLAs</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Automating Compliance &amp; Well-Architected SLAs: Live GCP Console Receipts, 5 Milestones &amp; Forensic CI/CD Gate</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How do we prove zero cross-tenant data bleed continuously in CI/CD and map every Well-Architected SLA to code?</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b="1" dirty="0">
                          <a:solidFill>
                            <a:srgbClr val="0D652D"/>
                          </a:solidFill>
                          <a:latin typeface="Roboto" pitchFamily="34" charset="0"/>
                          <a:ea typeface="Roboto" pitchFamily="34" charset="-122"/>
                          <a:cs typeface="Roboto" pitchFamily="34" charset="-120"/>
                        </a:rPr>
                        <a:t>13/13 Forensic + 107/107 Runtime Assertions PASS • 84.7% Token &amp; 74% TCO Savings • &lt;30s HA RTO</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bl>
          </a:graphicData>
        </a:graphic>
      </p:graphicFrame>
      <p:sp>
        <p:nvSpPr>
          <p:cNvPr id="20" name="Shape 17"/>
          <p:cNvSpPr/>
          <p:nvPr/>
        </p:nvSpPr>
        <p:spPr>
          <a:xfrm>
            <a:off x="411480" y="4864608"/>
            <a:ext cx="2718511" cy="1188720"/>
          </a:xfrm>
          <a:prstGeom prst="roundRect">
            <a:avLst>
              <a:gd name="adj" fmla="val 6154"/>
            </a:avLst>
          </a:prstGeom>
          <a:solidFill>
            <a:srgbClr val="F8F9FA"/>
          </a:solidFill>
          <a:ln w="12700">
            <a:solidFill>
              <a:srgbClr val="DADCE0"/>
            </a:solidFill>
            <a:prstDash val="solid"/>
          </a:ln>
        </p:spPr>
      </p:sp>
      <p:sp>
        <p:nvSpPr>
          <p:cNvPr id="21" name="Shape 18"/>
          <p:cNvSpPr/>
          <p:nvPr/>
        </p:nvSpPr>
        <p:spPr>
          <a:xfrm>
            <a:off x="411480" y="4864608"/>
            <a:ext cx="2718511" cy="50292"/>
          </a:xfrm>
          <a:prstGeom prst="rect">
            <a:avLst/>
          </a:prstGeom>
          <a:solidFill>
            <a:srgbClr val="4285F4"/>
          </a:solidFill>
          <a:ln/>
        </p:spPr>
      </p:sp>
      <p:sp>
        <p:nvSpPr>
          <p:cNvPr id="22" name="Text 19"/>
          <p:cNvSpPr/>
          <p:nvPr/>
        </p:nvSpPr>
        <p:spPr>
          <a:xfrm>
            <a:off x="521208"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1. Macro-to-Micro L1 → L2 → L3 → L4 Flow</a:t>
            </a:r>
            <a:endParaRPr lang="en-US" sz="760" dirty="0"/>
          </a:p>
        </p:txBody>
      </p:sp>
      <p:sp>
        <p:nvSpPr>
          <p:cNvPr id="23" name="Text 20"/>
          <p:cNvSpPr/>
          <p:nvPr/>
        </p:nvSpPr>
        <p:spPr>
          <a:xfrm>
            <a:off x="521208"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Restores strict top-down abstraction: L1 Logical (Slide 5) → L2 Physical Blueprint (Slide 6) → L3 Process &amp; Breakers (Slide 7) → L4 Wire JWT (Slide 8).</a:t>
            </a:r>
            <a:endParaRPr lang="en-US" sz="740" dirty="0"/>
          </a:p>
        </p:txBody>
      </p:sp>
      <p:sp>
        <p:nvSpPr>
          <p:cNvPr id="24" name="Shape 21"/>
          <p:cNvSpPr/>
          <p:nvPr/>
        </p:nvSpPr>
        <p:spPr>
          <a:xfrm>
            <a:off x="3294583" y="4864608"/>
            <a:ext cx="2718511" cy="1188720"/>
          </a:xfrm>
          <a:prstGeom prst="roundRect">
            <a:avLst>
              <a:gd name="adj" fmla="val 6154"/>
            </a:avLst>
          </a:prstGeom>
          <a:solidFill>
            <a:srgbClr val="F8F9FA"/>
          </a:solidFill>
          <a:ln w="12700">
            <a:solidFill>
              <a:srgbClr val="DADCE0"/>
            </a:solidFill>
            <a:prstDash val="solid"/>
          </a:ln>
        </p:spPr>
      </p:sp>
      <p:sp>
        <p:nvSpPr>
          <p:cNvPr id="25" name="Shape 22"/>
          <p:cNvSpPr/>
          <p:nvPr/>
        </p:nvSpPr>
        <p:spPr>
          <a:xfrm>
            <a:off x="3294583" y="4864608"/>
            <a:ext cx="2718511" cy="50292"/>
          </a:xfrm>
          <a:prstGeom prst="rect">
            <a:avLst/>
          </a:prstGeom>
          <a:solidFill>
            <a:srgbClr val="EA4335"/>
          </a:solidFill>
          <a:ln/>
        </p:spPr>
      </p:sp>
      <p:sp>
        <p:nvSpPr>
          <p:cNvPr id="26" name="Text 23"/>
          <p:cNvSpPr/>
          <p:nvPr/>
        </p:nvSpPr>
        <p:spPr>
          <a:xfrm>
            <a:off x="3404311"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2. Unified Layer vs. Perimeter Taxonomy</a:t>
            </a:r>
            <a:endParaRPr lang="en-US" sz="760" dirty="0"/>
          </a:p>
        </p:txBody>
      </p:sp>
      <p:sp>
        <p:nvSpPr>
          <p:cNvPr id="27" name="Text 24"/>
          <p:cNvSpPr/>
          <p:nvPr/>
        </p:nvSpPr>
        <p:spPr>
          <a:xfrm>
            <a:off x="3404311"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Separates Slide 5’s 3 Logical Security Layers (Ingress, 5-Hop Control Plane, Data Planes) from Slide 6’s 4 Physical VPC-SC Network Perimeters.</a:t>
            </a:r>
            <a:endParaRPr lang="en-US" sz="740" dirty="0"/>
          </a:p>
        </p:txBody>
      </p:sp>
      <p:sp>
        <p:nvSpPr>
          <p:cNvPr id="28" name="Shape 25"/>
          <p:cNvSpPr/>
          <p:nvPr/>
        </p:nvSpPr>
        <p:spPr>
          <a:xfrm>
            <a:off x="6177686" y="4864608"/>
            <a:ext cx="2718511" cy="1188720"/>
          </a:xfrm>
          <a:prstGeom prst="roundRect">
            <a:avLst>
              <a:gd name="adj" fmla="val 6154"/>
            </a:avLst>
          </a:prstGeom>
          <a:solidFill>
            <a:srgbClr val="F8F9FA"/>
          </a:solidFill>
          <a:ln w="12700">
            <a:solidFill>
              <a:srgbClr val="DADCE0"/>
            </a:solidFill>
            <a:prstDash val="solid"/>
          </a:ln>
        </p:spPr>
      </p:sp>
      <p:sp>
        <p:nvSpPr>
          <p:cNvPr id="29" name="Shape 26"/>
          <p:cNvSpPr/>
          <p:nvPr/>
        </p:nvSpPr>
        <p:spPr>
          <a:xfrm>
            <a:off x="6177686" y="4864608"/>
            <a:ext cx="2718511" cy="50292"/>
          </a:xfrm>
          <a:prstGeom prst="rect">
            <a:avLst/>
          </a:prstGeom>
          <a:solidFill>
            <a:srgbClr val="FBBC04"/>
          </a:solidFill>
          <a:ln/>
        </p:spPr>
      </p:sp>
      <p:sp>
        <p:nvSpPr>
          <p:cNvPr id="30" name="Text 27"/>
          <p:cNvSpPr/>
          <p:nvPr/>
        </p:nvSpPr>
        <p:spPr>
          <a:xfrm>
            <a:off x="6287414"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3. Merged L3 UML &amp; Circuit Breakers (Slide 7)</a:t>
            </a:r>
            <a:endParaRPr lang="en-US" sz="760" dirty="0"/>
          </a:p>
        </p:txBody>
      </p:sp>
      <p:sp>
        <p:nvSpPr>
          <p:cNvPr id="31" name="Text 28"/>
          <p:cNvSpPr/>
          <p:nvPr/>
        </p:nvSpPr>
        <p:spPr>
          <a:xfrm>
            <a:off x="6287414"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Unifies the 5-Hop happy path (~42ms p95) with fail-closed HTTP 401/403/429/422/423 breakers, &lt;5s Valkey SCAN+UNLINK, and SET NX PX 5000 recovery.</a:t>
            </a:r>
            <a:endParaRPr lang="en-US" sz="740" dirty="0"/>
          </a:p>
        </p:txBody>
      </p:sp>
      <p:sp>
        <p:nvSpPr>
          <p:cNvPr id="32" name="Shape 29"/>
          <p:cNvSpPr/>
          <p:nvPr/>
        </p:nvSpPr>
        <p:spPr>
          <a:xfrm>
            <a:off x="9060790" y="4864608"/>
            <a:ext cx="2718511" cy="1188720"/>
          </a:xfrm>
          <a:prstGeom prst="roundRect">
            <a:avLst>
              <a:gd name="adj" fmla="val 6154"/>
            </a:avLst>
          </a:prstGeom>
          <a:solidFill>
            <a:srgbClr val="F8F9FA"/>
          </a:solidFill>
          <a:ln w="12700">
            <a:solidFill>
              <a:srgbClr val="DADCE0"/>
            </a:solidFill>
            <a:prstDash val="solid"/>
          </a:ln>
        </p:spPr>
      </p:sp>
      <p:sp>
        <p:nvSpPr>
          <p:cNvPr id="33" name="Shape 30"/>
          <p:cNvSpPr/>
          <p:nvPr/>
        </p:nvSpPr>
        <p:spPr>
          <a:xfrm>
            <a:off x="9060790" y="4864608"/>
            <a:ext cx="2718511" cy="50292"/>
          </a:xfrm>
          <a:prstGeom prst="rect">
            <a:avLst/>
          </a:prstGeom>
          <a:solidFill>
            <a:srgbClr val="34A853"/>
          </a:solidFill>
          <a:ln/>
        </p:spPr>
      </p:sp>
      <p:sp>
        <p:nvSpPr>
          <p:cNvPr id="34" name="Text 31"/>
          <p:cNvSpPr/>
          <p:nvPr/>
        </p:nvSpPr>
        <p:spPr>
          <a:xfrm>
            <a:off x="9170518"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4. Merged SLAs &amp; 5-Part Roadmap (Slide 11)</a:t>
            </a:r>
            <a:endParaRPr lang="en-US" sz="760" dirty="0"/>
          </a:p>
        </p:txBody>
      </p:sp>
      <p:sp>
        <p:nvSpPr>
          <p:cNvPr id="35" name="Text 32"/>
          <p:cNvSpPr/>
          <p:nvPr/>
        </p:nvSpPr>
        <p:spPr>
          <a:xfrm>
            <a:off x="9170518"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Consolidates all Well-Architected SLAs (~42ms 5-Hop, 84.7% token savings, 74% TCO reduction, &lt;30s RTO) directly into the 5 runnable milestones.</a:t>
            </a:r>
            <a:endParaRPr lang="en-US" sz="740" dirty="0"/>
          </a:p>
        </p:txBody>
      </p:sp>
      <p:sp>
        <p:nvSpPr>
          <p:cNvPr id="36" name="Shape 33"/>
          <p:cNvSpPr/>
          <p:nvPr/>
        </p:nvSpPr>
        <p:spPr>
          <a:xfrm>
            <a:off x="365760" y="6144768"/>
            <a:ext cx="11460175" cy="384048"/>
          </a:xfrm>
          <a:prstGeom prst="roundRect">
            <a:avLst>
              <a:gd name="adj" fmla="val 19048"/>
            </a:avLst>
          </a:prstGeom>
          <a:solidFill>
            <a:srgbClr val="F8F9FA"/>
          </a:solidFill>
          <a:ln w="10795">
            <a:solidFill>
              <a:srgbClr val="DADCE0"/>
            </a:solidFill>
            <a:prstDash val="solid"/>
          </a:ln>
        </p:spPr>
      </p:sp>
      <p:sp>
        <p:nvSpPr>
          <p:cNvPr id="37" name="Shape 34"/>
          <p:cNvSpPr/>
          <p:nvPr/>
        </p:nvSpPr>
        <p:spPr>
          <a:xfrm>
            <a:off x="475488" y="6208776"/>
            <a:ext cx="1874520" cy="256032"/>
          </a:xfrm>
          <a:prstGeom prst="roundRect">
            <a:avLst>
              <a:gd name="adj" fmla="val 21429"/>
            </a:avLst>
          </a:prstGeom>
          <a:solidFill>
            <a:srgbClr val="4285F4"/>
          </a:solidFill>
          <a:ln/>
        </p:spPr>
      </p:sp>
      <p:sp>
        <p:nvSpPr>
          <p:cNvPr id="38" name="Text 35"/>
          <p:cNvSpPr/>
          <p:nvPr/>
        </p:nvSpPr>
        <p:spPr>
          <a:xfrm>
            <a:off x="475488" y="6208776"/>
            <a:ext cx="1874520" cy="256032"/>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SERIES ROADMAP</a:t>
            </a:r>
            <a:endParaRPr lang="en-US" sz="780" dirty="0"/>
          </a:p>
        </p:txBody>
      </p:sp>
      <p:sp>
        <p:nvSpPr>
          <p:cNvPr id="39" name="Text 36"/>
          <p:cNvSpPr/>
          <p:nvPr/>
        </p:nvSpPr>
        <p:spPr>
          <a:xfrm>
            <a:off x="2468880" y="6190488"/>
            <a:ext cx="9219895" cy="292608"/>
          </a:xfrm>
          <a:prstGeom prst="rect">
            <a:avLst/>
          </a:prstGeom>
          <a:noFill/>
          <a:ln/>
        </p:spPr>
        <p:txBody>
          <a:bodyPr wrap="square" rtlCol="0" anchor="ctr"/>
          <a:lstStyle/>
          <a:p>
            <a:pPr indent="0" marL="0">
              <a:buNone/>
            </a:pPr>
            <a:r>
              <a:rPr lang="en-US" sz="880" b="1" dirty="0">
                <a:solidFill>
                  <a:srgbClr val="3C4043"/>
                </a:solidFill>
                <a:latin typeface="Roboto" pitchFamily="34" charset="0"/>
                <a:ea typeface="Roboto" pitchFamily="34" charset="-122"/>
                <a:cs typeface="Roboto" pitchFamily="34" charset="-120"/>
              </a:rPr>
              <a:t>Workstream 1 • Reference Architecture &amp; Cloud Architecture Center Doc PR  •  Streamlined 11-Slide Executive Deck &amp; 5-Part Editorial Blog Series Roadmap</a:t>
            </a:r>
            <a:endParaRPr lang="en-US" sz="880" dirty="0"/>
          </a:p>
        </p:txBody>
      </p:sp>
      <p:sp>
        <p:nvSpPr>
          <p:cNvPr id="40" name="Text 37"/>
          <p:cNvSpPr/>
          <p:nvPr/>
        </p:nvSpPr>
        <p:spPr>
          <a:xfrm>
            <a:off x="365760" y="6601968"/>
            <a:ext cx="11460175" cy="201168"/>
          </a:xfrm>
          <a:prstGeom prst="rect">
            <a:avLst/>
          </a:prstGeom>
          <a:noFill/>
          <a:ln/>
        </p:spPr>
        <p:txBody>
          <a:bodyPr wrap="non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Multi-Tenant Agentic AI on Google Cloud • Vertex AI Agent Engine, Gemini Enterprise &amp; ADK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WS1</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ACT I • CUSTOMER USE CASES, TENANT PROFILES &amp; GOOGLE CLOUD STACK</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THREE-PILLAR • USE CASES</a:t>
            </a:r>
            <a:endParaRPr lang="en-US" sz="750" dirty="0"/>
          </a:p>
        </p:txBody>
      </p:sp>
      <p:sp>
        <p:nvSpPr>
          <p:cNvPr id="17" name="Text 15"/>
          <p:cNvSpPr/>
          <p:nvPr/>
        </p:nvSpPr>
        <p:spPr>
          <a:xfrm>
            <a:off x="411480" y="658368"/>
            <a:ext cx="11368735" cy="365760"/>
          </a:xfrm>
          <a:prstGeom prst="rect">
            <a:avLst/>
          </a:prstGeom>
          <a:noFill/>
          <a:ln/>
        </p:spPr>
        <p:txBody>
          <a:bodyPr wrap="square" rtlCol="0" anchor="ctr"/>
          <a:lstStyle/>
          <a:p>
            <a:pPr indent="0" marL="0">
              <a:buNone/>
            </a:pPr>
            <a:r>
              <a:rPr lang="en-US" sz="1900" b="1" dirty="0">
                <a:solidFill>
                  <a:srgbClr val="3C4043"/>
                </a:solidFill>
                <a:latin typeface="Google Sans" pitchFamily="34" charset="0"/>
                <a:ea typeface="Google Sans" pitchFamily="34" charset="-122"/>
                <a:cs typeface="Google Sans" pitchFamily="34" charset="-120"/>
              </a:rPr>
              <a:t>Competing Enterprise Tenants (FinVault vs. RetailStream) &amp; Google Cloud Stack</a:t>
            </a:r>
            <a:endParaRPr lang="en-US" sz="1900" dirty="0"/>
          </a:p>
        </p:txBody>
      </p:sp>
      <p:sp>
        <p:nvSpPr>
          <p:cNvPr id="18" name="Text 16"/>
          <p:cNvSpPr/>
          <p:nvPr/>
        </p:nvSpPr>
        <p:spPr>
          <a:xfrm>
            <a:off x="411480" y="1024128"/>
            <a:ext cx="11368735" cy="237744"/>
          </a:xfrm>
          <a:prstGeom prst="rect">
            <a:avLst/>
          </a:prstGeom>
          <a:noFill/>
          <a:ln/>
        </p:spPr>
        <p:txBody>
          <a:bodyPr wrap="square" rtlCol="0" anchor="ctr"/>
          <a:lstStyle/>
          <a:p>
            <a:pPr indent="0" marL="0">
              <a:buNone/>
            </a:pPr>
            <a:r>
              <a:rPr lang="en-US" sz="1000" dirty="0">
                <a:solidFill>
                  <a:srgbClr val="5F6368"/>
                </a:solidFill>
                <a:latin typeface="Roboto" pitchFamily="34" charset="0"/>
                <a:ea typeface="Roboto" pitchFamily="34" charset="-122"/>
                <a:cs typeface="Roboto" pitchFamily="34" charset="-120"/>
              </a:rPr>
              <a:t>Concrete multi-tenant SaaS workload profiles, regulatory vs. commercial isolation requirements, and Google Cloud stack mapping.</a:t>
            </a:r>
            <a:endParaRPr lang="en-US" sz="1000" dirty="0"/>
          </a:p>
        </p:txBody>
      </p:sp>
      <p:sp>
        <p:nvSpPr>
          <p:cNvPr id="19" name="Shape 17"/>
          <p:cNvSpPr/>
          <p:nvPr/>
        </p:nvSpPr>
        <p:spPr>
          <a:xfrm>
            <a:off x="411480" y="1353312"/>
            <a:ext cx="5583326" cy="2258568"/>
          </a:xfrm>
          <a:prstGeom prst="roundRect">
            <a:avLst>
              <a:gd name="adj" fmla="val 3239"/>
            </a:avLst>
          </a:prstGeom>
          <a:solidFill>
            <a:srgbClr val="F8F9FA"/>
          </a:solidFill>
          <a:ln w="12700">
            <a:solidFill>
              <a:srgbClr val="DADCE0"/>
            </a:solidFill>
            <a:prstDash val="solid"/>
          </a:ln>
        </p:spPr>
      </p:sp>
      <p:sp>
        <p:nvSpPr>
          <p:cNvPr id="20" name="Shape 18"/>
          <p:cNvSpPr/>
          <p:nvPr/>
        </p:nvSpPr>
        <p:spPr>
          <a:xfrm>
            <a:off x="411480" y="1353312"/>
            <a:ext cx="5583326" cy="59436"/>
          </a:xfrm>
          <a:prstGeom prst="rect">
            <a:avLst/>
          </a:prstGeom>
          <a:solidFill>
            <a:srgbClr val="4285F4"/>
          </a:solidFill>
          <a:ln/>
        </p:spPr>
      </p:sp>
      <p:sp>
        <p:nvSpPr>
          <p:cNvPr id="21" name="Shape 19"/>
          <p:cNvSpPr/>
          <p:nvPr/>
        </p:nvSpPr>
        <p:spPr>
          <a:xfrm>
            <a:off x="557784" y="1481328"/>
            <a:ext cx="365760" cy="256032"/>
          </a:xfrm>
          <a:prstGeom prst="roundRect">
            <a:avLst>
              <a:gd name="adj" fmla="val 21429"/>
            </a:avLst>
          </a:prstGeom>
          <a:solidFill>
            <a:srgbClr val="E8F0FE"/>
          </a:solidFill>
          <a:ln/>
        </p:spPr>
      </p:sp>
      <p:sp>
        <p:nvSpPr>
          <p:cNvPr id="22" name="Text 20"/>
          <p:cNvSpPr/>
          <p:nvPr/>
        </p:nvSpPr>
        <p:spPr>
          <a:xfrm>
            <a:off x="557784" y="1481328"/>
            <a:ext cx="365760" cy="256032"/>
          </a:xfrm>
          <a:prstGeom prst="rect">
            <a:avLst/>
          </a:prstGeom>
          <a:noFill/>
          <a:ln/>
        </p:spPr>
        <p:txBody>
          <a:bodyPr wrap="square" rtlCol="0" anchor="ctr"/>
          <a:lstStyle/>
          <a:p>
            <a:pPr algn="ctr" indent="0" marL="0">
              <a:buNone/>
            </a:pPr>
            <a:r>
              <a:rPr lang="en-US" sz="920" b="1" dirty="0">
                <a:solidFill>
                  <a:srgbClr val="174EA6"/>
                </a:solidFill>
                <a:latin typeface="Google Sans" pitchFamily="34" charset="0"/>
                <a:ea typeface="Google Sans" pitchFamily="34" charset="-122"/>
                <a:cs typeface="Google Sans" pitchFamily="34" charset="-120"/>
              </a:rPr>
              <a:t>01</a:t>
            </a:r>
            <a:endParaRPr lang="en-US" sz="920" dirty="0"/>
          </a:p>
        </p:txBody>
      </p:sp>
      <p:sp>
        <p:nvSpPr>
          <p:cNvPr id="23" name="Text 21"/>
          <p:cNvSpPr/>
          <p:nvPr/>
        </p:nvSpPr>
        <p:spPr>
          <a:xfrm>
            <a:off x="996696" y="1463040"/>
            <a:ext cx="4851806" cy="329184"/>
          </a:xfrm>
          <a:prstGeom prst="rect">
            <a:avLst/>
          </a:prstGeom>
          <a:noFill/>
          <a:ln/>
        </p:spPr>
        <p:txBody>
          <a:bodyPr wrap="square" rtlCol="0" anchor="ctr"/>
          <a:lstStyle/>
          <a:p>
            <a:pPr indent="0" marL="0">
              <a:buNone/>
            </a:pPr>
            <a:r>
              <a:rPr lang="en-US" sz="1140" b="1" dirty="0">
                <a:solidFill>
                  <a:srgbClr val="3C4043"/>
                </a:solidFill>
                <a:latin typeface="Google Sans" pitchFamily="34" charset="0"/>
                <a:ea typeface="Google Sans" pitchFamily="34" charset="-122"/>
                <a:cs typeface="Google Sans" pitchFamily="34" charset="-120"/>
              </a:rPr>
              <a:t>Cymbal SaaS Control Plane (Shared 32k Prefix Cache)</a:t>
            </a:r>
            <a:endParaRPr lang="en-US" sz="1140" dirty="0"/>
          </a:p>
        </p:txBody>
      </p:sp>
      <p:sp>
        <p:nvSpPr>
          <p:cNvPr id="24" name="Shape 22"/>
          <p:cNvSpPr/>
          <p:nvPr/>
        </p:nvSpPr>
        <p:spPr>
          <a:xfrm>
            <a:off x="557784" y="1847088"/>
            <a:ext cx="5290718" cy="9144"/>
          </a:xfrm>
          <a:prstGeom prst="rect">
            <a:avLst/>
          </a:prstGeom>
          <a:solidFill>
            <a:srgbClr val="DADCE0"/>
          </a:solidFill>
          <a:ln/>
        </p:spPr>
      </p:sp>
      <p:sp>
        <p:nvSpPr>
          <p:cNvPr id="25" name="Text 23"/>
          <p:cNvSpPr/>
          <p:nvPr/>
        </p:nvSpPr>
        <p:spPr>
          <a:xfrm>
            <a:off x="557784" y="1901952"/>
            <a:ext cx="5290718" cy="850392"/>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Operates a shared Incident Diagnostic Agent on Vertex AI Agent Engine (ADK, ARD Registry &amp; L1–L5 Memory Bank), caching a 32,000-token SRE runbook prefix once (90% discount -&gt; 84.7% net per-turn token cost reduction).</a:t>
            </a:r>
            <a:endParaRPr lang="en-US" sz="980" dirty="0"/>
          </a:p>
        </p:txBody>
      </p:sp>
      <p:sp>
        <p:nvSpPr>
          <p:cNvPr id="26" name="Shape 24"/>
          <p:cNvSpPr/>
          <p:nvPr/>
        </p:nvSpPr>
        <p:spPr>
          <a:xfrm>
            <a:off x="557784" y="2788920"/>
            <a:ext cx="5290718" cy="493776"/>
          </a:xfrm>
          <a:prstGeom prst="roundRect">
            <a:avLst>
              <a:gd name="adj" fmla="val 11111"/>
            </a:avLst>
          </a:prstGeom>
          <a:solidFill>
            <a:srgbClr val="FFFFFF"/>
          </a:solidFill>
          <a:ln w="9525">
            <a:solidFill>
              <a:srgbClr val="DADCE0"/>
            </a:solidFill>
            <a:prstDash val="solid"/>
          </a:ln>
        </p:spPr>
      </p:sp>
      <p:sp>
        <p:nvSpPr>
          <p:cNvPr id="27" name="Shape 25"/>
          <p:cNvSpPr/>
          <p:nvPr/>
        </p:nvSpPr>
        <p:spPr>
          <a:xfrm>
            <a:off x="557784" y="2788920"/>
            <a:ext cx="54864" cy="493776"/>
          </a:xfrm>
          <a:prstGeom prst="rect">
            <a:avLst/>
          </a:prstGeom>
          <a:solidFill>
            <a:srgbClr val="4285F4"/>
          </a:solidFill>
          <a:ln/>
        </p:spPr>
      </p:sp>
      <p:sp>
        <p:nvSpPr>
          <p:cNvPr id="28" name="Text 26"/>
          <p:cNvSpPr/>
          <p:nvPr/>
        </p:nvSpPr>
        <p:spPr>
          <a:xfrm>
            <a:off x="649224" y="2816352"/>
            <a:ext cx="5162702"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Vertex AI Agent Engine (ADK, ARD, L1–L5 Memory) • Gemini 2.5 Pro (32k ContextCacheConfig)
</a:t>
            </a:r>
            <a:pPr indent="0" marL="0">
              <a:buNone/>
            </a:pPr>
            <a:r>
              <a:rPr lang="en-US" sz="730" dirty="0">
                <a:solidFill>
                  <a:srgbClr val="5F6368"/>
                </a:solidFill>
                <a:latin typeface="Roboto" pitchFamily="34" charset="0"/>
                <a:ea typeface="Roboto" pitchFamily="34" charset="-122"/>
                <a:cs typeface="Roboto" pitchFamily="34" charset="-120"/>
              </a:rPr>
              <a:t>Target &amp; SLA: Immutable 32k System Prefix Cache • 84.7% Net Per-Turn Token Cost Reduction • ~42ms 5-Hop Overhead</a:t>
            </a:r>
            <a:endParaRPr lang="en-US" sz="750" dirty="0"/>
          </a:p>
        </p:txBody>
      </p:sp>
      <p:sp>
        <p:nvSpPr>
          <p:cNvPr id="29" name="Shape 27"/>
          <p:cNvSpPr/>
          <p:nvPr/>
        </p:nvSpPr>
        <p:spPr>
          <a:xfrm>
            <a:off x="557784" y="3337560"/>
            <a:ext cx="5290718" cy="219456"/>
          </a:xfrm>
          <a:prstGeom prst="roundRect">
            <a:avLst>
              <a:gd name="adj" fmla="val 20833"/>
            </a:avLst>
          </a:prstGeom>
          <a:solidFill>
            <a:srgbClr val="E8F0FE"/>
          </a:solidFill>
          <a:ln/>
        </p:spPr>
      </p:sp>
      <p:sp>
        <p:nvSpPr>
          <p:cNvPr id="30" name="Text 28"/>
          <p:cNvSpPr/>
          <p:nvPr/>
        </p:nvSpPr>
        <p:spPr>
          <a:xfrm>
            <a:off x="612648" y="3337560"/>
            <a:ext cx="5180990" cy="219456"/>
          </a:xfrm>
          <a:prstGeom prst="rect">
            <a:avLst/>
          </a:prstGeom>
          <a:noFill/>
          <a:ln/>
        </p:spPr>
        <p:txBody>
          <a:bodyPr wrap="square" rtlCol="0" anchor="ctr"/>
          <a:lstStyle/>
          <a:p>
            <a:pPr indent="0" marL="0">
              <a:buNone/>
            </a:pPr>
            <a:r>
              <a:rPr lang="en-US" sz="750" b="1" dirty="0">
                <a:solidFill>
                  <a:srgbClr val="174EA6"/>
                </a:solidFill>
                <a:latin typeface="Google Sans" pitchFamily="34" charset="0"/>
                <a:ea typeface="Google Sans" pitchFamily="34" charset="-122"/>
                <a:cs typeface="Google Sans" pitchFamily="34" charset="-120"/>
              </a:rPr>
              <a:t>1. Platform Control Plane: Cymbal SaaS</a:t>
            </a:r>
            <a:endParaRPr lang="en-US" sz="750" dirty="0"/>
          </a:p>
        </p:txBody>
      </p:sp>
      <p:sp>
        <p:nvSpPr>
          <p:cNvPr id="31" name="Shape 29"/>
          <p:cNvSpPr/>
          <p:nvPr/>
        </p:nvSpPr>
        <p:spPr>
          <a:xfrm>
            <a:off x="6195974" y="1353312"/>
            <a:ext cx="5583326" cy="2258568"/>
          </a:xfrm>
          <a:prstGeom prst="roundRect">
            <a:avLst>
              <a:gd name="adj" fmla="val 3239"/>
            </a:avLst>
          </a:prstGeom>
          <a:solidFill>
            <a:srgbClr val="F8F9FA"/>
          </a:solidFill>
          <a:ln w="12700">
            <a:solidFill>
              <a:srgbClr val="DADCE0"/>
            </a:solidFill>
            <a:prstDash val="solid"/>
          </a:ln>
        </p:spPr>
      </p:sp>
      <p:sp>
        <p:nvSpPr>
          <p:cNvPr id="32" name="Shape 30"/>
          <p:cNvSpPr/>
          <p:nvPr/>
        </p:nvSpPr>
        <p:spPr>
          <a:xfrm>
            <a:off x="6195974" y="1353312"/>
            <a:ext cx="5583326" cy="59436"/>
          </a:xfrm>
          <a:prstGeom prst="rect">
            <a:avLst/>
          </a:prstGeom>
          <a:solidFill>
            <a:srgbClr val="EA4335"/>
          </a:solidFill>
          <a:ln/>
        </p:spPr>
      </p:sp>
      <p:sp>
        <p:nvSpPr>
          <p:cNvPr id="33" name="Shape 31"/>
          <p:cNvSpPr/>
          <p:nvPr/>
        </p:nvSpPr>
        <p:spPr>
          <a:xfrm>
            <a:off x="6342278" y="1481328"/>
            <a:ext cx="365760" cy="256032"/>
          </a:xfrm>
          <a:prstGeom prst="roundRect">
            <a:avLst>
              <a:gd name="adj" fmla="val 21429"/>
            </a:avLst>
          </a:prstGeom>
          <a:solidFill>
            <a:srgbClr val="FCE8E6"/>
          </a:solidFill>
          <a:ln/>
        </p:spPr>
      </p:sp>
      <p:sp>
        <p:nvSpPr>
          <p:cNvPr id="34" name="Text 32"/>
          <p:cNvSpPr/>
          <p:nvPr/>
        </p:nvSpPr>
        <p:spPr>
          <a:xfrm>
            <a:off x="6342278" y="1481328"/>
            <a:ext cx="365760" cy="256032"/>
          </a:xfrm>
          <a:prstGeom prst="rect">
            <a:avLst/>
          </a:prstGeom>
          <a:noFill/>
          <a:ln/>
        </p:spPr>
        <p:txBody>
          <a:bodyPr wrap="square" rtlCol="0" anchor="ctr"/>
          <a:lstStyle/>
          <a:p>
            <a:pPr algn="ctr" indent="0" marL="0">
              <a:buNone/>
            </a:pPr>
            <a:r>
              <a:rPr lang="en-US" sz="920" b="1" dirty="0">
                <a:solidFill>
                  <a:srgbClr val="A50E0E"/>
                </a:solidFill>
                <a:latin typeface="Google Sans" pitchFamily="34" charset="0"/>
                <a:ea typeface="Google Sans" pitchFamily="34" charset="-122"/>
                <a:cs typeface="Google Sans" pitchFamily="34" charset="-120"/>
              </a:rPr>
              <a:t>02</a:t>
            </a:r>
            <a:endParaRPr lang="en-US" sz="920" dirty="0"/>
          </a:p>
        </p:txBody>
      </p:sp>
      <p:sp>
        <p:nvSpPr>
          <p:cNvPr id="35" name="Text 33"/>
          <p:cNvSpPr/>
          <p:nvPr/>
        </p:nvSpPr>
        <p:spPr>
          <a:xfrm>
            <a:off x="6781190" y="1463040"/>
            <a:ext cx="4851806" cy="329184"/>
          </a:xfrm>
          <a:prstGeom prst="rect">
            <a:avLst/>
          </a:prstGeom>
          <a:noFill/>
          <a:ln/>
        </p:spPr>
        <p:txBody>
          <a:bodyPr wrap="square" rtlCol="0" anchor="ctr"/>
          <a:lstStyle/>
          <a:p>
            <a:pPr indent="0" marL="0">
              <a:buNone/>
            </a:pPr>
            <a:r>
              <a:rPr lang="en-US" sz="1140" b="1" dirty="0">
                <a:solidFill>
                  <a:srgbClr val="3C4043"/>
                </a:solidFill>
                <a:latin typeface="Google Sans" pitchFamily="34" charset="0"/>
                <a:ea typeface="Google Sans" pitchFamily="34" charset="-122"/>
                <a:cs typeface="Google Sans" pitchFamily="34" charset="-120"/>
              </a:rPr>
              <a:t>FinVault Bank (Dedicated PT vs. Private GKE Gemma 3)</a:t>
            </a:r>
            <a:endParaRPr lang="en-US" sz="1140" dirty="0"/>
          </a:p>
        </p:txBody>
      </p:sp>
      <p:sp>
        <p:nvSpPr>
          <p:cNvPr id="36" name="Shape 34"/>
          <p:cNvSpPr/>
          <p:nvPr/>
        </p:nvSpPr>
        <p:spPr>
          <a:xfrm>
            <a:off x="6342278" y="1847088"/>
            <a:ext cx="5290718" cy="9144"/>
          </a:xfrm>
          <a:prstGeom prst="rect">
            <a:avLst/>
          </a:prstGeom>
          <a:solidFill>
            <a:srgbClr val="DADCE0"/>
          </a:solidFill>
          <a:ln/>
        </p:spPr>
      </p:sp>
      <p:sp>
        <p:nvSpPr>
          <p:cNvPr id="37" name="Text 35"/>
          <p:cNvSpPr/>
          <p:nvPr/>
        </p:nvSpPr>
        <p:spPr>
          <a:xfrm>
            <a:off x="6342278" y="1901952"/>
            <a:ext cx="5290718" cy="850392"/>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Regulated bank (600 RPM / 8k thinking, VPC-SC, CMEK) choosing between Vertex AI Dedicated Provisioned Throughput (managed SaaS Gemini 2.5 Pro, 0 K8s ops) or Self-Managed Gemma 3 27B on Private GKE (air-gapped GPU nodes, 0 internet egress).</a:t>
            </a:r>
            <a:endParaRPr lang="en-US" sz="980" dirty="0"/>
          </a:p>
        </p:txBody>
      </p:sp>
      <p:sp>
        <p:nvSpPr>
          <p:cNvPr id="38" name="Shape 36"/>
          <p:cNvSpPr/>
          <p:nvPr/>
        </p:nvSpPr>
        <p:spPr>
          <a:xfrm>
            <a:off x="6342278" y="2788920"/>
            <a:ext cx="5290718" cy="493776"/>
          </a:xfrm>
          <a:prstGeom prst="roundRect">
            <a:avLst>
              <a:gd name="adj" fmla="val 11111"/>
            </a:avLst>
          </a:prstGeom>
          <a:solidFill>
            <a:srgbClr val="FFFFFF"/>
          </a:solidFill>
          <a:ln w="9525">
            <a:solidFill>
              <a:srgbClr val="DADCE0"/>
            </a:solidFill>
            <a:prstDash val="solid"/>
          </a:ln>
        </p:spPr>
      </p:sp>
      <p:sp>
        <p:nvSpPr>
          <p:cNvPr id="39" name="Shape 37"/>
          <p:cNvSpPr/>
          <p:nvPr/>
        </p:nvSpPr>
        <p:spPr>
          <a:xfrm>
            <a:off x="6342278" y="2788920"/>
            <a:ext cx="54864" cy="493776"/>
          </a:xfrm>
          <a:prstGeom prst="rect">
            <a:avLst/>
          </a:prstGeom>
          <a:solidFill>
            <a:srgbClr val="EA4335"/>
          </a:solidFill>
          <a:ln/>
        </p:spPr>
      </p:sp>
      <p:sp>
        <p:nvSpPr>
          <p:cNvPr id="40" name="Text 38"/>
          <p:cNvSpPr/>
          <p:nvPr/>
        </p:nvSpPr>
        <p:spPr>
          <a:xfrm>
            <a:off x="6433718" y="2816352"/>
            <a:ext cx="5162702"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Managed Vertex AI Dedicated PT (SaaS SLA, 0 GPU Ops) vs. Air-Gapped GKE Gemma 3 27B (Customer GPU Nodes)
</a:t>
            </a:r>
            <a:pPr indent="0" marL="0">
              <a:buNone/>
            </a:pPr>
            <a:r>
              <a:rPr lang="en-US" sz="730" dirty="0">
                <a:solidFill>
                  <a:srgbClr val="5F6368"/>
                </a:solidFill>
                <a:latin typeface="Roboto" pitchFamily="34" charset="0"/>
                <a:ea typeface="Roboto" pitchFamily="34" charset="-122"/>
                <a:cs typeface="Roboto" pitchFamily="34" charset="-120"/>
              </a:rPr>
              <a:t>Target &amp; SLA: Tier: ENTERPRISE (600 RPM Silo) • 8,000 Thinking Budget • VPC-SC • Cloud KMS CMEK (finvault-silo-cmek)</a:t>
            </a:r>
            <a:endParaRPr lang="en-US" sz="750" dirty="0"/>
          </a:p>
        </p:txBody>
      </p:sp>
      <p:sp>
        <p:nvSpPr>
          <p:cNvPr id="41" name="Shape 39"/>
          <p:cNvSpPr/>
          <p:nvPr/>
        </p:nvSpPr>
        <p:spPr>
          <a:xfrm>
            <a:off x="6342278" y="3337560"/>
            <a:ext cx="5290718" cy="219456"/>
          </a:xfrm>
          <a:prstGeom prst="roundRect">
            <a:avLst>
              <a:gd name="adj" fmla="val 20833"/>
            </a:avLst>
          </a:prstGeom>
          <a:solidFill>
            <a:srgbClr val="FCE8E6"/>
          </a:solidFill>
          <a:ln/>
        </p:spPr>
      </p:sp>
      <p:sp>
        <p:nvSpPr>
          <p:cNvPr id="42" name="Text 40"/>
          <p:cNvSpPr/>
          <p:nvPr/>
        </p:nvSpPr>
        <p:spPr>
          <a:xfrm>
            <a:off x="6397142" y="3337560"/>
            <a:ext cx="5180990" cy="219456"/>
          </a:xfrm>
          <a:prstGeom prst="rect">
            <a:avLst/>
          </a:prstGeom>
          <a:noFill/>
          <a:ln/>
        </p:spPr>
        <p:txBody>
          <a:bodyPr wrap="square" rtlCol="0" anchor="ctr"/>
          <a:lstStyle/>
          <a:p>
            <a:pPr indent="0" marL="0">
              <a:buNone/>
            </a:pPr>
            <a:r>
              <a:rPr lang="en-US" sz="750" b="1" dirty="0">
                <a:solidFill>
                  <a:srgbClr val="A50E0E"/>
                </a:solidFill>
                <a:latin typeface="Google Sans" pitchFamily="34" charset="0"/>
                <a:ea typeface="Google Sans" pitchFamily="34" charset="-122"/>
                <a:cs typeface="Google Sans" pitchFamily="34" charset="-120"/>
              </a:rPr>
              <a:t>2. Regulated Silo: FinVault Hosting Trade-Off</a:t>
            </a:r>
            <a:endParaRPr lang="en-US" sz="750" dirty="0"/>
          </a:p>
        </p:txBody>
      </p:sp>
      <p:sp>
        <p:nvSpPr>
          <p:cNvPr id="43" name="Shape 41"/>
          <p:cNvSpPr/>
          <p:nvPr/>
        </p:nvSpPr>
        <p:spPr>
          <a:xfrm>
            <a:off x="411480" y="3776472"/>
            <a:ext cx="5583326" cy="2258568"/>
          </a:xfrm>
          <a:prstGeom prst="roundRect">
            <a:avLst>
              <a:gd name="adj" fmla="val 3239"/>
            </a:avLst>
          </a:prstGeom>
          <a:solidFill>
            <a:srgbClr val="F8F9FA"/>
          </a:solidFill>
          <a:ln w="12700">
            <a:solidFill>
              <a:srgbClr val="DADCE0"/>
            </a:solidFill>
            <a:prstDash val="solid"/>
          </a:ln>
        </p:spPr>
      </p:sp>
      <p:sp>
        <p:nvSpPr>
          <p:cNvPr id="44" name="Shape 42"/>
          <p:cNvSpPr/>
          <p:nvPr/>
        </p:nvSpPr>
        <p:spPr>
          <a:xfrm>
            <a:off x="411480" y="3776472"/>
            <a:ext cx="5583326" cy="59436"/>
          </a:xfrm>
          <a:prstGeom prst="rect">
            <a:avLst/>
          </a:prstGeom>
          <a:solidFill>
            <a:srgbClr val="FBBC04"/>
          </a:solidFill>
          <a:ln/>
        </p:spPr>
      </p:sp>
      <p:sp>
        <p:nvSpPr>
          <p:cNvPr id="45" name="Shape 43"/>
          <p:cNvSpPr/>
          <p:nvPr/>
        </p:nvSpPr>
        <p:spPr>
          <a:xfrm>
            <a:off x="557784" y="3904488"/>
            <a:ext cx="365760" cy="256032"/>
          </a:xfrm>
          <a:prstGeom prst="roundRect">
            <a:avLst>
              <a:gd name="adj" fmla="val 21429"/>
            </a:avLst>
          </a:prstGeom>
          <a:solidFill>
            <a:srgbClr val="FEF7E0"/>
          </a:solidFill>
          <a:ln/>
        </p:spPr>
      </p:sp>
      <p:sp>
        <p:nvSpPr>
          <p:cNvPr id="46" name="Text 44"/>
          <p:cNvSpPr/>
          <p:nvPr/>
        </p:nvSpPr>
        <p:spPr>
          <a:xfrm>
            <a:off x="557784" y="3904488"/>
            <a:ext cx="365760" cy="256032"/>
          </a:xfrm>
          <a:prstGeom prst="rect">
            <a:avLst/>
          </a:prstGeom>
          <a:noFill/>
          <a:ln/>
        </p:spPr>
        <p:txBody>
          <a:bodyPr wrap="square" rtlCol="0" anchor="ctr"/>
          <a:lstStyle/>
          <a:p>
            <a:pPr algn="ctr" indent="0" marL="0">
              <a:buNone/>
            </a:pPr>
            <a:r>
              <a:rPr lang="en-US" sz="920" b="1" dirty="0">
                <a:solidFill>
                  <a:srgbClr val="B06000"/>
                </a:solidFill>
                <a:latin typeface="Google Sans" pitchFamily="34" charset="0"/>
                <a:ea typeface="Google Sans" pitchFamily="34" charset="-122"/>
                <a:cs typeface="Google Sans" pitchFamily="34" charset="-120"/>
              </a:rPr>
              <a:t>03</a:t>
            </a:r>
            <a:endParaRPr lang="en-US" sz="920" dirty="0"/>
          </a:p>
        </p:txBody>
      </p:sp>
      <p:sp>
        <p:nvSpPr>
          <p:cNvPr id="47" name="Text 45"/>
          <p:cNvSpPr/>
          <p:nvPr/>
        </p:nvSpPr>
        <p:spPr>
          <a:xfrm>
            <a:off x="996696" y="3886200"/>
            <a:ext cx="4851806" cy="329184"/>
          </a:xfrm>
          <a:prstGeom prst="rect">
            <a:avLst/>
          </a:prstGeom>
          <a:noFill/>
          <a:ln/>
        </p:spPr>
        <p:txBody>
          <a:bodyPr wrap="square" rtlCol="0" anchor="ctr"/>
          <a:lstStyle/>
          <a:p>
            <a:pPr indent="0" marL="0">
              <a:buNone/>
            </a:pPr>
            <a:r>
              <a:rPr lang="en-US" sz="1140" b="1" dirty="0">
                <a:solidFill>
                  <a:srgbClr val="3C4043"/>
                </a:solidFill>
                <a:latin typeface="Google Sans" pitchFamily="34" charset="0"/>
                <a:ea typeface="Google Sans" pitchFamily="34" charset="-122"/>
                <a:cs typeface="Google Sans" pitchFamily="34" charset="-120"/>
              </a:rPr>
              <a:t>RetailStream Corp (3LO Token Vault &amp; Anti-Confused-Deputy)</a:t>
            </a:r>
            <a:endParaRPr lang="en-US" sz="1140" dirty="0"/>
          </a:p>
        </p:txBody>
      </p:sp>
      <p:sp>
        <p:nvSpPr>
          <p:cNvPr id="48" name="Shape 46"/>
          <p:cNvSpPr/>
          <p:nvPr/>
        </p:nvSpPr>
        <p:spPr>
          <a:xfrm>
            <a:off x="557784" y="4270248"/>
            <a:ext cx="5290718" cy="9144"/>
          </a:xfrm>
          <a:prstGeom prst="rect">
            <a:avLst/>
          </a:prstGeom>
          <a:solidFill>
            <a:srgbClr val="DADCE0"/>
          </a:solidFill>
          <a:ln/>
        </p:spPr>
      </p:sp>
      <p:sp>
        <p:nvSpPr>
          <p:cNvPr id="49" name="Text 47"/>
          <p:cNvSpPr/>
          <p:nvPr/>
        </p:nvSpPr>
        <p:spPr>
          <a:xfrm>
            <a:off x="557784" y="4325112"/>
            <a:ext cx="5290718" cy="850392"/>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Pooled tenant (120 RPM / 4k thinking, Entra ID) invoking ServiceNow ITOM via 3LO step-up consent; per-user OAuth tokens are isolated in {tenant}:{user} DPoP-bound vaults (dpop_jkt verified) so pooled agents never act as a Confused Deputy.</a:t>
            </a:r>
            <a:endParaRPr lang="en-US" sz="980" dirty="0"/>
          </a:p>
        </p:txBody>
      </p:sp>
      <p:sp>
        <p:nvSpPr>
          <p:cNvPr id="50" name="Shape 48"/>
          <p:cNvSpPr/>
          <p:nvPr/>
        </p:nvSpPr>
        <p:spPr>
          <a:xfrm>
            <a:off x="557784" y="5212080"/>
            <a:ext cx="5290718" cy="493776"/>
          </a:xfrm>
          <a:prstGeom prst="roundRect">
            <a:avLst>
              <a:gd name="adj" fmla="val 11111"/>
            </a:avLst>
          </a:prstGeom>
          <a:solidFill>
            <a:srgbClr val="FFFFFF"/>
          </a:solidFill>
          <a:ln w="9525">
            <a:solidFill>
              <a:srgbClr val="DADCE0"/>
            </a:solidFill>
            <a:prstDash val="solid"/>
          </a:ln>
        </p:spPr>
      </p:sp>
      <p:sp>
        <p:nvSpPr>
          <p:cNvPr id="51" name="Shape 49"/>
          <p:cNvSpPr/>
          <p:nvPr/>
        </p:nvSpPr>
        <p:spPr>
          <a:xfrm>
            <a:off x="557784" y="5212080"/>
            <a:ext cx="54864" cy="493776"/>
          </a:xfrm>
          <a:prstGeom prst="rect">
            <a:avLst/>
          </a:prstGeom>
          <a:solidFill>
            <a:srgbClr val="FBBC04"/>
          </a:solidFill>
          <a:ln/>
        </p:spPr>
      </p:sp>
      <p:sp>
        <p:nvSpPr>
          <p:cNvPr id="52" name="Text 50"/>
          <p:cNvSpPr/>
          <p:nvPr/>
        </p:nvSpPr>
        <p:spPr>
          <a:xfrm>
            <a:off x="649224" y="5239512"/>
            <a:ext cx="5162702"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Entra ID OIDC • Per-User DPoP-Bound 3LO Vault ({tenant}:{user}) • ServiceNow &amp; SharePoint MCP
</a:t>
            </a:r>
            <a:pPr indent="0" marL="0">
              <a:buNone/>
            </a:pPr>
            <a:r>
              <a:rPr lang="en-US" sz="730" dirty="0">
                <a:solidFill>
                  <a:srgbClr val="5F6368"/>
                </a:solidFill>
                <a:latin typeface="Roboto" pitchFamily="34" charset="0"/>
                <a:ea typeface="Roboto" pitchFamily="34" charset="-122"/>
                <a:cs typeface="Roboto" pitchFamily="34" charset="-120"/>
              </a:rPr>
              <a:t>Target &amp; SLA: Tier: STANDARD (120 RPM Pool) • 4,000 Thinking Cap • Eliminates Pooled Confused-Deputy Token Replay</a:t>
            </a:r>
            <a:endParaRPr lang="en-US" sz="750" dirty="0"/>
          </a:p>
        </p:txBody>
      </p:sp>
      <p:sp>
        <p:nvSpPr>
          <p:cNvPr id="53" name="Shape 51"/>
          <p:cNvSpPr/>
          <p:nvPr/>
        </p:nvSpPr>
        <p:spPr>
          <a:xfrm>
            <a:off x="557784" y="5760720"/>
            <a:ext cx="5290718" cy="219456"/>
          </a:xfrm>
          <a:prstGeom prst="roundRect">
            <a:avLst>
              <a:gd name="adj" fmla="val 20833"/>
            </a:avLst>
          </a:prstGeom>
          <a:solidFill>
            <a:srgbClr val="FEF7E0"/>
          </a:solidFill>
          <a:ln/>
        </p:spPr>
      </p:sp>
      <p:sp>
        <p:nvSpPr>
          <p:cNvPr id="54" name="Text 52"/>
          <p:cNvSpPr/>
          <p:nvPr/>
        </p:nvSpPr>
        <p:spPr>
          <a:xfrm>
            <a:off x="612648" y="5760720"/>
            <a:ext cx="5180990" cy="219456"/>
          </a:xfrm>
          <a:prstGeom prst="rect">
            <a:avLst/>
          </a:prstGeom>
          <a:noFill/>
          <a:ln/>
        </p:spPr>
        <p:txBody>
          <a:bodyPr wrap="square" rtlCol="0" anchor="ctr"/>
          <a:lstStyle/>
          <a:p>
            <a:pPr indent="0" marL="0">
              <a:buNone/>
            </a:pPr>
            <a:r>
              <a:rPr lang="en-US" sz="750" b="1" dirty="0">
                <a:solidFill>
                  <a:srgbClr val="B06000"/>
                </a:solidFill>
                <a:latin typeface="Google Sans" pitchFamily="34" charset="0"/>
                <a:ea typeface="Google Sans" pitchFamily="34" charset="-122"/>
                <a:cs typeface="Google Sans" pitchFamily="34" charset="-120"/>
              </a:rPr>
              <a:t>3. Pooled Tenant: RetailStream &amp; 3LO Security</a:t>
            </a:r>
            <a:endParaRPr lang="en-US" sz="750" dirty="0"/>
          </a:p>
        </p:txBody>
      </p:sp>
      <p:sp>
        <p:nvSpPr>
          <p:cNvPr id="55" name="Shape 53"/>
          <p:cNvSpPr/>
          <p:nvPr/>
        </p:nvSpPr>
        <p:spPr>
          <a:xfrm>
            <a:off x="6195974" y="3776472"/>
            <a:ext cx="5583326" cy="2258568"/>
          </a:xfrm>
          <a:prstGeom prst="roundRect">
            <a:avLst>
              <a:gd name="adj" fmla="val 3239"/>
            </a:avLst>
          </a:prstGeom>
          <a:solidFill>
            <a:srgbClr val="F8F9FA"/>
          </a:solidFill>
          <a:ln w="12700">
            <a:solidFill>
              <a:srgbClr val="DADCE0"/>
            </a:solidFill>
            <a:prstDash val="solid"/>
          </a:ln>
        </p:spPr>
      </p:sp>
      <p:sp>
        <p:nvSpPr>
          <p:cNvPr id="56" name="Shape 54"/>
          <p:cNvSpPr/>
          <p:nvPr/>
        </p:nvSpPr>
        <p:spPr>
          <a:xfrm>
            <a:off x="6195974" y="3776472"/>
            <a:ext cx="5583326" cy="59436"/>
          </a:xfrm>
          <a:prstGeom prst="rect">
            <a:avLst/>
          </a:prstGeom>
          <a:solidFill>
            <a:srgbClr val="34A853"/>
          </a:solidFill>
          <a:ln/>
        </p:spPr>
      </p:sp>
      <p:sp>
        <p:nvSpPr>
          <p:cNvPr id="57" name="Shape 55"/>
          <p:cNvSpPr/>
          <p:nvPr/>
        </p:nvSpPr>
        <p:spPr>
          <a:xfrm>
            <a:off x="6342278" y="3904488"/>
            <a:ext cx="365760" cy="256032"/>
          </a:xfrm>
          <a:prstGeom prst="roundRect">
            <a:avLst>
              <a:gd name="adj" fmla="val 21429"/>
            </a:avLst>
          </a:prstGeom>
          <a:solidFill>
            <a:srgbClr val="E6F4EA"/>
          </a:solidFill>
          <a:ln/>
        </p:spPr>
      </p:sp>
      <p:sp>
        <p:nvSpPr>
          <p:cNvPr id="58" name="Text 56"/>
          <p:cNvSpPr/>
          <p:nvPr/>
        </p:nvSpPr>
        <p:spPr>
          <a:xfrm>
            <a:off x="6342278" y="3904488"/>
            <a:ext cx="365760" cy="256032"/>
          </a:xfrm>
          <a:prstGeom prst="rect">
            <a:avLst/>
          </a:prstGeom>
          <a:noFill/>
          <a:ln/>
        </p:spPr>
        <p:txBody>
          <a:bodyPr wrap="square" rtlCol="0" anchor="ctr"/>
          <a:lstStyle/>
          <a:p>
            <a:pPr algn="ctr" indent="0" marL="0">
              <a:buNone/>
            </a:pPr>
            <a:r>
              <a:rPr lang="en-US" sz="920" b="1" dirty="0">
                <a:solidFill>
                  <a:srgbClr val="0D652D"/>
                </a:solidFill>
                <a:latin typeface="Google Sans" pitchFamily="34" charset="0"/>
                <a:ea typeface="Google Sans" pitchFamily="34" charset="-122"/>
                <a:cs typeface="Google Sans" pitchFamily="34" charset="-120"/>
              </a:rPr>
              <a:t>04</a:t>
            </a:r>
            <a:endParaRPr lang="en-US" sz="920" dirty="0"/>
          </a:p>
        </p:txBody>
      </p:sp>
      <p:sp>
        <p:nvSpPr>
          <p:cNvPr id="59" name="Text 57"/>
          <p:cNvSpPr/>
          <p:nvPr/>
        </p:nvSpPr>
        <p:spPr>
          <a:xfrm>
            <a:off x="6781190" y="3886200"/>
            <a:ext cx="4851806" cy="329184"/>
          </a:xfrm>
          <a:prstGeom prst="rect">
            <a:avLst/>
          </a:prstGeom>
          <a:noFill/>
          <a:ln/>
        </p:spPr>
        <p:txBody>
          <a:bodyPr wrap="square" rtlCol="0" anchor="ctr"/>
          <a:lstStyle/>
          <a:p>
            <a:pPr indent="0" marL="0">
              <a:buNone/>
            </a:pPr>
            <a:r>
              <a:rPr lang="en-US" sz="1140" b="1" dirty="0">
                <a:solidFill>
                  <a:srgbClr val="3C4043"/>
                </a:solidFill>
                <a:latin typeface="Google Sans" pitchFamily="34" charset="0"/>
                <a:ea typeface="Google Sans" pitchFamily="34" charset="-122"/>
                <a:cs typeface="Google Sans" pitchFamily="34" charset="-120"/>
              </a:rPr>
              <a:t>Cryptographic Mutual Invisibility &amp; ~42ms 5-Hop Budget</a:t>
            </a:r>
            <a:endParaRPr lang="en-US" sz="1140" dirty="0"/>
          </a:p>
        </p:txBody>
      </p:sp>
      <p:sp>
        <p:nvSpPr>
          <p:cNvPr id="60" name="Shape 58"/>
          <p:cNvSpPr/>
          <p:nvPr/>
        </p:nvSpPr>
        <p:spPr>
          <a:xfrm>
            <a:off x="6342278" y="4270248"/>
            <a:ext cx="5290718" cy="9144"/>
          </a:xfrm>
          <a:prstGeom prst="rect">
            <a:avLst/>
          </a:prstGeom>
          <a:solidFill>
            <a:srgbClr val="DADCE0"/>
          </a:solidFill>
          <a:ln/>
        </p:spPr>
      </p:sp>
      <p:sp>
        <p:nvSpPr>
          <p:cNvPr id="61" name="Text 59"/>
          <p:cNvSpPr/>
          <p:nvPr/>
        </p:nvSpPr>
        <p:spPr>
          <a:xfrm>
            <a:off x="6342278" y="4325112"/>
            <a:ext cx="5290718" cy="850392"/>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Cloud Armor WAF, IAP OBO/DPoP, Valkey token buckets, streaming Model Armor/DLP (~22ms), and AlloyDB FORCE RLS run one 80% reusable ADK codebase—blocking cross-tenant probes (HTTP 403) with 0 cross-tenant rows.</a:t>
            </a:r>
            <a:endParaRPr lang="en-US" sz="980" dirty="0"/>
          </a:p>
        </p:txBody>
      </p:sp>
      <p:sp>
        <p:nvSpPr>
          <p:cNvPr id="62" name="Shape 60"/>
          <p:cNvSpPr/>
          <p:nvPr/>
        </p:nvSpPr>
        <p:spPr>
          <a:xfrm>
            <a:off x="6342278" y="5212080"/>
            <a:ext cx="5290718" cy="493776"/>
          </a:xfrm>
          <a:prstGeom prst="roundRect">
            <a:avLst>
              <a:gd name="adj" fmla="val 11111"/>
            </a:avLst>
          </a:prstGeom>
          <a:solidFill>
            <a:srgbClr val="FFFFFF"/>
          </a:solidFill>
          <a:ln w="9525">
            <a:solidFill>
              <a:srgbClr val="DADCE0"/>
            </a:solidFill>
            <a:prstDash val="solid"/>
          </a:ln>
        </p:spPr>
      </p:sp>
      <p:sp>
        <p:nvSpPr>
          <p:cNvPr id="63" name="Shape 61"/>
          <p:cNvSpPr/>
          <p:nvPr/>
        </p:nvSpPr>
        <p:spPr>
          <a:xfrm>
            <a:off x="6342278" y="5212080"/>
            <a:ext cx="54864" cy="493776"/>
          </a:xfrm>
          <a:prstGeom prst="rect">
            <a:avLst/>
          </a:prstGeom>
          <a:solidFill>
            <a:srgbClr val="34A853"/>
          </a:solidFill>
          <a:ln/>
        </p:spPr>
      </p:sp>
      <p:sp>
        <p:nvSpPr>
          <p:cNvPr id="64" name="Text 62"/>
          <p:cNvSpPr/>
          <p:nvPr/>
        </p:nvSpPr>
        <p:spPr>
          <a:xfrm>
            <a:off x="6433718" y="5239512"/>
            <a:ext cx="5162702"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Cloud Armor • IAP STS (RFC 8693/9449) • Model Armor • Cloud DLP • AlloyDB RLS • BigQuery OTel
</a:t>
            </a:r>
            <a:pPr indent="0" marL="0">
              <a:buNone/>
            </a:pPr>
            <a:r>
              <a:rPr lang="en-US" sz="730" dirty="0">
                <a:solidFill>
                  <a:srgbClr val="5F6368"/>
                </a:solidFill>
                <a:latin typeface="Roboto" pitchFamily="34" charset="0"/>
                <a:ea typeface="Roboto" pitchFamily="34" charset="-122"/>
                <a:cs typeface="Roboto" pitchFamily="34" charset="-120"/>
              </a:rPr>
              <a:t>Target &amp; SLA: 80% Identical Python ADK Codebase • Verified by 107/107 Automated Security &amp; SaaS Assertions</a:t>
            </a:r>
            <a:endParaRPr lang="en-US" sz="750" dirty="0"/>
          </a:p>
        </p:txBody>
      </p:sp>
      <p:sp>
        <p:nvSpPr>
          <p:cNvPr id="65" name="Shape 63"/>
          <p:cNvSpPr/>
          <p:nvPr/>
        </p:nvSpPr>
        <p:spPr>
          <a:xfrm>
            <a:off x="6342278" y="5760720"/>
            <a:ext cx="5290718" cy="219456"/>
          </a:xfrm>
          <a:prstGeom prst="roundRect">
            <a:avLst>
              <a:gd name="adj" fmla="val 20833"/>
            </a:avLst>
          </a:prstGeom>
          <a:solidFill>
            <a:srgbClr val="E6F4EA"/>
          </a:solidFill>
          <a:ln/>
        </p:spPr>
      </p:sp>
      <p:sp>
        <p:nvSpPr>
          <p:cNvPr id="66" name="Text 64"/>
          <p:cNvSpPr/>
          <p:nvPr/>
        </p:nvSpPr>
        <p:spPr>
          <a:xfrm>
            <a:off x="6397142" y="5760720"/>
            <a:ext cx="5180990" cy="219456"/>
          </a:xfrm>
          <a:prstGeom prst="rect">
            <a:avLst/>
          </a:prstGeom>
          <a:noFill/>
          <a:ln/>
        </p:spPr>
        <p:txBody>
          <a:bodyPr wrap="square" rtlCol="0" anchor="ctr"/>
          <a:lstStyle/>
          <a:p>
            <a:pPr indent="0" marL="0">
              <a:buNone/>
            </a:pPr>
            <a:r>
              <a:rPr lang="en-US" sz="750" b="1" dirty="0">
                <a:solidFill>
                  <a:srgbClr val="0D652D"/>
                </a:solidFill>
                <a:latin typeface="Google Sans" pitchFamily="34" charset="0"/>
                <a:ea typeface="Google Sans" pitchFamily="34" charset="-122"/>
                <a:cs typeface="Google Sans" pitchFamily="34" charset="-120"/>
              </a:rPr>
              <a:t>4. Cryptographic Invisibility Across Stack</a:t>
            </a:r>
            <a:endParaRPr lang="en-US" sz="750" dirty="0"/>
          </a:p>
        </p:txBody>
      </p:sp>
      <p:sp>
        <p:nvSpPr>
          <p:cNvPr id="67" name="Shape 65"/>
          <p:cNvSpPr/>
          <p:nvPr/>
        </p:nvSpPr>
        <p:spPr>
          <a:xfrm>
            <a:off x="365760" y="6144768"/>
            <a:ext cx="11460175" cy="384048"/>
          </a:xfrm>
          <a:prstGeom prst="roundRect">
            <a:avLst>
              <a:gd name="adj" fmla="val 19048"/>
            </a:avLst>
          </a:prstGeom>
          <a:solidFill>
            <a:srgbClr val="F8F9FA"/>
          </a:solidFill>
          <a:ln w="10795">
            <a:solidFill>
              <a:srgbClr val="DADCE0"/>
            </a:solidFill>
            <a:prstDash val="solid"/>
          </a:ln>
        </p:spPr>
      </p:sp>
      <p:sp>
        <p:nvSpPr>
          <p:cNvPr id="68" name="Shape 66"/>
          <p:cNvSpPr/>
          <p:nvPr/>
        </p:nvSpPr>
        <p:spPr>
          <a:xfrm>
            <a:off x="475488" y="6208776"/>
            <a:ext cx="1874520" cy="256032"/>
          </a:xfrm>
          <a:prstGeom prst="roundRect">
            <a:avLst>
              <a:gd name="adj" fmla="val 21429"/>
            </a:avLst>
          </a:prstGeom>
          <a:solidFill>
            <a:srgbClr val="4285F4"/>
          </a:solidFill>
          <a:ln/>
        </p:spPr>
      </p:sp>
      <p:sp>
        <p:nvSpPr>
          <p:cNvPr id="69" name="Text 67"/>
          <p:cNvSpPr/>
          <p:nvPr/>
        </p:nvSpPr>
        <p:spPr>
          <a:xfrm>
            <a:off x="475488" y="6208776"/>
            <a:ext cx="1874520" cy="256032"/>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ARCHITECTURAL MANDATE</a:t>
            </a:r>
            <a:endParaRPr lang="en-US" sz="780" dirty="0"/>
          </a:p>
        </p:txBody>
      </p:sp>
      <p:sp>
        <p:nvSpPr>
          <p:cNvPr id="70" name="Text 68"/>
          <p:cNvSpPr/>
          <p:nvPr/>
        </p:nvSpPr>
        <p:spPr>
          <a:xfrm>
            <a:off x="2468880" y="6190488"/>
            <a:ext cx="9219895" cy="292608"/>
          </a:xfrm>
          <a:prstGeom prst="rect">
            <a:avLst/>
          </a:prstGeom>
          <a:noFill/>
          <a:ln/>
        </p:spPr>
        <p:txBody>
          <a:bodyPr wrap="square" rtlCol="0" anchor="ctr"/>
          <a:lstStyle/>
          <a:p>
            <a:pPr indent="0" marL="0">
              <a:buNone/>
            </a:pPr>
            <a:r>
              <a:rPr lang="en-US" sz="880" b="1" dirty="0">
                <a:solidFill>
                  <a:srgbClr val="3C4043"/>
                </a:solidFill>
                <a:latin typeface="Roboto" pitchFamily="34" charset="0"/>
                <a:ea typeface="Roboto" pitchFamily="34" charset="-122"/>
                <a:cs typeface="Roboto" pitchFamily="34" charset="-120"/>
              </a:rPr>
              <a:t>Workstream 1 • Reference Architecture &amp; Cloud Architecture Center Doc PR  •  Customer Use Cases, Competing Tenant Profiles &amp; Google Cloud Stack</a:t>
            </a:r>
            <a:endParaRPr lang="en-US" sz="880" dirty="0"/>
          </a:p>
        </p:txBody>
      </p:sp>
      <p:sp>
        <p:nvSpPr>
          <p:cNvPr id="71" name="Text 69"/>
          <p:cNvSpPr/>
          <p:nvPr/>
        </p:nvSpPr>
        <p:spPr>
          <a:xfrm>
            <a:off x="365760" y="6601968"/>
            <a:ext cx="11460175" cy="201168"/>
          </a:xfrm>
          <a:prstGeom prst="rect">
            <a:avLst/>
          </a:prstGeom>
          <a:noFill/>
          <a:ln/>
        </p:spPr>
        <p:txBody>
          <a:bodyPr wrap="non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Multi-Tenant Agentic AI on Google Cloud • Vertex AI Agent Engine, Gemini Enterprise &amp; ADK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WS1</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ACT I • ARCHITECTURAL OPTIONS &amp; PATTERN A / B / C DECISION MATRIX</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COMPARISON-GRID • MATRIX</a:t>
            </a:r>
            <a:endParaRPr lang="en-US" sz="750" dirty="0"/>
          </a:p>
        </p:txBody>
      </p:sp>
      <p:sp>
        <p:nvSpPr>
          <p:cNvPr id="17" name="Text 15"/>
          <p:cNvSpPr/>
          <p:nvPr/>
        </p:nvSpPr>
        <p:spPr>
          <a:xfrm>
            <a:off x="411480" y="640080"/>
            <a:ext cx="11368735" cy="347472"/>
          </a:xfrm>
          <a:prstGeom prst="rect">
            <a:avLst/>
          </a:prstGeom>
          <a:noFill/>
          <a:ln/>
        </p:spPr>
        <p:txBody>
          <a:bodyPr wrap="square" rtlCol="0" anchor="ctr"/>
          <a:lstStyle/>
          <a:p>
            <a:pPr indent="0" marL="0">
              <a:buNone/>
            </a:pPr>
            <a:r>
              <a:rPr lang="en-US" sz="1800" b="1" dirty="0">
                <a:solidFill>
                  <a:srgbClr val="3C4043"/>
                </a:solidFill>
                <a:latin typeface="Google Sans" pitchFamily="34" charset="0"/>
                <a:ea typeface="Google Sans" pitchFamily="34" charset="-122"/>
                <a:cs typeface="Google Sans" pitchFamily="34" charset="-120"/>
              </a:rPr>
              <a:t>Comparison of Multi-Tenant Isolation Patterns (A, B &amp; C)</a:t>
            </a:r>
            <a:endParaRPr lang="en-US" sz="1800" dirty="0"/>
          </a:p>
        </p:txBody>
      </p:sp>
      <p:sp>
        <p:nvSpPr>
          <p:cNvPr id="18" name="Text 16"/>
          <p:cNvSpPr/>
          <p:nvPr/>
        </p:nvSpPr>
        <p:spPr>
          <a:xfrm>
            <a:off x="411480" y="987552"/>
            <a:ext cx="11368735" cy="219456"/>
          </a:xfrm>
          <a:prstGeom prst="rect">
            <a:avLst/>
          </a:prstGeom>
          <a:noFill/>
          <a:ln/>
        </p:spPr>
        <p:txBody>
          <a:bodyPr wrap="square" rtlCol="0" anchor="ctr"/>
          <a:lstStyle/>
          <a:p>
            <a:pPr indent="0" marL="0">
              <a:buNone/>
            </a:pPr>
            <a:r>
              <a:rPr lang="en-US" sz="980" dirty="0">
                <a:solidFill>
                  <a:srgbClr val="5F6368"/>
                </a:solidFill>
                <a:latin typeface="Roboto" pitchFamily="34" charset="0"/>
                <a:ea typeface="Roboto" pitchFamily="34" charset="-122"/>
                <a:cs typeface="Roboto" pitchFamily="34" charset="-120"/>
              </a:rPr>
              <a:t>Side-by-side Google Cloud Well-Architected trade-off analysis, isolation boundaries, and unit economics.</a:t>
            </a:r>
            <a:endParaRPr lang="en-US" sz="98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1243584"/>
          <a:ext cx="11368735" cy="3493008"/>
        </p:xfrm>
        <a:graphic>
          <a:graphicData uri="http://schemas.openxmlformats.org/drawingml/2006/table">
            <a:tbl>
              <a:tblPr/>
              <a:tblGrid>
                <a:gridCol w="2057400"/>
                <a:gridCol w="3063240"/>
                <a:gridCol w="3154680"/>
                <a:gridCol w="3184855"/>
              </a:tblGrid>
              <a:tr h="365760">
                <a:tc>
                  <a:txBody>
                    <a:bodyPr/>
                    <a:lstStyle/>
                    <a:p>
                      <a:pPr indent="0" marL="0">
                        <a:buNone/>
                      </a:pPr>
                      <a:r>
                        <a:rPr lang="en-US" sz="900" b="1" dirty="0">
                          <a:solidFill>
                            <a:srgbClr val="FFFFFF"/>
                          </a:solidFill>
                          <a:latin typeface="Google Sans" pitchFamily="34" charset="0"/>
                          <a:ea typeface="Google Sans" pitchFamily="34" charset="-122"/>
                          <a:cs typeface="Google Sans" pitchFamily="34" charset="-120"/>
                        </a:rPr>
                        <a:t>Architectural Dimension</a:t>
                      </a:r>
                      <a:endParaRPr lang="en-US" sz="90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00" b="1" dirty="0">
                          <a:solidFill>
                            <a:srgbClr val="FFFFFF"/>
                          </a:solidFill>
                          <a:latin typeface="Google Sans" pitchFamily="34" charset="0"/>
                          <a:ea typeface="Google Sans" pitchFamily="34" charset="-122"/>
                          <a:cs typeface="Google Sans" pitchFamily="34" charset="-120"/>
                        </a:rPr>
                        <a:t>Pattern A: High-Density Pooled (WS2)</a:t>
                      </a:r>
                      <a:endParaRPr lang="en-US" sz="90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00" b="1" dirty="0">
                          <a:solidFill>
                            <a:srgbClr val="FFFFFF"/>
                          </a:solidFill>
                          <a:latin typeface="Google Sans" pitchFamily="34" charset="0"/>
                          <a:ea typeface="Google Sans" pitchFamily="34" charset="-122"/>
                          <a:cs typeface="Google Sans" pitchFamily="34" charset="-120"/>
                        </a:rPr>
                        <a:t>Pattern B: Sovereign Silos (WS3)</a:t>
                      </a:r>
                      <a:endParaRPr lang="en-US" sz="90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00" b="1" dirty="0">
                          <a:solidFill>
                            <a:srgbClr val="FFFFFF"/>
                          </a:solidFill>
                          <a:latin typeface="Google Sans" pitchFamily="34" charset="0"/>
                          <a:ea typeface="Google Sans" pitchFamily="34" charset="-122"/>
                          <a:cs typeface="Google Sans" pitchFamily="34" charset="-120"/>
                        </a:rPr>
                        <a:t>Pattern C: Dynamic Hybrid PSC (WS4)</a:t>
                      </a:r>
                      <a:endParaRPr lang="en-US" sz="90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r>
              <a:tr h="447142">
                <a:tc>
                  <a:txBody>
                    <a:bodyPr/>
                    <a:lstStyle/>
                    <a:p>
                      <a:pPr indent="0" marL="0">
                        <a:buNone/>
                      </a:pPr>
                      <a:r>
                        <a:rPr lang="en-US" sz="840" b="1" dirty="0">
                          <a:solidFill>
                            <a:srgbClr val="3C4043"/>
                          </a:solidFill>
                          <a:latin typeface="Google Sans" pitchFamily="34" charset="0"/>
                          <a:ea typeface="Google Sans" pitchFamily="34" charset="-122"/>
                          <a:cs typeface="Google Sans" pitchFamily="34" charset="-120"/>
                        </a:rPr>
                        <a:t>Control plane &amp; SRE fleet scale</a:t>
                      </a:r>
                      <a:endParaRPr lang="en-US" sz="840" dirty="0">
                        <a:latin typeface="Google Sans" charset="0"/>
                        <a:ea typeface="Google Sans" charset="0"/>
                        <a:cs typeface="Google Sans"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Single shared GCP project (cymbal-control-plane); 1 Terraform state with zero fleet sprawl</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Dedicated GCP project per tenant (cymbal-{tenant}-silo-prod); 500 tenants = 500 VPC-SC/KMS/DB states</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Central Hub + Shared Pool (950 Std) + Dedicated PSC Spokes (50 Ent); avoids 500-silo IaC drift</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447142">
                <a:tc>
                  <a:txBody>
                    <a:bodyPr/>
                    <a:lstStyle/>
                    <a:p>
                      <a:pPr indent="0" marL="0">
                        <a:buNone/>
                      </a:pPr>
                      <a:r>
                        <a:rPr lang="en-US" sz="840" b="1" dirty="0">
                          <a:solidFill>
                            <a:srgbClr val="3C4043"/>
                          </a:solidFill>
                          <a:latin typeface="Google Sans" pitchFamily="34" charset="0"/>
                          <a:ea typeface="Google Sans" pitchFamily="34" charset="-122"/>
                          <a:cs typeface="Google Sans" pitchFamily="34" charset="-120"/>
                        </a:rPr>
                        <a:t>Compute &amp; gVisor sandbox</a:t>
                      </a:r>
                      <a:endParaRPr lang="en-US" sz="840" dirty="0">
                        <a:latin typeface="Google Sans" charset="0"/>
                        <a:ea typeface="Google Sans" charset="0"/>
                        <a:cs typeface="Google Sans"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Shared Cloud Run v2 &amp; Agent Engine gVisor (runsc) worker pool with temp:tenant_id</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Dedicated Agent Engine or self-managed air-gapped GKE GPU cluster (Gemma 3 27B)</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JWT-driven Firestore router dispatches Standard -&gt; Pool, Enterprise -&gt; unidirectional PSC Spoke</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447142">
                <a:tc>
                  <a:txBody>
                    <a:bodyPr/>
                    <a:lstStyle/>
                    <a:p>
                      <a:pPr indent="0" marL="0">
                        <a:buNone/>
                      </a:pPr>
                      <a:r>
                        <a:rPr lang="en-US" sz="840" b="1" dirty="0">
                          <a:solidFill>
                            <a:srgbClr val="3C4043"/>
                          </a:solidFill>
                          <a:latin typeface="Google Sans" pitchFamily="34" charset="0"/>
                          <a:ea typeface="Google Sans" pitchFamily="34" charset="-122"/>
                          <a:cs typeface="Google Sans" pitchFamily="34" charset="-120"/>
                        </a:rPr>
                        <a:t>Network &amp; perimeter isolation</a:t>
                      </a:r>
                      <a:endParaRPr lang="en-US" sz="840" dirty="0">
                        <a:latin typeface="Google Sans" charset="0"/>
                        <a:ea typeface="Google Sans" charset="0"/>
                        <a:cs typeface="Google Sans"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Shared VPC protected by Cloud Armor L7 WAF header stripping</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Per-tenant VPC Service Controls (VPC-SC) perimeter + BeyondCorp mTLS pinning</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Unidirectional Private Service Connect (PSC) endpoints (10.10.0.50 -&gt; /28 NAT subnet)</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447142">
                <a:tc>
                  <a:txBody>
                    <a:bodyPr/>
                    <a:lstStyle/>
                    <a:p>
                      <a:pPr indent="0" marL="0">
                        <a:buNone/>
                      </a:pPr>
                      <a:r>
                        <a:rPr lang="en-US" sz="840" b="1" dirty="0">
                          <a:solidFill>
                            <a:srgbClr val="3C4043"/>
                          </a:solidFill>
                          <a:latin typeface="Google Sans" pitchFamily="34" charset="0"/>
                          <a:ea typeface="Google Sans" pitchFamily="34" charset="-122"/>
                          <a:cs typeface="Google Sans" pitchFamily="34" charset="-120"/>
                        </a:rPr>
                        <a:t>Identity &amp; confused-deputy guard</a:t>
                      </a:r>
                      <a:endParaRPr lang="en-US" sz="840" dirty="0">
                        <a:latin typeface="Google Sans" charset="0"/>
                        <a:ea typeface="Google Sans" charset="0"/>
                        <a:cs typeface="Google Sans"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IAP OIDC + IAM STS RFC 8693 OBO &amp; RFC 9449 DPoP (&lt;0.15ms cached JWKS verify)</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IAM Principal Access Boundaries (PAB) + dedicated per-silo service accounts</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Unified Hub OIDC + tier-scoped OBO/DPoP JWT forwarding &amp; Valkey JTI revocation list</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447142">
                <a:tc>
                  <a:txBody>
                    <a:bodyPr/>
                    <a:lstStyle/>
                    <a:p>
                      <a:pPr indent="0" marL="0">
                        <a:buNone/>
                      </a:pPr>
                      <a:r>
                        <a:rPr lang="en-US" sz="840" b="1" dirty="0">
                          <a:solidFill>
                            <a:srgbClr val="3C4043"/>
                          </a:solidFill>
                          <a:latin typeface="Google Sans" pitchFamily="34" charset="0"/>
                          <a:ea typeface="Google Sans" pitchFamily="34" charset="-122"/>
                          <a:cs typeface="Google Sans" pitchFamily="34" charset="-120"/>
                        </a:rPr>
                        <a:t>Data, memory &amp; CMEK L1 eviction</a:t>
                      </a:r>
                      <a:endParaRPr lang="en-US" sz="840" dirty="0">
                        <a:latin typeface="Google Sans" charset="0"/>
                        <a:ea typeface="Google Sans" charset="0"/>
                        <a:cs typeface="Google Sans"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Shared AlloyDB FORCE ROW LEVEL SECURITY + {tenant}:{user}:{session} L1–L5 Memory</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Dedicated AlloyDB &amp; CMEK (&lt;60s KMS SLA + &lt;5s Valkey SCAN+UNLINK L1 cache purge -&gt; 423)</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Pooled RLS for Standard; CMEK spoke vault + 3-phase zero-downtime live tier migration</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447142">
                <a:tc>
                  <a:txBody>
                    <a:bodyPr/>
                    <a:lstStyle/>
                    <a:p>
                      <a:pPr indent="0" marL="0">
                        <a:buNone/>
                      </a:pPr>
                      <a:r>
                        <a:rPr lang="en-US" sz="840" b="1" dirty="0">
                          <a:solidFill>
                            <a:srgbClr val="3C4043"/>
                          </a:solidFill>
                          <a:latin typeface="Google Sans" pitchFamily="34" charset="0"/>
                          <a:ea typeface="Google Sans" pitchFamily="34" charset="-122"/>
                          <a:cs typeface="Google Sans" pitchFamily="34" charset="-120"/>
                        </a:rPr>
                        <a:t>Model hosting &amp; FinOps COGS</a:t>
                      </a:r>
                      <a:endParaRPr lang="en-US" sz="840" dirty="0">
                        <a:latin typeface="Google Sans" charset="0"/>
                        <a:ea typeface="Google Sans" charset="0"/>
                        <a:cs typeface="Google Sans"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Shared 32k prefix cache (90% discount -&gt; 84.7% net per-turn token savings)</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Managed Vertex AI Dedicated PT (0 K8s ops) or self-hosted GKE GPU node pool</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Blended portfolio (74% lower total cloud spend across 950 Std + 50 Ent tenants)</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447142">
                <a:tc>
                  <a:txBody>
                    <a:bodyPr/>
                    <a:lstStyle/>
                    <a:p>
                      <a:pPr indent="0" marL="0">
                        <a:buNone/>
                      </a:pPr>
                      <a:r>
                        <a:rPr lang="en-US" sz="840" b="1" dirty="0">
                          <a:solidFill>
                            <a:srgbClr val="3C4043"/>
                          </a:solidFill>
                          <a:latin typeface="Google Sans" pitchFamily="34" charset="0"/>
                          <a:ea typeface="Google Sans" pitchFamily="34" charset="-122"/>
                          <a:cs typeface="Google Sans" pitchFamily="34" charset="-120"/>
                        </a:rPr>
                        <a:t>Target tier &amp; verification suite</a:t>
                      </a:r>
                      <a:endParaRPr lang="en-US" sz="840" dirty="0">
                        <a:latin typeface="Google Sans" charset="0"/>
                        <a:ea typeface="Google Sans" charset="0"/>
                        <a:cs typeface="Google Sans"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120 RPM Pool • High-volume commercial B2B SaaS (10/10 red-team breach tests PASS)</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600 RPM Silo • Regulated Banking, Healthcare &amp; Public Sector (6/6 silo tests PASS)</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20" b="1" dirty="0">
                          <a:solidFill>
                            <a:srgbClr val="0D652D"/>
                          </a:solidFill>
                          <a:latin typeface="Roboto" pitchFamily="34" charset="0"/>
                          <a:ea typeface="Roboto" pitchFamily="34" charset="-122"/>
                          <a:cs typeface="Roboto" pitchFamily="34" charset="-120"/>
                        </a:rPr>
                        <a:t>120 RPM Pool (Std) / 600 RPM Spoke (Ent) • Live tier graduation (4/4 migration PASS)</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bl>
          </a:graphicData>
        </a:graphic>
      </p:graphicFrame>
      <p:sp>
        <p:nvSpPr>
          <p:cNvPr id="20" name="Shape 17"/>
          <p:cNvSpPr/>
          <p:nvPr/>
        </p:nvSpPr>
        <p:spPr>
          <a:xfrm>
            <a:off x="411480" y="4864608"/>
            <a:ext cx="2718511" cy="1188720"/>
          </a:xfrm>
          <a:prstGeom prst="roundRect">
            <a:avLst>
              <a:gd name="adj" fmla="val 6154"/>
            </a:avLst>
          </a:prstGeom>
          <a:solidFill>
            <a:srgbClr val="F8F9FA"/>
          </a:solidFill>
          <a:ln w="12700">
            <a:solidFill>
              <a:srgbClr val="DADCE0"/>
            </a:solidFill>
            <a:prstDash val="solid"/>
          </a:ln>
        </p:spPr>
      </p:sp>
      <p:sp>
        <p:nvSpPr>
          <p:cNvPr id="21" name="Shape 18"/>
          <p:cNvSpPr/>
          <p:nvPr/>
        </p:nvSpPr>
        <p:spPr>
          <a:xfrm>
            <a:off x="411480" y="4864608"/>
            <a:ext cx="2718511" cy="50292"/>
          </a:xfrm>
          <a:prstGeom prst="rect">
            <a:avLst/>
          </a:prstGeom>
          <a:solidFill>
            <a:srgbClr val="4285F4"/>
          </a:solidFill>
          <a:ln/>
        </p:spPr>
      </p:sp>
      <p:sp>
        <p:nvSpPr>
          <p:cNvPr id="22" name="Text 19"/>
          <p:cNvSpPr/>
          <p:nvPr/>
        </p:nvSpPr>
        <p:spPr>
          <a:xfrm>
            <a:off x="521208" y="4937760"/>
            <a:ext cx="2499055" cy="256032"/>
          </a:xfrm>
          <a:prstGeom prst="rect">
            <a:avLst/>
          </a:prstGeom>
          <a:noFill/>
          <a:ln/>
        </p:spPr>
        <p:txBody>
          <a:bodyPr wrap="square" rtlCol="0" anchor="ctr">
            <a:normAutofit/>
          </a:bodyPr>
          <a:lstStyle/>
          <a:p>
            <a:pPr indent="0" marL="0">
              <a:buNone/>
            </a:pPr>
            <a:r>
              <a:rPr lang="en-US" sz="820" b="1" dirty="0">
                <a:solidFill>
                  <a:srgbClr val="3C4043"/>
                </a:solidFill>
                <a:latin typeface="Google Sans" pitchFamily="34" charset="0"/>
                <a:ea typeface="Google Sans" pitchFamily="34" charset="-122"/>
                <a:cs typeface="Google Sans" pitchFamily="34" charset="-120"/>
              </a:rPr>
              <a:t>1. When to Choose Pattern A (Pooled)</a:t>
            </a:r>
            <a:endParaRPr lang="en-US" sz="820" dirty="0"/>
          </a:p>
        </p:txBody>
      </p:sp>
      <p:sp>
        <p:nvSpPr>
          <p:cNvPr id="23" name="Text 20"/>
          <p:cNvSpPr/>
          <p:nvPr/>
        </p:nvSpPr>
        <p:spPr>
          <a:xfrm>
            <a:off x="521208"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High-density commercial B2B SaaS tiers requiring 90% shared 32k prefix cache savings, zero IaC sprawl (1 project), and AlloyDB FORCE RLS.</a:t>
            </a:r>
            <a:endParaRPr lang="en-US" sz="740" dirty="0"/>
          </a:p>
        </p:txBody>
      </p:sp>
      <p:sp>
        <p:nvSpPr>
          <p:cNvPr id="24" name="Shape 21"/>
          <p:cNvSpPr/>
          <p:nvPr/>
        </p:nvSpPr>
        <p:spPr>
          <a:xfrm>
            <a:off x="3294583" y="4864608"/>
            <a:ext cx="2718511" cy="1188720"/>
          </a:xfrm>
          <a:prstGeom prst="roundRect">
            <a:avLst>
              <a:gd name="adj" fmla="val 6154"/>
            </a:avLst>
          </a:prstGeom>
          <a:solidFill>
            <a:srgbClr val="F8F9FA"/>
          </a:solidFill>
          <a:ln w="12700">
            <a:solidFill>
              <a:srgbClr val="DADCE0"/>
            </a:solidFill>
            <a:prstDash val="solid"/>
          </a:ln>
        </p:spPr>
      </p:sp>
      <p:sp>
        <p:nvSpPr>
          <p:cNvPr id="25" name="Shape 22"/>
          <p:cNvSpPr/>
          <p:nvPr/>
        </p:nvSpPr>
        <p:spPr>
          <a:xfrm>
            <a:off x="3294583" y="4864608"/>
            <a:ext cx="2718511" cy="50292"/>
          </a:xfrm>
          <a:prstGeom prst="rect">
            <a:avLst/>
          </a:prstGeom>
          <a:solidFill>
            <a:srgbClr val="EA4335"/>
          </a:solidFill>
          <a:ln/>
        </p:spPr>
      </p:sp>
      <p:sp>
        <p:nvSpPr>
          <p:cNvPr id="26" name="Text 23"/>
          <p:cNvSpPr/>
          <p:nvPr/>
        </p:nvSpPr>
        <p:spPr>
          <a:xfrm>
            <a:off x="3404311"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2. Pattern B Silos &amp; SRE Fleet Scale Trade-Off</a:t>
            </a:r>
            <a:endParaRPr lang="en-US" sz="760" dirty="0"/>
          </a:p>
        </p:txBody>
      </p:sp>
      <p:sp>
        <p:nvSpPr>
          <p:cNvPr id="27" name="Text 24"/>
          <p:cNvSpPr/>
          <p:nvPr/>
        </p:nvSpPr>
        <p:spPr>
          <a:xfrm>
            <a:off x="3404311"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Mandated for OCC/HIPAA/DORA 1:1 project + VPC-SC + CMEK silos, but 500 silos = 500 VPC-SC/KMS/DB states—reserve for premium regulated contracts.</a:t>
            </a:r>
            <a:endParaRPr lang="en-US" sz="740" dirty="0"/>
          </a:p>
        </p:txBody>
      </p:sp>
      <p:sp>
        <p:nvSpPr>
          <p:cNvPr id="28" name="Shape 25"/>
          <p:cNvSpPr/>
          <p:nvPr/>
        </p:nvSpPr>
        <p:spPr>
          <a:xfrm>
            <a:off x="6177686" y="4864608"/>
            <a:ext cx="2718511" cy="1188720"/>
          </a:xfrm>
          <a:prstGeom prst="roundRect">
            <a:avLst>
              <a:gd name="adj" fmla="val 6154"/>
            </a:avLst>
          </a:prstGeom>
          <a:solidFill>
            <a:srgbClr val="F8F9FA"/>
          </a:solidFill>
          <a:ln w="12700">
            <a:solidFill>
              <a:srgbClr val="DADCE0"/>
            </a:solidFill>
            <a:prstDash val="solid"/>
          </a:ln>
        </p:spPr>
      </p:sp>
      <p:sp>
        <p:nvSpPr>
          <p:cNvPr id="29" name="Shape 26"/>
          <p:cNvSpPr/>
          <p:nvPr/>
        </p:nvSpPr>
        <p:spPr>
          <a:xfrm>
            <a:off x="6177686" y="4864608"/>
            <a:ext cx="2718511" cy="50292"/>
          </a:xfrm>
          <a:prstGeom prst="rect">
            <a:avLst/>
          </a:prstGeom>
          <a:solidFill>
            <a:srgbClr val="FBBC04"/>
          </a:solidFill>
          <a:ln/>
        </p:spPr>
      </p:sp>
      <p:sp>
        <p:nvSpPr>
          <p:cNvPr id="30" name="Text 27"/>
          <p:cNvSpPr/>
          <p:nvPr/>
        </p:nvSpPr>
        <p:spPr>
          <a:xfrm>
            <a:off x="6287414"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3. CMEK Propagation (~60s) vs. &lt;5s L1 Eviction</a:t>
            </a:r>
            <a:endParaRPr lang="en-US" sz="760" dirty="0"/>
          </a:p>
        </p:txBody>
      </p:sp>
      <p:sp>
        <p:nvSpPr>
          <p:cNvPr id="31" name="Text 28"/>
          <p:cNvSpPr/>
          <p:nvPr/>
        </p:nvSpPr>
        <p:spPr>
          <a:xfrm>
            <a:off x="6287414"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While GCP KMS key disable takes up to 60s to propagate across storage, Hop 3 runs targeted Valkey SCAN+UNLINK (cache:{tenant}:*) in &lt;5s for HTTP 423.</a:t>
            </a:r>
            <a:endParaRPr lang="en-US" sz="740" dirty="0"/>
          </a:p>
        </p:txBody>
      </p:sp>
      <p:sp>
        <p:nvSpPr>
          <p:cNvPr id="32" name="Shape 29"/>
          <p:cNvSpPr/>
          <p:nvPr/>
        </p:nvSpPr>
        <p:spPr>
          <a:xfrm>
            <a:off x="9060790" y="4864608"/>
            <a:ext cx="2718511" cy="1188720"/>
          </a:xfrm>
          <a:prstGeom prst="roundRect">
            <a:avLst>
              <a:gd name="adj" fmla="val 6154"/>
            </a:avLst>
          </a:prstGeom>
          <a:solidFill>
            <a:srgbClr val="F8F9FA"/>
          </a:solidFill>
          <a:ln w="12700">
            <a:solidFill>
              <a:srgbClr val="DADCE0"/>
            </a:solidFill>
            <a:prstDash val="solid"/>
          </a:ln>
        </p:spPr>
      </p:sp>
      <p:sp>
        <p:nvSpPr>
          <p:cNvPr id="33" name="Shape 30"/>
          <p:cNvSpPr/>
          <p:nvPr/>
        </p:nvSpPr>
        <p:spPr>
          <a:xfrm>
            <a:off x="9060790" y="4864608"/>
            <a:ext cx="2718511" cy="50292"/>
          </a:xfrm>
          <a:prstGeom prst="rect">
            <a:avLst/>
          </a:prstGeom>
          <a:solidFill>
            <a:srgbClr val="34A853"/>
          </a:solidFill>
          <a:ln/>
        </p:spPr>
      </p:sp>
      <p:sp>
        <p:nvSpPr>
          <p:cNvPr id="34" name="Text 31"/>
          <p:cNvSpPr/>
          <p:nvPr/>
        </p:nvSpPr>
        <p:spPr>
          <a:xfrm>
            <a:off x="9170518"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4. Pattern C Hybrid &amp; 80/20 Codebase Reuse</a:t>
            </a:r>
            <a:endParaRPr lang="en-US" sz="760" dirty="0"/>
          </a:p>
        </p:txBody>
      </p:sp>
      <p:sp>
        <p:nvSpPr>
          <p:cNvPr id="35" name="Text 32"/>
          <p:cNvSpPr/>
          <p:nvPr/>
        </p:nvSpPr>
        <p:spPr>
          <a:xfrm>
            <a:off x="9170518"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Co-hosts 950 Pool + 50 PSC Spokes (74% TCO savings, 0ms cutover) using 80% identical ADK Python code (runtime_pipeline.py) across Terraform 2.6/3.6/4.6.</a:t>
            </a:r>
            <a:endParaRPr lang="en-US" sz="740" dirty="0"/>
          </a:p>
        </p:txBody>
      </p:sp>
      <p:sp>
        <p:nvSpPr>
          <p:cNvPr id="36" name="Shape 33"/>
          <p:cNvSpPr/>
          <p:nvPr/>
        </p:nvSpPr>
        <p:spPr>
          <a:xfrm>
            <a:off x="365760" y="6144768"/>
            <a:ext cx="11460175" cy="384048"/>
          </a:xfrm>
          <a:prstGeom prst="roundRect">
            <a:avLst>
              <a:gd name="adj" fmla="val 19048"/>
            </a:avLst>
          </a:prstGeom>
          <a:solidFill>
            <a:srgbClr val="F8F9FA"/>
          </a:solidFill>
          <a:ln w="10795">
            <a:solidFill>
              <a:srgbClr val="DADCE0"/>
            </a:solidFill>
            <a:prstDash val="solid"/>
          </a:ln>
        </p:spPr>
      </p:sp>
      <p:sp>
        <p:nvSpPr>
          <p:cNvPr id="37" name="Shape 34"/>
          <p:cNvSpPr/>
          <p:nvPr/>
        </p:nvSpPr>
        <p:spPr>
          <a:xfrm>
            <a:off x="475488" y="6208776"/>
            <a:ext cx="1874520" cy="256032"/>
          </a:xfrm>
          <a:prstGeom prst="roundRect">
            <a:avLst>
              <a:gd name="adj" fmla="val 21429"/>
            </a:avLst>
          </a:prstGeom>
          <a:solidFill>
            <a:srgbClr val="4285F4"/>
          </a:solidFill>
          <a:ln/>
        </p:spPr>
      </p:sp>
      <p:sp>
        <p:nvSpPr>
          <p:cNvPr id="38" name="Text 35"/>
          <p:cNvSpPr/>
          <p:nvPr/>
        </p:nvSpPr>
        <p:spPr>
          <a:xfrm>
            <a:off x="475488" y="6208776"/>
            <a:ext cx="1874520" cy="256032"/>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ARCHITECTURAL DECISION</a:t>
            </a:r>
            <a:endParaRPr lang="en-US" sz="780" dirty="0"/>
          </a:p>
        </p:txBody>
      </p:sp>
      <p:sp>
        <p:nvSpPr>
          <p:cNvPr id="39" name="Text 36"/>
          <p:cNvSpPr/>
          <p:nvPr/>
        </p:nvSpPr>
        <p:spPr>
          <a:xfrm>
            <a:off x="2468880" y="6190488"/>
            <a:ext cx="9219895" cy="292608"/>
          </a:xfrm>
          <a:prstGeom prst="rect">
            <a:avLst/>
          </a:prstGeom>
          <a:noFill/>
          <a:ln/>
        </p:spPr>
        <p:txBody>
          <a:bodyPr wrap="square" rtlCol="0" anchor="ctr"/>
          <a:lstStyle/>
          <a:p>
            <a:pPr indent="0" marL="0">
              <a:buNone/>
            </a:pPr>
            <a:r>
              <a:rPr lang="en-US" sz="880" b="1" dirty="0">
                <a:solidFill>
                  <a:srgbClr val="3C4043"/>
                </a:solidFill>
                <a:latin typeface="Roboto" pitchFamily="34" charset="0"/>
                <a:ea typeface="Roboto" pitchFamily="34" charset="-122"/>
                <a:cs typeface="Roboto" pitchFamily="34" charset="-120"/>
              </a:rPr>
              <a:t>Workstream 1 • Reference Architecture &amp; Cloud Architecture Center Doc PR  •  Side-by-Side Architectural Options, Selection Rules &amp; Google Cloud Stack</a:t>
            </a:r>
            <a:endParaRPr lang="en-US" sz="880" dirty="0"/>
          </a:p>
        </p:txBody>
      </p:sp>
      <p:sp>
        <p:nvSpPr>
          <p:cNvPr id="40" name="Text 37"/>
          <p:cNvSpPr/>
          <p:nvPr/>
        </p:nvSpPr>
        <p:spPr>
          <a:xfrm>
            <a:off x="365760" y="6601968"/>
            <a:ext cx="11460175" cy="201168"/>
          </a:xfrm>
          <a:prstGeom prst="rect">
            <a:avLst/>
          </a:prstGeom>
          <a:noFill/>
          <a:ln/>
        </p:spPr>
        <p:txBody>
          <a:bodyPr wrap="non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Multi-Tenant Agentic AI on Google Cloud • Vertex AI Agent Engine, Gemini Enterprise &amp; ADK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WS1</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WS1 • ACT II (L1 LOGICAL): Reference Taxonomy — 3 Logical Security Layers &amp; Signed STS JWT</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ARCHITECTURE-ZONE-TOPOLOGY</a:t>
            </a:r>
            <a:endParaRPr lang="en-US" sz="750" dirty="0"/>
          </a:p>
        </p:txBody>
      </p:sp>
      <p:sp>
        <p:nvSpPr>
          <p:cNvPr id="17" name="Text 15"/>
          <p:cNvSpPr/>
          <p:nvPr/>
        </p:nvSpPr>
        <p:spPr>
          <a:xfrm>
            <a:off x="384048" y="585216"/>
            <a:ext cx="11411712" cy="274320"/>
          </a:xfrm>
          <a:prstGeom prst="rect">
            <a:avLst/>
          </a:prstGeom>
          <a:noFill/>
          <a:ln/>
        </p:spPr>
        <p:txBody>
          <a:bodyPr wrap="square" rtlCol="0" anchor="ctr"/>
          <a:lstStyle/>
          <a:p>
            <a:pPr indent="0" marL="0">
              <a:buNone/>
            </a:pPr>
            <a:r>
              <a:rPr lang="en-US" sz="1020" b="1" dirty="0">
                <a:solidFill>
                  <a:srgbClr val="5F6368"/>
                </a:solidFill>
                <a:latin typeface="Roboto" pitchFamily="34" charset="0"/>
                <a:ea typeface="Roboto" pitchFamily="34" charset="-122"/>
                <a:cs typeface="Roboto" pitchFamily="34" charset="-120"/>
              </a:rPr>
              <a:t>End-to-end 3-layer logical security taxonomy: Layer 1 (Tenant Identity &amp; Ingress) → Layer 2 (Vertex AI Agent Engine &amp; ~3ms Valkey JTI Deny-List) → Layer 3 (Isolation Data Planes)</a:t>
            </a:r>
            <a:endParaRPr lang="en-US" sz="1020" dirty="0"/>
          </a:p>
        </p:txBody>
      </p:sp>
      <p:sp>
        <p:nvSpPr>
          <p:cNvPr id="18" name="Shape 16"/>
          <p:cNvSpPr/>
          <p:nvPr/>
        </p:nvSpPr>
        <p:spPr>
          <a:xfrm>
            <a:off x="384048" y="896112"/>
            <a:ext cx="3255264" cy="5266944"/>
          </a:xfrm>
          <a:prstGeom prst="roundRect">
            <a:avLst>
              <a:gd name="adj" fmla="val 1124"/>
            </a:avLst>
          </a:prstGeom>
          <a:solidFill>
            <a:srgbClr val="F8F9FA"/>
          </a:solidFill>
          <a:ln w="22225">
            <a:solidFill>
              <a:srgbClr val="0F2942"/>
            </a:solidFill>
            <a:prstDash val="solid"/>
          </a:ln>
        </p:spPr>
      </p:sp>
      <p:sp>
        <p:nvSpPr>
          <p:cNvPr id="19" name="Text 17"/>
          <p:cNvSpPr/>
          <p:nvPr/>
        </p:nvSpPr>
        <p:spPr>
          <a:xfrm>
            <a:off x="475488" y="1005840"/>
            <a:ext cx="3072384" cy="475488"/>
          </a:xfrm>
          <a:prstGeom prst="rect">
            <a:avLst/>
          </a:prstGeom>
          <a:noFill/>
          <a:ln/>
        </p:spPr>
        <p:txBody>
          <a:bodyPr wrap="square" rtlCol="0" anchor="ctr"/>
          <a:lstStyle/>
          <a:p>
            <a:pPr algn="ctr" indent="0" marL="0">
              <a:buNone/>
            </a:pPr>
            <a:r>
              <a:rPr lang="en-US" sz="1120" b="1" dirty="0">
                <a:solidFill>
                  <a:srgbClr val="0F2942"/>
                </a:solidFill>
                <a:latin typeface="Google Sans" pitchFamily="34" charset="0"/>
                <a:ea typeface="Google Sans" pitchFamily="34" charset="-122"/>
                <a:cs typeface="Google Sans" pitchFamily="34" charset="-120"/>
              </a:rPr>
              <a:t>LAYER 1: TENANT IDENTITY &amp; INGRESS</a:t>
            </a:r>
            <a:endParaRPr lang="en-US" sz="1120" dirty="0"/>
          </a:p>
          <a:p>
            <a:pPr algn="ctr" indent="0" marL="0">
              <a:buNone/>
            </a:pPr>
            <a:r>
              <a:rPr lang="en-US" sz="1120" b="1" dirty="0">
                <a:solidFill>
                  <a:srgbClr val="0F2942"/>
                </a:solidFill>
                <a:latin typeface="Google Sans" pitchFamily="34" charset="0"/>
                <a:ea typeface="Google Sans" pitchFamily="34" charset="-122"/>
                <a:cs typeface="Google Sans" pitchFamily="34" charset="-120"/>
              </a:rPr>
              <a:t>(Competing Enterprise Callers)</a:t>
            </a:r>
            <a:endParaRPr lang="en-US" sz="1120" dirty="0"/>
          </a:p>
        </p:txBody>
      </p:sp>
      <p:sp>
        <p:nvSpPr>
          <p:cNvPr id="20" name="Shape 18"/>
          <p:cNvSpPr/>
          <p:nvPr/>
        </p:nvSpPr>
        <p:spPr>
          <a:xfrm>
            <a:off x="932688" y="1700784"/>
            <a:ext cx="1078992" cy="621792"/>
          </a:xfrm>
          <a:prstGeom prst="roundRect">
            <a:avLst>
              <a:gd name="adj" fmla="val 8824"/>
            </a:avLst>
          </a:prstGeom>
          <a:solidFill>
            <a:srgbClr val="0F2942"/>
          </a:solidFill>
          <a:ln w="12700">
            <a:solidFill>
              <a:srgbClr val="0F2942"/>
            </a:solidFill>
            <a:prstDash val="solid"/>
          </a:ln>
        </p:spPr>
      </p:sp>
      <p:sp>
        <p:nvSpPr>
          <p:cNvPr id="21" name="Shape 19"/>
          <p:cNvSpPr/>
          <p:nvPr/>
        </p:nvSpPr>
        <p:spPr>
          <a:xfrm>
            <a:off x="1005840" y="1792224"/>
            <a:ext cx="932688" cy="438912"/>
          </a:xfrm>
          <a:prstGeom prst="roundRect">
            <a:avLst>
              <a:gd name="adj" fmla="val 8333"/>
            </a:avLst>
          </a:prstGeom>
          <a:solidFill>
            <a:srgbClr val="FFFFFF"/>
          </a:solidFill>
          <a:ln/>
        </p:spPr>
      </p:sp>
      <p:sp>
        <p:nvSpPr>
          <p:cNvPr id="22" name="Text 20"/>
          <p:cNvSpPr/>
          <p:nvPr/>
        </p:nvSpPr>
        <p:spPr>
          <a:xfrm>
            <a:off x="1005840" y="1792224"/>
            <a:ext cx="932688" cy="438912"/>
          </a:xfrm>
          <a:prstGeom prst="rect">
            <a:avLst/>
          </a:prstGeom>
          <a:noFill/>
          <a:ln/>
        </p:spPr>
        <p:txBody>
          <a:bodyPr wrap="square" rtlCol="0" anchor="ctr"/>
          <a:lstStyle/>
          <a:p>
            <a:pPr algn="ctr" indent="0" marL="0">
              <a:buNone/>
            </a:pPr>
            <a:r>
              <a:rPr lang="en-US" sz="900" b="1" dirty="0">
                <a:solidFill>
                  <a:srgbClr val="0D7A75"/>
                </a:solidFill>
                <a:latin typeface="Google Sans" pitchFamily="34" charset="0"/>
                <a:ea typeface="Google Sans" pitchFamily="34" charset="-122"/>
                <a:cs typeface="Google Sans" pitchFamily="34" charset="-120"/>
              </a:rPr>
              <a:t>FinVault</a:t>
            </a:r>
            <a:endParaRPr lang="en-US" sz="900" dirty="0"/>
          </a:p>
        </p:txBody>
      </p:sp>
      <p:sp>
        <p:nvSpPr>
          <p:cNvPr id="23" name="Text 21"/>
          <p:cNvSpPr/>
          <p:nvPr/>
        </p:nvSpPr>
        <p:spPr>
          <a:xfrm>
            <a:off x="621792" y="2359152"/>
            <a:ext cx="1700784" cy="402336"/>
          </a:xfrm>
          <a:prstGeom prst="rect">
            <a:avLst/>
          </a:prstGeom>
          <a:noFill/>
          <a:ln/>
        </p:spPr>
        <p:txBody>
          <a:bodyPr wrap="square" rtlCol="0" anchor="t"/>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Google Cloud Identity</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(Enterprise Tier)</a:t>
            </a:r>
            <a:endParaRPr lang="en-US" sz="920" dirty="0"/>
          </a:p>
        </p:txBody>
      </p:sp>
      <p:sp>
        <p:nvSpPr>
          <p:cNvPr id="24" name="Shape 22"/>
          <p:cNvSpPr/>
          <p:nvPr/>
        </p:nvSpPr>
        <p:spPr>
          <a:xfrm>
            <a:off x="2048256" y="2011680"/>
            <a:ext cx="804672" cy="0"/>
          </a:xfrm>
          <a:prstGeom prst="line">
            <a:avLst/>
          </a:prstGeom>
          <a:noFill/>
          <a:ln w="15875">
            <a:solidFill>
              <a:srgbClr val="0F2942"/>
            </a:solidFill>
            <a:prstDash val="solid"/>
          </a:ln>
        </p:spPr>
      </p:sp>
      <p:sp>
        <p:nvSpPr>
          <p:cNvPr id="25" name="Shape 23"/>
          <p:cNvSpPr/>
          <p:nvPr/>
        </p:nvSpPr>
        <p:spPr>
          <a:xfrm>
            <a:off x="932688" y="3017520"/>
            <a:ext cx="1078992" cy="621792"/>
          </a:xfrm>
          <a:prstGeom prst="roundRect">
            <a:avLst>
              <a:gd name="adj" fmla="val 8824"/>
            </a:avLst>
          </a:prstGeom>
          <a:solidFill>
            <a:srgbClr val="475569"/>
          </a:solidFill>
          <a:ln w="12700">
            <a:solidFill>
              <a:srgbClr val="0F2942"/>
            </a:solidFill>
            <a:prstDash val="solid"/>
          </a:ln>
        </p:spPr>
      </p:sp>
      <p:sp>
        <p:nvSpPr>
          <p:cNvPr id="26" name="Shape 24"/>
          <p:cNvSpPr/>
          <p:nvPr/>
        </p:nvSpPr>
        <p:spPr>
          <a:xfrm>
            <a:off x="1005840" y="3108960"/>
            <a:ext cx="932688" cy="438912"/>
          </a:xfrm>
          <a:prstGeom prst="roundRect">
            <a:avLst>
              <a:gd name="adj" fmla="val 8333"/>
            </a:avLst>
          </a:prstGeom>
          <a:solidFill>
            <a:srgbClr val="FFFFFF"/>
          </a:solidFill>
          <a:ln/>
        </p:spPr>
      </p:sp>
      <p:sp>
        <p:nvSpPr>
          <p:cNvPr id="27" name="Text 25"/>
          <p:cNvSpPr/>
          <p:nvPr/>
        </p:nvSpPr>
        <p:spPr>
          <a:xfrm>
            <a:off x="1005840" y="3108960"/>
            <a:ext cx="932688" cy="438912"/>
          </a:xfrm>
          <a:prstGeom prst="rect">
            <a:avLst/>
          </a:prstGeom>
          <a:noFill/>
          <a:ln/>
        </p:spPr>
        <p:txBody>
          <a:bodyPr wrap="square" rtlCol="0" anchor="ctr"/>
          <a:lstStyle/>
          <a:p>
            <a:pPr algn="ctr" indent="0" marL="0">
              <a:buNone/>
            </a:pPr>
            <a:r>
              <a:rPr lang="en-US" sz="900" b="1" dirty="0">
                <a:solidFill>
                  <a:srgbClr val="0F2942"/>
                </a:solidFill>
                <a:latin typeface="Google Sans" pitchFamily="34" charset="0"/>
                <a:ea typeface="Google Sans" pitchFamily="34" charset="-122"/>
                <a:cs typeface="Google Sans" pitchFamily="34" charset="-120"/>
              </a:rPr>
              <a:t>Retail</a:t>
            </a:r>
            <a:endParaRPr lang="en-US" sz="900" dirty="0"/>
          </a:p>
        </p:txBody>
      </p:sp>
      <p:sp>
        <p:nvSpPr>
          <p:cNvPr id="28" name="Text 26"/>
          <p:cNvSpPr/>
          <p:nvPr/>
        </p:nvSpPr>
        <p:spPr>
          <a:xfrm>
            <a:off x="621792" y="3675888"/>
            <a:ext cx="1700784" cy="402336"/>
          </a:xfrm>
          <a:prstGeom prst="rect">
            <a:avLst/>
          </a:prstGeom>
          <a:noFill/>
          <a:ln/>
        </p:spPr>
        <p:txBody>
          <a:bodyPr wrap="square" rtlCol="0" anchor="t"/>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Microsoft Entra ID</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(Standard Tier)</a:t>
            </a:r>
            <a:endParaRPr lang="en-US" sz="920" dirty="0"/>
          </a:p>
        </p:txBody>
      </p:sp>
      <p:sp>
        <p:nvSpPr>
          <p:cNvPr id="29" name="Shape 27"/>
          <p:cNvSpPr/>
          <p:nvPr/>
        </p:nvSpPr>
        <p:spPr>
          <a:xfrm>
            <a:off x="2048256" y="3328416"/>
            <a:ext cx="804672" cy="0"/>
          </a:xfrm>
          <a:prstGeom prst="line">
            <a:avLst/>
          </a:prstGeom>
          <a:noFill/>
          <a:ln w="15875">
            <a:solidFill>
              <a:srgbClr val="0F2942"/>
            </a:solidFill>
            <a:prstDash val="solid"/>
          </a:ln>
        </p:spPr>
      </p:sp>
      <p:sp>
        <p:nvSpPr>
          <p:cNvPr id="30" name="Shape 28"/>
          <p:cNvSpPr/>
          <p:nvPr/>
        </p:nvSpPr>
        <p:spPr>
          <a:xfrm>
            <a:off x="932688" y="4334256"/>
            <a:ext cx="1078992" cy="621792"/>
          </a:xfrm>
          <a:prstGeom prst="roundRect">
            <a:avLst>
              <a:gd name="adj" fmla="val 8824"/>
            </a:avLst>
          </a:prstGeom>
          <a:solidFill>
            <a:srgbClr val="475569"/>
          </a:solidFill>
          <a:ln w="12700">
            <a:solidFill>
              <a:srgbClr val="0F2942"/>
            </a:solidFill>
            <a:prstDash val="solid"/>
          </a:ln>
        </p:spPr>
      </p:sp>
      <p:sp>
        <p:nvSpPr>
          <p:cNvPr id="31" name="Shape 29"/>
          <p:cNvSpPr/>
          <p:nvPr/>
        </p:nvSpPr>
        <p:spPr>
          <a:xfrm>
            <a:off x="1005840" y="4425696"/>
            <a:ext cx="932688" cy="438912"/>
          </a:xfrm>
          <a:prstGeom prst="roundRect">
            <a:avLst>
              <a:gd name="adj" fmla="val 8333"/>
            </a:avLst>
          </a:prstGeom>
          <a:solidFill>
            <a:srgbClr val="FFFFFF"/>
          </a:solidFill>
          <a:ln/>
        </p:spPr>
      </p:sp>
      <p:sp>
        <p:nvSpPr>
          <p:cNvPr id="32" name="Text 30"/>
          <p:cNvSpPr/>
          <p:nvPr/>
        </p:nvSpPr>
        <p:spPr>
          <a:xfrm>
            <a:off x="1005840" y="4425696"/>
            <a:ext cx="932688" cy="438912"/>
          </a:xfrm>
          <a:prstGeom prst="rect">
            <a:avLst/>
          </a:prstGeom>
          <a:noFill/>
          <a:ln/>
        </p:spPr>
        <p:txBody>
          <a:bodyPr wrap="square" rtlCol="0" anchor="ctr"/>
          <a:lstStyle/>
          <a:p>
            <a:pPr algn="ctr" indent="0" marL="0">
              <a:buNone/>
            </a:pPr>
            <a:r>
              <a:rPr lang="en-US" sz="900" b="1" dirty="0">
                <a:solidFill>
                  <a:srgbClr val="0F2942"/>
                </a:solidFill>
                <a:latin typeface="Google Sans" pitchFamily="34" charset="0"/>
                <a:ea typeface="Google Sans" pitchFamily="34" charset="-122"/>
                <a:cs typeface="Google Sans" pitchFamily="34" charset="-120"/>
              </a:rPr>
              <a:t>Partner</a:t>
            </a:r>
            <a:endParaRPr lang="en-US" sz="900" dirty="0"/>
          </a:p>
        </p:txBody>
      </p:sp>
      <p:sp>
        <p:nvSpPr>
          <p:cNvPr id="33" name="Text 31"/>
          <p:cNvSpPr/>
          <p:nvPr/>
        </p:nvSpPr>
        <p:spPr>
          <a:xfrm>
            <a:off x="621792" y="4992624"/>
            <a:ext cx="1700784" cy="402336"/>
          </a:xfrm>
          <a:prstGeom prst="rect">
            <a:avLst/>
          </a:prstGeom>
          <a:noFill/>
          <a:ln/>
        </p:spPr>
        <p:txBody>
          <a:bodyPr wrap="square" rtlCol="0" anchor="t"/>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Cloud Identity SAML</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(Federated Caller)</a:t>
            </a:r>
            <a:endParaRPr lang="en-US" sz="920" dirty="0"/>
          </a:p>
        </p:txBody>
      </p:sp>
      <p:sp>
        <p:nvSpPr>
          <p:cNvPr id="34" name="Shape 32"/>
          <p:cNvSpPr/>
          <p:nvPr/>
        </p:nvSpPr>
        <p:spPr>
          <a:xfrm>
            <a:off x="2048256" y="4645152"/>
            <a:ext cx="804672" cy="0"/>
          </a:xfrm>
          <a:prstGeom prst="line">
            <a:avLst/>
          </a:prstGeom>
          <a:noFill/>
          <a:ln w="15875">
            <a:solidFill>
              <a:srgbClr val="0F2942"/>
            </a:solidFill>
            <a:prstDash val="solid"/>
          </a:ln>
        </p:spPr>
      </p:sp>
      <p:sp>
        <p:nvSpPr>
          <p:cNvPr id="35" name="Shape 33"/>
          <p:cNvSpPr/>
          <p:nvPr/>
        </p:nvSpPr>
        <p:spPr>
          <a:xfrm>
            <a:off x="2852928" y="2011680"/>
            <a:ext cx="0" cy="2633472"/>
          </a:xfrm>
          <a:prstGeom prst="line">
            <a:avLst/>
          </a:prstGeom>
          <a:noFill/>
          <a:ln w="15875">
            <a:solidFill>
              <a:srgbClr val="0F2942"/>
            </a:solidFill>
            <a:prstDash val="solid"/>
          </a:ln>
        </p:spPr>
      </p:sp>
      <p:sp>
        <p:nvSpPr>
          <p:cNvPr id="36" name="Shape 34"/>
          <p:cNvSpPr/>
          <p:nvPr/>
        </p:nvSpPr>
        <p:spPr>
          <a:xfrm>
            <a:off x="2852928" y="3328416"/>
            <a:ext cx="1572768" cy="0"/>
          </a:xfrm>
          <a:prstGeom prst="line">
            <a:avLst/>
          </a:prstGeom>
          <a:noFill/>
          <a:ln w="19050">
            <a:solidFill>
              <a:srgbClr val="0F2942"/>
            </a:solidFill>
            <a:prstDash val="solid"/>
            <a:tailEnd type="triangle" w="sm" len="sm"/>
          </a:ln>
        </p:spPr>
      </p:sp>
      <p:sp>
        <p:nvSpPr>
          <p:cNvPr id="37" name="Text 35"/>
          <p:cNvSpPr/>
          <p:nvPr/>
        </p:nvSpPr>
        <p:spPr>
          <a:xfrm>
            <a:off x="3648456" y="2743200"/>
            <a:ext cx="804672" cy="512064"/>
          </a:xfrm>
          <a:prstGeom prst="rect">
            <a:avLst/>
          </a:prstGeom>
          <a:noFill/>
          <a:ln/>
        </p:spPr>
        <p:txBody>
          <a:bodyPr wrap="square" rtlCol="0" anchor="ctr"/>
          <a:lstStyle/>
          <a:p>
            <a:pPr algn="ctr" indent="0" marL="0">
              <a:buNone/>
            </a:pPr>
            <a:r>
              <a:rPr lang="en-US" sz="820" b="1" dirty="0">
                <a:solidFill>
                  <a:srgbClr val="3C4043"/>
                </a:solidFill>
                <a:latin typeface="Roboto" pitchFamily="34" charset="0"/>
                <a:ea typeface="Roboto" pitchFamily="34" charset="-122"/>
                <a:cs typeface="Roboto" pitchFamily="34" charset="-120"/>
              </a:rPr>
              <a:t>OIDC JWT +</a:t>
            </a:r>
            <a:endParaRPr lang="en-US" sz="820" dirty="0"/>
          </a:p>
          <a:p>
            <a:pPr algn="ctr" indent="0" marL="0">
              <a:buNone/>
            </a:pPr>
            <a:r>
              <a:rPr lang="en-US" sz="820" b="1" dirty="0">
                <a:solidFill>
                  <a:srgbClr val="3C4043"/>
                </a:solidFill>
                <a:latin typeface="Roboto" pitchFamily="34" charset="0"/>
                <a:ea typeface="Roboto" pitchFamily="34" charset="-122"/>
                <a:cs typeface="Roboto" pitchFamily="34" charset="-120"/>
              </a:rPr>
              <a:t>DPoP Proof</a:t>
            </a:r>
            <a:endParaRPr lang="en-US" sz="820" dirty="0"/>
          </a:p>
        </p:txBody>
      </p:sp>
      <p:sp>
        <p:nvSpPr>
          <p:cNvPr id="38" name="Text 36"/>
          <p:cNvSpPr/>
          <p:nvPr/>
        </p:nvSpPr>
        <p:spPr>
          <a:xfrm>
            <a:off x="3648456" y="3401568"/>
            <a:ext cx="804672" cy="512064"/>
          </a:xfrm>
          <a:prstGeom prst="rect">
            <a:avLst/>
          </a:prstGeom>
          <a:noFill/>
          <a:ln/>
        </p:spPr>
        <p:txBody>
          <a:bodyPr wrap="square" rtlCol="0" anchor="ctr"/>
          <a:lstStyle/>
          <a:p>
            <a:pPr algn="ctr" indent="0" marL="0">
              <a:buNone/>
            </a:pPr>
            <a:r>
              <a:rPr lang="en-US" sz="800" dirty="0">
                <a:solidFill>
                  <a:srgbClr val="5F6368"/>
                </a:solidFill>
                <a:latin typeface="Roboto" pitchFamily="34" charset="0"/>
                <a:ea typeface="Roboto" pitchFamily="34" charset="-122"/>
                <a:cs typeface="Roboto" pitchFamily="34" charset="-120"/>
              </a:rPr>
              <a:t>Cloud Armor</a:t>
            </a:r>
            <a:endParaRPr lang="en-US" sz="800" dirty="0"/>
          </a:p>
          <a:p>
            <a:pPr algn="ctr" indent="0" marL="0">
              <a:buNone/>
            </a:pPr>
            <a:r>
              <a:rPr lang="en-US" sz="800" dirty="0">
                <a:solidFill>
                  <a:srgbClr val="5F6368"/>
                </a:solidFill>
                <a:latin typeface="Roboto" pitchFamily="34" charset="0"/>
                <a:ea typeface="Roboto" pitchFamily="34" charset="-122"/>
                <a:cs typeface="Roboto" pitchFamily="34" charset="-120"/>
              </a:rPr>
              <a:t>+ IAP Edge</a:t>
            </a:r>
            <a:endParaRPr lang="en-US" sz="800" dirty="0"/>
          </a:p>
        </p:txBody>
      </p:sp>
      <p:sp>
        <p:nvSpPr>
          <p:cNvPr id="39" name="Shape 37"/>
          <p:cNvSpPr/>
          <p:nvPr/>
        </p:nvSpPr>
        <p:spPr>
          <a:xfrm>
            <a:off x="4462272" y="896112"/>
            <a:ext cx="2962656" cy="5266944"/>
          </a:xfrm>
          <a:prstGeom prst="roundRect">
            <a:avLst>
              <a:gd name="adj" fmla="val 1235"/>
            </a:avLst>
          </a:prstGeom>
          <a:solidFill>
            <a:srgbClr val="F8F9FA"/>
          </a:solidFill>
          <a:ln w="22225">
            <a:solidFill>
              <a:srgbClr val="0D7A75"/>
            </a:solidFill>
            <a:prstDash val="solid"/>
          </a:ln>
        </p:spPr>
      </p:sp>
      <p:sp>
        <p:nvSpPr>
          <p:cNvPr id="40" name="Text 38"/>
          <p:cNvSpPr/>
          <p:nvPr/>
        </p:nvSpPr>
        <p:spPr>
          <a:xfrm>
            <a:off x="4535424" y="1005840"/>
            <a:ext cx="2816352" cy="475488"/>
          </a:xfrm>
          <a:prstGeom prst="rect">
            <a:avLst/>
          </a:prstGeom>
          <a:noFill/>
          <a:ln/>
        </p:spPr>
        <p:txBody>
          <a:bodyPr wrap="square" rtlCol="0" anchor="ctr"/>
          <a:lstStyle/>
          <a:p>
            <a:pPr algn="ctr" indent="0" marL="0">
              <a:buNone/>
            </a:pPr>
            <a:r>
              <a:rPr lang="en-US" sz="1100" b="1" dirty="0">
                <a:solidFill>
                  <a:srgbClr val="0F2942"/>
                </a:solidFill>
                <a:latin typeface="Google Sans" pitchFamily="34" charset="0"/>
                <a:ea typeface="Google Sans" pitchFamily="34" charset="-122"/>
                <a:cs typeface="Google Sans" pitchFamily="34" charset="-120"/>
              </a:rPr>
              <a:t>LAYER 2: 5-HOP ADK CONTROL PLANE</a:t>
            </a:r>
            <a:endParaRPr lang="en-US" sz="1100" dirty="0"/>
          </a:p>
          <a:p>
            <a:pPr algn="ctr" indent="0" marL="0">
              <a:buNone/>
            </a:pPr>
            <a:r>
              <a:rPr lang="en-US" sz="1100" b="1" dirty="0">
                <a:solidFill>
                  <a:srgbClr val="0F2942"/>
                </a:solidFill>
                <a:latin typeface="Google Sans" pitchFamily="34" charset="0"/>
                <a:ea typeface="Google Sans" pitchFamily="34" charset="-122"/>
                <a:cs typeface="Google Sans" pitchFamily="34" charset="-120"/>
              </a:rPr>
              <a:t>(Shared 80% Core • ~42ms p95)</a:t>
            </a:r>
            <a:endParaRPr lang="en-US" sz="1100" dirty="0"/>
          </a:p>
        </p:txBody>
      </p:sp>
      <p:sp>
        <p:nvSpPr>
          <p:cNvPr id="41" name="Shape 39"/>
          <p:cNvSpPr/>
          <p:nvPr/>
        </p:nvSpPr>
        <p:spPr>
          <a:xfrm>
            <a:off x="4608576" y="1536192"/>
            <a:ext cx="2670048" cy="4462272"/>
          </a:xfrm>
          <a:prstGeom prst="roundRect">
            <a:avLst>
              <a:gd name="adj" fmla="val 1712"/>
            </a:avLst>
          </a:prstGeom>
          <a:solidFill>
            <a:srgbClr val="EBEEF2"/>
          </a:solidFill>
          <a:ln w="12700">
            <a:solidFill>
              <a:srgbClr val="DADCE0"/>
            </a:solidFill>
            <a:prstDash val="solid"/>
          </a:ln>
        </p:spPr>
      </p:sp>
      <p:sp>
        <p:nvSpPr>
          <p:cNvPr id="42" name="Shape 40"/>
          <p:cNvSpPr/>
          <p:nvPr/>
        </p:nvSpPr>
        <p:spPr>
          <a:xfrm>
            <a:off x="4718304" y="1645920"/>
            <a:ext cx="310896" cy="256032"/>
          </a:xfrm>
          <a:prstGeom prst="roundRect">
            <a:avLst>
              <a:gd name="adj" fmla="val 14286"/>
            </a:avLst>
          </a:prstGeom>
          <a:solidFill>
            <a:srgbClr val="4285F4"/>
          </a:solidFill>
          <a:ln/>
        </p:spPr>
      </p:sp>
      <p:sp>
        <p:nvSpPr>
          <p:cNvPr id="43" name="Text 41"/>
          <p:cNvSpPr/>
          <p:nvPr/>
        </p:nvSpPr>
        <p:spPr>
          <a:xfrm>
            <a:off x="4718304" y="1645920"/>
            <a:ext cx="310896" cy="256032"/>
          </a:xfrm>
          <a:prstGeom prst="rect">
            <a:avLst/>
          </a:prstGeom>
          <a:noFill/>
          <a:ln/>
        </p:spPr>
        <p:txBody>
          <a:bodyPr wrap="square" rtlCol="0" anchor="ctr"/>
          <a:lstStyle/>
          <a:p>
            <a:pPr algn="ctr" indent="0" marL="0">
              <a:buNone/>
            </a:pPr>
            <a:r>
              <a:rPr lang="en-US" sz="740" b="1" dirty="0">
                <a:solidFill>
                  <a:srgbClr val="FFFFFF"/>
                </a:solidFill>
                <a:latin typeface="Google Sans" pitchFamily="34" charset="0"/>
                <a:ea typeface="Google Sans" pitchFamily="34" charset="-122"/>
                <a:cs typeface="Google Sans" pitchFamily="34" charset="-120"/>
              </a:rPr>
              <a:t>ADK</a:t>
            </a:r>
            <a:endParaRPr lang="en-US" sz="740" dirty="0"/>
          </a:p>
        </p:txBody>
      </p:sp>
      <p:sp>
        <p:nvSpPr>
          <p:cNvPr id="44" name="Text 42"/>
          <p:cNvSpPr/>
          <p:nvPr/>
        </p:nvSpPr>
        <p:spPr>
          <a:xfrm>
            <a:off x="5084064" y="1627632"/>
            <a:ext cx="2139696" cy="292608"/>
          </a:xfrm>
          <a:prstGeom prst="rect">
            <a:avLst/>
          </a:prstGeom>
          <a:noFill/>
          <a:ln/>
        </p:spPr>
        <p:txBody>
          <a:bodyPr wrap="square" rtlCol="0" anchor="ctr"/>
          <a:lstStyle/>
          <a:p>
            <a:pPr indent="0" marL="0">
              <a:buNone/>
            </a:pPr>
            <a:r>
              <a:rPr lang="en-US" sz="940" b="1" dirty="0">
                <a:solidFill>
                  <a:srgbClr val="5F6368"/>
                </a:solidFill>
                <a:latin typeface="Google Sans" pitchFamily="34" charset="0"/>
                <a:ea typeface="Google Sans" pitchFamily="34" charset="-122"/>
                <a:cs typeface="Google Sans" pitchFamily="34" charset="-120"/>
              </a:rPr>
              <a:t>Vertex AI Agent Engine &amp; ~3ms Valkey JTI Deny-List</a:t>
            </a:r>
            <a:endParaRPr lang="en-US" sz="940" dirty="0"/>
          </a:p>
        </p:txBody>
      </p:sp>
      <p:sp>
        <p:nvSpPr>
          <p:cNvPr id="45" name="Shape 43"/>
          <p:cNvSpPr/>
          <p:nvPr/>
        </p:nvSpPr>
        <p:spPr>
          <a:xfrm>
            <a:off x="4974336" y="2029968"/>
            <a:ext cx="1938528" cy="1005840"/>
          </a:xfrm>
          <a:prstGeom prst="roundRect">
            <a:avLst>
              <a:gd name="adj" fmla="val 5455"/>
            </a:avLst>
          </a:prstGeom>
          <a:solidFill>
            <a:srgbClr val="FFFFFF"/>
          </a:solidFill>
          <a:ln w="12700">
            <a:solidFill>
              <a:srgbClr val="DADCE0"/>
            </a:solidFill>
            <a:prstDash val="solid"/>
          </a:ln>
        </p:spPr>
      </p:sp>
      <p:sp>
        <p:nvSpPr>
          <p:cNvPr id="46" name="Shape 44"/>
          <p:cNvSpPr/>
          <p:nvPr/>
        </p:nvSpPr>
        <p:spPr>
          <a:xfrm>
            <a:off x="5614416" y="2121408"/>
            <a:ext cx="658368" cy="310896"/>
          </a:xfrm>
          <a:prstGeom prst="roundRect">
            <a:avLst>
              <a:gd name="adj" fmla="val 14706"/>
            </a:avLst>
          </a:prstGeom>
          <a:solidFill>
            <a:srgbClr val="E8F0FE"/>
          </a:solidFill>
          <a:ln w="10160">
            <a:solidFill>
              <a:srgbClr val="4285F4"/>
            </a:solidFill>
            <a:prstDash val="solid"/>
          </a:ln>
        </p:spPr>
      </p:sp>
      <p:sp>
        <p:nvSpPr>
          <p:cNvPr id="47" name="Text 45"/>
          <p:cNvSpPr/>
          <p:nvPr/>
        </p:nvSpPr>
        <p:spPr>
          <a:xfrm>
            <a:off x="5614416" y="2121408"/>
            <a:ext cx="658368" cy="310896"/>
          </a:xfrm>
          <a:prstGeom prst="rect">
            <a:avLst/>
          </a:prstGeom>
          <a:noFill/>
          <a:ln/>
        </p:spPr>
        <p:txBody>
          <a:bodyPr wrap="square" rtlCol="0" anchor="ctr"/>
          <a:lstStyle/>
          <a:p>
            <a:pPr algn="ctr" indent="0" marL="0">
              <a:buNone/>
            </a:pPr>
            <a:r>
              <a:rPr lang="en-US" sz="880" b="1" dirty="0">
                <a:solidFill>
                  <a:srgbClr val="174EA6"/>
                </a:solidFill>
                <a:latin typeface="Google Sans" pitchFamily="34" charset="0"/>
                <a:ea typeface="Google Sans" pitchFamily="34" charset="-122"/>
                <a:cs typeface="Google Sans" pitchFamily="34" charset="-120"/>
              </a:rPr>
              <a:t>STS</a:t>
            </a:r>
            <a:endParaRPr lang="en-US" sz="880" dirty="0"/>
          </a:p>
        </p:txBody>
      </p:sp>
      <p:sp>
        <p:nvSpPr>
          <p:cNvPr id="48" name="Text 46"/>
          <p:cNvSpPr/>
          <p:nvPr/>
        </p:nvSpPr>
        <p:spPr>
          <a:xfrm>
            <a:off x="5029200" y="2468880"/>
            <a:ext cx="1828800" cy="512064"/>
          </a:xfrm>
          <a:prstGeom prst="rect">
            <a:avLst/>
          </a:prstGeom>
          <a:noFill/>
          <a:ln/>
        </p:spPr>
        <p:txBody>
          <a:bodyPr wrap="square" rtlCol="0" anchor="ctr"/>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Hop 1: IAM STS OBO,</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DPoP &amp; JTI Deny-List</a:t>
            </a:r>
            <a:endParaRPr lang="en-US" sz="920" dirty="0"/>
          </a:p>
        </p:txBody>
      </p:sp>
      <p:sp>
        <p:nvSpPr>
          <p:cNvPr id="49" name="Shape 47"/>
          <p:cNvSpPr/>
          <p:nvPr/>
        </p:nvSpPr>
        <p:spPr>
          <a:xfrm>
            <a:off x="5943600" y="3035808"/>
            <a:ext cx="0" cy="256032"/>
          </a:xfrm>
          <a:prstGeom prst="line">
            <a:avLst/>
          </a:prstGeom>
          <a:noFill/>
          <a:ln w="15875">
            <a:solidFill>
              <a:srgbClr val="0F2942"/>
            </a:solidFill>
            <a:prstDash val="solid"/>
            <a:tailEnd type="triangle" w="sm" len="sm"/>
          </a:ln>
        </p:spPr>
      </p:sp>
      <p:sp>
        <p:nvSpPr>
          <p:cNvPr id="50" name="Shape 48"/>
          <p:cNvSpPr/>
          <p:nvPr/>
        </p:nvSpPr>
        <p:spPr>
          <a:xfrm>
            <a:off x="4974336" y="3291840"/>
            <a:ext cx="1938528" cy="1005840"/>
          </a:xfrm>
          <a:prstGeom prst="roundRect">
            <a:avLst>
              <a:gd name="adj" fmla="val 5455"/>
            </a:avLst>
          </a:prstGeom>
          <a:solidFill>
            <a:srgbClr val="FFFFFF"/>
          </a:solidFill>
          <a:ln w="12700">
            <a:solidFill>
              <a:srgbClr val="DADCE0"/>
            </a:solidFill>
            <a:prstDash val="solid"/>
          </a:ln>
        </p:spPr>
      </p:sp>
      <p:sp>
        <p:nvSpPr>
          <p:cNvPr id="51" name="Shape 49"/>
          <p:cNvSpPr/>
          <p:nvPr/>
        </p:nvSpPr>
        <p:spPr>
          <a:xfrm>
            <a:off x="5614416" y="3383280"/>
            <a:ext cx="658368" cy="310896"/>
          </a:xfrm>
          <a:prstGeom prst="roundRect">
            <a:avLst>
              <a:gd name="adj" fmla="val 14706"/>
            </a:avLst>
          </a:prstGeom>
          <a:solidFill>
            <a:srgbClr val="FCE8E6"/>
          </a:solidFill>
          <a:ln w="10160">
            <a:solidFill>
              <a:srgbClr val="EA4335"/>
            </a:solidFill>
            <a:prstDash val="solid"/>
          </a:ln>
        </p:spPr>
      </p:sp>
      <p:sp>
        <p:nvSpPr>
          <p:cNvPr id="52" name="Text 50"/>
          <p:cNvSpPr/>
          <p:nvPr/>
        </p:nvSpPr>
        <p:spPr>
          <a:xfrm>
            <a:off x="5614416" y="3383280"/>
            <a:ext cx="658368" cy="310896"/>
          </a:xfrm>
          <a:prstGeom prst="rect">
            <a:avLst/>
          </a:prstGeom>
          <a:noFill/>
          <a:ln/>
        </p:spPr>
        <p:txBody>
          <a:bodyPr wrap="square" rtlCol="0" anchor="ctr"/>
          <a:lstStyle/>
          <a:p>
            <a:pPr algn="ctr" indent="0" marL="0">
              <a:buNone/>
            </a:pPr>
            <a:r>
              <a:rPr lang="en-US" sz="880" b="1" dirty="0">
                <a:solidFill>
                  <a:srgbClr val="A50E0E"/>
                </a:solidFill>
                <a:latin typeface="Google Sans" pitchFamily="34" charset="0"/>
                <a:ea typeface="Google Sans" pitchFamily="34" charset="-122"/>
                <a:cs typeface="Google Sans" pitchFamily="34" charset="-120"/>
              </a:rPr>
              <a:t>ARD</a:t>
            </a:r>
            <a:endParaRPr lang="en-US" sz="880" dirty="0"/>
          </a:p>
        </p:txBody>
      </p:sp>
      <p:sp>
        <p:nvSpPr>
          <p:cNvPr id="53" name="Text 51"/>
          <p:cNvSpPr/>
          <p:nvPr/>
        </p:nvSpPr>
        <p:spPr>
          <a:xfrm>
            <a:off x="5029200" y="3730752"/>
            <a:ext cx="1828800" cy="512064"/>
          </a:xfrm>
          <a:prstGeom prst="rect">
            <a:avLst/>
          </a:prstGeom>
          <a:noFill/>
          <a:ln/>
        </p:spPr>
        <p:txBody>
          <a:bodyPr wrap="square" rtlCol="0" anchor="ctr"/>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Hops 2–3: ARD Filter</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&amp; L1–L5 Memory Scope</a:t>
            </a:r>
            <a:endParaRPr lang="en-US" sz="920" dirty="0"/>
          </a:p>
        </p:txBody>
      </p:sp>
      <p:sp>
        <p:nvSpPr>
          <p:cNvPr id="54" name="Shape 52"/>
          <p:cNvSpPr/>
          <p:nvPr/>
        </p:nvSpPr>
        <p:spPr>
          <a:xfrm>
            <a:off x="5943600" y="4297680"/>
            <a:ext cx="0" cy="256032"/>
          </a:xfrm>
          <a:prstGeom prst="line">
            <a:avLst/>
          </a:prstGeom>
          <a:noFill/>
          <a:ln w="15875">
            <a:solidFill>
              <a:srgbClr val="0F2942"/>
            </a:solidFill>
            <a:prstDash val="solid"/>
            <a:tailEnd type="triangle" w="sm" len="sm"/>
          </a:ln>
        </p:spPr>
      </p:sp>
      <p:sp>
        <p:nvSpPr>
          <p:cNvPr id="55" name="Shape 53"/>
          <p:cNvSpPr/>
          <p:nvPr/>
        </p:nvSpPr>
        <p:spPr>
          <a:xfrm>
            <a:off x="4974336" y="4553712"/>
            <a:ext cx="1938528" cy="1005840"/>
          </a:xfrm>
          <a:prstGeom prst="roundRect">
            <a:avLst>
              <a:gd name="adj" fmla="val 5455"/>
            </a:avLst>
          </a:prstGeom>
          <a:solidFill>
            <a:srgbClr val="FFFFFF"/>
          </a:solidFill>
          <a:ln w="12700">
            <a:solidFill>
              <a:srgbClr val="DADCE0"/>
            </a:solidFill>
            <a:prstDash val="solid"/>
          </a:ln>
        </p:spPr>
      </p:sp>
      <p:sp>
        <p:nvSpPr>
          <p:cNvPr id="56" name="Shape 54"/>
          <p:cNvSpPr/>
          <p:nvPr/>
        </p:nvSpPr>
        <p:spPr>
          <a:xfrm>
            <a:off x="5614416" y="4645152"/>
            <a:ext cx="658368" cy="310896"/>
          </a:xfrm>
          <a:prstGeom prst="roundRect">
            <a:avLst>
              <a:gd name="adj" fmla="val 14706"/>
            </a:avLst>
          </a:prstGeom>
          <a:solidFill>
            <a:srgbClr val="FEF7E0"/>
          </a:solidFill>
          <a:ln w="10160">
            <a:solidFill>
              <a:srgbClr val="FBBC04"/>
            </a:solidFill>
            <a:prstDash val="solid"/>
          </a:ln>
        </p:spPr>
      </p:sp>
      <p:sp>
        <p:nvSpPr>
          <p:cNvPr id="57" name="Text 55"/>
          <p:cNvSpPr/>
          <p:nvPr/>
        </p:nvSpPr>
        <p:spPr>
          <a:xfrm>
            <a:off x="5614416" y="4645152"/>
            <a:ext cx="658368" cy="310896"/>
          </a:xfrm>
          <a:prstGeom prst="rect">
            <a:avLst/>
          </a:prstGeom>
          <a:noFill/>
          <a:ln/>
        </p:spPr>
        <p:txBody>
          <a:bodyPr wrap="square" rtlCol="0" anchor="ctr"/>
          <a:lstStyle/>
          <a:p>
            <a:pPr algn="ctr" indent="0" marL="0">
              <a:buNone/>
            </a:pPr>
            <a:r>
              <a:rPr lang="en-US" sz="880" b="1" dirty="0">
                <a:solidFill>
                  <a:srgbClr val="B06000"/>
                </a:solidFill>
                <a:latin typeface="Google Sans" pitchFamily="34" charset="0"/>
                <a:ea typeface="Google Sans" pitchFamily="34" charset="-122"/>
                <a:cs typeface="Google Sans" pitchFamily="34" charset="-120"/>
              </a:rPr>
              <a:t>DLP</a:t>
            </a:r>
            <a:endParaRPr lang="en-US" sz="880" dirty="0"/>
          </a:p>
        </p:txBody>
      </p:sp>
      <p:sp>
        <p:nvSpPr>
          <p:cNvPr id="58" name="Text 56"/>
          <p:cNvSpPr/>
          <p:nvPr/>
        </p:nvSpPr>
        <p:spPr>
          <a:xfrm>
            <a:off x="5029200" y="4992624"/>
            <a:ext cx="1828800" cy="512064"/>
          </a:xfrm>
          <a:prstGeom prst="rect">
            <a:avLst/>
          </a:prstGeom>
          <a:noFill/>
          <a:ln/>
        </p:spPr>
        <p:txBody>
          <a:bodyPr wrap="square" rtlCol="0" anchor="ctr"/>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Hop 4: Model Armor &amp;</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Inline DLP (~22ms p95)</a:t>
            </a:r>
            <a:endParaRPr lang="en-US" sz="920" dirty="0"/>
          </a:p>
        </p:txBody>
      </p:sp>
      <p:sp>
        <p:nvSpPr>
          <p:cNvPr id="59" name="Shape 57"/>
          <p:cNvSpPr/>
          <p:nvPr/>
        </p:nvSpPr>
        <p:spPr>
          <a:xfrm>
            <a:off x="4791456" y="2523744"/>
            <a:ext cx="0" cy="2542032"/>
          </a:xfrm>
          <a:prstGeom prst="line">
            <a:avLst/>
          </a:prstGeom>
          <a:noFill/>
          <a:ln w="15875">
            <a:solidFill>
              <a:srgbClr val="0F2942"/>
            </a:solidFill>
            <a:prstDash val="solid"/>
          </a:ln>
        </p:spPr>
      </p:sp>
      <p:sp>
        <p:nvSpPr>
          <p:cNvPr id="60" name="Shape 58"/>
          <p:cNvSpPr/>
          <p:nvPr/>
        </p:nvSpPr>
        <p:spPr>
          <a:xfrm>
            <a:off x="4791456" y="2523744"/>
            <a:ext cx="182880" cy="0"/>
          </a:xfrm>
          <a:prstGeom prst="line">
            <a:avLst/>
          </a:prstGeom>
          <a:noFill/>
          <a:ln w="15875">
            <a:solidFill>
              <a:srgbClr val="0F2942"/>
            </a:solidFill>
            <a:prstDash val="solid"/>
            <a:tailEnd type="triangle" w="sm" len="sm"/>
          </a:ln>
        </p:spPr>
      </p:sp>
      <p:sp>
        <p:nvSpPr>
          <p:cNvPr id="61" name="Shape 59"/>
          <p:cNvSpPr/>
          <p:nvPr/>
        </p:nvSpPr>
        <p:spPr>
          <a:xfrm>
            <a:off x="4791456" y="3785616"/>
            <a:ext cx="182880" cy="0"/>
          </a:xfrm>
          <a:prstGeom prst="line">
            <a:avLst/>
          </a:prstGeom>
          <a:noFill/>
          <a:ln w="15875">
            <a:solidFill>
              <a:srgbClr val="0F2942"/>
            </a:solidFill>
            <a:prstDash val="solid"/>
            <a:tailEnd type="triangle" w="sm" len="sm"/>
          </a:ln>
        </p:spPr>
      </p:sp>
      <p:sp>
        <p:nvSpPr>
          <p:cNvPr id="62" name="Shape 60"/>
          <p:cNvSpPr/>
          <p:nvPr/>
        </p:nvSpPr>
        <p:spPr>
          <a:xfrm>
            <a:off x="4791456" y="5065776"/>
            <a:ext cx="182880" cy="0"/>
          </a:xfrm>
          <a:prstGeom prst="line">
            <a:avLst/>
          </a:prstGeom>
          <a:noFill/>
          <a:ln w="15875">
            <a:solidFill>
              <a:srgbClr val="0F2942"/>
            </a:solidFill>
            <a:prstDash val="solid"/>
            <a:tailEnd type="triangle" w="sm" len="sm"/>
          </a:ln>
        </p:spPr>
      </p:sp>
      <p:sp>
        <p:nvSpPr>
          <p:cNvPr id="63" name="Shape 61"/>
          <p:cNvSpPr/>
          <p:nvPr/>
        </p:nvSpPr>
        <p:spPr>
          <a:xfrm>
            <a:off x="6912864" y="2523744"/>
            <a:ext cx="201168" cy="0"/>
          </a:xfrm>
          <a:prstGeom prst="line">
            <a:avLst/>
          </a:prstGeom>
          <a:noFill/>
          <a:ln w="15875">
            <a:solidFill>
              <a:srgbClr val="0F2942"/>
            </a:solidFill>
            <a:prstDash val="solid"/>
          </a:ln>
        </p:spPr>
      </p:sp>
      <p:sp>
        <p:nvSpPr>
          <p:cNvPr id="64" name="Shape 62"/>
          <p:cNvSpPr/>
          <p:nvPr/>
        </p:nvSpPr>
        <p:spPr>
          <a:xfrm>
            <a:off x="6912864" y="5065776"/>
            <a:ext cx="201168" cy="0"/>
          </a:xfrm>
          <a:prstGeom prst="line">
            <a:avLst/>
          </a:prstGeom>
          <a:noFill/>
          <a:ln w="15875">
            <a:solidFill>
              <a:srgbClr val="0F2942"/>
            </a:solidFill>
            <a:prstDash val="solid"/>
          </a:ln>
        </p:spPr>
      </p:sp>
      <p:sp>
        <p:nvSpPr>
          <p:cNvPr id="65" name="Shape 63"/>
          <p:cNvSpPr/>
          <p:nvPr/>
        </p:nvSpPr>
        <p:spPr>
          <a:xfrm>
            <a:off x="7114032" y="2523744"/>
            <a:ext cx="0" cy="2542032"/>
          </a:xfrm>
          <a:prstGeom prst="line">
            <a:avLst/>
          </a:prstGeom>
          <a:noFill/>
          <a:ln w="15875">
            <a:solidFill>
              <a:srgbClr val="0F2942"/>
            </a:solidFill>
            <a:prstDash val="solid"/>
          </a:ln>
        </p:spPr>
      </p:sp>
      <p:sp>
        <p:nvSpPr>
          <p:cNvPr id="66" name="Shape 64"/>
          <p:cNvSpPr/>
          <p:nvPr/>
        </p:nvSpPr>
        <p:spPr>
          <a:xfrm>
            <a:off x="7114032" y="3785616"/>
            <a:ext cx="1243584" cy="0"/>
          </a:xfrm>
          <a:prstGeom prst="line">
            <a:avLst/>
          </a:prstGeom>
          <a:noFill/>
          <a:ln w="19050">
            <a:solidFill>
              <a:srgbClr val="0F2942"/>
            </a:solidFill>
            <a:prstDash val="solid"/>
            <a:tailEnd type="triangle" w="sm" len="sm"/>
          </a:ln>
        </p:spPr>
      </p:sp>
      <p:sp>
        <p:nvSpPr>
          <p:cNvPr id="67" name="Text 65"/>
          <p:cNvSpPr/>
          <p:nvPr/>
        </p:nvSpPr>
        <p:spPr>
          <a:xfrm>
            <a:off x="7443216" y="3072384"/>
            <a:ext cx="932688" cy="621792"/>
          </a:xfrm>
          <a:prstGeom prst="rect">
            <a:avLst/>
          </a:prstGeom>
          <a:noFill/>
          <a:ln/>
        </p:spPr>
        <p:txBody>
          <a:bodyPr wrap="square" rtlCol="0" anchor="ctr"/>
          <a:lstStyle/>
          <a:p>
            <a:pPr algn="ctr" indent="0" marL="0">
              <a:buNone/>
            </a:pPr>
            <a:r>
              <a:rPr lang="en-US" sz="800" b="1" dirty="0">
                <a:solidFill>
                  <a:srgbClr val="3C4043"/>
                </a:solidFill>
                <a:latin typeface="Roboto" pitchFamily="34" charset="0"/>
                <a:ea typeface="Roboto" pitchFamily="34" charset="-122"/>
                <a:cs typeface="Roboto" pitchFamily="34" charset="-120"/>
              </a:rPr>
              <a:t>5-Min STS JWT +</a:t>
            </a:r>
            <a:endParaRPr lang="en-US" sz="800" dirty="0"/>
          </a:p>
          <a:p>
            <a:pPr algn="ctr" indent="0" marL="0">
              <a:buNone/>
            </a:pPr>
            <a:r>
              <a:rPr lang="en-US" sz="800" b="1" dirty="0">
                <a:solidFill>
                  <a:srgbClr val="3C4043"/>
                </a:solidFill>
                <a:latin typeface="Roboto" pitchFamily="34" charset="0"/>
                <a:ea typeface="Roboto" pitchFamily="34" charset="-122"/>
                <a:cs typeface="Roboto" pitchFamily="34" charset="-120"/>
              </a:rPr>
              <a:t>&lt;0.15ms JWKS Verify</a:t>
            </a:r>
            <a:endParaRPr lang="en-US" sz="800" dirty="0"/>
          </a:p>
        </p:txBody>
      </p:sp>
      <p:sp>
        <p:nvSpPr>
          <p:cNvPr id="68" name="Text 66"/>
          <p:cNvSpPr/>
          <p:nvPr/>
        </p:nvSpPr>
        <p:spPr>
          <a:xfrm>
            <a:off x="7443216" y="3858768"/>
            <a:ext cx="932688" cy="621792"/>
          </a:xfrm>
          <a:prstGeom prst="rect">
            <a:avLst/>
          </a:prstGeom>
          <a:noFill/>
          <a:ln/>
        </p:spPr>
        <p:txBody>
          <a:bodyPr wrap="square" rtlCol="0" anchor="ctr"/>
          <a:lstStyle/>
          <a:p>
            <a:pPr algn="ctr" indent="0" marL="0">
              <a:buNone/>
            </a:pPr>
            <a:r>
              <a:rPr lang="en-US" sz="780" dirty="0">
                <a:solidFill>
                  <a:srgbClr val="5F6368"/>
                </a:solidFill>
                <a:latin typeface="Roboto" pitchFamily="34" charset="0"/>
                <a:ea typeface="Roboto" pitchFamily="34" charset="-122"/>
                <a:cs typeface="Roboto" pitchFamily="34" charset="-120"/>
              </a:rPr>
              <a:t>Zero Re-Auth + ~3ms</a:t>
            </a:r>
            <a:endParaRPr lang="en-US" sz="780" dirty="0"/>
          </a:p>
          <a:p>
            <a:pPr algn="ctr" indent="0" marL="0">
              <a:buNone/>
            </a:pPr>
            <a:r>
              <a:rPr lang="en-US" sz="780" dirty="0">
                <a:solidFill>
                  <a:srgbClr val="5F6368"/>
                </a:solidFill>
                <a:latin typeface="Roboto" pitchFamily="34" charset="0"/>
                <a:ea typeface="Roboto" pitchFamily="34" charset="-122"/>
                <a:cs typeface="Roboto" pitchFamily="34" charset="-120"/>
              </a:rPr>
              <a:t>Valkey JTI Revoke Check</a:t>
            </a:r>
            <a:endParaRPr lang="en-US" sz="780" dirty="0"/>
          </a:p>
        </p:txBody>
      </p:sp>
      <p:sp>
        <p:nvSpPr>
          <p:cNvPr id="69" name="Shape 67"/>
          <p:cNvSpPr/>
          <p:nvPr/>
        </p:nvSpPr>
        <p:spPr>
          <a:xfrm>
            <a:off x="8394192" y="896112"/>
            <a:ext cx="3419856" cy="5266944"/>
          </a:xfrm>
          <a:prstGeom prst="roundRect">
            <a:avLst>
              <a:gd name="adj" fmla="val 1070"/>
            </a:avLst>
          </a:prstGeom>
          <a:solidFill>
            <a:srgbClr val="F8F9FA"/>
          </a:solidFill>
          <a:ln w="22225">
            <a:solidFill>
              <a:srgbClr val="0D7A75"/>
            </a:solidFill>
            <a:prstDash val="solid"/>
          </a:ln>
        </p:spPr>
      </p:sp>
      <p:sp>
        <p:nvSpPr>
          <p:cNvPr id="70" name="Text 68"/>
          <p:cNvSpPr/>
          <p:nvPr/>
        </p:nvSpPr>
        <p:spPr>
          <a:xfrm>
            <a:off x="8467344" y="1005840"/>
            <a:ext cx="3273552" cy="475488"/>
          </a:xfrm>
          <a:prstGeom prst="rect">
            <a:avLst/>
          </a:prstGeom>
          <a:noFill/>
          <a:ln/>
        </p:spPr>
        <p:txBody>
          <a:bodyPr wrap="square" rtlCol="0" anchor="ctr"/>
          <a:lstStyle/>
          <a:p>
            <a:pPr algn="ctr" indent="0" marL="0">
              <a:buNone/>
            </a:pPr>
            <a:r>
              <a:rPr lang="en-US" sz="1100" b="1" dirty="0">
                <a:solidFill>
                  <a:srgbClr val="0F2942"/>
                </a:solidFill>
                <a:latin typeface="Google Sans" pitchFamily="34" charset="0"/>
                <a:ea typeface="Google Sans" pitchFamily="34" charset="-122"/>
                <a:cs typeface="Google Sans" pitchFamily="34" charset="-120"/>
              </a:rPr>
              <a:t>LAYER 3: ISOLATION DATA PLANES</a:t>
            </a:r>
            <a:endParaRPr lang="en-US" sz="1100" dirty="0"/>
          </a:p>
          <a:p>
            <a:pPr algn="ctr" indent="0" marL="0">
              <a:buNone/>
            </a:pPr>
            <a:r>
              <a:rPr lang="en-US" sz="1100" b="1" dirty="0">
                <a:solidFill>
                  <a:srgbClr val="0F2942"/>
                </a:solidFill>
                <a:latin typeface="Google Sans" pitchFamily="34" charset="0"/>
                <a:ea typeface="Google Sans" pitchFamily="34" charset="-122"/>
                <a:cs typeface="Google Sans" pitchFamily="34" charset="-120"/>
              </a:rPr>
              <a:t>(Maps to 4 Physical VPC-SC Perimeters)</a:t>
            </a:r>
            <a:endParaRPr lang="en-US" sz="1100" dirty="0"/>
          </a:p>
        </p:txBody>
      </p:sp>
      <p:sp>
        <p:nvSpPr>
          <p:cNvPr id="71" name="Shape 69"/>
          <p:cNvSpPr/>
          <p:nvPr/>
        </p:nvSpPr>
        <p:spPr>
          <a:xfrm>
            <a:off x="8558784" y="1536192"/>
            <a:ext cx="3090672" cy="4462272"/>
          </a:xfrm>
          <a:prstGeom prst="roundRect">
            <a:avLst>
              <a:gd name="adj" fmla="val 1479"/>
            </a:avLst>
          </a:prstGeom>
          <a:solidFill>
            <a:srgbClr val="0B2545"/>
          </a:solidFill>
          <a:ln w="12700">
            <a:solidFill>
              <a:srgbClr val="0F2942"/>
            </a:solidFill>
            <a:prstDash val="solid"/>
          </a:ln>
        </p:spPr>
      </p:sp>
      <p:sp>
        <p:nvSpPr>
          <p:cNvPr id="72" name="Shape 70"/>
          <p:cNvSpPr/>
          <p:nvPr/>
        </p:nvSpPr>
        <p:spPr>
          <a:xfrm>
            <a:off x="8723376" y="1719072"/>
            <a:ext cx="2761488" cy="1078992"/>
          </a:xfrm>
          <a:prstGeom prst="roundRect">
            <a:avLst>
              <a:gd name="adj" fmla="val 5085"/>
            </a:avLst>
          </a:prstGeom>
          <a:solidFill>
            <a:srgbClr val="FFFFFF"/>
          </a:solidFill>
          <a:ln/>
        </p:spPr>
      </p:sp>
      <p:sp>
        <p:nvSpPr>
          <p:cNvPr id="73" name="Shape 71"/>
          <p:cNvSpPr/>
          <p:nvPr/>
        </p:nvSpPr>
        <p:spPr>
          <a:xfrm>
            <a:off x="9692640" y="1810512"/>
            <a:ext cx="822960" cy="365760"/>
          </a:xfrm>
          <a:prstGeom prst="roundRect">
            <a:avLst>
              <a:gd name="adj" fmla="val 12500"/>
            </a:avLst>
          </a:prstGeom>
          <a:solidFill>
            <a:srgbClr val="0D7A75"/>
          </a:solidFill>
          <a:ln/>
        </p:spPr>
      </p:sp>
      <p:sp>
        <p:nvSpPr>
          <p:cNvPr id="74" name="Text 72"/>
          <p:cNvSpPr/>
          <p:nvPr/>
        </p:nvSpPr>
        <p:spPr>
          <a:xfrm>
            <a:off x="9692640" y="1810512"/>
            <a:ext cx="822960" cy="365760"/>
          </a:xfrm>
          <a:prstGeom prst="rect">
            <a:avLst/>
          </a:prstGeom>
          <a:noFill/>
          <a:ln/>
        </p:spPr>
        <p:txBody>
          <a:bodyPr wrap="square" rtlCol="0" anchor="ctr"/>
          <a:lstStyle/>
          <a:p>
            <a:pPr algn="ctr" indent="0" marL="0">
              <a:buNone/>
            </a:pPr>
            <a:r>
              <a:rPr lang="en-US" sz="980" b="1" dirty="0">
                <a:solidFill>
                  <a:srgbClr val="FFFFFF"/>
                </a:solidFill>
                <a:latin typeface="Google Sans" pitchFamily="34" charset="0"/>
                <a:ea typeface="Google Sans" pitchFamily="34" charset="-122"/>
                <a:cs typeface="Google Sans" pitchFamily="34" charset="-120"/>
              </a:rPr>
              <a:t>PAT A</a:t>
            </a:r>
            <a:endParaRPr lang="en-US" sz="980" dirty="0"/>
          </a:p>
        </p:txBody>
      </p:sp>
      <p:sp>
        <p:nvSpPr>
          <p:cNvPr id="75" name="Text 73"/>
          <p:cNvSpPr/>
          <p:nvPr/>
        </p:nvSpPr>
        <p:spPr>
          <a:xfrm>
            <a:off x="8796528" y="2249424"/>
            <a:ext cx="2615184" cy="438912"/>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Pattern A: Shared Pool &amp; AlloyDB RLS (Perimeter 3)</a:t>
            </a:r>
            <a:endParaRPr lang="en-US" sz="940" dirty="0"/>
          </a:p>
        </p:txBody>
      </p:sp>
      <p:sp>
        <p:nvSpPr>
          <p:cNvPr id="76" name="Shape 74"/>
          <p:cNvSpPr/>
          <p:nvPr/>
        </p:nvSpPr>
        <p:spPr>
          <a:xfrm>
            <a:off x="10104120" y="2798064"/>
            <a:ext cx="0" cy="256032"/>
          </a:xfrm>
          <a:prstGeom prst="line">
            <a:avLst/>
          </a:prstGeom>
          <a:noFill/>
          <a:ln w="19050">
            <a:solidFill>
              <a:srgbClr val="FFFFFF"/>
            </a:solidFill>
            <a:prstDash val="solid"/>
            <a:tailEnd type="triangle" w="sm" len="sm"/>
          </a:ln>
        </p:spPr>
      </p:sp>
      <p:sp>
        <p:nvSpPr>
          <p:cNvPr id="77" name="Shape 75"/>
          <p:cNvSpPr/>
          <p:nvPr/>
        </p:nvSpPr>
        <p:spPr>
          <a:xfrm>
            <a:off x="8723376" y="3054096"/>
            <a:ext cx="2761488" cy="1188720"/>
          </a:xfrm>
          <a:prstGeom prst="roundRect">
            <a:avLst>
              <a:gd name="adj" fmla="val 4615"/>
            </a:avLst>
          </a:prstGeom>
          <a:solidFill>
            <a:srgbClr val="FFFFFF"/>
          </a:solidFill>
          <a:ln w="22225">
            <a:solidFill>
              <a:srgbClr val="D93025"/>
            </a:solidFill>
            <a:prstDash val="dash"/>
          </a:ln>
        </p:spPr>
      </p:sp>
      <p:sp>
        <p:nvSpPr>
          <p:cNvPr id="78" name="Shape 76"/>
          <p:cNvSpPr/>
          <p:nvPr/>
        </p:nvSpPr>
        <p:spPr>
          <a:xfrm>
            <a:off x="8869680" y="3163824"/>
            <a:ext cx="1152144" cy="365760"/>
          </a:xfrm>
          <a:prstGeom prst="roundRect">
            <a:avLst>
              <a:gd name="adj" fmla="val 12500"/>
            </a:avLst>
          </a:prstGeom>
          <a:solidFill>
            <a:srgbClr val="E8F0FE"/>
          </a:solidFill>
          <a:ln w="10160">
            <a:solidFill>
              <a:srgbClr val="4285F4"/>
            </a:solidFill>
            <a:prstDash val="solid"/>
          </a:ln>
        </p:spPr>
      </p:sp>
      <p:sp>
        <p:nvSpPr>
          <p:cNvPr id="79" name="Text 77"/>
          <p:cNvSpPr/>
          <p:nvPr/>
        </p:nvSpPr>
        <p:spPr>
          <a:xfrm>
            <a:off x="8869680" y="3163824"/>
            <a:ext cx="1152144" cy="365760"/>
          </a:xfrm>
          <a:prstGeom prst="rect">
            <a:avLst/>
          </a:prstGeom>
          <a:noFill/>
          <a:ln/>
        </p:spPr>
        <p:txBody>
          <a:bodyPr wrap="square" rtlCol="0" anchor="ctr"/>
          <a:lstStyle/>
          <a:p>
            <a:pPr algn="ctr" indent="0" marL="0">
              <a:buNone/>
            </a:pPr>
            <a:r>
              <a:rPr lang="en-US" sz="820" b="1" dirty="0">
                <a:solidFill>
                  <a:srgbClr val="174EA6"/>
                </a:solidFill>
                <a:latin typeface="Google Sans" pitchFamily="34" charset="0"/>
                <a:ea typeface="Google Sans" pitchFamily="34" charset="-122"/>
                <a:cs typeface="Google Sans" pitchFamily="34" charset="-120"/>
              </a:rPr>
              <a:t>PAT B • VPC-SC</a:t>
            </a:r>
            <a:endParaRPr lang="en-US" sz="820" dirty="0"/>
          </a:p>
        </p:txBody>
      </p:sp>
      <p:sp>
        <p:nvSpPr>
          <p:cNvPr id="80" name="Shape 78"/>
          <p:cNvSpPr/>
          <p:nvPr/>
        </p:nvSpPr>
        <p:spPr>
          <a:xfrm>
            <a:off x="10186416" y="3163824"/>
            <a:ext cx="1152144" cy="365760"/>
          </a:xfrm>
          <a:prstGeom prst="roundRect">
            <a:avLst>
              <a:gd name="adj" fmla="val 12500"/>
            </a:avLst>
          </a:prstGeom>
          <a:solidFill>
            <a:srgbClr val="E6F4EA"/>
          </a:solidFill>
          <a:ln w="10160">
            <a:solidFill>
              <a:srgbClr val="34A853"/>
            </a:solidFill>
            <a:prstDash val="solid"/>
          </a:ln>
        </p:spPr>
      </p:sp>
      <p:sp>
        <p:nvSpPr>
          <p:cNvPr id="81" name="Text 79"/>
          <p:cNvSpPr/>
          <p:nvPr/>
        </p:nvSpPr>
        <p:spPr>
          <a:xfrm>
            <a:off x="10186416" y="3163824"/>
            <a:ext cx="1152144" cy="365760"/>
          </a:xfrm>
          <a:prstGeom prst="rect">
            <a:avLst/>
          </a:prstGeom>
          <a:noFill/>
          <a:ln/>
        </p:spPr>
        <p:txBody>
          <a:bodyPr wrap="square" rtlCol="0" anchor="ctr"/>
          <a:lstStyle/>
          <a:p>
            <a:pPr algn="ctr" indent="0" marL="0">
              <a:buNone/>
            </a:pPr>
            <a:r>
              <a:rPr lang="en-US" sz="820" b="1" dirty="0">
                <a:solidFill>
                  <a:srgbClr val="0D652D"/>
                </a:solidFill>
                <a:latin typeface="Google Sans" pitchFamily="34" charset="0"/>
                <a:ea typeface="Google Sans" pitchFamily="34" charset="-122"/>
                <a:cs typeface="Google Sans" pitchFamily="34" charset="-120"/>
              </a:rPr>
              <a:t>PAT C • /28 PSC</a:t>
            </a:r>
            <a:endParaRPr lang="en-US" sz="820" dirty="0"/>
          </a:p>
        </p:txBody>
      </p:sp>
      <p:sp>
        <p:nvSpPr>
          <p:cNvPr id="82" name="Text 80"/>
          <p:cNvSpPr/>
          <p:nvPr/>
        </p:nvSpPr>
        <p:spPr>
          <a:xfrm>
            <a:off x="8796528" y="3621024"/>
            <a:ext cx="2615184" cy="512064"/>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Sovereign Silo &amp; Hybrid PSC Spokes (Perimeter 4)</a:t>
            </a:r>
            <a:endParaRPr lang="en-US" sz="940" dirty="0"/>
          </a:p>
        </p:txBody>
      </p:sp>
      <p:sp>
        <p:nvSpPr>
          <p:cNvPr id="83" name="Shape 81"/>
          <p:cNvSpPr/>
          <p:nvPr/>
        </p:nvSpPr>
        <p:spPr>
          <a:xfrm>
            <a:off x="9464040" y="4242816"/>
            <a:ext cx="0" cy="292608"/>
          </a:xfrm>
          <a:prstGeom prst="line">
            <a:avLst/>
          </a:prstGeom>
          <a:noFill/>
          <a:ln w="17145">
            <a:solidFill>
              <a:srgbClr val="FFFFFF"/>
            </a:solidFill>
            <a:prstDash val="solid"/>
            <a:headEnd type="triangle" w="sm" len="sm"/>
            <a:tailEnd type="triangle" w="sm" len="sm"/>
          </a:ln>
        </p:spPr>
      </p:sp>
      <p:sp>
        <p:nvSpPr>
          <p:cNvPr id="84" name="Shape 82"/>
          <p:cNvSpPr/>
          <p:nvPr/>
        </p:nvSpPr>
        <p:spPr>
          <a:xfrm>
            <a:off x="10104120" y="4242816"/>
            <a:ext cx="0" cy="292608"/>
          </a:xfrm>
          <a:prstGeom prst="line">
            <a:avLst/>
          </a:prstGeom>
          <a:noFill/>
          <a:ln w="17145">
            <a:solidFill>
              <a:srgbClr val="FFFFFF"/>
            </a:solidFill>
            <a:prstDash val="solid"/>
            <a:headEnd type="triangle" w="sm" len="sm"/>
            <a:tailEnd type="triangle" w="sm" len="sm"/>
          </a:ln>
        </p:spPr>
      </p:sp>
      <p:sp>
        <p:nvSpPr>
          <p:cNvPr id="85" name="Shape 83"/>
          <p:cNvSpPr/>
          <p:nvPr/>
        </p:nvSpPr>
        <p:spPr>
          <a:xfrm>
            <a:off x="10744200" y="4242816"/>
            <a:ext cx="0" cy="292608"/>
          </a:xfrm>
          <a:prstGeom prst="line">
            <a:avLst/>
          </a:prstGeom>
          <a:noFill/>
          <a:ln w="17145">
            <a:solidFill>
              <a:srgbClr val="FFFFFF"/>
            </a:solidFill>
            <a:prstDash val="solid"/>
            <a:headEnd type="triangle" w="sm" len="sm"/>
            <a:tailEnd type="triangle" w="sm" len="sm"/>
          </a:ln>
        </p:spPr>
      </p:sp>
      <p:sp>
        <p:nvSpPr>
          <p:cNvPr id="86" name="Shape 84"/>
          <p:cNvSpPr/>
          <p:nvPr/>
        </p:nvSpPr>
        <p:spPr>
          <a:xfrm>
            <a:off x="8723376" y="4535424"/>
            <a:ext cx="2761488" cy="1243584"/>
          </a:xfrm>
          <a:prstGeom prst="roundRect">
            <a:avLst>
              <a:gd name="adj" fmla="val 4412"/>
            </a:avLst>
          </a:prstGeom>
          <a:solidFill>
            <a:srgbClr val="FFFFFF"/>
          </a:solidFill>
          <a:ln/>
        </p:spPr>
      </p:sp>
      <p:sp>
        <p:nvSpPr>
          <p:cNvPr id="87" name="Shape 85"/>
          <p:cNvSpPr/>
          <p:nvPr/>
        </p:nvSpPr>
        <p:spPr>
          <a:xfrm>
            <a:off x="9692640" y="4645152"/>
            <a:ext cx="822960" cy="365760"/>
          </a:xfrm>
          <a:prstGeom prst="roundRect">
            <a:avLst>
              <a:gd name="adj" fmla="val 12500"/>
            </a:avLst>
          </a:prstGeom>
          <a:solidFill>
            <a:srgbClr val="475569"/>
          </a:solidFill>
          <a:ln/>
        </p:spPr>
      </p:sp>
      <p:sp>
        <p:nvSpPr>
          <p:cNvPr id="88" name="Text 86"/>
          <p:cNvSpPr/>
          <p:nvPr/>
        </p:nvSpPr>
        <p:spPr>
          <a:xfrm>
            <a:off x="9692640" y="4645152"/>
            <a:ext cx="822960" cy="365760"/>
          </a:xfrm>
          <a:prstGeom prst="rect">
            <a:avLst/>
          </a:prstGeom>
          <a:noFill/>
          <a:ln/>
        </p:spPr>
        <p:txBody>
          <a:bodyPr wrap="square" rtlCol="0" anchor="ctr"/>
          <a:lstStyle/>
          <a:p>
            <a:pPr algn="ctr" indent="0" marL="0">
              <a:buNone/>
            </a:pPr>
            <a:r>
              <a:rPr lang="en-US" sz="920" b="1" dirty="0">
                <a:solidFill>
                  <a:srgbClr val="FFFFFF"/>
                </a:solidFill>
                <a:latin typeface="Google Sans" pitchFamily="34" charset="0"/>
                <a:ea typeface="Google Sans" pitchFamily="34" charset="-122"/>
                <a:cs typeface="Google Sans" pitchFamily="34" charset="-120"/>
              </a:rPr>
              <a:t>OTel</a:t>
            </a:r>
            <a:endParaRPr lang="en-US" sz="920" dirty="0"/>
          </a:p>
        </p:txBody>
      </p:sp>
      <p:sp>
        <p:nvSpPr>
          <p:cNvPr id="89" name="Text 87"/>
          <p:cNvSpPr/>
          <p:nvPr/>
        </p:nvSpPr>
        <p:spPr>
          <a:xfrm>
            <a:off x="8796528" y="5065776"/>
            <a:ext cx="2615184" cy="603504"/>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Hop 5: 2LO/3LO MCP &amp; Governance Hub (Perimeters 1–2)</a:t>
            </a:r>
            <a:endParaRPr lang="en-US" sz="940" dirty="0"/>
          </a:p>
        </p:txBody>
      </p:sp>
      <p:sp>
        <p:nvSpPr>
          <p:cNvPr id="90" name="Text 88"/>
          <p:cNvSpPr/>
          <p:nvPr/>
        </p:nvSpPr>
        <p:spPr>
          <a:xfrm>
            <a:off x="365760" y="6601968"/>
            <a:ext cx="11460175" cy="201168"/>
          </a:xfrm>
          <a:prstGeom prst="rect">
            <a:avLst/>
          </a:prstGeom>
          <a:noFill/>
          <a:ln/>
        </p:spPr>
        <p:txBody>
          <a:bodyPr wrap="none" rtlCol="0" anchor="ctr"/>
          <a:lstStyle/>
          <a:p>
            <a:pPr algn="l" indent="0" marL="0">
              <a:buNone/>
            </a:pPr>
            <a:r>
              <a:rPr lang="en-US" sz="74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20" dirty="0">
                <a:solidFill>
                  <a:srgbClr val="5F6368"/>
                </a:solidFill>
                <a:latin typeface="Roboto" pitchFamily="34" charset="0"/>
                <a:ea typeface="Roboto" pitchFamily="34" charset="-122"/>
                <a:cs typeface="Roboto" pitchFamily="34" charset="-120"/>
              </a:rPr>
              <a:t>Workstream 1 L1 Logical Taxonomy (3 Logical Security Layers → 4 Physical VPC-SC Perimeters on Slide 6)  •  ~42ms p95 5-Hop Control Plane  •  </a:t>
            </a:r>
            <a:pPr algn="l" indent="0" marL="0">
              <a:buNone/>
            </a:pPr>
            <a:r>
              <a:rPr lang="en-US" sz="740" b="1" dirty="0">
                <a:solidFill>
                  <a:srgbClr val="3C4043"/>
                </a:solidFill>
                <a:latin typeface="Google Sans" pitchFamily="34" charset="0"/>
                <a:ea typeface="Google Sans" pitchFamily="34" charset="-122"/>
                <a:cs typeface="Google Sans" pitchFamily="34" charset="-120"/>
              </a:rPr>
              <a:t>Proprietary + Confidential</a:t>
            </a:r>
            <a:endParaRPr lang="en-US" sz="7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WS1</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Figure 1 (L2 Physical) — Vertex AI Agent Engine Multi-Tenant Taxonomy: Pooled (A), Sovereign Silos (B) &amp; Hybrid (C)</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56 SHAPES • 23 CONNECTORS</a:t>
            </a:r>
            <a:endParaRPr lang="en-US" sz="750" dirty="0"/>
          </a:p>
        </p:txBody>
      </p:sp>
      <p:sp>
        <p:nvSpPr>
          <p:cNvPr id="17" name="Shape 15"/>
          <p:cNvSpPr/>
          <p:nvPr/>
        </p:nvSpPr>
        <p:spPr>
          <a:xfrm>
            <a:off x="256032" y="585216"/>
            <a:ext cx="6967728" cy="5961888"/>
          </a:xfrm>
          <a:prstGeom prst="roundRect">
            <a:avLst>
              <a:gd name="adj" fmla="val 1227"/>
            </a:avLst>
          </a:prstGeom>
          <a:solidFill>
            <a:srgbClr val="FFFFFF"/>
          </a:solidFill>
          <a:ln w="12700">
            <a:solidFill>
              <a:srgbClr val="DADCE0"/>
            </a:solidFill>
            <a:prstDash val="solid"/>
          </a:ln>
        </p:spPr>
      </p:sp>
      <p:sp>
        <p:nvSpPr>
          <p:cNvPr id="18" name="Shape 16"/>
          <p:cNvSpPr/>
          <p:nvPr/>
        </p:nvSpPr>
        <p:spPr>
          <a:xfrm>
            <a:off x="7333488" y="585216"/>
            <a:ext cx="4602175" cy="5961888"/>
          </a:xfrm>
          <a:prstGeom prst="roundRect">
            <a:avLst>
              <a:gd name="adj" fmla="val 1590"/>
            </a:avLst>
          </a:prstGeom>
          <a:solidFill>
            <a:srgbClr val="F8F9FA"/>
          </a:solidFill>
          <a:ln w="12700">
            <a:solidFill>
              <a:srgbClr val="DADCE0"/>
            </a:solidFill>
            <a:prstDash val="solid"/>
          </a:ln>
        </p:spPr>
      </p:sp>
      <p:sp>
        <p:nvSpPr>
          <p:cNvPr id="19" name="Shape 17"/>
          <p:cNvSpPr/>
          <p:nvPr/>
        </p:nvSpPr>
        <p:spPr>
          <a:xfrm>
            <a:off x="7443216" y="676656"/>
            <a:ext cx="4382719" cy="786384"/>
          </a:xfrm>
          <a:prstGeom prst="roundRect">
            <a:avLst>
              <a:gd name="adj" fmla="val 9302"/>
            </a:avLst>
          </a:prstGeom>
          <a:solidFill>
            <a:srgbClr val="FFFFFF"/>
          </a:solidFill>
          <a:ln w="10795">
            <a:solidFill>
              <a:srgbClr val="DADCE0"/>
            </a:solidFill>
            <a:prstDash val="solid"/>
          </a:ln>
        </p:spPr>
      </p:sp>
      <p:sp>
        <p:nvSpPr>
          <p:cNvPr id="20" name="Shape 18"/>
          <p:cNvSpPr/>
          <p:nvPr/>
        </p:nvSpPr>
        <p:spPr>
          <a:xfrm>
            <a:off x="7443216" y="676656"/>
            <a:ext cx="73152" cy="786384"/>
          </a:xfrm>
          <a:prstGeom prst="rect">
            <a:avLst/>
          </a:prstGeom>
          <a:solidFill>
            <a:srgbClr val="4285F4"/>
          </a:solidFill>
          <a:ln/>
        </p:spPr>
      </p:sp>
      <p:sp>
        <p:nvSpPr>
          <p:cNvPr id="21" name="Text 19"/>
          <p:cNvSpPr/>
          <p:nvPr/>
        </p:nvSpPr>
        <p:spPr>
          <a:xfrm>
            <a:off x="7571232" y="713232"/>
            <a:ext cx="4199839" cy="164592"/>
          </a:xfrm>
          <a:prstGeom prst="rect">
            <a:avLst/>
          </a:prstGeom>
          <a:noFill/>
          <a:ln/>
        </p:spPr>
        <p:txBody>
          <a:bodyPr wrap="square" rtlCol="0" anchor="ctr"/>
          <a:lstStyle/>
          <a:p>
            <a:pPr indent="0" marL="0">
              <a:buNone/>
            </a:pPr>
            <a:r>
              <a:rPr lang="en-US" sz="700" b="1" dirty="0">
                <a:solidFill>
                  <a:srgbClr val="4285F4"/>
                </a:solidFill>
                <a:latin typeface="Google Sans" pitchFamily="34" charset="0"/>
                <a:ea typeface="Google Sans" pitchFamily="34" charset="-122"/>
                <a:cs typeface="Google Sans" pitchFamily="34" charset="-120"/>
              </a:rPr>
              <a:t>FIGURE 1 (L2 PHYSICAL) • ARCHITECTURE CENTER GUIDE (#78)</a:t>
            </a:r>
            <a:endParaRPr lang="en-US" sz="700" dirty="0"/>
          </a:p>
        </p:txBody>
      </p:sp>
      <p:sp>
        <p:nvSpPr>
          <p:cNvPr id="22" name="Text 20"/>
          <p:cNvSpPr/>
          <p:nvPr/>
        </p:nvSpPr>
        <p:spPr>
          <a:xfrm>
            <a:off x="7571232" y="886968"/>
            <a:ext cx="4199839" cy="530352"/>
          </a:xfrm>
          <a:prstGeom prst="rect">
            <a:avLst/>
          </a:prstGeom>
          <a:noFill/>
          <a:ln/>
        </p:spPr>
        <p:txBody>
          <a:bodyPr wrap="square" rtlCol="0" anchor="t"/>
          <a:lstStyle/>
          <a:p>
            <a:pPr indent="0" marL="0">
              <a:buNone/>
            </a:pPr>
            <a:r>
              <a:rPr lang="en-US" sz="810" b="1" dirty="0">
                <a:solidFill>
                  <a:srgbClr val="3C4043"/>
                </a:solidFill>
                <a:latin typeface="Google Sans" pitchFamily="34" charset="0"/>
                <a:ea typeface="Google Sans" pitchFamily="34" charset="-122"/>
                <a:cs typeface="Google Sans" pitchFamily="34" charset="-120"/>
              </a:rPr>
              <a:t>How do B2B SaaS platforms and large enterprises serve thousands of tenants across Pooled (Pattern A), Sovereign Silo (Pattern B), and Dynamic Hybrid (Pattern C) isolation models using one 80% reusable agentic codebase?</a:t>
            </a:r>
            <a:endParaRPr lang="en-US" sz="810" dirty="0"/>
          </a:p>
        </p:txBody>
      </p:sp>
      <p:sp>
        <p:nvSpPr>
          <p:cNvPr id="23" name="Text 21"/>
          <p:cNvSpPr/>
          <p:nvPr/>
        </p:nvSpPr>
        <p:spPr>
          <a:xfrm>
            <a:off x="7461504" y="1517904"/>
            <a:ext cx="4346143" cy="164592"/>
          </a:xfrm>
          <a:prstGeom prst="rect">
            <a:avLst/>
          </a:prstGeom>
          <a:noFill/>
          <a:ln/>
        </p:spPr>
        <p:txBody>
          <a:bodyPr wrap="square" rtlCol="0" anchor="ctr"/>
          <a:lstStyle/>
          <a:p>
            <a:pPr indent="0" marL="0">
              <a:buNone/>
            </a:pPr>
            <a:r>
              <a:rPr lang="en-US" sz="700" b="1" dirty="0">
                <a:solidFill>
                  <a:srgbClr val="5F6368"/>
                </a:solidFill>
                <a:latin typeface="Google Sans" pitchFamily="34" charset="0"/>
                <a:ea typeface="Google Sans" pitchFamily="34" charset="-122"/>
                <a:cs typeface="Google Sans" pitchFamily="34" charset="-120"/>
              </a:rPr>
              <a:t>4 PHYSICAL NETWORK PERIMETERS (4-ZONE HUB-AND-SPOKE VPC-SC)</a:t>
            </a:r>
            <a:endParaRPr lang="en-US" sz="700" dirty="0"/>
          </a:p>
        </p:txBody>
      </p:sp>
      <p:sp>
        <p:nvSpPr>
          <p:cNvPr id="24" name="Shape 22"/>
          <p:cNvSpPr/>
          <p:nvPr/>
        </p:nvSpPr>
        <p:spPr>
          <a:xfrm>
            <a:off x="7443216" y="1700784"/>
            <a:ext cx="4382719" cy="594360"/>
          </a:xfrm>
          <a:prstGeom prst="roundRect">
            <a:avLst>
              <a:gd name="adj" fmla="val 9231"/>
            </a:avLst>
          </a:prstGeom>
          <a:solidFill>
            <a:srgbClr val="FFFFFF"/>
          </a:solidFill>
          <a:ln w="9525">
            <a:solidFill>
              <a:srgbClr val="DADCE0"/>
            </a:solidFill>
            <a:prstDash val="solid"/>
          </a:ln>
        </p:spPr>
      </p:sp>
      <p:sp>
        <p:nvSpPr>
          <p:cNvPr id="25" name="Shape 23"/>
          <p:cNvSpPr/>
          <p:nvPr/>
        </p:nvSpPr>
        <p:spPr>
          <a:xfrm>
            <a:off x="7443216" y="1700784"/>
            <a:ext cx="64008" cy="594360"/>
          </a:xfrm>
          <a:prstGeom prst="rect">
            <a:avLst/>
          </a:prstGeom>
          <a:solidFill>
            <a:srgbClr val="4285F4"/>
          </a:solidFill>
          <a:ln/>
        </p:spPr>
      </p:sp>
      <p:sp>
        <p:nvSpPr>
          <p:cNvPr id="26" name="Shape 24"/>
          <p:cNvSpPr/>
          <p:nvPr/>
        </p:nvSpPr>
        <p:spPr>
          <a:xfrm>
            <a:off x="7552944" y="1746504"/>
            <a:ext cx="804672" cy="155448"/>
          </a:xfrm>
          <a:prstGeom prst="roundRect">
            <a:avLst>
              <a:gd name="adj" fmla="val 23529"/>
            </a:avLst>
          </a:prstGeom>
          <a:solidFill>
            <a:srgbClr val="E8F0FE"/>
          </a:solidFill>
          <a:ln/>
        </p:spPr>
      </p:sp>
      <p:sp>
        <p:nvSpPr>
          <p:cNvPr id="27" name="Text 25"/>
          <p:cNvSpPr/>
          <p:nvPr/>
        </p:nvSpPr>
        <p:spPr>
          <a:xfrm>
            <a:off x="7552944" y="1746504"/>
            <a:ext cx="804672" cy="155448"/>
          </a:xfrm>
          <a:prstGeom prst="rect">
            <a:avLst/>
          </a:prstGeom>
          <a:noFill/>
          <a:ln/>
        </p:spPr>
        <p:txBody>
          <a:bodyPr wrap="none" rtlCol="0" anchor="ctr"/>
          <a:lstStyle/>
          <a:p>
            <a:pPr algn="ctr" indent="0" marL="0">
              <a:buNone/>
            </a:pPr>
            <a:r>
              <a:rPr lang="en-US" sz="600" b="1" dirty="0">
                <a:solidFill>
                  <a:srgbClr val="174EA6"/>
                </a:solidFill>
                <a:latin typeface="Google Sans" pitchFamily="34" charset="0"/>
                <a:ea typeface="Google Sans" pitchFamily="34" charset="-122"/>
                <a:cs typeface="Google Sans" pitchFamily="34" charset="-120"/>
              </a:rPr>
              <a:t>BLUE ZONE</a:t>
            </a:r>
            <a:endParaRPr lang="en-US" sz="600" dirty="0"/>
          </a:p>
        </p:txBody>
      </p:sp>
      <p:sp>
        <p:nvSpPr>
          <p:cNvPr id="28" name="Text 26"/>
          <p:cNvSpPr/>
          <p:nvPr/>
        </p:nvSpPr>
        <p:spPr>
          <a:xfrm>
            <a:off x="8412480" y="172821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1. Routing Hub (Ingress &amp; Identity PEP)</a:t>
            </a:r>
            <a:endParaRPr lang="en-US" sz="730" dirty="0"/>
          </a:p>
        </p:txBody>
      </p:sp>
      <p:sp>
        <p:nvSpPr>
          <p:cNvPr id="29" name="Text 27"/>
          <p:cNvSpPr/>
          <p:nvPr/>
        </p:nvSpPr>
        <p:spPr>
          <a:xfrm>
            <a:off x="7552944" y="1901952"/>
            <a:ext cx="4236415" cy="374904"/>
          </a:xfrm>
          <a:prstGeom prst="rect">
            <a:avLst/>
          </a:prstGeom>
          <a:noFill/>
          <a:ln/>
        </p:spPr>
        <p:txBody>
          <a:bodyPr wrap="square" rtlCol="0" anchor="t"/>
          <a:lstStyle/>
          <a:p>
            <a:pPr indent="0" marL="0">
              <a:buNone/>
            </a:pPr>
            <a:r>
              <a:rPr lang="en-US" sz="660" dirty="0">
                <a:solidFill>
                  <a:srgbClr val="5F6368"/>
                </a:solidFill>
                <a:latin typeface="Roboto" pitchFamily="34" charset="0"/>
                <a:ea typeface="Roboto" pitchFamily="34" charset="-122"/>
                <a:cs typeface="Roboto" pitchFamily="34" charset="-120"/>
              </a:rPr>
              <a:t>Terminates TLS at External ALB, enforces Cloud Armor WAF &amp; Model Armor screening, authenticates via IAP, and resolves tenant tier.</a:t>
            </a:r>
            <a:endParaRPr lang="en-US" sz="660" dirty="0"/>
          </a:p>
        </p:txBody>
      </p:sp>
      <p:sp>
        <p:nvSpPr>
          <p:cNvPr id="30" name="Shape 28"/>
          <p:cNvSpPr/>
          <p:nvPr/>
        </p:nvSpPr>
        <p:spPr>
          <a:xfrm>
            <a:off x="7443216" y="2340864"/>
            <a:ext cx="4382719" cy="594360"/>
          </a:xfrm>
          <a:prstGeom prst="roundRect">
            <a:avLst>
              <a:gd name="adj" fmla="val 9231"/>
            </a:avLst>
          </a:prstGeom>
          <a:solidFill>
            <a:srgbClr val="FFFFFF"/>
          </a:solidFill>
          <a:ln w="9525">
            <a:solidFill>
              <a:srgbClr val="DADCE0"/>
            </a:solidFill>
            <a:prstDash val="solid"/>
          </a:ln>
        </p:spPr>
      </p:sp>
      <p:sp>
        <p:nvSpPr>
          <p:cNvPr id="31" name="Shape 29"/>
          <p:cNvSpPr/>
          <p:nvPr/>
        </p:nvSpPr>
        <p:spPr>
          <a:xfrm>
            <a:off x="7443216" y="2340864"/>
            <a:ext cx="64008" cy="594360"/>
          </a:xfrm>
          <a:prstGeom prst="rect">
            <a:avLst/>
          </a:prstGeom>
          <a:solidFill>
            <a:srgbClr val="34A853"/>
          </a:solidFill>
          <a:ln/>
        </p:spPr>
      </p:sp>
      <p:sp>
        <p:nvSpPr>
          <p:cNvPr id="32" name="Shape 30"/>
          <p:cNvSpPr/>
          <p:nvPr/>
        </p:nvSpPr>
        <p:spPr>
          <a:xfrm>
            <a:off x="7552944" y="2386584"/>
            <a:ext cx="804672" cy="155448"/>
          </a:xfrm>
          <a:prstGeom prst="roundRect">
            <a:avLst>
              <a:gd name="adj" fmla="val 23529"/>
            </a:avLst>
          </a:prstGeom>
          <a:solidFill>
            <a:srgbClr val="E6F4EA"/>
          </a:solidFill>
          <a:ln/>
        </p:spPr>
      </p:sp>
      <p:sp>
        <p:nvSpPr>
          <p:cNvPr id="33" name="Text 31"/>
          <p:cNvSpPr/>
          <p:nvPr/>
        </p:nvSpPr>
        <p:spPr>
          <a:xfrm>
            <a:off x="7552944" y="2386584"/>
            <a:ext cx="804672" cy="155448"/>
          </a:xfrm>
          <a:prstGeom prst="rect">
            <a:avLst/>
          </a:prstGeom>
          <a:noFill/>
          <a:ln/>
        </p:spPr>
        <p:txBody>
          <a:bodyPr wrap="none" rtlCol="0" anchor="ctr"/>
          <a:lstStyle/>
          <a:p>
            <a:pPr algn="ctr" indent="0" marL="0">
              <a:buNone/>
            </a:pPr>
            <a:r>
              <a:rPr lang="en-US" sz="600" b="1" dirty="0">
                <a:solidFill>
                  <a:srgbClr val="0D652D"/>
                </a:solidFill>
                <a:latin typeface="Google Sans" pitchFamily="34" charset="0"/>
                <a:ea typeface="Google Sans" pitchFamily="34" charset="-122"/>
                <a:cs typeface="Google Sans" pitchFamily="34" charset="-120"/>
              </a:rPr>
              <a:t>GREEN ZONE</a:t>
            </a:r>
            <a:endParaRPr lang="en-US" sz="600" dirty="0"/>
          </a:p>
        </p:txBody>
      </p:sp>
      <p:sp>
        <p:nvSpPr>
          <p:cNvPr id="34" name="Text 32"/>
          <p:cNvSpPr/>
          <p:nvPr/>
        </p:nvSpPr>
        <p:spPr>
          <a:xfrm>
            <a:off x="8412480" y="236829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2. Central Governance &amp; Security Hub</a:t>
            </a:r>
            <a:endParaRPr lang="en-US" sz="730" dirty="0"/>
          </a:p>
        </p:txBody>
      </p:sp>
      <p:sp>
        <p:nvSpPr>
          <p:cNvPr id="35" name="Text 33"/>
          <p:cNvSpPr/>
          <p:nvPr/>
        </p:nvSpPr>
        <p:spPr>
          <a:xfrm>
            <a:off x="7552944" y="2542032"/>
            <a:ext cx="4236415" cy="374904"/>
          </a:xfrm>
          <a:prstGeom prst="rect">
            <a:avLst/>
          </a:prstGeom>
          <a:noFill/>
          <a:ln/>
        </p:spPr>
        <p:txBody>
          <a:bodyPr wrap="square" rtlCol="0" anchor="t"/>
          <a:lstStyle/>
          <a:p>
            <a:pPr indent="0" marL="0">
              <a:buNone/>
            </a:pPr>
            <a:r>
              <a:rPr lang="en-US" sz="660" dirty="0">
                <a:solidFill>
                  <a:srgbClr val="5F6368"/>
                </a:solidFill>
                <a:latin typeface="Roboto" pitchFamily="34" charset="0"/>
                <a:ea typeface="Roboto" pitchFamily="34" charset="-122"/>
                <a:cs typeface="Roboto" pitchFamily="34" charset="-120"/>
              </a:rPr>
              <a:t>Centralizes Security Command Center posture monitoring, IAM Principal Access Boundaries, Cloud KMS keys, and BigQuery OTel FinOps.</a:t>
            </a:r>
            <a:endParaRPr lang="en-US" sz="660" dirty="0"/>
          </a:p>
        </p:txBody>
      </p:sp>
      <p:sp>
        <p:nvSpPr>
          <p:cNvPr id="36" name="Shape 34"/>
          <p:cNvSpPr/>
          <p:nvPr/>
        </p:nvSpPr>
        <p:spPr>
          <a:xfrm>
            <a:off x="7443216" y="2980944"/>
            <a:ext cx="4382719" cy="594360"/>
          </a:xfrm>
          <a:prstGeom prst="roundRect">
            <a:avLst>
              <a:gd name="adj" fmla="val 9231"/>
            </a:avLst>
          </a:prstGeom>
          <a:solidFill>
            <a:srgbClr val="FFFFFF"/>
          </a:solidFill>
          <a:ln w="9525">
            <a:solidFill>
              <a:srgbClr val="DADCE0"/>
            </a:solidFill>
            <a:prstDash val="solid"/>
          </a:ln>
        </p:spPr>
      </p:sp>
      <p:sp>
        <p:nvSpPr>
          <p:cNvPr id="37" name="Shape 35"/>
          <p:cNvSpPr/>
          <p:nvPr/>
        </p:nvSpPr>
        <p:spPr>
          <a:xfrm>
            <a:off x="7443216" y="2980944"/>
            <a:ext cx="64008" cy="594360"/>
          </a:xfrm>
          <a:prstGeom prst="rect">
            <a:avLst/>
          </a:prstGeom>
          <a:solidFill>
            <a:srgbClr val="FBBC04"/>
          </a:solidFill>
          <a:ln/>
        </p:spPr>
      </p:sp>
      <p:sp>
        <p:nvSpPr>
          <p:cNvPr id="38" name="Shape 36"/>
          <p:cNvSpPr/>
          <p:nvPr/>
        </p:nvSpPr>
        <p:spPr>
          <a:xfrm>
            <a:off x="7552944" y="3026664"/>
            <a:ext cx="804672" cy="155448"/>
          </a:xfrm>
          <a:prstGeom prst="roundRect">
            <a:avLst>
              <a:gd name="adj" fmla="val 23529"/>
            </a:avLst>
          </a:prstGeom>
          <a:solidFill>
            <a:srgbClr val="FEF7E0"/>
          </a:solidFill>
          <a:ln/>
        </p:spPr>
      </p:sp>
      <p:sp>
        <p:nvSpPr>
          <p:cNvPr id="39" name="Text 37"/>
          <p:cNvSpPr/>
          <p:nvPr/>
        </p:nvSpPr>
        <p:spPr>
          <a:xfrm>
            <a:off x="7552944" y="3026664"/>
            <a:ext cx="804672" cy="155448"/>
          </a:xfrm>
          <a:prstGeom prst="rect">
            <a:avLst/>
          </a:prstGeom>
          <a:noFill/>
          <a:ln/>
        </p:spPr>
        <p:txBody>
          <a:bodyPr wrap="none" rtlCol="0" anchor="ctr"/>
          <a:lstStyle/>
          <a:p>
            <a:pPr algn="ctr" indent="0" marL="0">
              <a:buNone/>
            </a:pPr>
            <a:r>
              <a:rPr lang="en-US" sz="600" b="1" dirty="0">
                <a:solidFill>
                  <a:srgbClr val="B06000"/>
                </a:solidFill>
                <a:latin typeface="Google Sans" pitchFamily="34" charset="0"/>
                <a:ea typeface="Google Sans" pitchFamily="34" charset="-122"/>
                <a:cs typeface="Google Sans" pitchFamily="34" charset="-120"/>
              </a:rPr>
              <a:t>YELLOW ZONE</a:t>
            </a:r>
            <a:endParaRPr lang="en-US" sz="600" dirty="0"/>
          </a:p>
        </p:txBody>
      </p:sp>
      <p:sp>
        <p:nvSpPr>
          <p:cNvPr id="40" name="Text 38"/>
          <p:cNvSpPr/>
          <p:nvPr/>
        </p:nvSpPr>
        <p:spPr>
          <a:xfrm>
            <a:off x="8412480" y="300837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3. Pattern A: Pooled Shared Runtime Spoke</a:t>
            </a:r>
            <a:endParaRPr lang="en-US" sz="730" dirty="0"/>
          </a:p>
        </p:txBody>
      </p:sp>
      <p:sp>
        <p:nvSpPr>
          <p:cNvPr id="41" name="Text 39"/>
          <p:cNvSpPr/>
          <p:nvPr/>
        </p:nvSpPr>
        <p:spPr>
          <a:xfrm>
            <a:off x="7552944" y="3182112"/>
            <a:ext cx="4236415" cy="374904"/>
          </a:xfrm>
          <a:prstGeom prst="rect">
            <a:avLst/>
          </a:prstGeom>
          <a:noFill/>
          <a:ln/>
        </p:spPr>
        <p:txBody>
          <a:bodyPr wrap="square" rtlCol="0" anchor="t"/>
          <a:lstStyle/>
          <a:p>
            <a:pPr indent="0" marL="0">
              <a:buNone/>
            </a:pPr>
            <a:r>
              <a:rPr lang="en-US" sz="660" dirty="0">
                <a:solidFill>
                  <a:srgbClr val="5F6368"/>
                </a:solidFill>
                <a:latin typeface="Roboto" pitchFamily="34" charset="0"/>
                <a:ea typeface="Roboto" pitchFamily="34" charset="-122"/>
                <a:cs typeface="Roboto" pitchFamily="34" charset="-120"/>
              </a:rPr>
              <a:t>Executes high-density multi-tenant workloads on shared Cloud Run / Agent Engine with 90% shared prompt caching and AlloyDB RLS.</a:t>
            </a:r>
            <a:endParaRPr lang="en-US" sz="660" dirty="0"/>
          </a:p>
        </p:txBody>
      </p:sp>
      <p:sp>
        <p:nvSpPr>
          <p:cNvPr id="42" name="Shape 40"/>
          <p:cNvSpPr/>
          <p:nvPr/>
        </p:nvSpPr>
        <p:spPr>
          <a:xfrm>
            <a:off x="7443216" y="3621024"/>
            <a:ext cx="4382719" cy="594360"/>
          </a:xfrm>
          <a:prstGeom prst="roundRect">
            <a:avLst>
              <a:gd name="adj" fmla="val 9231"/>
            </a:avLst>
          </a:prstGeom>
          <a:solidFill>
            <a:srgbClr val="FFFFFF"/>
          </a:solidFill>
          <a:ln w="9525">
            <a:solidFill>
              <a:srgbClr val="DADCE0"/>
            </a:solidFill>
            <a:prstDash val="solid"/>
          </a:ln>
        </p:spPr>
      </p:sp>
      <p:sp>
        <p:nvSpPr>
          <p:cNvPr id="43" name="Shape 41"/>
          <p:cNvSpPr/>
          <p:nvPr/>
        </p:nvSpPr>
        <p:spPr>
          <a:xfrm>
            <a:off x="7443216" y="3621024"/>
            <a:ext cx="64008" cy="594360"/>
          </a:xfrm>
          <a:prstGeom prst="rect">
            <a:avLst/>
          </a:prstGeom>
          <a:solidFill>
            <a:srgbClr val="EA4335"/>
          </a:solidFill>
          <a:ln/>
        </p:spPr>
      </p:sp>
      <p:sp>
        <p:nvSpPr>
          <p:cNvPr id="44" name="Shape 42"/>
          <p:cNvSpPr/>
          <p:nvPr/>
        </p:nvSpPr>
        <p:spPr>
          <a:xfrm>
            <a:off x="7552944" y="3666744"/>
            <a:ext cx="804672" cy="155448"/>
          </a:xfrm>
          <a:prstGeom prst="roundRect">
            <a:avLst>
              <a:gd name="adj" fmla="val 23529"/>
            </a:avLst>
          </a:prstGeom>
          <a:solidFill>
            <a:srgbClr val="FCE8E6"/>
          </a:solidFill>
          <a:ln/>
        </p:spPr>
      </p:sp>
      <p:sp>
        <p:nvSpPr>
          <p:cNvPr id="45" name="Text 43"/>
          <p:cNvSpPr/>
          <p:nvPr/>
        </p:nvSpPr>
        <p:spPr>
          <a:xfrm>
            <a:off x="7552944" y="3666744"/>
            <a:ext cx="804672" cy="155448"/>
          </a:xfrm>
          <a:prstGeom prst="rect">
            <a:avLst/>
          </a:prstGeom>
          <a:noFill/>
          <a:ln/>
        </p:spPr>
        <p:txBody>
          <a:bodyPr wrap="none" rtlCol="0" anchor="ctr"/>
          <a:lstStyle/>
          <a:p>
            <a:pPr algn="ctr" indent="0" marL="0">
              <a:buNone/>
            </a:pPr>
            <a:r>
              <a:rPr lang="en-US" sz="600" b="1" dirty="0">
                <a:solidFill>
                  <a:srgbClr val="A50E0E"/>
                </a:solidFill>
                <a:latin typeface="Google Sans" pitchFamily="34" charset="0"/>
                <a:ea typeface="Google Sans" pitchFamily="34" charset="-122"/>
                <a:cs typeface="Google Sans" pitchFamily="34" charset="-120"/>
              </a:rPr>
              <a:t>RED ZONE</a:t>
            </a:r>
            <a:endParaRPr lang="en-US" sz="600" dirty="0"/>
          </a:p>
        </p:txBody>
      </p:sp>
      <p:sp>
        <p:nvSpPr>
          <p:cNvPr id="46" name="Text 44"/>
          <p:cNvSpPr/>
          <p:nvPr/>
        </p:nvSpPr>
        <p:spPr>
          <a:xfrm>
            <a:off x="8412480" y="364845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4. Pattern B Silos &amp; Pattern C PSC Spokes</a:t>
            </a:r>
            <a:endParaRPr lang="en-US" sz="730" dirty="0"/>
          </a:p>
        </p:txBody>
      </p:sp>
      <p:sp>
        <p:nvSpPr>
          <p:cNvPr id="47" name="Text 45"/>
          <p:cNvSpPr/>
          <p:nvPr/>
        </p:nvSpPr>
        <p:spPr>
          <a:xfrm>
            <a:off x="7552944" y="382219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Isolates regulated tenants inside dedicated VPC-SC projects with Cloud KMS CMEK kill-switches or unidirectional PSC service attachments.</a:t>
            </a:r>
            <a:endParaRPr lang="en-US" sz="625" dirty="0"/>
          </a:p>
        </p:txBody>
      </p:sp>
      <p:sp>
        <p:nvSpPr>
          <p:cNvPr id="48" name="Text 46"/>
          <p:cNvSpPr/>
          <p:nvPr/>
        </p:nvSpPr>
        <p:spPr>
          <a:xfrm>
            <a:off x="7461504" y="4288536"/>
            <a:ext cx="4346143" cy="155448"/>
          </a:xfrm>
          <a:prstGeom prst="rect">
            <a:avLst/>
          </a:prstGeom>
          <a:noFill/>
          <a:ln/>
        </p:spPr>
        <p:txBody>
          <a:bodyPr wrap="square" rtlCol="0" anchor="ctr"/>
          <a:lstStyle/>
          <a:p>
            <a:pPr indent="0" marL="0">
              <a:buNone/>
            </a:pPr>
            <a:r>
              <a:rPr lang="en-US" sz="710" b="1" dirty="0">
                <a:solidFill>
                  <a:srgbClr val="5F6368"/>
                </a:solidFill>
                <a:latin typeface="Google Sans" pitchFamily="34" charset="0"/>
                <a:ea typeface="Google Sans" pitchFamily="34" charset="-122"/>
                <a:cs typeface="Google Sans" pitchFamily="34" charset="-120"/>
              </a:rPr>
              <a:t>KEY ARCHITECTURAL WALKTHROUGH POINTS</a:t>
            </a:r>
            <a:endParaRPr lang="en-US" sz="710" dirty="0"/>
          </a:p>
        </p:txBody>
      </p:sp>
      <p:sp>
        <p:nvSpPr>
          <p:cNvPr id="49" name="Shape 47"/>
          <p:cNvSpPr/>
          <p:nvPr/>
        </p:nvSpPr>
        <p:spPr>
          <a:xfrm>
            <a:off x="7443216" y="4453128"/>
            <a:ext cx="4382719" cy="378562"/>
          </a:xfrm>
          <a:prstGeom prst="roundRect">
            <a:avLst>
              <a:gd name="adj" fmla="val 14493"/>
            </a:avLst>
          </a:prstGeom>
          <a:solidFill>
            <a:srgbClr val="FFFFFF"/>
          </a:solidFill>
          <a:ln w="8890">
            <a:solidFill>
              <a:srgbClr val="DADCE0"/>
            </a:solidFill>
            <a:prstDash val="solid"/>
          </a:ln>
        </p:spPr>
      </p:sp>
      <p:sp>
        <p:nvSpPr>
          <p:cNvPr id="50" name="Shape 48"/>
          <p:cNvSpPr/>
          <p:nvPr/>
        </p:nvSpPr>
        <p:spPr>
          <a:xfrm>
            <a:off x="7516368" y="4541825"/>
            <a:ext cx="219456" cy="201168"/>
          </a:xfrm>
          <a:prstGeom prst="roundRect">
            <a:avLst>
              <a:gd name="adj" fmla="val 18182"/>
            </a:avLst>
          </a:prstGeom>
          <a:solidFill>
            <a:srgbClr val="E8F0FE"/>
          </a:solidFill>
          <a:ln/>
        </p:spPr>
      </p:sp>
      <p:sp>
        <p:nvSpPr>
          <p:cNvPr id="51" name="Text 49"/>
          <p:cNvSpPr/>
          <p:nvPr/>
        </p:nvSpPr>
        <p:spPr>
          <a:xfrm>
            <a:off x="7516368" y="4541825"/>
            <a:ext cx="219456" cy="201168"/>
          </a:xfrm>
          <a:prstGeom prst="rect">
            <a:avLst/>
          </a:prstGeom>
          <a:noFill/>
          <a:ln/>
        </p:spPr>
        <p:txBody>
          <a:bodyPr wrap="square" rtlCol="0" anchor="ctr"/>
          <a:lstStyle/>
          <a:p>
            <a:pPr algn="ctr" indent="0" marL="0">
              <a:buNone/>
            </a:pPr>
            <a:r>
              <a:rPr lang="en-US" sz="720" b="1" dirty="0">
                <a:solidFill>
                  <a:srgbClr val="174EA6"/>
                </a:solidFill>
                <a:latin typeface="Google Sans" pitchFamily="34" charset="0"/>
                <a:ea typeface="Google Sans" pitchFamily="34" charset="-122"/>
                <a:cs typeface="Google Sans" pitchFamily="34" charset="-120"/>
              </a:rPr>
              <a:t>1</a:t>
            </a:r>
            <a:endParaRPr lang="en-US" sz="720" dirty="0"/>
          </a:p>
        </p:txBody>
      </p:sp>
      <p:sp>
        <p:nvSpPr>
          <p:cNvPr id="52" name="Text 50"/>
          <p:cNvSpPr/>
          <p:nvPr/>
        </p:nvSpPr>
        <p:spPr>
          <a:xfrm>
            <a:off x="7790688" y="4471416"/>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Blue Perimeter 1 (Routing Hub — Steps 1–3 / Hop 1): Global ALB, Cloud Armor header strip, and IAP OIDC/DPoP exchange (~8ms p95) mint the KMS-signed STS JWT and route by tenant tier.</a:t>
            </a:r>
            <a:endParaRPr lang="en-US" sz="675" dirty="0"/>
          </a:p>
        </p:txBody>
      </p:sp>
      <p:sp>
        <p:nvSpPr>
          <p:cNvPr id="53" name="Shape 51"/>
          <p:cNvSpPr/>
          <p:nvPr/>
        </p:nvSpPr>
        <p:spPr>
          <a:xfrm>
            <a:off x="7443216" y="4872838"/>
            <a:ext cx="4382719" cy="378562"/>
          </a:xfrm>
          <a:prstGeom prst="roundRect">
            <a:avLst>
              <a:gd name="adj" fmla="val 14493"/>
            </a:avLst>
          </a:prstGeom>
          <a:solidFill>
            <a:srgbClr val="FFFFFF"/>
          </a:solidFill>
          <a:ln w="8890">
            <a:solidFill>
              <a:srgbClr val="DADCE0"/>
            </a:solidFill>
            <a:prstDash val="solid"/>
          </a:ln>
        </p:spPr>
      </p:sp>
      <p:sp>
        <p:nvSpPr>
          <p:cNvPr id="54" name="Shape 52"/>
          <p:cNvSpPr/>
          <p:nvPr/>
        </p:nvSpPr>
        <p:spPr>
          <a:xfrm>
            <a:off x="7516368" y="4961534"/>
            <a:ext cx="219456" cy="201168"/>
          </a:xfrm>
          <a:prstGeom prst="roundRect">
            <a:avLst>
              <a:gd name="adj" fmla="val 18182"/>
            </a:avLst>
          </a:prstGeom>
          <a:solidFill>
            <a:srgbClr val="FCE8E6"/>
          </a:solidFill>
          <a:ln/>
        </p:spPr>
      </p:sp>
      <p:sp>
        <p:nvSpPr>
          <p:cNvPr id="55" name="Text 53"/>
          <p:cNvSpPr/>
          <p:nvPr/>
        </p:nvSpPr>
        <p:spPr>
          <a:xfrm>
            <a:off x="7516368" y="4961534"/>
            <a:ext cx="219456" cy="201168"/>
          </a:xfrm>
          <a:prstGeom prst="rect">
            <a:avLst/>
          </a:prstGeom>
          <a:noFill/>
          <a:ln/>
        </p:spPr>
        <p:txBody>
          <a:bodyPr wrap="square" rtlCol="0" anchor="ctr"/>
          <a:lstStyle/>
          <a:p>
            <a:pPr algn="ctr" indent="0" marL="0">
              <a:buNone/>
            </a:pPr>
            <a:r>
              <a:rPr lang="en-US" sz="720" b="1" dirty="0">
                <a:solidFill>
                  <a:srgbClr val="A50E0E"/>
                </a:solidFill>
                <a:latin typeface="Google Sans" pitchFamily="34" charset="0"/>
                <a:ea typeface="Google Sans" pitchFamily="34" charset="-122"/>
                <a:cs typeface="Google Sans" pitchFamily="34" charset="-120"/>
              </a:rPr>
              <a:t>2</a:t>
            </a:r>
            <a:endParaRPr lang="en-US" sz="720" dirty="0"/>
          </a:p>
        </p:txBody>
      </p:sp>
      <p:sp>
        <p:nvSpPr>
          <p:cNvPr id="56" name="Text 54"/>
          <p:cNvSpPr/>
          <p:nvPr/>
        </p:nvSpPr>
        <p:spPr>
          <a:xfrm>
            <a:off x="7790688" y="4891126"/>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Green Perimeter 2 (Governance Hub — Hops 2 &amp; 5): Discovery Engine ARD catalog filter (~4ms), Cloud KMS CMEK liveness, Security Command Center, and async BigQuery OTel FinOps (~5ms).</a:t>
            </a:r>
            <a:endParaRPr lang="en-US" sz="675" dirty="0"/>
          </a:p>
        </p:txBody>
      </p:sp>
      <p:sp>
        <p:nvSpPr>
          <p:cNvPr id="57" name="Shape 55"/>
          <p:cNvSpPr/>
          <p:nvPr/>
        </p:nvSpPr>
        <p:spPr>
          <a:xfrm>
            <a:off x="7443216" y="5291633"/>
            <a:ext cx="4382719" cy="378562"/>
          </a:xfrm>
          <a:prstGeom prst="roundRect">
            <a:avLst>
              <a:gd name="adj" fmla="val 14493"/>
            </a:avLst>
          </a:prstGeom>
          <a:solidFill>
            <a:srgbClr val="FFFFFF"/>
          </a:solidFill>
          <a:ln w="8890">
            <a:solidFill>
              <a:srgbClr val="DADCE0"/>
            </a:solidFill>
            <a:prstDash val="solid"/>
          </a:ln>
        </p:spPr>
      </p:sp>
      <p:sp>
        <p:nvSpPr>
          <p:cNvPr id="58" name="Shape 56"/>
          <p:cNvSpPr/>
          <p:nvPr/>
        </p:nvSpPr>
        <p:spPr>
          <a:xfrm>
            <a:off x="7516368" y="5380330"/>
            <a:ext cx="219456" cy="201168"/>
          </a:xfrm>
          <a:prstGeom prst="roundRect">
            <a:avLst>
              <a:gd name="adj" fmla="val 18182"/>
            </a:avLst>
          </a:prstGeom>
          <a:solidFill>
            <a:srgbClr val="FEF7E0"/>
          </a:solidFill>
          <a:ln/>
        </p:spPr>
      </p:sp>
      <p:sp>
        <p:nvSpPr>
          <p:cNvPr id="59" name="Text 57"/>
          <p:cNvSpPr/>
          <p:nvPr/>
        </p:nvSpPr>
        <p:spPr>
          <a:xfrm>
            <a:off x="7516368" y="5380330"/>
            <a:ext cx="219456" cy="201168"/>
          </a:xfrm>
          <a:prstGeom prst="rect">
            <a:avLst/>
          </a:prstGeom>
          <a:noFill/>
          <a:ln/>
        </p:spPr>
        <p:txBody>
          <a:bodyPr wrap="square" rtlCol="0" anchor="ctr"/>
          <a:lstStyle/>
          <a:p>
            <a:pPr algn="ctr" indent="0" marL="0">
              <a:buNone/>
            </a:pPr>
            <a:r>
              <a:rPr lang="en-US" sz="720" b="1" dirty="0">
                <a:solidFill>
                  <a:srgbClr val="B06000"/>
                </a:solidFill>
                <a:latin typeface="Google Sans" pitchFamily="34" charset="0"/>
                <a:ea typeface="Google Sans" pitchFamily="34" charset="-122"/>
                <a:cs typeface="Google Sans" pitchFamily="34" charset="-120"/>
              </a:rPr>
              <a:t>3</a:t>
            </a:r>
            <a:endParaRPr lang="en-US" sz="720" dirty="0"/>
          </a:p>
        </p:txBody>
      </p:sp>
      <p:sp>
        <p:nvSpPr>
          <p:cNvPr id="60" name="Text 58"/>
          <p:cNvSpPr/>
          <p:nvPr/>
        </p:nvSpPr>
        <p:spPr>
          <a:xfrm>
            <a:off x="7790688" y="5309921"/>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Yellow Perimeter 3 (Pattern A Pool — Steps 4–7 / Hops 3–5): gVisor (runsc) sandbox, Valkey RPM bulkheads (~3ms), Model Armor/DLP screening (Steps 4 &amp; 6, ~22ms), Gemini 2.5 Pro 90% cache (Step 5) &amp; AlloyDB RLS.</a:t>
            </a:r>
            <a:endParaRPr lang="en-US" sz="675" dirty="0"/>
          </a:p>
        </p:txBody>
      </p:sp>
      <p:sp>
        <p:nvSpPr>
          <p:cNvPr id="61" name="Shape 59"/>
          <p:cNvSpPr/>
          <p:nvPr/>
        </p:nvSpPr>
        <p:spPr>
          <a:xfrm>
            <a:off x="7443216" y="5711342"/>
            <a:ext cx="4382719" cy="378562"/>
          </a:xfrm>
          <a:prstGeom prst="roundRect">
            <a:avLst>
              <a:gd name="adj" fmla="val 14493"/>
            </a:avLst>
          </a:prstGeom>
          <a:solidFill>
            <a:srgbClr val="FFFFFF"/>
          </a:solidFill>
          <a:ln w="8890">
            <a:solidFill>
              <a:srgbClr val="DADCE0"/>
            </a:solidFill>
            <a:prstDash val="solid"/>
          </a:ln>
        </p:spPr>
      </p:sp>
      <p:sp>
        <p:nvSpPr>
          <p:cNvPr id="62" name="Shape 60"/>
          <p:cNvSpPr/>
          <p:nvPr/>
        </p:nvSpPr>
        <p:spPr>
          <a:xfrm>
            <a:off x="7516368" y="5800039"/>
            <a:ext cx="219456" cy="201168"/>
          </a:xfrm>
          <a:prstGeom prst="roundRect">
            <a:avLst>
              <a:gd name="adj" fmla="val 18182"/>
            </a:avLst>
          </a:prstGeom>
          <a:solidFill>
            <a:srgbClr val="E6F4EA"/>
          </a:solidFill>
          <a:ln/>
        </p:spPr>
      </p:sp>
      <p:sp>
        <p:nvSpPr>
          <p:cNvPr id="63" name="Text 61"/>
          <p:cNvSpPr/>
          <p:nvPr/>
        </p:nvSpPr>
        <p:spPr>
          <a:xfrm>
            <a:off x="7516368" y="5800039"/>
            <a:ext cx="219456" cy="201168"/>
          </a:xfrm>
          <a:prstGeom prst="rect">
            <a:avLst/>
          </a:prstGeom>
          <a:noFill/>
          <a:ln/>
        </p:spPr>
        <p:txBody>
          <a:bodyPr wrap="square" rtlCol="0" anchor="ctr"/>
          <a:lstStyle/>
          <a:p>
            <a:pPr algn="ctr" indent="0" marL="0">
              <a:buNone/>
            </a:pPr>
            <a:r>
              <a:rPr lang="en-US" sz="720" b="1" dirty="0">
                <a:solidFill>
                  <a:srgbClr val="0D652D"/>
                </a:solidFill>
                <a:latin typeface="Google Sans" pitchFamily="34" charset="0"/>
                <a:ea typeface="Google Sans" pitchFamily="34" charset="-122"/>
                <a:cs typeface="Google Sans" pitchFamily="34" charset="-120"/>
              </a:rPr>
              <a:t>4</a:t>
            </a:r>
            <a:endParaRPr lang="en-US" sz="720" dirty="0"/>
          </a:p>
        </p:txBody>
      </p:sp>
      <p:sp>
        <p:nvSpPr>
          <p:cNvPr id="64" name="Text 62"/>
          <p:cNvSpPr/>
          <p:nvPr/>
        </p:nvSpPr>
        <p:spPr>
          <a:xfrm>
            <a:off x="7790688" y="5729630"/>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Red Perimeter 4 (Pattern B Silos &amp; Pattern C PSC Spokes): Per-tenant VPC-SC perimeters, IAM PAB, Managed Vertex Dedicated PT vs. Private GKE Gemma 3 27B GPUs, &lt;60s CMEK kill-switch &amp; /28 PSC NAT.</a:t>
            </a:r>
            <a:endParaRPr lang="en-US" sz="675" dirty="0"/>
          </a:p>
        </p:txBody>
      </p:sp>
      <p:sp>
        <p:nvSpPr>
          <p:cNvPr id="65" name="Shape 63"/>
          <p:cNvSpPr/>
          <p:nvPr/>
        </p:nvSpPr>
        <p:spPr>
          <a:xfrm>
            <a:off x="7443216" y="6144768"/>
            <a:ext cx="4382719" cy="329184"/>
          </a:xfrm>
          <a:prstGeom prst="roundRect">
            <a:avLst>
              <a:gd name="adj" fmla="val 16667"/>
            </a:avLst>
          </a:prstGeom>
          <a:solidFill>
            <a:srgbClr val="FFFFFF"/>
          </a:solidFill>
          <a:ln w="10795">
            <a:solidFill>
              <a:srgbClr val="DADCE0"/>
            </a:solidFill>
            <a:prstDash val="solid"/>
          </a:ln>
        </p:spPr>
      </p:sp>
      <p:sp>
        <p:nvSpPr>
          <p:cNvPr id="66" name="Text 64"/>
          <p:cNvSpPr/>
          <p:nvPr/>
        </p:nvSpPr>
        <p:spPr>
          <a:xfrm>
            <a:off x="7479792" y="6144768"/>
            <a:ext cx="4309567" cy="329184"/>
          </a:xfrm>
          <a:prstGeom prst="rect">
            <a:avLst/>
          </a:prstGeom>
          <a:noFill/>
          <a:ln/>
        </p:spPr>
        <p:txBody>
          <a:bodyPr wrap="square" rtlCol="0" anchor="ctr"/>
          <a:lstStyle/>
          <a:p>
            <a:pPr algn="ctr" indent="0" marL="0">
              <a:buNone/>
            </a:pPr>
            <a:r>
              <a:rPr lang="en-US" sz="610" b="1" dirty="0">
                <a:solidFill>
                  <a:srgbClr val="0D652D"/>
                </a:solidFill>
                <a:latin typeface="Google Sans" pitchFamily="34" charset="0"/>
                <a:ea typeface="Google Sans" pitchFamily="34" charset="-122"/>
                <a:cs typeface="Google Sans" pitchFamily="34" charset="-120"/>
              </a:rPr>
              <a:t>VERIFIED • 56 Shapes • 23 Connectors • GCP: ramp-portal-dev (#248990048888) &amp; bbar-138hf0 (#48439189383)</a:t>
            </a:r>
            <a:endParaRPr lang="en-US" sz="610" dirty="0"/>
          </a:p>
        </p:txBody>
      </p:sp>
      <p:sp>
        <p:nvSpPr>
          <p:cNvPr id="67" name="Shape 65"/>
          <p:cNvSpPr/>
          <p:nvPr/>
        </p:nvSpPr>
        <p:spPr>
          <a:xfrm>
            <a:off x="1218895" y="1379830"/>
            <a:ext cx="5042002" cy="5094122"/>
          </a:xfrm>
          <a:prstGeom prst="roundRect">
            <a:avLst>
              <a:gd name="adj" fmla="val 544"/>
            </a:avLst>
          </a:prstGeom>
          <a:solidFill>
            <a:srgbClr val="1A73E8"/>
          </a:solidFill>
          <a:ln w="15875">
            <a:solidFill>
              <a:srgbClr val="9AA0A6"/>
            </a:solidFill>
            <a:prstDash val="solid"/>
          </a:ln>
        </p:spPr>
      </p:sp>
      <p:sp>
        <p:nvSpPr>
          <p:cNvPr id="68" name="Shape 66"/>
          <p:cNvSpPr/>
          <p:nvPr/>
        </p:nvSpPr>
        <p:spPr>
          <a:xfrm>
            <a:off x="1288390" y="1597457"/>
            <a:ext cx="4903013" cy="4798771"/>
          </a:xfrm>
          <a:prstGeom prst="roundRect">
            <a:avLst>
              <a:gd name="adj" fmla="val 572"/>
            </a:avLst>
          </a:prstGeom>
          <a:solidFill>
            <a:srgbClr val="FFFFFF"/>
          </a:solidFill>
          <a:ln w="10795">
            <a:solidFill>
              <a:srgbClr val="9AA0A6"/>
            </a:solidFill>
            <a:prstDash val="solid"/>
          </a:ln>
        </p:spPr>
      </p:sp>
      <p:sp>
        <p:nvSpPr>
          <p:cNvPr id="69" name="Text 67"/>
          <p:cNvSpPr/>
          <p:nvPr/>
        </p:nvSpPr>
        <p:spPr>
          <a:xfrm>
            <a:off x="1343254" y="1613916"/>
            <a:ext cx="2745943"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Shared Control Plane (cymbal-pooled-prod)</a:t>
            </a:r>
            <a:endParaRPr lang="en-US" sz="440" dirty="0"/>
          </a:p>
        </p:txBody>
      </p:sp>
      <p:sp>
        <p:nvSpPr>
          <p:cNvPr id="70" name="Shape 68"/>
          <p:cNvSpPr/>
          <p:nvPr/>
        </p:nvSpPr>
        <p:spPr>
          <a:xfrm>
            <a:off x="1357884" y="1753819"/>
            <a:ext cx="4764024" cy="4563770"/>
          </a:xfrm>
          <a:prstGeom prst="roundRect">
            <a:avLst>
              <a:gd name="adj" fmla="val 601"/>
            </a:avLst>
          </a:prstGeom>
          <a:solidFill>
            <a:srgbClr val="FFFFFF"/>
          </a:solidFill>
          <a:ln w="10795">
            <a:solidFill>
              <a:srgbClr val="9AA0A6"/>
            </a:solidFill>
            <a:prstDash val="solid"/>
          </a:ln>
        </p:spPr>
      </p:sp>
      <p:sp>
        <p:nvSpPr>
          <p:cNvPr id="71" name="Text 69"/>
          <p:cNvSpPr/>
          <p:nvPr/>
        </p:nvSpPr>
        <p:spPr>
          <a:xfrm>
            <a:off x="1412748" y="1770278"/>
            <a:ext cx="2668219"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VPC &amp; 5-Hop Cryptographic Context Chain</a:t>
            </a:r>
            <a:endParaRPr lang="en-US" sz="440" dirty="0"/>
          </a:p>
        </p:txBody>
      </p:sp>
      <p:sp>
        <p:nvSpPr>
          <p:cNvPr id="72" name="Shape 70"/>
          <p:cNvSpPr/>
          <p:nvPr/>
        </p:nvSpPr>
        <p:spPr>
          <a:xfrm>
            <a:off x="1436522" y="3787445"/>
            <a:ext cx="2243023" cy="2434133"/>
          </a:xfrm>
          <a:prstGeom prst="roundRect">
            <a:avLst>
              <a:gd name="adj" fmla="val 1223"/>
            </a:avLst>
          </a:prstGeom>
          <a:solidFill>
            <a:srgbClr val="FFFFFF"/>
          </a:solidFill>
          <a:ln w="10795">
            <a:solidFill>
              <a:srgbClr val="9AA0A6"/>
            </a:solidFill>
            <a:prstDash val="solid"/>
          </a:ln>
        </p:spPr>
      </p:sp>
      <p:sp>
        <p:nvSpPr>
          <p:cNvPr id="73" name="Shape 71"/>
          <p:cNvSpPr/>
          <p:nvPr/>
        </p:nvSpPr>
        <p:spPr>
          <a:xfrm>
            <a:off x="3801161" y="3787445"/>
            <a:ext cx="2243023" cy="2434133"/>
          </a:xfrm>
          <a:prstGeom prst="roundRect">
            <a:avLst>
              <a:gd name="adj" fmla="val 1223"/>
            </a:avLst>
          </a:prstGeom>
          <a:solidFill>
            <a:srgbClr val="FFFFFF"/>
          </a:solidFill>
          <a:ln w="10795">
            <a:solidFill>
              <a:srgbClr val="9AA0A6"/>
            </a:solidFill>
            <a:prstDash val="solid"/>
          </a:ln>
        </p:spPr>
      </p:sp>
      <p:sp>
        <p:nvSpPr>
          <p:cNvPr id="74" name="Shape 72"/>
          <p:cNvSpPr/>
          <p:nvPr/>
        </p:nvSpPr>
        <p:spPr>
          <a:xfrm>
            <a:off x="1506017" y="3944722"/>
            <a:ext cx="2104034" cy="2208276"/>
          </a:xfrm>
          <a:prstGeom prst="roundRect">
            <a:avLst>
              <a:gd name="adj" fmla="val 1304"/>
            </a:avLst>
          </a:prstGeom>
          <a:solidFill>
            <a:srgbClr val="FEEFC3"/>
          </a:solidFill>
          <a:ln w="10795">
            <a:solidFill>
              <a:srgbClr val="9AA0A6"/>
            </a:solidFill>
            <a:prstDash val="solid"/>
          </a:ln>
        </p:spPr>
      </p:sp>
      <p:sp>
        <p:nvSpPr>
          <p:cNvPr id="75" name="Shape 73"/>
          <p:cNvSpPr/>
          <p:nvPr/>
        </p:nvSpPr>
        <p:spPr>
          <a:xfrm>
            <a:off x="3870655" y="3944722"/>
            <a:ext cx="2104034" cy="2208276"/>
          </a:xfrm>
          <a:prstGeom prst="roundRect">
            <a:avLst>
              <a:gd name="adj" fmla="val 1304"/>
            </a:avLst>
          </a:prstGeom>
          <a:solidFill>
            <a:srgbClr val="FAD2CF"/>
          </a:solidFill>
          <a:ln w="10795">
            <a:solidFill>
              <a:srgbClr val="9AA0A6"/>
            </a:solidFill>
            <a:prstDash val="solid"/>
          </a:ln>
        </p:spPr>
      </p:sp>
      <p:sp>
        <p:nvSpPr>
          <p:cNvPr id="76" name="Shape 74"/>
          <p:cNvSpPr/>
          <p:nvPr/>
        </p:nvSpPr>
        <p:spPr>
          <a:xfrm>
            <a:off x="1427378" y="1901038"/>
            <a:ext cx="2885846" cy="1434694"/>
          </a:xfrm>
          <a:prstGeom prst="roundRect">
            <a:avLst>
              <a:gd name="adj" fmla="val 1912"/>
            </a:avLst>
          </a:prstGeom>
          <a:solidFill>
            <a:srgbClr val="AECBFA"/>
          </a:solidFill>
          <a:ln w="10795">
            <a:solidFill>
              <a:srgbClr val="9AA0A6"/>
            </a:solidFill>
            <a:prstDash val="solid"/>
          </a:ln>
        </p:spPr>
      </p:sp>
      <p:sp>
        <p:nvSpPr>
          <p:cNvPr id="77" name="Shape 75"/>
          <p:cNvSpPr/>
          <p:nvPr/>
        </p:nvSpPr>
        <p:spPr>
          <a:xfrm>
            <a:off x="4600346" y="1935785"/>
            <a:ext cx="1425550" cy="1390802"/>
          </a:xfrm>
          <a:prstGeom prst="roundRect">
            <a:avLst>
              <a:gd name="adj" fmla="val 1972"/>
            </a:avLst>
          </a:prstGeom>
          <a:solidFill>
            <a:srgbClr val="CEEAD6"/>
          </a:solidFill>
          <a:ln w="10795">
            <a:solidFill>
              <a:srgbClr val="9AA0A6"/>
            </a:solidFill>
            <a:prstDash val="solid"/>
          </a:ln>
        </p:spPr>
      </p:sp>
      <p:pic>
        <p:nvPicPr>
          <p:cNvPr id="78" name="Image 0" descr="preencoded.png">    </p:cNvPr>
          <p:cNvPicPr>
            <a:picLocks noChangeAspect="1"/>
          </p:cNvPicPr>
          <p:nvPr/>
        </p:nvPicPr>
        <p:blipFill>
          <a:blip r:embed="rId1"/>
          <a:stretch>
            <a:fillRect/>
          </a:stretch>
        </p:blipFill>
        <p:spPr>
          <a:xfrm>
            <a:off x="1288390" y="1431036"/>
            <a:ext cx="651967" cy="117043"/>
          </a:xfrm>
          <a:prstGeom prst="rect">
            <a:avLst/>
          </a:prstGeom>
        </p:spPr>
      </p:pic>
      <p:sp>
        <p:nvSpPr>
          <p:cNvPr id="79" name="Shape 76"/>
          <p:cNvSpPr/>
          <p:nvPr/>
        </p:nvSpPr>
        <p:spPr>
          <a:xfrm>
            <a:off x="3591763" y="1032358"/>
            <a:ext cx="0" cy="1269187"/>
          </a:xfrm>
          <a:prstGeom prst="line">
            <a:avLst/>
          </a:prstGeom>
          <a:noFill/>
          <a:ln w="12700">
            <a:solidFill>
              <a:srgbClr val="5F6368"/>
            </a:solidFill>
            <a:prstDash val="solid"/>
            <a:tailEnd type="triangle" w="sm" len="sm"/>
          </a:ln>
        </p:spPr>
      </p:sp>
      <p:sp>
        <p:nvSpPr>
          <p:cNvPr id="80" name="Shape 77"/>
          <p:cNvSpPr/>
          <p:nvPr/>
        </p:nvSpPr>
        <p:spPr>
          <a:xfrm flipV="1">
            <a:off x="3792017" y="1040587"/>
            <a:ext cx="0" cy="1269187"/>
          </a:xfrm>
          <a:prstGeom prst="line">
            <a:avLst/>
          </a:prstGeom>
          <a:noFill/>
          <a:ln w="12700">
            <a:solidFill>
              <a:srgbClr val="5F6368"/>
            </a:solidFill>
            <a:prstDash val="solid"/>
            <a:tailEnd type="triangle" w="sm" len="sm"/>
          </a:ln>
        </p:spPr>
      </p:sp>
      <p:sp>
        <p:nvSpPr>
          <p:cNvPr id="81" name="Shape 78"/>
          <p:cNvSpPr/>
          <p:nvPr/>
        </p:nvSpPr>
        <p:spPr>
          <a:xfrm flipH="1">
            <a:off x="2948940" y="2414016"/>
            <a:ext cx="148133" cy="0"/>
          </a:xfrm>
          <a:prstGeom prst="line">
            <a:avLst/>
          </a:prstGeom>
          <a:noFill/>
          <a:ln w="12700">
            <a:solidFill>
              <a:srgbClr val="5F6368"/>
            </a:solidFill>
            <a:prstDash val="solid"/>
            <a:headEnd type="triangle" w="sm" len="sm"/>
          </a:ln>
        </p:spPr>
      </p:sp>
      <p:sp>
        <p:nvSpPr>
          <p:cNvPr id="82" name="Shape 79"/>
          <p:cNvSpPr/>
          <p:nvPr/>
        </p:nvSpPr>
        <p:spPr>
          <a:xfrm flipV="1">
            <a:off x="2948940" y="2306117"/>
            <a:ext cx="0" cy="107899"/>
          </a:xfrm>
          <a:prstGeom prst="line">
            <a:avLst/>
          </a:prstGeom>
          <a:noFill/>
          <a:ln w="12700">
            <a:solidFill>
              <a:srgbClr val="5F6368"/>
            </a:solidFill>
            <a:prstDash val="solid"/>
          </a:ln>
        </p:spPr>
      </p:sp>
      <p:sp>
        <p:nvSpPr>
          <p:cNvPr id="83" name="Shape 80"/>
          <p:cNvSpPr/>
          <p:nvPr/>
        </p:nvSpPr>
        <p:spPr>
          <a:xfrm flipH="1">
            <a:off x="2401214" y="2306117"/>
            <a:ext cx="547726" cy="0"/>
          </a:xfrm>
          <a:prstGeom prst="line">
            <a:avLst/>
          </a:prstGeom>
          <a:noFill/>
          <a:ln w="12700">
            <a:solidFill>
              <a:srgbClr val="5F6368"/>
            </a:solidFill>
            <a:prstDash val="solid"/>
            <a:tailEnd type="triangle" w="sm" len="sm"/>
          </a:ln>
        </p:spPr>
      </p:sp>
      <p:sp>
        <p:nvSpPr>
          <p:cNvPr id="84" name="Shape 81"/>
          <p:cNvSpPr/>
          <p:nvPr/>
        </p:nvSpPr>
        <p:spPr>
          <a:xfrm flipH="1">
            <a:off x="2948940" y="2535631"/>
            <a:ext cx="148133" cy="0"/>
          </a:xfrm>
          <a:prstGeom prst="line">
            <a:avLst/>
          </a:prstGeom>
          <a:noFill/>
          <a:ln w="12700">
            <a:solidFill>
              <a:srgbClr val="5F6368"/>
            </a:solidFill>
            <a:prstDash val="solid"/>
            <a:headEnd type="triangle" w="sm" len="sm"/>
          </a:ln>
        </p:spPr>
      </p:sp>
      <p:sp>
        <p:nvSpPr>
          <p:cNvPr id="85" name="Shape 82"/>
          <p:cNvSpPr/>
          <p:nvPr/>
        </p:nvSpPr>
        <p:spPr>
          <a:xfrm>
            <a:off x="2948940" y="2535631"/>
            <a:ext cx="0" cy="135331"/>
          </a:xfrm>
          <a:prstGeom prst="line">
            <a:avLst/>
          </a:prstGeom>
          <a:noFill/>
          <a:ln w="12700">
            <a:solidFill>
              <a:srgbClr val="5F6368"/>
            </a:solidFill>
            <a:prstDash val="solid"/>
          </a:ln>
        </p:spPr>
      </p:sp>
      <p:sp>
        <p:nvSpPr>
          <p:cNvPr id="86" name="Shape 83"/>
          <p:cNvSpPr/>
          <p:nvPr/>
        </p:nvSpPr>
        <p:spPr>
          <a:xfrm flipH="1">
            <a:off x="2401214" y="2670962"/>
            <a:ext cx="547726" cy="0"/>
          </a:xfrm>
          <a:prstGeom prst="line">
            <a:avLst/>
          </a:prstGeom>
          <a:noFill/>
          <a:ln w="12700">
            <a:solidFill>
              <a:srgbClr val="5F6368"/>
            </a:solidFill>
            <a:prstDash val="solid"/>
            <a:tailEnd type="triangle" w="sm" len="sm"/>
          </a:ln>
        </p:spPr>
      </p:sp>
      <p:sp>
        <p:nvSpPr>
          <p:cNvPr id="87" name="Shape 84"/>
          <p:cNvSpPr/>
          <p:nvPr/>
        </p:nvSpPr>
        <p:spPr>
          <a:xfrm>
            <a:off x="2401214" y="3097073"/>
            <a:ext cx="800100" cy="0"/>
          </a:xfrm>
          <a:prstGeom prst="line">
            <a:avLst/>
          </a:prstGeom>
          <a:noFill/>
          <a:ln w="12700">
            <a:solidFill>
              <a:srgbClr val="5F6368"/>
            </a:solidFill>
            <a:prstDash val="solid"/>
            <a:headEnd type="triangle" w="sm" len="sm"/>
            <a:tailEnd type="triangle" w="sm" len="sm"/>
          </a:ln>
        </p:spPr>
      </p:sp>
      <p:sp>
        <p:nvSpPr>
          <p:cNvPr id="88" name="Shape 85"/>
          <p:cNvSpPr/>
          <p:nvPr/>
        </p:nvSpPr>
        <p:spPr>
          <a:xfrm>
            <a:off x="3591763" y="2640787"/>
            <a:ext cx="0" cy="312725"/>
          </a:xfrm>
          <a:prstGeom prst="line">
            <a:avLst/>
          </a:prstGeom>
          <a:noFill/>
          <a:ln w="12700">
            <a:solidFill>
              <a:srgbClr val="5F6368"/>
            </a:solidFill>
            <a:prstDash val="solid"/>
            <a:tailEnd type="triangle" w="sm" len="sm"/>
          </a:ln>
        </p:spPr>
      </p:sp>
      <p:sp>
        <p:nvSpPr>
          <p:cNvPr id="89" name="Shape 86"/>
          <p:cNvSpPr/>
          <p:nvPr/>
        </p:nvSpPr>
        <p:spPr>
          <a:xfrm flipV="1">
            <a:off x="3792017" y="2640787"/>
            <a:ext cx="0" cy="312725"/>
          </a:xfrm>
          <a:prstGeom prst="line">
            <a:avLst/>
          </a:prstGeom>
          <a:noFill/>
          <a:ln w="12700">
            <a:solidFill>
              <a:srgbClr val="5F6368"/>
            </a:solidFill>
            <a:prstDash val="solid"/>
            <a:tailEnd type="triangle" w="sm" len="sm"/>
          </a:ln>
        </p:spPr>
      </p:sp>
      <p:sp>
        <p:nvSpPr>
          <p:cNvPr id="90" name="Shape 87"/>
          <p:cNvSpPr/>
          <p:nvPr/>
        </p:nvSpPr>
        <p:spPr>
          <a:xfrm flipV="1">
            <a:off x="3083357" y="3665830"/>
            <a:ext cx="0" cy="782726"/>
          </a:xfrm>
          <a:prstGeom prst="line">
            <a:avLst/>
          </a:prstGeom>
          <a:noFill/>
          <a:ln w="12700">
            <a:solidFill>
              <a:srgbClr val="5F6368"/>
            </a:solidFill>
            <a:prstDash val="solid"/>
          </a:ln>
        </p:spPr>
      </p:sp>
      <p:sp>
        <p:nvSpPr>
          <p:cNvPr id="91" name="Shape 88"/>
          <p:cNvSpPr/>
          <p:nvPr/>
        </p:nvSpPr>
        <p:spPr>
          <a:xfrm>
            <a:off x="3083357" y="3665830"/>
            <a:ext cx="595274" cy="0"/>
          </a:xfrm>
          <a:prstGeom prst="line">
            <a:avLst/>
          </a:prstGeom>
          <a:noFill/>
          <a:ln w="12700">
            <a:solidFill>
              <a:srgbClr val="5F6368"/>
            </a:solidFill>
            <a:prstDash val="solid"/>
          </a:ln>
        </p:spPr>
      </p:sp>
      <p:sp>
        <p:nvSpPr>
          <p:cNvPr id="92" name="Shape 89"/>
          <p:cNvSpPr/>
          <p:nvPr/>
        </p:nvSpPr>
        <p:spPr>
          <a:xfrm flipV="1">
            <a:off x="3678631" y="3239719"/>
            <a:ext cx="0" cy="426110"/>
          </a:xfrm>
          <a:prstGeom prst="line">
            <a:avLst/>
          </a:prstGeom>
          <a:noFill/>
          <a:ln w="12700">
            <a:solidFill>
              <a:srgbClr val="5F6368"/>
            </a:solidFill>
            <a:prstDash val="solid"/>
            <a:tailEnd type="triangle" w="sm" len="sm"/>
          </a:ln>
        </p:spPr>
      </p:sp>
      <p:sp>
        <p:nvSpPr>
          <p:cNvPr id="93" name="Shape 90"/>
          <p:cNvSpPr/>
          <p:nvPr/>
        </p:nvSpPr>
        <p:spPr>
          <a:xfrm flipV="1">
            <a:off x="3083357" y="3665830"/>
            <a:ext cx="0" cy="782726"/>
          </a:xfrm>
          <a:prstGeom prst="line">
            <a:avLst/>
          </a:prstGeom>
          <a:noFill/>
          <a:ln w="12700">
            <a:solidFill>
              <a:srgbClr val="5F6368"/>
            </a:solidFill>
            <a:prstDash val="solid"/>
            <a:headEnd type="triangle" w="sm" len="sm"/>
          </a:ln>
        </p:spPr>
      </p:sp>
      <p:sp>
        <p:nvSpPr>
          <p:cNvPr id="94" name="Shape 91"/>
          <p:cNvSpPr/>
          <p:nvPr/>
        </p:nvSpPr>
        <p:spPr>
          <a:xfrm>
            <a:off x="3083357" y="3665830"/>
            <a:ext cx="2364638" cy="0"/>
          </a:xfrm>
          <a:prstGeom prst="line">
            <a:avLst/>
          </a:prstGeom>
          <a:noFill/>
          <a:ln w="12700">
            <a:solidFill>
              <a:srgbClr val="5F6368"/>
            </a:solidFill>
            <a:prstDash val="solid"/>
          </a:ln>
        </p:spPr>
      </p:sp>
      <p:sp>
        <p:nvSpPr>
          <p:cNvPr id="95" name="Shape 92"/>
          <p:cNvSpPr/>
          <p:nvPr/>
        </p:nvSpPr>
        <p:spPr>
          <a:xfrm>
            <a:off x="5447995" y="3665830"/>
            <a:ext cx="0" cy="782726"/>
          </a:xfrm>
          <a:prstGeom prst="line">
            <a:avLst/>
          </a:prstGeom>
          <a:noFill/>
          <a:ln w="12700">
            <a:solidFill>
              <a:srgbClr val="5F6368"/>
            </a:solidFill>
            <a:prstDash val="solid"/>
            <a:tailEnd type="triangle" w="sm" len="sm"/>
          </a:ln>
        </p:spPr>
      </p:sp>
      <p:sp>
        <p:nvSpPr>
          <p:cNvPr id="96" name="Shape 93"/>
          <p:cNvSpPr/>
          <p:nvPr/>
        </p:nvSpPr>
        <p:spPr>
          <a:xfrm flipV="1">
            <a:off x="2557577" y="3605479"/>
            <a:ext cx="0" cy="181966"/>
          </a:xfrm>
          <a:prstGeom prst="line">
            <a:avLst/>
          </a:prstGeom>
          <a:noFill/>
          <a:ln w="12700">
            <a:solidFill>
              <a:srgbClr val="5F6368"/>
            </a:solidFill>
            <a:prstDash val="dash"/>
            <a:headEnd type="triangle" w="sm" len="sm"/>
          </a:ln>
        </p:spPr>
      </p:sp>
      <p:sp>
        <p:nvSpPr>
          <p:cNvPr id="97" name="Shape 94"/>
          <p:cNvSpPr/>
          <p:nvPr/>
        </p:nvSpPr>
        <p:spPr>
          <a:xfrm>
            <a:off x="2557577" y="3605479"/>
            <a:ext cx="2756002" cy="0"/>
          </a:xfrm>
          <a:prstGeom prst="line">
            <a:avLst/>
          </a:prstGeom>
          <a:noFill/>
          <a:ln w="12700">
            <a:solidFill>
              <a:srgbClr val="5F6368"/>
            </a:solidFill>
            <a:prstDash val="dash"/>
          </a:ln>
        </p:spPr>
      </p:sp>
      <p:sp>
        <p:nvSpPr>
          <p:cNvPr id="98" name="Shape 95"/>
          <p:cNvSpPr/>
          <p:nvPr/>
        </p:nvSpPr>
        <p:spPr>
          <a:xfrm flipV="1">
            <a:off x="5313578" y="3327502"/>
            <a:ext cx="0" cy="277978"/>
          </a:xfrm>
          <a:prstGeom prst="line">
            <a:avLst/>
          </a:prstGeom>
          <a:noFill/>
          <a:ln w="12700">
            <a:solidFill>
              <a:srgbClr val="5F6368"/>
            </a:solidFill>
            <a:prstDash val="dash"/>
            <a:tailEnd type="triangle" w="sm" len="sm"/>
          </a:ln>
        </p:spPr>
      </p:sp>
      <p:sp>
        <p:nvSpPr>
          <p:cNvPr id="99" name="Shape 96"/>
          <p:cNvSpPr/>
          <p:nvPr/>
        </p:nvSpPr>
        <p:spPr>
          <a:xfrm>
            <a:off x="5313578" y="3327502"/>
            <a:ext cx="0" cy="277978"/>
          </a:xfrm>
          <a:prstGeom prst="line">
            <a:avLst/>
          </a:prstGeom>
          <a:noFill/>
          <a:ln w="12700">
            <a:solidFill>
              <a:srgbClr val="5F6368"/>
            </a:solidFill>
            <a:prstDash val="dash"/>
          </a:ln>
        </p:spPr>
      </p:sp>
      <p:sp>
        <p:nvSpPr>
          <p:cNvPr id="100" name="Shape 97"/>
          <p:cNvSpPr/>
          <p:nvPr/>
        </p:nvSpPr>
        <p:spPr>
          <a:xfrm flipH="1">
            <a:off x="4922215" y="3605479"/>
            <a:ext cx="391363" cy="0"/>
          </a:xfrm>
          <a:prstGeom prst="line">
            <a:avLst/>
          </a:prstGeom>
          <a:noFill/>
          <a:ln w="12700">
            <a:solidFill>
              <a:srgbClr val="5F6368"/>
            </a:solidFill>
            <a:prstDash val="dash"/>
          </a:ln>
        </p:spPr>
      </p:sp>
      <p:sp>
        <p:nvSpPr>
          <p:cNvPr id="101" name="Shape 98"/>
          <p:cNvSpPr/>
          <p:nvPr/>
        </p:nvSpPr>
        <p:spPr>
          <a:xfrm>
            <a:off x="4922215" y="3605479"/>
            <a:ext cx="0" cy="181966"/>
          </a:xfrm>
          <a:prstGeom prst="line">
            <a:avLst/>
          </a:prstGeom>
          <a:noFill/>
          <a:ln w="12700">
            <a:solidFill>
              <a:srgbClr val="5F6368"/>
            </a:solidFill>
            <a:prstDash val="dash"/>
            <a:tailEnd type="triangle" w="sm" len="sm"/>
          </a:ln>
        </p:spPr>
      </p:sp>
      <p:sp>
        <p:nvSpPr>
          <p:cNvPr id="102" name="Shape 99"/>
          <p:cNvSpPr/>
          <p:nvPr/>
        </p:nvSpPr>
        <p:spPr>
          <a:xfrm>
            <a:off x="2392070" y="4387291"/>
            <a:ext cx="96012" cy="0"/>
          </a:xfrm>
          <a:prstGeom prst="line">
            <a:avLst/>
          </a:prstGeom>
          <a:noFill/>
          <a:ln w="12700">
            <a:solidFill>
              <a:srgbClr val="5F6368"/>
            </a:solidFill>
            <a:prstDash val="solid"/>
            <a:headEnd type="triangle" w="sm" len="sm"/>
          </a:ln>
        </p:spPr>
      </p:sp>
      <p:sp>
        <p:nvSpPr>
          <p:cNvPr id="103" name="Shape 100"/>
          <p:cNvSpPr/>
          <p:nvPr/>
        </p:nvSpPr>
        <p:spPr>
          <a:xfrm>
            <a:off x="2488082" y="4387291"/>
            <a:ext cx="0" cy="148133"/>
          </a:xfrm>
          <a:prstGeom prst="line">
            <a:avLst/>
          </a:prstGeom>
          <a:noFill/>
          <a:ln w="12700">
            <a:solidFill>
              <a:srgbClr val="5F6368"/>
            </a:solidFill>
            <a:prstDash val="solid"/>
          </a:ln>
        </p:spPr>
      </p:sp>
      <p:sp>
        <p:nvSpPr>
          <p:cNvPr id="104" name="Shape 101"/>
          <p:cNvSpPr/>
          <p:nvPr/>
        </p:nvSpPr>
        <p:spPr>
          <a:xfrm>
            <a:off x="2488082" y="4535424"/>
            <a:ext cx="130759" cy="0"/>
          </a:xfrm>
          <a:prstGeom prst="line">
            <a:avLst/>
          </a:prstGeom>
          <a:noFill/>
          <a:ln w="12700">
            <a:solidFill>
              <a:srgbClr val="5F6368"/>
            </a:solidFill>
            <a:prstDash val="solid"/>
            <a:tailEnd type="triangle" w="sm" len="sm"/>
          </a:ln>
        </p:spPr>
      </p:sp>
      <p:sp>
        <p:nvSpPr>
          <p:cNvPr id="105" name="Shape 102"/>
          <p:cNvSpPr/>
          <p:nvPr/>
        </p:nvSpPr>
        <p:spPr>
          <a:xfrm>
            <a:off x="2392070" y="5413248"/>
            <a:ext cx="130759" cy="0"/>
          </a:xfrm>
          <a:prstGeom prst="line">
            <a:avLst/>
          </a:prstGeom>
          <a:noFill/>
          <a:ln w="12700">
            <a:solidFill>
              <a:srgbClr val="5F6368"/>
            </a:solidFill>
            <a:prstDash val="solid"/>
            <a:headEnd type="triangle" w="sm" len="sm"/>
          </a:ln>
        </p:spPr>
      </p:sp>
      <p:sp>
        <p:nvSpPr>
          <p:cNvPr id="106" name="Shape 103"/>
          <p:cNvSpPr/>
          <p:nvPr/>
        </p:nvSpPr>
        <p:spPr>
          <a:xfrm flipV="1">
            <a:off x="2522830" y="4674413"/>
            <a:ext cx="0" cy="738835"/>
          </a:xfrm>
          <a:prstGeom prst="line">
            <a:avLst/>
          </a:prstGeom>
          <a:noFill/>
          <a:ln w="12700">
            <a:solidFill>
              <a:srgbClr val="5F6368"/>
            </a:solidFill>
            <a:prstDash val="solid"/>
          </a:ln>
        </p:spPr>
      </p:sp>
      <p:sp>
        <p:nvSpPr>
          <p:cNvPr id="107" name="Shape 104"/>
          <p:cNvSpPr/>
          <p:nvPr/>
        </p:nvSpPr>
        <p:spPr>
          <a:xfrm>
            <a:off x="2522830" y="4674413"/>
            <a:ext cx="96012" cy="0"/>
          </a:xfrm>
          <a:prstGeom prst="line">
            <a:avLst/>
          </a:prstGeom>
          <a:noFill/>
          <a:ln w="12700">
            <a:solidFill>
              <a:srgbClr val="5F6368"/>
            </a:solidFill>
            <a:prstDash val="solid"/>
            <a:tailEnd type="triangle" w="sm" len="sm"/>
          </a:ln>
        </p:spPr>
      </p:sp>
      <p:sp>
        <p:nvSpPr>
          <p:cNvPr id="108" name="Shape 105"/>
          <p:cNvSpPr/>
          <p:nvPr/>
        </p:nvSpPr>
        <p:spPr>
          <a:xfrm flipV="1">
            <a:off x="3083357" y="5013655"/>
            <a:ext cx="0" cy="60350"/>
          </a:xfrm>
          <a:prstGeom prst="line">
            <a:avLst/>
          </a:prstGeom>
          <a:noFill/>
          <a:ln w="12700">
            <a:solidFill>
              <a:srgbClr val="5F6368"/>
            </a:solidFill>
            <a:prstDash val="solid"/>
            <a:headEnd type="triangle" w="sm" len="sm"/>
          </a:ln>
        </p:spPr>
      </p:sp>
      <p:sp>
        <p:nvSpPr>
          <p:cNvPr id="109" name="Shape 106"/>
          <p:cNvSpPr/>
          <p:nvPr/>
        </p:nvSpPr>
        <p:spPr>
          <a:xfrm flipV="1">
            <a:off x="3083357" y="4778654"/>
            <a:ext cx="0" cy="61265"/>
          </a:xfrm>
          <a:prstGeom prst="line">
            <a:avLst/>
          </a:prstGeom>
          <a:noFill/>
          <a:ln w="12700">
            <a:solidFill>
              <a:srgbClr val="5F6368"/>
            </a:solidFill>
            <a:prstDash val="solid"/>
            <a:tailEnd type="triangle" w="sm" len="sm"/>
          </a:ln>
        </p:spPr>
      </p:sp>
      <p:sp>
        <p:nvSpPr>
          <p:cNvPr id="110" name="Shape 107"/>
          <p:cNvSpPr/>
          <p:nvPr/>
        </p:nvSpPr>
        <p:spPr>
          <a:xfrm flipV="1">
            <a:off x="3083357" y="5665622"/>
            <a:ext cx="0" cy="60350"/>
          </a:xfrm>
          <a:prstGeom prst="line">
            <a:avLst/>
          </a:prstGeom>
          <a:noFill/>
          <a:ln w="12700">
            <a:solidFill>
              <a:srgbClr val="5F6368"/>
            </a:solidFill>
            <a:prstDash val="solid"/>
            <a:headEnd type="triangle" w="sm" len="sm"/>
          </a:ln>
        </p:spPr>
      </p:sp>
      <p:sp>
        <p:nvSpPr>
          <p:cNvPr id="111" name="Shape 108"/>
          <p:cNvSpPr/>
          <p:nvPr/>
        </p:nvSpPr>
        <p:spPr>
          <a:xfrm flipV="1">
            <a:off x="3083357" y="5405018"/>
            <a:ext cx="0" cy="60350"/>
          </a:xfrm>
          <a:prstGeom prst="line">
            <a:avLst/>
          </a:prstGeom>
          <a:noFill/>
          <a:ln w="12700">
            <a:solidFill>
              <a:srgbClr val="5F6368"/>
            </a:solidFill>
            <a:prstDash val="solid"/>
            <a:tailEnd type="triangle" w="sm" len="sm"/>
          </a:ln>
        </p:spPr>
      </p:sp>
      <p:sp>
        <p:nvSpPr>
          <p:cNvPr id="112" name="Shape 109"/>
          <p:cNvSpPr/>
          <p:nvPr/>
        </p:nvSpPr>
        <p:spPr>
          <a:xfrm>
            <a:off x="4756709" y="4387291"/>
            <a:ext cx="96012" cy="0"/>
          </a:xfrm>
          <a:prstGeom prst="line">
            <a:avLst/>
          </a:prstGeom>
          <a:noFill/>
          <a:ln w="12700">
            <a:solidFill>
              <a:srgbClr val="5F6368"/>
            </a:solidFill>
            <a:prstDash val="solid"/>
            <a:headEnd type="triangle" w="sm" len="sm"/>
          </a:ln>
        </p:spPr>
      </p:sp>
      <p:sp>
        <p:nvSpPr>
          <p:cNvPr id="113" name="Shape 110"/>
          <p:cNvSpPr/>
          <p:nvPr/>
        </p:nvSpPr>
        <p:spPr>
          <a:xfrm>
            <a:off x="4852721" y="4387291"/>
            <a:ext cx="0" cy="148133"/>
          </a:xfrm>
          <a:prstGeom prst="line">
            <a:avLst/>
          </a:prstGeom>
          <a:noFill/>
          <a:ln w="12700">
            <a:solidFill>
              <a:srgbClr val="5F6368"/>
            </a:solidFill>
            <a:prstDash val="solid"/>
          </a:ln>
        </p:spPr>
      </p:sp>
      <p:sp>
        <p:nvSpPr>
          <p:cNvPr id="114" name="Shape 111"/>
          <p:cNvSpPr/>
          <p:nvPr/>
        </p:nvSpPr>
        <p:spPr>
          <a:xfrm>
            <a:off x="4852721" y="4535424"/>
            <a:ext cx="129845" cy="0"/>
          </a:xfrm>
          <a:prstGeom prst="line">
            <a:avLst/>
          </a:prstGeom>
          <a:noFill/>
          <a:ln w="12700">
            <a:solidFill>
              <a:srgbClr val="5F6368"/>
            </a:solidFill>
            <a:prstDash val="solid"/>
            <a:tailEnd type="triangle" w="sm" len="sm"/>
          </a:ln>
        </p:spPr>
      </p:sp>
      <p:sp>
        <p:nvSpPr>
          <p:cNvPr id="115" name="Shape 112"/>
          <p:cNvSpPr/>
          <p:nvPr/>
        </p:nvSpPr>
        <p:spPr>
          <a:xfrm>
            <a:off x="4756709" y="4830775"/>
            <a:ext cx="130759" cy="0"/>
          </a:xfrm>
          <a:prstGeom prst="line">
            <a:avLst/>
          </a:prstGeom>
          <a:noFill/>
          <a:ln w="12700">
            <a:solidFill>
              <a:srgbClr val="5F6368"/>
            </a:solidFill>
            <a:prstDash val="solid"/>
            <a:headEnd type="triangle" w="sm" len="sm"/>
          </a:ln>
        </p:spPr>
      </p:sp>
      <p:sp>
        <p:nvSpPr>
          <p:cNvPr id="116" name="Shape 113"/>
          <p:cNvSpPr/>
          <p:nvPr/>
        </p:nvSpPr>
        <p:spPr>
          <a:xfrm flipV="1">
            <a:off x="4887468" y="4674413"/>
            <a:ext cx="0" cy="156362"/>
          </a:xfrm>
          <a:prstGeom prst="line">
            <a:avLst/>
          </a:prstGeom>
          <a:noFill/>
          <a:ln w="12700">
            <a:solidFill>
              <a:srgbClr val="5F6368"/>
            </a:solidFill>
            <a:prstDash val="solid"/>
          </a:ln>
        </p:spPr>
      </p:sp>
      <p:sp>
        <p:nvSpPr>
          <p:cNvPr id="117" name="Shape 114"/>
          <p:cNvSpPr/>
          <p:nvPr/>
        </p:nvSpPr>
        <p:spPr>
          <a:xfrm>
            <a:off x="4887468" y="4674413"/>
            <a:ext cx="95098" cy="0"/>
          </a:xfrm>
          <a:prstGeom prst="line">
            <a:avLst/>
          </a:prstGeom>
          <a:noFill/>
          <a:ln w="12700">
            <a:solidFill>
              <a:srgbClr val="5F6368"/>
            </a:solidFill>
            <a:prstDash val="solid"/>
            <a:tailEnd type="triangle" w="sm" len="sm"/>
          </a:ln>
        </p:spPr>
      </p:sp>
      <p:sp>
        <p:nvSpPr>
          <p:cNvPr id="118" name="Shape 115"/>
          <p:cNvSpPr/>
          <p:nvPr/>
        </p:nvSpPr>
        <p:spPr>
          <a:xfrm flipV="1">
            <a:off x="5447995" y="5013655"/>
            <a:ext cx="0" cy="60350"/>
          </a:xfrm>
          <a:prstGeom prst="line">
            <a:avLst/>
          </a:prstGeom>
          <a:noFill/>
          <a:ln w="12700">
            <a:solidFill>
              <a:srgbClr val="5F6368"/>
            </a:solidFill>
            <a:prstDash val="solid"/>
            <a:headEnd type="triangle" w="sm" len="sm"/>
          </a:ln>
        </p:spPr>
      </p:sp>
      <p:sp>
        <p:nvSpPr>
          <p:cNvPr id="119" name="Shape 116"/>
          <p:cNvSpPr/>
          <p:nvPr/>
        </p:nvSpPr>
        <p:spPr>
          <a:xfrm flipV="1">
            <a:off x="5447995" y="4778654"/>
            <a:ext cx="0" cy="61265"/>
          </a:xfrm>
          <a:prstGeom prst="line">
            <a:avLst/>
          </a:prstGeom>
          <a:noFill/>
          <a:ln w="12700">
            <a:solidFill>
              <a:srgbClr val="5F6368"/>
            </a:solidFill>
            <a:prstDash val="solid"/>
            <a:tailEnd type="triangle" w="sm" len="sm"/>
          </a:ln>
        </p:spPr>
      </p:sp>
      <p:sp>
        <p:nvSpPr>
          <p:cNvPr id="120" name="Shape 117"/>
          <p:cNvSpPr/>
          <p:nvPr/>
        </p:nvSpPr>
        <p:spPr>
          <a:xfrm flipV="1">
            <a:off x="5447995" y="5665622"/>
            <a:ext cx="0" cy="60350"/>
          </a:xfrm>
          <a:prstGeom prst="line">
            <a:avLst/>
          </a:prstGeom>
          <a:noFill/>
          <a:ln w="12700">
            <a:solidFill>
              <a:srgbClr val="5F6368"/>
            </a:solidFill>
            <a:prstDash val="solid"/>
            <a:headEnd type="triangle" w="sm" len="sm"/>
          </a:ln>
        </p:spPr>
      </p:sp>
      <p:sp>
        <p:nvSpPr>
          <p:cNvPr id="121" name="Shape 118"/>
          <p:cNvSpPr/>
          <p:nvPr/>
        </p:nvSpPr>
        <p:spPr>
          <a:xfrm flipV="1">
            <a:off x="5447995" y="5405018"/>
            <a:ext cx="0" cy="60350"/>
          </a:xfrm>
          <a:prstGeom prst="line">
            <a:avLst/>
          </a:prstGeom>
          <a:noFill/>
          <a:ln w="12700">
            <a:solidFill>
              <a:srgbClr val="5F6368"/>
            </a:solidFill>
            <a:prstDash val="solid"/>
            <a:tailEnd type="triangle" w="sm" len="sm"/>
          </a:ln>
        </p:spPr>
      </p:sp>
      <p:sp>
        <p:nvSpPr>
          <p:cNvPr id="122" name="Shape 119"/>
          <p:cNvSpPr/>
          <p:nvPr/>
        </p:nvSpPr>
        <p:spPr>
          <a:xfrm>
            <a:off x="1477670" y="3802075"/>
            <a:ext cx="1926641" cy="113386"/>
          </a:xfrm>
          <a:prstGeom prst="rect">
            <a:avLst/>
          </a:prstGeom>
          <a:solidFill>
            <a:srgbClr val="FFFFFF"/>
          </a:solidFill>
          <a:ln/>
        </p:spPr>
      </p:sp>
      <p:sp>
        <p:nvSpPr>
          <p:cNvPr id="123" name="Text 120"/>
          <p:cNvSpPr/>
          <p:nvPr/>
        </p:nvSpPr>
        <p:spPr>
          <a:xfrm>
            <a:off x="1491386" y="3803904"/>
            <a:ext cx="2133295" cy="111557"/>
          </a:xfrm>
          <a:prstGeom prst="rect">
            <a:avLst/>
          </a:prstGeom>
          <a:noFill/>
          <a:ln/>
        </p:spPr>
        <p:txBody>
          <a:bodyPr wrap="none" lIns="0" tIns="0" rIns="0" bIns="0" rtlCol="0" anchor="ctr"/>
          <a:lstStyle/>
          <a:p>
            <a:pPr algn="l" indent="0" marL="0">
              <a:lnSpc>
                <a:spcPct val="100000"/>
              </a:lnSpc>
              <a:buNone/>
            </a:pPr>
            <a:r>
              <a:rPr lang="en-US" sz="400" b="1" dirty="0">
                <a:solidFill>
                  <a:srgbClr val="202124"/>
                </a:solidFill>
                <a:latin typeface="Arial" pitchFamily="34" charset="0"/>
                <a:ea typeface="Arial" pitchFamily="34" charset="-122"/>
                <a:cs typeface="Arial" pitchFamily="34" charset="-120"/>
              </a:rPr>
              <a:t>Pattern A: Pooled Shared Runtime (pattern_a_pooled_rls_entities)</a:t>
            </a:r>
            <a:endParaRPr lang="en-US" sz="400" dirty="0"/>
          </a:p>
        </p:txBody>
      </p:sp>
      <p:sp>
        <p:nvSpPr>
          <p:cNvPr id="124" name="Shape 121"/>
          <p:cNvSpPr/>
          <p:nvPr/>
        </p:nvSpPr>
        <p:spPr>
          <a:xfrm>
            <a:off x="3842309" y="3802075"/>
            <a:ext cx="1636776" cy="113386"/>
          </a:xfrm>
          <a:prstGeom prst="rect">
            <a:avLst/>
          </a:prstGeom>
          <a:solidFill>
            <a:srgbClr val="FFFFFF"/>
          </a:solidFill>
          <a:ln/>
        </p:spPr>
      </p:sp>
      <p:sp>
        <p:nvSpPr>
          <p:cNvPr id="125" name="Text 122"/>
          <p:cNvSpPr/>
          <p:nvPr/>
        </p:nvSpPr>
        <p:spPr>
          <a:xfrm>
            <a:off x="3856025" y="3803904"/>
            <a:ext cx="2133295" cy="111557"/>
          </a:xfrm>
          <a:prstGeom prst="rect">
            <a:avLst/>
          </a:prstGeom>
          <a:noFill/>
          <a:ln/>
        </p:spPr>
        <p:txBody>
          <a:bodyPr wrap="none" lIns="0" tIns="0" rIns="0" bIns="0" rtlCol="0" anchor="ctr"/>
          <a:lstStyle/>
          <a:p>
            <a:pPr algn="l" indent="0" marL="0">
              <a:lnSpc>
                <a:spcPct val="100000"/>
              </a:lnSpc>
              <a:buNone/>
            </a:pPr>
            <a:r>
              <a:rPr lang="en-US" sz="400" b="1" dirty="0">
                <a:solidFill>
                  <a:srgbClr val="202124"/>
                </a:solidFill>
                <a:latin typeface="Arial" pitchFamily="34" charset="0"/>
                <a:ea typeface="Arial" pitchFamily="34" charset="-122"/>
                <a:cs typeface="Arial" pitchFamily="34" charset="-120"/>
              </a:rPr>
              <a:t>Dedicated Spoke: Pattern B Silo or Pattern C PSC Spoke</a:t>
            </a:r>
            <a:endParaRPr lang="en-US" sz="400" dirty="0"/>
          </a:p>
        </p:txBody>
      </p:sp>
      <p:sp>
        <p:nvSpPr>
          <p:cNvPr id="126" name="Shape 123"/>
          <p:cNvSpPr/>
          <p:nvPr/>
        </p:nvSpPr>
        <p:spPr>
          <a:xfrm>
            <a:off x="1547165" y="3964838"/>
            <a:ext cx="1239926" cy="196596"/>
          </a:xfrm>
          <a:prstGeom prst="rect">
            <a:avLst/>
          </a:prstGeom>
          <a:solidFill>
            <a:srgbClr val="FEEFC3"/>
          </a:solidFill>
          <a:ln/>
        </p:spPr>
      </p:sp>
      <p:sp>
        <p:nvSpPr>
          <p:cNvPr id="127" name="Text 124"/>
          <p:cNvSpPr/>
          <p:nvPr/>
        </p:nvSpPr>
        <p:spPr>
          <a:xfrm>
            <a:off x="1560881" y="3970325"/>
            <a:ext cx="1994306"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Tenant Pool (Shared Runtime)</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FinVault (8k Cap) &amp; RetailStream (4k Cap)</a:t>
            </a:r>
            <a:endParaRPr lang="en-US" sz="470" dirty="0"/>
          </a:p>
        </p:txBody>
      </p:sp>
      <p:sp>
        <p:nvSpPr>
          <p:cNvPr id="128" name="Shape 125"/>
          <p:cNvSpPr/>
          <p:nvPr/>
        </p:nvSpPr>
        <p:spPr>
          <a:xfrm>
            <a:off x="3911803" y="3964838"/>
            <a:ext cx="1296619" cy="196596"/>
          </a:xfrm>
          <a:prstGeom prst="rect">
            <a:avLst/>
          </a:prstGeom>
          <a:solidFill>
            <a:srgbClr val="FAD2CF"/>
          </a:solidFill>
          <a:ln/>
        </p:spPr>
      </p:sp>
      <p:sp>
        <p:nvSpPr>
          <p:cNvPr id="129" name="Text 126"/>
          <p:cNvSpPr/>
          <p:nvPr/>
        </p:nvSpPr>
        <p:spPr>
          <a:xfrm>
            <a:off x="3925519" y="3970325"/>
            <a:ext cx="1994306"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Dedicated Sovereign Tenant Silo</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VPC-SC + IAM PAB + finvault-silo-cmek + PSC</a:t>
            </a:r>
            <a:endParaRPr lang="en-US" sz="470" dirty="0"/>
          </a:p>
        </p:txBody>
      </p:sp>
      <p:sp>
        <p:nvSpPr>
          <p:cNvPr id="130" name="Shape 127"/>
          <p:cNvSpPr/>
          <p:nvPr/>
        </p:nvSpPr>
        <p:spPr>
          <a:xfrm>
            <a:off x="1468526" y="1921154"/>
            <a:ext cx="1901952" cy="196596"/>
          </a:xfrm>
          <a:prstGeom prst="rect">
            <a:avLst/>
          </a:prstGeom>
          <a:solidFill>
            <a:srgbClr val="AECBFA"/>
          </a:solidFill>
          <a:ln/>
        </p:spPr>
      </p:sp>
      <p:sp>
        <p:nvSpPr>
          <p:cNvPr id="131" name="Text 128"/>
          <p:cNvSpPr/>
          <p:nvPr/>
        </p:nvSpPr>
        <p:spPr>
          <a:xfrm>
            <a:off x="1482242" y="1926641"/>
            <a:ext cx="1901952"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Routing hub (Hop 1 &amp; Hop 2 PEP/PDP)</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Central ingress, OBO+DPoP KMS Sign &amp; Discovery Engine Catalog filter</a:t>
            </a:r>
            <a:endParaRPr lang="en-US" sz="470" dirty="0"/>
          </a:p>
        </p:txBody>
      </p:sp>
      <p:sp>
        <p:nvSpPr>
          <p:cNvPr id="132" name="Shape 129"/>
          <p:cNvSpPr/>
          <p:nvPr/>
        </p:nvSpPr>
        <p:spPr>
          <a:xfrm>
            <a:off x="4641494" y="1955902"/>
            <a:ext cx="1315822" cy="118872"/>
          </a:xfrm>
          <a:prstGeom prst="rect">
            <a:avLst/>
          </a:prstGeom>
          <a:solidFill>
            <a:srgbClr val="CEEAD6"/>
          </a:solidFill>
          <a:ln/>
        </p:spPr>
      </p:sp>
      <p:sp>
        <p:nvSpPr>
          <p:cNvPr id="133" name="Text 130"/>
          <p:cNvSpPr/>
          <p:nvPr/>
        </p:nvSpPr>
        <p:spPr>
          <a:xfrm>
            <a:off x="4655210" y="1961388"/>
            <a:ext cx="1315822" cy="210312"/>
          </a:xfrm>
          <a:prstGeom prst="rect">
            <a:avLst/>
          </a:prstGeom>
          <a:noFill/>
          <a:ln/>
        </p:spPr>
        <p:txBody>
          <a:bodyPr wrap="square" lIns="0" tIns="0" rIns="0" bIns="0" rtlCol="0" anchor="t"/>
          <a:lstStyle/>
          <a:p>
            <a:pPr algn="l" indent="0" marL="0">
              <a:lnSpc>
                <a:spcPct val="102000"/>
              </a:lnSpc>
              <a:buNone/>
            </a:pPr>
            <a:r>
              <a:rPr lang="en-US" sz="430" b="1" dirty="0">
                <a:solidFill>
                  <a:srgbClr val="202124"/>
                </a:solidFill>
                <a:latin typeface="Arial" pitchFamily="34" charset="0"/>
                <a:ea typeface="Arial" pitchFamily="34" charset="-122"/>
                <a:cs typeface="Arial" pitchFamily="34" charset="-120"/>
              </a:rPr>
              <a:t>Central governance and FinOps observability hub</a:t>
            </a:r>
            <a:endParaRPr lang="en-US" sz="430" dirty="0"/>
          </a:p>
        </p:txBody>
      </p:sp>
      <p:sp>
        <p:nvSpPr>
          <p:cNvPr id="134" name="Shape 131"/>
          <p:cNvSpPr/>
          <p:nvPr/>
        </p:nvSpPr>
        <p:spPr>
          <a:xfrm>
            <a:off x="3152851" y="658368"/>
            <a:ext cx="1086307" cy="373990"/>
          </a:xfrm>
          <a:prstGeom prst="roundRect">
            <a:avLst>
              <a:gd name="adj" fmla="val 9780"/>
            </a:avLst>
          </a:prstGeom>
          <a:solidFill>
            <a:srgbClr val="FFFFFF"/>
          </a:solidFill>
          <a:ln w="10795">
            <a:solidFill>
              <a:srgbClr val="DADCE0"/>
            </a:solidFill>
            <a:prstDash val="solid"/>
          </a:ln>
        </p:spPr>
      </p:sp>
      <p:pic>
        <p:nvPicPr>
          <p:cNvPr id="135" name="Image 1" descr="preencoded.png">    </p:cNvPr>
          <p:cNvPicPr>
            <a:picLocks noChangeAspect="1"/>
          </p:cNvPicPr>
          <p:nvPr/>
        </p:nvPicPr>
        <p:blipFill>
          <a:blip r:embed="rId2"/>
          <a:stretch>
            <a:fillRect/>
          </a:stretch>
        </p:blipFill>
        <p:spPr>
          <a:xfrm>
            <a:off x="3193999" y="763524"/>
            <a:ext cx="164592" cy="164592"/>
          </a:xfrm>
          <a:prstGeom prst="rect">
            <a:avLst/>
          </a:prstGeom>
        </p:spPr>
      </p:pic>
      <p:sp>
        <p:nvSpPr>
          <p:cNvPr id="136" name="Text 132"/>
          <p:cNvSpPr/>
          <p:nvPr/>
        </p:nvSpPr>
        <p:spPr>
          <a:xfrm>
            <a:off x="3372307" y="658368"/>
            <a:ext cx="834847" cy="373990"/>
          </a:xfrm>
          <a:prstGeom prst="rect">
            <a:avLst/>
          </a:prstGeom>
          <a:noFill/>
          <a:ln/>
        </p:spPr>
        <p:txBody>
          <a:bodyPr wrap="square" lIns="0" tIns="0" rIns="0" bIns="0" rtlCol="0" anchor="ctr"/>
          <a:lstStyle/>
          <a:p>
            <a:pPr algn="l" indent="0" marL="0">
              <a:lnSpc>
                <a:spcPct val="104000"/>
              </a:lnSpc>
              <a:buNone/>
            </a:pPr>
            <a:r>
              <a:rPr lang="en-US" sz="480" b="1" dirty="0">
                <a:solidFill>
                  <a:srgbClr val="202124"/>
                </a:solidFill>
                <a:latin typeface="Arial" pitchFamily="34" charset="0"/>
                <a:ea typeface="Arial" pitchFamily="34" charset="-122"/>
                <a:cs typeface="Arial" pitchFamily="34" charset="-120"/>
              </a:rPr>
              <a:t>Competing B2B Tenants</a:t>
            </a:r>
            <a:endParaRPr lang="en-US" sz="480" dirty="0"/>
          </a:p>
          <a:p>
            <a:pPr algn="l" indent="0" marL="0">
              <a:lnSpc>
                <a:spcPct val="104000"/>
              </a:lnSpc>
              <a:buNone/>
            </a:pPr>
            <a:r>
              <a:rPr lang="en-US" sz="410" dirty="0">
                <a:solidFill>
                  <a:srgbClr val="3C4043"/>
                </a:solidFill>
                <a:latin typeface="Arial" pitchFamily="34" charset="0"/>
                <a:ea typeface="Arial" pitchFamily="34" charset="-122"/>
                <a:cs typeface="Arial" pitchFamily="34" charset="-120"/>
              </a:rPr>
              <a:t>FinVault (OIDC) &amp; RetailStream (Entra)</a:t>
            </a:r>
            <a:endParaRPr lang="en-US" sz="480" dirty="0"/>
          </a:p>
        </p:txBody>
      </p:sp>
      <p:sp>
        <p:nvSpPr>
          <p:cNvPr id="137" name="Shape 133"/>
          <p:cNvSpPr/>
          <p:nvPr/>
        </p:nvSpPr>
        <p:spPr>
          <a:xfrm>
            <a:off x="3097073" y="2309774"/>
            <a:ext cx="1138428" cy="330098"/>
          </a:xfrm>
          <a:prstGeom prst="roundRect">
            <a:avLst>
              <a:gd name="adj" fmla="val 11080"/>
            </a:avLst>
          </a:prstGeom>
          <a:solidFill>
            <a:srgbClr val="FFFFFF"/>
          </a:solidFill>
          <a:ln w="10795">
            <a:solidFill>
              <a:srgbClr val="DADCE0"/>
            </a:solidFill>
            <a:prstDash val="solid"/>
          </a:ln>
        </p:spPr>
      </p:sp>
      <p:pic>
        <p:nvPicPr>
          <p:cNvPr id="138" name="Image 2" descr="preencoded.png">    </p:cNvPr>
          <p:cNvPicPr>
            <a:picLocks noChangeAspect="1"/>
          </p:cNvPicPr>
          <p:nvPr/>
        </p:nvPicPr>
        <p:blipFill>
          <a:blip r:embed="rId3"/>
          <a:stretch>
            <a:fillRect/>
          </a:stretch>
        </p:blipFill>
        <p:spPr>
          <a:xfrm>
            <a:off x="3138221" y="2388413"/>
            <a:ext cx="171907" cy="171907"/>
          </a:xfrm>
          <a:prstGeom prst="rect">
            <a:avLst/>
          </a:prstGeom>
        </p:spPr>
      </p:pic>
      <p:sp>
        <p:nvSpPr>
          <p:cNvPr id="139" name="Text 134"/>
          <p:cNvSpPr/>
          <p:nvPr/>
        </p:nvSpPr>
        <p:spPr>
          <a:xfrm>
            <a:off x="3332988" y="2309774"/>
            <a:ext cx="875081" cy="330098"/>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External Application Load Balancer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Cloud Load Balancing</a:t>
            </a:r>
            <a:endParaRPr lang="en-US" sz="490" dirty="0"/>
          </a:p>
        </p:txBody>
      </p:sp>
      <p:sp>
        <p:nvSpPr>
          <p:cNvPr id="140" name="Shape 135"/>
          <p:cNvSpPr/>
          <p:nvPr/>
        </p:nvSpPr>
        <p:spPr>
          <a:xfrm>
            <a:off x="4713732" y="2197303"/>
            <a:ext cx="1199693" cy="312725"/>
          </a:xfrm>
          <a:prstGeom prst="roundRect">
            <a:avLst>
              <a:gd name="adj" fmla="val 11696"/>
            </a:avLst>
          </a:prstGeom>
          <a:solidFill>
            <a:srgbClr val="FFFFFF"/>
          </a:solidFill>
          <a:ln w="10795">
            <a:solidFill>
              <a:srgbClr val="DADCE0"/>
            </a:solidFill>
            <a:prstDash val="solid"/>
          </a:ln>
        </p:spPr>
      </p:sp>
      <p:pic>
        <p:nvPicPr>
          <p:cNvPr id="141" name="Image 3" descr="preencoded.png">    </p:cNvPr>
          <p:cNvPicPr>
            <a:picLocks noChangeAspect="1"/>
          </p:cNvPicPr>
          <p:nvPr/>
        </p:nvPicPr>
        <p:blipFill>
          <a:blip r:embed="rId4"/>
          <a:stretch>
            <a:fillRect/>
          </a:stretch>
        </p:blipFill>
        <p:spPr>
          <a:xfrm>
            <a:off x="4754880" y="2272284"/>
            <a:ext cx="162763" cy="162763"/>
          </a:xfrm>
          <a:prstGeom prst="rect">
            <a:avLst/>
          </a:prstGeom>
        </p:spPr>
      </p:pic>
      <p:sp>
        <p:nvSpPr>
          <p:cNvPr id="142" name="Text 136"/>
          <p:cNvSpPr/>
          <p:nvPr/>
        </p:nvSpPr>
        <p:spPr>
          <a:xfrm>
            <a:off x="4940503" y="2197303"/>
            <a:ext cx="945490"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Security Command Center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security_breach_audit_log</a:t>
            </a:r>
            <a:endParaRPr lang="en-US" sz="490" dirty="0"/>
          </a:p>
        </p:txBody>
      </p:sp>
      <p:sp>
        <p:nvSpPr>
          <p:cNvPr id="143" name="Shape 137"/>
          <p:cNvSpPr/>
          <p:nvPr/>
        </p:nvSpPr>
        <p:spPr>
          <a:xfrm>
            <a:off x="4731106" y="2926994"/>
            <a:ext cx="1164946" cy="295351"/>
          </a:xfrm>
          <a:prstGeom prst="roundRect">
            <a:avLst>
              <a:gd name="adj" fmla="val 12384"/>
            </a:avLst>
          </a:prstGeom>
          <a:solidFill>
            <a:srgbClr val="FFFFFF"/>
          </a:solidFill>
          <a:ln w="10795">
            <a:solidFill>
              <a:srgbClr val="DADCE0"/>
            </a:solidFill>
            <a:prstDash val="solid"/>
          </a:ln>
        </p:spPr>
      </p:sp>
      <p:pic>
        <p:nvPicPr>
          <p:cNvPr id="144" name="Image 4" descr="preencoded.png">    </p:cNvPr>
          <p:cNvPicPr>
            <a:picLocks noChangeAspect="1"/>
          </p:cNvPicPr>
          <p:nvPr/>
        </p:nvPicPr>
        <p:blipFill>
          <a:blip r:embed="rId5"/>
          <a:stretch>
            <a:fillRect/>
          </a:stretch>
        </p:blipFill>
        <p:spPr>
          <a:xfrm>
            <a:off x="4772254" y="2998318"/>
            <a:ext cx="153619" cy="153619"/>
          </a:xfrm>
          <a:prstGeom prst="rect">
            <a:avLst/>
          </a:prstGeom>
        </p:spPr>
      </p:pic>
      <p:sp>
        <p:nvSpPr>
          <p:cNvPr id="145" name="Text 138"/>
          <p:cNvSpPr/>
          <p:nvPr/>
        </p:nvSpPr>
        <p:spPr>
          <a:xfrm>
            <a:off x="4948733" y="2926994"/>
            <a:ext cx="919886"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Cloud Logging &amp; BQ</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tenant_telemetry_spans</a:t>
            </a:r>
            <a:endParaRPr lang="en-US" sz="490" dirty="0"/>
          </a:p>
        </p:txBody>
      </p:sp>
      <p:sp>
        <p:nvSpPr>
          <p:cNvPr id="146" name="Shape 139"/>
          <p:cNvSpPr/>
          <p:nvPr/>
        </p:nvSpPr>
        <p:spPr>
          <a:xfrm>
            <a:off x="4739335" y="2570378"/>
            <a:ext cx="1147572" cy="295351"/>
          </a:xfrm>
          <a:prstGeom prst="roundRect">
            <a:avLst>
              <a:gd name="adj" fmla="val 12384"/>
            </a:avLst>
          </a:prstGeom>
          <a:solidFill>
            <a:srgbClr val="FFFFFF"/>
          </a:solidFill>
          <a:ln w="10795">
            <a:solidFill>
              <a:srgbClr val="DADCE0"/>
            </a:solidFill>
            <a:prstDash val="solid"/>
          </a:ln>
        </p:spPr>
      </p:sp>
      <p:pic>
        <p:nvPicPr>
          <p:cNvPr id="147" name="Image 5" descr="preencoded.png">    </p:cNvPr>
          <p:cNvPicPr>
            <a:picLocks noChangeAspect="1"/>
          </p:cNvPicPr>
          <p:nvPr/>
        </p:nvPicPr>
        <p:blipFill>
          <a:blip r:embed="rId6"/>
          <a:stretch>
            <a:fillRect/>
          </a:stretch>
        </p:blipFill>
        <p:spPr>
          <a:xfrm>
            <a:off x="4780483" y="2641702"/>
            <a:ext cx="153619" cy="153619"/>
          </a:xfrm>
          <a:prstGeom prst="rect">
            <a:avLst/>
          </a:prstGeom>
        </p:spPr>
      </p:pic>
      <p:sp>
        <p:nvSpPr>
          <p:cNvPr id="148" name="Text 140"/>
          <p:cNvSpPr/>
          <p:nvPr/>
        </p:nvSpPr>
        <p:spPr>
          <a:xfrm>
            <a:off x="4956962" y="2570378"/>
            <a:ext cx="902513"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Central IAM &amp; PAB</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Agent Identity (2LO/3LO)</a:t>
            </a:r>
            <a:endParaRPr lang="en-US" sz="490" dirty="0"/>
          </a:p>
        </p:txBody>
      </p:sp>
      <p:sp>
        <p:nvSpPr>
          <p:cNvPr id="149" name="Shape 141"/>
          <p:cNvSpPr/>
          <p:nvPr/>
        </p:nvSpPr>
        <p:spPr>
          <a:xfrm>
            <a:off x="2618842" y="4448556"/>
            <a:ext cx="929945" cy="321869"/>
          </a:xfrm>
          <a:prstGeom prst="roundRect">
            <a:avLst>
              <a:gd name="adj" fmla="val 11364"/>
            </a:avLst>
          </a:prstGeom>
          <a:solidFill>
            <a:srgbClr val="FFFFFF"/>
          </a:solidFill>
          <a:ln w="10795">
            <a:solidFill>
              <a:srgbClr val="DADCE0"/>
            </a:solidFill>
            <a:prstDash val="solid"/>
          </a:ln>
        </p:spPr>
      </p:sp>
      <p:pic>
        <p:nvPicPr>
          <p:cNvPr id="150" name="Image 6" descr="preencoded.png">    </p:cNvPr>
          <p:cNvPicPr>
            <a:picLocks noChangeAspect="1"/>
          </p:cNvPicPr>
          <p:nvPr/>
        </p:nvPicPr>
        <p:blipFill>
          <a:blip r:embed="rId7"/>
          <a:stretch>
            <a:fillRect/>
          </a:stretch>
        </p:blipFill>
        <p:spPr>
          <a:xfrm>
            <a:off x="2659990" y="4526280"/>
            <a:ext cx="167335" cy="167335"/>
          </a:xfrm>
          <a:prstGeom prst="rect">
            <a:avLst/>
          </a:prstGeom>
        </p:spPr>
      </p:pic>
      <p:sp>
        <p:nvSpPr>
          <p:cNvPr id="151" name="Text 142"/>
          <p:cNvSpPr/>
          <p:nvPr/>
        </p:nvSpPr>
        <p:spPr>
          <a:xfrm>
            <a:off x="2850185" y="444855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Vertex AI Agent Engine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gVisor + temp:tenant_id</a:t>
            </a:r>
            <a:endParaRPr lang="en-US" sz="490" dirty="0"/>
          </a:p>
        </p:txBody>
      </p:sp>
      <p:sp>
        <p:nvSpPr>
          <p:cNvPr id="152" name="Shape 143"/>
          <p:cNvSpPr/>
          <p:nvPr/>
        </p:nvSpPr>
        <p:spPr>
          <a:xfrm>
            <a:off x="2618842" y="5074006"/>
            <a:ext cx="929945" cy="321869"/>
          </a:xfrm>
          <a:prstGeom prst="roundRect">
            <a:avLst>
              <a:gd name="adj" fmla="val 11364"/>
            </a:avLst>
          </a:prstGeom>
          <a:solidFill>
            <a:srgbClr val="FFFFFF"/>
          </a:solidFill>
          <a:ln w="10795">
            <a:solidFill>
              <a:srgbClr val="DADCE0"/>
            </a:solidFill>
            <a:prstDash val="solid"/>
          </a:ln>
        </p:spPr>
      </p:sp>
      <p:pic>
        <p:nvPicPr>
          <p:cNvPr id="153" name="Image 7" descr="preencoded.png">    </p:cNvPr>
          <p:cNvPicPr>
            <a:picLocks noChangeAspect="1"/>
          </p:cNvPicPr>
          <p:nvPr/>
        </p:nvPicPr>
        <p:blipFill>
          <a:blip r:embed="rId8"/>
          <a:stretch>
            <a:fillRect/>
          </a:stretch>
        </p:blipFill>
        <p:spPr>
          <a:xfrm>
            <a:off x="2659990" y="5151730"/>
            <a:ext cx="167335" cy="167335"/>
          </a:xfrm>
          <a:prstGeom prst="rect">
            <a:avLst/>
          </a:prstGeom>
        </p:spPr>
      </p:pic>
      <p:sp>
        <p:nvSpPr>
          <p:cNvPr id="154" name="Text 144"/>
          <p:cNvSpPr/>
          <p:nvPr/>
        </p:nvSpPr>
        <p:spPr>
          <a:xfrm>
            <a:off x="2850185" y="507400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MCP servers</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2LO + 3LO OIDC/Entra</a:t>
            </a:r>
            <a:endParaRPr lang="en-US" sz="490" dirty="0"/>
          </a:p>
        </p:txBody>
      </p:sp>
      <p:sp>
        <p:nvSpPr>
          <p:cNvPr id="155" name="Shape 145"/>
          <p:cNvSpPr/>
          <p:nvPr/>
        </p:nvSpPr>
        <p:spPr>
          <a:xfrm>
            <a:off x="2618842" y="5725973"/>
            <a:ext cx="929945" cy="321869"/>
          </a:xfrm>
          <a:prstGeom prst="roundRect">
            <a:avLst>
              <a:gd name="adj" fmla="val 11364"/>
            </a:avLst>
          </a:prstGeom>
          <a:solidFill>
            <a:srgbClr val="FFFFFF"/>
          </a:solidFill>
          <a:ln w="10795">
            <a:solidFill>
              <a:srgbClr val="DADCE0"/>
            </a:solidFill>
            <a:prstDash val="solid"/>
          </a:ln>
        </p:spPr>
      </p:sp>
      <p:pic>
        <p:nvPicPr>
          <p:cNvPr id="156" name="Image 8" descr="preencoded.png">    </p:cNvPr>
          <p:cNvPicPr>
            <a:picLocks noChangeAspect="1"/>
          </p:cNvPicPr>
          <p:nvPr/>
        </p:nvPicPr>
        <p:blipFill>
          <a:blip r:embed="rId9"/>
          <a:stretch>
            <a:fillRect/>
          </a:stretch>
        </p:blipFill>
        <p:spPr>
          <a:xfrm>
            <a:off x="2659990" y="5802782"/>
            <a:ext cx="167335" cy="167335"/>
          </a:xfrm>
          <a:prstGeom prst="rect">
            <a:avLst/>
          </a:prstGeom>
        </p:spPr>
      </p:pic>
      <p:sp>
        <p:nvSpPr>
          <p:cNvPr id="157" name="Text 146"/>
          <p:cNvSpPr/>
          <p:nvPr/>
        </p:nvSpPr>
        <p:spPr>
          <a:xfrm>
            <a:off x="2850185" y="5725973"/>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AlloyDB &amp; BQ RLS</a:t>
            </a:r>
            <a:endParaRPr lang="en-US" sz="490" dirty="0"/>
          </a:p>
          <a:p>
            <a:pPr algn="l" indent="0" marL="0">
              <a:lnSpc>
                <a:spcPct val="100000"/>
              </a:lnSpc>
              <a:buNone/>
            </a:pPr>
            <a:r>
              <a:rPr lang="en-US" sz="373" dirty="0">
                <a:solidFill>
                  <a:srgbClr val="3C4043"/>
                </a:solidFill>
                <a:latin typeface="Arial" pitchFamily="34" charset="0"/>
                <a:ea typeface="Arial" pitchFamily="34" charset="-122"/>
                <a:cs typeface="Arial" pitchFamily="34" charset="-120"/>
              </a:rPr>
              <a:t>tenant_pooled_rls_policy</a:t>
            </a:r>
            <a:endParaRPr lang="en-US" sz="490" dirty="0"/>
          </a:p>
        </p:txBody>
      </p:sp>
      <p:sp>
        <p:nvSpPr>
          <p:cNvPr id="158" name="Shape 147"/>
          <p:cNvSpPr/>
          <p:nvPr/>
        </p:nvSpPr>
        <p:spPr>
          <a:xfrm>
            <a:off x="4982566" y="4448556"/>
            <a:ext cx="929945" cy="321869"/>
          </a:xfrm>
          <a:prstGeom prst="roundRect">
            <a:avLst>
              <a:gd name="adj" fmla="val 11364"/>
            </a:avLst>
          </a:prstGeom>
          <a:solidFill>
            <a:srgbClr val="FFFFFF"/>
          </a:solidFill>
          <a:ln w="10795">
            <a:solidFill>
              <a:srgbClr val="DADCE0"/>
            </a:solidFill>
            <a:prstDash val="solid"/>
          </a:ln>
        </p:spPr>
      </p:sp>
      <p:pic>
        <p:nvPicPr>
          <p:cNvPr id="159" name="Image 9" descr="preencoded.png">    </p:cNvPr>
          <p:cNvPicPr>
            <a:picLocks noChangeAspect="1"/>
          </p:cNvPicPr>
          <p:nvPr/>
        </p:nvPicPr>
        <p:blipFill>
          <a:blip r:embed="rId10"/>
          <a:stretch>
            <a:fillRect/>
          </a:stretch>
        </p:blipFill>
        <p:spPr>
          <a:xfrm>
            <a:off x="5023714" y="4526280"/>
            <a:ext cx="167335" cy="167335"/>
          </a:xfrm>
          <a:prstGeom prst="rect">
            <a:avLst/>
          </a:prstGeom>
        </p:spPr>
      </p:pic>
      <p:sp>
        <p:nvSpPr>
          <p:cNvPr id="160" name="Text 148"/>
          <p:cNvSpPr/>
          <p:nvPr/>
        </p:nvSpPr>
        <p:spPr>
          <a:xfrm>
            <a:off x="5213909" y="444855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Vertex AI Agent Engine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Dedicated Silo + Agent Alpha</a:t>
            </a:r>
            <a:endParaRPr lang="en-US" sz="490" dirty="0"/>
          </a:p>
        </p:txBody>
      </p:sp>
      <p:sp>
        <p:nvSpPr>
          <p:cNvPr id="161" name="Shape 149"/>
          <p:cNvSpPr/>
          <p:nvPr/>
        </p:nvSpPr>
        <p:spPr>
          <a:xfrm>
            <a:off x="4982566" y="5074006"/>
            <a:ext cx="929945" cy="321869"/>
          </a:xfrm>
          <a:prstGeom prst="roundRect">
            <a:avLst>
              <a:gd name="adj" fmla="val 11364"/>
            </a:avLst>
          </a:prstGeom>
          <a:solidFill>
            <a:srgbClr val="FFFFFF"/>
          </a:solidFill>
          <a:ln w="10795">
            <a:solidFill>
              <a:srgbClr val="DADCE0"/>
            </a:solidFill>
            <a:prstDash val="solid"/>
          </a:ln>
        </p:spPr>
      </p:sp>
      <p:pic>
        <p:nvPicPr>
          <p:cNvPr id="162" name="Image 10" descr="preencoded.png">    </p:cNvPr>
          <p:cNvPicPr>
            <a:picLocks noChangeAspect="1"/>
          </p:cNvPicPr>
          <p:nvPr/>
        </p:nvPicPr>
        <p:blipFill>
          <a:blip r:embed="rId11"/>
          <a:stretch>
            <a:fillRect/>
          </a:stretch>
        </p:blipFill>
        <p:spPr>
          <a:xfrm>
            <a:off x="5023714" y="5151730"/>
            <a:ext cx="167335" cy="167335"/>
          </a:xfrm>
          <a:prstGeom prst="rect">
            <a:avLst/>
          </a:prstGeom>
        </p:spPr>
      </p:pic>
      <p:sp>
        <p:nvSpPr>
          <p:cNvPr id="163" name="Text 150"/>
          <p:cNvSpPr/>
          <p:nvPr/>
        </p:nvSpPr>
        <p:spPr>
          <a:xfrm>
            <a:off x="5213909" y="507400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MCP servers</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Local Silo 3LO Connectors</a:t>
            </a:r>
            <a:endParaRPr lang="en-US" sz="490" dirty="0"/>
          </a:p>
        </p:txBody>
      </p:sp>
      <p:sp>
        <p:nvSpPr>
          <p:cNvPr id="164" name="Shape 151"/>
          <p:cNvSpPr/>
          <p:nvPr/>
        </p:nvSpPr>
        <p:spPr>
          <a:xfrm>
            <a:off x="4982566" y="5725973"/>
            <a:ext cx="929945" cy="321869"/>
          </a:xfrm>
          <a:prstGeom prst="roundRect">
            <a:avLst>
              <a:gd name="adj" fmla="val 11364"/>
            </a:avLst>
          </a:prstGeom>
          <a:solidFill>
            <a:srgbClr val="FFFFFF"/>
          </a:solidFill>
          <a:ln w="10795">
            <a:solidFill>
              <a:srgbClr val="DADCE0"/>
            </a:solidFill>
            <a:prstDash val="solid"/>
          </a:ln>
        </p:spPr>
      </p:sp>
      <p:pic>
        <p:nvPicPr>
          <p:cNvPr id="165" name="Image 11" descr="preencoded.png">    </p:cNvPr>
          <p:cNvPicPr>
            <a:picLocks noChangeAspect="1"/>
          </p:cNvPicPr>
          <p:nvPr/>
        </p:nvPicPr>
        <p:blipFill>
          <a:blip r:embed="rId12"/>
          <a:stretch>
            <a:fillRect/>
          </a:stretch>
        </p:blipFill>
        <p:spPr>
          <a:xfrm>
            <a:off x="5023714" y="5802782"/>
            <a:ext cx="167335" cy="167335"/>
          </a:xfrm>
          <a:prstGeom prst="rect">
            <a:avLst/>
          </a:prstGeom>
        </p:spPr>
      </p:pic>
      <p:sp>
        <p:nvSpPr>
          <p:cNvPr id="166" name="Text 152"/>
          <p:cNvSpPr/>
          <p:nvPr/>
        </p:nvSpPr>
        <p:spPr>
          <a:xfrm>
            <a:off x="5213909" y="5725973"/>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CMEK Datastore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finvault-silo-cmek &amp; 423 Lock</a:t>
            </a:r>
            <a:endParaRPr lang="en-US" sz="490" dirty="0"/>
          </a:p>
        </p:txBody>
      </p:sp>
      <p:sp>
        <p:nvSpPr>
          <p:cNvPr id="167" name="Shape 153"/>
          <p:cNvSpPr/>
          <p:nvPr/>
        </p:nvSpPr>
        <p:spPr>
          <a:xfrm>
            <a:off x="3201314" y="2953512"/>
            <a:ext cx="973836" cy="287122"/>
          </a:xfrm>
          <a:prstGeom prst="roundRect">
            <a:avLst>
              <a:gd name="adj" fmla="val 12739"/>
            </a:avLst>
          </a:prstGeom>
          <a:solidFill>
            <a:srgbClr val="FFFFFF"/>
          </a:solidFill>
          <a:ln w="10795">
            <a:solidFill>
              <a:srgbClr val="DADCE0"/>
            </a:solidFill>
            <a:prstDash val="solid"/>
          </a:ln>
        </p:spPr>
      </p:sp>
      <p:pic>
        <p:nvPicPr>
          <p:cNvPr id="168" name="Image 12" descr="preencoded.png">    </p:cNvPr>
          <p:cNvPicPr>
            <a:picLocks noChangeAspect="1"/>
          </p:cNvPicPr>
          <p:nvPr/>
        </p:nvPicPr>
        <p:blipFill>
          <a:blip r:embed="rId13"/>
          <a:stretch>
            <a:fillRect/>
          </a:stretch>
        </p:blipFill>
        <p:spPr>
          <a:xfrm>
            <a:off x="3242462" y="3022092"/>
            <a:ext cx="149047" cy="149047"/>
          </a:xfrm>
          <a:prstGeom prst="rect">
            <a:avLst/>
          </a:prstGeom>
        </p:spPr>
      </p:pic>
      <p:sp>
        <p:nvSpPr>
          <p:cNvPr id="169" name="Text 154"/>
          <p:cNvSpPr/>
          <p:nvPr/>
        </p:nvSpPr>
        <p:spPr>
          <a:xfrm>
            <a:off x="3414370" y="2953512"/>
            <a:ext cx="733349"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Cloud Run</a:t>
            </a:r>
            <a:endParaRPr lang="en-US" sz="490" dirty="0"/>
          </a:p>
          <a:p>
            <a:pPr algn="l" indent="0" marL="0">
              <a:lnSpc>
                <a:spcPct val="100000"/>
              </a:lnSpc>
              <a:buNone/>
            </a:pPr>
            <a:r>
              <a:rPr lang="en-US" sz="350" dirty="0">
                <a:solidFill>
                  <a:srgbClr val="3C4043"/>
                </a:solidFill>
                <a:latin typeface="Arial" pitchFamily="34" charset="0"/>
                <a:ea typeface="Arial" pitchFamily="34" charset="-122"/>
                <a:cs typeface="Arial" pitchFamily="34" charset="-120"/>
              </a:rPr>
              <a:t>cymbal-multi-tenant-patterns</a:t>
            </a:r>
            <a:endParaRPr lang="en-US" sz="490" dirty="0"/>
          </a:p>
        </p:txBody>
      </p:sp>
      <p:sp>
        <p:nvSpPr>
          <p:cNvPr id="170" name="Shape 155"/>
          <p:cNvSpPr/>
          <p:nvPr/>
        </p:nvSpPr>
        <p:spPr>
          <a:xfrm>
            <a:off x="1548994" y="4230929"/>
            <a:ext cx="843077" cy="312725"/>
          </a:xfrm>
          <a:prstGeom prst="roundRect">
            <a:avLst>
              <a:gd name="adj" fmla="val 11696"/>
            </a:avLst>
          </a:prstGeom>
          <a:solidFill>
            <a:srgbClr val="FFFFFF"/>
          </a:solidFill>
          <a:ln w="10795">
            <a:solidFill>
              <a:srgbClr val="DADCE0"/>
            </a:solidFill>
            <a:prstDash val="solid"/>
          </a:ln>
        </p:spPr>
      </p:sp>
      <p:pic>
        <p:nvPicPr>
          <p:cNvPr id="171" name="Image 13" descr="preencoded.png">    </p:cNvPr>
          <p:cNvPicPr>
            <a:picLocks noChangeAspect="1"/>
          </p:cNvPicPr>
          <p:nvPr/>
        </p:nvPicPr>
        <p:blipFill>
          <a:blip r:embed="rId14"/>
          <a:stretch>
            <a:fillRect/>
          </a:stretch>
        </p:blipFill>
        <p:spPr>
          <a:xfrm>
            <a:off x="1590142" y="4305910"/>
            <a:ext cx="162763" cy="162763"/>
          </a:xfrm>
          <a:prstGeom prst="rect">
            <a:avLst/>
          </a:prstGeom>
        </p:spPr>
      </p:pic>
      <p:sp>
        <p:nvSpPr>
          <p:cNvPr id="172" name="Text 156"/>
          <p:cNvSpPr/>
          <p:nvPr/>
        </p:nvSpPr>
        <p:spPr>
          <a:xfrm>
            <a:off x="1775765" y="4230929"/>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Model Armor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Tenant Rai Filters &amp; SDP PII</a:t>
            </a:r>
            <a:endParaRPr lang="en-US" sz="490" dirty="0"/>
          </a:p>
        </p:txBody>
      </p:sp>
      <p:sp>
        <p:nvSpPr>
          <p:cNvPr id="173" name="Shape 157"/>
          <p:cNvSpPr/>
          <p:nvPr/>
        </p:nvSpPr>
        <p:spPr>
          <a:xfrm>
            <a:off x="1548994" y="5256886"/>
            <a:ext cx="843077" cy="312725"/>
          </a:xfrm>
          <a:prstGeom prst="roundRect">
            <a:avLst>
              <a:gd name="adj" fmla="val 11696"/>
            </a:avLst>
          </a:prstGeom>
          <a:solidFill>
            <a:srgbClr val="FFFFFF"/>
          </a:solidFill>
          <a:ln w="10795">
            <a:solidFill>
              <a:srgbClr val="DADCE0"/>
            </a:solidFill>
            <a:prstDash val="solid"/>
          </a:ln>
        </p:spPr>
      </p:sp>
      <p:pic>
        <p:nvPicPr>
          <p:cNvPr id="174" name="Image 14" descr="preencoded.png">    </p:cNvPr>
          <p:cNvPicPr>
            <a:picLocks noChangeAspect="1"/>
          </p:cNvPicPr>
          <p:nvPr/>
        </p:nvPicPr>
        <p:blipFill>
          <a:blip r:embed="rId15"/>
          <a:stretch>
            <a:fillRect/>
          </a:stretch>
        </p:blipFill>
        <p:spPr>
          <a:xfrm>
            <a:off x="1590142" y="5331866"/>
            <a:ext cx="162763" cy="162763"/>
          </a:xfrm>
          <a:prstGeom prst="rect">
            <a:avLst/>
          </a:prstGeom>
        </p:spPr>
      </p:pic>
      <p:sp>
        <p:nvSpPr>
          <p:cNvPr id="175" name="Text 158"/>
          <p:cNvSpPr/>
          <p:nvPr/>
        </p:nvSpPr>
        <p:spPr>
          <a:xfrm>
            <a:off x="1775765" y="5256886"/>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Gemini 2.5 Pro</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90% Prefix Cache Savings</a:t>
            </a:r>
            <a:endParaRPr lang="en-US" sz="490" dirty="0"/>
          </a:p>
        </p:txBody>
      </p:sp>
      <p:sp>
        <p:nvSpPr>
          <p:cNvPr id="176" name="Shape 159"/>
          <p:cNvSpPr/>
          <p:nvPr/>
        </p:nvSpPr>
        <p:spPr>
          <a:xfrm>
            <a:off x="3913632" y="4230929"/>
            <a:ext cx="843077" cy="312725"/>
          </a:xfrm>
          <a:prstGeom prst="roundRect">
            <a:avLst>
              <a:gd name="adj" fmla="val 11696"/>
            </a:avLst>
          </a:prstGeom>
          <a:solidFill>
            <a:srgbClr val="FFFFFF"/>
          </a:solidFill>
          <a:ln w="10795">
            <a:solidFill>
              <a:srgbClr val="DADCE0"/>
            </a:solidFill>
            <a:prstDash val="solid"/>
          </a:ln>
        </p:spPr>
      </p:sp>
      <p:pic>
        <p:nvPicPr>
          <p:cNvPr id="177" name="Image 15" descr="preencoded.png">    </p:cNvPr>
          <p:cNvPicPr>
            <a:picLocks noChangeAspect="1"/>
          </p:cNvPicPr>
          <p:nvPr/>
        </p:nvPicPr>
        <p:blipFill>
          <a:blip r:embed="rId16"/>
          <a:stretch>
            <a:fillRect/>
          </a:stretch>
        </p:blipFill>
        <p:spPr>
          <a:xfrm>
            <a:off x="3954780" y="4305910"/>
            <a:ext cx="162763" cy="162763"/>
          </a:xfrm>
          <a:prstGeom prst="rect">
            <a:avLst/>
          </a:prstGeom>
        </p:spPr>
      </p:pic>
      <p:sp>
        <p:nvSpPr>
          <p:cNvPr id="178" name="Text 160"/>
          <p:cNvSpPr/>
          <p:nvPr/>
        </p:nvSpPr>
        <p:spPr>
          <a:xfrm>
            <a:off x="4140403" y="4230929"/>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VPC-SC &amp; Model Armor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Sovereign Silo Guardrails</a:t>
            </a:r>
            <a:endParaRPr lang="en-US" sz="490" dirty="0"/>
          </a:p>
        </p:txBody>
      </p:sp>
      <p:sp>
        <p:nvSpPr>
          <p:cNvPr id="179" name="Shape 161"/>
          <p:cNvSpPr/>
          <p:nvPr/>
        </p:nvSpPr>
        <p:spPr>
          <a:xfrm>
            <a:off x="3913632" y="4674413"/>
            <a:ext cx="843077" cy="312725"/>
          </a:xfrm>
          <a:prstGeom prst="roundRect">
            <a:avLst>
              <a:gd name="adj" fmla="val 11696"/>
            </a:avLst>
          </a:prstGeom>
          <a:solidFill>
            <a:srgbClr val="FFFFFF"/>
          </a:solidFill>
          <a:ln w="10795">
            <a:solidFill>
              <a:srgbClr val="DADCE0"/>
            </a:solidFill>
            <a:prstDash val="solid"/>
          </a:ln>
        </p:spPr>
      </p:sp>
      <p:pic>
        <p:nvPicPr>
          <p:cNvPr id="180" name="Image 16" descr="preencoded.png">    </p:cNvPr>
          <p:cNvPicPr>
            <a:picLocks noChangeAspect="1"/>
          </p:cNvPicPr>
          <p:nvPr/>
        </p:nvPicPr>
        <p:blipFill>
          <a:blip r:embed="rId17"/>
          <a:stretch>
            <a:fillRect/>
          </a:stretch>
        </p:blipFill>
        <p:spPr>
          <a:xfrm>
            <a:off x="3954780" y="4749394"/>
            <a:ext cx="162763" cy="162763"/>
          </a:xfrm>
          <a:prstGeom prst="rect">
            <a:avLst/>
          </a:prstGeom>
        </p:spPr>
      </p:pic>
      <p:sp>
        <p:nvSpPr>
          <p:cNvPr id="181" name="Text 162"/>
          <p:cNvSpPr/>
          <p:nvPr/>
        </p:nvSpPr>
        <p:spPr>
          <a:xfrm>
            <a:off x="4140403" y="4674413"/>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Gemini / Gemma 3</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Dedicated PT or Private GKE</a:t>
            </a:r>
            <a:endParaRPr lang="en-US" sz="490" dirty="0"/>
          </a:p>
        </p:txBody>
      </p:sp>
      <p:sp>
        <p:nvSpPr>
          <p:cNvPr id="182" name="Shape 163"/>
          <p:cNvSpPr/>
          <p:nvPr/>
        </p:nvSpPr>
        <p:spPr>
          <a:xfrm>
            <a:off x="1514246" y="2162556"/>
            <a:ext cx="886968" cy="287122"/>
          </a:xfrm>
          <a:prstGeom prst="roundRect">
            <a:avLst>
              <a:gd name="adj" fmla="val 12739"/>
            </a:avLst>
          </a:prstGeom>
          <a:solidFill>
            <a:srgbClr val="FFFFFF"/>
          </a:solidFill>
          <a:ln w="10795">
            <a:solidFill>
              <a:srgbClr val="DADCE0"/>
            </a:solidFill>
            <a:prstDash val="solid"/>
          </a:ln>
        </p:spPr>
      </p:sp>
      <p:pic>
        <p:nvPicPr>
          <p:cNvPr id="183" name="Image 17" descr="preencoded.png">    </p:cNvPr>
          <p:cNvPicPr>
            <a:picLocks noChangeAspect="1"/>
          </p:cNvPicPr>
          <p:nvPr/>
        </p:nvPicPr>
        <p:blipFill>
          <a:blip r:embed="rId18"/>
          <a:stretch>
            <a:fillRect/>
          </a:stretch>
        </p:blipFill>
        <p:spPr>
          <a:xfrm>
            <a:off x="1555394" y="2232050"/>
            <a:ext cx="149047" cy="149047"/>
          </a:xfrm>
          <a:prstGeom prst="rect">
            <a:avLst/>
          </a:prstGeom>
        </p:spPr>
      </p:pic>
      <p:sp>
        <p:nvSpPr>
          <p:cNvPr id="184" name="Text 164"/>
          <p:cNvSpPr/>
          <p:nvPr/>
        </p:nvSpPr>
        <p:spPr>
          <a:xfrm>
            <a:off x="1727302" y="2162556"/>
            <a:ext cx="646481"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Google Cloud Armor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WAF &amp; DDoS • Strips X-Tenant-ID</a:t>
            </a:r>
            <a:endParaRPr lang="en-US" sz="490" dirty="0"/>
          </a:p>
        </p:txBody>
      </p:sp>
      <p:sp>
        <p:nvSpPr>
          <p:cNvPr id="185" name="Shape 165"/>
          <p:cNvSpPr/>
          <p:nvPr/>
        </p:nvSpPr>
        <p:spPr>
          <a:xfrm>
            <a:off x="1514246" y="2527402"/>
            <a:ext cx="886968" cy="287122"/>
          </a:xfrm>
          <a:prstGeom prst="roundRect">
            <a:avLst>
              <a:gd name="adj" fmla="val 12739"/>
            </a:avLst>
          </a:prstGeom>
          <a:solidFill>
            <a:srgbClr val="FFFFFF"/>
          </a:solidFill>
          <a:ln w="10795">
            <a:solidFill>
              <a:srgbClr val="DADCE0"/>
            </a:solidFill>
            <a:prstDash val="solid"/>
          </a:ln>
        </p:spPr>
      </p:sp>
      <p:pic>
        <p:nvPicPr>
          <p:cNvPr id="186" name="Image 18" descr="preencoded.png">    </p:cNvPr>
          <p:cNvPicPr>
            <a:picLocks noChangeAspect="1"/>
          </p:cNvPicPr>
          <p:nvPr/>
        </p:nvPicPr>
        <p:blipFill>
          <a:blip r:embed="rId19"/>
          <a:stretch>
            <a:fillRect/>
          </a:stretch>
        </p:blipFill>
        <p:spPr>
          <a:xfrm>
            <a:off x="1555394" y="2595982"/>
            <a:ext cx="149047" cy="149047"/>
          </a:xfrm>
          <a:prstGeom prst="rect">
            <a:avLst/>
          </a:prstGeom>
        </p:spPr>
      </p:pic>
      <p:sp>
        <p:nvSpPr>
          <p:cNvPr id="187" name="Text 166"/>
          <p:cNvSpPr/>
          <p:nvPr/>
        </p:nvSpPr>
        <p:spPr>
          <a:xfrm>
            <a:off x="1727302" y="2527402"/>
            <a:ext cx="646481"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Model Armor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Ingress Prompt Screen</a:t>
            </a:r>
            <a:endParaRPr lang="en-US" sz="490" dirty="0"/>
          </a:p>
        </p:txBody>
      </p:sp>
      <p:sp>
        <p:nvSpPr>
          <p:cNvPr id="188" name="Shape 167"/>
          <p:cNvSpPr/>
          <p:nvPr/>
        </p:nvSpPr>
        <p:spPr>
          <a:xfrm>
            <a:off x="1548994" y="2953512"/>
            <a:ext cx="852221" cy="287122"/>
          </a:xfrm>
          <a:prstGeom prst="roundRect">
            <a:avLst>
              <a:gd name="adj" fmla="val 12739"/>
            </a:avLst>
          </a:prstGeom>
          <a:solidFill>
            <a:srgbClr val="FFFFFF"/>
          </a:solidFill>
          <a:ln w="10795">
            <a:solidFill>
              <a:srgbClr val="DADCE0"/>
            </a:solidFill>
            <a:prstDash val="solid"/>
          </a:ln>
        </p:spPr>
      </p:sp>
      <p:pic>
        <p:nvPicPr>
          <p:cNvPr id="189" name="Image 19" descr="preencoded.png">    </p:cNvPr>
          <p:cNvPicPr>
            <a:picLocks noChangeAspect="1"/>
          </p:cNvPicPr>
          <p:nvPr/>
        </p:nvPicPr>
        <p:blipFill>
          <a:blip r:embed="rId20"/>
          <a:stretch>
            <a:fillRect/>
          </a:stretch>
        </p:blipFill>
        <p:spPr>
          <a:xfrm>
            <a:off x="1590142" y="3022092"/>
            <a:ext cx="149047" cy="149047"/>
          </a:xfrm>
          <a:prstGeom prst="rect">
            <a:avLst/>
          </a:prstGeom>
        </p:spPr>
      </p:pic>
      <p:sp>
        <p:nvSpPr>
          <p:cNvPr id="190" name="Text 168"/>
          <p:cNvSpPr/>
          <p:nvPr/>
        </p:nvSpPr>
        <p:spPr>
          <a:xfrm>
            <a:off x="1762049" y="2953512"/>
            <a:ext cx="611734"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RFC 8693 OBO + DPoP</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KMS ECDSA P-256 Sign</a:t>
            </a:r>
            <a:endParaRPr lang="en-US" sz="490" dirty="0"/>
          </a:p>
        </p:txBody>
      </p:sp>
      <p:sp>
        <p:nvSpPr>
          <p:cNvPr id="191" name="Shape 169"/>
          <p:cNvSpPr/>
          <p:nvPr/>
        </p:nvSpPr>
        <p:spPr>
          <a:xfrm>
            <a:off x="3517697" y="1140257"/>
            <a:ext cx="148133" cy="148133"/>
          </a:xfrm>
          <a:prstGeom prst="ellipse">
            <a:avLst/>
          </a:prstGeom>
          <a:solidFill>
            <a:srgbClr val="174EA6"/>
          </a:solidFill>
          <a:ln w="10795">
            <a:solidFill>
              <a:srgbClr val="174EA6"/>
            </a:solidFill>
            <a:prstDash val="solid"/>
          </a:ln>
        </p:spPr>
      </p:sp>
      <p:sp>
        <p:nvSpPr>
          <p:cNvPr id="192" name="Text 170"/>
          <p:cNvSpPr/>
          <p:nvPr/>
        </p:nvSpPr>
        <p:spPr>
          <a:xfrm>
            <a:off x="3517697"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1</a:t>
            </a:r>
            <a:endParaRPr lang="en-US" sz="620" dirty="0"/>
          </a:p>
        </p:txBody>
      </p:sp>
      <p:sp>
        <p:nvSpPr>
          <p:cNvPr id="193" name="Shape 171"/>
          <p:cNvSpPr/>
          <p:nvPr/>
        </p:nvSpPr>
        <p:spPr>
          <a:xfrm>
            <a:off x="3717950" y="1140257"/>
            <a:ext cx="148133" cy="148133"/>
          </a:xfrm>
          <a:prstGeom prst="ellipse">
            <a:avLst/>
          </a:prstGeom>
          <a:solidFill>
            <a:srgbClr val="174EA6"/>
          </a:solidFill>
          <a:ln w="10795">
            <a:solidFill>
              <a:srgbClr val="174EA6"/>
            </a:solidFill>
            <a:prstDash val="solid"/>
          </a:ln>
        </p:spPr>
      </p:sp>
      <p:sp>
        <p:nvSpPr>
          <p:cNvPr id="194" name="Text 172"/>
          <p:cNvSpPr/>
          <p:nvPr/>
        </p:nvSpPr>
        <p:spPr>
          <a:xfrm>
            <a:off x="3717950"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5" name="Shape 173"/>
          <p:cNvSpPr/>
          <p:nvPr/>
        </p:nvSpPr>
        <p:spPr>
          <a:xfrm>
            <a:off x="3517697" y="2718511"/>
            <a:ext cx="148133" cy="148133"/>
          </a:xfrm>
          <a:prstGeom prst="ellipse">
            <a:avLst/>
          </a:prstGeom>
          <a:solidFill>
            <a:srgbClr val="174EA6"/>
          </a:solidFill>
          <a:ln w="10795">
            <a:solidFill>
              <a:srgbClr val="174EA6"/>
            </a:solidFill>
            <a:prstDash val="solid"/>
          </a:ln>
        </p:spPr>
      </p:sp>
      <p:sp>
        <p:nvSpPr>
          <p:cNvPr id="196" name="Text 174"/>
          <p:cNvSpPr/>
          <p:nvPr/>
        </p:nvSpPr>
        <p:spPr>
          <a:xfrm>
            <a:off x="3517697"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2</a:t>
            </a:r>
            <a:endParaRPr lang="en-US" sz="620" dirty="0"/>
          </a:p>
        </p:txBody>
      </p:sp>
      <p:sp>
        <p:nvSpPr>
          <p:cNvPr id="197" name="Shape 175"/>
          <p:cNvSpPr/>
          <p:nvPr/>
        </p:nvSpPr>
        <p:spPr>
          <a:xfrm>
            <a:off x="3717950" y="2718511"/>
            <a:ext cx="148133" cy="148133"/>
          </a:xfrm>
          <a:prstGeom prst="ellipse">
            <a:avLst/>
          </a:prstGeom>
          <a:solidFill>
            <a:srgbClr val="174EA6"/>
          </a:solidFill>
          <a:ln w="10795">
            <a:solidFill>
              <a:srgbClr val="174EA6"/>
            </a:solidFill>
            <a:prstDash val="solid"/>
          </a:ln>
        </p:spPr>
      </p:sp>
      <p:sp>
        <p:nvSpPr>
          <p:cNvPr id="198" name="Text 176"/>
          <p:cNvSpPr/>
          <p:nvPr/>
        </p:nvSpPr>
        <p:spPr>
          <a:xfrm>
            <a:off x="3717950"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9" name="Shape 177"/>
          <p:cNvSpPr/>
          <p:nvPr/>
        </p:nvSpPr>
        <p:spPr>
          <a:xfrm>
            <a:off x="2813609" y="3392424"/>
            <a:ext cx="148133" cy="148133"/>
          </a:xfrm>
          <a:prstGeom prst="ellipse">
            <a:avLst/>
          </a:prstGeom>
          <a:solidFill>
            <a:srgbClr val="174EA6"/>
          </a:solidFill>
          <a:ln w="10795">
            <a:solidFill>
              <a:srgbClr val="174EA6"/>
            </a:solidFill>
            <a:prstDash val="solid"/>
          </a:ln>
        </p:spPr>
      </p:sp>
      <p:sp>
        <p:nvSpPr>
          <p:cNvPr id="200" name="Text 178"/>
          <p:cNvSpPr/>
          <p:nvPr/>
        </p:nvSpPr>
        <p:spPr>
          <a:xfrm>
            <a:off x="2813609"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3</a:t>
            </a:r>
            <a:endParaRPr lang="en-US" sz="620" dirty="0"/>
          </a:p>
        </p:txBody>
      </p:sp>
      <p:sp>
        <p:nvSpPr>
          <p:cNvPr id="201" name="Shape 179"/>
          <p:cNvSpPr/>
          <p:nvPr/>
        </p:nvSpPr>
        <p:spPr>
          <a:xfrm>
            <a:off x="3735324" y="3392424"/>
            <a:ext cx="148133" cy="148133"/>
          </a:xfrm>
          <a:prstGeom prst="ellipse">
            <a:avLst/>
          </a:prstGeom>
          <a:solidFill>
            <a:srgbClr val="174EA6"/>
          </a:solidFill>
          <a:ln w="10795">
            <a:solidFill>
              <a:srgbClr val="174EA6"/>
            </a:solidFill>
            <a:prstDash val="solid"/>
          </a:ln>
        </p:spPr>
      </p:sp>
      <p:sp>
        <p:nvSpPr>
          <p:cNvPr id="202" name="Text 180"/>
          <p:cNvSpPr/>
          <p:nvPr/>
        </p:nvSpPr>
        <p:spPr>
          <a:xfrm>
            <a:off x="3735324"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203" name="Shape 181"/>
          <p:cNvSpPr/>
          <p:nvPr/>
        </p:nvSpPr>
        <p:spPr>
          <a:xfrm>
            <a:off x="1579169" y="4600346"/>
            <a:ext cx="148133" cy="148133"/>
          </a:xfrm>
          <a:prstGeom prst="ellipse">
            <a:avLst/>
          </a:prstGeom>
          <a:solidFill>
            <a:srgbClr val="174EA6"/>
          </a:solidFill>
          <a:ln w="10795">
            <a:solidFill>
              <a:srgbClr val="174EA6"/>
            </a:solidFill>
            <a:prstDash val="solid"/>
          </a:ln>
        </p:spPr>
      </p:sp>
      <p:sp>
        <p:nvSpPr>
          <p:cNvPr id="204" name="Text 182"/>
          <p:cNvSpPr/>
          <p:nvPr/>
        </p:nvSpPr>
        <p:spPr>
          <a:xfrm>
            <a:off x="1579169" y="4600346"/>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4</a:t>
            </a:r>
            <a:endParaRPr lang="en-US" sz="620" dirty="0"/>
          </a:p>
        </p:txBody>
      </p:sp>
      <p:sp>
        <p:nvSpPr>
          <p:cNvPr id="205" name="Shape 183"/>
          <p:cNvSpPr/>
          <p:nvPr/>
        </p:nvSpPr>
        <p:spPr>
          <a:xfrm>
            <a:off x="1579169" y="4808830"/>
            <a:ext cx="148133" cy="148133"/>
          </a:xfrm>
          <a:prstGeom prst="ellipse">
            <a:avLst/>
          </a:prstGeom>
          <a:solidFill>
            <a:srgbClr val="174EA6"/>
          </a:solidFill>
          <a:ln w="10795">
            <a:solidFill>
              <a:srgbClr val="174EA6"/>
            </a:solidFill>
            <a:prstDash val="solid"/>
          </a:ln>
        </p:spPr>
      </p:sp>
      <p:sp>
        <p:nvSpPr>
          <p:cNvPr id="206" name="Text 184"/>
          <p:cNvSpPr/>
          <p:nvPr/>
        </p:nvSpPr>
        <p:spPr>
          <a:xfrm>
            <a:off x="1579169" y="4808830"/>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6</a:t>
            </a:r>
            <a:endParaRPr lang="en-US" sz="620" dirty="0"/>
          </a:p>
        </p:txBody>
      </p:sp>
      <p:sp>
        <p:nvSpPr>
          <p:cNvPr id="207" name="Shape 185"/>
          <p:cNvSpPr/>
          <p:nvPr/>
        </p:nvSpPr>
        <p:spPr>
          <a:xfrm>
            <a:off x="1579169" y="5634533"/>
            <a:ext cx="148133" cy="148133"/>
          </a:xfrm>
          <a:prstGeom prst="ellipse">
            <a:avLst/>
          </a:prstGeom>
          <a:solidFill>
            <a:srgbClr val="174EA6"/>
          </a:solidFill>
          <a:ln w="10795">
            <a:solidFill>
              <a:srgbClr val="174EA6"/>
            </a:solidFill>
            <a:prstDash val="solid"/>
          </a:ln>
        </p:spPr>
      </p:sp>
      <p:sp>
        <p:nvSpPr>
          <p:cNvPr id="208" name="Text 186"/>
          <p:cNvSpPr/>
          <p:nvPr/>
        </p:nvSpPr>
        <p:spPr>
          <a:xfrm>
            <a:off x="1579169" y="5634533"/>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5</a:t>
            </a:r>
            <a:endParaRPr lang="en-US" sz="620" dirty="0"/>
          </a:p>
        </p:txBody>
      </p:sp>
      <p:sp>
        <p:nvSpPr>
          <p:cNvPr id="209" name="Shape 187"/>
          <p:cNvSpPr/>
          <p:nvPr/>
        </p:nvSpPr>
        <p:spPr>
          <a:xfrm>
            <a:off x="5339182" y="3390595"/>
            <a:ext cx="736092" cy="142646"/>
          </a:xfrm>
          <a:prstGeom prst="roundRect">
            <a:avLst>
              <a:gd name="adj" fmla="val 28846"/>
            </a:avLst>
          </a:prstGeom>
          <a:solidFill>
            <a:srgbClr val="FFFFFF"/>
          </a:solidFill>
          <a:ln w="5715">
            <a:solidFill>
              <a:srgbClr val="DADCE0"/>
            </a:solidFill>
            <a:prstDash val="solid"/>
          </a:ln>
        </p:spPr>
      </p:sp>
      <p:sp>
        <p:nvSpPr>
          <p:cNvPr id="210" name="Text 188"/>
          <p:cNvSpPr/>
          <p:nvPr/>
        </p:nvSpPr>
        <p:spPr>
          <a:xfrm>
            <a:off x="5357470" y="3396082"/>
            <a:ext cx="699516"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Security, OTel &amp; FinOps</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chargeback telemetry</a:t>
            </a:r>
            <a:endParaRPr lang="en-US" sz="385" dirty="0"/>
          </a:p>
        </p:txBody>
      </p:sp>
      <p:sp>
        <p:nvSpPr>
          <p:cNvPr id="211" name="Shape 189"/>
          <p:cNvSpPr/>
          <p:nvPr/>
        </p:nvSpPr>
        <p:spPr>
          <a:xfrm>
            <a:off x="2896819" y="4850892"/>
            <a:ext cx="372161" cy="142646"/>
          </a:xfrm>
          <a:prstGeom prst="roundRect">
            <a:avLst>
              <a:gd name="adj" fmla="val 28846"/>
            </a:avLst>
          </a:prstGeom>
          <a:solidFill>
            <a:srgbClr val="FFFFFF"/>
          </a:solidFill>
          <a:ln w="5715">
            <a:solidFill>
              <a:srgbClr val="DADCE0"/>
            </a:solidFill>
            <a:prstDash val="solid"/>
          </a:ln>
        </p:spPr>
      </p:sp>
      <p:sp>
        <p:nvSpPr>
          <p:cNvPr id="212" name="Text 190"/>
          <p:cNvSpPr/>
          <p:nvPr/>
        </p:nvSpPr>
        <p:spPr>
          <a:xfrm>
            <a:off x="2915107" y="4856378"/>
            <a:ext cx="335585"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Scoped</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MCP &amp; RAG</a:t>
            </a:r>
            <a:endParaRPr lang="en-US" sz="385" dirty="0"/>
          </a:p>
        </p:txBody>
      </p:sp>
      <p:sp>
        <p:nvSpPr>
          <p:cNvPr id="213" name="Shape 191"/>
          <p:cNvSpPr/>
          <p:nvPr/>
        </p:nvSpPr>
        <p:spPr>
          <a:xfrm>
            <a:off x="2831897" y="5485486"/>
            <a:ext cx="502006" cy="142646"/>
          </a:xfrm>
          <a:prstGeom prst="roundRect">
            <a:avLst>
              <a:gd name="adj" fmla="val 28846"/>
            </a:avLst>
          </a:prstGeom>
          <a:solidFill>
            <a:srgbClr val="FFFFFF"/>
          </a:solidFill>
          <a:ln w="5715">
            <a:solidFill>
              <a:srgbClr val="DADCE0"/>
            </a:solidFill>
            <a:prstDash val="solid"/>
          </a:ln>
        </p:spPr>
      </p:sp>
      <p:sp>
        <p:nvSpPr>
          <p:cNvPr id="214" name="Text 192"/>
          <p:cNvSpPr/>
          <p:nvPr/>
        </p:nvSpPr>
        <p:spPr>
          <a:xfrm>
            <a:off x="2850185" y="5490972"/>
            <a:ext cx="465430"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SET LOCAL</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current_tenant</a:t>
            </a:r>
            <a:endParaRPr lang="en-US" sz="385" dirty="0"/>
          </a:p>
        </p:txBody>
      </p:sp>
      <p:sp>
        <p:nvSpPr>
          <p:cNvPr id="215" name="Shape 193"/>
          <p:cNvSpPr/>
          <p:nvPr/>
        </p:nvSpPr>
        <p:spPr>
          <a:xfrm>
            <a:off x="5248656" y="4850892"/>
            <a:ext cx="397764" cy="142646"/>
          </a:xfrm>
          <a:prstGeom prst="roundRect">
            <a:avLst>
              <a:gd name="adj" fmla="val 28846"/>
            </a:avLst>
          </a:prstGeom>
          <a:solidFill>
            <a:srgbClr val="FFFFFF"/>
          </a:solidFill>
          <a:ln w="5715">
            <a:solidFill>
              <a:srgbClr val="DADCE0"/>
            </a:solidFill>
            <a:prstDash val="solid"/>
          </a:ln>
        </p:spPr>
      </p:sp>
      <p:sp>
        <p:nvSpPr>
          <p:cNvPr id="216" name="Text 194"/>
          <p:cNvSpPr/>
          <p:nvPr/>
        </p:nvSpPr>
        <p:spPr>
          <a:xfrm>
            <a:off x="5266944" y="4856378"/>
            <a:ext cx="361188"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Air-Gapped</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Silo RAG</a:t>
            </a:r>
            <a:endParaRPr lang="en-US" sz="385" dirty="0"/>
          </a:p>
        </p:txBody>
      </p:sp>
      <p:sp>
        <p:nvSpPr>
          <p:cNvPr id="217" name="Shape 195"/>
          <p:cNvSpPr/>
          <p:nvPr/>
        </p:nvSpPr>
        <p:spPr>
          <a:xfrm>
            <a:off x="5197450" y="5485486"/>
            <a:ext cx="502006" cy="142646"/>
          </a:xfrm>
          <a:prstGeom prst="roundRect">
            <a:avLst>
              <a:gd name="adj" fmla="val 28846"/>
            </a:avLst>
          </a:prstGeom>
          <a:solidFill>
            <a:srgbClr val="FFFFFF"/>
          </a:solidFill>
          <a:ln w="5715">
            <a:solidFill>
              <a:srgbClr val="DADCE0"/>
            </a:solidFill>
            <a:prstDash val="solid"/>
          </a:ln>
        </p:spPr>
      </p:sp>
      <p:sp>
        <p:nvSpPr>
          <p:cNvPr id="218" name="Text 196"/>
          <p:cNvSpPr/>
          <p:nvPr/>
        </p:nvSpPr>
        <p:spPr>
          <a:xfrm>
            <a:off x="5215738" y="5490972"/>
            <a:ext cx="465430"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CMEK-Encrypted</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State &amp; Tools</a:t>
            </a:r>
            <a:endParaRPr lang="en-US" sz="385" dirty="0"/>
          </a:p>
        </p:txBody>
      </p:sp>
      <p:sp>
        <p:nvSpPr>
          <p:cNvPr id="219" name="Shape 197"/>
          <p:cNvSpPr/>
          <p:nvPr/>
        </p:nvSpPr>
        <p:spPr>
          <a:xfrm>
            <a:off x="1757477" y="5637276"/>
            <a:ext cx="372161" cy="142646"/>
          </a:xfrm>
          <a:prstGeom prst="roundRect">
            <a:avLst>
              <a:gd name="adj" fmla="val 28846"/>
            </a:avLst>
          </a:prstGeom>
          <a:solidFill>
            <a:srgbClr val="FFFFFF"/>
          </a:solidFill>
          <a:ln w="5715">
            <a:solidFill>
              <a:srgbClr val="DADCE0"/>
            </a:solidFill>
            <a:prstDash val="solid"/>
          </a:ln>
        </p:spPr>
      </p:sp>
      <p:sp>
        <p:nvSpPr>
          <p:cNvPr id="220" name="Text 198"/>
          <p:cNvSpPr/>
          <p:nvPr/>
        </p:nvSpPr>
        <p:spPr>
          <a:xfrm>
            <a:off x="1775765" y="5642762"/>
            <a:ext cx="335585"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Generates</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response</a:t>
            </a:r>
            <a:endParaRPr lang="en-US" sz="385" dirty="0"/>
          </a:p>
        </p:txBody>
      </p:sp>
      <p:sp>
        <p:nvSpPr>
          <p:cNvPr id="221" name="Shape 199"/>
          <p:cNvSpPr/>
          <p:nvPr/>
        </p:nvSpPr>
        <p:spPr>
          <a:xfrm>
            <a:off x="3905402" y="3389681"/>
            <a:ext cx="606247" cy="137160"/>
          </a:xfrm>
          <a:prstGeom prst="roundRect">
            <a:avLst>
              <a:gd name="adj" fmla="val 30000"/>
            </a:avLst>
          </a:prstGeom>
          <a:solidFill>
            <a:srgbClr val="FFFFFF"/>
          </a:solidFill>
          <a:ln w="5715">
            <a:solidFill>
              <a:srgbClr val="DADCE0"/>
            </a:solidFill>
            <a:prstDash val="solid"/>
          </a:ln>
        </p:spPr>
      </p:sp>
      <p:sp>
        <p:nvSpPr>
          <p:cNvPr id="222" name="Text 200"/>
          <p:cNvSpPr/>
          <p:nvPr/>
        </p:nvSpPr>
        <p:spPr>
          <a:xfrm>
            <a:off x="3923690" y="3395167"/>
            <a:ext cx="569671" cy="126187"/>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Sanitized response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with SDP redaction</a:t>
            </a:r>
            <a:endParaRPr lang="en-US" sz="385" dirty="0"/>
          </a:p>
        </p:txBody>
      </p:sp>
      <p:sp>
        <p:nvSpPr>
          <p:cNvPr id="223" name="Shape 201"/>
          <p:cNvSpPr/>
          <p:nvPr/>
        </p:nvSpPr>
        <p:spPr>
          <a:xfrm>
            <a:off x="2983687" y="3389681"/>
            <a:ext cx="658368" cy="137160"/>
          </a:xfrm>
          <a:prstGeom prst="roundRect">
            <a:avLst>
              <a:gd name="adj" fmla="val 30000"/>
            </a:avLst>
          </a:prstGeom>
          <a:solidFill>
            <a:srgbClr val="FFFFFF"/>
          </a:solidFill>
          <a:ln w="5715">
            <a:solidFill>
              <a:srgbClr val="DADCE0"/>
            </a:solidFill>
            <a:prstDash val="solid"/>
          </a:ln>
        </p:spPr>
      </p:sp>
      <p:sp>
        <p:nvSpPr>
          <p:cNvPr id="224" name="Text 202"/>
          <p:cNvSpPr/>
          <p:nvPr/>
        </p:nvSpPr>
        <p:spPr>
          <a:xfrm>
            <a:off x="3001975" y="3395167"/>
            <a:ext cx="621792" cy="126187"/>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Route by tenant tier</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(Pool, Silo or PSC)</a:t>
            </a:r>
            <a:endParaRPr lang="en-US" sz="385" dirty="0"/>
          </a:p>
        </p:txBody>
      </p:sp>
      <p:sp>
        <p:nvSpPr>
          <p:cNvPr id="225" name="Shape 203"/>
          <p:cNvSpPr/>
          <p:nvPr/>
        </p:nvSpPr>
        <p:spPr>
          <a:xfrm>
            <a:off x="2603297" y="2908706"/>
            <a:ext cx="397764" cy="133502"/>
          </a:xfrm>
          <a:prstGeom prst="roundRect">
            <a:avLst>
              <a:gd name="adj" fmla="val 30822"/>
            </a:avLst>
          </a:prstGeom>
          <a:solidFill>
            <a:srgbClr val="FFFFFF"/>
          </a:solidFill>
          <a:ln w="5715">
            <a:solidFill>
              <a:srgbClr val="DADCE0"/>
            </a:solidFill>
            <a:prstDash val="solid"/>
          </a:ln>
        </p:spPr>
      </p:sp>
      <p:sp>
        <p:nvSpPr>
          <p:cNvPr id="226" name="Text 204"/>
          <p:cNvSpPr/>
          <p:nvPr/>
        </p:nvSpPr>
        <p:spPr>
          <a:xfrm>
            <a:off x="2621585" y="2914193"/>
            <a:ext cx="361188"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OBO + KMS</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ECDSA sign</a:t>
            </a:r>
            <a:endParaRPr lang="en-US" sz="385" dirty="0"/>
          </a:p>
        </p:txBody>
      </p:sp>
      <p:sp>
        <p:nvSpPr>
          <p:cNvPr id="227" name="Shape 205"/>
          <p:cNvSpPr/>
          <p:nvPr/>
        </p:nvSpPr>
        <p:spPr>
          <a:xfrm>
            <a:off x="1757477" y="4623206"/>
            <a:ext cx="554126" cy="103327"/>
          </a:xfrm>
          <a:prstGeom prst="roundRect">
            <a:avLst>
              <a:gd name="adj" fmla="val 39823"/>
            </a:avLst>
          </a:prstGeom>
          <a:solidFill>
            <a:srgbClr val="FFFFFF"/>
          </a:solidFill>
          <a:ln w="5715">
            <a:solidFill>
              <a:srgbClr val="DADCE0"/>
            </a:solidFill>
            <a:prstDash val="solid"/>
          </a:ln>
        </p:spPr>
      </p:sp>
      <p:sp>
        <p:nvSpPr>
          <p:cNvPr id="228" name="Text 206"/>
          <p:cNvSpPr/>
          <p:nvPr/>
        </p:nvSpPr>
        <p:spPr>
          <a:xfrm>
            <a:off x="1775765" y="4628693"/>
            <a:ext cx="517550"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Sanitize request</a:t>
            </a:r>
            <a:endParaRPr lang="en-US" sz="385" dirty="0"/>
          </a:p>
        </p:txBody>
      </p:sp>
      <p:sp>
        <p:nvSpPr>
          <p:cNvPr id="229" name="Shape 207"/>
          <p:cNvSpPr/>
          <p:nvPr/>
        </p:nvSpPr>
        <p:spPr>
          <a:xfrm>
            <a:off x="1757477" y="4831690"/>
            <a:ext cx="580644" cy="103327"/>
          </a:xfrm>
          <a:prstGeom prst="roundRect">
            <a:avLst>
              <a:gd name="adj" fmla="val 39823"/>
            </a:avLst>
          </a:prstGeom>
          <a:solidFill>
            <a:srgbClr val="FFFFFF"/>
          </a:solidFill>
          <a:ln w="5715">
            <a:solidFill>
              <a:srgbClr val="DADCE0"/>
            </a:solidFill>
            <a:prstDash val="solid"/>
          </a:ln>
        </p:spPr>
      </p:sp>
      <p:sp>
        <p:nvSpPr>
          <p:cNvPr id="230" name="Text 208"/>
          <p:cNvSpPr/>
          <p:nvPr/>
        </p:nvSpPr>
        <p:spPr>
          <a:xfrm>
            <a:off x="1775765" y="4837176"/>
            <a:ext cx="544068"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Sanitize response</a:t>
            </a:r>
            <a:endParaRPr lang="en-US" sz="385" dirty="0"/>
          </a:p>
        </p:txBody>
      </p:sp>
      <p:sp>
        <p:nvSpPr>
          <p:cNvPr id="231" name="Shape 209"/>
          <p:cNvSpPr/>
          <p:nvPr/>
        </p:nvSpPr>
        <p:spPr>
          <a:xfrm>
            <a:off x="2458822" y="2117750"/>
            <a:ext cx="449885" cy="133502"/>
          </a:xfrm>
          <a:prstGeom prst="roundRect">
            <a:avLst>
              <a:gd name="adj" fmla="val 30822"/>
            </a:avLst>
          </a:prstGeom>
          <a:solidFill>
            <a:srgbClr val="FFFFFF"/>
          </a:solidFill>
          <a:ln w="5715">
            <a:solidFill>
              <a:srgbClr val="DADCE0"/>
            </a:solidFill>
            <a:prstDash val="solid"/>
          </a:ln>
        </p:spPr>
      </p:sp>
      <p:sp>
        <p:nvSpPr>
          <p:cNvPr id="232" name="Text 210"/>
          <p:cNvSpPr/>
          <p:nvPr/>
        </p:nvSpPr>
        <p:spPr>
          <a:xfrm>
            <a:off x="2477110" y="2123237"/>
            <a:ext cx="413309"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Header &amp; WAF</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policies</a:t>
            </a:r>
            <a:endParaRPr lang="en-US" sz="385" dirty="0"/>
          </a:p>
        </p:txBody>
      </p:sp>
      <p:sp>
        <p:nvSpPr>
          <p:cNvPr id="233" name="Shape 211"/>
          <p:cNvSpPr/>
          <p:nvPr/>
        </p:nvSpPr>
        <p:spPr>
          <a:xfrm>
            <a:off x="2510942" y="2717597"/>
            <a:ext cx="345643" cy="133502"/>
          </a:xfrm>
          <a:prstGeom prst="roundRect">
            <a:avLst>
              <a:gd name="adj" fmla="val 30822"/>
            </a:avLst>
          </a:prstGeom>
          <a:solidFill>
            <a:srgbClr val="FFFFFF"/>
          </a:solidFill>
          <a:ln w="5715">
            <a:solidFill>
              <a:srgbClr val="DADCE0"/>
            </a:solidFill>
            <a:prstDash val="solid"/>
          </a:ln>
        </p:spPr>
      </p:sp>
      <p:sp>
        <p:nvSpPr>
          <p:cNvPr id="234" name="Text 212"/>
          <p:cNvSpPr/>
          <p:nvPr/>
        </p:nvSpPr>
        <p:spPr>
          <a:xfrm>
            <a:off x="2529230" y="2723083"/>
            <a:ext cx="309067"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Sanitize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prompt</a:t>
            </a:r>
            <a:endParaRPr lang="en-US" sz="385" dirty="0"/>
          </a:p>
        </p:txBody>
      </p:sp>
      <p:sp>
        <p:nvSpPr>
          <p:cNvPr id="235" name="Shape 213"/>
          <p:cNvSpPr/>
          <p:nvPr/>
        </p:nvSpPr>
        <p:spPr>
          <a:xfrm>
            <a:off x="3888029" y="1163117"/>
            <a:ext cx="345643" cy="103327"/>
          </a:xfrm>
          <a:prstGeom prst="roundRect">
            <a:avLst>
              <a:gd name="adj" fmla="val 39823"/>
            </a:avLst>
          </a:prstGeom>
          <a:solidFill>
            <a:srgbClr val="FFFFFF"/>
          </a:solidFill>
          <a:ln w="5715">
            <a:solidFill>
              <a:srgbClr val="DADCE0"/>
            </a:solidFill>
            <a:prstDash val="solid"/>
          </a:ln>
        </p:spPr>
      </p:sp>
      <p:sp>
        <p:nvSpPr>
          <p:cNvPr id="236" name="Text 214"/>
          <p:cNvSpPr/>
          <p:nvPr/>
        </p:nvSpPr>
        <p:spPr>
          <a:xfrm>
            <a:off x="3906317" y="1168603"/>
            <a:ext cx="309067"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Response</a:t>
            </a:r>
            <a:endParaRPr lang="en-US" sz="385" dirty="0"/>
          </a:p>
        </p:txBody>
      </p:sp>
      <p:sp>
        <p:nvSpPr>
          <p:cNvPr id="237" name="Shape 215"/>
          <p:cNvSpPr/>
          <p:nvPr/>
        </p:nvSpPr>
        <p:spPr>
          <a:xfrm>
            <a:off x="3888029" y="2740457"/>
            <a:ext cx="345643" cy="103327"/>
          </a:xfrm>
          <a:prstGeom prst="roundRect">
            <a:avLst>
              <a:gd name="adj" fmla="val 39823"/>
            </a:avLst>
          </a:prstGeom>
          <a:solidFill>
            <a:srgbClr val="FFFFFF"/>
          </a:solidFill>
          <a:ln w="5715">
            <a:solidFill>
              <a:srgbClr val="DADCE0"/>
            </a:solidFill>
            <a:prstDash val="solid"/>
          </a:ln>
        </p:spPr>
      </p:sp>
      <p:sp>
        <p:nvSpPr>
          <p:cNvPr id="238" name="Text 216"/>
          <p:cNvSpPr/>
          <p:nvPr/>
        </p:nvSpPr>
        <p:spPr>
          <a:xfrm>
            <a:off x="3906317" y="2745943"/>
            <a:ext cx="309067"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Response</a:t>
            </a:r>
            <a:endParaRPr lang="en-US" sz="385" dirty="0"/>
          </a:p>
        </p:txBody>
      </p:sp>
      <p:sp>
        <p:nvSpPr>
          <p:cNvPr id="239" name="Shape 217"/>
          <p:cNvSpPr/>
          <p:nvPr/>
        </p:nvSpPr>
        <p:spPr>
          <a:xfrm>
            <a:off x="3167482" y="1163117"/>
            <a:ext cx="320040" cy="103327"/>
          </a:xfrm>
          <a:prstGeom prst="roundRect">
            <a:avLst>
              <a:gd name="adj" fmla="val 39823"/>
            </a:avLst>
          </a:prstGeom>
          <a:solidFill>
            <a:srgbClr val="FFFFFF"/>
          </a:solidFill>
          <a:ln w="5715">
            <a:solidFill>
              <a:srgbClr val="DADCE0"/>
            </a:solidFill>
            <a:prstDash val="solid"/>
          </a:ln>
        </p:spPr>
      </p:sp>
      <p:sp>
        <p:nvSpPr>
          <p:cNvPr id="240" name="Text 218"/>
          <p:cNvSpPr/>
          <p:nvPr/>
        </p:nvSpPr>
        <p:spPr>
          <a:xfrm>
            <a:off x="3185770" y="1168603"/>
            <a:ext cx="283464"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Request</a:t>
            </a:r>
            <a:endParaRPr lang="en-US" sz="385" dirty="0"/>
          </a:p>
        </p:txBody>
      </p:sp>
      <p:sp>
        <p:nvSpPr>
          <p:cNvPr id="241" name="Shape 219"/>
          <p:cNvSpPr/>
          <p:nvPr/>
        </p:nvSpPr>
        <p:spPr>
          <a:xfrm>
            <a:off x="3167482" y="2740457"/>
            <a:ext cx="320040" cy="103327"/>
          </a:xfrm>
          <a:prstGeom prst="roundRect">
            <a:avLst>
              <a:gd name="adj" fmla="val 39823"/>
            </a:avLst>
          </a:prstGeom>
          <a:solidFill>
            <a:srgbClr val="FFFFFF"/>
          </a:solidFill>
          <a:ln w="5715">
            <a:solidFill>
              <a:srgbClr val="DADCE0"/>
            </a:solidFill>
            <a:prstDash val="solid"/>
          </a:ln>
        </p:spPr>
      </p:sp>
      <p:sp>
        <p:nvSpPr>
          <p:cNvPr id="242" name="Text 220"/>
          <p:cNvSpPr/>
          <p:nvPr/>
        </p:nvSpPr>
        <p:spPr>
          <a:xfrm>
            <a:off x="3185770" y="2745943"/>
            <a:ext cx="283464"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Request</a:t>
            </a:r>
            <a:endParaRPr lang="en-US" sz="385" dirty="0"/>
          </a:p>
        </p:txBody>
      </p:sp>
      <p:sp>
        <p:nvSpPr>
          <p:cNvPr id="243" name="Text 221"/>
          <p:cNvSpPr/>
          <p:nvPr/>
        </p:nvSpPr>
        <p:spPr>
          <a:xfrm>
            <a:off x="365760" y="6601968"/>
            <a:ext cx="11460175" cy="201168"/>
          </a:xfrm>
          <a:prstGeom prst="rect">
            <a:avLst/>
          </a:prstGeom>
          <a:noFill/>
          <a:ln/>
        </p:spPr>
        <p:txBody>
          <a:bodyPr wrap="none" rtlCol="0" anchor="ctr"/>
          <a:lstStyle/>
          <a:p>
            <a:pPr algn="l" indent="0" marL="0">
              <a:buNone/>
            </a:pPr>
            <a:r>
              <a:rPr lang="en-US" sz="70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690" dirty="0">
                <a:solidFill>
                  <a:srgbClr val="5F6368"/>
                </a:solidFill>
                <a:latin typeface="Roboto" pitchFamily="34" charset="0"/>
                <a:ea typeface="Roboto" pitchFamily="34" charset="-122"/>
                <a:cs typeface="Roboto" pitchFamily="34" charset="-120"/>
              </a:rPr>
              <a:t>VIS-WS1-MULTI-TENANT-TAXONOMY-OVERVIEW (diagrams/ws1-multi-tenant-taxonomy-overview.drawio)  •  100% Native Editable Shapes + 4-Zone Architecture Center Guide  •  </a:t>
            </a:r>
            <a:pPr algn="l" indent="0" marL="0">
              <a:buNone/>
            </a:pPr>
            <a:r>
              <a:rPr lang="en-US" sz="700" b="1" dirty="0">
                <a:solidFill>
                  <a:srgbClr val="3C4043"/>
                </a:solidFill>
                <a:latin typeface="Google Sans" pitchFamily="34" charset="0"/>
                <a:ea typeface="Google Sans" pitchFamily="34" charset="-122"/>
                <a:cs typeface="Google Sans" pitchFamily="34" charset="-120"/>
              </a:rPr>
              <a:t>Proprietary + Confidential</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WS1</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WS1 • ACT II (L3 PROCESS): 5-Actor UML Sequence, Fail-Closed Circuit Breakers &amp; Stampede Recovery</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UML-SEQUENCE-SWIMLANE</a:t>
            </a:r>
            <a:endParaRPr lang="en-US" sz="750" dirty="0"/>
          </a:p>
        </p:txBody>
      </p:sp>
      <p:sp>
        <p:nvSpPr>
          <p:cNvPr id="17" name="Shape 15"/>
          <p:cNvSpPr/>
          <p:nvPr/>
        </p:nvSpPr>
        <p:spPr>
          <a:xfrm>
            <a:off x="960120" y="1517904"/>
            <a:ext cx="10469880" cy="0"/>
          </a:xfrm>
          <a:prstGeom prst="line">
            <a:avLst/>
          </a:prstGeom>
          <a:noFill/>
          <a:ln w="19050">
            <a:solidFill>
              <a:srgbClr val="CBD5E1"/>
            </a:solidFill>
            <a:prstDash val="solid"/>
            <a:tailEnd type="triangle" w="sm" len="sm"/>
          </a:ln>
        </p:spPr>
      </p:sp>
      <p:sp>
        <p:nvSpPr>
          <p:cNvPr id="18" name="Shape 16"/>
          <p:cNvSpPr/>
          <p:nvPr/>
        </p:nvSpPr>
        <p:spPr>
          <a:xfrm>
            <a:off x="576072" y="658368"/>
            <a:ext cx="768096" cy="329184"/>
          </a:xfrm>
          <a:prstGeom prst="roundRect">
            <a:avLst>
              <a:gd name="adj" fmla="val 16667"/>
            </a:avLst>
          </a:prstGeom>
          <a:solidFill>
            <a:srgbClr val="F8F9FA"/>
          </a:solidFill>
          <a:ln w="15240">
            <a:solidFill>
              <a:srgbClr val="0F2942"/>
            </a:solidFill>
            <a:prstDash val="solid"/>
          </a:ln>
        </p:spPr>
      </p:sp>
      <p:sp>
        <p:nvSpPr>
          <p:cNvPr id="19" name="Text 17"/>
          <p:cNvSpPr/>
          <p:nvPr/>
        </p:nvSpPr>
        <p:spPr>
          <a:xfrm>
            <a:off x="576072" y="658368"/>
            <a:ext cx="768096" cy="329184"/>
          </a:xfrm>
          <a:prstGeom prst="rect">
            <a:avLst/>
          </a:prstGeom>
          <a:noFill/>
          <a:ln/>
        </p:spPr>
        <p:txBody>
          <a:bodyPr wrap="square" rtlCol="0" anchor="ctr"/>
          <a:lstStyle/>
          <a:p>
            <a:pPr algn="ctr" indent="0" marL="0">
              <a:buNone/>
            </a:pPr>
            <a:r>
              <a:rPr lang="en-US" sz="860" b="1" dirty="0">
                <a:solidFill>
                  <a:srgbClr val="0F2942"/>
                </a:solidFill>
                <a:latin typeface="Google Sans" pitchFamily="34" charset="0"/>
                <a:ea typeface="Google Sans" pitchFamily="34" charset="-122"/>
                <a:cs typeface="Google Sans" pitchFamily="34" charset="-120"/>
              </a:rPr>
              <a:t>ACT 1</a:t>
            </a:r>
            <a:endParaRPr lang="en-US" sz="860" dirty="0"/>
          </a:p>
        </p:txBody>
      </p:sp>
      <p:sp>
        <p:nvSpPr>
          <p:cNvPr id="20" name="Text 18"/>
          <p:cNvSpPr/>
          <p:nvPr/>
        </p:nvSpPr>
        <p:spPr>
          <a:xfrm>
            <a:off x="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Tenant Caller</a:t>
            </a:r>
            <a:endParaRPr lang="en-US" sz="940" dirty="0"/>
          </a:p>
        </p:txBody>
      </p:sp>
      <p:sp>
        <p:nvSpPr>
          <p:cNvPr id="21" name="Shape 19"/>
          <p:cNvSpPr/>
          <p:nvPr/>
        </p:nvSpPr>
        <p:spPr>
          <a:xfrm>
            <a:off x="868680" y="1417320"/>
            <a:ext cx="182880" cy="182880"/>
          </a:xfrm>
          <a:prstGeom prst="ellipse">
            <a:avLst/>
          </a:prstGeom>
          <a:solidFill>
            <a:srgbClr val="0F2942"/>
          </a:solidFill>
          <a:ln/>
        </p:spPr>
      </p:sp>
      <p:sp>
        <p:nvSpPr>
          <p:cNvPr id="22" name="Shape 20"/>
          <p:cNvSpPr/>
          <p:nvPr/>
        </p:nvSpPr>
        <p:spPr>
          <a:xfrm>
            <a:off x="960120" y="1600200"/>
            <a:ext cx="0" cy="4498848"/>
          </a:xfrm>
          <a:prstGeom prst="line">
            <a:avLst/>
          </a:prstGeom>
          <a:noFill/>
          <a:ln w="15240">
            <a:solidFill>
              <a:srgbClr val="CBD5E1"/>
            </a:solidFill>
            <a:prstDash val="solid"/>
          </a:ln>
        </p:spPr>
      </p:sp>
      <p:sp>
        <p:nvSpPr>
          <p:cNvPr id="23" name="Shape 21"/>
          <p:cNvSpPr/>
          <p:nvPr/>
        </p:nvSpPr>
        <p:spPr>
          <a:xfrm>
            <a:off x="2679192" y="658368"/>
            <a:ext cx="768096" cy="329184"/>
          </a:xfrm>
          <a:prstGeom prst="roundRect">
            <a:avLst>
              <a:gd name="adj" fmla="val 16667"/>
            </a:avLst>
          </a:prstGeom>
          <a:solidFill>
            <a:srgbClr val="F8F9FA"/>
          </a:solidFill>
          <a:ln w="15240">
            <a:solidFill>
              <a:srgbClr val="0D7A75"/>
            </a:solidFill>
            <a:prstDash val="solid"/>
          </a:ln>
        </p:spPr>
      </p:sp>
      <p:sp>
        <p:nvSpPr>
          <p:cNvPr id="24" name="Text 22"/>
          <p:cNvSpPr/>
          <p:nvPr/>
        </p:nvSpPr>
        <p:spPr>
          <a:xfrm>
            <a:off x="2679192" y="658368"/>
            <a:ext cx="768096" cy="329184"/>
          </a:xfrm>
          <a:prstGeom prst="rect">
            <a:avLst/>
          </a:prstGeom>
          <a:noFill/>
          <a:ln/>
        </p:spPr>
        <p:txBody>
          <a:bodyPr wrap="square" rtlCol="0" anchor="ctr"/>
          <a:lstStyle/>
          <a:p>
            <a:pPr algn="ctr" indent="0" marL="0">
              <a:buNone/>
            </a:pPr>
            <a:r>
              <a:rPr lang="en-US" sz="860" b="1" dirty="0">
                <a:solidFill>
                  <a:srgbClr val="0D7A75"/>
                </a:solidFill>
                <a:latin typeface="Google Sans" pitchFamily="34" charset="0"/>
                <a:ea typeface="Google Sans" pitchFamily="34" charset="-122"/>
                <a:cs typeface="Google Sans" pitchFamily="34" charset="-120"/>
              </a:rPr>
              <a:t>HOP 1</a:t>
            </a:r>
            <a:endParaRPr lang="en-US" sz="860" dirty="0"/>
          </a:p>
        </p:txBody>
      </p:sp>
      <p:sp>
        <p:nvSpPr>
          <p:cNvPr id="25" name="Text 23"/>
          <p:cNvSpPr/>
          <p:nvPr/>
        </p:nvSpPr>
        <p:spPr>
          <a:xfrm>
            <a:off x="210312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Hop 1: Edge &amp; IAM STS</a:t>
            </a:r>
            <a:endParaRPr lang="en-US" sz="940" dirty="0"/>
          </a:p>
        </p:txBody>
      </p:sp>
      <p:sp>
        <p:nvSpPr>
          <p:cNvPr id="26" name="Shape 24"/>
          <p:cNvSpPr/>
          <p:nvPr/>
        </p:nvSpPr>
        <p:spPr>
          <a:xfrm>
            <a:off x="2971800" y="1417320"/>
            <a:ext cx="182880" cy="182880"/>
          </a:xfrm>
          <a:prstGeom prst="ellipse">
            <a:avLst/>
          </a:prstGeom>
          <a:solidFill>
            <a:srgbClr val="0D7A75"/>
          </a:solidFill>
          <a:ln/>
        </p:spPr>
      </p:sp>
      <p:sp>
        <p:nvSpPr>
          <p:cNvPr id="27" name="Shape 25"/>
          <p:cNvSpPr/>
          <p:nvPr/>
        </p:nvSpPr>
        <p:spPr>
          <a:xfrm>
            <a:off x="3063240" y="1600200"/>
            <a:ext cx="0" cy="4498848"/>
          </a:xfrm>
          <a:prstGeom prst="line">
            <a:avLst/>
          </a:prstGeom>
          <a:noFill/>
          <a:ln w="15240">
            <a:solidFill>
              <a:srgbClr val="CBD5E1"/>
            </a:solidFill>
            <a:prstDash val="solid"/>
          </a:ln>
        </p:spPr>
      </p:sp>
      <p:sp>
        <p:nvSpPr>
          <p:cNvPr id="28" name="Shape 26"/>
          <p:cNvSpPr/>
          <p:nvPr/>
        </p:nvSpPr>
        <p:spPr>
          <a:xfrm>
            <a:off x="4782312" y="658368"/>
            <a:ext cx="768096" cy="329184"/>
          </a:xfrm>
          <a:prstGeom prst="roundRect">
            <a:avLst>
              <a:gd name="adj" fmla="val 16667"/>
            </a:avLst>
          </a:prstGeom>
          <a:solidFill>
            <a:srgbClr val="F8F9FA"/>
          </a:solidFill>
          <a:ln w="15240">
            <a:solidFill>
              <a:srgbClr val="54728C"/>
            </a:solidFill>
            <a:prstDash val="solid"/>
          </a:ln>
        </p:spPr>
      </p:sp>
      <p:sp>
        <p:nvSpPr>
          <p:cNvPr id="29" name="Text 27"/>
          <p:cNvSpPr/>
          <p:nvPr/>
        </p:nvSpPr>
        <p:spPr>
          <a:xfrm>
            <a:off x="4782312" y="658368"/>
            <a:ext cx="768096" cy="329184"/>
          </a:xfrm>
          <a:prstGeom prst="rect">
            <a:avLst/>
          </a:prstGeom>
          <a:noFill/>
          <a:ln/>
        </p:spPr>
        <p:txBody>
          <a:bodyPr wrap="square" rtlCol="0" anchor="ctr"/>
          <a:lstStyle/>
          <a:p>
            <a:pPr algn="ctr" indent="0" marL="0">
              <a:buNone/>
            </a:pPr>
            <a:r>
              <a:rPr lang="en-US" sz="860" b="1" dirty="0">
                <a:solidFill>
                  <a:srgbClr val="54728C"/>
                </a:solidFill>
                <a:latin typeface="Google Sans" pitchFamily="34" charset="0"/>
                <a:ea typeface="Google Sans" pitchFamily="34" charset="-122"/>
                <a:cs typeface="Google Sans" pitchFamily="34" charset="-120"/>
              </a:rPr>
              <a:t>HOP 2-3</a:t>
            </a:r>
            <a:endParaRPr lang="en-US" sz="860" dirty="0"/>
          </a:p>
        </p:txBody>
      </p:sp>
      <p:sp>
        <p:nvSpPr>
          <p:cNvPr id="30" name="Text 28"/>
          <p:cNvSpPr/>
          <p:nvPr/>
        </p:nvSpPr>
        <p:spPr>
          <a:xfrm>
            <a:off x="420624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Hops 2–3: ARD &amp; Memory</a:t>
            </a:r>
            <a:endParaRPr lang="en-US" sz="940" dirty="0"/>
          </a:p>
        </p:txBody>
      </p:sp>
      <p:sp>
        <p:nvSpPr>
          <p:cNvPr id="31" name="Shape 29"/>
          <p:cNvSpPr/>
          <p:nvPr/>
        </p:nvSpPr>
        <p:spPr>
          <a:xfrm>
            <a:off x="5074920" y="1417320"/>
            <a:ext cx="182880" cy="182880"/>
          </a:xfrm>
          <a:prstGeom prst="ellipse">
            <a:avLst/>
          </a:prstGeom>
          <a:solidFill>
            <a:srgbClr val="54728C"/>
          </a:solidFill>
          <a:ln/>
        </p:spPr>
      </p:sp>
      <p:sp>
        <p:nvSpPr>
          <p:cNvPr id="32" name="Shape 30"/>
          <p:cNvSpPr/>
          <p:nvPr/>
        </p:nvSpPr>
        <p:spPr>
          <a:xfrm>
            <a:off x="5166360" y="1600200"/>
            <a:ext cx="0" cy="4498848"/>
          </a:xfrm>
          <a:prstGeom prst="line">
            <a:avLst/>
          </a:prstGeom>
          <a:noFill/>
          <a:ln w="15240">
            <a:solidFill>
              <a:srgbClr val="CBD5E1"/>
            </a:solidFill>
            <a:prstDash val="solid"/>
          </a:ln>
        </p:spPr>
      </p:sp>
      <p:sp>
        <p:nvSpPr>
          <p:cNvPr id="33" name="Shape 31"/>
          <p:cNvSpPr/>
          <p:nvPr/>
        </p:nvSpPr>
        <p:spPr>
          <a:xfrm>
            <a:off x="6885432" y="658368"/>
            <a:ext cx="768096" cy="329184"/>
          </a:xfrm>
          <a:prstGeom prst="roundRect">
            <a:avLst>
              <a:gd name="adj" fmla="val 16667"/>
            </a:avLst>
          </a:prstGeom>
          <a:solidFill>
            <a:srgbClr val="F8F9FA"/>
          </a:solidFill>
          <a:ln w="15240">
            <a:solidFill>
              <a:srgbClr val="38988E"/>
            </a:solidFill>
            <a:prstDash val="solid"/>
          </a:ln>
        </p:spPr>
      </p:sp>
      <p:sp>
        <p:nvSpPr>
          <p:cNvPr id="34" name="Text 32"/>
          <p:cNvSpPr/>
          <p:nvPr/>
        </p:nvSpPr>
        <p:spPr>
          <a:xfrm>
            <a:off x="6885432" y="658368"/>
            <a:ext cx="768096" cy="329184"/>
          </a:xfrm>
          <a:prstGeom prst="rect">
            <a:avLst/>
          </a:prstGeom>
          <a:noFill/>
          <a:ln/>
        </p:spPr>
        <p:txBody>
          <a:bodyPr wrap="square" rtlCol="0" anchor="ctr"/>
          <a:lstStyle/>
          <a:p>
            <a:pPr algn="ctr" indent="0" marL="0">
              <a:buNone/>
            </a:pPr>
            <a:r>
              <a:rPr lang="en-US" sz="860" b="1" dirty="0">
                <a:solidFill>
                  <a:srgbClr val="38988E"/>
                </a:solidFill>
                <a:latin typeface="Google Sans" pitchFamily="34" charset="0"/>
                <a:ea typeface="Google Sans" pitchFamily="34" charset="-122"/>
                <a:cs typeface="Google Sans" pitchFamily="34" charset="-120"/>
              </a:rPr>
              <a:t>HOP 4</a:t>
            </a:r>
            <a:endParaRPr lang="en-US" sz="860" dirty="0"/>
          </a:p>
        </p:txBody>
      </p:sp>
      <p:sp>
        <p:nvSpPr>
          <p:cNvPr id="35" name="Text 33"/>
          <p:cNvSpPr/>
          <p:nvPr/>
        </p:nvSpPr>
        <p:spPr>
          <a:xfrm>
            <a:off x="630936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Hop 4: Model Armor &amp; LLM</a:t>
            </a:r>
            <a:endParaRPr lang="en-US" sz="940" dirty="0"/>
          </a:p>
        </p:txBody>
      </p:sp>
      <p:sp>
        <p:nvSpPr>
          <p:cNvPr id="36" name="Shape 34"/>
          <p:cNvSpPr/>
          <p:nvPr/>
        </p:nvSpPr>
        <p:spPr>
          <a:xfrm>
            <a:off x="7178040" y="1417320"/>
            <a:ext cx="182880" cy="182880"/>
          </a:xfrm>
          <a:prstGeom prst="ellipse">
            <a:avLst/>
          </a:prstGeom>
          <a:solidFill>
            <a:srgbClr val="38988E"/>
          </a:solidFill>
          <a:ln/>
        </p:spPr>
      </p:sp>
      <p:sp>
        <p:nvSpPr>
          <p:cNvPr id="37" name="Shape 35"/>
          <p:cNvSpPr/>
          <p:nvPr/>
        </p:nvSpPr>
        <p:spPr>
          <a:xfrm>
            <a:off x="7269480" y="1600200"/>
            <a:ext cx="0" cy="4498848"/>
          </a:xfrm>
          <a:prstGeom prst="line">
            <a:avLst/>
          </a:prstGeom>
          <a:noFill/>
          <a:ln w="15240">
            <a:solidFill>
              <a:srgbClr val="CBD5E1"/>
            </a:solidFill>
            <a:prstDash val="solid"/>
          </a:ln>
        </p:spPr>
      </p:sp>
      <p:sp>
        <p:nvSpPr>
          <p:cNvPr id="38" name="Shape 36"/>
          <p:cNvSpPr/>
          <p:nvPr/>
        </p:nvSpPr>
        <p:spPr>
          <a:xfrm>
            <a:off x="9171432" y="658368"/>
            <a:ext cx="768096" cy="329184"/>
          </a:xfrm>
          <a:prstGeom prst="roundRect">
            <a:avLst>
              <a:gd name="adj" fmla="val 16667"/>
            </a:avLst>
          </a:prstGeom>
          <a:solidFill>
            <a:srgbClr val="F8F9FA"/>
          </a:solidFill>
          <a:ln w="15240">
            <a:solidFill>
              <a:srgbClr val="0F2942"/>
            </a:solidFill>
            <a:prstDash val="solid"/>
          </a:ln>
        </p:spPr>
      </p:sp>
      <p:sp>
        <p:nvSpPr>
          <p:cNvPr id="39" name="Text 37"/>
          <p:cNvSpPr/>
          <p:nvPr/>
        </p:nvSpPr>
        <p:spPr>
          <a:xfrm>
            <a:off x="9171432" y="658368"/>
            <a:ext cx="768096" cy="329184"/>
          </a:xfrm>
          <a:prstGeom prst="rect">
            <a:avLst/>
          </a:prstGeom>
          <a:noFill/>
          <a:ln/>
        </p:spPr>
        <p:txBody>
          <a:bodyPr wrap="square" rtlCol="0" anchor="ctr"/>
          <a:lstStyle/>
          <a:p>
            <a:pPr algn="ctr" indent="0" marL="0">
              <a:buNone/>
            </a:pPr>
            <a:r>
              <a:rPr lang="en-US" sz="860" b="1" dirty="0">
                <a:solidFill>
                  <a:srgbClr val="0F2942"/>
                </a:solidFill>
                <a:latin typeface="Google Sans" pitchFamily="34" charset="0"/>
                <a:ea typeface="Google Sans" pitchFamily="34" charset="-122"/>
                <a:cs typeface="Google Sans" pitchFamily="34" charset="-120"/>
              </a:rPr>
              <a:t>HOP 5</a:t>
            </a:r>
            <a:endParaRPr lang="en-US" sz="860" dirty="0"/>
          </a:p>
        </p:txBody>
      </p:sp>
      <p:sp>
        <p:nvSpPr>
          <p:cNvPr id="40" name="Text 38"/>
          <p:cNvSpPr/>
          <p:nvPr/>
        </p:nvSpPr>
        <p:spPr>
          <a:xfrm>
            <a:off x="859536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Hop 5: MCP &amp; AlloyDB</a:t>
            </a:r>
            <a:endParaRPr lang="en-US" sz="940" dirty="0"/>
          </a:p>
        </p:txBody>
      </p:sp>
      <p:sp>
        <p:nvSpPr>
          <p:cNvPr id="41" name="Shape 39"/>
          <p:cNvSpPr/>
          <p:nvPr/>
        </p:nvSpPr>
        <p:spPr>
          <a:xfrm>
            <a:off x="9464040" y="1417320"/>
            <a:ext cx="182880" cy="182880"/>
          </a:xfrm>
          <a:prstGeom prst="ellipse">
            <a:avLst/>
          </a:prstGeom>
          <a:solidFill>
            <a:srgbClr val="0F2942"/>
          </a:solidFill>
          <a:ln/>
        </p:spPr>
      </p:sp>
      <p:sp>
        <p:nvSpPr>
          <p:cNvPr id="42" name="Shape 40"/>
          <p:cNvSpPr/>
          <p:nvPr/>
        </p:nvSpPr>
        <p:spPr>
          <a:xfrm>
            <a:off x="9555480" y="1600200"/>
            <a:ext cx="0" cy="4498848"/>
          </a:xfrm>
          <a:prstGeom prst="line">
            <a:avLst/>
          </a:prstGeom>
          <a:noFill/>
          <a:ln w="15240">
            <a:solidFill>
              <a:srgbClr val="CBD5E1"/>
            </a:solidFill>
            <a:prstDash val="solid"/>
          </a:ln>
        </p:spPr>
      </p:sp>
      <p:sp>
        <p:nvSpPr>
          <p:cNvPr id="43" name="Shape 41"/>
          <p:cNvSpPr/>
          <p:nvPr/>
        </p:nvSpPr>
        <p:spPr>
          <a:xfrm>
            <a:off x="886968" y="1737360"/>
            <a:ext cx="146304" cy="685800"/>
          </a:xfrm>
          <a:prstGeom prst="roundRect">
            <a:avLst>
              <a:gd name="adj" fmla="val 25000"/>
            </a:avLst>
          </a:prstGeom>
          <a:solidFill>
            <a:srgbClr val="0F2942"/>
          </a:solidFill>
          <a:ln/>
        </p:spPr>
      </p:sp>
      <p:sp>
        <p:nvSpPr>
          <p:cNvPr id="44" name="Shape 42"/>
          <p:cNvSpPr/>
          <p:nvPr/>
        </p:nvSpPr>
        <p:spPr>
          <a:xfrm>
            <a:off x="2990088" y="1874520"/>
            <a:ext cx="146304" cy="1234440"/>
          </a:xfrm>
          <a:prstGeom prst="roundRect">
            <a:avLst>
              <a:gd name="adj" fmla="val 25000"/>
            </a:avLst>
          </a:prstGeom>
          <a:solidFill>
            <a:srgbClr val="0D7A75"/>
          </a:solidFill>
          <a:ln/>
        </p:spPr>
      </p:sp>
      <p:sp>
        <p:nvSpPr>
          <p:cNvPr id="45" name="Shape 43"/>
          <p:cNvSpPr/>
          <p:nvPr/>
        </p:nvSpPr>
        <p:spPr>
          <a:xfrm>
            <a:off x="5093208" y="2514600"/>
            <a:ext cx="146304" cy="1234440"/>
          </a:xfrm>
          <a:prstGeom prst="roundRect">
            <a:avLst>
              <a:gd name="adj" fmla="val 25000"/>
            </a:avLst>
          </a:prstGeom>
          <a:solidFill>
            <a:srgbClr val="54728C"/>
          </a:solidFill>
          <a:ln/>
        </p:spPr>
      </p:sp>
      <p:sp>
        <p:nvSpPr>
          <p:cNvPr id="46" name="Shape 44"/>
          <p:cNvSpPr/>
          <p:nvPr/>
        </p:nvSpPr>
        <p:spPr>
          <a:xfrm>
            <a:off x="7196328" y="3154680"/>
            <a:ext cx="146304" cy="1783080"/>
          </a:xfrm>
          <a:prstGeom prst="roundRect">
            <a:avLst>
              <a:gd name="adj" fmla="val 25000"/>
            </a:avLst>
          </a:prstGeom>
          <a:solidFill>
            <a:srgbClr val="38988E"/>
          </a:solidFill>
          <a:ln/>
        </p:spPr>
      </p:sp>
      <p:sp>
        <p:nvSpPr>
          <p:cNvPr id="47" name="Shape 45"/>
          <p:cNvSpPr/>
          <p:nvPr/>
        </p:nvSpPr>
        <p:spPr>
          <a:xfrm>
            <a:off x="9482328" y="4480560"/>
            <a:ext cx="146304" cy="1517904"/>
          </a:xfrm>
          <a:prstGeom prst="roundRect">
            <a:avLst>
              <a:gd name="adj" fmla="val 25000"/>
            </a:avLst>
          </a:prstGeom>
          <a:solidFill>
            <a:srgbClr val="0F2942"/>
          </a:solidFill>
          <a:ln/>
        </p:spPr>
      </p:sp>
      <p:sp>
        <p:nvSpPr>
          <p:cNvPr id="48" name="Shape 46"/>
          <p:cNvSpPr/>
          <p:nvPr/>
        </p:nvSpPr>
        <p:spPr>
          <a:xfrm>
            <a:off x="1078992" y="1700784"/>
            <a:ext cx="292608" cy="292608"/>
          </a:xfrm>
          <a:prstGeom prst="ellipse">
            <a:avLst/>
          </a:prstGeom>
          <a:solidFill>
            <a:srgbClr val="0F2942"/>
          </a:solidFill>
          <a:ln/>
        </p:spPr>
      </p:sp>
      <p:sp>
        <p:nvSpPr>
          <p:cNvPr id="49" name="Text 47"/>
          <p:cNvSpPr/>
          <p:nvPr/>
        </p:nvSpPr>
        <p:spPr>
          <a:xfrm>
            <a:off x="1078992" y="1700784"/>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1</a:t>
            </a:r>
            <a:endParaRPr lang="en-US" sz="1100" dirty="0"/>
          </a:p>
        </p:txBody>
      </p:sp>
      <p:sp>
        <p:nvSpPr>
          <p:cNvPr id="50" name="Text 48"/>
          <p:cNvSpPr/>
          <p:nvPr/>
        </p:nvSpPr>
        <p:spPr>
          <a:xfrm>
            <a:off x="1426464" y="1627632"/>
            <a:ext cx="1536192" cy="384048"/>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Caller sends OIDC</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JWT + DPoP proof</a:t>
            </a:r>
            <a:endParaRPr lang="en-US" sz="800" dirty="0"/>
          </a:p>
        </p:txBody>
      </p:sp>
      <p:sp>
        <p:nvSpPr>
          <p:cNvPr id="51" name="Shape 49"/>
          <p:cNvSpPr/>
          <p:nvPr/>
        </p:nvSpPr>
        <p:spPr>
          <a:xfrm>
            <a:off x="1033272" y="2249424"/>
            <a:ext cx="1956816" cy="0"/>
          </a:xfrm>
          <a:prstGeom prst="line">
            <a:avLst/>
          </a:prstGeom>
          <a:noFill/>
          <a:ln w="19050">
            <a:solidFill>
              <a:srgbClr val="0F2942"/>
            </a:solidFill>
            <a:prstDash val="solid"/>
            <a:tailEnd type="triangle" w="sm" len="sm"/>
          </a:ln>
        </p:spPr>
      </p:sp>
      <p:sp>
        <p:nvSpPr>
          <p:cNvPr id="52" name="Text 50"/>
          <p:cNvSpPr/>
          <p:nvPr/>
        </p:nvSpPr>
        <p:spPr>
          <a:xfrm>
            <a:off x="1261872" y="2048256"/>
            <a:ext cx="1499616" cy="164592"/>
          </a:xfrm>
          <a:prstGeom prst="rect">
            <a:avLst/>
          </a:prstGeom>
          <a:noFill/>
          <a:ln/>
        </p:spPr>
        <p:txBody>
          <a:bodyPr wrap="square" rtlCol="0" anchor="ctr"/>
          <a:lstStyle/>
          <a:p>
            <a:pPr algn="ctr" indent="0" marL="0">
              <a:buNone/>
            </a:pPr>
            <a:r>
              <a:rPr lang="en-US" sz="780" b="1" dirty="0">
                <a:solidFill>
                  <a:srgbClr val="0F2942"/>
                </a:solidFill>
                <a:latin typeface="Roboto" pitchFamily="34" charset="0"/>
                <a:ea typeface="Roboto" pitchFamily="34" charset="-122"/>
                <a:cs typeface="Roboto" pitchFamily="34" charset="-120"/>
              </a:rPr>
              <a:t>HTTPS + DPoP JWT</a:t>
            </a:r>
            <a:endParaRPr lang="en-US" sz="780" dirty="0"/>
          </a:p>
        </p:txBody>
      </p:sp>
      <p:sp>
        <p:nvSpPr>
          <p:cNvPr id="53" name="Shape 51"/>
          <p:cNvSpPr/>
          <p:nvPr/>
        </p:nvSpPr>
        <p:spPr>
          <a:xfrm>
            <a:off x="3182112" y="2267712"/>
            <a:ext cx="292608" cy="292608"/>
          </a:xfrm>
          <a:prstGeom prst="ellipse">
            <a:avLst/>
          </a:prstGeom>
          <a:solidFill>
            <a:srgbClr val="0D7A75"/>
          </a:solidFill>
          <a:ln/>
        </p:spPr>
      </p:sp>
      <p:sp>
        <p:nvSpPr>
          <p:cNvPr id="54" name="Text 52"/>
          <p:cNvSpPr/>
          <p:nvPr/>
        </p:nvSpPr>
        <p:spPr>
          <a:xfrm>
            <a:off x="3182112" y="2267712"/>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2</a:t>
            </a:r>
            <a:endParaRPr lang="en-US" sz="1100" dirty="0"/>
          </a:p>
        </p:txBody>
      </p:sp>
      <p:sp>
        <p:nvSpPr>
          <p:cNvPr id="55" name="Text 53"/>
          <p:cNvSpPr/>
          <p:nvPr/>
        </p:nvSpPr>
        <p:spPr>
          <a:xfrm>
            <a:off x="3529584" y="2231136"/>
            <a:ext cx="1536192" cy="402336"/>
          </a:xfrm>
          <a:prstGeom prst="rect">
            <a:avLst/>
          </a:prstGeom>
          <a:noFill/>
          <a:ln/>
        </p:spPr>
        <p:txBody>
          <a:bodyPr wrap="square" rtlCol="0" anchor="ctr"/>
          <a:lstStyle/>
          <a:p>
            <a:pPr indent="0" marL="0">
              <a:buNone/>
            </a:pPr>
            <a:r>
              <a:rPr lang="en-US" sz="780" b="1" dirty="0">
                <a:solidFill>
                  <a:srgbClr val="3C4043"/>
                </a:solidFill>
                <a:latin typeface="Google Sans" pitchFamily="34" charset="0"/>
                <a:ea typeface="Google Sans" pitchFamily="34" charset="-122"/>
                <a:cs typeface="Google Sans" pitchFamily="34" charset="-120"/>
              </a:rPr>
              <a:t>Hop 1 strips spoofed</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headers &amp; mints 5-min</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STS TenantContext</a:t>
            </a:r>
            <a:endParaRPr lang="en-US" sz="780" dirty="0"/>
          </a:p>
        </p:txBody>
      </p:sp>
      <p:sp>
        <p:nvSpPr>
          <p:cNvPr id="56" name="Shape 54"/>
          <p:cNvSpPr/>
          <p:nvPr/>
        </p:nvSpPr>
        <p:spPr>
          <a:xfrm>
            <a:off x="3136392" y="2907792"/>
            <a:ext cx="1956816" cy="0"/>
          </a:xfrm>
          <a:prstGeom prst="line">
            <a:avLst/>
          </a:prstGeom>
          <a:noFill/>
          <a:ln w="19050">
            <a:solidFill>
              <a:srgbClr val="0D7A75"/>
            </a:solidFill>
            <a:prstDash val="solid"/>
            <a:tailEnd type="triangle" w="sm" len="sm"/>
          </a:ln>
        </p:spPr>
      </p:sp>
      <p:sp>
        <p:nvSpPr>
          <p:cNvPr id="57" name="Text 55"/>
          <p:cNvSpPr/>
          <p:nvPr/>
        </p:nvSpPr>
        <p:spPr>
          <a:xfrm>
            <a:off x="3163824" y="2697480"/>
            <a:ext cx="1901952" cy="173736"/>
          </a:xfrm>
          <a:prstGeom prst="rect">
            <a:avLst/>
          </a:prstGeom>
          <a:noFill/>
          <a:ln/>
        </p:spPr>
        <p:txBody>
          <a:bodyPr wrap="square" rtlCol="0" anchor="ctr">
            <a:normAutofit/>
          </a:bodyPr>
          <a:lstStyle/>
          <a:p>
            <a:pPr algn="ctr" indent="0" marL="0">
              <a:buNone/>
            </a:pPr>
            <a:r>
              <a:rPr lang="en-US" sz="700" b="1" dirty="0">
                <a:solidFill>
                  <a:srgbClr val="0D7A75"/>
                </a:solidFill>
                <a:latin typeface="Roboto" pitchFamily="34" charset="0"/>
                <a:ea typeface="Roboto" pitchFamily="34" charset="-122"/>
                <a:cs typeface="Roboto" pitchFamily="34" charset="-120"/>
              </a:rPr>
              <a:t>Verify OBO + ~3ms JTI → Mint 5-Min STS JWT (&lt;0.15ms Cached JWKS)</a:t>
            </a:r>
            <a:endParaRPr lang="en-US" sz="700" dirty="0"/>
          </a:p>
        </p:txBody>
      </p:sp>
      <p:sp>
        <p:nvSpPr>
          <p:cNvPr id="58" name="Shape 56"/>
          <p:cNvSpPr/>
          <p:nvPr/>
        </p:nvSpPr>
        <p:spPr>
          <a:xfrm>
            <a:off x="5285232" y="2926080"/>
            <a:ext cx="292608" cy="292608"/>
          </a:xfrm>
          <a:prstGeom prst="ellipse">
            <a:avLst/>
          </a:prstGeom>
          <a:solidFill>
            <a:srgbClr val="54728C"/>
          </a:solidFill>
          <a:ln/>
        </p:spPr>
      </p:sp>
      <p:sp>
        <p:nvSpPr>
          <p:cNvPr id="59" name="Text 57"/>
          <p:cNvSpPr/>
          <p:nvPr/>
        </p:nvSpPr>
        <p:spPr>
          <a:xfrm>
            <a:off x="5285232" y="2926080"/>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3</a:t>
            </a:r>
            <a:endParaRPr lang="en-US" sz="1100" dirty="0"/>
          </a:p>
        </p:txBody>
      </p:sp>
      <p:sp>
        <p:nvSpPr>
          <p:cNvPr id="60" name="Text 58"/>
          <p:cNvSpPr/>
          <p:nvPr/>
        </p:nvSpPr>
        <p:spPr>
          <a:xfrm>
            <a:off x="5632704" y="2889504"/>
            <a:ext cx="1536192" cy="402336"/>
          </a:xfrm>
          <a:prstGeom prst="rect">
            <a:avLst/>
          </a:prstGeom>
          <a:noFill/>
          <a:ln/>
        </p:spPr>
        <p:txBody>
          <a:bodyPr wrap="square" rtlCol="0" anchor="ctr"/>
          <a:lstStyle/>
          <a:p>
            <a:pPr indent="0" marL="0">
              <a:buNone/>
            </a:pPr>
            <a:r>
              <a:rPr lang="en-US" sz="780" b="1" dirty="0">
                <a:solidFill>
                  <a:srgbClr val="3C4043"/>
                </a:solidFill>
                <a:latin typeface="Google Sans" pitchFamily="34" charset="0"/>
                <a:ea typeface="Google Sans" pitchFamily="34" charset="-122"/>
                <a:cs typeface="Google Sans" pitchFamily="34" charset="-120"/>
              </a:rPr>
              <a:t>Hops 2–3 filter ARD,</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cap 120/600 RPM &amp; scope</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cache:{tenant}:*</a:t>
            </a:r>
            <a:endParaRPr lang="en-US" sz="780" dirty="0"/>
          </a:p>
        </p:txBody>
      </p:sp>
      <p:sp>
        <p:nvSpPr>
          <p:cNvPr id="61" name="Shape 59"/>
          <p:cNvSpPr/>
          <p:nvPr/>
        </p:nvSpPr>
        <p:spPr>
          <a:xfrm>
            <a:off x="5239512" y="3547872"/>
            <a:ext cx="1956816" cy="0"/>
          </a:xfrm>
          <a:prstGeom prst="line">
            <a:avLst/>
          </a:prstGeom>
          <a:noFill/>
          <a:ln w="19050">
            <a:solidFill>
              <a:srgbClr val="54728C"/>
            </a:solidFill>
            <a:prstDash val="solid"/>
            <a:tailEnd type="triangle" w="sm" len="sm"/>
          </a:ln>
        </p:spPr>
      </p:sp>
      <p:sp>
        <p:nvSpPr>
          <p:cNvPr id="62" name="Text 60"/>
          <p:cNvSpPr/>
          <p:nvPr/>
        </p:nvSpPr>
        <p:spPr>
          <a:xfrm>
            <a:off x="5266944" y="3337560"/>
            <a:ext cx="1901952" cy="173736"/>
          </a:xfrm>
          <a:prstGeom prst="rect">
            <a:avLst/>
          </a:prstGeom>
          <a:noFill/>
          <a:ln/>
        </p:spPr>
        <p:txBody>
          <a:bodyPr wrap="square" rtlCol="0" anchor="ctr">
            <a:normAutofit/>
          </a:bodyPr>
          <a:lstStyle/>
          <a:p>
            <a:pPr algn="ctr" indent="0" marL="0">
              <a:buNone/>
            </a:pPr>
            <a:r>
              <a:rPr lang="en-US" sz="720" b="1" dirty="0">
                <a:solidFill>
                  <a:srgbClr val="54728C"/>
                </a:solidFill>
                <a:latin typeface="Roboto" pitchFamily="34" charset="0"/>
                <a:ea typeface="Roboto" pitchFamily="34" charset="-122"/>
                <a:cs typeface="Roboto" pitchFamily="34" charset="-120"/>
              </a:rPr>
              <a:t>ARD ACL • 120/600 RPM &amp; 4k/8k Think Clamp</a:t>
            </a:r>
            <a:endParaRPr lang="en-US" sz="720" dirty="0"/>
          </a:p>
        </p:txBody>
      </p:sp>
      <p:sp>
        <p:nvSpPr>
          <p:cNvPr id="63" name="Shape 61"/>
          <p:cNvSpPr/>
          <p:nvPr/>
        </p:nvSpPr>
        <p:spPr>
          <a:xfrm>
            <a:off x="7406640" y="3200400"/>
            <a:ext cx="292608" cy="292608"/>
          </a:xfrm>
          <a:prstGeom prst="ellipse">
            <a:avLst/>
          </a:prstGeom>
          <a:solidFill>
            <a:srgbClr val="38988E"/>
          </a:solidFill>
          <a:ln/>
        </p:spPr>
      </p:sp>
      <p:sp>
        <p:nvSpPr>
          <p:cNvPr id="64" name="Text 62"/>
          <p:cNvSpPr/>
          <p:nvPr/>
        </p:nvSpPr>
        <p:spPr>
          <a:xfrm>
            <a:off x="7406640" y="3200400"/>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4</a:t>
            </a:r>
            <a:endParaRPr lang="en-US" sz="1100" dirty="0"/>
          </a:p>
        </p:txBody>
      </p:sp>
      <p:sp>
        <p:nvSpPr>
          <p:cNvPr id="65" name="Text 63"/>
          <p:cNvSpPr/>
          <p:nvPr/>
        </p:nvSpPr>
        <p:spPr>
          <a:xfrm>
            <a:off x="7754112" y="3163824"/>
            <a:ext cx="1719072" cy="438912"/>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Hop 4 Model Armor +</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Inline DLP (~22ms p95)</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&amp; 90% prefix cache</a:t>
            </a:r>
            <a:endParaRPr lang="en-US" sz="800" dirty="0"/>
          </a:p>
        </p:txBody>
      </p:sp>
      <p:sp>
        <p:nvSpPr>
          <p:cNvPr id="66" name="Shape 64"/>
          <p:cNvSpPr/>
          <p:nvPr/>
        </p:nvSpPr>
        <p:spPr>
          <a:xfrm>
            <a:off x="7388352" y="3675888"/>
            <a:ext cx="2048256" cy="658368"/>
          </a:xfrm>
          <a:prstGeom prst="roundRect">
            <a:avLst>
              <a:gd name="adj" fmla="val 6944"/>
            </a:avLst>
          </a:prstGeom>
          <a:solidFill>
            <a:srgbClr val="E6F4EA"/>
          </a:solidFill>
          <a:ln w="12700">
            <a:solidFill>
              <a:srgbClr val="1E8E3E"/>
            </a:solidFill>
            <a:prstDash val="solid"/>
          </a:ln>
        </p:spPr>
      </p:sp>
      <p:sp>
        <p:nvSpPr>
          <p:cNvPr id="67" name="Text 65"/>
          <p:cNvSpPr/>
          <p:nvPr/>
        </p:nvSpPr>
        <p:spPr>
          <a:xfrm>
            <a:off x="7443216" y="3712464"/>
            <a:ext cx="1938528" cy="365760"/>
          </a:xfrm>
          <a:prstGeom prst="rect">
            <a:avLst/>
          </a:prstGeom>
          <a:noFill/>
          <a:ln/>
        </p:spPr>
        <p:txBody>
          <a:bodyPr wrap="square" rtlCol="0" anchor="ctr"/>
          <a:lstStyle/>
          <a:p>
            <a:pPr algn="ctr" indent="0" marL="0">
              <a:buNone/>
            </a:pPr>
            <a:r>
              <a:rPr lang="en-US" sz="820" b="1" dirty="0">
                <a:solidFill>
                  <a:srgbClr val="0D652D"/>
                </a:solidFill>
                <a:latin typeface="Google Sans" pitchFamily="34" charset="0"/>
                <a:ea typeface="Google Sans" pitchFamily="34" charset="-122"/>
                <a:cs typeface="Google Sans" pitchFamily="34" charset="-120"/>
              </a:rPr>
              <a:t>90% Shared Prefix</a:t>
            </a:r>
            <a:endParaRPr lang="en-US" sz="820" dirty="0"/>
          </a:p>
          <a:p>
            <a:pPr algn="ctr" indent="0" marL="0">
              <a:buNone/>
            </a:pPr>
            <a:r>
              <a:rPr lang="en-US" sz="820" b="1" dirty="0">
                <a:solidFill>
                  <a:srgbClr val="0D652D"/>
                </a:solidFill>
                <a:latin typeface="Google Sans" pitchFamily="34" charset="0"/>
                <a:ea typeface="Google Sans" pitchFamily="34" charset="-122"/>
                <a:cs typeface="Google Sans" pitchFamily="34" charset="-120"/>
              </a:rPr>
              <a:t>Cache Hit (32k Tok)</a:t>
            </a:r>
            <a:endParaRPr lang="en-US" sz="820" dirty="0"/>
          </a:p>
        </p:txBody>
      </p:sp>
      <p:sp>
        <p:nvSpPr>
          <p:cNvPr id="68" name="Text 66"/>
          <p:cNvSpPr/>
          <p:nvPr/>
        </p:nvSpPr>
        <p:spPr>
          <a:xfrm>
            <a:off x="7443216" y="4078224"/>
            <a:ext cx="1938528" cy="219456"/>
          </a:xfrm>
          <a:prstGeom prst="rect">
            <a:avLst/>
          </a:prstGeom>
          <a:noFill/>
          <a:ln/>
        </p:spPr>
        <p:txBody>
          <a:bodyPr wrap="square" rtlCol="0" anchor="ctr"/>
          <a:lstStyle/>
          <a:p>
            <a:pPr algn="ctr" indent="0" marL="0">
              <a:buNone/>
            </a:pPr>
            <a:r>
              <a:rPr lang="en-US" sz="740" b="1" dirty="0">
                <a:solidFill>
                  <a:srgbClr val="3C4043"/>
                </a:solidFill>
                <a:latin typeface="Roboto" pitchFamily="34" charset="0"/>
                <a:ea typeface="Roboto" pitchFamily="34" charset="-122"/>
                <a:cs typeface="Roboto" pitchFamily="34" charset="-120"/>
              </a:rPr>
              <a:t>SLA: 84.7% Net Token Cost Reduction</a:t>
            </a:r>
            <a:endParaRPr lang="en-US" sz="740" dirty="0"/>
          </a:p>
        </p:txBody>
      </p:sp>
      <p:sp>
        <p:nvSpPr>
          <p:cNvPr id="69" name="Shape 67"/>
          <p:cNvSpPr/>
          <p:nvPr/>
        </p:nvSpPr>
        <p:spPr>
          <a:xfrm>
            <a:off x="7406640" y="4498848"/>
            <a:ext cx="292608" cy="292608"/>
          </a:xfrm>
          <a:prstGeom prst="ellipse">
            <a:avLst/>
          </a:prstGeom>
          <a:solidFill>
            <a:srgbClr val="0D7A75"/>
          </a:solidFill>
          <a:ln/>
        </p:spPr>
      </p:sp>
      <p:sp>
        <p:nvSpPr>
          <p:cNvPr id="70" name="Text 68"/>
          <p:cNvSpPr/>
          <p:nvPr/>
        </p:nvSpPr>
        <p:spPr>
          <a:xfrm>
            <a:off x="7406640" y="4407408"/>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5</a:t>
            </a:r>
            <a:endParaRPr lang="en-US" sz="1100" dirty="0"/>
          </a:p>
        </p:txBody>
      </p:sp>
      <p:sp>
        <p:nvSpPr>
          <p:cNvPr id="71" name="Shape 69"/>
          <p:cNvSpPr/>
          <p:nvPr/>
        </p:nvSpPr>
        <p:spPr>
          <a:xfrm>
            <a:off x="6272784" y="4425696"/>
            <a:ext cx="859536" cy="256032"/>
          </a:xfrm>
          <a:prstGeom prst="roundRect">
            <a:avLst>
              <a:gd name="adj" fmla="val 17857"/>
            </a:avLst>
          </a:prstGeom>
          <a:solidFill>
            <a:srgbClr val="54728C"/>
          </a:solidFill>
          <a:ln/>
        </p:spPr>
      </p:sp>
      <p:sp>
        <p:nvSpPr>
          <p:cNvPr id="72" name="Text 70"/>
          <p:cNvSpPr/>
          <p:nvPr/>
        </p:nvSpPr>
        <p:spPr>
          <a:xfrm>
            <a:off x="6272784" y="4425696"/>
            <a:ext cx="859536" cy="256032"/>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RLS + 3LO</a:t>
            </a:r>
            <a:endParaRPr lang="en-US" sz="780" dirty="0"/>
          </a:p>
        </p:txBody>
      </p:sp>
      <p:sp>
        <p:nvSpPr>
          <p:cNvPr id="73" name="Text 71"/>
          <p:cNvSpPr/>
          <p:nvPr/>
        </p:nvSpPr>
        <p:spPr>
          <a:xfrm>
            <a:off x="5248656" y="4718304"/>
            <a:ext cx="1938528" cy="411480"/>
          </a:xfrm>
          <a:prstGeom prst="rect">
            <a:avLst/>
          </a:prstGeom>
          <a:noFill/>
          <a:ln/>
        </p:spPr>
        <p:txBody>
          <a:bodyPr wrap="square" rtlCol="0" anchor="ctr"/>
          <a:lstStyle/>
          <a:p>
            <a:pPr indent="0" marL="0">
              <a:buNone/>
            </a:pPr>
            <a:r>
              <a:rPr lang="en-US" sz="770" b="1" dirty="0">
                <a:solidFill>
                  <a:srgbClr val="3C4043"/>
                </a:solidFill>
                <a:latin typeface="Google Sans" pitchFamily="34" charset="0"/>
                <a:ea typeface="Google Sans" pitchFamily="34" charset="-122"/>
                <a:cs typeface="Google Sans" pitchFamily="34" charset="-120"/>
              </a:rPr>
              <a:t>Hop 5 binds AlloyDB</a:t>
            </a:r>
            <a:endParaRPr lang="en-US" sz="770" dirty="0"/>
          </a:p>
          <a:p>
            <a:pPr indent="0" marL="0">
              <a:buNone/>
            </a:pPr>
            <a:r>
              <a:rPr lang="en-US" sz="770" b="1" dirty="0">
                <a:solidFill>
                  <a:srgbClr val="3C4043"/>
                </a:solidFill>
                <a:latin typeface="Google Sans" pitchFamily="34" charset="0"/>
                <a:ea typeface="Google Sans" pitchFamily="34" charset="-122"/>
                <a:cs typeface="Google Sans" pitchFamily="34" charset="-120"/>
              </a:rPr>
              <a:t>RLS &amp; vaults per-user</a:t>
            </a:r>
            <a:endParaRPr lang="en-US" sz="770" dirty="0"/>
          </a:p>
          <a:p>
            <a:pPr indent="0" marL="0">
              <a:buNone/>
            </a:pPr>
            <a:r>
              <a:rPr lang="en-US" sz="770" b="1" dirty="0">
                <a:solidFill>
                  <a:srgbClr val="3C4043"/>
                </a:solidFill>
                <a:latin typeface="Google Sans" pitchFamily="34" charset="0"/>
                <a:ea typeface="Google Sans" pitchFamily="34" charset="-122"/>
                <a:cs typeface="Google Sans" pitchFamily="34" charset="-120"/>
              </a:rPr>
              <a:t>3LO ({tenant}:{user})</a:t>
            </a:r>
            <a:endParaRPr lang="en-US" sz="770" dirty="0"/>
          </a:p>
        </p:txBody>
      </p:sp>
      <p:sp>
        <p:nvSpPr>
          <p:cNvPr id="74" name="Shape 72"/>
          <p:cNvSpPr/>
          <p:nvPr/>
        </p:nvSpPr>
        <p:spPr>
          <a:xfrm>
            <a:off x="7342632" y="4809744"/>
            <a:ext cx="2139696" cy="0"/>
          </a:xfrm>
          <a:prstGeom prst="line">
            <a:avLst/>
          </a:prstGeom>
          <a:noFill/>
          <a:ln w="19050">
            <a:solidFill>
              <a:srgbClr val="0F2942"/>
            </a:solidFill>
            <a:prstDash val="solid"/>
            <a:tailEnd type="triangle" w="sm" len="sm"/>
          </a:ln>
        </p:spPr>
      </p:sp>
      <p:sp>
        <p:nvSpPr>
          <p:cNvPr id="75" name="Text 73"/>
          <p:cNvSpPr/>
          <p:nvPr/>
        </p:nvSpPr>
        <p:spPr>
          <a:xfrm>
            <a:off x="7735824" y="4590288"/>
            <a:ext cx="1682496" cy="182880"/>
          </a:xfrm>
          <a:prstGeom prst="rect">
            <a:avLst/>
          </a:prstGeom>
          <a:noFill/>
          <a:ln/>
        </p:spPr>
        <p:txBody>
          <a:bodyPr wrap="square" rtlCol="0" anchor="ctr"/>
          <a:lstStyle/>
          <a:p>
            <a:pPr algn="ctr" indent="0" marL="0">
              <a:buNone/>
            </a:pPr>
            <a:r>
              <a:rPr lang="en-US" sz="780" b="1" dirty="0">
                <a:solidFill>
                  <a:srgbClr val="0F2942"/>
                </a:solidFill>
                <a:latin typeface="Roboto" pitchFamily="34" charset="0"/>
                <a:ea typeface="Roboto" pitchFamily="34" charset="-122"/>
                <a:cs typeface="Roboto" pitchFamily="34" charset="-120"/>
              </a:rPr>
              <a:t>SET LOCAL tenant_id</a:t>
            </a:r>
            <a:endParaRPr lang="en-US" sz="780" dirty="0"/>
          </a:p>
        </p:txBody>
      </p:sp>
      <p:sp>
        <p:nvSpPr>
          <p:cNvPr id="76" name="Shape 74"/>
          <p:cNvSpPr/>
          <p:nvPr/>
        </p:nvSpPr>
        <p:spPr>
          <a:xfrm>
            <a:off x="9692640" y="4572000"/>
            <a:ext cx="292608" cy="292608"/>
          </a:xfrm>
          <a:prstGeom prst="ellipse">
            <a:avLst/>
          </a:prstGeom>
          <a:solidFill>
            <a:srgbClr val="0F2942"/>
          </a:solidFill>
          <a:ln/>
        </p:spPr>
      </p:sp>
      <p:sp>
        <p:nvSpPr>
          <p:cNvPr id="77" name="Text 75"/>
          <p:cNvSpPr/>
          <p:nvPr/>
        </p:nvSpPr>
        <p:spPr>
          <a:xfrm>
            <a:off x="9692640" y="4572000"/>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6</a:t>
            </a:r>
            <a:endParaRPr lang="en-US" sz="1100" dirty="0"/>
          </a:p>
        </p:txBody>
      </p:sp>
      <p:sp>
        <p:nvSpPr>
          <p:cNvPr id="78" name="Text 76"/>
          <p:cNvSpPr/>
          <p:nvPr/>
        </p:nvSpPr>
        <p:spPr>
          <a:xfrm>
            <a:off x="10040112" y="4535424"/>
            <a:ext cx="1773936" cy="475488"/>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Executes parameterized</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SQL (0 cross-tenant rows)</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&amp; streams OTel span</a:t>
            </a:r>
            <a:endParaRPr lang="en-US" sz="800" dirty="0"/>
          </a:p>
        </p:txBody>
      </p:sp>
      <p:sp>
        <p:nvSpPr>
          <p:cNvPr id="79" name="Shape 77"/>
          <p:cNvSpPr/>
          <p:nvPr/>
        </p:nvSpPr>
        <p:spPr>
          <a:xfrm>
            <a:off x="9692640" y="5102352"/>
            <a:ext cx="2121408" cy="877824"/>
          </a:xfrm>
          <a:prstGeom prst="roundRect">
            <a:avLst>
              <a:gd name="adj" fmla="val 6250"/>
            </a:avLst>
          </a:prstGeom>
          <a:solidFill>
            <a:srgbClr val="F8F9FA"/>
          </a:solidFill>
          <a:ln w="12700">
            <a:solidFill>
              <a:srgbClr val="DADCE0"/>
            </a:solidFill>
            <a:prstDash val="solid"/>
          </a:ln>
        </p:spPr>
      </p:sp>
      <p:sp>
        <p:nvSpPr>
          <p:cNvPr id="80" name="Text 78"/>
          <p:cNvSpPr/>
          <p:nvPr/>
        </p:nvSpPr>
        <p:spPr>
          <a:xfrm>
            <a:off x="9765792" y="5157216"/>
            <a:ext cx="1408176" cy="768096"/>
          </a:xfrm>
          <a:prstGeom prst="rect">
            <a:avLst/>
          </a:prstGeom>
          <a:noFill/>
          <a:ln/>
        </p:spPr>
        <p:txBody>
          <a:bodyPr wrap="square" rtlCol="0" anchor="ctr"/>
          <a:lstStyle/>
          <a:p>
            <a:pPr indent="0" marL="0">
              <a:buNone/>
            </a:pPr>
            <a:r>
              <a:rPr lang="en-US" sz="760" b="1" dirty="0">
                <a:solidFill>
                  <a:srgbClr val="3C4043"/>
                </a:solidFill>
                <a:latin typeface="Roboto" pitchFamily="34" charset="0"/>
                <a:ea typeface="Roboto" pitchFamily="34" charset="-122"/>
                <a:cs typeface="Roboto" pitchFamily="34" charset="-120"/>
              </a:rPr>
              <a:t>• Enforce RLS Predicate (0 Foreign Rows)</a:t>
            </a:r>
            <a:endParaRPr lang="en-US" sz="760" dirty="0"/>
          </a:p>
          <a:p>
            <a:pPr indent="0" marL="0">
              <a:buNone/>
            </a:pPr>
            <a:r>
              <a:rPr lang="en-US" sz="760" b="1" dirty="0">
                <a:solidFill>
                  <a:srgbClr val="3C4043"/>
                </a:solidFill>
                <a:latin typeface="Roboto" pitchFamily="34" charset="0"/>
                <a:ea typeface="Roboto" pitchFamily="34" charset="-122"/>
                <a:cs typeface="Roboto" pitchFamily="34" charset="-120"/>
              </a:rPr>
              <a:t>• Stream Zero-PII Span (BigQuery OTel)</a:t>
            </a:r>
            <a:endParaRPr lang="en-US" sz="760" dirty="0"/>
          </a:p>
        </p:txBody>
      </p:sp>
      <p:sp>
        <p:nvSpPr>
          <p:cNvPr id="81" name="Shape 79"/>
          <p:cNvSpPr/>
          <p:nvPr/>
        </p:nvSpPr>
        <p:spPr>
          <a:xfrm>
            <a:off x="11192256" y="5285232"/>
            <a:ext cx="548640" cy="512064"/>
          </a:xfrm>
          <a:prstGeom prst="roundRect">
            <a:avLst>
              <a:gd name="adj" fmla="val 10714"/>
            </a:avLst>
          </a:prstGeom>
          <a:solidFill>
            <a:srgbClr val="0F2942"/>
          </a:solidFill>
          <a:ln/>
        </p:spPr>
      </p:sp>
      <p:sp>
        <p:nvSpPr>
          <p:cNvPr id="82" name="Text 80"/>
          <p:cNvSpPr/>
          <p:nvPr/>
        </p:nvSpPr>
        <p:spPr>
          <a:xfrm>
            <a:off x="11192256" y="5285232"/>
            <a:ext cx="548640" cy="512064"/>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OTel</a:t>
            </a:r>
            <a:endParaRPr lang="en-US" sz="780" dirty="0"/>
          </a:p>
          <a:p>
            <a:pPr algn="ctr" indent="0" marL="0">
              <a:buNone/>
            </a:pPr>
            <a:r>
              <a:rPr lang="en-US" sz="780" b="1" dirty="0">
                <a:solidFill>
                  <a:srgbClr val="FFFFFF"/>
                </a:solidFill>
                <a:latin typeface="Google Sans" pitchFamily="34" charset="0"/>
                <a:ea typeface="Google Sans" pitchFamily="34" charset="-122"/>
                <a:cs typeface="Google Sans" pitchFamily="34" charset="-120"/>
              </a:rPr>
              <a:t>200</a:t>
            </a:r>
            <a:endParaRPr lang="en-US" sz="780" dirty="0"/>
          </a:p>
        </p:txBody>
      </p:sp>
      <p:sp>
        <p:nvSpPr>
          <p:cNvPr id="83" name="Shape 81"/>
          <p:cNvSpPr/>
          <p:nvPr/>
        </p:nvSpPr>
        <p:spPr>
          <a:xfrm>
            <a:off x="438912" y="5303520"/>
            <a:ext cx="6254496" cy="877824"/>
          </a:xfrm>
          <a:prstGeom prst="roundRect">
            <a:avLst>
              <a:gd name="adj" fmla="val 6250"/>
            </a:avLst>
          </a:prstGeom>
          <a:solidFill>
            <a:srgbClr val="FCE8E6"/>
          </a:solidFill>
          <a:ln w="17780">
            <a:solidFill>
              <a:srgbClr val="D93025"/>
            </a:solidFill>
            <a:prstDash val="dash"/>
          </a:ln>
        </p:spPr>
      </p:sp>
      <p:sp>
        <p:nvSpPr>
          <p:cNvPr id="84" name="Shape 82"/>
          <p:cNvSpPr/>
          <p:nvPr/>
        </p:nvSpPr>
        <p:spPr>
          <a:xfrm>
            <a:off x="530352" y="5394960"/>
            <a:ext cx="1426464" cy="219456"/>
          </a:xfrm>
          <a:prstGeom prst="roundRect">
            <a:avLst>
              <a:gd name="adj" fmla="val 16667"/>
            </a:avLst>
          </a:prstGeom>
          <a:solidFill>
            <a:srgbClr val="EA4335"/>
          </a:solidFill>
          <a:ln/>
        </p:spPr>
      </p:sp>
      <p:sp>
        <p:nvSpPr>
          <p:cNvPr id="85" name="Text 83"/>
          <p:cNvSpPr/>
          <p:nvPr/>
        </p:nvSpPr>
        <p:spPr>
          <a:xfrm>
            <a:off x="530352" y="5394960"/>
            <a:ext cx="1426464" cy="219456"/>
          </a:xfrm>
          <a:prstGeom prst="rect">
            <a:avLst/>
          </a:prstGeom>
          <a:noFill/>
          <a:ln/>
        </p:spPr>
        <p:txBody>
          <a:bodyPr wrap="square" rtlCol="0" anchor="ctr"/>
          <a:lstStyle/>
          <a:p>
            <a:pPr algn="ctr" indent="0" marL="0">
              <a:buNone/>
            </a:pPr>
            <a:r>
              <a:rPr lang="en-US" sz="680" b="1" dirty="0">
                <a:solidFill>
                  <a:srgbClr val="FFFFFF"/>
                </a:solidFill>
                <a:latin typeface="Google Sans" pitchFamily="34" charset="0"/>
                <a:ea typeface="Google Sans" pitchFamily="34" charset="-122"/>
                <a:cs typeface="Google Sans" pitchFamily="34" charset="-120"/>
              </a:rPr>
              <a:t>[Alt] FAIL-CLOSED PATHS</a:t>
            </a:r>
            <a:endParaRPr lang="en-US" sz="680" dirty="0"/>
          </a:p>
        </p:txBody>
      </p:sp>
      <p:sp>
        <p:nvSpPr>
          <p:cNvPr id="86" name="Text 84"/>
          <p:cNvSpPr/>
          <p:nvPr/>
        </p:nvSpPr>
        <p:spPr>
          <a:xfrm>
            <a:off x="2029968" y="5394960"/>
            <a:ext cx="4553712" cy="219456"/>
          </a:xfrm>
          <a:prstGeom prst="rect">
            <a:avLst/>
          </a:prstGeom>
          <a:noFill/>
          <a:ln/>
        </p:spPr>
        <p:txBody>
          <a:bodyPr wrap="square" rtlCol="0" anchor="ctr"/>
          <a:lstStyle/>
          <a:p>
            <a:pPr indent="0" marL="0">
              <a:buNone/>
            </a:pPr>
            <a:r>
              <a:rPr lang="en-US" sz="740" b="1" dirty="0">
                <a:solidFill>
                  <a:srgbClr val="A50E0E"/>
                </a:solidFill>
                <a:latin typeface="Google Sans" pitchFamily="34" charset="0"/>
                <a:ea typeface="Google Sans" pitchFamily="34" charset="-122"/>
                <a:cs typeface="Google Sans" pitchFamily="34" charset="-120"/>
              </a:rPr>
              <a:t>Dashed Return → Actor 1 (0 Downstream Exec) | Single-Flight SET NX PX 5000 Recovery</a:t>
            </a:r>
            <a:endParaRPr lang="en-US" sz="740" dirty="0"/>
          </a:p>
        </p:txBody>
      </p:sp>
      <p:sp>
        <p:nvSpPr>
          <p:cNvPr id="87" name="Text 85"/>
          <p:cNvSpPr/>
          <p:nvPr/>
        </p:nvSpPr>
        <p:spPr>
          <a:xfrm>
            <a:off x="530352" y="5632704"/>
            <a:ext cx="6071616" cy="512064"/>
          </a:xfrm>
          <a:prstGeom prst="rect">
            <a:avLst/>
          </a:prstGeom>
          <a:noFill/>
          <a:ln/>
        </p:spPr>
        <p:txBody>
          <a:bodyPr wrap="square" rtlCol="0" anchor="ctr"/>
          <a:lstStyle/>
          <a:p>
            <a:pPr indent="0" marL="0">
              <a:buNone/>
            </a:pPr>
            <a:r>
              <a:rPr lang="en-US" sz="680" dirty="0">
                <a:solidFill>
                  <a:srgbClr val="3C4043"/>
                </a:solidFill>
                <a:latin typeface="Roboto" pitchFamily="34" charset="0"/>
                <a:ea typeface="Roboto" pitchFamily="34" charset="-122"/>
                <a:cs typeface="Roboto" pitchFamily="34" charset="-120"/>
              </a:rPr>
              <a:t>• Hop 1–3 Breakers: Bad OBO/DPoP, ~3ms JTI revoke or ARD probe → HTTP 401/403 | • Rate Cap: &gt;120/600 RPM → HTTP 429 Retry-After jitter &amp; 4k/8k clamp</a:t>
            </a:r>
            <a:endParaRPr lang="en-US" sz="680" dirty="0"/>
          </a:p>
          <a:p>
            <a:pPr indent="0" marL="0">
              <a:buNone/>
            </a:pPr>
            <a:r>
              <a:rPr lang="en-US" sz="680" dirty="0">
                <a:solidFill>
                  <a:srgbClr val="3C4043"/>
                </a:solidFill>
                <a:latin typeface="Roboto" pitchFamily="34" charset="0"/>
                <a:ea typeface="Roboto" pitchFamily="34" charset="-122"/>
                <a:cs typeface="Roboto" pitchFamily="34" charset="-120"/>
              </a:rPr>
              <a:t>• Hop 4–5 &amp; Recovery: NLC (422) or KMS revoke → &lt;60s HTTP 423 + &lt;5s SCAN+UNLINK (cache:{tenant}:*) | • Restore: SET NX PX 5000 AlloyDB RLS re-hydrate</a:t>
            </a:r>
            <a:endParaRPr lang="en-US" sz="680" dirty="0"/>
          </a:p>
        </p:txBody>
      </p:sp>
      <p:sp>
        <p:nvSpPr>
          <p:cNvPr id="88" name="Text 86"/>
          <p:cNvSpPr/>
          <p:nvPr/>
        </p:nvSpPr>
        <p:spPr>
          <a:xfrm>
            <a:off x="365760" y="6601968"/>
            <a:ext cx="11460175" cy="201168"/>
          </a:xfrm>
          <a:prstGeom prst="rect">
            <a:avLst/>
          </a:prstGeom>
          <a:noFill/>
          <a:ln/>
        </p:spPr>
        <p:txBody>
          <a:bodyPr wrap="none" rtlCol="0" anchor="ctr"/>
          <a:lstStyle/>
          <a:p>
            <a:pPr algn="l" indent="0" marL="0">
              <a:buNone/>
            </a:pPr>
            <a:r>
              <a:rPr lang="en-US" sz="74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20" dirty="0">
                <a:solidFill>
                  <a:srgbClr val="5F6368"/>
                </a:solidFill>
                <a:latin typeface="Roboto" pitchFamily="34" charset="0"/>
                <a:ea typeface="Roboto" pitchFamily="34" charset="-122"/>
                <a:cs typeface="Roboto" pitchFamily="34" charset="-120"/>
              </a:rPr>
              <a:t>Workstream 1 L3 Sequence &amp; Circuit Breakers  •  Steps 1–6 (~42ms p95) + [Alt] HTTP 401/403/429/422/423 + &lt;5s SCAN+UNLINK &amp; SET NX PX 5000 Recovery  •  </a:t>
            </a:r>
            <a:pPr algn="l" indent="0" marL="0">
              <a:buNone/>
            </a:pPr>
            <a:r>
              <a:rPr lang="en-US" sz="740" b="1" dirty="0">
                <a:solidFill>
                  <a:srgbClr val="3C4043"/>
                </a:solidFill>
                <a:latin typeface="Google Sans" pitchFamily="34" charset="0"/>
                <a:ea typeface="Google Sans" pitchFamily="34" charset="-122"/>
                <a:cs typeface="Google Sans" pitchFamily="34" charset="-120"/>
              </a:rPr>
              <a:t>Proprietary + Confidential</a:t>
            </a:r>
            <a:endParaRPr lang="en-US" sz="74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WS1</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WS1 • ACT II (L4 WIRE): Hop 1 Spoofed Header Stripping &amp; Signed STS JWT Context</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PAYLOAD-TRANSFORMATION</a:t>
            </a:r>
            <a:endParaRPr lang="en-US" sz="750" dirty="0"/>
          </a:p>
        </p:txBody>
      </p:sp>
      <p:sp>
        <p:nvSpPr>
          <p:cNvPr id="17" name="Text 15"/>
          <p:cNvSpPr/>
          <p:nvPr/>
        </p:nvSpPr>
        <p:spPr>
          <a:xfrm>
            <a:off x="530352" y="603504"/>
            <a:ext cx="11137392" cy="274320"/>
          </a:xfrm>
          <a:prstGeom prst="rect">
            <a:avLst/>
          </a:prstGeom>
          <a:noFill/>
          <a:ln/>
        </p:spPr>
        <p:txBody>
          <a:bodyPr wrap="square" rtlCol="0" anchor="ctr"/>
          <a:lstStyle/>
          <a:p>
            <a:pPr indent="0" marL="0">
              <a:buNone/>
            </a:pPr>
            <a:r>
              <a:rPr lang="en-US" sz="1020" b="1" dirty="0">
                <a:solidFill>
                  <a:srgbClr val="5F6368"/>
                </a:solidFill>
                <a:latin typeface="Roboto" pitchFamily="34" charset="0"/>
                <a:ea typeface="Roboto" pitchFamily="34" charset="-122"/>
                <a:cs typeface="Roboto" pitchFamily="34" charset="-120"/>
              </a:rPr>
              <a:t>Wire-level protocol normalization: an untrusted ingress payload is stripped at Hop 1 and exits as a KMS-signed STS JWT verified locally via cached JWKS in sub-150 microseconds (0 per-hop KMS network calls).</a:t>
            </a:r>
            <a:endParaRPr lang="en-US" sz="1020" dirty="0"/>
          </a:p>
        </p:txBody>
      </p:sp>
      <p:sp>
        <p:nvSpPr>
          <p:cNvPr id="18" name="Shape 16"/>
          <p:cNvSpPr/>
          <p:nvPr/>
        </p:nvSpPr>
        <p:spPr>
          <a:xfrm>
            <a:off x="530352" y="950976"/>
            <a:ext cx="3310128" cy="4956048"/>
          </a:xfrm>
          <a:prstGeom prst="roundRect">
            <a:avLst>
              <a:gd name="adj" fmla="val 2210"/>
            </a:avLst>
          </a:prstGeom>
          <a:solidFill>
            <a:srgbClr val="FFFFFF"/>
          </a:solidFill>
          <a:ln w="22225">
            <a:solidFill>
              <a:srgbClr val="D93025"/>
            </a:solidFill>
            <a:prstDash val="solid"/>
          </a:ln>
        </p:spPr>
      </p:sp>
      <p:sp>
        <p:nvSpPr>
          <p:cNvPr id="19" name="Text 17"/>
          <p:cNvSpPr/>
          <p:nvPr/>
        </p:nvSpPr>
        <p:spPr>
          <a:xfrm>
            <a:off x="713232" y="1133856"/>
            <a:ext cx="2944368" cy="713232"/>
          </a:xfrm>
          <a:prstGeom prst="rect">
            <a:avLst/>
          </a:prstGeom>
          <a:noFill/>
          <a:ln/>
        </p:spPr>
        <p:txBody>
          <a:bodyPr wrap="square" rtlCol="0" anchor="ctr"/>
          <a:lstStyle/>
          <a:p>
            <a:pPr algn="ctr" indent="0" marL="0">
              <a:buNone/>
            </a:pPr>
            <a:r>
              <a:rPr lang="en-US" sz="1600" b="1" dirty="0">
                <a:solidFill>
                  <a:srgbClr val="3C4043"/>
                </a:solidFill>
                <a:latin typeface="Google Sans" pitchFamily="34" charset="0"/>
                <a:ea typeface="Google Sans" pitchFamily="34" charset="-122"/>
                <a:cs typeface="Google Sans" pitchFamily="34" charset="-120"/>
              </a:rPr>
              <a:t>Untrusted Caller</a:t>
            </a:r>
            <a:endParaRPr lang="en-US" sz="1600" dirty="0"/>
          </a:p>
          <a:p>
            <a:pPr algn="ctr" indent="0" marL="0">
              <a:buNone/>
            </a:pPr>
            <a:r>
              <a:rPr lang="en-US" sz="1600" b="1" dirty="0">
                <a:solidFill>
                  <a:srgbClr val="3C4043"/>
                </a:solidFill>
                <a:latin typeface="Google Sans" pitchFamily="34" charset="0"/>
                <a:ea typeface="Google Sans" pitchFamily="34" charset="-122"/>
                <a:cs typeface="Google Sans" pitchFamily="34" charset="-120"/>
              </a:rPr>
              <a:t>Ingress Request</a:t>
            </a:r>
            <a:endParaRPr lang="en-US" sz="1600" dirty="0"/>
          </a:p>
        </p:txBody>
      </p:sp>
      <p:sp>
        <p:nvSpPr>
          <p:cNvPr id="20" name="Shape 18"/>
          <p:cNvSpPr/>
          <p:nvPr/>
        </p:nvSpPr>
        <p:spPr>
          <a:xfrm>
            <a:off x="804672" y="1956816"/>
            <a:ext cx="2761488" cy="0"/>
          </a:xfrm>
          <a:prstGeom prst="line">
            <a:avLst/>
          </a:prstGeom>
          <a:noFill/>
          <a:ln w="19050">
            <a:solidFill>
              <a:srgbClr val="D93025"/>
            </a:solidFill>
            <a:prstDash val="solid"/>
          </a:ln>
        </p:spPr>
      </p:sp>
      <p:sp>
        <p:nvSpPr>
          <p:cNvPr id="21" name="Text 19"/>
          <p:cNvSpPr/>
          <p:nvPr/>
        </p:nvSpPr>
        <p:spPr>
          <a:xfrm>
            <a:off x="804672" y="2103120"/>
            <a:ext cx="457200" cy="274320"/>
          </a:xfrm>
          <a:prstGeom prst="rect">
            <a:avLst/>
          </a:prstGeom>
          <a:noFill/>
          <a:ln/>
        </p:spPr>
        <p:txBody>
          <a:bodyPr wrap="square" rtlCol="0" anchor="ctr"/>
          <a:lstStyle/>
          <a:p>
            <a:pPr indent="0" marL="0">
              <a:buNone/>
            </a:pPr>
            <a:r>
              <a:rPr lang="en-US" sz="1300" b="1" dirty="0">
                <a:solidFill>
                  <a:srgbClr val="3C4043"/>
                </a:solidFill>
                <a:latin typeface="Courier New" pitchFamily="34" charset="0"/>
                <a:ea typeface="Courier New" pitchFamily="34" charset="-122"/>
                <a:cs typeface="Courier New" pitchFamily="34" charset="-120"/>
              </a:rPr>
              <a:t>{</a:t>
            </a:r>
            <a:endParaRPr lang="en-US" sz="1300" dirty="0"/>
          </a:p>
        </p:txBody>
      </p:sp>
      <p:sp>
        <p:nvSpPr>
          <p:cNvPr id="22" name="Shape 20"/>
          <p:cNvSpPr/>
          <p:nvPr/>
        </p:nvSpPr>
        <p:spPr>
          <a:xfrm>
            <a:off x="932688" y="2432304"/>
            <a:ext cx="2615184" cy="384048"/>
          </a:xfrm>
          <a:prstGeom prst="roundRect">
            <a:avLst>
              <a:gd name="adj" fmla="val 9524"/>
            </a:avLst>
          </a:prstGeom>
          <a:solidFill>
            <a:srgbClr val="D2E3FC"/>
          </a:solidFill>
          <a:ln/>
        </p:spPr>
      </p:sp>
      <p:sp>
        <p:nvSpPr>
          <p:cNvPr id="23" name="Text 21"/>
          <p:cNvSpPr/>
          <p:nvPr/>
        </p:nvSpPr>
        <p:spPr>
          <a:xfrm>
            <a:off x="987552" y="2432304"/>
            <a:ext cx="2505456" cy="384048"/>
          </a:xfrm>
          <a:prstGeom prst="rect">
            <a:avLst/>
          </a:prstGeom>
          <a:noFill/>
          <a:ln/>
        </p:spPr>
        <p:txBody>
          <a:bodyPr wrap="square" rtlCol="0" anchor="ctr"/>
          <a:lstStyle/>
          <a:p>
            <a:pPr indent="0" marL="0">
              <a:buNone/>
            </a:pPr>
            <a:r>
              <a:rPr lang="en-US" sz="1040" b="1" dirty="0">
                <a:solidFill>
                  <a:srgbClr val="3C4043"/>
                </a:solidFill>
                <a:latin typeface="Courier New" pitchFamily="34" charset="0"/>
                <a:ea typeface="Courier New" pitchFamily="34" charset="-122"/>
                <a:cs typeface="Courier New" pitchFamily="34" charset="-120"/>
              </a:rPr>
              <a:t>"Authorization": "Bearer &lt;jwt&gt;"</a:t>
            </a:r>
            <a:endParaRPr lang="en-US" sz="1040" dirty="0"/>
          </a:p>
        </p:txBody>
      </p:sp>
      <p:sp>
        <p:nvSpPr>
          <p:cNvPr id="24" name="Text 22"/>
          <p:cNvSpPr/>
          <p:nvPr/>
        </p:nvSpPr>
        <p:spPr>
          <a:xfrm>
            <a:off x="932688" y="2889504"/>
            <a:ext cx="2560320" cy="292608"/>
          </a:xfrm>
          <a:prstGeom prst="rect">
            <a:avLst/>
          </a:prstGeom>
          <a:noFill/>
          <a:ln/>
        </p:spPr>
        <p:txBody>
          <a:bodyPr wrap="square" rtlCol="0" anchor="ctr"/>
          <a:lstStyle/>
          <a:p>
            <a:pPr indent="0" marL="0">
              <a:buNone/>
            </a:pPr>
            <a:r>
              <a:rPr lang="en-US" sz="1100" dirty="0">
                <a:solidFill>
                  <a:srgbClr val="3C4043"/>
                </a:solidFill>
                <a:latin typeface="Courier New" pitchFamily="34" charset="0"/>
                <a:ea typeface="Courier New" pitchFamily="34" charset="-122"/>
                <a:cs typeface="Courier New" pitchFamily="34" charset="-120"/>
              </a:rPr>
              <a:t>"client_headers" : [</a:t>
            </a:r>
            <a:endParaRPr lang="en-US" sz="1100" dirty="0"/>
          </a:p>
        </p:txBody>
      </p:sp>
      <p:sp>
        <p:nvSpPr>
          <p:cNvPr id="25" name="Shape 23"/>
          <p:cNvSpPr/>
          <p:nvPr/>
        </p:nvSpPr>
        <p:spPr>
          <a:xfrm>
            <a:off x="932688" y="3236976"/>
            <a:ext cx="2615184" cy="384048"/>
          </a:xfrm>
          <a:prstGeom prst="roundRect">
            <a:avLst>
              <a:gd name="adj" fmla="val 9524"/>
            </a:avLst>
          </a:prstGeom>
          <a:solidFill>
            <a:srgbClr val="FAD2CF"/>
          </a:solidFill>
          <a:ln/>
        </p:spPr>
      </p:sp>
      <p:sp>
        <p:nvSpPr>
          <p:cNvPr id="26" name="Text 24"/>
          <p:cNvSpPr/>
          <p:nvPr/>
        </p:nvSpPr>
        <p:spPr>
          <a:xfrm>
            <a:off x="987552" y="3236976"/>
            <a:ext cx="2505456" cy="384048"/>
          </a:xfrm>
          <a:prstGeom prst="rect">
            <a:avLst/>
          </a:prstGeom>
          <a:noFill/>
          <a:ln/>
        </p:spPr>
        <p:txBody>
          <a:bodyPr wrap="square" rtlCol="0" anchor="ctr"/>
          <a:lstStyle/>
          <a:p>
            <a:pPr indent="0" marL="0">
              <a:buNone/>
            </a:pPr>
            <a:r>
              <a:rPr lang="en-US" sz="1020" b="1" dirty="0">
                <a:solidFill>
                  <a:srgbClr val="3C4043"/>
                </a:solidFill>
                <a:latin typeface="Courier New" pitchFamily="34" charset="0"/>
                <a:ea typeface="Courier New" pitchFamily="34" charset="-122"/>
                <a:cs typeface="Courier New" pitchFamily="34" charset="-120"/>
              </a:rPr>
              <a:t>"X-Tenant-Id: finvault" ,</a:t>
            </a:r>
            <a:endParaRPr lang="en-US" sz="1020" dirty="0"/>
          </a:p>
        </p:txBody>
      </p:sp>
      <p:sp>
        <p:nvSpPr>
          <p:cNvPr id="27" name="Text 25"/>
          <p:cNvSpPr/>
          <p:nvPr/>
        </p:nvSpPr>
        <p:spPr>
          <a:xfrm>
            <a:off x="932688" y="3675888"/>
            <a:ext cx="2560320" cy="512064"/>
          </a:xfrm>
          <a:prstGeom prst="rect">
            <a:avLst/>
          </a:prstGeom>
          <a:noFill/>
          <a:ln/>
        </p:spPr>
        <p:txBody>
          <a:bodyPr wrap="square" rtlCol="0" anchor="ctr"/>
          <a:lstStyle/>
          <a:p>
            <a:pPr indent="0" marL="0">
              <a:buNone/>
            </a:pPr>
            <a:r>
              <a:rPr lang="en-US" sz="1100" dirty="0">
                <a:solidFill>
                  <a:srgbClr val="3C404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3C4043"/>
                </a:solidFill>
                <a:latin typeface="Courier New" pitchFamily="34" charset="0"/>
                <a:ea typeface="Courier New" pitchFamily="34" charset="-122"/>
                <a:cs typeface="Courier New" pitchFamily="34" charset="-120"/>
              </a:rPr>
              <a:t>"override_attempt" : [</a:t>
            </a:r>
            <a:endParaRPr lang="en-US" sz="1100" dirty="0"/>
          </a:p>
        </p:txBody>
      </p:sp>
      <p:sp>
        <p:nvSpPr>
          <p:cNvPr id="28" name="Shape 26"/>
          <p:cNvSpPr/>
          <p:nvPr/>
        </p:nvSpPr>
        <p:spPr>
          <a:xfrm>
            <a:off x="932688" y="4261104"/>
            <a:ext cx="2615184" cy="384048"/>
          </a:xfrm>
          <a:prstGeom prst="roundRect">
            <a:avLst>
              <a:gd name="adj" fmla="val 9524"/>
            </a:avLst>
          </a:prstGeom>
          <a:solidFill>
            <a:srgbClr val="EA4335"/>
          </a:solidFill>
          <a:ln/>
        </p:spPr>
      </p:sp>
      <p:sp>
        <p:nvSpPr>
          <p:cNvPr id="29" name="Text 27"/>
          <p:cNvSpPr/>
          <p:nvPr/>
        </p:nvSpPr>
        <p:spPr>
          <a:xfrm>
            <a:off x="987552" y="4261104"/>
            <a:ext cx="2505456" cy="384048"/>
          </a:xfrm>
          <a:prstGeom prst="rect">
            <a:avLst/>
          </a:prstGeom>
          <a:noFill/>
          <a:ln/>
        </p:spPr>
        <p:txBody>
          <a:bodyPr wrap="square" rtlCol="0" anchor="ctr"/>
          <a:lstStyle/>
          <a:p>
            <a:pPr indent="0" marL="0">
              <a:buNone/>
            </a:pPr>
            <a:r>
              <a:rPr lang="en-US" sz="1020" b="1" dirty="0">
                <a:solidFill>
                  <a:srgbClr val="FFFFFF"/>
                </a:solidFill>
                <a:latin typeface="Courier New" pitchFamily="34" charset="0"/>
                <a:ea typeface="Courier New" pitchFamily="34" charset="-122"/>
                <a:cs typeface="Courier New" pitchFamily="34" charset="-120"/>
              </a:rPr>
              <a:t>&lt;spoofed tenant header&gt;</a:t>
            </a:r>
            <a:endParaRPr lang="en-US" sz="1020" dirty="0"/>
          </a:p>
        </p:txBody>
      </p:sp>
      <p:sp>
        <p:nvSpPr>
          <p:cNvPr id="30" name="Text 28"/>
          <p:cNvSpPr/>
          <p:nvPr/>
        </p:nvSpPr>
        <p:spPr>
          <a:xfrm>
            <a:off x="804672" y="4718304"/>
            <a:ext cx="1371600" cy="585216"/>
          </a:xfrm>
          <a:prstGeom prst="rect">
            <a:avLst/>
          </a:prstGeom>
          <a:noFill/>
          <a:ln/>
        </p:spPr>
        <p:txBody>
          <a:bodyPr wrap="square" rtlCol="0" anchor="ctr"/>
          <a:lstStyle/>
          <a:p>
            <a:pPr indent="0" marL="0">
              <a:buNone/>
            </a:pPr>
            <a:r>
              <a:rPr lang="en-US" sz="1200" b="1" dirty="0">
                <a:solidFill>
                  <a:srgbClr val="3C4043"/>
                </a:solidFill>
                <a:latin typeface="Courier New" pitchFamily="34" charset="0"/>
                <a:ea typeface="Courier New" pitchFamily="34" charset="-122"/>
                <a:cs typeface="Courier New" pitchFamily="34" charset="-120"/>
              </a:rPr>
              <a:t>]</a:t>
            </a:r>
            <a:endParaRPr lang="en-US" sz="1200" dirty="0"/>
          </a:p>
          <a:p>
            <a:pPr indent="0" marL="0">
              <a:buNone/>
            </a:pPr>
            <a:r>
              <a:rPr lang="en-US" sz="1200" b="1" dirty="0">
                <a:solidFill>
                  <a:srgbClr val="3C4043"/>
                </a:solidFill>
                <a:latin typeface="Courier New" pitchFamily="34" charset="0"/>
                <a:ea typeface="Courier New" pitchFamily="34" charset="-122"/>
                <a:cs typeface="Courier New" pitchFamily="34" charset="-120"/>
              </a:rPr>
              <a:t>}</a:t>
            </a:r>
            <a:endParaRPr lang="en-US" sz="1200" dirty="0"/>
          </a:p>
        </p:txBody>
      </p:sp>
      <p:sp>
        <p:nvSpPr>
          <p:cNvPr id="31" name="Shape 29"/>
          <p:cNvSpPr/>
          <p:nvPr/>
        </p:nvSpPr>
        <p:spPr>
          <a:xfrm>
            <a:off x="804672" y="5394960"/>
            <a:ext cx="2761488" cy="347472"/>
          </a:xfrm>
          <a:prstGeom prst="roundRect">
            <a:avLst>
              <a:gd name="adj" fmla="val 13158"/>
            </a:avLst>
          </a:prstGeom>
          <a:solidFill>
            <a:srgbClr val="FCE8E6"/>
          </a:solidFill>
          <a:ln w="10160">
            <a:solidFill>
              <a:srgbClr val="D93025"/>
            </a:solidFill>
            <a:prstDash val="solid"/>
          </a:ln>
        </p:spPr>
      </p:sp>
      <p:sp>
        <p:nvSpPr>
          <p:cNvPr id="32" name="Text 30"/>
          <p:cNvSpPr/>
          <p:nvPr/>
        </p:nvSpPr>
        <p:spPr>
          <a:xfrm>
            <a:off x="859536" y="5394960"/>
            <a:ext cx="2651760" cy="347472"/>
          </a:xfrm>
          <a:prstGeom prst="rect">
            <a:avLst/>
          </a:prstGeom>
          <a:noFill/>
          <a:ln/>
        </p:spPr>
        <p:txBody>
          <a:bodyPr wrap="square" rtlCol="0" anchor="ctr"/>
          <a:lstStyle/>
          <a:p>
            <a:pPr algn="ctr" indent="0" marL="0">
              <a:buNone/>
            </a:pPr>
            <a:r>
              <a:rPr lang="en-US" sz="860" b="1" dirty="0">
                <a:solidFill>
                  <a:srgbClr val="A50E0E"/>
                </a:solidFill>
                <a:latin typeface="Google Sans" pitchFamily="34" charset="0"/>
                <a:ea typeface="Google Sans" pitchFamily="34" charset="-122"/>
                <a:cs typeface="Google Sans" pitchFamily="34" charset="-120"/>
              </a:rPr>
              <a:t>✕ Unverified Client Claims • Blocked at Edge</a:t>
            </a:r>
            <a:endParaRPr lang="en-US" sz="860" dirty="0"/>
          </a:p>
        </p:txBody>
      </p:sp>
      <p:sp>
        <p:nvSpPr>
          <p:cNvPr id="33" name="Shape 31"/>
          <p:cNvSpPr/>
          <p:nvPr/>
        </p:nvSpPr>
        <p:spPr>
          <a:xfrm>
            <a:off x="3968496" y="3419856"/>
            <a:ext cx="548640" cy="0"/>
          </a:xfrm>
          <a:prstGeom prst="line">
            <a:avLst/>
          </a:prstGeom>
          <a:noFill/>
          <a:ln w="28575">
            <a:solidFill>
              <a:srgbClr val="EA4335"/>
            </a:solidFill>
            <a:prstDash val="solid"/>
            <a:tailEnd type="triangle" w="sm" len="sm"/>
          </a:ln>
        </p:spPr>
      </p:sp>
      <p:sp>
        <p:nvSpPr>
          <p:cNvPr id="34" name="Shape 32"/>
          <p:cNvSpPr/>
          <p:nvPr/>
        </p:nvSpPr>
        <p:spPr>
          <a:xfrm>
            <a:off x="4645152" y="950976"/>
            <a:ext cx="3182112" cy="4956048"/>
          </a:xfrm>
          <a:prstGeom prst="roundRect">
            <a:avLst>
              <a:gd name="adj" fmla="val 2299"/>
            </a:avLst>
          </a:prstGeom>
          <a:solidFill>
            <a:srgbClr val="1B5E7B"/>
          </a:solidFill>
          <a:ln w="19050">
            <a:solidFill>
              <a:srgbClr val="0D7A75"/>
            </a:solidFill>
            <a:prstDash val="solid"/>
          </a:ln>
        </p:spPr>
      </p:sp>
      <p:sp>
        <p:nvSpPr>
          <p:cNvPr id="35" name="Text 33"/>
          <p:cNvSpPr/>
          <p:nvPr/>
        </p:nvSpPr>
        <p:spPr>
          <a:xfrm>
            <a:off x="4773168" y="1133856"/>
            <a:ext cx="2926080" cy="713232"/>
          </a:xfrm>
          <a:prstGeom prst="rect">
            <a:avLst/>
          </a:prstGeom>
          <a:noFill/>
          <a:ln/>
        </p:spPr>
        <p:txBody>
          <a:bodyPr wrap="square" rtlCol="0" anchor="ctr"/>
          <a:lstStyle/>
          <a:p>
            <a:pPr algn="ctr" indent="0" marL="0">
              <a:buNone/>
            </a:pPr>
            <a:r>
              <a:rPr lang="en-US" sz="1600" b="1" dirty="0">
                <a:solidFill>
                  <a:srgbClr val="FFFFFF"/>
                </a:solidFill>
                <a:latin typeface="Google Sans" pitchFamily="34" charset="0"/>
                <a:ea typeface="Google Sans" pitchFamily="34" charset="-122"/>
                <a:cs typeface="Google Sans" pitchFamily="34" charset="-120"/>
              </a:rPr>
              <a:t>Hop 1 IAM STS &amp;</a:t>
            </a:r>
            <a:endParaRPr lang="en-US" sz="1600" dirty="0"/>
          </a:p>
          <a:p>
            <a:pPr algn="ctr" indent="0" marL="0">
              <a:buNone/>
            </a:pPr>
            <a:r>
              <a:rPr lang="en-US" sz="1600" b="1" dirty="0">
                <a:solidFill>
                  <a:srgbClr val="FFFFFF"/>
                </a:solidFill>
                <a:latin typeface="Google Sans" pitchFamily="34" charset="0"/>
                <a:ea typeface="Google Sans" pitchFamily="34" charset="-122"/>
                <a:cs typeface="Google Sans" pitchFamily="34" charset="-120"/>
              </a:rPr>
              <a:t>DPoP Security Gate</a:t>
            </a:r>
            <a:endParaRPr lang="en-US" sz="1600" dirty="0"/>
          </a:p>
        </p:txBody>
      </p:sp>
      <p:sp>
        <p:nvSpPr>
          <p:cNvPr id="36" name="Shape 34"/>
          <p:cNvSpPr/>
          <p:nvPr/>
        </p:nvSpPr>
        <p:spPr>
          <a:xfrm>
            <a:off x="4882896" y="2029968"/>
            <a:ext cx="2706624" cy="3493008"/>
          </a:xfrm>
          <a:prstGeom prst="roundRect">
            <a:avLst>
              <a:gd name="adj" fmla="val 2027"/>
            </a:avLst>
          </a:prstGeom>
          <a:solidFill>
            <a:srgbClr val="367591"/>
          </a:solidFill>
          <a:ln/>
        </p:spPr>
      </p:sp>
      <p:sp>
        <p:nvSpPr>
          <p:cNvPr id="37" name="Shape 35"/>
          <p:cNvSpPr/>
          <p:nvPr/>
        </p:nvSpPr>
        <p:spPr>
          <a:xfrm>
            <a:off x="5010912" y="2249424"/>
            <a:ext cx="2450592" cy="786384"/>
          </a:xfrm>
          <a:prstGeom prst="roundRect">
            <a:avLst>
              <a:gd name="adj" fmla="val 5814"/>
            </a:avLst>
          </a:prstGeom>
          <a:solidFill>
            <a:srgbClr val="0B2545"/>
          </a:solidFill>
          <a:ln w="9525">
            <a:solidFill>
              <a:srgbClr val="FFFFFF"/>
            </a:solidFill>
            <a:prstDash val="solid"/>
          </a:ln>
        </p:spPr>
      </p:sp>
      <p:sp>
        <p:nvSpPr>
          <p:cNvPr id="38" name="Text 36"/>
          <p:cNvSpPr/>
          <p:nvPr/>
        </p:nvSpPr>
        <p:spPr>
          <a:xfrm>
            <a:off x="5065776" y="2286000"/>
            <a:ext cx="2340864" cy="713232"/>
          </a:xfrm>
          <a:prstGeom prst="rect">
            <a:avLst/>
          </a:prstGeom>
          <a:noFill/>
          <a:ln/>
        </p:spPr>
        <p:txBody>
          <a:bodyPr wrap="square" rtlCol="0" anchor="ctr"/>
          <a:lstStyle/>
          <a:p>
            <a:pPr algn="ctr" indent="0" marL="0">
              <a:buNone/>
            </a:pPr>
            <a:r>
              <a:rPr lang="en-US" sz="1120" b="1" dirty="0">
                <a:solidFill>
                  <a:srgbClr val="FFFFFF"/>
                </a:solidFill>
                <a:latin typeface="Google Sans" pitchFamily="34" charset="0"/>
                <a:ea typeface="Google Sans" pitchFamily="34" charset="-122"/>
                <a:cs typeface="Google Sans" pitchFamily="34" charset="-120"/>
              </a:rPr>
              <a:t>STAGE 01</a:t>
            </a:r>
            <a:endParaRPr lang="en-US" sz="1120" dirty="0"/>
          </a:p>
          <a:p>
            <a:pPr algn="ctr" indent="0" marL="0">
              <a:buNone/>
            </a:pPr>
            <a:r>
              <a:rPr lang="en-US" sz="1120" b="1" dirty="0">
                <a:solidFill>
                  <a:srgbClr val="FFFFFF"/>
                </a:solidFill>
                <a:latin typeface="Google Sans" pitchFamily="34" charset="0"/>
                <a:ea typeface="Google Sans" pitchFamily="34" charset="-122"/>
                <a:cs typeface="Google Sans" pitchFamily="34" charset="-120"/>
              </a:rPr>
              <a:t>Cloud Armor Header Strip</a:t>
            </a:r>
            <a:endParaRPr lang="en-US" sz="1120" dirty="0"/>
          </a:p>
        </p:txBody>
      </p:sp>
      <p:sp>
        <p:nvSpPr>
          <p:cNvPr id="39" name="Shape 37"/>
          <p:cNvSpPr/>
          <p:nvPr/>
        </p:nvSpPr>
        <p:spPr>
          <a:xfrm>
            <a:off x="5010912" y="3310128"/>
            <a:ext cx="2450592" cy="786384"/>
          </a:xfrm>
          <a:prstGeom prst="roundRect">
            <a:avLst>
              <a:gd name="adj" fmla="val 5814"/>
            </a:avLst>
          </a:prstGeom>
          <a:solidFill>
            <a:srgbClr val="0B2545"/>
          </a:solidFill>
          <a:ln w="9525">
            <a:solidFill>
              <a:srgbClr val="FFFFFF"/>
            </a:solidFill>
            <a:prstDash val="solid"/>
          </a:ln>
        </p:spPr>
      </p:sp>
      <p:sp>
        <p:nvSpPr>
          <p:cNvPr id="40" name="Text 38"/>
          <p:cNvSpPr/>
          <p:nvPr/>
        </p:nvSpPr>
        <p:spPr>
          <a:xfrm>
            <a:off x="5065776" y="3346704"/>
            <a:ext cx="2340864" cy="713232"/>
          </a:xfrm>
          <a:prstGeom prst="rect">
            <a:avLst/>
          </a:prstGeom>
          <a:noFill/>
          <a:ln/>
        </p:spPr>
        <p:txBody>
          <a:bodyPr wrap="square" rtlCol="0" anchor="ctr"/>
          <a:lstStyle/>
          <a:p>
            <a:pPr algn="ctr" indent="0" marL="0">
              <a:buNone/>
            </a:pPr>
            <a:r>
              <a:rPr lang="en-US" sz="1120" b="1" dirty="0">
                <a:solidFill>
                  <a:srgbClr val="FFFFFF"/>
                </a:solidFill>
                <a:latin typeface="Google Sans" pitchFamily="34" charset="0"/>
                <a:ea typeface="Google Sans" pitchFamily="34" charset="-122"/>
                <a:cs typeface="Google Sans" pitchFamily="34" charset="-120"/>
              </a:rPr>
              <a:t>STAGE 02</a:t>
            </a:r>
            <a:endParaRPr lang="en-US" sz="1120" dirty="0"/>
          </a:p>
          <a:p>
            <a:pPr algn="ctr" indent="0" marL="0">
              <a:buNone/>
            </a:pPr>
            <a:r>
              <a:rPr lang="en-US" sz="1120" b="1" dirty="0">
                <a:solidFill>
                  <a:srgbClr val="FFFFFF"/>
                </a:solidFill>
                <a:latin typeface="Google Sans" pitchFamily="34" charset="0"/>
                <a:ea typeface="Google Sans" pitchFamily="34" charset="-122"/>
                <a:cs typeface="Google Sans" pitchFamily="34" charset="-120"/>
              </a:rPr>
              <a:t>RFC 8693 OBO + DPoP JKT</a:t>
            </a:r>
            <a:endParaRPr lang="en-US" sz="1120" dirty="0"/>
          </a:p>
        </p:txBody>
      </p:sp>
      <p:sp>
        <p:nvSpPr>
          <p:cNvPr id="41" name="Shape 39"/>
          <p:cNvSpPr/>
          <p:nvPr/>
        </p:nvSpPr>
        <p:spPr>
          <a:xfrm>
            <a:off x="5010912" y="4370832"/>
            <a:ext cx="2450592" cy="786384"/>
          </a:xfrm>
          <a:prstGeom prst="roundRect">
            <a:avLst>
              <a:gd name="adj" fmla="val 5814"/>
            </a:avLst>
          </a:prstGeom>
          <a:solidFill>
            <a:srgbClr val="0B2545"/>
          </a:solidFill>
          <a:ln w="9525">
            <a:solidFill>
              <a:srgbClr val="FFFFFF"/>
            </a:solidFill>
            <a:prstDash val="solid"/>
          </a:ln>
        </p:spPr>
      </p:sp>
      <p:sp>
        <p:nvSpPr>
          <p:cNvPr id="42" name="Text 40"/>
          <p:cNvSpPr/>
          <p:nvPr/>
        </p:nvSpPr>
        <p:spPr>
          <a:xfrm>
            <a:off x="5065776" y="4407408"/>
            <a:ext cx="2340864" cy="713232"/>
          </a:xfrm>
          <a:prstGeom prst="rect">
            <a:avLst/>
          </a:prstGeom>
          <a:noFill/>
          <a:ln/>
        </p:spPr>
        <p:txBody>
          <a:bodyPr wrap="square" rtlCol="0" anchor="ctr"/>
          <a:lstStyle/>
          <a:p>
            <a:pPr algn="ctr" indent="0" marL="0">
              <a:buNone/>
            </a:pPr>
            <a:r>
              <a:rPr lang="en-US" sz="1120" b="1" dirty="0">
                <a:solidFill>
                  <a:srgbClr val="FFFFFF"/>
                </a:solidFill>
                <a:latin typeface="Google Sans" pitchFamily="34" charset="0"/>
                <a:ea typeface="Google Sans" pitchFamily="34" charset="-122"/>
                <a:cs typeface="Google Sans" pitchFamily="34" charset="-120"/>
              </a:rPr>
              <a:t>STAGE 03</a:t>
            </a:r>
            <a:endParaRPr lang="en-US" sz="1120" dirty="0"/>
          </a:p>
          <a:p>
            <a:pPr algn="ctr" indent="0" marL="0">
              <a:buNone/>
            </a:pPr>
            <a:r>
              <a:rPr lang="en-US" sz="1120" b="1" dirty="0">
                <a:solidFill>
                  <a:srgbClr val="FFFFFF"/>
                </a:solidFill>
                <a:latin typeface="Google Sans" pitchFamily="34" charset="0"/>
                <a:ea typeface="Google Sans" pitchFamily="34" charset="-122"/>
                <a:cs typeface="Google Sans" pitchFamily="34" charset="-120"/>
              </a:rPr>
              <a:t>KMS P-256 Sign (Cached JWKS)</a:t>
            </a:r>
            <a:endParaRPr lang="en-US" sz="1120" dirty="0"/>
          </a:p>
        </p:txBody>
      </p:sp>
      <p:sp>
        <p:nvSpPr>
          <p:cNvPr id="43" name="Shape 41"/>
          <p:cNvSpPr/>
          <p:nvPr/>
        </p:nvSpPr>
        <p:spPr>
          <a:xfrm>
            <a:off x="7955280" y="3419856"/>
            <a:ext cx="548640" cy="0"/>
          </a:xfrm>
          <a:prstGeom prst="line">
            <a:avLst/>
          </a:prstGeom>
          <a:noFill/>
          <a:ln w="28575">
            <a:solidFill>
              <a:srgbClr val="1B5E7B"/>
            </a:solidFill>
            <a:prstDash val="solid"/>
            <a:tailEnd type="triangle" w="sm" len="sm"/>
          </a:ln>
        </p:spPr>
      </p:sp>
      <p:sp>
        <p:nvSpPr>
          <p:cNvPr id="44" name="Shape 42"/>
          <p:cNvSpPr/>
          <p:nvPr/>
        </p:nvSpPr>
        <p:spPr>
          <a:xfrm>
            <a:off x="8631936" y="950976"/>
            <a:ext cx="3035808" cy="4956048"/>
          </a:xfrm>
          <a:prstGeom prst="roundRect">
            <a:avLst>
              <a:gd name="adj" fmla="val 2410"/>
            </a:avLst>
          </a:prstGeom>
          <a:solidFill>
            <a:srgbClr val="FFFFFF"/>
          </a:solidFill>
          <a:ln w="22225">
            <a:solidFill>
              <a:srgbClr val="1E8E3E"/>
            </a:solidFill>
            <a:prstDash val="solid"/>
          </a:ln>
        </p:spPr>
      </p:sp>
      <p:sp>
        <p:nvSpPr>
          <p:cNvPr id="45" name="Text 43"/>
          <p:cNvSpPr/>
          <p:nvPr/>
        </p:nvSpPr>
        <p:spPr>
          <a:xfrm>
            <a:off x="8759952" y="1133856"/>
            <a:ext cx="2779776" cy="713232"/>
          </a:xfrm>
          <a:prstGeom prst="rect">
            <a:avLst/>
          </a:prstGeom>
          <a:noFill/>
          <a:ln/>
        </p:spPr>
        <p:txBody>
          <a:bodyPr wrap="square" rtlCol="0" anchor="ctr"/>
          <a:lstStyle/>
          <a:p>
            <a:pPr algn="ctr" indent="0" marL="0">
              <a:buNone/>
            </a:pPr>
            <a:r>
              <a:rPr lang="en-US" sz="1600" b="1" dirty="0">
                <a:solidFill>
                  <a:srgbClr val="3C4043"/>
                </a:solidFill>
                <a:latin typeface="Google Sans" pitchFamily="34" charset="0"/>
                <a:ea typeface="Google Sans" pitchFamily="34" charset="-122"/>
                <a:cs typeface="Google Sans" pitchFamily="34" charset="-120"/>
              </a:rPr>
              <a:t>Signed STS JWT</a:t>
            </a:r>
            <a:endParaRPr lang="en-US" sz="1600" dirty="0"/>
          </a:p>
          <a:p>
            <a:pPr algn="ctr" indent="0" marL="0">
              <a:buNone/>
            </a:pPr>
            <a:r>
              <a:rPr lang="en-US" sz="1600" b="1" dirty="0">
                <a:solidFill>
                  <a:srgbClr val="3C4043"/>
                </a:solidFill>
                <a:latin typeface="Google Sans" pitchFamily="34" charset="0"/>
                <a:ea typeface="Google Sans" pitchFamily="34" charset="-122"/>
                <a:cs typeface="Google Sans" pitchFamily="34" charset="-120"/>
              </a:rPr>
              <a:t>TenantContext</a:t>
            </a:r>
            <a:endParaRPr lang="en-US" sz="1600" dirty="0"/>
          </a:p>
        </p:txBody>
      </p:sp>
      <p:sp>
        <p:nvSpPr>
          <p:cNvPr id="46" name="Shape 44"/>
          <p:cNvSpPr/>
          <p:nvPr/>
        </p:nvSpPr>
        <p:spPr>
          <a:xfrm>
            <a:off x="8887968" y="1956816"/>
            <a:ext cx="2523744" cy="0"/>
          </a:xfrm>
          <a:prstGeom prst="line">
            <a:avLst/>
          </a:prstGeom>
          <a:noFill/>
          <a:ln w="19050">
            <a:solidFill>
              <a:srgbClr val="1E8E3E"/>
            </a:solidFill>
            <a:prstDash val="solid"/>
          </a:ln>
        </p:spPr>
      </p:sp>
      <p:sp>
        <p:nvSpPr>
          <p:cNvPr id="47" name="Text 45"/>
          <p:cNvSpPr/>
          <p:nvPr/>
        </p:nvSpPr>
        <p:spPr>
          <a:xfrm>
            <a:off x="8814816" y="2066544"/>
            <a:ext cx="457200" cy="237744"/>
          </a:xfrm>
          <a:prstGeom prst="rect">
            <a:avLst/>
          </a:prstGeom>
          <a:noFill/>
          <a:ln/>
        </p:spPr>
        <p:txBody>
          <a:bodyPr wrap="square" rtlCol="0" anchor="ctr"/>
          <a:lstStyle/>
          <a:p>
            <a:pPr indent="0" marL="0">
              <a:buNone/>
            </a:pPr>
            <a:r>
              <a:rPr lang="en-US" sz="1250" b="1" dirty="0">
                <a:solidFill>
                  <a:srgbClr val="3C4043"/>
                </a:solidFill>
                <a:latin typeface="Courier New" pitchFamily="34" charset="0"/>
                <a:ea typeface="Courier New" pitchFamily="34" charset="-122"/>
                <a:cs typeface="Courier New" pitchFamily="34" charset="-120"/>
              </a:rPr>
              <a:t>{</a:t>
            </a:r>
            <a:endParaRPr lang="en-US" sz="1250" dirty="0"/>
          </a:p>
        </p:txBody>
      </p:sp>
      <p:sp>
        <p:nvSpPr>
          <p:cNvPr id="48" name="Shape 46"/>
          <p:cNvSpPr/>
          <p:nvPr/>
        </p:nvSpPr>
        <p:spPr>
          <a:xfrm>
            <a:off x="8851392" y="2322576"/>
            <a:ext cx="2615184" cy="365760"/>
          </a:xfrm>
          <a:prstGeom prst="roundRect">
            <a:avLst>
              <a:gd name="adj" fmla="val 10000"/>
            </a:avLst>
          </a:prstGeom>
          <a:solidFill>
            <a:srgbClr val="E6F4EA"/>
          </a:solidFill>
          <a:ln w="7620">
            <a:solidFill>
              <a:srgbClr val="1E8E3E"/>
            </a:solidFill>
            <a:prstDash val="solid"/>
          </a:ln>
        </p:spPr>
      </p:sp>
      <p:sp>
        <p:nvSpPr>
          <p:cNvPr id="49" name="Text 47"/>
          <p:cNvSpPr/>
          <p:nvPr/>
        </p:nvSpPr>
        <p:spPr>
          <a:xfrm>
            <a:off x="8924544" y="2322576"/>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"tenant_id": "retailstream",</a:t>
            </a:r>
            <a:endParaRPr lang="en-US" sz="960" dirty="0"/>
          </a:p>
        </p:txBody>
      </p:sp>
      <p:sp>
        <p:nvSpPr>
          <p:cNvPr id="50" name="Text 48"/>
          <p:cNvSpPr/>
          <p:nvPr/>
        </p:nvSpPr>
        <p:spPr>
          <a:xfrm>
            <a:off x="8924544" y="2761488"/>
            <a:ext cx="2487168" cy="365760"/>
          </a:xfrm>
          <a:prstGeom prst="rect">
            <a:avLst/>
          </a:prstGeom>
          <a:noFill/>
          <a:ln/>
        </p:spPr>
        <p:txBody>
          <a:bodyPr wrap="square" rtlCol="0" anchor="ctr"/>
          <a:lstStyle/>
          <a:p>
            <a:pPr indent="0" marL="0">
              <a:buNone/>
            </a:pPr>
            <a:r>
              <a:rPr lang="en-US" sz="960" dirty="0">
                <a:solidFill>
                  <a:srgbClr val="3C4043"/>
                </a:solidFill>
                <a:latin typeface="Courier New" pitchFamily="34" charset="0"/>
                <a:ea typeface="Courier New" pitchFamily="34" charset="-122"/>
                <a:cs typeface="Courier New" pitchFamily="34" charset="-120"/>
              </a:rPr>
              <a:t>"tier": "STANDARD",</a:t>
            </a:r>
            <a:endParaRPr lang="en-US" sz="960" dirty="0"/>
          </a:p>
        </p:txBody>
      </p:sp>
      <p:sp>
        <p:nvSpPr>
          <p:cNvPr id="51" name="Shape 49"/>
          <p:cNvSpPr/>
          <p:nvPr/>
        </p:nvSpPr>
        <p:spPr>
          <a:xfrm>
            <a:off x="8851392" y="3200400"/>
            <a:ext cx="2615184" cy="365760"/>
          </a:xfrm>
          <a:prstGeom prst="roundRect">
            <a:avLst>
              <a:gd name="adj" fmla="val 10000"/>
            </a:avLst>
          </a:prstGeom>
          <a:solidFill>
            <a:srgbClr val="E6F4EA"/>
          </a:solidFill>
          <a:ln w="7620">
            <a:solidFill>
              <a:srgbClr val="1E8E3E"/>
            </a:solidFill>
            <a:prstDash val="solid"/>
          </a:ln>
        </p:spPr>
      </p:sp>
      <p:sp>
        <p:nvSpPr>
          <p:cNvPr id="52" name="Text 50"/>
          <p:cNvSpPr/>
          <p:nvPr/>
        </p:nvSpPr>
        <p:spPr>
          <a:xfrm>
            <a:off x="8924544" y="3200400"/>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"dpop_jkt": "sha256:9f86d081",</a:t>
            </a:r>
            <a:endParaRPr lang="en-US" sz="960" dirty="0"/>
          </a:p>
        </p:txBody>
      </p:sp>
      <p:sp>
        <p:nvSpPr>
          <p:cNvPr id="53" name="Text 51"/>
          <p:cNvSpPr/>
          <p:nvPr/>
        </p:nvSpPr>
        <p:spPr>
          <a:xfrm>
            <a:off x="8924544" y="3639312"/>
            <a:ext cx="2487168" cy="365760"/>
          </a:xfrm>
          <a:prstGeom prst="rect">
            <a:avLst/>
          </a:prstGeom>
          <a:noFill/>
          <a:ln/>
        </p:spPr>
        <p:txBody>
          <a:bodyPr wrap="square" rtlCol="0" anchor="ctr"/>
          <a:lstStyle/>
          <a:p>
            <a:pPr indent="0" marL="0">
              <a:buNone/>
            </a:pPr>
            <a:r>
              <a:rPr lang="en-US" sz="960" dirty="0">
                <a:solidFill>
                  <a:srgbClr val="3C4043"/>
                </a:solidFill>
                <a:latin typeface="Courier New" pitchFamily="34" charset="0"/>
                <a:ea typeface="Courier New" pitchFamily="34" charset="-122"/>
                <a:cs typeface="Courier New" pitchFamily="34" charset="-120"/>
              </a:rPr>
              <a:t>"memory_ns": "/tenants/retail",</a:t>
            </a:r>
            <a:endParaRPr lang="en-US" sz="960" dirty="0"/>
          </a:p>
        </p:txBody>
      </p:sp>
      <p:sp>
        <p:nvSpPr>
          <p:cNvPr id="54" name="Shape 52"/>
          <p:cNvSpPr/>
          <p:nvPr/>
        </p:nvSpPr>
        <p:spPr>
          <a:xfrm>
            <a:off x="8851392" y="4078224"/>
            <a:ext cx="2615184" cy="365760"/>
          </a:xfrm>
          <a:prstGeom prst="roundRect">
            <a:avLst>
              <a:gd name="adj" fmla="val 10000"/>
            </a:avLst>
          </a:prstGeom>
          <a:solidFill>
            <a:srgbClr val="E6F4EA"/>
          </a:solidFill>
          <a:ln w="7620">
            <a:solidFill>
              <a:srgbClr val="1E8E3E"/>
            </a:solidFill>
            <a:prstDash val="solid"/>
          </a:ln>
        </p:spPr>
      </p:sp>
      <p:sp>
        <p:nvSpPr>
          <p:cNvPr id="55" name="Text 53"/>
          <p:cNvSpPr/>
          <p:nvPr/>
        </p:nvSpPr>
        <p:spPr>
          <a:xfrm>
            <a:off x="8924544" y="4078224"/>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"rls_tag": "current_tenant_id",</a:t>
            </a:r>
            <a:endParaRPr lang="en-US" sz="960" dirty="0"/>
          </a:p>
        </p:txBody>
      </p:sp>
      <p:sp>
        <p:nvSpPr>
          <p:cNvPr id="56" name="Shape 54"/>
          <p:cNvSpPr/>
          <p:nvPr/>
        </p:nvSpPr>
        <p:spPr>
          <a:xfrm>
            <a:off x="8851392" y="4517136"/>
            <a:ext cx="2615184" cy="365760"/>
          </a:xfrm>
          <a:prstGeom prst="roundRect">
            <a:avLst>
              <a:gd name="adj" fmla="val 10000"/>
            </a:avLst>
          </a:prstGeom>
          <a:solidFill>
            <a:srgbClr val="CEEAD6"/>
          </a:solidFill>
          <a:ln w="7620">
            <a:solidFill>
              <a:srgbClr val="1E8E3E"/>
            </a:solidFill>
            <a:prstDash val="solid"/>
          </a:ln>
        </p:spPr>
      </p:sp>
      <p:sp>
        <p:nvSpPr>
          <p:cNvPr id="57" name="Text 55"/>
          <p:cNvSpPr/>
          <p:nvPr/>
        </p:nvSpPr>
        <p:spPr>
          <a:xfrm>
            <a:off x="8924544" y="4517136"/>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"jwt_sig": "kms_ecdsa_p256"</a:t>
            </a:r>
            <a:endParaRPr lang="en-US" sz="960" dirty="0"/>
          </a:p>
        </p:txBody>
      </p:sp>
      <p:sp>
        <p:nvSpPr>
          <p:cNvPr id="58" name="Text 56"/>
          <p:cNvSpPr/>
          <p:nvPr/>
        </p:nvSpPr>
        <p:spPr>
          <a:xfrm>
            <a:off x="8814816" y="5010912"/>
            <a:ext cx="457200" cy="256032"/>
          </a:xfrm>
          <a:prstGeom prst="rect">
            <a:avLst/>
          </a:prstGeom>
          <a:noFill/>
          <a:ln/>
        </p:spPr>
        <p:txBody>
          <a:bodyPr wrap="square" rtlCol="0" anchor="ctr"/>
          <a:lstStyle/>
          <a:p>
            <a:pPr indent="0" marL="0">
              <a:buNone/>
            </a:pPr>
            <a:r>
              <a:rPr lang="en-US" sz="1250" b="1" dirty="0">
                <a:solidFill>
                  <a:srgbClr val="3C4043"/>
                </a:solidFill>
                <a:latin typeface="Courier New" pitchFamily="34" charset="0"/>
                <a:ea typeface="Courier New" pitchFamily="34" charset="-122"/>
                <a:cs typeface="Courier New" pitchFamily="34" charset="-120"/>
              </a:rPr>
              <a:t>}</a:t>
            </a:r>
            <a:endParaRPr lang="en-US" sz="1250" dirty="0"/>
          </a:p>
        </p:txBody>
      </p:sp>
      <p:sp>
        <p:nvSpPr>
          <p:cNvPr id="59" name="Shape 57"/>
          <p:cNvSpPr/>
          <p:nvPr/>
        </p:nvSpPr>
        <p:spPr>
          <a:xfrm>
            <a:off x="8833104" y="5394960"/>
            <a:ext cx="2633472" cy="347472"/>
          </a:xfrm>
          <a:prstGeom prst="roundRect">
            <a:avLst>
              <a:gd name="adj" fmla="val 13158"/>
            </a:avLst>
          </a:prstGeom>
          <a:solidFill>
            <a:srgbClr val="E6F4EA"/>
          </a:solidFill>
          <a:ln w="10160">
            <a:solidFill>
              <a:srgbClr val="1E8E3E"/>
            </a:solidFill>
            <a:prstDash val="solid"/>
          </a:ln>
        </p:spPr>
      </p:sp>
      <p:sp>
        <p:nvSpPr>
          <p:cNvPr id="60" name="Text 58"/>
          <p:cNvSpPr/>
          <p:nvPr/>
        </p:nvSpPr>
        <p:spPr>
          <a:xfrm>
            <a:off x="8887968" y="5394960"/>
            <a:ext cx="2523744" cy="347472"/>
          </a:xfrm>
          <a:prstGeom prst="rect">
            <a:avLst/>
          </a:prstGeom>
          <a:noFill/>
          <a:ln/>
        </p:spPr>
        <p:txBody>
          <a:bodyPr wrap="square" rtlCol="0" anchor="ctr"/>
          <a:lstStyle/>
          <a:p>
            <a:pPr algn="ctr" indent="0" marL="0">
              <a:buNone/>
            </a:pPr>
            <a:r>
              <a:rPr lang="en-US" sz="840" b="1" dirty="0">
                <a:solidFill>
                  <a:srgbClr val="0D652D"/>
                </a:solidFill>
                <a:latin typeface="Google Sans" pitchFamily="34" charset="0"/>
                <a:ea typeface="Google Sans" pitchFamily="34" charset="-122"/>
                <a:cs typeface="Google Sans" pitchFamily="34" charset="-120"/>
              </a:rPr>
              <a:t>✓ &lt;0.15ms Cached-JWKS Verify • 0 KMS Network Calls</a:t>
            </a:r>
            <a:endParaRPr lang="en-US" sz="840" dirty="0"/>
          </a:p>
        </p:txBody>
      </p:sp>
      <p:sp>
        <p:nvSpPr>
          <p:cNvPr id="61" name="Text 59"/>
          <p:cNvSpPr/>
          <p:nvPr/>
        </p:nvSpPr>
        <p:spPr>
          <a:xfrm>
            <a:off x="365760" y="6601968"/>
            <a:ext cx="11460175" cy="201168"/>
          </a:xfrm>
          <a:prstGeom prst="rect">
            <a:avLst/>
          </a:prstGeom>
          <a:noFill/>
          <a:ln/>
        </p:spPr>
        <p:txBody>
          <a:bodyPr wrap="none" rtlCol="0" anchor="ctr"/>
          <a:lstStyle/>
          <a:p>
            <a:pPr algn="l" indent="0" marL="0">
              <a:buNone/>
            </a:pPr>
            <a:r>
              <a:rPr lang="en-US" sz="74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20" dirty="0">
                <a:solidFill>
                  <a:srgbClr val="5F6368"/>
                </a:solidFill>
                <a:latin typeface="Roboto" pitchFamily="34" charset="0"/>
                <a:ea typeface="Roboto" pitchFamily="34" charset="-122"/>
                <a:cs typeface="Roboto" pitchFamily="34" charset="-120"/>
              </a:rPr>
              <a:t>Workstream 1 L4 Wire Packet  •  Strips Spoofed Headers &amp; Mints KMS ECDSA P-256 STS JWT (&lt;0.15ms In-Memory Cached-JWKS Verify, 0 KMS RPCs/Hop)  •  </a:t>
            </a:r>
            <a:pPr algn="l" indent="0" marL="0">
              <a:buNone/>
            </a:pPr>
            <a:r>
              <a:rPr lang="en-US" sz="740" b="1" dirty="0">
                <a:solidFill>
                  <a:srgbClr val="3C4043"/>
                </a:solidFill>
                <a:latin typeface="Google Sans" pitchFamily="34" charset="0"/>
                <a:ea typeface="Google Sans" pitchFamily="34" charset="-122"/>
                <a:cs typeface="Google Sans" pitchFamily="34" charset="-120"/>
              </a:rPr>
              <a:t>Proprietary + Confidential</a:t>
            </a:r>
            <a:endParaRPr lang="en-US" sz="7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WS1</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ACT IV • EAP PRODUCT GAP REGISTER (GAP-01..05) &amp; COMPENSATING CONTROLS</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COMPARISON-GRID • MATRIX</a:t>
            </a:r>
            <a:endParaRPr lang="en-US" sz="750" dirty="0"/>
          </a:p>
        </p:txBody>
      </p:sp>
      <p:sp>
        <p:nvSpPr>
          <p:cNvPr id="17" name="Text 15"/>
          <p:cNvSpPr/>
          <p:nvPr/>
        </p:nvSpPr>
        <p:spPr>
          <a:xfrm>
            <a:off x="411480" y="640080"/>
            <a:ext cx="11368735" cy="347472"/>
          </a:xfrm>
          <a:prstGeom prst="rect">
            <a:avLst/>
          </a:prstGeom>
          <a:noFill/>
          <a:ln/>
        </p:spPr>
        <p:txBody>
          <a:bodyPr wrap="square" rtlCol="0" anchor="ctr"/>
          <a:lstStyle/>
          <a:p>
            <a:pPr indent="0" marL="0">
              <a:buNone/>
            </a:pPr>
            <a:r>
              <a:rPr lang="en-US" sz="1800" b="1" dirty="0">
                <a:solidFill>
                  <a:srgbClr val="3C4043"/>
                </a:solidFill>
                <a:latin typeface="Google Sans" pitchFamily="34" charset="0"/>
                <a:ea typeface="Google Sans" pitchFamily="34" charset="-122"/>
                <a:cs typeface="Google Sans" pitchFamily="34" charset="-120"/>
              </a:rPr>
              <a:t>Compensating Controls for EAP Product Gaps (GAP-01..05)</a:t>
            </a:r>
            <a:endParaRPr lang="en-US" sz="1800" dirty="0"/>
          </a:p>
        </p:txBody>
      </p:sp>
      <p:sp>
        <p:nvSpPr>
          <p:cNvPr id="18" name="Text 16"/>
          <p:cNvSpPr/>
          <p:nvPr/>
        </p:nvSpPr>
        <p:spPr>
          <a:xfrm>
            <a:off x="411480" y="987552"/>
            <a:ext cx="11368735" cy="219456"/>
          </a:xfrm>
          <a:prstGeom prst="rect">
            <a:avLst/>
          </a:prstGeom>
          <a:noFill/>
          <a:ln/>
        </p:spPr>
        <p:txBody>
          <a:bodyPr wrap="square" rtlCol="0" anchor="ctr"/>
          <a:lstStyle/>
          <a:p>
            <a:pPr indent="0" marL="0">
              <a:buNone/>
            </a:pPr>
            <a:r>
              <a:rPr lang="en-US" sz="980" dirty="0">
                <a:solidFill>
                  <a:srgbClr val="5F6368"/>
                </a:solidFill>
                <a:latin typeface="Roboto" pitchFamily="34" charset="0"/>
                <a:ea typeface="Roboto" pitchFamily="34" charset="-122"/>
                <a:cs typeface="Roboto" pitchFamily="34" charset="-120"/>
              </a:rPr>
              <a:t>Production compensating controls in core-cymbal-agent/ closing all 5 multi-tenant EAP limitations with fail-closed gates.</a:t>
            </a:r>
            <a:endParaRPr lang="en-US" sz="98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11480" y="1243584"/>
          <a:ext cx="11368735" cy="3493008"/>
        </p:xfrm>
        <a:graphic>
          <a:graphicData uri="http://schemas.openxmlformats.org/drawingml/2006/table">
            <a:tbl>
              <a:tblPr/>
              <a:tblGrid>
                <a:gridCol w="1965960"/>
                <a:gridCol w="2880360"/>
                <a:gridCol w="3886200"/>
                <a:gridCol w="2727655"/>
              </a:tblGrid>
              <a:tr h="402336">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Gap ID &amp; Component</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Current Preview / EAP Limitation</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Production Compensating Control (core-cymbal-agent/)</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Verification Gate &amp; GA Sunset</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GAP-01 (Hop 2)</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Agent Engine Registry</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Shared Agent Engine Registry lacks native per-tenant IAM condition predicates on ListAgents discovery calls.</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Hop2RegistryPDP.authorize_agent_and_prune_tools filters ARD by signed JWT tenant_id + ADK before_agent_callback pruning.</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b="1" dirty="0">
                          <a:solidFill>
                            <a:srgbClr val="0D652D"/>
                          </a:solidFill>
                          <a:latin typeface="Roboto" pitchFamily="34" charset="0"/>
                          <a:ea typeface="Roboto" pitchFamily="34" charset="-122"/>
                          <a:cs typeface="Roboto" pitchFamily="34" charset="-120"/>
                        </a:rPr>
                        <a:t>WS2 Test 2 PASS (HTTP 403 on cross-tenant Agent Alpha probe) • Sunset at Native GA: Feature-Flagged Native Hook</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GAP-02 (Hop 3)</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Memory Bank CMEK</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Pooled Vertex AI Memory Bank supports project-level CMEK rather than distinct per-tenant KMS keys in one shared pool.</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Envelope encryption + &lt;5s tenant-prefixed Valkey SCAN+UNLINK (cache:{tenant_id}:*) on KMS disable (&lt;60s HTTP 423) + SET NX single-flight re-hydration.</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b="1" dirty="0">
                          <a:solidFill>
                            <a:srgbClr val="0D652D"/>
                          </a:solidFill>
                          <a:latin typeface="Roboto" pitchFamily="34" charset="0"/>
                          <a:ea typeface="Roboto" pitchFamily="34" charset="-122"/>
                          <a:cs typeface="Roboto" pitchFamily="34" charset="-120"/>
                        </a:rPr>
                        <a:t>WS3 Tests 4A/4B/6 PASS (HTTP 423 Locked &lt;60s, 0 peer cache evictions) • Sunset at GA: Feature-Flagged Native Hook</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GAP-03 (Hop 3)</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Per-Tenant Rate Quotas</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Vertex AI quota system enforces regional project-level RPM/TPM limits rather than native per-tenant sub-quotas.</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Hop3ComputeFinOpsBulkhead enforces atomic Lua token-bucket RPM limits in Valkey (120 vs. 600 RPM, HTTP 429 Retry-After) + 4k/8k thinking clamps.</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b="1" dirty="0">
                          <a:solidFill>
                            <a:srgbClr val="0D652D"/>
                          </a:solidFill>
                          <a:latin typeface="Roboto" pitchFamily="34" charset="0"/>
                          <a:ea typeface="Roboto" pitchFamily="34" charset="-122"/>
                          <a:cs typeface="Roboto" pitchFamily="34" charset="-120"/>
                        </a:rPr>
                        <a:t>WS2 Test 6 PASS (HTTP 429 on 500-RPM flood; budget clamped to 4k) • Sunset at GA: Feature-Flagged Native Hook</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GAP-04 (Hop 1/4)</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Multi-IdP 3LO Broker</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External Microsoft Entra ID OIDC tokens require claims normalization and anti-confused-deputy isolation for 3LO MCP tools.</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Hop 1 normalizes Entra tid/sub into DPoP-bound {tenant}:{user} 3LO token vaults with -32042 step-up consent &amp; dpop_jkt verification.</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b="1" dirty="0">
                          <a:solidFill>
                            <a:srgbClr val="0D652D"/>
                          </a:solidFill>
                          <a:latin typeface="Roboto" pitchFamily="34" charset="0"/>
                          <a:ea typeface="Roboto" pitchFamily="34" charset="-122"/>
                          <a:cs typeface="Roboto" pitchFamily="34" charset="-120"/>
                        </a:rPr>
                        <a:t>WS2 Test 10 &amp; 10-SaaS Matrix PASS (HTTP 401 step-up -&gt; 200 OK ServiceNow) • Sunset at GA: Feature-Flagged Native Hook</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GAP-05 (Hop 5)</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Zero-PII Token Billing</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Cloud Billing exports aggregate Vertex AI SKU charges by GCP project rather than individual logical SaaS tenant_id.</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Hop5DataPlaneRLSAndOTel streams SHA-256 zero-PII OTel spans to BigQuery (SELECT tenant_id, SUM(cached_tokens*0.1 + thinking_tokens) GROUP BY tenant_id).</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b="1" dirty="0">
                          <a:solidFill>
                            <a:srgbClr val="0D652D"/>
                          </a:solidFill>
                          <a:latin typeface="Roboto" pitchFamily="34" charset="0"/>
                          <a:ea typeface="Roboto" pitchFamily="34" charset="-122"/>
                          <a:cs typeface="Roboto" pitchFamily="34" charset="-120"/>
                        </a:rPr>
                        <a:t>Forensic Check F-08 PASS (BigQuery OTel chargeback SQL verified) • Sunset at GA: Feature-Flagged Native Hook</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bl>
          </a:graphicData>
        </a:graphic>
      </p:graphicFrame>
      <p:sp>
        <p:nvSpPr>
          <p:cNvPr id="20" name="Shape 17"/>
          <p:cNvSpPr/>
          <p:nvPr/>
        </p:nvSpPr>
        <p:spPr>
          <a:xfrm>
            <a:off x="411480" y="4864608"/>
            <a:ext cx="2718511" cy="1188720"/>
          </a:xfrm>
          <a:prstGeom prst="roundRect">
            <a:avLst>
              <a:gd name="adj" fmla="val 6154"/>
            </a:avLst>
          </a:prstGeom>
          <a:solidFill>
            <a:srgbClr val="F8F9FA"/>
          </a:solidFill>
          <a:ln w="12700">
            <a:solidFill>
              <a:srgbClr val="DADCE0"/>
            </a:solidFill>
            <a:prstDash val="solid"/>
          </a:ln>
        </p:spPr>
      </p:sp>
      <p:sp>
        <p:nvSpPr>
          <p:cNvPr id="21" name="Shape 18"/>
          <p:cNvSpPr/>
          <p:nvPr/>
        </p:nvSpPr>
        <p:spPr>
          <a:xfrm>
            <a:off x="411480" y="4864608"/>
            <a:ext cx="2718511" cy="50292"/>
          </a:xfrm>
          <a:prstGeom prst="rect">
            <a:avLst/>
          </a:prstGeom>
          <a:solidFill>
            <a:srgbClr val="4285F4"/>
          </a:solidFill>
          <a:ln/>
        </p:spPr>
      </p:sp>
      <p:sp>
        <p:nvSpPr>
          <p:cNvPr id="22" name="Text 19"/>
          <p:cNvSpPr/>
          <p:nvPr/>
        </p:nvSpPr>
        <p:spPr>
          <a:xfrm>
            <a:off x="521208"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1. Identity &amp; 3LO Vault Gates (GAP-01 / GAP-04)</a:t>
            </a:r>
            <a:endParaRPr lang="en-US" sz="760" dirty="0"/>
          </a:p>
        </p:txBody>
      </p:sp>
      <p:sp>
        <p:nvSpPr>
          <p:cNvPr id="23" name="Text 20"/>
          <p:cNvSpPr/>
          <p:nvPr/>
        </p:nvSpPr>
        <p:spPr>
          <a:xfrm>
            <a:off x="521208"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Filters Agent Engine Registry discovery by signed STS JWT tenant_id (HTTP 403) and vaults per-user Entra/ServiceNow 3LO tokens ({tenant}:{user}) with -32042 step-up.</a:t>
            </a:r>
            <a:endParaRPr lang="en-US" sz="740" dirty="0"/>
          </a:p>
        </p:txBody>
      </p:sp>
      <p:sp>
        <p:nvSpPr>
          <p:cNvPr id="24" name="Shape 21"/>
          <p:cNvSpPr/>
          <p:nvPr/>
        </p:nvSpPr>
        <p:spPr>
          <a:xfrm>
            <a:off x="3294583" y="4864608"/>
            <a:ext cx="2718511" cy="1188720"/>
          </a:xfrm>
          <a:prstGeom prst="roundRect">
            <a:avLst>
              <a:gd name="adj" fmla="val 6154"/>
            </a:avLst>
          </a:prstGeom>
          <a:solidFill>
            <a:srgbClr val="F8F9FA"/>
          </a:solidFill>
          <a:ln w="12700">
            <a:solidFill>
              <a:srgbClr val="DADCE0"/>
            </a:solidFill>
            <a:prstDash val="solid"/>
          </a:ln>
        </p:spPr>
      </p:sp>
      <p:sp>
        <p:nvSpPr>
          <p:cNvPr id="25" name="Shape 22"/>
          <p:cNvSpPr/>
          <p:nvPr/>
        </p:nvSpPr>
        <p:spPr>
          <a:xfrm>
            <a:off x="3294583" y="4864608"/>
            <a:ext cx="2718511" cy="50292"/>
          </a:xfrm>
          <a:prstGeom prst="rect">
            <a:avLst/>
          </a:prstGeom>
          <a:solidFill>
            <a:srgbClr val="EA4335"/>
          </a:solidFill>
          <a:ln/>
        </p:spPr>
      </p:sp>
      <p:sp>
        <p:nvSpPr>
          <p:cNvPr id="26" name="Text 23"/>
          <p:cNvSpPr/>
          <p:nvPr/>
        </p:nvSpPr>
        <p:spPr>
          <a:xfrm>
            <a:off x="3404311"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2. &lt;5s L1 Eviction &amp; Single-Flight (GAP-02)</a:t>
            </a:r>
            <a:endParaRPr lang="en-US" sz="760" dirty="0"/>
          </a:p>
        </p:txBody>
      </p:sp>
      <p:sp>
        <p:nvSpPr>
          <p:cNvPr id="27" name="Text 24"/>
          <p:cNvSpPr/>
          <p:nvPr/>
        </p:nvSpPr>
        <p:spPr>
          <a:xfrm>
            <a:off x="3404311"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Intercepts KMS disable for &lt;60s HTTP 423 + &lt;5s targeted Valkey SCAN+UNLINK (cache:{tenant}:*); re-hydrates via SET NX PX 5000 single-flight lock from AlloyDB RLS.</a:t>
            </a:r>
            <a:endParaRPr lang="en-US" sz="740" dirty="0"/>
          </a:p>
        </p:txBody>
      </p:sp>
      <p:sp>
        <p:nvSpPr>
          <p:cNvPr id="28" name="Shape 25"/>
          <p:cNvSpPr/>
          <p:nvPr/>
        </p:nvSpPr>
        <p:spPr>
          <a:xfrm>
            <a:off x="6177686" y="4864608"/>
            <a:ext cx="2718511" cy="1188720"/>
          </a:xfrm>
          <a:prstGeom prst="roundRect">
            <a:avLst>
              <a:gd name="adj" fmla="val 6154"/>
            </a:avLst>
          </a:prstGeom>
          <a:solidFill>
            <a:srgbClr val="F8F9FA"/>
          </a:solidFill>
          <a:ln w="12700">
            <a:solidFill>
              <a:srgbClr val="DADCE0"/>
            </a:solidFill>
            <a:prstDash val="solid"/>
          </a:ln>
        </p:spPr>
      </p:sp>
      <p:sp>
        <p:nvSpPr>
          <p:cNvPr id="29" name="Shape 26"/>
          <p:cNvSpPr/>
          <p:nvPr/>
        </p:nvSpPr>
        <p:spPr>
          <a:xfrm>
            <a:off x="6177686" y="4864608"/>
            <a:ext cx="2718511" cy="50292"/>
          </a:xfrm>
          <a:prstGeom prst="rect">
            <a:avLst/>
          </a:prstGeom>
          <a:solidFill>
            <a:srgbClr val="FBBC04"/>
          </a:solidFill>
          <a:ln/>
        </p:spPr>
      </p:sp>
      <p:sp>
        <p:nvSpPr>
          <p:cNvPr id="30" name="Text 27"/>
          <p:cNvSpPr/>
          <p:nvPr/>
        </p:nvSpPr>
        <p:spPr>
          <a:xfrm>
            <a:off x="6287414"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3. Valkey Bulkheads &amp; GA Sunset Hooks (GAP-03)</a:t>
            </a:r>
            <a:endParaRPr lang="en-US" sz="760" dirty="0"/>
          </a:p>
        </p:txBody>
      </p:sp>
      <p:sp>
        <p:nvSpPr>
          <p:cNvPr id="31" name="Text 28"/>
          <p:cNvSpPr/>
          <p:nvPr/>
        </p:nvSpPr>
        <p:spPr>
          <a:xfrm>
            <a:off x="6287414"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Enforces 120/600 RPM Valkey token buckets (HTTP 429 Retry-After jitter) with feature-flagged GA sunset hooks (feature-flagged native adapter) in core-cymbal-agent/.</a:t>
            </a:r>
            <a:endParaRPr lang="en-US" sz="740" dirty="0"/>
          </a:p>
        </p:txBody>
      </p:sp>
      <p:sp>
        <p:nvSpPr>
          <p:cNvPr id="32" name="Shape 29"/>
          <p:cNvSpPr/>
          <p:nvPr/>
        </p:nvSpPr>
        <p:spPr>
          <a:xfrm>
            <a:off x="9060790" y="4864608"/>
            <a:ext cx="2718511" cy="1188720"/>
          </a:xfrm>
          <a:prstGeom prst="roundRect">
            <a:avLst>
              <a:gd name="adj" fmla="val 6154"/>
            </a:avLst>
          </a:prstGeom>
          <a:solidFill>
            <a:srgbClr val="F8F9FA"/>
          </a:solidFill>
          <a:ln w="12700">
            <a:solidFill>
              <a:srgbClr val="DADCE0"/>
            </a:solidFill>
            <a:prstDash val="solid"/>
          </a:ln>
        </p:spPr>
      </p:sp>
      <p:sp>
        <p:nvSpPr>
          <p:cNvPr id="33" name="Shape 30"/>
          <p:cNvSpPr/>
          <p:nvPr/>
        </p:nvSpPr>
        <p:spPr>
          <a:xfrm>
            <a:off x="9060790" y="4864608"/>
            <a:ext cx="2718511" cy="50292"/>
          </a:xfrm>
          <a:prstGeom prst="rect">
            <a:avLst/>
          </a:prstGeom>
          <a:solidFill>
            <a:srgbClr val="34A853"/>
          </a:solidFill>
          <a:ln/>
        </p:spPr>
      </p:sp>
      <p:sp>
        <p:nvSpPr>
          <p:cNvPr id="34" name="Text 31"/>
          <p:cNvSpPr/>
          <p:nvPr/>
        </p:nvSpPr>
        <p:spPr>
          <a:xfrm>
            <a:off x="9170518"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4. Zero-PII BigQuery FinOps SQL (GAP-05)</a:t>
            </a:r>
            <a:endParaRPr lang="en-US" sz="760" dirty="0"/>
          </a:p>
        </p:txBody>
      </p:sp>
      <p:sp>
        <p:nvSpPr>
          <p:cNvPr id="35" name="Text 32"/>
          <p:cNvSpPr/>
          <p:nvPr/>
        </p:nvSpPr>
        <p:spPr>
          <a:xfrm>
            <a:off x="9170518"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Streams SHA-256 prompt hashes + OTel spans to BigQuery for exact chargeback: SELECT tenant_id, SUM(cached_tokens*0.1 + thinking_tokens) GROUP BY tenant_id.</a:t>
            </a:r>
            <a:endParaRPr lang="en-US" sz="740" dirty="0"/>
          </a:p>
        </p:txBody>
      </p:sp>
      <p:sp>
        <p:nvSpPr>
          <p:cNvPr id="36" name="Shape 33"/>
          <p:cNvSpPr/>
          <p:nvPr/>
        </p:nvSpPr>
        <p:spPr>
          <a:xfrm>
            <a:off x="365760" y="6144768"/>
            <a:ext cx="11460175" cy="384048"/>
          </a:xfrm>
          <a:prstGeom prst="roundRect">
            <a:avLst>
              <a:gd name="adj" fmla="val 19048"/>
            </a:avLst>
          </a:prstGeom>
          <a:solidFill>
            <a:srgbClr val="F8F9FA"/>
          </a:solidFill>
          <a:ln w="10795">
            <a:solidFill>
              <a:srgbClr val="DADCE0"/>
            </a:solidFill>
            <a:prstDash val="solid"/>
          </a:ln>
        </p:spPr>
      </p:sp>
      <p:sp>
        <p:nvSpPr>
          <p:cNvPr id="37" name="Shape 34"/>
          <p:cNvSpPr/>
          <p:nvPr/>
        </p:nvSpPr>
        <p:spPr>
          <a:xfrm>
            <a:off x="475488" y="6208776"/>
            <a:ext cx="1874520" cy="256032"/>
          </a:xfrm>
          <a:prstGeom prst="roundRect">
            <a:avLst>
              <a:gd name="adj" fmla="val 21429"/>
            </a:avLst>
          </a:prstGeom>
          <a:solidFill>
            <a:srgbClr val="4285F4"/>
          </a:solidFill>
          <a:ln/>
        </p:spPr>
      </p:sp>
      <p:sp>
        <p:nvSpPr>
          <p:cNvPr id="38" name="Text 35"/>
          <p:cNvSpPr/>
          <p:nvPr/>
        </p:nvSpPr>
        <p:spPr>
          <a:xfrm>
            <a:off x="475488" y="6208776"/>
            <a:ext cx="1874520" cy="256032"/>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ARCHITECTURAL DECISION</a:t>
            </a:r>
            <a:endParaRPr lang="en-US" sz="780" dirty="0"/>
          </a:p>
        </p:txBody>
      </p:sp>
      <p:sp>
        <p:nvSpPr>
          <p:cNvPr id="39" name="Text 36"/>
          <p:cNvSpPr/>
          <p:nvPr/>
        </p:nvSpPr>
        <p:spPr>
          <a:xfrm>
            <a:off x="2468880" y="6190488"/>
            <a:ext cx="9219895" cy="292608"/>
          </a:xfrm>
          <a:prstGeom prst="rect">
            <a:avLst/>
          </a:prstGeom>
          <a:noFill/>
          <a:ln/>
        </p:spPr>
        <p:txBody>
          <a:bodyPr wrap="square" rtlCol="0" anchor="ctr"/>
          <a:lstStyle/>
          <a:p>
            <a:pPr indent="0" marL="0">
              <a:buNone/>
            </a:pPr>
            <a:r>
              <a:rPr lang="en-US" sz="880" b="1" dirty="0">
                <a:solidFill>
                  <a:srgbClr val="3C4043"/>
                </a:solidFill>
                <a:latin typeface="Roboto" pitchFamily="34" charset="0"/>
                <a:ea typeface="Roboto" pitchFamily="34" charset="-122"/>
                <a:cs typeface="Roboto" pitchFamily="34" charset="-120"/>
              </a:rPr>
              <a:t>Workstream 1 • Reference Architecture &amp; Cloud Architecture Center Doc PR  •  Compensating Controls, Automated Security Verification &amp; FinOps Economics</a:t>
            </a:r>
            <a:endParaRPr lang="en-US" sz="880" dirty="0"/>
          </a:p>
        </p:txBody>
      </p:sp>
      <p:sp>
        <p:nvSpPr>
          <p:cNvPr id="40" name="Text 37"/>
          <p:cNvSpPr/>
          <p:nvPr/>
        </p:nvSpPr>
        <p:spPr>
          <a:xfrm>
            <a:off x="365760" y="6601968"/>
            <a:ext cx="11460175" cy="201168"/>
          </a:xfrm>
          <a:prstGeom prst="rect">
            <a:avLst/>
          </a:prstGeom>
          <a:noFill/>
          <a:ln/>
        </p:spPr>
        <p:txBody>
          <a:bodyPr wrap="non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Multi-Tenant Agentic AI on Google Cloud • Vertex AI Agent Engine, Gemini Enterprise &amp; ADK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WS1</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WS1 • ACT III FORENSIC VERIFICATION AUDIT: GROUNDED GCP TELEMETRY &amp; 20/20 LOGS</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LIVE-SCREENSHOT-CALLOUT</a:t>
            </a:r>
            <a:endParaRPr lang="en-US" sz="750" dirty="0"/>
          </a:p>
        </p:txBody>
      </p:sp>
      <p:sp>
        <p:nvSpPr>
          <p:cNvPr id="17" name="Shape 15"/>
          <p:cNvSpPr/>
          <p:nvPr/>
        </p:nvSpPr>
        <p:spPr>
          <a:xfrm>
            <a:off x="384048" y="749808"/>
            <a:ext cx="6784848" cy="2615184"/>
          </a:xfrm>
          <a:prstGeom prst="roundRect">
            <a:avLst>
              <a:gd name="adj" fmla="val 2098"/>
            </a:avLst>
          </a:prstGeom>
          <a:solidFill>
            <a:srgbClr val="F8F9FA"/>
          </a:solidFill>
          <a:ln w="12700">
            <a:solidFill>
              <a:srgbClr val="DADCE0"/>
            </a:solidFill>
            <a:prstDash val="solid"/>
          </a:ln>
        </p:spPr>
      </p:sp>
      <p:sp>
        <p:nvSpPr>
          <p:cNvPr id="18" name="Shape 16"/>
          <p:cNvSpPr/>
          <p:nvPr/>
        </p:nvSpPr>
        <p:spPr>
          <a:xfrm>
            <a:off x="384048" y="749808"/>
            <a:ext cx="6784848" cy="45720"/>
          </a:xfrm>
          <a:prstGeom prst="rect">
            <a:avLst/>
          </a:prstGeom>
          <a:solidFill>
            <a:srgbClr val="4285F4"/>
          </a:solidFill>
          <a:ln/>
        </p:spPr>
      </p:sp>
      <p:sp>
        <p:nvSpPr>
          <p:cNvPr id="19" name="Text 17"/>
          <p:cNvSpPr/>
          <p:nvPr/>
        </p:nvSpPr>
        <p:spPr>
          <a:xfrm>
            <a:off x="493776" y="822960"/>
            <a:ext cx="6565392" cy="219456"/>
          </a:xfrm>
          <a:prstGeom prst="rect">
            <a:avLst/>
          </a:prstGeom>
          <a:noFill/>
          <a:ln/>
        </p:spPr>
        <p:txBody>
          <a:bodyPr wrap="square" rtlCol="0" anchor="ctr"/>
          <a:lstStyle/>
          <a:p>
            <a:pPr indent="0" marL="0">
              <a:buNone/>
            </a:pPr>
            <a:r>
              <a:rPr lang="en-US" sz="820" b="1" dirty="0">
                <a:solidFill>
                  <a:srgbClr val="174EA6"/>
                </a:solidFill>
                <a:latin typeface="Google Sans" pitchFamily="34" charset="0"/>
                <a:ea typeface="Google Sans" pitchFamily="34" charset="-122"/>
                <a:cs typeface="Google Sans" pitchFamily="34" charset="-120"/>
              </a:rPr>
              <a:t>ACT III FORENSIC AUDIT 01 • LIVE CLOUD RUN REVISIONS</a:t>
            </a:r>
            <a:endParaRPr lang="en-US" sz="820" dirty="0"/>
          </a:p>
        </p:txBody>
      </p:sp>
      <p:sp>
        <p:nvSpPr>
          <p:cNvPr id="20" name="Shape 18"/>
          <p:cNvSpPr/>
          <p:nvPr/>
        </p:nvSpPr>
        <p:spPr>
          <a:xfrm>
            <a:off x="493776" y="1097280"/>
            <a:ext cx="6565392" cy="2048256"/>
          </a:xfrm>
          <a:prstGeom prst="roundRect">
            <a:avLst>
              <a:gd name="adj" fmla="val 2232"/>
            </a:avLst>
          </a:prstGeom>
          <a:solidFill>
            <a:srgbClr val="FFFFFF"/>
          </a:solidFill>
          <a:ln w="10160">
            <a:solidFill>
              <a:srgbClr val="DADCE0"/>
            </a:solidFill>
            <a:prstDash val="solid"/>
          </a:ln>
        </p:spPr>
      </p:sp>
      <p:sp>
        <p:nvSpPr>
          <p:cNvPr id="21" name="Text 19"/>
          <p:cNvSpPr/>
          <p:nvPr/>
        </p:nvSpPr>
        <p:spPr>
          <a:xfrm>
            <a:off x="621792" y="1170432"/>
            <a:ext cx="6309360" cy="512064"/>
          </a:xfrm>
          <a:prstGeom prst="rect">
            <a:avLst/>
          </a:prstGeom>
          <a:noFill/>
          <a:ln/>
        </p:spPr>
        <p:txBody>
          <a:bodyPr wrap="square" rtlCol="0" anchor="t"/>
          <a:lstStyle/>
          <a:p>
            <a:pPr indent="0" marL="0">
              <a:buNone/>
            </a:pPr>
            <a:r>
              <a:rPr lang="en-US" sz="920" b="1" dirty="0">
                <a:solidFill>
                  <a:srgbClr val="3C4043"/>
                </a:solidFill>
                <a:latin typeface="Google Sans" pitchFamily="34" charset="0"/>
                <a:ea typeface="Google Sans" pitchFamily="34" charset="-122"/>
                <a:cs typeface="Google Sans" pitchFamily="34" charset="-120"/>
              </a:rPr>
              <a:t>ramp-portal-dev (#248990048888) &amp; bbar-138hf0 (#48439189383) serving Pattern A/B/C endpoints (HTTP 200)</a:t>
            </a:r>
            <a:endParaRPr lang="en-US" sz="920" dirty="0"/>
          </a:p>
        </p:txBody>
      </p:sp>
      <p:sp>
        <p:nvSpPr>
          <p:cNvPr id="22" name="Text 20"/>
          <p:cNvSpPr/>
          <p:nvPr/>
        </p:nvSpPr>
        <p:spPr>
          <a:xfrm>
            <a:off x="621792" y="1719072"/>
            <a:ext cx="6309360" cy="1060704"/>
          </a:xfrm>
          <a:prstGeom prst="rect">
            <a:avLst/>
          </a:prstGeom>
          <a:noFill/>
          <a:ln/>
        </p:spPr>
        <p:txBody>
          <a:bodyPr wrap="square" rtlCol="0" anchor="t"/>
          <a:lstStyle/>
          <a:p>
            <a:pPr indent="0" marL="0">
              <a:buNone/>
            </a:pPr>
            <a:r>
              <a:rPr lang="en-US" sz="840" dirty="0">
                <a:solidFill>
                  <a:srgbClr val="5F6368"/>
                </a:solidFill>
                <a:latin typeface="Roboto" pitchFamily="34" charset="0"/>
                <a:ea typeface="Roboto" pitchFamily="34" charset="-122"/>
                <a:cs typeface="Roboto" pitchFamily="34" charset="-120"/>
              </a:rPr>
              <a:t>• Live GCP: ramp-portal-dev (#248990048888) • bbar-138hf0 (#48439189383)</a:t>
            </a:r>
            <a:endParaRPr lang="en-US" sz="840" dirty="0"/>
          </a:p>
          <a:p>
            <a:pPr indent="0" marL="0">
              <a:buNone/>
            </a:pPr>
            <a:r>
              <a:rPr lang="en-US" sz="840" dirty="0">
                <a:solidFill>
                  <a:srgbClr val="5F6368"/>
                </a:solidFill>
                <a:latin typeface="Roboto" pitchFamily="34" charset="0"/>
                <a:ea typeface="Roboto" pitchFamily="34" charset="-122"/>
                <a:cs typeface="Roboto" pitchFamily="34" charset="-120"/>
              </a:rPr>
              <a:t>• Runtime: Cloud Run Gen2 (gVisor runsc, 100% traffic)</a:t>
            </a:r>
            <a:endParaRPr lang="en-US" sz="840" dirty="0"/>
          </a:p>
          <a:p>
            <a:pPr indent="0" marL="0">
              <a:buNone/>
            </a:pPr>
            <a:r>
              <a:rPr lang="en-US" sz="840" dirty="0">
                <a:solidFill>
                  <a:srgbClr val="5F6368"/>
                </a:solidFill>
                <a:latin typeface="Roboto" pitchFamily="34" charset="0"/>
                <a:ea typeface="Roboto" pitchFamily="34" charset="-122"/>
                <a:cs typeface="Roboto" pitchFamily="34" charset="-120"/>
              </a:rPr>
              <a:t>• CLI Gate: run_deep_forensic_audit.py (13/13 PASS)</a:t>
            </a:r>
            <a:endParaRPr lang="en-US" sz="840" dirty="0"/>
          </a:p>
          <a:p>
            <a:pPr indent="0" marL="0">
              <a:buNone/>
            </a:pPr>
            <a:r>
              <a:rPr lang="en-US" sz="840" dirty="0">
                <a:solidFill>
                  <a:srgbClr val="5F6368"/>
                </a:solidFill>
                <a:latin typeface="Roboto" pitchFamily="34" charset="0"/>
                <a:ea typeface="Roboto" pitchFamily="34" charset="-122"/>
                <a:cs typeface="Roboto" pitchFamily="34" charset="-120"/>
              </a:rPr>
              <a:t>• Artifact: core-cymbal-agent/runtime_pipeline.py</a:t>
            </a:r>
            <a:endParaRPr lang="en-US" sz="840" dirty="0"/>
          </a:p>
        </p:txBody>
      </p:sp>
      <p:sp>
        <p:nvSpPr>
          <p:cNvPr id="23" name="Text 21"/>
          <p:cNvSpPr/>
          <p:nvPr/>
        </p:nvSpPr>
        <p:spPr>
          <a:xfrm>
            <a:off x="621792" y="2852928"/>
            <a:ext cx="6309360" cy="201168"/>
          </a:xfrm>
          <a:prstGeom prst="rect">
            <a:avLst/>
          </a:prstGeom>
          <a:noFill/>
          <a:ln/>
        </p:spPr>
        <p:txBody>
          <a:bodyPr wrap="square" rtlCol="0" anchor="ctr"/>
          <a:lstStyle/>
          <a:p>
            <a:pPr indent="0" marL="0">
              <a:buNone/>
            </a:pPr>
            <a:r>
              <a:rPr lang="en-US" sz="720" dirty="0">
                <a:solidFill>
                  <a:srgbClr val="5F6368"/>
                </a:solidFill>
                <a:latin typeface="Courier New" pitchFamily="34" charset="0"/>
                <a:ea typeface="Courier New" pitchFamily="34" charset="-122"/>
                <a:cs typeface="Courier New" pitchFamily="34" charset="-120"/>
              </a:rPr>
              <a:t>Source Module: core-cymbal-agent/runtime_pipeline.py</a:t>
            </a:r>
            <a:endParaRPr lang="en-US" sz="720" dirty="0"/>
          </a:p>
        </p:txBody>
      </p:sp>
      <p:sp>
        <p:nvSpPr>
          <p:cNvPr id="24" name="Shape 22"/>
          <p:cNvSpPr/>
          <p:nvPr/>
        </p:nvSpPr>
        <p:spPr>
          <a:xfrm>
            <a:off x="384048" y="3511296"/>
            <a:ext cx="6784848" cy="2615184"/>
          </a:xfrm>
          <a:prstGeom prst="roundRect">
            <a:avLst>
              <a:gd name="adj" fmla="val 2098"/>
            </a:avLst>
          </a:prstGeom>
          <a:solidFill>
            <a:srgbClr val="F8F9FA"/>
          </a:solidFill>
          <a:ln w="12700">
            <a:solidFill>
              <a:srgbClr val="DADCE0"/>
            </a:solidFill>
            <a:prstDash val="solid"/>
          </a:ln>
        </p:spPr>
      </p:sp>
      <p:sp>
        <p:nvSpPr>
          <p:cNvPr id="25" name="Shape 23"/>
          <p:cNvSpPr/>
          <p:nvPr/>
        </p:nvSpPr>
        <p:spPr>
          <a:xfrm>
            <a:off x="384048" y="3511296"/>
            <a:ext cx="6784848" cy="45720"/>
          </a:xfrm>
          <a:prstGeom prst="rect">
            <a:avLst/>
          </a:prstGeom>
          <a:solidFill>
            <a:srgbClr val="EA4335"/>
          </a:solidFill>
          <a:ln/>
        </p:spPr>
      </p:sp>
      <p:sp>
        <p:nvSpPr>
          <p:cNvPr id="26" name="Text 24"/>
          <p:cNvSpPr/>
          <p:nvPr/>
        </p:nvSpPr>
        <p:spPr>
          <a:xfrm>
            <a:off x="493776" y="3584448"/>
            <a:ext cx="6565392" cy="219456"/>
          </a:xfrm>
          <a:prstGeom prst="rect">
            <a:avLst/>
          </a:prstGeom>
          <a:noFill/>
          <a:ln/>
        </p:spPr>
        <p:txBody>
          <a:bodyPr wrap="square" rtlCol="0" anchor="ctr"/>
          <a:lstStyle/>
          <a:p>
            <a:pPr indent="0" marL="0">
              <a:buNone/>
            </a:pPr>
            <a:r>
              <a:rPr lang="en-US" sz="820" b="1" dirty="0">
                <a:solidFill>
                  <a:srgbClr val="A50E0E"/>
                </a:solidFill>
                <a:latin typeface="Google Sans" pitchFamily="34" charset="0"/>
                <a:ea typeface="Google Sans" pitchFamily="34" charset="-122"/>
                <a:cs typeface="Google Sans" pitchFamily="34" charset="-120"/>
              </a:rPr>
              <a:t>ACT III FORENSIC AUDIT 02 • DUAL-PLANE GCP 20/20, SAAS 30/30 &amp; BEFORE/AFTER 3P UIs</a:t>
            </a:r>
            <a:endParaRPr lang="en-US" sz="820" dirty="0"/>
          </a:p>
        </p:txBody>
      </p:sp>
      <p:sp>
        <p:nvSpPr>
          <p:cNvPr id="27" name="Shape 25"/>
          <p:cNvSpPr/>
          <p:nvPr/>
        </p:nvSpPr>
        <p:spPr>
          <a:xfrm>
            <a:off x="493776" y="3858768"/>
            <a:ext cx="6565392" cy="2048256"/>
          </a:xfrm>
          <a:prstGeom prst="roundRect">
            <a:avLst>
              <a:gd name="adj" fmla="val 2232"/>
            </a:avLst>
          </a:prstGeom>
          <a:solidFill>
            <a:srgbClr val="FFFFFF"/>
          </a:solidFill>
          <a:ln w="10160">
            <a:solidFill>
              <a:srgbClr val="DADCE0"/>
            </a:solidFill>
            <a:prstDash val="solid"/>
          </a:ln>
        </p:spPr>
      </p:sp>
      <p:sp>
        <p:nvSpPr>
          <p:cNvPr id="28" name="Text 26"/>
          <p:cNvSpPr/>
          <p:nvPr/>
        </p:nvSpPr>
        <p:spPr>
          <a:xfrm>
            <a:off x="621792" y="3931920"/>
            <a:ext cx="6309360" cy="512064"/>
          </a:xfrm>
          <a:prstGeom prst="rect">
            <a:avLst/>
          </a:prstGeom>
          <a:noFill/>
          <a:ln/>
        </p:spPr>
        <p:txBody>
          <a:bodyPr wrap="square" rtlCol="0" anchor="t"/>
          <a:lstStyle/>
          <a:p>
            <a:pPr indent="0" marL="0">
              <a:buNone/>
            </a:pPr>
            <a:r>
              <a:rPr lang="en-US" sz="920" b="1" dirty="0">
                <a:solidFill>
                  <a:srgbClr val="3C4043"/>
                </a:solidFill>
                <a:latin typeface="Google Sans" pitchFamily="34" charset="0"/>
                <a:ea typeface="Google Sans" pitchFamily="34" charset="-122"/>
                <a:cs typeface="Google Sans" pitchFamily="34" charset="-120"/>
              </a:rPr>
              <a:t>Cloud Logging MQL + Metabase BI v0.50.26 &amp; Trino SQL v440 Before/After Retina UI captures (2880×1800)</a:t>
            </a:r>
            <a:endParaRPr lang="en-US" sz="920" dirty="0"/>
          </a:p>
        </p:txBody>
      </p:sp>
      <p:sp>
        <p:nvSpPr>
          <p:cNvPr id="29" name="Text 27"/>
          <p:cNvSpPr/>
          <p:nvPr/>
        </p:nvSpPr>
        <p:spPr>
          <a:xfrm>
            <a:off x="621792" y="4480560"/>
            <a:ext cx="6309360" cy="1060704"/>
          </a:xfrm>
          <a:prstGeom prst="rect">
            <a:avLst/>
          </a:prstGeom>
          <a:noFill/>
          <a:ln/>
        </p:spPr>
        <p:txBody>
          <a:bodyPr wrap="square" rtlCol="0" anchor="t"/>
          <a:lstStyle/>
          <a:p>
            <a:pPr indent="0" marL="0">
              <a:buNone/>
            </a:pPr>
            <a:r>
              <a:rPr lang="en-US" sz="840" dirty="0">
                <a:solidFill>
                  <a:srgbClr val="5F6368"/>
                </a:solidFill>
                <a:latin typeface="Roboto" pitchFamily="34" charset="0"/>
                <a:ea typeface="Roboto" pitchFamily="34" charset="-122"/>
                <a:cs typeface="Roboto" pitchFamily="34" charset="-120"/>
              </a:rPr>
              <a:t>• Dual-Plane: 20/20 GCP + 30/30 10-SaaS MCP PASS</a:t>
            </a:r>
            <a:endParaRPr lang="en-US" sz="840" dirty="0"/>
          </a:p>
          <a:p>
            <a:pPr indent="0" marL="0">
              <a:buNone/>
            </a:pPr>
            <a:r>
              <a:rPr lang="en-US" sz="840" dirty="0">
                <a:solidFill>
                  <a:srgbClr val="5F6368"/>
                </a:solidFill>
                <a:latin typeface="Roboto" pitchFamily="34" charset="0"/>
                <a:ea typeface="Roboto" pitchFamily="34" charset="-122"/>
                <a:cs typeface="Roboto" pitchFamily="34" charset="-120"/>
              </a:rPr>
              <a:t>• 3P UIs (2880×1800): Metabase BI v0.50.26 &amp; Trino SQL v440</a:t>
            </a:r>
            <a:endParaRPr lang="en-US" sz="840" dirty="0"/>
          </a:p>
          <a:p>
            <a:pPr indent="0" marL="0">
              <a:buNone/>
            </a:pPr>
            <a:r>
              <a:rPr lang="en-US" sz="840" dirty="0">
                <a:solidFill>
                  <a:srgbClr val="5F6368"/>
                </a:solidFill>
                <a:latin typeface="Roboto" pitchFamily="34" charset="0"/>
                <a:ea typeface="Roboto" pitchFamily="34" charset="-122"/>
                <a:cs typeface="Roboto" pitchFamily="34" charset="-120"/>
              </a:rPr>
              <a:t>• Ledger: s3://cymbal-aws-federation-393036065405-us-east-1</a:t>
            </a:r>
            <a:endParaRPr lang="en-US" sz="840" dirty="0"/>
          </a:p>
          <a:p>
            <a:pPr indent="0" marL="0">
              <a:buNone/>
            </a:pPr>
            <a:r>
              <a:rPr lang="en-US" sz="840" dirty="0">
                <a:solidFill>
                  <a:srgbClr val="5F6368"/>
                </a:solidFill>
                <a:latin typeface="Roboto" pitchFamily="34" charset="0"/>
                <a:ea typeface="Roboto" pitchFamily="34" charset="-122"/>
                <a:cs typeface="Roboto" pitchFamily="34" charset="-120"/>
              </a:rPr>
              <a:t>• Artifact: docs/genuine_3p_before_after_provenance_receipt.json</a:t>
            </a:r>
            <a:endParaRPr lang="en-US" sz="840" dirty="0"/>
          </a:p>
        </p:txBody>
      </p:sp>
      <p:sp>
        <p:nvSpPr>
          <p:cNvPr id="30" name="Text 28"/>
          <p:cNvSpPr/>
          <p:nvPr/>
        </p:nvSpPr>
        <p:spPr>
          <a:xfrm>
            <a:off x="621792" y="5614416"/>
            <a:ext cx="6309360" cy="201168"/>
          </a:xfrm>
          <a:prstGeom prst="rect">
            <a:avLst/>
          </a:prstGeom>
          <a:noFill/>
          <a:ln/>
        </p:spPr>
        <p:txBody>
          <a:bodyPr wrap="square" rtlCol="0" anchor="ctr"/>
          <a:lstStyle/>
          <a:p>
            <a:pPr indent="0" marL="0">
              <a:buNone/>
            </a:pPr>
            <a:r>
              <a:rPr lang="en-US" sz="720" dirty="0">
                <a:solidFill>
                  <a:srgbClr val="5F6368"/>
                </a:solidFill>
                <a:latin typeface="Courier New" pitchFamily="34" charset="0"/>
                <a:ea typeface="Courier New" pitchFamily="34" charset="-122"/>
                <a:cs typeface="Courier New" pitchFamily="34" charset="-120"/>
              </a:rPr>
              <a:t>Source Module: scripts/capture_genuine_3p_before_after_uis.mjs</a:t>
            </a:r>
            <a:endParaRPr lang="en-US" sz="720" dirty="0"/>
          </a:p>
        </p:txBody>
      </p:sp>
      <p:sp>
        <p:nvSpPr>
          <p:cNvPr id="31" name="Shape 29"/>
          <p:cNvSpPr/>
          <p:nvPr/>
        </p:nvSpPr>
        <p:spPr>
          <a:xfrm>
            <a:off x="7351776" y="749808"/>
            <a:ext cx="4443984" cy="1243584"/>
          </a:xfrm>
          <a:prstGeom prst="roundRect">
            <a:avLst>
              <a:gd name="adj" fmla="val 5882"/>
            </a:avLst>
          </a:prstGeom>
          <a:solidFill>
            <a:srgbClr val="F8F9FA"/>
          </a:solidFill>
          <a:ln w="12700">
            <a:solidFill>
              <a:srgbClr val="DADCE0"/>
            </a:solidFill>
            <a:prstDash val="solid"/>
          </a:ln>
        </p:spPr>
      </p:sp>
      <p:sp>
        <p:nvSpPr>
          <p:cNvPr id="32" name="Shape 30"/>
          <p:cNvSpPr/>
          <p:nvPr/>
        </p:nvSpPr>
        <p:spPr>
          <a:xfrm>
            <a:off x="7351776" y="749808"/>
            <a:ext cx="82296" cy="1243584"/>
          </a:xfrm>
          <a:prstGeom prst="rect">
            <a:avLst/>
          </a:prstGeom>
          <a:solidFill>
            <a:srgbClr val="4285F4"/>
          </a:solidFill>
          <a:ln/>
        </p:spPr>
      </p:sp>
      <p:sp>
        <p:nvSpPr>
          <p:cNvPr id="33" name="Shape 31"/>
          <p:cNvSpPr/>
          <p:nvPr/>
        </p:nvSpPr>
        <p:spPr>
          <a:xfrm>
            <a:off x="7534656" y="841248"/>
            <a:ext cx="2615184" cy="219456"/>
          </a:xfrm>
          <a:prstGeom prst="roundRect">
            <a:avLst>
              <a:gd name="adj" fmla="val 16667"/>
            </a:avLst>
          </a:prstGeom>
          <a:solidFill>
            <a:srgbClr val="E8F0FE"/>
          </a:solidFill>
          <a:ln/>
        </p:spPr>
      </p:sp>
      <p:sp>
        <p:nvSpPr>
          <p:cNvPr id="34" name="Text 32"/>
          <p:cNvSpPr/>
          <p:nvPr/>
        </p:nvSpPr>
        <p:spPr>
          <a:xfrm>
            <a:off x="7534656" y="841248"/>
            <a:ext cx="2615184" cy="219456"/>
          </a:xfrm>
          <a:prstGeom prst="rect">
            <a:avLst/>
          </a:prstGeom>
          <a:noFill/>
          <a:ln/>
        </p:spPr>
        <p:txBody>
          <a:bodyPr wrap="square" rtlCol="0" anchor="ctr"/>
          <a:lstStyle/>
          <a:p>
            <a:pPr algn="ctr" indent="0" marL="0">
              <a:buNone/>
            </a:pPr>
            <a:r>
              <a:rPr lang="en-US" sz="740" b="1" dirty="0">
                <a:solidFill>
                  <a:srgbClr val="174EA6"/>
                </a:solidFill>
                <a:latin typeface="Google Sans" pitchFamily="34" charset="0"/>
                <a:ea typeface="Google Sans" pitchFamily="34" charset="-122"/>
                <a:cs typeface="Google Sans" pitchFamily="34" charset="-120"/>
              </a:rPr>
              <a:t>AUDIT 01 • 3-PATTERN TAXONOMY LIVE</a:t>
            </a:r>
            <a:endParaRPr lang="en-US" sz="740" dirty="0"/>
          </a:p>
        </p:txBody>
      </p:sp>
      <p:sp>
        <p:nvSpPr>
          <p:cNvPr id="35" name="Text 33"/>
          <p:cNvSpPr/>
          <p:nvPr/>
        </p:nvSpPr>
        <p:spPr>
          <a:xfrm>
            <a:off x="7534656" y="1097280"/>
            <a:ext cx="4114800" cy="274320"/>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Patterns A, B &amp; C Verified Across Live GCP &amp; AWS</a:t>
            </a:r>
            <a:endParaRPr lang="en-US" sz="1050" dirty="0"/>
          </a:p>
        </p:txBody>
      </p:sp>
      <p:sp>
        <p:nvSpPr>
          <p:cNvPr id="36" name="Text 34"/>
          <p:cNvSpPr/>
          <p:nvPr/>
        </p:nvSpPr>
        <p:spPr>
          <a:xfrm>
            <a:off x="7534656" y="1371600"/>
            <a:ext cx="4114800" cy="530352"/>
          </a:xfrm>
          <a:prstGeom prst="rect">
            <a:avLst/>
          </a:prstGeom>
          <a:noFill/>
          <a:ln/>
        </p:spPr>
        <p:txBody>
          <a:bodyPr wrap="square" rtlCol="0" anchor="ctr"/>
          <a:lstStyle/>
          <a:p>
            <a:pPr indent="0" marL="0">
              <a:buNone/>
            </a:pPr>
            <a:r>
              <a:rPr lang="en-US" sz="860" dirty="0">
                <a:solidFill>
                  <a:srgbClr val="5F6368"/>
                </a:solidFill>
                <a:latin typeface="Roboto" pitchFamily="34" charset="0"/>
                <a:ea typeface="Roboto" pitchFamily="34" charset="-122"/>
                <a:cs typeface="Roboto" pitchFamily="34" charset="-120"/>
              </a:rPr>
              <a:t>Live across ramp-portal-dev (#248990048888), bbar-138hf0 (#48439189383) &amp; AWS Account #393036065405 inside gVisor sandboxes.</a:t>
            </a:r>
            <a:endParaRPr lang="en-US" sz="860" dirty="0"/>
          </a:p>
        </p:txBody>
      </p:sp>
      <p:sp>
        <p:nvSpPr>
          <p:cNvPr id="37" name="Shape 35"/>
          <p:cNvSpPr/>
          <p:nvPr/>
        </p:nvSpPr>
        <p:spPr>
          <a:xfrm>
            <a:off x="7351776" y="2103120"/>
            <a:ext cx="4443984" cy="1243584"/>
          </a:xfrm>
          <a:prstGeom prst="roundRect">
            <a:avLst>
              <a:gd name="adj" fmla="val 5882"/>
            </a:avLst>
          </a:prstGeom>
          <a:solidFill>
            <a:srgbClr val="F8F9FA"/>
          </a:solidFill>
          <a:ln w="12700">
            <a:solidFill>
              <a:srgbClr val="DADCE0"/>
            </a:solidFill>
            <a:prstDash val="solid"/>
          </a:ln>
        </p:spPr>
      </p:sp>
      <p:sp>
        <p:nvSpPr>
          <p:cNvPr id="38" name="Shape 36"/>
          <p:cNvSpPr/>
          <p:nvPr/>
        </p:nvSpPr>
        <p:spPr>
          <a:xfrm>
            <a:off x="7351776" y="2103120"/>
            <a:ext cx="82296" cy="1243584"/>
          </a:xfrm>
          <a:prstGeom prst="rect">
            <a:avLst/>
          </a:prstGeom>
          <a:solidFill>
            <a:srgbClr val="EA4335"/>
          </a:solidFill>
          <a:ln/>
        </p:spPr>
      </p:sp>
      <p:sp>
        <p:nvSpPr>
          <p:cNvPr id="39" name="Shape 37"/>
          <p:cNvSpPr/>
          <p:nvPr/>
        </p:nvSpPr>
        <p:spPr>
          <a:xfrm>
            <a:off x="7534656" y="2194560"/>
            <a:ext cx="2615184" cy="219456"/>
          </a:xfrm>
          <a:prstGeom prst="roundRect">
            <a:avLst>
              <a:gd name="adj" fmla="val 16667"/>
            </a:avLst>
          </a:prstGeom>
          <a:solidFill>
            <a:srgbClr val="FCE8E6"/>
          </a:solidFill>
          <a:ln/>
        </p:spPr>
      </p:sp>
      <p:sp>
        <p:nvSpPr>
          <p:cNvPr id="40" name="Text 38"/>
          <p:cNvSpPr/>
          <p:nvPr/>
        </p:nvSpPr>
        <p:spPr>
          <a:xfrm>
            <a:off x="7534656" y="2194560"/>
            <a:ext cx="2615184" cy="219456"/>
          </a:xfrm>
          <a:prstGeom prst="rect">
            <a:avLst/>
          </a:prstGeom>
          <a:noFill/>
          <a:ln/>
        </p:spPr>
        <p:txBody>
          <a:bodyPr wrap="square" rtlCol="0" anchor="ctr"/>
          <a:lstStyle/>
          <a:p>
            <a:pPr algn="ctr" indent="0" marL="0">
              <a:buNone/>
            </a:pPr>
            <a:r>
              <a:rPr lang="en-US" sz="740" b="1" dirty="0">
                <a:solidFill>
                  <a:srgbClr val="A50E0E"/>
                </a:solidFill>
                <a:latin typeface="Google Sans" pitchFamily="34" charset="0"/>
                <a:ea typeface="Google Sans" pitchFamily="34" charset="-122"/>
                <a:cs typeface="Google Sans" pitchFamily="34" charset="-120"/>
              </a:rPr>
              <a:t>AUDIT 02 • &lt;0.15ms JWKS &amp; JTI DENY-LIST</a:t>
            </a:r>
            <a:endParaRPr lang="en-US" sz="740" dirty="0"/>
          </a:p>
        </p:txBody>
      </p:sp>
      <p:sp>
        <p:nvSpPr>
          <p:cNvPr id="41" name="Text 39"/>
          <p:cNvSpPr/>
          <p:nvPr/>
        </p:nvSpPr>
        <p:spPr>
          <a:xfrm>
            <a:off x="7534656" y="2450592"/>
            <a:ext cx="4114800" cy="274320"/>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RFC 8693 OBO + DPoP &amp; ~3ms Valkey Revoke Check</a:t>
            </a:r>
            <a:endParaRPr lang="en-US" sz="1050" dirty="0"/>
          </a:p>
        </p:txBody>
      </p:sp>
      <p:sp>
        <p:nvSpPr>
          <p:cNvPr id="42" name="Text 40"/>
          <p:cNvSpPr/>
          <p:nvPr/>
        </p:nvSpPr>
        <p:spPr>
          <a:xfrm>
            <a:off x="7534656" y="2724912"/>
            <a:ext cx="4114800" cy="530352"/>
          </a:xfrm>
          <a:prstGeom prst="rect">
            <a:avLst/>
          </a:prstGeom>
          <a:noFill/>
          <a:ln/>
        </p:spPr>
        <p:txBody>
          <a:bodyPr wrap="square" rtlCol="0" anchor="ctr"/>
          <a:lstStyle/>
          <a:p>
            <a:pPr indent="0" marL="0">
              <a:buNone/>
            </a:pPr>
            <a:r>
              <a:rPr lang="en-US" sz="860" dirty="0">
                <a:solidFill>
                  <a:srgbClr val="5F6368"/>
                </a:solidFill>
                <a:latin typeface="Roboto" pitchFamily="34" charset="0"/>
                <a:ea typeface="Roboto" pitchFamily="34" charset="-122"/>
                <a:cs typeface="Roboto" pitchFamily="34" charset="-120"/>
              </a:rPr>
              <a:t>Strips spoofed X-Tenant-Id headers at Cloud Armor edge, verifies KMS ECDSA P-256 STS JWT via cached JWKS (&lt;0.15ms), and checks ~3ms Valkey JTI deny-list.</a:t>
            </a:r>
            <a:endParaRPr lang="en-US" sz="860" dirty="0"/>
          </a:p>
        </p:txBody>
      </p:sp>
      <p:sp>
        <p:nvSpPr>
          <p:cNvPr id="43" name="Shape 41"/>
          <p:cNvSpPr/>
          <p:nvPr/>
        </p:nvSpPr>
        <p:spPr>
          <a:xfrm>
            <a:off x="7351776" y="3456432"/>
            <a:ext cx="4443984" cy="1243584"/>
          </a:xfrm>
          <a:prstGeom prst="roundRect">
            <a:avLst>
              <a:gd name="adj" fmla="val 5882"/>
            </a:avLst>
          </a:prstGeom>
          <a:solidFill>
            <a:srgbClr val="F8F9FA"/>
          </a:solidFill>
          <a:ln w="12700">
            <a:solidFill>
              <a:srgbClr val="DADCE0"/>
            </a:solidFill>
            <a:prstDash val="solid"/>
          </a:ln>
        </p:spPr>
      </p:sp>
      <p:sp>
        <p:nvSpPr>
          <p:cNvPr id="44" name="Shape 42"/>
          <p:cNvSpPr/>
          <p:nvPr/>
        </p:nvSpPr>
        <p:spPr>
          <a:xfrm>
            <a:off x="7351776" y="3456432"/>
            <a:ext cx="82296" cy="1243584"/>
          </a:xfrm>
          <a:prstGeom prst="rect">
            <a:avLst/>
          </a:prstGeom>
          <a:solidFill>
            <a:srgbClr val="FBBC04"/>
          </a:solidFill>
          <a:ln/>
        </p:spPr>
      </p:sp>
      <p:sp>
        <p:nvSpPr>
          <p:cNvPr id="45" name="Shape 43"/>
          <p:cNvSpPr/>
          <p:nvPr/>
        </p:nvSpPr>
        <p:spPr>
          <a:xfrm>
            <a:off x="7534656" y="3547872"/>
            <a:ext cx="2615184" cy="219456"/>
          </a:xfrm>
          <a:prstGeom prst="roundRect">
            <a:avLst>
              <a:gd name="adj" fmla="val 16667"/>
            </a:avLst>
          </a:prstGeom>
          <a:solidFill>
            <a:srgbClr val="FEF7E0"/>
          </a:solidFill>
          <a:ln/>
        </p:spPr>
      </p:sp>
      <p:sp>
        <p:nvSpPr>
          <p:cNvPr id="46" name="Text 44"/>
          <p:cNvSpPr/>
          <p:nvPr/>
        </p:nvSpPr>
        <p:spPr>
          <a:xfrm>
            <a:off x="7534656" y="3547872"/>
            <a:ext cx="2615184" cy="219456"/>
          </a:xfrm>
          <a:prstGeom prst="rect">
            <a:avLst/>
          </a:prstGeom>
          <a:noFill/>
          <a:ln/>
        </p:spPr>
        <p:txBody>
          <a:bodyPr wrap="square" rtlCol="0" anchor="ctr"/>
          <a:lstStyle/>
          <a:p>
            <a:pPr algn="ctr" indent="0" marL="0">
              <a:buNone/>
            </a:pPr>
            <a:r>
              <a:rPr lang="en-US" sz="740" b="1" dirty="0">
                <a:solidFill>
                  <a:srgbClr val="B06000"/>
                </a:solidFill>
                <a:latin typeface="Google Sans" pitchFamily="34" charset="0"/>
                <a:ea typeface="Google Sans" pitchFamily="34" charset="-122"/>
                <a:cs typeface="Google Sans" pitchFamily="34" charset="-120"/>
              </a:rPr>
              <a:t>AUDIT 03 • ~42ms p95 &amp; &lt;5s SCAN+UNLINK</a:t>
            </a:r>
            <a:endParaRPr lang="en-US" sz="740" dirty="0"/>
          </a:p>
        </p:txBody>
      </p:sp>
      <p:sp>
        <p:nvSpPr>
          <p:cNvPr id="47" name="Text 45"/>
          <p:cNvSpPr/>
          <p:nvPr/>
        </p:nvSpPr>
        <p:spPr>
          <a:xfrm>
            <a:off x="7534656" y="3803904"/>
            <a:ext cx="4114800" cy="274320"/>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120/600 RPM Bulkheads &amp; Single-Flight Recovery</a:t>
            </a:r>
            <a:endParaRPr lang="en-US" sz="1050" dirty="0"/>
          </a:p>
        </p:txBody>
      </p:sp>
      <p:sp>
        <p:nvSpPr>
          <p:cNvPr id="48" name="Text 46"/>
          <p:cNvSpPr/>
          <p:nvPr/>
        </p:nvSpPr>
        <p:spPr>
          <a:xfrm>
            <a:off x="7534656" y="4078224"/>
            <a:ext cx="4114800" cy="530352"/>
          </a:xfrm>
          <a:prstGeom prst="rect">
            <a:avLst/>
          </a:prstGeom>
          <a:noFill/>
          <a:ln/>
        </p:spPr>
        <p:txBody>
          <a:bodyPr wrap="square" rtlCol="0" anchor="ctr"/>
          <a:lstStyle/>
          <a:p>
            <a:pPr indent="0" marL="0">
              <a:buNone/>
            </a:pPr>
            <a:r>
              <a:rPr lang="en-US" sz="860" dirty="0">
                <a:solidFill>
                  <a:srgbClr val="5F6368"/>
                </a:solidFill>
                <a:latin typeface="Roboto" pitchFamily="34" charset="0"/>
                <a:ea typeface="Roboto" pitchFamily="34" charset="-122"/>
                <a:cs typeface="Roboto" pitchFamily="34" charset="-120"/>
              </a:rPr>
              <a:t>Proves ~42ms p95 5-Hop overhead (Hop 4 DLP ~22ms), HTTP 429 Retry-After jitter, &lt;5s targeted Valkey SCAN+UNLINK &amp; SET NX single-flight re-hydration.</a:t>
            </a:r>
            <a:endParaRPr lang="en-US" sz="860" dirty="0"/>
          </a:p>
        </p:txBody>
      </p:sp>
      <p:sp>
        <p:nvSpPr>
          <p:cNvPr id="49" name="Shape 47"/>
          <p:cNvSpPr/>
          <p:nvPr/>
        </p:nvSpPr>
        <p:spPr>
          <a:xfrm>
            <a:off x="7351776" y="4809744"/>
            <a:ext cx="4443984" cy="1243584"/>
          </a:xfrm>
          <a:prstGeom prst="roundRect">
            <a:avLst>
              <a:gd name="adj" fmla="val 5882"/>
            </a:avLst>
          </a:prstGeom>
          <a:solidFill>
            <a:srgbClr val="F8F9FA"/>
          </a:solidFill>
          <a:ln w="12700">
            <a:solidFill>
              <a:srgbClr val="DADCE0"/>
            </a:solidFill>
            <a:prstDash val="solid"/>
          </a:ln>
        </p:spPr>
      </p:sp>
      <p:sp>
        <p:nvSpPr>
          <p:cNvPr id="50" name="Shape 48"/>
          <p:cNvSpPr/>
          <p:nvPr/>
        </p:nvSpPr>
        <p:spPr>
          <a:xfrm>
            <a:off x="7351776" y="4809744"/>
            <a:ext cx="82296" cy="1243584"/>
          </a:xfrm>
          <a:prstGeom prst="rect">
            <a:avLst/>
          </a:prstGeom>
          <a:solidFill>
            <a:srgbClr val="34A853"/>
          </a:solidFill>
          <a:ln/>
        </p:spPr>
      </p:sp>
      <p:sp>
        <p:nvSpPr>
          <p:cNvPr id="51" name="Shape 49"/>
          <p:cNvSpPr/>
          <p:nvPr/>
        </p:nvSpPr>
        <p:spPr>
          <a:xfrm>
            <a:off x="7534656" y="4901184"/>
            <a:ext cx="2615184" cy="219456"/>
          </a:xfrm>
          <a:prstGeom prst="roundRect">
            <a:avLst>
              <a:gd name="adj" fmla="val 16667"/>
            </a:avLst>
          </a:prstGeom>
          <a:solidFill>
            <a:srgbClr val="E6F4EA"/>
          </a:solidFill>
          <a:ln/>
        </p:spPr>
      </p:sp>
      <p:sp>
        <p:nvSpPr>
          <p:cNvPr id="52" name="Text 50"/>
          <p:cNvSpPr/>
          <p:nvPr/>
        </p:nvSpPr>
        <p:spPr>
          <a:xfrm>
            <a:off x="7534656" y="4901184"/>
            <a:ext cx="2615184" cy="219456"/>
          </a:xfrm>
          <a:prstGeom prst="rect">
            <a:avLst/>
          </a:prstGeom>
          <a:noFill/>
          <a:ln/>
        </p:spPr>
        <p:txBody>
          <a:bodyPr wrap="square" rtlCol="0" anchor="ctr"/>
          <a:lstStyle/>
          <a:p>
            <a:pPr algn="ctr" indent="0" marL="0">
              <a:buNone/>
            </a:pPr>
            <a:r>
              <a:rPr lang="en-US" sz="740" b="1" dirty="0">
                <a:solidFill>
                  <a:srgbClr val="0D652D"/>
                </a:solidFill>
                <a:latin typeface="Google Sans" pitchFamily="34" charset="0"/>
                <a:ea typeface="Google Sans" pitchFamily="34" charset="-122"/>
                <a:cs typeface="Google Sans" pitchFamily="34" charset="-120"/>
              </a:rPr>
              <a:t>AUDIT 04 • 20 BEFORE/AFTER 3P UIs &amp; 30/30 SAAS</a:t>
            </a:r>
            <a:endParaRPr lang="en-US" sz="740" dirty="0"/>
          </a:p>
        </p:txBody>
      </p:sp>
      <p:sp>
        <p:nvSpPr>
          <p:cNvPr id="53" name="Text 51"/>
          <p:cNvSpPr/>
          <p:nvPr/>
        </p:nvSpPr>
        <p:spPr>
          <a:xfrm>
            <a:off x="7534656" y="5157216"/>
            <a:ext cx="4114800" cy="274320"/>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Metabase + Trino Before/After UIs &amp; 30/30 MCP PASS</a:t>
            </a:r>
            <a:endParaRPr lang="en-US" sz="1050" dirty="0"/>
          </a:p>
        </p:txBody>
      </p:sp>
      <p:sp>
        <p:nvSpPr>
          <p:cNvPr id="54" name="Text 52"/>
          <p:cNvSpPr/>
          <p:nvPr/>
        </p:nvSpPr>
        <p:spPr>
          <a:xfrm>
            <a:off x="7534656" y="5431536"/>
            <a:ext cx="4114800" cy="530352"/>
          </a:xfrm>
          <a:prstGeom prst="rect">
            <a:avLst/>
          </a:prstGeom>
          <a:noFill/>
          <a:ln/>
        </p:spPr>
        <p:txBody>
          <a:bodyPr wrap="square" rtlCol="0" anchor="ctr"/>
          <a:lstStyle/>
          <a:p>
            <a:pPr indent="0" marL="0">
              <a:buNone/>
            </a:pPr>
            <a:r>
              <a:rPr lang="en-US" sz="860" dirty="0">
                <a:solidFill>
                  <a:srgbClr val="5F6368"/>
                </a:solidFill>
                <a:latin typeface="Roboto" pitchFamily="34" charset="0"/>
                <a:ea typeface="Roboto" pitchFamily="34" charset="-122"/>
                <a:cs typeface="Roboto" pitchFamily="34" charset="-120"/>
              </a:rPr>
              <a:t>Pairs 20/20 GCP + 30/30 AWS AgentCore MCP assertions with 20 genuine 2880×1800 Before/After Retina 3P SaaS UI proofs.</a:t>
            </a:r>
            <a:endParaRPr lang="en-US" sz="860" dirty="0"/>
          </a:p>
        </p:txBody>
      </p:sp>
      <p:sp>
        <p:nvSpPr>
          <p:cNvPr id="55" name="Text 53"/>
          <p:cNvSpPr/>
          <p:nvPr/>
        </p:nvSpPr>
        <p:spPr>
          <a:xfrm>
            <a:off x="365760" y="6601968"/>
            <a:ext cx="11460175" cy="201168"/>
          </a:xfrm>
          <a:prstGeom prst="rect">
            <a:avLst/>
          </a:prstGeom>
          <a:noFill/>
          <a:ln/>
        </p:spPr>
        <p:txBody>
          <a:bodyPr wrap="none" rtlCol="0" anchor="ctr"/>
          <a:lstStyle/>
          <a:p>
            <a:pPr algn="l" indent="0" marL="0">
              <a:buNone/>
            </a:pPr>
            <a:r>
              <a:rPr lang="en-US" sz="70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690" dirty="0">
                <a:solidFill>
                  <a:srgbClr val="5F6368"/>
                </a:solidFill>
                <a:latin typeface="Roboto" pitchFamily="34" charset="0"/>
                <a:ea typeface="Roboto" pitchFamily="34" charset="-122"/>
                <a:cs typeface="Roboto" pitchFamily="34" charset="-120"/>
              </a:rPr>
              <a:t>Workstream 1 • Reference Architecture &amp; Cloud Architecture Center Doc PR  •  Act III Forensic Verification Audit: Grounded Google Cloud CLI &amp; Telemetry Receipts + 100%…  •  </a:t>
            </a:r>
            <a:pPr algn="l" indent="0" marL="0">
              <a:buNone/>
            </a:pPr>
            <a:r>
              <a:rPr lang="en-US" sz="700" b="1" dirty="0">
                <a:solidFill>
                  <a:srgbClr val="3C4043"/>
                </a:solidFill>
                <a:latin typeface="Google Sans" pitchFamily="34" charset="0"/>
                <a:ea typeface="Google Sans" pitchFamily="34" charset="-122"/>
                <a:cs typeface="Google Sans" pitchFamily="34" charset="-120"/>
              </a:rPr>
              <a:t>Proprietary + Confidential</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WS1</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ACT V • WELL-ARCHITECTED SLA SCORECARD &amp; 5-PART ENGINEERING ROADMAP</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NEXT-STEPS • ACTION PLAN</a:t>
            </a:r>
            <a:endParaRPr lang="en-US" sz="750" dirty="0"/>
          </a:p>
        </p:txBody>
      </p:sp>
      <p:sp>
        <p:nvSpPr>
          <p:cNvPr id="17" name="Text 15"/>
          <p:cNvSpPr/>
          <p:nvPr/>
        </p:nvSpPr>
        <p:spPr>
          <a:xfrm>
            <a:off x="411480" y="658368"/>
            <a:ext cx="11368735" cy="365760"/>
          </a:xfrm>
          <a:prstGeom prst="rect">
            <a:avLst/>
          </a:prstGeom>
          <a:noFill/>
          <a:ln/>
        </p:spPr>
        <p:txBody>
          <a:bodyPr wrap="square" rtlCol="0" anchor="ctr"/>
          <a:lstStyle/>
          <a:p>
            <a:pPr indent="0" marL="0">
              <a:buNone/>
            </a:pPr>
            <a:r>
              <a:rPr lang="en-US" sz="1900" b="1" dirty="0">
                <a:solidFill>
                  <a:srgbClr val="3C4043"/>
                </a:solidFill>
                <a:latin typeface="Google Sans" pitchFamily="34" charset="0"/>
                <a:ea typeface="Google Sans" pitchFamily="34" charset="-122"/>
                <a:cs typeface="Google Sans" pitchFamily="34" charset="-120"/>
              </a:rPr>
              <a:t>Well-Architected SLA Scorecard &amp; 5-Part Engineering Roadmap</a:t>
            </a:r>
            <a:endParaRPr lang="en-US" sz="1900" dirty="0"/>
          </a:p>
        </p:txBody>
      </p:sp>
      <p:sp>
        <p:nvSpPr>
          <p:cNvPr id="18" name="Text 16"/>
          <p:cNvSpPr/>
          <p:nvPr/>
        </p:nvSpPr>
        <p:spPr>
          <a:xfrm>
            <a:off x="411480" y="1024128"/>
            <a:ext cx="11368735" cy="237744"/>
          </a:xfrm>
          <a:prstGeom prst="rect">
            <a:avLst/>
          </a:prstGeom>
          <a:noFill/>
          <a:ln/>
        </p:spPr>
        <p:txBody>
          <a:bodyPr wrap="square" rtlCol="0" anchor="ctr"/>
          <a:lstStyle/>
          <a:p>
            <a:pPr indent="0" marL="0">
              <a:buNone/>
            </a:pPr>
            <a:r>
              <a:rPr lang="en-US" sz="1000" dirty="0">
                <a:solidFill>
                  <a:srgbClr val="5F6368"/>
                </a:solidFill>
                <a:latin typeface="Roboto" pitchFamily="34" charset="0"/>
                <a:ea typeface="Roboto" pitchFamily="34" charset="-122"/>
                <a:cs typeface="Roboto" pitchFamily="34" charset="-120"/>
              </a:rPr>
              <a:t>Well-Architected SLAs (~42ms 5-Hop • ~1.8s cold / ~420ms warm TTFT • &lt;60s CMEK / &lt;5s L1 purge • &lt;30s cross-region RTO • 84.7% token &amp; 74% TCO savings) + 5 Runnable Milestones.</a:t>
            </a:r>
            <a:endParaRPr lang="en-US" sz="1000" dirty="0"/>
          </a:p>
        </p:txBody>
      </p:sp>
      <p:sp>
        <p:nvSpPr>
          <p:cNvPr id="19" name="Shape 17"/>
          <p:cNvSpPr/>
          <p:nvPr/>
        </p:nvSpPr>
        <p:spPr>
          <a:xfrm>
            <a:off x="411480" y="1353312"/>
            <a:ext cx="3655771" cy="2282342"/>
          </a:xfrm>
          <a:prstGeom prst="roundRect">
            <a:avLst>
              <a:gd name="adj" fmla="val 3205"/>
            </a:avLst>
          </a:prstGeom>
          <a:solidFill>
            <a:srgbClr val="F8F9FA"/>
          </a:solidFill>
          <a:ln w="12700">
            <a:solidFill>
              <a:srgbClr val="DADCE0"/>
            </a:solidFill>
            <a:prstDash val="solid"/>
          </a:ln>
        </p:spPr>
      </p:sp>
      <p:sp>
        <p:nvSpPr>
          <p:cNvPr id="20" name="Shape 18"/>
          <p:cNvSpPr/>
          <p:nvPr/>
        </p:nvSpPr>
        <p:spPr>
          <a:xfrm>
            <a:off x="411480" y="1353312"/>
            <a:ext cx="3655771" cy="59436"/>
          </a:xfrm>
          <a:prstGeom prst="rect">
            <a:avLst/>
          </a:prstGeom>
          <a:solidFill>
            <a:srgbClr val="4285F4"/>
          </a:solidFill>
          <a:ln/>
        </p:spPr>
      </p:sp>
      <p:sp>
        <p:nvSpPr>
          <p:cNvPr id="21" name="Shape 19"/>
          <p:cNvSpPr/>
          <p:nvPr/>
        </p:nvSpPr>
        <p:spPr>
          <a:xfrm>
            <a:off x="557784" y="1481328"/>
            <a:ext cx="365760" cy="256032"/>
          </a:xfrm>
          <a:prstGeom prst="roundRect">
            <a:avLst>
              <a:gd name="adj" fmla="val 21429"/>
            </a:avLst>
          </a:prstGeom>
          <a:solidFill>
            <a:srgbClr val="E8F0FE"/>
          </a:solidFill>
          <a:ln/>
        </p:spPr>
      </p:sp>
      <p:sp>
        <p:nvSpPr>
          <p:cNvPr id="22" name="Text 20"/>
          <p:cNvSpPr/>
          <p:nvPr/>
        </p:nvSpPr>
        <p:spPr>
          <a:xfrm>
            <a:off x="557784" y="1481328"/>
            <a:ext cx="365760" cy="256032"/>
          </a:xfrm>
          <a:prstGeom prst="rect">
            <a:avLst/>
          </a:prstGeom>
          <a:noFill/>
          <a:ln/>
        </p:spPr>
        <p:txBody>
          <a:bodyPr wrap="square" rtlCol="0" anchor="ctr"/>
          <a:lstStyle/>
          <a:p>
            <a:pPr algn="ctr" indent="0" marL="0">
              <a:buNone/>
            </a:pPr>
            <a:r>
              <a:rPr lang="en-US" sz="920" b="1" dirty="0">
                <a:solidFill>
                  <a:srgbClr val="174EA6"/>
                </a:solidFill>
                <a:latin typeface="Google Sans" pitchFamily="34" charset="0"/>
                <a:ea typeface="Google Sans" pitchFamily="34" charset="-122"/>
                <a:cs typeface="Google Sans" pitchFamily="34" charset="-120"/>
              </a:rPr>
              <a:t>01</a:t>
            </a:r>
            <a:endParaRPr lang="en-US" sz="920" dirty="0"/>
          </a:p>
        </p:txBody>
      </p:sp>
      <p:sp>
        <p:nvSpPr>
          <p:cNvPr id="23" name="Text 21"/>
          <p:cNvSpPr/>
          <p:nvPr/>
        </p:nvSpPr>
        <p:spPr>
          <a:xfrm>
            <a:off x="996696" y="1463040"/>
            <a:ext cx="2924251" cy="329184"/>
          </a:xfrm>
          <a:prstGeom prst="rect">
            <a:avLst/>
          </a:prstGeom>
          <a:noFill/>
          <a:ln/>
        </p:spPr>
        <p:txBody>
          <a:bodyPr wrap="square" rtlCol="0" anchor="ctr"/>
          <a:lstStyle/>
          <a:p>
            <a:pPr indent="0" marL="0">
              <a:buNone/>
            </a:pPr>
            <a:r>
              <a:rPr lang="en-US" sz="1040" b="1" dirty="0">
                <a:solidFill>
                  <a:srgbClr val="3C4043"/>
                </a:solidFill>
                <a:latin typeface="Google Sans" pitchFamily="34" charset="0"/>
                <a:ea typeface="Google Sans" pitchFamily="34" charset="-122"/>
                <a:cs typeface="Google Sans" pitchFamily="34" charset="-120"/>
              </a:rPr>
              <a:t>Part 1 (Slides 1–4) — Isolation Topologies &amp; 5-Hop Core</a:t>
            </a:r>
            <a:endParaRPr lang="en-US" sz="1040" dirty="0"/>
          </a:p>
        </p:txBody>
      </p:sp>
      <p:sp>
        <p:nvSpPr>
          <p:cNvPr id="24" name="Shape 22"/>
          <p:cNvSpPr/>
          <p:nvPr/>
        </p:nvSpPr>
        <p:spPr>
          <a:xfrm>
            <a:off x="557784" y="1847088"/>
            <a:ext cx="3363163" cy="9144"/>
          </a:xfrm>
          <a:prstGeom prst="rect">
            <a:avLst/>
          </a:prstGeom>
          <a:solidFill>
            <a:srgbClr val="DADCE0"/>
          </a:solidFill>
          <a:ln/>
        </p:spPr>
      </p:sp>
      <p:sp>
        <p:nvSpPr>
          <p:cNvPr id="25" name="Text 23"/>
          <p:cNvSpPr/>
          <p:nvPr/>
        </p:nvSpPr>
        <p:spPr>
          <a:xfrm>
            <a:off x="557784" y="1901952"/>
            <a:ext cx="3363163" cy="874166"/>
          </a:xfrm>
          <a:prstGeom prst="rect">
            <a:avLst/>
          </a:prstGeom>
          <a:noFill/>
          <a:ln/>
        </p:spPr>
        <p:txBody>
          <a:bodyPr wrap="square" rtlCol="0" anchor="t"/>
          <a:lstStyle/>
          <a:p>
            <a:pPr indent="0" marL="0">
              <a:buNone/>
            </a:pPr>
            <a:r>
              <a:rPr lang="en-US" sz="900" dirty="0">
                <a:solidFill>
                  <a:srgbClr val="5F6368"/>
                </a:solidFill>
                <a:latin typeface="Roboto" pitchFamily="34" charset="0"/>
                <a:ea typeface="Roboto" pitchFamily="34" charset="-122"/>
                <a:cs typeface="Roboto" pitchFamily="34" charset="-120"/>
              </a:rPr>
              <a:t>Deploy core-cymbal-agent/ (27-File Reference Workbench) with &lt;0.15ms cached-JWKS STS JWT verification, ~3ms Valkey JTI deny-list, and {tenant}:{user} 3LO token vaulting.</a:t>
            </a:r>
            <a:endParaRPr lang="en-US" sz="900" dirty="0"/>
          </a:p>
        </p:txBody>
      </p:sp>
      <p:sp>
        <p:nvSpPr>
          <p:cNvPr id="26" name="Shape 24"/>
          <p:cNvSpPr/>
          <p:nvPr/>
        </p:nvSpPr>
        <p:spPr>
          <a:xfrm>
            <a:off x="557784" y="2812694"/>
            <a:ext cx="3363163" cy="493776"/>
          </a:xfrm>
          <a:prstGeom prst="roundRect">
            <a:avLst>
              <a:gd name="adj" fmla="val 11111"/>
            </a:avLst>
          </a:prstGeom>
          <a:solidFill>
            <a:srgbClr val="FFFFFF"/>
          </a:solidFill>
          <a:ln w="9525">
            <a:solidFill>
              <a:srgbClr val="DADCE0"/>
            </a:solidFill>
            <a:prstDash val="solid"/>
          </a:ln>
        </p:spPr>
      </p:sp>
      <p:sp>
        <p:nvSpPr>
          <p:cNvPr id="27" name="Shape 25"/>
          <p:cNvSpPr/>
          <p:nvPr/>
        </p:nvSpPr>
        <p:spPr>
          <a:xfrm>
            <a:off x="557784" y="2812694"/>
            <a:ext cx="54864" cy="493776"/>
          </a:xfrm>
          <a:prstGeom prst="rect">
            <a:avLst/>
          </a:prstGeom>
          <a:solidFill>
            <a:srgbClr val="4285F4"/>
          </a:solidFill>
          <a:ln/>
        </p:spPr>
      </p:sp>
      <p:sp>
        <p:nvSpPr>
          <p:cNvPr id="28" name="Text 26"/>
          <p:cNvSpPr/>
          <p:nvPr/>
        </p:nvSpPr>
        <p:spPr>
          <a:xfrm>
            <a:off x="649224" y="2840126"/>
            <a:ext cx="3235147"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core-cymbal-agent/ • runtime_pipeline.py • models.py
</a:t>
            </a:r>
            <a:pPr indent="0" marL="0">
              <a:buNone/>
            </a:pPr>
            <a:r>
              <a:rPr lang="en-US" sz="730" dirty="0">
                <a:solidFill>
                  <a:srgbClr val="5F6368"/>
                </a:solidFill>
                <a:latin typeface="Roboto" pitchFamily="34" charset="0"/>
                <a:ea typeface="Roboto" pitchFamily="34" charset="-122"/>
                <a:cs typeface="Roboto" pitchFamily="34" charset="-120"/>
              </a:rPr>
              <a:t>Target &amp; SLA: SLA: &lt;0.15ms Cached JWKS • ~3ms JTI Deny-List • 3LO Vault</a:t>
            </a:r>
            <a:endParaRPr lang="en-US" sz="750" dirty="0"/>
          </a:p>
        </p:txBody>
      </p:sp>
      <p:sp>
        <p:nvSpPr>
          <p:cNvPr id="29" name="Shape 27"/>
          <p:cNvSpPr/>
          <p:nvPr/>
        </p:nvSpPr>
        <p:spPr>
          <a:xfrm>
            <a:off x="557784" y="3361334"/>
            <a:ext cx="3363163" cy="219456"/>
          </a:xfrm>
          <a:prstGeom prst="roundRect">
            <a:avLst>
              <a:gd name="adj" fmla="val 20833"/>
            </a:avLst>
          </a:prstGeom>
          <a:solidFill>
            <a:srgbClr val="E8F0FE"/>
          </a:solidFill>
          <a:ln/>
        </p:spPr>
      </p:sp>
      <p:sp>
        <p:nvSpPr>
          <p:cNvPr id="30" name="Text 28"/>
          <p:cNvSpPr/>
          <p:nvPr/>
        </p:nvSpPr>
        <p:spPr>
          <a:xfrm>
            <a:off x="612648" y="3361334"/>
            <a:ext cx="3253435" cy="219456"/>
          </a:xfrm>
          <a:prstGeom prst="rect">
            <a:avLst/>
          </a:prstGeom>
          <a:noFill/>
          <a:ln/>
        </p:spPr>
        <p:txBody>
          <a:bodyPr wrap="square" rtlCol="0" anchor="ctr"/>
          <a:lstStyle/>
          <a:p>
            <a:pPr indent="0" marL="0">
              <a:buNone/>
            </a:pPr>
            <a:r>
              <a:rPr lang="en-US" sz="750" b="1" dirty="0">
                <a:solidFill>
                  <a:srgbClr val="174EA6"/>
                </a:solidFill>
                <a:latin typeface="Google Sans" pitchFamily="34" charset="0"/>
                <a:ea typeface="Google Sans" pitchFamily="34" charset="-122"/>
                <a:cs typeface="Google Sans" pitchFamily="34" charset="-120"/>
              </a:rPr>
              <a:t>Owner: Platform Architecture  •  Part 1: Topologies &amp; Core (Slides 1–4)</a:t>
            </a:r>
            <a:endParaRPr lang="en-US" sz="750" dirty="0"/>
          </a:p>
        </p:txBody>
      </p:sp>
      <p:sp>
        <p:nvSpPr>
          <p:cNvPr id="31" name="Shape 29"/>
          <p:cNvSpPr/>
          <p:nvPr/>
        </p:nvSpPr>
        <p:spPr>
          <a:xfrm>
            <a:off x="4268419" y="1353312"/>
            <a:ext cx="3655771" cy="2282342"/>
          </a:xfrm>
          <a:prstGeom prst="roundRect">
            <a:avLst>
              <a:gd name="adj" fmla="val 3205"/>
            </a:avLst>
          </a:prstGeom>
          <a:solidFill>
            <a:srgbClr val="F8F9FA"/>
          </a:solidFill>
          <a:ln w="12700">
            <a:solidFill>
              <a:srgbClr val="DADCE0"/>
            </a:solidFill>
            <a:prstDash val="solid"/>
          </a:ln>
        </p:spPr>
      </p:sp>
      <p:sp>
        <p:nvSpPr>
          <p:cNvPr id="32" name="Shape 30"/>
          <p:cNvSpPr/>
          <p:nvPr/>
        </p:nvSpPr>
        <p:spPr>
          <a:xfrm>
            <a:off x="4268419" y="1353312"/>
            <a:ext cx="3655771" cy="59436"/>
          </a:xfrm>
          <a:prstGeom prst="rect">
            <a:avLst/>
          </a:prstGeom>
          <a:solidFill>
            <a:srgbClr val="EA4335"/>
          </a:solidFill>
          <a:ln/>
        </p:spPr>
      </p:sp>
      <p:sp>
        <p:nvSpPr>
          <p:cNvPr id="33" name="Shape 31"/>
          <p:cNvSpPr/>
          <p:nvPr/>
        </p:nvSpPr>
        <p:spPr>
          <a:xfrm>
            <a:off x="4414723" y="1481328"/>
            <a:ext cx="365760" cy="256032"/>
          </a:xfrm>
          <a:prstGeom prst="roundRect">
            <a:avLst>
              <a:gd name="adj" fmla="val 21429"/>
            </a:avLst>
          </a:prstGeom>
          <a:solidFill>
            <a:srgbClr val="FCE8E6"/>
          </a:solidFill>
          <a:ln/>
        </p:spPr>
      </p:sp>
      <p:sp>
        <p:nvSpPr>
          <p:cNvPr id="34" name="Text 32"/>
          <p:cNvSpPr/>
          <p:nvPr/>
        </p:nvSpPr>
        <p:spPr>
          <a:xfrm>
            <a:off x="4414723" y="1481328"/>
            <a:ext cx="365760" cy="256032"/>
          </a:xfrm>
          <a:prstGeom prst="rect">
            <a:avLst/>
          </a:prstGeom>
          <a:noFill/>
          <a:ln/>
        </p:spPr>
        <p:txBody>
          <a:bodyPr wrap="square" rtlCol="0" anchor="ctr"/>
          <a:lstStyle/>
          <a:p>
            <a:pPr algn="ctr" indent="0" marL="0">
              <a:buNone/>
            </a:pPr>
            <a:r>
              <a:rPr lang="en-US" sz="920" b="1" dirty="0">
                <a:solidFill>
                  <a:srgbClr val="A50E0E"/>
                </a:solidFill>
                <a:latin typeface="Google Sans" pitchFamily="34" charset="0"/>
                <a:ea typeface="Google Sans" pitchFamily="34" charset="-122"/>
                <a:cs typeface="Google Sans" pitchFamily="34" charset="-120"/>
              </a:rPr>
              <a:t>02</a:t>
            </a:r>
            <a:endParaRPr lang="en-US" sz="920" dirty="0"/>
          </a:p>
        </p:txBody>
      </p:sp>
      <p:sp>
        <p:nvSpPr>
          <p:cNvPr id="35" name="Text 33"/>
          <p:cNvSpPr/>
          <p:nvPr/>
        </p:nvSpPr>
        <p:spPr>
          <a:xfrm>
            <a:off x="4853635" y="1463040"/>
            <a:ext cx="2924251" cy="329184"/>
          </a:xfrm>
          <a:prstGeom prst="rect">
            <a:avLst/>
          </a:prstGeom>
          <a:noFill/>
          <a:ln/>
        </p:spPr>
        <p:txBody>
          <a:bodyPr wrap="square" rtlCol="0" anchor="ctr"/>
          <a:lstStyle/>
          <a:p>
            <a:pPr indent="0" marL="0">
              <a:buNone/>
            </a:pPr>
            <a:r>
              <a:rPr lang="en-US" sz="1040" b="1" dirty="0">
                <a:solidFill>
                  <a:srgbClr val="3C4043"/>
                </a:solidFill>
                <a:latin typeface="Google Sans" pitchFamily="34" charset="0"/>
                <a:ea typeface="Google Sans" pitchFamily="34" charset="-122"/>
                <a:cs typeface="Google Sans" pitchFamily="34" charset="-120"/>
              </a:rPr>
              <a:t>Part 2 (Slides 5, 6 &amp; 8) — 5-Hop Pipeline &amp; Pattern A Pool</a:t>
            </a:r>
            <a:endParaRPr lang="en-US" sz="1040" dirty="0"/>
          </a:p>
        </p:txBody>
      </p:sp>
      <p:sp>
        <p:nvSpPr>
          <p:cNvPr id="36" name="Shape 34"/>
          <p:cNvSpPr/>
          <p:nvPr/>
        </p:nvSpPr>
        <p:spPr>
          <a:xfrm>
            <a:off x="4414723" y="1847088"/>
            <a:ext cx="3363163" cy="9144"/>
          </a:xfrm>
          <a:prstGeom prst="rect">
            <a:avLst/>
          </a:prstGeom>
          <a:solidFill>
            <a:srgbClr val="DADCE0"/>
          </a:solidFill>
          <a:ln/>
        </p:spPr>
      </p:sp>
      <p:sp>
        <p:nvSpPr>
          <p:cNvPr id="37" name="Text 35"/>
          <p:cNvSpPr/>
          <p:nvPr/>
        </p:nvSpPr>
        <p:spPr>
          <a:xfrm>
            <a:off x="4414723" y="1901952"/>
            <a:ext cx="3363163" cy="874166"/>
          </a:xfrm>
          <a:prstGeom prst="rect">
            <a:avLst/>
          </a:prstGeom>
          <a:noFill/>
          <a:ln/>
        </p:spPr>
        <p:txBody>
          <a:bodyPr wrap="square" rtlCol="0" anchor="t"/>
          <a:lstStyle/>
          <a:p>
            <a:pPr indent="0" marL="0">
              <a:buNone/>
            </a:pPr>
            <a:r>
              <a:rPr lang="en-US" sz="900" dirty="0">
                <a:solidFill>
                  <a:srgbClr val="5F6368"/>
                </a:solidFill>
                <a:latin typeface="Roboto" pitchFamily="34" charset="0"/>
                <a:ea typeface="Roboto" pitchFamily="34" charset="-122"/>
                <a:cs typeface="Roboto" pitchFamily="34" charset="-120"/>
              </a:rPr>
              <a:t>Apply Terraform 2.6 (2.6-terraform-starter/), certify ~42ms p95 5-Hop overhead (~22ms DLP), ~1.8s cold / ~420ms warm TTFT, 84.7% token savings (90% 32k prefix cache), and pass run_breach_simulations.py (10/10 PASS).</a:t>
            </a:r>
            <a:endParaRPr lang="en-US" sz="900" dirty="0"/>
          </a:p>
        </p:txBody>
      </p:sp>
      <p:sp>
        <p:nvSpPr>
          <p:cNvPr id="38" name="Shape 36"/>
          <p:cNvSpPr/>
          <p:nvPr/>
        </p:nvSpPr>
        <p:spPr>
          <a:xfrm>
            <a:off x="4414723" y="2812694"/>
            <a:ext cx="3363163" cy="493776"/>
          </a:xfrm>
          <a:prstGeom prst="roundRect">
            <a:avLst>
              <a:gd name="adj" fmla="val 11111"/>
            </a:avLst>
          </a:prstGeom>
          <a:solidFill>
            <a:srgbClr val="FFFFFF"/>
          </a:solidFill>
          <a:ln w="9525">
            <a:solidFill>
              <a:srgbClr val="DADCE0"/>
            </a:solidFill>
            <a:prstDash val="solid"/>
          </a:ln>
        </p:spPr>
      </p:sp>
      <p:sp>
        <p:nvSpPr>
          <p:cNvPr id="39" name="Shape 37"/>
          <p:cNvSpPr/>
          <p:nvPr/>
        </p:nvSpPr>
        <p:spPr>
          <a:xfrm>
            <a:off x="4414723" y="2812694"/>
            <a:ext cx="54864" cy="493776"/>
          </a:xfrm>
          <a:prstGeom prst="rect">
            <a:avLst/>
          </a:prstGeom>
          <a:solidFill>
            <a:srgbClr val="EA4335"/>
          </a:solidFill>
          <a:ln/>
        </p:spPr>
      </p:sp>
      <p:sp>
        <p:nvSpPr>
          <p:cNvPr id="40" name="Text 38"/>
          <p:cNvSpPr/>
          <p:nvPr/>
        </p:nvSpPr>
        <p:spPr>
          <a:xfrm>
            <a:off x="4506163" y="2840126"/>
            <a:ext cx="3235147"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2.6-terraform-starter/ • run_breach_simulations.py
</a:t>
            </a:r>
            <a:pPr indent="0" marL="0">
              <a:buNone/>
            </a:pPr>
            <a:r>
              <a:rPr lang="en-US" sz="730" dirty="0">
                <a:solidFill>
                  <a:srgbClr val="5F6368"/>
                </a:solidFill>
                <a:latin typeface="Roboto" pitchFamily="34" charset="0"/>
                <a:ea typeface="Roboto" pitchFamily="34" charset="-122"/>
                <a:cs typeface="Roboto" pitchFamily="34" charset="-120"/>
              </a:rPr>
              <a:t>Target &amp; SLA: SLA: ~42ms 5-Hop • ~420ms Warm TTFT • 84.7% Savings (10/10)</a:t>
            </a:r>
            <a:endParaRPr lang="en-US" sz="750" dirty="0"/>
          </a:p>
        </p:txBody>
      </p:sp>
      <p:sp>
        <p:nvSpPr>
          <p:cNvPr id="41" name="Shape 39"/>
          <p:cNvSpPr/>
          <p:nvPr/>
        </p:nvSpPr>
        <p:spPr>
          <a:xfrm>
            <a:off x="4414723" y="3361334"/>
            <a:ext cx="3363163" cy="219456"/>
          </a:xfrm>
          <a:prstGeom prst="roundRect">
            <a:avLst>
              <a:gd name="adj" fmla="val 20833"/>
            </a:avLst>
          </a:prstGeom>
          <a:solidFill>
            <a:srgbClr val="FCE8E6"/>
          </a:solidFill>
          <a:ln/>
        </p:spPr>
      </p:sp>
      <p:sp>
        <p:nvSpPr>
          <p:cNvPr id="42" name="Text 40"/>
          <p:cNvSpPr/>
          <p:nvPr/>
        </p:nvSpPr>
        <p:spPr>
          <a:xfrm>
            <a:off x="4469587" y="3361334"/>
            <a:ext cx="3253435" cy="219456"/>
          </a:xfrm>
          <a:prstGeom prst="rect">
            <a:avLst/>
          </a:prstGeom>
          <a:noFill/>
          <a:ln/>
        </p:spPr>
        <p:txBody>
          <a:bodyPr wrap="square" rtlCol="0" anchor="ctr"/>
          <a:lstStyle/>
          <a:p>
            <a:pPr indent="0" marL="0">
              <a:buNone/>
            </a:pPr>
            <a:r>
              <a:rPr lang="en-US" sz="750" b="1" dirty="0">
                <a:solidFill>
                  <a:srgbClr val="A50E0E"/>
                </a:solidFill>
                <a:latin typeface="Google Sans" pitchFamily="34" charset="0"/>
                <a:ea typeface="Google Sans" pitchFamily="34" charset="-122"/>
                <a:cs typeface="Google Sans" pitchFamily="34" charset="-120"/>
              </a:rPr>
              <a:t>Owner: Cloud Security &amp; IAM  •  Part 2: 5-Hop &amp; Pattern A</a:t>
            </a:r>
            <a:endParaRPr lang="en-US" sz="750" dirty="0"/>
          </a:p>
        </p:txBody>
      </p:sp>
      <p:sp>
        <p:nvSpPr>
          <p:cNvPr id="43" name="Shape 41"/>
          <p:cNvSpPr/>
          <p:nvPr/>
        </p:nvSpPr>
        <p:spPr>
          <a:xfrm>
            <a:off x="8124444" y="1353312"/>
            <a:ext cx="3655771" cy="2282342"/>
          </a:xfrm>
          <a:prstGeom prst="roundRect">
            <a:avLst>
              <a:gd name="adj" fmla="val 3205"/>
            </a:avLst>
          </a:prstGeom>
          <a:solidFill>
            <a:srgbClr val="F8F9FA"/>
          </a:solidFill>
          <a:ln w="12700">
            <a:solidFill>
              <a:srgbClr val="DADCE0"/>
            </a:solidFill>
            <a:prstDash val="solid"/>
          </a:ln>
        </p:spPr>
      </p:sp>
      <p:sp>
        <p:nvSpPr>
          <p:cNvPr id="44" name="Shape 42"/>
          <p:cNvSpPr/>
          <p:nvPr/>
        </p:nvSpPr>
        <p:spPr>
          <a:xfrm>
            <a:off x="8124444" y="1353312"/>
            <a:ext cx="3655771" cy="59436"/>
          </a:xfrm>
          <a:prstGeom prst="rect">
            <a:avLst/>
          </a:prstGeom>
          <a:solidFill>
            <a:srgbClr val="FBBC04"/>
          </a:solidFill>
          <a:ln/>
        </p:spPr>
      </p:sp>
      <p:sp>
        <p:nvSpPr>
          <p:cNvPr id="45" name="Shape 43"/>
          <p:cNvSpPr/>
          <p:nvPr/>
        </p:nvSpPr>
        <p:spPr>
          <a:xfrm>
            <a:off x="8270748" y="1481328"/>
            <a:ext cx="365760" cy="256032"/>
          </a:xfrm>
          <a:prstGeom prst="roundRect">
            <a:avLst>
              <a:gd name="adj" fmla="val 21429"/>
            </a:avLst>
          </a:prstGeom>
          <a:solidFill>
            <a:srgbClr val="FEF7E0"/>
          </a:solidFill>
          <a:ln/>
        </p:spPr>
      </p:sp>
      <p:sp>
        <p:nvSpPr>
          <p:cNvPr id="46" name="Text 44"/>
          <p:cNvSpPr/>
          <p:nvPr/>
        </p:nvSpPr>
        <p:spPr>
          <a:xfrm>
            <a:off x="8270748" y="1481328"/>
            <a:ext cx="365760" cy="256032"/>
          </a:xfrm>
          <a:prstGeom prst="rect">
            <a:avLst/>
          </a:prstGeom>
          <a:noFill/>
          <a:ln/>
        </p:spPr>
        <p:txBody>
          <a:bodyPr wrap="square" rtlCol="0" anchor="ctr"/>
          <a:lstStyle/>
          <a:p>
            <a:pPr algn="ctr" indent="0" marL="0">
              <a:buNone/>
            </a:pPr>
            <a:r>
              <a:rPr lang="en-US" sz="920" b="1" dirty="0">
                <a:solidFill>
                  <a:srgbClr val="B06000"/>
                </a:solidFill>
                <a:latin typeface="Google Sans" pitchFamily="34" charset="0"/>
                <a:ea typeface="Google Sans" pitchFamily="34" charset="-122"/>
                <a:cs typeface="Google Sans" pitchFamily="34" charset="-120"/>
              </a:rPr>
              <a:t>03</a:t>
            </a:r>
            <a:endParaRPr lang="en-US" sz="920" dirty="0"/>
          </a:p>
        </p:txBody>
      </p:sp>
      <p:sp>
        <p:nvSpPr>
          <p:cNvPr id="47" name="Text 45"/>
          <p:cNvSpPr/>
          <p:nvPr/>
        </p:nvSpPr>
        <p:spPr>
          <a:xfrm>
            <a:off x="8709660" y="1463040"/>
            <a:ext cx="2924251" cy="329184"/>
          </a:xfrm>
          <a:prstGeom prst="rect">
            <a:avLst/>
          </a:prstGeom>
          <a:noFill/>
          <a:ln/>
        </p:spPr>
        <p:txBody>
          <a:bodyPr wrap="square" rtlCol="0" anchor="ctr"/>
          <a:lstStyle/>
          <a:p>
            <a:pPr indent="0" marL="0">
              <a:buNone/>
            </a:pPr>
            <a:r>
              <a:rPr lang="en-US" sz="1040" b="1" dirty="0">
                <a:solidFill>
                  <a:srgbClr val="3C4043"/>
                </a:solidFill>
                <a:latin typeface="Google Sans" pitchFamily="34" charset="0"/>
                <a:ea typeface="Google Sans" pitchFamily="34" charset="-122"/>
                <a:cs typeface="Google Sans" pitchFamily="34" charset="-120"/>
              </a:rPr>
              <a:t>Part 3 (Slide 7) — Circuit Breakers, CMEK &amp; Valkey L1 Flush</a:t>
            </a:r>
            <a:endParaRPr lang="en-US" sz="1040" dirty="0"/>
          </a:p>
        </p:txBody>
      </p:sp>
      <p:sp>
        <p:nvSpPr>
          <p:cNvPr id="48" name="Shape 46"/>
          <p:cNvSpPr/>
          <p:nvPr/>
        </p:nvSpPr>
        <p:spPr>
          <a:xfrm>
            <a:off x="8270748" y="1847088"/>
            <a:ext cx="3363163" cy="9144"/>
          </a:xfrm>
          <a:prstGeom prst="rect">
            <a:avLst/>
          </a:prstGeom>
          <a:solidFill>
            <a:srgbClr val="DADCE0"/>
          </a:solidFill>
          <a:ln/>
        </p:spPr>
      </p:sp>
      <p:sp>
        <p:nvSpPr>
          <p:cNvPr id="49" name="Text 47"/>
          <p:cNvSpPr/>
          <p:nvPr/>
        </p:nvSpPr>
        <p:spPr>
          <a:xfrm>
            <a:off x="8270748" y="1901952"/>
            <a:ext cx="3363163" cy="874166"/>
          </a:xfrm>
          <a:prstGeom prst="rect">
            <a:avLst/>
          </a:prstGeom>
          <a:noFill/>
          <a:ln/>
        </p:spPr>
        <p:txBody>
          <a:bodyPr wrap="square" rtlCol="0" anchor="t"/>
          <a:lstStyle/>
          <a:p>
            <a:pPr indent="0" marL="0">
              <a:buNone/>
            </a:pPr>
            <a:r>
              <a:rPr lang="en-US" sz="900" dirty="0">
                <a:solidFill>
                  <a:srgbClr val="5F6368"/>
                </a:solidFill>
                <a:latin typeface="Roboto" pitchFamily="34" charset="0"/>
                <a:ea typeface="Roboto" pitchFamily="34" charset="-122"/>
                <a:cs typeface="Roboto" pitchFamily="34" charset="-120"/>
              </a:rPr>
              <a:t>Apply Terraform 3.6 (3.6-terraform-silo-blueprint/), certify gVisor sandbox, &lt;60s HTTP 423 CMEK kill-switch, &lt;5s Valkey SCAN+UNLINK (cache:{tenant}:*), SET NX PX 5000 recovery, and &lt;30s cross-region RTO (6/6 PASS).</a:t>
            </a:r>
            <a:endParaRPr lang="en-US" sz="900" dirty="0"/>
          </a:p>
        </p:txBody>
      </p:sp>
      <p:sp>
        <p:nvSpPr>
          <p:cNvPr id="50" name="Shape 48"/>
          <p:cNvSpPr/>
          <p:nvPr/>
        </p:nvSpPr>
        <p:spPr>
          <a:xfrm>
            <a:off x="8270748" y="2812694"/>
            <a:ext cx="3363163" cy="493776"/>
          </a:xfrm>
          <a:prstGeom prst="roundRect">
            <a:avLst>
              <a:gd name="adj" fmla="val 11111"/>
            </a:avLst>
          </a:prstGeom>
          <a:solidFill>
            <a:srgbClr val="FFFFFF"/>
          </a:solidFill>
          <a:ln w="9525">
            <a:solidFill>
              <a:srgbClr val="DADCE0"/>
            </a:solidFill>
            <a:prstDash val="solid"/>
          </a:ln>
        </p:spPr>
      </p:sp>
      <p:sp>
        <p:nvSpPr>
          <p:cNvPr id="51" name="Shape 49"/>
          <p:cNvSpPr/>
          <p:nvPr/>
        </p:nvSpPr>
        <p:spPr>
          <a:xfrm>
            <a:off x="8270748" y="2812694"/>
            <a:ext cx="54864" cy="493776"/>
          </a:xfrm>
          <a:prstGeom prst="rect">
            <a:avLst/>
          </a:prstGeom>
          <a:solidFill>
            <a:srgbClr val="FBBC04"/>
          </a:solidFill>
          <a:ln/>
        </p:spPr>
      </p:sp>
      <p:sp>
        <p:nvSpPr>
          <p:cNvPr id="52" name="Text 50"/>
          <p:cNvSpPr/>
          <p:nvPr/>
        </p:nvSpPr>
        <p:spPr>
          <a:xfrm>
            <a:off x="8362188" y="2840126"/>
            <a:ext cx="3235147"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3.6-terraform-silo-blueprint/ • run_silo_security_tests.py
</a:t>
            </a:r>
            <a:pPr indent="0" marL="0">
              <a:buNone/>
            </a:pPr>
            <a:r>
              <a:rPr lang="en-US" sz="730" dirty="0">
                <a:solidFill>
                  <a:srgbClr val="5F6368"/>
                </a:solidFill>
                <a:latin typeface="Roboto" pitchFamily="34" charset="0"/>
                <a:ea typeface="Roboto" pitchFamily="34" charset="-122"/>
                <a:cs typeface="Roboto" pitchFamily="34" charset="-120"/>
              </a:rPr>
              <a:t>Target &amp; SLA: SLA: &lt;60s CMEK (423) • &lt;5s SCAN+UNLINK • &lt;30s RTO (6/6)</a:t>
            </a:r>
            <a:endParaRPr lang="en-US" sz="750" dirty="0"/>
          </a:p>
        </p:txBody>
      </p:sp>
      <p:sp>
        <p:nvSpPr>
          <p:cNvPr id="53" name="Shape 51"/>
          <p:cNvSpPr/>
          <p:nvPr/>
        </p:nvSpPr>
        <p:spPr>
          <a:xfrm>
            <a:off x="8270748" y="3361334"/>
            <a:ext cx="3363163" cy="219456"/>
          </a:xfrm>
          <a:prstGeom prst="roundRect">
            <a:avLst>
              <a:gd name="adj" fmla="val 20833"/>
            </a:avLst>
          </a:prstGeom>
          <a:solidFill>
            <a:srgbClr val="FEF7E0"/>
          </a:solidFill>
          <a:ln/>
        </p:spPr>
      </p:sp>
      <p:sp>
        <p:nvSpPr>
          <p:cNvPr id="54" name="Text 52"/>
          <p:cNvSpPr/>
          <p:nvPr/>
        </p:nvSpPr>
        <p:spPr>
          <a:xfrm>
            <a:off x="8325612" y="3361334"/>
            <a:ext cx="3253435" cy="219456"/>
          </a:xfrm>
          <a:prstGeom prst="rect">
            <a:avLst/>
          </a:prstGeom>
          <a:noFill/>
          <a:ln/>
        </p:spPr>
        <p:txBody>
          <a:bodyPr wrap="square" rtlCol="0" anchor="ctr"/>
          <a:lstStyle/>
          <a:p>
            <a:pPr indent="0" marL="0">
              <a:buNone/>
            </a:pPr>
            <a:r>
              <a:rPr lang="en-US" sz="750" b="1" dirty="0">
                <a:solidFill>
                  <a:srgbClr val="B06000"/>
                </a:solidFill>
                <a:latin typeface="Google Sans" pitchFamily="34" charset="0"/>
                <a:ea typeface="Google Sans" pitchFamily="34" charset="-122"/>
                <a:cs typeface="Google Sans" pitchFamily="34" charset="-120"/>
              </a:rPr>
              <a:t>Owner: Data &amp; FinOps SRE  •  Part 3: Breakers &amp; Silos (Slide 7)</a:t>
            </a:r>
            <a:endParaRPr lang="en-US" sz="750" dirty="0"/>
          </a:p>
        </p:txBody>
      </p:sp>
      <p:sp>
        <p:nvSpPr>
          <p:cNvPr id="55" name="Shape 53"/>
          <p:cNvSpPr/>
          <p:nvPr/>
        </p:nvSpPr>
        <p:spPr>
          <a:xfrm>
            <a:off x="411480" y="3800246"/>
            <a:ext cx="5583326" cy="2234794"/>
          </a:xfrm>
          <a:prstGeom prst="roundRect">
            <a:avLst>
              <a:gd name="adj" fmla="val 3273"/>
            </a:avLst>
          </a:prstGeom>
          <a:solidFill>
            <a:srgbClr val="F8F9FA"/>
          </a:solidFill>
          <a:ln w="12700">
            <a:solidFill>
              <a:srgbClr val="DADCE0"/>
            </a:solidFill>
            <a:prstDash val="solid"/>
          </a:ln>
        </p:spPr>
      </p:sp>
      <p:sp>
        <p:nvSpPr>
          <p:cNvPr id="56" name="Shape 54"/>
          <p:cNvSpPr/>
          <p:nvPr/>
        </p:nvSpPr>
        <p:spPr>
          <a:xfrm>
            <a:off x="411480" y="3800246"/>
            <a:ext cx="5583326" cy="59436"/>
          </a:xfrm>
          <a:prstGeom prst="rect">
            <a:avLst/>
          </a:prstGeom>
          <a:solidFill>
            <a:srgbClr val="34A853"/>
          </a:solidFill>
          <a:ln/>
        </p:spPr>
      </p:sp>
      <p:sp>
        <p:nvSpPr>
          <p:cNvPr id="57" name="Shape 55"/>
          <p:cNvSpPr/>
          <p:nvPr/>
        </p:nvSpPr>
        <p:spPr>
          <a:xfrm>
            <a:off x="557784" y="3928262"/>
            <a:ext cx="365760" cy="256032"/>
          </a:xfrm>
          <a:prstGeom prst="roundRect">
            <a:avLst>
              <a:gd name="adj" fmla="val 21429"/>
            </a:avLst>
          </a:prstGeom>
          <a:solidFill>
            <a:srgbClr val="E6F4EA"/>
          </a:solidFill>
          <a:ln/>
        </p:spPr>
      </p:sp>
      <p:sp>
        <p:nvSpPr>
          <p:cNvPr id="58" name="Text 56"/>
          <p:cNvSpPr/>
          <p:nvPr/>
        </p:nvSpPr>
        <p:spPr>
          <a:xfrm>
            <a:off x="557784" y="3928262"/>
            <a:ext cx="365760" cy="256032"/>
          </a:xfrm>
          <a:prstGeom prst="rect">
            <a:avLst/>
          </a:prstGeom>
          <a:noFill/>
          <a:ln/>
        </p:spPr>
        <p:txBody>
          <a:bodyPr wrap="square" rtlCol="0" anchor="ctr"/>
          <a:lstStyle/>
          <a:p>
            <a:pPr algn="ctr" indent="0" marL="0">
              <a:buNone/>
            </a:pPr>
            <a:r>
              <a:rPr lang="en-US" sz="920" b="1" dirty="0">
                <a:solidFill>
                  <a:srgbClr val="0D652D"/>
                </a:solidFill>
                <a:latin typeface="Google Sans" pitchFamily="34" charset="0"/>
                <a:ea typeface="Google Sans" pitchFamily="34" charset="-122"/>
                <a:cs typeface="Google Sans" pitchFamily="34" charset="-120"/>
              </a:rPr>
              <a:t>04</a:t>
            </a:r>
            <a:endParaRPr lang="en-US" sz="920" dirty="0"/>
          </a:p>
        </p:txBody>
      </p:sp>
      <p:sp>
        <p:nvSpPr>
          <p:cNvPr id="59" name="Text 57"/>
          <p:cNvSpPr/>
          <p:nvPr/>
        </p:nvSpPr>
        <p:spPr>
          <a:xfrm>
            <a:off x="996696" y="3909974"/>
            <a:ext cx="4851806" cy="329184"/>
          </a:xfrm>
          <a:prstGeom prst="rect">
            <a:avLst/>
          </a:prstGeom>
          <a:noFill/>
          <a:ln/>
        </p:spPr>
        <p:txBody>
          <a:bodyPr wrap="square" rtlCol="0" anchor="ctr"/>
          <a:lstStyle/>
          <a:p>
            <a:pPr indent="0" marL="0">
              <a:buNone/>
            </a:pPr>
            <a:r>
              <a:rPr lang="en-US" sz="1140" b="1" dirty="0">
                <a:solidFill>
                  <a:srgbClr val="3C4043"/>
                </a:solidFill>
                <a:latin typeface="Google Sans" pitchFamily="34" charset="0"/>
                <a:ea typeface="Google Sans" pitchFamily="34" charset="-122"/>
                <a:cs typeface="Google Sans" pitchFamily="34" charset="-120"/>
              </a:rPr>
              <a:t>Part 4 (Slide 9) — EAP Gap Controls &amp; Pattern C Hybrid FinOps</a:t>
            </a:r>
            <a:endParaRPr lang="en-US" sz="1140" dirty="0"/>
          </a:p>
        </p:txBody>
      </p:sp>
      <p:sp>
        <p:nvSpPr>
          <p:cNvPr id="60" name="Shape 58"/>
          <p:cNvSpPr/>
          <p:nvPr/>
        </p:nvSpPr>
        <p:spPr>
          <a:xfrm>
            <a:off x="557784" y="4294022"/>
            <a:ext cx="5290718" cy="9144"/>
          </a:xfrm>
          <a:prstGeom prst="rect">
            <a:avLst/>
          </a:prstGeom>
          <a:solidFill>
            <a:srgbClr val="DADCE0"/>
          </a:solidFill>
          <a:ln/>
        </p:spPr>
      </p:sp>
      <p:sp>
        <p:nvSpPr>
          <p:cNvPr id="61" name="Text 59"/>
          <p:cNvSpPr/>
          <p:nvPr/>
        </p:nvSpPr>
        <p:spPr>
          <a:xfrm>
            <a:off x="557784" y="4348886"/>
            <a:ext cx="5290718" cy="826618"/>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Apply Terraform 4.6 (4.6-terraform-hybrid-psc-blueprint/), certify 74% portfolio TCO reduction (950 Pooled + 50 PSC Spokes), feature-flagged GAP-01..05 sunset hooks, BigQuery OTel FinOps SQL, and 0ms PSC cutover (4/4 PASS).</a:t>
            </a:r>
            <a:endParaRPr lang="en-US" sz="980" dirty="0"/>
          </a:p>
        </p:txBody>
      </p:sp>
      <p:sp>
        <p:nvSpPr>
          <p:cNvPr id="62" name="Shape 60"/>
          <p:cNvSpPr/>
          <p:nvPr/>
        </p:nvSpPr>
        <p:spPr>
          <a:xfrm>
            <a:off x="557784" y="5212080"/>
            <a:ext cx="5290718" cy="493776"/>
          </a:xfrm>
          <a:prstGeom prst="roundRect">
            <a:avLst>
              <a:gd name="adj" fmla="val 11111"/>
            </a:avLst>
          </a:prstGeom>
          <a:solidFill>
            <a:srgbClr val="FFFFFF"/>
          </a:solidFill>
          <a:ln w="9525">
            <a:solidFill>
              <a:srgbClr val="DADCE0"/>
            </a:solidFill>
            <a:prstDash val="solid"/>
          </a:ln>
        </p:spPr>
      </p:sp>
      <p:sp>
        <p:nvSpPr>
          <p:cNvPr id="63" name="Shape 61"/>
          <p:cNvSpPr/>
          <p:nvPr/>
        </p:nvSpPr>
        <p:spPr>
          <a:xfrm>
            <a:off x="557784" y="5212080"/>
            <a:ext cx="54864" cy="493776"/>
          </a:xfrm>
          <a:prstGeom prst="rect">
            <a:avLst/>
          </a:prstGeom>
          <a:solidFill>
            <a:srgbClr val="34A853"/>
          </a:solidFill>
          <a:ln/>
        </p:spPr>
      </p:sp>
      <p:sp>
        <p:nvSpPr>
          <p:cNvPr id="64" name="Text 62"/>
          <p:cNvSpPr/>
          <p:nvPr/>
        </p:nvSpPr>
        <p:spPr>
          <a:xfrm>
            <a:off x="649224" y="5239512"/>
            <a:ext cx="5162702"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4.6-terraform-hybrid-psc-blueprint/ • run_tier_migration_suite.py
</a:t>
            </a:r>
            <a:pPr indent="0" marL="0">
              <a:buNone/>
            </a:pPr>
            <a:r>
              <a:rPr lang="en-US" sz="730" dirty="0">
                <a:solidFill>
                  <a:srgbClr val="5F6368"/>
                </a:solidFill>
                <a:latin typeface="Roboto" pitchFamily="34" charset="0"/>
                <a:ea typeface="Roboto" pitchFamily="34" charset="-122"/>
                <a:cs typeface="Roboto" pitchFamily="34" charset="-120"/>
              </a:rPr>
              <a:t>Target &amp; SLA: SLA: 74% TCO Savings (950 Pool + 50 PSC) • 0ms Cutover (4/4)</a:t>
            </a:r>
            <a:endParaRPr lang="en-US" sz="750" dirty="0"/>
          </a:p>
        </p:txBody>
      </p:sp>
      <p:sp>
        <p:nvSpPr>
          <p:cNvPr id="65" name="Shape 63"/>
          <p:cNvSpPr/>
          <p:nvPr/>
        </p:nvSpPr>
        <p:spPr>
          <a:xfrm>
            <a:off x="557784" y="5760720"/>
            <a:ext cx="5290718" cy="219456"/>
          </a:xfrm>
          <a:prstGeom prst="roundRect">
            <a:avLst>
              <a:gd name="adj" fmla="val 20833"/>
            </a:avLst>
          </a:prstGeom>
          <a:solidFill>
            <a:srgbClr val="E6F4EA"/>
          </a:solidFill>
          <a:ln/>
        </p:spPr>
      </p:sp>
      <p:sp>
        <p:nvSpPr>
          <p:cNvPr id="66" name="Text 64"/>
          <p:cNvSpPr/>
          <p:nvPr/>
        </p:nvSpPr>
        <p:spPr>
          <a:xfrm>
            <a:off x="612648" y="5760720"/>
            <a:ext cx="5180990" cy="219456"/>
          </a:xfrm>
          <a:prstGeom prst="rect">
            <a:avLst/>
          </a:prstGeom>
          <a:noFill/>
          <a:ln/>
        </p:spPr>
        <p:txBody>
          <a:bodyPr wrap="square" rtlCol="0" anchor="ctr"/>
          <a:lstStyle/>
          <a:p>
            <a:pPr indent="0" marL="0">
              <a:buNone/>
            </a:pPr>
            <a:r>
              <a:rPr lang="en-US" sz="750" b="1" dirty="0">
                <a:solidFill>
                  <a:srgbClr val="0D652D"/>
                </a:solidFill>
                <a:latin typeface="Google Sans" pitchFamily="34" charset="0"/>
                <a:ea typeface="Google Sans" pitchFamily="34" charset="-122"/>
                <a:cs typeface="Google Sans" pitchFamily="34" charset="-120"/>
              </a:rPr>
              <a:t>Owner: Tenant Onboarding  •  Part 4: Gaps &amp; Hybrid PSC (Slide 9)</a:t>
            </a:r>
            <a:endParaRPr lang="en-US" sz="750" dirty="0"/>
          </a:p>
        </p:txBody>
      </p:sp>
      <p:sp>
        <p:nvSpPr>
          <p:cNvPr id="67" name="Shape 65"/>
          <p:cNvSpPr/>
          <p:nvPr/>
        </p:nvSpPr>
        <p:spPr>
          <a:xfrm>
            <a:off x="6195974" y="3800246"/>
            <a:ext cx="5583326" cy="2234794"/>
          </a:xfrm>
          <a:prstGeom prst="roundRect">
            <a:avLst>
              <a:gd name="adj" fmla="val 3273"/>
            </a:avLst>
          </a:prstGeom>
          <a:solidFill>
            <a:srgbClr val="F8F9FA"/>
          </a:solidFill>
          <a:ln w="12700">
            <a:solidFill>
              <a:srgbClr val="DADCE0"/>
            </a:solidFill>
            <a:prstDash val="solid"/>
          </a:ln>
        </p:spPr>
      </p:sp>
      <p:sp>
        <p:nvSpPr>
          <p:cNvPr id="68" name="Shape 66"/>
          <p:cNvSpPr/>
          <p:nvPr/>
        </p:nvSpPr>
        <p:spPr>
          <a:xfrm>
            <a:off x="6195974" y="3800246"/>
            <a:ext cx="5583326" cy="59436"/>
          </a:xfrm>
          <a:prstGeom prst="rect">
            <a:avLst/>
          </a:prstGeom>
          <a:solidFill>
            <a:srgbClr val="4285F4"/>
          </a:solidFill>
          <a:ln/>
        </p:spPr>
      </p:sp>
      <p:sp>
        <p:nvSpPr>
          <p:cNvPr id="69" name="Shape 67"/>
          <p:cNvSpPr/>
          <p:nvPr/>
        </p:nvSpPr>
        <p:spPr>
          <a:xfrm>
            <a:off x="6342278" y="3928262"/>
            <a:ext cx="365760" cy="256032"/>
          </a:xfrm>
          <a:prstGeom prst="roundRect">
            <a:avLst>
              <a:gd name="adj" fmla="val 21429"/>
            </a:avLst>
          </a:prstGeom>
          <a:solidFill>
            <a:srgbClr val="E8F0FE"/>
          </a:solidFill>
          <a:ln/>
        </p:spPr>
      </p:sp>
      <p:sp>
        <p:nvSpPr>
          <p:cNvPr id="70" name="Text 68"/>
          <p:cNvSpPr/>
          <p:nvPr/>
        </p:nvSpPr>
        <p:spPr>
          <a:xfrm>
            <a:off x="6342278" y="3928262"/>
            <a:ext cx="365760" cy="256032"/>
          </a:xfrm>
          <a:prstGeom prst="rect">
            <a:avLst/>
          </a:prstGeom>
          <a:noFill/>
          <a:ln/>
        </p:spPr>
        <p:txBody>
          <a:bodyPr wrap="square" rtlCol="0" anchor="ctr"/>
          <a:lstStyle/>
          <a:p>
            <a:pPr algn="ctr" indent="0" marL="0">
              <a:buNone/>
            </a:pPr>
            <a:r>
              <a:rPr lang="en-US" sz="920" b="1" dirty="0">
                <a:solidFill>
                  <a:srgbClr val="174EA6"/>
                </a:solidFill>
                <a:latin typeface="Google Sans" pitchFamily="34" charset="0"/>
                <a:ea typeface="Google Sans" pitchFamily="34" charset="-122"/>
                <a:cs typeface="Google Sans" pitchFamily="34" charset="-120"/>
              </a:rPr>
              <a:t>05</a:t>
            </a:r>
            <a:endParaRPr lang="en-US" sz="920" dirty="0"/>
          </a:p>
        </p:txBody>
      </p:sp>
      <p:sp>
        <p:nvSpPr>
          <p:cNvPr id="71" name="Text 69"/>
          <p:cNvSpPr/>
          <p:nvPr/>
        </p:nvSpPr>
        <p:spPr>
          <a:xfrm>
            <a:off x="6781190" y="3909974"/>
            <a:ext cx="4851806" cy="329184"/>
          </a:xfrm>
          <a:prstGeom prst="rect">
            <a:avLst/>
          </a:prstGeom>
          <a:noFill/>
          <a:ln/>
        </p:spPr>
        <p:txBody>
          <a:bodyPr wrap="square" rtlCol="0" anchor="ctr"/>
          <a:lstStyle/>
          <a:p>
            <a:pPr indent="0" marL="0">
              <a:buNone/>
            </a:pPr>
            <a:r>
              <a:rPr lang="en-US" sz="1140" b="1" dirty="0">
                <a:solidFill>
                  <a:srgbClr val="3C4043"/>
                </a:solidFill>
                <a:latin typeface="Google Sans" pitchFamily="34" charset="0"/>
                <a:ea typeface="Google Sans" pitchFamily="34" charset="-122"/>
                <a:cs typeface="Google Sans" pitchFamily="34" charset="-120"/>
              </a:rPr>
              <a:t>Part 5 (Slides 10–11) — Dual-Plane CI/CD Forensic Audit &amp; Day-2 Operations</a:t>
            </a:r>
            <a:endParaRPr lang="en-US" sz="1140" dirty="0"/>
          </a:p>
        </p:txBody>
      </p:sp>
      <p:sp>
        <p:nvSpPr>
          <p:cNvPr id="72" name="Shape 70"/>
          <p:cNvSpPr/>
          <p:nvPr/>
        </p:nvSpPr>
        <p:spPr>
          <a:xfrm>
            <a:off x="6342278" y="4294022"/>
            <a:ext cx="5290718" cy="9144"/>
          </a:xfrm>
          <a:prstGeom prst="rect">
            <a:avLst/>
          </a:prstGeom>
          <a:solidFill>
            <a:srgbClr val="DADCE0"/>
          </a:solidFill>
          <a:ln/>
        </p:spPr>
      </p:sp>
      <p:sp>
        <p:nvSpPr>
          <p:cNvPr id="73" name="Text 71"/>
          <p:cNvSpPr/>
          <p:nvPr/>
        </p:nvSpPr>
        <p:spPr>
          <a:xfrm>
            <a:off x="6342278" y="4348886"/>
            <a:ext cx="5290718" cy="826618"/>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Enforce python3 -B scripts/run_deep_forensic_audit.py (13/13 PASS • 107/107 Assertions) across 20/20 GCP suites and 30/30 Inter-Cloud 10-SaaS MCP target assertions.</a:t>
            </a:r>
            <a:endParaRPr lang="en-US" sz="980" dirty="0"/>
          </a:p>
        </p:txBody>
      </p:sp>
      <p:sp>
        <p:nvSpPr>
          <p:cNvPr id="74" name="Shape 72"/>
          <p:cNvSpPr/>
          <p:nvPr/>
        </p:nvSpPr>
        <p:spPr>
          <a:xfrm>
            <a:off x="6342278" y="5212080"/>
            <a:ext cx="5290718" cy="493776"/>
          </a:xfrm>
          <a:prstGeom prst="roundRect">
            <a:avLst>
              <a:gd name="adj" fmla="val 11111"/>
            </a:avLst>
          </a:prstGeom>
          <a:solidFill>
            <a:srgbClr val="FFFFFF"/>
          </a:solidFill>
          <a:ln w="9525">
            <a:solidFill>
              <a:srgbClr val="DADCE0"/>
            </a:solidFill>
            <a:prstDash val="solid"/>
          </a:ln>
        </p:spPr>
      </p:sp>
      <p:sp>
        <p:nvSpPr>
          <p:cNvPr id="75" name="Shape 73"/>
          <p:cNvSpPr/>
          <p:nvPr/>
        </p:nvSpPr>
        <p:spPr>
          <a:xfrm>
            <a:off x="6342278" y="5212080"/>
            <a:ext cx="54864" cy="493776"/>
          </a:xfrm>
          <a:prstGeom prst="rect">
            <a:avLst/>
          </a:prstGeom>
          <a:solidFill>
            <a:srgbClr val="4285F4"/>
          </a:solidFill>
          <a:ln/>
        </p:spPr>
      </p:sp>
      <p:sp>
        <p:nvSpPr>
          <p:cNvPr id="76" name="Text 74"/>
          <p:cNvSpPr/>
          <p:nvPr/>
        </p:nvSpPr>
        <p:spPr>
          <a:xfrm>
            <a:off x="6433718" y="5239512"/>
            <a:ext cx="5162702"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run_deep_forensic_audit.py • verify_5_third_party_saas_products.py
</a:t>
            </a:r>
            <a:pPr indent="0" marL="0">
              <a:buNone/>
            </a:pPr>
            <a:r>
              <a:rPr lang="en-US" sz="730" dirty="0">
                <a:solidFill>
                  <a:srgbClr val="5F6368"/>
                </a:solidFill>
                <a:latin typeface="Roboto" pitchFamily="34" charset="0"/>
                <a:ea typeface="Roboto" pitchFamily="34" charset="-122"/>
                <a:cs typeface="Roboto" pitchFamily="34" charset="-120"/>
              </a:rPr>
              <a:t>Target &amp; SLA: SLA: 13/13 Forensic (107/107) • 20/20 GCP + 30/30 10-SaaS MCP</a:t>
            </a:r>
            <a:endParaRPr lang="en-US" sz="750" dirty="0"/>
          </a:p>
        </p:txBody>
      </p:sp>
      <p:sp>
        <p:nvSpPr>
          <p:cNvPr id="77" name="Shape 75"/>
          <p:cNvSpPr/>
          <p:nvPr/>
        </p:nvSpPr>
        <p:spPr>
          <a:xfrm>
            <a:off x="6342278" y="5760720"/>
            <a:ext cx="5290718" cy="219456"/>
          </a:xfrm>
          <a:prstGeom prst="roundRect">
            <a:avLst>
              <a:gd name="adj" fmla="val 20833"/>
            </a:avLst>
          </a:prstGeom>
          <a:solidFill>
            <a:srgbClr val="E8F0FE"/>
          </a:solidFill>
          <a:ln/>
        </p:spPr>
      </p:sp>
      <p:sp>
        <p:nvSpPr>
          <p:cNvPr id="78" name="Text 76"/>
          <p:cNvSpPr/>
          <p:nvPr/>
        </p:nvSpPr>
        <p:spPr>
          <a:xfrm>
            <a:off x="6397142" y="5760720"/>
            <a:ext cx="5180990" cy="219456"/>
          </a:xfrm>
          <a:prstGeom prst="rect">
            <a:avLst/>
          </a:prstGeom>
          <a:noFill/>
          <a:ln/>
        </p:spPr>
        <p:txBody>
          <a:bodyPr wrap="square" rtlCol="0" anchor="ctr"/>
          <a:lstStyle/>
          <a:p>
            <a:pPr indent="0" marL="0">
              <a:buNone/>
            </a:pPr>
            <a:r>
              <a:rPr lang="en-US" sz="750" b="1" dirty="0">
                <a:solidFill>
                  <a:srgbClr val="174EA6"/>
                </a:solidFill>
                <a:latin typeface="Google Sans" pitchFamily="34" charset="0"/>
                <a:ea typeface="Google Sans" pitchFamily="34" charset="-122"/>
                <a:cs typeface="Google Sans" pitchFamily="34" charset="-120"/>
              </a:rPr>
              <a:t>Owner: Governance &amp; CISO  •  Part 5: Dual-Plane CI/CD Gate (Slides 10–11)</a:t>
            </a:r>
            <a:endParaRPr lang="en-US" sz="750" dirty="0"/>
          </a:p>
        </p:txBody>
      </p:sp>
      <p:sp>
        <p:nvSpPr>
          <p:cNvPr id="79" name="Shape 77"/>
          <p:cNvSpPr/>
          <p:nvPr/>
        </p:nvSpPr>
        <p:spPr>
          <a:xfrm>
            <a:off x="365760" y="6144768"/>
            <a:ext cx="11460175" cy="384048"/>
          </a:xfrm>
          <a:prstGeom prst="roundRect">
            <a:avLst>
              <a:gd name="adj" fmla="val 19048"/>
            </a:avLst>
          </a:prstGeom>
          <a:solidFill>
            <a:srgbClr val="F8F9FA"/>
          </a:solidFill>
          <a:ln w="10795">
            <a:solidFill>
              <a:srgbClr val="DADCE0"/>
            </a:solidFill>
            <a:prstDash val="solid"/>
          </a:ln>
        </p:spPr>
      </p:sp>
      <p:sp>
        <p:nvSpPr>
          <p:cNvPr id="80" name="Shape 78"/>
          <p:cNvSpPr/>
          <p:nvPr/>
        </p:nvSpPr>
        <p:spPr>
          <a:xfrm>
            <a:off x="475488" y="6208776"/>
            <a:ext cx="1874520" cy="256032"/>
          </a:xfrm>
          <a:prstGeom prst="roundRect">
            <a:avLst>
              <a:gd name="adj" fmla="val 21429"/>
            </a:avLst>
          </a:prstGeom>
          <a:solidFill>
            <a:srgbClr val="34A853"/>
          </a:solidFill>
          <a:ln/>
        </p:spPr>
      </p:sp>
      <p:sp>
        <p:nvSpPr>
          <p:cNvPr id="81" name="Text 79"/>
          <p:cNvSpPr/>
          <p:nvPr/>
        </p:nvSpPr>
        <p:spPr>
          <a:xfrm>
            <a:off x="475488" y="6208776"/>
            <a:ext cx="1874520" cy="256032"/>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WELL-ARCHITECTED SLAs</a:t>
            </a:r>
            <a:endParaRPr lang="en-US" sz="780" dirty="0"/>
          </a:p>
        </p:txBody>
      </p:sp>
      <p:sp>
        <p:nvSpPr>
          <p:cNvPr id="82" name="Text 80"/>
          <p:cNvSpPr/>
          <p:nvPr/>
        </p:nvSpPr>
        <p:spPr>
          <a:xfrm>
            <a:off x="2468880" y="6190488"/>
            <a:ext cx="9219895" cy="292608"/>
          </a:xfrm>
          <a:prstGeom prst="rect">
            <a:avLst/>
          </a:prstGeom>
          <a:noFill/>
          <a:ln/>
        </p:spPr>
        <p:txBody>
          <a:bodyPr wrap="square" rtlCol="0" anchor="ctr"/>
          <a:lstStyle/>
          <a:p>
            <a:pPr indent="0" marL="0">
              <a:buNone/>
            </a:pPr>
            <a:r>
              <a:rPr lang="en-US" sz="880" b="1" dirty="0">
                <a:solidFill>
                  <a:srgbClr val="3C4043"/>
                </a:solidFill>
                <a:latin typeface="Roboto" pitchFamily="34" charset="0"/>
                <a:ea typeface="Roboto" pitchFamily="34" charset="-122"/>
                <a:cs typeface="Roboto" pitchFamily="34" charset="-120"/>
              </a:rPr>
              <a:t>Well-Architected SLA Scorecard &amp; 5-Part Roadmap  •  ~42ms 5-Hop  •  ~420ms Warm TTFT  •  &lt;5s L1 Evict  •  &lt;30s RTO  •  84.7% Token &amp; 74% TCO Savings</a:t>
            </a:r>
            <a:endParaRPr lang="en-US" sz="880" dirty="0"/>
          </a:p>
        </p:txBody>
      </p:sp>
      <p:sp>
        <p:nvSpPr>
          <p:cNvPr id="83" name="Text 81"/>
          <p:cNvSpPr/>
          <p:nvPr/>
        </p:nvSpPr>
        <p:spPr>
          <a:xfrm>
            <a:off x="365760" y="6601968"/>
            <a:ext cx="11460175" cy="201168"/>
          </a:xfrm>
          <a:prstGeom prst="rect">
            <a:avLst/>
          </a:prstGeom>
          <a:noFill/>
          <a:ln/>
        </p:spPr>
        <p:txBody>
          <a:bodyPr wrap="non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Multi-Tenant Agentic AI on Google Cloud • Vertex AI Agent Engine, Gemini Enterprise &amp; ADK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Google Cloud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Multi-Tenant Agentic AI on Google Cloud: Reference Taxonomy &amp; 5-Hop Governance (Workstream 1)</dc:title>
  <dc:subject>PptxGenJS Presentation</dc:subject>
  <dc:creator>Google Cloud Architecture Center • PromptCanvas Vision Decompiler</dc:creator>
  <cp:lastModifiedBy>Google Cloud Architecture Center • PromptCanvas Vision Decompiler</cp:lastModifiedBy>
  <cp:revision>1</cp:revision>
  <dcterms:created xsi:type="dcterms:W3CDTF">2026-10-30T19:22:44Z</dcterms:created>
  <dcterms:modified xsi:type="dcterms:W3CDTF">2026-10-30T19:22:44Z</dcterms:modified>
</cp:coreProperties>
</file>