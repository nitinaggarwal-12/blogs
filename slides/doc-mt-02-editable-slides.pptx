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image" Target="../media/image-2-12.png"/><Relationship Id="rId13" Type="http://schemas.openxmlformats.org/officeDocument/2006/relationships/image" Target="../media/image-2-13.png"/><Relationship Id="rId14" Type="http://schemas.openxmlformats.org/officeDocument/2006/relationships/image" Target="../media/image-2-14.png"/><Relationship Id="rId15" Type="http://schemas.openxmlformats.org/officeDocument/2006/relationships/image" Target="../media/image-2-15.png"/><Relationship Id="rId16" Type="http://schemas.openxmlformats.org/officeDocument/2006/relationships/image" Target="../media/image-2-16.png"/><Relationship Id="rId17" Type="http://schemas.openxmlformats.org/officeDocument/2006/relationships/image" Target="../media/image-2-17.png"/><Relationship Id="rId18" Type="http://schemas.openxmlformats.org/officeDocument/2006/relationships/image" Target="../media/image-2-18.png"/><Relationship Id="rId19" Type="http://schemas.openxmlformats.org/officeDocument/2006/relationships/image" Target="../media/image-2-19.png"/><Relationship Id="rId20" Type="http://schemas.openxmlformats.org/officeDocument/2006/relationships/image" Target="../media/image-2-20.png"/><Relationship Id="rId21" Type="http://schemas.openxmlformats.org/officeDocument/2006/relationships/slideLayout" Target="../slideLayouts/slideLayout1.xml"/><Relationship Id="rId2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804672" y="438912"/>
            <a:ext cx="6766560" cy="219456"/>
          </a:xfrm>
          <a:prstGeom prst="rect">
            <a:avLst/>
          </a:prstGeom>
          <a:noFill/>
          <a:ln/>
        </p:spPr>
        <p:txBody>
          <a:bodyPr wrap="square" rtlCol="0" anchor="ctr"/>
          <a:lstStyle/>
          <a:p>
            <a:pPr indent="0" marL="0">
              <a:buNone/>
            </a:pPr>
            <a:r>
              <a:rPr lang="en-US" sz="920" b="1" dirty="0">
                <a:solidFill>
                  <a:srgbClr val="5F6368"/>
                </a:solidFill>
                <a:latin typeface="Arial" pitchFamily="34" charset="0"/>
                <a:ea typeface="Arial" pitchFamily="34" charset="-122"/>
                <a:cs typeface="Arial" pitchFamily="34" charset="-120"/>
              </a:rPr>
              <a:t>Cloud Architecture Center   ›   Part 2 of 6 • Deployment Models &amp; Trilemma</a:t>
            </a:r>
            <a:endParaRPr lang="en-US" sz="920" dirty="0"/>
          </a:p>
        </p:txBody>
      </p:sp>
      <p:sp>
        <p:nvSpPr>
          <p:cNvPr id="4" name="Shape 2"/>
          <p:cNvSpPr/>
          <p:nvPr/>
        </p:nvSpPr>
        <p:spPr>
          <a:xfrm>
            <a:off x="7973568" y="429768"/>
            <a:ext cx="841248" cy="219456"/>
          </a:xfrm>
          <a:prstGeom prst="roundRect">
            <a:avLst>
              <a:gd name="adj" fmla="val 16667"/>
            </a:avLst>
          </a:prstGeom>
          <a:solidFill>
            <a:srgbClr val="F1F5F9"/>
          </a:solidFill>
          <a:ln w="9525">
            <a:solidFill>
              <a:srgbClr val="CBD5E1"/>
            </a:solidFill>
            <a:prstDash val="solid"/>
          </a:ln>
        </p:spPr>
      </p:sp>
      <p:sp>
        <p:nvSpPr>
          <p:cNvPr id="5" name="Text 3"/>
          <p:cNvSpPr/>
          <p:nvPr/>
        </p:nvSpPr>
        <p:spPr>
          <a:xfrm>
            <a:off x="7973568" y="429768"/>
            <a:ext cx="841248" cy="219456"/>
          </a:xfrm>
          <a:prstGeom prst="rect">
            <a:avLst/>
          </a:prstGeom>
          <a:noFill/>
          <a:ln/>
        </p:spPr>
        <p:txBody>
          <a:bodyPr wrap="square" rtlCol="0" anchor="ctr"/>
          <a:lstStyle/>
          <a:p>
            <a:pPr algn="ctr" indent="0" marL="0">
              <a:buNone/>
            </a:pPr>
            <a:r>
              <a:rPr lang="en-US" sz="780" b="1" dirty="0">
                <a:solidFill>
                  <a:srgbClr val="334155"/>
                </a:solidFill>
                <a:latin typeface="Courier New" pitchFamily="34" charset="0"/>
                <a:ea typeface="Courier New" pitchFamily="34" charset="-122"/>
                <a:cs typeface="Courier New" pitchFamily="34" charset="-120"/>
              </a:rPr>
              <a:t>DOC-MT-02</a:t>
            </a:r>
            <a:endParaRPr lang="en-US" sz="780" dirty="0"/>
          </a:p>
        </p:txBody>
      </p:sp>
      <p:sp>
        <p:nvSpPr>
          <p:cNvPr id="6" name="Text 4"/>
          <p:cNvSpPr/>
          <p:nvPr/>
        </p:nvSpPr>
        <p:spPr>
          <a:xfrm>
            <a:off x="8869680" y="438912"/>
            <a:ext cx="2514600" cy="219456"/>
          </a:xfrm>
          <a:prstGeom prst="rect">
            <a:avLst/>
          </a:prstGeom>
          <a:noFill/>
          <a:ln/>
        </p:spPr>
        <p:txBody>
          <a:bodyPr wrap="square" rtlCol="0" anchor="ctr"/>
          <a:lstStyle/>
          <a:p>
            <a:pPr algn="r" indent="0" marL="0">
              <a:buNone/>
            </a:pPr>
            <a:r>
              <a:rPr lang="en-US" sz="880" dirty="0">
                <a:solidFill>
                  <a:srgbClr val="5F6368"/>
                </a:solidFill>
                <a:latin typeface="Arial" pitchFamily="34" charset="0"/>
                <a:ea typeface="Arial" pitchFamily="34" charset="-122"/>
                <a:cs typeface="Arial" pitchFamily="34" charset="-120"/>
              </a:rPr>
              <a:t>·   11 min read   ·   Last reviewed 2026-10-15</a:t>
            </a:r>
            <a:endParaRPr lang="en-US" sz="880" dirty="0"/>
          </a:p>
        </p:txBody>
      </p:sp>
      <p:sp>
        <p:nvSpPr>
          <p:cNvPr id="7" name="Text 5"/>
          <p:cNvSpPr/>
          <p:nvPr/>
        </p:nvSpPr>
        <p:spPr>
          <a:xfrm>
            <a:off x="804672" y="768096"/>
            <a:ext cx="10570464" cy="877824"/>
          </a:xfrm>
          <a:prstGeom prst="rect">
            <a:avLst/>
          </a:prstGeom>
          <a:noFill/>
          <a:ln/>
        </p:spPr>
        <p:txBody>
          <a:bodyPr wrap="square" rtlCol="0" anchor="ctr"/>
          <a:lstStyle/>
          <a:p>
            <a:pPr indent="0" marL="0">
              <a:buNone/>
            </a:pPr>
            <a:r>
              <a:rPr lang="en-US" sz="2150" dirty="0">
                <a:solidFill>
                  <a:srgbClr val="202124"/>
                </a:solidFill>
                <a:latin typeface="Arial" pitchFamily="34" charset="0"/>
                <a:ea typeface="Arial" pitchFamily="34" charset="-122"/>
                <a:cs typeface="Arial" pitchFamily="34" charset="-120"/>
              </a:rPr>
              <a:t>Agent Deployment Models: Navigating the Agentic Trilemma Across Pool, Bridge &amp; Silo</a:t>
            </a:r>
            <a:endParaRPr lang="en-US" sz="2150" dirty="0"/>
          </a:p>
        </p:txBody>
      </p:sp>
      <p:sp>
        <p:nvSpPr>
          <p:cNvPr id="8" name="Shape 6"/>
          <p:cNvSpPr/>
          <p:nvPr/>
        </p:nvSpPr>
        <p:spPr>
          <a:xfrm>
            <a:off x="384048" y="1773936"/>
            <a:ext cx="11420856" cy="0"/>
          </a:xfrm>
          <a:prstGeom prst="line">
            <a:avLst/>
          </a:prstGeom>
          <a:noFill/>
          <a:ln w="9525">
            <a:solidFill>
              <a:srgbClr val="DADCE0"/>
            </a:solidFill>
            <a:prstDash val="solid"/>
          </a:ln>
        </p:spPr>
      </p:sp>
      <p:sp>
        <p:nvSpPr>
          <p:cNvPr id="9" name="Text 7"/>
          <p:cNvSpPr/>
          <p:nvPr/>
        </p:nvSpPr>
        <p:spPr>
          <a:xfrm>
            <a:off x="804672" y="1938528"/>
            <a:ext cx="10570464" cy="585216"/>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Architecting multi-tenant agent platforms forces ISVs to navigate the Agentic Trilemma—the inherent architectural tension between Tenant Isolation, Cost Efficiency, and Operational Simplicity.</a:t>
            </a:r>
            <a:endParaRPr lang="en-US" sz="980" dirty="0"/>
          </a:p>
        </p:txBody>
      </p:sp>
      <p:sp>
        <p:nvSpPr>
          <p:cNvPr id="10" name="Text 8"/>
          <p:cNvSpPr/>
          <p:nvPr/>
        </p:nvSpPr>
        <p:spPr>
          <a:xfrm>
            <a:off x="804672" y="2633472"/>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The Silo Model dedicates separate infrastructure to each tenant, delivering zero blast radius and effortless compliance at the expense of high idle costs and fleet sprawl. The Pool Model runs all tenants across a shared runtime fleet, maximizing compute density and simplifying operations through logical JWT/RLS partitioning, while requiring rigorous defense against noisy-neighbor and confused-deputy risks.</a:t>
            </a:r>
            <a:endParaRPr lang="en-US" sz="980" dirty="0"/>
          </a:p>
        </p:txBody>
      </p:sp>
      <p:sp>
        <p:nvSpPr>
          <p:cNvPr id="11" name="Text 9"/>
          <p:cNvSpPr/>
          <p:nvPr/>
        </p:nvSpPr>
        <p:spPr>
          <a:xfrm>
            <a:off x="804672" y="3621024"/>
            <a:ext cx="10570464" cy="877824"/>
          </a:xfrm>
          <a:prstGeom prst="rect">
            <a:avLst/>
          </a:prstGeom>
          <a:noFill/>
          <a:ln/>
        </p:spPr>
        <p:txBody>
          <a:bodyPr wrap="square" rtlCol="0" anchor="t"/>
          <a:lstStyle/>
          <a:p>
            <a:pPr indent="0" marL="0">
              <a:lnSpc>
                <a:spcPct val="122000"/>
              </a:lnSpc>
              <a:buNone/>
            </a:pPr>
            <a:r>
              <a:rPr lang="en-US" sz="980" dirty="0">
                <a:solidFill>
                  <a:srgbClr val="3C4043"/>
                </a:solidFill>
                <a:latin typeface="Arial" pitchFamily="34" charset="0"/>
                <a:ea typeface="Arial" pitchFamily="34" charset="-122"/>
                <a:cs typeface="Arial" pitchFamily="34" charset="-120"/>
              </a:rPr>
              <a:t>To resolve this tension, mature enterprise ISVs adopt a tiered architecture: routing high-volume standard tiers to a cryptographically governed shared Pool, offering a Hybrid Bridge tier for growth customers with dedicated data spokes, and reserving physically isolated Sovereign Silo perimeters for regulated enterprise accounts.</a:t>
            </a:r>
            <a:endParaRPr lang="en-US" sz="980" dirty="0"/>
          </a:p>
        </p:txBody>
      </p:sp>
      <p:sp>
        <p:nvSpPr>
          <p:cNvPr id="12" name="Shape 10"/>
          <p:cNvSpPr/>
          <p:nvPr/>
        </p:nvSpPr>
        <p:spPr>
          <a:xfrm>
            <a:off x="804672" y="4553712"/>
            <a:ext cx="10570464" cy="0"/>
          </a:xfrm>
          <a:prstGeom prst="line">
            <a:avLst/>
          </a:prstGeom>
          <a:noFill/>
          <a:ln w="9525">
            <a:solidFill>
              <a:srgbClr val="DADCE0"/>
            </a:solidFill>
            <a:prstDash val="solid"/>
          </a:ln>
        </p:spPr>
      </p:sp>
      <p:sp>
        <p:nvSpPr>
          <p:cNvPr id="13" name="Text 11"/>
          <p:cNvSpPr/>
          <p:nvPr/>
        </p:nvSpPr>
        <p:spPr>
          <a:xfrm>
            <a:off x="804672" y="4700016"/>
            <a:ext cx="10570464" cy="347472"/>
          </a:xfrm>
          <a:prstGeom prst="rect">
            <a:avLst/>
          </a:prstGeom>
          <a:noFill/>
          <a:ln/>
        </p:spPr>
        <p:txBody>
          <a:bodyPr wrap="square" rtlCol="0" anchor="ctr"/>
          <a:lstStyle/>
          <a:p>
            <a:pPr indent="0" marL="0">
              <a:buNone/>
            </a:pPr>
            <a:r>
              <a:rPr lang="en-US" sz="1650" dirty="0">
                <a:solidFill>
                  <a:srgbClr val="202124"/>
                </a:solidFill>
                <a:latin typeface="Arial" pitchFamily="34" charset="0"/>
                <a:ea typeface="Arial" pitchFamily="34" charset="-122"/>
                <a:cs typeface="Arial" pitchFamily="34" charset="-120"/>
              </a:rPr>
              <a:t>Architecture</a:t>
            </a:r>
            <a:endParaRPr lang="en-US" sz="1650" dirty="0"/>
          </a:p>
        </p:txBody>
      </p:sp>
      <p:sp>
        <p:nvSpPr>
          <p:cNvPr id="14" name="Text 12"/>
          <p:cNvSpPr/>
          <p:nvPr/>
        </p:nvSpPr>
        <p:spPr>
          <a:xfrm>
            <a:off x="804672" y="5120640"/>
            <a:ext cx="10570464" cy="1353312"/>
          </a:xfrm>
          <a:prstGeom prst="rect">
            <a:avLst/>
          </a:prstGeom>
          <a:noFill/>
          <a:ln/>
        </p:spPr>
        <p:txBody>
          <a:bodyPr wrap="square" rtlCol="0" anchor="t"/>
          <a:lstStyle/>
          <a:p>
            <a:pPr indent="0" marL="0">
              <a:lnSpc>
                <a:spcPct val="122000"/>
              </a:lnSpc>
              <a:buNone/>
            </a:pPr>
            <a:r>
              <a:rPr lang="en-US" sz="960" dirty="0">
                <a:solidFill>
                  <a:srgbClr val="3C4043"/>
                </a:solidFill>
                <a:latin typeface="Arial" pitchFamily="34" charset="0"/>
                <a:ea typeface="Arial" pitchFamily="34" charset="-122"/>
                <a:cs typeface="Arial" pitchFamily="34" charset="-120"/>
              </a:rPr>
              <a:t>For multi-tenant SaaS ISVs, the Gemini Enterprise Agent Platform functions as a managed control and execution plane over new or brownfield cloud infrastructure, organized across four core capability pillars.
</a:t>
            </a:r>
            <a:pPr indent="0" marL="0">
              <a:lnSpc>
                <a:spcPct val="122000"/>
              </a:lnSpc>
              <a:buNone/>
            </a:pPr>
            <a:r>
              <a:rPr lang="en-US" sz="960" dirty="0">
                <a:solidFill>
                  <a:srgbClr val="3C4043"/>
                </a:solidFill>
                <a:latin typeface="Arial" pitchFamily="34" charset="0"/>
                <a:ea typeface="Arial" pitchFamily="34" charset="-122"/>
                <a:cs typeface="Arial" pitchFamily="34" charset="-120"/>
              </a:rPr>
              <a:t>The topology separates centralized ingress and governance from isolated execution spokes (Triad Pillar 2: Pattern A Pooled FinOps &amp; COGS Engine and Triad Pillar 2: Pattern B Silos &amp; Pattern C Hybrid), ensuring deterministic policy enforcement and unified observability across the Google Cloud organization.</a:t>
            </a:r>
            <a:endParaRPr lang="en-US" sz="9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Figure 1</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2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Shape 4"/>
          <p:cNvSpPr/>
          <p:nvPr/>
        </p:nvSpPr>
        <p:spPr>
          <a:xfrm>
            <a:off x="658368" y="640080"/>
            <a:ext cx="10872216" cy="5852160"/>
          </a:xfrm>
          <a:prstGeom prst="roundRect">
            <a:avLst>
              <a:gd name="adj" fmla="val 625"/>
            </a:avLst>
          </a:prstGeom>
          <a:solidFill>
            <a:srgbClr val="FFFFFF"/>
          </a:solidFill>
          <a:ln w="10795">
            <a:solidFill>
              <a:srgbClr val="DADCE0"/>
            </a:solidFill>
            <a:prstDash val="solid"/>
          </a:ln>
        </p:spPr>
      </p:sp>
      <p:sp>
        <p:nvSpPr>
          <p:cNvPr id="7" name="Shape 5"/>
          <p:cNvSpPr/>
          <p:nvPr/>
        </p:nvSpPr>
        <p:spPr>
          <a:xfrm>
            <a:off x="658368" y="640080"/>
            <a:ext cx="10872216" cy="310896"/>
          </a:xfrm>
          <a:prstGeom prst="rect">
            <a:avLst/>
          </a:prstGeom>
          <a:solidFill>
            <a:srgbClr val="F8F9FA"/>
          </a:solidFill>
          <a:ln w="9525">
            <a:solidFill>
              <a:srgbClr val="DADCE0"/>
            </a:solidFill>
            <a:prstDash val="solid"/>
          </a:ln>
        </p:spPr>
      </p:sp>
      <p:sp>
        <p:nvSpPr>
          <p:cNvPr id="8" name="Text 6"/>
          <p:cNvSpPr/>
          <p:nvPr/>
        </p:nvSpPr>
        <p:spPr>
          <a:xfrm>
            <a:off x="822960" y="640080"/>
            <a:ext cx="10515600" cy="310896"/>
          </a:xfrm>
          <a:prstGeom prst="rect">
            <a:avLst/>
          </a:prstGeom>
          <a:noFill/>
          <a:ln/>
        </p:spPr>
        <p:txBody>
          <a:bodyPr wrap="square" rtlCol="0" anchor="ctr"/>
          <a:lstStyle/>
          <a:p>
            <a:pPr indent="0" marL="0">
              <a:buNone/>
            </a:pPr>
            <a:r>
              <a:rPr lang="en-US" sz="900" b="1" dirty="0">
                <a:solidFill>
                  <a:srgbClr val="202124"/>
                </a:solidFill>
                <a:latin typeface="Arial" pitchFamily="34" charset="0"/>
                <a:ea typeface="Arial" pitchFamily="34" charset="-122"/>
                <a:cs typeface="Arial" pitchFamily="34" charset="-120"/>
              </a:rPr>
              <a:t>Figure 1: The Agentic Trilemma &amp; Executive Topology Selection Architecture</a:t>
            </a:r>
            <a:endParaRPr lang="en-US" sz="900" dirty="0"/>
          </a:p>
        </p:txBody>
      </p:sp>
      <p:sp>
        <p:nvSpPr>
          <p:cNvPr id="9" name="Shape 7"/>
          <p:cNvSpPr/>
          <p:nvPr/>
        </p:nvSpPr>
        <p:spPr>
          <a:xfrm>
            <a:off x="658368" y="6163056"/>
            <a:ext cx="10872216" cy="329184"/>
          </a:xfrm>
          <a:prstGeom prst="rect">
            <a:avLst/>
          </a:prstGeom>
          <a:solidFill>
            <a:srgbClr val="F8F9FA"/>
          </a:solidFill>
          <a:ln w="9525">
            <a:solidFill>
              <a:srgbClr val="DADCE0"/>
            </a:solidFill>
            <a:prstDash val="solid"/>
          </a:ln>
        </p:spPr>
      </p:sp>
      <p:sp>
        <p:nvSpPr>
          <p:cNvPr id="10" name="Text 8"/>
          <p:cNvSpPr/>
          <p:nvPr/>
        </p:nvSpPr>
        <p:spPr>
          <a:xfrm>
            <a:off x="822960" y="6163056"/>
            <a:ext cx="10515600" cy="329184"/>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Figure 1. Mapping tenant tiers across Pattern 1, Pattern 2A/2B, and Pattern 3 under a unified Control Plane.</a:t>
            </a:r>
            <a:endParaRPr lang="en-US" sz="820" dirty="0"/>
          </a:p>
        </p:txBody>
      </p:sp>
      <p:sp>
        <p:nvSpPr>
          <p:cNvPr id="11" name="Shape 9"/>
          <p:cNvSpPr/>
          <p:nvPr/>
        </p:nvSpPr>
        <p:spPr>
          <a:xfrm>
            <a:off x="3922776" y="1664208"/>
            <a:ext cx="4344314" cy="4389120"/>
          </a:xfrm>
          <a:prstGeom prst="roundRect">
            <a:avLst>
              <a:gd name="adj" fmla="val 737"/>
            </a:avLst>
          </a:prstGeom>
          <a:solidFill>
            <a:srgbClr val="1A73E8"/>
          </a:solidFill>
          <a:ln w="15875">
            <a:solidFill>
              <a:srgbClr val="9AA0A6"/>
            </a:solidFill>
            <a:prstDash val="solid"/>
          </a:ln>
        </p:spPr>
      </p:sp>
      <p:sp>
        <p:nvSpPr>
          <p:cNvPr id="12" name="Shape 10"/>
          <p:cNvSpPr/>
          <p:nvPr/>
        </p:nvSpPr>
        <p:spPr>
          <a:xfrm>
            <a:off x="3982212" y="1851660"/>
            <a:ext cx="4224528" cy="4134917"/>
          </a:xfrm>
          <a:prstGeom prst="roundRect">
            <a:avLst>
              <a:gd name="adj" fmla="val 774"/>
            </a:avLst>
          </a:prstGeom>
          <a:solidFill>
            <a:srgbClr val="FFFFFF"/>
          </a:solidFill>
          <a:ln w="10795">
            <a:solidFill>
              <a:srgbClr val="9AA0A6"/>
            </a:solidFill>
            <a:prstDash val="solid"/>
          </a:ln>
        </p:spPr>
      </p:sp>
      <p:sp>
        <p:nvSpPr>
          <p:cNvPr id="13" name="Text 11"/>
          <p:cNvSpPr/>
          <p:nvPr/>
        </p:nvSpPr>
        <p:spPr>
          <a:xfrm>
            <a:off x="4027932" y="1858975"/>
            <a:ext cx="1773936"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The Multi-Tenant Agentic Triad: Security (Hops 1–5) • FinOps COGS (-84.7%)</a:t>
            </a:r>
            <a:endParaRPr lang="en-US" sz="420" dirty="0"/>
          </a:p>
        </p:txBody>
      </p:sp>
      <p:sp>
        <p:nvSpPr>
          <p:cNvPr id="14" name="Shape 12"/>
          <p:cNvSpPr/>
          <p:nvPr/>
        </p:nvSpPr>
        <p:spPr>
          <a:xfrm>
            <a:off x="4042562" y="1986077"/>
            <a:ext cx="4104742" cy="3931920"/>
          </a:xfrm>
          <a:prstGeom prst="roundRect">
            <a:avLst>
              <a:gd name="adj" fmla="val 814"/>
            </a:avLst>
          </a:prstGeom>
          <a:solidFill>
            <a:srgbClr val="FFFFFF"/>
          </a:solidFill>
          <a:ln w="10795">
            <a:solidFill>
              <a:srgbClr val="9AA0A6"/>
            </a:solidFill>
            <a:prstDash val="solid"/>
          </a:ln>
        </p:spPr>
      </p:sp>
      <p:sp>
        <p:nvSpPr>
          <p:cNvPr id="15" name="Text 13"/>
          <p:cNvSpPr/>
          <p:nvPr/>
        </p:nvSpPr>
        <p:spPr>
          <a:xfrm>
            <a:off x="4088282" y="1993392"/>
            <a:ext cx="1723644" cy="105156"/>
          </a:xfrm>
          <a:prstGeom prst="rect">
            <a:avLst/>
          </a:prstGeom>
          <a:noFill/>
          <a:ln/>
        </p:spPr>
        <p:txBody>
          <a:bodyPr wrap="none" lIns="0" tIns="0" rIns="0" bIns="0" rtlCol="0" anchor="t">
            <a:normAutofit/>
          </a:bodyPr>
          <a:lstStyle/>
          <a:p>
            <a:pPr algn="l" indent="0" marL="0">
              <a:lnSpc>
                <a:spcPct val="88000"/>
              </a:lnSpc>
              <a:buNone/>
            </a:pPr>
            <a:r>
              <a:rPr lang="en-US" sz="420" b="1" dirty="0">
                <a:solidFill>
                  <a:srgbClr val="202124"/>
                </a:solidFill>
                <a:latin typeface="Arial" pitchFamily="34" charset="0"/>
                <a:ea typeface="Arial" pitchFamily="34" charset="-122"/>
                <a:cs typeface="Arial" pitchFamily="34" charset="-120"/>
              </a:rPr>
              <a:t>Unified Vertex AI Agent Engine &amp; Google ADK Reference Architecture</a:t>
            </a:r>
            <a:endParaRPr lang="en-US" sz="420" dirty="0"/>
          </a:p>
        </p:txBody>
      </p:sp>
      <p:sp>
        <p:nvSpPr>
          <p:cNvPr id="16" name="Shape 14"/>
          <p:cNvSpPr/>
          <p:nvPr/>
        </p:nvSpPr>
        <p:spPr>
          <a:xfrm>
            <a:off x="4109314" y="3738982"/>
            <a:ext cx="1932127" cy="2097634"/>
          </a:xfrm>
          <a:prstGeom prst="roundRect">
            <a:avLst>
              <a:gd name="adj" fmla="val 1656"/>
            </a:avLst>
          </a:prstGeom>
          <a:solidFill>
            <a:srgbClr val="FFFFFF"/>
          </a:solidFill>
          <a:ln w="10795">
            <a:solidFill>
              <a:srgbClr val="9AA0A6"/>
            </a:solidFill>
            <a:prstDash val="solid"/>
          </a:ln>
        </p:spPr>
      </p:sp>
      <p:sp>
        <p:nvSpPr>
          <p:cNvPr id="17" name="Text 15"/>
          <p:cNvSpPr/>
          <p:nvPr/>
        </p:nvSpPr>
        <p:spPr>
          <a:xfrm>
            <a:off x="4155034"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(High Density): Pattern A Pooled FinOps &amp; COGS Engine</a:t>
            </a:r>
            <a:endParaRPr lang="en-US" sz="385" dirty="0"/>
          </a:p>
        </p:txBody>
      </p:sp>
      <p:sp>
        <p:nvSpPr>
          <p:cNvPr id="18" name="Shape 16"/>
          <p:cNvSpPr/>
          <p:nvPr/>
        </p:nvSpPr>
        <p:spPr>
          <a:xfrm>
            <a:off x="6146597" y="3738982"/>
            <a:ext cx="1932127" cy="2097634"/>
          </a:xfrm>
          <a:prstGeom prst="roundRect">
            <a:avLst>
              <a:gd name="adj" fmla="val 1656"/>
            </a:avLst>
          </a:prstGeom>
          <a:solidFill>
            <a:srgbClr val="FFFFFF"/>
          </a:solidFill>
          <a:ln w="10795">
            <a:solidFill>
              <a:srgbClr val="9AA0A6"/>
            </a:solidFill>
            <a:prstDash val="solid"/>
          </a:ln>
        </p:spPr>
      </p:sp>
      <p:sp>
        <p:nvSpPr>
          <p:cNvPr id="19" name="Text 17"/>
          <p:cNvSpPr/>
          <p:nvPr/>
        </p:nvSpPr>
        <p:spPr>
          <a:xfrm>
            <a:off x="6192317" y="3746297"/>
            <a:ext cx="1255471" cy="105156"/>
          </a:xfrm>
          <a:prstGeom prst="rect">
            <a:avLst/>
          </a:prstGeom>
          <a:noFill/>
          <a:ln/>
        </p:spPr>
        <p:txBody>
          <a:bodyPr wrap="none" lIns="0" tIns="0" rIns="0" bIns="0" rtlCol="0" anchor="t">
            <a:normAutofit/>
          </a:bodyPr>
          <a:lstStyle/>
          <a:p>
            <a:pPr algn="l" indent="0" marL="0">
              <a:lnSpc>
                <a:spcPct val="88000"/>
              </a:lnSpc>
              <a:buNone/>
            </a:pPr>
            <a:r>
              <a:rPr lang="en-US" sz="385" b="1" dirty="0">
                <a:solidFill>
                  <a:srgbClr val="202124"/>
                </a:solidFill>
                <a:latin typeface="Arial" pitchFamily="34" charset="0"/>
                <a:ea typeface="Arial" pitchFamily="34" charset="-122"/>
                <a:cs typeface="Arial" pitchFamily="34" charset="-120"/>
              </a:rPr>
              <a:t>Triad Pillar 2 (Regulated Scale): Pattern B Silos ($$$) &amp; Pattern C Hybrid</a:t>
            </a:r>
            <a:endParaRPr lang="en-US" sz="385" dirty="0"/>
          </a:p>
        </p:txBody>
      </p:sp>
      <p:sp>
        <p:nvSpPr>
          <p:cNvPr id="20" name="Shape 18"/>
          <p:cNvSpPr/>
          <p:nvPr/>
        </p:nvSpPr>
        <p:spPr>
          <a:xfrm>
            <a:off x="4169664" y="3873398"/>
            <a:ext cx="1812341" cy="1902866"/>
          </a:xfrm>
          <a:prstGeom prst="roundRect">
            <a:avLst>
              <a:gd name="adj" fmla="val 1766"/>
            </a:avLst>
          </a:prstGeom>
          <a:solidFill>
            <a:srgbClr val="FEEFC3"/>
          </a:solidFill>
          <a:ln w="10795">
            <a:solidFill>
              <a:srgbClr val="9AA0A6"/>
            </a:solidFill>
            <a:prstDash val="solid"/>
          </a:ln>
        </p:spPr>
      </p:sp>
      <p:sp>
        <p:nvSpPr>
          <p:cNvPr id="21" name="Text 19"/>
          <p:cNvSpPr/>
          <p:nvPr/>
        </p:nvSpPr>
        <p:spPr>
          <a:xfrm>
            <a:off x="4215384"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A: Pooled Unit Economics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Lowest COGS ($) • 84.7% Net Input Token Savings</a:t>
            </a:r>
            <a:endParaRPr lang="en-US" sz="540" dirty="0"/>
          </a:p>
        </p:txBody>
      </p:sp>
      <p:sp>
        <p:nvSpPr>
          <p:cNvPr id="22" name="Shape 20"/>
          <p:cNvSpPr/>
          <p:nvPr/>
        </p:nvSpPr>
        <p:spPr>
          <a:xfrm>
            <a:off x="6206947" y="3873398"/>
            <a:ext cx="1812341" cy="1902866"/>
          </a:xfrm>
          <a:prstGeom prst="roundRect">
            <a:avLst>
              <a:gd name="adj" fmla="val 1766"/>
            </a:avLst>
          </a:prstGeom>
          <a:solidFill>
            <a:srgbClr val="FAD2CF"/>
          </a:solidFill>
          <a:ln w="10795">
            <a:solidFill>
              <a:srgbClr val="9AA0A6"/>
            </a:solidFill>
            <a:prstDash val="solid"/>
          </a:ln>
        </p:spPr>
      </p:sp>
      <p:sp>
        <p:nvSpPr>
          <p:cNvPr id="23" name="Text 21"/>
          <p:cNvSpPr/>
          <p:nvPr/>
        </p:nvSpPr>
        <p:spPr>
          <a:xfrm>
            <a:off x="6252667" y="3891686"/>
            <a:ext cx="1730045" cy="256032"/>
          </a:xfrm>
          <a:prstGeom prst="rect">
            <a:avLst/>
          </a:prstGeom>
          <a:noFill/>
          <a:ln/>
        </p:spPr>
        <p:txBody>
          <a:bodyPr wrap="square" lIns="0" tIns="0" rIns="0" bIns="0" rtlCol="0" anchor="t">
            <a:normAutofit/>
          </a:bodyPr>
          <a:lstStyle/>
          <a:p>
            <a:pPr algn="l" indent="0" marL="0">
              <a:lnSpc>
                <a:spcPct val="88000"/>
              </a:lnSpc>
              <a:buNone/>
            </a:pPr>
            <a:r>
              <a:rPr lang="en-US" sz="540" b="1" dirty="0">
                <a:solidFill>
                  <a:srgbClr val="202124"/>
                </a:solidFill>
                <a:latin typeface="Arial" pitchFamily="34" charset="0"/>
                <a:ea typeface="Arial" pitchFamily="34" charset="-122"/>
                <a:cs typeface="Arial" pitchFamily="34" charset="-120"/>
              </a:rPr>
              <a:t>Pattern B Silos &amp; Pattern C PSC Spokes</a:t>
            </a:r>
            <a:endParaRPr lang="en-US" sz="540" dirty="0"/>
          </a:p>
          <a:p>
            <a:pPr algn="l" indent="0" marL="0">
              <a:lnSpc>
                <a:spcPct val="88000"/>
              </a:lnSpc>
              <a:buNone/>
            </a:pPr>
            <a:r>
              <a:rPr lang="en-US" sz="450" dirty="0">
                <a:solidFill>
                  <a:srgbClr val="202124"/>
                </a:solidFill>
                <a:latin typeface="Arial" pitchFamily="34" charset="0"/>
                <a:ea typeface="Arial" pitchFamily="34" charset="-122"/>
                <a:cs typeface="Arial" pitchFamily="34" charset="-120"/>
              </a:rPr>
              <a:t>Zero Blast Radius + Zero-Downtime Tier Promotion</a:t>
            </a:r>
            <a:endParaRPr lang="en-US" sz="540" dirty="0"/>
          </a:p>
        </p:txBody>
      </p:sp>
      <p:sp>
        <p:nvSpPr>
          <p:cNvPr id="24" name="Shape 22"/>
          <p:cNvSpPr/>
          <p:nvPr/>
        </p:nvSpPr>
        <p:spPr>
          <a:xfrm>
            <a:off x="4101998" y="2113178"/>
            <a:ext cx="2487168" cy="1236269"/>
          </a:xfrm>
          <a:prstGeom prst="roundRect">
            <a:avLst>
              <a:gd name="adj" fmla="val 2589"/>
            </a:avLst>
          </a:prstGeom>
          <a:solidFill>
            <a:srgbClr val="AECBFA"/>
          </a:solidFill>
          <a:ln w="10795">
            <a:solidFill>
              <a:srgbClr val="9AA0A6"/>
            </a:solidFill>
            <a:prstDash val="solid"/>
          </a:ln>
        </p:spPr>
      </p:sp>
      <p:sp>
        <p:nvSpPr>
          <p:cNvPr id="25" name="Text 23"/>
          <p:cNvSpPr/>
          <p:nvPr/>
        </p:nvSpPr>
        <p:spPr>
          <a:xfrm>
            <a:off x="4147718" y="2131466"/>
            <a:ext cx="2404872" cy="256032"/>
          </a:xfrm>
          <a:prstGeom prst="rect">
            <a:avLst/>
          </a:prstGeom>
          <a:noFill/>
          <a:ln/>
        </p:spPr>
        <p:txBody>
          <a:bodyPr wrap="square" lIns="0" tIns="0" rIns="0" bIns="0" rtlCol="0" anchor="t">
            <a:normAutofit/>
          </a:bodyPr>
          <a:lstStyle/>
          <a:p>
            <a:pPr algn="l" indent="0" marL="0">
              <a:lnSpc>
                <a:spcPct val="88000"/>
              </a:lnSpc>
              <a:buNone/>
            </a:pPr>
            <a:r>
              <a:rPr lang="en-US" sz="480" b="1" dirty="0">
                <a:solidFill>
                  <a:srgbClr val="202124"/>
                </a:solidFill>
                <a:latin typeface="Arial" pitchFamily="34" charset="0"/>
                <a:ea typeface="Arial" pitchFamily="34" charset="-122"/>
                <a:cs typeface="Arial" pitchFamily="34" charset="-120"/>
              </a:rPr>
              <a:t>Triad Pillar 1: Zero-Trust Cryptographic Security</a:t>
            </a:r>
            <a:endParaRPr lang="en-US" sz="480" dirty="0"/>
          </a:p>
          <a:p>
            <a:pPr algn="l" indent="0" marL="0">
              <a:lnSpc>
                <a:spcPct val="88000"/>
              </a:lnSpc>
              <a:buNone/>
            </a:pPr>
            <a:r>
              <a:rPr lang="en-US" sz="410" dirty="0">
                <a:solidFill>
                  <a:srgbClr val="202124"/>
                </a:solidFill>
                <a:latin typeface="Arial" pitchFamily="34" charset="0"/>
                <a:ea typeface="Arial" pitchFamily="34" charset="-122"/>
                <a:cs typeface="Arial" pitchFamily="34" charset="-120"/>
              </a:rPr>
              <a:t>5-Hop Context Chain across Ingress, Catalog &amp; Runtime</a:t>
            </a:r>
            <a:endParaRPr lang="en-US" sz="480" dirty="0"/>
          </a:p>
        </p:txBody>
      </p:sp>
      <p:sp>
        <p:nvSpPr>
          <p:cNvPr id="26" name="Shape 24"/>
          <p:cNvSpPr/>
          <p:nvPr/>
        </p:nvSpPr>
        <p:spPr>
          <a:xfrm>
            <a:off x="6836054" y="2143354"/>
            <a:ext cx="1228039" cy="1198778"/>
          </a:xfrm>
          <a:prstGeom prst="roundRect">
            <a:avLst>
              <a:gd name="adj" fmla="val 2670"/>
            </a:avLst>
          </a:prstGeom>
          <a:solidFill>
            <a:srgbClr val="CEEAD6"/>
          </a:solidFill>
          <a:ln w="10795">
            <a:solidFill>
              <a:srgbClr val="9AA0A6"/>
            </a:solidFill>
            <a:prstDash val="solid"/>
          </a:ln>
        </p:spPr>
      </p:sp>
      <p:sp>
        <p:nvSpPr>
          <p:cNvPr id="27" name="Text 25"/>
          <p:cNvSpPr/>
          <p:nvPr/>
        </p:nvSpPr>
        <p:spPr>
          <a:xfrm>
            <a:off x="6881774" y="2161642"/>
            <a:ext cx="1145743" cy="137160"/>
          </a:xfrm>
          <a:prstGeom prst="rect">
            <a:avLst/>
          </a:prstGeom>
          <a:noFill/>
          <a:ln/>
        </p:spPr>
        <p:txBody>
          <a:bodyPr wrap="square" lIns="0" tIns="0" rIns="0" bIns="0" rtlCol="0" anchor="t">
            <a:normAutofit/>
          </a:bodyPr>
          <a:lstStyle/>
          <a:p>
            <a:pPr algn="l" indent="0" marL="0">
              <a:lnSpc>
                <a:spcPct val="88000"/>
              </a:lnSpc>
              <a:buNone/>
            </a:pPr>
            <a:r>
              <a:rPr lang="en-US" sz="460" b="1" dirty="0">
                <a:solidFill>
                  <a:srgbClr val="202124"/>
                </a:solidFill>
                <a:latin typeface="Arial" pitchFamily="34" charset="0"/>
                <a:ea typeface="Arial" pitchFamily="34" charset="-122"/>
                <a:cs typeface="Arial" pitchFamily="34" charset="-120"/>
              </a:rPr>
              <a:t>Triad Pillar 3: Zero-PII OTel &amp; FinOps Chargeback</a:t>
            </a:r>
            <a:endParaRPr lang="en-US" sz="460" dirty="0"/>
          </a:p>
        </p:txBody>
      </p:sp>
      <p:pic>
        <p:nvPicPr>
          <p:cNvPr id="28" name="Image 0" descr="preencoded.png">    </p:cNvPr>
          <p:cNvPicPr>
            <a:picLocks noChangeAspect="1"/>
          </p:cNvPicPr>
          <p:nvPr/>
        </p:nvPicPr>
        <p:blipFill>
          <a:blip r:embed="rId1"/>
          <a:stretch>
            <a:fillRect/>
          </a:stretch>
        </p:blipFill>
        <p:spPr>
          <a:xfrm>
            <a:off x="3982212" y="1707185"/>
            <a:ext cx="561442" cy="100584"/>
          </a:xfrm>
          <a:prstGeom prst="rect">
            <a:avLst/>
          </a:prstGeom>
        </p:spPr>
      </p:pic>
      <p:sp>
        <p:nvSpPr>
          <p:cNvPr id="29" name="Shape 26"/>
          <p:cNvSpPr/>
          <p:nvPr/>
        </p:nvSpPr>
        <p:spPr>
          <a:xfrm>
            <a:off x="5967374" y="1364285"/>
            <a:ext cx="0" cy="1093622"/>
          </a:xfrm>
          <a:prstGeom prst="line">
            <a:avLst/>
          </a:prstGeom>
          <a:noFill/>
          <a:ln w="12700">
            <a:solidFill>
              <a:srgbClr val="5F6368"/>
            </a:solidFill>
            <a:prstDash val="solid"/>
            <a:tailEnd type="triangle" w="sm" len="sm"/>
          </a:ln>
        </p:spPr>
      </p:sp>
      <p:sp>
        <p:nvSpPr>
          <p:cNvPr id="30" name="Shape 27"/>
          <p:cNvSpPr/>
          <p:nvPr/>
        </p:nvSpPr>
        <p:spPr>
          <a:xfrm flipV="1">
            <a:off x="6139282" y="1371600"/>
            <a:ext cx="0" cy="1093622"/>
          </a:xfrm>
          <a:prstGeom prst="line">
            <a:avLst/>
          </a:prstGeom>
          <a:noFill/>
          <a:ln w="12700">
            <a:solidFill>
              <a:srgbClr val="5F6368"/>
            </a:solidFill>
            <a:prstDash val="solid"/>
            <a:tailEnd type="triangle" w="sm" len="sm"/>
          </a:ln>
        </p:spPr>
      </p:sp>
      <p:sp>
        <p:nvSpPr>
          <p:cNvPr id="31" name="Shape 28"/>
          <p:cNvSpPr/>
          <p:nvPr/>
        </p:nvSpPr>
        <p:spPr>
          <a:xfrm flipH="1">
            <a:off x="5413248" y="2607869"/>
            <a:ext cx="127102" cy="0"/>
          </a:xfrm>
          <a:prstGeom prst="line">
            <a:avLst/>
          </a:prstGeom>
          <a:noFill/>
          <a:ln w="12700">
            <a:solidFill>
              <a:srgbClr val="5F6368"/>
            </a:solidFill>
            <a:prstDash val="solid"/>
          </a:ln>
        </p:spPr>
      </p:sp>
      <p:sp>
        <p:nvSpPr>
          <p:cNvPr id="32" name="Shape 29"/>
          <p:cNvSpPr/>
          <p:nvPr/>
        </p:nvSpPr>
        <p:spPr>
          <a:xfrm flipV="1">
            <a:off x="5413248" y="2461565"/>
            <a:ext cx="0" cy="146304"/>
          </a:xfrm>
          <a:prstGeom prst="line">
            <a:avLst/>
          </a:prstGeom>
          <a:noFill/>
          <a:ln w="12700">
            <a:solidFill>
              <a:srgbClr val="5F6368"/>
            </a:solidFill>
            <a:prstDash val="solid"/>
          </a:ln>
        </p:spPr>
      </p:sp>
      <p:sp>
        <p:nvSpPr>
          <p:cNvPr id="33" name="Shape 30"/>
          <p:cNvSpPr/>
          <p:nvPr/>
        </p:nvSpPr>
        <p:spPr>
          <a:xfrm flipH="1">
            <a:off x="4941418" y="2461565"/>
            <a:ext cx="471830" cy="0"/>
          </a:xfrm>
          <a:prstGeom prst="line">
            <a:avLst/>
          </a:prstGeom>
          <a:noFill/>
          <a:ln w="12700">
            <a:solidFill>
              <a:srgbClr val="5F6368"/>
            </a:solidFill>
            <a:prstDash val="solid"/>
            <a:tailEnd type="triangle" w="sm" len="sm"/>
          </a:ln>
        </p:spPr>
      </p:sp>
      <p:sp>
        <p:nvSpPr>
          <p:cNvPr id="34" name="Shape 31"/>
          <p:cNvSpPr/>
          <p:nvPr/>
        </p:nvSpPr>
        <p:spPr>
          <a:xfrm flipH="1">
            <a:off x="5413248" y="2607869"/>
            <a:ext cx="127102" cy="0"/>
          </a:xfrm>
          <a:prstGeom prst="line">
            <a:avLst/>
          </a:prstGeom>
          <a:noFill/>
          <a:ln w="12700">
            <a:solidFill>
              <a:srgbClr val="5F6368"/>
            </a:solidFill>
            <a:prstDash val="solid"/>
          </a:ln>
        </p:spPr>
      </p:sp>
      <p:sp>
        <p:nvSpPr>
          <p:cNvPr id="35" name="Shape 32"/>
          <p:cNvSpPr/>
          <p:nvPr/>
        </p:nvSpPr>
        <p:spPr>
          <a:xfrm>
            <a:off x="5413248" y="2607869"/>
            <a:ext cx="0" cy="168250"/>
          </a:xfrm>
          <a:prstGeom prst="line">
            <a:avLst/>
          </a:prstGeom>
          <a:noFill/>
          <a:ln w="12700">
            <a:solidFill>
              <a:srgbClr val="5F6368"/>
            </a:solidFill>
            <a:prstDash val="solid"/>
          </a:ln>
        </p:spPr>
      </p:sp>
      <p:sp>
        <p:nvSpPr>
          <p:cNvPr id="36" name="Shape 33"/>
          <p:cNvSpPr/>
          <p:nvPr/>
        </p:nvSpPr>
        <p:spPr>
          <a:xfrm flipH="1">
            <a:off x="4941418" y="2776118"/>
            <a:ext cx="471830" cy="0"/>
          </a:xfrm>
          <a:prstGeom prst="line">
            <a:avLst/>
          </a:prstGeom>
          <a:noFill/>
          <a:ln w="12700">
            <a:solidFill>
              <a:srgbClr val="5F6368"/>
            </a:solidFill>
            <a:prstDash val="solid"/>
            <a:tailEnd type="triangle" w="sm" len="sm"/>
          </a:ln>
        </p:spPr>
      </p:sp>
      <p:sp>
        <p:nvSpPr>
          <p:cNvPr id="37" name="Shape 34"/>
          <p:cNvSpPr/>
          <p:nvPr/>
        </p:nvSpPr>
        <p:spPr>
          <a:xfrm>
            <a:off x="4941418" y="3143707"/>
            <a:ext cx="688543" cy="0"/>
          </a:xfrm>
          <a:prstGeom prst="line">
            <a:avLst/>
          </a:prstGeom>
          <a:noFill/>
          <a:ln w="12700">
            <a:solidFill>
              <a:srgbClr val="5F6368"/>
            </a:solidFill>
            <a:prstDash val="solid"/>
            <a:headEnd type="triangle" w="sm" len="sm"/>
            <a:tailEnd type="triangle" w="sm" len="sm"/>
          </a:ln>
        </p:spPr>
      </p:sp>
      <p:sp>
        <p:nvSpPr>
          <p:cNvPr id="38" name="Shape 35"/>
          <p:cNvSpPr/>
          <p:nvPr/>
        </p:nvSpPr>
        <p:spPr>
          <a:xfrm>
            <a:off x="5967374" y="2750515"/>
            <a:ext cx="0" cy="269748"/>
          </a:xfrm>
          <a:prstGeom prst="line">
            <a:avLst/>
          </a:prstGeom>
          <a:noFill/>
          <a:ln w="12700">
            <a:solidFill>
              <a:srgbClr val="5F6368"/>
            </a:solidFill>
            <a:prstDash val="solid"/>
            <a:tailEnd type="triangle" w="sm" len="sm"/>
          </a:ln>
        </p:spPr>
      </p:sp>
      <p:sp>
        <p:nvSpPr>
          <p:cNvPr id="39" name="Shape 36"/>
          <p:cNvSpPr/>
          <p:nvPr/>
        </p:nvSpPr>
        <p:spPr>
          <a:xfrm flipV="1">
            <a:off x="6139282" y="2750515"/>
            <a:ext cx="0" cy="269748"/>
          </a:xfrm>
          <a:prstGeom prst="line">
            <a:avLst/>
          </a:prstGeom>
          <a:noFill/>
          <a:ln w="12700">
            <a:solidFill>
              <a:srgbClr val="5F6368"/>
            </a:solidFill>
            <a:prstDash val="solid"/>
            <a:tailEnd type="triangle" w="sm" len="sm"/>
          </a:ln>
        </p:spPr>
      </p:sp>
      <p:sp>
        <p:nvSpPr>
          <p:cNvPr id="40" name="Shape 37"/>
          <p:cNvSpPr/>
          <p:nvPr/>
        </p:nvSpPr>
        <p:spPr>
          <a:xfrm flipV="1">
            <a:off x="5529377" y="3633826"/>
            <a:ext cx="0" cy="673913"/>
          </a:xfrm>
          <a:prstGeom prst="line">
            <a:avLst/>
          </a:prstGeom>
          <a:noFill/>
          <a:ln w="12700">
            <a:solidFill>
              <a:srgbClr val="5F6368"/>
            </a:solidFill>
            <a:prstDash val="solid"/>
          </a:ln>
        </p:spPr>
      </p:sp>
      <p:sp>
        <p:nvSpPr>
          <p:cNvPr id="41" name="Shape 38"/>
          <p:cNvSpPr/>
          <p:nvPr/>
        </p:nvSpPr>
        <p:spPr>
          <a:xfrm>
            <a:off x="5529377" y="3633826"/>
            <a:ext cx="512978" cy="0"/>
          </a:xfrm>
          <a:prstGeom prst="line">
            <a:avLst/>
          </a:prstGeom>
          <a:noFill/>
          <a:ln w="12700">
            <a:solidFill>
              <a:srgbClr val="5F6368"/>
            </a:solidFill>
            <a:prstDash val="solid"/>
          </a:ln>
        </p:spPr>
      </p:sp>
      <p:sp>
        <p:nvSpPr>
          <p:cNvPr id="42" name="Shape 39"/>
          <p:cNvSpPr/>
          <p:nvPr/>
        </p:nvSpPr>
        <p:spPr>
          <a:xfrm flipV="1">
            <a:off x="6042355" y="3267151"/>
            <a:ext cx="0" cy="366674"/>
          </a:xfrm>
          <a:prstGeom prst="line">
            <a:avLst/>
          </a:prstGeom>
          <a:noFill/>
          <a:ln w="12700">
            <a:solidFill>
              <a:srgbClr val="5F6368"/>
            </a:solidFill>
            <a:prstDash val="solid"/>
            <a:tailEnd type="triangle" w="sm" len="sm"/>
          </a:ln>
        </p:spPr>
      </p:sp>
      <p:sp>
        <p:nvSpPr>
          <p:cNvPr id="43" name="Shape 40"/>
          <p:cNvSpPr/>
          <p:nvPr/>
        </p:nvSpPr>
        <p:spPr>
          <a:xfrm flipV="1">
            <a:off x="5529377" y="3633826"/>
            <a:ext cx="0" cy="673913"/>
          </a:xfrm>
          <a:prstGeom prst="line">
            <a:avLst/>
          </a:prstGeom>
          <a:noFill/>
          <a:ln w="12700">
            <a:solidFill>
              <a:srgbClr val="5F6368"/>
            </a:solidFill>
            <a:prstDash val="solid"/>
            <a:headEnd type="triangle" w="sm" len="sm"/>
          </a:ln>
        </p:spPr>
      </p:sp>
      <p:sp>
        <p:nvSpPr>
          <p:cNvPr id="44" name="Shape 41"/>
          <p:cNvSpPr/>
          <p:nvPr/>
        </p:nvSpPr>
        <p:spPr>
          <a:xfrm>
            <a:off x="5529377" y="3633826"/>
            <a:ext cx="2037283" cy="0"/>
          </a:xfrm>
          <a:prstGeom prst="line">
            <a:avLst/>
          </a:prstGeom>
          <a:noFill/>
          <a:ln w="12700">
            <a:solidFill>
              <a:srgbClr val="5F6368"/>
            </a:solidFill>
            <a:prstDash val="solid"/>
          </a:ln>
        </p:spPr>
      </p:sp>
      <p:sp>
        <p:nvSpPr>
          <p:cNvPr id="45" name="Shape 42"/>
          <p:cNvSpPr/>
          <p:nvPr/>
        </p:nvSpPr>
        <p:spPr>
          <a:xfrm>
            <a:off x="7566660" y="3633826"/>
            <a:ext cx="0" cy="673913"/>
          </a:xfrm>
          <a:prstGeom prst="line">
            <a:avLst/>
          </a:prstGeom>
          <a:noFill/>
          <a:ln w="12700">
            <a:solidFill>
              <a:srgbClr val="5F6368"/>
            </a:solidFill>
            <a:prstDash val="solid"/>
            <a:tailEnd type="triangle" w="sm" len="sm"/>
          </a:ln>
        </p:spPr>
      </p:sp>
      <p:sp>
        <p:nvSpPr>
          <p:cNvPr id="46" name="Shape 43"/>
          <p:cNvSpPr/>
          <p:nvPr/>
        </p:nvSpPr>
        <p:spPr>
          <a:xfrm flipV="1">
            <a:off x="5075834" y="3581705"/>
            <a:ext cx="0" cy="157277"/>
          </a:xfrm>
          <a:prstGeom prst="line">
            <a:avLst/>
          </a:prstGeom>
          <a:noFill/>
          <a:ln w="12700">
            <a:solidFill>
              <a:srgbClr val="5F6368"/>
            </a:solidFill>
            <a:prstDash val="dash"/>
            <a:headEnd type="triangle" w="sm" len="sm"/>
          </a:ln>
        </p:spPr>
      </p:sp>
      <p:sp>
        <p:nvSpPr>
          <p:cNvPr id="47" name="Shape 44"/>
          <p:cNvSpPr/>
          <p:nvPr/>
        </p:nvSpPr>
        <p:spPr>
          <a:xfrm>
            <a:off x="5075834" y="3581705"/>
            <a:ext cx="2374697" cy="0"/>
          </a:xfrm>
          <a:prstGeom prst="line">
            <a:avLst/>
          </a:prstGeom>
          <a:noFill/>
          <a:ln w="12700">
            <a:solidFill>
              <a:srgbClr val="5F6368"/>
            </a:solidFill>
            <a:prstDash val="dash"/>
          </a:ln>
        </p:spPr>
      </p:sp>
      <p:sp>
        <p:nvSpPr>
          <p:cNvPr id="48" name="Shape 45"/>
          <p:cNvSpPr/>
          <p:nvPr/>
        </p:nvSpPr>
        <p:spPr>
          <a:xfrm flipV="1">
            <a:off x="7450531" y="3342132"/>
            <a:ext cx="0" cy="239573"/>
          </a:xfrm>
          <a:prstGeom prst="line">
            <a:avLst/>
          </a:prstGeom>
          <a:noFill/>
          <a:ln w="12700">
            <a:solidFill>
              <a:srgbClr val="5F6368"/>
            </a:solidFill>
            <a:prstDash val="dash"/>
            <a:tailEnd type="triangle" w="sm" len="sm"/>
          </a:ln>
        </p:spPr>
      </p:sp>
      <p:sp>
        <p:nvSpPr>
          <p:cNvPr id="49" name="Shape 46"/>
          <p:cNvSpPr/>
          <p:nvPr/>
        </p:nvSpPr>
        <p:spPr>
          <a:xfrm>
            <a:off x="7450531" y="3342132"/>
            <a:ext cx="0" cy="239573"/>
          </a:xfrm>
          <a:prstGeom prst="line">
            <a:avLst/>
          </a:prstGeom>
          <a:noFill/>
          <a:ln w="12700">
            <a:solidFill>
              <a:srgbClr val="5F6368"/>
            </a:solidFill>
            <a:prstDash val="dash"/>
          </a:ln>
        </p:spPr>
      </p:sp>
      <p:sp>
        <p:nvSpPr>
          <p:cNvPr id="50" name="Shape 47"/>
          <p:cNvSpPr/>
          <p:nvPr/>
        </p:nvSpPr>
        <p:spPr>
          <a:xfrm flipH="1">
            <a:off x="7113118" y="3581705"/>
            <a:ext cx="337414" cy="0"/>
          </a:xfrm>
          <a:prstGeom prst="line">
            <a:avLst/>
          </a:prstGeom>
          <a:noFill/>
          <a:ln w="12700">
            <a:solidFill>
              <a:srgbClr val="5F6368"/>
            </a:solidFill>
            <a:prstDash val="dash"/>
          </a:ln>
        </p:spPr>
      </p:sp>
      <p:sp>
        <p:nvSpPr>
          <p:cNvPr id="51" name="Shape 48"/>
          <p:cNvSpPr/>
          <p:nvPr/>
        </p:nvSpPr>
        <p:spPr>
          <a:xfrm>
            <a:off x="7113118" y="3581705"/>
            <a:ext cx="0" cy="157277"/>
          </a:xfrm>
          <a:prstGeom prst="line">
            <a:avLst/>
          </a:prstGeom>
          <a:noFill/>
          <a:ln w="12700">
            <a:solidFill>
              <a:srgbClr val="5F6368"/>
            </a:solidFill>
            <a:prstDash val="dash"/>
            <a:tailEnd type="triangle" w="sm" len="sm"/>
          </a:ln>
        </p:spPr>
      </p:sp>
      <p:sp>
        <p:nvSpPr>
          <p:cNvPr id="52" name="Shape 49"/>
          <p:cNvSpPr/>
          <p:nvPr/>
        </p:nvSpPr>
        <p:spPr>
          <a:xfrm>
            <a:off x="4933188" y="4255618"/>
            <a:ext cx="82296" cy="0"/>
          </a:xfrm>
          <a:prstGeom prst="line">
            <a:avLst/>
          </a:prstGeom>
          <a:noFill/>
          <a:ln w="12700">
            <a:solidFill>
              <a:srgbClr val="5F6368"/>
            </a:solidFill>
            <a:prstDash val="solid"/>
          </a:ln>
        </p:spPr>
      </p:sp>
      <p:sp>
        <p:nvSpPr>
          <p:cNvPr id="53" name="Shape 50"/>
          <p:cNvSpPr/>
          <p:nvPr/>
        </p:nvSpPr>
        <p:spPr>
          <a:xfrm>
            <a:off x="5015484" y="4255618"/>
            <a:ext cx="0" cy="127102"/>
          </a:xfrm>
          <a:prstGeom prst="line">
            <a:avLst/>
          </a:prstGeom>
          <a:noFill/>
          <a:ln w="12700">
            <a:solidFill>
              <a:srgbClr val="5F6368"/>
            </a:solidFill>
            <a:prstDash val="solid"/>
          </a:ln>
        </p:spPr>
      </p:sp>
      <p:sp>
        <p:nvSpPr>
          <p:cNvPr id="54" name="Shape 51"/>
          <p:cNvSpPr/>
          <p:nvPr/>
        </p:nvSpPr>
        <p:spPr>
          <a:xfrm>
            <a:off x="5015484" y="4382719"/>
            <a:ext cx="112471" cy="0"/>
          </a:xfrm>
          <a:prstGeom prst="line">
            <a:avLst/>
          </a:prstGeom>
          <a:noFill/>
          <a:ln w="12700">
            <a:solidFill>
              <a:srgbClr val="5F6368"/>
            </a:solidFill>
            <a:prstDash val="solid"/>
          </a:ln>
        </p:spPr>
      </p:sp>
      <p:sp>
        <p:nvSpPr>
          <p:cNvPr id="55" name="Shape 52"/>
          <p:cNvSpPr/>
          <p:nvPr/>
        </p:nvSpPr>
        <p:spPr>
          <a:xfrm>
            <a:off x="4933188" y="5139842"/>
            <a:ext cx="112471" cy="0"/>
          </a:xfrm>
          <a:prstGeom prst="line">
            <a:avLst/>
          </a:prstGeom>
          <a:noFill/>
          <a:ln w="12700">
            <a:solidFill>
              <a:srgbClr val="5F6368"/>
            </a:solidFill>
            <a:prstDash val="solid"/>
          </a:ln>
        </p:spPr>
      </p:sp>
      <p:sp>
        <p:nvSpPr>
          <p:cNvPr id="56" name="Shape 53"/>
          <p:cNvSpPr/>
          <p:nvPr/>
        </p:nvSpPr>
        <p:spPr>
          <a:xfrm flipV="1">
            <a:off x="5045659" y="4502506"/>
            <a:ext cx="0" cy="637337"/>
          </a:xfrm>
          <a:prstGeom prst="line">
            <a:avLst/>
          </a:prstGeom>
          <a:noFill/>
          <a:ln w="12700">
            <a:solidFill>
              <a:srgbClr val="5F6368"/>
            </a:solidFill>
            <a:prstDash val="solid"/>
          </a:ln>
        </p:spPr>
      </p:sp>
      <p:sp>
        <p:nvSpPr>
          <p:cNvPr id="57" name="Shape 54"/>
          <p:cNvSpPr/>
          <p:nvPr/>
        </p:nvSpPr>
        <p:spPr>
          <a:xfrm>
            <a:off x="5045659" y="4502506"/>
            <a:ext cx="82296" cy="0"/>
          </a:xfrm>
          <a:prstGeom prst="line">
            <a:avLst/>
          </a:prstGeom>
          <a:noFill/>
          <a:ln w="12700">
            <a:solidFill>
              <a:srgbClr val="5F6368"/>
            </a:solidFill>
            <a:prstDash val="solid"/>
          </a:ln>
        </p:spPr>
      </p:sp>
      <p:sp>
        <p:nvSpPr>
          <p:cNvPr id="58" name="Shape 55"/>
          <p:cNvSpPr/>
          <p:nvPr/>
        </p:nvSpPr>
        <p:spPr>
          <a:xfrm flipV="1">
            <a:off x="5529377" y="4795114"/>
            <a:ext cx="0" cy="52121"/>
          </a:xfrm>
          <a:prstGeom prst="line">
            <a:avLst/>
          </a:prstGeom>
          <a:noFill/>
          <a:ln w="12700">
            <a:solidFill>
              <a:srgbClr val="5F6368"/>
            </a:solidFill>
            <a:prstDash val="solid"/>
            <a:headEnd type="triangle" w="sm" len="sm"/>
          </a:ln>
        </p:spPr>
      </p:sp>
      <p:sp>
        <p:nvSpPr>
          <p:cNvPr id="59" name="Shape 56"/>
          <p:cNvSpPr/>
          <p:nvPr/>
        </p:nvSpPr>
        <p:spPr>
          <a:xfrm flipV="1">
            <a:off x="5529377" y="4593031"/>
            <a:ext cx="0" cy="52121"/>
          </a:xfrm>
          <a:prstGeom prst="line">
            <a:avLst/>
          </a:prstGeom>
          <a:noFill/>
          <a:ln w="12700">
            <a:solidFill>
              <a:srgbClr val="5F6368"/>
            </a:solidFill>
            <a:prstDash val="solid"/>
            <a:tailEnd type="triangle" w="sm" len="sm"/>
          </a:ln>
        </p:spPr>
      </p:sp>
      <p:sp>
        <p:nvSpPr>
          <p:cNvPr id="60" name="Shape 57"/>
          <p:cNvSpPr/>
          <p:nvPr/>
        </p:nvSpPr>
        <p:spPr>
          <a:xfrm flipV="1">
            <a:off x="5529377" y="5356555"/>
            <a:ext cx="0" cy="53035"/>
          </a:xfrm>
          <a:prstGeom prst="line">
            <a:avLst/>
          </a:prstGeom>
          <a:noFill/>
          <a:ln w="12700">
            <a:solidFill>
              <a:srgbClr val="5F6368"/>
            </a:solidFill>
            <a:prstDash val="solid"/>
            <a:headEnd type="triangle" w="sm" len="sm"/>
          </a:ln>
        </p:spPr>
      </p:sp>
      <p:sp>
        <p:nvSpPr>
          <p:cNvPr id="61" name="Shape 58"/>
          <p:cNvSpPr/>
          <p:nvPr/>
        </p:nvSpPr>
        <p:spPr>
          <a:xfrm flipV="1">
            <a:off x="5529377" y="5131613"/>
            <a:ext cx="0" cy="53035"/>
          </a:xfrm>
          <a:prstGeom prst="line">
            <a:avLst/>
          </a:prstGeom>
          <a:noFill/>
          <a:ln w="12700">
            <a:solidFill>
              <a:srgbClr val="5F6368"/>
            </a:solidFill>
            <a:prstDash val="solid"/>
            <a:tailEnd type="triangle" w="sm" len="sm"/>
          </a:ln>
        </p:spPr>
      </p:sp>
      <p:sp>
        <p:nvSpPr>
          <p:cNvPr id="62" name="Shape 59"/>
          <p:cNvSpPr/>
          <p:nvPr/>
        </p:nvSpPr>
        <p:spPr>
          <a:xfrm>
            <a:off x="6970471" y="4255618"/>
            <a:ext cx="82296" cy="0"/>
          </a:xfrm>
          <a:prstGeom prst="line">
            <a:avLst/>
          </a:prstGeom>
          <a:noFill/>
          <a:ln w="12700">
            <a:solidFill>
              <a:srgbClr val="5F6368"/>
            </a:solidFill>
            <a:prstDash val="solid"/>
          </a:ln>
        </p:spPr>
      </p:sp>
      <p:sp>
        <p:nvSpPr>
          <p:cNvPr id="63" name="Shape 60"/>
          <p:cNvSpPr/>
          <p:nvPr/>
        </p:nvSpPr>
        <p:spPr>
          <a:xfrm>
            <a:off x="7052767" y="4255618"/>
            <a:ext cx="0" cy="127102"/>
          </a:xfrm>
          <a:prstGeom prst="line">
            <a:avLst/>
          </a:prstGeom>
          <a:noFill/>
          <a:ln w="12700">
            <a:solidFill>
              <a:srgbClr val="5F6368"/>
            </a:solidFill>
            <a:prstDash val="solid"/>
          </a:ln>
        </p:spPr>
      </p:sp>
      <p:sp>
        <p:nvSpPr>
          <p:cNvPr id="64" name="Shape 61"/>
          <p:cNvSpPr/>
          <p:nvPr/>
        </p:nvSpPr>
        <p:spPr>
          <a:xfrm>
            <a:off x="7052767" y="4382719"/>
            <a:ext cx="112471" cy="0"/>
          </a:xfrm>
          <a:prstGeom prst="line">
            <a:avLst/>
          </a:prstGeom>
          <a:noFill/>
          <a:ln w="12700">
            <a:solidFill>
              <a:srgbClr val="5F6368"/>
            </a:solidFill>
            <a:prstDash val="solid"/>
          </a:ln>
        </p:spPr>
      </p:sp>
      <p:sp>
        <p:nvSpPr>
          <p:cNvPr id="65" name="Shape 62"/>
          <p:cNvSpPr/>
          <p:nvPr/>
        </p:nvSpPr>
        <p:spPr>
          <a:xfrm>
            <a:off x="6970471" y="4637837"/>
            <a:ext cx="112471" cy="0"/>
          </a:xfrm>
          <a:prstGeom prst="line">
            <a:avLst/>
          </a:prstGeom>
          <a:noFill/>
          <a:ln w="12700">
            <a:solidFill>
              <a:srgbClr val="5F6368"/>
            </a:solidFill>
            <a:prstDash val="solid"/>
          </a:ln>
        </p:spPr>
      </p:sp>
      <p:sp>
        <p:nvSpPr>
          <p:cNvPr id="66" name="Shape 63"/>
          <p:cNvSpPr/>
          <p:nvPr/>
        </p:nvSpPr>
        <p:spPr>
          <a:xfrm flipV="1">
            <a:off x="7082942" y="4502506"/>
            <a:ext cx="0" cy="135331"/>
          </a:xfrm>
          <a:prstGeom prst="line">
            <a:avLst/>
          </a:prstGeom>
          <a:noFill/>
          <a:ln w="12700">
            <a:solidFill>
              <a:srgbClr val="5F6368"/>
            </a:solidFill>
            <a:prstDash val="solid"/>
          </a:ln>
        </p:spPr>
      </p:sp>
      <p:sp>
        <p:nvSpPr>
          <p:cNvPr id="67" name="Shape 64"/>
          <p:cNvSpPr/>
          <p:nvPr/>
        </p:nvSpPr>
        <p:spPr>
          <a:xfrm>
            <a:off x="7082942" y="4502506"/>
            <a:ext cx="82296" cy="0"/>
          </a:xfrm>
          <a:prstGeom prst="line">
            <a:avLst/>
          </a:prstGeom>
          <a:noFill/>
          <a:ln w="12700">
            <a:solidFill>
              <a:srgbClr val="5F6368"/>
            </a:solidFill>
            <a:prstDash val="solid"/>
          </a:ln>
        </p:spPr>
      </p:sp>
      <p:sp>
        <p:nvSpPr>
          <p:cNvPr id="68" name="Shape 65"/>
          <p:cNvSpPr/>
          <p:nvPr/>
        </p:nvSpPr>
        <p:spPr>
          <a:xfrm flipV="1">
            <a:off x="7566660" y="4795114"/>
            <a:ext cx="0" cy="52121"/>
          </a:xfrm>
          <a:prstGeom prst="line">
            <a:avLst/>
          </a:prstGeom>
          <a:noFill/>
          <a:ln w="12700">
            <a:solidFill>
              <a:srgbClr val="5F6368"/>
            </a:solidFill>
            <a:prstDash val="solid"/>
            <a:headEnd type="triangle" w="sm" len="sm"/>
          </a:ln>
        </p:spPr>
      </p:sp>
      <p:sp>
        <p:nvSpPr>
          <p:cNvPr id="69" name="Shape 66"/>
          <p:cNvSpPr/>
          <p:nvPr/>
        </p:nvSpPr>
        <p:spPr>
          <a:xfrm flipV="1">
            <a:off x="7566660" y="4593031"/>
            <a:ext cx="0" cy="52121"/>
          </a:xfrm>
          <a:prstGeom prst="line">
            <a:avLst/>
          </a:prstGeom>
          <a:noFill/>
          <a:ln w="12700">
            <a:solidFill>
              <a:srgbClr val="5F6368"/>
            </a:solidFill>
            <a:prstDash val="solid"/>
            <a:tailEnd type="triangle" w="sm" len="sm"/>
          </a:ln>
        </p:spPr>
      </p:sp>
      <p:sp>
        <p:nvSpPr>
          <p:cNvPr id="70" name="Shape 67"/>
          <p:cNvSpPr/>
          <p:nvPr/>
        </p:nvSpPr>
        <p:spPr>
          <a:xfrm flipV="1">
            <a:off x="7566660" y="5356555"/>
            <a:ext cx="0" cy="53035"/>
          </a:xfrm>
          <a:prstGeom prst="line">
            <a:avLst/>
          </a:prstGeom>
          <a:noFill/>
          <a:ln w="12700">
            <a:solidFill>
              <a:srgbClr val="5F6368"/>
            </a:solidFill>
            <a:prstDash val="solid"/>
            <a:headEnd type="triangle" w="sm" len="sm"/>
          </a:ln>
        </p:spPr>
      </p:sp>
      <p:sp>
        <p:nvSpPr>
          <p:cNvPr id="71" name="Shape 68"/>
          <p:cNvSpPr/>
          <p:nvPr/>
        </p:nvSpPr>
        <p:spPr>
          <a:xfrm flipV="1">
            <a:off x="7566660" y="5131613"/>
            <a:ext cx="0" cy="53035"/>
          </a:xfrm>
          <a:prstGeom prst="line">
            <a:avLst/>
          </a:prstGeom>
          <a:noFill/>
          <a:ln w="12700">
            <a:solidFill>
              <a:srgbClr val="5F6368"/>
            </a:solidFill>
            <a:prstDash val="solid"/>
            <a:tailEnd type="triangle" w="sm" len="sm"/>
          </a:ln>
        </p:spPr>
      </p:sp>
      <p:sp>
        <p:nvSpPr>
          <p:cNvPr id="72" name="Shape 69"/>
          <p:cNvSpPr/>
          <p:nvPr/>
        </p:nvSpPr>
        <p:spPr>
          <a:xfrm>
            <a:off x="5588813" y="1042416"/>
            <a:ext cx="936346" cy="321869"/>
          </a:xfrm>
          <a:prstGeom prst="roundRect">
            <a:avLst>
              <a:gd name="adj" fmla="val 12784"/>
            </a:avLst>
          </a:prstGeom>
          <a:solidFill>
            <a:srgbClr val="FFFFFF"/>
          </a:solidFill>
          <a:ln w="10795">
            <a:solidFill>
              <a:srgbClr val="DADCE0"/>
            </a:solidFill>
            <a:prstDash val="solid"/>
          </a:ln>
        </p:spPr>
      </p:sp>
      <p:pic>
        <p:nvPicPr>
          <p:cNvPr id="73" name="Image 1" descr="preencoded.png">    </p:cNvPr>
          <p:cNvPicPr>
            <a:picLocks noChangeAspect="1"/>
          </p:cNvPicPr>
          <p:nvPr/>
        </p:nvPicPr>
        <p:blipFill>
          <a:blip r:embed="rId2"/>
          <a:stretch>
            <a:fillRect/>
          </a:stretch>
        </p:blipFill>
        <p:spPr>
          <a:xfrm>
            <a:off x="5629961" y="1132942"/>
            <a:ext cx="141732" cy="141732"/>
          </a:xfrm>
          <a:prstGeom prst="rect">
            <a:avLst/>
          </a:prstGeom>
        </p:spPr>
      </p:pic>
      <p:sp>
        <p:nvSpPr>
          <p:cNvPr id="74" name="Text 70"/>
          <p:cNvSpPr/>
          <p:nvPr/>
        </p:nvSpPr>
        <p:spPr>
          <a:xfrm>
            <a:off x="5808269" y="1051560"/>
            <a:ext cx="680314" cy="303581"/>
          </a:xfrm>
          <a:prstGeom prst="rect">
            <a:avLst/>
          </a:prstGeom>
          <a:noFill/>
          <a:ln/>
        </p:spPr>
        <p:txBody>
          <a:bodyPr wrap="square" lIns="0" tIns="0" rIns="0" bIns="0" rtlCol="0" anchor="ctr">
            <a:normAutofit/>
          </a:bodyPr>
          <a:lstStyle/>
          <a:p>
            <a:pPr algn="l" indent="0" marL="0">
              <a:lnSpc>
                <a:spcPct val="88000"/>
              </a:lnSpc>
              <a:buNone/>
            </a:pPr>
            <a:r>
              <a:rPr lang="en-US" sz="560" b="1" dirty="0">
                <a:solidFill>
                  <a:srgbClr val="202124"/>
                </a:solidFill>
                <a:latin typeface="Arial" pitchFamily="34" charset="0"/>
                <a:ea typeface="Arial" pitchFamily="34" charset="-122"/>
                <a:cs typeface="Arial" pitchFamily="34" charset="-120"/>
              </a:rPr>
              <a:t>Enterprise &amp; SMB Users</a:t>
            </a:r>
            <a:endParaRPr lang="en-US" sz="560" dirty="0"/>
          </a:p>
          <a:p>
            <a:pPr algn="l" indent="0" marL="0">
              <a:lnSpc>
                <a:spcPct val="88000"/>
              </a:lnSpc>
              <a:buNone/>
            </a:pPr>
            <a:r>
              <a:rPr lang="en-US" sz="480" dirty="0">
                <a:solidFill>
                  <a:srgbClr val="3C4043"/>
                </a:solidFill>
                <a:latin typeface="Arial" pitchFamily="34" charset="0"/>
                <a:ea typeface="Arial" pitchFamily="34" charset="-122"/>
                <a:cs typeface="Arial" pitchFamily="34" charset="-120"/>
              </a:rPr>
              <a:t>10,000+ Multi-Tier Tenants</a:t>
            </a:r>
            <a:endParaRPr lang="en-US" sz="560" dirty="0"/>
          </a:p>
        </p:txBody>
      </p:sp>
      <p:sp>
        <p:nvSpPr>
          <p:cNvPr id="75" name="Shape 71"/>
          <p:cNvSpPr/>
          <p:nvPr/>
        </p:nvSpPr>
        <p:spPr>
          <a:xfrm>
            <a:off x="5540350" y="2465222"/>
            <a:ext cx="981151" cy="284378"/>
          </a:xfrm>
          <a:prstGeom prst="roundRect">
            <a:avLst>
              <a:gd name="adj" fmla="val 14469"/>
            </a:avLst>
          </a:prstGeom>
          <a:solidFill>
            <a:srgbClr val="FFFFFF"/>
          </a:solidFill>
          <a:ln w="10795">
            <a:solidFill>
              <a:srgbClr val="DADCE0"/>
            </a:solidFill>
            <a:prstDash val="solid"/>
          </a:ln>
        </p:spPr>
      </p:sp>
      <p:pic>
        <p:nvPicPr>
          <p:cNvPr id="76" name="Image 2" descr="preencoded.png">    </p:cNvPr>
          <p:cNvPicPr>
            <a:picLocks noChangeAspect="1"/>
          </p:cNvPicPr>
          <p:nvPr/>
        </p:nvPicPr>
        <p:blipFill>
          <a:blip r:embed="rId3"/>
          <a:stretch>
            <a:fillRect/>
          </a:stretch>
        </p:blipFill>
        <p:spPr>
          <a:xfrm>
            <a:off x="5563210" y="2536546"/>
            <a:ext cx="141732" cy="141732"/>
          </a:xfrm>
          <a:prstGeom prst="rect">
            <a:avLst/>
          </a:prstGeom>
        </p:spPr>
      </p:pic>
      <p:sp>
        <p:nvSpPr>
          <p:cNvPr id="77" name="Text 72"/>
          <p:cNvSpPr/>
          <p:nvPr/>
        </p:nvSpPr>
        <p:spPr>
          <a:xfrm>
            <a:off x="5727802" y="2470709"/>
            <a:ext cx="779069" cy="273406"/>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External Application Load Balancer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Global Anycast Ingress</a:t>
            </a:r>
            <a:endParaRPr lang="en-US" sz="435" dirty="0"/>
          </a:p>
        </p:txBody>
      </p:sp>
      <p:sp>
        <p:nvSpPr>
          <p:cNvPr id="78" name="Shape 73"/>
          <p:cNvSpPr/>
          <p:nvPr/>
        </p:nvSpPr>
        <p:spPr>
          <a:xfrm>
            <a:off x="6932981" y="2368296"/>
            <a:ext cx="1033272" cy="269748"/>
          </a:xfrm>
          <a:prstGeom prst="roundRect">
            <a:avLst>
              <a:gd name="adj" fmla="val 15254"/>
            </a:avLst>
          </a:prstGeom>
          <a:solidFill>
            <a:srgbClr val="FFFFFF"/>
          </a:solidFill>
          <a:ln w="10795">
            <a:solidFill>
              <a:srgbClr val="DADCE0"/>
            </a:solidFill>
            <a:prstDash val="solid"/>
          </a:ln>
        </p:spPr>
      </p:sp>
      <p:pic>
        <p:nvPicPr>
          <p:cNvPr id="79" name="Image 3" descr="preencoded.png">    </p:cNvPr>
          <p:cNvPicPr>
            <a:picLocks noChangeAspect="1"/>
          </p:cNvPicPr>
          <p:nvPr/>
        </p:nvPicPr>
        <p:blipFill>
          <a:blip r:embed="rId4"/>
          <a:stretch>
            <a:fillRect/>
          </a:stretch>
        </p:blipFill>
        <p:spPr>
          <a:xfrm>
            <a:off x="6955841" y="2435962"/>
            <a:ext cx="134417" cy="134417"/>
          </a:xfrm>
          <a:prstGeom prst="rect">
            <a:avLst/>
          </a:prstGeom>
        </p:spPr>
      </p:pic>
      <p:sp>
        <p:nvSpPr>
          <p:cNvPr id="80" name="Text 74"/>
          <p:cNvSpPr/>
          <p:nvPr/>
        </p:nvSpPr>
        <p:spPr>
          <a:xfrm>
            <a:off x="7113118" y="2373782"/>
            <a:ext cx="838505"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Security Command Center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Unified SIEM &amp; Audit Lineage</a:t>
            </a:r>
            <a:endParaRPr lang="en-US" sz="435" dirty="0"/>
          </a:p>
        </p:txBody>
      </p:sp>
      <p:sp>
        <p:nvSpPr>
          <p:cNvPr id="81" name="Shape 75"/>
          <p:cNvSpPr/>
          <p:nvPr/>
        </p:nvSpPr>
        <p:spPr>
          <a:xfrm>
            <a:off x="6948526" y="2997403"/>
            <a:ext cx="1004011" cy="255118"/>
          </a:xfrm>
          <a:prstGeom prst="roundRect">
            <a:avLst>
              <a:gd name="adj" fmla="val 16129"/>
            </a:avLst>
          </a:prstGeom>
          <a:solidFill>
            <a:srgbClr val="FFFFFF"/>
          </a:solidFill>
          <a:ln w="10795">
            <a:solidFill>
              <a:srgbClr val="DADCE0"/>
            </a:solidFill>
            <a:prstDash val="solid"/>
          </a:ln>
        </p:spPr>
      </p:sp>
      <p:pic>
        <p:nvPicPr>
          <p:cNvPr id="82" name="Image 4" descr="preencoded.png">    </p:cNvPr>
          <p:cNvPicPr>
            <a:picLocks noChangeAspect="1"/>
          </p:cNvPicPr>
          <p:nvPr/>
        </p:nvPicPr>
        <p:blipFill>
          <a:blip r:embed="rId5"/>
          <a:stretch>
            <a:fillRect/>
          </a:stretch>
        </p:blipFill>
        <p:spPr>
          <a:xfrm>
            <a:off x="6971386" y="3061411"/>
            <a:ext cx="128016" cy="128016"/>
          </a:xfrm>
          <a:prstGeom prst="rect">
            <a:avLst/>
          </a:prstGeom>
        </p:spPr>
      </p:pic>
      <p:sp>
        <p:nvSpPr>
          <p:cNvPr id="83" name="Text 76"/>
          <p:cNvSpPr/>
          <p:nvPr/>
        </p:nvSpPr>
        <p:spPr>
          <a:xfrm>
            <a:off x="7121347" y="3002890"/>
            <a:ext cx="81747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BigQuery OTel Sink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Zero-PII Cryptographic Spans</a:t>
            </a:r>
            <a:endParaRPr lang="en-US" sz="435" dirty="0"/>
          </a:p>
        </p:txBody>
      </p:sp>
      <p:sp>
        <p:nvSpPr>
          <p:cNvPr id="84" name="Shape 77"/>
          <p:cNvSpPr/>
          <p:nvPr/>
        </p:nvSpPr>
        <p:spPr>
          <a:xfrm>
            <a:off x="6955841" y="2690165"/>
            <a:ext cx="988466" cy="255118"/>
          </a:xfrm>
          <a:prstGeom prst="roundRect">
            <a:avLst>
              <a:gd name="adj" fmla="val 16129"/>
            </a:avLst>
          </a:prstGeom>
          <a:solidFill>
            <a:srgbClr val="FFFFFF"/>
          </a:solidFill>
          <a:ln w="10795">
            <a:solidFill>
              <a:srgbClr val="DADCE0"/>
            </a:solidFill>
            <a:prstDash val="solid"/>
          </a:ln>
        </p:spPr>
      </p:sp>
      <p:pic>
        <p:nvPicPr>
          <p:cNvPr id="85" name="Image 5" descr="preencoded.png">    </p:cNvPr>
          <p:cNvPicPr>
            <a:picLocks noChangeAspect="1"/>
          </p:cNvPicPr>
          <p:nvPr/>
        </p:nvPicPr>
        <p:blipFill>
          <a:blip r:embed="rId6"/>
          <a:stretch>
            <a:fillRect/>
          </a:stretch>
        </p:blipFill>
        <p:spPr>
          <a:xfrm>
            <a:off x="6978701" y="2754173"/>
            <a:ext cx="128016" cy="128016"/>
          </a:xfrm>
          <a:prstGeom prst="rect">
            <a:avLst/>
          </a:prstGeom>
        </p:spPr>
      </p:pic>
      <p:sp>
        <p:nvSpPr>
          <p:cNvPr id="86" name="Text 78"/>
          <p:cNvSpPr/>
          <p:nvPr/>
        </p:nvSpPr>
        <p:spPr>
          <a:xfrm>
            <a:off x="7128662" y="2695651"/>
            <a:ext cx="801014" cy="24414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3 Chargeback Models</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Even, Proportional &amp; Tiered</a:t>
            </a:r>
            <a:endParaRPr lang="en-US" sz="435" dirty="0"/>
          </a:p>
        </p:txBody>
      </p:sp>
      <p:sp>
        <p:nvSpPr>
          <p:cNvPr id="87" name="Shape 79"/>
          <p:cNvSpPr/>
          <p:nvPr/>
        </p:nvSpPr>
        <p:spPr>
          <a:xfrm>
            <a:off x="5127955" y="4307738"/>
            <a:ext cx="801014" cy="277063"/>
          </a:xfrm>
          <a:prstGeom prst="roundRect">
            <a:avLst>
              <a:gd name="adj" fmla="val 14851"/>
            </a:avLst>
          </a:prstGeom>
          <a:solidFill>
            <a:srgbClr val="FFFFFF"/>
          </a:solidFill>
          <a:ln w="10795">
            <a:solidFill>
              <a:srgbClr val="DADCE0"/>
            </a:solidFill>
            <a:prstDash val="solid"/>
          </a:ln>
        </p:spPr>
      </p:sp>
      <p:pic>
        <p:nvPicPr>
          <p:cNvPr id="88" name="Image 6" descr="preencoded.png">    </p:cNvPr>
          <p:cNvPicPr>
            <a:picLocks noChangeAspect="1"/>
          </p:cNvPicPr>
          <p:nvPr/>
        </p:nvPicPr>
        <p:blipFill>
          <a:blip r:embed="rId7"/>
          <a:stretch>
            <a:fillRect/>
          </a:stretch>
        </p:blipFill>
        <p:spPr>
          <a:xfrm>
            <a:off x="5150815" y="4377233"/>
            <a:ext cx="138074" cy="138074"/>
          </a:xfrm>
          <a:prstGeom prst="rect">
            <a:avLst/>
          </a:prstGeom>
        </p:spPr>
      </p:pic>
      <p:sp>
        <p:nvSpPr>
          <p:cNvPr id="89" name="Text 80"/>
          <p:cNvSpPr/>
          <p:nvPr/>
        </p:nvSpPr>
        <p:spPr>
          <a:xfrm>
            <a:off x="5311750"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Thinking Budget Cap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Clamps 4k Std vs 8k Ent</a:t>
            </a:r>
            <a:endParaRPr lang="en-US" sz="435" dirty="0"/>
          </a:p>
        </p:txBody>
      </p:sp>
      <p:sp>
        <p:nvSpPr>
          <p:cNvPr id="90" name="Shape 81"/>
          <p:cNvSpPr/>
          <p:nvPr/>
        </p:nvSpPr>
        <p:spPr>
          <a:xfrm>
            <a:off x="5127955" y="4847234"/>
            <a:ext cx="801014" cy="277063"/>
          </a:xfrm>
          <a:prstGeom prst="roundRect">
            <a:avLst>
              <a:gd name="adj" fmla="val 14851"/>
            </a:avLst>
          </a:prstGeom>
          <a:solidFill>
            <a:srgbClr val="FFFFFF"/>
          </a:solidFill>
          <a:ln w="10795">
            <a:solidFill>
              <a:srgbClr val="DADCE0"/>
            </a:solidFill>
            <a:prstDash val="solid"/>
          </a:ln>
        </p:spPr>
      </p:sp>
      <p:pic>
        <p:nvPicPr>
          <p:cNvPr id="91" name="Image 7" descr="preencoded.png">    </p:cNvPr>
          <p:cNvPicPr>
            <a:picLocks noChangeAspect="1"/>
          </p:cNvPicPr>
          <p:nvPr/>
        </p:nvPicPr>
        <p:blipFill>
          <a:blip r:embed="rId8"/>
          <a:stretch>
            <a:fillRect/>
          </a:stretch>
        </p:blipFill>
        <p:spPr>
          <a:xfrm>
            <a:off x="5150815" y="4916729"/>
            <a:ext cx="138074" cy="138074"/>
          </a:xfrm>
          <a:prstGeom prst="rect">
            <a:avLst/>
          </a:prstGeom>
        </p:spPr>
      </p:pic>
      <p:sp>
        <p:nvSpPr>
          <p:cNvPr id="92" name="Text 82"/>
          <p:cNvSpPr/>
          <p:nvPr/>
        </p:nvSpPr>
        <p:spPr>
          <a:xfrm>
            <a:off x="5311750"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2LO &amp; 3LO Auth Mgr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Scoped Per-Tenant Vault</a:t>
            </a:r>
            <a:endParaRPr lang="en-US" sz="435" dirty="0"/>
          </a:p>
        </p:txBody>
      </p:sp>
      <p:sp>
        <p:nvSpPr>
          <p:cNvPr id="93" name="Shape 83"/>
          <p:cNvSpPr/>
          <p:nvPr/>
        </p:nvSpPr>
        <p:spPr>
          <a:xfrm>
            <a:off x="5127955" y="5409590"/>
            <a:ext cx="801014" cy="277063"/>
          </a:xfrm>
          <a:prstGeom prst="roundRect">
            <a:avLst>
              <a:gd name="adj" fmla="val 14851"/>
            </a:avLst>
          </a:prstGeom>
          <a:solidFill>
            <a:srgbClr val="FFFFFF"/>
          </a:solidFill>
          <a:ln w="10795">
            <a:solidFill>
              <a:srgbClr val="DADCE0"/>
            </a:solidFill>
            <a:prstDash val="solid"/>
          </a:ln>
        </p:spPr>
      </p:sp>
      <p:pic>
        <p:nvPicPr>
          <p:cNvPr id="94" name="Image 8" descr="preencoded.png">    </p:cNvPr>
          <p:cNvPicPr>
            <a:picLocks noChangeAspect="1"/>
          </p:cNvPicPr>
          <p:nvPr/>
        </p:nvPicPr>
        <p:blipFill>
          <a:blip r:embed="rId9"/>
          <a:stretch>
            <a:fillRect/>
          </a:stretch>
        </p:blipFill>
        <p:spPr>
          <a:xfrm>
            <a:off x="5150815" y="5479085"/>
            <a:ext cx="138074" cy="138074"/>
          </a:xfrm>
          <a:prstGeom prst="rect">
            <a:avLst/>
          </a:prstGeom>
        </p:spPr>
      </p:pic>
      <p:sp>
        <p:nvSpPr>
          <p:cNvPr id="95" name="Text 84"/>
          <p:cNvSpPr/>
          <p:nvPr/>
        </p:nvSpPr>
        <p:spPr>
          <a:xfrm>
            <a:off x="5311750"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AlloyDB RLS &amp; L1–L5</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Shared Storage Density</a:t>
            </a:r>
            <a:endParaRPr lang="en-US" sz="435" dirty="0"/>
          </a:p>
        </p:txBody>
      </p:sp>
      <p:sp>
        <p:nvSpPr>
          <p:cNvPr id="96" name="Shape 85"/>
          <p:cNvSpPr/>
          <p:nvPr/>
        </p:nvSpPr>
        <p:spPr>
          <a:xfrm>
            <a:off x="7165238" y="4307738"/>
            <a:ext cx="801014" cy="277063"/>
          </a:xfrm>
          <a:prstGeom prst="roundRect">
            <a:avLst>
              <a:gd name="adj" fmla="val 14851"/>
            </a:avLst>
          </a:prstGeom>
          <a:solidFill>
            <a:srgbClr val="FFFFFF"/>
          </a:solidFill>
          <a:ln w="10795">
            <a:solidFill>
              <a:srgbClr val="DADCE0"/>
            </a:solidFill>
            <a:prstDash val="solid"/>
          </a:ln>
        </p:spPr>
      </p:sp>
      <p:pic>
        <p:nvPicPr>
          <p:cNvPr id="97" name="Image 9" descr="preencoded.png">    </p:cNvPr>
          <p:cNvPicPr>
            <a:picLocks noChangeAspect="1"/>
          </p:cNvPicPr>
          <p:nvPr/>
        </p:nvPicPr>
        <p:blipFill>
          <a:blip r:embed="rId10"/>
          <a:stretch>
            <a:fillRect/>
          </a:stretch>
        </p:blipFill>
        <p:spPr>
          <a:xfrm>
            <a:off x="7188098" y="4377233"/>
            <a:ext cx="138074" cy="138074"/>
          </a:xfrm>
          <a:prstGeom prst="rect">
            <a:avLst/>
          </a:prstGeom>
        </p:spPr>
      </p:pic>
      <p:sp>
        <p:nvSpPr>
          <p:cNvPr id="98" name="Text 86"/>
          <p:cNvSpPr/>
          <p:nvPr/>
        </p:nvSpPr>
        <p:spPr>
          <a:xfrm>
            <a:off x="7349033" y="4313225"/>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PSC Spoke Runtime</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3-Phase Live Tier Upgrade</a:t>
            </a:r>
            <a:endParaRPr lang="en-US" sz="435" dirty="0"/>
          </a:p>
        </p:txBody>
      </p:sp>
      <p:sp>
        <p:nvSpPr>
          <p:cNvPr id="99" name="Shape 87"/>
          <p:cNvSpPr/>
          <p:nvPr/>
        </p:nvSpPr>
        <p:spPr>
          <a:xfrm>
            <a:off x="7165238" y="4847234"/>
            <a:ext cx="801014" cy="277063"/>
          </a:xfrm>
          <a:prstGeom prst="roundRect">
            <a:avLst>
              <a:gd name="adj" fmla="val 14851"/>
            </a:avLst>
          </a:prstGeom>
          <a:solidFill>
            <a:srgbClr val="FFFFFF"/>
          </a:solidFill>
          <a:ln w="10795">
            <a:solidFill>
              <a:srgbClr val="DADCE0"/>
            </a:solidFill>
            <a:prstDash val="solid"/>
          </a:ln>
        </p:spPr>
      </p:sp>
      <p:pic>
        <p:nvPicPr>
          <p:cNvPr id="100" name="Image 10" descr="preencoded.png">    </p:cNvPr>
          <p:cNvPicPr>
            <a:picLocks noChangeAspect="1"/>
          </p:cNvPicPr>
          <p:nvPr/>
        </p:nvPicPr>
        <p:blipFill>
          <a:blip r:embed="rId11"/>
          <a:stretch>
            <a:fillRect/>
          </a:stretch>
        </p:blipFill>
        <p:spPr>
          <a:xfrm>
            <a:off x="7188098" y="4916729"/>
            <a:ext cx="138074" cy="138074"/>
          </a:xfrm>
          <a:prstGeom prst="rect">
            <a:avLst/>
          </a:prstGeom>
        </p:spPr>
      </p:pic>
      <p:sp>
        <p:nvSpPr>
          <p:cNvPr id="101" name="Text 88"/>
          <p:cNvSpPr/>
          <p:nvPr/>
        </p:nvSpPr>
        <p:spPr>
          <a:xfrm>
            <a:off x="7349033" y="4852721"/>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Dedicated Silo MCP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Zero Cross-Project Egress</a:t>
            </a:r>
            <a:endParaRPr lang="en-US" sz="435" dirty="0"/>
          </a:p>
        </p:txBody>
      </p:sp>
      <p:sp>
        <p:nvSpPr>
          <p:cNvPr id="102" name="Shape 89"/>
          <p:cNvSpPr/>
          <p:nvPr/>
        </p:nvSpPr>
        <p:spPr>
          <a:xfrm>
            <a:off x="7165238" y="5409590"/>
            <a:ext cx="801014" cy="277063"/>
          </a:xfrm>
          <a:prstGeom prst="roundRect">
            <a:avLst>
              <a:gd name="adj" fmla="val 14851"/>
            </a:avLst>
          </a:prstGeom>
          <a:solidFill>
            <a:srgbClr val="FFFFFF"/>
          </a:solidFill>
          <a:ln w="10795">
            <a:solidFill>
              <a:srgbClr val="DADCE0"/>
            </a:solidFill>
            <a:prstDash val="solid"/>
          </a:ln>
        </p:spPr>
      </p:sp>
      <p:pic>
        <p:nvPicPr>
          <p:cNvPr id="103" name="Image 11" descr="preencoded.png">    </p:cNvPr>
          <p:cNvPicPr>
            <a:picLocks noChangeAspect="1"/>
          </p:cNvPicPr>
          <p:nvPr/>
        </p:nvPicPr>
        <p:blipFill>
          <a:blip r:embed="rId12"/>
          <a:stretch>
            <a:fillRect/>
          </a:stretch>
        </p:blipFill>
        <p:spPr>
          <a:xfrm>
            <a:off x="7188098" y="5479085"/>
            <a:ext cx="138074" cy="138074"/>
          </a:xfrm>
          <a:prstGeom prst="rect">
            <a:avLst/>
          </a:prstGeom>
        </p:spPr>
      </p:pic>
      <p:sp>
        <p:nvSpPr>
          <p:cNvPr id="104" name="Text 90"/>
          <p:cNvSpPr/>
          <p:nvPr/>
        </p:nvSpPr>
        <p:spPr>
          <a:xfrm>
            <a:off x="7349033" y="5415077"/>
            <a:ext cx="602590" cy="266090"/>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Cloud KMS CMEK Lock</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Instant HTTP 423 Kill-Switch</a:t>
            </a:r>
            <a:endParaRPr lang="en-US" sz="435" dirty="0"/>
          </a:p>
        </p:txBody>
      </p:sp>
      <p:sp>
        <p:nvSpPr>
          <p:cNvPr id="105" name="Shape 91"/>
          <p:cNvSpPr/>
          <p:nvPr/>
        </p:nvSpPr>
        <p:spPr>
          <a:xfrm>
            <a:off x="5629961" y="3020263"/>
            <a:ext cx="838505" cy="246888"/>
          </a:xfrm>
          <a:prstGeom prst="roundRect">
            <a:avLst>
              <a:gd name="adj" fmla="val 16667"/>
            </a:avLst>
          </a:prstGeom>
          <a:solidFill>
            <a:srgbClr val="FFFFFF"/>
          </a:solidFill>
          <a:ln w="10795">
            <a:solidFill>
              <a:srgbClr val="DADCE0"/>
            </a:solidFill>
            <a:prstDash val="solid"/>
          </a:ln>
        </p:spPr>
      </p:sp>
      <p:pic>
        <p:nvPicPr>
          <p:cNvPr id="106" name="Image 12" descr="preencoded.png">    </p:cNvPr>
          <p:cNvPicPr>
            <a:picLocks noChangeAspect="1"/>
          </p:cNvPicPr>
          <p:nvPr/>
        </p:nvPicPr>
        <p:blipFill>
          <a:blip r:embed="rId13"/>
          <a:stretch>
            <a:fillRect/>
          </a:stretch>
        </p:blipFill>
        <p:spPr>
          <a:xfrm>
            <a:off x="5652821" y="3081528"/>
            <a:ext cx="123444" cy="123444"/>
          </a:xfrm>
          <a:prstGeom prst="rect">
            <a:avLst/>
          </a:prstGeom>
        </p:spPr>
      </p:pic>
      <p:sp>
        <p:nvSpPr>
          <p:cNvPr id="107" name="Text 92"/>
          <p:cNvSpPr/>
          <p:nvPr/>
        </p:nvSpPr>
        <p:spPr>
          <a:xfrm>
            <a:off x="5799125" y="3025750"/>
            <a:ext cx="655625"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Architecture Selector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Routes Pattern A, B or C</a:t>
            </a:r>
            <a:endParaRPr lang="en-US" sz="435" dirty="0"/>
          </a:p>
        </p:txBody>
      </p:sp>
      <p:sp>
        <p:nvSpPr>
          <p:cNvPr id="108" name="Shape 93"/>
          <p:cNvSpPr/>
          <p:nvPr/>
        </p:nvSpPr>
        <p:spPr>
          <a:xfrm>
            <a:off x="4207154" y="4121201"/>
            <a:ext cx="726948" cy="269748"/>
          </a:xfrm>
          <a:prstGeom prst="roundRect">
            <a:avLst>
              <a:gd name="adj" fmla="val 15254"/>
            </a:avLst>
          </a:prstGeom>
          <a:solidFill>
            <a:srgbClr val="FFFFFF"/>
          </a:solidFill>
          <a:ln w="10795">
            <a:solidFill>
              <a:srgbClr val="DADCE0"/>
            </a:solidFill>
            <a:prstDash val="solid"/>
          </a:ln>
        </p:spPr>
      </p:sp>
      <p:pic>
        <p:nvPicPr>
          <p:cNvPr id="109" name="Image 13" descr="preencoded.png">    </p:cNvPr>
          <p:cNvPicPr>
            <a:picLocks noChangeAspect="1"/>
          </p:cNvPicPr>
          <p:nvPr/>
        </p:nvPicPr>
        <p:blipFill>
          <a:blip r:embed="rId14"/>
          <a:stretch>
            <a:fillRect/>
          </a:stretch>
        </p:blipFill>
        <p:spPr>
          <a:xfrm>
            <a:off x="4230014" y="4190695"/>
            <a:ext cx="130759" cy="130759"/>
          </a:xfrm>
          <a:prstGeom prst="rect">
            <a:avLst/>
          </a:prstGeom>
        </p:spPr>
      </p:pic>
      <p:sp>
        <p:nvSpPr>
          <p:cNvPr id="110" name="Text 94"/>
          <p:cNvSpPr/>
          <p:nvPr/>
        </p:nvSpPr>
        <p:spPr>
          <a:xfrm>
            <a:off x="4383634"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Valkey Rate Bulkhead</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120 RPM Std / 600 RPM Ent</a:t>
            </a:r>
            <a:endParaRPr lang="en-US" sz="435" dirty="0"/>
          </a:p>
        </p:txBody>
      </p:sp>
      <p:sp>
        <p:nvSpPr>
          <p:cNvPr id="111" name="Shape 95"/>
          <p:cNvSpPr/>
          <p:nvPr/>
        </p:nvSpPr>
        <p:spPr>
          <a:xfrm>
            <a:off x="4207154" y="5004511"/>
            <a:ext cx="726948" cy="269748"/>
          </a:xfrm>
          <a:prstGeom prst="roundRect">
            <a:avLst>
              <a:gd name="adj" fmla="val 15254"/>
            </a:avLst>
          </a:prstGeom>
          <a:solidFill>
            <a:srgbClr val="FFFFFF"/>
          </a:solidFill>
          <a:ln w="10795">
            <a:solidFill>
              <a:srgbClr val="DADCE0"/>
            </a:solidFill>
            <a:prstDash val="solid"/>
          </a:ln>
        </p:spPr>
      </p:sp>
      <p:pic>
        <p:nvPicPr>
          <p:cNvPr id="112" name="Image 14" descr="preencoded.png">    </p:cNvPr>
          <p:cNvPicPr>
            <a:picLocks noChangeAspect="1"/>
          </p:cNvPicPr>
          <p:nvPr/>
        </p:nvPicPr>
        <p:blipFill>
          <a:blip r:embed="rId15"/>
          <a:stretch>
            <a:fillRect/>
          </a:stretch>
        </p:blipFill>
        <p:spPr>
          <a:xfrm>
            <a:off x="4230014" y="5074006"/>
            <a:ext cx="130759" cy="130759"/>
          </a:xfrm>
          <a:prstGeom prst="rect">
            <a:avLst/>
          </a:prstGeom>
        </p:spPr>
      </p:pic>
      <p:sp>
        <p:nvSpPr>
          <p:cNvPr id="113" name="Text 96"/>
          <p:cNvSpPr/>
          <p:nvPr/>
        </p:nvSpPr>
        <p:spPr>
          <a:xfrm>
            <a:off x="4383634" y="5009998"/>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ContextCacheConfig</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90% Discount on 32k Prefix</a:t>
            </a:r>
            <a:endParaRPr lang="en-US" sz="435" dirty="0"/>
          </a:p>
        </p:txBody>
      </p:sp>
      <p:sp>
        <p:nvSpPr>
          <p:cNvPr id="114" name="Shape 97"/>
          <p:cNvSpPr/>
          <p:nvPr/>
        </p:nvSpPr>
        <p:spPr>
          <a:xfrm>
            <a:off x="6244438" y="4121201"/>
            <a:ext cx="726948" cy="269748"/>
          </a:xfrm>
          <a:prstGeom prst="roundRect">
            <a:avLst>
              <a:gd name="adj" fmla="val 15254"/>
            </a:avLst>
          </a:prstGeom>
          <a:solidFill>
            <a:srgbClr val="FFFFFF"/>
          </a:solidFill>
          <a:ln w="10795">
            <a:solidFill>
              <a:srgbClr val="DADCE0"/>
            </a:solidFill>
            <a:prstDash val="solid"/>
          </a:ln>
        </p:spPr>
      </p:sp>
      <p:pic>
        <p:nvPicPr>
          <p:cNvPr id="115" name="Image 15" descr="preencoded.png">    </p:cNvPr>
          <p:cNvPicPr>
            <a:picLocks noChangeAspect="1"/>
          </p:cNvPicPr>
          <p:nvPr/>
        </p:nvPicPr>
        <p:blipFill>
          <a:blip r:embed="rId16"/>
          <a:stretch>
            <a:fillRect/>
          </a:stretch>
        </p:blipFill>
        <p:spPr>
          <a:xfrm>
            <a:off x="6267298" y="4190695"/>
            <a:ext cx="130759" cy="130759"/>
          </a:xfrm>
          <a:prstGeom prst="rect">
            <a:avLst/>
          </a:prstGeom>
        </p:spPr>
      </p:pic>
      <p:sp>
        <p:nvSpPr>
          <p:cNvPr id="116" name="Text 98"/>
          <p:cNvSpPr/>
          <p:nvPr/>
        </p:nvSpPr>
        <p:spPr>
          <a:xfrm>
            <a:off x="6420917" y="4126687"/>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VPC-SC &amp; IAM PAB</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Hard Perimeter Isolation</a:t>
            </a:r>
            <a:endParaRPr lang="en-US" sz="435" dirty="0"/>
          </a:p>
        </p:txBody>
      </p:sp>
      <p:sp>
        <p:nvSpPr>
          <p:cNvPr id="117" name="Shape 99"/>
          <p:cNvSpPr/>
          <p:nvPr/>
        </p:nvSpPr>
        <p:spPr>
          <a:xfrm>
            <a:off x="6244438" y="4502506"/>
            <a:ext cx="726948" cy="269748"/>
          </a:xfrm>
          <a:prstGeom prst="roundRect">
            <a:avLst>
              <a:gd name="adj" fmla="val 15254"/>
            </a:avLst>
          </a:prstGeom>
          <a:solidFill>
            <a:srgbClr val="FFFFFF"/>
          </a:solidFill>
          <a:ln w="10795">
            <a:solidFill>
              <a:srgbClr val="DADCE0"/>
            </a:solidFill>
            <a:prstDash val="solid"/>
          </a:ln>
        </p:spPr>
      </p:sp>
      <p:pic>
        <p:nvPicPr>
          <p:cNvPr id="118" name="Image 16" descr="preencoded.png">    </p:cNvPr>
          <p:cNvPicPr>
            <a:picLocks noChangeAspect="1"/>
          </p:cNvPicPr>
          <p:nvPr/>
        </p:nvPicPr>
        <p:blipFill>
          <a:blip r:embed="rId17"/>
          <a:stretch>
            <a:fillRect/>
          </a:stretch>
        </p:blipFill>
        <p:spPr>
          <a:xfrm>
            <a:off x="6267298" y="4572000"/>
            <a:ext cx="130759" cy="130759"/>
          </a:xfrm>
          <a:prstGeom prst="rect">
            <a:avLst/>
          </a:prstGeom>
        </p:spPr>
      </p:pic>
      <p:sp>
        <p:nvSpPr>
          <p:cNvPr id="119" name="Text 100"/>
          <p:cNvSpPr/>
          <p:nvPr/>
        </p:nvSpPr>
        <p:spPr>
          <a:xfrm>
            <a:off x="6420917" y="4507992"/>
            <a:ext cx="536753" cy="25877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Gemma 3 &amp; Gemini 2.5 Pro</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Air-Gapped GKE &amp; Dedicated PT</a:t>
            </a:r>
            <a:endParaRPr lang="en-US" sz="435" dirty="0"/>
          </a:p>
        </p:txBody>
      </p:sp>
      <p:sp>
        <p:nvSpPr>
          <p:cNvPr id="120" name="Shape 101"/>
          <p:cNvSpPr/>
          <p:nvPr/>
        </p:nvSpPr>
        <p:spPr>
          <a:xfrm>
            <a:off x="4176979" y="2338121"/>
            <a:ext cx="764438" cy="246888"/>
          </a:xfrm>
          <a:prstGeom prst="roundRect">
            <a:avLst>
              <a:gd name="adj" fmla="val 16667"/>
            </a:avLst>
          </a:prstGeom>
          <a:solidFill>
            <a:srgbClr val="FFFFFF"/>
          </a:solidFill>
          <a:ln w="10795">
            <a:solidFill>
              <a:srgbClr val="DADCE0"/>
            </a:solidFill>
            <a:prstDash val="solid"/>
          </a:ln>
        </p:spPr>
      </p:sp>
      <p:pic>
        <p:nvPicPr>
          <p:cNvPr id="121" name="Image 17" descr="preencoded.png">    </p:cNvPr>
          <p:cNvPicPr>
            <a:picLocks noChangeAspect="1"/>
          </p:cNvPicPr>
          <p:nvPr/>
        </p:nvPicPr>
        <p:blipFill>
          <a:blip r:embed="rId18"/>
          <a:stretch>
            <a:fillRect/>
          </a:stretch>
        </p:blipFill>
        <p:spPr>
          <a:xfrm>
            <a:off x="4199839" y="2399386"/>
            <a:ext cx="123444" cy="123444"/>
          </a:xfrm>
          <a:prstGeom prst="rect">
            <a:avLst/>
          </a:prstGeom>
        </p:spPr>
      </p:pic>
      <p:sp>
        <p:nvSpPr>
          <p:cNvPr id="122" name="Text 102"/>
          <p:cNvSpPr/>
          <p:nvPr/>
        </p:nvSpPr>
        <p:spPr>
          <a:xfrm>
            <a:off x="4346143" y="2343607"/>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1: Cloud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WAF Header Strip + OBO + DPoP</a:t>
            </a:r>
            <a:endParaRPr lang="en-US" sz="435" dirty="0"/>
          </a:p>
        </p:txBody>
      </p:sp>
      <p:sp>
        <p:nvSpPr>
          <p:cNvPr id="123" name="Shape 103"/>
          <p:cNvSpPr/>
          <p:nvPr/>
        </p:nvSpPr>
        <p:spPr>
          <a:xfrm>
            <a:off x="4176979" y="2652674"/>
            <a:ext cx="764438" cy="246888"/>
          </a:xfrm>
          <a:prstGeom prst="roundRect">
            <a:avLst>
              <a:gd name="adj" fmla="val 16667"/>
            </a:avLst>
          </a:prstGeom>
          <a:solidFill>
            <a:srgbClr val="FFFFFF"/>
          </a:solidFill>
          <a:ln w="10795">
            <a:solidFill>
              <a:srgbClr val="DADCE0"/>
            </a:solidFill>
            <a:prstDash val="solid"/>
          </a:ln>
        </p:spPr>
      </p:sp>
      <p:pic>
        <p:nvPicPr>
          <p:cNvPr id="124" name="Image 18" descr="preencoded.png">    </p:cNvPr>
          <p:cNvPicPr>
            <a:picLocks noChangeAspect="1"/>
          </p:cNvPicPr>
          <p:nvPr/>
        </p:nvPicPr>
        <p:blipFill>
          <a:blip r:embed="rId19"/>
          <a:stretch>
            <a:fillRect/>
          </a:stretch>
        </p:blipFill>
        <p:spPr>
          <a:xfrm>
            <a:off x="4199839" y="2713939"/>
            <a:ext cx="123444" cy="123444"/>
          </a:xfrm>
          <a:prstGeom prst="rect">
            <a:avLst/>
          </a:prstGeom>
        </p:spPr>
      </p:pic>
      <p:sp>
        <p:nvSpPr>
          <p:cNvPr id="125" name="Text 104"/>
          <p:cNvSpPr/>
          <p:nvPr/>
        </p:nvSpPr>
        <p:spPr>
          <a:xfrm>
            <a:off x="4346143" y="2658161"/>
            <a:ext cx="581558"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4: Model Armor</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Injection 400 + Policy 422 + SDP</a:t>
            </a:r>
            <a:endParaRPr lang="en-US" sz="435" dirty="0"/>
          </a:p>
        </p:txBody>
      </p:sp>
      <p:sp>
        <p:nvSpPr>
          <p:cNvPr id="126" name="Shape 105"/>
          <p:cNvSpPr/>
          <p:nvPr/>
        </p:nvSpPr>
        <p:spPr>
          <a:xfrm>
            <a:off x="4207154" y="3020263"/>
            <a:ext cx="734263" cy="246888"/>
          </a:xfrm>
          <a:prstGeom prst="roundRect">
            <a:avLst>
              <a:gd name="adj" fmla="val 16667"/>
            </a:avLst>
          </a:prstGeom>
          <a:solidFill>
            <a:srgbClr val="FFFFFF"/>
          </a:solidFill>
          <a:ln w="10795">
            <a:solidFill>
              <a:srgbClr val="DADCE0"/>
            </a:solidFill>
            <a:prstDash val="solid"/>
          </a:ln>
        </p:spPr>
      </p:sp>
      <p:pic>
        <p:nvPicPr>
          <p:cNvPr id="127" name="Image 19" descr="preencoded.png">    </p:cNvPr>
          <p:cNvPicPr>
            <a:picLocks noChangeAspect="1"/>
          </p:cNvPicPr>
          <p:nvPr/>
        </p:nvPicPr>
        <p:blipFill>
          <a:blip r:embed="rId20"/>
          <a:stretch>
            <a:fillRect/>
          </a:stretch>
        </p:blipFill>
        <p:spPr>
          <a:xfrm>
            <a:off x="4230014" y="3081528"/>
            <a:ext cx="123444" cy="123444"/>
          </a:xfrm>
          <a:prstGeom prst="rect">
            <a:avLst/>
          </a:prstGeom>
        </p:spPr>
      </p:pic>
      <p:sp>
        <p:nvSpPr>
          <p:cNvPr id="128" name="Text 106"/>
          <p:cNvSpPr/>
          <p:nvPr/>
        </p:nvSpPr>
        <p:spPr>
          <a:xfrm>
            <a:off x="4376318" y="3025750"/>
            <a:ext cx="551383" cy="235915"/>
          </a:xfrm>
          <a:prstGeom prst="rect">
            <a:avLst/>
          </a:prstGeom>
          <a:noFill/>
          <a:ln/>
        </p:spPr>
        <p:txBody>
          <a:bodyPr wrap="square" lIns="0" tIns="0" rIns="0" bIns="0" rtlCol="0" anchor="ctr">
            <a:normAutofit/>
          </a:bodyPr>
          <a:lstStyle/>
          <a:p>
            <a:pPr algn="l" indent="0" marL="0">
              <a:lnSpc>
                <a:spcPct val="88000"/>
              </a:lnSpc>
              <a:buNone/>
            </a:pPr>
            <a:r>
              <a:rPr lang="en-US" sz="435" b="1" dirty="0">
                <a:solidFill>
                  <a:srgbClr val="202124"/>
                </a:solidFill>
                <a:latin typeface="Arial" pitchFamily="34" charset="0"/>
                <a:ea typeface="Arial" pitchFamily="34" charset="-122"/>
                <a:cs typeface="Arial" pitchFamily="34" charset="-120"/>
              </a:rPr>
              <a:t>Hop 2: Catalog PDP</a:t>
            </a:r>
            <a:endParaRPr lang="en-US" sz="435" dirty="0"/>
          </a:p>
          <a:p>
            <a:pPr algn="l" indent="0" marL="0">
              <a:lnSpc>
                <a:spcPct val="88000"/>
              </a:lnSpc>
              <a:buNone/>
            </a:pPr>
            <a:r>
              <a:rPr lang="en-US" sz="375" dirty="0">
                <a:solidFill>
                  <a:srgbClr val="3C4043"/>
                </a:solidFill>
                <a:latin typeface="Arial" pitchFamily="34" charset="0"/>
                <a:ea typeface="Arial" pitchFamily="34" charset="-122"/>
                <a:cs typeface="Arial" pitchFamily="34" charset="-120"/>
              </a:rPr>
              <a:t>Discovery Catalog + Tool Prune</a:t>
            </a:r>
            <a:endParaRPr lang="en-US" sz="435" dirty="0"/>
          </a:p>
        </p:txBody>
      </p:sp>
      <p:sp>
        <p:nvSpPr>
          <p:cNvPr id="129" name="Shape 107"/>
          <p:cNvSpPr/>
          <p:nvPr/>
        </p:nvSpPr>
        <p:spPr>
          <a:xfrm>
            <a:off x="5904281" y="1458468"/>
            <a:ext cx="127102" cy="127102"/>
          </a:xfrm>
          <a:prstGeom prst="ellipse">
            <a:avLst/>
          </a:prstGeom>
          <a:solidFill>
            <a:srgbClr val="174EA6"/>
          </a:solidFill>
          <a:ln w="10795">
            <a:solidFill>
              <a:srgbClr val="174EA6"/>
            </a:solidFill>
            <a:prstDash val="solid"/>
          </a:ln>
        </p:spPr>
      </p:sp>
      <p:sp>
        <p:nvSpPr>
          <p:cNvPr id="130" name="Text 108"/>
          <p:cNvSpPr/>
          <p:nvPr/>
        </p:nvSpPr>
        <p:spPr>
          <a:xfrm>
            <a:off x="5904281"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31" name="Shape 109"/>
          <p:cNvSpPr/>
          <p:nvPr/>
        </p:nvSpPr>
        <p:spPr>
          <a:xfrm>
            <a:off x="6076188" y="1458468"/>
            <a:ext cx="127102" cy="127102"/>
          </a:xfrm>
          <a:prstGeom prst="ellipse">
            <a:avLst/>
          </a:prstGeom>
          <a:solidFill>
            <a:srgbClr val="174EA6"/>
          </a:solidFill>
          <a:ln w="10795">
            <a:solidFill>
              <a:srgbClr val="174EA6"/>
            </a:solidFill>
            <a:prstDash val="solid"/>
          </a:ln>
        </p:spPr>
      </p:sp>
      <p:sp>
        <p:nvSpPr>
          <p:cNvPr id="132" name="Text 110"/>
          <p:cNvSpPr/>
          <p:nvPr/>
        </p:nvSpPr>
        <p:spPr>
          <a:xfrm>
            <a:off x="6076188" y="1458468"/>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3" name="Shape 111"/>
          <p:cNvSpPr/>
          <p:nvPr/>
        </p:nvSpPr>
        <p:spPr>
          <a:xfrm>
            <a:off x="5904281" y="2817266"/>
            <a:ext cx="127102" cy="127102"/>
          </a:xfrm>
          <a:prstGeom prst="ellipse">
            <a:avLst/>
          </a:prstGeom>
          <a:solidFill>
            <a:srgbClr val="174EA6"/>
          </a:solidFill>
          <a:ln w="10795">
            <a:solidFill>
              <a:srgbClr val="174EA6"/>
            </a:solidFill>
            <a:prstDash val="solid"/>
          </a:ln>
        </p:spPr>
      </p:sp>
      <p:sp>
        <p:nvSpPr>
          <p:cNvPr id="134" name="Text 112"/>
          <p:cNvSpPr/>
          <p:nvPr/>
        </p:nvSpPr>
        <p:spPr>
          <a:xfrm>
            <a:off x="5904281"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35" name="Shape 113"/>
          <p:cNvSpPr/>
          <p:nvPr/>
        </p:nvSpPr>
        <p:spPr>
          <a:xfrm>
            <a:off x="6076188" y="2817266"/>
            <a:ext cx="127102" cy="127102"/>
          </a:xfrm>
          <a:prstGeom prst="ellipse">
            <a:avLst/>
          </a:prstGeom>
          <a:solidFill>
            <a:srgbClr val="174EA6"/>
          </a:solidFill>
          <a:ln w="10795">
            <a:solidFill>
              <a:srgbClr val="174EA6"/>
            </a:solidFill>
            <a:prstDash val="solid"/>
          </a:ln>
        </p:spPr>
      </p:sp>
      <p:sp>
        <p:nvSpPr>
          <p:cNvPr id="136" name="Text 114"/>
          <p:cNvSpPr/>
          <p:nvPr/>
        </p:nvSpPr>
        <p:spPr>
          <a:xfrm>
            <a:off x="6076188" y="2817266"/>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37" name="Shape 115"/>
          <p:cNvSpPr/>
          <p:nvPr/>
        </p:nvSpPr>
        <p:spPr>
          <a:xfrm>
            <a:off x="5297119" y="3397910"/>
            <a:ext cx="127102" cy="127102"/>
          </a:xfrm>
          <a:prstGeom prst="ellipse">
            <a:avLst/>
          </a:prstGeom>
          <a:solidFill>
            <a:srgbClr val="174EA6"/>
          </a:solidFill>
          <a:ln w="10795">
            <a:solidFill>
              <a:srgbClr val="174EA6"/>
            </a:solidFill>
            <a:prstDash val="solid"/>
          </a:ln>
        </p:spPr>
      </p:sp>
      <p:sp>
        <p:nvSpPr>
          <p:cNvPr id="138" name="Text 116"/>
          <p:cNvSpPr/>
          <p:nvPr/>
        </p:nvSpPr>
        <p:spPr>
          <a:xfrm>
            <a:off x="5297119"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39" name="Shape 117"/>
          <p:cNvSpPr/>
          <p:nvPr/>
        </p:nvSpPr>
        <p:spPr>
          <a:xfrm>
            <a:off x="6091733" y="3397910"/>
            <a:ext cx="127102" cy="127102"/>
          </a:xfrm>
          <a:prstGeom prst="ellipse">
            <a:avLst/>
          </a:prstGeom>
          <a:solidFill>
            <a:srgbClr val="174EA6"/>
          </a:solidFill>
          <a:ln w="10795">
            <a:solidFill>
              <a:srgbClr val="174EA6"/>
            </a:solidFill>
            <a:prstDash val="solid"/>
          </a:ln>
        </p:spPr>
      </p:sp>
      <p:sp>
        <p:nvSpPr>
          <p:cNvPr id="140" name="Text 118"/>
          <p:cNvSpPr/>
          <p:nvPr/>
        </p:nvSpPr>
        <p:spPr>
          <a:xfrm>
            <a:off x="6091733" y="3397910"/>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41" name="Shape 119"/>
          <p:cNvSpPr/>
          <p:nvPr/>
        </p:nvSpPr>
        <p:spPr>
          <a:xfrm>
            <a:off x="4233672" y="4439412"/>
            <a:ext cx="127102" cy="127102"/>
          </a:xfrm>
          <a:prstGeom prst="ellipse">
            <a:avLst/>
          </a:prstGeom>
          <a:solidFill>
            <a:srgbClr val="174EA6"/>
          </a:solidFill>
          <a:ln w="10795">
            <a:solidFill>
              <a:srgbClr val="174EA6"/>
            </a:solidFill>
            <a:prstDash val="solid"/>
          </a:ln>
        </p:spPr>
      </p:sp>
      <p:sp>
        <p:nvSpPr>
          <p:cNvPr id="142" name="Text 120"/>
          <p:cNvSpPr/>
          <p:nvPr/>
        </p:nvSpPr>
        <p:spPr>
          <a:xfrm>
            <a:off x="4233672" y="443941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43" name="Shape 121"/>
          <p:cNvSpPr/>
          <p:nvPr/>
        </p:nvSpPr>
        <p:spPr>
          <a:xfrm>
            <a:off x="4233672" y="4619549"/>
            <a:ext cx="127102" cy="127102"/>
          </a:xfrm>
          <a:prstGeom prst="ellipse">
            <a:avLst/>
          </a:prstGeom>
          <a:solidFill>
            <a:srgbClr val="174EA6"/>
          </a:solidFill>
          <a:ln w="10795">
            <a:solidFill>
              <a:srgbClr val="174EA6"/>
            </a:solidFill>
            <a:prstDash val="solid"/>
          </a:ln>
        </p:spPr>
      </p:sp>
      <p:sp>
        <p:nvSpPr>
          <p:cNvPr id="144" name="Text 122"/>
          <p:cNvSpPr/>
          <p:nvPr/>
        </p:nvSpPr>
        <p:spPr>
          <a:xfrm>
            <a:off x="4233672" y="4619549"/>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145" name="Shape 123"/>
          <p:cNvSpPr/>
          <p:nvPr/>
        </p:nvSpPr>
        <p:spPr>
          <a:xfrm>
            <a:off x="4233672" y="5330952"/>
            <a:ext cx="127102" cy="127102"/>
          </a:xfrm>
          <a:prstGeom prst="ellipse">
            <a:avLst/>
          </a:prstGeom>
          <a:solidFill>
            <a:srgbClr val="174EA6"/>
          </a:solidFill>
          <a:ln w="10795">
            <a:solidFill>
              <a:srgbClr val="174EA6"/>
            </a:solidFill>
            <a:prstDash val="solid"/>
          </a:ln>
        </p:spPr>
      </p:sp>
      <p:sp>
        <p:nvSpPr>
          <p:cNvPr id="146" name="Text 124"/>
          <p:cNvSpPr/>
          <p:nvPr/>
        </p:nvSpPr>
        <p:spPr>
          <a:xfrm>
            <a:off x="4233672" y="5330952"/>
            <a:ext cx="127102" cy="127102"/>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147" name="Text 125"/>
          <p:cNvSpPr/>
          <p:nvPr/>
        </p:nvSpPr>
        <p:spPr>
          <a:xfrm>
            <a:off x="7416698"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Real-time COGS &amp; security telemetry</a:t>
            </a:r>
            <a:endParaRPr lang="en-US" sz="420" dirty="0"/>
          </a:p>
        </p:txBody>
      </p:sp>
      <p:sp>
        <p:nvSpPr>
          <p:cNvPr id="148" name="Text 126"/>
          <p:cNvSpPr/>
          <p:nvPr/>
        </p:nvSpPr>
        <p:spPr>
          <a:xfrm>
            <a:off x="5295290" y="4659782"/>
            <a:ext cx="468173"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Zero Cache Bleed</a:t>
            </a:r>
            <a:endParaRPr lang="en-US" sz="420" dirty="0"/>
          </a:p>
        </p:txBody>
      </p:sp>
      <p:sp>
        <p:nvSpPr>
          <p:cNvPr id="149" name="Text 127"/>
          <p:cNvSpPr/>
          <p:nvPr/>
        </p:nvSpPr>
        <p:spPr>
          <a:xfrm>
            <a:off x="5183734" y="520659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Storage-Engine RLS Policy</a:t>
            </a:r>
            <a:endParaRPr lang="en-US" sz="420" dirty="0"/>
          </a:p>
        </p:txBody>
      </p:sp>
      <p:sp>
        <p:nvSpPr>
          <p:cNvPr id="150" name="Text 128"/>
          <p:cNvSpPr/>
          <p:nvPr/>
        </p:nvSpPr>
        <p:spPr>
          <a:xfrm>
            <a:off x="7258507" y="4659782"/>
            <a:ext cx="616306"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Private PSC NAT Bridge</a:t>
            </a:r>
            <a:endParaRPr lang="en-US" sz="420" dirty="0"/>
          </a:p>
        </p:txBody>
      </p:sp>
      <p:sp>
        <p:nvSpPr>
          <p:cNvPr id="151" name="Text 129"/>
          <p:cNvSpPr/>
          <p:nvPr/>
        </p:nvSpPr>
        <p:spPr>
          <a:xfrm>
            <a:off x="7184441" y="5206594"/>
            <a:ext cx="76443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Customer-Revocable CMEK Keys</a:t>
            </a:r>
            <a:endParaRPr lang="en-US" sz="420" dirty="0"/>
          </a:p>
        </p:txBody>
      </p:sp>
      <p:sp>
        <p:nvSpPr>
          <p:cNvPr id="152" name="Text 130"/>
          <p:cNvSpPr/>
          <p:nvPr/>
        </p:nvSpPr>
        <p:spPr>
          <a:xfrm>
            <a:off x="4399178" y="5337353"/>
            <a:ext cx="566928"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90% Cached inference</a:t>
            </a:r>
            <a:endParaRPr lang="en-US" sz="420" dirty="0"/>
          </a:p>
        </p:txBody>
      </p:sp>
      <p:sp>
        <p:nvSpPr>
          <p:cNvPr id="153" name="Text 131"/>
          <p:cNvSpPr/>
          <p:nvPr/>
        </p:nvSpPr>
        <p:spPr>
          <a:xfrm>
            <a:off x="6326734"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Verified zero-bleed agent completion</a:t>
            </a:r>
            <a:endParaRPr lang="en-US" sz="420" dirty="0"/>
          </a:p>
        </p:txBody>
      </p:sp>
      <p:sp>
        <p:nvSpPr>
          <p:cNvPr id="154" name="Text 132"/>
          <p:cNvSpPr/>
          <p:nvPr/>
        </p:nvSpPr>
        <p:spPr>
          <a:xfrm>
            <a:off x="5338267" y="3397910"/>
            <a:ext cx="786384"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Dispatch to optimal cost/security tier</a:t>
            </a:r>
            <a:endParaRPr lang="en-US" sz="420" dirty="0"/>
          </a:p>
        </p:txBody>
      </p:sp>
      <p:sp>
        <p:nvSpPr>
          <p:cNvPr id="155" name="Text 133"/>
          <p:cNvSpPr/>
          <p:nvPr/>
        </p:nvSpPr>
        <p:spPr>
          <a:xfrm>
            <a:off x="4939589" y="2980944"/>
            <a:ext cx="6903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Prune Catalog &amp; MCP tools</a:t>
            </a:r>
            <a:endParaRPr lang="en-US" sz="420" dirty="0"/>
          </a:p>
        </p:txBody>
      </p:sp>
      <p:sp>
        <p:nvSpPr>
          <p:cNvPr id="156" name="Text 134"/>
          <p:cNvSpPr/>
          <p:nvPr/>
        </p:nvSpPr>
        <p:spPr>
          <a:xfrm>
            <a:off x="4508906" y="4445813"/>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Check quota</a:t>
            </a:r>
            <a:endParaRPr lang="en-US" sz="420" dirty="0"/>
          </a:p>
        </p:txBody>
      </p:sp>
      <p:sp>
        <p:nvSpPr>
          <p:cNvPr id="157" name="Text 135"/>
          <p:cNvSpPr/>
          <p:nvPr/>
        </p:nvSpPr>
        <p:spPr>
          <a:xfrm>
            <a:off x="4508906" y="4625950"/>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Log COGS</a:t>
            </a:r>
            <a:endParaRPr lang="en-US" sz="420" dirty="0"/>
          </a:p>
        </p:txBody>
      </p:sp>
      <p:sp>
        <p:nvSpPr>
          <p:cNvPr id="158" name="Text 136"/>
          <p:cNvSpPr/>
          <p:nvPr/>
        </p:nvSpPr>
        <p:spPr>
          <a:xfrm>
            <a:off x="4938674" y="2299716"/>
            <a:ext cx="49286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Verify OBO &amp; DPoP</a:t>
            </a:r>
            <a:endParaRPr lang="en-US" sz="420" dirty="0"/>
          </a:p>
        </p:txBody>
      </p:sp>
      <p:sp>
        <p:nvSpPr>
          <p:cNvPr id="159" name="Text 137"/>
          <p:cNvSpPr/>
          <p:nvPr/>
        </p:nvSpPr>
        <p:spPr>
          <a:xfrm>
            <a:off x="5077663" y="2816352"/>
            <a:ext cx="542239"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Screen &amp; redact PII</a:t>
            </a:r>
            <a:endParaRPr lang="en-US" sz="420" dirty="0"/>
          </a:p>
        </p:txBody>
      </p:sp>
      <p:sp>
        <p:nvSpPr>
          <p:cNvPr id="160" name="Text 138"/>
          <p:cNvSpPr/>
          <p:nvPr/>
        </p:nvSpPr>
        <p:spPr>
          <a:xfrm>
            <a:off x="6238951"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1" name="Text 139"/>
          <p:cNvSpPr/>
          <p:nvPr/>
        </p:nvSpPr>
        <p:spPr>
          <a:xfrm>
            <a:off x="6238951"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Response</a:t>
            </a:r>
            <a:endParaRPr lang="en-US" sz="420" dirty="0"/>
          </a:p>
        </p:txBody>
      </p:sp>
      <p:sp>
        <p:nvSpPr>
          <p:cNvPr id="162" name="Text 140"/>
          <p:cNvSpPr/>
          <p:nvPr/>
        </p:nvSpPr>
        <p:spPr>
          <a:xfrm>
            <a:off x="5531206" y="1463954"/>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
        <p:nvSpPr>
          <p:cNvPr id="163" name="Text 141"/>
          <p:cNvSpPr/>
          <p:nvPr/>
        </p:nvSpPr>
        <p:spPr>
          <a:xfrm>
            <a:off x="5531206" y="2823667"/>
            <a:ext cx="347472" cy="114300"/>
          </a:xfrm>
          <a:prstGeom prst="roundRect">
            <a:avLst>
              <a:gd name="adj" fmla="val 24000"/>
            </a:avLst>
          </a:prstGeom>
          <a:solidFill>
            <a:srgbClr val="FFFFFF"/>
          </a:solidFill>
          <a:ln w="5080">
            <a:solidFill>
              <a:srgbClr val="DADCE0"/>
            </a:solidFill>
          </a:ln>
        </p:spPr>
        <p:txBody>
          <a:bodyPr wrap="square" lIns="0" tIns="0" rIns="0" bIns="0" rtlCol="0" anchor="ctr"/>
          <a:lstStyle/>
          <a:p>
            <a:pPr algn="ctr" indent="0" marL="0">
              <a:buNone/>
            </a:pPr>
            <a:r>
              <a:rPr lang="en-US" sz="420" b="1" dirty="0">
                <a:solidFill>
                  <a:srgbClr val="202124"/>
                </a:solidFill>
                <a:latin typeface="Arial" pitchFamily="34" charset="0"/>
                <a:ea typeface="Arial" pitchFamily="34" charset="-122"/>
                <a:cs typeface="Arial" pitchFamily="34" charset="-120"/>
              </a:rPr>
              <a:t>Request</a:t>
            </a:r>
            <a:endParaRPr lang="en-US" sz="4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Architecture  ›  Components &amp; Agentic flow</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3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03504"/>
            <a:ext cx="10680192" cy="201168"/>
          </a:xfrm>
          <a:prstGeom prst="rect">
            <a:avLst/>
          </a:prstGeom>
          <a:noFill/>
          <a:ln/>
        </p:spPr>
        <p:txBody>
          <a:bodyPr wrap="square" rtlCol="0" anchor="ctr"/>
          <a:lstStyle/>
          <a:p>
            <a:pPr indent="0" marL="0">
              <a:buNone/>
            </a:pPr>
            <a:r>
              <a:rPr lang="en-US" sz="920" dirty="0">
                <a:solidFill>
                  <a:srgbClr val="3C4043"/>
                </a:solidFill>
                <a:latin typeface="Arial" pitchFamily="34" charset="0"/>
                <a:ea typeface="Arial" pitchFamily="34" charset="-122"/>
                <a:cs typeface="Arial" pitchFamily="34" charset="-120"/>
              </a:rPr>
              <a:t>The architecture consists of the following components:</a:t>
            </a:r>
            <a:endParaRPr lang="en-US" sz="920" dirty="0"/>
          </a:p>
        </p:txBody>
      </p:sp>
      <p:sp>
        <p:nvSpPr>
          <p:cNvPr id="7" name="Shape 5"/>
          <p:cNvSpPr/>
          <p:nvPr/>
        </p:nvSpPr>
        <p:spPr>
          <a:xfrm>
            <a:off x="749808" y="841248"/>
            <a:ext cx="2889504" cy="256032"/>
          </a:xfrm>
          <a:prstGeom prst="rect">
            <a:avLst/>
          </a:prstGeom>
          <a:solidFill>
            <a:srgbClr val="F8F9FA"/>
          </a:solidFill>
          <a:ln w="9525">
            <a:solidFill>
              <a:srgbClr val="DADCE0"/>
            </a:solidFill>
            <a:prstDash val="solid"/>
          </a:ln>
        </p:spPr>
      </p:sp>
      <p:sp>
        <p:nvSpPr>
          <p:cNvPr id="8" name="Text 6"/>
          <p:cNvSpPr/>
          <p:nvPr/>
        </p:nvSpPr>
        <p:spPr>
          <a:xfrm>
            <a:off x="841248" y="841248"/>
            <a:ext cx="2706624"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Component</a:t>
            </a:r>
            <a:endParaRPr lang="en-US" sz="840" dirty="0"/>
          </a:p>
        </p:txBody>
      </p:sp>
      <p:sp>
        <p:nvSpPr>
          <p:cNvPr id="9" name="Shape 7"/>
          <p:cNvSpPr/>
          <p:nvPr/>
        </p:nvSpPr>
        <p:spPr>
          <a:xfrm>
            <a:off x="3639312" y="841248"/>
            <a:ext cx="7790688" cy="256032"/>
          </a:xfrm>
          <a:prstGeom prst="rect">
            <a:avLst/>
          </a:prstGeom>
          <a:solidFill>
            <a:srgbClr val="F8F9FA"/>
          </a:solidFill>
          <a:ln w="9525">
            <a:solidFill>
              <a:srgbClr val="DADCE0"/>
            </a:solidFill>
            <a:prstDash val="solid"/>
          </a:ln>
        </p:spPr>
      </p:sp>
      <p:sp>
        <p:nvSpPr>
          <p:cNvPr id="10" name="Text 8"/>
          <p:cNvSpPr/>
          <p:nvPr/>
        </p:nvSpPr>
        <p:spPr>
          <a:xfrm>
            <a:off x="3749040" y="841248"/>
            <a:ext cx="7571232" cy="256032"/>
          </a:xfrm>
          <a:prstGeom prst="rect">
            <a:avLst/>
          </a:prstGeom>
          <a:noFill/>
          <a:ln/>
        </p:spPr>
        <p:txBody>
          <a:bodyPr wrap="square" rtlCol="0" anchor="ctr"/>
          <a:lstStyle/>
          <a:p>
            <a:pPr indent="0" marL="0">
              <a:buNone/>
            </a:pPr>
            <a:r>
              <a:rPr lang="en-US" sz="840" b="1" dirty="0">
                <a:solidFill>
                  <a:srgbClr val="202124"/>
                </a:solidFill>
                <a:latin typeface="Arial" pitchFamily="34" charset="0"/>
                <a:ea typeface="Arial" pitchFamily="34" charset="-122"/>
                <a:cs typeface="Arial" pitchFamily="34" charset="-120"/>
              </a:rPr>
              <a:t>Description</a:t>
            </a:r>
            <a:endParaRPr lang="en-US" sz="840" dirty="0"/>
          </a:p>
        </p:txBody>
      </p:sp>
      <p:sp>
        <p:nvSpPr>
          <p:cNvPr id="11" name="Shape 9"/>
          <p:cNvSpPr/>
          <p:nvPr/>
        </p:nvSpPr>
        <p:spPr>
          <a:xfrm>
            <a:off x="749808" y="1097280"/>
            <a:ext cx="2889504" cy="338328"/>
          </a:xfrm>
          <a:prstGeom prst="rect">
            <a:avLst/>
          </a:prstGeom>
          <a:solidFill>
            <a:srgbClr val="FFFFFF"/>
          </a:solidFill>
          <a:ln w="9525">
            <a:solidFill>
              <a:srgbClr val="DADCE0"/>
            </a:solidFill>
            <a:prstDash val="solid"/>
          </a:ln>
        </p:spPr>
      </p:sp>
      <p:sp>
        <p:nvSpPr>
          <p:cNvPr id="12" name="Text 10"/>
          <p:cNvSpPr/>
          <p:nvPr/>
        </p:nvSpPr>
        <p:spPr>
          <a:xfrm>
            <a:off x="841248" y="1115568"/>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The Multi-Tenant Agentic Triad: Security • FinOps COGS • Zero-PII Observability
</a:t>
            </a:r>
            <a:pPr indent="0" marL="0">
              <a:buNone/>
            </a:pPr>
            <a:r>
              <a:rPr lang="en-US" sz="650" dirty="0">
                <a:solidFill>
                  <a:srgbClr val="5F6368"/>
                </a:solidFill>
                <a:latin typeface="Arial" pitchFamily="34" charset="0"/>
                <a:ea typeface="Arial" pitchFamily="34" charset="-122"/>
                <a:cs typeface="Arial" pitchFamily="34" charset="-120"/>
              </a:rPr>
              <a:t>Outer security and governance boundary that prevents unauthorized data.</a:t>
            </a:r>
            <a:endParaRPr lang="en-US" sz="750" dirty="0"/>
          </a:p>
        </p:txBody>
      </p:sp>
      <p:sp>
        <p:nvSpPr>
          <p:cNvPr id="13" name="Shape 11"/>
          <p:cNvSpPr/>
          <p:nvPr/>
        </p:nvSpPr>
        <p:spPr>
          <a:xfrm>
            <a:off x="3639312" y="1097280"/>
            <a:ext cx="7790688" cy="338328"/>
          </a:xfrm>
          <a:prstGeom prst="rect">
            <a:avLst/>
          </a:prstGeom>
          <a:solidFill>
            <a:srgbClr val="FFFFFF"/>
          </a:solidFill>
          <a:ln w="9525">
            <a:solidFill>
              <a:srgbClr val="DADCE0"/>
            </a:solidFill>
            <a:prstDash val="solid"/>
          </a:ln>
        </p:spPr>
      </p:sp>
      <p:sp>
        <p:nvSpPr>
          <p:cNvPr id="14" name="Text 12"/>
          <p:cNvSpPr/>
          <p:nvPr/>
        </p:nvSpPr>
        <p:spPr>
          <a:xfrm>
            <a:off x="3749040" y="1115568"/>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The Multi-Tenant Agentic Triad: Security • FinOps COGS • Zero-PII Observability: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VPC Service Controls service perimeters around hub and spoke projects to block unauthorized cross-perimeter data movement.</a:t>
            </a:r>
            <a:endParaRPr lang="en-US" sz="690" dirty="0"/>
          </a:p>
        </p:txBody>
      </p:sp>
      <p:sp>
        <p:nvSpPr>
          <p:cNvPr id="15" name="Shape 13"/>
          <p:cNvSpPr/>
          <p:nvPr/>
        </p:nvSpPr>
        <p:spPr>
          <a:xfrm>
            <a:off x="749808" y="1435608"/>
            <a:ext cx="2889504" cy="822960"/>
          </a:xfrm>
          <a:prstGeom prst="rect">
            <a:avLst/>
          </a:prstGeom>
          <a:solidFill>
            <a:srgbClr val="FFFFFF"/>
          </a:solidFill>
          <a:ln w="9525">
            <a:solidFill>
              <a:srgbClr val="DADCE0"/>
            </a:solidFill>
            <a:prstDash val="solid"/>
          </a:ln>
        </p:spPr>
      </p:sp>
      <p:sp>
        <p:nvSpPr>
          <p:cNvPr id="16" name="Text 14"/>
          <p:cNvSpPr/>
          <p:nvPr/>
        </p:nvSpPr>
        <p:spPr>
          <a:xfrm>
            <a:off x="841248" y="145389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1: Zero-Trust Cryptographic Security
</a:t>
            </a:r>
            <a:pPr indent="0" marL="0">
              <a:buNone/>
            </a:pPr>
            <a:r>
              <a:rPr lang="en-US" sz="650" dirty="0">
                <a:solidFill>
                  <a:srgbClr val="5F6368"/>
                </a:solidFill>
                <a:latin typeface="Arial" pitchFamily="34" charset="0"/>
                <a:ea typeface="Arial" pitchFamily="34" charset="-122"/>
                <a:cs typeface="Arial" pitchFamily="34" charset="-120"/>
              </a:rPr>
              <a:t>Centralized ingress and control plane managing edge security, identity verification, and request routing.</a:t>
            </a:r>
            <a:endParaRPr lang="en-US" sz="750" dirty="0"/>
          </a:p>
        </p:txBody>
      </p:sp>
      <p:sp>
        <p:nvSpPr>
          <p:cNvPr id="17" name="Shape 15"/>
          <p:cNvSpPr/>
          <p:nvPr/>
        </p:nvSpPr>
        <p:spPr>
          <a:xfrm>
            <a:off x="3639312" y="1435608"/>
            <a:ext cx="7790688" cy="822960"/>
          </a:xfrm>
          <a:prstGeom prst="rect">
            <a:avLst/>
          </a:prstGeom>
          <a:solidFill>
            <a:srgbClr val="FFFFFF"/>
          </a:solidFill>
          <a:ln w="9525">
            <a:solidFill>
              <a:srgbClr val="DADCE0"/>
            </a:solidFill>
            <a:prstDash val="solid"/>
          </a:ln>
        </p:spPr>
      </p:sp>
      <p:sp>
        <p:nvSpPr>
          <p:cNvPr id="18" name="Text 16"/>
          <p:cNvSpPr/>
          <p:nvPr/>
        </p:nvSpPr>
        <p:spPr>
          <a:xfrm>
            <a:off x="3749040" y="145389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External Application Load Balancer: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Acts as the unified global entry point for incoming requests.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1: Cloud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Enforces edge policy rules before reaching the runtime.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4: Model Armor: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incoming prompts and verifies policy constraints at the routing hub.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Hop 2: Catalog PDP: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Authenticates callers and binds cryptographic identity and scope claims before routing.</a:t>
            </a:r>
            <a:endParaRPr lang="en-US" sz="690" dirty="0"/>
          </a:p>
        </p:txBody>
      </p:sp>
      <p:sp>
        <p:nvSpPr>
          <p:cNvPr id="19" name="Shape 17"/>
          <p:cNvSpPr/>
          <p:nvPr/>
        </p:nvSpPr>
        <p:spPr>
          <a:xfrm>
            <a:off x="749808" y="2258568"/>
            <a:ext cx="2889504" cy="822960"/>
          </a:xfrm>
          <a:prstGeom prst="rect">
            <a:avLst/>
          </a:prstGeom>
          <a:solidFill>
            <a:srgbClr val="FFFFFF"/>
          </a:solidFill>
          <a:ln w="9525">
            <a:solidFill>
              <a:srgbClr val="DADCE0"/>
            </a:solidFill>
            <a:prstDash val="solid"/>
          </a:ln>
        </p:spPr>
      </p:sp>
      <p:sp>
        <p:nvSpPr>
          <p:cNvPr id="20" name="Text 18"/>
          <p:cNvSpPr/>
          <p:nvPr/>
        </p:nvSpPr>
        <p:spPr>
          <a:xfrm>
            <a:off x="841248" y="2276856"/>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Triad Pillar 3: Zero-PII OTel &amp; FinOps Chargeback
</a:t>
            </a:r>
            <a:pPr indent="0" marL="0">
              <a:buNone/>
            </a:pPr>
            <a:r>
              <a:rPr lang="en-US" sz="650" dirty="0">
                <a:solidFill>
                  <a:srgbClr val="5F6368"/>
                </a:solidFill>
                <a:latin typeface="Arial" pitchFamily="34" charset="0"/>
                <a:ea typeface="Arial" pitchFamily="34" charset="-122"/>
                <a:cs typeface="Arial" pitchFamily="34" charset="-120"/>
              </a:rPr>
              <a:t>Dedicated governance plane providing unified security posture, cryptographic key management, and OpenTelemetry observability.</a:t>
            </a:r>
            <a:endParaRPr lang="en-US" sz="750" dirty="0"/>
          </a:p>
        </p:txBody>
      </p:sp>
      <p:sp>
        <p:nvSpPr>
          <p:cNvPr id="21" name="Shape 19"/>
          <p:cNvSpPr/>
          <p:nvPr/>
        </p:nvSpPr>
        <p:spPr>
          <a:xfrm>
            <a:off x="3639312" y="2258568"/>
            <a:ext cx="7790688" cy="822960"/>
          </a:xfrm>
          <a:prstGeom prst="rect">
            <a:avLst/>
          </a:prstGeom>
          <a:solidFill>
            <a:srgbClr val="FFFFFF"/>
          </a:solidFill>
          <a:ln w="9525">
            <a:solidFill>
              <a:srgbClr val="DADCE0"/>
            </a:solidFill>
            <a:prstDash val="solid"/>
          </a:ln>
        </p:spPr>
      </p:sp>
      <p:sp>
        <p:nvSpPr>
          <p:cNvPr id="22" name="Text 20"/>
          <p:cNvSpPr/>
          <p:nvPr/>
        </p:nvSpPr>
        <p:spPr>
          <a:xfrm>
            <a:off x="3749040" y="2276856"/>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Security Command Center: </a:t>
            </a:r>
            <a:pPr indent="0" marL="0">
              <a:lnSpc>
                <a:spcPct val="102000"/>
              </a:lnSpc>
              <a:buNone/>
            </a:pPr>
            <a:r>
              <a:rPr lang="en-US" sz="670" dirty="0">
                <a:solidFill>
                  <a:srgbClr val="3C4043"/>
                </a:solidFill>
                <a:latin typeface="Arial" pitchFamily="34" charset="0"/>
                <a:ea typeface="Arial" pitchFamily="34" charset="-122"/>
                <a:cs typeface="Arial" pitchFamily="34" charset="-120"/>
              </a:rPr>
              <a:t>Provides centralized threat detection, posture management, and continuous compliance verification.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3 Chargeback Models: </a:t>
            </a:r>
            <a:pPr indent="0" marL="0">
              <a:lnSpc>
                <a:spcPct val="102000"/>
              </a:lnSpc>
              <a:buNone/>
            </a:pPr>
            <a:r>
              <a:rPr lang="en-US" sz="670" dirty="0">
                <a:solidFill>
                  <a:srgbClr val="3C4043"/>
                </a:solidFill>
                <a:latin typeface="Arial" pitchFamily="34" charset="0"/>
                <a:ea typeface="Arial" pitchFamily="34" charset="-122"/>
                <a:cs typeface="Arial" pitchFamily="34" charset="-120"/>
              </a:rPr>
              <a:t>Manages access policies, cryptographic signing keys, and entitlement registries.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BigQuery OTel Sink: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Aggregates audit logs, execution traces, and OpenTelemetry FinOps telemetry into BigQuery.</a:t>
            </a:r>
            <a:endParaRPr lang="en-US" sz="690" dirty="0"/>
          </a:p>
        </p:txBody>
      </p:sp>
      <p:sp>
        <p:nvSpPr>
          <p:cNvPr id="23" name="Shape 21"/>
          <p:cNvSpPr/>
          <p:nvPr/>
        </p:nvSpPr>
        <p:spPr>
          <a:xfrm>
            <a:off x="749808" y="3081528"/>
            <a:ext cx="2889504" cy="338328"/>
          </a:xfrm>
          <a:prstGeom prst="rect">
            <a:avLst/>
          </a:prstGeom>
          <a:solidFill>
            <a:srgbClr val="FFFFFF"/>
          </a:solidFill>
          <a:ln w="9525">
            <a:solidFill>
              <a:srgbClr val="DADCE0"/>
            </a:solidFill>
            <a:prstDash val="solid"/>
          </a:ln>
        </p:spPr>
      </p:sp>
      <p:sp>
        <p:nvSpPr>
          <p:cNvPr id="24" name="Text 22"/>
          <p:cNvSpPr/>
          <p:nvPr/>
        </p:nvSpPr>
        <p:spPr>
          <a:xfrm>
            <a:off x="841248" y="3099816"/>
            <a:ext cx="2706624" cy="301752"/>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Principal Access Boundary Policy
</a:t>
            </a:r>
            <a:pPr indent="0" marL="0">
              <a:buNone/>
            </a:pPr>
            <a:r>
              <a:rPr lang="en-US" sz="650" dirty="0">
                <a:solidFill>
                  <a:srgbClr val="5F6368"/>
                </a:solidFill>
                <a:latin typeface="Arial" pitchFamily="34" charset="0"/>
                <a:ea typeface="Arial" pitchFamily="34" charset="-122"/>
                <a:cs typeface="Arial" pitchFamily="34" charset="-120"/>
              </a:rPr>
              <a:t>Identity and resource isolation boundary restricting principal access so workloads.</a:t>
            </a:r>
            <a:endParaRPr lang="en-US" sz="750" dirty="0"/>
          </a:p>
        </p:txBody>
      </p:sp>
      <p:sp>
        <p:nvSpPr>
          <p:cNvPr id="25" name="Shape 23"/>
          <p:cNvSpPr/>
          <p:nvPr/>
        </p:nvSpPr>
        <p:spPr>
          <a:xfrm>
            <a:off x="3639312" y="3081528"/>
            <a:ext cx="7790688" cy="338328"/>
          </a:xfrm>
          <a:prstGeom prst="rect">
            <a:avLst/>
          </a:prstGeom>
          <a:solidFill>
            <a:srgbClr val="FFFFFF"/>
          </a:solidFill>
          <a:ln w="9525">
            <a:solidFill>
              <a:srgbClr val="DADCE0"/>
            </a:solidFill>
            <a:prstDash val="solid"/>
          </a:ln>
        </p:spPr>
      </p:sp>
      <p:sp>
        <p:nvSpPr>
          <p:cNvPr id="26" name="Text 24"/>
          <p:cNvSpPr/>
          <p:nvPr/>
        </p:nvSpPr>
        <p:spPr>
          <a:xfrm>
            <a:off x="3749040" y="3099816"/>
            <a:ext cx="7571232" cy="301752"/>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Unified Vertex AI Agent Engine &amp; Google ADK Reference Architecture: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Binds IAM Principal Access Boundary (PAB) policies to spoke principals so credentials and tool calls remain strictly scoped to their authorized boundary.</a:t>
            </a:r>
            <a:endParaRPr lang="en-US" sz="690" dirty="0"/>
          </a:p>
        </p:txBody>
      </p:sp>
      <p:sp>
        <p:nvSpPr>
          <p:cNvPr id="27" name="Shape 25"/>
          <p:cNvSpPr/>
          <p:nvPr/>
        </p:nvSpPr>
        <p:spPr>
          <a:xfrm>
            <a:off x="749808" y="3419856"/>
            <a:ext cx="2889504" cy="822960"/>
          </a:xfrm>
          <a:prstGeom prst="rect">
            <a:avLst/>
          </a:prstGeom>
          <a:solidFill>
            <a:srgbClr val="FFFFFF"/>
          </a:solidFill>
          <a:ln w="9525">
            <a:solidFill>
              <a:srgbClr val="DADCE0"/>
            </a:solidFill>
            <a:prstDash val="solid"/>
          </a:ln>
        </p:spPr>
      </p:sp>
      <p:sp>
        <p:nvSpPr>
          <p:cNvPr id="28" name="Text 26"/>
          <p:cNvSpPr/>
          <p:nvPr/>
        </p:nvSpPr>
        <p:spPr>
          <a:xfrm>
            <a:off x="841248" y="3438144"/>
            <a:ext cx="2706624" cy="786384"/>
          </a:xfrm>
          <a:prstGeom prst="rect">
            <a:avLst/>
          </a:prstGeom>
          <a:noFill/>
          <a:ln/>
        </p:spPr>
        <p:txBody>
          <a:bodyPr wrap="square" rtlCol="0" anchor="ctr">
            <a:normAutofit/>
          </a:bodyPr>
          <a:lstStyle/>
          <a:p>
            <a:pPr indent="0" marL="0">
              <a:buNone/>
            </a:pPr>
            <a:r>
              <a:rPr lang="en-US" sz="750" b="1" dirty="0">
                <a:solidFill>
                  <a:srgbClr val="202124"/>
                </a:solidFill>
                <a:latin typeface="Arial" pitchFamily="34" charset="0"/>
                <a:ea typeface="Arial" pitchFamily="34" charset="-122"/>
                <a:cs typeface="Arial" pitchFamily="34" charset="-120"/>
              </a:rPr>
              <a:t>Pattern A: Pooled Unit Economics &amp; Pattern B Silos &amp; Pattern C PSC Spokes
</a:t>
            </a:r>
            <a:pPr indent="0" marL="0">
              <a:buNone/>
            </a:pPr>
            <a:r>
              <a:rPr lang="en-US" sz="650" dirty="0">
                <a:solidFill>
                  <a:srgbClr val="5F6368"/>
                </a:solidFill>
                <a:latin typeface="Arial" pitchFamily="34" charset="0"/>
                <a:ea typeface="Arial" pitchFamily="34" charset="-122"/>
                <a:cs typeface="Arial" pitchFamily="34" charset="-120"/>
              </a:rPr>
              <a:t>Isolated Google Cloud execution spokes.</a:t>
            </a:r>
            <a:endParaRPr lang="en-US" sz="750" dirty="0"/>
          </a:p>
        </p:txBody>
      </p:sp>
      <p:sp>
        <p:nvSpPr>
          <p:cNvPr id="29" name="Shape 27"/>
          <p:cNvSpPr/>
          <p:nvPr/>
        </p:nvSpPr>
        <p:spPr>
          <a:xfrm>
            <a:off x="3639312" y="3419856"/>
            <a:ext cx="7790688" cy="822960"/>
          </a:xfrm>
          <a:prstGeom prst="rect">
            <a:avLst/>
          </a:prstGeom>
          <a:solidFill>
            <a:srgbClr val="FFFFFF"/>
          </a:solidFill>
          <a:ln w="9525">
            <a:solidFill>
              <a:srgbClr val="DADCE0"/>
            </a:solidFill>
            <a:prstDash val="solid"/>
          </a:ln>
        </p:spPr>
      </p:sp>
      <p:sp>
        <p:nvSpPr>
          <p:cNvPr id="30" name="Text 28"/>
          <p:cNvSpPr/>
          <p:nvPr/>
        </p:nvSpPr>
        <p:spPr>
          <a:xfrm>
            <a:off x="3749040" y="3438144"/>
            <a:ext cx="7571232" cy="786384"/>
          </a:xfrm>
          <a:prstGeom prst="rect">
            <a:avLst/>
          </a:prstGeom>
          <a:noFill/>
          <a:ln/>
        </p:spPr>
        <p:txBody>
          <a:bodyPr wrap="square" rtlCol="0" anchor="ctr">
            <a:normAutofit/>
          </a:bodyPr>
          <a:lstStyle/>
          <a:p>
            <a:pPr indent="0" marL="0">
              <a:lnSpc>
                <a:spcPct val="102000"/>
              </a:lnSpc>
              <a:buNone/>
            </a:pPr>
            <a:r>
              <a:rPr lang="en-US" sz="690" b="1" dirty="0">
                <a:solidFill>
                  <a:srgbClr val="202124"/>
                </a:solidFill>
                <a:latin typeface="Arial" pitchFamily="34" charset="0"/>
                <a:ea typeface="Arial" pitchFamily="34" charset="-122"/>
                <a:cs typeface="Arial" pitchFamily="34" charset="-120"/>
              </a:rPr>
              <a:t>• Thinking Budget Cap / PSC Spoke Runtime: </a:t>
            </a:r>
            <a:pPr indent="0" marL="0">
              <a:lnSpc>
                <a:spcPct val="102000"/>
              </a:lnSpc>
              <a:buNone/>
            </a:pPr>
            <a:r>
              <a:rPr lang="en-US" sz="670" dirty="0">
                <a:solidFill>
                  <a:srgbClr val="3C4043"/>
                </a:solidFill>
                <a:latin typeface="Arial" pitchFamily="34" charset="0"/>
                <a:ea typeface="Arial" pitchFamily="34" charset="-122"/>
                <a:cs typeface="Arial" pitchFamily="34" charset="-120"/>
              </a:rPr>
              <a:t>Core execution environments orchestrating reasoning, memory, and tool execution across left and right spokes.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Valkey Rate Bulkhead / VPC-SC &amp; IAM PAB: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Screens prompts and model outputs within each spoke boundary to enforce safety and DLP policies.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2LO &amp; 3LO Auth Mgr / Dedicated Silo MCP: </a:t>
            </a:r>
            <a:pPr indent="0" marL="0">
              <a:lnSpc>
                <a:spcPct val="102000"/>
              </a:lnSpc>
              <a:buNone/>
            </a:pPr>
            <a:r>
              <a:rPr lang="en-US" sz="670" dirty="0">
                <a:solidFill>
                  <a:srgbClr val="3C4043"/>
                </a:solidFill>
                <a:latin typeface="Arial" pitchFamily="34" charset="0"/>
                <a:ea typeface="Arial" pitchFamily="34" charset="-122"/>
                <a:cs typeface="Arial" pitchFamily="34" charset="-120"/>
              </a:rPr>
              <a:t>Serverless tool interfaces providing standardized, scoped access to enterprise systems.
</a:t>
            </a:r>
            <a:pPr indent="0" marL="0">
              <a:lnSpc>
                <a:spcPct val="102000"/>
              </a:lnSpc>
              <a:buNone/>
            </a:pPr>
            <a:r>
              <a:rPr lang="en-US" sz="690" b="1" dirty="0">
                <a:solidFill>
                  <a:srgbClr val="202124"/>
                </a:solidFill>
                <a:latin typeface="Arial" pitchFamily="34" charset="0"/>
                <a:ea typeface="Arial" pitchFamily="34" charset="-122"/>
                <a:cs typeface="Arial" pitchFamily="34" charset="-120"/>
              </a:rPr>
              <a:t>• AlloyDB RLS &amp; L1–L5 / Cloud KMS CMEK Lock: </a:t>
            </a:r>
            <a:pPr indent="0" marL="0">
              <a:lnSpc>
                <a:spcPct val="102000"/>
              </a:lnSpc>
              <a:buNone/>
            </a:pPr>
            <a:r>
              <a:rPr lang="en-US" sz="670" dirty="0">
                <a:solidFill>
                  <a:srgbClr val="3C4043"/>
                </a:solidFill>
                <a:latin typeface="Arial" pitchFamily="34" charset="0"/>
                <a:ea typeface="Arial" pitchFamily="34" charset="-122"/>
                <a:cs typeface="Arial" pitchFamily="34" charset="-120"/>
              </a:rPr>
              <a:t>Isolated persistence layers enforcing access boundaries, vector namespaces, and encryption at rest.</a:t>
            </a:r>
            <a:endParaRPr lang="en-US" sz="690" dirty="0"/>
          </a:p>
        </p:txBody>
      </p:sp>
      <p:sp>
        <p:nvSpPr>
          <p:cNvPr id="31" name="Shape 29"/>
          <p:cNvSpPr/>
          <p:nvPr/>
        </p:nvSpPr>
        <p:spPr>
          <a:xfrm>
            <a:off x="749808" y="4315968"/>
            <a:ext cx="10680192" cy="0"/>
          </a:xfrm>
          <a:prstGeom prst="line">
            <a:avLst/>
          </a:prstGeom>
          <a:noFill/>
          <a:ln w="9525">
            <a:solidFill>
              <a:srgbClr val="DADCE0"/>
            </a:solidFill>
            <a:prstDash val="solid"/>
          </a:ln>
        </p:spPr>
      </p:sp>
      <p:sp>
        <p:nvSpPr>
          <p:cNvPr id="32" name="Text 30"/>
          <p:cNvSpPr/>
          <p:nvPr/>
        </p:nvSpPr>
        <p:spPr>
          <a:xfrm>
            <a:off x="749808" y="4370832"/>
            <a:ext cx="10680192" cy="237744"/>
          </a:xfrm>
          <a:prstGeom prst="rect">
            <a:avLst/>
          </a:prstGeom>
          <a:noFill/>
          <a:ln/>
        </p:spPr>
        <p:txBody>
          <a:bodyPr wrap="square" rtlCol="0" anchor="ctr"/>
          <a:lstStyle/>
          <a:p>
            <a:pPr indent="0" marL="0">
              <a:buNone/>
            </a:pPr>
            <a:r>
              <a:rPr lang="en-US" sz="1250" dirty="0">
                <a:solidFill>
                  <a:srgbClr val="202124"/>
                </a:solidFill>
                <a:latin typeface="Arial" pitchFamily="34" charset="0"/>
                <a:ea typeface="Arial" pitchFamily="34" charset="-122"/>
                <a:cs typeface="Arial" pitchFamily="34" charset="-120"/>
              </a:rPr>
              <a:t>Agentic flow</a:t>
            </a:r>
            <a:endParaRPr lang="en-US" sz="1250" dirty="0"/>
          </a:p>
        </p:txBody>
      </p:sp>
      <p:sp>
        <p:nvSpPr>
          <p:cNvPr id="33" name="Text 31"/>
          <p:cNvSpPr/>
          <p:nvPr/>
        </p:nvSpPr>
        <p:spPr>
          <a:xfrm>
            <a:off x="749808" y="4626864"/>
            <a:ext cx="10680192" cy="1901952"/>
          </a:xfrm>
          <a:prstGeom prst="rect">
            <a:avLst/>
          </a:prstGeom>
          <a:noFill/>
          <a:ln/>
        </p:spPr>
        <p:txBody>
          <a:bodyPr wrap="square" rtlCol="0" anchor="t">
            <a:normAutofit/>
          </a:bodyPr>
          <a:lstStyle/>
          <a:p>
            <a:pPr indent="0" marL="0">
              <a:lnSpc>
                <a:spcPct val="106000"/>
              </a:lnSpc>
              <a:buNone/>
            </a:pPr>
            <a:r>
              <a:rPr lang="en-US" sz="730" b="1" dirty="0">
                <a:solidFill>
                  <a:srgbClr val="202124"/>
                </a:solidFill>
                <a:latin typeface="Arial" pitchFamily="34" charset="0"/>
                <a:ea typeface="Arial" pitchFamily="34" charset="-122"/>
                <a:cs typeface="Arial" pitchFamily="34" charset="-120"/>
              </a:rPr>
              <a:t>1.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 caller sends a request to External Application Load Balancer in the Triad Pillar 1: Zero-Trust Cryptographic Security.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2.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After passing policy and security checks across Hop 1: Cloud Armor, Hop 4: Model Armor, and Hop 2: Catalog PDP, the request is forwarded to Architecture Selector.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3. </a:t>
            </a:r>
            <a:pPr indent="0" marL="0">
              <a:lnSpc>
                <a:spcPct val="106000"/>
              </a:lnSpc>
              <a:buNone/>
            </a:pPr>
            <a:r>
              <a:rPr lang="en-US" sz="720" dirty="0">
                <a:solidFill>
                  <a:srgbClr val="3C4043"/>
                </a:solidFill>
                <a:latin typeface="Arial" pitchFamily="34" charset="0"/>
                <a:ea typeface="Arial" pitchFamily="34" charset="-122"/>
                <a:cs typeface="Arial" pitchFamily="34" charset="-120"/>
              </a:rPr>
              <a:t>Architecture Selector verifies the caller's identity claims, attaches scoped execution metadata, and routes the request to the target execution spoke.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4. </a:t>
            </a:r>
            <a:pPr indent="0" marL="0">
              <a:lnSpc>
                <a:spcPct val="106000"/>
              </a:lnSpc>
              <a:buNone/>
            </a:pPr>
            <a:r>
              <a:rPr lang="en-US" sz="720" dirty="0">
                <a:solidFill>
                  <a:srgbClr val="3C4043"/>
                </a:solidFill>
                <a:latin typeface="Arial" pitchFamily="34" charset="0"/>
                <a:ea typeface="Arial" pitchFamily="34" charset="-122"/>
                <a:cs typeface="Arial" pitchFamily="34" charset="-120"/>
              </a:rPr>
              <a:t>Within Pattern A: Pooled Unit Economics, the runtime orchestrates execution across four deterministic sub-steps.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4a. </a:t>
            </a:r>
            <a:pPr indent="0" marL="0">
              <a:lnSpc>
                <a:spcPct val="106000"/>
              </a:lnSpc>
              <a:buNone/>
            </a:pPr>
            <a:r>
              <a:rPr lang="en-US" sz="680" dirty="0">
                <a:solidFill>
                  <a:srgbClr val="3C4043"/>
                </a:solidFill>
                <a:latin typeface="Arial" pitchFamily="34" charset="0"/>
                <a:ea typeface="Arial" pitchFamily="34" charset="-122"/>
                <a:cs typeface="Arial" pitchFamily="34" charset="-120"/>
              </a:rPr>
              <a:t>Input policy validation: Screens the incoming payload against safety and DLP policies.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4b. </a:t>
            </a:r>
            <a:pPr indent="0" marL="0">
              <a:lnSpc>
                <a:spcPct val="106000"/>
              </a:lnSpc>
              <a:buNone/>
            </a:pPr>
            <a:r>
              <a:rPr lang="en-US" sz="680" dirty="0">
                <a:solidFill>
                  <a:srgbClr val="3C4043"/>
                </a:solidFill>
                <a:latin typeface="Arial" pitchFamily="34" charset="0"/>
                <a:ea typeface="Arial" pitchFamily="34" charset="-122"/>
                <a:cs typeface="Arial" pitchFamily="34" charset="-120"/>
              </a:rPr>
              <a:t>Grounded context retrieval: Queries the datastore via Zero Cache Bleed.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4c. </a:t>
            </a:r>
            <a:pPr indent="0" marL="0">
              <a:lnSpc>
                <a:spcPct val="106000"/>
              </a:lnSpc>
              <a:buNone/>
            </a:pPr>
            <a:r>
              <a:rPr lang="en-US" sz="680" dirty="0">
                <a:solidFill>
                  <a:srgbClr val="3C4043"/>
                </a:solidFill>
                <a:latin typeface="Arial" pitchFamily="34" charset="0"/>
                <a:ea typeface="Arial" pitchFamily="34" charset="-122"/>
                <a:cs typeface="Arial" pitchFamily="34" charset="-120"/>
              </a:rPr>
              <a:t>Scoped tool invocation: Executes external tool operations via Storage-Engine RLS Policy.
</a:t>
            </a:r>
            <a:pPr indent="0" marL="0">
              <a:lnSpc>
                <a:spcPct val="106000"/>
              </a:lnSpc>
              <a:buNone/>
            </a:pPr>
            <a:r>
              <a:rPr lang="en-US" sz="690" b="1" dirty="0">
                <a:solidFill>
                  <a:srgbClr val="202124"/>
                </a:solidFill>
                <a:latin typeface="Arial" pitchFamily="34" charset="0"/>
                <a:ea typeface="Arial" pitchFamily="34" charset="-122"/>
                <a:cs typeface="Arial" pitchFamily="34" charset="-120"/>
              </a:rPr>
              <a:t>     4d. </a:t>
            </a:r>
            <a:pPr indent="0" marL="0">
              <a:lnSpc>
                <a:spcPct val="106000"/>
              </a:lnSpc>
              <a:buNone/>
            </a:pPr>
            <a:r>
              <a:rPr lang="en-US" sz="680" dirty="0">
                <a:solidFill>
                  <a:srgbClr val="3C4043"/>
                </a:solidFill>
                <a:latin typeface="Arial" pitchFamily="34" charset="0"/>
                <a:ea typeface="Arial" pitchFamily="34" charset="-122"/>
                <a:cs typeface="Arial" pitchFamily="34" charset="-120"/>
              </a:rPr>
              <a:t>Transactional state persistence: Commits verified state updates under strict isolation boundaries.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5.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sends the validated, context-enriched prompt to ContextCacheConfig to synthesize a grounded response.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6.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Thinking Budget Cap passes the generated output through Valkey Rate Bulkhead for final output sanitization and policy enforcement.
</a:t>
            </a:r>
            <a:pPr indent="0" marL="0">
              <a:lnSpc>
                <a:spcPct val="106000"/>
              </a:lnSpc>
              <a:buNone/>
            </a:pPr>
            <a:r>
              <a:rPr lang="en-US" sz="730" b="1" dirty="0">
                <a:solidFill>
                  <a:srgbClr val="202124"/>
                </a:solidFill>
                <a:latin typeface="Arial" pitchFamily="34" charset="0"/>
                <a:ea typeface="Arial" pitchFamily="34" charset="-122"/>
                <a:cs typeface="Arial" pitchFamily="34" charset="-120"/>
              </a:rPr>
              <a:t>7. </a:t>
            </a:r>
            <a:pPr indent="0" marL="0">
              <a:lnSpc>
                <a:spcPct val="106000"/>
              </a:lnSpc>
              <a:buNone/>
            </a:pPr>
            <a:r>
              <a:rPr lang="en-US" sz="720" dirty="0">
                <a:solidFill>
                  <a:srgbClr val="3C4043"/>
                </a:solidFill>
                <a:latin typeface="Arial" pitchFamily="34" charset="0"/>
                <a:ea typeface="Arial" pitchFamily="34" charset="-122"/>
                <a:cs typeface="Arial" pitchFamily="34" charset="-120"/>
              </a:rPr>
              <a:t>The verified response returns to the caller through the Triad Pillar 1: Zero-Trust Cryptographic Security, while structured OpenTelemetry audit and FinOps spans stream to the Triad Pillar 3: Zero-PII OTel &amp; FinOps Chargeback.
</a:t>
            </a:r>
            <a:endParaRPr lang="en-US" sz="73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Products used  &amp;  Use case</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4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Products used</a:t>
            </a:r>
            <a:endParaRPr lang="en-US" sz="1500" dirty="0"/>
          </a:p>
        </p:txBody>
      </p:sp>
      <p:sp>
        <p:nvSpPr>
          <p:cNvPr id="7" name="Text 5"/>
          <p:cNvSpPr/>
          <p:nvPr/>
        </p:nvSpPr>
        <p:spPr>
          <a:xfrm>
            <a:off x="749808" y="914400"/>
            <a:ext cx="10680192" cy="329184"/>
          </a:xfrm>
          <a:prstGeom prst="rect">
            <a:avLst/>
          </a:prstGeom>
          <a:noFill/>
          <a:ln/>
        </p:spPr>
        <p:txBody>
          <a:bodyPr wrap="square" rtlCol="0" anchor="t"/>
          <a:lstStyle/>
          <a:p>
            <a:pPr indent="0" marL="0">
              <a:buNone/>
            </a:pPr>
            <a:r>
              <a:rPr lang="en-US" sz="860" dirty="0">
                <a:solidFill>
                  <a:srgbClr val="3C4043"/>
                </a:solidFill>
                <a:latin typeface="Arial" pitchFamily="34" charset="0"/>
                <a:ea typeface="Arial" pitchFamily="34" charset="-122"/>
                <a:cs typeface="Arial" pitchFamily="34" charset="-120"/>
              </a:rPr>
              <a:t>This reference architecture uses the following Google Cloud services and open-source frameworks to implement Agent Deployment Models: Navigating the Agentic Trilemma Across Pool, Bridge &amp; Silo.</a:t>
            </a:r>
            <a:endParaRPr lang="en-US" sz="860" dirty="0"/>
          </a:p>
        </p:txBody>
      </p:sp>
      <p:sp>
        <p:nvSpPr>
          <p:cNvPr id="8" name="Text 6"/>
          <p:cNvSpPr/>
          <p:nvPr/>
        </p:nvSpPr>
        <p:spPr>
          <a:xfrm>
            <a:off x="877824" y="1261872"/>
            <a:ext cx="10552176" cy="2011680"/>
          </a:xfrm>
          <a:prstGeom prst="rect">
            <a:avLst/>
          </a:prstGeom>
          <a:noFill/>
          <a:ln/>
        </p:spPr>
        <p:txBody>
          <a:bodyPr wrap="square" rtlCol="0" anchor="t">
            <a:normAutofit/>
          </a:bodyPr>
          <a:lstStyle/>
          <a:p>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Agent Engine: </a:t>
            </a:r>
            <a:pPr indent="0" marL="0">
              <a:lnSpc>
                <a:spcPct val="118000"/>
              </a:lnSpc>
              <a:buNone/>
            </a:pPr>
            <a:r>
              <a:rPr lang="en-US" sz="790" dirty="0">
                <a:solidFill>
                  <a:srgbClr val="3C4043"/>
                </a:solidFill>
                <a:latin typeface="Arial" pitchFamily="34" charset="0"/>
                <a:ea typeface="Arial" pitchFamily="34" charset="-122"/>
                <a:cs typeface="Arial" pitchFamily="34" charset="-120"/>
              </a:rPr>
              <a:t>Managed runtime environment to host, scale, and govern AI agents with managed Sessions, Memory Bank, and Context Caching.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Google ADK 2.0: </a:t>
            </a:r>
            <a:pPr indent="0" marL="0">
              <a:lnSpc>
                <a:spcPct val="118000"/>
              </a:lnSpc>
              <a:buNone/>
            </a:pPr>
            <a:r>
              <a:rPr lang="en-US" sz="790" dirty="0">
                <a:solidFill>
                  <a:srgbClr val="3C4043"/>
                </a:solidFill>
                <a:latin typeface="Arial" pitchFamily="34" charset="0"/>
                <a:ea typeface="Arial" pitchFamily="34" charset="-122"/>
                <a:cs typeface="Arial" pitchFamily="34" charset="-120"/>
              </a:rPr>
              <a:t>Open-source Agent Development Kit for building, orchestrating, and testing hierarchical multi-agent systems with deterministic callbacks.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Vertex AI Model Garden: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Private Service Connect: </a:t>
            </a:r>
            <a:pPr indent="0" marL="0">
              <a:lnSpc>
                <a:spcPct val="118000"/>
              </a:lnSpc>
              <a:buNone/>
            </a:pPr>
            <a:r>
              <a:rPr lang="en-US" sz="790" dirty="0">
                <a:solidFill>
                  <a:srgbClr val="3C4043"/>
                </a:solidFill>
                <a:latin typeface="Arial" pitchFamily="34" charset="0"/>
                <a:ea typeface="Arial" pitchFamily="34" charset="-122"/>
                <a:cs typeface="Arial" pitchFamily="34" charset="-120"/>
              </a:rPr>
              <a:t>Core Google Cloud service used in DOC-MT-02 to enforce production security, scalability, and observability.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VPC Service Controls: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Enforces service perimeters across Google Cloud resources to prevent unauthorized data exfiltration across organizational boundaries.
</a:t>
            </a:r>
            <a:pPr indent="0" marL="0">
              <a:lnSpc>
                <a:spcPct val="118000"/>
              </a:lnSpc>
              <a:buNone/>
            </a:pPr>
            <a:r>
              <a:rPr lang="en-US" sz="810" b="1" dirty="0">
                <a:solidFill>
                  <a:srgbClr val="1A73E8"/>
                </a:solidFill>
                <a:latin typeface="Arial" pitchFamily="34" charset="0"/>
                <a:ea typeface="Arial" pitchFamily="34" charset="-122"/>
                <a:cs typeface="Arial" pitchFamily="34" charset="-120"/>
              </a:rPr>
              <a:t>•  BigQuery Agent Analytics: </a:t>
            </a:r>
            <a:pPr indent="0" marL="0">
              <a:lnSpc>
                <a:spcPct val="118000"/>
              </a:lnSpc>
              <a:buNone/>
            </a:pPr>
            <a:r>
              <a:rPr lang="en-US" sz="790" dirty="0">
                <a:solidFill>
                  <a:srgbClr val="3C4043"/>
                </a:solidFill>
                <a:latin typeface="Arial" pitchFamily="34" charset="0"/>
                <a:ea typeface="Arial" pitchFamily="34" charset="-122"/>
                <a:cs typeface="Arial" pitchFamily="34" charset="-120"/>
              </a:rPr>
              <a:t>Serverless enterprise data warehouse aggregating OpenTelemetry execution spans, audit logs, and token chargeback analytics.</a:t>
            </a:r>
            <a:endParaRPr lang="en-US" sz="810" dirty="0"/>
          </a:p>
        </p:txBody>
      </p:sp>
      <p:sp>
        <p:nvSpPr>
          <p:cNvPr id="9" name="Shape 7"/>
          <p:cNvSpPr/>
          <p:nvPr/>
        </p:nvSpPr>
        <p:spPr>
          <a:xfrm>
            <a:off x="749808" y="3346704"/>
            <a:ext cx="10680192" cy="0"/>
          </a:xfrm>
          <a:prstGeom prst="line">
            <a:avLst/>
          </a:prstGeom>
          <a:noFill/>
          <a:ln w="9525">
            <a:solidFill>
              <a:srgbClr val="DADCE0"/>
            </a:solidFill>
            <a:prstDash val="solid"/>
          </a:ln>
        </p:spPr>
      </p:sp>
      <p:sp>
        <p:nvSpPr>
          <p:cNvPr id="10" name="Text 8"/>
          <p:cNvSpPr/>
          <p:nvPr/>
        </p:nvSpPr>
        <p:spPr>
          <a:xfrm>
            <a:off x="749808" y="3419856"/>
            <a:ext cx="10680192" cy="274320"/>
          </a:xfrm>
          <a:prstGeom prst="rect">
            <a:avLst/>
          </a:prstGeom>
          <a:noFill/>
          <a:ln/>
        </p:spPr>
        <p:txBody>
          <a:bodyPr wrap="square" rtlCol="0" anchor="ctr"/>
          <a:lstStyle/>
          <a:p>
            <a:pPr indent="0" marL="0">
              <a:buNone/>
            </a:pPr>
            <a:r>
              <a:rPr lang="en-US" sz="1500" dirty="0">
                <a:solidFill>
                  <a:srgbClr val="202124"/>
                </a:solidFill>
                <a:latin typeface="Arial" pitchFamily="34" charset="0"/>
                <a:ea typeface="Arial" pitchFamily="34" charset="-122"/>
                <a:cs typeface="Arial" pitchFamily="34" charset="-120"/>
              </a:rPr>
              <a:t>Use case</a:t>
            </a:r>
            <a:endParaRPr lang="en-US" sz="1500" dirty="0"/>
          </a:p>
        </p:txBody>
      </p:sp>
      <p:sp>
        <p:nvSpPr>
          <p:cNvPr id="11" name="Text 9"/>
          <p:cNvSpPr/>
          <p:nvPr/>
        </p:nvSpPr>
        <p:spPr>
          <a:xfrm>
            <a:off x="749808" y="3712464"/>
            <a:ext cx="10680192" cy="237744"/>
          </a:xfrm>
          <a:prstGeom prst="rect">
            <a:avLst/>
          </a:prstGeom>
          <a:noFill/>
          <a:ln/>
        </p:spPr>
        <p:txBody>
          <a:bodyPr wrap="square" rtlCol="0" anchor="ctr"/>
          <a:lstStyle/>
          <a:p>
            <a:pPr indent="0" marL="0">
              <a:buNone/>
            </a:pPr>
            <a:r>
              <a:rPr lang="en-US" sz="1100" b="1" dirty="0">
                <a:solidFill>
                  <a:srgbClr val="202124"/>
                </a:solidFill>
                <a:latin typeface="Arial" pitchFamily="34" charset="0"/>
                <a:ea typeface="Arial" pitchFamily="34" charset="-122"/>
                <a:cs typeface="Arial" pitchFamily="34" charset="-120"/>
              </a:rPr>
              <a:t>Comparing the Three Core Tenancy Topologies Across All 7 Subsystems</a:t>
            </a:r>
            <a:endParaRPr lang="en-US" sz="1100" dirty="0"/>
          </a:p>
        </p:txBody>
      </p:sp>
      <p:sp>
        <p:nvSpPr>
          <p:cNvPr id="12" name="Text 10"/>
          <p:cNvSpPr/>
          <p:nvPr/>
        </p:nvSpPr>
        <p:spPr>
          <a:xfrm>
            <a:off x="749808" y="3986784"/>
            <a:ext cx="10680192" cy="749808"/>
          </a:xfrm>
          <a:prstGeom prst="rect">
            <a:avLst/>
          </a:prstGeom>
          <a:noFill/>
          <a:ln/>
        </p:spPr>
        <p:txBody>
          <a:bodyPr wrap="square" rtlCol="0" anchor="t">
            <a:normAutofit/>
          </a:bodyPr>
          <a:lstStyle/>
          <a:p>
            <a:pPr indent="0" marL="0">
              <a:lnSpc>
                <a:spcPct val="114000"/>
              </a:lnSpc>
              <a:buNone/>
            </a:pPr>
            <a:r>
              <a:rPr lang="en-US" sz="840" dirty="0">
                <a:solidFill>
                  <a:srgbClr val="3C4043"/>
                </a:solidFill>
                <a:latin typeface="Arial" pitchFamily="34" charset="0"/>
                <a:ea typeface="Arial" pitchFamily="34" charset="-122"/>
                <a:cs typeface="Arial" pitchFamily="34" charset="-120"/>
              </a:rPr>
              <a:t>Every multi-tenant agent deployment maps the seven core subsystems—Inbound Identity, Ingress Gateway, Agent Runtime, Memory Bank, Foundation Models, Egress Gateway, and Data/Tool Fabric—across three canonical topologies.</a:t>
            </a:r>
            <a:endParaRPr lang="en-US" sz="840" dirty="0"/>
          </a:p>
        </p:txBody>
      </p:sp>
      <p:sp>
        <p:nvSpPr>
          <p:cNvPr id="13" name="Text 11"/>
          <p:cNvSpPr/>
          <p:nvPr/>
        </p:nvSpPr>
        <p:spPr>
          <a:xfrm>
            <a:off x="749808" y="4773168"/>
            <a:ext cx="10680192" cy="20116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For this use case, the architecture provides the following benefits:</a:t>
            </a:r>
            <a:endParaRPr lang="en-US" sz="860" dirty="0"/>
          </a:p>
        </p:txBody>
      </p:sp>
      <p:sp>
        <p:nvSpPr>
          <p:cNvPr id="14" name="Text 12"/>
          <p:cNvSpPr/>
          <p:nvPr/>
        </p:nvSpPr>
        <p:spPr>
          <a:xfrm>
            <a:off x="877824" y="5010912"/>
            <a:ext cx="10552176" cy="1481328"/>
          </a:xfrm>
          <a:prstGeom prst="rect">
            <a:avLst/>
          </a:prstGeom>
          <a:noFill/>
          <a:ln/>
        </p:spPr>
        <p:txBody>
          <a:bodyPr wrap="square" rtlCol="0" anchor="t">
            <a:normAutofit/>
          </a:bodyPr>
          <a:lstStyle/>
          <a:p>
            <a:pPr indent="0" marL="0">
              <a:lnSpc>
                <a:spcPct val="116000"/>
              </a:lnSpc>
              <a:buNone/>
            </a:pPr>
            <a:r>
              <a:rPr lang="en-US" sz="800" b="1" dirty="0">
                <a:solidFill>
                  <a:srgbClr val="202124"/>
                </a:solidFill>
                <a:latin typeface="Arial" pitchFamily="34" charset="0"/>
                <a:ea typeface="Arial" pitchFamily="34" charset="-122"/>
                <a:cs typeface="Arial" pitchFamily="34" charset="-120"/>
              </a:rPr>
              <a:t>•  Strict data isolation: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Enforces deterministic tenant and domain boundaries via Unified Vertex AI Agent Engine &amp; Google ADK Reference Architecture and AlloyDB RLS &amp; L1–L5, preventing cross-spoke state or credential leakage.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1. Build: </a:t>
            </a:r>
            <a:pPr indent="0" marL="0">
              <a:lnSpc>
                <a:spcPct val="116000"/>
              </a:lnSpc>
              <a:buNone/>
            </a:pPr>
            <a:r>
              <a:rPr lang="en-US" sz="780" dirty="0">
                <a:solidFill>
                  <a:srgbClr val="3C4043"/>
                </a:solidFill>
                <a:latin typeface="Arial" pitchFamily="34" charset="0"/>
                <a:ea typeface="Arial" pitchFamily="34" charset="-122"/>
                <a:cs typeface="Arial" pitchFamily="34" charset="-120"/>
              </a:rPr>
              <a:t>Supports Google ADK 2.0 alongside third-party agent frameworks. Integrates frontier Gemini models and open-weight models via Model Garden, coupled with open standard protocols.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2. Scale: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Runtime provisions sub-second warm-start execution with Agent Sandboxes backed by gVisor microVMs.
</a:t>
            </a:r>
            <a:pPr indent="0" marL="0">
              <a:lnSpc>
                <a:spcPct val="116000"/>
              </a:lnSpc>
              <a:buNone/>
            </a:pPr>
            <a:r>
              <a:rPr lang="en-US" sz="800" b="1" dirty="0">
                <a:solidFill>
                  <a:srgbClr val="202124"/>
                </a:solidFill>
                <a:latin typeface="Arial" pitchFamily="34" charset="0"/>
                <a:ea typeface="Arial" pitchFamily="34" charset="-122"/>
                <a:cs typeface="Arial" pitchFamily="34" charset="-120"/>
              </a:rPr>
              <a:t>•  3. Govern: </a:t>
            </a:r>
            <a:pPr indent="0" marL="0">
              <a:lnSpc>
                <a:spcPct val="116000"/>
              </a:lnSpc>
              <a:buNone/>
            </a:pPr>
            <a:r>
              <a:rPr lang="en-US" sz="780" dirty="0">
                <a:solidFill>
                  <a:srgbClr val="3C4043"/>
                </a:solidFill>
                <a:latin typeface="Arial" pitchFamily="34" charset="0"/>
                <a:ea typeface="Arial" pitchFamily="34" charset="-122"/>
                <a:cs typeface="Arial" pitchFamily="34" charset="-120"/>
              </a:rPr>
              <a:t>Agent Gateway and Agent Registry enforce tenant-scoped agent authorization and dynamic tool entitlements.</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Design alternatives  &amp;  Design considerations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5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alternatives</a:t>
            </a:r>
            <a:endParaRPr lang="en-US" sz="1450" dirty="0"/>
          </a:p>
        </p:txBody>
      </p:sp>
      <p:sp>
        <p:nvSpPr>
          <p:cNvPr id="7" name="Text 5"/>
          <p:cNvSpPr/>
          <p:nvPr/>
        </p:nvSpPr>
        <p:spPr>
          <a:xfrm>
            <a:off x="749808" y="914400"/>
            <a:ext cx="10680192" cy="1810512"/>
          </a:xfrm>
          <a:prstGeom prst="rect">
            <a:avLst/>
          </a:prstGeom>
          <a:noFill/>
          <a:ln/>
        </p:spPr>
        <p:txBody>
          <a:bodyPr wrap="square" rtlCol="0" anchor="t">
            <a:normAutofit/>
          </a:bodyPr>
          <a:lstStyle/>
          <a:p>
            <a:pPr indent="0" marL="0">
              <a:lnSpc>
                <a:spcPct val="112000"/>
              </a:lnSpc>
              <a:buNone/>
            </a:pPr>
            <a:r>
              <a:rPr lang="en-US" sz="810" b="1" dirty="0">
                <a:solidFill>
                  <a:srgbClr val="202124"/>
                </a:solidFill>
                <a:latin typeface="Arial" pitchFamily="34" charset="0"/>
                <a:ea typeface="Arial" pitchFamily="34" charset="-122"/>
                <a:cs typeface="Arial" pitchFamily="34" charset="-120"/>
              </a:rPr>
              <a:t>Private access deployment &amp; network isolation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The baseline topology routes traffic through External Application Load Balancer and Architecture Selector under The Multi-Tenant Agentic Triad: Security • FinOps COGS • Zero-PII Observability.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External vs. internal private ingress: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For internet-facing workloads, retain the global External Application Load Balancer with Hop 1: Cloud Armor and Hop 4: Model Armor.
</a:t>
            </a:r>
            <a:pPr indent="0" marL="0">
              <a:lnSpc>
                <a:spcPct val="112000"/>
              </a:lnSpc>
              <a:buNone/>
            </a:pPr>
            <a:r>
              <a:rPr lang="en-US" sz="810" b="1" dirty="0">
                <a:solidFill>
                  <a:srgbClr val="202124"/>
                </a:solidFill>
                <a:latin typeface="Arial" pitchFamily="34" charset="0"/>
                <a:ea typeface="Arial" pitchFamily="34" charset="-122"/>
                <a:cs typeface="Arial" pitchFamily="34" charset="-120"/>
              </a:rPr>
              <a:t>Thinking Budget Cap &amp; 2LO &amp; 3LO Auth Mgr placement — </a:t>
            </a:r>
            <a:pPr indent="0" marL="0">
              <a:lnSpc>
                <a:spcPct val="112000"/>
              </a:lnSpc>
              <a:buNone/>
            </a:pPr>
            <a:r>
              <a:rPr lang="en-US" sz="780" dirty="0">
                <a:solidFill>
                  <a:srgbClr val="3C4043"/>
                </a:solidFill>
                <a:latin typeface="Arial" pitchFamily="34" charset="0"/>
                <a:ea typeface="Arial" pitchFamily="34" charset="-122"/>
                <a:cs typeface="Arial" pitchFamily="34" charset="-120"/>
              </a:rPr>
              <a:t>Each execution spoke pairs Thinking Budget Cap with 2LO &amp; 3LO Auth Mgr and AlloyDB RLS &amp; L1–L5.
</a:t>
            </a:r>
            <a:pPr indent="0" marL="0">
              <a:lnSpc>
                <a:spcPct val="112000"/>
              </a:lnSpc>
              <a:buNone/>
            </a:pPr>
            <a:r>
              <a:rPr lang="en-US" sz="750" b="1" dirty="0">
                <a:solidFill>
                  <a:srgbClr val="202124"/>
                </a:solidFill>
                <a:latin typeface="Arial" pitchFamily="34" charset="0"/>
                <a:ea typeface="Arial" pitchFamily="34" charset="-122"/>
                <a:cs typeface="Arial" pitchFamily="34" charset="-120"/>
              </a:rPr>
              <a:t>    •  Dedicated spoke vs. shared tool gateways: </a:t>
            </a:r>
            <a:pPr indent="0" marL="0">
              <a:lnSpc>
                <a:spcPct val="112000"/>
              </a:lnSpc>
              <a:buNone/>
            </a:pPr>
            <a:r>
              <a:rPr lang="en-US" sz="740" dirty="0">
                <a:solidFill>
                  <a:srgbClr val="3C4043"/>
                </a:solidFill>
                <a:latin typeface="Arial" pitchFamily="34" charset="0"/>
                <a:ea typeface="Arial" pitchFamily="34" charset="-122"/>
                <a:cs typeface="Arial" pitchFamily="34" charset="-120"/>
              </a:rPr>
              <a:t>Spoke-local 2LO &amp; 3LO Auth Mgr: Maximizes blast-radius containment by keeping credentials, service accounts, and data access strictly inside.; Shared enterprise tool gateway: Consolidates stateless, non-tenant-specific MCP tools into a central hub project via Private Service Connect.
</a:t>
            </a:r>
            <a:endParaRPr lang="en-US" sz="810" dirty="0"/>
          </a:p>
        </p:txBody>
      </p:sp>
      <p:sp>
        <p:nvSpPr>
          <p:cNvPr id="8" name="Shape 6"/>
          <p:cNvSpPr/>
          <p:nvPr/>
        </p:nvSpPr>
        <p:spPr>
          <a:xfrm>
            <a:off x="749808" y="2779776"/>
            <a:ext cx="10680192" cy="0"/>
          </a:xfrm>
          <a:prstGeom prst="line">
            <a:avLst/>
          </a:prstGeom>
          <a:noFill/>
          <a:ln w="9525">
            <a:solidFill>
              <a:srgbClr val="DADCE0"/>
            </a:solidFill>
            <a:prstDash val="solid"/>
          </a:ln>
        </p:spPr>
      </p:sp>
      <p:sp>
        <p:nvSpPr>
          <p:cNvPr id="9" name="Text 7"/>
          <p:cNvSpPr/>
          <p:nvPr/>
        </p:nvSpPr>
        <p:spPr>
          <a:xfrm>
            <a:off x="749808" y="2852928"/>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Design considerations</a:t>
            </a:r>
            <a:endParaRPr lang="en-US" sz="1450" dirty="0"/>
          </a:p>
        </p:txBody>
      </p:sp>
      <p:sp>
        <p:nvSpPr>
          <p:cNvPr id="10" name="Text 8"/>
          <p:cNvSpPr/>
          <p:nvPr/>
        </p:nvSpPr>
        <p:spPr>
          <a:xfrm>
            <a:off x="749808" y="3127248"/>
            <a:ext cx="10680192" cy="201168"/>
          </a:xfrm>
          <a:prstGeom prst="rect">
            <a:avLst/>
          </a:prstGeom>
          <a:noFill/>
          <a:ln/>
        </p:spPr>
        <p:txBody>
          <a:bodyPr wrap="square" rtlCol="0" anchor="ctr"/>
          <a:lstStyle/>
          <a:p>
            <a:pPr indent="0" marL="0">
              <a:buNone/>
            </a:pPr>
            <a:r>
              <a:rPr lang="en-US" sz="820" dirty="0">
                <a:solidFill>
                  <a:srgbClr val="3C4043"/>
                </a:solidFill>
                <a:latin typeface="Arial" pitchFamily="34" charset="0"/>
                <a:ea typeface="Arial" pitchFamily="34" charset="-122"/>
                <a:cs typeface="Arial" pitchFamily="34" charset="-120"/>
              </a:rPr>
              <a:t>This section aligns the reference architecture with the Google Cloud Well-Architected Framework across security, reliability, operational excellence, and cost optimization, alongside production failure-mode mitigations.</a:t>
            </a:r>
            <a:endParaRPr lang="en-US" sz="820" dirty="0"/>
          </a:p>
        </p:txBody>
      </p:sp>
      <p:sp>
        <p:nvSpPr>
          <p:cNvPr id="11" name="Shape 9"/>
          <p:cNvSpPr/>
          <p:nvPr/>
        </p:nvSpPr>
        <p:spPr>
          <a:xfrm>
            <a:off x="749808" y="3364992"/>
            <a:ext cx="2048256" cy="256032"/>
          </a:xfrm>
          <a:prstGeom prst="rect">
            <a:avLst/>
          </a:prstGeom>
          <a:solidFill>
            <a:srgbClr val="F8F9FA"/>
          </a:solidFill>
          <a:ln w="9525">
            <a:solidFill>
              <a:srgbClr val="DADCE0"/>
            </a:solidFill>
            <a:prstDash val="solid"/>
          </a:ln>
        </p:spPr>
      </p:sp>
      <p:sp>
        <p:nvSpPr>
          <p:cNvPr id="12" name="Text 10"/>
          <p:cNvSpPr/>
          <p:nvPr/>
        </p:nvSpPr>
        <p:spPr>
          <a:xfrm>
            <a:off x="841248" y="3364992"/>
            <a:ext cx="186537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Well-Architected pillar</a:t>
            </a:r>
            <a:endParaRPr lang="en-US" sz="800" dirty="0"/>
          </a:p>
        </p:txBody>
      </p:sp>
      <p:sp>
        <p:nvSpPr>
          <p:cNvPr id="13" name="Shape 11"/>
          <p:cNvSpPr/>
          <p:nvPr/>
        </p:nvSpPr>
        <p:spPr>
          <a:xfrm>
            <a:off x="2798064" y="3364992"/>
            <a:ext cx="2322576" cy="256032"/>
          </a:xfrm>
          <a:prstGeom prst="rect">
            <a:avLst/>
          </a:prstGeom>
          <a:solidFill>
            <a:srgbClr val="F8F9FA"/>
          </a:solidFill>
          <a:ln w="9525">
            <a:solidFill>
              <a:srgbClr val="DADCE0"/>
            </a:solidFill>
            <a:prstDash val="solid"/>
          </a:ln>
        </p:spPr>
      </p:sp>
      <p:sp>
        <p:nvSpPr>
          <p:cNvPr id="14" name="Text 12"/>
          <p:cNvSpPr/>
          <p:nvPr/>
        </p:nvSpPr>
        <p:spPr>
          <a:xfrm>
            <a:off x="2889504" y="3364992"/>
            <a:ext cx="2139696"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Component</a:t>
            </a:r>
            <a:endParaRPr lang="en-US" sz="800" dirty="0"/>
          </a:p>
        </p:txBody>
      </p:sp>
      <p:sp>
        <p:nvSpPr>
          <p:cNvPr id="15" name="Shape 13"/>
          <p:cNvSpPr/>
          <p:nvPr/>
        </p:nvSpPr>
        <p:spPr>
          <a:xfrm>
            <a:off x="5120640" y="3364992"/>
            <a:ext cx="6309360" cy="256032"/>
          </a:xfrm>
          <a:prstGeom prst="rect">
            <a:avLst/>
          </a:prstGeom>
          <a:solidFill>
            <a:srgbClr val="F8F9FA"/>
          </a:solidFill>
          <a:ln w="9525">
            <a:solidFill>
              <a:srgbClr val="DADCE0"/>
            </a:solidFill>
            <a:prstDash val="solid"/>
          </a:ln>
        </p:spPr>
      </p:sp>
      <p:sp>
        <p:nvSpPr>
          <p:cNvPr id="16" name="Text 14"/>
          <p:cNvSpPr/>
          <p:nvPr/>
        </p:nvSpPr>
        <p:spPr>
          <a:xfrm>
            <a:off x="5212080" y="3364992"/>
            <a:ext cx="6126480" cy="256032"/>
          </a:xfrm>
          <a:prstGeom prst="rect">
            <a:avLst/>
          </a:prstGeom>
          <a:noFill/>
          <a:ln/>
        </p:spPr>
        <p:txBody>
          <a:bodyPr wrap="square" rtlCol="0" anchor="ctr"/>
          <a:lstStyle/>
          <a:p>
            <a:pPr indent="0" marL="0">
              <a:buNone/>
            </a:pPr>
            <a:r>
              <a:rPr lang="en-US" sz="800" b="1" dirty="0">
                <a:solidFill>
                  <a:srgbClr val="202124"/>
                </a:solidFill>
                <a:latin typeface="Arial" pitchFamily="34" charset="0"/>
                <a:ea typeface="Arial" pitchFamily="34" charset="-122"/>
                <a:cs typeface="Arial" pitchFamily="34" charset="-120"/>
              </a:rPr>
              <a:t>Design considerations and recommendations</a:t>
            </a:r>
            <a:endParaRPr lang="en-US" sz="800" dirty="0"/>
          </a:p>
        </p:txBody>
      </p:sp>
      <p:sp>
        <p:nvSpPr>
          <p:cNvPr id="17" name="Shape 15"/>
          <p:cNvSpPr/>
          <p:nvPr/>
        </p:nvSpPr>
        <p:spPr>
          <a:xfrm>
            <a:off x="749808" y="3621024"/>
            <a:ext cx="2048256" cy="722376"/>
          </a:xfrm>
          <a:prstGeom prst="rect">
            <a:avLst/>
          </a:prstGeom>
          <a:solidFill>
            <a:srgbClr val="FFFFFF"/>
          </a:solidFill>
          <a:ln w="9525">
            <a:solidFill>
              <a:srgbClr val="DADCE0"/>
            </a:solidFill>
            <a:prstDash val="solid"/>
          </a:ln>
        </p:spPr>
      </p:sp>
      <p:sp>
        <p:nvSpPr>
          <p:cNvPr id="18" name="Text 16"/>
          <p:cNvSpPr/>
          <p:nvPr/>
        </p:nvSpPr>
        <p:spPr>
          <a:xfrm>
            <a:off x="841248" y="3648456"/>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Security, privacy, and compliance</a:t>
            </a:r>
            <a:endParaRPr lang="en-US" sz="780" dirty="0"/>
          </a:p>
        </p:txBody>
      </p:sp>
      <p:sp>
        <p:nvSpPr>
          <p:cNvPr id="19" name="Shape 17"/>
          <p:cNvSpPr/>
          <p:nvPr/>
        </p:nvSpPr>
        <p:spPr>
          <a:xfrm>
            <a:off x="2798064" y="3621024"/>
            <a:ext cx="2322576" cy="722376"/>
          </a:xfrm>
          <a:prstGeom prst="rect">
            <a:avLst/>
          </a:prstGeom>
          <a:solidFill>
            <a:srgbClr val="FFFFFF"/>
          </a:solidFill>
          <a:ln w="9525">
            <a:solidFill>
              <a:srgbClr val="DADCE0"/>
            </a:solidFill>
            <a:prstDash val="solid"/>
          </a:ln>
        </p:spPr>
      </p:sp>
      <p:sp>
        <p:nvSpPr>
          <p:cNvPr id="20" name="Text 18"/>
          <p:cNvSpPr/>
          <p:nvPr/>
        </p:nvSpPr>
        <p:spPr>
          <a:xfrm>
            <a:off x="2889504" y="3648456"/>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VPC Service Controls &amp; Access Boundaries</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1: Cloud Armor &amp; Hop 4: Model Armor &amp; Valkey Rate Bulkhead</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 &amp; 3 Chargeback Models</a:t>
            </a:r>
            <a:endParaRPr lang="en-US" sz="710" dirty="0"/>
          </a:p>
        </p:txBody>
      </p:sp>
      <p:sp>
        <p:nvSpPr>
          <p:cNvPr id="21" name="Shape 19"/>
          <p:cNvSpPr/>
          <p:nvPr/>
        </p:nvSpPr>
        <p:spPr>
          <a:xfrm>
            <a:off x="5120640" y="3621024"/>
            <a:ext cx="6309360" cy="722376"/>
          </a:xfrm>
          <a:prstGeom prst="rect">
            <a:avLst/>
          </a:prstGeom>
          <a:solidFill>
            <a:srgbClr val="FFFFFF"/>
          </a:solidFill>
          <a:ln w="9525">
            <a:solidFill>
              <a:srgbClr val="DADCE0"/>
            </a:solidFill>
            <a:prstDash val="solid"/>
          </a:ln>
        </p:spPr>
      </p:sp>
      <p:sp>
        <p:nvSpPr>
          <p:cNvPr id="22" name="Text 20"/>
          <p:cNvSpPr/>
          <p:nvPr/>
        </p:nvSpPr>
        <p:spPr>
          <a:xfrm>
            <a:off x="5230368" y="3648456"/>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VPC Service Controls &amp; Access Boundaries: </a:t>
            </a:r>
            <a:pPr indent="0" marL="0">
              <a:buNone/>
            </a:pPr>
            <a:r>
              <a:rPr lang="en-US" sz="690" dirty="0">
                <a:solidFill>
                  <a:srgbClr val="3C4043"/>
                </a:solidFill>
                <a:latin typeface="Arial" pitchFamily="34" charset="0"/>
                <a:ea typeface="Arial" pitchFamily="34" charset="-122"/>
                <a:cs typeface="Arial" pitchFamily="34" charset="-120"/>
              </a:rPr>
              <a:t>Enforce VPC Service Controls perimeters around hub and spoke projects to block unauthorized data exfiltration, and bind Principal Access Boundary (PAB) policies to spoke principals.
</a:t>
            </a:r>
            <a:pPr indent="0" marL="0">
              <a:buNone/>
            </a:pPr>
            <a:r>
              <a:rPr lang="en-US" sz="700" b="1" dirty="0">
                <a:solidFill>
                  <a:srgbClr val="202124"/>
                </a:solidFill>
                <a:latin typeface="Arial" pitchFamily="34" charset="0"/>
                <a:ea typeface="Arial" pitchFamily="34" charset="-122"/>
                <a:cs typeface="Arial" pitchFamily="34" charset="-120"/>
              </a:rPr>
              <a:t>• Hop 1: Cloud Armor &amp; Hop 4: Model Armor &amp; Valkey Rate Bulkhead: </a:t>
            </a:r>
            <a:pPr indent="0" marL="0">
              <a:buNone/>
            </a:pPr>
            <a:r>
              <a:rPr lang="en-US" sz="690" dirty="0">
                <a:solidFill>
                  <a:srgbClr val="3C4043"/>
                </a:solidFill>
                <a:latin typeface="Arial" pitchFamily="34" charset="0"/>
                <a:ea typeface="Arial" pitchFamily="34" charset="-122"/>
                <a:cs typeface="Arial" pitchFamily="34" charset="-120"/>
              </a:rPr>
              <a:t>Strip client-supplied privilege headers at the edge, verify caller identity claims, and screen prompts and completions with Valkey Rate Bulkhead.
</a:t>
            </a:r>
            <a:pPr indent="0" marL="0">
              <a:buNone/>
            </a:pPr>
            <a:r>
              <a:rPr lang="en-US" sz="700" b="1" dirty="0">
                <a:solidFill>
                  <a:srgbClr val="202124"/>
                </a:solidFill>
                <a:latin typeface="Arial" pitchFamily="34" charset="0"/>
                <a:ea typeface="Arial" pitchFamily="34" charset="-122"/>
                <a:cs typeface="Arial" pitchFamily="34" charset="-120"/>
              </a:rPr>
              <a:t>• AlloyDB RLS &amp; L1–L5 &amp; 3 Chargeback Models: </a:t>
            </a:r>
            <a:pPr indent="0" marL="0">
              <a:buNone/>
            </a:pPr>
            <a:r>
              <a:rPr lang="en-US" sz="690" dirty="0">
                <a:solidFill>
                  <a:srgbClr val="3C4043"/>
                </a:solidFill>
                <a:latin typeface="Arial" pitchFamily="34" charset="0"/>
                <a:ea typeface="Arial" pitchFamily="34" charset="-122"/>
                <a:cs typeface="Arial" pitchFamily="34" charset="-120"/>
              </a:rPr>
              <a:t>Encrypt state at rest with Customer-Managed Encryption Keys and enforce least-privilege access scopes on AlloyDB RLS &amp; L1–L5.</a:t>
            </a:r>
            <a:endParaRPr lang="en-US" sz="700" dirty="0"/>
          </a:p>
        </p:txBody>
      </p:sp>
      <p:sp>
        <p:nvSpPr>
          <p:cNvPr id="23" name="Shape 21"/>
          <p:cNvSpPr/>
          <p:nvPr/>
        </p:nvSpPr>
        <p:spPr>
          <a:xfrm>
            <a:off x="749808" y="4343400"/>
            <a:ext cx="2048256" cy="722376"/>
          </a:xfrm>
          <a:prstGeom prst="rect">
            <a:avLst/>
          </a:prstGeom>
          <a:solidFill>
            <a:srgbClr val="FFFFFF"/>
          </a:solidFill>
          <a:ln w="9525">
            <a:solidFill>
              <a:srgbClr val="DADCE0"/>
            </a:solidFill>
            <a:prstDash val="solid"/>
          </a:ln>
        </p:spPr>
      </p:sp>
      <p:sp>
        <p:nvSpPr>
          <p:cNvPr id="24" name="Text 22"/>
          <p:cNvSpPr/>
          <p:nvPr/>
        </p:nvSpPr>
        <p:spPr>
          <a:xfrm>
            <a:off x="841248" y="4370832"/>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Reliability</a:t>
            </a:r>
            <a:endParaRPr lang="en-US" sz="780" dirty="0"/>
          </a:p>
        </p:txBody>
      </p:sp>
      <p:sp>
        <p:nvSpPr>
          <p:cNvPr id="25" name="Shape 23"/>
          <p:cNvSpPr/>
          <p:nvPr/>
        </p:nvSpPr>
        <p:spPr>
          <a:xfrm>
            <a:off x="2798064" y="4343400"/>
            <a:ext cx="2322576" cy="722376"/>
          </a:xfrm>
          <a:prstGeom prst="rect">
            <a:avLst/>
          </a:prstGeom>
          <a:solidFill>
            <a:srgbClr val="FFFFFF"/>
          </a:solidFill>
          <a:ln w="9525">
            <a:solidFill>
              <a:srgbClr val="DADCE0"/>
            </a:solidFill>
            <a:prstDash val="solid"/>
          </a:ln>
        </p:spPr>
      </p:sp>
      <p:sp>
        <p:nvSpPr>
          <p:cNvPr id="26" name="Text 24"/>
          <p:cNvSpPr/>
          <p:nvPr/>
        </p:nvSpPr>
        <p:spPr>
          <a:xfrm>
            <a:off x="2889504" y="4370832"/>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External Application Load Balancer &amp; Architecture Selector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Thinking Budget Cap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AlloyDB RLS &amp; L1–L5</a:t>
            </a:r>
            <a:endParaRPr lang="en-US" sz="710" dirty="0"/>
          </a:p>
        </p:txBody>
      </p:sp>
      <p:sp>
        <p:nvSpPr>
          <p:cNvPr id="27" name="Shape 25"/>
          <p:cNvSpPr/>
          <p:nvPr/>
        </p:nvSpPr>
        <p:spPr>
          <a:xfrm>
            <a:off x="5120640" y="4343400"/>
            <a:ext cx="6309360" cy="722376"/>
          </a:xfrm>
          <a:prstGeom prst="rect">
            <a:avLst/>
          </a:prstGeom>
          <a:solidFill>
            <a:srgbClr val="FFFFFF"/>
          </a:solidFill>
          <a:ln w="9525">
            <a:solidFill>
              <a:srgbClr val="DADCE0"/>
            </a:solidFill>
            <a:prstDash val="solid"/>
          </a:ln>
        </p:spPr>
      </p:sp>
      <p:sp>
        <p:nvSpPr>
          <p:cNvPr id="28" name="Text 26"/>
          <p:cNvSpPr/>
          <p:nvPr/>
        </p:nvSpPr>
        <p:spPr>
          <a:xfrm>
            <a:off x="5230368" y="4370832"/>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External Application Load Balancer &amp; Architecture Selector: </a:t>
            </a:r>
            <a:pPr indent="0" marL="0">
              <a:buNone/>
            </a:pPr>
            <a:r>
              <a:rPr lang="en-US" sz="690" dirty="0">
                <a:solidFill>
                  <a:srgbClr val="3C4043"/>
                </a:solidFill>
                <a:latin typeface="Arial" pitchFamily="34" charset="0"/>
                <a:ea typeface="Arial" pitchFamily="34" charset="-122"/>
                <a:cs typeface="Arial" pitchFamily="34" charset="-120"/>
              </a:rPr>
              <a:t>Deploy Architecture Selector across multi-region serverless Network Endpoint Groups (NEGs) with minimum warm instances to eliminate cold-start latency spikes.
</a:t>
            </a:r>
            <a:pPr indent="0" marL="0">
              <a:buNone/>
            </a:pPr>
            <a:r>
              <a:rPr lang="en-US" sz="700" b="1" dirty="0">
                <a:solidFill>
                  <a:srgbClr val="202124"/>
                </a:solidFill>
                <a:latin typeface="Arial" pitchFamily="34" charset="0"/>
                <a:ea typeface="Arial" pitchFamily="34" charset="-122"/>
                <a:cs typeface="Arial" pitchFamily="34" charset="-120"/>
              </a:rPr>
              <a:t>• Thinking Budget Cap &amp; 2LO &amp; 3LO Auth Mgr: </a:t>
            </a:r>
            <a:pPr indent="0" marL="0">
              <a:buNone/>
            </a:pPr>
            <a:r>
              <a:rPr lang="en-US" sz="690" dirty="0">
                <a:solidFill>
                  <a:srgbClr val="3C4043"/>
                </a:solidFill>
                <a:latin typeface="Arial" pitchFamily="34" charset="0"/>
                <a:ea typeface="Arial" pitchFamily="34" charset="-122"/>
                <a:cs typeface="Arial" pitchFamily="34" charset="-120"/>
              </a:rPr>
              <a:t>Enforce bounded retry budgets with exponential backoff, per-tool execution timeouts, and stateless horizontal scaling on 2LO &amp; 3LO Auth Mgr.
</a:t>
            </a:r>
            <a:pPr indent="0" marL="0">
              <a:buNone/>
            </a:pPr>
            <a:r>
              <a:rPr lang="en-US" sz="700" b="1" dirty="0">
                <a:solidFill>
                  <a:srgbClr val="202124"/>
                </a:solidFill>
                <a:latin typeface="Arial" pitchFamily="34" charset="0"/>
                <a:ea typeface="Arial" pitchFamily="34" charset="-122"/>
                <a:cs typeface="Arial" pitchFamily="34" charset="-120"/>
              </a:rPr>
              <a:t>• AlloyDB RLS &amp; L1–L5: </a:t>
            </a:r>
            <a:pPr indent="0" marL="0">
              <a:buNone/>
            </a:pPr>
            <a:r>
              <a:rPr lang="en-US" sz="690" dirty="0">
                <a:solidFill>
                  <a:srgbClr val="3C4043"/>
                </a:solidFill>
                <a:latin typeface="Arial" pitchFamily="34" charset="0"/>
                <a:ea typeface="Arial" pitchFamily="34" charset="-122"/>
                <a:cs typeface="Arial" pitchFamily="34" charset="-120"/>
              </a:rPr>
              <a:t>Enable regional high availability and Point-in-Time Recovery on AlloyDB RLS &amp; L1–L5 with automated backup verification.</a:t>
            </a:r>
            <a:endParaRPr lang="en-US" sz="700" dirty="0"/>
          </a:p>
        </p:txBody>
      </p:sp>
      <p:sp>
        <p:nvSpPr>
          <p:cNvPr id="29" name="Shape 27"/>
          <p:cNvSpPr/>
          <p:nvPr/>
        </p:nvSpPr>
        <p:spPr>
          <a:xfrm>
            <a:off x="749808" y="5065776"/>
            <a:ext cx="2048256" cy="722376"/>
          </a:xfrm>
          <a:prstGeom prst="rect">
            <a:avLst/>
          </a:prstGeom>
          <a:solidFill>
            <a:srgbClr val="FFFFFF"/>
          </a:solidFill>
          <a:ln w="9525">
            <a:solidFill>
              <a:srgbClr val="DADCE0"/>
            </a:solidFill>
            <a:prstDash val="solid"/>
          </a:ln>
        </p:spPr>
      </p:sp>
      <p:sp>
        <p:nvSpPr>
          <p:cNvPr id="30" name="Text 28"/>
          <p:cNvSpPr/>
          <p:nvPr/>
        </p:nvSpPr>
        <p:spPr>
          <a:xfrm>
            <a:off x="841248" y="5093208"/>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Operational efficiency</a:t>
            </a:r>
            <a:endParaRPr lang="en-US" sz="780" dirty="0"/>
          </a:p>
        </p:txBody>
      </p:sp>
      <p:sp>
        <p:nvSpPr>
          <p:cNvPr id="31" name="Shape 29"/>
          <p:cNvSpPr/>
          <p:nvPr/>
        </p:nvSpPr>
        <p:spPr>
          <a:xfrm>
            <a:off x="2798064" y="5065776"/>
            <a:ext cx="2322576" cy="722376"/>
          </a:xfrm>
          <a:prstGeom prst="rect">
            <a:avLst/>
          </a:prstGeom>
          <a:solidFill>
            <a:srgbClr val="FFFFFF"/>
          </a:solidFill>
          <a:ln w="9525">
            <a:solidFill>
              <a:srgbClr val="DADCE0"/>
            </a:solidFill>
            <a:prstDash val="solid"/>
          </a:ln>
        </p:spPr>
      </p:sp>
      <p:sp>
        <p:nvSpPr>
          <p:cNvPr id="32" name="Text 30"/>
          <p:cNvSpPr/>
          <p:nvPr/>
        </p:nvSpPr>
        <p:spPr>
          <a:xfrm>
            <a:off x="2889504" y="5093208"/>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Infrastructure as Code</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Security Command Center &amp; BigQuery OTel Sink</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Automated CI/CD &amp; Red-Team Gates</a:t>
            </a:r>
            <a:endParaRPr lang="en-US" sz="710" dirty="0"/>
          </a:p>
        </p:txBody>
      </p:sp>
      <p:sp>
        <p:nvSpPr>
          <p:cNvPr id="33" name="Shape 31"/>
          <p:cNvSpPr/>
          <p:nvPr/>
        </p:nvSpPr>
        <p:spPr>
          <a:xfrm>
            <a:off x="5120640" y="5065776"/>
            <a:ext cx="6309360" cy="722376"/>
          </a:xfrm>
          <a:prstGeom prst="rect">
            <a:avLst/>
          </a:prstGeom>
          <a:solidFill>
            <a:srgbClr val="FFFFFF"/>
          </a:solidFill>
          <a:ln w="9525">
            <a:solidFill>
              <a:srgbClr val="DADCE0"/>
            </a:solidFill>
            <a:prstDash val="solid"/>
          </a:ln>
        </p:spPr>
      </p:sp>
      <p:sp>
        <p:nvSpPr>
          <p:cNvPr id="34" name="Text 32"/>
          <p:cNvSpPr/>
          <p:nvPr/>
        </p:nvSpPr>
        <p:spPr>
          <a:xfrm>
            <a:off x="5230368" y="5093208"/>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Infrastructure as Code: </a:t>
            </a:r>
            <a:pPr indent="0" marL="0">
              <a:buNone/>
            </a:pPr>
            <a:r>
              <a:rPr lang="en-US" sz="690" dirty="0">
                <a:solidFill>
                  <a:srgbClr val="3C4043"/>
                </a:solidFill>
                <a:latin typeface="Arial" pitchFamily="34" charset="0"/>
                <a:ea typeface="Arial" pitchFamily="34" charset="-122"/>
                <a:cs typeface="Arial" pitchFamily="34" charset="-120"/>
              </a:rPr>
              <a:t>Provision Pattern A: Pooled Unit Economics and Pattern B Silos &amp; Pattern C PSC Spokes spokes through versioned Terraform modules that atomically bind perimeters, IAM roles, and runtime configurations.
</a:t>
            </a:r>
            <a:pPr indent="0" marL="0">
              <a:buNone/>
            </a:pPr>
            <a:r>
              <a:rPr lang="en-US" sz="700" b="1" dirty="0">
                <a:solidFill>
                  <a:srgbClr val="202124"/>
                </a:solidFill>
                <a:latin typeface="Arial" pitchFamily="34" charset="0"/>
                <a:ea typeface="Arial" pitchFamily="34" charset="-122"/>
                <a:cs typeface="Arial" pitchFamily="34" charset="-120"/>
              </a:rPr>
              <a:t>• Security Command Center &amp; BigQuery OTel Sink: </a:t>
            </a:r>
            <a:pPr indent="0" marL="0">
              <a:buNone/>
            </a:pPr>
            <a:r>
              <a:rPr lang="en-US" sz="690" dirty="0">
                <a:solidFill>
                  <a:srgbClr val="3C4043"/>
                </a:solidFill>
                <a:latin typeface="Arial" pitchFamily="34" charset="0"/>
                <a:ea typeface="Arial" pitchFamily="34" charset="-122"/>
                <a:cs typeface="Arial" pitchFamily="34" charset="-120"/>
              </a:rPr>
              <a:t>Stream structured OpenTelemetry traces and zero-PII audit logs to BigQuery OTel Sink and monitor posture drift in Security Command Center.
</a:t>
            </a:r>
            <a:pPr indent="0" marL="0">
              <a:buNone/>
            </a:pPr>
            <a:r>
              <a:rPr lang="en-US" sz="700" b="1" dirty="0">
                <a:solidFill>
                  <a:srgbClr val="202124"/>
                </a:solidFill>
                <a:latin typeface="Arial" pitchFamily="34" charset="0"/>
                <a:ea typeface="Arial" pitchFamily="34" charset="-122"/>
                <a:cs typeface="Arial" pitchFamily="34" charset="-120"/>
              </a:rPr>
              <a:t>• Automated CI/CD &amp; Red-Team Gates: </a:t>
            </a:r>
            <a:pPr indent="0" marL="0">
              <a:buNone/>
            </a:pPr>
            <a:r>
              <a:rPr lang="en-US" sz="690" dirty="0">
                <a:solidFill>
                  <a:srgbClr val="3C4043"/>
                </a:solidFill>
                <a:latin typeface="Arial" pitchFamily="34" charset="0"/>
                <a:ea typeface="Arial" pitchFamily="34" charset="-122"/>
                <a:cs typeface="Arial" pitchFamily="34" charset="-120"/>
              </a:rPr>
              <a:t>Gate every prompt, model, or tool change on automated Vertex AI Gen AI Evaluation Service benchmarks and security regression checks before production rollout.</a:t>
            </a:r>
            <a:endParaRPr lang="en-US" sz="700" dirty="0"/>
          </a:p>
        </p:txBody>
      </p:sp>
      <p:sp>
        <p:nvSpPr>
          <p:cNvPr id="35" name="Shape 33"/>
          <p:cNvSpPr/>
          <p:nvPr/>
        </p:nvSpPr>
        <p:spPr>
          <a:xfrm>
            <a:off x="749808" y="5788152"/>
            <a:ext cx="2048256" cy="722376"/>
          </a:xfrm>
          <a:prstGeom prst="rect">
            <a:avLst/>
          </a:prstGeom>
          <a:solidFill>
            <a:srgbClr val="FFFFFF"/>
          </a:solidFill>
          <a:ln w="9525">
            <a:solidFill>
              <a:srgbClr val="DADCE0"/>
            </a:solidFill>
            <a:prstDash val="solid"/>
          </a:ln>
        </p:spPr>
      </p:sp>
      <p:sp>
        <p:nvSpPr>
          <p:cNvPr id="36" name="Text 34"/>
          <p:cNvSpPr/>
          <p:nvPr/>
        </p:nvSpPr>
        <p:spPr>
          <a:xfrm>
            <a:off x="841248" y="5815584"/>
            <a:ext cx="1865376" cy="667512"/>
          </a:xfrm>
          <a:prstGeom prst="rect">
            <a:avLst/>
          </a:prstGeom>
          <a:noFill/>
          <a:ln/>
        </p:spPr>
        <p:txBody>
          <a:bodyPr wrap="square" rtlCol="0" anchor="ctr"/>
          <a:lstStyle/>
          <a:p>
            <a:pPr indent="0" marL="0">
              <a:buNone/>
            </a:pPr>
            <a:r>
              <a:rPr lang="en-US" sz="780" b="1" dirty="0">
                <a:solidFill>
                  <a:srgbClr val="202124"/>
                </a:solidFill>
                <a:latin typeface="Arial" pitchFamily="34" charset="0"/>
                <a:ea typeface="Arial" pitchFamily="34" charset="-122"/>
                <a:cs typeface="Arial" pitchFamily="34" charset="-120"/>
              </a:rPr>
              <a:t>Cost optimization</a:t>
            </a:r>
            <a:endParaRPr lang="en-US" sz="780" dirty="0"/>
          </a:p>
        </p:txBody>
      </p:sp>
      <p:sp>
        <p:nvSpPr>
          <p:cNvPr id="37" name="Shape 35"/>
          <p:cNvSpPr/>
          <p:nvPr/>
        </p:nvSpPr>
        <p:spPr>
          <a:xfrm>
            <a:off x="2798064" y="5788152"/>
            <a:ext cx="2322576" cy="722376"/>
          </a:xfrm>
          <a:prstGeom prst="rect">
            <a:avLst/>
          </a:prstGeom>
          <a:solidFill>
            <a:srgbClr val="FFFFFF"/>
          </a:solidFill>
          <a:ln w="9525">
            <a:solidFill>
              <a:srgbClr val="DADCE0"/>
            </a:solidFill>
            <a:prstDash val="solid"/>
          </a:ln>
        </p:spPr>
      </p:sp>
      <p:sp>
        <p:nvSpPr>
          <p:cNvPr id="38" name="Text 36"/>
          <p:cNvSpPr/>
          <p:nvPr/>
        </p:nvSpPr>
        <p:spPr>
          <a:xfrm>
            <a:off x="2889504" y="5815584"/>
            <a:ext cx="2139696" cy="667512"/>
          </a:xfrm>
          <a:prstGeom prst="rect">
            <a:avLst/>
          </a:prstGeom>
          <a:noFill/>
          <a:ln/>
        </p:spPr>
        <p:txBody>
          <a:bodyPr wrap="square" rtlCol="0" anchor="ctr">
            <a:normAutofit/>
          </a:bodyPr>
          <a:lstStyle/>
          <a:p>
            <a:pPr indent="0" marL="0">
              <a:buNone/>
            </a:pPr>
            <a:r>
              <a:rPr lang="en-US" sz="710" b="1" dirty="0">
                <a:solidFill>
                  <a:srgbClr val="202124"/>
                </a:solidFill>
                <a:latin typeface="Arial" pitchFamily="34" charset="0"/>
                <a:ea typeface="Arial" pitchFamily="34" charset="-122"/>
                <a:cs typeface="Arial" pitchFamily="34" charset="-120"/>
              </a:rPr>
              <a:t>• ContextCacheConfig Context Caching</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Hop 2: Catalog PDP &amp; 2LO &amp; 3LO Auth Mgr</a:t>
            </a:r>
            <a:endParaRPr lang="en-US" sz="710" dirty="0"/>
          </a:p>
          <a:p>
            <a:pPr indent="0" marL="0">
              <a:buNone/>
            </a:pPr>
            <a:r>
              <a:rPr lang="en-US" sz="710" b="1" dirty="0">
                <a:solidFill>
                  <a:srgbClr val="202124"/>
                </a:solidFill>
                <a:latin typeface="Arial" pitchFamily="34" charset="0"/>
                <a:ea typeface="Arial" pitchFamily="34" charset="-122"/>
                <a:cs typeface="Arial" pitchFamily="34" charset="-120"/>
              </a:rPr>
              <a:t>• BigQuery OTel Sink FinOps Attribution</a:t>
            </a:r>
            <a:endParaRPr lang="en-US" sz="710" dirty="0"/>
          </a:p>
        </p:txBody>
      </p:sp>
      <p:sp>
        <p:nvSpPr>
          <p:cNvPr id="39" name="Shape 37"/>
          <p:cNvSpPr/>
          <p:nvPr/>
        </p:nvSpPr>
        <p:spPr>
          <a:xfrm>
            <a:off x="5120640" y="5788152"/>
            <a:ext cx="6309360" cy="722376"/>
          </a:xfrm>
          <a:prstGeom prst="rect">
            <a:avLst/>
          </a:prstGeom>
          <a:solidFill>
            <a:srgbClr val="FFFFFF"/>
          </a:solidFill>
          <a:ln w="9525">
            <a:solidFill>
              <a:srgbClr val="DADCE0"/>
            </a:solidFill>
            <a:prstDash val="solid"/>
          </a:ln>
        </p:spPr>
      </p:sp>
      <p:sp>
        <p:nvSpPr>
          <p:cNvPr id="40" name="Text 38"/>
          <p:cNvSpPr/>
          <p:nvPr/>
        </p:nvSpPr>
        <p:spPr>
          <a:xfrm>
            <a:off x="5230368" y="5815584"/>
            <a:ext cx="6089904" cy="667512"/>
          </a:xfrm>
          <a:prstGeom prst="rect">
            <a:avLst/>
          </a:prstGeom>
          <a:noFill/>
          <a:ln/>
        </p:spPr>
        <p:txBody>
          <a:bodyPr wrap="square" rtlCol="0" anchor="ctr">
            <a:normAutofit/>
          </a:bodyPr>
          <a:lstStyle/>
          <a:p>
            <a:pPr indent="0" marL="0">
              <a:buNone/>
            </a:pPr>
            <a:r>
              <a:rPr lang="en-US" sz="700" b="1" dirty="0">
                <a:solidFill>
                  <a:srgbClr val="202124"/>
                </a:solidFill>
                <a:latin typeface="Arial" pitchFamily="34" charset="0"/>
                <a:ea typeface="Arial" pitchFamily="34" charset="-122"/>
                <a:cs typeface="Arial" pitchFamily="34" charset="-120"/>
              </a:rPr>
              <a:t>• ContextCacheConfig Context Caching: </a:t>
            </a:r>
            <a:pPr indent="0" marL="0">
              <a:buNone/>
            </a:pPr>
            <a:r>
              <a:rPr lang="en-US" sz="690" dirty="0">
                <a:solidFill>
                  <a:srgbClr val="3C4043"/>
                </a:solidFill>
                <a:latin typeface="Arial" pitchFamily="34" charset="0"/>
                <a:ea typeface="Arial" pitchFamily="34" charset="-122"/>
                <a:cs typeface="Arial" pitchFamily="34" charset="-120"/>
              </a:rPr>
              <a:t>Enable Vertex AI Context Caching on shared system instructions, tool schemas, and reference rubrics to reduce repeated input token costs by up to 90%.
</a:t>
            </a:r>
            <a:pPr indent="0" marL="0">
              <a:buNone/>
            </a:pPr>
            <a:r>
              <a:rPr lang="en-US" sz="700" b="1" dirty="0">
                <a:solidFill>
                  <a:srgbClr val="202124"/>
                </a:solidFill>
                <a:latin typeface="Arial" pitchFamily="34" charset="0"/>
                <a:ea typeface="Arial" pitchFamily="34" charset="-122"/>
                <a:cs typeface="Arial" pitchFamily="34" charset="-120"/>
              </a:rPr>
              <a:t>• Hop 2: Catalog PDP &amp; 2LO &amp; 3LO Auth Mgr: </a:t>
            </a:r>
            <a:pPr indent="0" marL="0">
              <a:buNone/>
            </a:pPr>
            <a:r>
              <a:rPr lang="en-US" sz="690" dirty="0">
                <a:solidFill>
                  <a:srgbClr val="3C4043"/>
                </a:solidFill>
                <a:latin typeface="Arial" pitchFamily="34" charset="0"/>
                <a:ea typeface="Arial" pitchFamily="34" charset="-122"/>
                <a:cs typeface="Arial" pitchFamily="34" charset="-120"/>
              </a:rPr>
              <a:t>Reject malformed or adversarial requests at the edge before invoking downstream models, and scale idle stateless tool containers down to zero.
</a:t>
            </a:r>
            <a:pPr indent="0" marL="0">
              <a:buNone/>
            </a:pPr>
            <a:r>
              <a:rPr lang="en-US" sz="700" b="1" dirty="0">
                <a:solidFill>
                  <a:srgbClr val="202124"/>
                </a:solidFill>
                <a:latin typeface="Arial" pitchFamily="34" charset="0"/>
                <a:ea typeface="Arial" pitchFamily="34" charset="-122"/>
                <a:cs typeface="Arial" pitchFamily="34" charset="-120"/>
              </a:rPr>
              <a:t>• BigQuery OTel Sink FinOps Attribution: </a:t>
            </a:r>
            <a:pPr indent="0" marL="0">
              <a:buNone/>
            </a:pPr>
            <a:r>
              <a:rPr lang="en-US" sz="690" dirty="0">
                <a:solidFill>
                  <a:srgbClr val="3C4043"/>
                </a:solidFill>
                <a:latin typeface="Arial" pitchFamily="34" charset="0"/>
                <a:ea typeface="Arial" pitchFamily="34" charset="-122"/>
                <a:cs typeface="Arial" pitchFamily="34" charset="-120"/>
              </a:rPr>
              <a:t>Export OpenTelemetry token usage spans and Cloud Billing records to BigQuery to enforce per-spoke quota budgets and automated spend alerts.</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84048" y="201168"/>
            <a:ext cx="11420856" cy="6455664"/>
          </a:xfrm>
          <a:prstGeom prst="roundRect">
            <a:avLst>
              <a:gd name="adj" fmla="val 567"/>
            </a:avLst>
          </a:prstGeom>
          <a:solidFill>
            <a:srgbClr val="FFFFFF"/>
          </a:solidFill>
          <a:ln w="12700">
            <a:solidFill>
              <a:srgbClr val="DADCE0"/>
            </a:solidFill>
            <a:prstDash val="solid"/>
          </a:ln>
        </p:spPr>
      </p:sp>
      <p:sp>
        <p:nvSpPr>
          <p:cNvPr id="3" name="Text 1"/>
          <p:cNvSpPr/>
          <p:nvPr/>
        </p:nvSpPr>
        <p:spPr>
          <a:xfrm>
            <a:off x="749808" y="310896"/>
            <a:ext cx="7863840" cy="201168"/>
          </a:xfrm>
          <a:prstGeom prst="rect">
            <a:avLst/>
          </a:prstGeom>
          <a:noFill/>
          <a:ln/>
        </p:spPr>
        <p:txBody>
          <a:bodyPr wrap="square" rtlCol="0" anchor="ctr"/>
          <a:lstStyle/>
          <a:p>
            <a:pPr indent="0" marL="0">
              <a:buNone/>
            </a:pPr>
            <a:r>
              <a:rPr lang="en-US" sz="820" dirty="0">
                <a:solidFill>
                  <a:srgbClr val="5F6368"/>
                </a:solidFill>
                <a:latin typeface="Arial" pitchFamily="34" charset="0"/>
                <a:ea typeface="Arial" pitchFamily="34" charset="-122"/>
                <a:cs typeface="Arial" pitchFamily="34" charset="-120"/>
              </a:rPr>
              <a:t>Cloud Architecture Center  ›  Part 2 of 6 • Deployment Models &amp; Trilemma  ›  Deployment,  What's next  &amp;  Contributors</a:t>
            </a:r>
            <a:endParaRPr lang="en-US" sz="820" dirty="0"/>
          </a:p>
        </p:txBody>
      </p:sp>
      <p:sp>
        <p:nvSpPr>
          <p:cNvPr id="4" name="Text 2"/>
          <p:cNvSpPr/>
          <p:nvPr/>
        </p:nvSpPr>
        <p:spPr>
          <a:xfrm>
            <a:off x="8686800" y="310896"/>
            <a:ext cx="2734056" cy="201168"/>
          </a:xfrm>
          <a:prstGeom prst="rect">
            <a:avLst/>
          </a:prstGeom>
          <a:noFill/>
          <a:ln/>
        </p:spPr>
        <p:txBody>
          <a:bodyPr wrap="square" rtlCol="0" anchor="ctr"/>
          <a:lstStyle/>
          <a:p>
            <a:pPr algn="r" indent="0" marL="0">
              <a:buNone/>
            </a:pPr>
            <a:r>
              <a:rPr lang="en-US" sz="800" dirty="0">
                <a:solidFill>
                  <a:srgbClr val="5F6368"/>
                </a:solidFill>
                <a:latin typeface="Arial" pitchFamily="34" charset="0"/>
                <a:ea typeface="Arial" pitchFamily="34" charset="-122"/>
                <a:cs typeface="Arial" pitchFamily="34" charset="-120"/>
              </a:rPr>
              <a:t>DOC-MT-02  ·  Page 6 of 6</a:t>
            </a:r>
            <a:endParaRPr lang="en-US" sz="800" dirty="0"/>
          </a:p>
        </p:txBody>
      </p:sp>
      <p:sp>
        <p:nvSpPr>
          <p:cNvPr id="5" name="Shape 3"/>
          <p:cNvSpPr/>
          <p:nvPr/>
        </p:nvSpPr>
        <p:spPr>
          <a:xfrm>
            <a:off x="384048" y="548640"/>
            <a:ext cx="11420856" cy="0"/>
          </a:xfrm>
          <a:prstGeom prst="line">
            <a:avLst/>
          </a:prstGeom>
          <a:noFill/>
          <a:ln w="9525">
            <a:solidFill>
              <a:srgbClr val="DADCE0"/>
            </a:solidFill>
            <a:prstDash val="solid"/>
          </a:ln>
        </p:spPr>
      </p:sp>
      <p:sp>
        <p:nvSpPr>
          <p:cNvPr id="6" name="Text 4"/>
          <p:cNvSpPr/>
          <p:nvPr/>
        </p:nvSpPr>
        <p:spPr>
          <a:xfrm>
            <a:off x="749808" y="621792"/>
            <a:ext cx="10680192" cy="274320"/>
          </a:xfrm>
          <a:prstGeom prst="rect">
            <a:avLst/>
          </a:prstGeom>
          <a:noFill/>
          <a:ln/>
        </p:spPr>
        <p:txBody>
          <a:bodyPr wrap="square" rtlCol="0" anchor="ctr"/>
          <a:lstStyle/>
          <a:p>
            <a:pPr indent="0" marL="0">
              <a:buNone/>
            </a:pPr>
            <a:r>
              <a:rPr lang="en-US" sz="1450" dirty="0">
                <a:solidFill>
                  <a:srgbClr val="202124"/>
                </a:solidFill>
                <a:latin typeface="Arial" pitchFamily="34" charset="0"/>
                <a:ea typeface="Arial" pitchFamily="34" charset="-122"/>
                <a:cs typeface="Arial" pitchFamily="34" charset="-120"/>
              </a:rPr>
              <a:t>Deployment</a:t>
            </a:r>
            <a:endParaRPr lang="en-US" sz="1450" dirty="0"/>
          </a:p>
        </p:txBody>
      </p:sp>
      <p:sp>
        <p:nvSpPr>
          <p:cNvPr id="7" name="Text 5"/>
          <p:cNvSpPr/>
          <p:nvPr/>
        </p:nvSpPr>
        <p:spPr>
          <a:xfrm>
            <a:off x="749808" y="914400"/>
            <a:ext cx="10680192" cy="292608"/>
          </a:xfrm>
          <a:prstGeom prst="rect">
            <a:avLst/>
          </a:prstGeom>
          <a:noFill/>
          <a:ln/>
        </p:spPr>
        <p:txBody>
          <a:bodyPr wrap="square" rtlCol="0" anchor="ctr"/>
          <a:lstStyle/>
          <a:p>
            <a:pPr indent="0" marL="0">
              <a:buNone/>
            </a:pPr>
            <a:r>
              <a:rPr lang="en-US" sz="860" dirty="0">
                <a:solidFill>
                  <a:srgbClr val="3C4043"/>
                </a:solidFill>
                <a:latin typeface="Arial" pitchFamily="34" charset="0"/>
                <a:ea typeface="Arial" pitchFamily="34" charset="-122"/>
                <a:cs typeface="Arial" pitchFamily="34" charset="-120"/>
              </a:rPr>
              <a:t>To deploy and verify the Agent Deployment Models: Navigating the Agentic Trilemma Across Pool, Bridge &amp; Silo pattern on Google Cloud, use the following production implementation reference.</a:t>
            </a:r>
            <a:endParaRPr lang="en-US" sz="860" dirty="0"/>
          </a:p>
        </p:txBody>
      </p:sp>
      <p:sp>
        <p:nvSpPr>
          <p:cNvPr id="8" name="Shape 6"/>
          <p:cNvSpPr/>
          <p:nvPr/>
        </p:nvSpPr>
        <p:spPr>
          <a:xfrm>
            <a:off x="749808" y="1243584"/>
            <a:ext cx="10680192" cy="256032"/>
          </a:xfrm>
          <a:prstGeom prst="rect">
            <a:avLst/>
          </a:prstGeom>
          <a:solidFill>
            <a:srgbClr val="F8F9FA"/>
          </a:solidFill>
          <a:ln w="9525">
            <a:solidFill>
              <a:srgbClr val="DADCE0"/>
            </a:solidFill>
            <a:prstDash val="solid"/>
          </a:ln>
        </p:spPr>
      </p:sp>
      <p:sp>
        <p:nvSpPr>
          <p:cNvPr id="9" name="Text 7"/>
          <p:cNvSpPr/>
          <p:nvPr/>
        </p:nvSpPr>
        <p:spPr>
          <a:xfrm>
            <a:off x="877824" y="1243584"/>
            <a:ext cx="7772400" cy="256032"/>
          </a:xfrm>
          <a:prstGeom prst="rect">
            <a:avLst/>
          </a:prstGeom>
          <a:noFill/>
          <a:ln/>
        </p:spPr>
        <p:txBody>
          <a:bodyPr wrap="square" rtlCol="0" anchor="ctr"/>
          <a:lstStyle/>
          <a:p>
            <a:pPr indent="0" marL="0">
              <a:buNone/>
            </a:pPr>
            <a:r>
              <a:rPr lang="en-US" sz="800" b="1" dirty="0">
                <a:solidFill>
                  <a:srgbClr val="3C4043"/>
                </a:solidFill>
                <a:latin typeface="Courier New" pitchFamily="34" charset="0"/>
                <a:ea typeface="Courier New" pitchFamily="34" charset="-122"/>
                <a:cs typeface="Courier New" pitchFamily="34" charset="-120"/>
              </a:rPr>
              <a:t>cloud_run_adk_verify.py</a:t>
            </a:r>
            <a:endParaRPr lang="en-US" sz="800" dirty="0"/>
          </a:p>
        </p:txBody>
      </p:sp>
      <p:sp>
        <p:nvSpPr>
          <p:cNvPr id="10" name="Text 8"/>
          <p:cNvSpPr/>
          <p:nvPr/>
        </p:nvSpPr>
        <p:spPr>
          <a:xfrm>
            <a:off x="8778240" y="1243584"/>
            <a:ext cx="2514600" cy="256032"/>
          </a:xfrm>
          <a:prstGeom prst="rect">
            <a:avLst/>
          </a:prstGeom>
          <a:noFill/>
          <a:ln/>
        </p:spPr>
        <p:txBody>
          <a:bodyPr wrap="square" rtlCol="0" anchor="ctr"/>
          <a:lstStyle/>
          <a:p>
            <a:pPr algn="r" indent="0" marL="0">
              <a:buNone/>
            </a:pPr>
            <a:r>
              <a:rPr lang="en-US" sz="720" b="1" dirty="0">
                <a:solidFill>
                  <a:srgbClr val="5F6368"/>
                </a:solidFill>
                <a:latin typeface="Arial" pitchFamily="34" charset="0"/>
                <a:ea typeface="Arial" pitchFamily="34" charset="-122"/>
                <a:cs typeface="Arial" pitchFamily="34" charset="-120"/>
              </a:rPr>
              <a:t>PYTHON</a:t>
            </a:r>
            <a:endParaRPr lang="en-US" sz="720" dirty="0"/>
          </a:p>
        </p:txBody>
      </p:sp>
      <p:sp>
        <p:nvSpPr>
          <p:cNvPr id="11" name="Shape 9"/>
          <p:cNvSpPr/>
          <p:nvPr/>
        </p:nvSpPr>
        <p:spPr>
          <a:xfrm>
            <a:off x="749808" y="1499616"/>
            <a:ext cx="10680192" cy="2029968"/>
          </a:xfrm>
          <a:prstGeom prst="rect">
            <a:avLst/>
          </a:prstGeom>
          <a:solidFill>
            <a:srgbClr val="F8FAFC"/>
          </a:solidFill>
          <a:ln w="9525">
            <a:solidFill>
              <a:srgbClr val="DADCE0"/>
            </a:solidFill>
            <a:prstDash val="solid"/>
          </a:ln>
        </p:spPr>
      </p:sp>
      <p:sp>
        <p:nvSpPr>
          <p:cNvPr id="12" name="Text 10"/>
          <p:cNvSpPr/>
          <p:nvPr/>
        </p:nvSpPr>
        <p:spPr>
          <a:xfrm>
            <a:off x="877824" y="1536192"/>
            <a:ext cx="10424160" cy="1956816"/>
          </a:xfrm>
          <a:prstGeom prst="rect">
            <a:avLst/>
          </a:prstGeom>
          <a:noFill/>
          <a:ln/>
        </p:spPr>
        <p:txBody>
          <a:bodyPr wrap="square" rtlCol="0" anchor="t">
            <a:normAutofit/>
          </a:bodyPr>
          <a:lstStyle/>
          <a:p>
            <a:pPr indent="0" marL="0">
              <a:lnSpc>
                <a:spcPct val="106000"/>
              </a:lnSpc>
              <a:buNone/>
            </a:pPr>
            <a:endParaRPr lang="en-US" sz="690" dirty="0"/>
          </a:p>
        </p:txBody>
      </p:sp>
      <p:sp>
        <p:nvSpPr>
          <p:cNvPr id="13" name="Shape 11"/>
          <p:cNvSpPr/>
          <p:nvPr/>
        </p:nvSpPr>
        <p:spPr>
          <a:xfrm>
            <a:off x="749808" y="3621024"/>
            <a:ext cx="10680192" cy="0"/>
          </a:xfrm>
          <a:prstGeom prst="line">
            <a:avLst/>
          </a:prstGeom>
          <a:noFill/>
          <a:ln w="9525">
            <a:solidFill>
              <a:srgbClr val="DADCE0"/>
            </a:solidFill>
            <a:prstDash val="solid"/>
          </a:ln>
        </p:spPr>
      </p:sp>
      <p:sp>
        <p:nvSpPr>
          <p:cNvPr id="14" name="Text 12"/>
          <p:cNvSpPr/>
          <p:nvPr/>
        </p:nvSpPr>
        <p:spPr>
          <a:xfrm>
            <a:off x="749808" y="3694176"/>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What's next</a:t>
            </a:r>
            <a:endParaRPr lang="en-US" sz="1400" dirty="0"/>
          </a:p>
        </p:txBody>
      </p:sp>
      <p:sp>
        <p:nvSpPr>
          <p:cNvPr id="15" name="Text 13"/>
          <p:cNvSpPr/>
          <p:nvPr/>
        </p:nvSpPr>
        <p:spPr>
          <a:xfrm>
            <a:off x="877824" y="3968496"/>
            <a:ext cx="10552176" cy="1115568"/>
          </a:xfrm>
          <a:prstGeom prst="rect">
            <a:avLst/>
          </a:prstGeom>
          <a:noFill/>
          <a:ln/>
        </p:spPr>
        <p:txBody>
          <a:bodyPr wrap="square" rtlCol="0" anchor="t"/>
          <a:lstStyle/>
          <a:p>
            <a:pPr indent="0" marL="0">
              <a:lnSpc>
                <a:spcPct val="118000"/>
              </a:lnSpc>
              <a:buNone/>
            </a:pPr>
            <a:r>
              <a:rPr lang="en-US" sz="800" b="1" dirty="0">
                <a:solidFill>
                  <a:srgbClr val="1A73E8"/>
                </a:solidFill>
                <a:latin typeface="Arial" pitchFamily="34" charset="0"/>
                <a:ea typeface="Arial" pitchFamily="34" charset="-122"/>
                <a:cs typeface="Arial" pitchFamily="34" charset="-120"/>
              </a:rPr>
              <a:t>•  Multi-tenant agentic AI system on Google Cloud: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Read the canonical Google Cloud Architecture Center reference architecture.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Agent Development Kit (ADK) Documentation: </a:t>
            </a:r>
            <a:pPr indent="0" marL="0">
              <a:lnSpc>
                <a:spcPct val="118000"/>
              </a:lnSpc>
              <a:buNone/>
            </a:pPr>
            <a:r>
              <a:rPr lang="en-US" sz="780" dirty="0">
                <a:solidFill>
                  <a:srgbClr val="3C4043"/>
                </a:solidFill>
                <a:latin typeface="Arial" pitchFamily="34" charset="0"/>
                <a:ea typeface="Arial" pitchFamily="34" charset="-122"/>
                <a:cs typeface="Arial" pitchFamily="34" charset="-120"/>
              </a:rPr>
              <a:t>Build hierarchical multi-agent systems, deterministic callbacks, and MCP toolsets.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Vertex AI Agent Engine Overview: </a:t>
            </a:r>
            <a:pPr indent="0" marL="0">
              <a:lnSpc>
                <a:spcPct val="118000"/>
              </a:lnSpc>
              <a:buNone/>
            </a:pPr>
            <a:r>
              <a:rPr lang="en-US" sz="780" dirty="0">
                <a:solidFill>
                  <a:srgbClr val="3C4043"/>
                </a:solidFill>
                <a:latin typeface="Arial" pitchFamily="34" charset="0"/>
                <a:ea typeface="Arial" pitchFamily="34" charset="-122"/>
                <a:cs typeface="Arial" pitchFamily="34" charset="-120"/>
              </a:rPr>
              <a:t>Explore managed runtime deployment, Sessions, Memory Bank, and Context Caching.
</a:t>
            </a:r>
            <a:pPr indent="0" marL="0">
              <a:lnSpc>
                <a:spcPct val="118000"/>
              </a:lnSpc>
              <a:buNone/>
            </a:pPr>
            <a:r>
              <a:rPr lang="en-US" sz="800" b="1" dirty="0">
                <a:solidFill>
                  <a:srgbClr val="1A73E8"/>
                </a:solidFill>
                <a:latin typeface="Arial" pitchFamily="34" charset="0"/>
                <a:ea typeface="Arial" pitchFamily="34" charset="-122"/>
                <a:cs typeface="Arial" pitchFamily="34" charset="-120"/>
              </a:rPr>
              <a:t>•  Google Cloud Well-Architected Framework: AI and ML perspective: </a:t>
            </a:r>
            <a:pPr indent="0" marL="0">
              <a:lnSpc>
                <a:spcPct val="118000"/>
              </a:lnSpc>
              <a:buNone/>
            </a:pPr>
            <a:r>
              <a:rPr lang="en-US" sz="780" dirty="0">
                <a:solidFill>
                  <a:srgbClr val="3C4043"/>
                </a:solidFill>
                <a:latin typeface="Arial" pitchFamily="34" charset="0"/>
                <a:ea typeface="Arial" pitchFamily="34" charset="-122"/>
                <a:cs typeface="Arial" pitchFamily="34" charset="-120"/>
              </a:rPr>
              <a:t>Review best practices for security, reliability, operational efficiency, and cost optimization.</a:t>
            </a:r>
            <a:endParaRPr lang="en-US" sz="800" dirty="0"/>
          </a:p>
        </p:txBody>
      </p:sp>
      <p:sp>
        <p:nvSpPr>
          <p:cNvPr id="16" name="Shape 14"/>
          <p:cNvSpPr/>
          <p:nvPr/>
        </p:nvSpPr>
        <p:spPr>
          <a:xfrm>
            <a:off x="749808" y="5157216"/>
            <a:ext cx="10680192" cy="0"/>
          </a:xfrm>
          <a:prstGeom prst="line">
            <a:avLst/>
          </a:prstGeom>
          <a:noFill/>
          <a:ln w="9525">
            <a:solidFill>
              <a:srgbClr val="DADCE0"/>
            </a:solidFill>
            <a:prstDash val="solid"/>
          </a:ln>
        </p:spPr>
      </p:sp>
      <p:sp>
        <p:nvSpPr>
          <p:cNvPr id="17" name="Text 15"/>
          <p:cNvSpPr/>
          <p:nvPr/>
        </p:nvSpPr>
        <p:spPr>
          <a:xfrm>
            <a:off x="749808" y="5230368"/>
            <a:ext cx="10680192" cy="256032"/>
          </a:xfrm>
          <a:prstGeom prst="rect">
            <a:avLst/>
          </a:prstGeom>
          <a:noFill/>
          <a:ln/>
        </p:spPr>
        <p:txBody>
          <a:bodyPr wrap="square" rtlCol="0" anchor="ctr"/>
          <a:lstStyle/>
          <a:p>
            <a:pPr indent="0" marL="0">
              <a:buNone/>
            </a:pPr>
            <a:r>
              <a:rPr lang="en-US" sz="1400" dirty="0">
                <a:solidFill>
                  <a:srgbClr val="202124"/>
                </a:solidFill>
                <a:latin typeface="Arial" pitchFamily="34" charset="0"/>
                <a:ea typeface="Arial" pitchFamily="34" charset="-122"/>
                <a:cs typeface="Arial" pitchFamily="34" charset="-120"/>
              </a:rPr>
              <a:t>Contributors</a:t>
            </a:r>
            <a:endParaRPr lang="en-US" sz="1400" dirty="0"/>
          </a:p>
        </p:txBody>
      </p:sp>
      <p:sp>
        <p:nvSpPr>
          <p:cNvPr id="18" name="Text 16"/>
          <p:cNvSpPr/>
          <p:nvPr/>
        </p:nvSpPr>
        <p:spPr>
          <a:xfrm>
            <a:off x="749808" y="5504688"/>
            <a:ext cx="10680192" cy="1042416"/>
          </a:xfrm>
          <a:prstGeom prst="rect">
            <a:avLst/>
          </a:prstGeom>
          <a:noFill/>
          <a:ln/>
        </p:spPr>
        <p:txBody>
          <a:bodyPr wrap="square" rtlCol="0" anchor="t"/>
          <a:lstStyle/>
          <a:p>
            <a:pPr indent="0" marL="0">
              <a:lnSpc>
                <a:spcPct val="122000"/>
              </a:lnSpc>
              <a:buNone/>
            </a:pPr>
            <a:r>
              <a:rPr lang="en-US" sz="780" dirty="0">
                <a:solidFill>
                  <a:srgbClr val="5F6368"/>
                </a:solidFill>
                <a:latin typeface="Arial" pitchFamily="34" charset="0"/>
                <a:ea typeface="Arial" pitchFamily="34" charset="-122"/>
                <a:cs typeface="Arial" pitchFamily="34" charset="-120"/>
              </a:rPr>
              <a:t>Except as otherwise noted, the content of this page is licensed under the Creative Commons Attribution 4.0 License, and code samples are licensed under the Apache 2.0 License.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Authors: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 Cloud Solutions Architecture • Enterprise AI Field Engineering
</a:t>
            </a:r>
            <a:pPr indent="0" marL="0">
              <a:lnSpc>
                <a:spcPct val="122000"/>
              </a:lnSpc>
              <a:buNone/>
            </a:pPr>
            <a:r>
              <a:rPr lang="en-US" sz="820" b="1" dirty="0">
                <a:solidFill>
                  <a:srgbClr val="202124"/>
                </a:solidFill>
                <a:latin typeface="Arial" pitchFamily="34" charset="0"/>
                <a:ea typeface="Arial" pitchFamily="34" charset="-122"/>
                <a:cs typeface="Arial" pitchFamily="34" charset="-120"/>
              </a:rPr>
              <a:t>Other contributors: </a:t>
            </a:r>
            <a:pPr indent="0" marL="0">
              <a:lnSpc>
                <a:spcPct val="122000"/>
              </a:lnSpc>
              <a:buNone/>
            </a:pPr>
            <a:r>
              <a:rPr lang="en-US" sz="820" dirty="0">
                <a:solidFill>
                  <a:srgbClr val="3C4043"/>
                </a:solidFill>
                <a:latin typeface="Arial" pitchFamily="34" charset="0"/>
                <a:ea typeface="Arial" pitchFamily="34" charset="-122"/>
                <a:cs typeface="Arial" pitchFamily="34" charset="-120"/>
              </a:rPr>
              <a:t>Principal AI Architect &amp; Field Deployment Engineering • Google Cloud Architecture Center Engineering Team
</a:t>
            </a:r>
            <a:pPr indent="0" marL="0">
              <a:lnSpc>
                <a:spcPct val="122000"/>
              </a:lnSpc>
              <a:buNone/>
            </a:pPr>
            <a:r>
              <a:rPr lang="en-US" sz="760" i="1" dirty="0">
                <a:solidFill>
                  <a:srgbClr val="5F6368"/>
                </a:solidFill>
                <a:latin typeface="Arial" pitchFamily="34" charset="0"/>
                <a:ea typeface="Arial" pitchFamily="34" charset="-122"/>
                <a:cs typeface="Arial" pitchFamily="34" charset="-120"/>
              </a:rPr>
              <a:t>Last updated 2026-10-15 UTC.</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DOC-MT-02: Agent Deployment Models: Navigating the Agentic Trilemma Across Pool, Bridge &amp; Silo (DOC-MT-02)</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2026-10-16T15:15:26Z</dcterms:created>
  <dcterms:modified xsi:type="dcterms:W3CDTF">2026-10-16T15:15:26Z</dcterms:modified>
</cp:coreProperties>
</file>