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Multi-Tenant AI Agents (Part 2): Solving the Agentic Trilemma — Security, Customization &amp; Cost.</a:t>
            </a:r>
            <a:endParaRPr lang="en-US" dirty="0"/>
          </a:p>
          <a:p>
            <a:r>
              <a:rPr lang="en-US" dirty="0"/>
              <a:t>In Part 2 of our series, we tackle the Agentic Trilemma in Pattern A pooled environments: delivering strict cross-tenant security, rich per-customer agent customization, and sustainable token economics simultaneously on shared Google Cloud infrastructure.</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illustrates our Pooled Shared-Plane physical blueprint. Every request passes through our forty-two-millisecond p95 five-hop security pipeline inside the Governance Hub—combining STS token exchange, Cloud DLP and Model Armor redaction, and immutable thirty-two-thousand-token prefix caching before reaching Vertex AI and AlloyDB RLS.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Following the six-step execution flow on this slide demonstrates how the Agentic Triad works at runtime: combining a shared diagnostic agent, tenant-private specialist agents, and hot-swappable Cloud Storage skill bundles without forking container images per customer.</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grounds Pattern A in real multi-tenant SaaS unit economics—showing how freezing the shared system prompt prefix achieves an eighty-four point seven percent input-token cost reduction and four-hundred-twenty-millisecond warm time-to-first-token while blocking cross-tenant prompt leakage.</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our five-hop pooled pipeline with AlloyDB Row-Level Security and Valkey namespace isolation against naive single-prompt filtering and per-tenant container forks across security determinism, latency overhead, and gross margin.</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To put Pattern A into production immediately, here are the Terraform 2.6 starter commands and our ten-for-ten breach simulation verification checks.</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2 of 6 • Deployment Models &amp; Trilemma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DOC-MT-02</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Architecting multi-tenant agent platforms forces ISVs to navigate the Agentic Trilemma—the inherent architectural tension between Tenant Isolation, Cost Efficiency, and Operational Simplicity.</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Silo Model dedicates separate infrastructure to each tenant, delivering zero blast radius and effortless compliance at the expense of high idle costs and fleet sprawl. The Pool Model runs all tenants across a shared runtime fleet, maximizing compute density and simplifying operations through logical JWT/RLS partitioning, while requiring rigorous defense against noisy-neighbor and confused-deputy risks.</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resolve this tension, mature enterprise ISVs adopt a tiered architecture: routing high-volume standard tiers to a cryptographically governed shared Pool, offering a Hybrid Bridge tier for growth customers with dedicated data spokes, and reserving physically isolated Sovereign Silo perimeters for regulated enterprise accounts.</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For multi-tenant SaaS ISVs, the Gemini Enterprise Agent Platform functions as a managed control and execution plane over new or brownfield cloud infrastructure, organized across four core capability pillars.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(Triad Pillar 2: Pattern A Pooled FinOps &amp; COGS Engine and Triad Pillar 2: Pattern B Silos &amp; Pattern C Hybrid),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The Agentic Trilemma &amp; Executive Topology Selection Architecture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Mapping tenant tiers across Pattern 1, Pattern 2A/2B, and Pattern 3 under a unified Control Plane.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The Multi-Tenant Agentic Triad: Security (Hops 1–5) • FinOps COGS (-84.7%)</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Unified Vertex AI Agent Engine &amp; Google ADK Reference Architecture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 &amp; Pattern C Hybrid</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Lowest COGS ($) • 84.7% Net Input Token Savings</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Zero-PII OTel &amp; FinOps Chargeback</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Unified SIEM &amp; Audit Lineage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Cryptographic Spans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 Chargeback Models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Even, Proportional &amp; Tiered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Thinking Budget Cap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Clamps 4k Std vs 8k Ent</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2LO &amp; 3LO Auth Mgr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Scoped Per-Tenant Vault</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RLS &amp; L1–L5</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Storage Density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PSC Spoke Runtime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3-Phase Live Tier Upgrade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Dedicated Silo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 Cross-Project Egress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CMEK Lock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Instant HTTP 423 Kill-Switch</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Architecture Selector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Pattern A, B or C</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Valkey Rate Bulkhead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120 RPM Std / 600 RPM Ent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Discount on 32k Prefix</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IAM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 Perimeter Isolation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Gemma 3 &amp; 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Air-Gapped GKE &amp; Dedicated PT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Header Strip + OBO + DPoP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4: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Injection 400 + Policy 422 + SDP</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Tool Prune</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COGS &amp; security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Cache Bleed</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Storage-Engine RLS Policy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Private PSC NAT Bridge</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Customer-Revocable CMEK Keys</a:t>
            </a:r>
            <a:endParaRPr lang="en-US" sz="420" dirty="0"/>
          </a:p>
        </p:txBody>
      </p:sp>
      <p:sp>
        <p:nvSpPr>
          <p:cNvPr id="152" name="Text 130"/>
          <p:cNvSpPr/>
          <p:nvPr/>
        </p:nvSpPr>
        <p:spPr>
          <a:xfrm>
            <a:off x="4399178" y="5337353"/>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90% Cached inference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zero-bleed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optimal cost/security tier</a:t>
            </a:r>
            <a:endParaRPr lang="en-US" sz="420" dirty="0"/>
          </a:p>
        </p:txBody>
      </p:sp>
      <p:sp>
        <p:nvSpPr>
          <p:cNvPr id="155" name="Text 133"/>
          <p:cNvSpPr/>
          <p:nvPr/>
        </p:nvSpPr>
        <p:spPr>
          <a:xfrm>
            <a:off x="4939589" y="298094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Catalog &amp; MCP tools</a:t>
            </a:r>
            <a:endParaRPr lang="en-US" sz="420" dirty="0"/>
          </a:p>
        </p:txBody>
      </p:sp>
      <p:sp>
        <p:nvSpPr>
          <p:cNvPr id="156" name="Text 134"/>
          <p:cNvSpPr/>
          <p:nvPr/>
        </p:nvSpPr>
        <p:spPr>
          <a:xfrm>
            <a:off x="4508906" y="4445813"/>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Check quota</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Log COGS</a:t>
            </a:r>
            <a:endParaRPr lang="en-US" sz="420" dirty="0"/>
          </a:p>
        </p:txBody>
      </p:sp>
      <p:sp>
        <p:nvSpPr>
          <p:cNvPr id="158" name="Text 136"/>
          <p:cNvSpPr/>
          <p:nvPr/>
        </p:nvSpPr>
        <p:spPr>
          <a:xfrm>
            <a:off x="4938674" y="2299716"/>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OBO &amp; DPoP</a:t>
            </a:r>
            <a:endParaRPr lang="en-US" sz="420" dirty="0"/>
          </a:p>
        </p:txBody>
      </p:sp>
      <p:sp>
        <p:nvSpPr>
          <p:cNvPr id="159" name="Text 137"/>
          <p:cNvSpPr/>
          <p:nvPr/>
        </p:nvSpPr>
        <p:spPr>
          <a:xfrm>
            <a:off x="5077663" y="281635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&amp; redact PII</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The Multi-Tenant Agentic Triad: Security • FinOps COGS • Zero-PII Observability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The Multi-Tenant Agentic Triad: Security • FinOps COGS • Zero-PII Observability: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1: Zero-Trust Cryptographic Security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1: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4: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2: Catalog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3: Zero-PII OTel &amp; FinOps Chargeback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 Chargeback Models: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Unified Vertex AI Agent Engine &amp; Google ADK Reference Architecture: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Pattern A: Pooled Unit Economics &amp; Pattern B Silos &amp; Pattern C PSC Spokes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Thinking Budget Cap / PSC Spoke Runtime: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Valkey Rate Bulkhead / VPC-SC &amp; IAM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2LO &amp; 3LO Auth Mgr / Dedicated Silo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RLS &amp; L1–L5 / Cloud KMS CMEK Lock: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Triad Pillar 1: Zero-Trust Cryptographic Security.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Hop 1: Cloud Armor, Hop 4: Model Armor, and Hop 2: Catalog PDP, the request is forwarded to Architecture Selector.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Architecture Selector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Pattern A: Pooled Unit Economics,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Zero Cache Bleed.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Storage-Engine RLS Policy.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sends the validated, context-enriched prompt to ContextCacheConfig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passes the generated output through Valkey Rate Bulkhead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Triad Pillar 1: Zero-Trust Cryptographic Security, while structured OpenTelemetry audit and FinOps spans stream to the Triad Pillar 3: Zero-PII OTel &amp; FinOps Chargeback.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 Deployment Models: Navigating the Agentic Trilemma Across Pool, Bridge &amp; Silo.</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Garden: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Service Controls: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Enforces service perimeters across Google Cloud resources to prevent unauthorized data exfiltration across organizational boundaries.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Agent Analytics: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Comparing the Three Core Tenancy Topologies Across All 7 Subsystems</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multi-tenant agent deployment maps the seven core subsystems—Inbound Identity, Ingress Gateway, Agent Runtime, Memory Bank, Foundation Models, Egress Gateway, and Data/Tool Fabric—across three canonical topologies.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Unified Vertex AI Agent Engine &amp; Google ADK Reference Architecture and AlloyDB RLS &amp; L1–L5,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1. Build: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Supports Google ADK alongside third-party agent frameworks. Integrates frontier Gemini models and open-weight models via Model Garden, coupled with open standard protocols.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2. Scale: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Runtime provisions sub-second warm-start execution with Agent Sandboxes backed by gVisor microVMs.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3. Govern: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Gateway and Agent Registry enforce tenant-scoped agent authorization and dynamic tool entitlements.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Architecture Selector under The Multi-Tenant Agentic Triad: Security • FinOps COGS • Zero-PII Observability.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Hop 1: Cloud Armor and Hop 4: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Thinking Budget Cap &amp; 2LO &amp; 3LO Auth Mgr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Thinking Budget Cap with 2LO &amp; 3LO Auth Mgr and AlloyDB RLS &amp; L1–L5.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2LO &amp; 3LO Auth Mgr: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1: Cloud Armor &amp; Hop 4: Model Armor &amp; Valkey Rate Bulkhead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 &amp; 3 Chargeback Models</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Hop 1: Cloud Armor &amp; Hop 4: Model Armor &amp; Valkey Rate Bulkhead: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Valkey Rate Bulkhead.
</a:t>
            </a:r>
            <a:pPr indent="0" marL="0">
              <a:buNone/>
            </a:pPr>
            <a:r>
              <a:rPr lang="en-US" sz="700" b="1" dirty="0">
                <a:solidFill>
                  <a:srgbClr val="202124"/>
                </a:solidFill>
                <a:latin typeface="Arial" pitchFamily="34" charset="0"/>
                <a:ea typeface="Arial" pitchFamily="34" charset="-122"/>
                <a:cs typeface="Arial" pitchFamily="34" charset="-120"/>
              </a:rPr>
              <a:t>• AlloyDB RLS &amp; L1–L5 &amp; 3 Chargeback Models: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RLS &amp; L1–L5.</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Architecture Selector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Thinking Budget Cap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Architecture Selector: </a:t>
            </a:r>
            <a:pPr indent="0" marL="0">
              <a:buNone/>
            </a:pPr>
            <a:r>
              <a:rPr lang="en-US" sz="690" dirty="0">
                <a:solidFill>
                  <a:srgbClr val="3C4043"/>
                </a:solidFill>
                <a:latin typeface="Arial" pitchFamily="34" charset="0"/>
                <a:ea typeface="Arial" pitchFamily="34" charset="-122"/>
                <a:cs typeface="Arial" pitchFamily="34" charset="-120"/>
              </a:rPr>
              <a:t>Deploy Architecture Selector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Thinking Budget Cap &amp; 2LO &amp; 3LO Auth Mgr: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2LO &amp; 3LO Auth Mgr.
</a:t>
            </a:r>
            <a:pPr indent="0" marL="0">
              <a:buNone/>
            </a:pPr>
            <a:r>
              <a:rPr lang="en-US" sz="700" b="1" dirty="0">
                <a:solidFill>
                  <a:srgbClr val="202124"/>
                </a:solidFill>
                <a:latin typeface="Arial" pitchFamily="34" charset="0"/>
                <a:ea typeface="Arial" pitchFamily="34" charset="-122"/>
                <a:cs typeface="Arial" pitchFamily="34" charset="-120"/>
              </a:rPr>
              <a:t>• AlloyDB RLS &amp; L1–L5: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RLS &amp; L1–L5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Pattern A: Pooled Unit Economics and Pattern B Silos &amp; Pattern C PSC Spokes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ContextCacheConfig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2: Catalog PDP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ContextCacheConfig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Hop 2: Catalog PDP &amp; 2LO &amp; 3LO Auth Mgr: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 Deployment Models: Navigating the Agentic Trilemma Across Pool, Bridge &amp; Silo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cloud_run_adk_verify.py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DOC-MT-02: Agent Deployment Models: Navigating the Agentic Trilemma Across Pool, Bridge &amp; Silo (DOC-MT-02)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2026-10-28T13:34:07Z</dcterms:created>
  <dcterms:modified xsi:type="dcterms:W3CDTF">2026-10-28T13:34:07Z</dcterms:modified>
</cp:coreProperties>
</file>