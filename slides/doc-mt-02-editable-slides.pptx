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2 of 6 • Deployment Models &amp; Trilemma</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DOC-MT-02</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11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Agent Deployment Models: Navigating the Agentic Trilemma Across Pool, Bridge &amp; Silo</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Architecting multi-tenant agent platforms forces ISVs to navigate the Agentic Trilemma—the inherent architectural tension between Tenant Isolation, Cost Efficiency, and Operational Simplicity.</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The Silo Model dedicates separate infrastructure to each tenant, delivering zero blast radius and effortless compliance at the expense of high idle costs and fleet sprawl. The Pool Model runs all tenants across a shared runtime fleet, maximizing compute density and simplifying operations through logical JWT/RLS partitioning, while requiring rigorous defense against noisy-neighbor and confused-deputy risks.</a:t>
            </a:r>
            <a:endParaRPr lang="en-US" sz="980" dirty="0"/>
          </a:p>
        </p:txBody>
      </p:sp>
      <p:sp>
        <p:nvSpPr>
          <p:cNvPr id="11" name="Text 9"/>
          <p:cNvSpPr/>
          <p:nvPr/>
        </p:nvSpPr>
        <p:spPr>
          <a:xfrm>
            <a:off x="804672" y="3621024"/>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To resolve this tension, mature enterprise ISVs adopt a tiered architecture: routing high-volume standard tiers to a cryptographically governed shared Pool, offering a Hybrid Bridge tier for growth customers with dedicated data spokes, and reserving physically isolated Sovereign Silo perimeters for regulated enterprise accounts.</a:t>
            </a:r>
            <a:endParaRPr lang="en-US" sz="980" dirty="0"/>
          </a:p>
        </p:txBody>
      </p:sp>
      <p:sp>
        <p:nvSpPr>
          <p:cNvPr id="12" name="Shape 10"/>
          <p:cNvSpPr/>
          <p:nvPr/>
        </p:nvSpPr>
        <p:spPr>
          <a:xfrm>
            <a:off x="804672" y="4553712"/>
            <a:ext cx="10570464" cy="0"/>
          </a:xfrm>
          <a:prstGeom prst="line">
            <a:avLst/>
          </a:prstGeom>
          <a:noFill/>
          <a:ln w="9525">
            <a:solidFill>
              <a:srgbClr val="DADCE0"/>
            </a:solidFill>
            <a:prstDash val="solid"/>
          </a:ln>
        </p:spPr>
      </p:sp>
      <p:sp>
        <p:nvSpPr>
          <p:cNvPr id="13" name="Text 11"/>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4" name="Text 12"/>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For multi-tenant SaaS ISVs, the Gemini Enterprise Agent Platform functions as a managed control and execution plane over new or brownfield cloud infrastructure, organized across four core capability pillars.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(Triad Pillar 2: Pattern A Pooled FinOps &amp; COGS Engine and Triad Pillar 2: Pattern B Silos &amp; Pattern C Hybrid),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The Agentic Trilemma &amp; Executive Topology Selection Architecture</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Figure 1: Mapping tenant tiers across Pattern 1, Pattern 2A/2B, and Pattern 3 under a unified Control Plane.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69948"/>
            <a:ext cx="1858975"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The Multi-Tenant Agentic Triad: Security (Hops 1–5) • FinOps COGS (-84.7%) • Zero-PII Observability</a:t>
            </a:r>
            <a:endParaRPr lang="en-US" sz="46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2004365"/>
            <a:ext cx="1805940"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Unified Vertex AI Agent Engine &amp; Google ADK Reference Architecture (20/20 Simulations PASS)</a:t>
            </a:r>
            <a:endParaRPr lang="en-US" sz="46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57270"/>
            <a:ext cx="1255471"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(High Density): Pattern A Pooled FinOps &amp; COGS Engine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57270"/>
            <a:ext cx="1255471"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(Regulated Scale): Pattern B Silos ($$$) &amp; Pattern C Hybrid ($$)</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A: Pooled Unit Economics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Lowest COGS ($) • 84.7% Net Input Token Savings</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B Silos &amp; Pattern C PSC Spokes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Zero Blast Radius + Zero-Downtime Tier Promotion</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Triad Pillar 1: Zero-Trust Cryptographic Security</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5-Hop Context Chain across Ingress, Catalog &amp; Runtime</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Triad Pillar 3: Privacy- Preserving OTel &amp; Chargeback</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&amp; SMB Users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10,000+ Multi-Tier Tenants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76926" y="2516429"/>
            <a:ext cx="181966" cy="181966"/>
          </a:xfrm>
          <a:prstGeom prst="rect">
            <a:avLst/>
          </a:prstGeom>
        </p:spPr>
      </p:pic>
      <p:sp>
        <p:nvSpPr>
          <p:cNvPr id="77" name="Text 72"/>
          <p:cNvSpPr/>
          <p:nvPr/>
        </p:nvSpPr>
        <p:spPr>
          <a:xfrm>
            <a:off x="5795467" y="2474366"/>
            <a:ext cx="689458" cy="26609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Global Anycast Ingress</a:t>
            </a:r>
            <a:endParaRPr lang="en-US" sz="500"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69557" y="2416759"/>
            <a:ext cx="172822" cy="172822"/>
          </a:xfrm>
          <a:prstGeom prst="rect">
            <a:avLst/>
          </a:prstGeom>
        </p:spPr>
      </p:pic>
      <p:sp>
        <p:nvSpPr>
          <p:cNvPr id="80" name="Text 74"/>
          <p:cNvSpPr/>
          <p:nvPr/>
        </p:nvSpPr>
        <p:spPr>
          <a:xfrm>
            <a:off x="7178954" y="2377440"/>
            <a:ext cx="750722"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Unified SIEM &amp; Audit Lineage</a:t>
            </a:r>
            <a:endParaRPr lang="en-US" sz="500"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85102" y="3043123"/>
            <a:ext cx="163678" cy="163678"/>
          </a:xfrm>
          <a:prstGeom prst="rect">
            <a:avLst/>
          </a:prstGeom>
        </p:spPr>
      </p:pic>
      <p:sp>
        <p:nvSpPr>
          <p:cNvPr id="83" name="Text 76"/>
          <p:cNvSpPr/>
          <p:nvPr/>
        </p:nvSpPr>
        <p:spPr>
          <a:xfrm>
            <a:off x="7185355" y="3006547"/>
            <a:ext cx="730606" cy="23683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Zero-PII Cryptographic Spans</a:t>
            </a:r>
            <a:endParaRPr lang="en-US" sz="500"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92417" y="2735885"/>
            <a:ext cx="163678" cy="163678"/>
          </a:xfrm>
          <a:prstGeom prst="rect">
            <a:avLst/>
          </a:prstGeom>
        </p:spPr>
      </p:pic>
      <p:sp>
        <p:nvSpPr>
          <p:cNvPr id="86" name="Text 78"/>
          <p:cNvSpPr/>
          <p:nvPr/>
        </p:nvSpPr>
        <p:spPr>
          <a:xfrm>
            <a:off x="7192670" y="2699309"/>
            <a:ext cx="715061" cy="23683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3 Chargeback Models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Even, Proportional &amp; Tiered</a:t>
            </a:r>
            <a:endParaRPr lang="en-US" sz="500"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64531" y="4358030"/>
            <a:ext cx="177394" cy="177394"/>
          </a:xfrm>
          <a:prstGeom prst="rect">
            <a:avLst/>
          </a:prstGeom>
        </p:spPr>
      </p:pic>
      <p:sp>
        <p:nvSpPr>
          <p:cNvPr id="89" name="Text 80"/>
          <p:cNvSpPr/>
          <p:nvPr/>
        </p:nvSpPr>
        <p:spPr>
          <a:xfrm>
            <a:off x="5378501" y="4316882"/>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Thinking Budget Cap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Clamps 4k Std vs 8k Ent</a:t>
            </a:r>
            <a:endParaRPr lang="en-US" sz="500"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64531" y="4897526"/>
            <a:ext cx="177394" cy="177394"/>
          </a:xfrm>
          <a:prstGeom prst="rect">
            <a:avLst/>
          </a:prstGeom>
        </p:spPr>
      </p:pic>
      <p:sp>
        <p:nvSpPr>
          <p:cNvPr id="92" name="Text 82"/>
          <p:cNvSpPr/>
          <p:nvPr/>
        </p:nvSpPr>
        <p:spPr>
          <a:xfrm>
            <a:off x="5378501" y="4856378"/>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2LO &amp; 3LO Auth Mgr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Scoped Per-Tenant Vault</a:t>
            </a:r>
            <a:endParaRPr lang="en-US" sz="500"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64531" y="5459882"/>
            <a:ext cx="177394" cy="177394"/>
          </a:xfrm>
          <a:prstGeom prst="rect">
            <a:avLst/>
          </a:prstGeom>
        </p:spPr>
      </p:pic>
      <p:sp>
        <p:nvSpPr>
          <p:cNvPr id="95" name="Text 84"/>
          <p:cNvSpPr/>
          <p:nvPr/>
        </p:nvSpPr>
        <p:spPr>
          <a:xfrm>
            <a:off x="5378501" y="5418734"/>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AlloyDB RLS &amp; L1–L5</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Shared Storage Density</a:t>
            </a:r>
            <a:endParaRPr lang="en-US" sz="500"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201814" y="4358030"/>
            <a:ext cx="177394" cy="177394"/>
          </a:xfrm>
          <a:prstGeom prst="rect">
            <a:avLst/>
          </a:prstGeom>
        </p:spPr>
      </p:pic>
      <p:sp>
        <p:nvSpPr>
          <p:cNvPr id="98" name="Text 86"/>
          <p:cNvSpPr/>
          <p:nvPr/>
        </p:nvSpPr>
        <p:spPr>
          <a:xfrm>
            <a:off x="7415784" y="4316882"/>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PSC Spoke Runtime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3-Phase Live Tier Upgrade</a:t>
            </a:r>
            <a:endParaRPr lang="en-US" sz="500"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201814" y="4897526"/>
            <a:ext cx="177394" cy="177394"/>
          </a:xfrm>
          <a:prstGeom prst="rect">
            <a:avLst/>
          </a:prstGeom>
        </p:spPr>
      </p:pic>
      <p:sp>
        <p:nvSpPr>
          <p:cNvPr id="101" name="Text 88"/>
          <p:cNvSpPr/>
          <p:nvPr/>
        </p:nvSpPr>
        <p:spPr>
          <a:xfrm>
            <a:off x="7415784" y="4856378"/>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Dedicated Silo MCP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Zero Cross-Project Egress</a:t>
            </a:r>
            <a:endParaRPr lang="en-US" sz="500"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201814" y="5459882"/>
            <a:ext cx="177394" cy="177394"/>
          </a:xfrm>
          <a:prstGeom prst="rect">
            <a:avLst/>
          </a:prstGeom>
        </p:spPr>
      </p:pic>
      <p:sp>
        <p:nvSpPr>
          <p:cNvPr id="104" name="Text 90"/>
          <p:cNvSpPr/>
          <p:nvPr/>
        </p:nvSpPr>
        <p:spPr>
          <a:xfrm>
            <a:off x="7415784" y="5418734"/>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KMS CMEK Lock</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Instant HTTP 423 Kill-Switch</a:t>
            </a:r>
            <a:endParaRPr lang="en-US" sz="500"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66537" y="3065069"/>
            <a:ext cx="158191" cy="158191"/>
          </a:xfrm>
          <a:prstGeom prst="rect">
            <a:avLst/>
          </a:prstGeom>
        </p:spPr>
      </p:pic>
      <p:sp>
        <p:nvSpPr>
          <p:cNvPr id="107" name="Text 92"/>
          <p:cNvSpPr/>
          <p:nvPr/>
        </p:nvSpPr>
        <p:spPr>
          <a:xfrm>
            <a:off x="5861304" y="3029407"/>
            <a:ext cx="570586"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Architecture Selector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Routes Pattern A, B or C</a:t>
            </a:r>
            <a:endParaRPr lang="en-US" sz="500"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43730" y="4169664"/>
            <a:ext cx="172822" cy="172822"/>
          </a:xfrm>
          <a:prstGeom prst="rect">
            <a:avLst/>
          </a:prstGeom>
        </p:spPr>
      </p:pic>
      <p:sp>
        <p:nvSpPr>
          <p:cNvPr id="110" name="Text 94"/>
          <p:cNvSpPr/>
          <p:nvPr/>
        </p:nvSpPr>
        <p:spPr>
          <a:xfrm>
            <a:off x="4453128" y="4130345"/>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Valkey Rate Bulkhead</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120 RPM Std / 600 RPM Ent</a:t>
            </a:r>
            <a:endParaRPr lang="en-US" sz="500"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43730" y="5052974"/>
            <a:ext cx="172822" cy="172822"/>
          </a:xfrm>
          <a:prstGeom prst="rect">
            <a:avLst/>
          </a:prstGeom>
        </p:spPr>
      </p:pic>
      <p:sp>
        <p:nvSpPr>
          <p:cNvPr id="113" name="Text 96"/>
          <p:cNvSpPr/>
          <p:nvPr/>
        </p:nvSpPr>
        <p:spPr>
          <a:xfrm>
            <a:off x="4453128" y="5013655"/>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ContextCacheConfig</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90% Discount on 32k Prefix</a:t>
            </a:r>
            <a:endParaRPr lang="en-US" sz="500"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81014" y="4169664"/>
            <a:ext cx="172822" cy="172822"/>
          </a:xfrm>
          <a:prstGeom prst="rect">
            <a:avLst/>
          </a:prstGeom>
        </p:spPr>
      </p:pic>
      <p:sp>
        <p:nvSpPr>
          <p:cNvPr id="116" name="Text 98"/>
          <p:cNvSpPr/>
          <p:nvPr/>
        </p:nvSpPr>
        <p:spPr>
          <a:xfrm>
            <a:off x="6490411" y="4130345"/>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VPC-SC &amp; IAM PAB</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Hard Perimeter Isolation</a:t>
            </a:r>
            <a:endParaRPr lang="en-US" sz="500"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81014" y="4550969"/>
            <a:ext cx="172822" cy="172822"/>
          </a:xfrm>
          <a:prstGeom prst="rect">
            <a:avLst/>
          </a:prstGeom>
        </p:spPr>
      </p:pic>
      <p:sp>
        <p:nvSpPr>
          <p:cNvPr id="119" name="Text 100"/>
          <p:cNvSpPr/>
          <p:nvPr/>
        </p:nvSpPr>
        <p:spPr>
          <a:xfrm>
            <a:off x="6490411" y="4511650"/>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Gemma 3 &amp; Claude 3.7</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Air-Gapped GKE &amp; Dedicated PT</a:t>
            </a:r>
            <a:endParaRPr lang="en-US" sz="500"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213555" y="2382926"/>
            <a:ext cx="158191" cy="158191"/>
          </a:xfrm>
          <a:prstGeom prst="rect">
            <a:avLst/>
          </a:prstGeom>
        </p:spPr>
      </p:pic>
      <p:sp>
        <p:nvSpPr>
          <p:cNvPr id="122" name="Text 102"/>
          <p:cNvSpPr/>
          <p:nvPr/>
        </p:nvSpPr>
        <p:spPr>
          <a:xfrm>
            <a:off x="4408322" y="2347265"/>
            <a:ext cx="496519"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Hop 1: Edge PEP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Header Strip + OBO + DPoP</a:t>
            </a:r>
            <a:endParaRPr lang="en-US" sz="500"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213555" y="2697480"/>
            <a:ext cx="158191" cy="158191"/>
          </a:xfrm>
          <a:prstGeom prst="rect">
            <a:avLst/>
          </a:prstGeom>
        </p:spPr>
      </p:pic>
      <p:sp>
        <p:nvSpPr>
          <p:cNvPr id="125" name="Text 104"/>
          <p:cNvSpPr/>
          <p:nvPr/>
        </p:nvSpPr>
        <p:spPr>
          <a:xfrm>
            <a:off x="4408322" y="2661818"/>
            <a:ext cx="496519"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Hop 4: 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Injection 400 + Policy 422 + SDP</a:t>
            </a:r>
            <a:endParaRPr lang="en-US" sz="500"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43730" y="3065069"/>
            <a:ext cx="158191" cy="158191"/>
          </a:xfrm>
          <a:prstGeom prst="rect">
            <a:avLst/>
          </a:prstGeom>
        </p:spPr>
      </p:pic>
      <p:sp>
        <p:nvSpPr>
          <p:cNvPr id="128" name="Text 106"/>
          <p:cNvSpPr/>
          <p:nvPr/>
        </p:nvSpPr>
        <p:spPr>
          <a:xfrm>
            <a:off x="4438498" y="3029407"/>
            <a:ext cx="466344"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Hop 2: Catalog PDP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Discovery Catalog + Tool Prune</a:t>
            </a:r>
            <a:endParaRPr lang="en-US" sz="500" dirty="0"/>
          </a:p>
        </p:txBody>
      </p:sp>
      <p:sp>
        <p:nvSpPr>
          <p:cNvPr id="129" name="Text 107"/>
          <p:cNvSpPr/>
          <p:nvPr/>
        </p:nvSpPr>
        <p:spPr>
          <a:xfrm>
            <a:off x="7541057" y="3373222"/>
            <a:ext cx="546811" cy="161849"/>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Real-time COGS &amp;</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security telemetry</a:t>
            </a:r>
            <a:endParaRPr lang="en-US" sz="500" dirty="0"/>
          </a:p>
        </p:txBody>
      </p:sp>
      <p:sp>
        <p:nvSpPr>
          <p:cNvPr id="130" name="Text 108"/>
          <p:cNvSpPr/>
          <p:nvPr/>
        </p:nvSpPr>
        <p:spPr>
          <a:xfrm>
            <a:off x="5237683" y="4654296"/>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Zero Cache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Bleed</a:t>
            </a:r>
            <a:endParaRPr lang="en-US" sz="500" dirty="0"/>
          </a:p>
        </p:txBody>
      </p:sp>
      <p:sp>
        <p:nvSpPr>
          <p:cNvPr id="131" name="Text 109"/>
          <p:cNvSpPr/>
          <p:nvPr/>
        </p:nvSpPr>
        <p:spPr>
          <a:xfrm>
            <a:off x="5237683" y="5201107"/>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Storage-Engine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RLS Policy</a:t>
            </a:r>
            <a:endParaRPr lang="en-US" sz="500" dirty="0"/>
          </a:p>
        </p:txBody>
      </p:sp>
      <p:sp>
        <p:nvSpPr>
          <p:cNvPr id="132" name="Text 110"/>
          <p:cNvSpPr/>
          <p:nvPr/>
        </p:nvSpPr>
        <p:spPr>
          <a:xfrm>
            <a:off x="7274966" y="4654296"/>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Private PSC</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NAT Bridge</a:t>
            </a:r>
            <a:endParaRPr lang="en-US" sz="500" dirty="0"/>
          </a:p>
        </p:txBody>
      </p:sp>
      <p:sp>
        <p:nvSpPr>
          <p:cNvPr id="133" name="Text 111"/>
          <p:cNvSpPr/>
          <p:nvPr/>
        </p:nvSpPr>
        <p:spPr>
          <a:xfrm>
            <a:off x="7274966" y="5201107"/>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Customer-Revocable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CMEK Keys</a:t>
            </a:r>
            <a:endParaRPr lang="en-US" sz="500" dirty="0"/>
          </a:p>
        </p:txBody>
      </p:sp>
      <p:sp>
        <p:nvSpPr>
          <p:cNvPr id="134" name="Text 112"/>
          <p:cNvSpPr/>
          <p:nvPr/>
        </p:nvSpPr>
        <p:spPr>
          <a:xfrm>
            <a:off x="4432097" y="5328209"/>
            <a:ext cx="509321" cy="131674"/>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90% Cached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35" name="Text 113"/>
          <p:cNvSpPr/>
          <p:nvPr/>
        </p:nvSpPr>
        <p:spPr>
          <a:xfrm>
            <a:off x="6282842" y="3396082"/>
            <a:ext cx="554126" cy="116129"/>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Verified zero-bleed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agent completion</a:t>
            </a:r>
            <a:endParaRPr lang="en-US" sz="500" dirty="0"/>
          </a:p>
        </p:txBody>
      </p:sp>
      <p:sp>
        <p:nvSpPr>
          <p:cNvPr id="136" name="Text 114"/>
          <p:cNvSpPr/>
          <p:nvPr/>
        </p:nvSpPr>
        <p:spPr>
          <a:xfrm>
            <a:off x="5488229" y="3396082"/>
            <a:ext cx="494690" cy="116129"/>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Dispatch to optimal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cost/security tier</a:t>
            </a:r>
            <a:endParaRPr lang="en-US" sz="500" dirty="0"/>
          </a:p>
        </p:txBody>
      </p:sp>
      <p:sp>
        <p:nvSpPr>
          <p:cNvPr id="137" name="Text 115"/>
          <p:cNvSpPr/>
          <p:nvPr/>
        </p:nvSpPr>
        <p:spPr>
          <a:xfrm>
            <a:off x="5039258" y="2983687"/>
            <a:ext cx="502006" cy="10972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Prune Catalog</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&amp; MCP tools</a:t>
            </a:r>
            <a:endParaRPr lang="en-US" sz="500" dirty="0"/>
          </a:p>
        </p:txBody>
      </p:sp>
      <p:sp>
        <p:nvSpPr>
          <p:cNvPr id="138" name="Text 116"/>
          <p:cNvSpPr/>
          <p:nvPr/>
        </p:nvSpPr>
        <p:spPr>
          <a:xfrm>
            <a:off x="4432097" y="4459529"/>
            <a:ext cx="50932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Check quota</a:t>
            </a:r>
            <a:endParaRPr lang="en-US" sz="500" dirty="0"/>
          </a:p>
        </p:txBody>
      </p:sp>
      <p:sp>
        <p:nvSpPr>
          <p:cNvPr id="139" name="Text 117"/>
          <p:cNvSpPr/>
          <p:nvPr/>
        </p:nvSpPr>
        <p:spPr>
          <a:xfrm>
            <a:off x="4432097" y="4639666"/>
            <a:ext cx="50932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Log COGS</a:t>
            </a:r>
            <a:endParaRPr lang="en-US" sz="500" dirty="0"/>
          </a:p>
        </p:txBody>
      </p:sp>
      <p:sp>
        <p:nvSpPr>
          <p:cNvPr id="140" name="Text 118"/>
          <p:cNvSpPr/>
          <p:nvPr/>
        </p:nvSpPr>
        <p:spPr>
          <a:xfrm>
            <a:off x="5016398" y="2302459"/>
            <a:ext cx="344729" cy="10972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Verify OBO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&amp; DPoP</a:t>
            </a:r>
            <a:endParaRPr lang="en-US" sz="500" dirty="0"/>
          </a:p>
        </p:txBody>
      </p:sp>
      <p:sp>
        <p:nvSpPr>
          <p:cNvPr id="141" name="Text 119"/>
          <p:cNvSpPr/>
          <p:nvPr/>
        </p:nvSpPr>
        <p:spPr>
          <a:xfrm>
            <a:off x="5016398" y="2819095"/>
            <a:ext cx="344729" cy="10972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Screen &amp;</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redact PII</a:t>
            </a:r>
            <a:endParaRPr lang="en-US" sz="500" dirty="0"/>
          </a:p>
        </p:txBody>
      </p:sp>
      <p:sp>
        <p:nvSpPr>
          <p:cNvPr id="142" name="Text 120"/>
          <p:cNvSpPr/>
          <p:nvPr/>
        </p:nvSpPr>
        <p:spPr>
          <a:xfrm>
            <a:off x="6267298" y="1478585"/>
            <a:ext cx="299923"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43" name="Text 121"/>
          <p:cNvSpPr/>
          <p:nvPr/>
        </p:nvSpPr>
        <p:spPr>
          <a:xfrm>
            <a:off x="6267298" y="2838298"/>
            <a:ext cx="299923"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44" name="Text 122"/>
          <p:cNvSpPr/>
          <p:nvPr/>
        </p:nvSpPr>
        <p:spPr>
          <a:xfrm>
            <a:off x="5578754" y="1478585"/>
            <a:ext cx="262433"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145" name="Text 123"/>
          <p:cNvSpPr/>
          <p:nvPr/>
        </p:nvSpPr>
        <p:spPr>
          <a:xfrm>
            <a:off x="5578754" y="2838298"/>
            <a:ext cx="262433"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146" name="Shape 124"/>
          <p:cNvSpPr/>
          <p:nvPr/>
        </p:nvSpPr>
        <p:spPr>
          <a:xfrm>
            <a:off x="5904281" y="1458468"/>
            <a:ext cx="127102" cy="127102"/>
          </a:xfrm>
          <a:prstGeom prst="ellipse">
            <a:avLst/>
          </a:prstGeom>
          <a:solidFill>
            <a:srgbClr val="174EA6"/>
          </a:solidFill>
          <a:ln w="10795">
            <a:solidFill>
              <a:srgbClr val="174EA6"/>
            </a:solidFill>
            <a:prstDash val="solid"/>
          </a:ln>
        </p:spPr>
      </p:sp>
      <p:sp>
        <p:nvSpPr>
          <p:cNvPr id="147" name="Text 125"/>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48" name="Shape 126"/>
          <p:cNvSpPr/>
          <p:nvPr/>
        </p:nvSpPr>
        <p:spPr>
          <a:xfrm>
            <a:off x="6076188" y="1458468"/>
            <a:ext cx="127102" cy="127102"/>
          </a:xfrm>
          <a:prstGeom prst="ellipse">
            <a:avLst/>
          </a:prstGeom>
          <a:solidFill>
            <a:srgbClr val="174EA6"/>
          </a:solidFill>
          <a:ln w="10795">
            <a:solidFill>
              <a:srgbClr val="174EA6"/>
            </a:solidFill>
            <a:prstDash val="solid"/>
          </a:ln>
        </p:spPr>
      </p:sp>
      <p:sp>
        <p:nvSpPr>
          <p:cNvPr id="149" name="Text 127"/>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50" name="Shape 128"/>
          <p:cNvSpPr/>
          <p:nvPr/>
        </p:nvSpPr>
        <p:spPr>
          <a:xfrm>
            <a:off x="5904281" y="2817266"/>
            <a:ext cx="127102" cy="127102"/>
          </a:xfrm>
          <a:prstGeom prst="ellipse">
            <a:avLst/>
          </a:prstGeom>
          <a:solidFill>
            <a:srgbClr val="174EA6"/>
          </a:solidFill>
          <a:ln w="10795">
            <a:solidFill>
              <a:srgbClr val="174EA6"/>
            </a:solidFill>
            <a:prstDash val="solid"/>
          </a:ln>
        </p:spPr>
      </p:sp>
      <p:sp>
        <p:nvSpPr>
          <p:cNvPr id="151" name="Text 129"/>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52" name="Shape 130"/>
          <p:cNvSpPr/>
          <p:nvPr/>
        </p:nvSpPr>
        <p:spPr>
          <a:xfrm>
            <a:off x="6076188" y="2817266"/>
            <a:ext cx="127102" cy="127102"/>
          </a:xfrm>
          <a:prstGeom prst="ellipse">
            <a:avLst/>
          </a:prstGeom>
          <a:solidFill>
            <a:srgbClr val="174EA6"/>
          </a:solidFill>
          <a:ln w="10795">
            <a:solidFill>
              <a:srgbClr val="174EA6"/>
            </a:solidFill>
            <a:prstDash val="solid"/>
          </a:ln>
        </p:spPr>
      </p:sp>
      <p:sp>
        <p:nvSpPr>
          <p:cNvPr id="153" name="Text 131"/>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54" name="Shape 132"/>
          <p:cNvSpPr/>
          <p:nvPr/>
        </p:nvSpPr>
        <p:spPr>
          <a:xfrm>
            <a:off x="5297119" y="3397910"/>
            <a:ext cx="127102" cy="127102"/>
          </a:xfrm>
          <a:prstGeom prst="ellipse">
            <a:avLst/>
          </a:prstGeom>
          <a:solidFill>
            <a:srgbClr val="174EA6"/>
          </a:solidFill>
          <a:ln w="10795">
            <a:solidFill>
              <a:srgbClr val="174EA6"/>
            </a:solidFill>
            <a:prstDash val="solid"/>
          </a:ln>
        </p:spPr>
      </p:sp>
      <p:sp>
        <p:nvSpPr>
          <p:cNvPr id="155" name="Text 133"/>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56" name="Shape 134"/>
          <p:cNvSpPr/>
          <p:nvPr/>
        </p:nvSpPr>
        <p:spPr>
          <a:xfrm>
            <a:off x="6091733" y="3397910"/>
            <a:ext cx="127102" cy="127102"/>
          </a:xfrm>
          <a:prstGeom prst="ellipse">
            <a:avLst/>
          </a:prstGeom>
          <a:solidFill>
            <a:srgbClr val="174EA6"/>
          </a:solidFill>
          <a:ln w="10795">
            <a:solidFill>
              <a:srgbClr val="174EA6"/>
            </a:solidFill>
            <a:prstDash val="solid"/>
          </a:ln>
        </p:spPr>
      </p:sp>
      <p:sp>
        <p:nvSpPr>
          <p:cNvPr id="157" name="Text 135"/>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58" name="Shape 136"/>
          <p:cNvSpPr/>
          <p:nvPr/>
        </p:nvSpPr>
        <p:spPr>
          <a:xfrm>
            <a:off x="4233672" y="4439412"/>
            <a:ext cx="127102" cy="127102"/>
          </a:xfrm>
          <a:prstGeom prst="ellipse">
            <a:avLst/>
          </a:prstGeom>
          <a:solidFill>
            <a:srgbClr val="174EA6"/>
          </a:solidFill>
          <a:ln w="10795">
            <a:solidFill>
              <a:srgbClr val="174EA6"/>
            </a:solidFill>
            <a:prstDash val="solid"/>
          </a:ln>
        </p:spPr>
      </p:sp>
      <p:sp>
        <p:nvSpPr>
          <p:cNvPr id="159" name="Text 137"/>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60" name="Shape 138"/>
          <p:cNvSpPr/>
          <p:nvPr/>
        </p:nvSpPr>
        <p:spPr>
          <a:xfrm>
            <a:off x="4233672" y="4619549"/>
            <a:ext cx="127102" cy="127102"/>
          </a:xfrm>
          <a:prstGeom prst="ellipse">
            <a:avLst/>
          </a:prstGeom>
          <a:solidFill>
            <a:srgbClr val="174EA6"/>
          </a:solidFill>
          <a:ln w="10795">
            <a:solidFill>
              <a:srgbClr val="174EA6"/>
            </a:solidFill>
            <a:prstDash val="solid"/>
          </a:ln>
        </p:spPr>
      </p:sp>
      <p:sp>
        <p:nvSpPr>
          <p:cNvPr id="161" name="Text 139"/>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62" name="Shape 140"/>
          <p:cNvSpPr/>
          <p:nvPr/>
        </p:nvSpPr>
        <p:spPr>
          <a:xfrm>
            <a:off x="4233672" y="5330952"/>
            <a:ext cx="127102" cy="127102"/>
          </a:xfrm>
          <a:prstGeom prst="ellipse">
            <a:avLst/>
          </a:prstGeom>
          <a:solidFill>
            <a:srgbClr val="174EA6"/>
          </a:solidFill>
          <a:ln w="10795">
            <a:solidFill>
              <a:srgbClr val="174EA6"/>
            </a:solidFill>
            <a:prstDash val="solid"/>
          </a:ln>
        </p:spPr>
      </p:sp>
      <p:sp>
        <p:nvSpPr>
          <p:cNvPr id="163" name="Text 141"/>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19456"/>
          </a:xfrm>
          <a:prstGeom prst="rect">
            <a:avLst/>
          </a:prstGeom>
          <a:noFill/>
          <a:ln/>
        </p:spPr>
        <p:txBody>
          <a:bodyPr wrap="square" rtlCol="0" anchor="ctr"/>
          <a:lstStyle/>
          <a:p>
            <a:pPr indent="0" marL="0">
              <a:buNone/>
            </a:pPr>
            <a:r>
              <a:rPr lang="en-US" sz="940" dirty="0">
                <a:solidFill>
                  <a:srgbClr val="3C4043"/>
                </a:solidFill>
                <a:latin typeface="Arial" pitchFamily="34" charset="0"/>
                <a:ea typeface="Arial" pitchFamily="34" charset="-122"/>
                <a:cs typeface="Arial" pitchFamily="34" charset="-120"/>
              </a:rPr>
              <a:t>The architecture consists of the following components:</a:t>
            </a:r>
            <a:endParaRPr lang="en-US" sz="940" dirty="0"/>
          </a:p>
        </p:txBody>
      </p:sp>
      <p:sp>
        <p:nvSpPr>
          <p:cNvPr id="7" name="Shape 5"/>
          <p:cNvSpPr/>
          <p:nvPr/>
        </p:nvSpPr>
        <p:spPr>
          <a:xfrm>
            <a:off x="749808" y="877824"/>
            <a:ext cx="2889504" cy="274320"/>
          </a:xfrm>
          <a:prstGeom prst="rect">
            <a:avLst/>
          </a:prstGeom>
          <a:solidFill>
            <a:srgbClr val="F8F9FA"/>
          </a:solidFill>
          <a:ln w="9525">
            <a:solidFill>
              <a:srgbClr val="DADCE0"/>
            </a:solidFill>
            <a:prstDash val="solid"/>
          </a:ln>
        </p:spPr>
      </p:sp>
      <p:sp>
        <p:nvSpPr>
          <p:cNvPr id="8" name="Text 6"/>
          <p:cNvSpPr/>
          <p:nvPr/>
        </p:nvSpPr>
        <p:spPr>
          <a:xfrm>
            <a:off x="841248" y="877824"/>
            <a:ext cx="2706624" cy="274320"/>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77824"/>
            <a:ext cx="7790688" cy="274320"/>
          </a:xfrm>
          <a:prstGeom prst="rect">
            <a:avLst/>
          </a:prstGeom>
          <a:solidFill>
            <a:srgbClr val="F8F9FA"/>
          </a:solidFill>
          <a:ln w="9525">
            <a:solidFill>
              <a:srgbClr val="DADCE0"/>
            </a:solidFill>
            <a:prstDash val="solid"/>
          </a:ln>
        </p:spPr>
      </p:sp>
      <p:sp>
        <p:nvSpPr>
          <p:cNvPr id="10" name="Text 8"/>
          <p:cNvSpPr/>
          <p:nvPr/>
        </p:nvSpPr>
        <p:spPr>
          <a:xfrm>
            <a:off x="3749040" y="877824"/>
            <a:ext cx="7571232" cy="274320"/>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152144"/>
            <a:ext cx="2889504" cy="296266"/>
          </a:xfrm>
          <a:prstGeom prst="rect">
            <a:avLst/>
          </a:prstGeom>
          <a:solidFill>
            <a:srgbClr val="FFFFFF"/>
          </a:solidFill>
          <a:ln w="9525">
            <a:solidFill>
              <a:srgbClr val="DADCE0"/>
            </a:solidFill>
            <a:prstDash val="solid"/>
          </a:ln>
        </p:spPr>
      </p:sp>
      <p:sp>
        <p:nvSpPr>
          <p:cNvPr id="12" name="Text 10"/>
          <p:cNvSpPr/>
          <p:nvPr/>
        </p:nvSpPr>
        <p:spPr>
          <a:xfrm>
            <a:off x="841248" y="1170432"/>
            <a:ext cx="2706624" cy="259690"/>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The Multi-Tenant Agentic Triad: Security • FinOps COGS • Zero-PII Observability
</a:t>
            </a:r>
            <a:pPr indent="0" marL="0">
              <a:buNone/>
            </a:pPr>
            <a:r>
              <a:rPr lang="en-US" sz="670" dirty="0">
                <a:solidFill>
                  <a:srgbClr val="5F6368"/>
                </a:solidFill>
                <a:latin typeface="Arial" pitchFamily="34" charset="0"/>
                <a:ea typeface="Arial" pitchFamily="34" charset="-122"/>
                <a:cs typeface="Arial" pitchFamily="34" charset="-120"/>
              </a:rPr>
              <a:t>Outer security and governance boundary that prevents unauthorized data exfiltration.</a:t>
            </a:r>
            <a:endParaRPr lang="en-US" sz="780" dirty="0"/>
          </a:p>
        </p:txBody>
      </p:sp>
      <p:sp>
        <p:nvSpPr>
          <p:cNvPr id="13" name="Shape 11"/>
          <p:cNvSpPr/>
          <p:nvPr/>
        </p:nvSpPr>
        <p:spPr>
          <a:xfrm>
            <a:off x="3639312" y="1152144"/>
            <a:ext cx="7790688" cy="296266"/>
          </a:xfrm>
          <a:prstGeom prst="rect">
            <a:avLst/>
          </a:prstGeom>
          <a:solidFill>
            <a:srgbClr val="FFFFFF"/>
          </a:solidFill>
          <a:ln w="9525">
            <a:solidFill>
              <a:srgbClr val="DADCE0"/>
            </a:solidFill>
            <a:prstDash val="solid"/>
          </a:ln>
        </p:spPr>
      </p:sp>
      <p:sp>
        <p:nvSpPr>
          <p:cNvPr id="14" name="Text 12"/>
          <p:cNvSpPr/>
          <p:nvPr/>
        </p:nvSpPr>
        <p:spPr>
          <a:xfrm>
            <a:off x="3749040" y="1170432"/>
            <a:ext cx="7571232" cy="259690"/>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The Multi-Tenant Agentic Triad: Security • FinOps COGS • Zero-PII Observability: </a:t>
            </a:r>
            <a:pPr indent="0" marL="0">
              <a:buNone/>
            </a:pPr>
            <a:r>
              <a:rPr lang="en-US" sz="70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720" dirty="0"/>
          </a:p>
        </p:txBody>
      </p:sp>
      <p:sp>
        <p:nvSpPr>
          <p:cNvPr id="15" name="Shape 13"/>
          <p:cNvSpPr/>
          <p:nvPr/>
        </p:nvSpPr>
        <p:spPr>
          <a:xfrm>
            <a:off x="749808" y="1448410"/>
            <a:ext cx="2889504" cy="786384"/>
          </a:xfrm>
          <a:prstGeom prst="rect">
            <a:avLst/>
          </a:prstGeom>
          <a:solidFill>
            <a:srgbClr val="FFFFFF"/>
          </a:solidFill>
          <a:ln w="9525">
            <a:solidFill>
              <a:srgbClr val="DADCE0"/>
            </a:solidFill>
            <a:prstDash val="solid"/>
          </a:ln>
        </p:spPr>
      </p:sp>
      <p:sp>
        <p:nvSpPr>
          <p:cNvPr id="16" name="Text 14"/>
          <p:cNvSpPr/>
          <p:nvPr/>
        </p:nvSpPr>
        <p:spPr>
          <a:xfrm>
            <a:off x="841248" y="1466698"/>
            <a:ext cx="2706624" cy="749808"/>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Triad Pillar 1: Zero-Trust Cryptographic Security
</a:t>
            </a:r>
            <a:pPr indent="0" marL="0">
              <a:buNone/>
            </a:pPr>
            <a:r>
              <a:rPr lang="en-US" sz="67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80" dirty="0"/>
          </a:p>
        </p:txBody>
      </p:sp>
      <p:sp>
        <p:nvSpPr>
          <p:cNvPr id="17" name="Shape 15"/>
          <p:cNvSpPr/>
          <p:nvPr/>
        </p:nvSpPr>
        <p:spPr>
          <a:xfrm>
            <a:off x="3639312" y="1448410"/>
            <a:ext cx="7790688" cy="786384"/>
          </a:xfrm>
          <a:prstGeom prst="rect">
            <a:avLst/>
          </a:prstGeom>
          <a:solidFill>
            <a:srgbClr val="FFFFFF"/>
          </a:solidFill>
          <a:ln w="9525">
            <a:solidFill>
              <a:srgbClr val="DADCE0"/>
            </a:solidFill>
            <a:prstDash val="solid"/>
          </a:ln>
        </p:spPr>
      </p:sp>
      <p:sp>
        <p:nvSpPr>
          <p:cNvPr id="18" name="Text 16"/>
          <p:cNvSpPr/>
          <p:nvPr/>
        </p:nvSpPr>
        <p:spPr>
          <a:xfrm>
            <a:off x="3749040" y="1466698"/>
            <a:ext cx="7571232" cy="749808"/>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External Application Load Balancer: </a:t>
            </a:r>
            <a:pPr indent="0" marL="0">
              <a:buNone/>
            </a:pPr>
            <a:r>
              <a:rPr lang="en-US" sz="700" dirty="0">
                <a:solidFill>
                  <a:srgbClr val="3C4043"/>
                </a:solidFill>
                <a:latin typeface="Arial" pitchFamily="34" charset="0"/>
                <a:ea typeface="Arial" pitchFamily="34" charset="-122"/>
                <a:cs typeface="Arial" pitchFamily="34" charset="-120"/>
              </a:rPr>
              <a:t>Acts as the unified global entry point for incoming requests.
</a:t>
            </a:r>
            <a:pPr indent="0" marL="0">
              <a:buNone/>
            </a:pPr>
            <a:r>
              <a:rPr lang="en-US" sz="720" b="1" dirty="0">
                <a:solidFill>
                  <a:srgbClr val="202124"/>
                </a:solidFill>
                <a:latin typeface="Arial" pitchFamily="34" charset="0"/>
                <a:ea typeface="Arial" pitchFamily="34" charset="-122"/>
                <a:cs typeface="Arial" pitchFamily="34" charset="-120"/>
              </a:rPr>
              <a:t>• Hop 1: Edge PEP &amp; Hop 2: Catalog PDP: </a:t>
            </a:r>
            <a:pPr indent="0" marL="0">
              <a:buNone/>
            </a:pPr>
            <a:r>
              <a:rPr lang="en-US" sz="700" dirty="0">
                <a:solidFill>
                  <a:srgbClr val="3C4043"/>
                </a:solidFill>
                <a:latin typeface="Arial" pitchFamily="34" charset="0"/>
                <a:ea typeface="Arial" pitchFamily="34" charset="-122"/>
                <a:cs typeface="Arial" pitchFamily="34" charset="-120"/>
              </a:rPr>
              <a:t>Enforces edge policy rules and screens payloads before reaching the runtime.
</a:t>
            </a:r>
            <a:pPr indent="0" marL="0">
              <a:buNone/>
            </a:pPr>
            <a:r>
              <a:rPr lang="en-US" sz="720" b="1" dirty="0">
                <a:solidFill>
                  <a:srgbClr val="202124"/>
                </a:solidFill>
                <a:latin typeface="Arial" pitchFamily="34" charset="0"/>
                <a:ea typeface="Arial" pitchFamily="34" charset="-122"/>
                <a:cs typeface="Arial" pitchFamily="34" charset="-120"/>
              </a:rPr>
              <a:t>• Hop 4: Model Armor: </a:t>
            </a:r>
            <a:pPr indent="0" marL="0">
              <a:buNone/>
            </a:pPr>
            <a:r>
              <a:rPr lang="en-US" sz="700" dirty="0">
                <a:solidFill>
                  <a:srgbClr val="3C4043"/>
                </a:solidFill>
                <a:latin typeface="Arial" pitchFamily="34" charset="0"/>
                <a:ea typeface="Arial" pitchFamily="34" charset="-122"/>
                <a:cs typeface="Arial" pitchFamily="34" charset="-120"/>
              </a:rPr>
              <a:t>Authenticates callers and verifies identity and scope claims before routing.
</a:t>
            </a:r>
            <a:pPr indent="0" marL="0">
              <a:buNone/>
            </a:pPr>
            <a:r>
              <a:rPr lang="en-US" sz="720" b="1" dirty="0">
                <a:solidFill>
                  <a:srgbClr val="202124"/>
                </a:solidFill>
                <a:latin typeface="Arial" pitchFamily="34" charset="0"/>
                <a:ea typeface="Arial" pitchFamily="34" charset="-122"/>
                <a:cs typeface="Arial" pitchFamily="34" charset="-120"/>
              </a:rPr>
              <a:t>• Architecture Selector: </a:t>
            </a:r>
            <a:pPr indent="0" marL="0">
              <a:buNone/>
            </a:pPr>
            <a:r>
              <a:rPr lang="en-US" sz="700" dirty="0">
                <a:solidFill>
                  <a:srgbClr val="3C4043"/>
                </a:solidFill>
                <a:latin typeface="Arial" pitchFamily="34" charset="0"/>
                <a:ea typeface="Arial" pitchFamily="34" charset="-122"/>
                <a:cs typeface="Arial" pitchFamily="34" charset="-120"/>
              </a:rPr>
              <a:t>Serverless routing service that validates caller tokens and dispatches requests to the target execution spoke.</a:t>
            </a:r>
            <a:endParaRPr lang="en-US" sz="720" dirty="0"/>
          </a:p>
        </p:txBody>
      </p:sp>
      <p:sp>
        <p:nvSpPr>
          <p:cNvPr id="19" name="Shape 17"/>
          <p:cNvSpPr/>
          <p:nvPr/>
        </p:nvSpPr>
        <p:spPr>
          <a:xfrm>
            <a:off x="749808" y="2234794"/>
            <a:ext cx="2889504" cy="615391"/>
          </a:xfrm>
          <a:prstGeom prst="rect">
            <a:avLst/>
          </a:prstGeom>
          <a:solidFill>
            <a:srgbClr val="FFFFFF"/>
          </a:solidFill>
          <a:ln w="9525">
            <a:solidFill>
              <a:srgbClr val="DADCE0"/>
            </a:solidFill>
            <a:prstDash val="solid"/>
          </a:ln>
        </p:spPr>
      </p:sp>
      <p:sp>
        <p:nvSpPr>
          <p:cNvPr id="20" name="Text 18"/>
          <p:cNvSpPr/>
          <p:nvPr/>
        </p:nvSpPr>
        <p:spPr>
          <a:xfrm>
            <a:off x="841248" y="2253082"/>
            <a:ext cx="2706624" cy="578815"/>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Triad Pillar 3: Privacy- Preserving OTel &amp; Chargeback
</a:t>
            </a:r>
            <a:pPr indent="0" marL="0">
              <a:buNone/>
            </a:pPr>
            <a:r>
              <a:rPr lang="en-US" sz="67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80" dirty="0"/>
          </a:p>
        </p:txBody>
      </p:sp>
      <p:sp>
        <p:nvSpPr>
          <p:cNvPr id="21" name="Shape 19"/>
          <p:cNvSpPr/>
          <p:nvPr/>
        </p:nvSpPr>
        <p:spPr>
          <a:xfrm>
            <a:off x="3639312" y="2234794"/>
            <a:ext cx="7790688" cy="615391"/>
          </a:xfrm>
          <a:prstGeom prst="rect">
            <a:avLst/>
          </a:prstGeom>
          <a:solidFill>
            <a:srgbClr val="FFFFFF"/>
          </a:solidFill>
          <a:ln w="9525">
            <a:solidFill>
              <a:srgbClr val="DADCE0"/>
            </a:solidFill>
            <a:prstDash val="solid"/>
          </a:ln>
        </p:spPr>
      </p:sp>
      <p:sp>
        <p:nvSpPr>
          <p:cNvPr id="22" name="Text 20"/>
          <p:cNvSpPr/>
          <p:nvPr/>
        </p:nvSpPr>
        <p:spPr>
          <a:xfrm>
            <a:off x="3749040" y="2253082"/>
            <a:ext cx="7571232" cy="578815"/>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Security Command Center: </a:t>
            </a:r>
            <a:pPr indent="0" marL="0">
              <a:buNone/>
            </a:pPr>
            <a:r>
              <a:rPr lang="en-US" sz="70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buNone/>
            </a:pPr>
            <a:r>
              <a:rPr lang="en-US" sz="720" b="1" dirty="0">
                <a:solidFill>
                  <a:srgbClr val="202124"/>
                </a:solidFill>
                <a:latin typeface="Arial" pitchFamily="34" charset="0"/>
                <a:ea typeface="Arial" pitchFamily="34" charset="-122"/>
                <a:cs typeface="Arial" pitchFamily="34" charset="-120"/>
              </a:rPr>
              <a:t>• 3 Chargeback Models: </a:t>
            </a:r>
            <a:pPr indent="0" marL="0">
              <a:buNone/>
            </a:pPr>
            <a:r>
              <a:rPr lang="en-US" sz="70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buNone/>
            </a:pPr>
            <a:r>
              <a:rPr lang="en-US" sz="720" b="1" dirty="0">
                <a:solidFill>
                  <a:srgbClr val="202124"/>
                </a:solidFill>
                <a:latin typeface="Arial" pitchFamily="34" charset="0"/>
                <a:ea typeface="Arial" pitchFamily="34" charset="-122"/>
                <a:cs typeface="Arial" pitchFamily="34" charset="-120"/>
              </a:rPr>
              <a:t>• BigQuery OTel Sink: </a:t>
            </a:r>
            <a:pPr indent="0" marL="0">
              <a:buNone/>
            </a:pPr>
            <a:r>
              <a:rPr lang="en-US" sz="70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720" dirty="0"/>
          </a:p>
        </p:txBody>
      </p:sp>
      <p:sp>
        <p:nvSpPr>
          <p:cNvPr id="23" name="Shape 21"/>
          <p:cNvSpPr/>
          <p:nvPr/>
        </p:nvSpPr>
        <p:spPr>
          <a:xfrm>
            <a:off x="749808" y="2850185"/>
            <a:ext cx="2889504" cy="296266"/>
          </a:xfrm>
          <a:prstGeom prst="rect">
            <a:avLst/>
          </a:prstGeom>
          <a:solidFill>
            <a:srgbClr val="FFFFFF"/>
          </a:solidFill>
          <a:ln w="9525">
            <a:solidFill>
              <a:srgbClr val="DADCE0"/>
            </a:solidFill>
            <a:prstDash val="solid"/>
          </a:ln>
        </p:spPr>
      </p:sp>
      <p:sp>
        <p:nvSpPr>
          <p:cNvPr id="24" name="Text 22"/>
          <p:cNvSpPr/>
          <p:nvPr/>
        </p:nvSpPr>
        <p:spPr>
          <a:xfrm>
            <a:off x="841248" y="2868473"/>
            <a:ext cx="2706624" cy="259690"/>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7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80" dirty="0"/>
          </a:p>
        </p:txBody>
      </p:sp>
      <p:sp>
        <p:nvSpPr>
          <p:cNvPr id="25" name="Shape 23"/>
          <p:cNvSpPr/>
          <p:nvPr/>
        </p:nvSpPr>
        <p:spPr>
          <a:xfrm>
            <a:off x="3639312" y="2850185"/>
            <a:ext cx="7790688" cy="296266"/>
          </a:xfrm>
          <a:prstGeom prst="rect">
            <a:avLst/>
          </a:prstGeom>
          <a:solidFill>
            <a:srgbClr val="FFFFFF"/>
          </a:solidFill>
          <a:ln w="9525">
            <a:solidFill>
              <a:srgbClr val="DADCE0"/>
            </a:solidFill>
            <a:prstDash val="solid"/>
          </a:ln>
        </p:spPr>
      </p:sp>
      <p:sp>
        <p:nvSpPr>
          <p:cNvPr id="26" name="Text 24"/>
          <p:cNvSpPr/>
          <p:nvPr/>
        </p:nvSpPr>
        <p:spPr>
          <a:xfrm>
            <a:off x="3749040" y="2868473"/>
            <a:ext cx="7571232" cy="259690"/>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Unified Vertex AI Agent Engine &amp; Google ADK Reference Architecture: </a:t>
            </a:r>
            <a:pPr indent="0" marL="0">
              <a:buNone/>
            </a:pPr>
            <a:r>
              <a:rPr lang="en-US" sz="70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720" dirty="0"/>
          </a:p>
        </p:txBody>
      </p:sp>
      <p:sp>
        <p:nvSpPr>
          <p:cNvPr id="27" name="Shape 25"/>
          <p:cNvSpPr/>
          <p:nvPr/>
        </p:nvSpPr>
        <p:spPr>
          <a:xfrm>
            <a:off x="749808" y="3146450"/>
            <a:ext cx="2889504" cy="785470"/>
          </a:xfrm>
          <a:prstGeom prst="rect">
            <a:avLst/>
          </a:prstGeom>
          <a:solidFill>
            <a:srgbClr val="FFFFFF"/>
          </a:solidFill>
          <a:ln w="9525">
            <a:solidFill>
              <a:srgbClr val="DADCE0"/>
            </a:solidFill>
            <a:prstDash val="solid"/>
          </a:ln>
        </p:spPr>
      </p:sp>
      <p:sp>
        <p:nvSpPr>
          <p:cNvPr id="28" name="Text 26"/>
          <p:cNvSpPr/>
          <p:nvPr/>
        </p:nvSpPr>
        <p:spPr>
          <a:xfrm>
            <a:off x="841248" y="3164738"/>
            <a:ext cx="2706624" cy="748894"/>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Pattern A: Pooled Unit Economics &amp; Pattern B Silos &amp; Pattern C PSC Spokes
</a:t>
            </a:r>
            <a:pPr indent="0" marL="0">
              <a:buNone/>
            </a:pPr>
            <a:r>
              <a:rPr lang="en-US" sz="670" dirty="0">
                <a:solidFill>
                  <a:srgbClr val="5F6368"/>
                </a:solidFill>
                <a:latin typeface="Arial" pitchFamily="34" charset="0"/>
                <a:ea typeface="Arial" pitchFamily="34" charset="-122"/>
                <a:cs typeface="Arial" pitchFamily="34" charset="-120"/>
              </a:rPr>
              <a:t>Isolated Google Cloud execution spokes.</a:t>
            </a:r>
            <a:endParaRPr lang="en-US" sz="780" dirty="0"/>
          </a:p>
        </p:txBody>
      </p:sp>
      <p:sp>
        <p:nvSpPr>
          <p:cNvPr id="29" name="Shape 27"/>
          <p:cNvSpPr/>
          <p:nvPr/>
        </p:nvSpPr>
        <p:spPr>
          <a:xfrm>
            <a:off x="3639312" y="3146450"/>
            <a:ext cx="7790688" cy="785470"/>
          </a:xfrm>
          <a:prstGeom prst="rect">
            <a:avLst/>
          </a:prstGeom>
          <a:solidFill>
            <a:srgbClr val="FFFFFF"/>
          </a:solidFill>
          <a:ln w="9525">
            <a:solidFill>
              <a:srgbClr val="DADCE0"/>
            </a:solidFill>
            <a:prstDash val="solid"/>
          </a:ln>
        </p:spPr>
      </p:sp>
      <p:sp>
        <p:nvSpPr>
          <p:cNvPr id="30" name="Text 28"/>
          <p:cNvSpPr/>
          <p:nvPr/>
        </p:nvSpPr>
        <p:spPr>
          <a:xfrm>
            <a:off x="3749040" y="3164738"/>
            <a:ext cx="7571232" cy="748894"/>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Thinking Budget Cap: </a:t>
            </a:r>
            <a:pPr indent="0" marL="0">
              <a:buNone/>
            </a:pPr>
            <a:r>
              <a:rPr lang="en-US" sz="700" dirty="0">
                <a:solidFill>
                  <a:srgbClr val="3C4043"/>
                </a:solidFill>
                <a:latin typeface="Arial" pitchFamily="34" charset="0"/>
                <a:ea typeface="Arial" pitchFamily="34" charset="-122"/>
                <a:cs typeface="Arial" pitchFamily="34" charset="-120"/>
              </a:rPr>
              <a:t>Core execution environment orchestrating reasoning, memory, and tool execution.
</a:t>
            </a:r>
            <a:pPr indent="0" marL="0">
              <a:buNone/>
            </a:pPr>
            <a:r>
              <a:rPr lang="en-US" sz="720" b="1" dirty="0">
                <a:solidFill>
                  <a:srgbClr val="202124"/>
                </a:solidFill>
                <a:latin typeface="Arial" pitchFamily="34" charset="0"/>
                <a:ea typeface="Arial" pitchFamily="34" charset="-122"/>
                <a:cs typeface="Arial" pitchFamily="34" charset="-120"/>
              </a:rPr>
              <a:t>• Valkey Rate Bulkhead: </a:t>
            </a:r>
            <a:pPr indent="0" marL="0">
              <a:buNone/>
            </a:pPr>
            <a:r>
              <a:rPr lang="en-US" sz="700" dirty="0">
                <a:solidFill>
                  <a:srgbClr val="3C4043"/>
                </a:solidFill>
                <a:latin typeface="Arial" pitchFamily="34" charset="0"/>
                <a:ea typeface="Arial" pitchFamily="34" charset="-122"/>
                <a:cs typeface="Arial" pitchFamily="34" charset="-120"/>
              </a:rPr>
              <a:t>Screens prompts and model outputs within the execution boundary to enforce safety and DLP policies.
</a:t>
            </a:r>
            <a:pPr indent="0" marL="0">
              <a:buNone/>
            </a:pPr>
            <a:r>
              <a:rPr lang="en-US" sz="720" b="1" dirty="0">
                <a:solidFill>
                  <a:srgbClr val="202124"/>
                </a:solidFill>
                <a:latin typeface="Arial" pitchFamily="34" charset="0"/>
                <a:ea typeface="Arial" pitchFamily="34" charset="-122"/>
                <a:cs typeface="Arial" pitchFamily="34" charset="-120"/>
              </a:rPr>
              <a:t>• 2LO &amp; 3LO Auth Mgr: </a:t>
            </a:r>
            <a:pPr indent="0" marL="0">
              <a:buNone/>
            </a:pPr>
            <a:r>
              <a:rPr lang="en-US" sz="700" dirty="0">
                <a:solidFill>
                  <a:srgbClr val="3C4043"/>
                </a:solidFill>
                <a:latin typeface="Arial" pitchFamily="34" charset="0"/>
                <a:ea typeface="Arial" pitchFamily="34" charset="-122"/>
                <a:cs typeface="Arial" pitchFamily="34" charset="-120"/>
              </a:rPr>
              <a:t>Serverless tool interface providing standardized, scoped access to enterprise systems.
</a:t>
            </a:r>
            <a:pPr indent="0" marL="0">
              <a:buNone/>
            </a:pPr>
            <a:r>
              <a:rPr lang="en-US" sz="720" b="1" dirty="0">
                <a:solidFill>
                  <a:srgbClr val="202124"/>
                </a:solidFill>
                <a:latin typeface="Arial" pitchFamily="34" charset="0"/>
                <a:ea typeface="Arial" pitchFamily="34" charset="-122"/>
                <a:cs typeface="Arial" pitchFamily="34" charset="-120"/>
              </a:rPr>
              <a:t>• AlloyDB RLS &amp; L1–L5: </a:t>
            </a:r>
            <a:pPr indent="0" marL="0">
              <a:buNone/>
            </a:pPr>
            <a:r>
              <a:rPr lang="en-US" sz="700" dirty="0">
                <a:solidFill>
                  <a:srgbClr val="3C4043"/>
                </a:solidFill>
                <a:latin typeface="Arial" pitchFamily="34" charset="0"/>
                <a:ea typeface="Arial" pitchFamily="34" charset="-122"/>
                <a:cs typeface="Arial" pitchFamily="34" charset="-120"/>
              </a:rPr>
              <a:t>Isolated persistence layer enforcing access boundaries, vector namespaces, and encryption at rest.</a:t>
            </a:r>
            <a:endParaRPr lang="en-US" sz="720" dirty="0"/>
          </a:p>
        </p:txBody>
      </p:sp>
      <p:sp>
        <p:nvSpPr>
          <p:cNvPr id="31" name="Shape 29"/>
          <p:cNvSpPr/>
          <p:nvPr/>
        </p:nvSpPr>
        <p:spPr>
          <a:xfrm>
            <a:off x="749808" y="4041648"/>
            <a:ext cx="10680192" cy="0"/>
          </a:xfrm>
          <a:prstGeom prst="line">
            <a:avLst/>
          </a:prstGeom>
          <a:noFill/>
          <a:ln w="9525">
            <a:solidFill>
              <a:srgbClr val="DADCE0"/>
            </a:solidFill>
            <a:prstDash val="solid"/>
          </a:ln>
        </p:spPr>
      </p:sp>
      <p:sp>
        <p:nvSpPr>
          <p:cNvPr id="32" name="Text 30"/>
          <p:cNvSpPr/>
          <p:nvPr/>
        </p:nvSpPr>
        <p:spPr>
          <a:xfrm>
            <a:off x="749808" y="4114800"/>
            <a:ext cx="10680192" cy="256032"/>
          </a:xfrm>
          <a:prstGeom prst="rect">
            <a:avLst/>
          </a:prstGeom>
          <a:noFill/>
          <a:ln/>
        </p:spPr>
        <p:txBody>
          <a:bodyPr wrap="square" rtlCol="0" anchor="ctr"/>
          <a:lstStyle/>
          <a:p>
            <a:pPr indent="0" marL="0">
              <a:buNone/>
            </a:pPr>
            <a:r>
              <a:rPr lang="en-US" sz="1300" dirty="0">
                <a:solidFill>
                  <a:srgbClr val="202124"/>
                </a:solidFill>
                <a:latin typeface="Arial" pitchFamily="34" charset="0"/>
                <a:ea typeface="Arial" pitchFamily="34" charset="-122"/>
                <a:cs typeface="Arial" pitchFamily="34" charset="-120"/>
              </a:rPr>
              <a:t>Agentic flow</a:t>
            </a:r>
            <a:endParaRPr lang="en-US" sz="1300" dirty="0"/>
          </a:p>
        </p:txBody>
      </p:sp>
      <p:sp>
        <p:nvSpPr>
          <p:cNvPr id="33" name="Text 31"/>
          <p:cNvSpPr/>
          <p:nvPr/>
        </p:nvSpPr>
        <p:spPr>
          <a:xfrm>
            <a:off x="749808" y="4407408"/>
            <a:ext cx="10680192" cy="2139696"/>
          </a:xfrm>
          <a:prstGeom prst="rect">
            <a:avLst/>
          </a:prstGeom>
          <a:noFill/>
          <a:ln/>
        </p:spPr>
        <p:txBody>
          <a:bodyPr wrap="square" rtlCol="0" anchor="t"/>
          <a:lstStyle/>
          <a:p>
            <a:pPr indent="0" marL="0">
              <a:lnSpc>
                <a:spcPct val="108000"/>
              </a:lnSpc>
              <a:buNone/>
            </a:pPr>
            <a:r>
              <a:rPr lang="en-US" sz="740" b="1" dirty="0">
                <a:solidFill>
                  <a:srgbClr val="202124"/>
                </a:solidFill>
                <a:latin typeface="Arial" pitchFamily="34" charset="0"/>
                <a:ea typeface="Arial" pitchFamily="34" charset="-122"/>
                <a:cs typeface="Arial" pitchFamily="34" charset="-120"/>
              </a:rPr>
              <a:t>1. </a:t>
            </a:r>
            <a:pPr indent="0" marL="0">
              <a:lnSpc>
                <a:spcPct val="108000"/>
              </a:lnSpc>
              <a:buNone/>
            </a:pPr>
            <a:r>
              <a:rPr lang="en-US" sz="730" dirty="0">
                <a:solidFill>
                  <a:srgbClr val="3C4043"/>
                </a:solidFill>
                <a:latin typeface="Arial" pitchFamily="34" charset="0"/>
                <a:ea typeface="Arial" pitchFamily="34" charset="-122"/>
                <a:cs typeface="Arial" pitchFamily="34" charset="-120"/>
              </a:rPr>
              <a:t>A caller sends a request to External Application Load Balancer in the Triad Pillar 1: Zero-Trust Cryptographic Security.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2. </a:t>
            </a:r>
            <a:pPr indent="0" marL="0">
              <a:lnSpc>
                <a:spcPct val="108000"/>
              </a:lnSpc>
              <a:buNone/>
            </a:pPr>
            <a:r>
              <a:rPr lang="en-US" sz="730" dirty="0">
                <a:solidFill>
                  <a:srgbClr val="3C4043"/>
                </a:solidFill>
                <a:latin typeface="Arial" pitchFamily="34" charset="0"/>
                <a:ea typeface="Arial" pitchFamily="34" charset="-122"/>
                <a:cs typeface="Arial" pitchFamily="34" charset="-120"/>
              </a:rPr>
              <a:t>After passing policy and security checks across Hop 1: Edge PEP, Hop 4: Model Armor, and Hop 2: Catalog PDP, the request is forwarded to Architecture Selector.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3. </a:t>
            </a:r>
            <a:pPr indent="0" marL="0">
              <a:lnSpc>
                <a:spcPct val="108000"/>
              </a:lnSpc>
              <a:buNone/>
            </a:pPr>
            <a:r>
              <a:rPr lang="en-US" sz="730" dirty="0">
                <a:solidFill>
                  <a:srgbClr val="3C4043"/>
                </a:solidFill>
                <a:latin typeface="Arial" pitchFamily="34" charset="0"/>
                <a:ea typeface="Arial" pitchFamily="34" charset="-122"/>
                <a:cs typeface="Arial" pitchFamily="34" charset="-120"/>
              </a:rPr>
              <a:t>Architecture Selector verifies the caller's identity claims, attaches scoped execution metadata, and routes the request to the target execution spoke.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4. </a:t>
            </a:r>
            <a:pPr indent="0" marL="0">
              <a:lnSpc>
                <a:spcPct val="108000"/>
              </a:lnSpc>
              <a:buNone/>
            </a:pPr>
            <a:r>
              <a:rPr lang="en-US" sz="730" dirty="0">
                <a:solidFill>
                  <a:srgbClr val="3C4043"/>
                </a:solidFill>
                <a:latin typeface="Arial" pitchFamily="34" charset="0"/>
                <a:ea typeface="Arial" pitchFamily="34" charset="-122"/>
                <a:cs typeface="Arial" pitchFamily="34" charset="-120"/>
              </a:rPr>
              <a:t>Within Pattern A: Pooled Unit Economics, the runtime orchestrates execution across four deterministic sub-steps.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4a. </a:t>
            </a:r>
            <a:pPr indent="0" marL="0">
              <a:lnSpc>
                <a:spcPct val="108000"/>
              </a:lnSpc>
              <a:buNone/>
            </a:pPr>
            <a:r>
              <a:rPr lang="en-US" sz="69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4b. </a:t>
            </a:r>
            <a:pPr indent="0" marL="0">
              <a:lnSpc>
                <a:spcPct val="108000"/>
              </a:lnSpc>
              <a:buNone/>
            </a:pPr>
            <a:r>
              <a:rPr lang="en-US" sz="690" dirty="0">
                <a:solidFill>
                  <a:srgbClr val="3C4043"/>
                </a:solidFill>
                <a:latin typeface="Arial" pitchFamily="34" charset="0"/>
                <a:ea typeface="Arial" pitchFamily="34" charset="-122"/>
                <a:cs typeface="Arial" pitchFamily="34" charset="-120"/>
              </a:rPr>
              <a:t>Grounded context retrieval: Queries the datastore via Zero Cache Bleed.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4c. </a:t>
            </a:r>
            <a:pPr indent="0" marL="0">
              <a:lnSpc>
                <a:spcPct val="108000"/>
              </a:lnSpc>
              <a:buNone/>
            </a:pPr>
            <a:r>
              <a:rPr lang="en-US" sz="690" dirty="0">
                <a:solidFill>
                  <a:srgbClr val="3C4043"/>
                </a:solidFill>
                <a:latin typeface="Arial" pitchFamily="34" charset="0"/>
                <a:ea typeface="Arial" pitchFamily="34" charset="-122"/>
                <a:cs typeface="Arial" pitchFamily="34" charset="-120"/>
              </a:rPr>
              <a:t>Scoped tool invocation: Executes external tool operations via Storage-Engine RLS Policy.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4d. </a:t>
            </a:r>
            <a:pPr indent="0" marL="0">
              <a:lnSpc>
                <a:spcPct val="108000"/>
              </a:lnSpc>
              <a:buNone/>
            </a:pPr>
            <a:r>
              <a:rPr lang="en-US" sz="69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5. </a:t>
            </a:r>
            <a:pPr indent="0" marL="0">
              <a:lnSpc>
                <a:spcPct val="108000"/>
              </a:lnSpc>
              <a:buNone/>
            </a:pPr>
            <a:r>
              <a:rPr lang="en-US" sz="730" dirty="0">
                <a:solidFill>
                  <a:srgbClr val="3C4043"/>
                </a:solidFill>
                <a:latin typeface="Arial" pitchFamily="34" charset="0"/>
                <a:ea typeface="Arial" pitchFamily="34" charset="-122"/>
                <a:cs typeface="Arial" pitchFamily="34" charset="-120"/>
              </a:rPr>
              <a:t>Thinking Budget Cap sends the validated, context-enriched prompt to ContextCacheConfig to synthesize a grounded response.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6. </a:t>
            </a:r>
            <a:pPr indent="0" marL="0">
              <a:lnSpc>
                <a:spcPct val="108000"/>
              </a:lnSpc>
              <a:buNone/>
            </a:pPr>
            <a:r>
              <a:rPr lang="en-US" sz="730" dirty="0">
                <a:solidFill>
                  <a:srgbClr val="3C4043"/>
                </a:solidFill>
                <a:latin typeface="Arial" pitchFamily="34" charset="0"/>
                <a:ea typeface="Arial" pitchFamily="34" charset="-122"/>
                <a:cs typeface="Arial" pitchFamily="34" charset="-120"/>
              </a:rPr>
              <a:t>Thinking Budget Cap passes the generated output through Valkey Rate Bulkhead for final output sanitization and policy enforcement.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7. </a:t>
            </a:r>
            <a:pPr indent="0" marL="0">
              <a:lnSpc>
                <a:spcPct val="108000"/>
              </a:lnSpc>
              <a:buNone/>
            </a:pPr>
            <a:r>
              <a:rPr lang="en-US" sz="730" dirty="0">
                <a:solidFill>
                  <a:srgbClr val="3C4043"/>
                </a:solidFill>
                <a:latin typeface="Arial" pitchFamily="34" charset="0"/>
                <a:ea typeface="Arial" pitchFamily="34" charset="-122"/>
                <a:cs typeface="Arial" pitchFamily="34" charset="-120"/>
              </a:rPr>
              <a:t>The verified response returns to the caller through the Triad Pillar 1: Zero-Trust Cryptographic Security, while structured OpenTelemetry audit and FinOps spans stream to the Triad Pillar 3: Privacy- Preserving OTel &amp; Chargeback.
</a:t>
            </a:r>
            <a:endParaRPr lang="en-US" sz="7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58368"/>
            <a:ext cx="10680192" cy="310896"/>
          </a:xfrm>
          <a:prstGeom prst="rect">
            <a:avLst/>
          </a:prstGeom>
          <a:noFill/>
          <a:ln/>
        </p:spPr>
        <p:txBody>
          <a:bodyPr wrap="square" rtlCol="0" anchor="ctr"/>
          <a:lstStyle/>
          <a:p>
            <a:pPr indent="0" marL="0">
              <a:buNone/>
            </a:pPr>
            <a:r>
              <a:rPr lang="en-US" sz="1550" dirty="0">
                <a:solidFill>
                  <a:srgbClr val="202124"/>
                </a:solidFill>
                <a:latin typeface="Arial" pitchFamily="34" charset="0"/>
                <a:ea typeface="Arial" pitchFamily="34" charset="-122"/>
                <a:cs typeface="Arial" pitchFamily="34" charset="-120"/>
              </a:rPr>
              <a:t>Products used</a:t>
            </a:r>
            <a:endParaRPr lang="en-US" sz="1550" dirty="0"/>
          </a:p>
        </p:txBody>
      </p:sp>
      <p:sp>
        <p:nvSpPr>
          <p:cNvPr id="7" name="Text 5"/>
          <p:cNvSpPr/>
          <p:nvPr/>
        </p:nvSpPr>
        <p:spPr>
          <a:xfrm>
            <a:off x="749808" y="1005840"/>
            <a:ext cx="10680192" cy="219456"/>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Agent Deployment Models: Navigating the Agentic Trilemma Across Pool, Bridge &amp; Silo.</a:t>
            </a:r>
            <a:endParaRPr lang="en-US" sz="920" dirty="0"/>
          </a:p>
        </p:txBody>
      </p:sp>
      <p:sp>
        <p:nvSpPr>
          <p:cNvPr id="8" name="Text 6"/>
          <p:cNvSpPr/>
          <p:nvPr/>
        </p:nvSpPr>
        <p:spPr>
          <a:xfrm>
            <a:off x="877824" y="1280160"/>
            <a:ext cx="10552176" cy="1993392"/>
          </a:xfrm>
          <a:prstGeom prst="rect">
            <a:avLst/>
          </a:prstGeom>
          <a:noFill/>
          <a:ln/>
        </p:spPr>
        <p:txBody>
          <a:bodyPr wrap="square" rtlCol="0" anchor="t"/>
          <a:lstStyle/>
          <a:p>
            <a:pPr indent="0" marL="0">
              <a:lnSpc>
                <a:spcPct val="124000"/>
              </a:lnSpc>
              <a:buNone/>
            </a:pPr>
            <a:r>
              <a:rPr lang="en-US" sz="840" b="1" dirty="0">
                <a:solidFill>
                  <a:srgbClr val="1A73E8"/>
                </a:solidFill>
                <a:latin typeface="Arial" pitchFamily="34" charset="0"/>
                <a:ea typeface="Arial" pitchFamily="34" charset="-122"/>
                <a:cs typeface="Arial" pitchFamily="34" charset="-120"/>
              </a:rPr>
              <a:t>•  Vertex AI Agent Engine: </a:t>
            </a:r>
            <a:pPr indent="0" marL="0">
              <a:lnSpc>
                <a:spcPct val="124000"/>
              </a:lnSpc>
              <a:buNone/>
            </a:pPr>
            <a:r>
              <a:rPr lang="en-US" sz="82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Google ADK 2.0: </a:t>
            </a:r>
            <a:pPr indent="0" marL="0">
              <a:lnSpc>
                <a:spcPct val="124000"/>
              </a:lnSpc>
              <a:buNone/>
            </a:pPr>
            <a:r>
              <a:rPr lang="en-US" sz="82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Vertex AI Model Garden: </a:t>
            </a:r>
            <a:pPr indent="0" marL="0">
              <a:lnSpc>
                <a:spcPct val="124000"/>
              </a:lnSpc>
              <a:buNone/>
            </a:pPr>
            <a:r>
              <a:rPr lang="en-US" sz="820" dirty="0">
                <a:solidFill>
                  <a:srgbClr val="3C4043"/>
                </a:solidFill>
                <a:latin typeface="Arial" pitchFamily="34" charset="0"/>
                <a:ea typeface="Arial" pitchFamily="34" charset="-122"/>
                <a:cs typeface="Arial" pitchFamily="34" charset="-120"/>
              </a:rPr>
              <a:t>Core Google Cloud service used in DOC-MT-02 to enforce production security, scalability, and observability.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Private Service Connect: </a:t>
            </a:r>
            <a:pPr indent="0" marL="0">
              <a:lnSpc>
                <a:spcPct val="124000"/>
              </a:lnSpc>
              <a:buNone/>
            </a:pPr>
            <a:r>
              <a:rPr lang="en-US" sz="820" dirty="0">
                <a:solidFill>
                  <a:srgbClr val="3C4043"/>
                </a:solidFill>
                <a:latin typeface="Arial" pitchFamily="34" charset="0"/>
                <a:ea typeface="Arial" pitchFamily="34" charset="-122"/>
                <a:cs typeface="Arial" pitchFamily="34" charset="-120"/>
              </a:rPr>
              <a:t>Core Google Cloud service used in DOC-MT-02 to enforce production security, scalability, and observability.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VPC Service Controls: </a:t>
            </a:r>
            <a:pPr indent="0" marL="0">
              <a:lnSpc>
                <a:spcPct val="124000"/>
              </a:lnSpc>
              <a:buNone/>
            </a:pPr>
            <a:r>
              <a:rPr lang="en-US" sz="820" dirty="0">
                <a:solidFill>
                  <a:srgbClr val="3C4043"/>
                </a:solidFill>
                <a:latin typeface="Arial" pitchFamily="34" charset="0"/>
                <a:ea typeface="Arial" pitchFamily="34" charset="-122"/>
                <a:cs typeface="Arial" pitchFamily="34" charset="-120"/>
              </a:rPr>
              <a:t>Enforces service perimeters across Google Cloud resources to prevent unauthorized data exfiltration across organizational boundaries.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BigQuery Agent Analytics: </a:t>
            </a:r>
            <a:pPr indent="0" marL="0">
              <a:lnSpc>
                <a:spcPct val="124000"/>
              </a:lnSpc>
              <a:buNone/>
            </a:pPr>
            <a:r>
              <a:rPr lang="en-US" sz="82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a:t>
            </a:r>
            <a:endParaRPr lang="en-US" sz="840" dirty="0"/>
          </a:p>
        </p:txBody>
      </p:sp>
      <p:sp>
        <p:nvSpPr>
          <p:cNvPr id="9" name="Shape 7"/>
          <p:cNvSpPr/>
          <p:nvPr/>
        </p:nvSpPr>
        <p:spPr>
          <a:xfrm>
            <a:off x="749808" y="3383280"/>
            <a:ext cx="10680192" cy="0"/>
          </a:xfrm>
          <a:prstGeom prst="line">
            <a:avLst/>
          </a:prstGeom>
          <a:noFill/>
          <a:ln w="9525">
            <a:solidFill>
              <a:srgbClr val="DADCE0"/>
            </a:solidFill>
            <a:prstDash val="solid"/>
          </a:ln>
        </p:spPr>
      </p:sp>
      <p:sp>
        <p:nvSpPr>
          <p:cNvPr id="10" name="Text 8"/>
          <p:cNvSpPr/>
          <p:nvPr/>
        </p:nvSpPr>
        <p:spPr>
          <a:xfrm>
            <a:off x="749808" y="3511296"/>
            <a:ext cx="10680192" cy="310896"/>
          </a:xfrm>
          <a:prstGeom prst="rect">
            <a:avLst/>
          </a:prstGeom>
          <a:noFill/>
          <a:ln/>
        </p:spPr>
        <p:txBody>
          <a:bodyPr wrap="square" rtlCol="0" anchor="ctr"/>
          <a:lstStyle/>
          <a:p>
            <a:pPr indent="0" marL="0">
              <a:buNone/>
            </a:pPr>
            <a:r>
              <a:rPr lang="en-US" sz="1550" dirty="0">
                <a:solidFill>
                  <a:srgbClr val="202124"/>
                </a:solidFill>
                <a:latin typeface="Arial" pitchFamily="34" charset="0"/>
                <a:ea typeface="Arial" pitchFamily="34" charset="-122"/>
                <a:cs typeface="Arial" pitchFamily="34" charset="-120"/>
              </a:rPr>
              <a:t>Use case</a:t>
            </a:r>
            <a:endParaRPr lang="en-US" sz="1550" dirty="0"/>
          </a:p>
        </p:txBody>
      </p:sp>
      <p:sp>
        <p:nvSpPr>
          <p:cNvPr id="11" name="Text 9"/>
          <p:cNvSpPr/>
          <p:nvPr/>
        </p:nvSpPr>
        <p:spPr>
          <a:xfrm>
            <a:off x="749808" y="3858768"/>
            <a:ext cx="10680192" cy="256032"/>
          </a:xfrm>
          <a:prstGeom prst="rect">
            <a:avLst/>
          </a:prstGeom>
          <a:noFill/>
          <a:ln/>
        </p:spPr>
        <p:txBody>
          <a:bodyPr wrap="square" rtlCol="0" anchor="ctr"/>
          <a:lstStyle/>
          <a:p>
            <a:pPr indent="0" marL="0">
              <a:buNone/>
            </a:pPr>
            <a:r>
              <a:rPr lang="en-US" sz="1150" b="1" dirty="0">
                <a:solidFill>
                  <a:srgbClr val="202124"/>
                </a:solidFill>
                <a:latin typeface="Arial" pitchFamily="34" charset="0"/>
                <a:ea typeface="Arial" pitchFamily="34" charset="-122"/>
                <a:cs typeface="Arial" pitchFamily="34" charset="-120"/>
              </a:rPr>
              <a:t>Comparing the Three Core Tenancy Topologies Across All 7 Subsystems</a:t>
            </a:r>
            <a:endParaRPr lang="en-US" sz="1150" dirty="0"/>
          </a:p>
        </p:txBody>
      </p:sp>
      <p:sp>
        <p:nvSpPr>
          <p:cNvPr id="12" name="Text 10"/>
          <p:cNvSpPr/>
          <p:nvPr/>
        </p:nvSpPr>
        <p:spPr>
          <a:xfrm>
            <a:off x="749808" y="4151376"/>
            <a:ext cx="10680192" cy="658368"/>
          </a:xfrm>
          <a:prstGeom prst="rect">
            <a:avLst/>
          </a:prstGeom>
          <a:noFill/>
          <a:ln/>
        </p:spPr>
        <p:txBody>
          <a:bodyPr wrap="square" rtlCol="0" anchor="t"/>
          <a:lstStyle/>
          <a:p>
            <a:pPr indent="0" marL="0">
              <a:lnSpc>
                <a:spcPct val="118000"/>
              </a:lnSpc>
              <a:buNone/>
            </a:pPr>
            <a:r>
              <a:rPr lang="en-US" sz="880" dirty="0">
                <a:solidFill>
                  <a:srgbClr val="3C4043"/>
                </a:solidFill>
                <a:latin typeface="Arial" pitchFamily="34" charset="0"/>
                <a:ea typeface="Arial" pitchFamily="34" charset="-122"/>
                <a:cs typeface="Arial" pitchFamily="34" charset="-120"/>
              </a:rPr>
              <a:t>Every multi-tenant agent deployment maps the seven core subsystems—Inbound Identity, Ingress Gateway, Agent Runtime, Memory Bank, Foundation Models, Egress Gateway, and Data/Tool Fabric—across three canonical topologies.</a:t>
            </a:r>
            <a:endParaRPr lang="en-US" sz="880" dirty="0"/>
          </a:p>
        </p:txBody>
      </p:sp>
      <p:sp>
        <p:nvSpPr>
          <p:cNvPr id="13" name="Text 11"/>
          <p:cNvSpPr/>
          <p:nvPr/>
        </p:nvSpPr>
        <p:spPr>
          <a:xfrm>
            <a:off x="749808" y="4846320"/>
            <a:ext cx="10680192" cy="201168"/>
          </a:xfrm>
          <a:prstGeom prst="rect">
            <a:avLst/>
          </a:prstGeom>
          <a:noFill/>
          <a:ln/>
        </p:spPr>
        <p:txBody>
          <a:bodyPr wrap="square" rtlCol="0" anchor="ctr"/>
          <a:lstStyle/>
          <a:p>
            <a:pPr indent="0" marL="0">
              <a:buNone/>
            </a:pPr>
            <a:r>
              <a:rPr lang="en-US" sz="88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80" dirty="0"/>
          </a:p>
        </p:txBody>
      </p:sp>
      <p:sp>
        <p:nvSpPr>
          <p:cNvPr id="14" name="Text 12"/>
          <p:cNvSpPr/>
          <p:nvPr/>
        </p:nvSpPr>
        <p:spPr>
          <a:xfrm>
            <a:off x="877824" y="5084064"/>
            <a:ext cx="10552176" cy="1426464"/>
          </a:xfrm>
          <a:prstGeom prst="rect">
            <a:avLst/>
          </a:prstGeom>
          <a:noFill/>
          <a:ln/>
        </p:spPr>
        <p:txBody>
          <a:bodyPr wrap="square" rtlCol="0" anchor="t"/>
          <a:lstStyle/>
          <a:p>
            <a:pPr indent="0" marL="0">
              <a:lnSpc>
                <a:spcPct val="120000"/>
              </a:lnSpc>
              <a:buNone/>
            </a:pPr>
            <a:r>
              <a:rPr lang="en-US" sz="820" b="1" dirty="0">
                <a:solidFill>
                  <a:srgbClr val="202124"/>
                </a:solidFill>
                <a:latin typeface="Arial" pitchFamily="34" charset="0"/>
                <a:ea typeface="Arial" pitchFamily="34" charset="-122"/>
                <a:cs typeface="Arial" pitchFamily="34" charset="-120"/>
              </a:rPr>
              <a:t>•  Strict data isolation: </a:t>
            </a:r>
            <a:pPr indent="0" marL="0">
              <a:lnSpc>
                <a:spcPct val="120000"/>
              </a:lnSpc>
              <a:buNone/>
            </a:pPr>
            <a:r>
              <a:rPr lang="en-US" sz="800" dirty="0">
                <a:solidFill>
                  <a:srgbClr val="3C4043"/>
                </a:solidFill>
                <a:latin typeface="Arial" pitchFamily="34" charset="0"/>
                <a:ea typeface="Arial" pitchFamily="34" charset="-122"/>
                <a:cs typeface="Arial" pitchFamily="34" charset="-120"/>
              </a:rPr>
              <a:t>Enforces deterministic tenant and domain boundaries via Unified Vertex AI Agent Engine &amp; Google ADK Reference Architecture and AlloyDB RLS &amp; L1–L5, preventing cross-spoke state or credential leakage.
</a:t>
            </a:r>
            <a:pPr indent="0" marL="0">
              <a:lnSpc>
                <a:spcPct val="120000"/>
              </a:lnSpc>
              <a:buNone/>
            </a:pPr>
            <a:r>
              <a:rPr lang="en-US" sz="820" b="1" dirty="0">
                <a:solidFill>
                  <a:srgbClr val="202124"/>
                </a:solidFill>
                <a:latin typeface="Arial" pitchFamily="34" charset="0"/>
                <a:ea typeface="Arial" pitchFamily="34" charset="-122"/>
                <a:cs typeface="Arial" pitchFamily="34" charset="-120"/>
              </a:rPr>
              <a:t>•  1. Build: </a:t>
            </a:r>
            <a:pPr indent="0" marL="0">
              <a:lnSpc>
                <a:spcPct val="120000"/>
              </a:lnSpc>
              <a:buNone/>
            </a:pPr>
            <a:r>
              <a:rPr lang="en-US" sz="800" dirty="0">
                <a:solidFill>
                  <a:srgbClr val="3C4043"/>
                </a:solidFill>
                <a:latin typeface="Arial" pitchFamily="34" charset="0"/>
                <a:ea typeface="Arial" pitchFamily="34" charset="-122"/>
                <a:cs typeface="Arial" pitchFamily="34" charset="-120"/>
              </a:rPr>
              <a:t>Supports Google ADK 2.0 alongside third-party agent frameworks. Integrates frontier Gemini models and open-weight models via Model Garden, coupled with open standard protocols.
</a:t>
            </a:r>
            <a:pPr indent="0" marL="0">
              <a:lnSpc>
                <a:spcPct val="120000"/>
              </a:lnSpc>
              <a:buNone/>
            </a:pPr>
            <a:r>
              <a:rPr lang="en-US" sz="820" b="1" dirty="0">
                <a:solidFill>
                  <a:srgbClr val="202124"/>
                </a:solidFill>
                <a:latin typeface="Arial" pitchFamily="34" charset="0"/>
                <a:ea typeface="Arial" pitchFamily="34" charset="-122"/>
                <a:cs typeface="Arial" pitchFamily="34" charset="-120"/>
              </a:rPr>
              <a:t>•  2. Scale: </a:t>
            </a:r>
            <a:pPr indent="0" marL="0">
              <a:lnSpc>
                <a:spcPct val="120000"/>
              </a:lnSpc>
              <a:buNone/>
            </a:pPr>
            <a:r>
              <a:rPr lang="en-US" sz="800" dirty="0">
                <a:solidFill>
                  <a:srgbClr val="3C4043"/>
                </a:solidFill>
                <a:latin typeface="Arial" pitchFamily="34" charset="0"/>
                <a:ea typeface="Arial" pitchFamily="34" charset="-122"/>
                <a:cs typeface="Arial" pitchFamily="34" charset="-120"/>
              </a:rPr>
              <a:t>Agent Runtime provisions sub-second warm-start execution with Agent Sandboxes backed by gVisor microVMs. Agent Sessions and Agent Memory Bank provide managed multi-tenant hierarchical memory with tenant-isolated.
</a:t>
            </a:r>
            <a:pPr indent="0" marL="0">
              <a:lnSpc>
                <a:spcPct val="120000"/>
              </a:lnSpc>
              <a:buNone/>
            </a:pPr>
            <a:r>
              <a:rPr lang="en-US" sz="820" b="1" dirty="0">
                <a:solidFill>
                  <a:srgbClr val="202124"/>
                </a:solidFill>
                <a:latin typeface="Arial" pitchFamily="34" charset="0"/>
                <a:ea typeface="Arial" pitchFamily="34" charset="-122"/>
                <a:cs typeface="Arial" pitchFamily="34" charset="-120"/>
              </a:rPr>
              <a:t>•  3. Govern: </a:t>
            </a:r>
            <a:pPr indent="0" marL="0">
              <a:lnSpc>
                <a:spcPct val="120000"/>
              </a:lnSpc>
              <a:buNone/>
            </a:pPr>
            <a:r>
              <a:rPr lang="en-US" sz="800" dirty="0">
                <a:solidFill>
                  <a:srgbClr val="3C4043"/>
                </a:solidFill>
                <a:latin typeface="Arial" pitchFamily="34" charset="0"/>
                <a:ea typeface="Arial" pitchFamily="34" charset="-122"/>
                <a:cs typeface="Arial" pitchFamily="34" charset="-120"/>
              </a:rPr>
              <a:t>Agent Gateway and Agent Registry enforce tenant-scoped agent authorization and dynamic tool entitlements.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lstStyle/>
          <a:p>
            <a:pPr indent="0" marL="0">
              <a:lnSpc>
                <a:spcPct val="112000"/>
              </a:lnSpc>
              <a:buNone/>
            </a:pPr>
            <a:r>
              <a:rPr lang="en-US" sz="82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Architecture Selector under The Multi-Tenant Agentic Triad: Security • FinOps COGS • Zero-PII Observability.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Hop 1: Edge PEP and Hop 4: Model Armor.
</a:t>
            </a:r>
            <a:pPr indent="0" marL="0">
              <a:lnSpc>
                <a:spcPct val="112000"/>
              </a:lnSpc>
              <a:buNone/>
            </a:pPr>
            <a:pPr indent="0" marL="0">
              <a:lnSpc>
                <a:spcPct val="112000"/>
              </a:lnSpc>
              <a:buNone/>
            </a:pPr>
            <a:r>
              <a:rPr lang="en-US" sz="820" b="1" dirty="0">
                <a:solidFill>
                  <a:srgbClr val="202124"/>
                </a:solidFill>
                <a:latin typeface="Arial" pitchFamily="34" charset="0"/>
                <a:ea typeface="Arial" pitchFamily="34" charset="-122"/>
                <a:cs typeface="Arial" pitchFamily="34" charset="-120"/>
              </a:rPr>
              <a:t>Thinking Budget Cap &amp; 2LO &amp; 3LO Auth Mgr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Thinking Budget Cap with 2LO &amp; 3LO Auth Mgr and AlloyDB RLS &amp; L1–L5.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2LO &amp; 3LO Auth Mgr: Maximizes blast-radius containment by keeping credentials, service accounts, and data access strictly inside.; Shared enterprise tool gateway: Consolidates stateless, non-tenant-specific MCP tools into a central hub project via Private Service Connect.
</a:t>
            </a:r>
            <a:endParaRPr lang="en-US" sz="82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The Multi-Tenant Agentic Triad: Security • FinOps COGS • Zero-PII Observability &amp; Unified Vertex AI Agent Engine &amp; Google ADK Reference Architecture</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Hop 1: Edge PEP, Hop 4: Model Armor &amp; Valkey Rate Bulkhead</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AlloyDB RLS &amp; L1–L5 &amp; 3 Chargeback Models</a:t>
            </a:r>
            <a:endParaRPr lang="en-US" sz="72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The Multi-Tenant Agentic Triad: Security • FinOps COGS • Zero-PII Observability &amp; Unified Vertex AI Agent Engine &amp; Google ADK Reference Architecture: </a:t>
            </a:r>
            <a:pPr indent="0" marL="0">
              <a:buNone/>
            </a:pPr>
            <a:r>
              <a:rPr lang="en-US" sz="700" dirty="0">
                <a:solidFill>
                  <a:srgbClr val="3C4043"/>
                </a:solidFill>
                <a:latin typeface="Arial" pitchFamily="34" charset="0"/>
                <a:ea typeface="Arial" pitchFamily="34" charset="-122"/>
                <a:cs typeface="Arial" pitchFamily="34" charset="-120"/>
              </a:rPr>
              <a:t>Enforce The Multi-Tenant Agentic Triad: Security • FinOps COGS • Zero-PII Observability perimeters around hub and spoke projects to block unauthorized data exfiltration, and bind.
</a:t>
            </a:r>
            <a:pPr indent="0" marL="0">
              <a:buNone/>
            </a:pPr>
            <a:r>
              <a:rPr lang="en-US" sz="710" b="1" dirty="0">
                <a:solidFill>
                  <a:srgbClr val="202124"/>
                </a:solidFill>
                <a:latin typeface="Arial" pitchFamily="34" charset="0"/>
                <a:ea typeface="Arial" pitchFamily="34" charset="-122"/>
                <a:cs typeface="Arial" pitchFamily="34" charset="-120"/>
              </a:rPr>
              <a:t>• Hop 1: Edge PEP, Hop 4: Model Armor &amp; Valkey Rate Bulkhead: </a:t>
            </a:r>
            <a:pPr indent="0" marL="0">
              <a:buNone/>
            </a:pPr>
            <a:r>
              <a:rPr lang="en-US" sz="700" dirty="0">
                <a:solidFill>
                  <a:srgbClr val="3C4043"/>
                </a:solidFill>
                <a:latin typeface="Arial" pitchFamily="34" charset="0"/>
                <a:ea typeface="Arial" pitchFamily="34" charset="-122"/>
                <a:cs typeface="Arial" pitchFamily="34" charset="-120"/>
              </a:rPr>
              <a:t>Strip client-supplied privilege headers at the edge, verify caller identity claims, and screen both incoming prompts and outgoing completions with Valkey Rate Bulkhead.
</a:t>
            </a:r>
            <a:pPr indent="0" marL="0">
              <a:buNone/>
            </a:pPr>
            <a:r>
              <a:rPr lang="en-US" sz="710" b="1" dirty="0">
                <a:solidFill>
                  <a:srgbClr val="202124"/>
                </a:solidFill>
                <a:latin typeface="Arial" pitchFamily="34" charset="0"/>
                <a:ea typeface="Arial" pitchFamily="34" charset="-122"/>
                <a:cs typeface="Arial" pitchFamily="34" charset="-120"/>
              </a:rPr>
              <a:t>• AlloyDB RLS &amp; L1–L5 &amp; 3 Chargeback Models: </a:t>
            </a:r>
            <a:pPr indent="0" marL="0">
              <a:buNone/>
            </a:pPr>
            <a:r>
              <a:rPr lang="en-US" sz="70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AlloyDB RLS &amp; L1–L5.</a:t>
            </a:r>
            <a:endParaRPr lang="en-US" sz="71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External Application Load Balancer &amp; Architecture Selector</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Thinking Budget Cap &amp; 2LO &amp; 3LO Auth Mgr</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AlloyDB RLS &amp; L1–L5</a:t>
            </a:r>
            <a:endParaRPr lang="en-US" sz="72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Architecture Selector: </a:t>
            </a:r>
            <a:pPr indent="0" marL="0">
              <a:buNone/>
            </a:pPr>
            <a:r>
              <a:rPr lang="en-US" sz="700" dirty="0">
                <a:solidFill>
                  <a:srgbClr val="3C4043"/>
                </a:solidFill>
                <a:latin typeface="Arial" pitchFamily="34" charset="0"/>
                <a:ea typeface="Arial" pitchFamily="34" charset="-122"/>
                <a:cs typeface="Arial" pitchFamily="34" charset="-120"/>
              </a:rPr>
              <a:t>Deploy Architecture Selector across multi-region serverless Network Endpoint Groups (NEGs) with minimum warm instances to eliminate cold-start latency spikes.
</a:t>
            </a:r>
            <a:pPr indent="0" marL="0">
              <a:buNone/>
            </a:pPr>
            <a:r>
              <a:rPr lang="en-US" sz="710" b="1" dirty="0">
                <a:solidFill>
                  <a:srgbClr val="202124"/>
                </a:solidFill>
                <a:latin typeface="Arial" pitchFamily="34" charset="0"/>
                <a:ea typeface="Arial" pitchFamily="34" charset="-122"/>
                <a:cs typeface="Arial" pitchFamily="34" charset="-120"/>
              </a:rPr>
              <a:t>• Thinking Budget Cap &amp; 2LO &amp; 3LO Auth Mgr: </a:t>
            </a:r>
            <a:pPr indent="0" marL="0">
              <a:buNone/>
            </a:pPr>
            <a:r>
              <a:rPr lang="en-US" sz="70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2LO &amp; 3LO Auth Mgr.
</a:t>
            </a:r>
            <a:pPr indent="0" marL="0">
              <a:buNone/>
            </a:pPr>
            <a:r>
              <a:rPr lang="en-US" sz="710" b="1" dirty="0">
                <a:solidFill>
                  <a:srgbClr val="202124"/>
                </a:solidFill>
                <a:latin typeface="Arial" pitchFamily="34" charset="0"/>
                <a:ea typeface="Arial" pitchFamily="34" charset="-122"/>
                <a:cs typeface="Arial" pitchFamily="34" charset="-120"/>
              </a:rPr>
              <a:t>• AlloyDB RLS &amp; L1–L5: </a:t>
            </a:r>
            <a:pPr indent="0" marL="0">
              <a:buNone/>
            </a:pPr>
            <a:r>
              <a:rPr lang="en-US" sz="700" dirty="0">
                <a:solidFill>
                  <a:srgbClr val="3C4043"/>
                </a:solidFill>
                <a:latin typeface="Arial" pitchFamily="34" charset="0"/>
                <a:ea typeface="Arial" pitchFamily="34" charset="-122"/>
                <a:cs typeface="Arial" pitchFamily="34" charset="-120"/>
              </a:rPr>
              <a:t>Enable regional high availability and Point-in-Time Recovery on AlloyDB RLS &amp; L1–L5 with automated backup verification.</a:t>
            </a:r>
            <a:endParaRPr lang="en-US" sz="71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Infrastructure as Code</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Security Command Center &amp; BigQuery OTel Sink</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Automated CI/CD &amp; Red-Team Gates</a:t>
            </a:r>
            <a:endParaRPr lang="en-US" sz="72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 </a:t>
            </a:r>
            <a:pPr indent="0" marL="0">
              <a:buNone/>
            </a:pPr>
            <a:r>
              <a:rPr lang="en-US" sz="700" dirty="0">
                <a:solidFill>
                  <a:srgbClr val="3C4043"/>
                </a:solidFill>
                <a:latin typeface="Arial" pitchFamily="34" charset="0"/>
                <a:ea typeface="Arial" pitchFamily="34" charset="-122"/>
                <a:cs typeface="Arial" pitchFamily="34" charset="-120"/>
              </a:rPr>
              <a:t>Provision Pattern A: Pooled Unit Economics and Pattern B Silos &amp; Pattern C PSC Spokes spokes through versioned Terraform modules that atomically bind perimeters, IAM roles, and runtime configurations.
</a:t>
            </a:r>
            <a:pPr indent="0" marL="0">
              <a:buNone/>
            </a:pPr>
            <a:r>
              <a:rPr lang="en-US" sz="710" b="1" dirty="0">
                <a:solidFill>
                  <a:srgbClr val="202124"/>
                </a:solidFill>
                <a:latin typeface="Arial" pitchFamily="34" charset="0"/>
                <a:ea typeface="Arial" pitchFamily="34" charset="-122"/>
                <a:cs typeface="Arial" pitchFamily="34" charset="-120"/>
              </a:rPr>
              <a:t>• Security Command Center &amp; BigQuery OTel Sink: </a:t>
            </a:r>
            <a:pPr indent="0" marL="0">
              <a:buNone/>
            </a:pPr>
            <a:r>
              <a:rPr lang="en-US" sz="700" dirty="0">
                <a:solidFill>
                  <a:srgbClr val="3C4043"/>
                </a:solidFill>
                <a:latin typeface="Arial" pitchFamily="34" charset="0"/>
                <a:ea typeface="Arial" pitchFamily="34" charset="-122"/>
                <a:cs typeface="Arial" pitchFamily="34" charset="-120"/>
              </a:rPr>
              <a:t>Stream structured OpenTelemetry traces and zero-PII audit logs to BigQuery OTel Sink and monitor posture drift in Security Command Center.
</a:t>
            </a:r>
            <a:pPr indent="0" marL="0">
              <a:buNone/>
            </a:pPr>
            <a:r>
              <a:rPr lang="en-US" sz="71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70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1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ContextCacheConfig Context Caching</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Hop 2: Catalog PDP &amp; 2LO &amp; 3LO Auth Mgr</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BigQuery OTel Sink FinOps Attribution</a:t>
            </a:r>
            <a:endParaRPr lang="en-US" sz="72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ContextCacheConfig Context Caching: </a:t>
            </a:r>
            <a:pPr indent="0" marL="0">
              <a:buNone/>
            </a:pPr>
            <a:r>
              <a:rPr lang="en-US" sz="70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10" b="1" dirty="0">
                <a:solidFill>
                  <a:srgbClr val="202124"/>
                </a:solidFill>
                <a:latin typeface="Arial" pitchFamily="34" charset="0"/>
                <a:ea typeface="Arial" pitchFamily="34" charset="-122"/>
                <a:cs typeface="Arial" pitchFamily="34" charset="-120"/>
              </a:rPr>
              <a:t>• Hop 2: Catalog PDP &amp; 2LO &amp; 3LO Auth Mgr: </a:t>
            </a:r>
            <a:pPr indent="0" marL="0">
              <a:buNone/>
            </a:pPr>
            <a:r>
              <a:rPr lang="en-US" sz="70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10" b="1" dirty="0">
                <a:solidFill>
                  <a:srgbClr val="202124"/>
                </a:solidFill>
                <a:latin typeface="Arial" pitchFamily="34" charset="0"/>
                <a:ea typeface="Arial" pitchFamily="34" charset="-122"/>
                <a:cs typeface="Arial" pitchFamily="34" charset="-120"/>
              </a:rPr>
              <a:t>• BigQuery OTel Sink FinOps Attribution: </a:t>
            </a:r>
            <a:pPr indent="0" marL="0">
              <a:buNone/>
            </a:pPr>
            <a:r>
              <a:rPr lang="en-US" sz="70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1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Agent Deployment Models: Navigating the Agentic Trilemma Across Pool, Bridge &amp; Silo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cloud_run_adk_verify.py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54480"/>
            <a:ext cx="10424160" cy="1920240"/>
          </a:xfrm>
          <a:prstGeom prst="rect">
            <a:avLst/>
          </a:prstGeom>
          <a:noFill/>
          <a:ln/>
        </p:spPr>
        <p:txBody>
          <a:bodyPr wrap="square" rtlCol="0" anchor="t"/>
          <a:lstStyle/>
          <a:p>
            <a:pPr indent="0" marL="0">
              <a:lnSpc>
                <a:spcPct val="112000"/>
              </a:lnSpc>
              <a:buNone/>
            </a:pPr>
            <a:endParaRPr lang="en-US" sz="74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DOC-MT-02: Agent Deployment Models: Navigating the Agentic Trilemma Across Pool, Bridge &amp; Silo (DOC-MT-02)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2026-10-15T23:19:50Z</dcterms:created>
  <dcterms:modified xsi:type="dcterms:W3CDTF">2026-10-15T23:19:50Z</dcterms:modified>
</cp:coreProperties>
</file>