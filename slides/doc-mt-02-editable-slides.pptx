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Part 2 of 6 • Deployment Models &amp; Trilemma</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DOC-MT-02</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11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Agent Deployment Models: Navigating the Agentic Trilemma Across Pool, Bridge &amp; Silo</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Architecting multi-tenant agent platforms forces ISVs to navigate the Agentic Trilemma—the inherent architectural tension between Tenant Isolation, Cost Efficiency, and Operational Simplicity.</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The Silo Model dedicates separate infrastructure to each tenant, delivering zero blast radius and effortless compliance at the expense of high idle costs and fleet sprawl. The Pool Model runs all tenants across a shared runtime fleet, maximizing compute density and simplifying operations through logical JWT/RLS partitioning, while requiring rigorous defense against noisy-neighbor and confused-deputy risks.</a:t>
            </a:r>
            <a:endParaRPr lang="en-US" sz="980" dirty="0"/>
          </a:p>
        </p:txBody>
      </p:sp>
      <p:sp>
        <p:nvSpPr>
          <p:cNvPr id="11" name="Text 9"/>
          <p:cNvSpPr/>
          <p:nvPr/>
        </p:nvSpPr>
        <p:spPr>
          <a:xfrm>
            <a:off x="804672" y="3621024"/>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To resolve this tension, mature enterprise ISVs adopt a tiered architecture: routing high-volume standard tiers to a cryptographically governed shared Pool, offering a Hybrid Bridge tier for growth customers with dedicated data spokes, and reserving physically isolated Sovereign Silo perimeters for regulated enterprise accounts.</a:t>
            </a:r>
            <a:endParaRPr lang="en-US" sz="980" dirty="0"/>
          </a:p>
        </p:txBody>
      </p:sp>
      <p:sp>
        <p:nvSpPr>
          <p:cNvPr id="12" name="Shape 10"/>
          <p:cNvSpPr/>
          <p:nvPr/>
        </p:nvSpPr>
        <p:spPr>
          <a:xfrm>
            <a:off x="804672" y="4553712"/>
            <a:ext cx="10570464" cy="0"/>
          </a:xfrm>
          <a:prstGeom prst="line">
            <a:avLst/>
          </a:prstGeom>
          <a:noFill/>
          <a:ln w="9525">
            <a:solidFill>
              <a:srgbClr val="DADCE0"/>
            </a:solidFill>
            <a:prstDash val="solid"/>
          </a:ln>
        </p:spPr>
      </p:sp>
      <p:sp>
        <p:nvSpPr>
          <p:cNvPr id="13" name="Text 11"/>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4" name="Text 12"/>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For multi-tenant SaaS ISVs, the Gemini Enterprise Agent Platform functions as a managed control and execution plane over new or brownfield cloud infrastructure, organized across four core capability pillars.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(Triad Pillar 2: Pattern A Pooled FinOps &amp; COGS Engine and Triad Pillar 2: Pattern B Silos &amp; Pattern C Hybrid),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The Agentic Trilemma &amp; Executive Topology Selection Architecture</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Mapping tenant tiers across Pattern 1, Pattern 2A/2B, and Pattern 3 under a unified Control Plane.</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The Multi-Tenant Agentic Triad: Security (Hops 1–5) • FinOps COGS (-84.7%)</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Unified Vertex AI Agent Engine &amp; Google ADK Reference Architecture</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Triad Pillar 2 (High Density): Pattern A Pooled FinOps &amp; COGS Engine</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Triad Pillar 2 (Regulated Scale): Pattern B Silos ($$$) &amp; Pattern C Hybrid</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Pattern A: Pooled Unit Economics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Lowest COGS ($) • 84.7% Net Input Token Savings</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Pattern B Silos &amp; Pattern C PSC Spokes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Zero Blast Radius + Zero-Downtime Tier Promotion</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Triad Pillar 1: Zero-Trust Cryptographic Security</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5-Hop Context Chain across Ingress, Catalog &amp; Runtime</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Triad Pillar 3: Zero-PII OTel &amp; FinOps Chargeback</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Enterprise &amp; SMB Users</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10,000+ Multi-Tier Tenants</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Global Anycast Ingress</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Security Command Center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Unified SIEM &amp; Audit Lineage</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OTel Sink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Zero-PII Cryptographic Spans</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3 Chargeback Models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Even, Proportional &amp; Tiered</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Thinking Budget Cap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Clamps 4k Std vs 8k Ent</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2LO &amp; 3LO Auth Mgr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Scoped Per-Tenant Vault</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AlloyDB RLS &amp; L1–L5</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Shared Storage Density</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PSC Spoke Runtime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3-Phase Live Tier Upgrade</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Dedicated Silo MCP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Zero Cross-Project Egress</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KMS CMEK Lock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Instant HTTP 423 Kill-Switch</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Architecture Selector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Routes Pattern A, B or C</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Valkey Rate Bulkhead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120 RPM Std / 600 RPM Ent</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ContextCacheConfig</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90% Discount on 32k Prefix</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VPC-SC &amp; IAM PAB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Hard Perimeter Isolation</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Gemma 3 &amp; 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Air-Gapped GKE &amp; Dedicated PT</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Hop 1: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Header Strip + OBO + DPoP</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Hop 4: 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Injection 400 + Policy 422 + SDP</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Hop 2: Catalog PDP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Discovery Catalog + Tool Prune</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Real-time COGS &amp; security telemetry</a:t>
            </a:r>
            <a:endParaRPr lang="en-US" sz="420" dirty="0"/>
          </a:p>
        </p:txBody>
      </p:sp>
      <p:sp>
        <p:nvSpPr>
          <p:cNvPr id="148" name="Text 126"/>
          <p:cNvSpPr/>
          <p:nvPr/>
        </p:nvSpPr>
        <p:spPr>
          <a:xfrm>
            <a:off x="5295290" y="4659782"/>
            <a:ext cx="46817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Zero Cache Bleed</a:t>
            </a:r>
            <a:endParaRPr lang="en-US" sz="420" dirty="0"/>
          </a:p>
        </p:txBody>
      </p:sp>
      <p:sp>
        <p:nvSpPr>
          <p:cNvPr id="149" name="Text 127"/>
          <p:cNvSpPr/>
          <p:nvPr/>
        </p:nvSpPr>
        <p:spPr>
          <a:xfrm>
            <a:off x="5183734" y="5206594"/>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Storage-Engine RLS Policy</a:t>
            </a:r>
            <a:endParaRPr lang="en-US" sz="420" dirty="0"/>
          </a:p>
        </p:txBody>
      </p:sp>
      <p:sp>
        <p:nvSpPr>
          <p:cNvPr id="150" name="Text 128"/>
          <p:cNvSpPr/>
          <p:nvPr/>
        </p:nvSpPr>
        <p:spPr>
          <a:xfrm>
            <a:off x="7258507" y="4659782"/>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Private PSC NAT Bridge</a:t>
            </a:r>
            <a:endParaRPr lang="en-US" sz="420" dirty="0"/>
          </a:p>
        </p:txBody>
      </p:sp>
      <p:sp>
        <p:nvSpPr>
          <p:cNvPr id="151" name="Text 129"/>
          <p:cNvSpPr/>
          <p:nvPr/>
        </p:nvSpPr>
        <p:spPr>
          <a:xfrm>
            <a:off x="7184441" y="5206594"/>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Customer-Revocable CMEK Keys</a:t>
            </a:r>
            <a:endParaRPr lang="en-US" sz="420" dirty="0"/>
          </a:p>
        </p:txBody>
      </p:sp>
      <p:sp>
        <p:nvSpPr>
          <p:cNvPr id="152" name="Text 130"/>
          <p:cNvSpPr/>
          <p:nvPr/>
        </p:nvSpPr>
        <p:spPr>
          <a:xfrm>
            <a:off x="4399178" y="5337353"/>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90% Cached inference</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Verified zero-bleed agent completion</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Dispatch to optimal cost/security tier</a:t>
            </a:r>
            <a:endParaRPr lang="en-US" sz="420" dirty="0"/>
          </a:p>
        </p:txBody>
      </p:sp>
      <p:sp>
        <p:nvSpPr>
          <p:cNvPr id="155" name="Text 133"/>
          <p:cNvSpPr/>
          <p:nvPr/>
        </p:nvSpPr>
        <p:spPr>
          <a:xfrm>
            <a:off x="4939589" y="2980944"/>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Prune Catalog &amp; MCP tools</a:t>
            </a:r>
            <a:endParaRPr lang="en-US" sz="420" dirty="0"/>
          </a:p>
        </p:txBody>
      </p:sp>
      <p:sp>
        <p:nvSpPr>
          <p:cNvPr id="156" name="Text 134"/>
          <p:cNvSpPr/>
          <p:nvPr/>
        </p:nvSpPr>
        <p:spPr>
          <a:xfrm>
            <a:off x="4508906" y="4445813"/>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Check quota</a:t>
            </a:r>
            <a:endParaRPr lang="en-US" sz="420" dirty="0"/>
          </a:p>
        </p:txBody>
      </p:sp>
      <p:sp>
        <p:nvSpPr>
          <p:cNvPr id="157" name="Text 135"/>
          <p:cNvSpPr/>
          <p:nvPr/>
        </p:nvSpPr>
        <p:spPr>
          <a:xfrm>
            <a:off x="4508906" y="4625950"/>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Log COGS</a:t>
            </a:r>
            <a:endParaRPr lang="en-US" sz="420" dirty="0"/>
          </a:p>
        </p:txBody>
      </p:sp>
      <p:sp>
        <p:nvSpPr>
          <p:cNvPr id="158" name="Text 136"/>
          <p:cNvSpPr/>
          <p:nvPr/>
        </p:nvSpPr>
        <p:spPr>
          <a:xfrm>
            <a:off x="4938674" y="2299716"/>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Verify OBO &amp; DPoP</a:t>
            </a:r>
            <a:endParaRPr lang="en-US" sz="420" dirty="0"/>
          </a:p>
        </p:txBody>
      </p:sp>
      <p:sp>
        <p:nvSpPr>
          <p:cNvPr id="159" name="Text 137"/>
          <p:cNvSpPr/>
          <p:nvPr/>
        </p:nvSpPr>
        <p:spPr>
          <a:xfrm>
            <a:off x="5077663" y="2816352"/>
            <a:ext cx="542239"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&amp; redact PII</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The Multi-Tenant Agentic Triad: Security • FinOps COGS • Zero-PII Observability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The Multi-Tenant Agentic Triad: Security • FinOps COGS • Zero-PII Observability: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Triad Pillar 1: Zero-Trust Cryptographic Security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Hop 1: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Hop 4: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Hop 2: Catalog PDP: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Triad Pillar 3: Zero-PII OTel &amp; FinOps Chargeback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Security Command Center: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3 Chargeback Models: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BigQuery OTel Sink: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Unified Vertex AI Agent Engine &amp; Google ADK Reference Architecture: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Pattern A: Pooled Unit Economics &amp; Pattern B Silos &amp; Pattern C PSC Spokes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Thinking Budget Cap / PSC Spoke Runtime: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Valkey Rate Bulkhead / VPC-SC &amp; IAM PAB: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2LO &amp; 3LO Auth Mgr / Dedicated Silo MCP: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AlloyDB RLS &amp; L1–L5 / Cloud KMS CMEK Lock: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Triad Pillar 1: Zero-Trust Cryptographic Security.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Hop 1: Cloud Armor, Hop 4: Model Armor, and Hop 2: Catalog PDP, the request is forwarded to Architecture Selector.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Architecture Selector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Pattern A: Pooled Unit Economics,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Zero Cache Bleed.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Storage-Engine RLS Policy.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Thinking Budget Cap sends the validated, context-enriched prompt to ContextCacheConfig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Thinking Budget Cap passes the generated output through Valkey Rate Bulkhead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Triad Pillar 1: Zero-Trust Cryptographic Security, while structured OpenTelemetry audit and FinOps spans stream to the Triad Pillar 3: Zero-PII OTel &amp; FinOps Chargeback.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Agent Deployment Models: Navigating the Agentic Trilemma Across Pool, Bridge &amp; Silo.</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Google ADK 2.0: </a:t>
            </a:r>
            <a:pPr indent="0" marL="0">
              <a:lnSpc>
                <a:spcPct val="118000"/>
              </a:lnSpc>
              <a:buNone/>
            </a:pPr>
            <a:r>
              <a:rPr lang="en-US" sz="790" dirty="0">
                <a:solidFill>
                  <a:srgbClr val="3C4043"/>
                </a:solidFill>
                <a:latin typeface="Arial" pitchFamily="34" charset="0"/>
                <a:ea typeface="Arial" pitchFamily="34" charset="-122"/>
                <a:cs typeface="Arial" pitchFamily="34" charset="-120"/>
              </a:rPr>
              <a:t>Open-source Agent Development Kit for building, orchestrating, and testing hierarchical multi-agent systems with deterministic callbacks.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Model Garden: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DOC-MT-02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Private Service Connect: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DOC-MT-02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VPC Service Controls: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Enforces service perimeters across Google Cloud resources to prevent unauthorized data exfiltration across organizational boundaries.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BigQuery Agent Analytics: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Comparing the Three Core Tenancy Topologies Across All 7 Subsystems</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Every multi-tenant agent deployment maps the seven core subsystems—Inbound Identity, Ingress Gateway, Agent Runtime, Memory Bank, Foundation Models, Egress Gateway, and Data/Tool Fabric—across three canonical topologies.</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Unified Vertex AI Agent Engine &amp; Google ADK Reference Architecture and AlloyDB RLS &amp; L1–L5,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1. Build: </a:t>
            </a:r>
            <a:pPr indent="0" marL="0">
              <a:lnSpc>
                <a:spcPct val="116000"/>
              </a:lnSpc>
              <a:buNone/>
            </a:pPr>
            <a:r>
              <a:rPr lang="en-US" sz="780" dirty="0">
                <a:solidFill>
                  <a:srgbClr val="3C4043"/>
                </a:solidFill>
                <a:latin typeface="Arial" pitchFamily="34" charset="0"/>
                <a:ea typeface="Arial" pitchFamily="34" charset="-122"/>
                <a:cs typeface="Arial" pitchFamily="34" charset="-120"/>
              </a:rPr>
              <a:t>Supports Google ADK 2.0 alongside third-party agent frameworks. Integrates frontier Gemini models and open-weight models via Model Garden, coupled with open standard protocols.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2. Scale: </a:t>
            </a:r>
            <a:pPr indent="0" marL="0">
              <a:lnSpc>
                <a:spcPct val="116000"/>
              </a:lnSpc>
              <a:buNone/>
            </a:pPr>
            <a:r>
              <a:rPr lang="en-US" sz="780" dirty="0">
                <a:solidFill>
                  <a:srgbClr val="3C4043"/>
                </a:solidFill>
                <a:latin typeface="Arial" pitchFamily="34" charset="0"/>
                <a:ea typeface="Arial" pitchFamily="34" charset="-122"/>
                <a:cs typeface="Arial" pitchFamily="34" charset="-120"/>
              </a:rPr>
              <a:t>Agent Runtime provisions sub-second warm-start execution with Agent Sandboxes backed by gVisor microVMs.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3. Govern: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Agent Gateway and Agent Registry enforce tenant-scoped agent authorization and dynamic tool entitlements.</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Architecture Selector under The Multi-Tenant Agentic Triad: Security • FinOps COGS • Zero-PII Observability.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Hop 1: Cloud Armor and Hop 4: Model Armor.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Thinking Budget Cap &amp; 2LO &amp; 3LO Auth Mgr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Thinking Budget Cap with 2LO &amp; 3LO Auth Mgr and AlloyDB RLS &amp; L1–L5.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2LO &amp; 3LO Auth Mgr: Maximizes blast-radius containment by keeping credentials, service accounts, and data access strictly inside.;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Hop 1: Cloud Armor &amp; Hop 4: Model Armor &amp; Valkey Rate Bulkhead</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AlloyDB RLS &amp; L1–L5 &amp; 3 Chargeback Models</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Hop 1: Cloud Armor &amp; Hop 4: Model Armor &amp; Valkey Rate Bulkhead: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Valkey Rate Bulkhead.
</a:t>
            </a:r>
            <a:pPr indent="0" marL="0">
              <a:buNone/>
            </a:pPr>
            <a:r>
              <a:rPr lang="en-US" sz="700" b="1" dirty="0">
                <a:solidFill>
                  <a:srgbClr val="202124"/>
                </a:solidFill>
                <a:latin typeface="Arial" pitchFamily="34" charset="0"/>
                <a:ea typeface="Arial" pitchFamily="34" charset="-122"/>
                <a:cs typeface="Arial" pitchFamily="34" charset="-120"/>
              </a:rPr>
              <a:t>• AlloyDB RLS &amp; L1–L5 &amp; 3 Chargeback Models: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AlloyDB RLS &amp; L1–L5.</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Architecture Selector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Thinking Budget Cap &amp; 2LO &amp; 3LO Auth Mgr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AlloyDB RLS &amp; L1–L5</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Architecture Selector: </a:t>
            </a:r>
            <a:pPr indent="0" marL="0">
              <a:buNone/>
            </a:pPr>
            <a:r>
              <a:rPr lang="en-US" sz="690" dirty="0">
                <a:solidFill>
                  <a:srgbClr val="3C4043"/>
                </a:solidFill>
                <a:latin typeface="Arial" pitchFamily="34" charset="0"/>
                <a:ea typeface="Arial" pitchFamily="34" charset="-122"/>
                <a:cs typeface="Arial" pitchFamily="34" charset="-120"/>
              </a:rPr>
              <a:t>Deploy Architecture Selector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Thinking Budget Cap &amp; 2LO &amp; 3LO Auth Mgr: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2LO &amp; 3LO Auth Mgr.
</a:t>
            </a:r>
            <a:pPr indent="0" marL="0">
              <a:buNone/>
            </a:pPr>
            <a:r>
              <a:rPr lang="en-US" sz="700" b="1" dirty="0">
                <a:solidFill>
                  <a:srgbClr val="202124"/>
                </a:solidFill>
                <a:latin typeface="Arial" pitchFamily="34" charset="0"/>
                <a:ea typeface="Arial" pitchFamily="34" charset="-122"/>
                <a:cs typeface="Arial" pitchFamily="34" charset="-120"/>
              </a:rPr>
              <a:t>• AlloyDB RLS &amp; L1–L5: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AlloyDB RLS &amp; L1–L5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Security Command Center &amp; BigQuery OTel Sink</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Pattern A: Pooled Unit Economics and Pattern B Silos &amp; Pattern C PSC Spokes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Security Command Center &amp; BigQuery OTel Sink: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BigQuery OTel Sink and monitor posture drift in Security Command Center.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ContextCacheConfig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Hop 2: Catalog PDP &amp; 2LO &amp; 3LO Auth Mgr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OTel Sink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ContextCacheConfig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Hop 2: Catalog PDP &amp; 2LO &amp; 3LO Auth Mgr: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BigQuery OTel Sink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Agent Deployment Models: Navigating the Agentic Trilemma Across Pool, Bridge &amp; Silo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cloud_run_adk_verify.py</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PYTHON</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 Cloud Solutions Architecture • Enterprise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DOC-MT-02: Agent Deployment Models: Navigating the Agentic Trilemma Across Pool, Bridge &amp; Silo (DOC-MT-02)</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2026-10-16T15:02:59Z</dcterms:created>
  <dcterms:modified xsi:type="dcterms:W3CDTF">2026-10-16T15:02:59Z</dcterms:modified>
</cp:coreProperties>
</file>