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2, we are diving into Pattern A—our High-Density Shared Pool architecture—to show how a SaaS provider can host hundreds of commercial customers on a single shared Google Cloud stack while keeping every customer’s data, tools, and performance strictly isolated.</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business challenge on this slide: FinVault Bank and RetailStream Corp are both using our shared Incident Diagnostic Agent at the exact same time. From a financial perspective, running one shared agent runtime and sharing a single thirty-two-thousand-token system prompt cache reduces our inference cost of goods sold by up to ninety percent. At the same time, FinVault uses Google Workspace and Jira with an eight-thousand thinking-token budget, while RetailStream uses Microsoft Entra and ServiceNow with a four-thousand token cap—and neither company can ever discover or query the other’s private tools or incident history.</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Here we compare a properly governed Five-Hop Shared Pool against two common mistakes: naive single-database multi-tenancy on one extreme, and spinning up separate cloud projects for every small commercial customer on the other. As the table and the four decision rules at the bottom highlight, Pattern A gives us the unit economics and zero-friction onboarding of a shared SaaS platform while enforcing hardware-grade logical boundaries at every layer of the stack.</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To keep the shared pool simple to reason about, this diagram divides the architecture into three logical trust zones from left to right. Zone 1 on the left handles federated login across Google OIDC and Microsoft Entra ID. Zone 2 in the center runs our Five-Hop Pooled Guardrail Engine, which scopes agent catalogs, enforces per-tenant rate limits in Memorystore Valkey, and applies shared prompt caching. Zone 3 on the right enforces Row-Level Security inside AlloyDB and BigQuery so the database engine itself refuses to return rows belonging to another company.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services inside those three zones, Figure 1 maps out the complete Pattern A blueprint. In the blue Routing Hub at the top, Cloud Armor and Identity-Aware Proxy route federated traffic into our shared Cloud Run gateway. In the green Governance Hub in the center, our five-hop pipeline binds the verified tenant ID, checks Valkey token buckets, and reuses the Vertex AI shared prefix cache. At the bottom, the yellow Shared Pool Spoke executes tool calls against tenant-scoped MCP connectors and queries AlloyDB under strict Row-Level Security policies.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Tracing a single pooled request chronologically from left to right, watch how fast and disciplined the handoffs are across our five system actors. When a user sends a prompt, Hop 1 exchanges their login token for a DPoP-bound tenant context; Hop 2 filters the agent registry so private agents belonging to other customers remain invisible; Hop 3 checks the customer’s Valkey rate bucket and attaches their private memory namespace; Hop 4 screens the prompt through Model Armor while reusing the shared system prefix cache; and Hop 5 opens an AlloyDB transaction locked to that specific tenant ID.</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is what happens on the wire when a malicious or compromised client tries to break out of their lane in the shared pool. On the left, a caller logged in as RetailStream injects an HTTP header claiming to be FinVault. In the center, our Hop 1 gate strips that spoofed header and cryptographically binds the session to RetailStream’s verified identity. On the right, AlloyDB sets the session variable to RetailStream before running any query—so even if a developer forgot a WHERE clause in SQL, the database kernel returns zero rows from FinVault.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Beyond blocking spoofing, a shared pool must protect customer experience when traffic spikes or when an agent needs third-party permissions. This flow shows our automatic pooled circuit breakers in action. If one tenant launches a burst of requests that exceeds their quota, our Valkey bulkhead immediately returns a polite HTTP 429 retry timer to that tenant alone while every other customer on the shared cluster continues with sub-second response times. And when a user asks the agent to touch a protected ServiceNow or Jira tool for the first time, the pipeline pauses cleanly to trigger inline user consent rather than failing or over-permissioning a shared service account.</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To give both executive risk officers and security architects complete confidence in a shared environment, we ran ten adversarial red-team attack scenarios against Pattern A—shown across this matrix. From header spoofing and prompt-cache poisoning to cross-tenant memory reads, vector similarity bleed, and noisy-neighbor floods, every single attack vector is paired with its specific five-hop control and verified as 100% blocked by our automated test suite.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backing up that ten-out-of-ten scorecard. On the left, you can see our deployed pooled Cloud Run service and BigQuery Row-Level Security policies in Google Cloud Console; on the right, the verification cards confirm ninety percent shared prompt cache efficiency, 10/10 Intra-Cloud breach simulations blocked, and 10/10 Inter-Cloud Pattern A 10-SaaS MCP RLS assertions passed.</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Bringing Pattern A together for business and technical leaders, this shared-pool design delivers three core outcomes. Under Security, five layers of defense—ending at database kernel Row-Level Security—prevent cross-tenant leaks. Under Reliability, per-tenant Valkey bulkheads guarantee that a noisy neighbor never impacts another customer’s SLA. And under Financial Efficiency, shared prompt prefix caching and pooled compute maximize SaaS gross margins for our commercial customer base.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You can deploy this entire Pattern A shared pool today using our six-resource Terraform starter and run all ten breach simulations in under a minute. While Pattern A is ideal for commercial SaaS tiers, what happens when a regulated bank or government agency legally requires their own dedicated cloud project and customer-held encryption kill-switch? That brings us directly to Workstream 3 and Pattern B.</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2 • PATTERN A — HIGH-DENSITY POOLED ARCHITECTURE</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Solving the Commercial SaaS Margin Equation</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A hosts hundreds of Standard Tier–Enterprise Tier commercial tenants inside one shared Google Cloud project (cymbal-control-plane) at a 120 RPM Pooled infrastructure floor.</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2</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Cryptographic Logical Isolation (Zero Physical Sprawl): Instead of spinning up separate VPCs per tenant, Pattern A enforces non-bypassable tenant boundaries across all 5 runtime hops in software.</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10/10 Adversarial Red-Team Attacks Neutralized</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Competing tenants FinVault Bank and RetailStream Corp share the exact same Cloud Run v2 workers and AlloyDB cluster with zero cross-tenant data or tool bleed.</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84.7% Net Inference Cost Reduction</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 32,000-token immutable platform runbook is cached once in Gemini 2.5 Pro ContextCacheConfig at a 90% discount, cutting billable input tokens from 34,000 to 5,200 per turn.</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Shared Incident Agent, 32k Cache &amp; Pool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Shows FinVault and RetailStream co-hosted on one Incident Diagnostic Agent with a shared 32,000-token prefix cache and 8k vs. 4k thinking budgets (Slide 2), then weighs the governed 5-Hop pool against naive single-DB and project-per-tenant designs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Pool Zones -&gt; L2 Figure 1 -&gt; L3 Hops -&gt; L4 RLS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federated login, the Valkey-governed guardrail engine and AlloyDB/BigQuery RLS (Slide 4) into the Pattern A Figure 1 blueprint (Slide 5), the pooled 5-Hop sequence (Slide 6) and the spoofed X-Tenant-Id header being stripped before SET LOCAL app.current_tenant_id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429 Bulkheads, 10/10 Red-Team &amp; BigQuery RLS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Valkey noisy-neighbor bulkhead and -32042 3LO consent step-up (Slide 8), the 10-vector red-team breach matrix (Slide 9) and the live BigQuery ROW ACCESS POLICY + Cloud Run source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A Operating Model &amp; Terraform 2.6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Pattern A security, reliability and gross-margin outcomes (Slide 11) and hands engineering the Terraform 2.6 starter plus run_breach_simulations.py before the series moves to Pattern B in WS3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Co-Hosting FinVault &amp; RetailStream Safely on One Pooled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Dynamic Per-Turn Runtime Hydration</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 single pooled Diagnostic Agent on Cloud Run v2 &amp; Vertex AI Agent Engine dynamically loads each caller’s Firestore profile, GCS Skills (gs://cymbal-skills-{tenant}/), and 32k Gemini 2.5 Pro ContextCacheConfig prefix.</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Gemini 2.5 Pro ContextCacheConfig (32k Prefix)
</a:t>
            </a:r>
            <a:pPr indent="0" marL="0">
              <a:buNone/>
            </a:pPr>
            <a:r>
              <a:rPr lang="en-US" sz="730" dirty="0">
                <a:solidFill>
                  <a:srgbClr val="5F6368"/>
                </a:solidFill>
                <a:latin typeface="Roboto" pitchFamily="34" charset="0"/>
                <a:ea typeface="Roboto" pitchFamily="34" charset="-122"/>
                <a:cs typeface="Roboto" pitchFamily="34" charset="-120"/>
              </a:rPr>
              <a:t>Target &amp; SLA: Injects Tenant-Specific Prompt &amp; GCS Skills per Turn • 84.7% Net Input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Shared Pooled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(Enterprise Slice in Pool)</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unlocks an 8,000-token thinking budget and 600 RPM Valkey quota, and accesses private Agent Alpha (Gemini 2.5 Pro Dedicated PT) plus Workspace/Jira 3LO.</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Agent Alpha (Gemini 2.5 Pro Dedicated PT) • 3LO Drive/Gmail/Jira
</a:t>
            </a:r>
            <a:pPr indent="0" marL="0">
              <a:buNone/>
            </a:pPr>
            <a:r>
              <a:rPr lang="en-US" sz="730" dirty="0">
                <a:solidFill>
                  <a:srgbClr val="5F6368"/>
                </a:solidFill>
                <a:latin typeface="Roboto" pitchFamily="34" charset="0"/>
                <a:ea typeface="Roboto" pitchFamily="34" charset="-122"/>
                <a:cs typeface="Roboto" pitchFamily="34" charset="-120"/>
              </a:rPr>
              <a:t>Target &amp; SLA: 8,000 Thinking Tokens • 600 RPM Valkey Bucket • OCC NLC (HTTP 422) + IBAN/SWIFT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Pooled Enterprise Slice</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Slice in Pool)</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within a 4,000-token thinking cap and 120 RPM Valkey quota (120 RPM Pool floor), and invokes SharePoint/ServiceNow 3LO with -32042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Shared Diagnostic Agent • 3LO SharePoint &amp; ServiceNow ITOM
</a:t>
            </a:r>
            <a:pPr indent="0" marL="0">
              <a:buNone/>
            </a:pPr>
            <a:r>
              <a:rPr lang="en-US" sz="730" dirty="0">
                <a:solidFill>
                  <a:srgbClr val="5F6368"/>
                </a:solidFill>
                <a:latin typeface="Roboto" pitchFamily="34" charset="0"/>
                <a:ea typeface="Roboto" pitchFamily="34" charset="-122"/>
                <a:cs typeface="Roboto" pitchFamily="34" charset="-120"/>
              </a:rPr>
              <a:t>Target &amp; SLA: 4,000 Thinking Tokens • 120 RPM Valkey Bucket • PCI-DSS PAN/SSN Masking • 120 RPM Pool Floor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Pooled Standard Slice</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Catalog, Memory &amp; AlloyDB RLS Firewall</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Hop 2 ARD Filter (HTTP 403), Hop 3 L1–L5 Memory Bank namespaces, Hop 4 Model Armor/DLP, and Hop 5 AlloyDB FORCE RLS guarantee 100% mutual invisibility.</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 Hop 2 ARD • L1–L5 Memory Bank • Model Armor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10/10 Adversarial Red-Team Breach Simulations Blocked • 0 Cross-Tenant SQL Rows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A Security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Pattern A Pooled Architecture vs. Naive Multi-Tenancy vs. Dedicated Silos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17520"/>
                <a:gridCol w="3200400"/>
                <a:gridCol w="318485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Architectural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Naive Shared Multi-Tenancy (Anti-Pattern)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Cryptographic Pooled (WS2 Target)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 Dedicated Sovereign Silos (WS3)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Ingress &amp; identity binding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Trusts client-supplied X-Tenant-Id HTTP header or shared API key in application code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strips X-Tenant-Id; IAP + STS mints RFC 8693 OBO &amp; RFC 9449 DPoP context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per-project IAM Principal Access Boundary (PAB)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Tool catalog &amp; memory state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Global MCP tool list &amp; shared vector collection accessible to any prompt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Hop 2 ARD visibility filter (HTTP 403) + mem://{tenant_id}/L1..L5 namespace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Physical per-project Agent Engine Registry &amp; CMEK-encrypted Memory Bank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Rate limits &amp; reasoning quotas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Regional Vertex AI RPM/TPM shared first-come, first-served (noisy-neighbor outages)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Memorystore for Valkey RPM buckets (120/600 RPM, HTTP 429) + 4k/8k thinking clamps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quota &amp; dedicated Provisioned Throughput / GKE GPUs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Prompt caching &amp; FinOps COGS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34k prompt billed in full every turn (32k Uncached/turn) or unsafe cross-tenant cache bleed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32k immutable prefix in Gemini 2.5 Pro ContextCacheConfig (90% discount -&gt; 84.7% savings)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Per-silo prefix cache or dedicated air-gapped GKE Gemma 3 (27B)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Relational data &amp; PII guardrails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Application-layer WHERE tenant_id = ? query (vulnerable to SQLi &amp; prompt injection)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AlloyDB FORCE ROW LEVEL SECURITY (SET LOCAL) + Model Armor (400/422) &amp; Cloud DLP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CMEK AlloyDB instance + &lt;60s HTTP 423 Locked customer key kill-switch</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tier</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High breach risk • Fails enterprise CISO security &amp; compliance review</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600 RPM Silo / tenant / month • Regulated Banking, Healthcare &amp; Public Sector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Naive Shared SaaS Fails Audits</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Ambient IAM service accounts, client-trusted X-Tenant-Id headers, and unpartitioned vector/SQL stores fail every red-team isolation test.</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Pattern A Wins on Unit Economics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Delivers high-density multi-tenant execution and 90% shared 32k prefix cache efficiency inside one GCP project.</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Cryptographic Equivalence in a Pool</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RFC 8693 + DPoP (Hop 1), Catalog PDP (Hop 2), Valkey bulkheads (Hop 3), Model Armor + SDP (Hop 4), and AlloyDB FORCE RLS (Hop 5).</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Clear Graduation Trigger to Pattern B / C</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Promote a tenant out of the shared pool only when contracts mandate a dedicated GCP project, VPC-SC perimeter, or air-gapped Gemma 3 GPUs.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(L1 LOGICAL): Pattern A High-Density Pooled Runtime &amp; AlloyDB RLS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(Pooled SaaS Tenant Callers) → Zone 2 (Shared Vertex AI Agent Engine Pool) → Zone 3 (Shared Multi-Tenant Data Plane)</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POOLED SAAS TENANT CALLERS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(Co-Hosted Commercial &amp; Enterprise)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Bank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 8k Think)</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Corp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 4k Think)</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RedTeam</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Adversarial Probe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(Spoofed Headers)</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HTTPS + OIDC</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Bearer Token</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Header Strip</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CLOUD RUN v2 POOL</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(cymbal-pooled-prod)</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Shared Vertex AI Agent Engine Pool</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90%</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90% Shared 32k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Prefix Cache Hit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RPM</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Memorystore Valkey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Token-Bucket Bulkhead</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Model Armor + NLC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SDP PII Redaction</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SET LOCAL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app.current_tenant_id</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Scoped 2LO/3LO</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MCP Dispatch</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MULTI-TENANT DATA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(Cryptographic Logical Isolation)</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RLS</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AlloyDB Cluster (FORCE ROW LEVEL SECURITY)</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2LO • M2M</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3LO • OAuth</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Tenant-Scoped Memory Bank (/tenants/{id}/*) &amp; MCP</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KMS</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Cloud KMS CMEK &amp; BigQuery OTel Cost Attribution</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Pooled  •  100+ Co-Hosted Tenants with 10/10 Red-Team Attacks Blocked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Shared Edge PEP &amp; Identity (Hop 1)</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 (SUB-PLANE A)</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shared ADK agents in one unified pooled runtime with Memorystore Valkey RPM bulkheads (120/600 RPM), ContextCacheConfig (90% savings), and inline Model Armor.</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SUB-PLANE B</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3902659" y="4253789"/>
            <a:ext cx="164592" cy="164592"/>
          </a:xfrm>
          <a:prstGeom prst="rect">
            <a:avLst/>
          </a:prstGeom>
        </p:spPr>
      </p:pic>
      <p:sp>
        <p:nvSpPr>
          <p:cNvPr id="84" name="Text 81"/>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sp>
        <p:nvSpPr>
          <p:cNvPr id="85" name="Shape 82"/>
          <p:cNvSpPr/>
          <p:nvPr/>
        </p:nvSpPr>
        <p:spPr>
          <a:xfrm>
            <a:off x="1566367" y="5291633"/>
            <a:ext cx="2104034" cy="730606"/>
          </a:xfrm>
          <a:prstGeom prst="roundRect">
            <a:avLst>
              <a:gd name="adj" fmla="val 3755"/>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1607515" y="5314493"/>
            <a:ext cx="164592" cy="164592"/>
          </a:xfrm>
          <a:prstGeom prst="rect">
            <a:avLst/>
          </a:prstGeom>
        </p:spPr>
      </p:pic>
      <p:sp>
        <p:nvSpPr>
          <p:cNvPr id="87" name="Text 83"/>
          <p:cNvSpPr/>
          <p:nvPr/>
        </p:nvSpPr>
        <p:spPr>
          <a:xfrm>
            <a:off x="1840687" y="5302606"/>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75281"/>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69164"/>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475281"/>
            <a:ext cx="148133" cy="0"/>
          </a:xfrm>
          <a:prstGeom prst="line">
            <a:avLst/>
          </a:prstGeom>
          <a:noFill/>
          <a:ln w="12700">
            <a:solidFill>
              <a:srgbClr val="5F6368"/>
            </a:solidFill>
            <a:prstDash val="solid"/>
            <a:headEnd type="triangle" w="sm" len="sm"/>
          </a:ln>
        </p:spPr>
      </p:sp>
      <p:sp>
        <p:nvSpPr>
          <p:cNvPr id="95" name="Shape 90"/>
          <p:cNvSpPr/>
          <p:nvPr/>
        </p:nvSpPr>
        <p:spPr>
          <a:xfrm>
            <a:off x="2948940" y="2475281"/>
            <a:ext cx="0" cy="195682"/>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74243"/>
          </a:xfrm>
          <a:prstGeom prst="line">
            <a:avLst/>
          </a:prstGeom>
          <a:noFill/>
          <a:ln w="12700">
            <a:solidFill>
              <a:srgbClr val="5F6368"/>
            </a:solidFill>
            <a:prstDash val="solid"/>
            <a:tailEnd type="triangle" w="sm" len="sm"/>
          </a:ln>
        </p:spPr>
      </p:sp>
      <p:sp>
        <p:nvSpPr>
          <p:cNvPr id="103" name="Shape 98"/>
          <p:cNvSpPr/>
          <p:nvPr/>
        </p:nvSpPr>
        <p:spPr>
          <a:xfrm>
            <a:off x="2462479" y="4387291"/>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92040"/>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52798"/>
            <a:ext cx="0" cy="173736"/>
          </a:xfrm>
          <a:prstGeom prst="line">
            <a:avLst/>
          </a:prstGeom>
          <a:noFill/>
          <a:ln w="12700">
            <a:solidFill>
              <a:srgbClr val="5F6368"/>
            </a:solidFill>
            <a:prstDash val="solid"/>
            <a:tailEnd type="triangle" w="sm" len="sm"/>
          </a:ln>
        </p:spPr>
      </p:sp>
      <p:sp>
        <p:nvSpPr>
          <p:cNvPr id="106" name="Shape 101"/>
          <p:cNvSpPr/>
          <p:nvPr/>
        </p:nvSpPr>
        <p:spPr>
          <a:xfrm>
            <a:off x="3196742" y="5056632"/>
            <a:ext cx="0" cy="226771"/>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30929"/>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308653"/>
            <a:ext cx="167335" cy="167335"/>
          </a:xfrm>
          <a:prstGeom prst="rect">
            <a:avLst/>
          </a:prstGeom>
        </p:spPr>
      </p:pic>
      <p:sp>
        <p:nvSpPr>
          <p:cNvPr id="150" name="Text 135"/>
          <p:cNvSpPr/>
          <p:nvPr/>
        </p:nvSpPr>
        <p:spPr>
          <a:xfrm>
            <a:off x="2954426" y="4230929"/>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735678"/>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813402"/>
            <a:ext cx="167335" cy="167335"/>
          </a:xfrm>
          <a:prstGeom prst="rect">
            <a:avLst/>
          </a:prstGeom>
        </p:spPr>
      </p:pic>
      <p:sp>
        <p:nvSpPr>
          <p:cNvPr id="153" name="Text 137"/>
          <p:cNvSpPr/>
          <p:nvPr/>
        </p:nvSpPr>
        <p:spPr>
          <a:xfrm>
            <a:off x="2954426" y="4735678"/>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30929"/>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305910"/>
            <a:ext cx="162763" cy="162763"/>
          </a:xfrm>
          <a:prstGeom prst="rect">
            <a:avLst/>
          </a:prstGeom>
        </p:spPr>
      </p:pic>
      <p:sp>
        <p:nvSpPr>
          <p:cNvPr id="156" name="Text 139"/>
          <p:cNvSpPr/>
          <p:nvPr/>
        </p:nvSpPr>
        <p:spPr>
          <a:xfrm>
            <a:off x="1793138" y="4230929"/>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735678"/>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810658"/>
            <a:ext cx="162763" cy="162763"/>
          </a:xfrm>
          <a:prstGeom prst="rect">
            <a:avLst/>
          </a:prstGeom>
        </p:spPr>
      </p:pic>
      <p:sp>
        <p:nvSpPr>
          <p:cNvPr id="159" name="Text 141"/>
          <p:cNvSpPr/>
          <p:nvPr/>
        </p:nvSpPr>
        <p:spPr>
          <a:xfrm>
            <a:off x="1793138" y="4735678"/>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86984"/>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86984"/>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86984"/>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65599"/>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65599"/>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95951"/>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9595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752490"/>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64685"/>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73829"/>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9412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10326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11698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12612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(L3 PROCESS): 5-Actor UML Sequence — Pattern A Breach Defense &amp; 3LO Tool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RetailStream User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Armor &amp;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ARD &amp; Valkey Quota</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Model Armor &amp; Gemini</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3LO MCP &amp; AlloyDB RLS</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spoofed header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X-Tenant-Id: finvault</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Spoofed Header Probe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 &amp; checks Valkey</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120 RPM quota</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Bind retailstream OBO → Valkey Token-Bucket (120 RPM OK)</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2 blocks cross-tenant</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agent lookup</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(HTTP 403 Forbidden)</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ACL • ARD Gate (retailstream only)</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blocks NLC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violations (422) &amp; masks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IBAN/PAN via Cloud SDP</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Cloud SDP Redact</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+ 4k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Zero Raw PII in Context Window</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3LO OAuth</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5 binds 3LO token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sets AlloyDB RLS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current_tenant_id</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Scoped SQL + 3LO MCP</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only (10/10 attacks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blocked) + OTel log</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Verify 0 FinVault Rows (FORCE RLS)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Log 84.7% Cache Hit (BigQuery FinOps)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PASS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 Reject: Spoofed X-Tenant-Id or replayed DPoP → HTTP 401  |  • Hop 2 Hide: Other tenant's private agent → HTTP 403  |  • Hop 3: &gt;120 RPM → HTTP 429</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 Block: Model Armor injection / cache-poison → HTTP 422  |  • Hop 5 Pause: ServiceNow / Jira tool without consent → -32042 3LO step-up, 0 rows read</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Sequence  •  10/10 Red-Team Attacks Blocked While Valid Tenant Queries Succeed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VALKEY TOKEN-BUCKET &amp; 90% PREFIX CACHE FINOPS PIPELINE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High-Density Noisy-Neighbor Throttling (120/600 RPM) &amp; Shared Prefix Cache Flow</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Pooled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Request</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Memorystore Valkey</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Quota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Gemini 2.5 Pro</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32k Prefix Cache</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AlloyDB RLS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BigQuery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Sends burst traffic</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(Standard vs. Enterprise)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Enforces 120/600 RPM;</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returns HTTP 429</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Retry-After on burst</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Matches immutable</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32k system prefix hash</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 90% token discount</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Caps thinking budget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(4k vs. 8k tokens) &amp;</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executes RLS query</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Emits real-time token utilization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&amp; cache-hit telemetry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Valkey rate-limiter &amp; FinOps ledger</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Pipeline  •  Valkey 120/600 RPM Bulkheads + 90% Shared Prefix Cache + 4k/8k Thinking Caps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A ROW ACCESS POLICY</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BigQuery / AlloyDB ROW ACCESS POLICY tenant_pooled_rls_policy blocking cross-tenant reads (0 rows leaked)</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 cymbal-build-sandbox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cymbal_agentic_finops_otel (pattern_a_pooled_rls)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Policy: tenant_pooled_rls_policy (0 rows leaked)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pooled_gateway_and_rls.sql</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workstream-2-pattern-a-pooled/2.3-solution-implementation/pooled_gateway_and_rls.sql</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ADK POOLED GATEWAY &amp; 10-SAAS MCP</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Run runtime enforcing RFC 8693 OBO + DPoP, Hop 2 ARD filter &amp; 10-SaaS Pattern A RLS pushdown</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Service: cymbal-multi-tenant-patterns (Cloud Run)</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run_breach_simulations.py (10/10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Pooled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run_breach_simulations.py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workstream-2-pattern-a-pooled/2.5-breach-simulation-suite/run_breach_simulations.py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10/10 RED-TEAM BREACH SUITE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Data or Memory Leakage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run_breach_simulations.py verifies 10/10 adversarial attacks blocked across FinVault and RetailStream.</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ALLOYDB &amp; BIGQUERY RLS</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FORCE ROW LEVEL SECURITY Session Binding</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SET LOCAL app.current_tenant_id restricts every SQL and vector query to the authenticated tenant (0 foreign rows).</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90% SHARED PREFIX CACHE</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84.7% Net Token Savings (120 RPM per Tenant)</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Shares 32,000-token immutable system prefix across 100+ pooled tenants while isolating dynamic suffixes.</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VALKEY BULKHEADS &amp; 10-SAAS RLS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Caps &amp; 10/10 Pooled SaaS MCP Flows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Enforces HTTP 429 Retry-After noisy-neighbor bulkheads plus 10/10 Pattern A Inter-Cloud AWS AgentCore MCP RLS assertions.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 Pattern A — High-Density Pooled Architecture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SOLUTION: PATTERN A POOLED ECONOMICS &amp; QUOTA GOVERNANCE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A High-Density Pooled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FIN</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High-Density</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SaaS Unit Economics</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Serve 100+ commercial tenants in one shared Cloud Run v2 pool</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Share 32,000-token immutable system prefix (90% cache discount)</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Achieve 120 RPM per-tenant cost (84.7% net LLM token savings)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SEC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10-Point Breach</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Defense-in-Depth</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Block cross-tenant agent enumeration (403) &amp; namespace overrides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Natural Language Constraints (HTTP 422) &amp; SDP masking</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PostgreSQL RLS + 2LO/3LO MCP token audience checks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RPM</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Noisy-Neighbor</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Bulkheads &amp; Fair Share</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Memorystore for Valkey token-bucket rate limits (120 vs 600 RPM)</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Cap Gemini 2.5 Pro thinking budgets (4k Standard vs 8k Enterprise)</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Fail-closed HTTP 429 Retry-After without starving peer tenants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Operating Model  •  120 RPM Unit Economics + 10/10 Breach Defense + Valkey Quota Bulkheads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2.6 pooled starter, AlloyDB FORCE RLS policies and run_breach_simulations.py (10/10) before the series moves to Pattern B.</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High-Density Multi-Tenancy Without Compromising Security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Hundreds of commercial tenants can safely share one Cloud Run and AlloyDB footprint when cryptographic tenant context is verified across all 5 hops.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Shared GCP Project • 5-Hop Cryptographic Pipeline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Pool Baseline Unit Cost per Tenant with 100% Logical Isolation</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High-Density Zero Trust</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Capture 84.7% Net Inference Savings via Immutable Prefix Caching</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Cache shared platform instructions once in Gemini 2.5 Pro ContextCacheConfig (90% discount) while isolating tenant memory in L1–L5 namespaces.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Tokens)
</a:t>
            </a:r>
            <a:pPr indent="0" marL="0">
              <a:buNone/>
            </a:pPr>
            <a:r>
              <a:rPr lang="en-US" sz="730" dirty="0">
                <a:solidFill>
                  <a:srgbClr val="5F6368"/>
                </a:solidFill>
                <a:latin typeface="Roboto" pitchFamily="34" charset="0"/>
                <a:ea typeface="Roboto" pitchFamily="34" charset="-122"/>
                <a:cs typeface="Roboto" pitchFamily="34" charset="-120"/>
              </a:rPr>
              <a:t>Target &amp; SLA: Reduces Billable Input Tokens from 34,000 to 5,200 per Agent Turn (84.7% Savings)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Prefix Cache FinOps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Eliminate Noisy Neighbors with Dual Quota Bulkheads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 Memorystore for Valkey token-bucket rate limiters (120 vs. 600 RPM) with per-tier Gemini thinking_budget clamps (4,000 vs. 8,000 tokens).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Memorystore for Valkey (RPM) + Vertex AI thinking_budget (Token Clamp)
</a:t>
            </a:r>
            <a:pPr indent="0" marL="0">
              <a:buNone/>
            </a:pPr>
            <a:r>
              <a:rPr lang="en-US" sz="730" dirty="0">
                <a:solidFill>
                  <a:srgbClr val="5F6368"/>
                </a:solidFill>
                <a:latin typeface="Roboto" pitchFamily="34" charset="0"/>
                <a:ea typeface="Roboto" pitchFamily="34" charset="-122"/>
                <a:cs typeface="Roboto" pitchFamily="34" charset="-120"/>
              </a:rPr>
              <a:t>Target &amp; SLA: Guarantees Predictable p99 Latency Across Standard &amp; Enterprise Tenants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Quota Bulkheads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 Isolation Continuously with the 10-Point Breach Suite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run_breach_simulations.py in CI/CD to verify deterministic HTTP 400/401/403/422/429 enforcement and zero cross-tenant SQL rows.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Red-Team Attack Vectors Blocked &amp; Logged to BigQuery OTel Audit Trail</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Continuous Red-Teaming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Graduate Regulated Tenants to Pattern B/C Without Code Rewrites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Keep commercial tenants on Pattern A for maximum gross margin and promote regulated enterprises to dedicated silos via configuration.</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80% Reusable Core Engine (core-cymbal-agent/) -&gt; Pattern B &amp; Pattern C
</a:t>
            </a:r>
            <a:pPr indent="0" marL="0">
              <a:buNone/>
            </a:pPr>
            <a:r>
              <a:rPr lang="en-US" sz="730" dirty="0">
                <a:solidFill>
                  <a:srgbClr val="5F6368"/>
                </a:solidFill>
                <a:latin typeface="Roboto" pitchFamily="34" charset="0"/>
                <a:ea typeface="Roboto" pitchFamily="34" charset="-122"/>
                <a:cs typeface="Roboto" pitchFamily="34" charset="-120"/>
              </a:rPr>
              <a:t>Target &amp; SLA: Zero Application Refactoring Required When Upgrading Tenants to Sovereign Silos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Seamless Tier Evolution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A — High-Density Pooled Multi-Tenant Architecture on Google Cloud (Workstream 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2026-10-27T13:57:45Z</dcterms:created>
  <dcterms:modified xsi:type="dcterms:W3CDTF">2026-10-27T13:57:45Z</dcterms:modified>
</cp:coreProperties>
</file>