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Agent Deployment Models (Part 2): Navigating the Agentic Trilemma Across Pool, Bridge &amp; Silo.</a:t>
            </a:r>
            <a:endParaRPr lang="en-US" dirty="0"/>
          </a:p>
          <a:p>
            <a:r>
              <a:rPr lang="en-US" dirty="0"/>
              <a:t>In Part 2 of our series, we navigate the Agentic Trilemma—balancing tenant isolation, customization depth, and SaaS gross margins across Pattern 1 High-Density Pool, Pattern 2 Hybrid Bridge, and Pattern 3 Sovereign Silo.</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illustrates our multi-tier topology selector blueprint. Under one unified control plane, Standard tenants route to the shared pool with 90% prefix caching, Growth tenants bridge over Private Service Connect, and Enterprise tenants run inside dedicated VPC-SC silos.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Following the end-to-end execution flow on this slide demonstrates how thefour pillars of the Enterprise Agent Platform—Build, Scale, Govern, and Optimize—operate consistently regardless of which deployment tier a customer selects.</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maps the Google Cloud product bill of materials across all seven architectural planes—from Inbound Identity and Ingress PEP to gVisor Agent Runtime, Memory Bank, Gemini Models, Egress Guardrails, and MCP Data Fabric.</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we compare Pattern 1 Pool, Pattern 2A/2B Hybrid Bridge, and Pattern 3 Sovereign Silo across all seven subsystems so product and architecture leaders can align commercial contract tiers with infrastructure blast radius.</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Finally, here is the Python Control Plane PDP topology dispatcher routing Standard, Hybrid PSC, and Sovereign Silo tenants from verified JWT claims.</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2 of 6 • Deployment Models &amp; Trilemma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DOC-MT-02</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11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Agent Deployment Models: Navigating the Agentic Trilemma Across Pool, Bridge &amp; Silo</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Architecting multi-tenant agent platforms forces ISVs to navigate the Agentic Trilemma—the inherent architectural tension between Tenant Isolation, Cost Efficiency, and Operational Simplicity.</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Silo Model dedicates separate infrastructure to each tenant, delivering zero blast radius and effortless compliance at the expense of high idle costs and fleet sprawl. The Pool Model runs all tenants across a shared runtime fleet, maximizing compute density and simplifying operations through logical JWT/RLS partitioning, while requiring rigorous defense against noisy-neighbor and confused-deputy risks.</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resolve this tension, mature enterprise ISVs adopt a tiered architecture: routing high-volume standard tiers to a cryptographically governed shared Pool, offering a Hybrid Bridge tier for growth customers with dedicated data spokes, and reserving physically isolated Sovereign Silo perimeters for regulated enterprise accounts.</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For multi-tenant SaaS ISVs, the Gemini Enterprise Agent Platform functions as a managed control and execution plane over new or brownfield cloud infrastructure, organized across four core capability pillars.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(Triad Pillar 2: Pattern A Pooled FinOps &amp; COGS Engine and Triad Pillar 2: Pattern B Silos &amp; Pattern C Hybrid),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The Agentic Trilemma &amp; Executive Topology Selection Architecture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Mapping tenant tiers across Pattern 1, Pattern 2A/2B, and Pattern 3 under a unified Control Plane.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The Multi-Tenant Agentic Triad: Security (Hops 1–5) • FinOps COGS (-84.7%)</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Unified Vertex AI Agent Engine &amp; Google ADK Reference Architecture</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(High Density): Pattern A Pooled FinOps &amp; COGS Engine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(Regulated Scale): Pattern B Silos (Tier 3) &amp; Pattern C Hybrid</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A: Pooled Unit Economics</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Lowest COGS (Tier 1) • 84.7% Net Input Token Savings</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B Silos &amp; Pattern C PSC Spokes</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Zero Blast Radius + Zero-Downtime Tier Promotion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Triad Pillar 1: Zero-Trust Cryptographic Security</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5-Hop Context Chain across Ingress, Catalog &amp; Runtime</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Triad Pillar 3: Zero-PII OTel &amp; FinOps Chargeback</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&amp; SMB Users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10,000+ Multi-Tier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Anycast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Unified SIEM &amp; Audit Lineage</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Sink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Cryptographic Spans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 Chargeback Models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Even, Proportional &amp; Tiered</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Thinking Budget Cap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Clamps 4k Std vs 8k Ent</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2LO &amp; 3LO Auth Mgr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Scoped Per-Tenant Vault</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AlloyDB RLS &amp; L1–L5</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Storage Density</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PSC Spoke Runtime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3-Phase Live Tier Upgrade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Dedicated Silo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 Cross-Project Egress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KMS CMEK Lock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Instant HTTP 423 Kill-Switch</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Architecture Selector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Routes Pattern A, B or C</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Valkey Rate Bulkhead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120 RPM Std / 600 RPM Ent</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ContextCacheConfig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90% Discount on 32k Prefix</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VPC-SC &amp; IAM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Hard Perimeter Isolation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Gemma 3 &amp; 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Air-Gapped GKE &amp; Dedicated PT</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1: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Header Strip + OBO + DPoP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4: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Injection 400 + Policy 422 + SDP</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2: Catalog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Discovery Catalog + Tool Prune</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Real-time COGS &amp; security telemetry</a:t>
            </a:r>
            <a:endParaRPr lang="en-US" sz="420" dirty="0"/>
          </a:p>
        </p:txBody>
      </p:sp>
      <p:sp>
        <p:nvSpPr>
          <p:cNvPr id="148" name="Text 126"/>
          <p:cNvSpPr/>
          <p:nvPr/>
        </p:nvSpPr>
        <p:spPr>
          <a:xfrm>
            <a:off x="5295290" y="4659782"/>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Cache Bleed</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Storage-Engine RLS Policy</a:t>
            </a:r>
            <a:endParaRPr lang="en-US" sz="420" dirty="0"/>
          </a:p>
        </p:txBody>
      </p:sp>
      <p:sp>
        <p:nvSpPr>
          <p:cNvPr id="150" name="Text 128"/>
          <p:cNvSpPr/>
          <p:nvPr/>
        </p:nvSpPr>
        <p:spPr>
          <a:xfrm>
            <a:off x="7258507"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Private PSC NAT Bridge</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Customer-Revocable CMEK Keys</a:t>
            </a:r>
            <a:endParaRPr lang="en-US" sz="420" dirty="0"/>
          </a:p>
        </p:txBody>
      </p:sp>
      <p:sp>
        <p:nvSpPr>
          <p:cNvPr id="152" name="Text 130"/>
          <p:cNvSpPr/>
          <p:nvPr/>
        </p:nvSpPr>
        <p:spPr>
          <a:xfrm>
            <a:off x="4399178" y="5337353"/>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90% Cached inference</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zero-bleed agent completion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optimal cost/security tier</a:t>
            </a:r>
            <a:endParaRPr lang="en-US" sz="420" dirty="0"/>
          </a:p>
        </p:txBody>
      </p:sp>
      <p:sp>
        <p:nvSpPr>
          <p:cNvPr id="155" name="Text 133"/>
          <p:cNvSpPr/>
          <p:nvPr/>
        </p:nvSpPr>
        <p:spPr>
          <a:xfrm>
            <a:off x="4939589" y="298094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Prune Catalog &amp; MCP tools</a:t>
            </a:r>
            <a:endParaRPr lang="en-US" sz="420" dirty="0"/>
          </a:p>
        </p:txBody>
      </p:sp>
      <p:sp>
        <p:nvSpPr>
          <p:cNvPr id="156" name="Text 134"/>
          <p:cNvSpPr/>
          <p:nvPr/>
        </p:nvSpPr>
        <p:spPr>
          <a:xfrm>
            <a:off x="4508906" y="4445813"/>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Check quota</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Log COGS</a:t>
            </a:r>
            <a:endParaRPr lang="en-US" sz="420" dirty="0"/>
          </a:p>
        </p:txBody>
      </p:sp>
      <p:sp>
        <p:nvSpPr>
          <p:cNvPr id="158" name="Text 136"/>
          <p:cNvSpPr/>
          <p:nvPr/>
        </p:nvSpPr>
        <p:spPr>
          <a:xfrm>
            <a:off x="4938674" y="2299716"/>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OBO &amp; DPoP</a:t>
            </a:r>
            <a:endParaRPr lang="en-US" sz="420" dirty="0"/>
          </a:p>
        </p:txBody>
      </p:sp>
      <p:sp>
        <p:nvSpPr>
          <p:cNvPr id="159" name="Text 137"/>
          <p:cNvSpPr/>
          <p:nvPr/>
        </p:nvSpPr>
        <p:spPr>
          <a:xfrm>
            <a:off x="5077663" y="2816352"/>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&amp; redact PII</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The Multi-Tenant Agentic Triad: Security • FinOps COGS • Zero-PII Observability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The Multi-Tenant Agentic Triad: Security • FinOps COGS • Zero-PII Observability: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1: Zero-Trust Cryptographic Security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1: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4: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2: Catalog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3: Zero-PII OTel &amp; FinOps Chargeback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 Chargeback Models: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Sink: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Unified Vertex AI Agent Engine &amp; Google ADK Reference Architecture: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Pattern A: Pooled Unit Economics &amp; Pattern B Silos &amp; Pattern C PSC Spokes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Thinking Budget Cap / PSC Spoke Runtime: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Valkey Rate Bulkhead / VPC-SC &amp; IAM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2LO &amp; 3LO Auth Mgr / Dedicated Silo MCP: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AlloyDB RLS &amp; L1–L5 / Cloud KMS CMEK Lock: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Triad Pillar 1: Zero-Trust Cryptographic Security.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Hop 1: Cloud Armor, Hop 4: Model Armor, and Hop 2: Catalog PDP, the request is forwarded to Architecture Selector.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Architecture Selector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Pattern A: Pooled Unit Economics,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Zero Cache Bleed.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Storage-Engine RLS Policy.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sends the validated, context-enriched prompt to Gemini 2.5 Pro (ContextCacheConfig)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passes the generated output through Valkey Rate Bulkhead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Triad Pillar 1: Zero-Trust Cryptographic Security, while structured OpenTelemetry audit and FinOps spans stream to the Triad Pillar 3: Zero-PII OTel &amp; FinOps Chargeback.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Agent Deployment Models: Navigating the Agentic Trilemma Across Pool, Bridge &amp; Silo.</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Garden: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Curated catalog of frontier Gemini models and self-hosted open-weight models with unified deployment controls.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Private Service Connect: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Unidirectional Layer-4 NAT service attachments bridging shared SaaS routing hubs to dedicated customer spoke VPCs with zero CIDR overlap.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VPC Service Controls: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Enforces service perimeters across Google Cloud resources to prevent unauthorized data exfiltration across organizational boundaries.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Agent Analytics: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Comparing the Three Core Tenancy Topologies Across All 7 Subsystems</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Every multi-tenant agent deployment maps the seven core subsystems—Inbound Identity, Ingress Gateway, Agent Runtime, Memory Bank, Foundation Models, Egress Gateway, and Data/Tool Fabric—across three canonical topologies.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Unified Vertex AI Agent Engine &amp; Google ADK Reference Architecture and AlloyDB RLS &amp; L1–L5,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1. Build: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Supports Google ADK alongside third-party agent frameworks. Integrates frontier Gemini models and open-weight models via Model Garden, coupled with open standard protocols.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2. Scale: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Agent Runtime provisions sub-second warm-start execution with Agent Sandboxes backed by gVisor microVMs.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3. Govern: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Agent Gateway and Agent Registry enforce tenant-scoped agent authorization and dynamic tool entitlements.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Architecture Selector under The Multi-Tenant Agentic Triad: Security • FinOps COGS • Zero-PII Observability.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Hop 1: Cloud Armor and Hop 4: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Thinking Budget Cap &amp; 2LO &amp; 3LO Auth Mgr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Thinking Budget Cap with 2LO &amp; 3LO Auth Mgr and AlloyDB RLS &amp; L1–L5.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2LO &amp; 3LO Auth Mgr: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1: Cloud Armor &amp; Hop 4: Model Armor &amp; Valkey Rate Bulkhead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 &amp; 3 Chargeback Models</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Hop 1: Cloud Armor &amp; Hop 4: Model Armor &amp; Valkey Rate Bulkhead: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Valkey Rate Bulkhead.
</a:t>
            </a:r>
            <a:pPr indent="0" marL="0">
              <a:buNone/>
            </a:pPr>
            <a:r>
              <a:rPr lang="en-US" sz="700" b="1" dirty="0">
                <a:solidFill>
                  <a:srgbClr val="202124"/>
                </a:solidFill>
                <a:latin typeface="Arial" pitchFamily="34" charset="0"/>
                <a:ea typeface="Arial" pitchFamily="34" charset="-122"/>
                <a:cs typeface="Arial" pitchFamily="34" charset="-120"/>
              </a:rPr>
              <a:t>• AlloyDB RLS &amp; L1–L5 &amp; 3 Chargeback Models: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AlloyDB RLS &amp; L1–L5.</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Architecture Selector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Thinking Budget Cap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Architecture Selector: </a:t>
            </a:r>
            <a:pPr indent="0" marL="0">
              <a:buNone/>
            </a:pPr>
            <a:r>
              <a:rPr lang="en-US" sz="690" dirty="0">
                <a:solidFill>
                  <a:srgbClr val="3C4043"/>
                </a:solidFill>
                <a:latin typeface="Arial" pitchFamily="34" charset="0"/>
                <a:ea typeface="Arial" pitchFamily="34" charset="-122"/>
                <a:cs typeface="Arial" pitchFamily="34" charset="-120"/>
              </a:rPr>
              <a:t>Deploy Architecture Selector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Thinking Budget Cap &amp; 2LO &amp; 3LO Auth Mgr: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2LO &amp; 3LO Auth Mgr.
</a:t>
            </a:r>
            <a:pPr indent="0" marL="0">
              <a:buNone/>
            </a:pPr>
            <a:r>
              <a:rPr lang="en-US" sz="700" b="1" dirty="0">
                <a:solidFill>
                  <a:srgbClr val="202124"/>
                </a:solidFill>
                <a:latin typeface="Arial" pitchFamily="34" charset="0"/>
                <a:ea typeface="Arial" pitchFamily="34" charset="-122"/>
                <a:cs typeface="Arial" pitchFamily="34" charset="-120"/>
              </a:rPr>
              <a:t>• AlloyDB RLS &amp; L1–L5: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AlloyDB RLS &amp; L1–L5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BigQuery OTel Sink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Pattern A: Pooled Unit Economics and Pattern B Silos &amp; Pattern C PSC Spokes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BigQuery OTel Sink: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ContextCacheConfig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2: Catalog PDP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ContextCacheConfig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Hop 2: Catalog PDP &amp; 2LO &amp; 3LO Auth Mgr: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Agent Deployment Models: Navigating the Agentic Trilemma Across Pool, Bridge &amp; Silo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src/control_plane/topology_tier_router.py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lIns="0" tIns="0" rIns="0" bIns="0" rtlCol="0" anchor="t"/>
          <a:lstStyle/>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from dataclasses import dataclass</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@dataclass(frozen=True)</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class TenantRouteDecision:</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tenant_id: str</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tier: str</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endpoint_uri: str</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thinking_budget_tokens: int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requires_cmek_ping: bool</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def resolve_tenant_topology(jwt_claims: dict, registry_row: dict) -&gt; TenantRouteDecision:</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tenant_id = jwt_claims["tenant_id"]  # Verified from KMS-signed STS JWT (Hop 1)</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tier = registry_row["contract_tier"]</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if tier == "SOVEREIGN_SILO":</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return TenantRouteDecision(tenant_id, tier, f"silo://{tenant_id}.internal", 8000, True)</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if tier == "HYBRID_PSC_BRIDGE":</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return TenantRouteDecision(tenant_id, tier, f"psc://{registry_row['psc_ip']}:443", 8000, True)</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return TenantRouteDecision(tenant_id, "POOLED_STANDARD", "pool://shared-adk-runtime", 4000, False)</a:t>
            </a:r>
            <a:endParaRPr lang="en-US" sz="68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lIns="0" tIns="0" rIns="0" bIns="0" rtlCol="0" anchor="t"/>
          <a:lstStyle/>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Read the canonical Google Cloud Architecture Center reference architecture.</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Agent Development Kit (ADK) Documentation: </a:t>
            </a:r>
            <a:pPr indent="0" marL="0">
              <a:lnSpc>
                <a:spcPct val="120000"/>
              </a:lnSpc>
              <a:buNone/>
            </a:pPr>
            <a:r>
              <a:rPr lang="en-US" sz="770" dirty="0">
                <a:solidFill>
                  <a:srgbClr val="3C4043"/>
                </a:solidFill>
                <a:latin typeface="Arial" pitchFamily="34" charset="0"/>
                <a:ea typeface="Arial" pitchFamily="34" charset="-122"/>
                <a:cs typeface="Arial" pitchFamily="34" charset="-120"/>
              </a:rPr>
              <a:t>Build hierarchical multi-agent systems, deterministic callbacks, and MCP toolsets.</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Vertex AI Agent Engine Overview: </a:t>
            </a:r>
            <a:pPr indent="0" marL="0">
              <a:lnSpc>
                <a:spcPct val="120000"/>
              </a:lnSpc>
              <a:buNone/>
            </a:pPr>
            <a:r>
              <a:rPr lang="en-US" sz="770" dirty="0">
                <a:solidFill>
                  <a:srgbClr val="3C4043"/>
                </a:solidFill>
                <a:latin typeface="Arial" pitchFamily="34" charset="0"/>
                <a:ea typeface="Arial" pitchFamily="34" charset="-122"/>
                <a:cs typeface="Arial" pitchFamily="34" charset="-120"/>
              </a:rPr>
              <a:t>Explore managed runtime deployment, Sessions, Memory Bank, and Context Caching.</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79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lIns="0" tIns="0" rIns="0" bIns="0" rtlCol="0" anchor="t"/>
          <a:lstStyle/>
          <a:p>
            <a:pPr indent="0" marL="0">
              <a:lnSpc>
                <a:spcPct val="124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Authors: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Principal AI Architect • Cloud Solutions Architecture • Enterprise AI Field Engineering</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Other contributors: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a:t>
            </a:r>
            <a:endParaRPr lang="en-US" sz="780" dirty="0"/>
          </a:p>
          <a:p>
            <a:pPr indent="0" marL="0">
              <a:lnSpc>
                <a:spcPct val="124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DOC-MT-02: Agent Deployment Models: Navigating the Agentic Trilemma Across Pool, Bridge &amp; Silo (DOC-MT-02)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2026-10-30T18:57:57Z</dcterms:created>
  <dcterms:modified xsi:type="dcterms:W3CDTF">2026-10-30T18:57:57Z</dcterms:modified>
</cp:coreProperties>
</file>